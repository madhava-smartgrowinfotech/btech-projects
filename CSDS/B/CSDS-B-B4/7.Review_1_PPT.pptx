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402" r:id="rId2"/>
    <p:sldId id="372" r:id="rId3"/>
    <p:sldId id="339" r:id="rId4"/>
    <p:sldId id="340" r:id="rId5"/>
    <p:sldId id="373" r:id="rId6"/>
    <p:sldId id="374" r:id="rId7"/>
    <p:sldId id="375" r:id="rId8"/>
    <p:sldId id="395" r:id="rId9"/>
    <p:sldId id="396" r:id="rId10"/>
    <p:sldId id="397" r:id="rId11"/>
    <p:sldId id="33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D5FC79"/>
    <a:srgbClr val="0432FF"/>
    <a:srgbClr val="73FEFF"/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55" autoAdjust="0"/>
    <p:restoredTop sz="94669"/>
  </p:normalViewPr>
  <p:slideViewPr>
    <p:cSldViewPr snapToGrid="0" snapToObjects="1">
      <p:cViewPr>
        <p:scale>
          <a:sx n="100" d="100"/>
          <a:sy n="100" d="100"/>
        </p:scale>
        <p:origin x="163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C3DA0E-D1FD-BC4E-848A-CADAF0C17C7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FDB9C3-3AFD-454D-9BAE-9D714207E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973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F4823-8660-1246-90A6-7E730B6483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FC470B-2D09-CB42-B555-F681F4C46E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AB32D-0B39-BE4C-9B46-2E2ED1D7E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485BE-F059-CB4E-B8DE-A88091C5A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F8F7D-3DFE-D546-90E5-BCA4C73F8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764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14CE7-812F-614F-984D-E4393BFDB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330C5-43E2-FD4B-BC5C-86590669B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F5676-83E3-C64F-8973-97022DD3B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87D19-E55D-AB4D-AF75-CC1E01D05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B3309-CC51-E845-AB52-3C1B2CA00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077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5625C-04E8-9E4E-85F9-69D014E95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919A94-D2E3-1248-8990-C3C83CD72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9771B-6439-B24E-8CDB-C2C56C838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88177-53D9-A448-9A35-2009BEA3D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98A85-1343-E247-B0AB-43CCC09A0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269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68C3B-4A97-6E47-A174-63DE91C8D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FB7C7-AE13-C348-A398-901CE21674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4FEE88-F113-474D-805E-3490EF31D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53784-A76D-DF43-A8C7-894600CDE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75B21D-297E-CB4F-8DD7-AE42098E1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1CA34A-2507-8941-AC3C-18539C0D8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552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50C35-1BC5-7D4B-A7EB-F21FF3595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FDD651-0936-5C4A-9824-768CE1399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C17A61-0337-1846-98A4-81374415E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6B864D-1FA6-E84C-BF33-C9FBD606D6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3AC4A1-4437-F046-8863-1A658D2E3E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FB2041-7404-6E41-97DF-35E706B83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805910-A1AA-DE41-AB82-090F69178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595B0F-B6B7-B143-B018-788A1411A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363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4808D-98C8-F64E-B203-4B9D12997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7D4C5-93E1-974D-83B2-8947CDDE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8242C-13FA-444B-9328-71460DDCA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3E2D9F-D621-CE42-91A7-B225A7795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058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D6D12C-396B-794F-ABAB-92909A6DA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498D68-4FBE-334D-819A-9EC8CB1E7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7416FB-FB33-964C-BD29-16A48AF1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602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3887D-ECD1-6944-BCBF-4F8F6CF8A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B4EBF-E686-4A4E-919A-9EB2A56E7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14E58C-0FDD-2B4C-A594-D7A27F11EC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C6B601-3A92-B841-980F-80541562D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CB7C1F-7481-364C-928C-A40E69645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63DFD0-C6E3-2B48-A695-CD16D7820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464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8CB15-409E-4744-95AA-C4B2DC145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2005F-BAF3-4E4A-9F3B-2F85C42848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FE6DCF-5650-C044-A969-E07B8C5AC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2BEB4-E3F3-A64D-8A42-7AAF977BD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29CC08-BD3E-734B-BBAB-4DDCE9F4F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5BAA79-7C90-8F43-BD26-3664E8896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150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616C7-323B-DB4A-B8D8-837BC3947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68D35E-AF32-FD46-8009-ED93A7994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38011-16F8-BC46-B1D6-293204D5E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2084F-7AEA-6B4B-8D85-F5A161119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59106-2163-084C-B6E7-35CFA813A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95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F4E4AF-3AE4-1D46-96D3-E760A96D58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36010-4D51-E243-A075-B5691BED57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504B6-2DB6-524F-AFA6-839887E36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6F2CE-6CE0-B543-9CE5-55D8FA067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F84C3-E4E4-2444-963E-E63DFB45A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192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FC3910-BBA8-9F48-9C8B-301C01D0C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086F6E-4899-014B-8EEC-22D2ACB41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D897B-3F2D-474B-9500-6D406D075D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C6B02-AC85-8242-A222-E5A677D8C4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47826-2888-7845-BEA2-678AD72331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594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B45A142-4255-493C-8284-5D566C121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21177"/>
            <a:ext cx="4332307" cy="6179552"/>
          </a:xfrm>
          <a:prstGeom prst="rect">
            <a:avLst/>
          </a:prstGeom>
          <a:solidFill>
            <a:srgbClr val="404040">
              <a:alpha val="89804"/>
            </a:srgbClr>
          </a:solidFill>
          <a:ln w="127000" cap="sq" cmpd="thinThick">
            <a:solidFill>
              <a:srgbClr val="595959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4EA12D-DC9E-2341-974F-1D1E6CF5B2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6884" y="593557"/>
            <a:ext cx="4332307" cy="2131780"/>
          </a:xfrm>
        </p:spPr>
        <p:txBody>
          <a:bodyPr>
            <a:noAutofit/>
          </a:bodyPr>
          <a:lstStyle/>
          <a:p>
            <a:pPr algn="ctr"/>
            <a:r>
              <a:rPr lang="en-US" sz="2750" b="1" dirty="0">
                <a:solidFill>
                  <a:schemeClr val="accent2"/>
                </a:solidFill>
                <a:latin typeface="Copperplate Gothic Bold" pitchFamily="34" charset="0"/>
              </a:rPr>
              <a:t>UPI GUARDIAN: AI-BASED ADAPTIVE FRAUD PREVENTION FRAMEWORK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F1DD4-39F1-264E-9726-92ADE6F913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884" y="2725337"/>
            <a:ext cx="4235116" cy="2615038"/>
          </a:xfrm>
        </p:spPr>
        <p:txBody>
          <a:bodyPr>
            <a:normAutofit/>
          </a:bodyPr>
          <a:lstStyle/>
          <a:p>
            <a:pPr algn="l">
              <a:tabLst>
                <a:tab pos="2847300" algn="l"/>
              </a:tabLst>
            </a:pPr>
            <a:r>
              <a:rPr lang="en-US" sz="1150" b="1" dirty="0">
                <a:solidFill>
                  <a:srgbClr val="92D050"/>
                </a:solidFill>
                <a:latin typeface="Copperplate Gothic Bold" pitchFamily="34" charset="0"/>
              </a:rPr>
              <a:t>NAME</a:t>
            </a:r>
            <a:r>
              <a:rPr lang="en-US" sz="1150" b="1" dirty="0">
                <a:solidFill>
                  <a:srgbClr val="92D050"/>
                </a:solidFill>
                <a:latin typeface="Copperplate Gothic Bold" pitchFamily="34" charset="0"/>
              </a:rPr>
              <a:t>	REG.NO</a:t>
            </a:r>
          </a:p>
          <a:p>
            <a:pPr algn="l">
              <a:tabLst>
                <a:tab pos="2847300" algn="l"/>
              </a:tabLst>
            </a:pPr>
            <a:r>
              <a:rPr lang="en-US" sz="1150" b="1" dirty="0">
                <a:solidFill>
                  <a:srgbClr val="92D050"/>
                </a:solidFill>
                <a:latin typeface="Copperplate Gothic Bold" pitchFamily="34" charset="0"/>
              </a:rPr>
              <a:t>1 GURJAPALLI SRI HARSHINI</a:t>
            </a:r>
            <a:r>
              <a:rPr lang="en-US" sz="1150" b="1" dirty="0">
                <a:solidFill>
                  <a:srgbClr val="92D050"/>
                </a:solidFill>
                <a:latin typeface="Copperplate Gothic Bold" pitchFamily="34" charset="0"/>
              </a:rPr>
              <a:t>	23K91A6772</a:t>
            </a:r>
          </a:p>
          <a:p>
            <a:pPr algn="l">
              <a:tabLst>
                <a:tab pos="2847300" algn="l"/>
              </a:tabLst>
            </a:pPr>
            <a:r>
              <a:rPr lang="en-US" sz="1150" b="1" dirty="0">
                <a:solidFill>
                  <a:srgbClr val="92D050"/>
                </a:solidFill>
                <a:latin typeface="Copperplate Gothic Bold" pitchFamily="34" charset="0"/>
              </a:rPr>
              <a:t>2 MALLARAPU BHANUCHANDAR</a:t>
            </a:r>
            <a:r>
              <a:rPr lang="en-US" sz="1150" b="1" dirty="0">
                <a:solidFill>
                  <a:srgbClr val="92D050"/>
                </a:solidFill>
                <a:latin typeface="Copperplate Gothic Bold" pitchFamily="34" charset="0"/>
              </a:rPr>
              <a:t>	23K91A67A7</a:t>
            </a:r>
          </a:p>
          <a:p>
            <a:pPr algn="l">
              <a:tabLst>
                <a:tab pos="2847300" algn="l"/>
              </a:tabLst>
            </a:pPr>
            <a:r>
              <a:rPr lang="en-US" sz="1150" b="1" dirty="0">
                <a:solidFill>
                  <a:srgbClr val="92D050"/>
                </a:solidFill>
                <a:latin typeface="Copperplate Gothic Bold" pitchFamily="34" charset="0"/>
              </a:rPr>
              <a:t>3 KALUSANI ABHISHEK REDDY</a:t>
            </a:r>
            <a:r>
              <a:rPr lang="en-US" sz="1150" b="1" dirty="0">
                <a:solidFill>
                  <a:srgbClr val="92D050"/>
                </a:solidFill>
                <a:latin typeface="Copperplate Gothic Bold" pitchFamily="34" charset="0"/>
              </a:rPr>
              <a:t>	23K91A6776</a:t>
            </a:r>
          </a:p>
          <a:p>
            <a:pPr algn="l">
              <a:tabLst>
                <a:tab pos="2847300" algn="l"/>
              </a:tabLst>
            </a:pPr>
            <a:r>
              <a:rPr lang="en-US" sz="1150" b="1" dirty="0">
                <a:solidFill>
                  <a:srgbClr val="92D050"/>
                </a:solidFill>
                <a:latin typeface="Copperplate Gothic Bold" pitchFamily="34" charset="0"/>
              </a:rPr>
              <a:t>4 NAGULA KALYAN RAM</a:t>
            </a:r>
            <a:r>
              <a:rPr lang="en-US" sz="1150" b="1" dirty="0">
                <a:solidFill>
                  <a:srgbClr val="92D050"/>
                </a:solidFill>
                <a:latin typeface="Copperplate Gothic Bold" pitchFamily="34" charset="0"/>
              </a:rPr>
              <a:t>	23K91A67C3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2E3B9D-7E6C-6541-B796-E6017CE55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91022" y="6356350"/>
            <a:ext cx="1362777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B6D3A235-9A1B-814A-A45F-231E0934496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450" y="1865724"/>
            <a:ext cx="7063991" cy="294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4286" y="323021"/>
            <a:ext cx="6259513" cy="1013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ounded Rectangle 5"/>
          <p:cNvSpPr/>
          <p:nvPr/>
        </p:nvSpPr>
        <p:spPr>
          <a:xfrm>
            <a:off x="4873450" y="5375868"/>
            <a:ext cx="7063991" cy="980482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40000"/>
                    <a:lumOff val="60000"/>
                  </a:srgbClr>
                </a:solidFill>
                <a:effectLst/>
                <a:uLnTx/>
                <a:uFillTx/>
                <a:latin typeface="Copperplate Gothic Bold" pitchFamily="34" charset="0"/>
                <a:ea typeface="+mn-ea"/>
                <a:cs typeface="+mn-cs"/>
              </a:rPr>
              <a:t>CSE (DATA SCIENCE)</a:t>
            </a:r>
          </a:p>
          <a:p>
            <a:pPr algn="ctr"/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40000"/>
                    <a:lumOff val="60000"/>
                  </a:srgbClr>
                </a:solidFill>
                <a:effectLst/>
                <a:uLnTx/>
                <a:uFillTx/>
                <a:latin typeface="Copperplate Gothic Bold" pitchFamily="34" charset="0"/>
                <a:ea typeface="+mn-ea"/>
                <a:cs typeface="+mn-cs"/>
              </a:rPr>
              <a:t>BATCH : B4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885" y="5175849"/>
            <a:ext cx="4119368" cy="11805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400" dirty="0">
                <a:solidFill>
                  <a:srgbClr val="FFFF00"/>
                </a:solidFill>
                <a:latin typeface="Copperplate Gothic Bold" pitchFamily="34" charset="0"/>
              </a:rPr>
              <a:t>Guide Name:</a:t>
            </a:r>
          </a:p>
          <a:p>
            <a:pPr algn="ctr">
              <a:buNone/>
            </a:pPr>
            <a:r>
              <a:rPr lang="en-US" sz="2400" dirty="0">
                <a:solidFill>
                  <a:srgbClr val="FFFF00"/>
                </a:solidFill>
                <a:latin typeface="Copperplate Gothic Bold" pitchFamily="34" charset="0"/>
              </a:rPr>
              <a:t>MRS. K. UMA BHARATHI</a:t>
            </a:r>
          </a:p>
        </p:txBody>
      </p:sp>
    </p:spTree>
    <p:extLst>
      <p:ext uri="{BB962C8B-B14F-4D97-AF65-F5344CB8AC3E}">
        <p14:creationId xmlns:p14="http://schemas.microsoft.com/office/powerpoint/2010/main" val="3123017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2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329940" y="782509"/>
            <a:ext cx="4678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>
                <a:solidFill>
                  <a:schemeClr val="accent2">
                    <a:lumMod val="75000"/>
                  </a:schemeClr>
                </a:solidFill>
                <a:latin typeface="Copperplate Gothic Bold" pitchFamily="34" charset="0"/>
                <a:cs typeface="Times New Roman" pitchFamily="18" charset="0"/>
              </a:rPr>
              <a:t>CONTEXT</a:t>
            </a:r>
            <a:endParaRPr lang="en-US" sz="20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295605"/>
            <a:ext cx="10088301" cy="3334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Abstract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Existing system 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Limitation of Existing system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Proposed System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Architecture 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Methodology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Requirements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itchFamily="18" charset="0"/>
              </a:rPr>
              <a:t>Conclusion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2589746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3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723900" y="1739900"/>
            <a:ext cx="10744200" cy="46101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UPI is India's most widely used digital payment method, handling billions of transactions every month.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Its speed and convenience also attract fraud through phishing links, fake collect requests, QR code scams and social engineering.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Many victims are tricked into approving the payment themselves, so detection after the fact is too late.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AI can assess the risk of a payment before it completes using behaviour, history and message signals.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Clear explanations and voice guidance in local languages help users make safer decisions.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This project builds UPI Guardian, an adaptive AI framework that prevents fraud before money leaves the account.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76062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4062913" y="924007"/>
            <a:ext cx="3596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INTRODUCTION</a:t>
            </a:r>
            <a:endParaRPr lang="en-US" sz="2800" b="1" dirty="0">
              <a:solidFill>
                <a:srgbClr val="002060"/>
              </a:solidFill>
              <a:latin typeface="Copperplate Gothic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121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4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234135" y="925496"/>
            <a:ext cx="46786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ABSTRACT</a:t>
            </a:r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15725-5D37-6694-9DD3-FFF1D88D9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1300"/>
            <a:ext cx="10515600" cy="48387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UPI has made digital payments fast and convenient but has also increased phishing, fake payment requests, QR code scams and social engineering.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Existing AI fraud detection flags suspicious transactions but cannot always stop users from sending money to fraudsters.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UPI Guardian performs AI risk analysis using transaction behaviour, payment history, receiver trust score and suspicious SMS indicators.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High-risk payments trigger Smart Payment Intent Verification, Delayed Protection Mode and explainable risk analysis.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Personalised multilingual voice assistance in English, Hindi and Telugu improves accessibility.</a:t>
            </a:r>
          </a:p>
        </p:txBody>
      </p:sp>
    </p:spTree>
    <p:extLst>
      <p:ext uri="{BB962C8B-B14F-4D97-AF65-F5344CB8AC3E}">
        <p14:creationId xmlns:p14="http://schemas.microsoft.com/office/powerpoint/2010/main" val="727121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5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395254" y="847281"/>
            <a:ext cx="46786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Existing system 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574800"/>
            <a:ext cx="10515600" cy="47752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Banks and UPI apps apply rule-based limits and blacklists of known fraud accounts.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ML models detect fraudulent transactions from historical transaction data.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Users receive generic warnings and SMS alerts after transactions.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Complaints are registered through bank helplines and cybercrime portals after fraud occurs.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6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2923047" y="913876"/>
            <a:ext cx="63459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Limitations of Existing system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638300"/>
            <a:ext cx="10515600" cy="47117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Detection happens after money is transferred, when recovery is difficult.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Social-engineering scams bypass rules because users approve the payment themselves.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Warnings are generic and not tailored to the risk of the specific transaction.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Suspicious SMS and payment requests are not analysed together with transactions.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Warnings are usually in English only, excluding many users.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7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235219" y="949834"/>
            <a:ext cx="46786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Proposed System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663700"/>
            <a:ext cx="10515600" cy="46863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AI risk analysis scores each payment using transaction behaviour, payment history, receiver trust score and suspicious SMS indicators.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Smart Payment Intent Verification asks users to confirm the purpose of high-risk payments.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Delayed Protection Mode briefly holds high-risk transfers so users can reconsider.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Explainable AI tells users why a payment was flagged.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Personalised multilingual voice assistance in English, Hindi and Telugu guides users.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8" y="146913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3A250-F23D-CB98-736F-801EC5789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225"/>
            <a:ext cx="10030408" cy="1255984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        PROPOSED SYSTEM ARCHITECTURE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14A22-E0A7-00C3-9C2B-822F5234A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8</a:t>
            </a:fld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56856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E7C9EFB-6062-8B08-3313-9FC38DF9C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6209"/>
            <a:ext cx="10515600" cy="4972330"/>
          </a:xfrm>
        </p:spPr>
        <p:txBody>
          <a:bodyPr>
            <a:normAutofit fontScale="400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1828800" lvl="4" indent="0">
              <a:buNone/>
            </a:pPr>
            <a:r>
              <a:rPr lang="en-US" dirty="0"/>
              <a:t>			</a:t>
            </a:r>
          </a:p>
          <a:p>
            <a:pPr marL="1828800" lvl="4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</a:t>
            </a: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</a:t>
            </a: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</a:t>
            </a: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</a:t>
            </a: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</a:t>
            </a:r>
          </a:p>
          <a:p>
            <a:pPr marL="1828800" lvl="4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</a:p>
          <a:p>
            <a:pPr marL="1828800" lvl="4" indent="0">
              <a:buNone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Fig:- 1.1. System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685152-4C3C-5AE0-BFD4-883D244A4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921" y="1046480"/>
            <a:ext cx="11261959" cy="505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649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48F3C-FA97-224C-115A-7D99ADF66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AD4CE-1259-24BE-CD87-3C350AFE4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3969" y="848026"/>
            <a:ext cx="6514323" cy="685185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METHODOLOGY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9FC8B-F44E-C85B-F64D-5435D6671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9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07DEFB9-2A98-AC9B-0CA7-E3DCDAE945E6}"/>
              </a:ext>
            </a:extLst>
          </p:cNvPr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D81C6011-F9A6-D6BC-01D4-214393E65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4C175E-B962-7CB7-66A9-A93FA6F38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4800"/>
            <a:ext cx="10515600" cy="47752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Data Collection: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Use public and synthetic UPI transaction datasets with fraud labels.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Feature Engineering: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Derive behaviour, history, receiver-trust and SMS-based features.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Risk Model: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Train ML models to score transaction risk and handle class imbalance.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Trust Scoring: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Compute receiver trust scores from history and fraud reports.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SMS Analysis: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Detect suspicious messages using NLP.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Protection Actions: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Trigger intent verification and delayed protection for high-risk payments.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Explainability &amp; Voice: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Explain risk with XAI and deliver guidance in English, Hindi and Telugu.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Evaluation: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Measure precision, recall, F1-score and false-alarm rate.</a:t>
            </a:r>
          </a:p>
        </p:txBody>
      </p:sp>
    </p:spTree>
    <p:extLst>
      <p:ext uri="{BB962C8B-B14F-4D97-AF65-F5344CB8AC3E}">
        <p14:creationId xmlns:p14="http://schemas.microsoft.com/office/powerpoint/2010/main" val="4096128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49627-DFDC-9AEE-003B-61513A22A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FB145-D35B-AB0C-FDE0-A0EC335D8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REQUIREMENTS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4FBDBE8-7B97-838A-CFA7-18B663A043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wrap="square">
            <a:norm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Hardware Requirements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Processor: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Intel Core i5 or equivalent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RAM: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8 GB or higher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Storage: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20 GB free space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Smartphone: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Android device for app testing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4D17D66-4287-E913-B85D-61A33D96CD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wrap="square">
            <a:norm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Software Requirements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Language: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Python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Machine Learning: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scikit-learn, XGBoost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NLP: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Hugging Face Transformers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Explainability: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SHAP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Voice: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Google Text-to-Speech (gTTS)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Backend: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Flask / FastAPI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App: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Flutter / React Native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BAB74-AE3A-5148-7D93-CC36F4AE3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10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AA14475-771A-07F3-4912-EB982FA600F1}"/>
              </a:ext>
            </a:extLst>
          </p:cNvPr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8E849A94-9FCC-003E-8933-DBE2FBE59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48812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11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4424888" y="1022134"/>
            <a:ext cx="22236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itchFamily="34" charset="0"/>
                <a:cs typeface="Times New Roman" pitchFamily="18" charset="0"/>
              </a:rPr>
              <a:t>Conclusion</a:t>
            </a:r>
            <a:endParaRPr lang="en-US" sz="2400" dirty="0">
              <a:latin typeface="Copperplate Gothic Bold" panose="020E07050202060204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89F60-F70C-A913-F235-B290A7C9847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38200" y="1701800"/>
            <a:ext cx="10515600" cy="46482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UPI Guardian shifts fraud protection from detection after payment to prevention before payment.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Combining transaction, trust and SMS signals improves risk assessment.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Intent verification and delayed protection give users a chance to stop scams.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Explainable, multilingual guidance makes digital payments safer and more accessible.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08376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3192</TotalTime>
  <Words>938</Words>
  <Application>Microsoft Office PowerPoint</Application>
  <PresentationFormat>Widescreen</PresentationFormat>
  <Paragraphs>147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Copperplate Gothic Bold</vt:lpstr>
      <vt:lpstr>Times New Roman</vt:lpstr>
      <vt:lpstr>Wingdings</vt:lpstr>
      <vt:lpstr>Office Theme</vt:lpstr>
      <vt:lpstr>           IOT DRIVEN MOBILE NETWORK DETECTION AND COMPLAINT AUTOMATION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PROPOSED SYSTEM ARCHITECTURE</vt:lpstr>
      <vt:lpstr>METHODOLOGY</vt:lpstr>
      <vt:lpstr>SYSTEM REQUIREMENTS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proposed work</dc:title>
  <dc:creator>mani iz</dc:creator>
  <cp:lastModifiedBy>Rishi Kumar</cp:lastModifiedBy>
  <cp:revision>90</cp:revision>
  <dcterms:created xsi:type="dcterms:W3CDTF">2022-09-13T08:56:36Z</dcterms:created>
  <dcterms:modified xsi:type="dcterms:W3CDTF">2026-08-21T10:21:40Z</dcterms:modified>
</cp:coreProperties>
</file>