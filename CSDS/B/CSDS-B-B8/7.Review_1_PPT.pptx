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402" r:id="rId2"/>
    <p:sldId id="372" r:id="rId3"/>
    <p:sldId id="339" r:id="rId4"/>
    <p:sldId id="340" r:id="rId5"/>
    <p:sldId id="373" r:id="rId6"/>
    <p:sldId id="374" r:id="rId7"/>
    <p:sldId id="375" r:id="rId8"/>
    <p:sldId id="395" r:id="rId9"/>
    <p:sldId id="396" r:id="rId10"/>
    <p:sldId id="397" r:id="rId11"/>
    <p:sldId id="33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5FC79"/>
    <a:srgbClr val="0432FF"/>
    <a:srgbClr val="73FEFF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669"/>
  </p:normalViewPr>
  <p:slideViewPr>
    <p:cSldViewPr snapToGrid="0" snapToObjects="1">
      <p:cViewPr>
        <p:scale>
          <a:sx n="100" d="100"/>
          <a:sy n="100" d="100"/>
        </p:scale>
        <p:origin x="16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3DA0E-D1FD-BC4E-848A-CADAF0C17C7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DB9C3-3AFD-454D-9BAE-9D714207E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73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4823-8660-1246-90A6-7E730B648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C470B-2D09-CB42-B555-F681F4C46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AB32D-0B39-BE4C-9B46-2E2ED1D7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485BE-F059-CB4E-B8DE-A88091C5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F8F7D-3DFE-D546-90E5-BCA4C73F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6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4CE7-812F-614F-984D-E4393BFD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330C5-43E2-FD4B-BC5C-86590669B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F5676-83E3-C64F-8973-97022DD3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87D19-E55D-AB4D-AF75-CC1E01D0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B3309-CC51-E845-AB52-3C1B2CA0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7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625C-04E8-9E4E-85F9-69D014E95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19A94-D2E3-1248-8990-C3C83CD72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9771B-6439-B24E-8CDB-C2C56C83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8177-53D9-A448-9A35-2009BEA3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98A85-1343-E247-B0AB-43CCC09A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6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68C3B-4A97-6E47-A174-63DE91C8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FB7C7-AE13-C348-A398-901CE2167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FEE88-F113-474D-805E-3490EF31D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53784-A76D-DF43-A8C7-894600CD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5B21D-297E-CB4F-8DD7-AE42098E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CA34A-2507-8941-AC3C-18539C0D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0C35-1BC5-7D4B-A7EB-F21FF359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DD651-0936-5C4A-9824-768CE1399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17A61-0337-1846-98A4-81374415E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B864D-1FA6-E84C-BF33-C9FBD606D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AC4A1-4437-F046-8863-1A658D2E3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FB2041-7404-6E41-97DF-35E706B8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05910-A1AA-DE41-AB82-090F6917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95B0F-B6B7-B143-B018-788A1411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6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808D-98C8-F64E-B203-4B9D1299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7D4C5-93E1-974D-83B2-8947CDDE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8242C-13FA-444B-9328-71460DDC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E2D9F-D621-CE42-91A7-B225A779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5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6D12C-396B-794F-ABAB-92909A6D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98D68-4FBE-334D-819A-9EC8CB1E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416FB-FB33-964C-BD29-16A48AF1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0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887D-ECD1-6944-BCBF-4F8F6CF8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B4EBF-E686-4A4E-919A-9EB2A56E7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4E58C-0FDD-2B4C-A594-D7A27F11E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6B601-3A92-B841-980F-80541562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B7C1F-7481-364C-928C-A40E69645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3DFD0-C6E3-2B48-A695-CD16D782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6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8CB15-409E-4744-95AA-C4B2DC145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2005F-BAF3-4E4A-9F3B-2F85C4284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E6DCF-5650-C044-A969-E07B8C5A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2BEB4-E3F3-A64D-8A42-7AAF977BD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9CC08-BD3E-734B-BBAB-4DDCE9F4F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BAA79-7C90-8F43-BD26-3664E889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5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16C7-323B-DB4A-B8D8-837BC394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8D35E-AF32-FD46-8009-ED93A7994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38011-16F8-BC46-B1D6-293204D5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2084F-7AEA-6B4B-8D85-F5A16111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59106-2163-084C-B6E7-35CFA813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5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4E4AF-3AE4-1D46-96D3-E760A96D5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36010-4D51-E243-A075-B5691BED5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504B6-2DB6-524F-AFA6-839887E36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6F2CE-6CE0-B543-9CE5-55D8FA06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F84C3-E4E4-2444-963E-E63DFB45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9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C3910-BBA8-9F48-9C8B-301C01D0C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86F6E-4899-014B-8EEC-22D2ACB41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D897B-3F2D-474B-9500-6D406D075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6B02-AC85-8242-A222-E5A677D8C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47826-2888-7845-BEA2-678AD7233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9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EA12D-DC9E-2341-974F-1D1E6CF5B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884" y="593557"/>
            <a:ext cx="4332307" cy="2131780"/>
          </a:xfrm>
        </p:spPr>
        <p:txBody>
          <a:bodyPr>
            <a:noAutofit/>
          </a:bodyPr>
          <a:lstStyle/>
          <a:p>
            <a:pPr algn="ctr"/>
            <a:r>
              <a:rPr lang="en-US" sz="2300" b="1" dirty="0">
                <a:solidFill>
                  <a:schemeClr val="accent2"/>
                </a:solidFill>
                <a:latin typeface="Copperplate Gothic Bold" pitchFamily="34" charset="0"/>
              </a:rPr>
              <a:t>ENHANCED AI-BASED HUMAN ACTIVITY RECOGNITION WITH FALL DETECTION AND EMERGENCY ALERT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F1DD4-39F1-264E-9726-92ADE6F91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4" y="2725337"/>
            <a:ext cx="4235116" cy="2615038"/>
          </a:xfrm>
        </p:spPr>
        <p:txBody>
          <a:bodyPr>
            <a:normAutofit/>
          </a:bodyPr>
          <a:lstStyle/>
          <a:p>
            <a:pPr algn="l">
              <a:tabLst>
                <a:tab pos="2755106" algn="l"/>
              </a:tabLst>
            </a:pPr>
            <a:r>
              <a:rPr lang="en-US" sz="1250" b="1" dirty="0">
                <a:solidFill>
                  <a:srgbClr val="92D050"/>
                </a:solidFill>
                <a:latin typeface="Copperplate Gothic Bold" pitchFamily="34" charset="0"/>
              </a:rPr>
              <a:t>NAME</a:t>
            </a:r>
            <a:r>
              <a:rPr lang="en-US" sz="1250" b="1" dirty="0">
                <a:solidFill>
                  <a:srgbClr val="92D050"/>
                </a:solidFill>
                <a:latin typeface="Copperplate Gothic Bold" pitchFamily="34" charset="0"/>
              </a:rPr>
              <a:t>	REG.NO</a:t>
            </a:r>
          </a:p>
          <a:p>
            <a:pPr algn="l">
              <a:tabLst>
                <a:tab pos="2755106" algn="l"/>
              </a:tabLst>
            </a:pPr>
            <a:r>
              <a:rPr lang="en-US" sz="1250" b="1" dirty="0">
                <a:solidFill>
                  <a:srgbClr val="92D050"/>
                </a:solidFill>
                <a:latin typeface="Copperplate Gothic Bold" pitchFamily="34" charset="0"/>
              </a:rPr>
              <a:t>1 KUNTA NANDINI REDDY</a:t>
            </a:r>
            <a:r>
              <a:rPr lang="en-US" sz="1250" b="1" dirty="0">
                <a:solidFill>
                  <a:srgbClr val="92D050"/>
                </a:solidFill>
                <a:latin typeface="Copperplate Gothic Bold" pitchFamily="34" charset="0"/>
              </a:rPr>
              <a:t>	23K91A6797</a:t>
            </a:r>
          </a:p>
          <a:p>
            <a:pPr algn="l">
              <a:tabLst>
                <a:tab pos="2755106" algn="l"/>
              </a:tabLst>
            </a:pPr>
            <a:r>
              <a:rPr lang="en-US" sz="1250" b="1" dirty="0">
                <a:solidFill>
                  <a:srgbClr val="92D050"/>
                </a:solidFill>
                <a:latin typeface="Copperplate Gothic Bold" pitchFamily="34" charset="0"/>
              </a:rPr>
              <a:t>2 KETHAVATH MALLISHWARI</a:t>
            </a:r>
            <a:r>
              <a:rPr lang="en-US" sz="1250" b="1" dirty="0">
                <a:solidFill>
                  <a:srgbClr val="92D050"/>
                </a:solidFill>
                <a:latin typeface="Copperplate Gothic Bold" pitchFamily="34" charset="0"/>
              </a:rPr>
              <a:t>	23K91A6787</a:t>
            </a:r>
          </a:p>
          <a:p>
            <a:pPr algn="l">
              <a:tabLst>
                <a:tab pos="2755106" algn="l"/>
              </a:tabLst>
            </a:pPr>
            <a:r>
              <a:rPr lang="en-US" sz="1250" b="1" dirty="0">
                <a:solidFill>
                  <a:srgbClr val="92D050"/>
                </a:solidFill>
                <a:latin typeface="Copperplate Gothic Bold" pitchFamily="34" charset="0"/>
              </a:rPr>
              <a:t>3 KARATLAPELLY VIVEK</a:t>
            </a:r>
            <a:r>
              <a:rPr lang="en-US" sz="1250" b="1" dirty="0">
                <a:solidFill>
                  <a:srgbClr val="92D050"/>
                </a:solidFill>
                <a:latin typeface="Copperplate Gothic Bold" pitchFamily="34" charset="0"/>
              </a:rPr>
              <a:t>	23K91A6781</a:t>
            </a:r>
          </a:p>
          <a:p>
            <a:pPr algn="l">
              <a:tabLst>
                <a:tab pos="2755106" algn="l"/>
              </a:tabLst>
            </a:pPr>
            <a:r>
              <a:rPr lang="en-US" sz="1250" b="1" dirty="0">
                <a:solidFill>
                  <a:srgbClr val="92D050"/>
                </a:solidFill>
                <a:latin typeface="Copperplate Gothic Bold" pitchFamily="34" charset="0"/>
              </a:rPr>
              <a:t>4 MEDUDHULA SAGAR</a:t>
            </a:r>
            <a:r>
              <a:rPr lang="en-US" sz="1250" b="1" dirty="0">
                <a:solidFill>
                  <a:srgbClr val="92D050"/>
                </a:solidFill>
                <a:latin typeface="Copperplate Gothic Bold" pitchFamily="34" charset="0"/>
              </a:rPr>
              <a:t>	23K91A67B4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E3B9D-7E6C-6541-B796-E6017CE5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91022" y="6356350"/>
            <a:ext cx="1362777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B6D3A235-9A1B-814A-A45F-231E0934496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450" y="1865724"/>
            <a:ext cx="7063991" cy="294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86" y="323021"/>
            <a:ext cx="6259513" cy="101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4873450" y="5375868"/>
            <a:ext cx="7063991" cy="98048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CSE (DATA SCIENCE)</a:t>
            </a:r>
          </a:p>
          <a:p>
            <a:pPr algn="ctr"/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BATCH : B8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885" y="5175849"/>
            <a:ext cx="4119368" cy="1180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Guide Name:</a:t>
            </a:r>
          </a:p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MR.M.AROKIA MUTHU</a:t>
            </a:r>
          </a:p>
        </p:txBody>
      </p:sp>
    </p:spTree>
    <p:extLst>
      <p:ext uri="{BB962C8B-B14F-4D97-AF65-F5344CB8AC3E}">
        <p14:creationId xmlns:p14="http://schemas.microsoft.com/office/powerpoint/2010/main" val="3123017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29940" y="782509"/>
            <a:ext cx="4678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  <a:latin typeface="Copperplate Gothic Bold" pitchFamily="34" charset="0"/>
                <a:cs typeface="Times New Roman" pitchFamily="18" charset="0"/>
              </a:rPr>
              <a:t>CONTEXT</a:t>
            </a:r>
            <a:endParaRPr lang="en-US" sz="20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295605"/>
            <a:ext cx="10088301" cy="3334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 of Existing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Architecture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2589746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723900" y="1739900"/>
            <a:ext cx="10744200" cy="46101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Human Activity Recognition automatically identifies human activities from sensor or video data.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It supports elderly care, healthcare monitoring, smart homes and human-computer interaction.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Falls are a leading cause of injury among elderly people living alone.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Existing HAR systems are trained on small, controlled datasets and perform poorly in real homes.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Most systems recognise activities but do not respond to emergencies.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project combines robust vision-based HAR with real-time fall detection and emergency alerts.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76062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062913" y="924007"/>
            <a:ext cx="35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  <a:endParaRPr lang="en-US" sz="2800" b="1" dirty="0">
              <a:solidFill>
                <a:srgbClr val="00206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4135" y="925496"/>
            <a:ext cx="4678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5725-5D37-6694-9DD3-FFF1D88D9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00"/>
            <a:ext cx="10515600" cy="48387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Human Activity Recognition supports healthcare, elderly care, smart homes and surveillance.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Existing HAR systems rely on small datasets and controlled settings and lack fall detection and emergency response.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project recognises activities such as walking, standing, sitting, drinking water and picking up objects from video.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Deep learning on a larger, more diverse dataset improves robustness in low light and partial occlusion.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fall detection module detects falls in real time and sends alerts through SMS, email, notifications or alarms.</a:t>
            </a: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95254" y="847281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Wearable sensor-based HAR using accelerometers and gyroscopes.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Vision-based HAR using CNN and LSTM models on video datasets.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Standalone fall-detection devices and panic buttons.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WiFi-based and multimodal HAR in research settings.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2923047" y="913876"/>
            <a:ext cx="63459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Limitations of Existing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38300"/>
            <a:ext cx="10515600" cy="47117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Small datasets and controlled environments limit real-world accuracy.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Accuracy drops in low light and with occlusion.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Activity recognition and fall detection are separate systems.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There is no automatic emergency alerting.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Wearables must be worn and charged constantly.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5219" y="949834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63700"/>
            <a:ext cx="10515600" cy="46863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deep-learning model recognises walking, standing, sitting, drinking water and picking up objects from video.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Training on a larger, diverse dataset improves robustness in low light and occlusion.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fall detection module identifies accidental falls in real time.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Emergency alerts are sent through SMS, email, mobile notifications or alarms.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system provides continuous, camera-based monitoring for elderly care and smart homes.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8" y="146913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A250-F23D-CB98-736F-801EC578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225"/>
            <a:ext cx="10030408" cy="1255984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        PROPOSED SYSTEM ARCHITECTURE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14A22-E0A7-00C3-9C2B-822F5234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8</a:t>
            </a:fld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56856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7C9EFB-6062-8B08-3313-9FC38DF9C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09"/>
            <a:ext cx="10515600" cy="4972330"/>
          </a:xfrm>
        </p:spPr>
        <p:txBody>
          <a:bodyPr>
            <a:normAutofit fontScale="40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828800" lvl="4" indent="0">
              <a:buNone/>
            </a:pPr>
            <a:r>
              <a:rPr lang="en-US" dirty="0"/>
              <a:t>			</a:t>
            </a: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Fig:- 1.1. 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85152-4C3C-5AE0-BFD4-883D244A4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21" y="1046480"/>
            <a:ext cx="11261959" cy="505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49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8F3C-FA97-224C-115A-7D99ADF6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D4CE-1259-24BE-CD87-3C350AFE4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969" y="848026"/>
            <a:ext cx="6514323" cy="685185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9FC8B-F44E-C85B-F64D-5435D667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9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7DEFB9-2A98-AC9B-0CA7-E3DCDAE945E6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D81C6011-F9A6-D6BC-01D4-214393E65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4C175E-B962-7CB7-66A9-A93FA6F38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Data Collection: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Use a large, diverse HAR video dataset that includes fall samples.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Preprocessing: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Extract frames and pose keypoints and normalise them.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Augmentation: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Simulate low light and partial occlusion to improve robustness.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HAR Model: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Train a CNN-LSTM or 3D-CNN model for activity recognition.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Fall Detection: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Train a fall classifier using pose and motion features.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Real-time Inference: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Run recognition and fall detection on a live camera feed.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Alert System: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Send SMS, email, notifications or alarms when a fall is detected.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Evaluation: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Measure accuracy, precision, recall and detection latency.</a:t>
            </a:r>
          </a:p>
        </p:txBody>
      </p:sp>
    </p:spTree>
    <p:extLst>
      <p:ext uri="{BB962C8B-B14F-4D97-AF65-F5344CB8AC3E}">
        <p14:creationId xmlns:p14="http://schemas.microsoft.com/office/powerpoint/2010/main" val="4096128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49627-DFDC-9AEE-003B-61513A22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B145-D35B-AB0C-FDE0-A0EC335D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4FBDBE8-7B97-838A-CFA7-18B663A043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Processor: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Intel Core i5 or equivalent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RAM: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8 GB or higher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GPU: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NVIDIA GPU or Google Colab for training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Camera: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HD webcam / IP camera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Storage: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30 GB free space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4D17D66-4287-E913-B85D-61A33D96CD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Language: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Python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Deep Learning: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TensorFlow / PyTorch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Vision: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OpenCV, MediaPipe Pose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Alerts: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Twilio SMS, SMTP email, Firebase notifications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Interface: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Streamlit / Flask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AB74-AE3A-5148-7D93-CC36F4AE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10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AA14475-771A-07F3-4912-EB982FA600F1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8E849A94-9FCC-003E-8933-DBE2FBE59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8812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424888" y="1022134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89F60-F70C-A913-F235-B290A7C984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0" y="1701800"/>
            <a:ext cx="10515600" cy="4648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system recognises daily activities robustly in real-world conditions.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Real-time fall detection with automatic alerts enables immediate help.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Training on diverse data improves performance in low light and occlusion.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It offers a practical, scalable solution for elderly care and smart homes.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8376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3192</TotalTime>
  <Words>938</Words>
  <Application>Microsoft Office PowerPoint</Application>
  <PresentationFormat>Widescreen</PresentationFormat>
  <Paragraphs>147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Copperplate Gothic Bold</vt:lpstr>
      <vt:lpstr>Times New Roman</vt:lpstr>
      <vt:lpstr>Wingdings</vt:lpstr>
      <vt:lpstr>Office Theme</vt:lpstr>
      <vt:lpstr>           IOT DRIVEN MOBILE NETWORK DETECTION AND COMPLAINT AUTOMATION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PROPOSED SYSTEM ARCHITECTURE</vt:lpstr>
      <vt:lpstr>METHODOLOGY</vt:lpstr>
      <vt:lpstr>SYSTEM REQUIREMENTS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proposed work</dc:title>
  <dc:creator>mani iz</dc:creator>
  <cp:lastModifiedBy>Rishi Kumar</cp:lastModifiedBy>
  <cp:revision>90</cp:revision>
  <dcterms:created xsi:type="dcterms:W3CDTF">2022-09-13T08:56:36Z</dcterms:created>
  <dcterms:modified xsi:type="dcterms:W3CDTF">2026-08-21T10:21:40Z</dcterms:modified>
</cp:coreProperties>
</file>