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harts/chart1.xml" ContentType="application/vnd.openxmlformats-officedocument.drawingml.chart+xml"/>
  <ns0:Override PartName="/ppt/charts/chart2.xml" ContentType="application/vnd.openxmlformats-officedocument.drawingml.chart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jpg" ContentType="image/jpeg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+mn-lt"/>
              </a:rPr>
              <a:t>CareFlow project subset: 8,210 posts, stratified 70/15/15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Authentic / non-rumour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CareFlow project train</c:v>
                  </c:pt>
                  <c:pt idx="1">
                    <c:v>CareFlow project val</c:v>
                  </c:pt>
                  <c:pt idx="2">
                    <c:v>CareFlow project test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3248</c:v>
                </c:pt>
                <c:pt idx="1">
                  <c:v>696</c:v>
                </c:pt>
                <c:pt idx="2">
                  <c:v>696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Manipulated / rumour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CareFlow project train</c:v>
                  </c:pt>
                  <c:pt idx="1">
                    <c:v>CareFlow project val</c:v>
                  </c:pt>
                  <c:pt idx="2">
                    <c:v>CareFlow project test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2499</c:v>
                </c:pt>
                <c:pt idx="1">
                  <c:v>535</c:v>
                </c:pt>
                <c:pt idx="2">
                  <c:v>536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+mn-lt"/>
              </a:rPr>
              <a:t>Test metrics by model (n = 1,232)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only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0.7094</c:v>
                </c:pt>
                <c:pt idx="1">
                  <c:v>0.6894</c:v>
                </c:pt>
                <c:pt idx="2">
                  <c:v>0.6045</c:v>
                </c:pt>
                <c:pt idx="3">
                  <c:v>0.6441</c:v>
                </c:pt>
                <c:pt idx="4">
                  <c:v>0.7713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 only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0.6867</c:v>
                </c:pt>
                <c:pt idx="1">
                  <c:v>0.6369</c:v>
                </c:pt>
                <c:pt idx="2">
                  <c:v>0.6511</c:v>
                </c:pt>
                <c:pt idx="3">
                  <c:v>0.6439</c:v>
                </c:pt>
                <c:pt idx="4">
                  <c:v>0.7399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Fusion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0.7468</c:v>
                </c:pt>
                <c:pt idx="1">
                  <c:v>0.7022</c:v>
                </c:pt>
                <c:pt idx="2">
                  <c:v>0.7257</c:v>
                </c:pt>
                <c:pt idx="3">
                  <c:v>0.7138</c:v>
                </c:pt>
                <c:pt idx="4">
                  <c:v>0.8172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review shows how the system is designed and built, the data and model, what has been implemented, and the first measured results from the held-out test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for the design and progress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One-minute recap of Review 1: the base paper is text-only; we add a visual track, a fusion network, an AI-generated media check and a web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tiers: browser, Flask application (blueprints, security, services), inference (predictor, shared preprocessing, three networks, AI detector) and data (SQLite, uploads, trained artifacts).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training pipeline is one command and resumes after a crash. Every metric is written to JSON and read by the application, so no number is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CareFlow project subset for the multimodal model, CareFlow project for the text-only rumour model and the base-paper replication, CareFlow project only for out-of-domain testing, and Tiny-GenImage plus recent web images for the AI-media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cleaning matches the base paper's description; images and video frames go through the backbone's own preprocessing. The JPEG re-encoding stops the AI detector from learning file format instead of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Text: three Conv1D channels over frozen GloVe, max-pooled to 896-d. Visual: ResNet50 per frame, averaged, batch-norm, Dense 256. Fusion: concatenate to 1152-d, dense 512-256-128-64 with dropout 0.2, sigmoid.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 paper's hyperparameter table is an image we could not read, so these values were chosen and documented. Early stopping restored the epoch-2 weights in every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administrator can change the threshold. A missing image becomes a zero visual vector, so text-only posts still get a fused score. Warnings tell the user when few words were recognised or when only media was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processes and six data stores. Process 3.0 is expanded in the report as a level-2 DFD.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tables (class and sequence diagrams are in the report). Users own analyses and batch jobs; activities feed the admin overview; settings store the threshold and access switches. The use case diagram shows guest, user and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open source. All browser libraries are served locally, with no CDN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of the code base when this deck was prepared. The remaining items are documentation and evaluation steps, not missing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1,232 held-out posts. Fusion beats the best single track on every metric: F1 0.714 vs 0.644, AUC 0.817 vs 0.771.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from the running application with the trained models: a multimodal check result and the user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suite runs offline with a stub predictor for web tests and the real models for ML tests. Observations come from the evaluation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challenge was met by a concrete change in the code or the evaluation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to the final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questions: why fusion helps (independent evidence, ablation numbers); why the CareFlow project result is poor (labels reflect Reddit communities); how the webcam keeps data private.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Risk of Social Media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9144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658368" cy="6583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83464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384048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4800600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02920"/>
            <a:ext cx="2743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CAREFLOW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078992"/>
            <a:ext cx="699516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2F7FD"/>
                </a:solidFill>
                <a:latin typeface="Cambria"/>
              </a:rPr>
              <a:t>AI Powered Intelligent Hospital Patient Flow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79776"/>
            <a:ext cx="62179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REVIEW 2 · DESIGN, METHODOLOGY AND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6583680" cy="8686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2F7FD"/>
                </a:solidFill>
                <a:latin typeface="Calibri"/>
              </a:rPr>
              <a:t>A. RAMU · 23K91A6715     B. RUSHI · 23K91A6720
B. RAJ KUMAR · 23K91A6725     A. PRABHAS · 23K91A6703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19472"/>
            <a:ext cx="69494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FB0C7"/>
                </a:solidFill>
                <a:latin typeface="Calibri"/>
              </a:rPr>
              <a:t>Guide: [GUIDE NAME]  ·  CSE (Data Science)  ·  Batch A10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52160"/>
            <a:ext cx="9144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FB0C7"/>
                </a:solidFill>
                <a:latin typeface="Calibri"/>
              </a:rPr>
              <a:t>Evidence-based documentation · Synthetic model data · Real running-system captures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36776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18488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Recap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21991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50008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2331720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63240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044952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Methodology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48456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776472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3758183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Data and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61688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489703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4471416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Decision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74920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202936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5184648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Database and UML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508760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1636776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1618488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Implementation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221991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2350008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2331720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935224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063240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3044952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Outputs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648456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776472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3758183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Testing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361688"/>
            <a:ext cx="5212080" cy="530352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489703"/>
            <a:ext cx="457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4471416"/>
            <a:ext cx="42062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2F7FD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Problem and Proposed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Problem: fragmented internal queues, laboratory work and bed checks.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System: one persisted Visit state with role-based actions.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Assistance: triage classification and expected-wait regression.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Boundary: academic local prototype using synthetic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3B82F6"/>
                </a:solidFill>
                <a:latin typeface="Calibr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Demo visits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Beds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4773168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72768"/>
            <a:ext cx="105156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42432"/>
            <a:ext cx="10287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Implemented layers and live channel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End-to-End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95160" cy="4663440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high_level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62940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623560"/>
            <a:ext cx="6492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Registration through discharge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749039" cy="4663440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37360"/>
            <a:ext cx="3246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Validate input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Predict once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Persist state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Broadcast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95160" cy="4663440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dataset_spl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662940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623560"/>
            <a:ext cx="6492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Synthetic generator sizes and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749039" cy="4663440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37360"/>
            <a:ext cx="3246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Wait: 12,000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Triage: 15,000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85/15 train/test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Seed 42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No clinical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Label-encode department type and priority for wait regression.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Keep numerical features on operational scales for tree ensembles.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Store encoders and triage feature order with Joblib artefacts.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Complete missing individual vitals with documented defaults.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Preserve named pandas columns at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2D3EE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Wait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Triage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Model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Wait: RandomForestRegressor; 200 trees; max depth 10.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Triage: GradientBoostingClassifier; 150 estimators; max depth 3.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Triage labels come from a simplified early-warning scoring rule.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Runtime returns wait minutes, priority label and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3B82F6"/>
                </a:solidFill>
                <a:latin typeface="Calibri"/>
              </a:rPr>
              <a:t>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Wait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Calibri"/>
              </a:rPr>
              <a:t>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Triage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Training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NumPy random seed 42; scikit-learn random state 42.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Both splits: 85% train / 15% test.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Triage split is stratified.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Models saved under backend/app/ml/artifacts.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Existing artefacts evaluated without retraining during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3B82F6"/>
                </a:solidFill>
                <a:latin typeface="Calibri"/>
              </a:rPr>
              <a:t>10,200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Wait 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12,750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Triage train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Decision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4773168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core_algorithm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72768"/>
            <a:ext cx="105156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42432"/>
            <a:ext cx="10287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Prediction, persistence and broadcast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Data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4773168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dfd_level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72768"/>
            <a:ext cx="105156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742432"/>
            <a:ext cx="10287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DFD Level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Database and UML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4592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Entity relationships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uml_class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645920"/>
            <a:ext cx="5029200" cy="3154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Persistent domain classes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Frontend: React 19, TypeScript, Vite, Tailwind, Axios, Zustand, Recharts.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Backend: FastAPI, Pydantic, SQLAlchemy, SQLite, JWT, WebSockets.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ML: scikit-learn, pandas, NumPy, Joblib.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Verified runtime: Windows 11, Python 3.11.9, Chrome.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2D3EE"/>
                </a:solidFill>
                <a:latin typeface="Calibri"/>
              </a:rPr>
              <a:t>5173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Frontend 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8010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Backend 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Implementation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Authentication and five staff roles implemented.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Visit, queue and movement routes implemented.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Laboratory and bed workflows implemented.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Admin KPIs and public waiting board implemented.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Two model artefacts present and measured.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Thirteen populated screens captured.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3B82F6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Application routes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Preliminary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95160" cy="4663440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model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662940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623560"/>
            <a:ext cx="6492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9FB0C7"/>
                </a:solidFill>
                <a:latin typeface="Calibri"/>
              </a:rPr>
              <a:t>Measured synthetic-test scores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749039" cy="4663440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37360"/>
            <a:ext cx="324612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Wait R² 0.951041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MAE 5.982 min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RMSE 8.580 min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Triage accuracy 0.9680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Macro F1 0.898475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400">
                <a:solidFill>
                  <a:srgbClr val="F2F7FD"/>
                </a:solidFill>
                <a:latin typeface="Calibri"/>
              </a:rPr>
              <a:t>Critical recall 0.63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Output Screens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admin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645920"/>
            <a:ext cx="50292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Administrator command centre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394960" cy="4645152"/>
          </a:xfrm>
          <a:prstGeom prst="roundRect">
            <a:avLst/>
          </a:prstGeom>
          <a:solidFill>
            <a:srgbClr val="111C31"/>
          </a:solidFill>
          <a:ln w="12700">
            <a:solidFill>
              <a:srgbClr val="263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doctor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645920"/>
            <a:ext cx="5029200" cy="3154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5074920"/>
            <a:ext cx="48463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2F7FD"/>
                </a:solidFill>
                <a:latin typeface="Calibri"/>
              </a:rPr>
              <a:t>Doctor queue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Initial Testing and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150/150 sequential read requests returned HTTP 200.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Mean endpoint latency: 3.985–14.231 ms on local loopback.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WebSocket connection: 46.657 ms.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Frontend lint and production build exited zero.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Observed nurse initial-tab defect and large JavaScript chunks.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No automated repository test suite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Successful reads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Lint warnings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Challenges and Corrective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Synthetic data → seek governed real data and external validation.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63% critical recall → cost-sensitive learning and calibration.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State coupling gaps → explicit transition service and tests.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Public WebSocket → authenticated channels and audit.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SQLite/single process → PostgreSQL, broker and resilient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F4444"/>
                </a:solidFill>
                <a:latin typeface="Calibri"/>
              </a:rPr>
              <a:t>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Critical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Clinical studies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4240" y="4114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75720" y="292608"/>
            <a:ext cx="201168" cy="20116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9FB0C7"/>
                </a:solidFill>
                <a:latin typeface="Calibri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5486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Calibri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2F7FD"/>
                </a:solidFill>
                <a:latin typeface="Cambria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667512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Automate unit, integration and end-to-end state tests.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Validate on de-identified temporal patient-flow data.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Conduct clinician-led usability and safety assessment.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Integrate hospital systems through HL7 FHIR.</a:t>
            </a:r>
          </a:p>
          <a:p>
            <a:pPr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600">
                <a:solidFill>
                  <a:srgbClr val="F2F7FD"/>
                </a:solidFill>
                <a:latin typeface="Calibri"/>
              </a:rPr>
              <a:t>Add production security, monitoring, backups and load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08760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6420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F4444"/>
                </a:solidFill>
                <a:latin typeface="Calibri"/>
              </a:rPr>
              <a:t>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465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Safety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834639"/>
            <a:ext cx="3794760" cy="1024128"/>
          </a:xfrm>
          <a:prstGeom prst="roundRect">
            <a:avLst/>
          </a:prstGeom>
          <a:solidFill>
            <a:srgbClr val="1724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7"/>
            <a:ext cx="14173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0B981"/>
                </a:solidFill>
                <a:latin typeface="Calibri"/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072383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2F7FD"/>
                </a:solidFill>
                <a:latin typeface="Calibri"/>
              </a:rPr>
              <a:t>Production scaling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828800"/>
            <a:ext cx="996696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4200" b="1">
                <a:solidFill>
                  <a:srgbClr val="F2F7FD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22D3EE"/>
                </a:solidFill>
                <a:latin typeface="Calibri"/>
              </a:rPr>
              <a:t>Questions and suggestions are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49240"/>
            <a:ext cx="9966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9FB0C7"/>
                </a:solidFill>
                <a:latin typeface="Calibri"/>
              </a:rPr>
              <a:t>CareFlow · Batch CSDS-A-A10 ·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FB0C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Intelligent Hospital Patient Flow Management System</dc:title>
  <dc:subject>CareFlow academic project documentation</dc:subject>
  <dc:creator>A. RAMU; B. RUSHI; B. RAJ KUMAR; A. PRABHAS</dc:creator>
  <cp:lastModifiedBy>Batch B17</cp:lastModifiedBy>
  <cp:revision>1</cp:revision>
  <dcterms:created xsi:type="dcterms:W3CDTF">2026-10-13T12:40:05Z</dcterms:created>
  <dcterms:modified xsi:type="dcterms:W3CDTF">2026-10-13T12:40:05Z</dcterms:modified>
</cp:coreProperties>
</file>