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media/image-1-1.jpg" ContentType="image/jpg"/>
  <ns0:Override PartName="/ppt/media/image-10-1.jpg" ContentType="image/jpg"/>
  <ns0:Override PartName="/ppt/media/image-11-1.jpg" ContentType="image/jpg"/>
  <ns0:Override PartName="/ppt/media/image-12-1.jpg" ContentType="image/jpg"/>
  <ns0:Override PartName="/ppt/media/image-13-1.jpg" ContentType="image/jpg"/>
  <ns0:Override PartName="/ppt/media/image-14-1.jpg" ContentType="image/jpg"/>
  <ns0:Override PartName="/ppt/media/image-15-1.jpg" ContentType="image/jpg"/>
  <ns0:Override PartName="/ppt/media/image-16-1.jpg" ContentType="image/jpg"/>
  <ns0:Override PartName="/ppt/media/image-17-1.jpg" ContentType="image/jpg"/>
  <ns0:Override PartName="/ppt/media/image-18-1.jpg" ContentType="image/jpg"/>
  <ns0:Override PartName="/ppt/media/image-19-1.jpg" ContentType="image/jpg"/>
  <ns0:Override PartName="/ppt/media/image-2-1.jpg" ContentType="image/jpg"/>
  <ns0:Override PartName="/ppt/media/image-20-1.jpg" ContentType="image/jpg"/>
  <ns0:Override PartName="/ppt/media/image-21-1.jpg" ContentType="image/jpg"/>
  <ns0:Override PartName="/ppt/media/image-22-1.jpg" ContentType="image/jpg"/>
  <ns0:Override PartName="/ppt/media/image-23-1.jpg" ContentType="image/jpg"/>
  <ns0:Override PartName="/ppt/media/image-24-1.jpg" ContentType="image/jpg"/>
  <ns0:Override PartName="/ppt/media/image-25-1.jpg" ContentType="image/jpg"/>
  <ns0:Override PartName="/ppt/media/image-26-1.jpg" ContentType="image/jpg"/>
  <ns0:Override PartName="/ppt/media/image-27-1.jpg" ContentType="image/jpg"/>
  <ns0:Override PartName="/ppt/media/image-28-1.jpg" ContentType="image/jpg"/>
  <ns0:Override PartName="/ppt/media/image-3-1.jpg" ContentType="image/jpg"/>
  <ns0:Override PartName="/ppt/media/image-4-1.jpg" ContentType="image/jpg"/>
  <ns0:Override PartName="/ppt/media/image-5-1.jpg" ContentType="image/jpg"/>
  <ns0:Override PartName="/ppt/media/image-6-1.jpg" ContentType="image/jpg"/>
  <ns0:Override PartName="/ppt/media/image-7-1.jpg" ContentType="image/jpg"/>
  <ns0:Override PartName="/ppt/media/image-8-1.jpg" ContentType="image/jpg"/>
  <ns0:Override PartName="/ppt/media/image-9-1.jpg" ContentType="image/jpg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ppt/notesSlides/notesSlide24.xml" ContentType="application/vnd.openxmlformats-officedocument.presentationml.notesSlide+xml"/>
  <ns0:Override PartName="/ppt/notesSlides/notesSlide25.xml" ContentType="application/vnd.openxmlformats-officedocument.presentationml.notesSlide+xml"/>
  <ns0:Override PartName="/ppt/notesSlides/notesSlide26.xml" ContentType="application/vnd.openxmlformats-officedocument.presentationml.notesSlide+xml"/>
  <ns0:Override PartName="/ppt/notesSlides/notesSlide27.xml" ContentType="application/vnd.openxmlformats-officedocument.presentationml.notesSlide+xml"/>
  <ns0:Override PartName="/ppt/notesSlides/notesSlide28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jpg" ContentType="image/jpeg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9144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658368" cy="6583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83464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384048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800600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02920"/>
            <a:ext cx="2743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CAREFLOW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69951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2F7FD"/>
                </a:solidFill>
                <a:latin typeface="Cambria"/>
              </a:rPr>
              <a:t>AI Powered Intelligent Hospital Patient Flow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79776"/>
            <a:ext cx="6217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FINAL REVIEW · COMPLETE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65836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2F7FD"/>
                </a:solidFill>
                <a:latin typeface="Calibri"/>
              </a:rPr>
              <a:t>A. RAMU · 23K91A6715     B. RUSHI · 23K91A6720
B. RAJ KUMAR · 23K91A6725     A. PRABHAS · 23K91A6703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19472"/>
            <a:ext cx="6949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Calibri"/>
              </a:rPr>
              <a:t>Guide: [GUIDE NAME]  ·  CSE (Data Science)  ·  Batch A10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52160"/>
            <a:ext cx="9144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FB0C7"/>
                </a:solidFill>
                <a:latin typeface="Calibri"/>
              </a:rPr>
              <a:t>Evidence-based documentation · Synthetic model data · Real running-system captures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36776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18488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Problem and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21991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50008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2331720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Objectives and approach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63240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044952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Architecture and methodology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48456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76472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758183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508760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636776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1618488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Measured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221991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350008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331720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Output screens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35224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063240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044952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CareFlow coordinates patient visits across queues, consultation, laboratory and bed state.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One persisted Visit record drives role dashboards and a public board.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Random Forest estimates wait; Gradient Boosting estimates triage priority.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Evidence is synthetic-model evaluation plus local software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Departments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Captured screens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Base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Alleviate, IEEE Access, 2025.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Integrated mobile healthcare access, recommendation, prescriptions, maps and planning.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Its 97.24% precision concerns specialist recommendation.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CareFlow changes the problem to internal operational flow; metrics are not comparable.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97.24%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Different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IEEE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Literature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Access and facility-location systems.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Disease and specialist recommendation.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Personalised diet/exercise and monitoring.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Healthcare chatbots and NLP.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Waiting-time prediction and interpretability.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Survey themes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No single shared state across tokens, movement, tests and beds.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Prediction studies often stop at a score, without operational action.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Patient-facing apps do not coordinate the internal hospital journey.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Evidence boundaries between synthetic metrics and real impact are often unclear.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Calibri"/>
              </a:rP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Operational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Calibri"/>
              </a:rPr>
              <a:t>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Auditable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Coordinate patients through OPD, emergency, laboratory, pharmacy, ward and ICU while preserving priority and current state.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Give each role the actions and visibility needed for its part of the journey.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Use AI assistance without overstating clinical validity or operational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Visit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Many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Role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Digital tokens and priority queues.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Visit state and movement tracking.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Laboratory workflow.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Live ward and ICU capacity.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Triage and wait prediction.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Role dashboards and public 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Project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5+1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Proposed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high_level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End-to-end operational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ystem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React, FastAPI, ML, SQLite and WebSocket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core_algorithm_flow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Triage and wait inference integrated with persistence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Dataset and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95160" cy="466344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dataset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662940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6492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Synthetic datasets and 85/15 splits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749039" cy="466344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37360"/>
            <a:ext cx="3246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RF: 200 trees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GB: 150 estimators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Seed 42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No real patient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Decision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Missing vital components are completed with documented defaults.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Classifier returns normal, urgent or critical plus confidence.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Queue-ahead count respects priority rank.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Regressor returns non-negative wait minutes.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Visit and movement are committed before broadcast.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Priority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Default servers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Data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dfd_level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Level 2: register and prioritise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Database and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er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Seven persistent 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uml_class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Domain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Implementation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JWT login and role dependencies.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Priority-first queue service and movement logs.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Bed admission/release and laboratory-state routes.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Public queue board and administrator KPIs.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Axios token injection and WebSocket refresh.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Joblib artefacts with stored encoders and feature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Application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Persistent entities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Model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95160" cy="466344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model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662940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6492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Generator-matched test scores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749039" cy="466344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37360"/>
            <a:ext cx="3246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Wait R² 0.951041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Triage accuracy 0.9680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Macro F1 0.898475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Not clinical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Confusion and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triage_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Critical recall = 63%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wait_err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MAE 5.982 · RMSE 8.580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Parameter and Limitation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Fixed Random Forest: 200 trees, max depth 10.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Fixed Gradient Boosting: 150 estimators, max depth 3.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No threshold sweep or calibration artefact exists—none is invented.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Overall accuracy hides 37 critical-to-urgent errors.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Real-data temporal and subgroup analysis remains future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Calibri"/>
              </a:rPr>
              <a:t>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Critical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Calibri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Threshold sweep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Performance and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95160" cy="466344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api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662940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6492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Sequential local mean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749039" cy="466344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37360"/>
            <a:ext cx="3246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150/150 HTTP 200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3.985–14.231 ms means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46.657 ms WebSocket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Build passed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14 lint warnings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No load 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Comparison with Base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Alleviate: patient access, specialist recommendation, prescriptions, maps and personalised plans.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CareFlow: internal queue, visit, laboratory and capacity coordination.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Different tasks, datasets, splits and conditions make numeric comparison invalid.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The valid comparison is functional coverage and research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Patient-facing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Operations-facing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Output 1 · Public and Reception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waiting_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Public token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_recepti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Registration list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Output 2 · Clinical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doctor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Doctor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_admit_pati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Available-bed selection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Output 3 ·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admin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Administrator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3_laboratory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Laboratory work queue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Implemented one coherent multi-role patient-flow prototype.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All 150 measured read requests returned HTTP 200.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Models produced reproducible synthetic-test results.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Critical recall and missing clinical validation define the safety boundary.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No real wait-reduction or deployment claim is made.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Functional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Calibri"/>
              </a:rPr>
              <a:t>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Clinical evidence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Governed real-data collection and temporal validation.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Cost-sensitive triage, calibration and uncertainty display.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Automated state-transition and end-to-end tests.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HL7 FHIR integration with EHR, lab and admission systems.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PostgreSQL, message broker, authenticated live channels and observability.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Clinician-led usability, safety and prospective impact study.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Validate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Scale securely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84632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[1] Saritha et al., Alleviate, IEEE Access, 2025, doi: 10.1109/ACCESS.2025.3647089.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[2] Tan et al., Personalized healthcare, JIWE, 2024.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[3] Abinaya and Ganesan, Nearest healthcare facilities, GCCT, 2015.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[4] Umbare et al., Smart healthcare using AI/ML, ICIPCN, 2024.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[5] Mogaveera et al., E-health monitoring and planning, ICICT, 2021.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[6] Surve et al., Healthcare chatbot using ML/NLP, ICAST, 2023.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[7] Waiting Time Prediction in Queue Management, ICRPSET, 2024.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F2F7FD"/>
                </a:solidFill>
                <a:latin typeface="Calibri"/>
              </a:rPr>
              <a:t>[8] Outpatient waiting-time prediction, Translational Pediatrics, 2023.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828800"/>
            <a:ext cx="99669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200" b="1">
                <a:solidFill>
                  <a:srgbClr val="F2F7FD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22D3EE"/>
                </a:solidFill>
                <a:latin typeface="Calibri"/>
              </a:rPr>
              <a:t>Questions and suggestions are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49240"/>
            <a:ext cx="9966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9FB0C7"/>
                </a:solidFill>
                <a:latin typeface="Calibri"/>
              </a:rPr>
              <a:t>CareFlow · Batch CSDS-A-A10 ·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Intelligent Hospital Patient Flow Management System</dc:title>
  <dc:subject>CareFlow academic project documentation</dc:subject>
  <dc:creator>A. RAMU; B. RUSHI; B. RAJ KUMAR; A. PRABHAS</dc:creator>
  <cp:lastModifiedBy>Batch D1, Dept. of CSE, TKRCET</cp:lastModifiedBy>
  <cp:revision>1</cp:revision>
  <dcterms:created xsi:type="dcterms:W3CDTF">2026-10-07T05:03:03Z</dcterms:created>
  <dcterms:modified xsi:type="dcterms:W3CDTF">2026-10-07T05:03:03Z</dcterms:modified>
</cp:coreProperties>
</file>