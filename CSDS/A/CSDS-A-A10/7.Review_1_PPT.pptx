
<file path=[Content_Types].xml><?xml version="1.0" encoding="utf-8"?>
<ns0:Types xmlns:ns0="http://schemas.openxmlformats.org/package/2006/content-types">
  <ns0:Default Extension="png" ContentType="image/png"/>
  <ns0:Default Extension="rels" ContentType="application/vnd.openxmlformats-package.relationships+xml"/>
  <ns0:Default Extension="xlsx" ContentType="application/vnd.openxmlformats-officedocument.spreadsheetml.sheet"/>
  <ns0:Default Extension="xml" ContentType="application/xml"/>
  <ns0:Override PartName="/docProps/app.xml" ContentType="application/vnd.openxmlformats-officedocument.extended-properties+xml"/>
  <ns0:Override PartName="/docProps/core.xml" ContentType="application/vnd.openxmlformats-package.core-properties+xml"/>
  <ns0:Override PartName="/ppt/charts/chart1.xml" ContentType="application/vnd.openxmlformats-officedocument.drawingml.chart+xml"/>
  <ns0:Override PartName="/ppt/notesMasters/notesMaster1.xml" ContentType="application/vnd.openxmlformats-officedocument.presentationml.notesMaster+xml"/>
  <ns0:Override PartName="/ppt/notesSlides/notesSlide1.xml" ContentType="application/vnd.openxmlformats-officedocument.presentationml.notesSlide+xml"/>
  <ns0:Override PartName="/ppt/notesSlides/notesSlide10.xml" ContentType="application/vnd.openxmlformats-officedocument.presentationml.notesSlide+xml"/>
  <ns0:Override PartName="/ppt/notesSlides/notesSlide11.xml" ContentType="application/vnd.openxmlformats-officedocument.presentationml.notesSlide+xml"/>
  <ns0:Override PartName="/ppt/notesSlides/notesSlide12.xml" ContentType="application/vnd.openxmlformats-officedocument.presentationml.notesSlide+xml"/>
  <ns0:Override PartName="/ppt/notesSlides/notesSlide13.xml" ContentType="application/vnd.openxmlformats-officedocument.presentationml.notesSlide+xml"/>
  <ns0:Override PartName="/ppt/notesSlides/notesSlide14.xml" ContentType="application/vnd.openxmlformats-officedocument.presentationml.notesSlide+xml"/>
  <ns0:Override PartName="/ppt/notesSlides/notesSlide15.xml" ContentType="application/vnd.openxmlformats-officedocument.presentationml.notesSlide+xml"/>
  <ns0:Override PartName="/ppt/notesSlides/notesSlide16.xml" ContentType="application/vnd.openxmlformats-officedocument.presentationml.notesSlide+xml"/>
  <ns0:Override PartName="/ppt/notesSlides/notesSlide2.xml" ContentType="application/vnd.openxmlformats-officedocument.presentationml.notesSlide+xml"/>
  <ns0:Override PartName="/ppt/notesSlides/notesSlide3.xml" ContentType="application/vnd.openxmlformats-officedocument.presentationml.notesSlide+xml"/>
  <ns0:Override PartName="/ppt/notesSlides/notesSlide4.xml" ContentType="application/vnd.openxmlformats-officedocument.presentationml.notesSlide+xml"/>
  <ns0:Override PartName="/ppt/notesSlides/notesSlide5.xml" ContentType="application/vnd.openxmlformats-officedocument.presentationml.notesSlide+xml"/>
  <ns0:Override PartName="/ppt/notesSlides/notesSlide6.xml" ContentType="application/vnd.openxmlformats-officedocument.presentationml.notesSlide+xml"/>
  <ns0:Override PartName="/ppt/notesSlides/notesSlide7.xml" ContentType="application/vnd.openxmlformats-officedocument.presentationml.notesSlide+xml"/>
  <ns0:Override PartName="/ppt/notesSlides/notesSlide8.xml" ContentType="application/vnd.openxmlformats-officedocument.presentationml.notesSlide+xml"/>
  <ns0:Override PartName="/ppt/notesSlides/notesSlide9.xml" ContentType="application/vnd.openxmlformats-officedocument.presentationml.notesSlide+xml"/>
  <ns0:Override PartName="/ppt/presProps.xml" ContentType="application/vnd.openxmlformats-officedocument.presentationml.presProps+xml"/>
  <ns0:Override PartName="/ppt/presentation.xml" ContentType="application/vnd.openxmlformats-officedocument.presentationml.presentation.main+xml"/>
  <ns0:Override PartName="/ppt/slideLayouts/slideLayout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10.xml" ContentType="application/vnd.openxmlformats-officedocument.presentationml.slide+xml"/>
  <ns0:Override PartName="/ppt/slides/slide11.xml" ContentType="application/vnd.openxmlformats-officedocument.presentationml.slide+xml"/>
  <ns0:Override PartName="/ppt/slides/slide12.xml" ContentType="application/vnd.openxmlformats-officedocument.presentationml.slide+xml"/>
  <ns0:Override PartName="/ppt/slides/slide13.xml" ContentType="application/vnd.openxmlformats-officedocument.presentationml.slide+xml"/>
  <ns0:Override PartName="/ppt/slides/slide14.xml" ContentType="application/vnd.openxmlformats-officedocument.presentationml.slide+xml"/>
  <ns0:Override PartName="/ppt/slides/slide15.xml" ContentType="application/vnd.openxmlformats-officedocument.presentationml.slide+xml"/>
  <ns0:Override PartName="/ppt/slides/slide16.xml" ContentType="application/vnd.openxmlformats-officedocument.presentationml.slide+xml"/>
  <ns0:Override PartName="/ppt/slides/slide2.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tableStyles.xml" ContentType="application/vnd.openxmlformats-officedocument.presentationml.tableStyles+xml"/>
  <ns0:Override PartName="/ppt/theme/theme1.xml" ContentType="application/vnd.openxmlformats-officedocument.theme+xml"/>
  <ns0:Override PartName="/ppt/viewProps.xml" ContentType="application/vnd.openxmlformats-officedocument.presentationml.viewProps+xml"/>
  <ns0:Default Extension="jpg" ContentType="image/jpeg"/>
</ns0: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mn-lt"/>
              </a:defRPr>
            </a:pPr>
            <a:r>
              <a:rPr sz="1400" b="0" i="0" u="none" strike="noStrike">
                <a:solidFill>
                  <a:srgbClr val="0F172A"/>
                </a:solidFill>
                <a:latin typeface="+mn-lt"/>
              </a:rPr>
              <a:t>CareFlow project 2-way test accuracy (Nakamura et al., 2020)</a:t>
            </a:r>
          </a:p>
        </c:rich>
      </c:tx>
      <c:layout/>
      <c:overlay val="0"/>
    </c:title>
    <c:autoTitleDeleted val="0"/>
    <c:plotArea>
      <c:layout/>
      <c:barChart>
        <c:barDir val="col"/>
        <c:grouping val="clustered"/>
        <c:varyColors val="0"/>
        <c:ser>
          <c:idx val="0"/>
          <c:order val="0"/>
          <c:tx>
            <c:strRef>
              <c:f>Sheet1!$B$1</c:f>
              <c:strCache>
                <c:ptCount val="1"/>
                <c:pt idx="0">
                  <c:v>Test accuracy</c:v>
                </c:pt>
              </c:strCache>
            </c:strRef>
          </c:tx>
          <c:spPr>
            <a:solidFill>
              <a:srgbClr val="2A78D6"/>
            </a:solidFill>
            <a:effectLst/>
          </c:spPr>
          <c:invertIfNegative val="0"/>
          <c:dLbls>
            <c:numFmt formatCode="0.000" sourceLinked="0"/>
            <c:txPr>
              <a:bodyPr/>
              <a:lstStyle/>
              <a:p>
                <a:pPr>
                  <a:defRPr b="0" i="0" strike="noStrike" sz="1000" u="none">
                    <a:solidFill>
                      <a:srgbClr val="475569"/>
                    </a:solidFill>
                    <a:latin typeface="+mn-lt"/>
                  </a:defRPr>
                </a:pPr>
              </a:p>
            </c:txPr>
            <c:showLegendKey val="0"/>
            <c:showVal val="1"/>
            <c:showCatName val="0"/>
            <c:showSerName val="0"/>
            <c:showPercent val="0"/>
            <c:showBubbleSize val="0"/>
            <c:showLeaderLines val="0"/>
          </c:dLbls>
          <c:cat>
            <c:multiLvlStrRef>
              <c:f>Sheet1!$A$2:$A$4</c:f>
              <c:multiLvlStrCache>
                <c:ptCount val="3"/>
                <c:lvl>
                  <c:pt idx="0">
                    <c:v>Text (BERT)</c:v>
                  </c:pt>
                  <c:pt idx="1">
                    <c:v>Image (ResNet50)</c:v>
                  </c:pt>
                  <c:pt idx="2">
                    <c:v>Text + image</c:v>
                  </c:pt>
                </c:lvl>
              </c:multiLvlStrCache>
            </c:multiLvlStrRef>
          </c:cat>
          <c:val>
            <c:numRef>
              <c:f>Sheet1!$B$2:$B$4</c:f>
              <c:numCache>
                <c:formatCode>General</c:formatCode>
                <c:ptCount val="3"/>
                <c:pt idx="0">
                  <c:v>0.8644</c:v>
                </c:pt>
                <c:pt idx="1">
                  <c:v>0.807</c:v>
                </c:pt>
                <c:pt idx="2">
                  <c:v>0.8909</c:v>
                </c:pt>
              </c:numCache>
            </c:numRef>
          </c:val>
        </c:ser>
        <c:dLbls>
          <c:numFmt formatCode="0.000" sourceLinked="0"/>
          <c:txPr>
            <a:bodyPr/>
            <a:lstStyle/>
            <a:p>
              <a:pPr>
                <a:defRPr b="0" i="0" strike="noStrike" sz="1000" u="none">
                  <a:solidFill>
                    <a:srgbClr val="47556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2E8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title. One sentence: we check whether a social media post is authentic or manipulated by reading both its text and its image or video. This review covers the problem, the base paper, related research, the research gap and the approach we propose.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quickly; the review focuses on why the problem matters and what is missing in existing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posts combine a caption with an image or video. The base paper reads only the text. We propose to keep its multichannel text network, add a visual track and a fusion network, add a separate check for AI-generated media, and deliver it as a web application. No results are claimed at this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citation. Explain the three parallel channels: kernel sizes 3, 4 and 5 read 3-, 4- and 5-word windows of the same GloVe-embedded text at once. Quote the reported CareFlow project numbers as the authors' figures. Stress the limitation the authors themselves list: text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pattern: text-only CNN and RNN models, then multimodal models that add image features. Results are each author's own figures on their own data and are not directly comparable. Values marked [1] are as reported in the base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uses the CareFlow project authors' own published test accuracies for the 2-way task. Combining the BERT text model with the ResNet50 image model beat either alone. This is the motivation for adding a visual track to the CareFlow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today's typical pipeline: text in, embedding, a 1D-CNN, a label out. Manual fact-checkers are accurate but slow and cover few posts.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limitations that our project targets. Each one maps to a design decision we will show on the proposed-approach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gap is backed by the literature: the modality gap is stated by the base paper's own authors; the generated-media gap follows from GenImage showing detectors rarely generalise across generators.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statement slowly. Emphasise the three outputs: a verdict, the per-modality probabilities, and a separate AI-generated media likelihood, delivered through a usable application and measured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objectives. The first three are about the model, the fourth about honest evaluation, the fifth about generated media, the sixth about the application and the last about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tracks trained separately and then fused, so we can measure what each modality adds. The AI-generated media check is deliberately separate from the verdict: misleading and generated are different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diagram top to bottom: the text track on the left, the visual track on the right, concatenated into one vector and classified by the dense sub-network.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expected outcomes, not results. We will report whatever the held-out test split shows, including negative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references are in the project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Likely questions: why a frozen backbone (small data, fast training); why separate the AI check (different question); how we will avoid over-claiming (held-out and out-of-domain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The Hidden Risk of Social Media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slideLayout" Target="../slideLayouts/slideLayout3.xml"/><Relationship Id="rId5" Type="http://schemas.openxmlformats.org/officeDocument/2006/relationships/notesSlide" Target="../notesSlides/notesSlide6.xml"/><Relationship Id="rId6"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 Id="rId8"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11F"/>
        </a:solidFill>
        <a:effectLst/>
      </p:bgPr>
    </p:bg>
    <p:spTree>
      <p:nvGrpSpPr>
        <p:cNvPr id="1" name=""/>
        <p:cNvGrpSpPr/>
        <p:nvPr/>
      </p:nvGrpSpPr>
      <p:grpSpPr>
        <a:xfrm>
          <a:off x="0" y="0"/>
          <a:ext cx="0" cy="0"/>
          <a:chOff x="0" y="0"/>
          <a:chExt cx="0" cy="0"/>
        </a:xfrm>
      </p:grpSpPr>
      <p:sp>
        <p:nvSpPr>
          <p:cNvPr id="2" name="Oval 1"/>
          <p:cNvSpPr/>
          <p:nvPr/>
        </p:nvSpPr>
        <p:spPr>
          <a:xfrm>
            <a:off x="8138160" y="914400"/>
            <a:ext cx="914400" cy="91440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1828800"/>
            <a:ext cx="658368" cy="65836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498079" y="2834640"/>
            <a:ext cx="594360" cy="59436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149840" y="3840480"/>
            <a:ext cx="822960" cy="82296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412480" y="4800600"/>
            <a:ext cx="566928" cy="5669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502920"/>
            <a:ext cx="2743200" cy="292608"/>
          </a:xfrm>
          <a:prstGeom prst="rect">
            <a:avLst/>
          </a:prstGeom>
          <a:noFill/>
        </p:spPr>
        <p:txBody>
          <a:bodyPr wrap="none" lIns="36576" rIns="36576" tIns="36576" bIns="36576" anchor="t">
            <a:spAutoFit/>
          </a:bodyPr>
          <a:lstStyle/>
          <a:p>
            <a:pPr algn="l"/>
            <a:r>
              <a:rPr sz="1200" b="1">
                <a:solidFill>
                  <a:srgbClr val="22D3EE"/>
                </a:solidFill>
                <a:latin typeface="Calibri"/>
              </a:rPr>
              <a:t>CAREFLOW</a:t>
            </a:r>
          </a:p>
        </p:txBody>
      </p:sp>
      <p:sp>
        <p:nvSpPr>
          <p:cNvPr id="8" name="TextBox 7"/>
          <p:cNvSpPr txBox="1"/>
          <p:nvPr/>
        </p:nvSpPr>
        <p:spPr>
          <a:xfrm>
            <a:off x="658368" y="1078992"/>
            <a:ext cx="6995160" cy="1508760"/>
          </a:xfrm>
          <a:prstGeom prst="rect">
            <a:avLst/>
          </a:prstGeom>
          <a:noFill/>
        </p:spPr>
        <p:txBody>
          <a:bodyPr wrap="square" lIns="36576" rIns="36576" tIns="36576" bIns="36576" anchor="t">
            <a:spAutoFit/>
          </a:bodyPr>
          <a:lstStyle/>
          <a:p>
            <a:pPr algn="l"/>
            <a:r>
              <a:rPr sz="2800" b="1">
                <a:solidFill>
                  <a:srgbClr val="F2F7FD"/>
                </a:solidFill>
                <a:latin typeface="Cambria"/>
              </a:rPr>
              <a:t>AI Powered Intelligent Hospital Patient Flow Management System</a:t>
            </a:r>
          </a:p>
        </p:txBody>
      </p:sp>
      <p:sp>
        <p:nvSpPr>
          <p:cNvPr id="9" name="TextBox 8"/>
          <p:cNvSpPr txBox="1"/>
          <p:nvPr/>
        </p:nvSpPr>
        <p:spPr>
          <a:xfrm>
            <a:off x="685800" y="2779776"/>
            <a:ext cx="6217920" cy="365760"/>
          </a:xfrm>
          <a:prstGeom prst="rect">
            <a:avLst/>
          </a:prstGeom>
          <a:noFill/>
        </p:spPr>
        <p:txBody>
          <a:bodyPr wrap="none" lIns="36576" rIns="36576" tIns="36576" bIns="36576" anchor="t">
            <a:spAutoFit/>
          </a:bodyPr>
          <a:lstStyle/>
          <a:p>
            <a:pPr algn="l"/>
            <a:r>
              <a:rPr sz="1500" b="1">
                <a:solidFill>
                  <a:srgbClr val="F59E0B"/>
                </a:solidFill>
                <a:latin typeface="Calibri"/>
              </a:rPr>
              <a:t>REVIEW 1 · PROBLEM IDENTIFICATION AND RESEARCH</a:t>
            </a:r>
          </a:p>
        </p:txBody>
      </p:sp>
      <p:sp>
        <p:nvSpPr>
          <p:cNvPr id="10" name="TextBox 9"/>
          <p:cNvSpPr txBox="1"/>
          <p:nvPr/>
        </p:nvSpPr>
        <p:spPr>
          <a:xfrm>
            <a:off x="685800" y="3703320"/>
            <a:ext cx="6583680" cy="868680"/>
          </a:xfrm>
          <a:prstGeom prst="rect">
            <a:avLst/>
          </a:prstGeom>
          <a:noFill/>
        </p:spPr>
        <p:txBody>
          <a:bodyPr wrap="none" lIns="36576" rIns="36576" tIns="36576" bIns="36576" anchor="t">
            <a:spAutoFit/>
          </a:bodyPr>
          <a:lstStyle/>
          <a:p>
            <a:pPr algn="l"/>
            <a:r>
              <a:rPr sz="1400" b="0">
                <a:solidFill>
                  <a:srgbClr val="F2F7FD"/>
                </a:solidFill>
                <a:latin typeface="Calibri"/>
              </a:rPr>
              <a:t>A. RAMU · 23K91A6715     B. RUSHI · 23K91A6720
B. RAJ KUMAR · 23K91A6725     A. PRABHAS · 23K91A6703</a:t>
            </a:r>
          </a:p>
        </p:txBody>
      </p:sp>
      <p:sp>
        <p:nvSpPr>
          <p:cNvPr id="11" name="TextBox 10"/>
          <p:cNvSpPr txBox="1"/>
          <p:nvPr/>
        </p:nvSpPr>
        <p:spPr>
          <a:xfrm>
            <a:off x="685800" y="4919472"/>
            <a:ext cx="6949440" cy="320040"/>
          </a:xfrm>
          <a:prstGeom prst="rect">
            <a:avLst/>
          </a:prstGeom>
          <a:noFill/>
        </p:spPr>
        <p:txBody>
          <a:bodyPr wrap="none" lIns="36576" rIns="36576" tIns="36576" bIns="36576" anchor="t">
            <a:spAutoFit/>
          </a:bodyPr>
          <a:lstStyle/>
          <a:p>
            <a:pPr algn="l"/>
            <a:r>
              <a:rPr sz="1200" b="0">
                <a:solidFill>
                  <a:srgbClr val="9FB0C7"/>
                </a:solidFill>
                <a:latin typeface="Calibri"/>
              </a:rPr>
              <a:t>Guide: [GUIDE NAME]  ·  CSE (Data Science)  ·  Batch A10</a:t>
            </a:r>
          </a:p>
        </p:txBody>
      </p:sp>
      <p:sp>
        <p:nvSpPr>
          <p:cNvPr id="12" name="TextBox 11"/>
          <p:cNvSpPr txBox="1"/>
          <p:nvPr/>
        </p:nvSpPr>
        <p:spPr>
          <a:xfrm>
            <a:off x="685800" y="5852160"/>
            <a:ext cx="9144000" cy="256032"/>
          </a:xfrm>
          <a:prstGeom prst="rect">
            <a:avLst/>
          </a:prstGeom>
          <a:noFill/>
        </p:spPr>
        <p:txBody>
          <a:bodyPr wrap="none" lIns="36576" rIns="36576" tIns="36576" bIns="36576" anchor="t">
            <a:spAutoFit/>
          </a:bodyPr>
          <a:lstStyle/>
          <a:p>
            <a:pPr algn="l"/>
            <a:r>
              <a:rPr sz="1100" b="0">
                <a:solidFill>
                  <a:srgbClr val="9FB0C7"/>
                </a:solidFill>
                <a:latin typeface="Calibri"/>
              </a:rPr>
              <a:t>Evidence-based documentation · Synthetic model data · Real running-system captures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111F"/>
        </a:solidFill>
        <a:effectLst/>
      </p:bgPr>
    </p:bg>
    <p:spTree>
      <p:nvGrpSpPr>
        <p:cNvPr id="1" name=""/>
        <p:cNvGrpSpPr/>
        <p:nvPr/>
      </p:nvGrpSpPr>
      <p:grpSpPr>
        <a:xfrm>
          <a:off x="0" y="0"/>
          <a:ext cx="0" cy="0"/>
          <a:chOff x="0" y="0"/>
          <a:chExt cx="0" cy="0"/>
        </a:xfrm>
      </p:grpSpPr>
      <p:sp>
        <p:nvSpPr>
          <p:cNvPr id="2" name="Oval 1"/>
          <p:cNvSpPr/>
          <p:nvPr/>
        </p:nvSpPr>
        <p:spPr>
          <a:xfrm>
            <a:off x="11064240" y="411480"/>
            <a:ext cx="411480" cy="41148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475720" y="292608"/>
            <a:ext cx="201168" cy="20116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4206240" cy="201168"/>
          </a:xfrm>
          <a:prstGeom prst="rect">
            <a:avLst/>
          </a:prstGeom>
          <a:noFill/>
        </p:spPr>
        <p:txBody>
          <a:bodyPr wrap="none" lIns="36576" rIns="36576" tIns="36576" bIns="36576" anchor="t">
            <a:spAutoFit/>
          </a:bodyPr>
          <a:lstStyle/>
          <a:p>
            <a:pPr algn="l"/>
            <a:r>
              <a:rPr sz="900" b="0">
                <a:solidFill>
                  <a:srgbClr val="9FB0C7"/>
                </a:solidFill>
                <a:latin typeface="Calibri"/>
              </a:rPr>
              <a:t>Review 1</a:t>
            </a:r>
          </a:p>
        </p:txBody>
      </p:sp>
      <p:sp>
        <p:nvSpPr>
          <p:cNvPr id="5" name="TextBox 4"/>
          <p:cNvSpPr txBox="1"/>
          <p:nvPr/>
        </p:nvSpPr>
        <p:spPr>
          <a:xfrm>
            <a:off x="11109960" y="6419088"/>
            <a:ext cx="502920" cy="228600"/>
          </a:xfrm>
          <a:prstGeom prst="rect">
            <a:avLst/>
          </a:prstGeom>
          <a:noFill/>
        </p:spPr>
        <p:txBody>
          <a:bodyPr wrap="none" lIns="36576" rIns="36576" tIns="36576" bIns="36576" anchor="t">
            <a:spAutoFit/>
          </a:bodyPr>
          <a:lstStyle/>
          <a:p>
            <a:pPr algn="r"/>
            <a:r>
              <a:rPr sz="900" b="0">
                <a:solidFill>
                  <a:srgbClr val="9FB0C7"/>
                </a:solidFill>
                <a:latin typeface="Calibri"/>
              </a:rPr>
              <a:t>2</a:t>
            </a:r>
          </a:p>
        </p:txBody>
      </p:sp>
      <p:sp>
        <p:nvSpPr>
          <p:cNvPr id="6" name="TextBox 5"/>
          <p:cNvSpPr txBox="1"/>
          <p:nvPr/>
        </p:nvSpPr>
        <p:spPr>
          <a:xfrm>
            <a:off x="548640" y="384048"/>
            <a:ext cx="5486400" cy="228600"/>
          </a:xfrm>
          <a:prstGeom prst="rect">
            <a:avLst/>
          </a:prstGeom>
          <a:noFill/>
        </p:spPr>
        <p:txBody>
          <a:bodyPr wrap="none" lIns="36576" rIns="36576" tIns="36576" bIns="36576" anchor="t">
            <a:spAutoFit/>
          </a:bodyPr>
          <a:lstStyle/>
          <a:p>
            <a:pPr algn="l"/>
            <a:r>
              <a:rPr sz="1000" b="1">
                <a:solidFill>
                  <a:srgbClr val="22D3EE"/>
                </a:solidFill>
                <a:latin typeface="Calibri"/>
              </a:rPr>
              <a:t>NAVIGATION</a:t>
            </a:r>
          </a:p>
        </p:txBody>
      </p:sp>
      <p:sp>
        <p:nvSpPr>
          <p:cNvPr id="7" name="TextBox 6"/>
          <p:cNvSpPr txBox="1"/>
          <p:nvPr/>
        </p:nvSpPr>
        <p:spPr>
          <a:xfrm>
            <a:off x="548640" y="713232"/>
            <a:ext cx="10789920" cy="502920"/>
          </a:xfrm>
          <a:prstGeom prst="rect">
            <a:avLst/>
          </a:prstGeom>
          <a:noFill/>
        </p:spPr>
        <p:txBody>
          <a:bodyPr wrap="none" lIns="36576" rIns="36576" tIns="36576" bIns="36576" anchor="t">
            <a:spAutoFit/>
          </a:bodyPr>
          <a:lstStyle/>
          <a:p>
            <a:pPr algn="l"/>
            <a:r>
              <a:rPr sz="3000" b="1">
                <a:solidFill>
                  <a:srgbClr val="F2F7FD"/>
                </a:solidFill>
                <a:latin typeface="Cambria"/>
              </a:rPr>
              <a:t>Contents</a:t>
            </a:r>
          </a:p>
        </p:txBody>
      </p:sp>
      <p:sp>
        <p:nvSpPr>
          <p:cNvPr id="8" name="Rounded Rectangle 7"/>
          <p:cNvSpPr/>
          <p:nvPr/>
        </p:nvSpPr>
        <p:spPr>
          <a:xfrm>
            <a:off x="685800" y="1508760"/>
            <a:ext cx="5212080" cy="530352"/>
          </a:xfrm>
          <a:prstGeom prst="roundRect">
            <a:avLst/>
          </a:prstGeom>
          <a:solidFill>
            <a:srgbClr val="17243B"/>
          </a:solidFill>
          <a:ln w="12700">
            <a:solidFill>
              <a:srgbClr val="263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636776"/>
            <a:ext cx="457200" cy="201168"/>
          </a:xfrm>
          <a:prstGeom prst="rect">
            <a:avLst/>
          </a:prstGeom>
          <a:noFill/>
        </p:spPr>
        <p:txBody>
          <a:bodyPr wrap="none" lIns="36576" rIns="36576" tIns="36576" bIns="36576" anchor="t">
            <a:spAutoFit/>
          </a:bodyPr>
          <a:lstStyle/>
          <a:p>
            <a:pPr algn="l"/>
            <a:r>
              <a:rPr sz="1100" b="1">
                <a:solidFill>
                  <a:srgbClr val="22D3EE"/>
                </a:solidFill>
                <a:latin typeface="Calibri"/>
              </a:rPr>
              <a:t>01</a:t>
            </a:r>
          </a:p>
        </p:txBody>
      </p:sp>
      <p:sp>
        <p:nvSpPr>
          <p:cNvPr id="10" name="TextBox 9"/>
          <p:cNvSpPr txBox="1"/>
          <p:nvPr/>
        </p:nvSpPr>
        <p:spPr>
          <a:xfrm>
            <a:off x="1435607" y="1618488"/>
            <a:ext cx="4206240" cy="274320"/>
          </a:xfrm>
          <a:prstGeom prst="rect">
            <a:avLst/>
          </a:prstGeom>
          <a:noFill/>
        </p:spPr>
        <p:txBody>
          <a:bodyPr wrap="none" lIns="36576" rIns="36576" tIns="36576" bIns="36576" anchor="t">
            <a:spAutoFit/>
          </a:bodyPr>
          <a:lstStyle/>
          <a:p>
            <a:pPr algn="l"/>
            <a:r>
              <a:rPr sz="1500" b="1">
                <a:solidFill>
                  <a:srgbClr val="F2F7FD"/>
                </a:solidFill>
                <a:latin typeface="Calibri"/>
              </a:rPr>
              <a:t>Abstract</a:t>
            </a:r>
          </a:p>
        </p:txBody>
      </p:sp>
      <p:sp>
        <p:nvSpPr>
          <p:cNvPr id="11" name="Rounded Rectangle 10"/>
          <p:cNvSpPr/>
          <p:nvPr/>
        </p:nvSpPr>
        <p:spPr>
          <a:xfrm>
            <a:off x="685800" y="2221991"/>
            <a:ext cx="5212080" cy="530352"/>
          </a:xfrm>
          <a:prstGeom prst="roundRect">
            <a:avLst/>
          </a:prstGeom>
          <a:solidFill>
            <a:srgbClr val="17243B"/>
          </a:solidFill>
          <a:ln w="12700">
            <a:solidFill>
              <a:srgbClr val="263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350008"/>
            <a:ext cx="457200" cy="201168"/>
          </a:xfrm>
          <a:prstGeom prst="rect">
            <a:avLst/>
          </a:prstGeom>
          <a:noFill/>
        </p:spPr>
        <p:txBody>
          <a:bodyPr wrap="none" lIns="36576" rIns="36576" tIns="36576" bIns="36576" anchor="t">
            <a:spAutoFit/>
          </a:bodyPr>
          <a:lstStyle/>
          <a:p>
            <a:pPr algn="l"/>
            <a:r>
              <a:rPr sz="1100" b="1">
                <a:solidFill>
                  <a:srgbClr val="22D3EE"/>
                </a:solidFill>
                <a:latin typeface="Calibri"/>
              </a:rPr>
              <a:t>02</a:t>
            </a:r>
          </a:p>
        </p:txBody>
      </p:sp>
      <p:sp>
        <p:nvSpPr>
          <p:cNvPr id="13" name="TextBox 12"/>
          <p:cNvSpPr txBox="1"/>
          <p:nvPr/>
        </p:nvSpPr>
        <p:spPr>
          <a:xfrm>
            <a:off x="1435607" y="2331720"/>
            <a:ext cx="4206240" cy="274320"/>
          </a:xfrm>
          <a:prstGeom prst="rect">
            <a:avLst/>
          </a:prstGeom>
          <a:noFill/>
        </p:spPr>
        <p:txBody>
          <a:bodyPr wrap="none" lIns="36576" rIns="36576" tIns="36576" bIns="36576" anchor="t">
            <a:spAutoFit/>
          </a:bodyPr>
          <a:lstStyle/>
          <a:p>
            <a:pPr algn="l"/>
            <a:r>
              <a:rPr sz="1500" b="1">
                <a:solidFill>
                  <a:srgbClr val="F2F7FD"/>
                </a:solidFill>
                <a:latin typeface="Calibri"/>
              </a:rPr>
              <a:t>Base paper</a:t>
            </a:r>
          </a:p>
        </p:txBody>
      </p:sp>
      <p:sp>
        <p:nvSpPr>
          <p:cNvPr id="14" name="Rounded Rectangle 13"/>
          <p:cNvSpPr/>
          <p:nvPr/>
        </p:nvSpPr>
        <p:spPr>
          <a:xfrm>
            <a:off x="685800" y="2935224"/>
            <a:ext cx="5212080" cy="530352"/>
          </a:xfrm>
          <a:prstGeom prst="roundRect">
            <a:avLst/>
          </a:prstGeom>
          <a:solidFill>
            <a:srgbClr val="17243B"/>
          </a:solidFill>
          <a:ln w="12700">
            <a:solidFill>
              <a:srgbClr val="263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3063240"/>
            <a:ext cx="457200" cy="201168"/>
          </a:xfrm>
          <a:prstGeom prst="rect">
            <a:avLst/>
          </a:prstGeom>
          <a:noFill/>
        </p:spPr>
        <p:txBody>
          <a:bodyPr wrap="none" lIns="36576" rIns="36576" tIns="36576" bIns="36576" anchor="t">
            <a:spAutoFit/>
          </a:bodyPr>
          <a:lstStyle/>
          <a:p>
            <a:pPr algn="l"/>
            <a:r>
              <a:rPr sz="1100" b="1">
                <a:solidFill>
                  <a:srgbClr val="22D3EE"/>
                </a:solidFill>
                <a:latin typeface="Calibri"/>
              </a:rPr>
              <a:t>03</a:t>
            </a:r>
          </a:p>
        </p:txBody>
      </p:sp>
      <p:sp>
        <p:nvSpPr>
          <p:cNvPr id="16" name="TextBox 15"/>
          <p:cNvSpPr txBox="1"/>
          <p:nvPr/>
        </p:nvSpPr>
        <p:spPr>
          <a:xfrm>
            <a:off x="1435607" y="3044952"/>
            <a:ext cx="4206240" cy="274320"/>
          </a:xfrm>
          <a:prstGeom prst="rect">
            <a:avLst/>
          </a:prstGeom>
          <a:noFill/>
        </p:spPr>
        <p:txBody>
          <a:bodyPr wrap="none" lIns="36576" rIns="36576" tIns="36576" bIns="36576" anchor="t">
            <a:spAutoFit/>
          </a:bodyPr>
          <a:lstStyle/>
          <a:p>
            <a:pPr algn="l"/>
            <a:r>
              <a:rPr sz="1500" b="1">
                <a:solidFill>
                  <a:srgbClr val="F2F7FD"/>
                </a:solidFill>
                <a:latin typeface="Calibri"/>
              </a:rPr>
              <a:t>Literature survey</a:t>
            </a:r>
          </a:p>
        </p:txBody>
      </p:sp>
      <p:sp>
        <p:nvSpPr>
          <p:cNvPr id="17" name="Rounded Rectangle 16"/>
          <p:cNvSpPr/>
          <p:nvPr/>
        </p:nvSpPr>
        <p:spPr>
          <a:xfrm>
            <a:off x="685800" y="3648456"/>
            <a:ext cx="5212080" cy="530352"/>
          </a:xfrm>
          <a:prstGeom prst="roundRect">
            <a:avLst/>
          </a:prstGeom>
          <a:solidFill>
            <a:srgbClr val="17243B"/>
          </a:solidFill>
          <a:ln w="12700">
            <a:solidFill>
              <a:srgbClr val="263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776472"/>
            <a:ext cx="457200" cy="201168"/>
          </a:xfrm>
          <a:prstGeom prst="rect">
            <a:avLst/>
          </a:prstGeom>
          <a:noFill/>
        </p:spPr>
        <p:txBody>
          <a:bodyPr wrap="none" lIns="36576" rIns="36576" tIns="36576" bIns="36576" anchor="t">
            <a:spAutoFit/>
          </a:bodyPr>
          <a:lstStyle/>
          <a:p>
            <a:pPr algn="l"/>
            <a:r>
              <a:rPr sz="1100" b="1">
                <a:solidFill>
                  <a:srgbClr val="22D3EE"/>
                </a:solidFill>
                <a:latin typeface="Calibri"/>
              </a:rPr>
              <a:t>04</a:t>
            </a:r>
          </a:p>
        </p:txBody>
      </p:sp>
      <p:sp>
        <p:nvSpPr>
          <p:cNvPr id="19" name="TextBox 18"/>
          <p:cNvSpPr txBox="1"/>
          <p:nvPr/>
        </p:nvSpPr>
        <p:spPr>
          <a:xfrm>
            <a:off x="1435607" y="3758183"/>
            <a:ext cx="4206240" cy="274320"/>
          </a:xfrm>
          <a:prstGeom prst="rect">
            <a:avLst/>
          </a:prstGeom>
          <a:noFill/>
        </p:spPr>
        <p:txBody>
          <a:bodyPr wrap="none" lIns="36576" rIns="36576" tIns="36576" bIns="36576" anchor="t">
            <a:spAutoFit/>
          </a:bodyPr>
          <a:lstStyle/>
          <a:p>
            <a:pPr algn="l"/>
            <a:r>
              <a:rPr sz="1500" b="1">
                <a:solidFill>
                  <a:srgbClr val="F2F7FD"/>
                </a:solidFill>
                <a:latin typeface="Calibri"/>
              </a:rPr>
              <a:t>Existing system</a:t>
            </a:r>
          </a:p>
        </p:txBody>
      </p:sp>
      <p:sp>
        <p:nvSpPr>
          <p:cNvPr id="20" name="Rounded Rectangle 19"/>
          <p:cNvSpPr/>
          <p:nvPr/>
        </p:nvSpPr>
        <p:spPr>
          <a:xfrm>
            <a:off x="6309360" y="1508760"/>
            <a:ext cx="5212080" cy="530352"/>
          </a:xfrm>
          <a:prstGeom prst="roundRect">
            <a:avLst/>
          </a:prstGeom>
          <a:solidFill>
            <a:srgbClr val="17243B"/>
          </a:solidFill>
          <a:ln w="12700">
            <a:solidFill>
              <a:srgbClr val="263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3952" y="1636776"/>
            <a:ext cx="457200" cy="201168"/>
          </a:xfrm>
          <a:prstGeom prst="rect">
            <a:avLst/>
          </a:prstGeom>
          <a:noFill/>
        </p:spPr>
        <p:txBody>
          <a:bodyPr wrap="none" lIns="36576" rIns="36576" tIns="36576" bIns="36576" anchor="t">
            <a:spAutoFit/>
          </a:bodyPr>
          <a:lstStyle/>
          <a:p>
            <a:pPr algn="l"/>
            <a:r>
              <a:rPr sz="1100" b="1">
                <a:solidFill>
                  <a:srgbClr val="22D3EE"/>
                </a:solidFill>
                <a:latin typeface="Calibri"/>
              </a:rPr>
              <a:t>05</a:t>
            </a:r>
          </a:p>
        </p:txBody>
      </p:sp>
      <p:sp>
        <p:nvSpPr>
          <p:cNvPr id="22" name="TextBox 21"/>
          <p:cNvSpPr txBox="1"/>
          <p:nvPr/>
        </p:nvSpPr>
        <p:spPr>
          <a:xfrm>
            <a:off x="7059168" y="1618488"/>
            <a:ext cx="4206240" cy="274320"/>
          </a:xfrm>
          <a:prstGeom prst="rect">
            <a:avLst/>
          </a:prstGeom>
          <a:noFill/>
        </p:spPr>
        <p:txBody>
          <a:bodyPr wrap="none" lIns="36576" rIns="36576" tIns="36576" bIns="36576" anchor="t">
            <a:spAutoFit/>
          </a:bodyPr>
          <a:lstStyle/>
          <a:p>
            <a:pPr algn="l"/>
            <a:r>
              <a:rPr sz="1500" b="1">
                <a:solidFill>
                  <a:srgbClr val="F2F7FD"/>
                </a:solidFill>
                <a:latin typeface="Calibri"/>
              </a:rPr>
              <a:t>Research gap</a:t>
            </a:r>
          </a:p>
        </p:txBody>
      </p:sp>
      <p:sp>
        <p:nvSpPr>
          <p:cNvPr id="23" name="Rounded Rectangle 22"/>
          <p:cNvSpPr/>
          <p:nvPr/>
        </p:nvSpPr>
        <p:spPr>
          <a:xfrm>
            <a:off x="6309360" y="2221991"/>
            <a:ext cx="5212080" cy="530352"/>
          </a:xfrm>
          <a:prstGeom prst="roundRect">
            <a:avLst/>
          </a:prstGeom>
          <a:solidFill>
            <a:srgbClr val="17243B"/>
          </a:solidFill>
          <a:ln w="12700">
            <a:solidFill>
              <a:srgbClr val="263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73952" y="2350008"/>
            <a:ext cx="457200" cy="201168"/>
          </a:xfrm>
          <a:prstGeom prst="rect">
            <a:avLst/>
          </a:prstGeom>
          <a:noFill/>
        </p:spPr>
        <p:txBody>
          <a:bodyPr wrap="none" lIns="36576" rIns="36576" tIns="36576" bIns="36576" anchor="t">
            <a:spAutoFit/>
          </a:bodyPr>
          <a:lstStyle/>
          <a:p>
            <a:pPr algn="l"/>
            <a:r>
              <a:rPr sz="1100" b="1">
                <a:solidFill>
                  <a:srgbClr val="22D3EE"/>
                </a:solidFill>
                <a:latin typeface="Calibri"/>
              </a:rPr>
              <a:t>06</a:t>
            </a:r>
          </a:p>
        </p:txBody>
      </p:sp>
      <p:sp>
        <p:nvSpPr>
          <p:cNvPr id="25" name="TextBox 24"/>
          <p:cNvSpPr txBox="1"/>
          <p:nvPr/>
        </p:nvSpPr>
        <p:spPr>
          <a:xfrm>
            <a:off x="7059168" y="2331720"/>
            <a:ext cx="4206240" cy="274320"/>
          </a:xfrm>
          <a:prstGeom prst="rect">
            <a:avLst/>
          </a:prstGeom>
          <a:noFill/>
        </p:spPr>
        <p:txBody>
          <a:bodyPr wrap="none" lIns="36576" rIns="36576" tIns="36576" bIns="36576" anchor="t">
            <a:spAutoFit/>
          </a:bodyPr>
          <a:lstStyle/>
          <a:p>
            <a:pPr algn="l"/>
            <a:r>
              <a:rPr sz="1500" b="1">
                <a:solidFill>
                  <a:srgbClr val="F2F7FD"/>
                </a:solidFill>
                <a:latin typeface="Calibri"/>
              </a:rPr>
              <a:t>Objectives</a:t>
            </a:r>
          </a:p>
        </p:txBody>
      </p:sp>
      <p:sp>
        <p:nvSpPr>
          <p:cNvPr id="26" name="Rounded Rectangle 25"/>
          <p:cNvSpPr/>
          <p:nvPr/>
        </p:nvSpPr>
        <p:spPr>
          <a:xfrm>
            <a:off x="6309360" y="2935224"/>
            <a:ext cx="5212080" cy="530352"/>
          </a:xfrm>
          <a:prstGeom prst="roundRect">
            <a:avLst/>
          </a:prstGeom>
          <a:solidFill>
            <a:srgbClr val="17243B"/>
          </a:solidFill>
          <a:ln w="12700">
            <a:solidFill>
              <a:srgbClr val="263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3063240"/>
            <a:ext cx="457200" cy="201168"/>
          </a:xfrm>
          <a:prstGeom prst="rect">
            <a:avLst/>
          </a:prstGeom>
          <a:noFill/>
        </p:spPr>
        <p:txBody>
          <a:bodyPr wrap="none" lIns="36576" rIns="36576" tIns="36576" bIns="36576" anchor="t">
            <a:spAutoFit/>
          </a:bodyPr>
          <a:lstStyle/>
          <a:p>
            <a:pPr algn="l"/>
            <a:r>
              <a:rPr sz="1100" b="1">
                <a:solidFill>
                  <a:srgbClr val="22D3EE"/>
                </a:solidFill>
                <a:latin typeface="Calibri"/>
              </a:rPr>
              <a:t>07</a:t>
            </a:r>
          </a:p>
        </p:txBody>
      </p:sp>
      <p:sp>
        <p:nvSpPr>
          <p:cNvPr id="28" name="TextBox 27"/>
          <p:cNvSpPr txBox="1"/>
          <p:nvPr/>
        </p:nvSpPr>
        <p:spPr>
          <a:xfrm>
            <a:off x="7059168" y="3044952"/>
            <a:ext cx="4206240" cy="274320"/>
          </a:xfrm>
          <a:prstGeom prst="rect">
            <a:avLst/>
          </a:prstGeom>
          <a:noFill/>
        </p:spPr>
        <p:txBody>
          <a:bodyPr wrap="none" lIns="36576" rIns="36576" tIns="36576" bIns="36576" anchor="t">
            <a:spAutoFit/>
          </a:bodyPr>
          <a:lstStyle/>
          <a:p>
            <a:pPr algn="l"/>
            <a:r>
              <a:rPr sz="1500" b="1">
                <a:solidFill>
                  <a:srgbClr val="F2F7FD"/>
                </a:solidFill>
                <a:latin typeface="Calibri"/>
              </a:rPr>
              <a:t>Proposed approach</a:t>
            </a:r>
          </a:p>
        </p:txBody>
      </p:sp>
      <p:sp>
        <p:nvSpPr>
          <p:cNvPr id="29" name="Rounded Rectangle 28"/>
          <p:cNvSpPr/>
          <p:nvPr/>
        </p:nvSpPr>
        <p:spPr>
          <a:xfrm>
            <a:off x="6309360" y="3648456"/>
            <a:ext cx="5212080" cy="530352"/>
          </a:xfrm>
          <a:prstGeom prst="roundRect">
            <a:avLst/>
          </a:prstGeom>
          <a:solidFill>
            <a:srgbClr val="17243B"/>
          </a:solidFill>
          <a:ln w="12700">
            <a:solidFill>
              <a:srgbClr val="263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73952" y="3776472"/>
            <a:ext cx="457200" cy="201168"/>
          </a:xfrm>
          <a:prstGeom prst="rect">
            <a:avLst/>
          </a:prstGeom>
          <a:noFill/>
        </p:spPr>
        <p:txBody>
          <a:bodyPr wrap="none" lIns="36576" rIns="36576" tIns="36576" bIns="36576" anchor="t">
            <a:spAutoFit/>
          </a:bodyPr>
          <a:lstStyle/>
          <a:p>
            <a:pPr algn="l"/>
            <a:r>
              <a:rPr sz="1100" b="1">
                <a:solidFill>
                  <a:srgbClr val="22D3EE"/>
                </a:solidFill>
                <a:latin typeface="Calibri"/>
              </a:rPr>
              <a:t>08</a:t>
            </a:r>
          </a:p>
        </p:txBody>
      </p:sp>
      <p:sp>
        <p:nvSpPr>
          <p:cNvPr id="31" name="TextBox 30"/>
          <p:cNvSpPr txBox="1"/>
          <p:nvPr/>
        </p:nvSpPr>
        <p:spPr>
          <a:xfrm>
            <a:off x="7059168" y="3758183"/>
            <a:ext cx="4206240" cy="274320"/>
          </a:xfrm>
          <a:prstGeom prst="rect">
            <a:avLst/>
          </a:prstGeom>
          <a:noFill/>
        </p:spPr>
        <p:txBody>
          <a:bodyPr wrap="none" lIns="36576" rIns="36576" tIns="36576" bIns="36576" anchor="t">
            <a:spAutoFit/>
          </a:bodyPr>
          <a:lstStyle/>
          <a:p>
            <a:pPr algn="l"/>
            <a:r>
              <a:rPr sz="1500" b="1">
                <a:solidFill>
                  <a:srgbClr val="F2F7FD"/>
                </a:solidFill>
                <a:latin typeface="Calibri"/>
              </a:rPr>
              <a:t>Expected outcomes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111F"/>
        </a:solidFill>
        <a:effectLst/>
      </p:bgPr>
    </p:bg>
    <p:spTree>
      <p:nvGrpSpPr>
        <p:cNvPr id="1" name=""/>
        <p:cNvGrpSpPr/>
        <p:nvPr/>
      </p:nvGrpSpPr>
      <p:grpSpPr>
        <a:xfrm>
          <a:off x="0" y="0"/>
          <a:ext cx="0" cy="0"/>
          <a:chOff x="0" y="0"/>
          <a:chExt cx="0" cy="0"/>
        </a:xfrm>
      </p:grpSpPr>
      <p:sp>
        <p:nvSpPr>
          <p:cNvPr id="2" name="Oval 1"/>
          <p:cNvSpPr/>
          <p:nvPr/>
        </p:nvSpPr>
        <p:spPr>
          <a:xfrm>
            <a:off x="11064240" y="411480"/>
            <a:ext cx="411480" cy="41148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475720" y="292608"/>
            <a:ext cx="201168" cy="20116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4206240" cy="201168"/>
          </a:xfrm>
          <a:prstGeom prst="rect">
            <a:avLst/>
          </a:prstGeom>
          <a:noFill/>
        </p:spPr>
        <p:txBody>
          <a:bodyPr wrap="none" lIns="36576" rIns="36576" tIns="36576" bIns="36576" anchor="t">
            <a:spAutoFit/>
          </a:bodyPr>
          <a:lstStyle/>
          <a:p>
            <a:pPr algn="l"/>
            <a:r>
              <a:rPr sz="900" b="0">
                <a:solidFill>
                  <a:srgbClr val="9FB0C7"/>
                </a:solidFill>
                <a:latin typeface="Calibri"/>
              </a:rPr>
              <a:t>Abstract</a:t>
            </a:r>
          </a:p>
        </p:txBody>
      </p:sp>
      <p:sp>
        <p:nvSpPr>
          <p:cNvPr id="5" name="TextBox 4"/>
          <p:cNvSpPr txBox="1"/>
          <p:nvPr/>
        </p:nvSpPr>
        <p:spPr>
          <a:xfrm>
            <a:off x="11109960" y="6419088"/>
            <a:ext cx="502920" cy="228600"/>
          </a:xfrm>
          <a:prstGeom prst="rect">
            <a:avLst/>
          </a:prstGeom>
          <a:noFill/>
        </p:spPr>
        <p:txBody>
          <a:bodyPr wrap="none" lIns="36576" rIns="36576" tIns="36576" bIns="36576" anchor="t">
            <a:spAutoFit/>
          </a:bodyPr>
          <a:lstStyle/>
          <a:p>
            <a:pPr algn="r"/>
            <a:r>
              <a:rPr sz="900" b="0">
                <a:solidFill>
                  <a:srgbClr val="9FB0C7"/>
                </a:solidFill>
                <a:latin typeface="Calibri"/>
              </a:rPr>
              <a:t>3</a:t>
            </a:r>
          </a:p>
        </p:txBody>
      </p:sp>
      <p:sp>
        <p:nvSpPr>
          <p:cNvPr id="6" name="TextBox 5"/>
          <p:cNvSpPr txBox="1"/>
          <p:nvPr/>
        </p:nvSpPr>
        <p:spPr>
          <a:xfrm>
            <a:off x="548640" y="384048"/>
            <a:ext cx="5486400" cy="228600"/>
          </a:xfrm>
          <a:prstGeom prst="rect">
            <a:avLst/>
          </a:prstGeom>
          <a:noFill/>
        </p:spPr>
        <p:txBody>
          <a:bodyPr wrap="none" lIns="36576" rIns="36576" tIns="36576" bIns="36576" anchor="t">
            <a:spAutoFit/>
          </a:bodyPr>
          <a:lstStyle/>
          <a:p>
            <a:pPr algn="l"/>
            <a:r>
              <a:rPr sz="1000" b="1">
                <a:solidFill>
                  <a:srgbClr val="22D3EE"/>
                </a:solidFill>
                <a:latin typeface="Calibri"/>
              </a:rPr>
              <a:t>ABSTRACT</a:t>
            </a:r>
          </a:p>
        </p:txBody>
      </p:sp>
      <p:sp>
        <p:nvSpPr>
          <p:cNvPr id="7" name="TextBox 6"/>
          <p:cNvSpPr txBox="1"/>
          <p:nvPr/>
        </p:nvSpPr>
        <p:spPr>
          <a:xfrm>
            <a:off x="548640" y="713232"/>
            <a:ext cx="10789920" cy="502920"/>
          </a:xfrm>
          <a:prstGeom prst="rect">
            <a:avLst/>
          </a:prstGeom>
          <a:noFill/>
        </p:spPr>
        <p:txBody>
          <a:bodyPr wrap="none" lIns="36576" rIns="36576" tIns="36576" bIns="36576" anchor="t">
            <a:spAutoFit/>
          </a:bodyPr>
          <a:lstStyle/>
          <a:p>
            <a:pPr algn="l"/>
            <a:r>
              <a:rPr sz="3000" b="1">
                <a:solidFill>
                  <a:srgbClr val="F2F7FD"/>
                </a:solidFill>
                <a:latin typeface="Cambria"/>
              </a:rPr>
              <a:t>Abstract</a:t>
            </a:r>
          </a:p>
        </p:txBody>
      </p:sp>
      <p:sp>
        <p:nvSpPr>
          <p:cNvPr id="8" name="TextBox 7"/>
          <p:cNvSpPr txBox="1"/>
          <p:nvPr/>
        </p:nvSpPr>
        <p:spPr>
          <a:xfrm>
            <a:off x="640080" y="1481328"/>
            <a:ext cx="6675120" cy="4480560"/>
          </a:xfrm>
          <a:prstGeom prst="rect">
            <a:avLst/>
          </a:prstGeom>
          <a:noFill/>
        </p:spPr>
        <p:txBody>
          <a:bodyPr wrap="square" lIns="73152" rIns="73152">
            <a:spAutoFit/>
          </a:bodyPr>
          <a:lstStyle/>
          <a:p>
            <a:pPr>
              <a:lnSpc>
                <a:spcPct val="108000"/>
              </a:lnSpc>
              <a:spcAft>
                <a:spcPts val="1000"/>
              </a:spcAft>
              <a:buChar char="•"/>
            </a:pPr>
            <a:r>
              <a:rPr sz="1600">
                <a:solidFill>
                  <a:srgbClr val="F2F7FD"/>
                </a:solidFill>
                <a:latin typeface="Calibri"/>
              </a:rPr>
              <a:t>Hospitals coordinate registration, queues, consultation, laboratory work and beds through changing shared state.</a:t>
            </a:r>
          </a:p>
          <a:p>
            <a:pPr>
              <a:lnSpc>
                <a:spcPct val="108000"/>
              </a:lnSpc>
              <a:spcAft>
                <a:spcPts val="1000"/>
              </a:spcAft>
              <a:buChar char="•"/>
            </a:pPr>
            <a:r>
              <a:rPr sz="1600">
                <a:solidFill>
                  <a:srgbClr val="F2F7FD"/>
                </a:solidFill>
                <a:latin typeface="Calibri"/>
              </a:rPr>
              <a:t>CareFlow creates digital tokens, tracks visits, exposes laboratory and capacity state, and publishes live role views.</a:t>
            </a:r>
          </a:p>
          <a:p>
            <a:pPr>
              <a:lnSpc>
                <a:spcPct val="108000"/>
              </a:lnSpc>
              <a:spcAft>
                <a:spcPts val="1000"/>
              </a:spcAft>
              <a:buChar char="•"/>
            </a:pPr>
            <a:r>
              <a:rPr sz="1600">
                <a:solidFill>
                  <a:srgbClr val="F2F7FD"/>
                </a:solidFill>
                <a:latin typeface="Calibri"/>
              </a:rPr>
              <a:t>Two models assist triage priority and wait estimation; both are evaluated only on synthetic data.</a:t>
            </a:r>
          </a:p>
          <a:p>
            <a:pPr>
              <a:lnSpc>
                <a:spcPct val="108000"/>
              </a:lnSpc>
              <a:spcAft>
                <a:spcPts val="1000"/>
              </a:spcAft>
              <a:buChar char="•"/>
            </a:pPr>
            <a:r>
              <a:rPr sz="1600">
                <a:solidFill>
                  <a:srgbClr val="F2F7FD"/>
                </a:solidFill>
                <a:latin typeface="Calibri"/>
              </a:rPr>
              <a:t>The project demonstrates software integration—not clinical validity or measured wait reduction.</a:t>
            </a:r>
          </a:p>
        </p:txBody>
      </p:sp>
      <p:sp>
        <p:nvSpPr>
          <p:cNvPr id="9" name="Rounded Rectangle 8"/>
          <p:cNvSpPr/>
          <p:nvPr/>
        </p:nvSpPr>
        <p:spPr>
          <a:xfrm>
            <a:off x="7680960" y="1508760"/>
            <a:ext cx="3794760" cy="1024128"/>
          </a:xfrm>
          <a:prstGeom prst="roundRect">
            <a:avLst/>
          </a:prstGeom>
          <a:solidFill>
            <a:srgbClr val="17243B"/>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1664207"/>
            <a:ext cx="1417320" cy="411480"/>
          </a:xfrm>
          <a:prstGeom prst="rect">
            <a:avLst/>
          </a:prstGeom>
          <a:noFill/>
        </p:spPr>
        <p:txBody>
          <a:bodyPr wrap="none" lIns="36576" rIns="36576" tIns="36576" bIns="36576" anchor="t">
            <a:spAutoFit/>
          </a:bodyPr>
          <a:lstStyle/>
          <a:p>
            <a:pPr algn="l"/>
            <a:r>
              <a:rPr sz="2500" b="1">
                <a:solidFill>
                  <a:srgbClr val="22D3EE"/>
                </a:solidFill>
                <a:latin typeface="Calibri"/>
              </a:rPr>
              <a:t>7</a:t>
            </a:r>
          </a:p>
        </p:txBody>
      </p:sp>
      <p:sp>
        <p:nvSpPr>
          <p:cNvPr id="11" name="TextBox 10"/>
          <p:cNvSpPr txBox="1"/>
          <p:nvPr/>
        </p:nvSpPr>
        <p:spPr>
          <a:xfrm>
            <a:off x="9235440" y="1746504"/>
            <a:ext cx="1965960" cy="320040"/>
          </a:xfrm>
          <a:prstGeom prst="rect">
            <a:avLst/>
          </a:prstGeom>
          <a:noFill/>
        </p:spPr>
        <p:txBody>
          <a:bodyPr wrap="none" lIns="36576" rIns="36576" tIns="36576" bIns="36576" anchor="t">
            <a:spAutoFit/>
          </a:bodyPr>
          <a:lstStyle/>
          <a:p>
            <a:pPr algn="l"/>
            <a:r>
              <a:rPr sz="1300" b="1">
                <a:solidFill>
                  <a:srgbClr val="F2F7FD"/>
                </a:solidFill>
                <a:latin typeface="Calibri"/>
              </a:rPr>
              <a:t>Departments</a:t>
            </a:r>
          </a:p>
        </p:txBody>
      </p:sp>
      <p:sp>
        <p:nvSpPr>
          <p:cNvPr id="12" name="Rounded Rectangle 11"/>
          <p:cNvSpPr/>
          <p:nvPr/>
        </p:nvSpPr>
        <p:spPr>
          <a:xfrm>
            <a:off x="7680960" y="2834639"/>
            <a:ext cx="3794760" cy="1024128"/>
          </a:xfrm>
          <a:prstGeom prst="roundRect">
            <a:avLst/>
          </a:prstGeom>
          <a:solidFill>
            <a:srgbClr val="1724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2990087"/>
            <a:ext cx="1417320" cy="411480"/>
          </a:xfrm>
          <a:prstGeom prst="rect">
            <a:avLst/>
          </a:prstGeom>
          <a:noFill/>
        </p:spPr>
        <p:txBody>
          <a:bodyPr wrap="none" lIns="36576" rIns="36576" tIns="36576" bIns="36576" anchor="t">
            <a:spAutoFit/>
          </a:bodyPr>
          <a:lstStyle/>
          <a:p>
            <a:pPr algn="l"/>
            <a:r>
              <a:rPr sz="2500" b="1">
                <a:solidFill>
                  <a:srgbClr val="10B981"/>
                </a:solidFill>
                <a:latin typeface="Calibri"/>
              </a:rPr>
              <a:t>5+1</a:t>
            </a:r>
          </a:p>
        </p:txBody>
      </p:sp>
      <p:sp>
        <p:nvSpPr>
          <p:cNvPr id="14" name="TextBox 13"/>
          <p:cNvSpPr txBox="1"/>
          <p:nvPr/>
        </p:nvSpPr>
        <p:spPr>
          <a:xfrm>
            <a:off x="9235440" y="3072383"/>
            <a:ext cx="1965960" cy="320040"/>
          </a:xfrm>
          <a:prstGeom prst="rect">
            <a:avLst/>
          </a:prstGeom>
          <a:noFill/>
        </p:spPr>
        <p:txBody>
          <a:bodyPr wrap="none" lIns="36576" rIns="36576" tIns="36576" bIns="36576" anchor="t">
            <a:spAutoFit/>
          </a:bodyPr>
          <a:lstStyle/>
          <a:p>
            <a:pPr algn="l"/>
            <a:r>
              <a:rPr sz="1300" b="1">
                <a:solidFill>
                  <a:srgbClr val="F2F7FD"/>
                </a:solidFill>
                <a:latin typeface="Calibri"/>
              </a:rPr>
              <a:t>Staff roles + public</a:t>
            </a:r>
          </a:p>
        </p:txBody>
      </p:sp>
      <p:sp>
        <p:nvSpPr>
          <p:cNvPr id="15" name="Rounded Rectangle 14"/>
          <p:cNvSpPr/>
          <p:nvPr/>
        </p:nvSpPr>
        <p:spPr>
          <a:xfrm>
            <a:off x="7680960" y="4160520"/>
            <a:ext cx="3794760" cy="1024128"/>
          </a:xfrm>
          <a:prstGeom prst="roundRect">
            <a:avLst/>
          </a:prstGeom>
          <a:solidFill>
            <a:srgbClr val="1724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4315968"/>
            <a:ext cx="1417320" cy="411480"/>
          </a:xfrm>
          <a:prstGeom prst="rect">
            <a:avLst/>
          </a:prstGeom>
          <a:noFill/>
        </p:spPr>
        <p:txBody>
          <a:bodyPr wrap="none" lIns="36576" rIns="36576" tIns="36576" bIns="36576" anchor="t">
            <a:spAutoFit/>
          </a:bodyPr>
          <a:lstStyle/>
          <a:p>
            <a:pPr algn="l"/>
            <a:r>
              <a:rPr sz="2500" b="1">
                <a:solidFill>
                  <a:srgbClr val="F59E0B"/>
                </a:solidFill>
                <a:latin typeface="Calibri"/>
              </a:rPr>
              <a:t>2</a:t>
            </a:r>
          </a:p>
        </p:txBody>
      </p:sp>
      <p:sp>
        <p:nvSpPr>
          <p:cNvPr id="17" name="TextBox 16"/>
          <p:cNvSpPr txBox="1"/>
          <p:nvPr/>
        </p:nvSpPr>
        <p:spPr>
          <a:xfrm>
            <a:off x="9235440" y="4398264"/>
            <a:ext cx="1965960" cy="320040"/>
          </a:xfrm>
          <a:prstGeom prst="rect">
            <a:avLst/>
          </a:prstGeom>
          <a:noFill/>
        </p:spPr>
        <p:txBody>
          <a:bodyPr wrap="none" lIns="36576" rIns="36576" tIns="36576" bIns="36576" anchor="t">
            <a:spAutoFit/>
          </a:bodyPr>
          <a:lstStyle/>
          <a:p>
            <a:pPr algn="l"/>
            <a:r>
              <a:rPr sz="1300" b="1">
                <a:solidFill>
                  <a:srgbClr val="F2F7FD"/>
                </a:solidFill>
                <a:latin typeface="Calibri"/>
              </a:rPr>
              <a:t>Saved ML models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111F"/>
        </a:solidFill>
        <a:effectLst/>
      </p:bgPr>
    </p:bg>
    <p:spTree>
      <p:nvGrpSpPr>
        <p:cNvPr id="1" name=""/>
        <p:cNvGrpSpPr/>
        <p:nvPr/>
      </p:nvGrpSpPr>
      <p:grpSpPr>
        <a:xfrm>
          <a:off x="0" y="0"/>
          <a:ext cx="0" cy="0"/>
          <a:chOff x="0" y="0"/>
          <a:chExt cx="0" cy="0"/>
        </a:xfrm>
      </p:grpSpPr>
      <p:sp>
        <p:nvSpPr>
          <p:cNvPr id="2" name="Oval 1"/>
          <p:cNvSpPr/>
          <p:nvPr/>
        </p:nvSpPr>
        <p:spPr>
          <a:xfrm>
            <a:off x="11064240" y="411480"/>
            <a:ext cx="411480" cy="41148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475720" y="292608"/>
            <a:ext cx="201168" cy="20116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4206240" cy="201168"/>
          </a:xfrm>
          <a:prstGeom prst="rect">
            <a:avLst/>
          </a:prstGeom>
          <a:noFill/>
        </p:spPr>
        <p:txBody>
          <a:bodyPr wrap="none" lIns="36576" rIns="36576" tIns="36576" bIns="36576" anchor="t">
            <a:spAutoFit/>
          </a:bodyPr>
          <a:lstStyle/>
          <a:p>
            <a:pPr algn="l"/>
            <a:r>
              <a:rPr sz="900" b="0">
                <a:solidFill>
                  <a:srgbClr val="9FB0C7"/>
                </a:solidFill>
                <a:latin typeface="Calibri"/>
              </a:rPr>
              <a:t>Research</a:t>
            </a:r>
          </a:p>
        </p:txBody>
      </p:sp>
      <p:sp>
        <p:nvSpPr>
          <p:cNvPr id="5" name="TextBox 4"/>
          <p:cNvSpPr txBox="1"/>
          <p:nvPr/>
        </p:nvSpPr>
        <p:spPr>
          <a:xfrm>
            <a:off x="11109960" y="6419088"/>
            <a:ext cx="502920" cy="228600"/>
          </a:xfrm>
          <a:prstGeom prst="rect">
            <a:avLst/>
          </a:prstGeom>
          <a:noFill/>
        </p:spPr>
        <p:txBody>
          <a:bodyPr wrap="none" lIns="36576" rIns="36576" tIns="36576" bIns="36576" anchor="t">
            <a:spAutoFit/>
          </a:bodyPr>
          <a:lstStyle/>
          <a:p>
            <a:pPr algn="r"/>
            <a:r>
              <a:rPr sz="900" b="0">
                <a:solidFill>
                  <a:srgbClr val="9FB0C7"/>
                </a:solidFill>
                <a:latin typeface="Calibri"/>
              </a:rPr>
              <a:t>4</a:t>
            </a:r>
          </a:p>
        </p:txBody>
      </p:sp>
      <p:sp>
        <p:nvSpPr>
          <p:cNvPr id="6" name="TextBox 5"/>
          <p:cNvSpPr txBox="1"/>
          <p:nvPr/>
        </p:nvSpPr>
        <p:spPr>
          <a:xfrm>
            <a:off x="548640" y="384048"/>
            <a:ext cx="5486400" cy="228600"/>
          </a:xfrm>
          <a:prstGeom prst="rect">
            <a:avLst/>
          </a:prstGeom>
          <a:noFill/>
        </p:spPr>
        <p:txBody>
          <a:bodyPr wrap="none" lIns="36576" rIns="36576" tIns="36576" bIns="36576" anchor="t">
            <a:spAutoFit/>
          </a:bodyPr>
          <a:lstStyle/>
          <a:p>
            <a:pPr algn="l"/>
            <a:r>
              <a:rPr sz="1000" b="1">
                <a:solidFill>
                  <a:srgbClr val="22D3EE"/>
                </a:solidFill>
                <a:latin typeface="Calibri"/>
              </a:rPr>
              <a:t>RESEARCH</a:t>
            </a:r>
          </a:p>
        </p:txBody>
      </p:sp>
      <p:sp>
        <p:nvSpPr>
          <p:cNvPr id="7" name="TextBox 6"/>
          <p:cNvSpPr txBox="1"/>
          <p:nvPr/>
        </p:nvSpPr>
        <p:spPr>
          <a:xfrm>
            <a:off x="548640" y="713232"/>
            <a:ext cx="10789920" cy="502920"/>
          </a:xfrm>
          <a:prstGeom prst="rect">
            <a:avLst/>
          </a:prstGeom>
          <a:noFill/>
        </p:spPr>
        <p:txBody>
          <a:bodyPr wrap="none" lIns="36576" rIns="36576" tIns="36576" bIns="36576" anchor="t">
            <a:spAutoFit/>
          </a:bodyPr>
          <a:lstStyle/>
          <a:p>
            <a:pPr algn="l"/>
            <a:r>
              <a:rPr sz="3000" b="1">
                <a:solidFill>
                  <a:srgbClr val="F2F7FD"/>
                </a:solidFill>
                <a:latin typeface="Cambria"/>
              </a:rPr>
              <a:t>Base Paper: Alleviate</a:t>
            </a:r>
          </a:p>
        </p:txBody>
      </p:sp>
      <p:sp>
        <p:nvSpPr>
          <p:cNvPr id="8" name="TextBox 7"/>
          <p:cNvSpPr txBox="1"/>
          <p:nvPr/>
        </p:nvSpPr>
        <p:spPr>
          <a:xfrm>
            <a:off x="640080" y="1481328"/>
            <a:ext cx="6675120" cy="4480560"/>
          </a:xfrm>
          <a:prstGeom prst="rect">
            <a:avLst/>
          </a:prstGeom>
          <a:noFill/>
        </p:spPr>
        <p:txBody>
          <a:bodyPr wrap="square" lIns="73152" rIns="73152">
            <a:spAutoFit/>
          </a:bodyPr>
          <a:lstStyle/>
          <a:p>
            <a:pPr>
              <a:lnSpc>
                <a:spcPct val="108000"/>
              </a:lnSpc>
              <a:spcAft>
                <a:spcPts val="1000"/>
              </a:spcAft>
              <a:buChar char="•"/>
            </a:pPr>
            <a:r>
              <a:rPr sz="1600">
                <a:solidFill>
                  <a:srgbClr val="F2F7FD"/>
                </a:solidFill>
                <a:latin typeface="Calibri"/>
              </a:rPr>
              <a:t>IEEE Access, 2025; DOI 10.1109/ACCESS.2025.3647089.</a:t>
            </a:r>
          </a:p>
          <a:p>
            <a:pPr>
              <a:lnSpc>
                <a:spcPct val="108000"/>
              </a:lnSpc>
              <a:spcAft>
                <a:spcPts val="1000"/>
              </a:spcAft>
              <a:buChar char="•"/>
            </a:pPr>
            <a:r>
              <a:rPr sz="1600">
                <a:solidFill>
                  <a:srgbClr val="F2F7FD"/>
                </a:solidFill>
                <a:latin typeface="Calibri"/>
              </a:rPr>
              <a:t>Flutter/Dart + Flask + Firebase integrated appointments, prescriptions, maps, clinic dashboards and personalised guidance.</a:t>
            </a:r>
          </a:p>
          <a:p>
            <a:pPr>
              <a:lnSpc>
                <a:spcPct val="108000"/>
              </a:lnSpc>
              <a:spcAft>
                <a:spcPts val="1000"/>
              </a:spcAft>
              <a:buChar char="•"/>
            </a:pPr>
            <a:r>
              <a:rPr sz="1600">
                <a:solidFill>
                  <a:srgbClr val="F2F7FD"/>
                </a:solidFill>
                <a:latin typeface="Calibri"/>
              </a:rPr>
              <a:t>Reported 97.24% precision belongs to specialist recommendation—not hospital triage.</a:t>
            </a:r>
          </a:p>
          <a:p>
            <a:pPr>
              <a:lnSpc>
                <a:spcPct val="108000"/>
              </a:lnSpc>
              <a:spcAft>
                <a:spcPts val="1000"/>
              </a:spcAft>
              <a:buChar char="•"/>
            </a:pPr>
            <a:r>
              <a:rPr sz="1600">
                <a:solidFill>
                  <a:srgbClr val="F2F7FD"/>
                </a:solidFill>
                <a:latin typeface="Calibri"/>
              </a:rPr>
              <a:t>CareFlow adopts the integrated dashboard idea but focuses on internal patient flow and resource state.</a:t>
            </a:r>
          </a:p>
        </p:txBody>
      </p:sp>
      <p:sp>
        <p:nvSpPr>
          <p:cNvPr id="9" name="Rounded Rectangle 8"/>
          <p:cNvSpPr/>
          <p:nvPr/>
        </p:nvSpPr>
        <p:spPr>
          <a:xfrm>
            <a:off x="7680960" y="1508760"/>
            <a:ext cx="3794760" cy="1024128"/>
          </a:xfrm>
          <a:prstGeom prst="roundRect">
            <a:avLst/>
          </a:prstGeom>
          <a:solidFill>
            <a:srgbClr val="1724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1664207"/>
            <a:ext cx="1417320" cy="411480"/>
          </a:xfrm>
          <a:prstGeom prst="rect">
            <a:avLst/>
          </a:prstGeom>
          <a:noFill/>
        </p:spPr>
        <p:txBody>
          <a:bodyPr wrap="none" lIns="36576" rIns="36576" tIns="36576" bIns="36576" anchor="t">
            <a:spAutoFit/>
          </a:bodyPr>
          <a:lstStyle/>
          <a:p>
            <a:pPr algn="l"/>
            <a:r>
              <a:rPr sz="2500" b="1">
                <a:solidFill>
                  <a:srgbClr val="3B82F6"/>
                </a:solidFill>
                <a:latin typeface="Calibri"/>
              </a:rPr>
              <a:t>97.24%</a:t>
            </a:r>
          </a:p>
        </p:txBody>
      </p:sp>
      <p:sp>
        <p:nvSpPr>
          <p:cNvPr id="11" name="TextBox 10"/>
          <p:cNvSpPr txBox="1"/>
          <p:nvPr/>
        </p:nvSpPr>
        <p:spPr>
          <a:xfrm>
            <a:off x="9235440" y="1746504"/>
            <a:ext cx="1965960" cy="320040"/>
          </a:xfrm>
          <a:prstGeom prst="rect">
            <a:avLst/>
          </a:prstGeom>
          <a:noFill/>
        </p:spPr>
        <p:txBody>
          <a:bodyPr wrap="none" lIns="36576" rIns="36576" tIns="36576" bIns="36576" anchor="t">
            <a:spAutoFit/>
          </a:bodyPr>
          <a:lstStyle/>
          <a:p>
            <a:pPr algn="l"/>
            <a:r>
              <a:rPr sz="1300" b="1">
                <a:solidFill>
                  <a:srgbClr val="F2F7FD"/>
                </a:solidFill>
                <a:latin typeface="Calibri"/>
              </a:rPr>
              <a:t>Paper’s recommendation precision</a:t>
            </a:r>
          </a:p>
        </p:txBody>
      </p:sp>
      <p:sp>
        <p:nvSpPr>
          <p:cNvPr id="12" name="Rounded Rectangle 11"/>
          <p:cNvSpPr/>
          <p:nvPr/>
        </p:nvSpPr>
        <p:spPr>
          <a:xfrm>
            <a:off x="7680960" y="2834639"/>
            <a:ext cx="3794760" cy="1024128"/>
          </a:xfrm>
          <a:prstGeom prst="roundRect">
            <a:avLst/>
          </a:prstGeom>
          <a:solidFill>
            <a:srgbClr val="1724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2990087"/>
            <a:ext cx="1417320" cy="411480"/>
          </a:xfrm>
          <a:prstGeom prst="rect">
            <a:avLst/>
          </a:prstGeom>
          <a:noFill/>
        </p:spPr>
        <p:txBody>
          <a:bodyPr wrap="none" lIns="36576" rIns="36576" tIns="36576" bIns="36576" anchor="t">
            <a:spAutoFit/>
          </a:bodyPr>
          <a:lstStyle/>
          <a:p>
            <a:pPr algn="l"/>
            <a:r>
              <a:rPr sz="2500" b="1">
                <a:solidFill>
                  <a:srgbClr val="EF4444"/>
                </a:solidFill>
                <a:latin typeface="Calibri"/>
              </a:rPr>
              <a:t>Different</a:t>
            </a:r>
          </a:p>
        </p:txBody>
      </p:sp>
      <p:sp>
        <p:nvSpPr>
          <p:cNvPr id="14" name="TextBox 13"/>
          <p:cNvSpPr txBox="1"/>
          <p:nvPr/>
        </p:nvSpPr>
        <p:spPr>
          <a:xfrm>
            <a:off x="9235440" y="3072383"/>
            <a:ext cx="1965960" cy="320040"/>
          </a:xfrm>
          <a:prstGeom prst="rect">
            <a:avLst/>
          </a:prstGeom>
          <a:noFill/>
        </p:spPr>
        <p:txBody>
          <a:bodyPr wrap="none" lIns="36576" rIns="36576" tIns="36576" bIns="36576" anchor="t">
            <a:spAutoFit/>
          </a:bodyPr>
          <a:lstStyle/>
          <a:p>
            <a:pPr algn="l"/>
            <a:r>
              <a:rPr sz="1300" b="1">
                <a:solidFill>
                  <a:srgbClr val="F2F7FD"/>
                </a:solidFill>
                <a:latin typeface="Calibri"/>
              </a:rPr>
              <a:t>Task and dataset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111F"/>
        </a:solidFill>
        <a:effectLst/>
      </p:bgPr>
    </p:bg>
    <p:spTree>
      <p:nvGrpSpPr>
        <p:cNvPr id="1" name=""/>
        <p:cNvGrpSpPr/>
        <p:nvPr/>
      </p:nvGrpSpPr>
      <p:grpSpPr>
        <a:xfrm>
          <a:off x="0" y="0"/>
          <a:ext cx="0" cy="0"/>
          <a:chOff x="0" y="0"/>
          <a:chExt cx="0" cy="0"/>
        </a:xfrm>
      </p:grpSpPr>
      <p:sp>
        <p:nvSpPr>
          <p:cNvPr id="2" name="Oval 1"/>
          <p:cNvSpPr/>
          <p:nvPr/>
        </p:nvSpPr>
        <p:spPr>
          <a:xfrm>
            <a:off x="11064240" y="411480"/>
            <a:ext cx="411480" cy="41148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475720" y="292608"/>
            <a:ext cx="201168" cy="20116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4206240" cy="201168"/>
          </a:xfrm>
          <a:prstGeom prst="rect">
            <a:avLst/>
          </a:prstGeom>
          <a:noFill/>
        </p:spPr>
        <p:txBody>
          <a:bodyPr wrap="none" lIns="36576" rIns="36576" tIns="36576" bIns="36576" anchor="t">
            <a:spAutoFit/>
          </a:bodyPr>
          <a:lstStyle/>
          <a:p>
            <a:pPr algn="l"/>
            <a:r>
              <a:rPr sz="900" b="0">
                <a:solidFill>
                  <a:srgbClr val="9FB0C7"/>
                </a:solidFill>
                <a:latin typeface="Calibri"/>
              </a:rPr>
              <a:t>Research</a:t>
            </a:r>
          </a:p>
        </p:txBody>
      </p:sp>
      <p:sp>
        <p:nvSpPr>
          <p:cNvPr id="5" name="TextBox 4"/>
          <p:cNvSpPr txBox="1"/>
          <p:nvPr/>
        </p:nvSpPr>
        <p:spPr>
          <a:xfrm>
            <a:off x="11109960" y="6419088"/>
            <a:ext cx="502920" cy="228600"/>
          </a:xfrm>
          <a:prstGeom prst="rect">
            <a:avLst/>
          </a:prstGeom>
          <a:noFill/>
        </p:spPr>
        <p:txBody>
          <a:bodyPr wrap="none" lIns="36576" rIns="36576" tIns="36576" bIns="36576" anchor="t">
            <a:spAutoFit/>
          </a:bodyPr>
          <a:lstStyle/>
          <a:p>
            <a:pPr algn="r"/>
            <a:r>
              <a:rPr sz="900" b="0">
                <a:solidFill>
                  <a:srgbClr val="9FB0C7"/>
                </a:solidFill>
                <a:latin typeface="Calibri"/>
              </a:rPr>
              <a:t>5</a:t>
            </a:r>
          </a:p>
        </p:txBody>
      </p:sp>
      <p:sp>
        <p:nvSpPr>
          <p:cNvPr id="6" name="TextBox 5"/>
          <p:cNvSpPr txBox="1"/>
          <p:nvPr/>
        </p:nvSpPr>
        <p:spPr>
          <a:xfrm>
            <a:off x="548640" y="384048"/>
            <a:ext cx="5486400" cy="228600"/>
          </a:xfrm>
          <a:prstGeom prst="rect">
            <a:avLst/>
          </a:prstGeom>
          <a:noFill/>
        </p:spPr>
        <p:txBody>
          <a:bodyPr wrap="none" lIns="36576" rIns="36576" tIns="36576" bIns="36576" anchor="t">
            <a:spAutoFit/>
          </a:bodyPr>
          <a:lstStyle/>
          <a:p>
            <a:pPr algn="l"/>
            <a:r>
              <a:rPr sz="1000" b="1">
                <a:solidFill>
                  <a:srgbClr val="22D3EE"/>
                </a:solidFill>
                <a:latin typeface="Calibri"/>
              </a:rPr>
              <a:t>RESEARCH</a:t>
            </a:r>
          </a:p>
        </p:txBody>
      </p:sp>
      <p:sp>
        <p:nvSpPr>
          <p:cNvPr id="7" name="TextBox 6"/>
          <p:cNvSpPr txBox="1"/>
          <p:nvPr/>
        </p:nvSpPr>
        <p:spPr>
          <a:xfrm>
            <a:off x="548640" y="713232"/>
            <a:ext cx="10789920" cy="502920"/>
          </a:xfrm>
          <a:prstGeom prst="rect">
            <a:avLst/>
          </a:prstGeom>
          <a:noFill/>
        </p:spPr>
        <p:txBody>
          <a:bodyPr wrap="none" lIns="36576" rIns="36576" tIns="36576" bIns="36576" anchor="t">
            <a:spAutoFit/>
          </a:bodyPr>
          <a:lstStyle/>
          <a:p>
            <a:pPr algn="l"/>
            <a:r>
              <a:rPr sz="3000" b="1">
                <a:solidFill>
                  <a:srgbClr val="F2F7FD"/>
                </a:solidFill>
                <a:latin typeface="Cambria"/>
              </a:rPr>
              <a:t>Literature Survey</a:t>
            </a:r>
          </a:p>
        </p:txBody>
      </p:sp>
      <p:sp>
        <p:nvSpPr>
          <p:cNvPr id="8" name="TextBox 7"/>
          <p:cNvSpPr txBox="1"/>
          <p:nvPr/>
        </p:nvSpPr>
        <p:spPr>
          <a:xfrm>
            <a:off x="640080" y="1481328"/>
            <a:ext cx="6675120" cy="4480560"/>
          </a:xfrm>
          <a:prstGeom prst="rect">
            <a:avLst/>
          </a:prstGeom>
          <a:noFill/>
        </p:spPr>
        <p:txBody>
          <a:bodyPr wrap="square" lIns="73152" rIns="73152">
            <a:spAutoFit/>
          </a:bodyPr>
          <a:lstStyle/>
          <a:p>
            <a:pPr>
              <a:lnSpc>
                <a:spcPct val="108000"/>
              </a:lnSpc>
              <a:spcAft>
                <a:spcPts val="1000"/>
              </a:spcAft>
              <a:buChar char="•"/>
            </a:pPr>
            <a:r>
              <a:rPr sz="1600">
                <a:solidFill>
                  <a:srgbClr val="F2F7FD"/>
                </a:solidFill>
                <a:latin typeface="Calibri"/>
              </a:rPr>
              <a:t>Access and location: hospital discovery, routing and appointment support.</a:t>
            </a:r>
          </a:p>
          <a:p>
            <a:pPr>
              <a:lnSpc>
                <a:spcPct val="108000"/>
              </a:lnSpc>
              <a:spcAft>
                <a:spcPts val="1000"/>
              </a:spcAft>
              <a:buChar char="•"/>
            </a:pPr>
            <a:r>
              <a:rPr sz="1600">
                <a:solidFill>
                  <a:srgbClr val="F2F7FD"/>
                </a:solidFill>
                <a:latin typeface="Calibri"/>
              </a:rPr>
              <a:t>Prediction: disease/specialist recommendation from symptoms.</a:t>
            </a:r>
          </a:p>
          <a:p>
            <a:pPr>
              <a:lnSpc>
                <a:spcPct val="108000"/>
              </a:lnSpc>
              <a:spcAft>
                <a:spcPts val="1000"/>
              </a:spcAft>
              <a:buChar char="•"/>
            </a:pPr>
            <a:r>
              <a:rPr sz="1600">
                <a:solidFill>
                  <a:srgbClr val="F2F7FD"/>
                </a:solidFill>
                <a:latin typeface="Calibri"/>
              </a:rPr>
              <a:t>Personalisation: diet, exercise and chronic-care guidance.</a:t>
            </a:r>
          </a:p>
          <a:p>
            <a:pPr>
              <a:lnSpc>
                <a:spcPct val="108000"/>
              </a:lnSpc>
              <a:spcAft>
                <a:spcPts val="1000"/>
              </a:spcAft>
              <a:buChar char="•"/>
            </a:pPr>
            <a:r>
              <a:rPr sz="1600">
                <a:solidFill>
                  <a:srgbClr val="F2F7FD"/>
                </a:solidFill>
                <a:latin typeface="Calibri"/>
              </a:rPr>
              <a:t>Conversational support: NLP/chatbots for health queries.</a:t>
            </a:r>
          </a:p>
          <a:p>
            <a:pPr>
              <a:lnSpc>
                <a:spcPct val="108000"/>
              </a:lnSpc>
              <a:spcAft>
                <a:spcPts val="1000"/>
              </a:spcAft>
              <a:buChar char="•"/>
            </a:pPr>
            <a:r>
              <a:rPr sz="1600">
                <a:solidFill>
                  <a:srgbClr val="F2F7FD"/>
                </a:solidFill>
                <a:latin typeface="Calibri"/>
              </a:rPr>
              <a:t>Waiting-time research motivates prediction, but institutions and outcome definitions differ.</a:t>
            </a:r>
          </a:p>
        </p:txBody>
      </p:sp>
      <p:sp>
        <p:nvSpPr>
          <p:cNvPr id="9" name="Rounded Rectangle 8"/>
          <p:cNvSpPr/>
          <p:nvPr/>
        </p:nvSpPr>
        <p:spPr>
          <a:xfrm>
            <a:off x="7680960" y="1508760"/>
            <a:ext cx="3794760" cy="1024128"/>
          </a:xfrm>
          <a:prstGeom prst="roundRect">
            <a:avLst/>
          </a:prstGeom>
          <a:solidFill>
            <a:srgbClr val="17243B"/>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1664207"/>
            <a:ext cx="1417320" cy="411480"/>
          </a:xfrm>
          <a:prstGeom prst="rect">
            <a:avLst/>
          </a:prstGeom>
          <a:noFill/>
        </p:spPr>
        <p:txBody>
          <a:bodyPr wrap="none" lIns="36576" rIns="36576" tIns="36576" bIns="36576" anchor="t">
            <a:spAutoFit/>
          </a:bodyPr>
          <a:lstStyle/>
          <a:p>
            <a:pPr algn="l"/>
            <a:r>
              <a:rPr sz="2500" b="1">
                <a:solidFill>
                  <a:srgbClr val="22D3EE"/>
                </a:solidFill>
                <a:latin typeface="Calibri"/>
              </a:rPr>
              <a:t>19</a:t>
            </a:r>
          </a:p>
        </p:txBody>
      </p:sp>
      <p:sp>
        <p:nvSpPr>
          <p:cNvPr id="11" name="TextBox 10"/>
          <p:cNvSpPr txBox="1"/>
          <p:nvPr/>
        </p:nvSpPr>
        <p:spPr>
          <a:xfrm>
            <a:off x="9235440" y="1746504"/>
            <a:ext cx="1965960" cy="320040"/>
          </a:xfrm>
          <a:prstGeom prst="rect">
            <a:avLst/>
          </a:prstGeom>
          <a:noFill/>
        </p:spPr>
        <p:txBody>
          <a:bodyPr wrap="none" lIns="36576" rIns="36576" tIns="36576" bIns="36576" anchor="t">
            <a:spAutoFit/>
          </a:bodyPr>
          <a:lstStyle/>
          <a:p>
            <a:pPr algn="l"/>
            <a:r>
              <a:rPr sz="1300" b="1">
                <a:solidFill>
                  <a:srgbClr val="F2F7FD"/>
                </a:solidFill>
                <a:latin typeface="Calibri"/>
              </a:rPr>
              <a:t>References retained</a:t>
            </a:r>
          </a:p>
        </p:txBody>
      </p:sp>
      <p:sp>
        <p:nvSpPr>
          <p:cNvPr id="12" name="Rounded Rectangle 11"/>
          <p:cNvSpPr/>
          <p:nvPr/>
        </p:nvSpPr>
        <p:spPr>
          <a:xfrm>
            <a:off x="7680960" y="2834639"/>
            <a:ext cx="3794760" cy="1024128"/>
          </a:xfrm>
          <a:prstGeom prst="roundRect">
            <a:avLst/>
          </a:prstGeom>
          <a:solidFill>
            <a:srgbClr val="1724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2990087"/>
            <a:ext cx="1417320" cy="411480"/>
          </a:xfrm>
          <a:prstGeom prst="rect">
            <a:avLst/>
          </a:prstGeom>
          <a:noFill/>
        </p:spPr>
        <p:txBody>
          <a:bodyPr wrap="none" lIns="36576" rIns="36576" tIns="36576" bIns="36576" anchor="t">
            <a:spAutoFit/>
          </a:bodyPr>
          <a:lstStyle/>
          <a:p>
            <a:pPr algn="l"/>
            <a:r>
              <a:rPr sz="2500" b="1">
                <a:solidFill>
                  <a:srgbClr val="10B981"/>
                </a:solidFill>
                <a:latin typeface="Calibri"/>
              </a:rPr>
              <a:t>4</a:t>
            </a:r>
          </a:p>
        </p:txBody>
      </p:sp>
      <p:sp>
        <p:nvSpPr>
          <p:cNvPr id="14" name="TextBox 13"/>
          <p:cNvSpPr txBox="1"/>
          <p:nvPr/>
        </p:nvSpPr>
        <p:spPr>
          <a:xfrm>
            <a:off x="9235440" y="3072383"/>
            <a:ext cx="1965960" cy="320040"/>
          </a:xfrm>
          <a:prstGeom prst="rect">
            <a:avLst/>
          </a:prstGeom>
          <a:noFill/>
        </p:spPr>
        <p:txBody>
          <a:bodyPr wrap="none" lIns="36576" rIns="36576" tIns="36576" bIns="36576" anchor="t">
            <a:spAutoFit/>
          </a:bodyPr>
          <a:lstStyle/>
          <a:p>
            <a:pPr algn="l"/>
            <a:r>
              <a:rPr sz="1300" b="1">
                <a:solidFill>
                  <a:srgbClr val="F2F7FD"/>
                </a:solidFill>
                <a:latin typeface="Calibri"/>
              </a:rPr>
              <a:t>Research themes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111F"/>
        </a:solidFill>
        <a:effectLst/>
      </p:bgPr>
    </p:bg>
    <p:spTree>
      <p:nvGrpSpPr>
        <p:cNvPr id="1" name=""/>
        <p:cNvGrpSpPr/>
        <p:nvPr/>
      </p:nvGrpSpPr>
      <p:grpSpPr>
        <a:xfrm>
          <a:off x="0" y="0"/>
          <a:ext cx="0" cy="0"/>
          <a:chOff x="0" y="0"/>
          <a:chExt cx="0" cy="0"/>
        </a:xfrm>
      </p:grpSpPr>
      <p:sp>
        <p:nvSpPr>
          <p:cNvPr id="2" name="Oval 1"/>
          <p:cNvSpPr/>
          <p:nvPr/>
        </p:nvSpPr>
        <p:spPr>
          <a:xfrm>
            <a:off x="11064240" y="411480"/>
            <a:ext cx="411480" cy="41148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475720" y="292608"/>
            <a:ext cx="201168" cy="20116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4206240" cy="201168"/>
          </a:xfrm>
          <a:prstGeom prst="rect">
            <a:avLst/>
          </a:prstGeom>
          <a:noFill/>
        </p:spPr>
        <p:txBody>
          <a:bodyPr wrap="none" lIns="36576" rIns="36576" tIns="36576" bIns="36576" anchor="t">
            <a:spAutoFit/>
          </a:bodyPr>
          <a:lstStyle/>
          <a:p>
            <a:pPr algn="l"/>
            <a:r>
              <a:rPr sz="900" b="0">
                <a:solidFill>
                  <a:srgbClr val="9FB0C7"/>
                </a:solidFill>
                <a:latin typeface="Calibri"/>
              </a:rPr>
              <a:t>Evidence</a:t>
            </a:r>
          </a:p>
        </p:txBody>
      </p:sp>
      <p:sp>
        <p:nvSpPr>
          <p:cNvPr id="5" name="TextBox 4"/>
          <p:cNvSpPr txBox="1"/>
          <p:nvPr/>
        </p:nvSpPr>
        <p:spPr>
          <a:xfrm>
            <a:off x="11109960" y="6419088"/>
            <a:ext cx="502920" cy="228600"/>
          </a:xfrm>
          <a:prstGeom prst="rect">
            <a:avLst/>
          </a:prstGeom>
          <a:noFill/>
        </p:spPr>
        <p:txBody>
          <a:bodyPr wrap="none" lIns="36576" rIns="36576" tIns="36576" bIns="36576" anchor="t">
            <a:spAutoFit/>
          </a:bodyPr>
          <a:lstStyle/>
          <a:p>
            <a:pPr algn="r"/>
            <a:r>
              <a:rPr sz="900" b="0">
                <a:solidFill>
                  <a:srgbClr val="9FB0C7"/>
                </a:solidFill>
                <a:latin typeface="Calibri"/>
              </a:rPr>
              <a:t>6</a:t>
            </a:r>
          </a:p>
        </p:txBody>
      </p:sp>
      <p:sp>
        <p:nvSpPr>
          <p:cNvPr id="6" name="TextBox 5"/>
          <p:cNvSpPr txBox="1"/>
          <p:nvPr/>
        </p:nvSpPr>
        <p:spPr>
          <a:xfrm>
            <a:off x="548640" y="384048"/>
            <a:ext cx="5486400" cy="228600"/>
          </a:xfrm>
          <a:prstGeom prst="rect">
            <a:avLst/>
          </a:prstGeom>
          <a:noFill/>
        </p:spPr>
        <p:txBody>
          <a:bodyPr wrap="none" lIns="36576" rIns="36576" tIns="36576" bIns="36576" anchor="t">
            <a:spAutoFit/>
          </a:bodyPr>
          <a:lstStyle/>
          <a:p>
            <a:pPr algn="l"/>
            <a:r>
              <a:rPr sz="1000" b="1">
                <a:solidFill>
                  <a:srgbClr val="22D3EE"/>
                </a:solidFill>
                <a:latin typeface="Calibri"/>
              </a:rPr>
              <a:t>EVIDENCE</a:t>
            </a:r>
          </a:p>
        </p:txBody>
      </p:sp>
      <p:sp>
        <p:nvSpPr>
          <p:cNvPr id="7" name="TextBox 6"/>
          <p:cNvSpPr txBox="1"/>
          <p:nvPr/>
        </p:nvSpPr>
        <p:spPr>
          <a:xfrm>
            <a:off x="548640" y="713232"/>
            <a:ext cx="10789920" cy="502920"/>
          </a:xfrm>
          <a:prstGeom prst="rect">
            <a:avLst/>
          </a:prstGeom>
          <a:noFill/>
        </p:spPr>
        <p:txBody>
          <a:bodyPr wrap="none" lIns="36576" rIns="36576" tIns="36576" bIns="36576" anchor="t">
            <a:spAutoFit/>
          </a:bodyPr>
          <a:lstStyle/>
          <a:p>
            <a:pPr algn="l"/>
            <a:r>
              <a:rPr sz="3000" b="1">
                <a:solidFill>
                  <a:srgbClr val="F2F7FD"/>
                </a:solidFill>
                <a:latin typeface="Cambria"/>
              </a:rPr>
              <a:t>Supporting Evidence</a:t>
            </a:r>
          </a:p>
        </p:txBody>
      </p:sp>
      <p:sp>
        <p:nvSpPr>
          <p:cNvPr id="8" name="Rounded Rectangle 7"/>
          <p:cNvSpPr/>
          <p:nvPr/>
        </p:nvSpPr>
        <p:spPr>
          <a:xfrm>
            <a:off x="594360" y="1417320"/>
            <a:ext cx="6995160" cy="4663440"/>
          </a:xfrm>
          <a:prstGeom prst="roundRect">
            <a:avLst/>
          </a:prstGeom>
          <a:solidFill>
            <a:srgbClr val="111C31"/>
          </a:solidFill>
          <a:ln w="12700">
            <a:solidFill>
              <a:srgbClr val="263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6_dataset_split.png"/>
          <p:cNvPicPr>
            <a:picLocks noChangeAspect="1"/>
          </p:cNvPicPr>
          <p:nvPr/>
        </p:nvPicPr>
        <p:blipFill>
          <a:blip r:embed="rId6"/>
          <a:stretch>
            <a:fillRect/>
          </a:stretch>
        </p:blipFill>
        <p:spPr>
          <a:xfrm>
            <a:off x="777240" y="1600200"/>
            <a:ext cx="6629400" cy="3931920"/>
          </a:xfrm>
          <a:prstGeom prst="rect">
            <a:avLst/>
          </a:prstGeom>
        </p:spPr>
      </p:pic>
      <p:sp>
        <p:nvSpPr>
          <p:cNvPr id="10" name="TextBox 9"/>
          <p:cNvSpPr txBox="1"/>
          <p:nvPr/>
        </p:nvSpPr>
        <p:spPr>
          <a:xfrm>
            <a:off x="822960" y="5623560"/>
            <a:ext cx="6492240" cy="228600"/>
          </a:xfrm>
          <a:prstGeom prst="rect">
            <a:avLst/>
          </a:prstGeom>
          <a:noFill/>
        </p:spPr>
        <p:txBody>
          <a:bodyPr wrap="none" lIns="36576" rIns="36576" tIns="36576" bIns="36576" anchor="t">
            <a:spAutoFit/>
          </a:bodyPr>
          <a:lstStyle/>
          <a:p>
            <a:pPr algn="ctr"/>
            <a:r>
              <a:rPr sz="1000" b="0">
                <a:solidFill>
                  <a:srgbClr val="9FB0C7"/>
                </a:solidFill>
                <a:latin typeface="Calibri"/>
              </a:rPr>
              <a:t>Figure: project dataset partitions</a:t>
            </a:r>
          </a:p>
        </p:txBody>
      </p:sp>
      <p:sp>
        <p:nvSpPr>
          <p:cNvPr id="11" name="Rounded Rectangle 10"/>
          <p:cNvSpPr/>
          <p:nvPr/>
        </p:nvSpPr>
        <p:spPr>
          <a:xfrm>
            <a:off x="7818120" y="1417320"/>
            <a:ext cx="3749039" cy="4663440"/>
          </a:xfrm>
          <a:prstGeom prst="roundRect">
            <a:avLst/>
          </a:prstGeom>
          <a:solidFill>
            <a:srgbClr val="17243B"/>
          </a:solidFill>
          <a:ln w="12700">
            <a:solidFill>
              <a:srgbClr val="263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65008" y="1737360"/>
            <a:ext cx="3246120" cy="3840480"/>
          </a:xfrm>
          <a:prstGeom prst="rect">
            <a:avLst/>
          </a:prstGeom>
          <a:noFill/>
        </p:spPr>
        <p:txBody>
          <a:bodyPr wrap="square" lIns="73152" rIns="73152">
            <a:spAutoFit/>
          </a:bodyPr>
          <a:lstStyle/>
          <a:p>
            <a:pPr>
              <a:lnSpc>
                <a:spcPct val="108000"/>
              </a:lnSpc>
              <a:spcAft>
                <a:spcPts val="1000"/>
              </a:spcAft>
              <a:buChar char="•"/>
            </a:pPr>
            <a:r>
              <a:rPr sz="1400">
                <a:solidFill>
                  <a:srgbClr val="F2F7FD"/>
                </a:solidFill>
                <a:latin typeface="Calibri"/>
              </a:rPr>
              <a:t>12,000 wait rows</a:t>
            </a:r>
          </a:p>
          <a:p>
            <a:pPr>
              <a:lnSpc>
                <a:spcPct val="108000"/>
              </a:lnSpc>
              <a:spcAft>
                <a:spcPts val="1000"/>
              </a:spcAft>
              <a:buChar char="•"/>
            </a:pPr>
            <a:r>
              <a:rPr sz="1400">
                <a:solidFill>
                  <a:srgbClr val="F2F7FD"/>
                </a:solidFill>
                <a:latin typeface="Calibri"/>
              </a:rPr>
              <a:t>15,000 triage rows</a:t>
            </a:r>
          </a:p>
          <a:p>
            <a:pPr>
              <a:lnSpc>
                <a:spcPct val="108000"/>
              </a:lnSpc>
              <a:spcAft>
                <a:spcPts val="1000"/>
              </a:spcAft>
              <a:buChar char="•"/>
            </a:pPr>
            <a:r>
              <a:rPr sz="1400">
                <a:solidFill>
                  <a:srgbClr val="F2F7FD"/>
                </a:solidFill>
                <a:latin typeface="Calibri"/>
              </a:rPr>
              <a:t>85/15 splits</a:t>
            </a:r>
          </a:p>
          <a:p>
            <a:pPr>
              <a:lnSpc>
                <a:spcPct val="108000"/>
              </a:lnSpc>
              <a:spcAft>
                <a:spcPts val="1000"/>
              </a:spcAft>
              <a:buChar char="•"/>
            </a:pPr>
            <a:r>
              <a:rPr sz="1400">
                <a:solidFill>
                  <a:srgbClr val="F2F7FD"/>
                </a:solidFill>
                <a:latin typeface="Calibri"/>
              </a:rPr>
              <a:t>NumPy seed 42</a:t>
            </a:r>
          </a:p>
          <a:p>
            <a:pPr>
              <a:lnSpc>
                <a:spcPct val="108000"/>
              </a:lnSpc>
              <a:spcAft>
                <a:spcPts val="1000"/>
              </a:spcAft>
              <a:buChar char="•"/>
            </a:pPr>
            <a:r>
              <a:rPr sz="1400">
                <a:solidFill>
                  <a:srgbClr val="F2F7FD"/>
                </a:solidFill>
                <a:latin typeface="Calibri"/>
              </a:rPr>
              <a:t>No real patient records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111F"/>
        </a:solidFill>
        <a:effectLst/>
      </p:bgPr>
    </p:bg>
    <p:spTree>
      <p:nvGrpSpPr>
        <p:cNvPr id="1" name=""/>
        <p:cNvGrpSpPr/>
        <p:nvPr/>
      </p:nvGrpSpPr>
      <p:grpSpPr>
        <a:xfrm>
          <a:off x="0" y="0"/>
          <a:ext cx="0" cy="0"/>
          <a:chOff x="0" y="0"/>
          <a:chExt cx="0" cy="0"/>
        </a:xfrm>
      </p:grpSpPr>
      <p:sp>
        <p:nvSpPr>
          <p:cNvPr id="2" name="Oval 1"/>
          <p:cNvSpPr/>
          <p:nvPr/>
        </p:nvSpPr>
        <p:spPr>
          <a:xfrm>
            <a:off x="11064240" y="411480"/>
            <a:ext cx="411480" cy="41148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475720" y="292608"/>
            <a:ext cx="201168" cy="20116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4206240" cy="201168"/>
          </a:xfrm>
          <a:prstGeom prst="rect">
            <a:avLst/>
          </a:prstGeom>
          <a:noFill/>
        </p:spPr>
        <p:txBody>
          <a:bodyPr wrap="none" lIns="36576" rIns="36576" tIns="36576" bIns="36576" anchor="t">
            <a:spAutoFit/>
          </a:bodyPr>
          <a:lstStyle/>
          <a:p>
            <a:pPr algn="l"/>
            <a:r>
              <a:rPr sz="900" b="0">
                <a:solidFill>
                  <a:srgbClr val="9FB0C7"/>
                </a:solidFill>
                <a:latin typeface="Calibri"/>
              </a:rPr>
              <a:t>Problem</a:t>
            </a:r>
          </a:p>
        </p:txBody>
      </p:sp>
      <p:sp>
        <p:nvSpPr>
          <p:cNvPr id="5" name="TextBox 4"/>
          <p:cNvSpPr txBox="1"/>
          <p:nvPr/>
        </p:nvSpPr>
        <p:spPr>
          <a:xfrm>
            <a:off x="11109960" y="6419088"/>
            <a:ext cx="502920" cy="228600"/>
          </a:xfrm>
          <a:prstGeom prst="rect">
            <a:avLst/>
          </a:prstGeom>
          <a:noFill/>
        </p:spPr>
        <p:txBody>
          <a:bodyPr wrap="none" lIns="36576" rIns="36576" tIns="36576" bIns="36576" anchor="t">
            <a:spAutoFit/>
          </a:bodyPr>
          <a:lstStyle/>
          <a:p>
            <a:pPr algn="r"/>
            <a:r>
              <a:rPr sz="900" b="0">
                <a:solidFill>
                  <a:srgbClr val="9FB0C7"/>
                </a:solidFill>
                <a:latin typeface="Calibri"/>
              </a:rPr>
              <a:t>7</a:t>
            </a:r>
          </a:p>
        </p:txBody>
      </p:sp>
      <p:sp>
        <p:nvSpPr>
          <p:cNvPr id="6" name="TextBox 5"/>
          <p:cNvSpPr txBox="1"/>
          <p:nvPr/>
        </p:nvSpPr>
        <p:spPr>
          <a:xfrm>
            <a:off x="548640" y="384048"/>
            <a:ext cx="5486400" cy="228600"/>
          </a:xfrm>
          <a:prstGeom prst="rect">
            <a:avLst/>
          </a:prstGeom>
          <a:noFill/>
        </p:spPr>
        <p:txBody>
          <a:bodyPr wrap="none" lIns="36576" rIns="36576" tIns="36576" bIns="36576" anchor="t">
            <a:spAutoFit/>
          </a:bodyPr>
          <a:lstStyle/>
          <a:p>
            <a:pPr algn="l"/>
            <a:r>
              <a:rPr sz="1000" b="1">
                <a:solidFill>
                  <a:srgbClr val="22D3EE"/>
                </a:solidFill>
                <a:latin typeface="Calibri"/>
              </a:rPr>
              <a:t>PROBLEM</a:t>
            </a:r>
          </a:p>
        </p:txBody>
      </p:sp>
      <p:sp>
        <p:nvSpPr>
          <p:cNvPr id="7" name="TextBox 6"/>
          <p:cNvSpPr txBox="1"/>
          <p:nvPr/>
        </p:nvSpPr>
        <p:spPr>
          <a:xfrm>
            <a:off x="548640" y="713232"/>
            <a:ext cx="10789920" cy="502920"/>
          </a:xfrm>
          <a:prstGeom prst="rect">
            <a:avLst/>
          </a:prstGeom>
          <a:noFill/>
        </p:spPr>
        <p:txBody>
          <a:bodyPr wrap="none" lIns="36576" rIns="36576" tIns="36576" bIns="36576" anchor="t">
            <a:spAutoFit/>
          </a:bodyPr>
          <a:lstStyle/>
          <a:p>
            <a:pPr algn="l"/>
            <a:r>
              <a:rPr sz="3000" b="1">
                <a:solidFill>
                  <a:srgbClr val="F2F7FD"/>
                </a:solidFill>
                <a:latin typeface="Cambria"/>
              </a:rPr>
              <a:t>Existing System</a:t>
            </a:r>
          </a:p>
        </p:txBody>
      </p:sp>
      <p:sp>
        <p:nvSpPr>
          <p:cNvPr id="8" name="TextBox 7"/>
          <p:cNvSpPr txBox="1"/>
          <p:nvPr/>
        </p:nvSpPr>
        <p:spPr>
          <a:xfrm>
            <a:off x="640080" y="1481328"/>
            <a:ext cx="6675120" cy="4480560"/>
          </a:xfrm>
          <a:prstGeom prst="rect">
            <a:avLst/>
          </a:prstGeom>
          <a:noFill/>
        </p:spPr>
        <p:txBody>
          <a:bodyPr wrap="square" lIns="73152" rIns="73152">
            <a:spAutoFit/>
          </a:bodyPr>
          <a:lstStyle/>
          <a:p>
            <a:pPr>
              <a:lnSpc>
                <a:spcPct val="108000"/>
              </a:lnSpc>
              <a:spcAft>
                <a:spcPts val="1000"/>
              </a:spcAft>
              <a:buChar char="•"/>
            </a:pPr>
            <a:r>
              <a:rPr sz="1600">
                <a:solidFill>
                  <a:srgbClr val="F2F7FD"/>
                </a:solidFill>
                <a:latin typeface="Calibri"/>
              </a:rPr>
              <a:t>Registration and billing may be digital while internal coordination remains fragmented.</a:t>
            </a:r>
          </a:p>
          <a:p>
            <a:pPr>
              <a:lnSpc>
                <a:spcPct val="108000"/>
              </a:lnSpc>
              <a:spcAft>
                <a:spcPts val="1000"/>
              </a:spcAft>
              <a:buChar char="•"/>
            </a:pPr>
            <a:r>
              <a:rPr sz="1600">
                <a:solidFill>
                  <a:srgbClr val="F2F7FD"/>
                </a:solidFill>
                <a:latin typeface="Calibri"/>
              </a:rPr>
              <a:t>Name calling and simple tokens do not preserve priority or department movement.</a:t>
            </a:r>
          </a:p>
          <a:p>
            <a:pPr>
              <a:lnSpc>
                <a:spcPct val="108000"/>
              </a:lnSpc>
              <a:spcAft>
                <a:spcPts val="1000"/>
              </a:spcAft>
              <a:buChar char="•"/>
            </a:pPr>
            <a:r>
              <a:rPr sz="1600">
                <a:solidFill>
                  <a:srgbClr val="F2F7FD"/>
                </a:solidFill>
                <a:latin typeface="Calibri"/>
              </a:rPr>
              <a:t>Laboratory work and bed availability may rely on calls or registers.</a:t>
            </a:r>
          </a:p>
          <a:p>
            <a:pPr>
              <a:lnSpc>
                <a:spcPct val="108000"/>
              </a:lnSpc>
              <a:spcAft>
                <a:spcPts val="1000"/>
              </a:spcAft>
              <a:buChar char="•"/>
            </a:pPr>
            <a:r>
              <a:rPr sz="1600">
                <a:solidFill>
                  <a:srgbClr val="F2F7FD"/>
                </a:solidFill>
                <a:latin typeface="Calibri"/>
              </a:rPr>
              <a:t>Patients and staff lack one consistent current-state view.</a:t>
            </a:r>
          </a:p>
        </p:txBody>
      </p:sp>
      <p:sp>
        <p:nvSpPr>
          <p:cNvPr id="9" name="Rounded Rectangle 8"/>
          <p:cNvSpPr/>
          <p:nvPr/>
        </p:nvSpPr>
        <p:spPr>
          <a:xfrm>
            <a:off x="7680960" y="1508760"/>
            <a:ext cx="3794760" cy="1024128"/>
          </a:xfrm>
          <a:prstGeom prst="roundRect">
            <a:avLst/>
          </a:prstGeom>
          <a:solidFill>
            <a:srgbClr val="1724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1664207"/>
            <a:ext cx="1417320" cy="411480"/>
          </a:xfrm>
          <a:prstGeom prst="rect">
            <a:avLst/>
          </a:prstGeom>
          <a:noFill/>
        </p:spPr>
        <p:txBody>
          <a:bodyPr wrap="none" lIns="36576" rIns="36576" tIns="36576" bIns="36576" anchor="t">
            <a:spAutoFit/>
          </a:bodyPr>
          <a:lstStyle/>
          <a:p>
            <a:pPr algn="l"/>
            <a:r>
              <a:rPr sz="2500" b="1">
                <a:solidFill>
                  <a:srgbClr val="EF4444"/>
                </a:solidFill>
                <a:latin typeface="Calibri"/>
              </a:rPr>
              <a:t>Manual</a:t>
            </a:r>
          </a:p>
        </p:txBody>
      </p:sp>
      <p:sp>
        <p:nvSpPr>
          <p:cNvPr id="11" name="TextBox 10"/>
          <p:cNvSpPr txBox="1"/>
          <p:nvPr/>
        </p:nvSpPr>
        <p:spPr>
          <a:xfrm>
            <a:off x="9235440" y="1746504"/>
            <a:ext cx="1965960" cy="320040"/>
          </a:xfrm>
          <a:prstGeom prst="rect">
            <a:avLst/>
          </a:prstGeom>
          <a:noFill/>
        </p:spPr>
        <p:txBody>
          <a:bodyPr wrap="none" lIns="36576" rIns="36576" tIns="36576" bIns="36576" anchor="t">
            <a:spAutoFit/>
          </a:bodyPr>
          <a:lstStyle/>
          <a:p>
            <a:pPr algn="l"/>
            <a:r>
              <a:rPr sz="1300" b="1">
                <a:solidFill>
                  <a:srgbClr val="F2F7FD"/>
                </a:solidFill>
                <a:latin typeface="Calibri"/>
              </a:rPr>
              <a:t>Queue coordination</a:t>
            </a:r>
          </a:p>
        </p:txBody>
      </p:sp>
      <p:sp>
        <p:nvSpPr>
          <p:cNvPr id="12" name="Rounded Rectangle 11"/>
          <p:cNvSpPr/>
          <p:nvPr/>
        </p:nvSpPr>
        <p:spPr>
          <a:xfrm>
            <a:off x="7680960" y="2834639"/>
            <a:ext cx="3794760" cy="1024128"/>
          </a:xfrm>
          <a:prstGeom prst="roundRect">
            <a:avLst/>
          </a:prstGeom>
          <a:solidFill>
            <a:srgbClr val="1724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2990087"/>
            <a:ext cx="1417320" cy="411480"/>
          </a:xfrm>
          <a:prstGeom prst="rect">
            <a:avLst/>
          </a:prstGeom>
          <a:noFill/>
        </p:spPr>
        <p:txBody>
          <a:bodyPr wrap="none" lIns="36576" rIns="36576" tIns="36576" bIns="36576" anchor="t">
            <a:spAutoFit/>
          </a:bodyPr>
          <a:lstStyle/>
          <a:p>
            <a:pPr algn="l"/>
            <a:r>
              <a:rPr sz="2500" b="1">
                <a:solidFill>
                  <a:srgbClr val="F59E0B"/>
                </a:solidFill>
                <a:latin typeface="Calibri"/>
              </a:rPr>
              <a:t>Fragmented</a:t>
            </a:r>
          </a:p>
        </p:txBody>
      </p:sp>
      <p:sp>
        <p:nvSpPr>
          <p:cNvPr id="14" name="TextBox 13"/>
          <p:cNvSpPr txBox="1"/>
          <p:nvPr/>
        </p:nvSpPr>
        <p:spPr>
          <a:xfrm>
            <a:off x="9235440" y="3072383"/>
            <a:ext cx="1965960" cy="320040"/>
          </a:xfrm>
          <a:prstGeom prst="rect">
            <a:avLst/>
          </a:prstGeom>
          <a:noFill/>
        </p:spPr>
        <p:txBody>
          <a:bodyPr wrap="none" lIns="36576" rIns="36576" tIns="36576" bIns="36576" anchor="t">
            <a:spAutoFit/>
          </a:bodyPr>
          <a:lstStyle/>
          <a:p>
            <a:pPr algn="l"/>
            <a:r>
              <a:rPr sz="1300" b="1">
                <a:solidFill>
                  <a:srgbClr val="F2F7FD"/>
                </a:solidFill>
                <a:latin typeface="Calibri"/>
              </a:rPr>
              <a:t>Department state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111F"/>
        </a:solidFill>
        <a:effectLst/>
      </p:bgPr>
    </p:bg>
    <p:spTree>
      <p:nvGrpSpPr>
        <p:cNvPr id="1" name=""/>
        <p:cNvGrpSpPr/>
        <p:nvPr/>
      </p:nvGrpSpPr>
      <p:grpSpPr>
        <a:xfrm>
          <a:off x="0" y="0"/>
          <a:ext cx="0" cy="0"/>
          <a:chOff x="0" y="0"/>
          <a:chExt cx="0" cy="0"/>
        </a:xfrm>
      </p:grpSpPr>
      <p:sp>
        <p:nvSpPr>
          <p:cNvPr id="2" name="Oval 1"/>
          <p:cNvSpPr/>
          <p:nvPr/>
        </p:nvSpPr>
        <p:spPr>
          <a:xfrm>
            <a:off x="11064240" y="411480"/>
            <a:ext cx="411480" cy="41148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475720" y="292608"/>
            <a:ext cx="201168" cy="20116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4206240" cy="201168"/>
          </a:xfrm>
          <a:prstGeom prst="rect">
            <a:avLst/>
          </a:prstGeom>
          <a:noFill/>
        </p:spPr>
        <p:txBody>
          <a:bodyPr wrap="none" lIns="36576" rIns="36576" tIns="36576" bIns="36576" anchor="t">
            <a:spAutoFit/>
          </a:bodyPr>
          <a:lstStyle/>
          <a:p>
            <a:pPr algn="l"/>
            <a:r>
              <a:rPr sz="900" b="0">
                <a:solidFill>
                  <a:srgbClr val="9FB0C7"/>
                </a:solidFill>
                <a:latin typeface="Calibri"/>
              </a:rPr>
              <a:t>Problem</a:t>
            </a:r>
          </a:p>
        </p:txBody>
      </p:sp>
      <p:sp>
        <p:nvSpPr>
          <p:cNvPr id="5" name="TextBox 4"/>
          <p:cNvSpPr txBox="1"/>
          <p:nvPr/>
        </p:nvSpPr>
        <p:spPr>
          <a:xfrm>
            <a:off x="11109960" y="6419088"/>
            <a:ext cx="502920" cy="228600"/>
          </a:xfrm>
          <a:prstGeom prst="rect">
            <a:avLst/>
          </a:prstGeom>
          <a:noFill/>
        </p:spPr>
        <p:txBody>
          <a:bodyPr wrap="none" lIns="36576" rIns="36576" tIns="36576" bIns="36576" anchor="t">
            <a:spAutoFit/>
          </a:bodyPr>
          <a:lstStyle/>
          <a:p>
            <a:pPr algn="r"/>
            <a:r>
              <a:rPr sz="900" b="0">
                <a:solidFill>
                  <a:srgbClr val="9FB0C7"/>
                </a:solidFill>
                <a:latin typeface="Calibri"/>
              </a:rPr>
              <a:t>8</a:t>
            </a:r>
          </a:p>
        </p:txBody>
      </p:sp>
      <p:sp>
        <p:nvSpPr>
          <p:cNvPr id="6" name="TextBox 5"/>
          <p:cNvSpPr txBox="1"/>
          <p:nvPr/>
        </p:nvSpPr>
        <p:spPr>
          <a:xfrm>
            <a:off x="548640" y="384048"/>
            <a:ext cx="5486400" cy="228600"/>
          </a:xfrm>
          <a:prstGeom prst="rect">
            <a:avLst/>
          </a:prstGeom>
          <a:noFill/>
        </p:spPr>
        <p:txBody>
          <a:bodyPr wrap="none" lIns="36576" rIns="36576" tIns="36576" bIns="36576" anchor="t">
            <a:spAutoFit/>
          </a:bodyPr>
          <a:lstStyle/>
          <a:p>
            <a:pPr algn="l"/>
            <a:r>
              <a:rPr sz="1000" b="1">
                <a:solidFill>
                  <a:srgbClr val="22D3EE"/>
                </a:solidFill>
                <a:latin typeface="Calibri"/>
              </a:rPr>
              <a:t>PROBLEM</a:t>
            </a:r>
          </a:p>
        </p:txBody>
      </p:sp>
      <p:sp>
        <p:nvSpPr>
          <p:cNvPr id="7" name="TextBox 6"/>
          <p:cNvSpPr txBox="1"/>
          <p:nvPr/>
        </p:nvSpPr>
        <p:spPr>
          <a:xfrm>
            <a:off x="548640" y="713232"/>
            <a:ext cx="10789920" cy="502920"/>
          </a:xfrm>
          <a:prstGeom prst="rect">
            <a:avLst/>
          </a:prstGeom>
          <a:noFill/>
        </p:spPr>
        <p:txBody>
          <a:bodyPr wrap="none" lIns="36576" rIns="36576" tIns="36576" bIns="36576" anchor="t">
            <a:spAutoFit/>
          </a:bodyPr>
          <a:lstStyle/>
          <a:p>
            <a:pPr algn="l"/>
            <a:r>
              <a:rPr sz="3000" b="1">
                <a:solidFill>
                  <a:srgbClr val="F2F7FD"/>
                </a:solidFill>
                <a:latin typeface="Cambria"/>
              </a:rPr>
              <a:t>Limitations of Existing Approaches</a:t>
            </a:r>
          </a:p>
        </p:txBody>
      </p:sp>
      <p:sp>
        <p:nvSpPr>
          <p:cNvPr id="8" name="TextBox 7"/>
          <p:cNvSpPr txBox="1"/>
          <p:nvPr/>
        </p:nvSpPr>
        <p:spPr>
          <a:xfrm>
            <a:off x="640080" y="1481328"/>
            <a:ext cx="6675120" cy="4480560"/>
          </a:xfrm>
          <a:prstGeom prst="rect">
            <a:avLst/>
          </a:prstGeom>
          <a:noFill/>
        </p:spPr>
        <p:txBody>
          <a:bodyPr wrap="square" lIns="73152" rIns="73152">
            <a:spAutoFit/>
          </a:bodyPr>
          <a:lstStyle/>
          <a:p>
            <a:pPr>
              <a:lnSpc>
                <a:spcPct val="108000"/>
              </a:lnSpc>
              <a:spcAft>
                <a:spcPts val="1000"/>
              </a:spcAft>
              <a:buChar char="•"/>
            </a:pPr>
            <a:r>
              <a:rPr sz="1600">
                <a:solidFill>
                  <a:srgbClr val="F2F7FD"/>
                </a:solidFill>
                <a:latin typeface="Calibri"/>
              </a:rPr>
              <a:t>Appointment apps stop before the in-hospital journey.</a:t>
            </a:r>
          </a:p>
          <a:p>
            <a:pPr>
              <a:lnSpc>
                <a:spcPct val="108000"/>
              </a:lnSpc>
              <a:spcAft>
                <a:spcPts val="1000"/>
              </a:spcAft>
              <a:buChar char="•"/>
            </a:pPr>
            <a:r>
              <a:rPr sz="1600">
                <a:solidFill>
                  <a:srgbClr val="F2F7FD"/>
                </a:solidFill>
                <a:latin typeface="Calibri"/>
              </a:rPr>
              <a:t>Prediction-only studies do not provide operational actions or resource state.</a:t>
            </a:r>
          </a:p>
          <a:p>
            <a:pPr>
              <a:lnSpc>
                <a:spcPct val="108000"/>
              </a:lnSpc>
              <a:spcAft>
                <a:spcPts val="1000"/>
              </a:spcAft>
              <a:buChar char="•"/>
            </a:pPr>
            <a:r>
              <a:rPr sz="1600">
                <a:solidFill>
                  <a:srgbClr val="F2F7FD"/>
                </a:solidFill>
                <a:latin typeface="Calibri"/>
              </a:rPr>
              <a:t>Stale bed data delays admission decisions.</a:t>
            </a:r>
          </a:p>
          <a:p>
            <a:pPr>
              <a:lnSpc>
                <a:spcPct val="108000"/>
              </a:lnSpc>
              <a:spcAft>
                <a:spcPts val="1000"/>
              </a:spcAft>
              <a:buChar char="•"/>
            </a:pPr>
            <a:r>
              <a:rPr sz="1600">
                <a:solidFill>
                  <a:srgbClr val="F2F7FD"/>
                </a:solidFill>
                <a:latin typeface="Calibri"/>
              </a:rPr>
              <a:t>Unexplained scores can hide class-specific safety failures.</a:t>
            </a:r>
          </a:p>
          <a:p>
            <a:pPr>
              <a:lnSpc>
                <a:spcPct val="108000"/>
              </a:lnSpc>
              <a:spcAft>
                <a:spcPts val="1000"/>
              </a:spcAft>
              <a:buChar char="•"/>
            </a:pPr>
            <a:r>
              <a:rPr sz="1600">
                <a:solidFill>
                  <a:srgbClr val="F2F7FD"/>
                </a:solidFill>
                <a:latin typeface="Calibri"/>
              </a:rPr>
              <a:t>Disconnected systems create duplicate entry and weak traceability.</a:t>
            </a:r>
          </a:p>
        </p:txBody>
      </p:sp>
      <p:sp>
        <p:nvSpPr>
          <p:cNvPr id="9" name="Rounded Rectangle 8"/>
          <p:cNvSpPr/>
          <p:nvPr/>
        </p:nvSpPr>
        <p:spPr>
          <a:xfrm>
            <a:off x="7680960" y="1508760"/>
            <a:ext cx="3794760" cy="1024128"/>
          </a:xfrm>
          <a:prstGeom prst="roundRect">
            <a:avLst/>
          </a:prstGeom>
          <a:solidFill>
            <a:srgbClr val="1724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1664207"/>
            <a:ext cx="1417320" cy="411480"/>
          </a:xfrm>
          <a:prstGeom prst="rect">
            <a:avLst/>
          </a:prstGeom>
          <a:noFill/>
        </p:spPr>
        <p:txBody>
          <a:bodyPr wrap="none" lIns="36576" rIns="36576" tIns="36576" bIns="36576" anchor="t">
            <a:spAutoFit/>
          </a:bodyPr>
          <a:lstStyle/>
          <a:p>
            <a:pPr algn="l"/>
            <a:r>
              <a:rPr sz="2500" b="1">
                <a:solidFill>
                  <a:srgbClr val="EF4444"/>
                </a:solidFill>
                <a:latin typeface="Calibri"/>
              </a:rPr>
              <a:t>No</a:t>
            </a:r>
          </a:p>
        </p:txBody>
      </p:sp>
      <p:sp>
        <p:nvSpPr>
          <p:cNvPr id="11" name="TextBox 10"/>
          <p:cNvSpPr txBox="1"/>
          <p:nvPr/>
        </p:nvSpPr>
        <p:spPr>
          <a:xfrm>
            <a:off x="9235440" y="1746504"/>
            <a:ext cx="1965960" cy="320040"/>
          </a:xfrm>
          <a:prstGeom prst="rect">
            <a:avLst/>
          </a:prstGeom>
          <a:noFill/>
        </p:spPr>
        <p:txBody>
          <a:bodyPr wrap="none" lIns="36576" rIns="36576" tIns="36576" bIns="36576" anchor="t">
            <a:spAutoFit/>
          </a:bodyPr>
          <a:lstStyle/>
          <a:p>
            <a:pPr algn="l"/>
            <a:r>
              <a:rPr sz="1300" b="1">
                <a:solidFill>
                  <a:srgbClr val="F2F7FD"/>
                </a:solidFill>
                <a:latin typeface="Calibri"/>
              </a:rPr>
              <a:t>Unified visit state</a:t>
            </a:r>
          </a:p>
        </p:txBody>
      </p:sp>
      <p:sp>
        <p:nvSpPr>
          <p:cNvPr id="12" name="Rounded Rectangle 11"/>
          <p:cNvSpPr/>
          <p:nvPr/>
        </p:nvSpPr>
        <p:spPr>
          <a:xfrm>
            <a:off x="7680960" y="2834639"/>
            <a:ext cx="3794760" cy="1024128"/>
          </a:xfrm>
          <a:prstGeom prst="roundRect">
            <a:avLst/>
          </a:prstGeom>
          <a:solidFill>
            <a:srgbClr val="1724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2990087"/>
            <a:ext cx="1417320" cy="411480"/>
          </a:xfrm>
          <a:prstGeom prst="rect">
            <a:avLst/>
          </a:prstGeom>
          <a:noFill/>
        </p:spPr>
        <p:txBody>
          <a:bodyPr wrap="none" lIns="36576" rIns="36576" tIns="36576" bIns="36576" anchor="t">
            <a:spAutoFit/>
          </a:bodyPr>
          <a:lstStyle/>
          <a:p>
            <a:pPr algn="l"/>
            <a:r>
              <a:rPr sz="2500" b="1">
                <a:solidFill>
                  <a:srgbClr val="EF4444"/>
                </a:solidFill>
                <a:latin typeface="Calibri"/>
              </a:rPr>
              <a:t>No</a:t>
            </a:r>
          </a:p>
        </p:txBody>
      </p:sp>
      <p:sp>
        <p:nvSpPr>
          <p:cNvPr id="14" name="TextBox 13"/>
          <p:cNvSpPr txBox="1"/>
          <p:nvPr/>
        </p:nvSpPr>
        <p:spPr>
          <a:xfrm>
            <a:off x="9235440" y="3072383"/>
            <a:ext cx="1965960" cy="320040"/>
          </a:xfrm>
          <a:prstGeom prst="rect">
            <a:avLst/>
          </a:prstGeom>
          <a:noFill/>
        </p:spPr>
        <p:txBody>
          <a:bodyPr wrap="none" lIns="36576" rIns="36576" tIns="36576" bIns="36576" anchor="t">
            <a:spAutoFit/>
          </a:bodyPr>
          <a:lstStyle/>
          <a:p>
            <a:pPr algn="l"/>
            <a:r>
              <a:rPr sz="1300" b="1">
                <a:solidFill>
                  <a:srgbClr val="F2F7FD"/>
                </a:solidFill>
                <a:latin typeface="Calibri"/>
              </a:rPr>
              <a:t>Live capacity view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111F"/>
        </a:solidFill>
        <a:effectLst/>
      </p:bgPr>
    </p:bg>
    <p:spTree>
      <p:nvGrpSpPr>
        <p:cNvPr id="1" name=""/>
        <p:cNvGrpSpPr/>
        <p:nvPr/>
      </p:nvGrpSpPr>
      <p:grpSpPr>
        <a:xfrm>
          <a:off x="0" y="0"/>
          <a:ext cx="0" cy="0"/>
          <a:chOff x="0" y="0"/>
          <a:chExt cx="0" cy="0"/>
        </a:xfrm>
      </p:grpSpPr>
      <p:sp>
        <p:nvSpPr>
          <p:cNvPr id="2" name="Oval 1"/>
          <p:cNvSpPr/>
          <p:nvPr/>
        </p:nvSpPr>
        <p:spPr>
          <a:xfrm>
            <a:off x="11064240" y="411480"/>
            <a:ext cx="411480" cy="41148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475720" y="292608"/>
            <a:ext cx="201168" cy="20116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4206240" cy="201168"/>
          </a:xfrm>
          <a:prstGeom prst="rect">
            <a:avLst/>
          </a:prstGeom>
          <a:noFill/>
        </p:spPr>
        <p:txBody>
          <a:bodyPr wrap="none" lIns="36576" rIns="36576" tIns="36576" bIns="36576" anchor="t">
            <a:spAutoFit/>
          </a:bodyPr>
          <a:lstStyle/>
          <a:p>
            <a:pPr algn="l"/>
            <a:r>
              <a:rPr sz="900" b="0">
                <a:solidFill>
                  <a:srgbClr val="9FB0C7"/>
                </a:solidFill>
                <a:latin typeface="Calibri"/>
              </a:rPr>
              <a:t>Problem</a:t>
            </a:r>
          </a:p>
        </p:txBody>
      </p:sp>
      <p:sp>
        <p:nvSpPr>
          <p:cNvPr id="5" name="TextBox 4"/>
          <p:cNvSpPr txBox="1"/>
          <p:nvPr/>
        </p:nvSpPr>
        <p:spPr>
          <a:xfrm>
            <a:off x="11109960" y="6419088"/>
            <a:ext cx="502920" cy="228600"/>
          </a:xfrm>
          <a:prstGeom prst="rect">
            <a:avLst/>
          </a:prstGeom>
          <a:noFill/>
        </p:spPr>
        <p:txBody>
          <a:bodyPr wrap="none" lIns="36576" rIns="36576" tIns="36576" bIns="36576" anchor="t">
            <a:spAutoFit/>
          </a:bodyPr>
          <a:lstStyle/>
          <a:p>
            <a:pPr algn="r"/>
            <a:r>
              <a:rPr sz="900" b="0">
                <a:solidFill>
                  <a:srgbClr val="9FB0C7"/>
                </a:solidFill>
                <a:latin typeface="Calibri"/>
              </a:rPr>
              <a:t>9</a:t>
            </a:r>
          </a:p>
        </p:txBody>
      </p:sp>
      <p:sp>
        <p:nvSpPr>
          <p:cNvPr id="6" name="TextBox 5"/>
          <p:cNvSpPr txBox="1"/>
          <p:nvPr/>
        </p:nvSpPr>
        <p:spPr>
          <a:xfrm>
            <a:off x="548640" y="384048"/>
            <a:ext cx="5486400" cy="228600"/>
          </a:xfrm>
          <a:prstGeom prst="rect">
            <a:avLst/>
          </a:prstGeom>
          <a:noFill/>
        </p:spPr>
        <p:txBody>
          <a:bodyPr wrap="none" lIns="36576" rIns="36576" tIns="36576" bIns="36576" anchor="t">
            <a:spAutoFit/>
          </a:bodyPr>
          <a:lstStyle/>
          <a:p>
            <a:pPr algn="l"/>
            <a:r>
              <a:rPr sz="1000" b="1">
                <a:solidFill>
                  <a:srgbClr val="22D3EE"/>
                </a:solidFill>
                <a:latin typeface="Calibri"/>
              </a:rPr>
              <a:t>PROBLEM</a:t>
            </a:r>
          </a:p>
        </p:txBody>
      </p:sp>
      <p:sp>
        <p:nvSpPr>
          <p:cNvPr id="7" name="TextBox 6"/>
          <p:cNvSpPr txBox="1"/>
          <p:nvPr/>
        </p:nvSpPr>
        <p:spPr>
          <a:xfrm>
            <a:off x="548640" y="713232"/>
            <a:ext cx="10789920" cy="502920"/>
          </a:xfrm>
          <a:prstGeom prst="rect">
            <a:avLst/>
          </a:prstGeom>
          <a:noFill/>
        </p:spPr>
        <p:txBody>
          <a:bodyPr wrap="none" lIns="36576" rIns="36576" tIns="36576" bIns="36576" anchor="t">
            <a:spAutoFit/>
          </a:bodyPr>
          <a:lstStyle/>
          <a:p>
            <a:pPr algn="l"/>
            <a:r>
              <a:rPr sz="3000" b="1">
                <a:solidFill>
                  <a:srgbClr val="F2F7FD"/>
                </a:solidFill>
                <a:latin typeface="Cambria"/>
              </a:rPr>
              <a:t>Research Gap</a:t>
            </a:r>
          </a:p>
        </p:txBody>
      </p:sp>
      <p:sp>
        <p:nvSpPr>
          <p:cNvPr id="8" name="TextBox 7"/>
          <p:cNvSpPr txBox="1"/>
          <p:nvPr/>
        </p:nvSpPr>
        <p:spPr>
          <a:xfrm>
            <a:off x="640080" y="1481328"/>
            <a:ext cx="6675120" cy="4480560"/>
          </a:xfrm>
          <a:prstGeom prst="rect">
            <a:avLst/>
          </a:prstGeom>
          <a:noFill/>
        </p:spPr>
        <p:txBody>
          <a:bodyPr wrap="square" lIns="73152" rIns="73152">
            <a:spAutoFit/>
          </a:bodyPr>
          <a:lstStyle/>
          <a:p>
            <a:pPr>
              <a:lnSpc>
                <a:spcPct val="108000"/>
              </a:lnSpc>
              <a:spcAft>
                <a:spcPts val="1000"/>
              </a:spcAft>
              <a:buChar char="•"/>
            </a:pPr>
            <a:r>
              <a:rPr sz="1600">
                <a:solidFill>
                  <a:srgbClr val="F2F7FD"/>
                </a:solidFill>
                <a:latin typeface="Calibri"/>
              </a:rPr>
              <a:t>Integrate token, priority, visit status, movement, laboratory work and bed state.</a:t>
            </a:r>
          </a:p>
          <a:p>
            <a:pPr>
              <a:lnSpc>
                <a:spcPct val="108000"/>
              </a:lnSpc>
              <a:spcAft>
                <a:spcPts val="1000"/>
              </a:spcAft>
              <a:buChar char="•"/>
            </a:pPr>
            <a:r>
              <a:rPr sz="1600">
                <a:solidFill>
                  <a:srgbClr val="F2F7FD"/>
                </a:solidFill>
                <a:latin typeface="Calibri"/>
              </a:rPr>
              <a:t>Give each authorised role a focused action surface over the same data.</a:t>
            </a:r>
          </a:p>
          <a:p>
            <a:pPr>
              <a:lnSpc>
                <a:spcPct val="108000"/>
              </a:lnSpc>
              <a:spcAft>
                <a:spcPts val="1000"/>
              </a:spcAft>
              <a:buChar char="•"/>
            </a:pPr>
            <a:r>
              <a:rPr sz="1600">
                <a:solidFill>
                  <a:srgbClr val="F2F7FD"/>
                </a:solidFill>
                <a:latin typeface="Calibri"/>
              </a:rPr>
              <a:t>Publish public queue progress without exposing patient identity.</a:t>
            </a:r>
          </a:p>
          <a:p>
            <a:pPr>
              <a:lnSpc>
                <a:spcPct val="108000"/>
              </a:lnSpc>
              <a:spcAft>
                <a:spcPts val="1000"/>
              </a:spcAft>
              <a:buChar char="•"/>
            </a:pPr>
            <a:r>
              <a:rPr sz="1600">
                <a:solidFill>
                  <a:srgbClr val="F2F7FD"/>
                </a:solidFill>
                <a:latin typeface="Calibri"/>
              </a:rPr>
              <a:t>Separate synthetic-model evidence from clinical or operational impact claims.</a:t>
            </a:r>
          </a:p>
        </p:txBody>
      </p:sp>
      <p:sp>
        <p:nvSpPr>
          <p:cNvPr id="9" name="Rounded Rectangle 8"/>
          <p:cNvSpPr/>
          <p:nvPr/>
        </p:nvSpPr>
        <p:spPr>
          <a:xfrm>
            <a:off x="7680960" y="1508760"/>
            <a:ext cx="3794760" cy="1024128"/>
          </a:xfrm>
          <a:prstGeom prst="roundRect">
            <a:avLst/>
          </a:prstGeom>
          <a:solidFill>
            <a:srgbClr val="1724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1664207"/>
            <a:ext cx="1417320" cy="411480"/>
          </a:xfrm>
          <a:prstGeom prst="rect">
            <a:avLst/>
          </a:prstGeom>
          <a:noFill/>
        </p:spPr>
        <p:txBody>
          <a:bodyPr wrap="none" lIns="36576" rIns="36576" tIns="36576" bIns="36576" anchor="t">
            <a:spAutoFit/>
          </a:bodyPr>
          <a:lstStyle/>
          <a:p>
            <a:pPr algn="l"/>
            <a:r>
              <a:rPr sz="2500" b="1">
                <a:solidFill>
                  <a:srgbClr val="10B981"/>
                </a:solidFill>
                <a:latin typeface="Calibri"/>
              </a:rPr>
              <a:t>One</a:t>
            </a:r>
          </a:p>
        </p:txBody>
      </p:sp>
      <p:sp>
        <p:nvSpPr>
          <p:cNvPr id="11" name="TextBox 10"/>
          <p:cNvSpPr txBox="1"/>
          <p:nvPr/>
        </p:nvSpPr>
        <p:spPr>
          <a:xfrm>
            <a:off x="9235440" y="1746504"/>
            <a:ext cx="1965960" cy="320040"/>
          </a:xfrm>
          <a:prstGeom prst="rect">
            <a:avLst/>
          </a:prstGeom>
          <a:noFill/>
        </p:spPr>
        <p:txBody>
          <a:bodyPr wrap="none" lIns="36576" rIns="36576" tIns="36576" bIns="36576" anchor="t">
            <a:spAutoFit/>
          </a:bodyPr>
          <a:lstStyle/>
          <a:p>
            <a:pPr algn="l"/>
            <a:r>
              <a:rPr sz="1300" b="1">
                <a:solidFill>
                  <a:srgbClr val="F2F7FD"/>
                </a:solidFill>
                <a:latin typeface="Calibri"/>
              </a:rPr>
              <a:t>Operational source of truth</a:t>
            </a:r>
          </a:p>
        </p:txBody>
      </p:sp>
      <p:sp>
        <p:nvSpPr>
          <p:cNvPr id="12" name="Rounded Rectangle 11"/>
          <p:cNvSpPr/>
          <p:nvPr/>
        </p:nvSpPr>
        <p:spPr>
          <a:xfrm>
            <a:off x="7680960" y="2834639"/>
            <a:ext cx="3794760" cy="1024128"/>
          </a:xfrm>
          <a:prstGeom prst="roundRect">
            <a:avLst/>
          </a:prstGeom>
          <a:solidFill>
            <a:srgbClr val="17243B"/>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2990087"/>
            <a:ext cx="1417320" cy="411480"/>
          </a:xfrm>
          <a:prstGeom prst="rect">
            <a:avLst/>
          </a:prstGeom>
          <a:noFill/>
        </p:spPr>
        <p:txBody>
          <a:bodyPr wrap="none" lIns="36576" rIns="36576" tIns="36576" bIns="36576" anchor="t">
            <a:spAutoFit/>
          </a:bodyPr>
          <a:lstStyle/>
          <a:p>
            <a:pPr algn="l"/>
            <a:r>
              <a:rPr sz="2500" b="1">
                <a:solidFill>
                  <a:srgbClr val="22D3EE"/>
                </a:solidFill>
                <a:latin typeface="Calibri"/>
              </a:rPr>
              <a:t>Explicit</a:t>
            </a:r>
          </a:p>
        </p:txBody>
      </p:sp>
      <p:sp>
        <p:nvSpPr>
          <p:cNvPr id="14" name="TextBox 13"/>
          <p:cNvSpPr txBox="1"/>
          <p:nvPr/>
        </p:nvSpPr>
        <p:spPr>
          <a:xfrm>
            <a:off x="9235440" y="3072383"/>
            <a:ext cx="1965960" cy="320040"/>
          </a:xfrm>
          <a:prstGeom prst="rect">
            <a:avLst/>
          </a:prstGeom>
          <a:noFill/>
        </p:spPr>
        <p:txBody>
          <a:bodyPr wrap="none" lIns="36576" rIns="36576" tIns="36576" bIns="36576" anchor="t">
            <a:spAutoFit/>
          </a:bodyPr>
          <a:lstStyle/>
          <a:p>
            <a:pPr algn="l"/>
            <a:r>
              <a:rPr sz="1300" b="1">
                <a:solidFill>
                  <a:srgbClr val="F2F7FD"/>
                </a:solidFill>
                <a:latin typeface="Calibri"/>
              </a:rPr>
              <a:t>Evidence boundary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111F"/>
        </a:solidFill>
        <a:effectLst/>
      </p:bgPr>
    </p:bg>
    <p:spTree>
      <p:nvGrpSpPr>
        <p:cNvPr id="1" name=""/>
        <p:cNvGrpSpPr/>
        <p:nvPr/>
      </p:nvGrpSpPr>
      <p:grpSpPr>
        <a:xfrm>
          <a:off x="0" y="0"/>
          <a:ext cx="0" cy="0"/>
          <a:chOff x="0" y="0"/>
          <a:chExt cx="0" cy="0"/>
        </a:xfrm>
      </p:grpSpPr>
      <p:sp>
        <p:nvSpPr>
          <p:cNvPr id="2" name="Oval 1"/>
          <p:cNvSpPr/>
          <p:nvPr/>
        </p:nvSpPr>
        <p:spPr>
          <a:xfrm>
            <a:off x="11064240" y="411480"/>
            <a:ext cx="411480" cy="41148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475720" y="292608"/>
            <a:ext cx="201168" cy="20116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4206240" cy="201168"/>
          </a:xfrm>
          <a:prstGeom prst="rect">
            <a:avLst/>
          </a:prstGeom>
          <a:noFill/>
        </p:spPr>
        <p:txBody>
          <a:bodyPr wrap="none" lIns="36576" rIns="36576" tIns="36576" bIns="36576" anchor="t">
            <a:spAutoFit/>
          </a:bodyPr>
          <a:lstStyle/>
          <a:p>
            <a:pPr algn="l"/>
            <a:r>
              <a:rPr sz="900" b="0">
                <a:solidFill>
                  <a:srgbClr val="9FB0C7"/>
                </a:solidFill>
                <a:latin typeface="Calibri"/>
              </a:rPr>
              <a:t>Problem</a:t>
            </a:r>
          </a:p>
        </p:txBody>
      </p:sp>
      <p:sp>
        <p:nvSpPr>
          <p:cNvPr id="5" name="TextBox 4"/>
          <p:cNvSpPr txBox="1"/>
          <p:nvPr/>
        </p:nvSpPr>
        <p:spPr>
          <a:xfrm>
            <a:off x="11109960" y="6419088"/>
            <a:ext cx="502920" cy="228600"/>
          </a:xfrm>
          <a:prstGeom prst="rect">
            <a:avLst/>
          </a:prstGeom>
          <a:noFill/>
        </p:spPr>
        <p:txBody>
          <a:bodyPr wrap="none" lIns="36576" rIns="36576" tIns="36576" bIns="36576" anchor="t">
            <a:spAutoFit/>
          </a:bodyPr>
          <a:lstStyle/>
          <a:p>
            <a:pPr algn="r"/>
            <a:r>
              <a:rPr sz="900" b="0">
                <a:solidFill>
                  <a:srgbClr val="9FB0C7"/>
                </a:solidFill>
                <a:latin typeface="Calibri"/>
              </a:rPr>
              <a:t>10</a:t>
            </a:r>
          </a:p>
        </p:txBody>
      </p:sp>
      <p:sp>
        <p:nvSpPr>
          <p:cNvPr id="6" name="TextBox 5"/>
          <p:cNvSpPr txBox="1"/>
          <p:nvPr/>
        </p:nvSpPr>
        <p:spPr>
          <a:xfrm>
            <a:off x="548640" y="384048"/>
            <a:ext cx="5486400" cy="228600"/>
          </a:xfrm>
          <a:prstGeom prst="rect">
            <a:avLst/>
          </a:prstGeom>
          <a:noFill/>
        </p:spPr>
        <p:txBody>
          <a:bodyPr wrap="none" lIns="36576" rIns="36576" tIns="36576" bIns="36576" anchor="t">
            <a:spAutoFit/>
          </a:bodyPr>
          <a:lstStyle/>
          <a:p>
            <a:pPr algn="l"/>
            <a:r>
              <a:rPr sz="1000" b="1">
                <a:solidFill>
                  <a:srgbClr val="22D3EE"/>
                </a:solidFill>
                <a:latin typeface="Calibri"/>
              </a:rPr>
              <a:t>PROBLEM</a:t>
            </a:r>
          </a:p>
        </p:txBody>
      </p:sp>
      <p:sp>
        <p:nvSpPr>
          <p:cNvPr id="7" name="TextBox 6"/>
          <p:cNvSpPr txBox="1"/>
          <p:nvPr/>
        </p:nvSpPr>
        <p:spPr>
          <a:xfrm>
            <a:off x="548640" y="713232"/>
            <a:ext cx="10789920" cy="502920"/>
          </a:xfrm>
          <a:prstGeom prst="rect">
            <a:avLst/>
          </a:prstGeom>
          <a:noFill/>
        </p:spPr>
        <p:txBody>
          <a:bodyPr wrap="none" lIns="36576" rIns="36576" tIns="36576" bIns="36576" anchor="t">
            <a:spAutoFit/>
          </a:bodyPr>
          <a:lstStyle/>
          <a:p>
            <a:pPr algn="l"/>
            <a:r>
              <a:rPr sz="3000" b="1">
                <a:solidFill>
                  <a:srgbClr val="F2F7FD"/>
                </a:solidFill>
                <a:latin typeface="Cambria"/>
              </a:rPr>
              <a:t>Problem Statement</a:t>
            </a:r>
          </a:p>
        </p:txBody>
      </p:sp>
      <p:sp>
        <p:nvSpPr>
          <p:cNvPr id="8" name="TextBox 7"/>
          <p:cNvSpPr txBox="1"/>
          <p:nvPr/>
        </p:nvSpPr>
        <p:spPr>
          <a:xfrm>
            <a:off x="640080" y="1481328"/>
            <a:ext cx="6675120" cy="4480560"/>
          </a:xfrm>
          <a:prstGeom prst="rect">
            <a:avLst/>
          </a:prstGeom>
          <a:noFill/>
        </p:spPr>
        <p:txBody>
          <a:bodyPr wrap="square" lIns="73152" rIns="73152">
            <a:spAutoFit/>
          </a:bodyPr>
          <a:lstStyle/>
          <a:p>
            <a:pPr>
              <a:lnSpc>
                <a:spcPct val="108000"/>
              </a:lnSpc>
              <a:spcAft>
                <a:spcPts val="1000"/>
              </a:spcAft>
              <a:buChar char="•"/>
            </a:pPr>
            <a:r>
              <a:rPr sz="1600">
                <a:solidFill>
                  <a:srgbClr val="F2F7FD"/>
                </a:solidFill>
                <a:latin typeface="Calibri"/>
              </a:rPr>
              <a:t>Design and implement a role-based system that coordinates patients across OPD, emergency, laboratory, pharmacy, ward and ICU.</a:t>
            </a:r>
          </a:p>
          <a:p>
            <a:pPr>
              <a:lnSpc>
                <a:spcPct val="108000"/>
              </a:lnSpc>
              <a:spcAft>
                <a:spcPts val="1000"/>
              </a:spcAft>
              <a:buChar char="•"/>
            </a:pPr>
            <a:r>
              <a:rPr sz="1600">
                <a:solidFill>
                  <a:srgbClr val="F2F7FD"/>
                </a:solidFill>
                <a:latin typeface="Calibri"/>
              </a:rPr>
              <a:t>Preserve priority and current state, expose resource availability, and provide reproducible prediction assistance.</a:t>
            </a:r>
          </a:p>
          <a:p>
            <a:pPr>
              <a:lnSpc>
                <a:spcPct val="108000"/>
              </a:lnSpc>
              <a:spcAft>
                <a:spcPts val="1000"/>
              </a:spcAft>
              <a:buChar char="•"/>
            </a:pPr>
            <a:r>
              <a:rPr sz="1600">
                <a:solidFill>
                  <a:srgbClr val="F2F7FD"/>
                </a:solidFill>
                <a:latin typeface="Calibri"/>
              </a:rPr>
              <a:t>Report limitations honestly where real data, validation or deployment evidence is absent.</a:t>
            </a:r>
          </a:p>
        </p:txBody>
      </p:sp>
      <p:sp>
        <p:nvSpPr>
          <p:cNvPr id="9" name="Rounded Rectangle 8"/>
          <p:cNvSpPr/>
          <p:nvPr/>
        </p:nvSpPr>
        <p:spPr>
          <a:xfrm>
            <a:off x="7680960" y="1508760"/>
            <a:ext cx="3794760" cy="1024128"/>
          </a:xfrm>
          <a:prstGeom prst="roundRect">
            <a:avLst/>
          </a:prstGeom>
          <a:solidFill>
            <a:srgbClr val="1724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1664207"/>
            <a:ext cx="1417320" cy="411480"/>
          </a:xfrm>
          <a:prstGeom prst="rect">
            <a:avLst/>
          </a:prstGeom>
          <a:noFill/>
        </p:spPr>
        <p:txBody>
          <a:bodyPr wrap="none" lIns="36576" rIns="36576" tIns="36576" bIns="36576" anchor="t">
            <a:spAutoFit/>
          </a:bodyPr>
          <a:lstStyle/>
          <a:p>
            <a:pPr algn="l"/>
            <a:r>
              <a:rPr sz="2500" b="1">
                <a:solidFill>
                  <a:srgbClr val="3B82F6"/>
                </a:solidFill>
                <a:latin typeface="Calibri"/>
              </a:rPr>
              <a:t>Input</a:t>
            </a:r>
          </a:p>
        </p:txBody>
      </p:sp>
      <p:sp>
        <p:nvSpPr>
          <p:cNvPr id="11" name="TextBox 10"/>
          <p:cNvSpPr txBox="1"/>
          <p:nvPr/>
        </p:nvSpPr>
        <p:spPr>
          <a:xfrm>
            <a:off x="9235440" y="1746504"/>
            <a:ext cx="1965960" cy="320040"/>
          </a:xfrm>
          <a:prstGeom prst="rect">
            <a:avLst/>
          </a:prstGeom>
          <a:noFill/>
        </p:spPr>
        <p:txBody>
          <a:bodyPr wrap="none" lIns="36576" rIns="36576" tIns="36576" bIns="36576" anchor="t">
            <a:spAutoFit/>
          </a:bodyPr>
          <a:lstStyle/>
          <a:p>
            <a:pPr algn="l"/>
            <a:r>
              <a:rPr sz="1300" b="1">
                <a:solidFill>
                  <a:srgbClr val="F2F7FD"/>
                </a:solidFill>
                <a:latin typeface="Calibri"/>
              </a:rPr>
              <a:t>Patient + vitals + department</a:t>
            </a:r>
          </a:p>
        </p:txBody>
      </p:sp>
      <p:sp>
        <p:nvSpPr>
          <p:cNvPr id="12" name="Rounded Rectangle 11"/>
          <p:cNvSpPr/>
          <p:nvPr/>
        </p:nvSpPr>
        <p:spPr>
          <a:xfrm>
            <a:off x="7680960" y="2834639"/>
            <a:ext cx="3794760" cy="1024128"/>
          </a:xfrm>
          <a:prstGeom prst="roundRect">
            <a:avLst/>
          </a:prstGeom>
          <a:solidFill>
            <a:srgbClr val="1724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2990087"/>
            <a:ext cx="1417320" cy="411480"/>
          </a:xfrm>
          <a:prstGeom prst="rect">
            <a:avLst/>
          </a:prstGeom>
          <a:noFill/>
        </p:spPr>
        <p:txBody>
          <a:bodyPr wrap="none" lIns="36576" rIns="36576" tIns="36576" bIns="36576" anchor="t">
            <a:spAutoFit/>
          </a:bodyPr>
          <a:lstStyle/>
          <a:p>
            <a:pPr algn="l"/>
            <a:r>
              <a:rPr sz="2500" b="1">
                <a:solidFill>
                  <a:srgbClr val="10B981"/>
                </a:solidFill>
                <a:latin typeface="Calibri"/>
              </a:rPr>
              <a:t>Output</a:t>
            </a:r>
          </a:p>
        </p:txBody>
      </p:sp>
      <p:sp>
        <p:nvSpPr>
          <p:cNvPr id="14" name="TextBox 13"/>
          <p:cNvSpPr txBox="1"/>
          <p:nvPr/>
        </p:nvSpPr>
        <p:spPr>
          <a:xfrm>
            <a:off x="9235440" y="3072383"/>
            <a:ext cx="1965960" cy="320040"/>
          </a:xfrm>
          <a:prstGeom prst="rect">
            <a:avLst/>
          </a:prstGeom>
          <a:noFill/>
        </p:spPr>
        <p:txBody>
          <a:bodyPr wrap="none" lIns="36576" rIns="36576" tIns="36576" bIns="36576" anchor="t">
            <a:spAutoFit/>
          </a:bodyPr>
          <a:lstStyle/>
          <a:p>
            <a:pPr algn="l"/>
            <a:r>
              <a:rPr sz="1300" b="1">
                <a:solidFill>
                  <a:srgbClr val="F2F7FD"/>
                </a:solidFill>
                <a:latin typeface="Calibri"/>
              </a:rPr>
              <a:t>Token + state + wait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111F"/>
        </a:solidFill>
        <a:effectLst/>
      </p:bgPr>
    </p:bg>
    <p:spTree>
      <p:nvGrpSpPr>
        <p:cNvPr id="1" name=""/>
        <p:cNvGrpSpPr/>
        <p:nvPr/>
      </p:nvGrpSpPr>
      <p:grpSpPr>
        <a:xfrm>
          <a:off x="0" y="0"/>
          <a:ext cx="0" cy="0"/>
          <a:chOff x="0" y="0"/>
          <a:chExt cx="0" cy="0"/>
        </a:xfrm>
      </p:grpSpPr>
      <p:sp>
        <p:nvSpPr>
          <p:cNvPr id="2" name="Oval 1"/>
          <p:cNvSpPr/>
          <p:nvPr/>
        </p:nvSpPr>
        <p:spPr>
          <a:xfrm>
            <a:off x="11064240" y="411480"/>
            <a:ext cx="411480" cy="41148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475720" y="292608"/>
            <a:ext cx="201168" cy="20116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4206240" cy="201168"/>
          </a:xfrm>
          <a:prstGeom prst="rect">
            <a:avLst/>
          </a:prstGeom>
          <a:noFill/>
        </p:spPr>
        <p:txBody>
          <a:bodyPr wrap="none" lIns="36576" rIns="36576" tIns="36576" bIns="36576" anchor="t">
            <a:spAutoFit/>
          </a:bodyPr>
          <a:lstStyle/>
          <a:p>
            <a:pPr algn="l"/>
            <a:r>
              <a:rPr sz="900" b="0">
                <a:solidFill>
                  <a:srgbClr val="9FB0C7"/>
                </a:solidFill>
                <a:latin typeface="Calibri"/>
              </a:rPr>
              <a:t>Objectives</a:t>
            </a:r>
          </a:p>
        </p:txBody>
      </p:sp>
      <p:sp>
        <p:nvSpPr>
          <p:cNvPr id="5" name="TextBox 4"/>
          <p:cNvSpPr txBox="1"/>
          <p:nvPr/>
        </p:nvSpPr>
        <p:spPr>
          <a:xfrm>
            <a:off x="11109960" y="6419088"/>
            <a:ext cx="502920" cy="228600"/>
          </a:xfrm>
          <a:prstGeom prst="rect">
            <a:avLst/>
          </a:prstGeom>
          <a:noFill/>
        </p:spPr>
        <p:txBody>
          <a:bodyPr wrap="none" lIns="36576" rIns="36576" tIns="36576" bIns="36576" anchor="t">
            <a:spAutoFit/>
          </a:bodyPr>
          <a:lstStyle/>
          <a:p>
            <a:pPr algn="r"/>
            <a:r>
              <a:rPr sz="900" b="0">
                <a:solidFill>
                  <a:srgbClr val="9FB0C7"/>
                </a:solidFill>
                <a:latin typeface="Calibri"/>
              </a:rPr>
              <a:t>11</a:t>
            </a:r>
          </a:p>
        </p:txBody>
      </p:sp>
      <p:sp>
        <p:nvSpPr>
          <p:cNvPr id="6" name="TextBox 5"/>
          <p:cNvSpPr txBox="1"/>
          <p:nvPr/>
        </p:nvSpPr>
        <p:spPr>
          <a:xfrm>
            <a:off x="548640" y="384048"/>
            <a:ext cx="5486400" cy="228600"/>
          </a:xfrm>
          <a:prstGeom prst="rect">
            <a:avLst/>
          </a:prstGeom>
          <a:noFill/>
        </p:spPr>
        <p:txBody>
          <a:bodyPr wrap="none" lIns="36576" rIns="36576" tIns="36576" bIns="36576" anchor="t">
            <a:spAutoFit/>
          </a:bodyPr>
          <a:lstStyle/>
          <a:p>
            <a:pPr algn="l"/>
            <a:r>
              <a:rPr sz="1000" b="1">
                <a:solidFill>
                  <a:srgbClr val="22D3EE"/>
                </a:solidFill>
                <a:latin typeface="Calibri"/>
              </a:rPr>
              <a:t>OBJECTIVES</a:t>
            </a:r>
          </a:p>
        </p:txBody>
      </p:sp>
      <p:sp>
        <p:nvSpPr>
          <p:cNvPr id="7" name="TextBox 6"/>
          <p:cNvSpPr txBox="1"/>
          <p:nvPr/>
        </p:nvSpPr>
        <p:spPr>
          <a:xfrm>
            <a:off x="548640" y="713232"/>
            <a:ext cx="10789920" cy="502920"/>
          </a:xfrm>
          <a:prstGeom prst="rect">
            <a:avLst/>
          </a:prstGeom>
          <a:noFill/>
        </p:spPr>
        <p:txBody>
          <a:bodyPr wrap="none" lIns="36576" rIns="36576" tIns="36576" bIns="36576" anchor="t">
            <a:spAutoFit/>
          </a:bodyPr>
          <a:lstStyle/>
          <a:p>
            <a:pPr algn="l"/>
            <a:r>
              <a:rPr sz="3000" b="1">
                <a:solidFill>
                  <a:srgbClr val="F2F7FD"/>
                </a:solidFill>
                <a:latin typeface="Cambria"/>
              </a:rPr>
              <a:t>Project Objectives</a:t>
            </a:r>
          </a:p>
        </p:txBody>
      </p:sp>
      <p:sp>
        <p:nvSpPr>
          <p:cNvPr id="8" name="TextBox 7"/>
          <p:cNvSpPr txBox="1"/>
          <p:nvPr/>
        </p:nvSpPr>
        <p:spPr>
          <a:xfrm>
            <a:off x="640080" y="1481328"/>
            <a:ext cx="6675120" cy="4480560"/>
          </a:xfrm>
          <a:prstGeom prst="rect">
            <a:avLst/>
          </a:prstGeom>
          <a:noFill/>
        </p:spPr>
        <p:txBody>
          <a:bodyPr wrap="square" lIns="73152" rIns="73152">
            <a:spAutoFit/>
          </a:bodyPr>
          <a:lstStyle/>
          <a:p>
            <a:pPr>
              <a:lnSpc>
                <a:spcPct val="108000"/>
              </a:lnSpc>
              <a:spcAft>
                <a:spcPts val="1000"/>
              </a:spcAft>
              <a:buChar char="•"/>
            </a:pPr>
            <a:r>
              <a:rPr sz="1600">
                <a:solidFill>
                  <a:srgbClr val="F2F7FD"/>
                </a:solidFill>
                <a:latin typeface="Calibri"/>
              </a:rPr>
              <a:t>Generate department tokens and priority-aware queues.</a:t>
            </a:r>
          </a:p>
          <a:p>
            <a:pPr>
              <a:lnSpc>
                <a:spcPct val="108000"/>
              </a:lnSpc>
              <a:spcAft>
                <a:spcPts val="1000"/>
              </a:spcAft>
              <a:buChar char="•"/>
            </a:pPr>
            <a:r>
              <a:rPr sz="1600">
                <a:solidFill>
                  <a:srgbClr val="F2F7FD"/>
                </a:solidFill>
                <a:latin typeface="Calibri"/>
              </a:rPr>
              <a:t>Track visit state and explicit department movement.</a:t>
            </a:r>
          </a:p>
          <a:p>
            <a:pPr>
              <a:lnSpc>
                <a:spcPct val="108000"/>
              </a:lnSpc>
              <a:spcAft>
                <a:spcPts val="1000"/>
              </a:spcAft>
              <a:buChar char="•"/>
            </a:pPr>
            <a:r>
              <a:rPr sz="1600">
                <a:solidFill>
                  <a:srgbClr val="F2F7FD"/>
                </a:solidFill>
                <a:latin typeface="Calibri"/>
              </a:rPr>
              <a:t>Coordinate laboratory orders and progress.</a:t>
            </a:r>
          </a:p>
          <a:p>
            <a:pPr>
              <a:lnSpc>
                <a:spcPct val="108000"/>
              </a:lnSpc>
              <a:spcAft>
                <a:spcPts val="1000"/>
              </a:spcAft>
              <a:buChar char="•"/>
            </a:pPr>
            <a:r>
              <a:rPr sz="1600">
                <a:solidFill>
                  <a:srgbClr val="F2F7FD"/>
                </a:solidFill>
                <a:latin typeface="Calibri"/>
              </a:rPr>
              <a:t>Expose ward and ICU capacity in real time.</a:t>
            </a:r>
          </a:p>
          <a:p>
            <a:pPr>
              <a:lnSpc>
                <a:spcPct val="108000"/>
              </a:lnSpc>
              <a:spcAft>
                <a:spcPts val="1000"/>
              </a:spcAft>
              <a:buChar char="•"/>
            </a:pPr>
            <a:r>
              <a:rPr sz="1600">
                <a:solidFill>
                  <a:srgbClr val="F2F7FD"/>
                </a:solidFill>
                <a:latin typeface="Calibri"/>
              </a:rPr>
              <a:t>Predict triage class and expected wait from documented features.</a:t>
            </a:r>
          </a:p>
          <a:p>
            <a:pPr>
              <a:lnSpc>
                <a:spcPct val="108000"/>
              </a:lnSpc>
              <a:spcAft>
                <a:spcPts val="1000"/>
              </a:spcAft>
              <a:buChar char="•"/>
            </a:pPr>
            <a:r>
              <a:rPr sz="1600">
                <a:solidFill>
                  <a:srgbClr val="F2F7FD"/>
                </a:solidFill>
                <a:latin typeface="Calibri"/>
              </a:rPr>
              <a:t>Provide role dashboards plus a public waiting board.</a:t>
            </a:r>
          </a:p>
        </p:txBody>
      </p:sp>
      <p:sp>
        <p:nvSpPr>
          <p:cNvPr id="9" name="Rounded Rectangle 8"/>
          <p:cNvSpPr/>
          <p:nvPr/>
        </p:nvSpPr>
        <p:spPr>
          <a:xfrm>
            <a:off x="7680960" y="1508760"/>
            <a:ext cx="3794760" cy="1024128"/>
          </a:xfrm>
          <a:prstGeom prst="roundRect">
            <a:avLst/>
          </a:prstGeom>
          <a:solidFill>
            <a:srgbClr val="17243B"/>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1664207"/>
            <a:ext cx="1417320" cy="411480"/>
          </a:xfrm>
          <a:prstGeom prst="rect">
            <a:avLst/>
          </a:prstGeom>
          <a:noFill/>
        </p:spPr>
        <p:txBody>
          <a:bodyPr wrap="none" lIns="36576" rIns="36576" tIns="36576" bIns="36576" anchor="t">
            <a:spAutoFit/>
          </a:bodyPr>
          <a:lstStyle/>
          <a:p>
            <a:pPr algn="l"/>
            <a:r>
              <a:rPr sz="2500" b="1">
                <a:solidFill>
                  <a:srgbClr val="22D3EE"/>
                </a:solidFill>
                <a:latin typeface="Calibri"/>
              </a:rPr>
              <a:t>6</a:t>
            </a:r>
          </a:p>
        </p:txBody>
      </p:sp>
      <p:sp>
        <p:nvSpPr>
          <p:cNvPr id="11" name="TextBox 10"/>
          <p:cNvSpPr txBox="1"/>
          <p:nvPr/>
        </p:nvSpPr>
        <p:spPr>
          <a:xfrm>
            <a:off x="9235440" y="1746504"/>
            <a:ext cx="1965960" cy="320040"/>
          </a:xfrm>
          <a:prstGeom prst="rect">
            <a:avLst/>
          </a:prstGeom>
          <a:noFill/>
        </p:spPr>
        <p:txBody>
          <a:bodyPr wrap="none" lIns="36576" rIns="36576" tIns="36576" bIns="36576" anchor="t">
            <a:spAutoFit/>
          </a:bodyPr>
          <a:lstStyle/>
          <a:p>
            <a:pPr algn="l"/>
            <a:r>
              <a:rPr sz="1300" b="1">
                <a:solidFill>
                  <a:srgbClr val="F2F7FD"/>
                </a:solidFill>
                <a:latin typeface="Calibri"/>
              </a:rPr>
              <a:t>Objectives</a:t>
            </a:r>
          </a:p>
        </p:txBody>
      </p:sp>
      <p:sp>
        <p:nvSpPr>
          <p:cNvPr id="12" name="Rounded Rectangle 11"/>
          <p:cNvSpPr/>
          <p:nvPr/>
        </p:nvSpPr>
        <p:spPr>
          <a:xfrm>
            <a:off x="7680960" y="2834639"/>
            <a:ext cx="3794760" cy="1024128"/>
          </a:xfrm>
          <a:prstGeom prst="roundRect">
            <a:avLst/>
          </a:prstGeom>
          <a:solidFill>
            <a:srgbClr val="1724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2990087"/>
            <a:ext cx="1417320" cy="411480"/>
          </a:xfrm>
          <a:prstGeom prst="rect">
            <a:avLst/>
          </a:prstGeom>
          <a:noFill/>
        </p:spPr>
        <p:txBody>
          <a:bodyPr wrap="none" lIns="36576" rIns="36576" tIns="36576" bIns="36576" anchor="t">
            <a:spAutoFit/>
          </a:bodyPr>
          <a:lstStyle/>
          <a:p>
            <a:pPr algn="l"/>
            <a:r>
              <a:rPr sz="2500" b="1">
                <a:solidFill>
                  <a:srgbClr val="F59E0B"/>
                </a:solidFill>
                <a:latin typeface="Calibri"/>
              </a:rPr>
              <a:t>0</a:t>
            </a:r>
          </a:p>
        </p:txBody>
      </p:sp>
      <p:sp>
        <p:nvSpPr>
          <p:cNvPr id="14" name="TextBox 13"/>
          <p:cNvSpPr txBox="1"/>
          <p:nvPr/>
        </p:nvSpPr>
        <p:spPr>
          <a:xfrm>
            <a:off x="9235440" y="3072383"/>
            <a:ext cx="1965960" cy="320040"/>
          </a:xfrm>
          <a:prstGeom prst="rect">
            <a:avLst/>
          </a:prstGeom>
          <a:noFill/>
        </p:spPr>
        <p:txBody>
          <a:bodyPr wrap="none" lIns="36576" rIns="36576" tIns="36576" bIns="36576" anchor="t">
            <a:spAutoFit/>
          </a:bodyPr>
          <a:lstStyle/>
          <a:p>
            <a:pPr algn="l"/>
            <a:r>
              <a:rPr sz="1300" b="1">
                <a:solidFill>
                  <a:srgbClr val="F2F7FD"/>
                </a:solidFill>
                <a:latin typeface="Calibri"/>
              </a:rPr>
              <a:t>Clinical claims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111F"/>
        </a:solidFill>
        <a:effectLst/>
      </p:bgPr>
    </p:bg>
    <p:spTree>
      <p:nvGrpSpPr>
        <p:cNvPr id="1" name=""/>
        <p:cNvGrpSpPr/>
        <p:nvPr/>
      </p:nvGrpSpPr>
      <p:grpSpPr>
        <a:xfrm>
          <a:off x="0" y="0"/>
          <a:ext cx="0" cy="0"/>
          <a:chOff x="0" y="0"/>
          <a:chExt cx="0" cy="0"/>
        </a:xfrm>
      </p:grpSpPr>
      <p:sp>
        <p:nvSpPr>
          <p:cNvPr id="2" name="Oval 1"/>
          <p:cNvSpPr/>
          <p:nvPr/>
        </p:nvSpPr>
        <p:spPr>
          <a:xfrm>
            <a:off x="11064240" y="411480"/>
            <a:ext cx="411480" cy="41148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475720" y="292608"/>
            <a:ext cx="201168" cy="20116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4206240" cy="201168"/>
          </a:xfrm>
          <a:prstGeom prst="rect">
            <a:avLst/>
          </a:prstGeom>
          <a:noFill/>
        </p:spPr>
        <p:txBody>
          <a:bodyPr wrap="none" lIns="36576" rIns="36576" tIns="36576" bIns="36576" anchor="t">
            <a:spAutoFit/>
          </a:bodyPr>
          <a:lstStyle/>
          <a:p>
            <a:pPr algn="l"/>
            <a:r>
              <a:rPr sz="900" b="0">
                <a:solidFill>
                  <a:srgbClr val="9FB0C7"/>
                </a:solidFill>
                <a:latin typeface="Calibri"/>
              </a:rPr>
              <a:t>Approach</a:t>
            </a:r>
          </a:p>
        </p:txBody>
      </p:sp>
      <p:sp>
        <p:nvSpPr>
          <p:cNvPr id="5" name="TextBox 4"/>
          <p:cNvSpPr txBox="1"/>
          <p:nvPr/>
        </p:nvSpPr>
        <p:spPr>
          <a:xfrm>
            <a:off x="11109960" y="6419088"/>
            <a:ext cx="502920" cy="228600"/>
          </a:xfrm>
          <a:prstGeom prst="rect">
            <a:avLst/>
          </a:prstGeom>
          <a:noFill/>
        </p:spPr>
        <p:txBody>
          <a:bodyPr wrap="none" lIns="36576" rIns="36576" tIns="36576" bIns="36576" anchor="t">
            <a:spAutoFit/>
          </a:bodyPr>
          <a:lstStyle/>
          <a:p>
            <a:pPr algn="r"/>
            <a:r>
              <a:rPr sz="900" b="0">
                <a:solidFill>
                  <a:srgbClr val="9FB0C7"/>
                </a:solidFill>
                <a:latin typeface="Calibri"/>
              </a:rPr>
              <a:t>12</a:t>
            </a:r>
          </a:p>
        </p:txBody>
      </p:sp>
      <p:sp>
        <p:nvSpPr>
          <p:cNvPr id="6" name="TextBox 5"/>
          <p:cNvSpPr txBox="1"/>
          <p:nvPr/>
        </p:nvSpPr>
        <p:spPr>
          <a:xfrm>
            <a:off x="548640" y="384048"/>
            <a:ext cx="5486400" cy="228600"/>
          </a:xfrm>
          <a:prstGeom prst="rect">
            <a:avLst/>
          </a:prstGeom>
          <a:noFill/>
        </p:spPr>
        <p:txBody>
          <a:bodyPr wrap="none" lIns="36576" rIns="36576" tIns="36576" bIns="36576" anchor="t">
            <a:spAutoFit/>
          </a:bodyPr>
          <a:lstStyle/>
          <a:p>
            <a:pPr algn="l"/>
            <a:r>
              <a:rPr sz="1000" b="1">
                <a:solidFill>
                  <a:srgbClr val="22D3EE"/>
                </a:solidFill>
                <a:latin typeface="Calibri"/>
              </a:rPr>
              <a:t>APPROACH</a:t>
            </a:r>
          </a:p>
        </p:txBody>
      </p:sp>
      <p:sp>
        <p:nvSpPr>
          <p:cNvPr id="7" name="TextBox 6"/>
          <p:cNvSpPr txBox="1"/>
          <p:nvPr/>
        </p:nvSpPr>
        <p:spPr>
          <a:xfrm>
            <a:off x="548640" y="713232"/>
            <a:ext cx="10789920" cy="502920"/>
          </a:xfrm>
          <a:prstGeom prst="rect">
            <a:avLst/>
          </a:prstGeom>
          <a:noFill/>
        </p:spPr>
        <p:txBody>
          <a:bodyPr wrap="none" lIns="36576" rIns="36576" tIns="36576" bIns="36576" anchor="t">
            <a:spAutoFit/>
          </a:bodyPr>
          <a:lstStyle/>
          <a:p>
            <a:pPr algn="l"/>
            <a:r>
              <a:rPr sz="3000" b="1">
                <a:solidFill>
                  <a:srgbClr val="F2F7FD"/>
                </a:solidFill>
                <a:latin typeface="Cambria"/>
              </a:rPr>
              <a:t>Proposed Approach</a:t>
            </a:r>
          </a:p>
        </p:txBody>
      </p:sp>
      <p:sp>
        <p:nvSpPr>
          <p:cNvPr id="8" name="Rounded Rectangle 7"/>
          <p:cNvSpPr/>
          <p:nvPr/>
        </p:nvSpPr>
        <p:spPr>
          <a:xfrm>
            <a:off x="594360" y="1417320"/>
            <a:ext cx="6995160" cy="4663440"/>
          </a:xfrm>
          <a:prstGeom prst="roundRect">
            <a:avLst/>
          </a:prstGeom>
          <a:solidFill>
            <a:srgbClr val="111C31"/>
          </a:solidFill>
          <a:ln w="12700">
            <a:solidFill>
              <a:srgbClr val="263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2_high_level_workflow.png"/>
          <p:cNvPicPr>
            <a:picLocks noChangeAspect="1"/>
          </p:cNvPicPr>
          <p:nvPr/>
        </p:nvPicPr>
        <p:blipFill>
          <a:blip r:embed="rId8"/>
          <a:stretch>
            <a:fillRect/>
          </a:stretch>
        </p:blipFill>
        <p:spPr>
          <a:xfrm>
            <a:off x="777240" y="1600200"/>
            <a:ext cx="6629400" cy="3931920"/>
          </a:xfrm>
          <a:prstGeom prst="rect">
            <a:avLst/>
          </a:prstGeom>
        </p:spPr>
      </p:pic>
      <p:sp>
        <p:nvSpPr>
          <p:cNvPr id="10" name="TextBox 9"/>
          <p:cNvSpPr txBox="1"/>
          <p:nvPr/>
        </p:nvSpPr>
        <p:spPr>
          <a:xfrm>
            <a:off x="822960" y="5623560"/>
            <a:ext cx="6492240" cy="228600"/>
          </a:xfrm>
          <a:prstGeom prst="rect">
            <a:avLst/>
          </a:prstGeom>
          <a:noFill/>
        </p:spPr>
        <p:txBody>
          <a:bodyPr wrap="none" lIns="36576" rIns="36576" tIns="36576" bIns="36576" anchor="t">
            <a:spAutoFit/>
          </a:bodyPr>
          <a:lstStyle/>
          <a:p>
            <a:pPr algn="ctr"/>
            <a:r>
              <a:rPr sz="1000" b="0">
                <a:solidFill>
                  <a:srgbClr val="9FB0C7"/>
                </a:solidFill>
                <a:latin typeface="Calibri"/>
              </a:rPr>
              <a:t>Figure: end-to-end workflow</a:t>
            </a:r>
          </a:p>
        </p:txBody>
      </p:sp>
      <p:sp>
        <p:nvSpPr>
          <p:cNvPr id="11" name="Rounded Rectangle 10"/>
          <p:cNvSpPr/>
          <p:nvPr/>
        </p:nvSpPr>
        <p:spPr>
          <a:xfrm>
            <a:off x="7818120" y="1417320"/>
            <a:ext cx="3749039" cy="4663440"/>
          </a:xfrm>
          <a:prstGeom prst="roundRect">
            <a:avLst/>
          </a:prstGeom>
          <a:solidFill>
            <a:srgbClr val="17243B"/>
          </a:solidFill>
          <a:ln w="12700">
            <a:solidFill>
              <a:srgbClr val="263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65008" y="1737360"/>
            <a:ext cx="3246120" cy="3840480"/>
          </a:xfrm>
          <a:prstGeom prst="rect">
            <a:avLst/>
          </a:prstGeom>
          <a:noFill/>
        </p:spPr>
        <p:txBody>
          <a:bodyPr wrap="square" lIns="73152" rIns="73152">
            <a:spAutoFit/>
          </a:bodyPr>
          <a:lstStyle/>
          <a:p>
            <a:pPr>
              <a:lnSpc>
                <a:spcPct val="108000"/>
              </a:lnSpc>
              <a:spcAft>
                <a:spcPts val="1000"/>
              </a:spcAft>
              <a:buChar char="•"/>
            </a:pPr>
            <a:r>
              <a:rPr sz="1400">
                <a:solidFill>
                  <a:srgbClr val="F2F7FD"/>
                </a:solidFill>
                <a:latin typeface="Calibri"/>
              </a:rPr>
              <a:t>Register</a:t>
            </a:r>
          </a:p>
          <a:p>
            <a:pPr>
              <a:lnSpc>
                <a:spcPct val="108000"/>
              </a:lnSpc>
              <a:spcAft>
                <a:spcPts val="1000"/>
              </a:spcAft>
              <a:buChar char="•"/>
            </a:pPr>
            <a:r>
              <a:rPr sz="1400">
                <a:solidFill>
                  <a:srgbClr val="F2F7FD"/>
                </a:solidFill>
                <a:latin typeface="Calibri"/>
              </a:rPr>
              <a:t>Predict</a:t>
            </a:r>
          </a:p>
          <a:p>
            <a:pPr>
              <a:lnSpc>
                <a:spcPct val="108000"/>
              </a:lnSpc>
              <a:spcAft>
                <a:spcPts val="1000"/>
              </a:spcAft>
              <a:buChar char="•"/>
            </a:pPr>
            <a:r>
              <a:rPr sz="1400">
                <a:solidFill>
                  <a:srgbClr val="F2F7FD"/>
                </a:solidFill>
                <a:latin typeface="Calibri"/>
              </a:rPr>
              <a:t>Queue</a:t>
            </a:r>
          </a:p>
          <a:p>
            <a:pPr>
              <a:lnSpc>
                <a:spcPct val="108000"/>
              </a:lnSpc>
              <a:spcAft>
                <a:spcPts val="1000"/>
              </a:spcAft>
              <a:buChar char="•"/>
            </a:pPr>
            <a:r>
              <a:rPr sz="1400">
                <a:solidFill>
                  <a:srgbClr val="F2F7FD"/>
                </a:solidFill>
                <a:latin typeface="Calibri"/>
              </a:rPr>
              <a:t>Consult</a:t>
            </a:r>
          </a:p>
          <a:p>
            <a:pPr>
              <a:lnSpc>
                <a:spcPct val="108000"/>
              </a:lnSpc>
              <a:spcAft>
                <a:spcPts val="1000"/>
              </a:spcAft>
              <a:buChar char="•"/>
            </a:pPr>
            <a:r>
              <a:rPr sz="1400">
                <a:solidFill>
                  <a:srgbClr val="F2F7FD"/>
                </a:solidFill>
                <a:latin typeface="Calibri"/>
              </a:rPr>
              <a:t>Route</a:t>
            </a:r>
          </a:p>
          <a:p>
            <a:pPr>
              <a:lnSpc>
                <a:spcPct val="108000"/>
              </a:lnSpc>
              <a:spcAft>
                <a:spcPts val="1000"/>
              </a:spcAft>
              <a:buChar char="•"/>
            </a:pPr>
            <a:r>
              <a:rPr sz="1400">
                <a:solidFill>
                  <a:srgbClr val="F2F7FD"/>
                </a:solidFill>
                <a:latin typeface="Calibri"/>
              </a:rPr>
              <a:t>Close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111F"/>
        </a:solidFill>
        <a:effectLst/>
      </p:bgPr>
    </p:bg>
    <p:spTree>
      <p:nvGrpSpPr>
        <p:cNvPr id="1" name=""/>
        <p:cNvGrpSpPr/>
        <p:nvPr/>
      </p:nvGrpSpPr>
      <p:grpSpPr>
        <a:xfrm>
          <a:off x="0" y="0"/>
          <a:ext cx="0" cy="0"/>
          <a:chOff x="0" y="0"/>
          <a:chExt cx="0" cy="0"/>
        </a:xfrm>
      </p:grpSpPr>
      <p:sp>
        <p:nvSpPr>
          <p:cNvPr id="2" name="Oval 1"/>
          <p:cNvSpPr/>
          <p:nvPr/>
        </p:nvSpPr>
        <p:spPr>
          <a:xfrm>
            <a:off x="11064240" y="411480"/>
            <a:ext cx="411480" cy="41148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475720" y="292608"/>
            <a:ext cx="201168" cy="20116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4206240" cy="201168"/>
          </a:xfrm>
          <a:prstGeom prst="rect">
            <a:avLst/>
          </a:prstGeom>
          <a:noFill/>
        </p:spPr>
        <p:txBody>
          <a:bodyPr wrap="none" lIns="36576" rIns="36576" tIns="36576" bIns="36576" anchor="t">
            <a:spAutoFit/>
          </a:bodyPr>
          <a:lstStyle/>
          <a:p>
            <a:pPr algn="l"/>
            <a:r>
              <a:rPr sz="900" b="0">
                <a:solidFill>
                  <a:srgbClr val="9FB0C7"/>
                </a:solidFill>
                <a:latin typeface="Calibri"/>
              </a:rPr>
              <a:t>Design</a:t>
            </a:r>
          </a:p>
        </p:txBody>
      </p:sp>
      <p:sp>
        <p:nvSpPr>
          <p:cNvPr id="5" name="TextBox 4"/>
          <p:cNvSpPr txBox="1"/>
          <p:nvPr/>
        </p:nvSpPr>
        <p:spPr>
          <a:xfrm>
            <a:off x="11109960" y="6419088"/>
            <a:ext cx="502920" cy="228600"/>
          </a:xfrm>
          <a:prstGeom prst="rect">
            <a:avLst/>
          </a:prstGeom>
          <a:noFill/>
        </p:spPr>
        <p:txBody>
          <a:bodyPr wrap="none" lIns="36576" rIns="36576" tIns="36576" bIns="36576" anchor="t">
            <a:spAutoFit/>
          </a:bodyPr>
          <a:lstStyle/>
          <a:p>
            <a:pPr algn="r"/>
            <a:r>
              <a:rPr sz="900" b="0">
                <a:solidFill>
                  <a:srgbClr val="9FB0C7"/>
                </a:solidFill>
                <a:latin typeface="Calibri"/>
              </a:rPr>
              <a:t>13</a:t>
            </a:r>
          </a:p>
        </p:txBody>
      </p:sp>
      <p:sp>
        <p:nvSpPr>
          <p:cNvPr id="6" name="TextBox 5"/>
          <p:cNvSpPr txBox="1"/>
          <p:nvPr/>
        </p:nvSpPr>
        <p:spPr>
          <a:xfrm>
            <a:off x="548640" y="384048"/>
            <a:ext cx="5486400" cy="228600"/>
          </a:xfrm>
          <a:prstGeom prst="rect">
            <a:avLst/>
          </a:prstGeom>
          <a:noFill/>
        </p:spPr>
        <p:txBody>
          <a:bodyPr wrap="none" lIns="36576" rIns="36576" tIns="36576" bIns="36576" anchor="t">
            <a:spAutoFit/>
          </a:bodyPr>
          <a:lstStyle/>
          <a:p>
            <a:pPr algn="l"/>
            <a:r>
              <a:rPr sz="1000" b="1">
                <a:solidFill>
                  <a:srgbClr val="22D3EE"/>
                </a:solidFill>
                <a:latin typeface="Calibri"/>
              </a:rPr>
              <a:t>DESIGN</a:t>
            </a:r>
          </a:p>
        </p:txBody>
      </p:sp>
      <p:sp>
        <p:nvSpPr>
          <p:cNvPr id="7" name="TextBox 6"/>
          <p:cNvSpPr txBox="1"/>
          <p:nvPr/>
        </p:nvSpPr>
        <p:spPr>
          <a:xfrm>
            <a:off x="548640" y="713232"/>
            <a:ext cx="10789920" cy="502920"/>
          </a:xfrm>
          <a:prstGeom prst="rect">
            <a:avLst/>
          </a:prstGeom>
          <a:noFill/>
        </p:spPr>
        <p:txBody>
          <a:bodyPr wrap="none" lIns="36576" rIns="36576" tIns="36576" bIns="36576" anchor="t">
            <a:spAutoFit/>
          </a:bodyPr>
          <a:lstStyle/>
          <a:p>
            <a:pPr algn="l"/>
            <a:r>
              <a:rPr sz="3000" b="1">
                <a:solidFill>
                  <a:srgbClr val="F2F7FD"/>
                </a:solidFill>
                <a:latin typeface="Cambria"/>
              </a:rPr>
              <a:t>System Architecture</a:t>
            </a:r>
          </a:p>
        </p:txBody>
      </p:sp>
      <p:sp>
        <p:nvSpPr>
          <p:cNvPr id="8" name="Rounded Rectangle 7"/>
          <p:cNvSpPr/>
          <p:nvPr/>
        </p:nvSpPr>
        <p:spPr>
          <a:xfrm>
            <a:off x="594360" y="1371600"/>
            <a:ext cx="10972800" cy="4773168"/>
          </a:xfrm>
          <a:prstGeom prst="roundRect">
            <a:avLst/>
          </a:prstGeom>
          <a:solidFill>
            <a:srgbClr val="111C31"/>
          </a:solidFill>
          <a:ln w="12700">
            <a:solidFill>
              <a:srgbClr val="263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1_system_architecture.png"/>
          <p:cNvPicPr>
            <a:picLocks noChangeAspect="1"/>
          </p:cNvPicPr>
          <p:nvPr/>
        </p:nvPicPr>
        <p:blipFill>
          <a:blip r:embed="rId4"/>
          <a:stretch>
            <a:fillRect/>
          </a:stretch>
        </p:blipFill>
        <p:spPr>
          <a:xfrm>
            <a:off x="822960" y="1572768"/>
            <a:ext cx="10515600" cy="4160520"/>
          </a:xfrm>
          <a:prstGeom prst="rect">
            <a:avLst/>
          </a:prstGeom>
        </p:spPr>
      </p:pic>
      <p:sp>
        <p:nvSpPr>
          <p:cNvPr id="10" name="TextBox 9"/>
          <p:cNvSpPr txBox="1"/>
          <p:nvPr/>
        </p:nvSpPr>
        <p:spPr>
          <a:xfrm>
            <a:off x="914400" y="5742432"/>
            <a:ext cx="10287000" cy="219456"/>
          </a:xfrm>
          <a:prstGeom prst="rect">
            <a:avLst/>
          </a:prstGeom>
          <a:noFill/>
        </p:spPr>
        <p:txBody>
          <a:bodyPr wrap="none" lIns="36576" rIns="36576" tIns="36576" bIns="36576" anchor="t">
            <a:spAutoFit/>
          </a:bodyPr>
          <a:lstStyle/>
          <a:p>
            <a:pPr algn="ctr"/>
            <a:r>
              <a:rPr sz="1000" b="0">
                <a:solidFill>
                  <a:srgbClr val="9FB0C7"/>
                </a:solidFill>
                <a:latin typeface="Calibri"/>
              </a:rPr>
              <a:t>Figure: implemented application architecture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111F"/>
        </a:solidFill>
        <a:effectLst/>
      </p:bgPr>
    </p:bg>
    <p:spTree>
      <p:nvGrpSpPr>
        <p:cNvPr id="1" name=""/>
        <p:cNvGrpSpPr/>
        <p:nvPr/>
      </p:nvGrpSpPr>
      <p:grpSpPr>
        <a:xfrm>
          <a:off x="0" y="0"/>
          <a:ext cx="0" cy="0"/>
          <a:chOff x="0" y="0"/>
          <a:chExt cx="0" cy="0"/>
        </a:xfrm>
      </p:grpSpPr>
      <p:sp>
        <p:nvSpPr>
          <p:cNvPr id="2" name="Oval 1"/>
          <p:cNvSpPr/>
          <p:nvPr/>
        </p:nvSpPr>
        <p:spPr>
          <a:xfrm>
            <a:off x="11064240" y="411480"/>
            <a:ext cx="411480" cy="41148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475720" y="292608"/>
            <a:ext cx="201168" cy="20116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4206240" cy="201168"/>
          </a:xfrm>
          <a:prstGeom prst="rect">
            <a:avLst/>
          </a:prstGeom>
          <a:noFill/>
        </p:spPr>
        <p:txBody>
          <a:bodyPr wrap="none" lIns="36576" rIns="36576" tIns="36576" bIns="36576" anchor="t">
            <a:spAutoFit/>
          </a:bodyPr>
          <a:lstStyle/>
          <a:p>
            <a:pPr algn="l"/>
            <a:r>
              <a:rPr sz="900" b="0">
                <a:solidFill>
                  <a:srgbClr val="9FB0C7"/>
                </a:solidFill>
                <a:latin typeface="Calibri"/>
              </a:rPr>
              <a:t>Outcomes</a:t>
            </a:r>
          </a:p>
        </p:txBody>
      </p:sp>
      <p:sp>
        <p:nvSpPr>
          <p:cNvPr id="5" name="TextBox 4"/>
          <p:cNvSpPr txBox="1"/>
          <p:nvPr/>
        </p:nvSpPr>
        <p:spPr>
          <a:xfrm>
            <a:off x="11109960" y="6419088"/>
            <a:ext cx="502920" cy="228600"/>
          </a:xfrm>
          <a:prstGeom prst="rect">
            <a:avLst/>
          </a:prstGeom>
          <a:noFill/>
        </p:spPr>
        <p:txBody>
          <a:bodyPr wrap="none" lIns="36576" rIns="36576" tIns="36576" bIns="36576" anchor="t">
            <a:spAutoFit/>
          </a:bodyPr>
          <a:lstStyle/>
          <a:p>
            <a:pPr algn="r"/>
            <a:r>
              <a:rPr sz="900" b="0">
                <a:solidFill>
                  <a:srgbClr val="9FB0C7"/>
                </a:solidFill>
                <a:latin typeface="Calibri"/>
              </a:rPr>
              <a:t>14</a:t>
            </a:r>
          </a:p>
        </p:txBody>
      </p:sp>
      <p:sp>
        <p:nvSpPr>
          <p:cNvPr id="6" name="TextBox 5"/>
          <p:cNvSpPr txBox="1"/>
          <p:nvPr/>
        </p:nvSpPr>
        <p:spPr>
          <a:xfrm>
            <a:off x="548640" y="384048"/>
            <a:ext cx="5486400" cy="228600"/>
          </a:xfrm>
          <a:prstGeom prst="rect">
            <a:avLst/>
          </a:prstGeom>
          <a:noFill/>
        </p:spPr>
        <p:txBody>
          <a:bodyPr wrap="none" lIns="36576" rIns="36576" tIns="36576" bIns="36576" anchor="t">
            <a:spAutoFit/>
          </a:bodyPr>
          <a:lstStyle/>
          <a:p>
            <a:pPr algn="l"/>
            <a:r>
              <a:rPr sz="1000" b="1">
                <a:solidFill>
                  <a:srgbClr val="22D3EE"/>
                </a:solidFill>
                <a:latin typeface="Calibri"/>
              </a:rPr>
              <a:t>OUTCOMES</a:t>
            </a:r>
          </a:p>
        </p:txBody>
      </p:sp>
      <p:sp>
        <p:nvSpPr>
          <p:cNvPr id="7" name="TextBox 6"/>
          <p:cNvSpPr txBox="1"/>
          <p:nvPr/>
        </p:nvSpPr>
        <p:spPr>
          <a:xfrm>
            <a:off x="548640" y="713232"/>
            <a:ext cx="10789920" cy="502920"/>
          </a:xfrm>
          <a:prstGeom prst="rect">
            <a:avLst/>
          </a:prstGeom>
          <a:noFill/>
        </p:spPr>
        <p:txBody>
          <a:bodyPr wrap="none" lIns="36576" rIns="36576" tIns="36576" bIns="36576" anchor="t">
            <a:spAutoFit/>
          </a:bodyPr>
          <a:lstStyle/>
          <a:p>
            <a:pPr algn="l"/>
            <a:r>
              <a:rPr sz="3000" b="1">
                <a:solidFill>
                  <a:srgbClr val="F2F7FD"/>
                </a:solidFill>
                <a:latin typeface="Cambria"/>
              </a:rPr>
              <a:t>Expected Outcomes and Contributions</a:t>
            </a:r>
          </a:p>
        </p:txBody>
      </p:sp>
      <p:sp>
        <p:nvSpPr>
          <p:cNvPr id="8" name="TextBox 7"/>
          <p:cNvSpPr txBox="1"/>
          <p:nvPr/>
        </p:nvSpPr>
        <p:spPr>
          <a:xfrm>
            <a:off x="640080" y="1481328"/>
            <a:ext cx="6675120" cy="4480560"/>
          </a:xfrm>
          <a:prstGeom prst="rect">
            <a:avLst/>
          </a:prstGeom>
          <a:noFill/>
        </p:spPr>
        <p:txBody>
          <a:bodyPr wrap="square" lIns="73152" rIns="73152">
            <a:spAutoFit/>
          </a:bodyPr>
          <a:lstStyle/>
          <a:p>
            <a:pPr>
              <a:lnSpc>
                <a:spcPct val="108000"/>
              </a:lnSpc>
              <a:spcAft>
                <a:spcPts val="1000"/>
              </a:spcAft>
              <a:buChar char="•"/>
            </a:pPr>
            <a:r>
              <a:rPr sz="1600">
                <a:solidFill>
                  <a:srgbClr val="F2F7FD"/>
                </a:solidFill>
                <a:latin typeface="Calibri"/>
              </a:rPr>
              <a:t>A working multi-role prototype with populated operational screens.</a:t>
            </a:r>
          </a:p>
          <a:p>
            <a:pPr>
              <a:lnSpc>
                <a:spcPct val="108000"/>
              </a:lnSpc>
              <a:spcAft>
                <a:spcPts val="1000"/>
              </a:spcAft>
              <a:buChar char="•"/>
            </a:pPr>
            <a:r>
              <a:rPr sz="1600">
                <a:solidFill>
                  <a:srgbClr val="F2F7FD"/>
                </a:solidFill>
                <a:latin typeface="Calibri"/>
              </a:rPr>
              <a:t>Reproducible synthetic model evaluation with class-specific reporting.</a:t>
            </a:r>
          </a:p>
          <a:p>
            <a:pPr>
              <a:lnSpc>
                <a:spcPct val="108000"/>
              </a:lnSpc>
              <a:spcAft>
                <a:spcPts val="1000"/>
              </a:spcAft>
              <a:buChar char="•"/>
            </a:pPr>
            <a:r>
              <a:rPr sz="1600">
                <a:solidFill>
                  <a:srgbClr val="F2F7FD"/>
                </a:solidFill>
                <a:latin typeface="Calibri"/>
              </a:rPr>
              <a:t>Auditable queue ordering and movement evidence.</a:t>
            </a:r>
          </a:p>
          <a:p>
            <a:pPr>
              <a:lnSpc>
                <a:spcPct val="108000"/>
              </a:lnSpc>
              <a:spcAft>
                <a:spcPts val="1000"/>
              </a:spcAft>
              <a:buChar char="•"/>
            </a:pPr>
            <a:r>
              <a:rPr sz="1600">
                <a:solidFill>
                  <a:srgbClr val="F2F7FD"/>
                </a:solidFill>
                <a:latin typeface="Calibri"/>
              </a:rPr>
              <a:t>Measured local API availability and latency.</a:t>
            </a:r>
          </a:p>
          <a:p>
            <a:pPr>
              <a:lnSpc>
                <a:spcPct val="108000"/>
              </a:lnSpc>
              <a:spcAft>
                <a:spcPts val="1000"/>
              </a:spcAft>
              <a:buChar char="•"/>
            </a:pPr>
            <a:r>
              <a:rPr sz="1600">
                <a:solidFill>
                  <a:srgbClr val="F2F7FD"/>
                </a:solidFill>
                <a:latin typeface="Calibri"/>
              </a:rPr>
              <a:t>A clear list of unmeasured outcomes and production gaps.</a:t>
            </a:r>
          </a:p>
        </p:txBody>
      </p:sp>
      <p:sp>
        <p:nvSpPr>
          <p:cNvPr id="9" name="Rounded Rectangle 8"/>
          <p:cNvSpPr/>
          <p:nvPr/>
        </p:nvSpPr>
        <p:spPr>
          <a:xfrm>
            <a:off x="7680960" y="1508760"/>
            <a:ext cx="3794760" cy="1024128"/>
          </a:xfrm>
          <a:prstGeom prst="roundRect">
            <a:avLst/>
          </a:prstGeom>
          <a:solidFill>
            <a:srgbClr val="1724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1664207"/>
            <a:ext cx="1417320" cy="411480"/>
          </a:xfrm>
          <a:prstGeom prst="rect">
            <a:avLst/>
          </a:prstGeom>
          <a:noFill/>
        </p:spPr>
        <p:txBody>
          <a:bodyPr wrap="none" lIns="36576" rIns="36576" tIns="36576" bIns="36576" anchor="t">
            <a:spAutoFit/>
          </a:bodyPr>
          <a:lstStyle/>
          <a:p>
            <a:pPr algn="l"/>
            <a:r>
              <a:rPr sz="2500" b="1">
                <a:solidFill>
                  <a:srgbClr val="10B981"/>
                </a:solidFill>
                <a:latin typeface="Calibri"/>
              </a:rPr>
              <a:t>150/150</a:t>
            </a:r>
          </a:p>
        </p:txBody>
      </p:sp>
      <p:sp>
        <p:nvSpPr>
          <p:cNvPr id="11" name="TextBox 10"/>
          <p:cNvSpPr txBox="1"/>
          <p:nvPr/>
        </p:nvSpPr>
        <p:spPr>
          <a:xfrm>
            <a:off x="9235440" y="1746504"/>
            <a:ext cx="1965960" cy="320040"/>
          </a:xfrm>
          <a:prstGeom prst="rect">
            <a:avLst/>
          </a:prstGeom>
          <a:noFill/>
        </p:spPr>
        <p:txBody>
          <a:bodyPr wrap="none" lIns="36576" rIns="36576" tIns="36576" bIns="36576" anchor="t">
            <a:spAutoFit/>
          </a:bodyPr>
          <a:lstStyle/>
          <a:p>
            <a:pPr algn="l"/>
            <a:r>
              <a:rPr sz="1300" b="1">
                <a:solidFill>
                  <a:srgbClr val="F2F7FD"/>
                </a:solidFill>
                <a:latin typeface="Calibri"/>
              </a:rPr>
              <a:t>Read smoke requests</a:t>
            </a:r>
          </a:p>
        </p:txBody>
      </p:sp>
      <p:sp>
        <p:nvSpPr>
          <p:cNvPr id="12" name="Rounded Rectangle 11"/>
          <p:cNvSpPr/>
          <p:nvPr/>
        </p:nvSpPr>
        <p:spPr>
          <a:xfrm>
            <a:off x="7680960" y="2834639"/>
            <a:ext cx="3794760" cy="1024128"/>
          </a:xfrm>
          <a:prstGeom prst="roundRect">
            <a:avLst/>
          </a:prstGeom>
          <a:solidFill>
            <a:srgbClr val="17243B"/>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2990087"/>
            <a:ext cx="1417320" cy="411480"/>
          </a:xfrm>
          <a:prstGeom prst="rect">
            <a:avLst/>
          </a:prstGeom>
          <a:noFill/>
        </p:spPr>
        <p:txBody>
          <a:bodyPr wrap="none" lIns="36576" rIns="36576" tIns="36576" bIns="36576" anchor="t">
            <a:spAutoFit/>
          </a:bodyPr>
          <a:lstStyle/>
          <a:p>
            <a:pPr algn="l"/>
            <a:r>
              <a:rPr sz="2500" b="1">
                <a:solidFill>
                  <a:srgbClr val="22D3EE"/>
                </a:solidFill>
                <a:latin typeface="Calibri"/>
              </a:rPr>
              <a:t>13</a:t>
            </a:r>
          </a:p>
        </p:txBody>
      </p:sp>
      <p:sp>
        <p:nvSpPr>
          <p:cNvPr id="14" name="TextBox 13"/>
          <p:cNvSpPr txBox="1"/>
          <p:nvPr/>
        </p:nvSpPr>
        <p:spPr>
          <a:xfrm>
            <a:off x="9235440" y="3072383"/>
            <a:ext cx="1965960" cy="320040"/>
          </a:xfrm>
          <a:prstGeom prst="rect">
            <a:avLst/>
          </a:prstGeom>
          <a:noFill/>
        </p:spPr>
        <p:txBody>
          <a:bodyPr wrap="none" lIns="36576" rIns="36576" tIns="36576" bIns="36576" anchor="t">
            <a:spAutoFit/>
          </a:bodyPr>
          <a:lstStyle/>
          <a:p>
            <a:pPr algn="l"/>
            <a:r>
              <a:rPr sz="1300" b="1">
                <a:solidFill>
                  <a:srgbClr val="F2F7FD"/>
                </a:solidFill>
                <a:latin typeface="Calibri"/>
              </a:rPr>
              <a:t>Real screenshots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111F"/>
        </a:solidFill>
        <a:effectLst/>
      </p:bgPr>
    </p:bg>
    <p:spTree>
      <p:nvGrpSpPr>
        <p:cNvPr id="1" name=""/>
        <p:cNvGrpSpPr/>
        <p:nvPr/>
      </p:nvGrpSpPr>
      <p:grpSpPr>
        <a:xfrm>
          <a:off x="0" y="0"/>
          <a:ext cx="0" cy="0"/>
          <a:chOff x="0" y="0"/>
          <a:chExt cx="0" cy="0"/>
        </a:xfrm>
      </p:grpSpPr>
      <p:sp>
        <p:nvSpPr>
          <p:cNvPr id="2" name="Oval 1"/>
          <p:cNvSpPr/>
          <p:nvPr/>
        </p:nvSpPr>
        <p:spPr>
          <a:xfrm>
            <a:off x="11064240" y="411480"/>
            <a:ext cx="411480" cy="41148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475720" y="292608"/>
            <a:ext cx="201168" cy="20116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4206240" cy="201168"/>
          </a:xfrm>
          <a:prstGeom prst="rect">
            <a:avLst/>
          </a:prstGeom>
          <a:noFill/>
        </p:spPr>
        <p:txBody>
          <a:bodyPr wrap="none" lIns="36576" rIns="36576" tIns="36576" bIns="36576" anchor="t">
            <a:spAutoFit/>
          </a:bodyPr>
          <a:lstStyle/>
          <a:p>
            <a:pPr algn="l"/>
            <a:r>
              <a:rPr sz="900" b="0">
                <a:solidFill>
                  <a:srgbClr val="9FB0C7"/>
                </a:solidFill>
                <a:latin typeface="Calibri"/>
              </a:rPr>
              <a:t>Research</a:t>
            </a:r>
          </a:p>
        </p:txBody>
      </p:sp>
      <p:sp>
        <p:nvSpPr>
          <p:cNvPr id="5" name="TextBox 4"/>
          <p:cNvSpPr txBox="1"/>
          <p:nvPr/>
        </p:nvSpPr>
        <p:spPr>
          <a:xfrm>
            <a:off x="11109960" y="6419088"/>
            <a:ext cx="502920" cy="228600"/>
          </a:xfrm>
          <a:prstGeom prst="rect">
            <a:avLst/>
          </a:prstGeom>
          <a:noFill/>
        </p:spPr>
        <p:txBody>
          <a:bodyPr wrap="none" lIns="36576" rIns="36576" tIns="36576" bIns="36576" anchor="t">
            <a:spAutoFit/>
          </a:bodyPr>
          <a:lstStyle/>
          <a:p>
            <a:pPr algn="r"/>
            <a:r>
              <a:rPr sz="900" b="0">
                <a:solidFill>
                  <a:srgbClr val="9FB0C7"/>
                </a:solidFill>
                <a:latin typeface="Calibri"/>
              </a:rPr>
              <a:t>15</a:t>
            </a:r>
          </a:p>
        </p:txBody>
      </p:sp>
      <p:sp>
        <p:nvSpPr>
          <p:cNvPr id="6" name="TextBox 5"/>
          <p:cNvSpPr txBox="1"/>
          <p:nvPr/>
        </p:nvSpPr>
        <p:spPr>
          <a:xfrm>
            <a:off x="548640" y="384048"/>
            <a:ext cx="5486400" cy="228600"/>
          </a:xfrm>
          <a:prstGeom prst="rect">
            <a:avLst/>
          </a:prstGeom>
          <a:noFill/>
        </p:spPr>
        <p:txBody>
          <a:bodyPr wrap="none" lIns="36576" rIns="36576" tIns="36576" bIns="36576" anchor="t">
            <a:spAutoFit/>
          </a:bodyPr>
          <a:lstStyle/>
          <a:p>
            <a:pPr algn="l"/>
            <a:r>
              <a:rPr sz="1000" b="1">
                <a:solidFill>
                  <a:srgbClr val="22D3EE"/>
                </a:solidFill>
                <a:latin typeface="Calibri"/>
              </a:rPr>
              <a:t>RESEARCH</a:t>
            </a:r>
          </a:p>
        </p:txBody>
      </p:sp>
      <p:sp>
        <p:nvSpPr>
          <p:cNvPr id="7" name="TextBox 6"/>
          <p:cNvSpPr txBox="1"/>
          <p:nvPr/>
        </p:nvSpPr>
        <p:spPr>
          <a:xfrm>
            <a:off x="548640" y="713232"/>
            <a:ext cx="10789920" cy="502920"/>
          </a:xfrm>
          <a:prstGeom prst="rect">
            <a:avLst/>
          </a:prstGeom>
          <a:noFill/>
        </p:spPr>
        <p:txBody>
          <a:bodyPr wrap="none" lIns="36576" rIns="36576" tIns="36576" bIns="36576" anchor="t">
            <a:spAutoFit/>
          </a:bodyPr>
          <a:lstStyle/>
          <a:p>
            <a:pPr algn="l"/>
            <a:r>
              <a:rPr sz="3000" b="1">
                <a:solidFill>
                  <a:srgbClr val="F2F7FD"/>
                </a:solidFill>
                <a:latin typeface="Cambria"/>
              </a:rPr>
              <a:t>References</a:t>
            </a:r>
          </a:p>
        </p:txBody>
      </p:sp>
      <p:sp>
        <p:nvSpPr>
          <p:cNvPr id="8" name="Rounded Rectangle 7"/>
          <p:cNvSpPr/>
          <p:nvPr/>
        </p:nvSpPr>
        <p:spPr>
          <a:xfrm>
            <a:off x="594360" y="1371600"/>
            <a:ext cx="10972800" cy="4846320"/>
          </a:xfrm>
          <a:prstGeom prst="roundRect">
            <a:avLst/>
          </a:prstGeom>
          <a:solidFill>
            <a:srgbClr val="111C31"/>
          </a:solidFill>
          <a:ln w="12700">
            <a:solidFill>
              <a:srgbClr val="263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627632"/>
            <a:ext cx="10469880" cy="4297680"/>
          </a:xfrm>
          <a:prstGeom prst="rect">
            <a:avLst/>
          </a:prstGeom>
          <a:noFill/>
        </p:spPr>
        <p:txBody>
          <a:bodyPr wrap="square" lIns="73152" rIns="73152">
            <a:spAutoFit/>
          </a:bodyPr>
          <a:lstStyle/>
          <a:p>
            <a:pPr>
              <a:lnSpc>
                <a:spcPct val="108000"/>
              </a:lnSpc>
              <a:spcAft>
                <a:spcPts val="1000"/>
              </a:spcAft>
              <a:buChar char="•"/>
            </a:pPr>
            <a:r>
              <a:rPr sz="1300">
                <a:solidFill>
                  <a:srgbClr val="F2F7FD"/>
                </a:solidFill>
                <a:latin typeface="Calibri"/>
              </a:rPr>
              <a:t>[1] Saritha et al., Alleviate, IEEE Access, 2025, doi: 10.1109/ACCESS.2025.3647089.</a:t>
            </a:r>
          </a:p>
          <a:p>
            <a:pPr>
              <a:lnSpc>
                <a:spcPct val="108000"/>
              </a:lnSpc>
              <a:spcAft>
                <a:spcPts val="1000"/>
              </a:spcAft>
              <a:buChar char="•"/>
            </a:pPr>
            <a:r>
              <a:rPr sz="1300">
                <a:solidFill>
                  <a:srgbClr val="F2F7FD"/>
                </a:solidFill>
                <a:latin typeface="Calibri"/>
              </a:rPr>
              <a:t>[2] Tan et al., Personalized healthcare, JIWE, 2024.</a:t>
            </a:r>
          </a:p>
          <a:p>
            <a:pPr>
              <a:lnSpc>
                <a:spcPct val="108000"/>
              </a:lnSpc>
              <a:spcAft>
                <a:spcPts val="1000"/>
              </a:spcAft>
              <a:buChar char="•"/>
            </a:pPr>
            <a:r>
              <a:rPr sz="1300">
                <a:solidFill>
                  <a:srgbClr val="F2F7FD"/>
                </a:solidFill>
                <a:latin typeface="Calibri"/>
              </a:rPr>
              <a:t>[3] Abinaya and Ganesan, Nearest healthcare facilities, GCCT, 2015.</a:t>
            </a:r>
          </a:p>
          <a:p>
            <a:pPr>
              <a:lnSpc>
                <a:spcPct val="108000"/>
              </a:lnSpc>
              <a:spcAft>
                <a:spcPts val="1000"/>
              </a:spcAft>
              <a:buChar char="•"/>
            </a:pPr>
            <a:r>
              <a:rPr sz="1300">
                <a:solidFill>
                  <a:srgbClr val="F2F7FD"/>
                </a:solidFill>
                <a:latin typeface="Calibri"/>
              </a:rPr>
              <a:t>[4] Umbare et al., Smart healthcare using AI/ML, ICIPCN, 2024.</a:t>
            </a:r>
          </a:p>
          <a:p>
            <a:pPr>
              <a:lnSpc>
                <a:spcPct val="108000"/>
              </a:lnSpc>
              <a:spcAft>
                <a:spcPts val="1000"/>
              </a:spcAft>
              <a:buChar char="•"/>
            </a:pPr>
            <a:r>
              <a:rPr sz="1300">
                <a:solidFill>
                  <a:srgbClr val="F2F7FD"/>
                </a:solidFill>
                <a:latin typeface="Calibri"/>
              </a:rPr>
              <a:t>[5] Mogaveera et al., E-health monitoring and planning, ICICT, 2021.</a:t>
            </a:r>
          </a:p>
          <a:p>
            <a:pPr>
              <a:lnSpc>
                <a:spcPct val="108000"/>
              </a:lnSpc>
              <a:spcAft>
                <a:spcPts val="1000"/>
              </a:spcAft>
              <a:buChar char="•"/>
            </a:pPr>
            <a:r>
              <a:rPr sz="1300">
                <a:solidFill>
                  <a:srgbClr val="F2F7FD"/>
                </a:solidFill>
                <a:latin typeface="Calibri"/>
              </a:rPr>
              <a:t>[6] Surve et al., Healthcare chatbot using ML/NLP, ICAST, 2023.</a:t>
            </a:r>
          </a:p>
          <a:p>
            <a:pPr>
              <a:lnSpc>
                <a:spcPct val="108000"/>
              </a:lnSpc>
              <a:spcAft>
                <a:spcPts val="1000"/>
              </a:spcAft>
              <a:buChar char="•"/>
            </a:pPr>
            <a:r>
              <a:rPr sz="1300">
                <a:solidFill>
                  <a:srgbClr val="F2F7FD"/>
                </a:solidFill>
                <a:latin typeface="Calibri"/>
              </a:rPr>
              <a:t>[7] Waiting Time Prediction in Queue Management, ICRPSET, 2024.</a:t>
            </a:r>
          </a:p>
          <a:p>
            <a:pPr>
              <a:lnSpc>
                <a:spcPct val="108000"/>
              </a:lnSpc>
              <a:spcAft>
                <a:spcPts val="1000"/>
              </a:spcAft>
              <a:buChar char="•"/>
            </a:pPr>
            <a:r>
              <a:rPr sz="1300">
                <a:solidFill>
                  <a:srgbClr val="F2F7FD"/>
                </a:solidFill>
                <a:latin typeface="Calibri"/>
              </a:rPr>
              <a:t>[8] Outpatient waiting-time prediction, Translational Pediatrics, 2023.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8111F"/>
        </a:solidFill>
        <a:effectLst/>
      </p:bgPr>
    </p:bg>
    <p:spTree>
      <p:nvGrpSpPr>
        <p:cNvPr id="1" name=""/>
        <p:cNvGrpSpPr/>
        <p:nvPr/>
      </p:nvGrpSpPr>
      <p:grpSpPr>
        <a:xfrm>
          <a:off x="0" y="0"/>
          <a:ext cx="0" cy="0"/>
          <a:chOff x="0" y="0"/>
          <a:chExt cx="0" cy="0"/>
        </a:xfrm>
      </p:grpSpPr>
      <p:sp>
        <p:nvSpPr>
          <p:cNvPr id="2" name="TextBox 1"/>
          <p:cNvSpPr txBox="1"/>
          <p:nvPr/>
        </p:nvSpPr>
        <p:spPr>
          <a:xfrm>
            <a:off x="1097280" y="1828800"/>
            <a:ext cx="9966960" cy="731520"/>
          </a:xfrm>
          <a:prstGeom prst="rect">
            <a:avLst/>
          </a:prstGeom>
          <a:noFill/>
        </p:spPr>
        <p:txBody>
          <a:bodyPr wrap="none" lIns="36576" rIns="36576" tIns="36576" bIns="36576" anchor="t">
            <a:spAutoFit/>
          </a:bodyPr>
          <a:lstStyle/>
          <a:p>
            <a:pPr algn="ctr"/>
            <a:r>
              <a:rPr sz="4200" b="1">
                <a:solidFill>
                  <a:srgbClr val="F2F7FD"/>
                </a:solidFill>
                <a:latin typeface="Cambria"/>
              </a:rPr>
              <a:t>THANK YOU</a:t>
            </a:r>
          </a:p>
        </p:txBody>
      </p:sp>
      <p:sp>
        <p:nvSpPr>
          <p:cNvPr id="3" name="TextBox 2"/>
          <p:cNvSpPr txBox="1"/>
          <p:nvPr/>
        </p:nvSpPr>
        <p:spPr>
          <a:xfrm>
            <a:off x="1097280" y="2880360"/>
            <a:ext cx="9966960" cy="384048"/>
          </a:xfrm>
          <a:prstGeom prst="rect">
            <a:avLst/>
          </a:prstGeom>
          <a:noFill/>
        </p:spPr>
        <p:txBody>
          <a:bodyPr wrap="none" lIns="36576" rIns="36576" tIns="36576" bIns="36576" anchor="t">
            <a:spAutoFit/>
          </a:bodyPr>
          <a:lstStyle/>
          <a:p>
            <a:pPr algn="ctr"/>
            <a:r>
              <a:rPr sz="1800" b="0">
                <a:solidFill>
                  <a:srgbClr val="22D3EE"/>
                </a:solidFill>
                <a:latin typeface="Calibri"/>
              </a:rPr>
              <a:t>Questions and suggestions are welcome</a:t>
            </a:r>
          </a:p>
        </p:txBody>
      </p:sp>
      <p:sp>
        <p:nvSpPr>
          <p:cNvPr id="4" name="TextBox 3"/>
          <p:cNvSpPr txBox="1"/>
          <p:nvPr/>
        </p:nvSpPr>
        <p:spPr>
          <a:xfrm>
            <a:off x="1097280" y="5349240"/>
            <a:ext cx="9966960" cy="274320"/>
          </a:xfrm>
          <a:prstGeom prst="rect">
            <a:avLst/>
          </a:prstGeom>
          <a:noFill/>
        </p:spPr>
        <p:txBody>
          <a:bodyPr wrap="none" lIns="36576" rIns="36576" tIns="36576" bIns="36576" anchor="t">
            <a:spAutoFit/>
          </a:bodyPr>
          <a:lstStyle/>
          <a:p>
            <a:pPr algn="ctr"/>
            <a:r>
              <a:rPr sz="1200" b="0">
                <a:solidFill>
                  <a:srgbClr val="9FB0C7"/>
                </a:solidFill>
                <a:latin typeface="Calibri"/>
              </a:rPr>
              <a:t>CareFlow · Batch CSDS-A-A10 · Review 1</a:t>
            </a:r>
          </a:p>
        </p:txBody>
      </p:sp>
      <p:sp>
        <p:nvSpPr>
          <p:cNvPr id="5" name="TextBox 4"/>
          <p:cNvSpPr txBox="1"/>
          <p:nvPr/>
        </p:nvSpPr>
        <p:spPr>
          <a:xfrm>
            <a:off x="11109960" y="6419088"/>
            <a:ext cx="502920" cy="228600"/>
          </a:xfrm>
          <a:prstGeom prst="rect">
            <a:avLst/>
          </a:prstGeom>
          <a:noFill/>
        </p:spPr>
        <p:txBody>
          <a:bodyPr wrap="none" lIns="36576" rIns="36576" tIns="36576" bIns="36576" anchor="t">
            <a:spAutoFit/>
          </a:bodyPr>
          <a:lstStyle/>
          <a:p>
            <a:pPr algn="r"/>
            <a:r>
              <a:rPr sz="900" b="0">
                <a:solidFill>
                  <a:srgbClr val="9FB0C7"/>
                </a:solidFill>
                <a:latin typeface="Calibri"/>
              </a:rPr>
              <a:t>16</a:t>
            </a:r>
          </a:p>
        </p:txBody>
      </p:sp>
    </p:spTree>
  </p:cSld>
  <p:clrMapOvr>
    <a:masterClrMapping/>
  </p:clrMapOvr>
</p:sld>
</file>

<file path=ppt/theme/theme1.xml><?xml version="1.0" encoding="utf-8"?>
<a:theme xmlns:a="http://schemas.openxmlformats.org/drawingml/2006/main" name="Hidden Risk">
  <a:themeElements>
    <a:clrScheme name="Hidden Risk">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Hidden Ris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Powered Intelligent Hospital Patient Flow Management System</dc:title>
  <dc:subject>CareFlow academic project documentation</dc:subject>
  <dc:creator>A. RAMU; B. RUSHI; B. RAJ KUMAR; A. PRABHAS</dc:creator>
  <cp:lastModifiedBy>Batch B17</cp:lastModifiedBy>
  <cp:revision>1</cp:revision>
  <dcterms:created xsi:type="dcterms:W3CDTF">2026-10-13T12:36:40Z</dcterms:created>
  <dcterms:modified xsi:type="dcterms:W3CDTF">2026-10-13T12:36:40Z</dcterms:modified>
</cp:coreProperties>
</file>