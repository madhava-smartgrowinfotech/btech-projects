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Mosaic is designed and built, what is implemented, the first measured results and the open items. Introduce the four team members and the guide. The headline is honest: the application works end to end, the basic-emotion head is a plain FER2013 CNN, and the compound-emotion head does not yet recognise compound emotions.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Recap of Review 1. We say plainly what is borrowed (analysis by synthesis, multi-label sigmoid CNN) and what is not implemented (the identity-preserving encoder).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 uvicorn process serves the API and loads the classifier once at start-up. Accounts and history are in SQLite; uploaded photos are never stored, only the cropped grayscale 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Offline training happens once; every request then costs one Haar detection and one CNN forward pass (about 19 ms median over HTTP on this PC).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FER2013 is the only dataset used. The test split is also what the training script prints as validation accuracy; it is never used to pick a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app/ml/face.py and inference._preprocess. The detector is the weakest link: it misses all native-size FER faces and about half of upscaled ones.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Layer shapes are read from backend/app/ml/classifier_model.py and gan_model.py. The 7-output parameter count is the 18-output count minus the larger last layer.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final-classifier checkpoint did not exist when the batch was received, so stage 3 was run once with the unchanged script. Everything else was produced by scripts/run_experiments.py.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mirrors app/ml/inference.py. The decision rule is argmax, not a threshold; with sigmoid outputs trained on 7 percent compound examples the compound probabilities never win.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 1: account and token, face detection, classification, ranking, storage, history, and the offline training run.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tables only. Analyses are stored for signed-in users, including a no-face row; the uploaded photo itself is not stored.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Pins are those in the repository. The documentation run used newer installed packages for some libraries; bcrypt had to stay at 4.0.1 because bcrypt 5 breaks passlib.</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of the code base against the five objectives. The two 'not' rows are the honest gaps.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the real-data accuracy is 58 percent on FER2013, in line with a small CNN; the synthetic data neither helps nor hurts accuracy beyond seed noise. Compound outputs are inert: no real test face has any compound output above 0.3 and the hold-out AUC is 0.497.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of the production build against the real model. The thumbnail beside the dominant label is a broken image because of a front-end defect described on the testing slide.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Tests run against a temporary SQLite database; the probes and latency come from the live API over real HTTP. Latency was taken while other jobs used the CPU, so the numbers are upper bounds.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was met by a design choice or by measuring it and saying so in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first two items address the biggest gaps found by the measurements.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compound outputs are near zero; why the multi-label model beats the baseline (more epochs, not the GAN); how our numbers compare with the base paper (different data, scored on generated images, not comparable); why the GAN faces look blurred.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Mosaic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15.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2800" b="1" dirty="0">
                <a:solidFill>
                  <a:srgbClr val="FFFFFF"/>
                </a:solidFill>
                <a:latin typeface="Cambria" pitchFamily="34" charset="0"/>
                <a:ea typeface="Cambria" pitchFamily="34" charset="-122"/>
                <a:cs typeface="Cambria" pitchFamily="34" charset="-120"/>
              </a:rPr>
              <a:t>AI-Driven Complex Emotion Recognition Using Facial Expression Images</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1800" dirty="0">
                <a:solidFill>
                  <a:srgbClr val="CADCFC"/>
                </a:solidFill>
                <a:latin typeface="Calibri" pitchFamily="34" charset="0"/>
                <a:ea typeface="Calibri" pitchFamily="34" charset="-122"/>
                <a:cs typeface="Calibri" pitchFamily="34" charset="-120"/>
              </a:rPr>
              <a:t>Design, methodology and progress: a conditional GAN, an 18-output multi-label CNN and a FastAPI + Next.js application</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B. Shirisha  23K91A6730</a:t>
            </a:r>
            <a:endParaRPr lang="en-US" sz="1500" dirty="0"/>
          </a:p>
          <a:p>
            <a:pPr indent="0" marL="0">
              <a:buNone/>
            </a:pPr>
            <a:r>
              <a:rPr lang="en-US" sz="1500" dirty="0">
                <a:solidFill>
                  <a:srgbClr val="FFFFFF"/>
                </a:solidFill>
              </a:rPr>
              <a:t>B. Ashrith  23K91A6731</a:t>
            </a:r>
            <a:endParaRPr lang="en-US" sz="1500" dirty="0"/>
          </a:p>
          <a:p>
            <a:pPr indent="0" marL="0">
              <a:buNone/>
            </a:pPr>
            <a:r>
              <a:rPr lang="en-US" sz="1500" dirty="0">
                <a:solidFill>
                  <a:srgbClr val="FFFFFF"/>
                </a:solidFill>
              </a:rPr>
              <a:t>B. Murali  23K91A6724</a:t>
            </a:r>
            <a:endParaRPr lang="en-US" sz="1500" dirty="0"/>
          </a:p>
          <a:p>
            <a:pPr indent="0" marL="0">
              <a:buNone/>
            </a:pPr>
            <a:r>
              <a:rPr lang="en-US" sz="1500" dirty="0">
                <a:solidFill>
                  <a:srgbClr val="FFFFFF"/>
                </a:solidFill>
              </a:rPr>
              <a:t>B. Goutham  23K91A6727</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NAME],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 (Data Science)</a:t>
            </a:r>
            <a:endParaRPr lang="en-US" sz="1300" dirty="0"/>
          </a:p>
          <a:p>
            <a:pPr indent="0" marL="0">
              <a:buNone/>
            </a:pPr>
            <a:r>
              <a:rPr lang="en-US" sz="1300" dirty="0">
                <a:solidFill>
                  <a:srgbClr val="CADCFC"/>
                </a:solidFill>
              </a:rPr>
              <a:t>[COLLEGE NAME]  ·  Batch A16 (CSDS-A)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Progress and preliminary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463040"/>
            <a:ext cx="3520440" cy="4389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331720"/>
            <a:ext cx="3118104" cy="3383279"/>
          </a:xfrm>
          <a:prstGeom prst="rect">
            <a:avLst/>
          </a:prstGeom>
          <a:noFill/>
        </p:spPr>
        <p:txBody>
          <a:bodyPr wrap="square" lIns="0" rIns="0" tIns="0" bIns="0" anchor="t">
            <a:spAutoFit/>
          </a:bodyPr>
          <a:lstStyle/>
          <a:p>
            <a:pPr algn="l">
              <a:spcAft>
                <a:spcPts val="400"/>
              </a:spcAft>
            </a:pPr>
            <a:r>
              <a:rPr sz="1600" b="0" i="0">
                <a:solidFill>
                  <a:srgbClr val="475569"/>
                </a:solidFill>
              </a:rPr>
              <a:t>Existing systems recognise only single basic emotions, although real expressions often mix several. Complex-emotion training data is scarce, and expression-editing GANs distort identity.</a:t>
            </a:r>
          </a:p>
        </p:txBody>
      </p:sp>
      <p:sp>
        <p:nvSpPr>
          <p:cNvPr id="30" name="Rounded Rectangle 29"/>
          <p:cNvSpPr/>
          <p:nvPr/>
        </p:nvSpPr>
        <p:spPr>
          <a:xfrm>
            <a:off x="4334255" y="1463040"/>
            <a:ext cx="3520440" cy="4389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331720"/>
            <a:ext cx="3118104" cy="3383279"/>
          </a:xfrm>
          <a:prstGeom prst="rect">
            <a:avLst/>
          </a:prstGeom>
          <a:noFill/>
        </p:spPr>
        <p:txBody>
          <a:bodyPr wrap="square" lIns="0" rIns="0" tIns="0" bIns="0" anchor="t">
            <a:spAutoFit/>
          </a:bodyPr>
          <a:lstStyle/>
          <a:p>
            <a:pPr algn="l">
              <a:spcAft>
                <a:spcPts val="400"/>
              </a:spcAft>
            </a:pPr>
            <a:r>
              <a:rPr sz="1600" b="0" i="0">
                <a:solidFill>
                  <a:srgbClr val="475569"/>
                </a:solidFill>
              </a:rPr>
              <a:t>Mosaic detects a face, classifies it with one CNN that has 18 sigmoid outputs (7 basic and 11 compound emotions), trains the compound outputs on faces synthesised by a conditional GAN, and serves the result through a FastAPI service and a Next.js console with accounts and history.</a:t>
            </a:r>
          </a:p>
        </p:txBody>
      </p:sp>
      <p:sp>
        <p:nvSpPr>
          <p:cNvPr id="34" name="Rounded Rectangle 33"/>
          <p:cNvSpPr/>
          <p:nvPr/>
        </p:nvSpPr>
        <p:spPr>
          <a:xfrm>
            <a:off x="8119871" y="1463040"/>
            <a:ext cx="3520440" cy="4389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61848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 [1]</a:t>
            </a:r>
          </a:p>
        </p:txBody>
      </p:sp>
      <p:sp>
        <p:nvSpPr>
          <p:cNvPr id="37" name="TextBox 36"/>
          <p:cNvSpPr txBox="1"/>
          <p:nvPr/>
        </p:nvSpPr>
        <p:spPr>
          <a:xfrm>
            <a:off x="8321040" y="2331720"/>
            <a:ext cx="3118104" cy="3383279"/>
          </a:xfrm>
          <a:prstGeom prst="rect">
            <a:avLst/>
          </a:prstGeom>
          <a:noFill/>
        </p:spPr>
        <p:txBody>
          <a:bodyPr wrap="square" lIns="0" rIns="0" tIns="0" bIns="0" anchor="t">
            <a:spAutoFit/>
          </a:bodyPr>
          <a:lstStyle/>
          <a:p>
            <a:pPr algn="l">
              <a:spcAft>
                <a:spcPts val="400"/>
              </a:spcAft>
            </a:pPr>
            <a:r>
              <a:rPr sz="1600" b="0" i="0">
                <a:solidFill>
                  <a:srgbClr val="475569"/>
                </a:solidFill>
              </a:rPr>
              <a:t>Khine et al. (IEEE Access, 2025) generate identity-preserving mixed expressions with cEmoGANs and train a multi-label CNN on them. Mosaic follows the two-stage idea on FER2013 but has no identity encoder, and its recogniser is scored on real test faces.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mosaic_deck_r2_01.png"/>
          <p:cNvPicPr>
            <a:picLocks noChangeAspect="1"/>
          </p:cNvPicPr>
          <p:nvPr/>
        </p:nvPicPr>
        <p:blipFill>
          <a:blip r:embed="rId1"/>
          <a:stretch>
            <a:fillRect/>
          </a:stretch>
        </p:blipFill>
        <p:spPr>
          <a:xfrm>
            <a:off x="548640" y="1193972"/>
            <a:ext cx="6583679" cy="5201574"/>
          </a:xfrm>
          <a:prstGeom prst="rect">
            <a:avLst/>
          </a:prstGeom>
        </p:spPr>
      </p:pic>
      <p:sp>
        <p:nvSpPr>
          <p:cNvPr id="27" name="TextBox 26"/>
          <p:cNvSpPr txBox="1"/>
          <p:nvPr/>
        </p:nvSpPr>
        <p:spPr>
          <a:xfrm>
            <a:off x="7315200" y="1325880"/>
            <a:ext cx="4343400" cy="4937760"/>
          </a:xfrm>
          <a:prstGeom prst="rect">
            <a:avLst/>
          </a:prstGeom>
          <a:noFill/>
        </p:spPr>
        <p:txBody>
          <a:bodyPr wrap="square" lIns="0" rIns="0" tIns="0" bIns="0" anchor="t">
            <a:spAutoFit/>
          </a:bodyPr>
          <a:lstStyle/>
          <a:p>
            <a:pPr algn="l">
              <a:spcAft>
                <a:spcPts val="800"/>
              </a:spcAft>
            </a:pPr>
            <a:r>
              <a:rPr sz="1500" b="1" i="0">
                <a:solidFill>
                  <a:srgbClr val="0F172A"/>
                </a:solidFill>
              </a:rPr>
              <a:t>Four tiers, one process</a:t>
            </a:r>
          </a:p>
          <a:p>
            <a:pPr algn="l" marL="256032" indent="-201168">
              <a:spcAft>
                <a:spcPts val="400"/>
              </a:spcAft>
              <a:buChar char="•"/>
            </a:pPr>
            <a:r>
              <a:rPr sz="1500" b="0" i="0">
                <a:solidFill>
                  <a:srgbClr val="0F172A"/>
                </a:solidFill>
              </a:rPr>
              <a:t>Console: Next.js 16 + React 19, port 3000; landing, login, register, analyze (upload or webcam), history.</a:t>
            </a:r>
          </a:p>
          <a:p>
            <a:pPr algn="l" marL="256032" indent="-201168">
              <a:spcAft>
                <a:spcPts val="400"/>
              </a:spcAft>
              <a:buChar char="•"/>
            </a:pPr>
            <a:r>
              <a:rPr sz="1500" b="0" i="0">
                <a:solidFill>
                  <a:srgbClr val="0F172A"/>
                </a:solidFill>
              </a:rPr>
              <a:t>API: FastAPI, eight JSON endpoints plus static thumbnails; the code defaults to port 8000.</a:t>
            </a:r>
          </a:p>
          <a:p>
            <a:pPr algn="l" marL="256032" indent="-201168">
              <a:spcAft>
                <a:spcPts val="400"/>
              </a:spcAft>
              <a:buChar char="•"/>
            </a:pPr>
            <a:r>
              <a:rPr sz="1500" b="0" i="0">
                <a:solidFill>
                  <a:srgbClr val="0F172A"/>
                </a:solidFill>
              </a:rPr>
              <a:t>ML modules: Haar face detector, 64 x 64 preprocessing, EmotionCNN with 18 outputs; the GAN is used only at training time.</a:t>
            </a:r>
          </a:p>
          <a:p>
            <a:pPr algn="l" marL="256032" indent="-201168">
              <a:spcAft>
                <a:spcPts val="400"/>
              </a:spcAft>
              <a:buChar char="•"/>
            </a:pPr>
            <a:r>
              <a:rPr sz="1500" b="0" i="0">
                <a:solidFill>
                  <a:srgbClr val="0F172A"/>
                </a:solidFill>
              </a:rPr>
              <a:t>State: SQLite (users, analyses), checkpoint files and a thumbnail folder. No external service is called at run 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train offline, then one pass per image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pic>
        <p:nvPicPr>
          <p:cNvPr id="26" name="Picture 25" descr="mosaic_deck_r2_02.png"/>
          <p:cNvPicPr>
            <a:picLocks noChangeAspect="1"/>
          </p:cNvPicPr>
          <p:nvPr/>
        </p:nvPicPr>
        <p:blipFill>
          <a:blip r:embed="rId3"/>
          <a:stretch>
            <a:fillRect/>
          </a:stretch>
        </p:blipFill>
        <p:spPr>
          <a:xfrm>
            <a:off x="548640" y="1316609"/>
            <a:ext cx="6766560" cy="4407662"/>
          </a:xfrm>
          <a:prstGeom prst="rect">
            <a:avLst/>
          </a:prstGeom>
        </p:spPr>
      </p:pic>
      <p:sp>
        <p:nvSpPr>
          <p:cNvPr id="27" name="Rounded Rectangle 26"/>
          <p:cNvSpPr/>
          <p:nvPr/>
        </p:nvSpPr>
        <p:spPr>
          <a:xfrm>
            <a:off x="7589520" y="1280160"/>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726679" y="1344168"/>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Train</a:t>
            </a:r>
          </a:p>
        </p:txBody>
      </p:sp>
      <p:sp>
        <p:nvSpPr>
          <p:cNvPr id="29" name="TextBox 28"/>
          <p:cNvSpPr txBox="1"/>
          <p:nvPr/>
        </p:nvSpPr>
        <p:spPr>
          <a:xfrm>
            <a:off x="7726679" y="1664207"/>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FER2013 backbone, conditional GAN on 2,800 faces, 2,200 synthetic compound faces, final 18-output CNN.</a:t>
            </a:r>
          </a:p>
        </p:txBody>
      </p:sp>
      <p:sp>
        <p:nvSpPr>
          <p:cNvPr id="30" name="Rounded Rectangle 29"/>
          <p:cNvSpPr/>
          <p:nvPr/>
        </p:nvSpPr>
        <p:spPr>
          <a:xfrm>
            <a:off x="7589520" y="2907791"/>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26679" y="2971799"/>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Serve</a:t>
            </a:r>
          </a:p>
        </p:txBody>
      </p:sp>
      <p:sp>
        <p:nvSpPr>
          <p:cNvPr id="32" name="TextBox 31"/>
          <p:cNvSpPr txBox="1"/>
          <p:nvPr/>
        </p:nvSpPr>
        <p:spPr>
          <a:xfrm>
            <a:off x="7726679" y="3291839"/>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Upload, Haar face crop, 64 x 64 tensor, CNN, sigmoid, sorted basic and compound lists, dominant emotion.</a:t>
            </a:r>
          </a:p>
        </p:txBody>
      </p:sp>
      <p:sp>
        <p:nvSpPr>
          <p:cNvPr id="33" name="Rounded Rectangle 32"/>
          <p:cNvSpPr/>
          <p:nvPr/>
        </p:nvSpPr>
        <p:spPr>
          <a:xfrm>
            <a:off x="7589520" y="4535424"/>
            <a:ext cx="4050791" cy="15087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726679" y="4599432"/>
            <a:ext cx="3794760" cy="365760"/>
          </a:xfrm>
          <a:prstGeom prst="rect">
            <a:avLst/>
          </a:prstGeom>
          <a:noFill/>
        </p:spPr>
        <p:txBody>
          <a:bodyPr wrap="square" lIns="0" rIns="0" tIns="0" bIns="0" anchor="t">
            <a:spAutoFit/>
          </a:bodyPr>
          <a:lstStyle/>
          <a:p>
            <a:pPr algn="l">
              <a:spcAft>
                <a:spcPts val="400"/>
              </a:spcAft>
            </a:pPr>
            <a:r>
              <a:rPr sz="1500" b="1" i="0">
                <a:solidFill>
                  <a:srgbClr val="0F172A"/>
                </a:solidFill>
              </a:rPr>
              <a:t>Evaluate</a:t>
            </a:r>
          </a:p>
        </p:txBody>
      </p:sp>
      <p:sp>
        <p:nvSpPr>
          <p:cNvPr id="35" name="TextBox 34"/>
          <p:cNvSpPr txBox="1"/>
          <p:nvPr/>
        </p:nvSpPr>
        <p:spPr>
          <a:xfrm>
            <a:off x="7726679" y="4919472"/>
            <a:ext cx="3794760" cy="1097280"/>
          </a:xfrm>
          <a:prstGeom prst="rect">
            <a:avLst/>
          </a:prstGeom>
          <a:noFill/>
        </p:spPr>
        <p:txBody>
          <a:bodyPr wrap="square" lIns="0" rIns="0" tIns="0" bIns="0" anchor="t">
            <a:spAutoFit/>
          </a:bodyPr>
          <a:lstStyle/>
          <a:p>
            <a:pPr algn="l">
              <a:spcAft>
                <a:spcPts val="400"/>
              </a:spcAft>
            </a:pPr>
            <a:r>
              <a:rPr sz="1250" b="0" i="0">
                <a:solidFill>
                  <a:srgbClr val="475569"/>
                </a:solidFill>
              </a:rPr>
              <a:t>Accuracy and macro-F1 on 7,178 real test faces; seeded ablation with and without synthetic data; GAN fidelity; API probes.</a:t>
            </a:r>
          </a:p>
        </p:txBody>
      </p:sp>
      <p:sp>
        <p:nvSpPr>
          <p:cNvPr id="36" name="TextBox 35"/>
          <p:cNvSpPr txBox="1"/>
          <p:nvPr/>
        </p:nvSpPr>
        <p:spPr>
          <a:xfrm>
            <a:off x="548640" y="5897880"/>
            <a:ext cx="6766560" cy="411480"/>
          </a:xfrm>
          <a:prstGeom prst="rect">
            <a:avLst/>
          </a:prstGeom>
          <a:noFill/>
        </p:spPr>
        <p:txBody>
          <a:bodyPr wrap="square" lIns="0" rIns="0" tIns="0" bIns="0" anchor="t">
            <a:spAutoFit/>
          </a:bodyPr>
          <a:lstStyle/>
          <a:p>
            <a:pPr algn="ctr">
              <a:spcAft>
                <a:spcPts val="400"/>
              </a:spcAft>
            </a:pPr>
            <a:r>
              <a:rPr sz="1200" b="0" i="1">
                <a:solidFill>
                  <a:srgbClr val="475569"/>
                </a:solidFill>
              </a:rPr>
              <a:t>High-level workflow of run_pipeline.py and one request to /api/analyze.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 FER2013 and the synthetic compound faces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28,709</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FER2013 training faces (48 x 48 grayscale)</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7,178</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FER2013 test faces, basic labels only</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2,800</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real faces (400 per class) used to train the GAN</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2,200</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100" b="0" i="0">
                <a:solidFill>
                  <a:srgbClr val="475569"/>
                </a:solidFill>
              </a:rPr>
              <a:t>synthetic compound faces (11 classes x 200)</a:t>
            </a:r>
          </a:p>
        </p:txBody>
      </p:sp>
      <p:pic>
        <p:nvPicPr>
          <p:cNvPr id="42" name="Picture 41" descr="mosaic_deck_r2_cd.png"/>
          <p:cNvPicPr>
            <a:picLocks noChangeAspect="1"/>
          </p:cNvPicPr>
          <p:nvPr/>
        </p:nvPicPr>
        <p:blipFill>
          <a:blip r:embed="rId1"/>
          <a:stretch>
            <a:fillRect/>
          </a:stretch>
        </p:blipFill>
        <p:spPr>
          <a:xfrm>
            <a:off x="548640" y="2687568"/>
            <a:ext cx="5669280" cy="2854462"/>
          </a:xfrm>
          <a:prstGeom prst="rect">
            <a:avLst/>
          </a:prstGeom>
        </p:spPr>
      </p:pic>
      <p:graphicFrame>
        <p:nvGraphicFramePr>
          <p:cNvPr id="43" name="Table 42"/>
          <p:cNvGraphicFramePr>
            <a:graphicFrameLocks noGrp="1"/>
          </p:cNvGraphicFramePr>
          <p:nvPr/>
        </p:nvGraphicFramePr>
        <p:xfrm>
          <a:off x="6400800" y="2606040"/>
          <a:ext cx="5257800" cy="2743200"/>
        </p:xfrm>
        <a:graphic>
          <a:graphicData uri="http://schemas.openxmlformats.org/drawingml/2006/table">
            <a:tbl>
              <a:tblPr firstRow="0" bandRow="0">
                <a:tableStyleId>{5C22544A-7EE6-4342-B048-85BDC9FD1C3A}</a:tableStyleId>
              </a:tblPr>
              <a:tblGrid>
                <a:gridCol w="1234440"/>
                <a:gridCol w="4023360"/>
              </a:tblGrid>
              <a:tr h="548640">
                <a:tc>
                  <a:txBody>
                    <a:bodyPr wrap="square"/>
                    <a:lstStyle/>
                    <a:p>
                      <a:pPr algn="ctr"/>
                      <a:r>
                        <a:rPr sz="1150" b="1">
                          <a:solidFill>
                            <a:srgbClr val="FFFFFF"/>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Detail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150" b="1">
                          <a:solidFill>
                            <a:srgbClr val="0F172A"/>
                          </a:solidFill>
                        </a:rPr>
                        <a:t>Source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Hugging Face mirror Jeneral/fer-2013 (tag apache-2.0); original FER2013 by Goodfellow et al. [11]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150" b="1">
                          <a:solidFill>
                            <a:srgbClr val="0F172A"/>
                          </a:solidFill>
                        </a:rPr>
                        <a:t>Labels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angry, disgust, fear, happy, sad, surprise, neutral; no compound labels exist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150" b="1">
                          <a:solidFill>
                            <a:srgbClr val="0F172A"/>
                          </a:solidFill>
                        </a:rPr>
                        <a:t>Imbalance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disgust is 1.5 % of training; always-'happy' scores 24.7 %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150" b="1">
                          <a:solidFill>
                            <a:srgbClr val="0F172A"/>
                          </a:solidFill>
                        </a:rPr>
                        <a:t>Synthetic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target = both component bits + the compound bit (three bits 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44" name="TextBox 43"/>
          <p:cNvSpPr txBox="1"/>
          <p:nvPr/>
        </p:nvSpPr>
        <p:spPr>
          <a:xfrm>
            <a:off x="548640" y="5760720"/>
            <a:ext cx="11091672" cy="640080"/>
          </a:xfrm>
          <a:prstGeom prst="rect">
            <a:avLst/>
          </a:prstGeom>
          <a:noFill/>
        </p:spPr>
        <p:txBody>
          <a:bodyPr wrap="square" lIns="0" rIns="0" tIns="0" bIns="0" anchor="t">
            <a:spAutoFit/>
          </a:bodyPr>
          <a:lstStyle/>
          <a:p>
            <a:pPr algn="l">
              <a:spcAft>
                <a:spcPts val="400"/>
              </a:spcAft>
            </a:pPr>
            <a:r>
              <a:rPr sz="1200" b="0" i="1">
                <a:solidFill>
                  <a:srgbClr val="475569"/>
                </a:solidFill>
              </a:rPr>
              <a:t>The base paper uses CK+, JAFFE and MUG (laboratory sets) with morphed two-emotion ground truth; Mosaic uses FER2013 because it is open and unconstrained, but then has no real compound labels to test against.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Preprocessing: from photo to a 64 x 64 tensor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325880"/>
            <a:ext cx="1680972" cy="91440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Upload (JPEG / PNG)</a:t>
            </a:r>
          </a:p>
        </p:txBody>
      </p:sp>
      <p:sp>
        <p:nvSpPr>
          <p:cNvPr id="27" name="Right Arrow 26"/>
          <p:cNvSpPr/>
          <p:nvPr/>
        </p:nvSpPr>
        <p:spPr>
          <a:xfrm>
            <a:off x="222961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Decode, BGR</a:t>
            </a:r>
          </a:p>
        </p:txBody>
      </p:sp>
      <p:sp>
        <p:nvSpPr>
          <p:cNvPr id="29" name="Right Arrow 28"/>
          <p:cNvSpPr/>
          <p:nvPr/>
        </p:nvSpPr>
        <p:spPr>
          <a:xfrm>
            <a:off x="411175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25880"/>
            <a:ext cx="1680972" cy="91440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Haar cascade</a:t>
            </a:r>
          </a:p>
        </p:txBody>
      </p:sp>
      <p:sp>
        <p:nvSpPr>
          <p:cNvPr id="31" name="Right Arrow 30"/>
          <p:cNvSpPr/>
          <p:nvPr/>
        </p:nvSpPr>
        <p:spPr>
          <a:xfrm>
            <a:off x="599389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Largest face, gray</a:t>
            </a:r>
          </a:p>
        </p:txBody>
      </p:sp>
      <p:sp>
        <p:nvSpPr>
          <p:cNvPr id="33" name="Right Arrow 32"/>
          <p:cNvSpPr/>
          <p:nvPr/>
        </p:nvSpPr>
        <p:spPr>
          <a:xfrm>
            <a:off x="787603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25880"/>
            <a:ext cx="1680972" cy="91440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Resize 64 x 64</a:t>
            </a:r>
          </a:p>
        </p:txBody>
      </p:sp>
      <p:sp>
        <p:nvSpPr>
          <p:cNvPr id="35" name="Right Arrow 34"/>
          <p:cNvSpPr/>
          <p:nvPr/>
        </p:nvSpPr>
        <p:spPr>
          <a:xfrm>
            <a:off x="9758172" y="1664207"/>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25880"/>
            <a:ext cx="1680972" cy="91440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rPr>
              <a:t>Scale to [-1, 1]</a:t>
            </a:r>
          </a:p>
        </p:txBody>
      </p:sp>
      <p:sp>
        <p:nvSpPr>
          <p:cNvPr id="37" name="Rounded Rectangle 36"/>
          <p:cNvSpPr/>
          <p:nvPr/>
        </p:nvSpPr>
        <p:spPr>
          <a:xfrm>
            <a:off x="54864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48640" y="256032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4980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64 x 64</a:t>
            </a:r>
          </a:p>
        </p:txBody>
      </p:sp>
      <p:sp>
        <p:nvSpPr>
          <p:cNvPr id="40" name="TextBox 39"/>
          <p:cNvSpPr txBox="1"/>
          <p:nvPr/>
        </p:nvSpPr>
        <p:spPr>
          <a:xfrm>
            <a:off x="74980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model input; native FER2013 faces are 48 x 48</a:t>
            </a:r>
          </a:p>
        </p:txBody>
      </p:sp>
      <p:sp>
        <p:nvSpPr>
          <p:cNvPr id="41" name="Rounded Rectangle 40"/>
          <p:cNvSpPr/>
          <p:nvPr/>
        </p:nvSpPr>
        <p:spPr>
          <a:xfrm>
            <a:off x="6217920" y="2560320"/>
            <a:ext cx="544068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17920" y="256032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19088" y="2651760"/>
            <a:ext cx="5166360" cy="628650"/>
          </a:xfrm>
          <a:prstGeom prst="rect">
            <a:avLst/>
          </a:prstGeom>
          <a:noFill/>
        </p:spPr>
        <p:txBody>
          <a:bodyPr wrap="square" lIns="0" rIns="0" tIns="0" bIns="0" anchor="ctr">
            <a:spAutoFit/>
          </a:bodyPr>
          <a:lstStyle/>
          <a:p>
            <a:pPr algn="l">
              <a:spcAft>
                <a:spcPts val="400"/>
              </a:spcAft>
            </a:pPr>
            <a:r>
              <a:rPr sz="2800" b="1" i="0">
                <a:solidFill>
                  <a:srgbClr val="0F172A"/>
                </a:solidFill>
              </a:rPr>
              <a:t>0 % -&gt; 54 %</a:t>
            </a:r>
          </a:p>
        </p:txBody>
      </p:sp>
      <p:sp>
        <p:nvSpPr>
          <p:cNvPr id="44" name="TextBox 43"/>
          <p:cNvSpPr txBox="1"/>
          <p:nvPr/>
        </p:nvSpPr>
        <p:spPr>
          <a:xfrm>
            <a:off x="6419088" y="3223260"/>
            <a:ext cx="5166360" cy="434340"/>
          </a:xfrm>
          <a:prstGeom prst="rect">
            <a:avLst/>
          </a:prstGeom>
          <a:noFill/>
        </p:spPr>
        <p:txBody>
          <a:bodyPr wrap="square" lIns="0" rIns="0" tIns="0" bIns="0" anchor="t">
            <a:spAutoFit/>
          </a:bodyPr>
          <a:lstStyle/>
          <a:p>
            <a:pPr algn="l">
              <a:spcAft>
                <a:spcPts val="400"/>
              </a:spcAft>
            </a:pPr>
            <a:r>
              <a:rPr sz="1200" b="0" i="0">
                <a:solidFill>
                  <a:srgbClr val="475569"/>
                </a:solidFill>
              </a:rPr>
              <a:t>Haar detection of native 48 px faces vs 2x upscale (1,000 test faces)</a:t>
            </a:r>
          </a:p>
        </p:txBody>
      </p:sp>
      <p:sp>
        <p:nvSpPr>
          <p:cNvPr id="45" name="TextBox 44"/>
          <p:cNvSpPr txBox="1"/>
          <p:nvPr/>
        </p:nvSpPr>
        <p:spPr>
          <a:xfrm>
            <a:off x="548640" y="3931920"/>
            <a:ext cx="11091672" cy="2468880"/>
          </a:xfrm>
          <a:prstGeom prst="rect">
            <a:avLst/>
          </a:prstGeom>
          <a:noFill/>
        </p:spPr>
        <p:txBody>
          <a:bodyPr wrap="square" lIns="0" rIns="0" tIns="0" bIns="0" anchor="t">
            <a:spAutoFit/>
          </a:bodyPr>
          <a:lstStyle/>
          <a:p>
            <a:pPr algn="l" marL="256032" indent="-201168">
              <a:spcAft>
                <a:spcPts val="900"/>
              </a:spcAft>
              <a:buChar char="•"/>
            </a:pPr>
            <a:r>
              <a:rPr sz="1600" b="0" i="0">
                <a:solidFill>
                  <a:srgbClr val="0F172A"/>
                </a:solidFill>
              </a:rPr>
              <a:t>Haar settings: scale factor 1.1, 5 neighbours, minimum face 40 x 40; the largest detection is kept, so a photo with several faces analyses only one.</a:t>
            </a:r>
          </a:p>
          <a:p>
            <a:pPr algn="l" marL="256032" indent="-201168">
              <a:spcAft>
                <a:spcPts val="900"/>
              </a:spcAft>
              <a:buChar char="•"/>
            </a:pPr>
            <a:r>
              <a:rPr sz="1600" b="0" i="0">
                <a:solidFill>
                  <a:srgbClr val="0F172A"/>
                </a:solidFill>
              </a:rPr>
              <a:t>Training faces are aligned 48 x 48 FER crops resized to 64; serving faces are Haar crops of a photo, so the two are framed differently.</a:t>
            </a:r>
          </a:p>
          <a:p>
            <a:pPr algn="l" marL="256032" indent="-201168">
              <a:spcAft>
                <a:spcPts val="900"/>
              </a:spcAft>
              <a:buChar char="•"/>
            </a:pPr>
            <a:r>
              <a:rPr sz="1600" b="0" i="0">
                <a:solidFill>
                  <a:srgbClr val="0F172A"/>
                </a:solidFill>
              </a:rPr>
              <a:t>Measured effect: on the 565 faces detected after a 3x upscale, accuracy is 55.8 % through the Haar crop and 66.2 % when the same images are resized directly.</a:t>
            </a:r>
          </a:p>
          <a:p>
            <a:pPr algn="l" marL="256032" indent="-201168">
              <a:spcAft>
                <a:spcPts val="900"/>
              </a:spcAft>
              <a:buChar char="•"/>
            </a:pPr>
            <a:r>
              <a:rPr sz="1600" b="0" i="0">
                <a:solidFill>
                  <a:srgbClr val="0F172A"/>
                </a:solidFill>
              </a:rPr>
              <a:t>No augmentation, face alignment or histogram equalisation is applied; no photo is stored.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 EmotionCNN (18 outputs) and the conditional GAN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graphicFrame>
        <p:nvGraphicFramePr>
          <p:cNvPr id="26" name="Table 25"/>
          <p:cNvGraphicFramePr>
            <a:graphicFrameLocks noGrp="1"/>
          </p:cNvGraphicFramePr>
          <p:nvPr/>
        </p:nvGraphicFramePr>
        <p:xfrm>
          <a:off x="548640" y="1280160"/>
          <a:ext cx="11091672" cy="3566160"/>
        </p:xfrm>
        <a:graphic>
          <a:graphicData uri="http://schemas.openxmlformats.org/drawingml/2006/table">
            <a:tbl>
              <a:tblPr firstRow="0" bandRow="0">
                <a:tableStyleId>{5C22544A-7EE6-4342-B048-85BDC9FD1C3A}</a:tableStyleId>
              </a:tblPr>
              <a:tblGrid>
                <a:gridCol w="2743200"/>
                <a:gridCol w="6400800"/>
                <a:gridCol w="1947672"/>
              </a:tblGrid>
              <a:tr h="713232">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Architecture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Parameters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250" b="1">
                          <a:solidFill>
                            <a:srgbClr val="0F172A"/>
                          </a:solidFill>
                        </a:rPr>
                        <a:t>EmotionCNN (stage 1: 7 outputs; final: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4 x [Conv 3x3 - BatchNorm - ReLU - MaxPool] with 32, 64, 128, 128 channels; Flatten 2,048; FC 256 + ReLU; Dropout 0.4; FC out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767,303 / 770,130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250" b="1">
                          <a:solidFill>
                            <a:srgbClr val="0F172A"/>
                          </a:solidFill>
                        </a:rPr>
                        <a:t>ConditionalGenerator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noise 100 + condition 7 -&gt; 5 x ConvTranspose (256, 128, 64, 32, 1), BatchNorm + ReLU, Tanh; 64 x 64 output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1,128,353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250" b="1">
                          <a:solidFill>
                            <a:srgbClr val="0F172A"/>
                          </a:solidFill>
                        </a:rPr>
                        <a:t>ConditionalDiscriminator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4 x Conv (32 - 256) with LeakyReLU, condition projected to 16 values, one logit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reported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250" b="1">
                          <a:solidFill>
                            <a:srgbClr val="0F172A"/>
                          </a:solidFill>
                        </a:rPr>
                        <a:t>Loss and outputs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stage 1 softmax cross-entropy with class weights; final BCE-with-logits on 18 sigmoids; GAN BCE with real label 0.9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7" name="TextBox 26"/>
          <p:cNvSpPr txBox="1"/>
          <p:nvPr/>
        </p:nvSpPr>
        <p:spPr>
          <a:xfrm>
            <a:off x="548640" y="5029200"/>
            <a:ext cx="11091672" cy="1280160"/>
          </a:xfrm>
          <a:prstGeom prst="rect">
            <a:avLst/>
          </a:prstGeom>
          <a:noFill/>
        </p:spPr>
        <p:txBody>
          <a:bodyPr wrap="square" lIns="0" rIns="0" tIns="0" bIns="0" anchor="t">
            <a:spAutoFit/>
          </a:bodyPr>
          <a:lstStyle/>
          <a:p>
            <a:pPr algn="l" marL="256032" indent="-201168">
              <a:spcAft>
                <a:spcPts val="600"/>
              </a:spcAft>
              <a:buChar char="•"/>
            </a:pPr>
            <a:r>
              <a:rPr sz="1400" b="1" i="0">
                <a:solidFill>
                  <a:srgbClr val="0F172A"/>
                </a:solidFill>
              </a:rPr>
              <a:t>Why this design</a:t>
            </a:r>
            <a:r>
              <a:rPr sz="1400" b="0" i="0">
                <a:solidFill>
                  <a:srgbClr val="0F172A"/>
                </a:solidFill>
              </a:rPr>
              <a:t>: a small CNN trains on a CPU in minutes, sigmoid outputs let one face carry several labels, and a conditional GAN is the cheapest way to make compound-labelled training faces.</a:t>
            </a:r>
          </a:p>
          <a:p>
            <a:pPr algn="l" marL="256032" indent="-201168">
              <a:spcAft>
                <a:spcPts val="400"/>
              </a:spcAft>
              <a:buChar char="•"/>
            </a:pPr>
            <a:r>
              <a:rPr sz="1400" b="1" i="0">
                <a:solidFill>
                  <a:srgbClr val="0F172A"/>
                </a:solidFill>
              </a:rPr>
              <a:t>What is missing from the base paper's design</a:t>
            </a:r>
            <a:r>
              <a:rPr sz="1400" b="0" i="0">
                <a:solidFill>
                  <a:srgbClr val="0F172A"/>
                </a:solidFill>
              </a:rPr>
              <a:t>: its encoder that keeps identity, and its 6-dimensional multi-hot generator label; Mosaic trains the GAN with one-hot labels and blends two conditions only when synthesising.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and evaluation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25880"/>
          <a:ext cx="11091672" cy="4389120"/>
        </p:xfrm>
        <a:graphic>
          <a:graphicData uri="http://schemas.openxmlformats.org/drawingml/2006/table">
            <a:tbl>
              <a:tblPr firstRow="0" bandRow="0">
                <a:tableStyleId>{5C22544A-7EE6-4342-B048-85BDC9FD1C3A}</a:tableStyleId>
              </a:tblPr>
              <a:tblGrid>
                <a:gridCol w="1920240"/>
                <a:gridCol w="6400800"/>
                <a:gridCol w="2770632"/>
              </a:tblGrid>
              <a:tr h="731520">
                <a:tc>
                  <a:txBody>
                    <a:bodyPr wrap="square"/>
                    <a:lstStyle/>
                    <a:p>
                      <a:pPr algn="ctr"/>
                      <a:r>
                        <a:rPr sz="1300" b="1">
                          <a:solidFill>
                            <a:srgbClr val="FFFFFF"/>
                          </a:solidFill>
                        </a:rPr>
                        <a:t>Stage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Settings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Result / time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31520">
                <a:tc>
                  <a:txBody>
                    <a:bodyPr wrap="square"/>
                    <a:lstStyle/>
                    <a:p>
                      <a:pPr algn="l"/>
                      <a:r>
                        <a:rPr sz="1300" b="1">
                          <a:solidFill>
                            <a:srgbClr val="0F172A"/>
                          </a:solidFill>
                        </a:rPr>
                        <a:t>1  Backbone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EmotionCNN(7), Adam 1e-3, batch 256, 5 epochs, class-weighted CE, 28,709 train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test accuracy 50.56 %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300" b="1">
                          <a:solidFill>
                            <a:srgbClr val="0F172A"/>
                          </a:solidFill>
                        </a:rPr>
                        <a:t>2  cEmoGAN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Adam 2e-4 (0.5, 0.999), batch 64, 10 epochs, 400 faces per class, real label 0.9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final D loss 0.7731, G loss 3.7240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31520">
                <a:tc>
                  <a:txBody>
                    <a:bodyPr wrap="square"/>
                    <a:lstStyle/>
                    <a:p>
                      <a:pPr algn="l"/>
                      <a:r>
                        <a:rPr sz="1300" b="1">
                          <a:solidFill>
                            <a:srgbClr val="0F172A"/>
                          </a:solidFill>
                        </a:rPr>
                        <a:t>3  Final classifier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EmotionCNN(18) from backbone conv weights, BCE-with-logits, Adam 5e-4, batch 256, 5 epochs, 28,709 real + 2,200 synthetic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basic accuracy 58.14 %; 10 min 37 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300" b="1">
                          <a:solidFill>
                            <a:srgbClr val="0F172A"/>
                          </a:solidFill>
                        </a:rPr>
                        <a:t>Seeded ablation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same recipe, seeds 1-3, with and without the 2,200 synthetic faces; extra runs at 50 and 800 per class (seed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about 9 min per 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31520">
                <a:tc>
                  <a:txBody>
                    <a:bodyPr wrap="square"/>
                    <a:lstStyle/>
                    <a:p>
                      <a:pPr algn="l"/>
                      <a:r>
                        <a:rPr sz="1300" b="1">
                          <a:solidFill>
                            <a:srgbClr val="0F172A"/>
                          </a:solidFill>
                        </a:rPr>
                        <a:t>Machine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Intel Core i5-12500, 15.7 GB RAM, CPU only, Windows 11; PyTorch 2.14.1 CPU; other jobs shared the CPU</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TextBox 26"/>
          <p:cNvSpPr txBox="1"/>
          <p:nvPr/>
        </p:nvSpPr>
        <p:spPr>
          <a:xfrm>
            <a:off x="548640" y="5943600"/>
            <a:ext cx="11091672" cy="457200"/>
          </a:xfrm>
          <a:prstGeom prst="rect">
            <a:avLst/>
          </a:prstGeom>
          <a:noFill/>
        </p:spPr>
        <p:txBody>
          <a:bodyPr wrap="square" lIns="0" rIns="0" tIns="0" bIns="0" anchor="t">
            <a:spAutoFit/>
          </a:bodyPr>
          <a:lstStyle/>
          <a:p>
            <a:pPr algn="l">
              <a:spcAft>
                <a:spcPts val="400"/>
              </a:spcAft>
            </a:pPr>
            <a:r>
              <a:rPr sz="1200" b="0" i="1">
                <a:solidFill>
                  <a:srgbClr val="475569"/>
                </a:solidFill>
              </a:rPr>
              <a:t>Hyper-parameters are the defaults in app/ml/train_*.py; no tuning was done and no early stopping or learning-rate schedule is used.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from 18 sigmoids to the answer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mosaic_deck_r2_10.png"/>
          <p:cNvPicPr>
            <a:picLocks noChangeAspect="1"/>
          </p:cNvPicPr>
          <p:nvPr/>
        </p:nvPicPr>
        <p:blipFill>
          <a:blip r:embed="rId1"/>
          <a:stretch>
            <a:fillRect/>
          </a:stretch>
        </p:blipFill>
        <p:spPr>
          <a:xfrm>
            <a:off x="696017" y="1188720"/>
            <a:ext cx="4460125" cy="5212080"/>
          </a:xfrm>
          <a:prstGeom prst="rect">
            <a:avLst/>
          </a:prstGeom>
        </p:spPr>
      </p:pic>
      <p:graphicFrame>
        <p:nvGraphicFramePr>
          <p:cNvPr id="27" name="Table 26"/>
          <p:cNvGraphicFramePr>
            <a:graphicFrameLocks noGrp="1"/>
          </p:cNvGraphicFramePr>
          <p:nvPr/>
        </p:nvGraphicFramePr>
        <p:xfrm>
          <a:off x="5486400" y="1280160"/>
          <a:ext cx="6153912" cy="4937760"/>
        </p:xfrm>
        <a:graphic>
          <a:graphicData uri="http://schemas.openxmlformats.org/drawingml/2006/table">
            <a:tbl>
              <a:tblPr firstRow="0" bandRow="0">
                <a:tableStyleId>{5C22544A-7EE6-4342-B048-85BDC9FD1C3A}</a:tableStyleId>
              </a:tblPr>
              <a:tblGrid>
                <a:gridCol w="1417320"/>
                <a:gridCol w="4736592"/>
              </a:tblGrid>
              <a:tr h="822960">
                <a:tc>
                  <a:txBody>
                    <a:bodyPr wrap="square"/>
                    <a:lstStyle/>
                    <a:p>
                      <a:pPr algn="ctr"/>
                      <a:r>
                        <a:rPr sz="1300" b="1">
                          <a:solidFill>
                            <a:srgbClr val="FFFFFF"/>
                          </a:solidFill>
                        </a:rPr>
                        <a:t>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Rule (from inference.py)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22960">
                <a:tc>
                  <a:txBody>
                    <a:bodyPr wrap="square"/>
                    <a:lstStyle/>
                    <a:p>
                      <a:pPr algn="l"/>
                      <a:r>
                        <a:rPr sz="1300" b="1">
                          <a:solidFill>
                            <a:srgbClr val="0F172A"/>
                          </a:solidFill>
                        </a:rPr>
                        <a:t>No face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HTTP 200 with face_detected false, empty lists, dominant null (the contract says 422)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300" b="1">
                          <a:solidFill>
                            <a:srgbClr val="0F172A"/>
                          </a:solidFill>
                        </a:rPr>
                        <a:t>Scores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sigmoid of the 18 logits; basic = outputs 0-6, compound = outputs 7-17, each list sorted descending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300" b="1">
                          <a:solidFill>
                            <a:srgbClr val="0F172A"/>
                          </a:solidFill>
                        </a:rPr>
                        <a:t>Dominant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argmax over all 18; kind is 'basic' when its index is below 7, otherwise 'compound'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300" b="1">
                          <a:solidFill>
                            <a:srgbClr val="0F172A"/>
                          </a:solidFill>
                        </a:rPr>
                        <a:t>Threshold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none is applied: the threshold argument of analyze_image_bytes is never used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300" b="1">
                          <a:solidFill>
                            <a:srgbClr val="0F172A"/>
                          </a:solidFill>
                        </a:rPr>
                        <a:t>Consequence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compound outputs average 0.0002 on real faces, so the dominant label is never a compound 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mosaic_deck_r2_04.png"/>
          <p:cNvPicPr>
            <a:picLocks noChangeAspect="1"/>
          </p:cNvPicPr>
          <p:nvPr/>
        </p:nvPicPr>
        <p:blipFill>
          <a:blip r:embed="rId1"/>
          <a:stretch>
            <a:fillRect/>
          </a:stretch>
        </p:blipFill>
        <p:spPr>
          <a:xfrm>
            <a:off x="548640" y="1207387"/>
            <a:ext cx="6400800" cy="5129025"/>
          </a:xfrm>
          <a:prstGeom prst="rect">
            <a:avLst/>
          </a:prstGeom>
        </p:spPr>
      </p:pic>
      <p:graphicFrame>
        <p:nvGraphicFramePr>
          <p:cNvPr id="27" name="Table 26"/>
          <p:cNvGraphicFramePr>
            <a:graphicFrameLocks noGrp="1"/>
          </p:cNvGraphicFramePr>
          <p:nvPr/>
        </p:nvGraphicFramePr>
        <p:xfrm>
          <a:off x="7223760" y="1280160"/>
          <a:ext cx="4416552" cy="4279392"/>
        </p:xfrm>
        <a:graphic>
          <a:graphicData uri="http://schemas.openxmlformats.org/drawingml/2006/table">
            <a:tbl>
              <a:tblPr firstRow="0" bandRow="0">
                <a:tableStyleId>{5C22544A-7EE6-4342-B048-85BDC9FD1C3A}</a:tableStyleId>
              </a:tblPr>
              <a:tblGrid>
                <a:gridCol w="1783080"/>
                <a:gridCol w="2633472"/>
              </a:tblGrid>
              <a:tr h="475488">
                <a:tc>
                  <a:txBody>
                    <a:bodyPr wrap="square"/>
                    <a:lstStyle/>
                    <a:p>
                      <a:pPr algn="ctr"/>
                      <a:r>
                        <a:rPr sz="115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15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75488">
                <a:tc>
                  <a:txBody>
                    <a:bodyPr wrap="square"/>
                    <a:lstStyle/>
                    <a:p>
                      <a:pPr algn="l"/>
                      <a:r>
                        <a:rPr sz="1150" b="1">
                          <a:solidFill>
                            <a:srgbClr val="0F172A"/>
                          </a:solidFill>
                        </a:rPr>
                        <a:t>app/main.py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FastAPI app, CORS, router mounting, model load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50" b="1">
                          <a:solidFill>
                            <a:srgbClr val="0F172A"/>
                          </a:solidFill>
                        </a:rPr>
                        <a:t>app/routers/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auth, analyze, history, health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50" b="1">
                          <a:solidFill>
                            <a:srgbClr val="0F172A"/>
                          </a:solidFill>
                        </a:rPr>
                        <a:t>app/deps.py, security.py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Bearer token, bcrypt, JWT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50" b="1">
                          <a:solidFill>
                            <a:srgbClr val="0F172A"/>
                          </a:solidFill>
                        </a:rPr>
                        <a:t>app/models.py, db.py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SQLAlchemy User and Analysis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50" b="1">
                          <a:solidFill>
                            <a:srgbClr val="0F172A"/>
                          </a:solidFill>
                        </a:rPr>
                        <a:t>app/ml/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face, inference, CNN, GAN, 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50" b="1">
                          <a:solidFill>
                            <a:srgbClr val="0F172A"/>
                          </a:solidFill>
                        </a:rPr>
                        <a:t>frontend/src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Next.js pages and components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75488">
                <a:tc>
                  <a:txBody>
                    <a:bodyPr wrap="square"/>
                    <a:lstStyle/>
                    <a:p>
                      <a:pPr algn="l"/>
                      <a:r>
                        <a:rPr sz="1150" b="1">
                          <a:solidFill>
                            <a:srgbClr val="0F172A"/>
                          </a:solidFill>
                        </a:rPr>
                        <a:t>backend/tests/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150" b="0">
                          <a:solidFill>
                            <a:srgbClr val="0F172A"/>
                          </a:solidFill>
                        </a:rPr>
                        <a:t>28 pytest tests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75488">
                <a:tc>
                  <a:txBody>
                    <a:bodyPr wrap="square"/>
                    <a:lstStyle/>
                    <a:p>
                      <a:pPr algn="l"/>
                      <a:r>
                        <a:rPr sz="1150" b="1">
                          <a:solidFill>
                            <a:srgbClr val="0F172A"/>
                          </a:solidFill>
                        </a:rPr>
                        <a:t>scripts/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150" b="0">
                          <a:solidFill>
                            <a:srgbClr val="0F172A"/>
                          </a:solidFill>
                        </a:rPr>
                        <a:t>experiments, screenshots, API probes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
        <p:nvSpPr>
          <p:cNvPr id="28" name="TextBox 27"/>
          <p:cNvSpPr txBox="1"/>
          <p:nvPr/>
        </p:nvSpPr>
        <p:spPr>
          <a:xfrm>
            <a:off x="7223760" y="5760720"/>
            <a:ext cx="4416552" cy="548640"/>
          </a:xfrm>
          <a:prstGeom prst="rect">
            <a:avLst/>
          </a:prstGeom>
          <a:noFill/>
        </p:spPr>
        <p:txBody>
          <a:bodyPr wrap="square" lIns="0" rIns="0" tIns="0" bIns="0" anchor="t">
            <a:spAutoFit/>
          </a:bodyPr>
          <a:lstStyle/>
          <a:p>
            <a:pPr algn="l">
              <a:spcAft>
                <a:spcPts val="400"/>
              </a:spcAft>
            </a:pPr>
            <a:r>
              <a:rPr sz="1150" b="0" i="1">
                <a:solidFill>
                  <a:srgbClr val="475569"/>
                </a:solidFill>
              </a:rPr>
              <a:t>Level-1 data flow diagram: seven processes, four stores.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mosaic_deck_r2_09.png"/>
          <p:cNvPicPr>
            <a:picLocks noChangeAspect="1"/>
          </p:cNvPicPr>
          <p:nvPr/>
        </p:nvPicPr>
        <p:blipFill>
          <a:blip r:embed="rId1"/>
          <a:stretch>
            <a:fillRect/>
          </a:stretch>
        </p:blipFill>
        <p:spPr>
          <a:xfrm>
            <a:off x="548639" y="1809603"/>
            <a:ext cx="5394960" cy="2781592"/>
          </a:xfrm>
          <a:prstGeom prst="rect">
            <a:avLst/>
          </a:prstGeom>
        </p:spPr>
      </p:pic>
      <p:pic>
        <p:nvPicPr>
          <p:cNvPr id="27" name="Picture 26" descr="mosaic_deck_r2_06.png"/>
          <p:cNvPicPr>
            <a:picLocks noChangeAspect="1"/>
          </p:cNvPicPr>
          <p:nvPr/>
        </p:nvPicPr>
        <p:blipFill>
          <a:blip r:embed="rId4"/>
          <a:stretch>
            <a:fillRect/>
          </a:stretch>
        </p:blipFill>
        <p:spPr>
          <a:xfrm>
            <a:off x="6445757" y="1097280"/>
            <a:ext cx="4847845" cy="4892040"/>
          </a:xfrm>
          <a:prstGeom prst="rect">
            <a:avLst/>
          </a:prstGeom>
        </p:spPr>
      </p:pic>
      <p:sp>
        <p:nvSpPr>
          <p:cNvPr id="28" name="TextBox 27"/>
          <p:cNvSpPr txBox="1"/>
          <p:nvPr/>
        </p:nvSpPr>
        <p:spPr>
          <a:xfrm>
            <a:off x="548640" y="5303520"/>
            <a:ext cx="5394960" cy="640080"/>
          </a:xfrm>
          <a:prstGeom prst="rect">
            <a:avLst/>
          </a:prstGeom>
          <a:noFill/>
        </p:spPr>
        <p:txBody>
          <a:bodyPr wrap="square" lIns="0" rIns="0" tIns="0" bIns="0" anchor="t">
            <a:spAutoFit/>
          </a:bodyPr>
          <a:lstStyle/>
          <a:p>
            <a:pPr algn="l">
              <a:spcAft>
                <a:spcPts val="400"/>
              </a:spcAft>
            </a:pPr>
            <a:r>
              <a:rPr sz="1150" b="0" i="1">
                <a:solidFill>
                  <a:srgbClr val="475569"/>
                </a:solidFill>
              </a:rPr>
              <a:t>SQLite database: users and analyses joined one-to-many; emotion lists are stored as JSON.</a:t>
            </a:r>
          </a:p>
        </p:txBody>
      </p:sp>
      <p:sp>
        <p:nvSpPr>
          <p:cNvPr id="29" name="TextBox 28"/>
          <p:cNvSpPr txBox="1"/>
          <p:nvPr/>
        </p:nvSpPr>
        <p:spPr>
          <a:xfrm>
            <a:off x="6035040" y="6035040"/>
            <a:ext cx="5669280" cy="365760"/>
          </a:xfrm>
          <a:prstGeom prst="rect">
            <a:avLst/>
          </a:prstGeom>
          <a:noFill/>
        </p:spPr>
        <p:txBody>
          <a:bodyPr wrap="square" lIns="0" rIns="0" tIns="0" bIns="0" anchor="t">
            <a:spAutoFit/>
          </a:bodyPr>
          <a:lstStyle/>
          <a:p>
            <a:pPr algn="l">
              <a:spcAft>
                <a:spcPts val="400"/>
              </a:spcAft>
            </a:pPr>
            <a:r>
              <a:rPr sz="1150" b="0" i="1">
                <a:solidFill>
                  <a:srgbClr val="475569"/>
                </a:solidFill>
              </a:rPr>
              <a:t>Classes and module interfaces present in the code.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25880"/>
          <a:ext cx="11091672" cy="4992624"/>
        </p:xfrm>
        <a:graphic>
          <a:graphicData uri="http://schemas.openxmlformats.org/drawingml/2006/table">
            <a:tbl>
              <a:tblPr firstRow="0" bandRow="0">
                <a:tableStyleId>{5C22544A-7EE6-4342-B048-85BDC9FD1C3A}</a:tableStyleId>
              </a:tblPr>
              <a:tblGrid>
                <a:gridCol w="2103120"/>
                <a:gridCol w="8988552"/>
              </a:tblGrid>
              <a:tr h="713232">
                <a:tc>
                  <a:txBody>
                    <a:bodyPr wrap="square"/>
                    <a:lstStyle/>
                    <a:p>
                      <a:pPr algn="ctr"/>
                      <a:r>
                        <a:rPr sz="14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Technology (pins from requirements.txt / package.json)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13232">
                <a:tc>
                  <a:txBody>
                    <a:bodyPr wrap="square"/>
                    <a:lstStyle/>
                    <a:p>
                      <a:pPr algn="l"/>
                      <a:r>
                        <a:rPr sz="1400" b="1">
                          <a:solidFill>
                            <a:srgbClr val="0F172A"/>
                          </a:solidFill>
                        </a:rPr>
                        <a:t>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Python 3.11.9; FastAPI 0.115.0, uvicorn 0.30.6, SQLAlchemy 2.0.35, pydantic 2.9.2, python-jose, passlib + bcrypt 4.0.1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400" b="1">
                          <a:solidFill>
                            <a:srgbClr val="0F172A"/>
                          </a:solidFill>
                        </a:rPr>
                        <a:t>Machine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PyTorch 2.4.1 (2.14.1 CPU was used in this run), torchvision, NumPy 1.26.4, pandas 2.2.2, scikit-learn 1.5.0 for metrics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400" b="1">
                          <a:solidFill>
                            <a:srgbClr val="0F172A"/>
                          </a:solidFill>
                        </a:rPr>
                        <a:t>Vision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OpenCV 4.10 (Haar cascade haarcascade_frontalface_default.xml), Pillow 10.4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400" b="1">
                          <a:solidFill>
                            <a:srgbClr val="0F172A"/>
                          </a:solidFill>
                        </a:rPr>
                        <a:t>Storage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SQLite file mosaic.db; checkpoints (.pt) and cropped-face JPEG thumbnails on disk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13232">
                <a:tc>
                  <a:txBody>
                    <a:bodyPr wrap="square"/>
                    <a:lstStyle/>
                    <a:p>
                      <a:pPr algn="l"/>
                      <a:r>
                        <a:rPr sz="14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Next.js 16.3.6, React 19.2.8, TypeScript, Tailwind 4, Recharts, Framer Motion, GSAP, Lenis, Three.js, zustand, react-webcam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13232">
                <a:tc>
                  <a:txBody>
                    <a:bodyPr wrap="square"/>
                    <a:lstStyle/>
                    <a:p>
                      <a:pPr algn="l"/>
                      <a:r>
                        <a:rPr sz="1400" b="1">
                          <a:solidFill>
                            <a:srgbClr val="0F172A"/>
                          </a:solidFill>
                        </a:rPr>
                        <a:t>Testing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pytest (28 tests), Playwright for the screenshots, a Python probe script for the 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280160"/>
          <a:ext cx="11091672" cy="5120640"/>
        </p:xfrm>
        <a:graphic>
          <a:graphicData uri="http://schemas.openxmlformats.org/drawingml/2006/table">
            <a:tbl>
              <a:tblPr firstRow="0" bandRow="0">
                <a:tableStyleId>{5C22544A-7EE6-4342-B048-85BDC9FD1C3A}</a:tableStyleId>
              </a:tblPr>
              <a:tblGrid>
                <a:gridCol w="4754880"/>
                <a:gridCol w="2011680"/>
                <a:gridCol w="4325112"/>
              </a:tblGrid>
              <a:tr h="640080">
                <a:tc>
                  <a:txBody>
                    <a:bodyPr wrap="square"/>
                    <a:lstStyle/>
                    <a:p>
                      <a:pPr algn="ctr"/>
                      <a:r>
                        <a:rPr sz="1250" b="1">
                          <a:solidFill>
                            <a:srgbClr val="FFFFFF"/>
                          </a:solidFill>
                        </a:rPr>
                        <a:t>Component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5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40080">
                <a:tc>
                  <a:txBody>
                    <a:bodyPr wrap="square"/>
                    <a:lstStyle/>
                    <a:p>
                      <a:pPr algn="l"/>
                      <a:r>
                        <a:rPr sz="1250" b="0">
                          <a:solidFill>
                            <a:srgbClr val="0F172A"/>
                          </a:solidFill>
                        </a:rPr>
                        <a:t>Accounts, JWT login, per-user history with delete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28 pytest tests; history of another user returns 404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40080">
                <a:tc>
                  <a:txBody>
                    <a:bodyPr wrap="square"/>
                    <a:lstStyle/>
                    <a:p>
                      <a:pPr algn="l"/>
                      <a:r>
                        <a:rPr sz="1250" b="0">
                          <a:solidFill>
                            <a:srgbClr val="0F172A"/>
                          </a:solidFill>
                        </a:rPr>
                        <a:t>Upload and webcam capture, Haar detection, 18-output CNN, result screens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 (webcam not exercised)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analyze median 19 ms over HTTP; 19 real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40080">
                <a:tc>
                  <a:txBody>
                    <a:bodyPr wrap="square"/>
                    <a:lstStyle/>
                    <a:p>
                      <a:pPr algn="l"/>
                      <a:r>
                        <a:rPr sz="1250" b="0">
                          <a:solidFill>
                            <a:srgbClr val="0F172A"/>
                          </a:solidFill>
                        </a:rPr>
                        <a:t>Conditional GAN and synthetic compound faces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Implemented, weak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stage-1 reads the intended emotion on 15 % of generated faces (chance 14 %)</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40080">
                <a:tc>
                  <a:txBody>
                    <a:bodyPr wrap="square"/>
                    <a:lstStyle/>
                    <a:p>
                      <a:pPr algn="l"/>
                      <a:r>
                        <a:rPr sz="1250" b="0">
                          <a:solidFill>
                            <a:srgbClr val="0F172A"/>
                          </a:solidFill>
                        </a:rPr>
                        <a:t>Recognition of compound emotions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Not achieved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ROC-AUC 0.50 on synthetic hold-out; max probability 0.0002 on real faces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40080">
                <a:tc>
                  <a:txBody>
                    <a:bodyPr wrap="square"/>
                    <a:lstStyle/>
                    <a:p>
                      <a:pPr algn="l"/>
                      <a:r>
                        <a:rPr sz="1250" b="0">
                          <a:solidFill>
                            <a:srgbClr val="0F172A"/>
                          </a:solidFill>
                        </a:rPr>
                        <a:t>Identity-preserving encoder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implemented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 encoder in the code; objective 1 only partly met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40080">
                <a:tc>
                  <a:txBody>
                    <a:bodyPr wrap="square"/>
                    <a:lstStyle/>
                    <a:p>
                      <a:pPr algn="l"/>
                      <a:r>
                        <a:rPr sz="1250" b="0">
                          <a:solidFill>
                            <a:srgbClr val="0F172A"/>
                          </a:solidFill>
                        </a:rPr>
                        <a:t>Evaluation against a single-label baseline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50" b="0">
                          <a:solidFill>
                            <a:srgbClr val="0F172A"/>
                          </a:solidFill>
                        </a:rPr>
                        <a:t>50.56 % baseline vs 58.14 %; no-synthesis control with 3 seeds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40080">
                <a:tc>
                  <a:txBody>
                    <a:bodyPr wrap="square"/>
                    <a:lstStyle/>
                    <a:p>
                      <a:pPr algn="l"/>
                      <a:r>
                        <a:rPr sz="1250" b="0">
                          <a:solidFill>
                            <a:srgbClr val="0F172A"/>
                          </a:solidFill>
                        </a:rPr>
                        <a:t>Real compound-emotion test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Not available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50" b="0">
                          <a:solidFill>
                            <a:srgbClr val="0F172A"/>
                          </a:solidFill>
                        </a:rPr>
                        <a:t>FER2013 has basic labels only; RAF-DB compound needs a licence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34440"/>
            <a:ext cx="73152" cy="1188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25880"/>
            <a:ext cx="2331720" cy="653796"/>
          </a:xfrm>
          <a:prstGeom prst="rect">
            <a:avLst/>
          </a:prstGeom>
          <a:noFill/>
        </p:spPr>
        <p:txBody>
          <a:bodyPr wrap="square" lIns="0" rIns="0" tIns="0" bIns="0" anchor="ctr">
            <a:spAutoFit/>
          </a:bodyPr>
          <a:lstStyle/>
          <a:p>
            <a:pPr algn="l">
              <a:spcAft>
                <a:spcPts val="400"/>
              </a:spcAft>
            </a:pPr>
            <a:r>
              <a:rPr sz="2200" b="1" i="0">
                <a:solidFill>
                  <a:srgbClr val="0F172A"/>
                </a:solidFill>
              </a:rPr>
              <a:t>50.6 %</a:t>
            </a:r>
          </a:p>
        </p:txBody>
      </p:sp>
      <p:sp>
        <p:nvSpPr>
          <p:cNvPr id="29" name="TextBox 28"/>
          <p:cNvSpPr txBox="1"/>
          <p:nvPr/>
        </p:nvSpPr>
        <p:spPr>
          <a:xfrm>
            <a:off x="749808"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stage-1 single-label baseline, 7,178 real test faces</a:t>
            </a:r>
          </a:p>
        </p:txBody>
      </p:sp>
      <p:sp>
        <p:nvSpPr>
          <p:cNvPr id="30" name="Rounded Rectangle 29"/>
          <p:cNvSpPr/>
          <p:nvPr/>
        </p:nvSpPr>
        <p:spPr>
          <a:xfrm>
            <a:off x="3374136"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34440"/>
            <a:ext cx="73152"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25880"/>
            <a:ext cx="2331720" cy="653796"/>
          </a:xfrm>
          <a:prstGeom prst="rect">
            <a:avLst/>
          </a:prstGeom>
          <a:noFill/>
        </p:spPr>
        <p:txBody>
          <a:bodyPr wrap="square" lIns="0" rIns="0" tIns="0" bIns="0" anchor="ctr">
            <a:spAutoFit/>
          </a:bodyPr>
          <a:lstStyle/>
          <a:p>
            <a:pPr algn="l">
              <a:spcAft>
                <a:spcPts val="400"/>
              </a:spcAft>
            </a:pPr>
            <a:r>
              <a:rPr sz="2200" b="1" i="0">
                <a:solidFill>
                  <a:srgbClr val="0F172A"/>
                </a:solidFill>
              </a:rPr>
              <a:t>58.1 %</a:t>
            </a:r>
          </a:p>
        </p:txBody>
      </p:sp>
      <p:sp>
        <p:nvSpPr>
          <p:cNvPr id="33" name="TextBox 32"/>
          <p:cNvSpPr txBox="1"/>
          <p:nvPr/>
        </p:nvSpPr>
        <p:spPr>
          <a:xfrm>
            <a:off x="3575304"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final 18-output model (macro-F1 0.54)</a:t>
            </a:r>
          </a:p>
        </p:txBody>
      </p:sp>
      <p:sp>
        <p:nvSpPr>
          <p:cNvPr id="34" name="Rounded Rectangle 33"/>
          <p:cNvSpPr/>
          <p:nvPr/>
        </p:nvSpPr>
        <p:spPr>
          <a:xfrm>
            <a:off x="6199631"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34440"/>
            <a:ext cx="73152" cy="11887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25880"/>
            <a:ext cx="2331720" cy="653796"/>
          </a:xfrm>
          <a:prstGeom prst="rect">
            <a:avLst/>
          </a:prstGeom>
          <a:noFill/>
        </p:spPr>
        <p:txBody>
          <a:bodyPr wrap="square" lIns="0" rIns="0" tIns="0" bIns="0" anchor="ctr">
            <a:spAutoFit/>
          </a:bodyPr>
          <a:lstStyle/>
          <a:p>
            <a:pPr algn="l">
              <a:spcAft>
                <a:spcPts val="400"/>
              </a:spcAft>
            </a:pPr>
            <a:r>
              <a:rPr sz="1600" b="1" i="0">
                <a:solidFill>
                  <a:srgbClr val="0F172A"/>
                </a:solidFill>
              </a:rPr>
              <a:t>58.1 ± 1.6 vs 58.9 ± 0.6</a:t>
            </a:r>
          </a:p>
        </p:txBody>
      </p:sp>
      <p:sp>
        <p:nvSpPr>
          <p:cNvPr id="37" name="TextBox 36"/>
          <p:cNvSpPr txBox="1"/>
          <p:nvPr/>
        </p:nvSpPr>
        <p:spPr>
          <a:xfrm>
            <a:off x="6400799"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no synthetic data vs 2,200 synthetic faces, 3 seeds</a:t>
            </a:r>
          </a:p>
        </p:txBody>
      </p:sp>
      <p:sp>
        <p:nvSpPr>
          <p:cNvPr id="38" name="Rounded Rectangle 37"/>
          <p:cNvSpPr/>
          <p:nvPr/>
        </p:nvSpPr>
        <p:spPr>
          <a:xfrm>
            <a:off x="9025128" y="1234440"/>
            <a:ext cx="2606040" cy="11887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34440"/>
            <a:ext cx="73152" cy="118872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25880"/>
            <a:ext cx="2331720" cy="653796"/>
          </a:xfrm>
          <a:prstGeom prst="rect">
            <a:avLst/>
          </a:prstGeom>
          <a:noFill/>
        </p:spPr>
        <p:txBody>
          <a:bodyPr wrap="square" lIns="0" rIns="0" tIns="0" bIns="0" anchor="ctr">
            <a:spAutoFit/>
          </a:bodyPr>
          <a:lstStyle/>
          <a:p>
            <a:pPr algn="l">
              <a:spcAft>
                <a:spcPts val="400"/>
              </a:spcAft>
            </a:pPr>
            <a:r>
              <a:rPr sz="2200" b="1" i="0">
                <a:solidFill>
                  <a:srgbClr val="0F172A"/>
                </a:solidFill>
              </a:rPr>
              <a:t>0.50</a:t>
            </a:r>
          </a:p>
        </p:txBody>
      </p:sp>
      <p:sp>
        <p:nvSpPr>
          <p:cNvPr id="41" name="TextBox 40"/>
          <p:cNvSpPr txBox="1"/>
          <p:nvPr/>
        </p:nvSpPr>
        <p:spPr>
          <a:xfrm>
            <a:off x="9226296" y="1923897"/>
            <a:ext cx="2331720" cy="451713"/>
          </a:xfrm>
          <a:prstGeom prst="rect">
            <a:avLst/>
          </a:prstGeom>
          <a:noFill/>
        </p:spPr>
        <p:txBody>
          <a:bodyPr wrap="square" lIns="0" rIns="0" tIns="0" bIns="0" anchor="t">
            <a:spAutoFit/>
          </a:bodyPr>
          <a:lstStyle/>
          <a:p>
            <a:pPr algn="l">
              <a:spcAft>
                <a:spcPts val="400"/>
              </a:spcAft>
            </a:pPr>
            <a:r>
              <a:rPr sz="1050" b="0" i="0">
                <a:solidFill>
                  <a:srgbClr val="475569"/>
                </a:solidFill>
              </a:rPr>
              <a:t>compound ROC-AUC on 1,100 fresh synthetic faces (0.50 = chance)</a:t>
            </a:r>
          </a:p>
        </p:txBody>
      </p:sp>
      <p:pic>
        <p:nvPicPr>
          <p:cNvPr id="42" name="Picture 41" descr="mosaic_deck_r2_f1.png"/>
          <p:cNvPicPr>
            <a:picLocks noChangeAspect="1"/>
          </p:cNvPicPr>
          <p:nvPr/>
        </p:nvPicPr>
        <p:blipFill>
          <a:blip r:embed="rId1"/>
          <a:stretch>
            <a:fillRect/>
          </a:stretch>
        </p:blipFill>
        <p:spPr>
          <a:xfrm>
            <a:off x="548640" y="2694222"/>
            <a:ext cx="5486400" cy="2749715"/>
          </a:xfrm>
          <a:prstGeom prst="rect">
            <a:avLst/>
          </a:prstGeom>
        </p:spPr>
      </p:pic>
      <p:pic>
        <p:nvPicPr>
          <p:cNvPr id="43" name="Picture 42" descr="mosaic_deck_r2_ab.png"/>
          <p:cNvPicPr>
            <a:picLocks noChangeAspect="1"/>
          </p:cNvPicPr>
          <p:nvPr/>
        </p:nvPicPr>
        <p:blipFill>
          <a:blip r:embed="rId4"/>
          <a:stretch>
            <a:fillRect/>
          </a:stretch>
        </p:blipFill>
        <p:spPr>
          <a:xfrm>
            <a:off x="6172200" y="2757114"/>
            <a:ext cx="5486400" cy="2623930"/>
          </a:xfrm>
          <a:prstGeom prst="rect">
            <a:avLst/>
          </a:prstGeom>
        </p:spPr>
      </p:pic>
      <p:sp>
        <p:nvSpPr>
          <p:cNvPr id="44" name="TextBox 43"/>
          <p:cNvSpPr txBox="1"/>
          <p:nvPr/>
        </p:nvSpPr>
        <p:spPr>
          <a:xfrm>
            <a:off x="548640" y="5669280"/>
            <a:ext cx="11091672" cy="822960"/>
          </a:xfrm>
          <a:prstGeom prst="rect">
            <a:avLst/>
          </a:prstGeom>
          <a:noFill/>
        </p:spPr>
        <p:txBody>
          <a:bodyPr wrap="square" lIns="0" rIns="0" tIns="0" bIns="0" anchor="t">
            <a:spAutoFit/>
          </a:bodyPr>
          <a:lstStyle/>
          <a:p>
            <a:pPr algn="l">
              <a:spcAft>
                <a:spcPts val="400"/>
              </a:spcAft>
            </a:pPr>
            <a:r>
              <a:rPr sz="1200" b="0" i="0">
                <a:solidFill>
                  <a:srgbClr val="475569"/>
                </a:solidFill>
              </a:rPr>
              <a:t>The gain over the baseline comes from five more epochs, not from the GAN data: the no-synthesis control scores 58.1 %. Macro-F1 is 54.7 ± 0.9 without and 53.5 ± 0.8 with synthetic faces. The base paper's f-beta 0.99 / 0.99 / 0.80 is measured on its own generated images (CK+, JAFFE, MUG) and is not comparable.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8_result_happy.png"/>
          <p:cNvPicPr>
            <a:picLocks noChangeAspect="1"/>
          </p:cNvPicPr>
          <p:nvPr/>
        </p:nvPicPr>
        <p:blipFill>
          <a:blip r:embed="rId2"/>
          <a:stretch>
            <a:fillRect/>
          </a:stretch>
        </p:blipFill>
        <p:spPr>
          <a:xfrm>
            <a:off x="686714" y="1188720"/>
            <a:ext cx="3335731" cy="2084832"/>
          </a:xfrm>
          <a:prstGeom prst="rect">
            <a:avLst/>
          </a:prstGeom>
          <a:ln w="9525">
            <a:solidFill>
              <a:srgbClr val="D5DCE6"/>
            </a:solidFill>
          </a:ln>
        </p:spPr>
      </p:pic>
      <p:sp>
        <p:nvSpPr>
          <p:cNvPr id="27" name="TextBox 26"/>
          <p:cNvSpPr txBox="1"/>
          <p:nvPr/>
        </p:nvSpPr>
        <p:spPr>
          <a:xfrm>
            <a:off x="548640"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Happy face: basic bars, compound bars near 0 %</a:t>
            </a:r>
          </a:p>
        </p:txBody>
      </p:sp>
      <p:pic>
        <p:nvPicPr>
          <p:cNvPr id="28" name="Picture 27" descr="09_result_angry.png"/>
          <p:cNvPicPr>
            <a:picLocks noChangeAspect="1"/>
          </p:cNvPicPr>
          <p:nvPr/>
        </p:nvPicPr>
        <p:blipFill>
          <a:blip r:embed="rId1"/>
          <a:stretch>
            <a:fillRect/>
          </a:stretch>
        </p:blipFill>
        <p:spPr>
          <a:xfrm>
            <a:off x="4472330" y="1188720"/>
            <a:ext cx="3335731" cy="2084832"/>
          </a:xfrm>
          <a:prstGeom prst="rect">
            <a:avLst/>
          </a:prstGeom>
          <a:ln w="9525">
            <a:solidFill>
              <a:srgbClr val="D5DCE6"/>
            </a:solidFill>
          </a:ln>
        </p:spPr>
      </p:pic>
      <p:sp>
        <p:nvSpPr>
          <p:cNvPr id="29" name="TextBox 28"/>
          <p:cNvSpPr txBox="1"/>
          <p:nvPr/>
        </p:nvSpPr>
        <p:spPr>
          <a:xfrm>
            <a:off x="4334256"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Angry face, 75 % confidence</a:t>
            </a:r>
          </a:p>
        </p:txBody>
      </p:sp>
      <p:pic>
        <p:nvPicPr>
          <p:cNvPr id="30" name="Picture 29" descr="12_result_neutral_misread.png"/>
          <p:cNvPicPr>
            <a:picLocks noChangeAspect="1"/>
          </p:cNvPicPr>
          <p:nvPr/>
        </p:nvPicPr>
        <p:blipFill>
          <a:blip r:embed="rId5"/>
          <a:stretch>
            <a:fillRect/>
          </a:stretch>
        </p:blipFill>
        <p:spPr>
          <a:xfrm>
            <a:off x="8257946" y="1188720"/>
            <a:ext cx="3335731" cy="2084832"/>
          </a:xfrm>
          <a:prstGeom prst="rect">
            <a:avLst/>
          </a:prstGeom>
          <a:ln w="9525">
            <a:solidFill>
              <a:srgbClr val="D5DCE6"/>
            </a:solidFill>
          </a:ln>
        </p:spPr>
      </p:pic>
      <p:sp>
        <p:nvSpPr>
          <p:cNvPr id="31" name="TextBox 30"/>
          <p:cNvSpPr txBox="1"/>
          <p:nvPr/>
        </p:nvSpPr>
        <p:spPr>
          <a:xfrm>
            <a:off x="8119872" y="3310128"/>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Neutral face read as Fear (failure case)</a:t>
            </a:r>
          </a:p>
        </p:txBody>
      </p:sp>
      <p:pic>
        <p:nvPicPr>
          <p:cNvPr id="32" name="Picture 31" descr="14_result_gan_happily_surprised.png"/>
          <p:cNvPicPr>
            <a:picLocks noChangeAspect="1"/>
          </p:cNvPicPr>
          <p:nvPr/>
        </p:nvPicPr>
        <p:blipFill>
          <a:blip r:embed="rId6"/>
          <a:stretch>
            <a:fillRect/>
          </a:stretch>
        </p:blipFill>
        <p:spPr>
          <a:xfrm>
            <a:off x="686714" y="3712464"/>
            <a:ext cx="3335731" cy="2084832"/>
          </a:xfrm>
          <a:prstGeom prst="rect">
            <a:avLst/>
          </a:prstGeom>
          <a:ln w="9525">
            <a:solidFill>
              <a:srgbClr val="D5DCE6"/>
            </a:solidFill>
          </a:ln>
        </p:spPr>
      </p:pic>
      <p:sp>
        <p:nvSpPr>
          <p:cNvPr id="33" name="TextBox 32"/>
          <p:cNvSpPr txBox="1"/>
          <p:nvPr/>
        </p:nvSpPr>
        <p:spPr>
          <a:xfrm>
            <a:off x="548640"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Generator output: compound scores only 1 %</a:t>
            </a:r>
          </a:p>
        </p:txBody>
      </p:sp>
      <p:pic>
        <p:nvPicPr>
          <p:cNvPr id="34" name="Picture 33" descr="16_result_no_face.png"/>
          <p:cNvPicPr>
            <a:picLocks noChangeAspect="1"/>
          </p:cNvPicPr>
          <p:nvPr/>
        </p:nvPicPr>
        <p:blipFill>
          <a:blip r:embed="rId7"/>
          <a:stretch>
            <a:fillRect/>
          </a:stretch>
        </p:blipFill>
        <p:spPr>
          <a:xfrm>
            <a:off x="4472330" y="3712464"/>
            <a:ext cx="3335731" cy="2084832"/>
          </a:xfrm>
          <a:prstGeom prst="rect">
            <a:avLst/>
          </a:prstGeom>
          <a:ln w="9525">
            <a:solidFill>
              <a:srgbClr val="D5DCE6"/>
            </a:solidFill>
          </a:ln>
        </p:spPr>
      </p:pic>
      <p:sp>
        <p:nvSpPr>
          <p:cNvPr id="35" name="TextBox 34"/>
          <p:cNvSpPr txBox="1"/>
          <p:nvPr/>
        </p:nvSpPr>
        <p:spPr>
          <a:xfrm>
            <a:off x="4334256"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Native 48 px face: no face detected</a:t>
            </a:r>
          </a:p>
        </p:txBody>
      </p:sp>
      <p:pic>
        <p:nvPicPr>
          <p:cNvPr id="36" name="Picture 35" descr="17_history.png"/>
          <p:cNvPicPr>
            <a:picLocks noChangeAspect="1"/>
          </p:cNvPicPr>
          <p:nvPr/>
        </p:nvPicPr>
        <p:blipFill>
          <a:blip r:embed="rId8"/>
          <a:stretch>
            <a:fillRect/>
          </a:stretch>
        </p:blipFill>
        <p:spPr>
          <a:xfrm>
            <a:off x="8257946" y="3712464"/>
            <a:ext cx="3335731" cy="2084832"/>
          </a:xfrm>
          <a:prstGeom prst="rect">
            <a:avLst/>
          </a:prstGeom>
          <a:ln w="9525">
            <a:solidFill>
              <a:srgbClr val="D5DCE6"/>
            </a:solidFill>
          </a:ln>
        </p:spPr>
      </p:pic>
      <p:sp>
        <p:nvSpPr>
          <p:cNvPr id="37" name="TextBox 36"/>
          <p:cNvSpPr txBox="1"/>
          <p:nvPr/>
        </p:nvSpPr>
        <p:spPr>
          <a:xfrm>
            <a:off x="8119872" y="5833872"/>
            <a:ext cx="3611880" cy="274320"/>
          </a:xfrm>
          <a:prstGeom prst="rect">
            <a:avLst/>
          </a:prstGeom>
          <a:noFill/>
        </p:spPr>
        <p:txBody>
          <a:bodyPr wrap="square" lIns="0" rIns="0" tIns="0" bIns="0" anchor="t">
            <a:spAutoFit/>
          </a:bodyPr>
          <a:lstStyle/>
          <a:p>
            <a:pPr algn="ctr">
              <a:spcAft>
                <a:spcPts val="400"/>
              </a:spcAft>
            </a:pPr>
            <a:r>
              <a:rPr sz="1100" b="0" i="1">
                <a:solidFill>
                  <a:srgbClr val="475569"/>
                </a:solidFill>
              </a:rPr>
              <a:t>History of the signed-in user</a:t>
            </a:r>
          </a:p>
        </p:txBody>
      </p:sp>
      <p:sp>
        <p:nvSpPr>
          <p:cNvPr id="38" name="TextBox 37"/>
          <p:cNvSpPr txBox="1"/>
          <p:nvPr/>
        </p:nvSpPr>
        <p:spPr>
          <a:xfrm>
            <a:off x="548640" y="6144768"/>
            <a:ext cx="11091672" cy="274320"/>
          </a:xfrm>
          <a:prstGeom prst="rect">
            <a:avLst/>
          </a:prstGeom>
          <a:noFill/>
        </p:spPr>
        <p:txBody>
          <a:bodyPr wrap="square" lIns="0" rIns="0" tIns="0" bIns="0" anchor="t">
            <a:spAutoFit/>
          </a:bodyPr>
          <a:lstStyle/>
          <a:p>
            <a:pPr algn="l">
              <a:spcAft>
                <a:spcPts val="400"/>
              </a:spcAft>
            </a:pPr>
            <a:r>
              <a:rPr sz="1100" b="0" i="1">
                <a:solidFill>
                  <a:srgbClr val="475569"/>
                </a:solidFill>
              </a:rPr>
              <a:t>Real captures of the running application at 1440 x 900; inputs are FER2013 test faces and cEmoGAN output.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28016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28 / 28</a:t>
            </a:r>
          </a:p>
        </p:txBody>
      </p:sp>
      <p:sp>
        <p:nvSpPr>
          <p:cNvPr id="29" name="TextBox 28"/>
          <p:cNvSpPr txBox="1"/>
          <p:nvPr/>
        </p:nvSpPr>
        <p:spPr>
          <a:xfrm>
            <a:off x="749808"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 (temporary database)</a:t>
            </a:r>
          </a:p>
        </p:txBody>
      </p:sp>
      <p:sp>
        <p:nvSpPr>
          <p:cNvPr id="30" name="Rounded Rectangle 29"/>
          <p:cNvSpPr/>
          <p:nvPr/>
        </p:nvSpPr>
        <p:spPr>
          <a:xfrm>
            <a:off x="3374136"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74136" y="128016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75304"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24 / 24</a:t>
            </a:r>
          </a:p>
        </p:txBody>
      </p:sp>
      <p:sp>
        <p:nvSpPr>
          <p:cNvPr id="33" name="TextBox 32"/>
          <p:cNvSpPr txBox="1"/>
          <p:nvPr/>
        </p:nvSpPr>
        <p:spPr>
          <a:xfrm>
            <a:off x="3575304"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malformed-input and abuse probes behaved as expected</a:t>
            </a:r>
          </a:p>
        </p:txBody>
      </p:sp>
      <p:sp>
        <p:nvSpPr>
          <p:cNvPr id="34" name="Rounded Rectangle 33"/>
          <p:cNvSpPr/>
          <p:nvPr/>
        </p:nvSpPr>
        <p:spPr>
          <a:xfrm>
            <a:off x="6199631"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199631" y="128016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00799"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19 ms</a:t>
            </a:r>
          </a:p>
        </p:txBody>
      </p:sp>
      <p:sp>
        <p:nvSpPr>
          <p:cNvPr id="37" name="TextBox 36"/>
          <p:cNvSpPr txBox="1"/>
          <p:nvPr/>
        </p:nvSpPr>
        <p:spPr>
          <a:xfrm>
            <a:off x="6400799"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POST /api/analyze over HTTP (127.0.0.1)</a:t>
            </a:r>
          </a:p>
        </p:txBody>
      </p:sp>
      <p:sp>
        <p:nvSpPr>
          <p:cNvPr id="38" name="Rounded Rectangle 37"/>
          <p:cNvSpPr/>
          <p:nvPr/>
        </p:nvSpPr>
        <p:spPr>
          <a:xfrm>
            <a:off x="9025128" y="1280160"/>
            <a:ext cx="260604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25128" y="128016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26296" y="1371600"/>
            <a:ext cx="2331720" cy="628650"/>
          </a:xfrm>
          <a:prstGeom prst="rect">
            <a:avLst/>
          </a:prstGeom>
          <a:noFill/>
        </p:spPr>
        <p:txBody>
          <a:bodyPr wrap="square" lIns="0" rIns="0" tIns="0" bIns="0" anchor="ctr">
            <a:spAutoFit/>
          </a:bodyPr>
          <a:lstStyle/>
          <a:p>
            <a:pPr algn="l">
              <a:spcAft>
                <a:spcPts val="400"/>
              </a:spcAft>
            </a:pPr>
            <a:r>
              <a:rPr sz="2600" b="1" i="0">
                <a:solidFill>
                  <a:srgbClr val="0F172A"/>
                </a:solidFill>
              </a:rPr>
              <a:t>219 ms</a:t>
            </a:r>
          </a:p>
        </p:txBody>
      </p:sp>
      <p:sp>
        <p:nvSpPr>
          <p:cNvPr id="41" name="TextBox 40"/>
          <p:cNvSpPr txBox="1"/>
          <p:nvPr/>
        </p:nvSpPr>
        <p:spPr>
          <a:xfrm>
            <a:off x="9226296" y="1943100"/>
            <a:ext cx="2331720" cy="434340"/>
          </a:xfrm>
          <a:prstGeom prst="rect">
            <a:avLst/>
          </a:prstGeom>
          <a:noFill/>
        </p:spPr>
        <p:txBody>
          <a:bodyPr wrap="square" lIns="0" rIns="0" tIns="0" bIns="0" anchor="t">
            <a:spAutoFit/>
          </a:bodyPr>
          <a:lstStyle/>
          <a:p>
            <a:pPr algn="l">
              <a:spcAft>
                <a:spcPts val="400"/>
              </a:spcAft>
            </a:pPr>
            <a:r>
              <a:rPr sz="1200" b="0" i="0">
                <a:solidFill>
                  <a:srgbClr val="475569"/>
                </a:solidFill>
              </a:rPr>
              <a:t>median login (bcrypt hashing)</a:t>
            </a:r>
          </a:p>
        </p:txBody>
      </p:sp>
      <p:graphicFrame>
        <p:nvGraphicFramePr>
          <p:cNvPr id="42" name="Table 41"/>
          <p:cNvGraphicFramePr>
            <a:graphicFrameLocks noGrp="1"/>
          </p:cNvGraphicFramePr>
          <p:nvPr/>
        </p:nvGraphicFramePr>
        <p:xfrm>
          <a:off x="548640" y="2651760"/>
          <a:ext cx="11091672" cy="3383280"/>
        </p:xfrm>
        <a:graphic>
          <a:graphicData uri="http://schemas.openxmlformats.org/drawingml/2006/table">
            <a:tbl>
              <a:tblPr firstRow="0" bandRow="0">
                <a:tableStyleId>{5C22544A-7EE6-4342-B048-85BDC9FD1C3A}</a:tableStyleId>
              </a:tblPr>
              <a:tblGrid>
                <a:gridCol w="6400800"/>
                <a:gridCol w="4690872"/>
              </a:tblGrid>
              <a:tr h="676656">
                <a:tc>
                  <a:txBody>
                    <a:bodyPr wrap="square"/>
                    <a:lstStyle/>
                    <a:p>
                      <a:pPr algn="ctr"/>
                      <a:r>
                        <a:rPr sz="12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Treatment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676656">
                <a:tc>
                  <a:txBody>
                    <a:bodyPr wrap="square"/>
                    <a:lstStyle/>
                    <a:p>
                      <a:pPr algn="l"/>
                      <a:r>
                        <a:rPr sz="1200" b="0">
                          <a:solidFill>
                            <a:srgbClr val="0F172A"/>
                          </a:solidFill>
                        </a:rPr>
                        <a:t>A photo without a face returns 200 with face_detected false (API_CONTRACT.md says 422); an undecodable upload returns HTTP 500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Recorded as defects and covered by characterisation tests; not changed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200" b="0">
                          <a:solidFill>
                            <a:srgbClr val="0F172A"/>
                          </a:solidFill>
                        </a:rPr>
                        <a:t>The result thumbnail is a broken image: the relative URL is resolved against the front-end origin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Recorded; visible in the screenshots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676656">
                <a:tc>
                  <a:txBody>
                    <a:bodyPr wrap="square"/>
                    <a:lstStyle/>
                    <a:p>
                      <a:pPr algn="l"/>
                      <a:r>
                        <a:rPr sz="1200" b="0">
                          <a:solidFill>
                            <a:srgbClr val="0F172A"/>
                          </a:solidFill>
                        </a:rPr>
                        <a:t>/app/history/[id] exists but nothing links to it; a hard reload of /app in dev mode returns to the login page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Recorded; screenshots use client-side navigation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676656">
                <a:tc>
                  <a:txBody>
                    <a:bodyPr wrap="square"/>
                    <a:lstStyle/>
                    <a:p>
                      <a:pPr algn="l"/>
                      <a:r>
                        <a:rPr sz="1200" b="0">
                          <a:solidFill>
                            <a:srgbClr val="0F172A"/>
                          </a:solidFill>
                        </a:rPr>
                        <a:t>Registration accepts an e-mail address without an @ sign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Recorded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937760"/>
        </p:xfrm>
        <a:graphic>
          <a:graphicData uri="http://schemas.openxmlformats.org/drawingml/2006/table">
            <a:tbl>
              <a:tblPr firstRow="0" bandRow="0">
                <a:tableStyleId>{5C22544A-7EE6-4342-B048-85BDC9FD1C3A}</a:tableStyleId>
              </a:tblPr>
              <a:tblGrid>
                <a:gridCol w="5394960"/>
                <a:gridCol w="5696712"/>
              </a:tblGrid>
              <a:tr h="822960">
                <a:tc>
                  <a:txBody>
                    <a:bodyPr wrap="square"/>
                    <a:lstStyle/>
                    <a:p>
                      <a:pPr algn="ctr"/>
                      <a:r>
                        <a:rPr sz="135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5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822960">
                <a:tc>
                  <a:txBody>
                    <a:bodyPr wrap="square"/>
                    <a:lstStyle/>
                    <a:p>
                      <a:pPr algn="l"/>
                      <a:r>
                        <a:rPr sz="1350" b="0">
                          <a:solidFill>
                            <a:srgbClr val="0F172A"/>
                          </a:solidFill>
                        </a:rPr>
                        <a:t>The final classifier checkpoint was missing, so the API reported model_loaded false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Stage 3 of the unchanged pipeline was run once (10 min 37 s) and its log line recorded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350" b="0">
                          <a:solidFill>
                            <a:srgbClr val="0F172A"/>
                          </a:solidFill>
                        </a:rPr>
                        <a:t>The GAN trained for 10 epochs on 2,800 faces produces blurred faces that ignore their condition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Measured and reported (fidelity 15 % vs 14 % chance); a longer, better-conditioned GAN is the first next step</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350" b="0">
                          <a:solidFill>
                            <a:srgbClr val="0F172A"/>
                          </a:solidFill>
                        </a:rPr>
                        <a:t>FER2013 has no compound labels, so compound recognition cannot be scored on real faces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Scored on a fresh synthetic hold-out with a no-synthesis control, and the limit is stated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822960">
                <a:tc>
                  <a:txBody>
                    <a:bodyPr wrap="square"/>
                    <a:lstStyle/>
                    <a:p>
                      <a:pPr algn="l"/>
                      <a:r>
                        <a:rPr sz="1350" b="0">
                          <a:solidFill>
                            <a:srgbClr val="0F172A"/>
                          </a:solidFill>
                        </a:rPr>
                        <a:t>Haar detection misses native 48 px faces and about half of upscaled ones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50" b="0">
                          <a:solidFill>
                            <a:srgbClr val="0F172A"/>
                          </a:solidFill>
                        </a:rPr>
                        <a:t>Detection rate and the accuracy cost are measured; a better detector is listed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822960">
                <a:tc>
                  <a:txBody>
                    <a:bodyPr wrap="square"/>
                    <a:lstStyle/>
                    <a:p>
                      <a:pPr algn="l"/>
                      <a:r>
                        <a:rPr sz="1350" b="0">
                          <a:solidFill>
                            <a:srgbClr val="0F172A"/>
                          </a:solidFill>
                        </a:rPr>
                        <a:t>Environment: port 8000 taken, bcrypt 5 breaks passlib, the old .venv was a Python 3.10 copy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50" b="0">
                          <a:solidFill>
                            <a:srgbClr val="0F172A"/>
                          </a:solidFill>
                        </a:rPr>
                        <a:t>API run on 8116, bcrypt pinned to 4.0.1, a clean virtual environment used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Better generator</a:t>
            </a:r>
          </a:p>
        </p:txBody>
      </p:sp>
      <p:sp>
        <p:nvSpPr>
          <p:cNvPr id="29" name="TextBox 28"/>
          <p:cNvSpPr txBox="1"/>
          <p:nvPr/>
        </p:nvSpPr>
        <p:spPr>
          <a:xfrm>
            <a:off x="749808" y="2331720"/>
            <a:ext cx="2203704" cy="2560320"/>
          </a:xfrm>
          <a:prstGeom prst="rect">
            <a:avLst/>
          </a:prstGeom>
          <a:noFill/>
        </p:spPr>
        <p:txBody>
          <a:bodyPr wrap="square" lIns="0" rIns="0" tIns="0" bIns="0" anchor="t">
            <a:spAutoFit/>
          </a:bodyPr>
          <a:lstStyle/>
          <a:p>
            <a:pPr algn="l">
              <a:spcAft>
                <a:spcPts val="400"/>
              </a:spcAft>
            </a:pPr>
            <a:r>
              <a:rPr sz="1400" b="0" i="0">
                <a:solidFill>
                  <a:srgbClr val="475569"/>
                </a:solidFill>
              </a:rPr>
              <a:t>Train the cEmoGAN longer on more faces, with the base paper's multi-hot label and an identity encoder, and check it with the stage-1 classifier before using its images.</a:t>
            </a:r>
          </a:p>
        </p:txBody>
      </p:sp>
      <p:sp>
        <p:nvSpPr>
          <p:cNvPr id="30" name="Rounded Rectangle 29"/>
          <p:cNvSpPr/>
          <p:nvPr/>
        </p:nvSpPr>
        <p:spPr>
          <a:xfrm>
            <a:off x="3374136"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75304"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15384"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Real compound labels</a:t>
            </a:r>
          </a:p>
        </p:txBody>
      </p:sp>
      <p:sp>
        <p:nvSpPr>
          <p:cNvPr id="33" name="TextBox 32"/>
          <p:cNvSpPr txBox="1"/>
          <p:nvPr/>
        </p:nvSpPr>
        <p:spPr>
          <a:xfrm>
            <a:off x="3575304" y="2331720"/>
            <a:ext cx="2203704" cy="2560320"/>
          </a:xfrm>
          <a:prstGeom prst="rect">
            <a:avLst/>
          </a:prstGeom>
          <a:noFill/>
        </p:spPr>
        <p:txBody>
          <a:bodyPr wrap="square" lIns="0" rIns="0" tIns="0" bIns="0" anchor="t">
            <a:spAutoFit/>
          </a:bodyPr>
          <a:lstStyle/>
          <a:p>
            <a:pPr algn="l">
              <a:spcAft>
                <a:spcPts val="400"/>
              </a:spcAft>
            </a:pPr>
            <a:r>
              <a:rPr sz="1400" b="0" i="0">
                <a:solidFill>
                  <a:srgbClr val="475569"/>
                </a:solidFill>
              </a:rPr>
              <a:t>Obtain RAF-DB compound or a similar set so compound outputs can be scored on real faces, with precision, recall and exact-match ratio.</a:t>
            </a:r>
          </a:p>
        </p:txBody>
      </p:sp>
      <p:sp>
        <p:nvSpPr>
          <p:cNvPr id="34" name="Rounded Rectangle 33"/>
          <p:cNvSpPr/>
          <p:nvPr/>
        </p:nvSpPr>
        <p:spPr>
          <a:xfrm>
            <a:off x="6199631"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00799"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40879"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Close the serving gap</a:t>
            </a:r>
          </a:p>
        </p:txBody>
      </p:sp>
      <p:sp>
        <p:nvSpPr>
          <p:cNvPr id="37" name="TextBox 36"/>
          <p:cNvSpPr txBox="1"/>
          <p:nvPr/>
        </p:nvSpPr>
        <p:spPr>
          <a:xfrm>
            <a:off x="6400799" y="2331720"/>
            <a:ext cx="2203704" cy="2560320"/>
          </a:xfrm>
          <a:prstGeom prst="rect">
            <a:avLst/>
          </a:prstGeom>
          <a:noFill/>
        </p:spPr>
        <p:txBody>
          <a:bodyPr wrap="square" lIns="0" rIns="0" tIns="0" bIns="0" anchor="t">
            <a:spAutoFit/>
          </a:bodyPr>
          <a:lstStyle/>
          <a:p>
            <a:pPr algn="l">
              <a:spcAft>
                <a:spcPts val="400"/>
              </a:spcAft>
            </a:pPr>
            <a:r>
              <a:rPr sz="1400" b="0" i="0">
                <a:solidFill>
                  <a:srgbClr val="475569"/>
                </a:solidFill>
              </a:rPr>
              <a:t>Train on Haar-style crops, add a stronger face detector and alignment, and apply a decision threshold instead of a plain argmax.</a:t>
            </a:r>
          </a:p>
        </p:txBody>
      </p:sp>
      <p:sp>
        <p:nvSpPr>
          <p:cNvPr id="38" name="Rounded Rectangle 37"/>
          <p:cNvSpPr/>
          <p:nvPr/>
        </p:nvSpPr>
        <p:spPr>
          <a:xfrm>
            <a:off x="9025128" y="1463040"/>
            <a:ext cx="2606040" cy="35661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26296"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66376" y="1618488"/>
            <a:ext cx="16002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Product fixes</a:t>
            </a:r>
          </a:p>
        </p:txBody>
      </p:sp>
      <p:sp>
        <p:nvSpPr>
          <p:cNvPr id="41" name="TextBox 40"/>
          <p:cNvSpPr txBox="1"/>
          <p:nvPr/>
        </p:nvSpPr>
        <p:spPr>
          <a:xfrm>
            <a:off x="9226296" y="2331720"/>
            <a:ext cx="2203704" cy="2560320"/>
          </a:xfrm>
          <a:prstGeom prst="rect">
            <a:avLst/>
          </a:prstGeom>
          <a:noFill/>
        </p:spPr>
        <p:txBody>
          <a:bodyPr wrap="square" lIns="0" rIns="0" tIns="0" bIns="0" anchor="t">
            <a:spAutoFit/>
          </a:bodyPr>
          <a:lstStyle/>
          <a:p>
            <a:pPr algn="l">
              <a:spcAft>
                <a:spcPts val="400"/>
              </a:spcAft>
            </a:pPr>
            <a:r>
              <a:rPr sz="1400" b="0" i="0">
                <a:solidFill>
                  <a:srgbClr val="475569"/>
                </a:solidFill>
              </a:rPr>
              <a:t>Return 422 or 415 for bad uploads, fix the thumbnail URL, link the detail page, validate e-mail addresses, keep the session on reload.</a:t>
            </a:r>
          </a:p>
        </p:txBody>
      </p:sp>
      <p:sp>
        <p:nvSpPr>
          <p:cNvPr id="42" name="Rounded Rectangle 41"/>
          <p:cNvSpPr/>
          <p:nvPr/>
        </p:nvSpPr>
        <p:spPr>
          <a:xfrm>
            <a:off x="548640" y="5257800"/>
            <a:ext cx="11091672" cy="868680"/>
          </a:xfrm>
          <a:prstGeom prst="roundRect">
            <a:avLst>
              <a:gd name="adj" fmla="val 3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77240" y="5394960"/>
            <a:ext cx="10607040" cy="640080"/>
          </a:xfrm>
          <a:prstGeom prst="rect">
            <a:avLst/>
          </a:prstGeom>
          <a:noFill/>
        </p:spPr>
        <p:txBody>
          <a:bodyPr wrap="square" lIns="0" rIns="0" tIns="0" bIns="0" anchor="ctr">
            <a:spAutoFit/>
          </a:bodyPr>
          <a:lstStyle/>
          <a:p>
            <a:pPr algn="l">
              <a:spcAft>
                <a:spcPts val="400"/>
              </a:spcAft>
            </a:pPr>
            <a:r>
              <a:rPr sz="1500" b="0" i="0">
                <a:solidFill>
                  <a:srgbClr val="0F172A"/>
                </a:solidFill>
              </a:rPr>
              <a:t>Priority: items 1 and 2 decide whether compound emotions can be recognised at all; items 3 and 4 make the application usable on real photos.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Mosaic">
  <a:themeElements>
    <a:clrScheme name="Mosaic">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Mosaic">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Mosaic">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AI-Driven Complex Emotion Recognition Using Facial Expression Images: Review 2</dc:title>
  <dc:subject>Batch A16 (CSDS-A)</dc:subject>
  <dc:creator>B. Shirisha, B. Ashrith, B. Murali, B. Goutham</dc:creator>
  <cp:lastModifiedBy/>
  <cp:revision>1</cp:revision>
  <dcterms:created xsi:type="dcterms:W3CDTF">2026-10-13T12:40:05Z</dcterms:created>
  <dcterms:modified xsi:type="dcterms:W3CDTF">2026-10-13T12:40:05Z</dcterms:modified>
  <cp:keywords>complex emotion recognition, cEmoGAN, conditional GAN, multi-label CNN, FER2013, facial expression</cp:keywords>
  <dc:description/>
</cp:coreProperties>
</file>