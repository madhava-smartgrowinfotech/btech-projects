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402" r:id="rId2"/>
    <p:sldId id="372" r:id="rId3"/>
    <p:sldId id="339" r:id="rId4"/>
    <p:sldId id="340" r:id="rId5"/>
    <p:sldId id="373" r:id="rId6"/>
    <p:sldId id="374" r:id="rId7"/>
    <p:sldId id="375" r:id="rId8"/>
    <p:sldId id="395" r:id="rId9"/>
    <p:sldId id="396" r:id="rId10"/>
    <p:sldId id="397" r:id="rId11"/>
    <p:sldId id="338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D5FC79"/>
    <a:srgbClr val="0432FF"/>
    <a:srgbClr val="73FEFF"/>
    <a:srgbClr val="00FD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46F890A9-2807-4EBB-B81D-B2AA78EC7F39}" styleName="Dark Style 2 - Accent 5/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755" autoAdjust="0"/>
    <p:restoredTop sz="94669"/>
  </p:normalViewPr>
  <p:slideViewPr>
    <p:cSldViewPr snapToGrid="0" snapToObjects="1">
      <p:cViewPr>
        <p:scale>
          <a:sx n="100" d="100"/>
          <a:sy n="100" d="100"/>
        </p:scale>
        <p:origin x="163" y="5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C3DA0E-D1FD-BC4E-848A-CADAF0C17C7F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FDB9C3-3AFD-454D-9BAE-9D714207E3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9730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9F4823-8660-1246-90A6-7E730B6483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4FC470B-2D09-CB42-B555-F681F4C46E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5AB32D-0B39-BE4C-9B46-2E2ED1D7E6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D485BE-F059-CB4E-B8DE-A88091C5A5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1F8F7D-3DFE-D546-90E5-BCA4C73F8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87641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214CE7-812F-614F-984D-E4393BFDB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C330C5-43E2-FD4B-BC5C-86590669B6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7F5676-83E3-C64F-8973-97022DD3B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187D19-E55D-AB4D-AF75-CC1E01D058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AB3309-CC51-E845-AB52-3C1B2CA005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0773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B5625C-04E8-9E4E-85F9-69D014E958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919A94-D2E3-1248-8990-C3C83CD72C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89771B-6439-B24E-8CDB-C2C56C8380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A88177-53D9-A448-9A35-2009BEA3D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A98A85-1343-E247-B0AB-43CCC09A0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92696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B68C3B-4A97-6E47-A174-63DE91C8DF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FB7C7-AE13-C348-A398-901CE21674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4FEE88-F113-474D-805E-3490EF31D4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053784-A76D-DF43-A8C7-894600CDE7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75B21D-297E-CB4F-8DD7-AE42098E16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1CA34A-2507-8941-AC3C-18539C0D8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5526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650C35-1BC5-7D4B-A7EB-F21FF35952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FDD651-0936-5C4A-9824-768CE13993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C17A61-0337-1846-98A4-81374415E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F6B864D-1FA6-E84C-BF33-C9FBD606D69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73AC4A1-4437-F046-8863-1A658D2E3E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7FB2041-7404-6E41-97DF-35E706B83F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F805910-A1AA-DE41-AB82-090F69178E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E595B0F-B6B7-B143-B018-788A1411AB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3638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64808D-98C8-F64E-B203-4B9D129979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E7D4C5-93E1-974D-83B2-8947CDDE8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E8242C-13FA-444B-9328-71460DDCA0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3E2D9F-D621-CE42-91A7-B225A77955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60581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5D6D12C-396B-794F-ABAB-92909A6DAE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7498D68-4FBE-334D-819A-9EC8CB1E7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7416FB-FB33-964C-BD29-16A48AF1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76025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D3887D-ECD1-6944-BCBF-4F8F6CF8AD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DB4EBF-E686-4A4E-919A-9EB2A56E7B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14E58C-0FDD-2B4C-A594-D7A27F11EC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C6B601-3A92-B841-980F-80541562D3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CB7C1F-7481-364C-928C-A40E69645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63DFD0-C6E3-2B48-A695-CD16D7820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84645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78CB15-409E-4744-95AA-C4B2DC1450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3C2005F-BAF3-4E4A-9F3B-2F85C42848F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FE6DCF-5650-C044-A969-E07B8C5ACB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D2BEB4-E3F3-A64D-8A42-7AAF977BDA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29CC08-BD3E-734B-BBAB-4DDCE9F4FB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5BAA79-7C90-8F43-BD26-3664E8896C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11505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616C7-323B-DB4A-B8D8-837BC3947E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68D35E-AF32-FD46-8009-ED93A7994C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738011-16F8-BC46-B1D6-293204D5E6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22084F-7AEA-6B4B-8D85-F5A1611196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D59106-2163-084C-B6E7-35CFA813AA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89581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1F4E4AF-3AE4-1D46-96D3-E760A96D58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936010-4D51-E243-A075-B5691BED57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0504B6-2DB6-524F-AFA6-839887E361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B6F2CE-6CE0-B543-9CE5-55D8FA067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FF84C3-E4E4-2444-963E-E63DFB45A1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1929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0FC3910-BBA8-9F48-9C8B-301C01D0CA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086F6E-4899-014B-8EEC-22D2ACB41D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8D897B-3F2D-474B-9500-6D406D075D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5C6B02-AC85-8242-A222-E5A677D8C4A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547826-2888-7845-BEA2-678AD72331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15942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AB45A142-4255-493C-8284-5D566C121B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336884" y="321177"/>
            <a:ext cx="4332307" cy="6179552"/>
          </a:xfrm>
          <a:prstGeom prst="rect">
            <a:avLst/>
          </a:prstGeom>
          <a:solidFill>
            <a:srgbClr val="404040">
              <a:alpha val="89804"/>
            </a:srgbClr>
          </a:solidFill>
          <a:ln w="127000" cap="sq" cmpd="thinThick">
            <a:solidFill>
              <a:srgbClr val="595959">
                <a:alpha val="8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84EA12D-DC9E-2341-974F-1D1E6CF5B2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6884" y="593557"/>
            <a:ext cx="4332307" cy="2131780"/>
          </a:xfrm>
        </p:spPr>
        <p:txBody>
          <a:bodyPr>
            <a:noAutofit/>
          </a:bodyPr>
          <a:lstStyle/>
          <a:p>
            <a:pPr algn="ctr"/>
            <a:r>
              <a:rPr lang="en-US" sz="2700" b="1" dirty="0">
                <a:solidFill>
                  <a:schemeClr val="accent2"/>
                </a:solidFill>
                <a:latin typeface="Copperplate Gothic Bold" pitchFamily="34" charset="0"/>
              </a:rPr>
              <a:t>AI-DRIVEN COMPLEX EMOTION RECOGNITION USING FACIAL EXPRESSION IMAGES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0F1DD4-39F1-264E-9726-92ADE6F913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6884" y="2725337"/>
            <a:ext cx="4235116" cy="2615038"/>
          </a:xfrm>
        </p:spPr>
        <p:txBody>
          <a:bodyPr>
            <a:normAutofit/>
          </a:bodyPr>
          <a:lstStyle/>
          <a:p>
            <a:pPr algn="l">
              <a:tabLst>
                <a:tab pos="2112010" algn="l"/>
              </a:tabLst>
            </a:pPr>
            <a:r>
              <a:rPr lang="en-US" sz="1950" b="1" dirty="0">
                <a:solidFill>
                  <a:srgbClr val="92D050"/>
                </a:solidFill>
                <a:latin typeface="Copperplate Gothic Bold" pitchFamily="34" charset="0"/>
              </a:rPr>
              <a:t>NAME</a:t>
            </a:r>
            <a:r>
              <a:rPr lang="en-US" sz="1950" b="1" dirty="0">
                <a:solidFill>
                  <a:srgbClr val="92D050"/>
                </a:solidFill>
                <a:latin typeface="Copperplate Gothic Bold" pitchFamily="34" charset="0"/>
              </a:rPr>
              <a:t>	REG.NO</a:t>
            </a:r>
          </a:p>
          <a:p>
            <a:pPr algn="l">
              <a:tabLst>
                <a:tab pos="2112010" algn="l"/>
              </a:tabLst>
            </a:pPr>
            <a:r>
              <a:rPr lang="en-US" sz="1950" b="1" dirty="0">
                <a:solidFill>
                  <a:srgbClr val="92D050"/>
                </a:solidFill>
                <a:latin typeface="Copperplate Gothic Bold" pitchFamily="34" charset="0"/>
              </a:rPr>
              <a:t>1 B.SHIRISHA</a:t>
            </a:r>
            <a:r>
              <a:rPr lang="en-US" sz="1950" b="1" dirty="0">
                <a:solidFill>
                  <a:srgbClr val="92D050"/>
                </a:solidFill>
                <a:latin typeface="Copperplate Gothic Bold" pitchFamily="34" charset="0"/>
              </a:rPr>
              <a:t>	23K91A6730</a:t>
            </a:r>
          </a:p>
          <a:p>
            <a:pPr algn="l">
              <a:tabLst>
                <a:tab pos="2112010" algn="l"/>
              </a:tabLst>
            </a:pPr>
            <a:r>
              <a:rPr lang="en-US" sz="1950" b="1" dirty="0">
                <a:solidFill>
                  <a:srgbClr val="92D050"/>
                </a:solidFill>
                <a:latin typeface="Copperplate Gothic Bold" pitchFamily="34" charset="0"/>
              </a:rPr>
              <a:t>2 B.ASHRITH</a:t>
            </a:r>
            <a:r>
              <a:rPr lang="en-US" sz="1950" b="1" dirty="0">
                <a:solidFill>
                  <a:srgbClr val="92D050"/>
                </a:solidFill>
                <a:latin typeface="Copperplate Gothic Bold" pitchFamily="34" charset="0"/>
              </a:rPr>
              <a:t>	23K91A6731</a:t>
            </a:r>
          </a:p>
          <a:p>
            <a:pPr algn="l">
              <a:tabLst>
                <a:tab pos="2112010" algn="l"/>
              </a:tabLst>
            </a:pPr>
            <a:r>
              <a:rPr lang="en-US" sz="1950" b="1" dirty="0">
                <a:solidFill>
                  <a:srgbClr val="92D050"/>
                </a:solidFill>
                <a:latin typeface="Copperplate Gothic Bold" pitchFamily="34" charset="0"/>
              </a:rPr>
              <a:t>3 B.MURALI</a:t>
            </a:r>
            <a:r>
              <a:rPr lang="en-US" sz="1950" b="1" dirty="0">
                <a:solidFill>
                  <a:srgbClr val="92D050"/>
                </a:solidFill>
                <a:latin typeface="Copperplate Gothic Bold" pitchFamily="34" charset="0"/>
              </a:rPr>
              <a:t>	23K91A6724</a:t>
            </a:r>
          </a:p>
          <a:p>
            <a:pPr algn="l">
              <a:tabLst>
                <a:tab pos="2112010" algn="l"/>
              </a:tabLst>
            </a:pPr>
            <a:r>
              <a:rPr lang="en-US" sz="1950" b="1" dirty="0">
                <a:solidFill>
                  <a:srgbClr val="92D050"/>
                </a:solidFill>
                <a:latin typeface="Copperplate Gothic Bold" pitchFamily="34" charset="0"/>
              </a:rPr>
              <a:t>4 B.GOUTHAM</a:t>
            </a:r>
            <a:r>
              <a:rPr lang="en-US" sz="1950" b="1" dirty="0">
                <a:solidFill>
                  <a:srgbClr val="92D050"/>
                </a:solidFill>
                <a:latin typeface="Copperplate Gothic Bold" pitchFamily="34" charset="0"/>
              </a:rPr>
              <a:t>	23K91A6727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2E3B9D-7E6C-6541-B796-E6017CE554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991022" y="6356350"/>
            <a:ext cx="1362777" cy="365125"/>
          </a:xfrm>
        </p:spPr>
        <p:txBody>
          <a:bodyPr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B6D3A235-9A1B-814A-A45F-231E09344964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3450" y="1865724"/>
            <a:ext cx="7063991" cy="29436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94286" y="323021"/>
            <a:ext cx="6259513" cy="10134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Rounded Rectangle 5"/>
          <p:cNvSpPr/>
          <p:nvPr/>
        </p:nvSpPr>
        <p:spPr>
          <a:xfrm>
            <a:off x="4873450" y="5375868"/>
            <a:ext cx="7063991" cy="980482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70AD47">
                    <a:lumMod val="40000"/>
                    <a:lumOff val="60000"/>
                  </a:srgbClr>
                </a:solidFill>
                <a:effectLst/>
                <a:uLnTx/>
                <a:uFillTx/>
                <a:latin typeface="Copperplate Gothic Bold" pitchFamily="34" charset="0"/>
                <a:ea typeface="+mn-ea"/>
                <a:cs typeface="+mn-cs"/>
              </a:rPr>
              <a:t>CSE (DATA SCIENCE)</a:t>
            </a:r>
          </a:p>
          <a:p>
            <a:pPr algn="ctr"/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70AD47">
                    <a:lumMod val="40000"/>
                    <a:lumOff val="60000"/>
                  </a:srgbClr>
                </a:solidFill>
                <a:effectLst/>
                <a:uLnTx/>
                <a:uFillTx/>
                <a:latin typeface="Copperplate Gothic Bold" pitchFamily="34" charset="0"/>
                <a:ea typeface="+mn-ea"/>
                <a:cs typeface="+mn-cs"/>
              </a:rPr>
              <a:t>BATCH : A16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6885" y="5175849"/>
            <a:ext cx="4119368" cy="11805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None/>
            </a:pPr>
            <a:r>
              <a:rPr lang="en-US" sz="2400" dirty="0">
                <a:solidFill>
                  <a:srgbClr val="FFFF00"/>
                </a:solidFill>
                <a:latin typeface="Copperplate Gothic Bold" pitchFamily="34" charset="0"/>
              </a:rPr>
              <a:t>Guide Name:</a:t>
            </a:r>
          </a:p>
          <a:p>
            <a:pPr algn="ctr">
              <a:buNone/>
            </a:pPr>
            <a:r>
              <a:rPr lang="en-US" sz="2400" dirty="0">
                <a:solidFill>
                  <a:srgbClr val="FFFF00"/>
                </a:solidFill>
                <a:latin typeface="Copperplate Gothic Bold" pitchFamily="34" charset="0"/>
              </a:rPr>
              <a:t>GUIDE NAME</a:t>
            </a:r>
          </a:p>
        </p:txBody>
      </p:sp>
    </p:spTree>
    <p:extLst>
      <p:ext uri="{BB962C8B-B14F-4D97-AF65-F5344CB8AC3E}">
        <p14:creationId xmlns:p14="http://schemas.microsoft.com/office/powerpoint/2010/main" val="31230178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8B864-6824-1FA9-3E4D-6DF61636B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2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C66637-A84A-D516-C6F7-CE6F05DBD244}"/>
              </a:ext>
            </a:extLst>
          </p:cNvPr>
          <p:cNvSpPr txBox="1"/>
          <p:nvPr/>
        </p:nvSpPr>
        <p:spPr>
          <a:xfrm>
            <a:off x="3329940" y="782509"/>
            <a:ext cx="46786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u="sng" dirty="0">
                <a:solidFill>
                  <a:schemeClr val="accent2">
                    <a:lumMod val="75000"/>
                  </a:schemeClr>
                </a:solidFill>
                <a:latin typeface="Copperplate Gothic Bold" pitchFamily="34" charset="0"/>
                <a:cs typeface="Times New Roman" pitchFamily="18" charset="0"/>
              </a:rPr>
              <a:t>CONTEXT</a:t>
            </a:r>
            <a:endParaRPr lang="en-US" sz="2000" u="sng" dirty="0">
              <a:solidFill>
                <a:schemeClr val="accent2">
                  <a:lumMod val="75000"/>
                </a:schemeClr>
              </a:solidFill>
              <a:latin typeface="Copperplate Gothic Bold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A5FD82-C4CC-A587-459B-A39D99EC3BFD}"/>
              </a:ext>
            </a:extLst>
          </p:cNvPr>
          <p:cNvSpPr txBox="1"/>
          <p:nvPr/>
        </p:nvSpPr>
        <p:spPr>
          <a:xfrm>
            <a:off x="-3215148" y="52504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2" name="Content Placeholder 11"/>
          <p:cNvSpPr>
            <a:spLocks noGrp="1"/>
          </p:cNvSpPr>
          <p:nvPr>
            <p:ph idx="1"/>
          </p:nvPr>
        </p:nvSpPr>
        <p:spPr>
          <a:xfrm>
            <a:off x="838200" y="1295605"/>
            <a:ext cx="10088301" cy="333424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Introduction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Abstract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Existing system 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Limitation of Existing system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Proposed System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anose="020E0705020206020404" pitchFamily="34" charset="0"/>
              </a:rPr>
              <a:t>System Architecture 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anose="020E0705020206020404" pitchFamily="34" charset="0"/>
              </a:rPr>
              <a:t>Methodology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anose="020E0705020206020404" pitchFamily="34" charset="0"/>
              </a:rPr>
              <a:t>System Requirements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itchFamily="34" charset="0"/>
                <a:cs typeface="Times New Roman" pitchFamily="18" charset="0"/>
              </a:rPr>
              <a:t>Conclusion</a:t>
            </a:r>
          </a:p>
        </p:txBody>
      </p:sp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497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4" name="Rounded Rectangle 13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</p:spTree>
    <p:extLst>
      <p:ext uri="{BB962C8B-B14F-4D97-AF65-F5344CB8AC3E}">
        <p14:creationId xmlns:p14="http://schemas.microsoft.com/office/powerpoint/2010/main" val="25897469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8B864-6824-1FA9-3E4D-6DF61636B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3</a:t>
            </a:fld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A5FD82-C4CC-A587-459B-A39D99EC3BFD}"/>
              </a:ext>
            </a:extLst>
          </p:cNvPr>
          <p:cNvSpPr txBox="1"/>
          <p:nvPr/>
        </p:nvSpPr>
        <p:spPr>
          <a:xfrm>
            <a:off x="-3215148" y="52504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2" name="Content Placeholder 11"/>
          <p:cNvSpPr>
            <a:spLocks noGrp="1"/>
          </p:cNvSpPr>
          <p:nvPr>
            <p:ph idx="1"/>
          </p:nvPr>
        </p:nvSpPr>
        <p:spPr>
          <a:xfrm>
            <a:off x="723900" y="1739900"/>
            <a:ext cx="10744200" cy="4610100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Emotions shape human communication, and facial expressions are a major cue to emotional state.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Facial emotion recognition is used in healthcare, driver safety, education and human-computer interaction.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Most systems classify one basic emotion such as happiness, sadness, anger, fear, disgust or surprise.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Real expressions often combine emotions, which single-label models cannot capture.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Complex-emotion samples are scarce, which makes such models hard to train.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This project uses GAN-generated faces and multi-label CNN classification to recognise complex emotions.</a:t>
            </a:r>
          </a:p>
        </p:txBody>
      </p:sp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497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76062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4" name="Rounded Rectangle 13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7C66637-A84A-D516-C6F7-CE6F05DBD244}"/>
              </a:ext>
            </a:extLst>
          </p:cNvPr>
          <p:cNvSpPr txBox="1"/>
          <p:nvPr/>
        </p:nvSpPr>
        <p:spPr>
          <a:xfrm>
            <a:off x="4062913" y="924007"/>
            <a:ext cx="359664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800" b="1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INTRODUCTION</a:t>
            </a:r>
            <a:endParaRPr lang="en-US" sz="2800" b="1" dirty="0">
              <a:solidFill>
                <a:srgbClr val="002060"/>
              </a:solidFill>
              <a:latin typeface="Copperplate Gothic Bold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71213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8B864-6824-1FA9-3E4D-6DF61636B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4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C66637-A84A-D516-C6F7-CE6F05DBD244}"/>
              </a:ext>
            </a:extLst>
          </p:cNvPr>
          <p:cNvSpPr txBox="1"/>
          <p:nvPr/>
        </p:nvSpPr>
        <p:spPr>
          <a:xfrm>
            <a:off x="3234135" y="925496"/>
            <a:ext cx="46786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800" b="1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ABSTRACT</a:t>
            </a:r>
            <a:endParaRPr lang="en-US" sz="2800" u="sng" dirty="0">
              <a:solidFill>
                <a:schemeClr val="accent2">
                  <a:lumMod val="75000"/>
                </a:schemeClr>
              </a:solidFill>
              <a:latin typeface="Copperplate Gothic Bold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A5FD82-C4CC-A587-459B-A39D99EC3BFD}"/>
              </a:ext>
            </a:extLst>
          </p:cNvPr>
          <p:cNvSpPr txBox="1"/>
          <p:nvPr/>
        </p:nvSpPr>
        <p:spPr>
          <a:xfrm>
            <a:off x="-3215148" y="52504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497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4" name="Rounded Rectangle 13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915725-5D37-6694-9DD3-FFF1D88D97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1300"/>
            <a:ext cx="10515600" cy="4838700"/>
          </a:xfrm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Facial expressions reveal emotional state, but most recognition systems detect only single basic emotions.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Real people often show complex emotions, such as happiness with surprise or sadness with fear.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The project uses Conditioned Emotion GANs (cEmoGANs) to generate identity-preserving facial images with mixed expressions.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The generated images enlarge the scarce complex-emotion dataset.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A CNN-based multi-label classifier then recognises multiple emotions in a single face.</a:t>
            </a:r>
          </a:p>
        </p:txBody>
      </p:sp>
    </p:spTree>
    <p:extLst>
      <p:ext uri="{BB962C8B-B14F-4D97-AF65-F5344CB8AC3E}">
        <p14:creationId xmlns:p14="http://schemas.microsoft.com/office/powerpoint/2010/main" val="7271213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8B864-6824-1FA9-3E4D-6DF61636B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5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C66637-A84A-D516-C6F7-CE6F05DBD244}"/>
              </a:ext>
            </a:extLst>
          </p:cNvPr>
          <p:cNvSpPr txBox="1"/>
          <p:nvPr/>
        </p:nvSpPr>
        <p:spPr>
          <a:xfrm>
            <a:off x="3395254" y="847281"/>
            <a:ext cx="467868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  <a:buClr>
                <a:srgbClr val="002060"/>
              </a:buClr>
              <a:buSzPct val="100000"/>
            </a:pPr>
            <a:r>
              <a:rPr lang="en-US" sz="28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Existing system </a:t>
            </a:r>
          </a:p>
          <a:p>
            <a:pPr algn="ctr"/>
            <a:endParaRPr lang="en-US" sz="2800" u="sng" dirty="0">
              <a:solidFill>
                <a:schemeClr val="accent2">
                  <a:lumMod val="75000"/>
                </a:schemeClr>
              </a:solidFill>
              <a:latin typeface="Copperplate Gothic Bold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A5FD82-C4CC-A587-459B-A39D99EC3BFD}"/>
              </a:ext>
            </a:extLst>
          </p:cNvPr>
          <p:cNvSpPr txBox="1"/>
          <p:nvPr/>
        </p:nvSpPr>
        <p:spPr>
          <a:xfrm>
            <a:off x="-3215148" y="52504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2" name="Content Placeholder 11"/>
          <p:cNvSpPr>
            <a:spLocks noGrp="1"/>
          </p:cNvSpPr>
          <p:nvPr>
            <p:ph idx="1"/>
          </p:nvPr>
        </p:nvSpPr>
        <p:spPr>
          <a:xfrm>
            <a:off x="838200" y="1574800"/>
            <a:ext cx="10515600" cy="4775200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CNN models trained on datasets such as FER-2013 classify seven basic emotions.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Single-label classifiers assign exactly one emotion per image.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Data augmentation uses flips, crops and rotations.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Some GANs edit expressions but distort facial identity.</a:t>
            </a:r>
          </a:p>
        </p:txBody>
      </p:sp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497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4" name="Rounded Rectangle 13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</p:spTree>
    <p:extLst>
      <p:ext uri="{BB962C8B-B14F-4D97-AF65-F5344CB8AC3E}">
        <p14:creationId xmlns:p14="http://schemas.microsoft.com/office/powerpoint/2010/main" val="38797203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8B864-6824-1FA9-3E4D-6DF61636B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6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C66637-A84A-D516-C6F7-CE6F05DBD244}"/>
              </a:ext>
            </a:extLst>
          </p:cNvPr>
          <p:cNvSpPr txBox="1"/>
          <p:nvPr/>
        </p:nvSpPr>
        <p:spPr>
          <a:xfrm>
            <a:off x="2923047" y="913876"/>
            <a:ext cx="634590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00000"/>
              </a:lnSpc>
              <a:buClr>
                <a:srgbClr val="002060"/>
              </a:buClr>
              <a:buSzPct val="100000"/>
            </a:pPr>
            <a:r>
              <a:rPr lang="en-US" sz="28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Limitations of Existing system</a:t>
            </a:r>
          </a:p>
          <a:p>
            <a:pPr algn="ctr"/>
            <a:endParaRPr lang="en-US" sz="2800" u="sng" dirty="0">
              <a:solidFill>
                <a:schemeClr val="accent2">
                  <a:lumMod val="75000"/>
                </a:schemeClr>
              </a:solidFill>
              <a:latin typeface="Copperplate Gothic Bold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A5FD82-C4CC-A587-459B-A39D99EC3BFD}"/>
              </a:ext>
            </a:extLst>
          </p:cNvPr>
          <p:cNvSpPr txBox="1"/>
          <p:nvPr/>
        </p:nvSpPr>
        <p:spPr>
          <a:xfrm>
            <a:off x="-3215148" y="52504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2" name="Content Placeholder 11"/>
          <p:cNvSpPr>
            <a:spLocks noGrp="1"/>
          </p:cNvSpPr>
          <p:nvPr>
            <p:ph idx="1"/>
          </p:nvPr>
        </p:nvSpPr>
        <p:spPr>
          <a:xfrm>
            <a:off x="838200" y="1638300"/>
            <a:ext cx="10515600" cy="4711700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Systems cannot recognise mixed or complex emotions.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Complex-emotion datasets are small and imbalanced.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Basic augmentation does not create new expressions.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Expression-editing GANs lose identity and add distortions.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Accuracy drops on real-world expressions.</a:t>
            </a:r>
          </a:p>
        </p:txBody>
      </p:sp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497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4" name="Rounded Rectangle 13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</p:spTree>
    <p:extLst>
      <p:ext uri="{BB962C8B-B14F-4D97-AF65-F5344CB8AC3E}">
        <p14:creationId xmlns:p14="http://schemas.microsoft.com/office/powerpoint/2010/main" val="38797203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8B864-6824-1FA9-3E4D-6DF61636B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7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C66637-A84A-D516-C6F7-CE6F05DBD244}"/>
              </a:ext>
            </a:extLst>
          </p:cNvPr>
          <p:cNvSpPr txBox="1"/>
          <p:nvPr/>
        </p:nvSpPr>
        <p:spPr>
          <a:xfrm>
            <a:off x="3235219" y="949834"/>
            <a:ext cx="467868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  <a:buClr>
                <a:srgbClr val="002060"/>
              </a:buClr>
              <a:buSzPct val="100000"/>
            </a:pPr>
            <a:r>
              <a:rPr lang="en-US" sz="28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Proposed System</a:t>
            </a:r>
          </a:p>
          <a:p>
            <a:pPr algn="ctr"/>
            <a:endParaRPr lang="en-US" sz="2800" u="sng" dirty="0">
              <a:solidFill>
                <a:schemeClr val="accent2">
                  <a:lumMod val="75000"/>
                </a:schemeClr>
              </a:solidFill>
              <a:latin typeface="Copperplate Gothic Bold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A5FD82-C4CC-A587-459B-A39D99EC3BFD}"/>
              </a:ext>
            </a:extLst>
          </p:cNvPr>
          <p:cNvSpPr txBox="1"/>
          <p:nvPr/>
        </p:nvSpPr>
        <p:spPr>
          <a:xfrm>
            <a:off x="-3215148" y="52504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2" name="Content Placeholder 11"/>
          <p:cNvSpPr>
            <a:spLocks noGrp="1"/>
          </p:cNvSpPr>
          <p:nvPr>
            <p:ph idx="1"/>
          </p:nvPr>
        </p:nvSpPr>
        <p:spPr>
          <a:xfrm>
            <a:off x="838200" y="1663700"/>
            <a:ext cx="10515600" cy="4686300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cEmoGANs generate facial images with specified complex emotions.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The generator preserves identity while changing only the expression.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Generated images enlarge and diversify the training dataset.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A CNN multi-label classifier predicts every emotion present in a face.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The system recognises both basic and complex emotions more accurately.</a:t>
            </a:r>
          </a:p>
        </p:txBody>
      </p:sp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497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8" y="146913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4" name="Rounded Rectangle 13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</p:spTree>
    <p:extLst>
      <p:ext uri="{BB962C8B-B14F-4D97-AF65-F5344CB8AC3E}">
        <p14:creationId xmlns:p14="http://schemas.microsoft.com/office/powerpoint/2010/main" val="38797203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3A250-F23D-CB98-736F-801EC5789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0225"/>
            <a:ext cx="10030408" cy="1255984"/>
          </a:xfrm>
        </p:spPr>
        <p:txBody>
          <a:bodyPr>
            <a:normAutofit/>
          </a:bodyPr>
          <a:lstStyle/>
          <a:p>
            <a:pPr algn="ctr"/>
            <a:r>
              <a:rPr lang="en-US" sz="2400" b="1" dirty="0">
                <a:solidFill>
                  <a:srgbClr val="002060"/>
                </a:solidFill>
                <a:latin typeface="Copperplate Gothic Bold" panose="020E0705020206020404" pitchFamily="34" charset="0"/>
              </a:rPr>
              <a:t>        PROPOSED SYSTEM ARCHITECTURE</a:t>
            </a:r>
            <a:endParaRPr lang="en-US" sz="2400" b="1" dirty="0">
              <a:solidFill>
                <a:srgbClr val="002060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314A22-E0A7-00C3-9C2B-822F5234A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8</a:t>
            </a:fld>
            <a:endParaRPr lang="en-US"/>
          </a:p>
        </p:txBody>
      </p:sp>
      <p:sp>
        <p:nvSpPr>
          <p:cNvPr id="11" name="Rounded Rectangle 10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  <p:pic>
        <p:nvPicPr>
          <p:cNvPr id="14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56856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E7C9EFB-6062-8B08-3313-9FC38DF9C8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6209"/>
            <a:ext cx="10515600" cy="4972330"/>
          </a:xfrm>
        </p:spPr>
        <p:txBody>
          <a:bodyPr>
            <a:normAutofit fontScale="40000" lnSpcReduction="20000"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1828800" lvl="4" indent="0">
              <a:buNone/>
            </a:pPr>
            <a:r>
              <a:rPr lang="en-US" dirty="0"/>
              <a:t>			</a:t>
            </a:r>
          </a:p>
          <a:p>
            <a:pPr marL="1828800" lvl="4" indent="0">
              <a:buNone/>
            </a:pP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</a:t>
            </a:r>
          </a:p>
          <a:p>
            <a:pPr marL="1828800" lvl="4" indent="0">
              <a:buNone/>
            </a:pP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      </a:t>
            </a:r>
          </a:p>
          <a:p>
            <a:pPr marL="1828800" lvl="4" indent="0">
              <a:buNone/>
            </a:pP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r>
              <a:rPr lang="en-US" sz="2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                               </a:t>
            </a:r>
          </a:p>
          <a:p>
            <a:pPr marL="1828800" lvl="4" indent="0">
              <a:buNone/>
            </a:pPr>
            <a:endParaRPr lang="en-US" sz="21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r>
              <a:rPr lang="en-US" sz="2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    </a:t>
            </a:r>
          </a:p>
          <a:p>
            <a:pPr marL="1828800" lvl="4" indent="0">
              <a:buNone/>
            </a:pPr>
            <a:endParaRPr lang="en-US" sz="21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21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21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r>
              <a:rPr 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                     </a:t>
            </a:r>
          </a:p>
          <a:p>
            <a:pPr marL="1828800" lvl="4" indent="0">
              <a:buNone/>
            </a:pPr>
            <a:r>
              <a:rPr 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</a:t>
            </a:r>
          </a:p>
          <a:p>
            <a:pPr marL="1828800" lvl="4" indent="0">
              <a:buNone/>
            </a:pPr>
            <a:endParaRPr lang="en-US" sz="25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25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r>
              <a:rPr lang="en-US" sz="3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     Fig:- 1.1. System Architecture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685152-4C3C-5AE0-BFD4-883D244A45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921" y="1046480"/>
            <a:ext cx="11261959" cy="5056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76498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848F3C-FA97-224C-115A-7D99ADF66F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1AD4CE-1259-24BE-CD87-3C350AFE48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3969" y="848026"/>
            <a:ext cx="6514323" cy="685185"/>
          </a:xfrm>
        </p:spPr>
        <p:txBody>
          <a:bodyPr>
            <a:normAutofit/>
          </a:bodyPr>
          <a:lstStyle/>
          <a:p>
            <a:pPr algn="ctr"/>
            <a:r>
              <a:rPr lang="en-US" sz="2400" b="1" dirty="0">
                <a:solidFill>
                  <a:srgbClr val="002060"/>
                </a:solidFill>
                <a:latin typeface="Copperplate Gothic Bold" panose="020E0705020206020404" pitchFamily="34" charset="0"/>
              </a:rPr>
              <a:t>METHODOLOGY</a:t>
            </a:r>
            <a:endParaRPr lang="en-US" sz="2400" b="1" dirty="0">
              <a:solidFill>
                <a:srgbClr val="002060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E9FC8B-F44E-C85B-F64D-5435D6671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9</a:t>
            </a:fld>
            <a:endParaRPr lang="en-US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07DEFB9-2A98-AC9B-0CA7-E3DCDAE945E6}"/>
              </a:ext>
            </a:extLst>
          </p:cNvPr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  <p:pic>
        <p:nvPicPr>
          <p:cNvPr id="14" name="Picture 4">
            <a:extLst>
              <a:ext uri="{FF2B5EF4-FFF2-40B4-BE49-F238E27FC236}">
                <a16:creationId xmlns:a16="http://schemas.microsoft.com/office/drawing/2014/main" id="{D81C6011-F9A6-D6BC-01D4-214393E65D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D4C175E-B962-7CB7-66A9-A93FA6F38E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4800"/>
            <a:ext cx="10515600" cy="4775200"/>
          </a:xfrm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Data Collection: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Use facial expression datasets with basic and compound emotion labels.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Preprocessing: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Detect, align, crop and normalise faces.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cEmoGAN Training: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Train a conditioned GAN to generate faces with target complex emotions.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Identity Check: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Verify that generated faces preserve identity and have low distortion.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Dataset Expansion: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Combine real and generated images with multi-label annotations.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Classifier Training: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Train a CNN with sigmoid outputs for multi-label emotion recognition.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Evaluation: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Measure accuracy, F1-score and Hamming loss.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Deployment: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Provide an interface to upload a face and view the detected emotions.</a:t>
            </a:r>
          </a:p>
        </p:txBody>
      </p:sp>
    </p:spTree>
    <p:extLst>
      <p:ext uri="{BB962C8B-B14F-4D97-AF65-F5344CB8AC3E}">
        <p14:creationId xmlns:p14="http://schemas.microsoft.com/office/powerpoint/2010/main" val="40961280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249627-DFDC-9AEE-003B-61513A22A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6FB145-D35B-AB0C-FDE0-A0EC335D8B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2400" b="1" dirty="0">
                <a:solidFill>
                  <a:srgbClr val="002060"/>
                </a:solidFill>
                <a:latin typeface="Copperplate Gothic Bold" panose="020E0705020206020404" pitchFamily="34" charset="0"/>
              </a:rPr>
              <a:t>SYSTEM REQUIREMENTS</a:t>
            </a:r>
            <a:endParaRPr lang="en-US" sz="2400" b="1" dirty="0">
              <a:solidFill>
                <a:srgbClr val="002060"/>
              </a:solidFill>
            </a:endParaRP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54FBDBE8-7B97-838A-CFA7-18B663A043C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 wrap="square">
            <a:normAutofit/>
          </a:bodyPr>
          <a:lstStyle/>
          <a:p>
            <a:pPr marL="0" indent="0">
              <a:spcAft>
                <a:spcPts val="1000"/>
              </a:spcAft>
              <a:buNone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Hardware Requirements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Processor: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Intel Core i5 or equivalent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RAM: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16 GB recommended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GPU: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NVIDIA GPU or Google Colab for GAN training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Storage: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30 GB free space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E4D17D66-4287-E913-B85D-61A33D96CDF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wrap="square">
            <a:normAutofit/>
          </a:bodyPr>
          <a:lstStyle/>
          <a:p>
            <a:pPr marL="0" indent="0">
              <a:spcAft>
                <a:spcPts val="1000"/>
              </a:spcAft>
              <a:buNone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Software Requirements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Language: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Python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Deep Learning: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PyTorch / TensorFlow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Face Processing: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OpenCV, dlib / MediaPipe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Libraries: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NumPy, scikit-learn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Interface: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Streamlit / Flask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Tools: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Jupyter Notebook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4BAB74-AE3A-5148-7D93-CC36F4AE3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10</a:t>
            </a:fld>
            <a:endParaRPr lang="en-US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0AA14475-771A-07F3-4912-EB982FA600F1}"/>
              </a:ext>
            </a:extLst>
          </p:cNvPr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  <p:pic>
        <p:nvPicPr>
          <p:cNvPr id="14" name="Picture 4">
            <a:extLst>
              <a:ext uri="{FF2B5EF4-FFF2-40B4-BE49-F238E27FC236}">
                <a16:creationId xmlns:a16="http://schemas.microsoft.com/office/drawing/2014/main" id="{8E849A94-9FCC-003E-8933-DBE2FBE59A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0488126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8B864-6824-1FA9-3E4D-6DF61636B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11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C66637-A84A-D516-C6F7-CE6F05DBD244}"/>
              </a:ext>
            </a:extLst>
          </p:cNvPr>
          <p:cNvSpPr txBox="1"/>
          <p:nvPr/>
        </p:nvSpPr>
        <p:spPr>
          <a:xfrm>
            <a:off x="4424888" y="1022134"/>
            <a:ext cx="22236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dirty="0">
                <a:solidFill>
                  <a:srgbClr val="002060"/>
                </a:solidFill>
                <a:latin typeface="Copperplate Gothic Bold" pitchFamily="34" charset="0"/>
                <a:cs typeface="Times New Roman" pitchFamily="18" charset="0"/>
              </a:rPr>
              <a:t>Conclusion</a:t>
            </a:r>
            <a:endParaRPr lang="en-US" sz="2400" dirty="0">
              <a:latin typeface="Copperplate Gothic Bold" panose="020E07050202060204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A5FD82-C4CC-A587-459B-A39D99EC3BFD}"/>
              </a:ext>
            </a:extLst>
          </p:cNvPr>
          <p:cNvSpPr txBox="1"/>
          <p:nvPr/>
        </p:nvSpPr>
        <p:spPr>
          <a:xfrm>
            <a:off x="-3215148" y="52504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D89F60-F70C-A913-F235-B290A7C98479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838200" y="1701800"/>
            <a:ext cx="10515600" cy="4648200"/>
          </a:xfrm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The system recognises complex, mixed emotions that single-label models miss.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cEmoGAN-generated faces address the shortage of complex-emotion data.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Identity preservation keeps generated images realistic and useful for training.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The approach supports mental-health monitoring, driver safety, smart classrooms and virtual assistants.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0083765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3192</TotalTime>
  <Words>938</Words>
  <Application>Microsoft Office PowerPoint</Application>
  <PresentationFormat>Widescreen</PresentationFormat>
  <Paragraphs>147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Arial</vt:lpstr>
      <vt:lpstr>Calibri</vt:lpstr>
      <vt:lpstr>Calibri Light</vt:lpstr>
      <vt:lpstr>Copperplate Gothic Bold</vt:lpstr>
      <vt:lpstr>Times New Roman</vt:lpstr>
      <vt:lpstr>Wingdings</vt:lpstr>
      <vt:lpstr>Office Theme</vt:lpstr>
      <vt:lpstr>           IOT DRIVEN MOBILE NETWORK DETECTION AND COMPLAINT AUTOMATION SYSTEM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        PROPOSED SYSTEM ARCHITECTURE</vt:lpstr>
      <vt:lpstr>METHODOLOGY</vt:lpstr>
      <vt:lpstr>SYSTEM REQUIREMENTS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of the proposed work</dc:title>
  <dc:creator>mani iz</dc:creator>
  <cp:lastModifiedBy>Rishi Kumar</cp:lastModifiedBy>
  <cp:revision>90</cp:revision>
  <dcterms:created xsi:type="dcterms:W3CDTF">2022-09-13T08:56:36Z</dcterms:created>
  <dcterms:modified xsi:type="dcterms:W3CDTF">2026-08-21T10:21:40Z</dcterms:modified>
</cp:coreProperties>
</file>