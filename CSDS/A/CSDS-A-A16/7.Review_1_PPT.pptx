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EfficientNet-B0 (basic-emotion baseline)</c:v>
                </c:pt>
              </c:strCache>
            </c:strRef>
          </c:tx>
          <c:spPr>
            <a:solidFill>
              <a:srgbClr val="475569"/>
            </a:solidFill>
          </c:spPr>
          <c:cat>
            <c:strRef>
              <c:f>Sheet1!$A$2:$A$4</c:f>
              <c:strCache>
                <c:ptCount val="3"/>
                <c:pt idx="0">
                  <c:v>CK+</c:v>
                </c:pt>
                <c:pt idx="1">
                  <c:v>JAFFE</c:v>
                </c:pt>
                <c:pt idx="2">
                  <c:v>MUG</c:v>
                </c:pt>
              </c:strCache>
            </c:strRef>
          </c:cat>
          <c:val>
            <c:numRef>
              <c:f>Sheet1!$B$2:$B$4</c:f>
              <c:numCache>
                <c:formatCode>General</c:formatCode>
                <c:ptCount val="3"/>
                <c:pt idx="0">
                  <c:v>0.45</c:v>
                </c:pt>
                <c:pt idx="1">
                  <c:v>0.6</c:v>
                </c:pt>
                <c:pt idx="2">
                  <c:v>0.51</c:v>
                </c:pt>
              </c:numCache>
            </c:numRef>
          </c:val>
        </c:ser>
        <c:ser>
          <c:idx val="1"/>
          <c:order val="1"/>
          <c:tx>
            <c:strRef>
              <c:f>Sheet1!$C$1</c:f>
              <c:strCache>
                <c:ptCount val="1"/>
                <c:pt idx="0">
                  <c:v>Same CNN, StyleGAN images</c:v>
                </c:pt>
              </c:strCache>
            </c:strRef>
          </c:tx>
          <c:spPr>
            <a:solidFill>
              <a:srgbClr val="EB6834"/>
            </a:solidFill>
          </c:spPr>
          <c:cat>
            <c:strRef>
              <c:f>Sheet1!$A$2:$A$4</c:f>
              <c:strCache>
                <c:ptCount val="3"/>
                <c:pt idx="0">
                  <c:v>CK+</c:v>
                </c:pt>
                <c:pt idx="1">
                  <c:v>JAFFE</c:v>
                </c:pt>
                <c:pt idx="2">
                  <c:v>MUG</c:v>
                </c:pt>
              </c:strCache>
            </c:strRef>
          </c:cat>
          <c:val>
            <c:numRef>
              <c:f>Sheet1!$C$2:$C$4</c:f>
              <c:numCache>
                <c:formatCode>General</c:formatCode>
                <c:ptCount val="3"/>
                <c:pt idx="0">
                  <c:v>0.42</c:v>
                </c:pt>
                <c:pt idx="1">
                  <c:v>0.54</c:v>
                </c:pt>
                <c:pt idx="2">
                  <c:v>0.53</c:v>
                </c:pt>
              </c:numCache>
            </c:numRef>
          </c:val>
        </c:ser>
        <c:ser>
          <c:idx val="2"/>
          <c:order val="2"/>
          <c:tx>
            <c:strRef>
              <c:f>Sheet1!$D$1</c:f>
              <c:strCache>
                <c:ptCount val="1"/>
                <c:pt idx="0">
                  <c:v>Same CNN, cEmoGAN images</c:v>
                </c:pt>
              </c:strCache>
            </c:strRef>
          </c:tx>
          <c:spPr>
            <a:solidFill>
              <a:srgbClr val="2A78D6"/>
            </a:solidFill>
          </c:spPr>
          <c:cat>
            <c:strRef>
              <c:f>Sheet1!$A$2:$A$4</c:f>
              <c:strCache>
                <c:ptCount val="3"/>
                <c:pt idx="0">
                  <c:v>CK+</c:v>
                </c:pt>
                <c:pt idx="1">
                  <c:v>JAFFE</c:v>
                </c:pt>
                <c:pt idx="2">
                  <c:v>MUG</c:v>
                </c:pt>
              </c:strCache>
            </c:strRef>
          </c:cat>
          <c:val>
            <c:numRef>
              <c:f>Sheet1!$D$2:$D$4</c:f>
              <c:numCache>
                <c:formatCode>General</c:formatCode>
                <c:ptCount val="3"/>
                <c:pt idx="0">
                  <c:v>0.99</c:v>
                </c:pt>
                <c:pt idx="1">
                  <c:v>0.99</c:v>
                </c:pt>
                <c:pt idx="2">
                  <c:v>0.8</c:v>
                </c:pt>
              </c:numCache>
            </c:numRef>
          </c:val>
        </c:ser>
        <c:dLbls>
          <c:numFmt formatCode="0.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15"/>
          <c:min val="0.0"/>
        </c:scaling>
        <c:delete val="0"/>
        <c:axPos val="l"/>
        <c:majorGridlines>
          <c:spPr>
            <a:ln>
              <a:solidFill>
                <a:srgbClr val="D5DCE6"/>
              </a:solidFill>
            </a:ln>
          </c:spPr>
        </c:majorGridlines>
        <c:numFmt formatCode="0.00" sourceLinked="0"/>
        <c:majorTickMark val="out"/>
        <c:minorTickMark val="none"/>
        <c:tickLblPos val="nextTo"/>
        <c:spPr>
          <a:ln>
            <a:noFill/>
          </a:ln>
        </c:spPr>
        <c:crossAx val="-2068027336"/>
        <c:crosses val="autoZero"/>
      </c:valAx>
    </c:plotArea>
    <c:legend>
      <c:legendPos val="b"/>
      <c:overlay val="0"/>
    </c:legend>
    <c:dispBlanksAs val="gap"/>
  </c:chart>
  <c:txPr>
    <a:bodyPr/>
    <a:lstStyle/>
    <a:p>
      <a:pPr>
        <a:defRPr sz="11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most face-emotion systems name one basic emotion, real faces mix emotions, and labelled mixed-emotion images are scarce; the base paper generates mixed-emotion faces with cEmoGANs and trains a multi-label CNN on them, and Mosaic is the working application built on that idea.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This review explains why the problem matters and what is missing in current work; design details and measured results come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why single-label recognition is not enough, what the two-stage analysis-by-synthesis idea is, and what is delivered. At this stage these are the planned contributions; measurements come in Review 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Every figure on this slide is printed in the paper (Table 5 and Section IV-B2). Note the evaluation protocol: the test split is drawn from generated images, so it measures how well the recogniser reads the generator's labels. The authors themselves flag demographic bias and multimodal cues as future work.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survey lists the base paper plus four GAN-based recognisers; the table adds the papers kept in the archived folder and the sources of the compound categories and labels. Results are quoted only where we read them in the paper or its abstract.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chart is the base paper's headline result. The bullets give two sobering reference points: in-the-wild basic recognition is far from lab-set numbers, and real compound recognition is hard even with real labels.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Today's deployed systems return one basic label. Generative work mostly improves single-label recognition or edits expressions; mixed-emotion generation for training is the base paper's contribution.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two limitations are the batch's own; the third and fourth are supported by the cited papers.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Gap 1 is the batch survey's own statement. Gaps 2 and 3 come from reading the base paper's protocol: scores on generated data and no isolation of the synthetic images' contribution.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The need, in the batch's words: A system that generates realistic complex-emotion data and recognises multiple emotions in a single face.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five objectives from the proposal. Later reviews report honestly which were met.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and the console that wraps them. The generator is a training-time tool; only the recogniser is served.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top to bottom: the console calls the API, the API runs detection and classification, results are stored locally.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targets set at the proposal stage, not results. The measured results, including where they fall short, are presented in Review 2.</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with notes on how each entry was checked,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a small CNN rather than the base paper's encoder-decoder cEmoGANs (CPU-only training, public data); how compound outputs can be evaluated without compound labels (this is reported honestly in Review 2); why FER2013 rather than CK+, JAFFE and MUG (open, larger, in-the-wild).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Mosaic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2800" b="1" dirty="0">
                <a:solidFill>
                  <a:srgbClr val="FFFFFF"/>
                </a:solidFill>
                <a:latin typeface="Cambria" pitchFamily="34" charset="0"/>
                <a:ea typeface="Cambria" pitchFamily="34" charset="-122"/>
                <a:cs typeface="Cambria" pitchFamily="34" charset="-120"/>
              </a:rPr>
              <a:t>AI-Driven Complex Emotion Recognition Using Facial Expression Images</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Basic and compound emotion estimation from a single face with a CNN multi-label classifier and a conditional GAN</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B. Shirisha  23K91A6730</a:t>
            </a:r>
            <a:endParaRPr lang="en-US" sz="1500" dirty="0"/>
          </a:p>
          <a:p>
            <a:pPr indent="0" marL="0">
              <a:buNone/>
            </a:pPr>
            <a:r>
              <a:rPr lang="en-US" sz="1500" dirty="0">
                <a:solidFill>
                  <a:srgbClr val="FFFFFF"/>
                </a:solidFill>
              </a:rPr>
              <a:t>B. Ashrith  23K91A6731</a:t>
            </a:r>
            <a:endParaRPr lang="en-US" sz="1500" dirty="0"/>
          </a:p>
          <a:p>
            <a:pPr indent="0" marL="0">
              <a:buNone/>
            </a:pPr>
            <a:r>
              <a:rPr lang="en-US" sz="1500" dirty="0">
                <a:solidFill>
                  <a:srgbClr val="FFFFFF"/>
                </a:solidFill>
              </a:rPr>
              <a:t>B. Murali  23K91A6724</a:t>
            </a:r>
            <a:endParaRPr lang="en-US" sz="1500" dirty="0"/>
          </a:p>
          <a:p>
            <a:pPr indent="0" marL="0">
              <a:buNone/>
            </a:pPr>
            <a:r>
              <a:rPr lang="en-US" sz="1500" dirty="0">
                <a:solidFill>
                  <a:srgbClr val="FFFFFF"/>
                </a:solidFill>
              </a:rPr>
              <a:t>B. Goutham  23K91A6727</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[GUIDE NAME],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 (Data Science)</a:t>
            </a:r>
            <a:endParaRPr lang="en-US" sz="1300" dirty="0"/>
          </a:p>
          <a:p>
            <a:pPr indent="0" marL="0">
              <a:buNone/>
            </a:pPr>
            <a:r>
              <a:rPr lang="en-US" sz="1300" dirty="0">
                <a:solidFill>
                  <a:srgbClr val="CADCFC"/>
                </a:solidFill>
              </a:rPr>
              <a:t>[COLLEGE NAME]  ·  Batch A16 (CSDS-A)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 and evidence</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system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one face, several emotions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566160"/>
          </a:xfrm>
          <a:prstGeom prst="rect">
            <a:avLst/>
          </a:prstGeom>
          <a:noFill/>
        </p:spPr>
        <p:txBody>
          <a:bodyPr wrap="square" lIns="0" rIns="0" tIns="0" bIns="0" anchor="t">
            <a:spAutoFit/>
          </a:bodyPr>
          <a:lstStyle/>
          <a:p>
            <a:pPr algn="l">
              <a:spcAft>
                <a:spcPts val="400"/>
              </a:spcAft>
            </a:pPr>
            <a:r>
              <a:rPr sz="1800" b="0" i="0">
                <a:solidFill>
                  <a:srgbClr val="475569"/>
                </a:solidFill>
              </a:rPr>
              <a:t>Most recognisers name one basic emotion per face. Real faces often mix emotions, such as happiness with surprise or sadness with fear. Labelled mixed-emotion images are scarce, and expression-editing GANs tend to distort the identity of the face.</a:t>
            </a:r>
          </a:p>
        </p:txBody>
      </p:sp>
      <p:sp>
        <p:nvSpPr>
          <p:cNvPr id="30" name="Rounded Rectangle 29"/>
          <p:cNvSpPr/>
          <p:nvPr/>
        </p:nvSpPr>
        <p:spPr>
          <a:xfrm>
            <a:off x="4334255"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566160"/>
          </a:xfrm>
          <a:prstGeom prst="rect">
            <a:avLst/>
          </a:prstGeom>
          <a:noFill/>
        </p:spPr>
        <p:txBody>
          <a:bodyPr wrap="square" lIns="0" rIns="0" tIns="0" bIns="0" anchor="t">
            <a:spAutoFit/>
          </a:bodyPr>
          <a:lstStyle/>
          <a:p>
            <a:pPr algn="l">
              <a:spcAft>
                <a:spcPts val="400"/>
              </a:spcAft>
            </a:pPr>
            <a:r>
              <a:rPr sz="1800" b="0" i="0">
                <a:solidFill>
                  <a:srgbClr val="475569"/>
                </a:solidFill>
              </a:rPr>
              <a:t>Use a conditioned emotion GAN (cEmoGAN) to generate faces that show two emotions at once, use them to enlarge the scarce complex-emotion data, and train a CNN with one sigmoid output per emotion so that several emotions can be recognised in a single face.</a:t>
            </a:r>
          </a:p>
        </p:txBody>
      </p:sp>
      <p:sp>
        <p:nvSpPr>
          <p:cNvPr id="34" name="Rounded Rectangle 33"/>
          <p:cNvSpPr/>
          <p:nvPr/>
        </p:nvSpPr>
        <p:spPr>
          <a:xfrm>
            <a:off x="8119871"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566160"/>
          </a:xfrm>
          <a:prstGeom prst="rect">
            <a:avLst/>
          </a:prstGeom>
          <a:noFill/>
        </p:spPr>
        <p:txBody>
          <a:bodyPr wrap="square" lIns="0" rIns="0" tIns="0" bIns="0" anchor="t">
            <a:spAutoFit/>
          </a:bodyPr>
          <a:lstStyle/>
          <a:p>
            <a:pPr algn="l">
              <a:spcAft>
                <a:spcPts val="400"/>
              </a:spcAft>
            </a:pPr>
            <a:r>
              <a:rPr sz="1800" b="0" i="0">
                <a:solidFill>
                  <a:srgbClr val="475569"/>
                </a:solidFill>
              </a:rPr>
              <a:t>Mosaic: face detection, a CNN with 7 basic and 11 compound outputs, a conditional GAN that synthesises compound-emotion training faces, a FastAPI service with accounts and history, and a web console, tested on FER2013 against a single-label baseline.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300" b="0" i="0">
                <a:solidFill>
                  <a:srgbClr val="0F172A"/>
                </a:solidFill>
              </a:rPr>
              <a:t>W. S. S. Khine, P. Siritanawan and K. Kotani, "Complex emotion estimation using analysis-by-synthesis of facial expression images," IEEE Access, vol. 13, pp. 88731-88744, 2025, doi: 10.1109/ACCESS.2025.3570167.</a:t>
            </a:r>
          </a:p>
        </p:txBody>
      </p:sp>
      <p:sp>
        <p:nvSpPr>
          <p:cNvPr id="28" name="Rounded Rectangle 27"/>
          <p:cNvSpPr/>
          <p:nvPr/>
        </p:nvSpPr>
        <p:spPr>
          <a:xfrm>
            <a:off x="548640" y="2514600"/>
            <a:ext cx="3520440" cy="3749039"/>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2743199"/>
          </a:xfrm>
          <a:prstGeom prst="rect">
            <a:avLst/>
          </a:prstGeom>
          <a:noFill/>
        </p:spPr>
        <p:txBody>
          <a:bodyPr wrap="square" lIns="0" rIns="0" tIns="0" bIns="0" anchor="t">
            <a:spAutoFit/>
          </a:bodyPr>
          <a:lstStyle/>
          <a:p>
            <a:pPr algn="l">
              <a:spcAft>
                <a:spcPts val="400"/>
              </a:spcAft>
            </a:pPr>
            <a:r>
              <a:rPr sz="1500" b="0" i="0">
                <a:solidFill>
                  <a:srgbClr val="475569"/>
                </a:solidFill>
              </a:rPr>
              <a:t>cEmoGANs: an encoder gives latent codes that keep the face identity, and a conditional GAN takes a six-dimensional multi-hot emotion label to draw faces with two emotions at once. A small CNN with sigmoid outputs is then trained on the generated images (multi-label).</a:t>
            </a:r>
          </a:p>
        </p:txBody>
      </p:sp>
      <p:sp>
        <p:nvSpPr>
          <p:cNvPr id="32" name="Rounded Rectangle 31"/>
          <p:cNvSpPr/>
          <p:nvPr/>
        </p:nvSpPr>
        <p:spPr>
          <a:xfrm>
            <a:off x="4334255" y="2514600"/>
            <a:ext cx="3520440" cy="3749039"/>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Reported results</a:t>
            </a:r>
          </a:p>
        </p:txBody>
      </p:sp>
      <p:sp>
        <p:nvSpPr>
          <p:cNvPr id="35" name="TextBox 34"/>
          <p:cNvSpPr txBox="1"/>
          <p:nvPr/>
        </p:nvSpPr>
        <p:spPr>
          <a:xfrm>
            <a:off x="4535423" y="3383280"/>
            <a:ext cx="3118104" cy="2743199"/>
          </a:xfrm>
          <a:prstGeom prst="rect">
            <a:avLst/>
          </a:prstGeom>
          <a:noFill/>
        </p:spPr>
        <p:txBody>
          <a:bodyPr wrap="square" lIns="0" rIns="0" tIns="0" bIns="0" anchor="t">
            <a:spAutoFit/>
          </a:bodyPr>
          <a:lstStyle/>
          <a:p>
            <a:pPr algn="l">
              <a:spcAft>
                <a:spcPts val="400"/>
              </a:spcAft>
            </a:pPr>
            <a:r>
              <a:rPr sz="1500" b="0" i="0">
                <a:solidFill>
                  <a:srgbClr val="475569"/>
                </a:solidFill>
              </a:rPr>
              <a:t>On CK+, JAFFE and MUG the recogniser scores f-beta 0.99, 0.99 and 0.80 and exact-match ratios of 100 %, 99 % and 68.7 %, against 0.45, 0.60 and 0.51 for an EfficientNet-B0 baseline. Identity similarity above 0.7 holds for 98 %, 94 % and 99 % of generated faces.</a:t>
            </a:r>
          </a:p>
        </p:txBody>
      </p:sp>
      <p:sp>
        <p:nvSpPr>
          <p:cNvPr id="36" name="Rounded Rectangle 35"/>
          <p:cNvSpPr/>
          <p:nvPr/>
        </p:nvSpPr>
        <p:spPr>
          <a:xfrm>
            <a:off x="8119871" y="2514600"/>
            <a:ext cx="3520440" cy="3749039"/>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Relevance and limits</a:t>
            </a:r>
          </a:p>
        </p:txBody>
      </p:sp>
      <p:sp>
        <p:nvSpPr>
          <p:cNvPr id="39" name="TextBox 38"/>
          <p:cNvSpPr txBox="1"/>
          <p:nvPr/>
        </p:nvSpPr>
        <p:spPr>
          <a:xfrm>
            <a:off x="8321040" y="3383280"/>
            <a:ext cx="3118104" cy="2743199"/>
          </a:xfrm>
          <a:prstGeom prst="rect">
            <a:avLst/>
          </a:prstGeom>
          <a:noFill/>
        </p:spPr>
        <p:txBody>
          <a:bodyPr wrap="square" lIns="0" rIns="0" tIns="0" bIns="0" anchor="t">
            <a:spAutoFit/>
          </a:bodyPr>
          <a:lstStyle/>
          <a:p>
            <a:pPr algn="l">
              <a:spcAft>
                <a:spcPts val="400"/>
              </a:spcAft>
            </a:pPr>
            <a:r>
              <a:rPr sz="1500" b="0" i="0">
                <a:solidFill>
                  <a:srgbClr val="475569"/>
                </a:solidFill>
              </a:rPr>
              <a:t>Mosaic follows the same two stages. The scores are measured on images generated by the same cEmoGANs (7:3 split of 15,000), and real photographs are shown only qualitatively; the datasets are small laboratory sets. This project tests the idea on a larger, in-the-wild set.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097280"/>
          <a:ext cx="11091671" cy="4389120"/>
        </p:xfrm>
        <a:graphic>
          <a:graphicData uri="http://schemas.openxmlformats.org/drawingml/2006/table">
            <a:tbl>
              <a:tblPr firstRow="0" bandRow="0">
                <a:tableStyleId>{5C22544A-7EE6-4342-B048-85BDC9FD1C3A}</a:tableStyleId>
              </a:tblPr>
              <a:tblGrid>
                <a:gridCol w="2286000"/>
                <a:gridCol w="548640"/>
                <a:gridCol w="4206240"/>
                <a:gridCol w="4050791"/>
              </a:tblGrid>
              <a:tr h="548640">
                <a:tc>
                  <a:txBody>
                    <a:bodyPr wrap="square"/>
                    <a:lstStyle/>
                    <a:p>
                      <a:pPr algn="ctr"/>
                      <a:r>
                        <a:rPr sz="115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50" b="1">
                          <a:solidFill>
                            <a:srgbClr val="FFFFFF"/>
                          </a:solidFill>
                        </a:rPr>
                        <a:t>Year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5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50" b="1">
                          <a:solidFill>
                            <a:srgbClr val="FFFFFF"/>
                          </a:solidFill>
                        </a:rPr>
                        <a:t>Reported result / limitation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48640">
                <a:tc>
                  <a:txBody>
                    <a:bodyPr wrap="square"/>
                    <a:lstStyle/>
                    <a:p>
                      <a:pPr algn="l"/>
                      <a:r>
                        <a:rPr sz="1050" b="0">
                          <a:solidFill>
                            <a:srgbClr val="0F172A"/>
                          </a:solidFill>
                        </a:rPr>
                        <a:t>Khine et al. [1] (base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5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cEmoGANs (encoder + conditional GAN, 6-d multi-hot label) generate mixed faces; CNN with sigmoid outputs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f-beta 0.99 / 0.99 / 0.80 on CK+ / JAFFE / MUG, scored on generated images; qualitative tests only on real photos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050" b="0">
                          <a:solidFill>
                            <a:srgbClr val="0F172A"/>
                          </a:solidFill>
                        </a:rPr>
                        <a:t>Liu, Ni, Cai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5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CD-GAN: separate identity and expression encoders, contrastive + adversarial learning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Abstract: comparable to state of the art on field and laboratory sets; single-label recognition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050" b="0">
                          <a:solidFill>
                            <a:srgbClr val="0F172A"/>
                          </a:solidFill>
                        </a:rPr>
                        <a:t>Khemakhem, Ltifi [4]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50" b="0">
                          <a:solidFill>
                            <a:srgbClr val="0F172A"/>
                          </a:solidFill>
                        </a:rPr>
                        <a:t>2023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NST-GAN: style-transfer GAN that removes identity cues, tested on CK+, FER-2013, JAFFE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Single basic label per image; numbers not quoted (abstract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050" b="0">
                          <a:solidFill>
                            <a:srgbClr val="0F172A"/>
                          </a:solidFill>
                        </a:rPr>
                        <a:t>Galkaduwa [6]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5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HOG+SVM, LBP+LogReg and a light CNN on FER-2013, CK+ and KDEF</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FER-2013 accuracy: CNN 51.6 %, HOG+SVM 44.0 %, LBP 25.0 %; basic labels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050" b="0">
                          <a:solidFill>
                            <a:srgbClr val="0F172A"/>
                          </a:solidFill>
                        </a:rPr>
                        <a:t>Liu et al. [7]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5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ViT / PosterV2 / ResNet-50 ensemble for compound expressions (ABAW7), pre-trained on RAF-DB</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RAF-DB compound validation: accuracy 60.4-64.3 %, F1 51.5-55.4 % (7 classes); needs real compound labels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050" b="0">
                          <a:solidFill>
                            <a:srgbClr val="0F172A"/>
                          </a:solidFill>
                        </a:rPr>
                        <a:t>Du, Tao, Martinez [9]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50" b="0">
                          <a:solidFill>
                            <a:srgbClr val="0F172A"/>
                          </a:solidFill>
                        </a:rPr>
                        <a:t>2014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Compound facial expressions of emotion: psychology study of mixed categories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Defines the compound categories used by the base paper and by Mosaic's taxonomy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050" b="0">
                          <a:solidFill>
                            <a:srgbClr val="0F172A"/>
                          </a:solidFill>
                        </a:rPr>
                        <a:t>Li, Deng, Du [12]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50" b="0">
                          <a:solidFill>
                            <a:srgbClr val="0F172A"/>
                          </a:solidFill>
                        </a:rPr>
                        <a:t>2017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RAF-DB: crowd-sourced real-world faces including compound labels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Source of real compound labels; licence on request (not available in this project)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27" name="TextBox 26"/>
          <p:cNvSpPr txBox="1"/>
          <p:nvPr/>
        </p:nvSpPr>
        <p:spPr>
          <a:xfrm>
            <a:off x="548640" y="5989320"/>
            <a:ext cx="11091672" cy="320040"/>
          </a:xfrm>
          <a:prstGeom prst="rect">
            <a:avLst/>
          </a:prstGeom>
          <a:noFill/>
        </p:spPr>
        <p:txBody>
          <a:bodyPr wrap="square" lIns="0" rIns="0" tIns="0" bIns="0" anchor="t">
            <a:spAutoFit/>
          </a:bodyPr>
          <a:lstStyle/>
          <a:p>
            <a:pPr algn="l">
              <a:spcAft>
                <a:spcPts val="400"/>
              </a:spcAft>
            </a:pPr>
            <a:r>
              <a:rPr sz="1100" b="0" i="1">
                <a:solidFill>
                  <a:srgbClr val="475569"/>
                </a:solidFill>
              </a:rPr>
              <a:t>Batch survey items [3] and [5] are known by title and record only; their results could not be verified and are not quoted.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from the literature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34440"/>
          <a:ext cx="6400800" cy="4526280"/>
        </p:xfrm>
        <a:graphic>
          <a:graphicData uri="http://schemas.openxmlformats.org/drawingml/2006/chart">
            <c:chart xmlns:c="http://schemas.openxmlformats.org/drawingml/2006/chart" r:id="rId3"/>
          </a:graphicData>
        </a:graphic>
      </p:graphicFrame>
      <p:sp>
        <p:nvSpPr>
          <p:cNvPr id="27" name="TextBox 26"/>
          <p:cNvSpPr txBox="1"/>
          <p:nvPr/>
        </p:nvSpPr>
        <p:spPr>
          <a:xfrm>
            <a:off x="548640" y="5806440"/>
            <a:ext cx="6400800" cy="640080"/>
          </a:xfrm>
          <a:prstGeom prst="rect">
            <a:avLst/>
          </a:prstGeom>
          <a:noFill/>
        </p:spPr>
        <p:txBody>
          <a:bodyPr wrap="square" lIns="0" rIns="0" tIns="0" bIns="0" anchor="t">
            <a:spAutoFit/>
          </a:bodyPr>
          <a:lstStyle/>
          <a:p>
            <a:pPr algn="l">
              <a:spcAft>
                <a:spcPts val="400"/>
              </a:spcAft>
            </a:pPr>
            <a:r>
              <a:rPr sz="1150" b="0" i="1">
                <a:solidFill>
                  <a:srgbClr val="475569"/>
                </a:solidFill>
              </a:rPr>
              <a:t>f-beta on the base paper's complex-emotion test sets (its Table 5). The test images are generated by each method itself, so the bars compare generators, not recognition on real photographs.</a:t>
            </a:r>
          </a:p>
        </p:txBody>
      </p:sp>
      <p:sp>
        <p:nvSpPr>
          <p:cNvPr id="28" name="TextBox 27"/>
          <p:cNvSpPr txBox="1"/>
          <p:nvPr/>
        </p:nvSpPr>
        <p:spPr>
          <a:xfrm>
            <a:off x="7223760" y="1325880"/>
            <a:ext cx="4434840" cy="4937760"/>
          </a:xfrm>
          <a:prstGeom prst="rect">
            <a:avLst/>
          </a:prstGeom>
          <a:noFill/>
        </p:spPr>
        <p:txBody>
          <a:bodyPr wrap="square" lIns="0" rIns="0" tIns="0" bIns="0" anchor="t">
            <a:spAutoFit/>
          </a:bodyPr>
          <a:lstStyle/>
          <a:p>
            <a:pPr algn="l">
              <a:spcAft>
                <a:spcPts val="800"/>
              </a:spcAft>
            </a:pPr>
            <a:r>
              <a:rPr sz="1400" b="1" i="0">
                <a:solidFill>
                  <a:srgbClr val="0F172A"/>
                </a:solidFill>
              </a:rPr>
              <a:t>What the literature shows</a:t>
            </a:r>
          </a:p>
          <a:p>
            <a:pPr algn="l" marL="256032" indent="-201168">
              <a:spcAft>
                <a:spcPts val="800"/>
              </a:spcAft>
              <a:buChar char="•"/>
            </a:pPr>
            <a:r>
              <a:rPr sz="1400" b="0" i="0">
                <a:solidFill>
                  <a:srgbClr val="0F172A"/>
                </a:solidFill>
              </a:rPr>
              <a:t>Training on cEmoGAN images beats StyleGAN images and a basic-emotion CNN on mixed labels [1].</a:t>
            </a:r>
          </a:p>
          <a:p>
            <a:pPr algn="l" marL="256032" indent="-201168">
              <a:spcAft>
                <a:spcPts val="800"/>
              </a:spcAft>
              <a:buChar char="•"/>
            </a:pPr>
            <a:r>
              <a:rPr sz="1400" b="0" i="0">
                <a:solidFill>
                  <a:srgbClr val="0F172A"/>
                </a:solidFill>
              </a:rPr>
              <a:t>On unconstrained FER-2013 a light CNN reaches only 51.6 % accuracy, against 96.9 % on CK+ [6].</a:t>
            </a:r>
          </a:p>
          <a:p>
            <a:pPr algn="l" marL="256032" indent="-201168">
              <a:spcAft>
                <a:spcPts val="800"/>
              </a:spcAft>
              <a:buChar char="•"/>
            </a:pPr>
            <a:r>
              <a:rPr sz="1400" b="0" i="0">
                <a:solidFill>
                  <a:srgbClr val="0F172A"/>
                </a:solidFill>
              </a:rPr>
              <a:t>Real compound labels exist in RAF-DB; ViT, PosterV2 and ResNet reach 60-64 % accuracy on seven compound classes [7].</a:t>
            </a:r>
          </a:p>
          <a:p>
            <a:pPr algn="l" marL="256032" indent="-201168">
              <a:spcAft>
                <a:spcPts val="400"/>
              </a:spcAft>
              <a:buChar char="•"/>
            </a:pPr>
            <a:r>
              <a:rPr sz="1400" b="0" i="0">
                <a:solidFill>
                  <a:srgbClr val="0F172A"/>
                </a:solidFill>
              </a:rPr>
              <a:t>Mixed emotions follow the compound categories of Du, Tao and Martinez [9].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Face image</a:t>
            </a:r>
          </a:p>
        </p:txBody>
      </p:sp>
      <p:sp>
        <p:nvSpPr>
          <p:cNvPr id="27" name="Right Arrow 26"/>
          <p:cNvSpPr/>
          <p:nvPr/>
        </p:nvSpPr>
        <p:spPr>
          <a:xfrm>
            <a:off x="3106674"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Basic-emotion CNN trained on FER-2013 or CK+</a:t>
            </a:r>
          </a:p>
        </p:txBody>
      </p:sp>
      <p:sp>
        <p:nvSpPr>
          <p:cNvPr id="29" name="Right Arrow 28"/>
          <p:cNvSpPr/>
          <p:nvPr/>
        </p:nvSpPr>
        <p:spPr>
          <a:xfrm>
            <a:off x="5993892"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One label out of six or seven</a:t>
            </a:r>
          </a:p>
        </p:txBody>
      </p:sp>
      <p:sp>
        <p:nvSpPr>
          <p:cNvPr id="31" name="Right Arrow 30"/>
          <p:cNvSpPr/>
          <p:nvPr/>
        </p:nvSpPr>
        <p:spPr>
          <a:xfrm>
            <a:off x="8881110"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Mixed expression is lost</a:t>
            </a:r>
          </a:p>
        </p:txBody>
      </p:sp>
      <p:sp>
        <p:nvSpPr>
          <p:cNvPr id="33" name="Rounded Rectangle 32"/>
          <p:cNvSpPr/>
          <p:nvPr/>
        </p:nvSpPr>
        <p:spPr>
          <a:xfrm>
            <a:off x="548640"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2880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Single-label recognisers</a:t>
            </a:r>
          </a:p>
        </p:txBody>
      </p:sp>
      <p:sp>
        <p:nvSpPr>
          <p:cNvPr id="36" name="TextBox 35"/>
          <p:cNvSpPr txBox="1"/>
          <p:nvPr/>
        </p:nvSpPr>
        <p:spPr>
          <a:xfrm>
            <a:off x="749808" y="3566160"/>
            <a:ext cx="5038344" cy="2468879"/>
          </a:xfrm>
          <a:prstGeom prst="rect">
            <a:avLst/>
          </a:prstGeom>
          <a:noFill/>
        </p:spPr>
        <p:txBody>
          <a:bodyPr wrap="square" lIns="0" rIns="0" tIns="0" bIns="0" anchor="t">
            <a:spAutoFit/>
          </a:bodyPr>
          <a:lstStyle/>
          <a:p>
            <a:pPr algn="l">
              <a:spcAft>
                <a:spcPts val="400"/>
              </a:spcAft>
            </a:pPr>
            <a:r>
              <a:rPr sz="1700" b="0" i="0">
                <a:solidFill>
                  <a:srgbClr val="475569"/>
                </a:solidFill>
              </a:rPr>
              <a:t>Convolutional networks classify seven basic emotions on FER-2013-style data [11], [6]; surveys of the field are in [15].
Augmentation is usually flips, crops and rotations, which do not create new expressions.</a:t>
            </a:r>
          </a:p>
        </p:txBody>
      </p:sp>
      <p:sp>
        <p:nvSpPr>
          <p:cNvPr id="37" name="Rounded Rectangle 36"/>
          <p:cNvSpPr/>
          <p:nvPr/>
        </p:nvSpPr>
        <p:spPr>
          <a:xfrm>
            <a:off x="6199632"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2880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Generative and disentangling methods</a:t>
            </a:r>
          </a:p>
        </p:txBody>
      </p:sp>
      <p:sp>
        <p:nvSpPr>
          <p:cNvPr id="40" name="TextBox 39"/>
          <p:cNvSpPr txBox="1"/>
          <p:nvPr/>
        </p:nvSpPr>
        <p:spPr>
          <a:xfrm>
            <a:off x="6400800" y="3566160"/>
            <a:ext cx="5038344" cy="2468879"/>
          </a:xfrm>
          <a:prstGeom prst="rect">
            <a:avLst/>
          </a:prstGeom>
          <a:noFill/>
        </p:spPr>
        <p:txBody>
          <a:bodyPr wrap="square" lIns="0" rIns="0" tIns="0" bIns="0" anchor="t">
            <a:spAutoFit/>
          </a:bodyPr>
          <a:lstStyle/>
          <a:p>
            <a:pPr algn="l">
              <a:spcAft>
                <a:spcPts val="400"/>
              </a:spcAft>
            </a:pPr>
            <a:r>
              <a:rPr sz="1700" b="0" i="0">
                <a:solidFill>
                  <a:srgbClr val="475569"/>
                </a:solidFill>
              </a:rPr>
              <a:t>GANs separate identity from expression or edit expressions [2], [4], [19], [20]; the base paper adds conditional generation of mixed emotions [1].
Most still output a single basic label per image.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Single label per face</a:t>
            </a:r>
          </a:p>
        </p:txBody>
      </p:sp>
      <p:sp>
        <p:nvSpPr>
          <p:cNvPr id="29" name="TextBox 28"/>
          <p:cNvSpPr txBox="1"/>
          <p:nvPr/>
        </p:nvSpPr>
        <p:spPr>
          <a:xfrm>
            <a:off x="749808" y="219456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Systems cannot report mixed or complex emotions; a smile with raised brows is forced into one class.</a:t>
            </a:r>
          </a:p>
        </p:txBody>
      </p:sp>
      <p:sp>
        <p:nvSpPr>
          <p:cNvPr id="30" name="Rounded Rectangle 29"/>
          <p:cNvSpPr/>
          <p:nvPr/>
        </p:nvSpPr>
        <p:spPr>
          <a:xfrm>
            <a:off x="6199631"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Scarce mixed-emotion data</a:t>
            </a:r>
          </a:p>
        </p:txBody>
      </p:sp>
      <p:sp>
        <p:nvSpPr>
          <p:cNvPr id="33" name="TextBox 32"/>
          <p:cNvSpPr txBox="1"/>
          <p:nvPr/>
        </p:nvSpPr>
        <p:spPr>
          <a:xfrm>
            <a:off x="6400799" y="219456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Compound-labelled sets are small: RAF-DB has about 3,954 compound-expression images among roughly 30,000 [7].</a:t>
            </a:r>
          </a:p>
        </p:txBody>
      </p:sp>
      <p:sp>
        <p:nvSpPr>
          <p:cNvPr id="34" name="Rounded Rectangle 33"/>
          <p:cNvSpPr/>
          <p:nvPr/>
        </p:nvSpPr>
        <p:spPr>
          <a:xfrm>
            <a:off x="548640"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365760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Basic augmentation</a:t>
            </a:r>
          </a:p>
        </p:txBody>
      </p:sp>
      <p:sp>
        <p:nvSpPr>
          <p:cNvPr id="37" name="TextBox 36"/>
          <p:cNvSpPr txBox="1"/>
          <p:nvPr/>
        </p:nvSpPr>
        <p:spPr>
          <a:xfrm>
            <a:off x="749808" y="434340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Flips, crops and rotations do not create new expressions, so the minority compound classes stay unseen.</a:t>
            </a:r>
          </a:p>
        </p:txBody>
      </p:sp>
      <p:sp>
        <p:nvSpPr>
          <p:cNvPr id="38" name="Rounded Rectangle 37"/>
          <p:cNvSpPr/>
          <p:nvPr/>
        </p:nvSpPr>
        <p:spPr>
          <a:xfrm>
            <a:off x="6199631"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365760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Identity and real-world drift</a:t>
            </a:r>
          </a:p>
        </p:txBody>
      </p:sp>
      <p:sp>
        <p:nvSpPr>
          <p:cNvPr id="41" name="TextBox 40"/>
          <p:cNvSpPr txBox="1"/>
          <p:nvPr/>
        </p:nvSpPr>
        <p:spPr>
          <a:xfrm>
            <a:off x="6400799" y="434340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Expression-editing GANs can distort the face, and accuracy falls from laboratory to in-the-wild data (51.6 % on FER-2013 for a light CNN) [6].</a:t>
            </a:r>
          </a:p>
        </p:txBody>
      </p:sp>
      <p:sp>
        <p:nvSpPr>
          <p:cNvPr id="42" name="Rounded Rectangle 41"/>
          <p:cNvSpPr/>
          <p:nvPr/>
        </p:nvSpPr>
        <p:spPr>
          <a:xfrm>
            <a:off x="548640" y="5715000"/>
            <a:ext cx="11091672" cy="685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715000"/>
            <a:ext cx="10698480" cy="685800"/>
          </a:xfrm>
          <a:prstGeom prst="rect">
            <a:avLst/>
          </a:prstGeom>
          <a:noFill/>
        </p:spPr>
        <p:txBody>
          <a:bodyPr wrap="square" lIns="0" rIns="0" tIns="0" bIns="0" anchor="ctr">
            <a:spAutoFit/>
          </a:bodyPr>
          <a:lstStyle/>
          <a:p>
            <a:pPr algn="l">
              <a:spcAft>
                <a:spcPts val="400"/>
              </a:spcAft>
            </a:pPr>
            <a:r>
              <a:rPr sz="1300" b="0" i="0">
                <a:solidFill>
                  <a:srgbClr val="0F172A"/>
                </a:solidFill>
              </a:rPr>
              <a:t>Survey items known by title only are not quoted [3], [5]. Accuracy on a clean laboratory set is not evidence for performance on everyday photographs.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Oval 25"/>
          <p:cNvSpPr/>
          <p:nvPr/>
        </p:nvSpPr>
        <p:spPr>
          <a:xfrm>
            <a:off x="548640" y="1600200"/>
            <a:ext cx="640080" cy="64008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rPr>
              <a:t>1</a:t>
            </a:r>
          </a:p>
        </p:txBody>
      </p:sp>
      <p:sp>
        <p:nvSpPr>
          <p:cNvPr id="27" name="TextBox 26"/>
          <p:cNvSpPr txBox="1"/>
          <p:nvPr/>
        </p:nvSpPr>
        <p:spPr>
          <a:xfrm>
            <a:off x="1463040" y="1280160"/>
            <a:ext cx="10149840" cy="1463040"/>
          </a:xfrm>
          <a:prstGeom prst="rect">
            <a:avLst/>
          </a:prstGeom>
          <a:noFill/>
        </p:spPr>
        <p:txBody>
          <a:bodyPr wrap="square" lIns="0" rIns="0" tIns="0" bIns="0" anchor="ctr">
            <a:spAutoFit/>
          </a:bodyPr>
          <a:lstStyle/>
          <a:p>
            <a:pPr algn="l">
              <a:spcAft>
                <a:spcPts val="400"/>
              </a:spcAft>
            </a:pPr>
            <a:r>
              <a:rPr sz="1700" b="0" i="0">
                <a:solidFill>
                  <a:srgbClr val="0F172A"/>
                </a:solidFill>
              </a:rPr>
              <a:t>Most facial emotion recognition handles only single basic emotions, and datasets with mixed-emotion samples are small (batch survey).</a:t>
            </a:r>
          </a:p>
        </p:txBody>
      </p:sp>
      <p:sp>
        <p:nvSpPr>
          <p:cNvPr id="28" name="Oval 27"/>
          <p:cNvSpPr/>
          <p:nvPr/>
        </p:nvSpPr>
        <p:spPr>
          <a:xfrm>
            <a:off x="548640" y="3200400"/>
            <a:ext cx="640080" cy="64008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rPr>
              <a:t>2</a:t>
            </a:r>
          </a:p>
        </p:txBody>
      </p:sp>
      <p:sp>
        <p:nvSpPr>
          <p:cNvPr id="29" name="TextBox 28"/>
          <p:cNvSpPr txBox="1"/>
          <p:nvPr/>
        </p:nvSpPr>
        <p:spPr>
          <a:xfrm>
            <a:off x="1463040" y="2880360"/>
            <a:ext cx="10149840" cy="1463040"/>
          </a:xfrm>
          <a:prstGeom prst="rect">
            <a:avLst/>
          </a:prstGeom>
          <a:noFill/>
        </p:spPr>
        <p:txBody>
          <a:bodyPr wrap="square" lIns="0" rIns="0" tIns="0" bIns="0" anchor="ctr">
            <a:spAutoFit/>
          </a:bodyPr>
          <a:lstStyle/>
          <a:p>
            <a:pPr algn="l">
              <a:spcAft>
                <a:spcPts val="400"/>
              </a:spcAft>
            </a:pPr>
            <a:r>
              <a:rPr sz="1700" b="0" i="0">
                <a:solidFill>
                  <a:srgbClr val="0F172A"/>
                </a:solidFill>
              </a:rPr>
              <a:t>The base paper scores its recogniser on images produced by its own generator; recognition of compound emotions on real photographs is shown only qualitatively.</a:t>
            </a:r>
          </a:p>
        </p:txBody>
      </p:sp>
      <p:sp>
        <p:nvSpPr>
          <p:cNvPr id="30" name="Oval 29"/>
          <p:cNvSpPr/>
          <p:nvPr/>
        </p:nvSpPr>
        <p:spPr>
          <a:xfrm>
            <a:off x="548640" y="4800600"/>
            <a:ext cx="640080" cy="64008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rPr>
              <a:t>3</a:t>
            </a:r>
          </a:p>
        </p:txBody>
      </p:sp>
      <p:sp>
        <p:nvSpPr>
          <p:cNvPr id="31" name="TextBox 30"/>
          <p:cNvSpPr txBox="1"/>
          <p:nvPr/>
        </p:nvSpPr>
        <p:spPr>
          <a:xfrm>
            <a:off x="1463040" y="4480560"/>
            <a:ext cx="10149840" cy="1463040"/>
          </a:xfrm>
          <a:prstGeom prst="rect">
            <a:avLst/>
          </a:prstGeom>
          <a:noFill/>
        </p:spPr>
        <p:txBody>
          <a:bodyPr wrap="square" lIns="0" rIns="0" tIns="0" bIns="0" anchor="ctr">
            <a:spAutoFit/>
          </a:bodyPr>
          <a:lstStyle/>
          <a:p>
            <a:pPr algn="l">
              <a:spcAft>
                <a:spcPts val="400"/>
              </a:spcAft>
            </a:pPr>
            <a:r>
              <a:rPr sz="1700" b="0" i="0">
                <a:solidFill>
                  <a:srgbClr val="0F172A"/>
                </a:solidFill>
              </a:rPr>
              <a:t>Few open implementations connect generation, multi-label training and an end-user application, and the effect of the synthetic images on a real test set is rarely isolated with a no-synthesis control.</a:t>
            </a:r>
          </a:p>
        </p:txBody>
      </p:sp>
      <p:sp>
        <p:nvSpPr>
          <p:cNvPr id="32" name="Rounded Rectangle 31"/>
          <p:cNvSpPr/>
          <p:nvPr/>
        </p:nvSpPr>
        <p:spPr>
          <a:xfrm>
            <a:off x="548640" y="5943600"/>
            <a:ext cx="11091672" cy="548640"/>
          </a:xfrm>
          <a:prstGeom prst="roundRect">
            <a:avLst>
              <a:gd name="adj" fmla="val 3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77240" y="5943600"/>
            <a:ext cx="10607040" cy="548640"/>
          </a:xfrm>
          <a:prstGeom prst="rect">
            <a:avLst/>
          </a:prstGeom>
          <a:noFill/>
        </p:spPr>
        <p:txBody>
          <a:bodyPr wrap="square" lIns="0" rIns="0" tIns="0" bIns="0" anchor="ctr">
            <a:spAutoFit/>
          </a:bodyPr>
          <a:lstStyle/>
          <a:p>
            <a:pPr algn="l">
              <a:spcAft>
                <a:spcPts val="400"/>
              </a:spcAft>
            </a:pPr>
            <a:r>
              <a:rPr sz="1400" b="1" i="0">
                <a:solidFill>
                  <a:srgbClr val="0F172A"/>
                </a:solidFill>
              </a:rPr>
              <a:t>Gap addressed here: generate, train and serve compound-emotion recognition, and measure it against a single-label baseline.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8346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606040"/>
          </a:xfrm>
          <a:prstGeom prst="rect">
            <a:avLst/>
          </a:prstGeom>
          <a:noFill/>
        </p:spPr>
        <p:txBody>
          <a:bodyPr wrap="square" lIns="0" rIns="0" tIns="0" bIns="0" anchor="ctr">
            <a:spAutoFit/>
          </a:bodyPr>
          <a:lstStyle/>
          <a:p>
            <a:pPr algn="l" marL="256032" indent="-201168">
              <a:spcAft>
                <a:spcPts val="800"/>
              </a:spcAft>
              <a:buChar char="•"/>
            </a:pPr>
            <a:r>
              <a:rPr sz="1800" b="0" i="0">
                <a:solidFill>
                  <a:srgbClr val="0F172A"/>
                </a:solidFill>
              </a:rPr>
              <a:t>Existing systems recognise only single basic emotions.</a:t>
            </a:r>
          </a:p>
          <a:p>
            <a:pPr algn="l" marL="256032" indent="-201168">
              <a:spcAft>
                <a:spcPts val="800"/>
              </a:spcAft>
              <a:buChar char="•"/>
            </a:pPr>
            <a:r>
              <a:rPr sz="1800" b="0" i="0">
                <a:solidFill>
                  <a:srgbClr val="0F172A"/>
                </a:solidFill>
              </a:rPr>
              <a:t>Real expressions often contain several emotions at once.</a:t>
            </a:r>
          </a:p>
          <a:p>
            <a:pPr algn="l" marL="256032" indent="-201168">
              <a:spcAft>
                <a:spcPts val="800"/>
              </a:spcAft>
              <a:buChar char="•"/>
            </a:pPr>
            <a:r>
              <a:rPr sz="1800" b="0" i="0">
                <a:solidFill>
                  <a:srgbClr val="0F172A"/>
                </a:solidFill>
              </a:rPr>
              <a:t>Complex-emotion training data is scarce.</a:t>
            </a:r>
          </a:p>
          <a:p>
            <a:pPr algn="l" marL="256032" indent="-201168">
              <a:spcAft>
                <a:spcPts val="800"/>
              </a:spcAft>
              <a:buChar char="•"/>
            </a:pPr>
            <a:r>
              <a:rPr sz="1800" b="0" i="0">
                <a:solidFill>
                  <a:srgbClr val="0F172A"/>
                </a:solidFill>
              </a:rPr>
              <a:t>Expression-editing methods distort facial identity.</a:t>
            </a:r>
          </a:p>
        </p:txBody>
      </p:sp>
      <p:sp>
        <p:nvSpPr>
          <p:cNvPr id="28" name="Rounded Rectangle 27"/>
          <p:cNvSpPr/>
          <p:nvPr/>
        </p:nvSpPr>
        <p:spPr>
          <a:xfrm>
            <a:off x="548640"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892040"/>
            <a:ext cx="3108960" cy="1234440"/>
          </a:xfrm>
          <a:prstGeom prst="rect">
            <a:avLst/>
          </a:prstGeom>
          <a:noFill/>
        </p:spPr>
        <p:txBody>
          <a:bodyPr wrap="square" lIns="0" rIns="0" tIns="0" bIns="0" anchor="t">
            <a:spAutoFit/>
          </a:bodyPr>
          <a:lstStyle/>
          <a:p>
            <a:pPr algn="l">
              <a:spcAft>
                <a:spcPts val="400"/>
              </a:spcAft>
            </a:pPr>
            <a:r>
              <a:rPr sz="1500" b="0" i="0">
                <a:solidFill>
                  <a:srgbClr val="475569"/>
                </a:solidFill>
              </a:rPr>
              <a:t>A photograph (upload or webcam frame) containing a face</a:t>
            </a:r>
          </a:p>
        </p:txBody>
      </p:sp>
      <p:sp>
        <p:nvSpPr>
          <p:cNvPr id="31" name="Rounded Rectangle 30"/>
          <p:cNvSpPr/>
          <p:nvPr/>
        </p:nvSpPr>
        <p:spPr>
          <a:xfrm>
            <a:off x="4334255"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892040"/>
            <a:ext cx="3108960" cy="1234440"/>
          </a:xfrm>
          <a:prstGeom prst="rect">
            <a:avLst/>
          </a:prstGeom>
          <a:noFill/>
        </p:spPr>
        <p:txBody>
          <a:bodyPr wrap="square" lIns="0" rIns="0" tIns="0" bIns="0" anchor="t">
            <a:spAutoFit/>
          </a:bodyPr>
          <a:lstStyle/>
          <a:p>
            <a:pPr algn="l">
              <a:spcAft>
                <a:spcPts val="400"/>
              </a:spcAft>
            </a:pPr>
            <a:r>
              <a:rPr sz="1500" b="0" i="0">
                <a:solidFill>
                  <a:srgbClr val="475569"/>
                </a:solidFill>
              </a:rPr>
              <a:t>Scores for 7 basic and 11 compound emotions, the dominant emotion, and a saved history for signed-in users</a:t>
            </a:r>
          </a:p>
        </p:txBody>
      </p:sp>
      <p:sp>
        <p:nvSpPr>
          <p:cNvPr id="34" name="Rounded Rectangle 33"/>
          <p:cNvSpPr/>
          <p:nvPr/>
        </p:nvSpPr>
        <p:spPr>
          <a:xfrm>
            <a:off x="8119871"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Measures</a:t>
            </a:r>
          </a:p>
        </p:txBody>
      </p:sp>
      <p:sp>
        <p:nvSpPr>
          <p:cNvPr id="36" name="TextBox 35"/>
          <p:cNvSpPr txBox="1"/>
          <p:nvPr/>
        </p:nvSpPr>
        <p:spPr>
          <a:xfrm>
            <a:off x="8348471" y="4892040"/>
            <a:ext cx="3108960" cy="1234440"/>
          </a:xfrm>
          <a:prstGeom prst="rect">
            <a:avLst/>
          </a:prstGeom>
          <a:noFill/>
        </p:spPr>
        <p:txBody>
          <a:bodyPr wrap="square" lIns="0" rIns="0" tIns="0" bIns="0" anchor="t">
            <a:spAutoFit/>
          </a:bodyPr>
          <a:lstStyle/>
          <a:p>
            <a:pPr algn="l">
              <a:spcAft>
                <a:spcPts val="400"/>
              </a:spcAft>
            </a:pPr>
            <a:r>
              <a:rPr sz="1500" b="0" i="0">
                <a:solidFill>
                  <a:srgbClr val="475569"/>
                </a:solidFill>
              </a:rPr>
              <a:t>Accuracy and macro-F1 against a single-label baseline, per-class scores, and the effect of the synthetic images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480560"/>
          </a:xfrm>
          <a:prstGeom prst="rect">
            <a:avLst/>
          </a:prstGeom>
          <a:noFill/>
        </p:spPr>
        <p:txBody>
          <a:bodyPr wrap="square" lIns="0" rIns="0" tIns="0" bIns="0" anchor="t">
            <a:spAutoFit/>
          </a:bodyPr>
          <a:lstStyle/>
          <a:p>
            <a:pPr algn="l">
              <a:spcAft>
                <a:spcPts val="1400"/>
              </a:spcAft>
            </a:pPr>
            <a:r>
              <a:rPr sz="2200" b="0" i="0">
                <a:solidFill>
                  <a:srgbClr val="0F172A"/>
                </a:solidFill>
              </a:rPr>
              <a:t>1.  Generate identity-preserving facial images with complex emotions using cEmoGANs</a:t>
            </a:r>
          </a:p>
          <a:p>
            <a:pPr algn="l">
              <a:spcAft>
                <a:spcPts val="1400"/>
              </a:spcAft>
            </a:pPr>
            <a:r>
              <a:rPr sz="2200" b="0" i="0">
                <a:solidFill>
                  <a:srgbClr val="0F172A"/>
                </a:solidFill>
              </a:rPr>
              <a:t>2.  Enlarge the complex-emotion dataset with generated images</a:t>
            </a:r>
          </a:p>
          <a:p>
            <a:pPr algn="l">
              <a:spcAft>
                <a:spcPts val="1400"/>
              </a:spcAft>
            </a:pPr>
            <a:r>
              <a:rPr sz="2200" b="0" i="0">
                <a:solidFill>
                  <a:srgbClr val="0F172A"/>
                </a:solidFill>
              </a:rPr>
              <a:t>3.  Train a CNN multi-label classifier for basic and complex emotions</a:t>
            </a:r>
          </a:p>
          <a:p>
            <a:pPr algn="l">
              <a:spcAft>
                <a:spcPts val="1400"/>
              </a:spcAft>
            </a:pPr>
            <a:r>
              <a:rPr sz="2200" b="0" i="0">
                <a:solidFill>
                  <a:srgbClr val="0F172A"/>
                </a:solidFill>
              </a:rPr>
              <a:t>4.  Evaluate recognition performance against single-label baselines</a:t>
            </a:r>
          </a:p>
          <a:p>
            <a:pPr algn="l">
              <a:spcAft>
                <a:spcPts val="1400"/>
              </a:spcAft>
            </a:pPr>
            <a:r>
              <a:rPr sz="2200" b="0" i="0">
                <a:solidFill>
                  <a:srgbClr val="0F172A"/>
                </a:solidFill>
              </a:rPr>
              <a:t>5.  Provide an interface for emotion recognition from uploaded images</a:t>
            </a:r>
          </a:p>
        </p:txBody>
      </p:sp>
      <p:sp>
        <p:nvSpPr>
          <p:cNvPr id="27" name="TextBox 26"/>
          <p:cNvSpPr txBox="1"/>
          <p:nvPr/>
        </p:nvSpPr>
        <p:spPr>
          <a:xfrm>
            <a:off x="548640" y="5806440"/>
            <a:ext cx="11091672" cy="640080"/>
          </a:xfrm>
          <a:prstGeom prst="rect">
            <a:avLst/>
          </a:prstGeom>
          <a:noFill/>
        </p:spPr>
        <p:txBody>
          <a:bodyPr wrap="square" lIns="0" rIns="0" tIns="0" bIns="0" anchor="t">
            <a:spAutoFit/>
          </a:bodyPr>
          <a:lstStyle/>
          <a:p>
            <a:pPr algn="l">
              <a:spcAft>
                <a:spcPts val="400"/>
              </a:spcAft>
            </a:pPr>
            <a:r>
              <a:rPr sz="1400" b="0" i="1">
                <a:solidFill>
                  <a:srgbClr val="475569"/>
                </a:solidFill>
              </a:rPr>
              <a:t>How far each objective is met will be reported in Review 2 and the final review, including any that are only partly achieved.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Detect</a:t>
            </a:r>
          </a:p>
        </p:txBody>
      </p:sp>
      <p:sp>
        <p:nvSpPr>
          <p:cNvPr id="29" name="TextBox 28"/>
          <p:cNvSpPr txBox="1"/>
          <p:nvPr/>
        </p:nvSpPr>
        <p:spPr>
          <a:xfrm>
            <a:off x="749808"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An OpenCV Haar cascade finds the largest face in the photo and crops it to grayscale; no face means an empty result instead of a guess.</a:t>
            </a:r>
          </a:p>
        </p:txBody>
      </p:sp>
      <p:sp>
        <p:nvSpPr>
          <p:cNvPr id="30" name="Rounded Rectangle 29"/>
          <p:cNvSpPr/>
          <p:nvPr/>
        </p:nvSpPr>
        <p:spPr>
          <a:xfrm>
            <a:off x="3364992"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Generate</a:t>
            </a:r>
          </a:p>
        </p:txBody>
      </p:sp>
      <p:sp>
        <p:nvSpPr>
          <p:cNvPr id="33" name="TextBox 32"/>
          <p:cNvSpPr txBox="1"/>
          <p:nvPr/>
        </p:nvSpPr>
        <p:spPr>
          <a:xfrm>
            <a:off x="3566160"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A conditional GAN, trained on real faces, is given two emotions at once to synthesise compound-emotion faces for the 11 compound classes.</a:t>
            </a:r>
          </a:p>
        </p:txBody>
      </p:sp>
      <p:sp>
        <p:nvSpPr>
          <p:cNvPr id="34" name="Rounded Rectangle 33"/>
          <p:cNvSpPr/>
          <p:nvPr/>
        </p:nvSpPr>
        <p:spPr>
          <a:xfrm>
            <a:off x="6181344"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Recognise</a:t>
            </a:r>
          </a:p>
        </p:txBody>
      </p:sp>
      <p:sp>
        <p:nvSpPr>
          <p:cNvPr id="37" name="TextBox 36"/>
          <p:cNvSpPr txBox="1"/>
          <p:nvPr/>
        </p:nvSpPr>
        <p:spPr>
          <a:xfrm>
            <a:off x="6382512"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A CNN with 18 sigmoid outputs (7 basic + 11 compound) is trained on real basic-labelled faces plus the synthetic compound faces.</a:t>
            </a:r>
          </a:p>
        </p:txBody>
      </p:sp>
      <p:sp>
        <p:nvSpPr>
          <p:cNvPr id="38" name="Rounded Rectangle 37"/>
          <p:cNvSpPr/>
          <p:nvPr/>
        </p:nvSpPr>
        <p:spPr>
          <a:xfrm>
            <a:off x="8997696"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Serve</a:t>
            </a:r>
          </a:p>
        </p:txBody>
      </p:sp>
      <p:sp>
        <p:nvSpPr>
          <p:cNvPr id="41" name="TextBox 40"/>
          <p:cNvSpPr txBox="1"/>
          <p:nvPr/>
        </p:nvSpPr>
        <p:spPr>
          <a:xfrm>
            <a:off x="9198864"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A FastAPI service returns sorted basic and compound scores and the dominant emotion, and keeps a per-user history in SQLite.</a:t>
            </a:r>
          </a:p>
        </p:txBody>
      </p:sp>
      <p:sp>
        <p:nvSpPr>
          <p:cNvPr id="42" name="Rounded Rectangle 41"/>
          <p:cNvSpPr/>
          <p:nvPr/>
        </p:nvSpPr>
        <p:spPr>
          <a:xfrm>
            <a:off x="548640" y="4892040"/>
            <a:ext cx="11091672" cy="1280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516636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UI</a:t>
            </a:r>
          </a:p>
        </p:txBody>
      </p:sp>
      <p:sp>
        <p:nvSpPr>
          <p:cNvPr id="44" name="TextBox 43"/>
          <p:cNvSpPr txBox="1"/>
          <p:nvPr/>
        </p:nvSpPr>
        <p:spPr>
          <a:xfrm>
            <a:off x="1645920" y="5029200"/>
            <a:ext cx="9784080" cy="411480"/>
          </a:xfrm>
          <a:prstGeom prst="rect">
            <a:avLst/>
          </a:prstGeom>
          <a:noFill/>
        </p:spPr>
        <p:txBody>
          <a:bodyPr wrap="square" lIns="0" rIns="0" tIns="0" bIns="0" anchor="t">
            <a:spAutoFit/>
          </a:bodyPr>
          <a:lstStyle/>
          <a:p>
            <a:pPr algn="l">
              <a:spcAft>
                <a:spcPts val="400"/>
              </a:spcAft>
            </a:pPr>
            <a:r>
              <a:rPr sz="1600" b="1" i="0">
                <a:solidFill>
                  <a:srgbClr val="0F172A"/>
                </a:solidFill>
              </a:rPr>
              <a:t>Next.js console: upload or webcam, emotion charts, history</a:t>
            </a:r>
          </a:p>
        </p:txBody>
      </p:sp>
      <p:sp>
        <p:nvSpPr>
          <p:cNvPr id="45" name="TextBox 44"/>
          <p:cNvSpPr txBox="1"/>
          <p:nvPr/>
        </p:nvSpPr>
        <p:spPr>
          <a:xfrm>
            <a:off x="1645920" y="5440680"/>
            <a:ext cx="9784080" cy="685800"/>
          </a:xfrm>
          <a:prstGeom prst="rect">
            <a:avLst/>
          </a:prstGeom>
          <a:noFill/>
        </p:spPr>
        <p:txBody>
          <a:bodyPr wrap="square" lIns="0" rIns="0" tIns="0" bIns="0" anchor="t">
            <a:spAutoFit/>
          </a:bodyPr>
          <a:lstStyle/>
          <a:p>
            <a:pPr algn="l">
              <a:spcAft>
                <a:spcPts val="400"/>
              </a:spcAft>
            </a:pPr>
            <a:r>
              <a:rPr sz="1400" b="0" i="0">
                <a:solidFill>
                  <a:srgbClr val="475569"/>
                </a:solidFill>
              </a:rPr>
              <a:t>Runs on a single CPU machine, uses public data (FER2013) and calls no external service; the GAN is used only to build training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mosaic_deck_r1_01.png"/>
          <p:cNvPicPr>
            <a:picLocks noChangeAspect="1"/>
          </p:cNvPicPr>
          <p:nvPr/>
        </p:nvPicPr>
        <p:blipFill>
          <a:blip r:embed="rId1"/>
          <a:stretch>
            <a:fillRect/>
          </a:stretch>
        </p:blipFill>
        <p:spPr>
          <a:xfrm>
            <a:off x="883454" y="1097280"/>
            <a:ext cx="6828450" cy="5394960"/>
          </a:xfrm>
          <a:prstGeom prst="rect">
            <a:avLst/>
          </a:prstGeom>
        </p:spPr>
      </p:pic>
      <p:sp>
        <p:nvSpPr>
          <p:cNvPr id="27" name="TextBox 26"/>
          <p:cNvSpPr txBox="1"/>
          <p:nvPr/>
        </p:nvSpPr>
        <p:spPr>
          <a:xfrm>
            <a:off x="8321040" y="1371600"/>
            <a:ext cx="3383280" cy="4754880"/>
          </a:xfrm>
          <a:prstGeom prst="rect">
            <a:avLst/>
          </a:prstGeom>
          <a:noFill/>
        </p:spPr>
        <p:txBody>
          <a:bodyPr wrap="square" lIns="0" rIns="0" tIns="0" bIns="0" anchor="t">
            <a:spAutoFit/>
          </a:bodyPr>
          <a:lstStyle/>
          <a:p>
            <a:pPr algn="l">
              <a:spcAft>
                <a:spcPts val="800"/>
              </a:spcAft>
            </a:pPr>
            <a:r>
              <a:rPr sz="1400" b="1" i="0">
                <a:solidFill>
                  <a:srgbClr val="0F172A"/>
                </a:solidFill>
              </a:rPr>
              <a:t>Four tiers</a:t>
            </a:r>
          </a:p>
          <a:p>
            <a:pPr algn="l" marL="256032" indent="-201168">
              <a:spcAft>
                <a:spcPts val="400"/>
              </a:spcAft>
              <a:buChar char="•"/>
            </a:pPr>
            <a:r>
              <a:rPr sz="1400" b="0" i="0">
                <a:solidFill>
                  <a:srgbClr val="0F172A"/>
                </a:solidFill>
              </a:rPr>
              <a:t>Browser: Next.js console (port 3000).</a:t>
            </a:r>
          </a:p>
          <a:p>
            <a:pPr algn="l" marL="256032" indent="-201168">
              <a:spcAft>
                <a:spcPts val="400"/>
              </a:spcAft>
              <a:buChar char="•"/>
            </a:pPr>
            <a:r>
              <a:rPr sz="1400" b="0" i="0">
                <a:solidFill>
                  <a:srgbClr val="0F172A"/>
                </a:solidFill>
              </a:rPr>
              <a:t>FastAPI service: accounts, analysis and history endpoints with token checks.</a:t>
            </a:r>
          </a:p>
          <a:p>
            <a:pPr algn="l" marL="256032" indent="-201168">
              <a:spcAft>
                <a:spcPts val="400"/>
              </a:spcAft>
              <a:buChar char="•"/>
            </a:pPr>
            <a:r>
              <a:rPr sz="1400" b="0" i="0">
                <a:solidFill>
                  <a:srgbClr val="0F172A"/>
                </a:solidFill>
              </a:rPr>
              <a:t>ML modules: face detector, 18-output CNN, and a conditional GAN used only for training.</a:t>
            </a:r>
          </a:p>
          <a:p>
            <a:pPr algn="l" marL="256032" indent="-201168">
              <a:spcAft>
                <a:spcPts val="400"/>
              </a:spcAft>
              <a:buChar char="•"/>
            </a:pPr>
            <a:r>
              <a:rPr sz="1400" b="0" i="0">
                <a:solidFill>
                  <a:srgbClr val="0F172A"/>
                </a:solidFill>
              </a:rPr>
              <a:t>State: SQLite database, model checkpoints and face thumbnails; nothing leaves the machine.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Working product</a:t>
            </a:r>
          </a:p>
        </p:txBody>
      </p:sp>
      <p:sp>
        <p:nvSpPr>
          <p:cNvPr id="29" name="TextBox 28"/>
          <p:cNvSpPr txBox="1"/>
          <p:nvPr/>
        </p:nvSpPr>
        <p:spPr>
          <a:xfrm>
            <a:off x="749808" y="2240280"/>
            <a:ext cx="3118104" cy="1417319"/>
          </a:xfrm>
          <a:prstGeom prst="rect">
            <a:avLst/>
          </a:prstGeom>
          <a:noFill/>
        </p:spPr>
        <p:txBody>
          <a:bodyPr wrap="square" lIns="0" rIns="0" tIns="0" bIns="0" anchor="t">
            <a:spAutoFit/>
          </a:bodyPr>
          <a:lstStyle/>
          <a:p>
            <a:pPr algn="l">
              <a:spcAft>
                <a:spcPts val="400"/>
              </a:spcAft>
            </a:pPr>
            <a:r>
              <a:rPr sz="1600" b="0" i="0">
                <a:solidFill>
                  <a:srgbClr val="475569"/>
                </a:solidFill>
              </a:rPr>
              <a:t>Target: a web application that analyses an uploaded photo and shows basic and compound emotion scores and a saved history.</a:t>
            </a:r>
          </a:p>
        </p:txBody>
      </p:sp>
      <p:sp>
        <p:nvSpPr>
          <p:cNvPr id="30" name="Rounded Rectangle 29"/>
          <p:cNvSpPr/>
          <p:nvPr/>
        </p:nvSpPr>
        <p:spPr>
          <a:xfrm>
            <a:off x="4334255"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Fair comparison</a:t>
            </a:r>
          </a:p>
        </p:txBody>
      </p:sp>
      <p:sp>
        <p:nvSpPr>
          <p:cNvPr id="33" name="TextBox 32"/>
          <p:cNvSpPr txBox="1"/>
          <p:nvPr/>
        </p:nvSpPr>
        <p:spPr>
          <a:xfrm>
            <a:off x="4535423" y="2240280"/>
            <a:ext cx="3118104" cy="1417319"/>
          </a:xfrm>
          <a:prstGeom prst="rect">
            <a:avLst/>
          </a:prstGeom>
          <a:noFill/>
        </p:spPr>
        <p:txBody>
          <a:bodyPr wrap="square" lIns="0" rIns="0" tIns="0" bIns="0" anchor="t">
            <a:spAutoFit/>
          </a:bodyPr>
          <a:lstStyle/>
          <a:p>
            <a:pPr algn="l">
              <a:spcAft>
                <a:spcPts val="400"/>
              </a:spcAft>
            </a:pPr>
            <a:r>
              <a:rPr sz="1600" b="0" i="0">
                <a:solidFill>
                  <a:srgbClr val="475569"/>
                </a:solidFill>
              </a:rPr>
              <a:t>Target: accuracy and macro-F1 of the multi-label model compared with a single-label baseline on the FER2013 test set.</a:t>
            </a:r>
          </a:p>
        </p:txBody>
      </p:sp>
      <p:sp>
        <p:nvSpPr>
          <p:cNvPr id="34" name="Rounded Rectangle 33"/>
          <p:cNvSpPr/>
          <p:nvPr/>
        </p:nvSpPr>
        <p:spPr>
          <a:xfrm>
            <a:off x="8119871"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Synthetic-data study</a:t>
            </a:r>
          </a:p>
        </p:txBody>
      </p:sp>
      <p:sp>
        <p:nvSpPr>
          <p:cNvPr id="37" name="TextBox 36"/>
          <p:cNvSpPr txBox="1"/>
          <p:nvPr/>
        </p:nvSpPr>
        <p:spPr>
          <a:xfrm>
            <a:off x="8321040" y="2240280"/>
            <a:ext cx="3118104" cy="1417319"/>
          </a:xfrm>
          <a:prstGeom prst="rect">
            <a:avLst/>
          </a:prstGeom>
          <a:noFill/>
        </p:spPr>
        <p:txBody>
          <a:bodyPr wrap="square" lIns="0" rIns="0" tIns="0" bIns="0" anchor="t">
            <a:spAutoFit/>
          </a:bodyPr>
          <a:lstStyle/>
          <a:p>
            <a:pPr algn="l">
              <a:spcAft>
                <a:spcPts val="400"/>
              </a:spcAft>
            </a:pPr>
            <a:r>
              <a:rPr sz="1600" b="0" i="0">
                <a:solidFill>
                  <a:srgbClr val="475569"/>
                </a:solidFill>
              </a:rPr>
              <a:t>Target: a controlled comparison with and without the generated compound faces, repeated over several seeds.</a:t>
            </a:r>
          </a:p>
        </p:txBody>
      </p:sp>
      <p:sp>
        <p:nvSpPr>
          <p:cNvPr id="38" name="Rounded Rectangle 37"/>
          <p:cNvSpPr/>
          <p:nvPr/>
        </p:nvSpPr>
        <p:spPr>
          <a:xfrm>
            <a:off x="548640"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1605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Honest reporting</a:t>
            </a:r>
          </a:p>
        </p:txBody>
      </p:sp>
      <p:sp>
        <p:nvSpPr>
          <p:cNvPr id="41" name="TextBox 40"/>
          <p:cNvSpPr txBox="1"/>
          <p:nvPr/>
        </p:nvSpPr>
        <p:spPr>
          <a:xfrm>
            <a:off x="749808" y="4846320"/>
            <a:ext cx="5038344" cy="1188719"/>
          </a:xfrm>
          <a:prstGeom prst="rect">
            <a:avLst/>
          </a:prstGeom>
          <a:noFill/>
        </p:spPr>
        <p:txBody>
          <a:bodyPr wrap="square" lIns="0" rIns="0" tIns="0" bIns="0" anchor="t">
            <a:spAutoFit/>
          </a:bodyPr>
          <a:lstStyle/>
          <a:p>
            <a:pPr algn="l">
              <a:spcAft>
                <a:spcPts val="400"/>
              </a:spcAft>
            </a:pPr>
            <a:r>
              <a:rPr sz="1700" b="0" i="0">
                <a:solidFill>
                  <a:srgbClr val="475569"/>
                </a:solidFill>
              </a:rPr>
              <a:t>Target: every figure measured on this project's own runs; gaps stated plainly, including where no real labels exist.</a:t>
            </a:r>
          </a:p>
        </p:txBody>
      </p:sp>
      <p:sp>
        <p:nvSpPr>
          <p:cNvPr id="42" name="Rounded Rectangle 41"/>
          <p:cNvSpPr/>
          <p:nvPr/>
        </p:nvSpPr>
        <p:spPr>
          <a:xfrm>
            <a:off x="6199631"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00799" y="4160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7040879"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Stated limits</a:t>
            </a:r>
          </a:p>
        </p:txBody>
      </p:sp>
      <p:sp>
        <p:nvSpPr>
          <p:cNvPr id="45" name="TextBox 44"/>
          <p:cNvSpPr txBox="1"/>
          <p:nvPr/>
        </p:nvSpPr>
        <p:spPr>
          <a:xfrm>
            <a:off x="6400799" y="4846320"/>
            <a:ext cx="5038344" cy="1188719"/>
          </a:xfrm>
          <a:prstGeom prst="rect">
            <a:avLst/>
          </a:prstGeom>
          <a:noFill/>
        </p:spPr>
        <p:txBody>
          <a:bodyPr wrap="square" lIns="0" rIns="0" tIns="0" bIns="0" anchor="t">
            <a:spAutoFit/>
          </a:bodyPr>
          <a:lstStyle/>
          <a:p>
            <a:pPr algn="l">
              <a:spcAft>
                <a:spcPts val="400"/>
              </a:spcAft>
            </a:pPr>
            <a:r>
              <a:rPr sz="1700" b="0" i="0">
                <a:solidFill>
                  <a:srgbClr val="475569"/>
                </a:solidFill>
              </a:rPr>
              <a:t>Expected limits: FER2013 has no compound labels, the GAN is small and CPU-trained, and the face detector may miss small faces.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143000"/>
            <a:ext cx="11091672" cy="5303520"/>
          </a:xfrm>
          <a:prstGeom prst="rect">
            <a:avLst/>
          </a:prstGeom>
          <a:noFill/>
        </p:spPr>
        <p:txBody>
          <a:bodyPr wrap="square" lIns="0" rIns="0" tIns="0" bIns="0" anchor="t">
            <a:spAutoFit/>
          </a:bodyPr>
          <a:lstStyle/>
          <a:p>
            <a:pPr algn="l">
              <a:spcAft>
                <a:spcPts val="600"/>
              </a:spcAft>
            </a:pPr>
            <a:r>
              <a:rPr sz="1300" b="0" i="0">
                <a:solidFill>
                  <a:srgbClr val="0F172A"/>
                </a:solidFill>
              </a:rPr>
              <a:t>[1] W. S. S. Khine, P. Siritanawan and K. Kotani, "Complex emotion estimation using analysis-by-synthesis of facial expression images," IEEE Access, vol. 13, pp. 88731-88744, 2025, doi: 10.1109/ACCESS.2025.3570167.</a:t>
            </a:r>
          </a:p>
          <a:p>
            <a:pPr algn="l">
              <a:spcAft>
                <a:spcPts val="600"/>
              </a:spcAft>
            </a:pPr>
            <a:r>
              <a:rPr sz="1300" b="0" i="0">
                <a:solidFill>
                  <a:srgbClr val="0F172A"/>
                </a:solidFill>
              </a:rPr>
              <a:t>[2] S. Liu, S. Ni and H. Cai, "Facial expression recognition with contrastive disentangled generative adversarial network," Electronics, vol. 14, no. 19, p. 3795, Sep. 2025, doi: 10.3390/electronics14193795.</a:t>
            </a:r>
          </a:p>
          <a:p>
            <a:pPr algn="l">
              <a:spcAft>
                <a:spcPts val="600"/>
              </a:spcAft>
            </a:pPr>
            <a:r>
              <a:rPr sz="1300" b="0" i="0">
                <a:solidFill>
                  <a:srgbClr val="0F172A"/>
                </a:solidFill>
              </a:rPr>
              <a:t>[3] S. Ni, S. Liu, H. Cai, H. Wang and H. Xiao, "Facial expression recognition with multi-level integration disentangled generative adversarial network," in Proc. 2024 IEEE Int. Conf. Ind. Technol. (ICIT), 2024, doi: 10.1109/ICIT58233.2024.10540810.</a:t>
            </a:r>
          </a:p>
          <a:p>
            <a:pPr algn="l">
              <a:spcAft>
                <a:spcPts val="600"/>
              </a:spcAft>
            </a:pPr>
            <a:r>
              <a:rPr sz="1300" b="0" i="0">
                <a:solidFill>
                  <a:srgbClr val="0F172A"/>
                </a:solidFill>
              </a:rPr>
              <a:t>[4] F. Khemakhem and H. Ltifi, "Neural style transfer generative adversarial network (NST-GAN) for facial expression recognition," Int. J. Multimedia Inf. Retr., vol. 12, no. 2, Art. no. 26, 2023, doi: 10.1007/s13735-023-00285-6.</a:t>
            </a:r>
          </a:p>
          <a:p>
            <a:pPr algn="l">
              <a:spcAft>
                <a:spcPts val="600"/>
              </a:spcAft>
            </a:pPr>
            <a:r>
              <a:rPr sz="1300" b="0" i="0">
                <a:solidFill>
                  <a:srgbClr val="0F172A"/>
                </a:solidFill>
              </a:rPr>
              <a:t>[5] Y. Zhou, B. Yang, Z. Liu, Q. Wang and P. Xiong, "Cross-domain facial expression recognition by combining transfer learning and face-cycle generative adversarial network," Multimedia Tools Appl., vol. 83, no. 42, pp. 90289-90314, 2024, doi: 10.1007/s11042-024-18713-y.</a:t>
            </a:r>
          </a:p>
          <a:p>
            <a:pPr algn="l">
              <a:spcAft>
                <a:spcPts val="600"/>
              </a:spcAft>
            </a:pPr>
            <a:r>
              <a:rPr sz="1300" b="0" i="0">
                <a:solidFill>
                  <a:srgbClr val="0F172A"/>
                </a:solidFill>
              </a:rPr>
              <a:t>[6] C. Galkaduwa, "An empirical study of handcrafted feature learning and convolutional neural networks for facial expression recognition," arXiv:2607.15288, Jun. 2026.</a:t>
            </a:r>
          </a:p>
          <a:p>
            <a:pPr algn="l">
              <a:spcAft>
                <a:spcPts val="600"/>
              </a:spcAft>
            </a:pPr>
            <a:r>
              <a:rPr sz="1300" b="0" i="0">
                <a:solidFill>
                  <a:srgbClr val="0F172A"/>
                </a:solidFill>
              </a:rPr>
              <a:t>[7] X. Liu et al., "Compound expression recognition via multi model ensemble for the ABAW7 challenge," arXiv:2407.12257, Jul. 2024.</a:t>
            </a:r>
          </a:p>
          <a:p>
            <a:pPr algn="l">
              <a:spcAft>
                <a:spcPts val="600"/>
              </a:spcAft>
            </a:pPr>
            <a:r>
              <a:rPr sz="1300" b="0" i="0">
                <a:solidFill>
                  <a:srgbClr val="0F172A"/>
                </a:solidFill>
              </a:rPr>
              <a:t>[9] S. Du, Y. Tao and A. M. Martinez, "Compound facial expressions of emotion," Proc. Nat. Acad. Sci. USA, vol. 111, no. 15, pp. E1454-E1462, Apr. 2014, doi: 10.1073/pnas.1322355111.</a:t>
            </a:r>
          </a:p>
          <a:p>
            <a:pPr algn="l">
              <a:spcAft>
                <a:spcPts val="600"/>
              </a:spcAft>
            </a:pPr>
            <a:r>
              <a:rPr sz="1300" b="0" i="0">
                <a:solidFill>
                  <a:srgbClr val="0F172A"/>
                </a:solidFill>
              </a:rPr>
              <a:t>[11] I. J. Goodfellow et al., "Challenges in representation learning: A report on three machine learning contests," Neural Netw., vol. 64, pp. 59-63, 2015, doi: 10.1016/j.neunet.2014.09.005.</a:t>
            </a:r>
          </a:p>
          <a:p>
            <a:pPr algn="l">
              <a:spcAft>
                <a:spcPts val="600"/>
              </a:spcAft>
            </a:pPr>
            <a:r>
              <a:rPr sz="1300" b="0" i="0">
                <a:solidFill>
                  <a:srgbClr val="0F172A"/>
                </a:solidFill>
              </a:rPr>
              <a:t>[15] S. Li and W. Deng, "Deep facial expression recognition: A survey," IEEE Trans. Affect. Comput., vol. 13, no. 3, pp. 1195-1215, 2022, doi: 10.1109/TAFFC.2020.2981446.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Mosaic">
  <a:themeElements>
    <a:clrScheme name="Mosaic">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Mosa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Mosaic">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Complex Emotion Recognition Using Facial Expression Images: Review 1</dc:title>
  <dc:subject>Batch A16 (CSDS-A)</dc:subject>
  <dc:creator>B. Shirisha, B. Ashrith, B. Murali, B. Goutham</dc:creator>
  <cp:lastModifiedBy/>
  <cp:revision>1</cp:revision>
  <dcterms:created xsi:type="dcterms:W3CDTF">2026-10-13T12:36:40Z</dcterms:created>
  <dcterms:modified xsi:type="dcterms:W3CDTF">2026-10-13T12:36:40Z</dcterms:modified>
  <cp:keywords>complex emotion recognition, cEmoGAN, conditional GAN, multi-label CNN, FER2013, facial expression</cp:keywords>
  <dc:description/>
</cp:coreProperties>
</file>