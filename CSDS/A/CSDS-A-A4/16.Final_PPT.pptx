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HubOptima: forecast-driven hub location for e-commerce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approach, evaluation and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a framework paper evaluated on private data; its numbers are not reproduced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what the abstracts and the base paper state is summarised; full texts of [2]-[5] were not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forecast-driven, reproducible and measured hub planning, including the effect of forecast error and of re-planning.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are read from the project's own files; the dataset is synthetic, so absolute values are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matheuristic equals the exact MIP on this instance; the heuristics cost 3.6% to 16.1%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regression counterpart of a confusion matrix: error against two naive benchmarks and the spread of per-region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importance shows the level of a region dominates; the scalability chart shows where the matheuristic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 on an i5-12500 with 15.7 GB RAM; run-to-run variation of several seconds comes from CBC and processor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Optimization in E-Commerce Logistics: Combining Matheuristics With Random Forests for Hub Location Efficiency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23K91A6745   CH.ARCHANA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23K91A6705   A.MEENAKSHI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23K91A6734   B.ARUN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23K91A6712   A.SAMPATH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networks route parcels through hubs, so hub placement drives cost and delivery time. Classical models assume a fixed demand, and exact solvers slow down on large networks.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HubOptima forecasts regional demand with a Random Forest and feeds the forecast to a capacitated hub-location model solved by a matheuristic (greedy construction, MIP-priced local search, kernel search), re-planning every month.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scored on the demand that actually occurred; five traditional methods run on the same instance; a FastAPI + React application exposes everything.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(90 regions x 36 months): forecast MAPE 7.67% vs 17.6-19.7% for naive forecasters; Oct 2025 plan INR 62.2 M, equal to the exact MIP, 3.6-16.1% cheaper than the alternatives; re-planning 98.3% vs 83.7% fulfilment.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synthetic data, no robustness analysis, peak under-forecast by 13.2% overloads 3 of 6 hubs.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hub location, matheuristic, Random Forest, demand forecasting, e-commerce logistics.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Danach, A. Rammal, I. Moukadem, H. Harb, and A. Nasser, "Advanced optimization in e-commerce logistics: Combining matheuristics with random forests for hub location efficiency," IEEE Access, vol. 13, pp. 55915-55926, 2025, doi: 10.1109/ACCESS.2025.3550560.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Forest demand forecast + matheuristic (relaxed MILP start, Variable Neighbourhood Search); forecasts re-optimise the hubs; validated on peak, spike and disruption scenarios.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proprietary data of a global transport company, two years of demand, thousands of customer locations.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delivery-time compliance 92.3%, fulfilment 97.6%, robustness 0.87; +7.8% / +9.4% / +16%; cost reduction 15-20%; networks of 50-500 nodes.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(authors): sector-specific data, scalability not extensively tested, offline evaluation, other ML models not explored; RF gain given only as 'X %'.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811780"/>
                <a:gridCol w="1574596"/>
                <a:gridCol w="2474366"/>
                <a:gridCol w="21369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Danach et al., 2025 [1] (base)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forecast + matheuristic (MILP, VNS)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logistics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 compliance, 97.6% fulfilment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not public; X % gain unstated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 et al., 2024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Diversity-based hybrid PSO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drone delivery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42.58% efficiency gain (abstract)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forecasting; no optimality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al., 2023 [3]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Maximal-detour p-hub centre; MILP + Benders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Liner shipping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exact solve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Dehghan Chenary et al., 2024 [4]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clustering + metaheuristic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Australian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Pareto sets than MOPSO, NSGA-II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given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2025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adaptive robust (C&amp;CG + Benders)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in abstract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out-of-sample than stochastic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 uncertainty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Danach et al., 2019 [9]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Lagrangian relaxation + hyper-heuristic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reviewed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Described in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forecasting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149193"/>
                <a:gridCol w="809792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code and matheuristic parameters unavailable; RF gain stated only as 'X %'; effect of forecast error on the plan not shown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 et al. [2]; Dehghan Chenary et al. [4]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Metaheuristic search with demand taken as given; no forecast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 [3]; Ernst and Krishnamoorthy [8]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methods and decomposition for fixed demand; no adaptation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[5]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under an assumed uncertainty set, not learned from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reviewed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value of monthly re-planning; no exact-versus-matheuristic measurement as networks grow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hub placement increases transportation cost and delays deliveries.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hub location models assume fixed demand and ignore fluctuations.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optimisation is too slow for large, changing logistics networks.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optimisation are done separately, which weakens hub decisions.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 order history, candidate hubs and cost and service parameters, choose hubs and an allocation that minimise cost within capacity and keep the plan good as demand changes.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historical e-commerce logistics data.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regional demand using a Random Forest model.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hub location as an optimisation problem with cost, time and capacity constraints.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problem efficiently with a matheuristic approach.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Re-optimise hub configurations as demand changes.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with traditional hub location methods.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- 36 months of orders for 90 regions, cleaned and turned into 19 features.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Forecast - a Random Forest predicts next-month demand per region.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- a capacitated single-allocation MIP: fixed hub cost, transport cost, delivery-time penalty, capacity, p hubs.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Solve - matheuristic: greedy construction, MIP-priced local search, kernel search; exact MIP as reference.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 - plans scored on realised demand: cost, delivery time, fulfilment, utilisation.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 and adapt - five baselines, a scalability benchmark and monthly re-optimisation.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 - FastAPI + React: forecast, plan with a map, compare, re-optimise.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browser/CLI, React frontend, FastAPI layer, hublocator core, libraries and files</a:t>
            </a:r>
            <a:endParaRPr lang="en-US" sz="1200" dirty="0"/>
          </a:p>
        </p:txBody>
      </p:sp>
      <p:pic>
        <p:nvPicPr>
          <p:cNvPr id="9" name="System architecture" descr="System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055" y="1695450"/>
            <a:ext cx="4883888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Predict-then-optimise workflow: load, preprocess, features, train, forecast, model, solve, evaluate, compare and re-plan, present</a:t>
            </a:r>
            <a:endParaRPr lang="en-US" sz="12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058" y="1695450"/>
            <a:ext cx="750025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(seed 42): 90 regions (30 cities + 60 satellite districts) x 36 months = 3,240 rows, 48.3 M orders; peak 2.38 M in Oct 2025; no real data.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time: train 2023-04 to 2025-06 (2,430 rows), test 2025-07 to 2025-12 (540 rows).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features: lags 1-12, rolling mean/std, trend, calendar, promotion, region attributes, order value, return rate.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400 trees, min leaf 2, 60% features, seed 42; fit 0.8 s; no tuning, no cross-validation.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model: p = 6, capacity 1.25 x demand / p, transport INR 0.04/order-km, time penalty INR 1.5/order-h, fixed INR 2.5 M per hub (by tier), SLA 48 h soft.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Matheuristic: greedy/k-medoids start, swap/drop/add moves screened within 6%, exact assignment MIPs, kernel of 24 hubs.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algorithm: construct, price, screen, price moves, accept first improvement, kernel search, return</a:t>
            </a:r>
            <a:endParaRPr lang="en-US" sz="1200" dirty="0"/>
          </a:p>
        </p:txBody>
      </p:sp>
      <p:pic>
        <p:nvPicPr>
          <p:cNvPr id="9" name="Algorithm flowchart" descr="Algorithm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072" y="1695450"/>
            <a:ext cx="6363854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planning hubs from the browser, through FastAPI, the forecaster and the matheuristic</a:t>
            </a:r>
            <a:endParaRPr lang="en-US" sz="1200" dirty="0"/>
          </a:p>
        </p:txBody>
      </p:sp>
      <p:pic>
        <p:nvPicPr>
          <p:cNvPr id="9" name="Sequence diagram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747" y="1695450"/>
            <a:ext cx="552650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Entity–relationship diagram of the file-based data model (CSV, joblib, JSON; no database)</a:t>
            </a:r>
            <a:endParaRPr lang="en-US" sz="1200" dirty="0"/>
          </a:p>
        </p:txBody>
      </p:sp>
      <p:pic>
        <p:nvPicPr>
          <p:cNvPr id="9" name="ER diagram" descr="ER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747" y="1695450"/>
            <a:ext cx="552650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89976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data.py / forecast.py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generation, cleaning, 19 shifted features; Random Forest with time split; forecast per region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(distance x1.25, time, cost, capacity); exact MIP via PuLP/CBC; KPI evaluation on realised demand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matheuristic.py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greedy/k-medoids start; screened swap/drop/add priced by assignment MIPs; kernel search; cache of priced hub sets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baselines.py / rolling.py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greedy, k-means, largest markets, no-forecast; comparison; rolling horizon; scalability benchmark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backend/main.py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14 endpoints, pydantic validation, background jobs in threads, NaN-safe JSON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Vite: 7 pages, SVG network map, Recharts, light/dark theme, job polling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Methods Compared (Oct 2025, p = 6)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20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3374136"/>
                <a:gridCol w="33741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cost (INR M per month)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/ fulfilment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matheuristic (proposed)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 (reference)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 h / 92.3%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exact MIP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 (+0.0%)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 h / 92.3%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greedy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  (+11.5%)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9.47 h / 89.3%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k-means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  (+3.6%)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 h / 91.8%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Largest-markets rule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  (+16.1%)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8.96 h / 91.1%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avg, no forecast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  (+8.1%)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 h / 66.0%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data; planned on the forecast, scored on realised demand. Fulfilment is simulated from hub capacity; 3 of 6 hubs overloaded after a 13.2% under-forecast.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&amp; Error Distribution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accuracy: Random Forest vs naive forecasters (MAPE 7.67%)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error, Dec 2025: median 7.0%, 8 regions above 20%</a:t>
            </a:r>
            <a:endParaRPr lang="en-US" sz="1200" dirty="0"/>
          </a:p>
        </p:txBody>
      </p:sp>
      <p:pic>
        <p:nvPicPr>
          <p:cNvPr id="11" name="Held-out accuracy: Random Forest vs naive forecasters (MAPE 7.67%)" descr="Held-out accuracy: Random Forest vs naive forecasters (MAPE 7.67%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342774"/>
            <a:ext cx="5486400" cy="2134351"/>
          </a:xfrm>
          <a:prstGeom prst="rect">
            <a:avLst/>
          </a:prstGeom>
        </p:spPr>
      </p:pic>
      <p:pic>
        <p:nvPicPr>
          <p:cNvPr id="12" name="Per-region error, Dec 2025: median 7.0%, 8 regions above 20%" descr="Per-region error, Dec 2025: median 7.0%, 8 regions above 20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46" y="1733549"/>
            <a:ext cx="5048157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Scalability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3-month mean 0.379, last month 0.242, population 0.155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MIP vs matheuristic: 270 nodes, exact not solved; matheuristic +3.67%</a:t>
            </a:r>
            <a:endParaRPr lang="en-US" sz="1200" dirty="0"/>
          </a:p>
        </p:txBody>
      </p:sp>
      <p:pic>
        <p:nvPicPr>
          <p:cNvPr id="11" name="Top features: 3-month mean 0.379, last month 0.242, population 0.155" descr="Top features: 3-month mean 0.379, last month 0.242, population 0.1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805527"/>
            <a:ext cx="5486400" cy="3208844"/>
          </a:xfrm>
          <a:prstGeom prst="rect">
            <a:avLst/>
          </a:prstGeom>
        </p:spPr>
      </p:pic>
      <p:pic>
        <p:nvPicPr>
          <p:cNvPr id="12" name="Exact MIP vs matheuristic: 270 nodes, exact not solved; matheuristic +3.67%" descr="Exact MIP vs matheuristic: 270 nodes, exact not solved; matheuristic +3.67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809960"/>
            <a:ext cx="5486400" cy="31999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149193"/>
                <a:gridCol w="809792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latency (median, end to end)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s (4 hubs), 10.7-12.2 s (6 hubs, matheuristic), 15.3 s (6 hubs, exact)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endpoints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2-30 ms; forecast endpoint 264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time (saved runs)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matheuristic 4.89 s, exact 7.99 s (90 nodes); 3.13 s vs 12.74 s; 8.31 s vs 42.94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tests.py 4 of 4 passed; API smoke test 18 of 18 passed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Re-optimisation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 vs 83.7% fulfilment, -4.9% cost, 1 hub change in 6 months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acceptance, load and authentication testing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799539"/>
                <a:gridCol w="1687068"/>
                <a:gridCol w="3036722"/>
                <a:gridCol w="1799539"/>
                <a:gridCol w="1462125"/>
                <a:gridCol w="146212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Delivery-time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 (SLA reliability, Oct 2025 peak)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simulated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 (peak); 98.3% average with re-planning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simulated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vs observed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alternatives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15-20% 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3.6-16.1% lower; 0% vs exact MIP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six methods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 differ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from adapting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+7.8% / +9.4% (abstract)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+14.6 points fulfilment vs a static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Jul-Dec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differs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this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50-500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90-270 nodes; +3.67% at 270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 beyond 270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and metric definitions differ, so this is context only: no head-to-head claim is made.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Plan Hubs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Oct 2025: 6 hubs, INR 62.2 M, 92.3% fulfilment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log and allocation of regions to hubs</a:t>
            </a:r>
            <a:endParaRPr lang="en-US" sz="1200" dirty="0"/>
          </a:p>
        </p:txBody>
      </p:sp>
      <p:pic>
        <p:nvPicPr>
          <p:cNvPr id="11" name="Plan Oct 2025: 6 hubs, INR 62.2 M, 92.3% fulfilment" descr="Plan Oct 2025: 6 hubs, INR 62.2 M, 92.3% fulfil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Search log and allocation of regions to hubs" descr="Search log and allocation of regions to hub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Compare and Scalability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methods scored on realised demand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MIP vs matheuristic at 90, 180, 270 nodes</a:t>
            </a:r>
            <a:endParaRPr lang="en-US" sz="1200" dirty="0"/>
          </a:p>
        </p:txBody>
      </p:sp>
      <p:pic>
        <p:nvPicPr>
          <p:cNvPr id="11" name="Six methods scored on realised demand" descr="Six methods scored on realised dema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Exact MIP vs matheuristic at 90, 180, 270 nodes" descr="Exact MIP vs matheuristic at 90, 180, 270 nod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Forecast and Re-optimisation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page: Random Forest vs naive forecasters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Re-optimise page: 98.3% vs 83.7% fulfilment</a:t>
            </a:r>
            <a:endParaRPr lang="en-US" sz="1200" dirty="0"/>
          </a:p>
        </p:txBody>
      </p:sp>
      <p:pic>
        <p:nvPicPr>
          <p:cNvPr id="11" name="Forecast page: Random Forest vs naive forecasters" descr="Forecast page: Random Forest vs naive forecast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" y="1733550"/>
            <a:ext cx="5364480" cy="3352800"/>
          </a:xfrm>
          <a:prstGeom prst="rect">
            <a:avLst/>
          </a:prstGeom>
        </p:spPr>
      </p:pic>
      <p:pic>
        <p:nvPicPr>
          <p:cNvPr id="12" name="Re-optimise page: 98.3% vs 83.7% fulfilment" descr="Re-optimise page: 98.3% vs 83.7% fulfilm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885" y="1733550"/>
            <a:ext cx="53644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HubOptima: forecast-driven hub location with a matheuristic, a comparison suite and a web application.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 7.67% (naive 17.6-19.7%); the matheuristic matches the exact MIP at 90 and 180 nodes and is cheapest of six methods on Oct 2025.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Re-planning each month: 98.3% vs 83.7% simulated fulfilment, 4.9% lower cost.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 and 18 API checks pass; 22 screens captured with real data.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synthetic data; 13.2% peak under-forecast overloads 3 hubs; +3.67% at 270 nodes; no robustness analysis or user study.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real order data and gather feedback from logistics planners.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plans: a safety margin or scenario objective against forecast error.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forecaster monthly; try gradient boosting and LSTM; handle extrapolation beyond past peaks.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Variable Neighbourhood Search, multiple capacity levels and split allocation.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sign-in and a job queue for multi-user deployment.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K. Danach, A. Rammal, I. Moukadem, H. Harb, and A. Nasser, "Advanced optimization in e-commerce logistics: Combining matheuristics with random forests for hub location efficiency," IEEE Access, vol. 13, pp. 55915-55926, 2025, doi: 10.1109/ACCESS.2025.3550560.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L. Zheng, G. Xu, and W. Chen, "Using improved particle swarm optimization algorithm for location problem of drone logistics hub," Computers, Materials &amp; Continua, vol. 78, no. 1, pp. 935-957, 2024, doi: 10.32604/cmc.2023.046006.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Yang, J. Zheng, J. Wang, and X. Hu, "The maximal detour liner shipping hub location problem: Improving the applicability of the p-hub center problem," Transportation Research Part E: Logistics and Transportation Review, vol. 179, Art. no. 103330, Nov. 2023, doi: 10.1016/j.tre.2023.103330.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Dehghan Chenary, A. Ferdowsi, and R. F. Hartl, "A Pareto-based clustering approach for solving a bi-objective mobile hub location problem with congestion," Logistics, vol. 8, no. 4, Art. no. 130, Dec. 2024, doi: 10.3390/logistics8040130.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H. Zhang, J.-C. Wang, and Y. Gao, "Two-stage adaptive robust hub location problem under demand uncertainty," Naval Research Logistics, Dec. 2025, doi: 10.1002/nav.70043.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M. E. O'Kelly, "The location of interacting hub facilities," Transportation Science, vol. 20, no. 2, pp. 92-106, 1986.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J. F. Campbell, A. T. Ernst, and M. Krishnamoorthy, "Hub location problems," in Facility Location: Applications and Theory. Berlin, Germany: Springer, 2002, pp. 373-407.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T. Ernst and M. Krishnamoorthy, "Efficient algorithms for the uncapacitated single allocation p-hub median problem," Location Science, vol. 4, no. 3, pp. 139-154, Oct. 1996.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K. Danach, S. Gelareh, and R. Neamatian Monemi, "The capacitated single-allocation p-hub location routing problem: A Lagrangian relaxation and a hyper-heuristic approach," EURO Journal on Transportation and Logistics, vol. 8, no. 5, pp. 597-631, Dec. 2019.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M. Kahalimoghadam, R. G. Thompson, and A. Rajabifard, "Determining the number and location of micro-consolidation centres as a solution to growing e-commerce demand," Journal of Transport Geography, vol. 117, Art. no. 103875, May 2024.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L. Breiman, "Random forests," Machine Learning, vol. 45, no. 1, pp. 5-32, Oct. 2001.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V. Maniezzo, M. A. Boschetti, and T. Stuetzle, Matheuristics: Algorithms and Implementations. Cham, Switzerland: Springer, 2021.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F. Pedregosa et al., "Scikit-learn: Machine learning in Python," Journal of Machine Learning Research, vol. 12, pp. 2825-2830, 2011.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S. Mitchell, M. O'Sullivan, and I. Dunning, "PuLP: A linear programming toolkit for Python," Dept. of Engineering Science, University of Auckland, 2011.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J. Forrest and R. Lougee-Heimer, "CBC user guide," in Emerging Theory, Methods, and Applications, INFORMS TutORials in Operations Research, 2005, pp. 257-277.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P. Hansen and N. Mladenovic, "Variable neighborhood search: Principles and applications," European Journal of Operational Research, vol. 130, no. 3, pp. 449-467, May 2001.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E. Angelelli, R. Mansini, and M. G. Speranza, "Kernel search: A general heuristic for the multi-dimensional knapsack problem," Computers &amp; Operations Research, vol. 37, no. 11, pp. 2017-2026, Nov. 2010.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S. P. Lloyd, "Least squares quantization in PCM," IEEE Transactions on Information Theory, vol. 28, no. 2, pp. 129-137, Mar. 1982.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R. J. Hyndman and G. Athanasopoulos, Forecasting: Principles and Practice, 3rd ed. Melbourne, Australia: OTexts, 2021.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R. W. Sinnott, "Virtues of the haversine," Sky and Telescope, vol. 68, no. 2, p. 159, 1984.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A4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HubOptima: Final Review</dc:title>
  <dc:subject>Advanced Optimization in E-Commerce Logistics: Combining Matheuristics With Random Forests for Hub Location Efficiency</dc:subject>
  <dc:creator>Batch A4</dc:creator>
  <cp:lastModifiedBy>Batch A4</cp:lastModifiedBy>
  <cp:revision>1</cp:revision>
  <dcterms:created xsi:type="dcterms:W3CDTF">2026-10-07T05:03:03Z</dcterms:created>
  <dcterms:modified xsi:type="dcterms:W3CDTF">2026-10-07T05:03:03Z</dcterms:modified>
  <cp:keywords>hub location, matheuristic, random forest, e-commerce logistics</cp:keywords>
  <cp:category/>
  <dc:description/>
  <cp:contentStatus/>
</cp:coreProperties>
</file>