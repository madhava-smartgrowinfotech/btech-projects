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Network orders per month, 2025 (synthetic data)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(2025)</c:v>
                </c:pt>
              </c:strCache>
            </c:strRef>
          </c:tx>
          <c:spPr>
            <a:solidFill>
              <a:srgbClr val="4B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1478044</c:v>
                </c:pt>
                <c:pt idx="1">
                  <c:v>1298620</c:v>
                </c:pt>
                <c:pt idx="2">
                  <c:v>1374786</c:v>
                </c:pt>
                <c:pt idx="3">
                  <c:v>1449737</c:v>
                </c:pt>
                <c:pt idx="4">
                  <c:v>1424646</c:v>
                </c:pt>
                <c:pt idx="5">
                  <c:v>1335613</c:v>
                </c:pt>
                <c:pt idx="6">
                  <c:v>1453765</c:v>
                </c:pt>
                <c:pt idx="7">
                  <c:v>1625632</c:v>
                </c:pt>
                <c:pt idx="8">
                  <c:v>1521247</c:v>
                </c:pt>
                <c:pt idx="9">
                  <c:v>2383534</c:v>
                </c:pt>
                <c:pt idx="10">
                  <c:v>2177565</c:v>
                </c:pt>
                <c:pt idx="11">
                  <c:v>1593341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Operating cost by method, Oct 2025 (INR M per month)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(INR M)</c:v>
                </c:pt>
              </c:strCache>
            </c:strRef>
          </c:tx>
          <c:spPr>
            <a:solidFill>
              <a:srgbClr val="4B46C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RF + matheuristic</c:v>
                </c:pt>
                <c:pt idx="1">
                  <c:v>RF + exact MIP</c:v>
                </c:pt>
                <c:pt idx="2">
                  <c:v>RF + greedy</c:v>
                </c:pt>
                <c:pt idx="3">
                  <c:v>RF + k-means</c:v>
                </c:pt>
                <c:pt idx="4">
                  <c:v>Largest markets</c:v>
                </c:pt>
                <c:pt idx="5">
                  <c:v>No forecast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62.2</c:v>
                </c:pt>
                <c:pt idx="1">
                  <c:v>62.2</c:v>
                </c:pt>
                <c:pt idx="2">
                  <c:v>69.3</c:v>
                </c:pt>
                <c:pt idx="3">
                  <c:v>64.4</c:v>
                </c:pt>
                <c:pt idx="4">
                  <c:v>72.2</c:v>
                </c:pt>
                <c:pt idx="5">
                  <c:v>67.2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INR million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design, methodology and progress of HubOptima.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parts, from a recap of Review 1 through design and methodology to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FastAPI. All science lives in the core package; the API only validates, runs jobs and serialises.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The key idea is to separate planning demand (forecast) from realised demand (what happened).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data is synthetic and generated by a seeded script, so the same seed gives the same files. Festival peaks in Oct-Nov and a growth trend were built in; the model therefore learns a process the authors wrote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is cleaning plus 19 engineered features; the shift(1) before every rolling window keeps the current month out of its own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is the real matheuristic. Fixing the hub set leaves a small assignment MIP that CBC solves exactly; the local search moves between hub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tuned: the hyper-parameters were set once. The importances show that the level of a region dominates; calendar features carry little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the search accepts only strictly better plans, restarts after each improvement and finishes with a restricted exact MIP.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nine processes and four data stores; level 2 opens the solve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database: data and results are readable files, which suits the small data and keeps everything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components are open source and free; no GPU or commercial solver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The one open item is user-acceptance testing with real logistics planners.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on synthetic data: the proposed plan equals the exact optimum and is the cheapest; the others cost 3.6% to 16.1% more. The peak was under-forecast by 13.2%, which overloads three hubs.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the project's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unit tests, 18 API checks and a scripted browser walkthrough. The frontend has no automated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how each was handled or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real-user feedback and robustness,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HubOptima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HubOptima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Optimization in E-Commerce Logistics: Combining Matheuristics With Random Forests for Hub Location Efficiency</a:t>
            </a:r>
            <a:endParaRPr lang="en-US" sz="22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CH.ARCHANA  23K91A6745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A.MEENAKSHI  23K91A6705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B.ARUN  23K91A6734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A.SAMPATH  23K91A6712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A4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preparation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Forecaster and optimiser settings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 model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Hub networks are planned on a fixed demand with slow exact solvers or simple rules, so plans go stale as e-commerce demand moves between regions and seasons.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Random Forest forecast feeds a capacitated hub-location model solved by a matheuristic, re-planned every month, behind a FastAPI + React application.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 history, 90 regions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Random Forest forecast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Hub-location model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Matheuristic solve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KPIs, compare, re-plan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18 + Vite (port 5104): 7 pages, SVG network map, Recharts, light/dark theme.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API: FastAPI (port 8104), 14 endpoints, pydantic validation, background jobs in threads.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Core: hublocator package: data, forecast, model, matheuristic, baselines, rolling.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Solvers: scikit-learn Random Forest; PuLP with CBC for the MIPs.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Storage: CSV inputs, a joblib model and JSON results; no database.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06" y="1181100"/>
            <a:ext cx="5966637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+ clean data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19 features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 Random Forest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Forecast next month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hub model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Matheuristic solve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Evaluate on realised demand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Plan, then judge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Plans are built from the forecast and scored on the demand that actually occurred, so forecast error shows up as overloaded hubs.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look-ahead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For a past month the forecast uses only earlier data, and all rolling features are shifted by one month.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Compare and adapt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Five baselines run on the same instance; a rolling horizon re-forecasts and re-plans every month against a static plan.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1011326"/>
                <a:gridCol w="2528316"/>
                <a:gridCol w="151698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seed 42; no real data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= 30 cities + 60 satellite districts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points and hub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months, 2023-01 to 2025-12; 3,240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back-tests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 M in total; peak 2.38 M (Oct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peak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2023-04..2025-06 (2,430 rows); test 2025-07..12 (540)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Time-based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generated by the project, no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features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Cleaning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De-duplicate (region, month); coerce orders to numbers; sort; interpolate gaps inside each region; derive year and month. The generated data has no gaps: the guards exist for real files.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Features (19)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Lags 1, 2, 3, 6, 12; rolling mean (3, 6) and std (3); trend; month, quarter, festival; promo and previous promo; population, tier, penetration; order value, return rate.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leakage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Every rolling window is computed on values shifted by one month; a past month is forecast only from earlier data; the split is by time, never random.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forecaster and hub-location solver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trees, leaf 2, 60% features, seed 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regions, p = 6, capacity 1.25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construct, swap/drop/add, kernel (24)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 via PuLP, time-limited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'model' is a Random Forest plus a mixed-integer model solved by CBC; no neural network is used.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Matheuristic flowchart" descr="Matheuristic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29" y="1238250"/>
            <a:ext cx="675409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solver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RandomForestRegressor, 400 trees, depth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(one fixed setting, no CV)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2,430 rows / 540 rows (time split)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defaults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6, capacity 1.25, SLA 48 h (soft)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 per call (sub-MIP 5 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i5-12500, 15.7 GB, Python 3.11.9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 features: 3-month rolling mean (0.379), last month (0.242), population (0.155)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Feature importance chart" descr="Feature importance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49424"/>
            <a:ext cx="5238750" cy="306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4663440" y="137160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92040" y="155448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Accepting a move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24028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move is screened by a greedy estimate (within 6%), priced by an exact MIP and accepted only if cheaper.</a:t>
            </a:r>
            <a:endParaRPr lang="en-US" sz="1500" dirty="0"/>
          </a:p>
        </p:txBody>
      </p:sp>
      <p:sp>
        <p:nvSpPr>
          <p:cNvPr id="8" name="Partial input card"/>
          <p:cNvSpPr/>
          <p:nvPr/>
        </p:nvSpPr>
        <p:spPr>
          <a:xfrm>
            <a:off x="4663440" y="288036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306324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Stopping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74904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Stops when no promising move remains or 70% of the time is used; a kernel MIP over about 24 hubs then polishes the plan.</a:t>
            </a:r>
            <a:endParaRPr lang="en-US" sz="1500" dirty="0"/>
          </a:p>
        </p:txBody>
      </p:sp>
      <p:sp>
        <p:nvSpPr>
          <p:cNvPr id="11" name="Saving card"/>
          <p:cNvSpPr/>
          <p:nvPr/>
        </p:nvSpPr>
        <p:spPr>
          <a:xfrm>
            <a:off x="4663440" y="438912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457200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Infeasible plans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525780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start set that breaks capacity or a hard SLA gets more hubs; if still infeasible the API explains why.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logic" descr="Decision log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202747"/>
            <a:ext cx="4000500" cy="4909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3053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'Solve'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9625"/>
          <a:ext cx="11094414" cy="914400"/>
        </p:xfrm>
        <a:graphic>
          <a:graphicData uri="http://schemas.openxmlformats.org/drawingml/2006/table">
            <a:tbl>
              <a:tblPr/>
              <a:tblGrid>
                <a:gridCol w="2773603"/>
                <a:gridCol w="8320811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data.py, forecast.py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generate, clean, features, Random Forest, forecasts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model.py, matheuristic.py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Instance, exact MIP, KPI evaluation, matheuristic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baselines.py, rolling.py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greedy, k-means, largest markets; comparison; rolling horizon; 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23950"/>
            <a:ext cx="4191000" cy="314325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930" y="1123950"/>
            <a:ext cx="4301289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3326130"/>
                <a:gridCol w="5543550"/>
                <a:gridCol w="221742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regions.csv, demand_history.csv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regions; region x month orders with promo, value, return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/ 3,240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rf_demand.joblib, forecast_metrics.json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forest + 19 features; metrics, importances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 MB / 12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/ rolling / scalability 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KPIs and 90-row allocations; monthly adaptive vs static; benchmark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KB / 6 KB / 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File-based data model (left, no database)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09" y="1123950"/>
            <a:ext cx="4431631" cy="32385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0725" y="1123950"/>
            <a:ext cx="350837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JavaScript (JSX)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and ML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pandas 2.2, NumPy 1.26, scikit-learn 1.4, joblib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Optimisation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PuLP 3.3 with the CBC solver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 0.110, uvicorn, pydantic; Flask 3 (classic UI)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18, Vite 5, recharts, framer-motion, gsap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tests.py (4), API smoke test (18),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generation, cleaning and 19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training and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Capacitated hub MIP and exact solver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Matheuristic (construct, local search, kernel)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Baselines, comparison and scalability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re-optimisation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layer and React application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 testing with planners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endpoints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web pages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+ 18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tests and API checks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forecast and plan, Oct 2025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7.67%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forecast MAPE (naive: 17.6-19.7%)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62.2 M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monthly cost, same as exact MIP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92.3%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simulated fulfilment (3 hubs overloaded)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873834" y="1188720"/>
            <a:ext cx="4836012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Plan hubs: 6 hubs, INR 62.2 M, 92.3% fulfilment (Oct 2025)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476106" y="1188720"/>
            <a:ext cx="4878589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Compare methods: six methods on realised demand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lan result screenshot" descr="Plan result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4" y="1977032"/>
            <a:ext cx="4829175" cy="3018234"/>
          </a:xfrm>
          <a:prstGeom prst="rect">
            <a:avLst/>
          </a:prstGeom>
        </p:spPr>
      </p:pic>
      <p:pic>
        <p:nvPicPr>
          <p:cNvPr id="27" name="Compare screenshot" descr="Compar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962150"/>
            <a:ext cx="4876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68096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forecast, optimisation, web app (tests.py)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smoke checks (endpoints, validation)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walkthrough screens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cases (n_hubs 0, unknown month, hard SLA)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automated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Matheuristic and exact MIP agree on the 90-region plan; the test requires them to be within 2%.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Planning takes about 3 s (4 hubs) to 12 s (6 hubs) end to end; read endpoints answer in 2-30 ms.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 13.2% under-forecast of the peak overloads 3 of 6 hubs: found, reported, not hidden.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Not done: user-acceptance testing, load testing, authentication testing.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Synthetic data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No real order history was available; stated in every result and limitation.</a:t>
            </a:r>
            <a:endParaRPr lang="en-US" sz="150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Peak under-forecast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13.2% low in Oct 2025; plans overload 3 hubs. Next: a safety margin.</a:t>
            </a:r>
            <a:endParaRPr lang="en-US" sz="15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Forests cannot extrapolate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Oct 2025 exceeded every earlier month; likely cause of the miss.</a:t>
            </a:r>
            <a:endParaRPr lang="en-US" sz="15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Exact MIP slows down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270 nodes not solved in 67 s: the case for the matheuristic.</a:t>
            </a:r>
            <a:endParaRPr lang="en-US" sz="15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Matheuristic gap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3.67% above the exact incumbent at 270 nodes; kernel size is a lever.</a:t>
            </a:r>
            <a:endParaRPr lang="en-US" sz="15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 authentication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Local planning tool only; recorded as a limitation.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acceptance testing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Robust plan with a safety margin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Collect feedback from logistics planners on the plan, compare and re-optimise screens (not yet done).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Add a safety margin or scenario objective so forecast error does not overload the biggest hubs.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Retrain the forecaster monthly inside the rolling horizon; test other learners.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HubOptima: Review 2</dc:title>
  <dc:subject>Advanced Optimization in E-Commerce Logistics: Combining Matheuristics With Random Forests for Hub Location Efficiency</dc:subject>
  <dc:creator>Batch A4</dc:creator>
  <cp:lastModifiedBy>Batch A4</cp:lastModifiedBy>
  <cp:revision>1</cp:revision>
  <dcterms:created xsi:type="dcterms:W3CDTF">2026-10-13T12:40:05Z</dcterms:created>
  <dcterms:modified xsi:type="dcterms:W3CDTF">2026-10-13T12:40:05Z</dcterms:modified>
  <cp:keywords>hub location, matheuristic, random forest, e-commerce logistics</cp:keywords>
  <cp:category/>
  <dc:description/>
  <cp:contentStatus/>
</cp:coreProperties>
</file>