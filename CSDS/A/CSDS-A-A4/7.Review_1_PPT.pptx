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f0aec94-eb0f-294a-de05-1614c3997827}">
          <p14:sldIdLst>
            <p14:sldId id="256"/>
            <p14:sldId id="257"/>
            <p14:sldId id="258"/>
          </p14:sldIdLst>
        </p14:section>
        <p14:section name="Research" id="{c5b655bf-1c78-45d9-2d43-c8947840fc05}">
          <p14:sldIdLst>
            <p14:sldId id="259"/>
            <p14:sldId id="260"/>
            <p14:sldId id="261"/>
          </p14:sldIdLst>
        </p14:section>
        <p14:section name="Problem" id="{c83c02f1-f6cc-56f3-d67e-57d82ce85a28}">
          <p14:sldIdLst>
            <p14:sldId id="262"/>
            <p14:sldId id="263"/>
            <p14:sldId id="264"/>
            <p14:sldId id="265"/>
            <p14:sldId id="266"/>
          </p14:sldIdLst>
        </p14:section>
        <p14:section name="Proposed solution" id="{0d7ed7fb-f0c3-288f-402c-2a68d644f815}">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r>
              <a:rPr sz="1300" b="1"/>
              <a:t>Simulated fulfilment (%) by month, Jul-Dec 2025</a:t>
            </a:r>
          </a:p>
        </c:rich>
      </c:tx>
      <c:layout/>
      <c:overlay val="0"/>
    </c:title>
    <c:autoTitleDeleted val="0"/>
    <c:plotArea>
      <c:layout/>
      <c:barChart>
        <c:barDir val="col"/>
        <c:grouping val="clustered"/>
        <c:varyColors val="0"/>
        <c:ser>
          <c:idx val="0"/>
          <c:order val="0"/>
          <c:tx>
            <c:strRef>
              <c:f>Sheet1!$B$1</c:f>
              <c:strCache>
                <c:ptCount val="1"/>
                <c:pt idx="0">
                  <c:v>Static plan (fixed on historical average)</c:v>
                </c:pt>
              </c:strCache>
            </c:strRef>
          </c:tx>
          <c:spPr>
            <a:solidFill>
              <a:srgbClr val="D9534F"/>
            </a:solidFill>
            <a:effectLst/>
          </c:spPr>
          <c:invertIfNegative val="0"/>
          <c:dLbls>
            <c:numFmt formatCode="0.0" sourceLinked="0"/>
            <c:txPr>
              <a:bodyPr/>
              <a:lstStyle/>
              <a:p>
                <a:pPr>
                  <a:defRPr b="0" i="0" strike="noStrike" sz="800" u="none">
                    <a:solidFill>
                      <a:srgbClr val="475569"/>
                    </a:solidFill>
                    <a:latin typeface="+mn-lt"/>
                  </a:defRPr>
                </a:pPr>
              </a:p>
            </c:txPr>
            <c:showLegendKey val="0"/>
            <c:showVal val="1"/>
            <c:showCatName val="0"/>
            <c:showSerName val="0"/>
            <c:showPercent val="0"/>
            <c:showBubbleSize val="0"/>
            <c:showLeaderLines val="0"/>
          </c:dLbls>
          <c:cat>
            <c:strRef>
              <c:f>Sheet1!$A$2:$A$7</c:f>
              <c:strCache>
                <c:ptCount val="6"/>
                <c:pt idx="0">
                  <c:v>25-07</c:v>
                </c:pt>
                <c:pt idx="1">
                  <c:v>25-08</c:v>
                </c:pt>
                <c:pt idx="2">
                  <c:v>25-09</c:v>
                </c:pt>
                <c:pt idx="3">
                  <c:v>25-10</c:v>
                </c:pt>
                <c:pt idx="4">
                  <c:v>25-11</c:v>
                </c:pt>
                <c:pt idx="5">
                  <c:v>25-12</c:v>
                </c:pt>
              </c:strCache>
            </c:strRef>
          </c:cat>
          <c:val>
            <c:numRef>
              <c:f>Sheet1!$B$2:$B$7</c:f>
              <c:numCache>
                <c:formatCode>0.0</c:formatCode>
                <c:ptCount val="6"/>
                <c:pt idx="0">
                  <c:v>95.3</c:v>
                </c:pt>
                <c:pt idx="1">
                  <c:v>88.5</c:v>
                </c:pt>
                <c:pt idx="2">
                  <c:v>93.3</c:v>
                </c:pt>
                <c:pt idx="3">
                  <c:v>64.9</c:v>
                </c:pt>
                <c:pt idx="4">
                  <c:v>70.8</c:v>
                </c:pt>
                <c:pt idx="5">
                  <c:v>89.5</c:v>
                </c:pt>
              </c:numCache>
            </c:numRef>
          </c:val>
        </c:ser>
        <c:ser>
          <c:idx val="1"/>
          <c:order val="1"/>
          <c:tx>
            <c:strRef>
              <c:f>Sheet1!$C$1</c:f>
              <c:strCache>
                <c:ptCount val="1"/>
                <c:pt idx="0">
                  <c:v>Plan re-made each month from a forecast</c:v>
                </c:pt>
              </c:strCache>
            </c:strRef>
          </c:tx>
          <c:spPr>
            <a:solidFill>
              <a:srgbClr val="4B46C8"/>
            </a:solidFill>
            <a:effectLst/>
          </c:spPr>
          <c:invertIfNegative val="0"/>
          <c:dLbls>
            <c:numFmt formatCode="0.0" sourceLinked="0"/>
            <c:txPr>
              <a:bodyPr/>
              <a:lstStyle/>
              <a:p>
                <a:pPr>
                  <a:defRPr b="0" i="0" strike="noStrike" sz="800" u="none">
                    <a:solidFill>
                      <a:srgbClr val="475569"/>
                    </a:solidFill>
                    <a:latin typeface="+mn-lt"/>
                  </a:defRPr>
                </a:pPr>
              </a:p>
            </c:txPr>
            <c:showLegendKey val="0"/>
            <c:showVal val="1"/>
            <c:showCatName val="0"/>
            <c:showSerName val="0"/>
            <c:showPercent val="0"/>
            <c:showBubbleSize val="0"/>
            <c:showLeaderLines val="0"/>
          </c:dLbls>
          <c:cat>
            <c:strRef>
              <c:f>Sheet1!$A$2:$A$7</c:f>
              <c:strCache>
                <c:ptCount val="6"/>
                <c:pt idx="0">
                  <c:v>25-07</c:v>
                </c:pt>
                <c:pt idx="1">
                  <c:v>25-08</c:v>
                </c:pt>
                <c:pt idx="2">
                  <c:v>25-09</c:v>
                </c:pt>
                <c:pt idx="3">
                  <c:v>25-10</c:v>
                </c:pt>
                <c:pt idx="4">
                  <c:v>25-11</c:v>
                </c:pt>
                <c:pt idx="5">
                  <c:v>25-12</c:v>
                </c:pt>
              </c:strCache>
            </c:strRef>
          </c:cat>
          <c:val>
            <c:numRef>
              <c:f>Sheet1!$C$2:$C$7</c:f>
              <c:numCache>
                <c:formatCode>0.0</c:formatCode>
                <c:ptCount val="6"/>
                <c:pt idx="0">
                  <c:v>100.0</c:v>
                </c:pt>
                <c:pt idx="1">
                  <c:v>99.4</c:v>
                </c:pt>
                <c:pt idx="2">
                  <c:v>99.0</c:v>
                </c:pt>
                <c:pt idx="3">
                  <c:v>92.4</c:v>
                </c:pt>
                <c:pt idx="4">
                  <c:v>98.7</c:v>
                </c:pt>
                <c:pt idx="5">
                  <c:v>100.0</c:v>
                </c:pt>
              </c:numCache>
            </c:numRef>
          </c:val>
        </c:ser>
        <c:dLbls>
          <c:numFmt formatCode="0.0" sourceLinked="0"/>
          <c:txPr>
            <a:bodyPr/>
            <a:lstStyle/>
            <a:p>
              <a:pPr>
                <a:defRPr b="0" i="0" strike="noStrike" sz="800" u="none">
                  <a:solidFill>
                    <a:srgbClr val="475569"/>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min val="0.0"/>
        </c:scaling>
        <c:delete val="0"/>
        <c:axPos val="l"/>
        <c:majorGridlines>
          <c:spPr>
            <a:ln w="9525" cap="flat">
              <a:solidFill>
                <a:srgbClr val="E2E8F0"/>
              </a:solidFill>
              <a:prstDash val="solid"/>
              <a:round/>
            </a:ln>
          </c:spPr>
        </c:majorGridlines>
        <c:title>
          <c:tx>
            <c:rich>
              <a:bodyPr/>
              <a:lstStyle/>
              <a:p>
                <a:r>
                  <a:rPr sz="1000" b="0"/>
                  <a:t>fulfilment (%)</a:t>
                </a:r>
              </a:p>
            </c:rich>
          </c:tx>
          <c:layout/>
          <c:overlay val="0"/>
        </c:title>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000"/>
          </a:pPr>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Review 1 covers problem identification and research for HubOptima: forecast-driven hub location for e-commerce logistics.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Nine parts: the abstract, the base paper, the literature survey, existing approaches, the gap, the problem and objectives, the approach, expected outcomes and references.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abstract in one slide: fixed-demand models and slow exact solvers are the problem; forecasting plus a matheuristic is the idea; a web application is the deliverable.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base paper is a framework paper with results on private data. Its numbers cannot be reproduced here, so we compare directions, not values.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works come from the batch survey; the foundations are the classical references the base paper cites. We summarise only what the abstracts state.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is our own evidence for the problem: the static plan is a deliberately simple control, and the numbers come from the rolling-horizon experiment of this project.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How hub networks are planned today: fixed demand, exact models or rules, and forecasting disconnected from location decisions.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limitations, each illustrated with a measurement from this project.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gap: fixed-demand models, no open reproducible implementation, no measure of forecast-error effects, and little evidence on re-planning and scale.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problem statement: inputs are the order history and the cost parameters; outputs are hubs and allocations with KPIs; the extra requirement is adaptation.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six objectives of the project.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approach: forecast, model, matheuristic, evaluation, and a web application around them.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Browser to React to FastAPI to the core package; storage is plain CSV, joblib and JSON files.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Expected outcomes are targets at this stage and are measured in the later reviews.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References [1] to [10]; the full list is in the report.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Questions are welcome.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HubOptima  ·  Review 1</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HubOptima</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2200" dirty="0">
                <a:solidFill>
                  <a:srgbClr val="CADCFC"/>
                </a:solidFill>
                <a:latin typeface="Calibri" pitchFamily="34" charset="0"/>
                <a:ea typeface="Calibri" pitchFamily="34" charset="-122"/>
                <a:cs typeface="Calibri" pitchFamily="34" charset="-120"/>
              </a:rPr>
              <a:t>Advanced Optimization in E-Commerce Logistics: Combining Matheuristics With Random Forests for Hub Location Efficiency</a:t>
            </a:r>
            <a:endParaRPr lang="en-US" sz="22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1  ·  PROBLEM IDENTIFICATION AND RESEARCH</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CH.ARCHANA  23K91A6745</a:t>
            </a:r>
            <a:endParaRPr lang="en-US" sz="1500" dirty="0"/>
          </a:p>
          <a:p>
            <a:pPr indent="0" marL="0">
              <a:buNone/>
            </a:pPr>
            <a:r>
              <a:rPr lang="en-US" sz="1500" dirty="0">
                <a:solidFill>
                  <a:srgbClr val="FFFFFF"/>
                </a:solidFill>
              </a:rPr>
              <a:t>A.MEENAKSHI  23K91A6705</a:t>
            </a:r>
            <a:endParaRPr lang="en-US" sz="1500" dirty="0"/>
          </a:p>
          <a:p>
            <a:pPr indent="0" marL="0">
              <a:buNone/>
            </a:pPr>
            <a:r>
              <a:rPr lang="en-US" sz="1500" dirty="0">
                <a:solidFill>
                  <a:srgbClr val="FFFFFF"/>
                </a:solidFill>
              </a:rPr>
              <a:t>B.ARUN  23K91A6734</a:t>
            </a:r>
            <a:endParaRPr lang="en-US" sz="1500" dirty="0"/>
          </a:p>
          <a:p>
            <a:pPr indent="0" marL="0">
              <a:buNone/>
            </a:pPr>
            <a:r>
              <a:rPr lang="en-US" sz="1500" dirty="0">
                <a:solidFill>
                  <a:srgbClr val="FFFFFF"/>
                </a:solidFill>
              </a:rPr>
              <a:t>A.SAMPATH  23K91A6712</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[GUIDE NAME],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 (Data Science)</a:t>
            </a:r>
            <a:endParaRPr lang="en-US" sz="1300" dirty="0"/>
          </a:p>
          <a:p>
            <a:pPr indent="0" marL="0">
              <a:buNone/>
            </a:pPr>
            <a:r>
              <a:rPr lang="en-US" sz="1300" dirty="0">
                <a:solidFill>
                  <a:srgbClr val="CADCFC"/>
                </a:solidFill>
              </a:rPr>
              <a:t>[COLLEGE NAME]  ·  Batch A4 (CSE-DS, Section A)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4" name="agenda 1"/>
          <p:cNvSpPr/>
          <p:nvPr/>
        </p:nvSpPr>
        <p:spPr>
          <a:xfrm>
            <a:off x="548640" y="1417320"/>
            <a:ext cx="3566160" cy="1325880"/>
          </a:xfrm>
          <a:prstGeom prst="roundRect">
            <a:avLst>
              <a:gd name="adj" fmla="val 5517"/>
            </a:avLst>
          </a:prstGeom>
          <a:solidFill>
            <a:srgbClr val="F6F8FB"/>
          </a:solidFill>
          <a:ln w="9525">
            <a:solidFill>
              <a:srgbClr val="D5DCE6"/>
            </a:solidFill>
            <a:prstDash val="solid"/>
          </a:ln>
        </p:spPr>
      </p:sp>
      <p:sp>
        <p:nvSpPr>
          <p:cNvPr id="5" name="Text 2"/>
          <p:cNvSpPr txBox="1"/>
          <p:nvPr/>
        </p:nvSpPr>
        <p:spPr>
          <a:xfrm>
            <a:off x="777240" y="160020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01</a:t>
            </a:r>
            <a:endParaRPr lang="en-US" sz="2400" dirty="0"/>
          </a:p>
        </p:txBody>
      </p:sp>
      <p:sp>
        <p:nvSpPr>
          <p:cNvPr id="6" name="Text 3"/>
          <p:cNvSpPr txBox="1"/>
          <p:nvPr/>
        </p:nvSpPr>
        <p:spPr>
          <a:xfrm>
            <a:off x="777240" y="207568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Abstract and overview</a:t>
            </a:r>
            <a:endParaRPr lang="en-US" sz="1600" dirty="0"/>
          </a:p>
        </p:txBody>
      </p:sp>
      <p:sp>
        <p:nvSpPr>
          <p:cNvPr id="7" name="agenda 2"/>
          <p:cNvSpPr/>
          <p:nvPr/>
        </p:nvSpPr>
        <p:spPr>
          <a:xfrm>
            <a:off x="4297680" y="1417320"/>
            <a:ext cx="3566160" cy="1325880"/>
          </a:xfrm>
          <a:prstGeom prst="roundRect">
            <a:avLst>
              <a:gd name="adj" fmla="val 5517"/>
            </a:avLst>
          </a:prstGeom>
          <a:solidFill>
            <a:srgbClr val="F6F8FB"/>
          </a:solidFill>
          <a:ln w="9525">
            <a:solidFill>
              <a:srgbClr val="D5DCE6"/>
            </a:solidFill>
            <a:prstDash val="solid"/>
          </a:ln>
        </p:spPr>
      </p:sp>
      <p:sp>
        <p:nvSpPr>
          <p:cNvPr id="8" name="Text 5"/>
          <p:cNvSpPr txBox="1"/>
          <p:nvPr/>
        </p:nvSpPr>
        <p:spPr>
          <a:xfrm>
            <a:off x="4526280" y="160020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02</a:t>
            </a:r>
            <a:endParaRPr lang="en-US" sz="2400" dirty="0"/>
          </a:p>
        </p:txBody>
      </p:sp>
      <p:sp>
        <p:nvSpPr>
          <p:cNvPr id="9" name="Text 6"/>
          <p:cNvSpPr txBox="1"/>
          <p:nvPr/>
        </p:nvSpPr>
        <p:spPr>
          <a:xfrm>
            <a:off x="4526280" y="207568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Base paper</a:t>
            </a:r>
            <a:endParaRPr lang="en-US" sz="1600" dirty="0"/>
          </a:p>
        </p:txBody>
      </p:sp>
      <p:sp>
        <p:nvSpPr>
          <p:cNvPr id="10" name="agenda 3"/>
          <p:cNvSpPr/>
          <p:nvPr/>
        </p:nvSpPr>
        <p:spPr>
          <a:xfrm>
            <a:off x="8046720" y="1417320"/>
            <a:ext cx="3566160" cy="1325880"/>
          </a:xfrm>
          <a:prstGeom prst="roundRect">
            <a:avLst>
              <a:gd name="adj" fmla="val 5517"/>
            </a:avLst>
          </a:prstGeom>
          <a:solidFill>
            <a:srgbClr val="F6F8FB"/>
          </a:solidFill>
          <a:ln w="9525">
            <a:solidFill>
              <a:srgbClr val="D5DCE6"/>
            </a:solidFill>
            <a:prstDash val="solid"/>
          </a:ln>
        </p:spPr>
      </p:sp>
      <p:sp>
        <p:nvSpPr>
          <p:cNvPr id="11" name="Text 8"/>
          <p:cNvSpPr txBox="1"/>
          <p:nvPr/>
        </p:nvSpPr>
        <p:spPr>
          <a:xfrm>
            <a:off x="8275320" y="160020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03</a:t>
            </a:r>
            <a:endParaRPr lang="en-US" sz="2400" dirty="0"/>
          </a:p>
        </p:txBody>
      </p:sp>
      <p:sp>
        <p:nvSpPr>
          <p:cNvPr id="12" name="Text 9"/>
          <p:cNvSpPr txBox="1"/>
          <p:nvPr/>
        </p:nvSpPr>
        <p:spPr>
          <a:xfrm>
            <a:off x="8275320" y="207568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Literature survey</a:t>
            </a:r>
            <a:endParaRPr lang="en-US" sz="1600" dirty="0"/>
          </a:p>
        </p:txBody>
      </p:sp>
      <p:sp>
        <p:nvSpPr>
          <p:cNvPr id="13" name="agenda 4"/>
          <p:cNvSpPr/>
          <p:nvPr/>
        </p:nvSpPr>
        <p:spPr>
          <a:xfrm>
            <a:off x="548640" y="2971800"/>
            <a:ext cx="3566160" cy="1325880"/>
          </a:xfrm>
          <a:prstGeom prst="roundRect">
            <a:avLst>
              <a:gd name="adj" fmla="val 5517"/>
            </a:avLst>
          </a:prstGeom>
          <a:solidFill>
            <a:srgbClr val="F6F8FB"/>
          </a:solidFill>
          <a:ln w="9525">
            <a:solidFill>
              <a:srgbClr val="D5DCE6"/>
            </a:solidFill>
            <a:prstDash val="solid"/>
          </a:ln>
        </p:spPr>
      </p:sp>
      <p:sp>
        <p:nvSpPr>
          <p:cNvPr id="14" name="Text 11"/>
          <p:cNvSpPr txBox="1"/>
          <p:nvPr/>
        </p:nvSpPr>
        <p:spPr>
          <a:xfrm>
            <a:off x="777240" y="315468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04</a:t>
            </a:r>
            <a:endParaRPr lang="en-US" sz="2400" dirty="0"/>
          </a:p>
        </p:txBody>
      </p:sp>
      <p:sp>
        <p:nvSpPr>
          <p:cNvPr id="15" name="Text 12"/>
          <p:cNvSpPr txBox="1"/>
          <p:nvPr/>
        </p:nvSpPr>
        <p:spPr>
          <a:xfrm>
            <a:off x="777240" y="363016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Existing approaches and limitations</a:t>
            </a:r>
            <a:endParaRPr lang="en-US" sz="1600" dirty="0"/>
          </a:p>
        </p:txBody>
      </p:sp>
      <p:sp>
        <p:nvSpPr>
          <p:cNvPr id="16" name="agenda 5"/>
          <p:cNvSpPr/>
          <p:nvPr/>
        </p:nvSpPr>
        <p:spPr>
          <a:xfrm>
            <a:off x="4297680" y="2971800"/>
            <a:ext cx="3566160" cy="1325880"/>
          </a:xfrm>
          <a:prstGeom prst="roundRect">
            <a:avLst>
              <a:gd name="adj" fmla="val 5517"/>
            </a:avLst>
          </a:prstGeom>
          <a:solidFill>
            <a:srgbClr val="F6F8FB"/>
          </a:solidFill>
          <a:ln w="9525">
            <a:solidFill>
              <a:srgbClr val="D5DCE6"/>
            </a:solidFill>
            <a:prstDash val="solid"/>
          </a:ln>
        </p:spPr>
      </p:sp>
      <p:sp>
        <p:nvSpPr>
          <p:cNvPr id="17" name="Text 14"/>
          <p:cNvSpPr txBox="1"/>
          <p:nvPr/>
        </p:nvSpPr>
        <p:spPr>
          <a:xfrm>
            <a:off x="4526280" y="315468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05</a:t>
            </a:r>
            <a:endParaRPr lang="en-US" sz="2400" dirty="0"/>
          </a:p>
        </p:txBody>
      </p:sp>
      <p:sp>
        <p:nvSpPr>
          <p:cNvPr id="18" name="Text 15"/>
          <p:cNvSpPr txBox="1"/>
          <p:nvPr/>
        </p:nvSpPr>
        <p:spPr>
          <a:xfrm>
            <a:off x="4526280" y="363016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Research gap</a:t>
            </a:r>
            <a:endParaRPr lang="en-US" sz="1600" dirty="0"/>
          </a:p>
        </p:txBody>
      </p:sp>
      <p:sp>
        <p:nvSpPr>
          <p:cNvPr id="19" name="agenda 6"/>
          <p:cNvSpPr/>
          <p:nvPr/>
        </p:nvSpPr>
        <p:spPr>
          <a:xfrm>
            <a:off x="8046720" y="2971800"/>
            <a:ext cx="3566160" cy="1325880"/>
          </a:xfrm>
          <a:prstGeom prst="roundRect">
            <a:avLst>
              <a:gd name="adj" fmla="val 5517"/>
            </a:avLst>
          </a:prstGeom>
          <a:solidFill>
            <a:srgbClr val="F6F8FB"/>
          </a:solidFill>
          <a:ln w="9525">
            <a:solidFill>
              <a:srgbClr val="D5DCE6"/>
            </a:solidFill>
            <a:prstDash val="solid"/>
          </a:ln>
        </p:spPr>
      </p:sp>
      <p:sp>
        <p:nvSpPr>
          <p:cNvPr id="20" name="Text 17"/>
          <p:cNvSpPr txBox="1"/>
          <p:nvPr/>
        </p:nvSpPr>
        <p:spPr>
          <a:xfrm>
            <a:off x="8275320" y="315468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06</a:t>
            </a:r>
            <a:endParaRPr lang="en-US" sz="2400" dirty="0"/>
          </a:p>
        </p:txBody>
      </p:sp>
      <p:sp>
        <p:nvSpPr>
          <p:cNvPr id="21" name="Text 18"/>
          <p:cNvSpPr txBox="1"/>
          <p:nvPr/>
        </p:nvSpPr>
        <p:spPr>
          <a:xfrm>
            <a:off x="8275320" y="363016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Problem statement and objectives</a:t>
            </a:r>
            <a:endParaRPr lang="en-US" sz="1600" dirty="0"/>
          </a:p>
        </p:txBody>
      </p:sp>
      <p:sp>
        <p:nvSpPr>
          <p:cNvPr id="22" name="agenda 7"/>
          <p:cNvSpPr/>
          <p:nvPr/>
        </p:nvSpPr>
        <p:spPr>
          <a:xfrm>
            <a:off x="548640" y="4526280"/>
            <a:ext cx="3566160" cy="1325880"/>
          </a:xfrm>
          <a:prstGeom prst="roundRect">
            <a:avLst>
              <a:gd name="adj" fmla="val 5517"/>
            </a:avLst>
          </a:prstGeom>
          <a:solidFill>
            <a:srgbClr val="F6F8FB"/>
          </a:solidFill>
          <a:ln w="9525">
            <a:solidFill>
              <a:srgbClr val="D5DCE6"/>
            </a:solidFill>
            <a:prstDash val="solid"/>
          </a:ln>
        </p:spPr>
      </p:sp>
      <p:sp>
        <p:nvSpPr>
          <p:cNvPr id="23" name="Text 20"/>
          <p:cNvSpPr txBox="1"/>
          <p:nvPr/>
        </p:nvSpPr>
        <p:spPr>
          <a:xfrm>
            <a:off x="777240" y="470916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07</a:t>
            </a:r>
            <a:endParaRPr lang="en-US" sz="2400" dirty="0"/>
          </a:p>
        </p:txBody>
      </p:sp>
      <p:sp>
        <p:nvSpPr>
          <p:cNvPr id="24" name="Text 21"/>
          <p:cNvSpPr txBox="1"/>
          <p:nvPr/>
        </p:nvSpPr>
        <p:spPr>
          <a:xfrm>
            <a:off x="777240" y="518464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Proposed approach and architecture</a:t>
            </a:r>
            <a:endParaRPr lang="en-US" sz="1600" dirty="0"/>
          </a:p>
        </p:txBody>
      </p:sp>
      <p:sp>
        <p:nvSpPr>
          <p:cNvPr id="25" name="agenda 8"/>
          <p:cNvSpPr/>
          <p:nvPr/>
        </p:nvSpPr>
        <p:spPr>
          <a:xfrm>
            <a:off x="4297680" y="4526280"/>
            <a:ext cx="3566160" cy="1325880"/>
          </a:xfrm>
          <a:prstGeom prst="roundRect">
            <a:avLst>
              <a:gd name="adj" fmla="val 5517"/>
            </a:avLst>
          </a:prstGeom>
          <a:solidFill>
            <a:srgbClr val="F6F8FB"/>
          </a:solidFill>
          <a:ln w="9525">
            <a:solidFill>
              <a:srgbClr val="D5DCE6"/>
            </a:solidFill>
            <a:prstDash val="solid"/>
          </a:ln>
        </p:spPr>
      </p:sp>
      <p:sp>
        <p:nvSpPr>
          <p:cNvPr id="26" name="Text 23"/>
          <p:cNvSpPr txBox="1"/>
          <p:nvPr/>
        </p:nvSpPr>
        <p:spPr>
          <a:xfrm>
            <a:off x="4526280" y="470916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08</a:t>
            </a:r>
            <a:endParaRPr lang="en-US" sz="2400" dirty="0"/>
          </a:p>
        </p:txBody>
      </p:sp>
      <p:sp>
        <p:nvSpPr>
          <p:cNvPr id="27" name="Text 24"/>
          <p:cNvSpPr txBox="1"/>
          <p:nvPr/>
        </p:nvSpPr>
        <p:spPr>
          <a:xfrm>
            <a:off x="4526280" y="518464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Expected outcomes</a:t>
            </a:r>
            <a:endParaRPr lang="en-US" sz="1600" dirty="0"/>
          </a:p>
        </p:txBody>
      </p:sp>
      <p:sp>
        <p:nvSpPr>
          <p:cNvPr id="28" name="agenda 9"/>
          <p:cNvSpPr/>
          <p:nvPr/>
        </p:nvSpPr>
        <p:spPr>
          <a:xfrm>
            <a:off x="8046720" y="4526280"/>
            <a:ext cx="3566160" cy="1325880"/>
          </a:xfrm>
          <a:prstGeom prst="roundRect">
            <a:avLst>
              <a:gd name="adj" fmla="val 5517"/>
            </a:avLst>
          </a:prstGeom>
          <a:solidFill>
            <a:srgbClr val="F6F8FB"/>
          </a:solidFill>
          <a:ln w="9525">
            <a:solidFill>
              <a:srgbClr val="D5DCE6"/>
            </a:solidFill>
            <a:prstDash val="solid"/>
          </a:ln>
        </p:spPr>
      </p:sp>
      <p:sp>
        <p:nvSpPr>
          <p:cNvPr id="29" name="Text 26"/>
          <p:cNvSpPr txBox="1"/>
          <p:nvPr/>
        </p:nvSpPr>
        <p:spPr>
          <a:xfrm>
            <a:off x="8275320" y="4709160"/>
            <a:ext cx="914400" cy="457200"/>
          </a:xfrm>
          <a:prstGeom prst="rect">
            <a:avLst/>
          </a:prstGeom>
          <a:noFill/>
          <a:ln/>
        </p:spPr>
        <p:txBody>
          <a:bodyPr wrap="square" lIns="0" tIns="0" rIns="0" bIns="0" rtlCol="0" anchor="ctr"/>
          <a:lstStyle/>
          <a:p>
            <a:pPr indent="0" marL="0">
              <a:buNone/>
            </a:pPr>
            <a:r>
              <a:rPr lang="en-US" sz="2400" b="1" dirty="0">
                <a:solidFill>
                  <a:srgbClr val="EB6834"/>
                </a:solidFill>
                <a:latin typeface="Cambria" pitchFamily="34" charset="0"/>
                <a:ea typeface="Cambria" pitchFamily="34" charset="-122"/>
                <a:cs typeface="Cambria" pitchFamily="34" charset="-120"/>
              </a:rPr>
              <a:t>09</a:t>
            </a:r>
            <a:endParaRPr lang="en-US" sz="2400" dirty="0"/>
          </a:p>
        </p:txBody>
      </p:sp>
      <p:sp>
        <p:nvSpPr>
          <p:cNvPr id="30" name="Text 27"/>
          <p:cNvSpPr txBox="1"/>
          <p:nvPr/>
        </p:nvSpPr>
        <p:spPr>
          <a:xfrm>
            <a:off x="8275320" y="5184648"/>
            <a:ext cx="3108960" cy="548640"/>
          </a:xfrm>
          <a:prstGeom prst="rect">
            <a:avLst/>
          </a:prstGeom>
          <a:noFill/>
          <a:ln/>
        </p:spPr>
        <p:txBody>
          <a:bodyPr wrap="square" lIns="0" tIns="0" rIns="0" bIns="0" rtlCol="0" anchor="t"/>
          <a:lstStyle/>
          <a:p>
            <a:pPr indent="0" marL="0">
              <a:buNone/>
            </a:pPr>
            <a:r>
              <a:rPr lang="en-US" sz="1600" b="1" dirty="0">
                <a:solidFill>
                  <a:srgbClr val="0F172A"/>
                </a:solidFill>
              </a:rPr>
              <a:t>References</a:t>
            </a:r>
            <a:endParaRPr lang="en-US" sz="16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Abstract: put hubs where tomorrow's orders will be</a:t>
            </a:r>
            <a:endParaRPr lang="en-US" sz="3200" dirty="0"/>
          </a:p>
        </p:txBody>
      </p:sp>
      <p:sp>
        <p:nvSpPr>
          <p:cNvPr id="4" name="The problem card"/>
          <p:cNvSpPr/>
          <p:nvPr/>
        </p:nvSpPr>
        <p:spPr>
          <a:xfrm>
            <a:off x="548640" y="1371600"/>
            <a:ext cx="3566160" cy="4206240"/>
          </a:xfrm>
          <a:prstGeom prst="roundRect">
            <a:avLst>
              <a:gd name="adj" fmla="val 2051"/>
            </a:avLst>
          </a:prstGeom>
          <a:solidFill>
            <a:srgbClr val="F6F8FB"/>
          </a:solidFill>
          <a:ln w="9525">
            <a:solidFill>
              <a:srgbClr val="D5DCE6"/>
            </a:solidFill>
            <a:prstDash val="solid"/>
          </a:ln>
        </p:spPr>
      </p:sp>
      <p:sp>
        <p:nvSpPr>
          <p:cNvPr id="5" name="icon circle"/>
          <p:cNvSpPr/>
          <p:nvPr/>
        </p:nvSpPr>
        <p:spPr>
          <a:xfrm>
            <a:off x="777240" y="1600200"/>
            <a:ext cx="548640" cy="548640"/>
          </a:xfrm>
          <a:prstGeom prst="ellipse">
            <a:avLst/>
          </a:prstGeom>
          <a:solidFill>
            <a:srgbClr val="EB6834"/>
          </a:solidFill>
          <a:ln w="12700">
            <a:solidFill>
              <a:srgbClr val="EB6834"/>
            </a:solidFill>
            <a:prstDash val="solid"/>
          </a:ln>
        </p:spPr>
      </p:sp>
      <p:pic>
        <p:nvPicPr>
          <p:cNvPr id="6" name="Image 0" descr="The problem">    </p:cNvPr>
          <p:cNvPicPr>
            <a:picLocks noChangeAspect="1"/>
          </p:cNvPicPr>
          <p:nvPr/>
        </p:nvPicPr>
        <p:blipFill>
          <a:blip r:embed="rId1"/>
          <a:stretch>
            <a:fillRect/>
          </a:stretch>
        </p:blipFill>
        <p:spPr>
          <a:xfrm>
            <a:off x="886968" y="1709928"/>
            <a:ext cx="329184" cy="329184"/>
          </a:xfrm>
          <a:prstGeom prst="rect">
            <a:avLst/>
          </a:prstGeom>
        </p:spPr>
      </p:pic>
      <p:sp>
        <p:nvSpPr>
          <p:cNvPr id="7" name="Text 3"/>
          <p:cNvSpPr txBox="1"/>
          <p:nvPr/>
        </p:nvSpPr>
        <p:spPr>
          <a:xfrm>
            <a:off x="146304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The problem</a:t>
            </a:r>
            <a:endParaRPr lang="en-US" sz="1600" dirty="0"/>
          </a:p>
        </p:txBody>
      </p:sp>
      <p:sp>
        <p:nvSpPr>
          <p:cNvPr id="8" name="Text 4"/>
          <p:cNvSpPr txBox="1"/>
          <p:nvPr/>
        </p:nvSpPr>
        <p:spPr>
          <a:xfrm>
            <a:off x="777240" y="2240280"/>
            <a:ext cx="3108960" cy="320040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E-commerce networks route parcels through hubs, so hub placement drives cost and delivery time. Classical hub location models assume a fixed demand, but real demand moves between regions and seasons, and exact solvers slow down on large networks.</a:t>
            </a:r>
            <a:endParaRPr lang="en-US" sz="1600" dirty="0"/>
          </a:p>
        </p:txBody>
      </p:sp>
      <p:sp>
        <p:nvSpPr>
          <p:cNvPr id="9" name="Our idea card"/>
          <p:cNvSpPr/>
          <p:nvPr/>
        </p:nvSpPr>
        <p:spPr>
          <a:xfrm>
            <a:off x="4297680" y="1371600"/>
            <a:ext cx="3566160" cy="4206240"/>
          </a:xfrm>
          <a:prstGeom prst="roundRect">
            <a:avLst>
              <a:gd name="adj" fmla="val 2051"/>
            </a:avLst>
          </a:prstGeom>
          <a:solidFill>
            <a:srgbClr val="F6F8FB"/>
          </a:solidFill>
          <a:ln w="9525">
            <a:solidFill>
              <a:srgbClr val="D5DCE6"/>
            </a:solidFill>
            <a:prstDash val="solid"/>
          </a:ln>
        </p:spPr>
      </p:sp>
      <p:sp>
        <p:nvSpPr>
          <p:cNvPr id="10" name="icon circle"/>
          <p:cNvSpPr/>
          <p:nvPr/>
        </p:nvSpPr>
        <p:spPr>
          <a:xfrm>
            <a:off x="4526280" y="1600200"/>
            <a:ext cx="548640" cy="548640"/>
          </a:xfrm>
          <a:prstGeom prst="ellipse">
            <a:avLst/>
          </a:prstGeom>
          <a:solidFill>
            <a:srgbClr val="2A78D6"/>
          </a:solidFill>
          <a:ln w="12700">
            <a:solidFill>
              <a:srgbClr val="2A78D6"/>
            </a:solidFill>
            <a:prstDash val="solid"/>
          </a:ln>
        </p:spPr>
      </p:sp>
      <p:pic>
        <p:nvPicPr>
          <p:cNvPr id="11" name="Image 1" descr="Our idea">    </p:cNvPr>
          <p:cNvPicPr>
            <a:picLocks noChangeAspect="1"/>
          </p:cNvPicPr>
          <p:nvPr/>
        </p:nvPicPr>
        <p:blipFill>
          <a:blip r:embed="rId2"/>
          <a:stretch>
            <a:fillRect/>
          </a:stretch>
        </p:blipFill>
        <p:spPr>
          <a:xfrm>
            <a:off x="4636008" y="1709928"/>
            <a:ext cx="329184" cy="329184"/>
          </a:xfrm>
          <a:prstGeom prst="rect">
            <a:avLst/>
          </a:prstGeom>
        </p:spPr>
      </p:pic>
      <p:sp>
        <p:nvSpPr>
          <p:cNvPr id="12" name="Text 7"/>
          <p:cNvSpPr txBox="1"/>
          <p:nvPr/>
        </p:nvSpPr>
        <p:spPr>
          <a:xfrm>
            <a:off x="521208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Our idea</a:t>
            </a:r>
            <a:endParaRPr lang="en-US" sz="1600" dirty="0"/>
          </a:p>
        </p:txBody>
      </p:sp>
      <p:sp>
        <p:nvSpPr>
          <p:cNvPr id="13" name="Text 8"/>
          <p:cNvSpPr txBox="1"/>
          <p:nvPr/>
        </p:nvSpPr>
        <p:spPr>
          <a:xfrm>
            <a:off x="4526280" y="2240280"/>
            <a:ext cx="3108960" cy="320040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Predict, then optimise: a Random Forest forecasts regional demand from order history, and a matheuristic (exact MIP sub-problems inside a heuristic search) chooses the hubs for the forecast, then re-plans each month.</a:t>
            </a:r>
            <a:endParaRPr lang="en-US" sz="1600" dirty="0"/>
          </a:p>
        </p:txBody>
      </p:sp>
      <p:sp>
        <p:nvSpPr>
          <p:cNvPr id="14" name="The deliverable card"/>
          <p:cNvSpPr/>
          <p:nvPr/>
        </p:nvSpPr>
        <p:spPr>
          <a:xfrm>
            <a:off x="8046720" y="1371600"/>
            <a:ext cx="3566160" cy="4206240"/>
          </a:xfrm>
          <a:prstGeom prst="roundRect">
            <a:avLst>
              <a:gd name="adj" fmla="val 2051"/>
            </a:avLst>
          </a:prstGeom>
          <a:solidFill>
            <a:srgbClr val="F6F8FB"/>
          </a:solidFill>
          <a:ln w="9525">
            <a:solidFill>
              <a:srgbClr val="D5DCE6"/>
            </a:solidFill>
            <a:prstDash val="solid"/>
          </a:ln>
        </p:spPr>
      </p:sp>
      <p:sp>
        <p:nvSpPr>
          <p:cNvPr id="15" name="icon circle"/>
          <p:cNvSpPr/>
          <p:nvPr/>
        </p:nvSpPr>
        <p:spPr>
          <a:xfrm>
            <a:off x="8275320" y="1600200"/>
            <a:ext cx="548640" cy="548640"/>
          </a:xfrm>
          <a:prstGeom prst="ellipse">
            <a:avLst/>
          </a:prstGeom>
          <a:solidFill>
            <a:srgbClr val="1BAF7A"/>
          </a:solidFill>
          <a:ln w="12700">
            <a:solidFill>
              <a:srgbClr val="1BAF7A"/>
            </a:solidFill>
            <a:prstDash val="solid"/>
          </a:ln>
        </p:spPr>
      </p:sp>
      <p:pic>
        <p:nvPicPr>
          <p:cNvPr id="16" name="Image 2" descr="The deliverable">    </p:cNvPr>
          <p:cNvPicPr>
            <a:picLocks noChangeAspect="1"/>
          </p:cNvPicPr>
          <p:nvPr/>
        </p:nvPicPr>
        <p:blipFill>
          <a:blip r:embed="rId3"/>
          <a:stretch>
            <a:fillRect/>
          </a:stretch>
        </p:blipFill>
        <p:spPr>
          <a:xfrm>
            <a:off x="8385048" y="1709928"/>
            <a:ext cx="329184" cy="329184"/>
          </a:xfrm>
          <a:prstGeom prst="rect">
            <a:avLst/>
          </a:prstGeom>
        </p:spPr>
      </p:pic>
      <p:sp>
        <p:nvSpPr>
          <p:cNvPr id="17" name="Text 11"/>
          <p:cNvSpPr txBox="1"/>
          <p:nvPr/>
        </p:nvSpPr>
        <p:spPr>
          <a:xfrm>
            <a:off x="896112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The deliverable</a:t>
            </a:r>
            <a:endParaRPr lang="en-US" sz="1600" dirty="0"/>
          </a:p>
        </p:txBody>
      </p:sp>
      <p:sp>
        <p:nvSpPr>
          <p:cNvPr id="18" name="Text 12"/>
          <p:cNvSpPr txBox="1"/>
          <p:nvPr/>
        </p:nvSpPr>
        <p:spPr>
          <a:xfrm>
            <a:off x="8275320" y="2240280"/>
            <a:ext cx="3108960" cy="320040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A FastAPI + React application: forecast, plan hubs on a map, compare with traditional methods, benchmark scalability and re-optimise as demand changes.</a:t>
            </a:r>
            <a:endParaRPr lang="en-US" sz="16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Base paper</a:t>
            </a:r>
            <a:endParaRPr lang="en-US" sz="3200" dirty="0"/>
          </a:p>
        </p:txBody>
      </p:sp>
      <p:sp>
        <p:nvSpPr>
          <p:cNvPr id="4" name="citation box"/>
          <p:cNvSpPr/>
          <p:nvPr/>
        </p:nvSpPr>
        <p:spPr>
          <a:xfrm>
            <a:off x="548640" y="1325880"/>
            <a:ext cx="11094415" cy="960120"/>
          </a:xfrm>
          <a:prstGeom prst="roundRect">
            <a:avLst>
              <a:gd name="adj" fmla="val 5714"/>
            </a:avLst>
          </a:prstGeom>
          <a:solidFill>
            <a:srgbClr val="EEF2F7"/>
          </a:solidFill>
          <a:ln w="12700">
            <a:solidFill>
              <a:srgbClr val="EEF2F7"/>
            </a:solidFill>
            <a:prstDash val="solid"/>
          </a:ln>
        </p:spPr>
      </p:sp>
      <p:sp>
        <p:nvSpPr>
          <p:cNvPr id="5" name="Text 2"/>
          <p:cNvSpPr txBox="1"/>
          <p:nvPr/>
        </p:nvSpPr>
        <p:spPr>
          <a:xfrm>
            <a:off x="777240" y="1371600"/>
            <a:ext cx="10637215" cy="868680"/>
          </a:xfrm>
          <a:prstGeom prst="rect">
            <a:avLst/>
          </a:prstGeom>
          <a:noFill/>
          <a:ln/>
        </p:spPr>
        <p:txBody>
          <a:bodyPr wrap="square" lIns="0" tIns="0" rIns="0" bIns="0" rtlCol="0" anchor="ctr"/>
          <a:lstStyle/>
          <a:p>
            <a:pPr indent="0" marL="0">
              <a:buNone/>
            </a:pPr>
            <a:r>
              <a:rPr lang="en-US" sz="1300" i="1" dirty="0">
                <a:solidFill>
                  <a:srgbClr val="0F172A"/>
                </a:solidFill>
              </a:rPr>
              <a:t>K. Danach, A. Rammal, I. Moukadem, H. Harb, and A. Nasser, "Advanced optimization in e-commerce logistics: Combining matheuristics with random forests for hub location efficiency," IEEE Access, vol. 13, pp. 55915-55926, 2025, doi: 10.1109/ACCESS.2025.3550560.</a:t>
            </a:r>
            <a:endParaRPr lang="en-US" sz="1300" dirty="0"/>
          </a:p>
        </p:txBody>
      </p:sp>
      <p:sp>
        <p:nvSpPr>
          <p:cNvPr id="6" name="Method card"/>
          <p:cNvSpPr/>
          <p:nvPr/>
        </p:nvSpPr>
        <p:spPr>
          <a:xfrm>
            <a:off x="548640" y="2514600"/>
            <a:ext cx="3566160" cy="3246120"/>
          </a:xfrm>
          <a:prstGeom prst="roundRect">
            <a:avLst>
              <a:gd name="adj" fmla="val 2254"/>
            </a:avLst>
          </a:prstGeom>
          <a:solidFill>
            <a:srgbClr val="F6F8FB"/>
          </a:solidFill>
          <a:ln w="9525">
            <a:solidFill>
              <a:srgbClr val="D5DCE6"/>
            </a:solidFill>
            <a:prstDash val="solid"/>
          </a:ln>
        </p:spPr>
      </p:sp>
      <p:sp>
        <p:nvSpPr>
          <p:cNvPr id="7" name="Text 4"/>
          <p:cNvSpPr txBox="1"/>
          <p:nvPr/>
        </p:nvSpPr>
        <p:spPr>
          <a:xfrm>
            <a:off x="777240" y="2697480"/>
            <a:ext cx="31546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Method</a:t>
            </a:r>
            <a:endParaRPr lang="en-US" sz="1600" dirty="0"/>
          </a:p>
        </p:txBody>
      </p:sp>
      <p:sp>
        <p:nvSpPr>
          <p:cNvPr id="8" name="Text 5"/>
          <p:cNvSpPr txBox="1"/>
          <p:nvPr/>
        </p:nvSpPr>
        <p:spPr>
          <a:xfrm>
            <a:off x="777240" y="3383280"/>
            <a:ext cx="3108960" cy="224028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A Random Forest forecasts demand from historical data; a matheuristic (a relaxed MILP for a starting solution, then Variable Neighbourhood Search) selects hubs; forecasts are fed back to re-optimise; the result is validated on peak, spike and disruption scenarios.</a:t>
            </a:r>
            <a:endParaRPr lang="en-US" sz="1500" dirty="0"/>
          </a:p>
        </p:txBody>
      </p:sp>
      <p:sp>
        <p:nvSpPr>
          <p:cNvPr id="9" name="Data and reported results card"/>
          <p:cNvSpPr/>
          <p:nvPr/>
        </p:nvSpPr>
        <p:spPr>
          <a:xfrm>
            <a:off x="4297680" y="2514600"/>
            <a:ext cx="3566160" cy="3246120"/>
          </a:xfrm>
          <a:prstGeom prst="roundRect">
            <a:avLst>
              <a:gd name="adj" fmla="val 2254"/>
            </a:avLst>
          </a:prstGeom>
          <a:solidFill>
            <a:srgbClr val="F6F8FB"/>
          </a:solidFill>
          <a:ln w="9525">
            <a:solidFill>
              <a:srgbClr val="D5DCE6"/>
            </a:solidFill>
            <a:prstDash val="solid"/>
          </a:ln>
        </p:spPr>
      </p:sp>
      <p:sp>
        <p:nvSpPr>
          <p:cNvPr id="10" name="Text 7"/>
          <p:cNvSpPr txBox="1"/>
          <p:nvPr/>
        </p:nvSpPr>
        <p:spPr>
          <a:xfrm>
            <a:off x="4526280" y="2697480"/>
            <a:ext cx="31546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Data and reported results</a:t>
            </a:r>
            <a:endParaRPr lang="en-US" sz="1600" dirty="0"/>
          </a:p>
        </p:txBody>
      </p:sp>
      <p:sp>
        <p:nvSpPr>
          <p:cNvPr id="11" name="Text 8"/>
          <p:cNvSpPr txBox="1"/>
          <p:nvPr/>
        </p:nvSpPr>
        <p:spPr>
          <a:xfrm>
            <a:off x="4526280" y="3383280"/>
            <a:ext cx="3108960" cy="224028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Proprietary data of a global transport company (two years). Reported: delivery-time compliance 92.3%, fulfilment 97.6%, robustness 0.87; +7.8% / +9.4% / +16% over traditional methods; networks of 50-500 nodes.</a:t>
            </a:r>
            <a:endParaRPr lang="en-US" sz="1500" dirty="0"/>
          </a:p>
        </p:txBody>
      </p:sp>
      <p:sp>
        <p:nvSpPr>
          <p:cNvPr id="12" name="Limitations stated by the authors card"/>
          <p:cNvSpPr/>
          <p:nvPr/>
        </p:nvSpPr>
        <p:spPr>
          <a:xfrm>
            <a:off x="8046720" y="2514600"/>
            <a:ext cx="3566160" cy="3246120"/>
          </a:xfrm>
          <a:prstGeom prst="roundRect">
            <a:avLst>
              <a:gd name="adj" fmla="val 2254"/>
            </a:avLst>
          </a:prstGeom>
          <a:solidFill>
            <a:srgbClr val="FDF1EC"/>
          </a:solidFill>
          <a:ln w="9525">
            <a:solidFill>
              <a:srgbClr val="D5DCE6"/>
            </a:solidFill>
            <a:prstDash val="solid"/>
          </a:ln>
        </p:spPr>
      </p:sp>
      <p:sp>
        <p:nvSpPr>
          <p:cNvPr id="13" name="Text 10"/>
          <p:cNvSpPr txBox="1"/>
          <p:nvPr/>
        </p:nvSpPr>
        <p:spPr>
          <a:xfrm>
            <a:off x="8275320" y="2697480"/>
            <a:ext cx="31546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Limitations stated by the authors</a:t>
            </a:r>
            <a:endParaRPr lang="en-US" sz="1600" dirty="0"/>
          </a:p>
        </p:txBody>
      </p:sp>
      <p:sp>
        <p:nvSpPr>
          <p:cNvPr id="14" name="Text 11"/>
          <p:cNvSpPr txBox="1"/>
          <p:nvPr/>
        </p:nvSpPr>
        <p:spPr>
          <a:xfrm>
            <a:off x="8275320" y="3383280"/>
            <a:ext cx="3108960" cy="224028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Sector-specific data, scalability not extensively tested, a snapshot of conditions, other ML models not explored, offline evaluation only. The paper gives the Random Forest gain only as 'X %'.</a:t>
            </a:r>
            <a:endParaRPr lang="en-US" sz="15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Literature survey</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926080"/>
                <a:gridCol w="3566160"/>
                <a:gridCol w="2194560"/>
                <a:gridCol w="2407615"/>
              </a:tblGrid>
              <a:tr h="47548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Work</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Approach</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Data</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Reported result</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1B2A41"/>
                    </a:solidFill>
                  </a:tcPr>
                </a:tc>
              </a:tr>
              <a:tr h="475488">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Danach et al., 2025 [1] (base)</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Random Forest forecast + matheuristic (MILP + VNS)</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Proprietary logistics data</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Compliance 92.3%, fulfilment 97.6%, robustness 0.87</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Zheng et al., 2024 [2]</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Diversity-based hybrid PSO for drone hub location</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Village delivery scenario</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42.58% efficiency gain (abstract)</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75488">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Yang et al., 2023 [3]</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Maximal-detour liner hub location; MILP + Benders decomposition</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Liner shipping networks</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Detour limits modelled; faster exact solve</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Dehghan Chenary et al., 2024 [4]</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Bi-objective mobile hubs with congestion; Pareto clustering metaheuristic</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Australian Post dataset</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Better Pareto sets than MOPSO, NSGA-II</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75488">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Zhang et al., 2025 [5]</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Two-stage adaptive robust hub location (C&amp;CG + Benders)</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Not stated in abstract</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Better out-of-sample than stochastic model</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Danach et al., 2019 [9]</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Capacitated p-hub location-routing: Lagrangian + hyper-heuristic</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Not reviewed</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Described in [1]</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6F8FB"/>
                    </a:solidFill>
                  </a:tcPr>
                </a:tc>
              </a:tr>
              <a:tr h="475488">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O'Kelly 1986; Campbell et al. 2002; Ernst and Krishnamoorthy 1996 [6]-[8]</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Foundations: single-allocation p-hub models and exact algorithms</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Classical benchmarks</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latin typeface="Calibri" pitchFamily="34" charset="0"/>
                          <a:ea typeface="Calibri" pitchFamily="34" charset="-122"/>
                          <a:cs typeface="Calibri" pitchFamily="34" charset="-120"/>
                        </a:rPr>
                        <a:t>Foundations of the model</a:t>
                      </a:r>
                      <a:endParaRPr lang="en-US" sz="1300" dirty="0">
                        <a:latin typeface="Calibri" charset="0"/>
                        <a:ea typeface="Calibri" charset="0"/>
                        <a:cs typeface="Calibri" charset="0"/>
                      </a:endParaRPr>
                    </a:p>
                  </a:txBody>
                  <a:tcPr marL="76200" marR="76200" marT="38100" marB="38100" anchor="ctr">
                    <a:lnL w="6350" cap="flat" cmpd="sng" algn="ctr">
                      <a:solidFill>
                        <a:srgbClr val="D5DCE6"/>
                      </a:solidFill>
                      <a:prstDash val="solid"/>
                      <a:round/>
                      <a:headEnd type="none" w="med" len="med"/>
                      <a:tailEnd type="none" w="med" len="med"/>
                    </a:lnL>
                    <a:lnR w="6350" cap="flat" cmpd="sng" algn="ctr">
                      <a:solidFill>
                        <a:srgbClr val="D5DCE6"/>
                      </a:solidFill>
                      <a:prstDash val="solid"/>
                      <a:round/>
                      <a:headEnd type="none" w="med" len="med"/>
                      <a:tailEnd type="none" w="med" len="med"/>
                    </a:lnR>
                    <a:lnT w="6350" cap="flat" cmpd="sng" algn="ctr">
                      <a:solidFill>
                        <a:srgbClr val="D5DCE6"/>
                      </a:solidFill>
                      <a:prstDash val="solid"/>
                      <a:round/>
                      <a:headEnd type="none" w="med" len="med"/>
                      <a:tailEnd type="none" w="med" len="med"/>
                    </a:lnT>
                    <a:lnB w="6350" cap="flat" cmpd="sng" algn="ctr">
                      <a:solidFill>
                        <a:srgbClr val="D5DC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Evidence: a fixed plan fails when demand moves</a:t>
            </a:r>
            <a:endParaRPr lang="en-US" sz="3200" dirty="0"/>
          </a:p>
        </p:txBody>
      </p:sp>
      <p:graphicFrame>
        <p:nvGraphicFramePr>
          <p:cNvPr id="4" name="Chart 0" descr=""/>
          <p:cNvGraphicFramePr/>
          <p:nvPr/>
        </p:nvGraphicFramePr>
        <p:xfrm>
          <a:off x="548640" y="1280160"/>
          <a:ext cx="6766560" cy="4663440"/>
        </p:xfrm>
        <a:graphic xmlns:a="http://schemas.openxmlformats.org/drawingml/2006/main">
          <a:graphicData uri="http://schemas.openxmlformats.org/drawingml/2006/chart">
            <c:chart xmlns:c="http://schemas.openxmlformats.org/drawingml/2006/chart" r:id="rId1"/>
          </a:graphicData>
        </a:graphic>
      </p:graphicFrame>
      <p:sp>
        <p:nvSpPr>
          <p:cNvPr id="5" name="Takeaway card"/>
          <p:cNvSpPr/>
          <p:nvPr/>
        </p:nvSpPr>
        <p:spPr>
          <a:xfrm>
            <a:off x="7589520" y="1371600"/>
            <a:ext cx="4050792" cy="2103120"/>
          </a:xfrm>
          <a:prstGeom prst="roundRect">
            <a:avLst>
              <a:gd name="adj" fmla="val 3478"/>
            </a:avLst>
          </a:prstGeom>
          <a:solidFill>
            <a:srgbClr val="F6F8FB"/>
          </a:solidFill>
          <a:ln w="9525">
            <a:solidFill>
              <a:srgbClr val="D5DCE6"/>
            </a:solidFill>
            <a:prstDash val="solid"/>
          </a:ln>
        </p:spPr>
      </p:sp>
      <p:sp>
        <p:nvSpPr>
          <p:cNvPr id="6" name="icon circle"/>
          <p:cNvSpPr/>
          <p:nvPr/>
        </p:nvSpPr>
        <p:spPr>
          <a:xfrm>
            <a:off x="7818120" y="1600200"/>
            <a:ext cx="548640" cy="548640"/>
          </a:xfrm>
          <a:prstGeom prst="ellipse">
            <a:avLst/>
          </a:prstGeom>
          <a:solidFill>
            <a:srgbClr val="1BAF7A"/>
          </a:solidFill>
          <a:ln w="12700">
            <a:solidFill>
              <a:srgbClr val="1BAF7A"/>
            </a:solidFill>
            <a:prstDash val="solid"/>
          </a:ln>
        </p:spPr>
      </p:sp>
      <p:pic>
        <p:nvPicPr>
          <p:cNvPr id="7" name="Image 0" descr="Takeaway">    </p:cNvPr>
          <p:cNvPicPr>
            <a:picLocks noChangeAspect="1"/>
          </p:cNvPicPr>
          <p:nvPr/>
        </p:nvPicPr>
        <p:blipFill>
          <a:blip r:embed="rId2"/>
          <a:stretch>
            <a:fillRect/>
          </a:stretch>
        </p:blipFill>
        <p:spPr>
          <a:xfrm>
            <a:off x="7927848" y="1709928"/>
            <a:ext cx="329184" cy="329184"/>
          </a:xfrm>
          <a:prstGeom prst="rect">
            <a:avLst/>
          </a:prstGeom>
        </p:spPr>
      </p:pic>
      <p:sp>
        <p:nvSpPr>
          <p:cNvPr id="8" name="Text 3"/>
          <p:cNvSpPr txBox="1"/>
          <p:nvPr/>
        </p:nvSpPr>
        <p:spPr>
          <a:xfrm>
            <a:off x="8503920" y="1554480"/>
            <a:ext cx="2953512"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Takeaway</a:t>
            </a:r>
            <a:endParaRPr lang="en-US" sz="1600" dirty="0"/>
          </a:p>
        </p:txBody>
      </p:sp>
      <p:sp>
        <p:nvSpPr>
          <p:cNvPr id="9" name="Text 4"/>
          <p:cNvSpPr txBox="1"/>
          <p:nvPr/>
        </p:nvSpPr>
        <p:spPr>
          <a:xfrm>
            <a:off x="7818120" y="2240280"/>
            <a:ext cx="3593592" cy="1097280"/>
          </a:xfrm>
          <a:prstGeom prst="rect">
            <a:avLst/>
          </a:prstGeom>
          <a:noFill/>
          <a:ln/>
        </p:spPr>
        <p:txBody>
          <a:bodyPr wrap="square" lIns="0" tIns="0" rIns="0" bIns="0" rtlCol="0" anchor="t"/>
          <a:lstStyle/>
          <a:p>
            <a:pPr indent="0" marL="0">
              <a:spcAft>
                <a:spcPts val="400"/>
              </a:spcAft>
              <a:buNone/>
            </a:pPr>
            <a:r>
              <a:rPr lang="en-US" sz="1350" dirty="0">
                <a:solidFill>
                  <a:srgbClr val="475569"/>
                </a:solidFill>
              </a:rPr>
              <a:t>In the October 2025 festival peak a plan fixed on the historical average served only 64.9% of orders; re-planning from a forecast served 92.4%. Averaged over six months: 83.7% against 98.3%.</a:t>
            </a:r>
            <a:endParaRPr lang="en-US" sz="1350" dirty="0"/>
          </a:p>
        </p:txBody>
      </p:sp>
      <p:sp>
        <p:nvSpPr>
          <p:cNvPr id="10" name="Caveat card"/>
          <p:cNvSpPr/>
          <p:nvPr/>
        </p:nvSpPr>
        <p:spPr>
          <a:xfrm>
            <a:off x="7589520" y="3657600"/>
            <a:ext cx="4050792" cy="2103120"/>
          </a:xfrm>
          <a:prstGeom prst="roundRect">
            <a:avLst>
              <a:gd name="adj" fmla="val 3478"/>
            </a:avLst>
          </a:prstGeom>
          <a:solidFill>
            <a:srgbClr val="F6F8FB"/>
          </a:solidFill>
          <a:ln w="9525">
            <a:solidFill>
              <a:srgbClr val="D5DCE6"/>
            </a:solidFill>
            <a:prstDash val="solid"/>
          </a:ln>
        </p:spPr>
      </p:sp>
      <p:sp>
        <p:nvSpPr>
          <p:cNvPr id="11" name="icon circle"/>
          <p:cNvSpPr/>
          <p:nvPr/>
        </p:nvSpPr>
        <p:spPr>
          <a:xfrm>
            <a:off x="7818120" y="3886200"/>
            <a:ext cx="548640" cy="548640"/>
          </a:xfrm>
          <a:prstGeom prst="ellipse">
            <a:avLst/>
          </a:prstGeom>
          <a:solidFill>
            <a:srgbClr val="EDA100"/>
          </a:solidFill>
          <a:ln w="12700">
            <a:solidFill>
              <a:srgbClr val="EDA100"/>
            </a:solidFill>
            <a:prstDash val="solid"/>
          </a:ln>
        </p:spPr>
      </p:sp>
      <p:pic>
        <p:nvPicPr>
          <p:cNvPr id="12" name="Image 1" descr="Caveat">    </p:cNvPr>
          <p:cNvPicPr>
            <a:picLocks noChangeAspect="1"/>
          </p:cNvPicPr>
          <p:nvPr/>
        </p:nvPicPr>
        <p:blipFill>
          <a:blip r:embed="rId3"/>
          <a:stretch>
            <a:fillRect/>
          </a:stretch>
        </p:blipFill>
        <p:spPr>
          <a:xfrm>
            <a:off x="7927848" y="3995928"/>
            <a:ext cx="329184" cy="329184"/>
          </a:xfrm>
          <a:prstGeom prst="rect">
            <a:avLst/>
          </a:prstGeom>
        </p:spPr>
      </p:pic>
      <p:sp>
        <p:nvSpPr>
          <p:cNvPr id="13" name="Text 7"/>
          <p:cNvSpPr txBox="1"/>
          <p:nvPr/>
        </p:nvSpPr>
        <p:spPr>
          <a:xfrm>
            <a:off x="8503920" y="3840480"/>
            <a:ext cx="2953512"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Caveat</a:t>
            </a:r>
            <a:endParaRPr lang="en-US" sz="1600" dirty="0"/>
          </a:p>
        </p:txBody>
      </p:sp>
      <p:sp>
        <p:nvSpPr>
          <p:cNvPr id="14" name="Text 8"/>
          <p:cNvSpPr txBox="1"/>
          <p:nvPr/>
        </p:nvSpPr>
        <p:spPr>
          <a:xfrm>
            <a:off x="7818120" y="4526280"/>
            <a:ext cx="3593592" cy="109728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Our own measurement on synthetic data (a simulation of fulfilment, not observed deliveries). The base paper reports no comparable figure.</a:t>
            </a:r>
            <a:endParaRPr lang="en-US" sz="15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Existing system and current approaches</a:t>
            </a:r>
            <a:endParaRPr lang="en-US" sz="3200" dirty="0"/>
          </a:p>
        </p:txBody>
      </p:sp>
      <p:sp>
        <p:nvSpPr>
          <p:cNvPr id="4" name="flow step 1"/>
          <p:cNvSpPr/>
          <p:nvPr/>
        </p:nvSpPr>
        <p:spPr>
          <a:xfrm>
            <a:off x="548640" y="1645920"/>
            <a:ext cx="1582369" cy="1143000"/>
          </a:xfrm>
          <a:prstGeom prst="roundRect">
            <a:avLst>
              <a:gd name="adj" fmla="val 6400"/>
            </a:avLst>
          </a:prstGeom>
          <a:solidFill>
            <a:srgbClr val="1B2A41"/>
          </a:solidFill>
          <a:ln w="12700">
            <a:solidFill>
              <a:srgbClr val="1B2A41"/>
            </a:solidFill>
            <a:prstDash val="solid"/>
          </a:ln>
        </p:spPr>
      </p:sp>
      <p:sp>
        <p:nvSpPr>
          <p:cNvPr id="5" name="Text 2"/>
          <p:cNvSpPr txBox="1"/>
          <p:nvPr/>
        </p:nvSpPr>
        <p:spPr>
          <a:xfrm>
            <a:off x="621792" y="1645920"/>
            <a:ext cx="1436065" cy="1143000"/>
          </a:xfrm>
          <a:prstGeom prst="rect">
            <a:avLst/>
          </a:prstGeom>
          <a:noFill/>
          <a:ln/>
        </p:spPr>
        <p:txBody>
          <a:bodyPr wrap="square" lIns="0" tIns="0" rIns="0" bIns="0" rtlCol="0" anchor="ctr"/>
          <a:lstStyle/>
          <a:p>
            <a:pPr algn="ctr" indent="0" marL="0">
              <a:buNone/>
            </a:pPr>
            <a:r>
              <a:rPr lang="en-US" sz="1300" b="1" dirty="0">
                <a:solidFill>
                  <a:srgbClr val="FFFFFF"/>
                </a:solidFill>
              </a:rPr>
              <a:t>Order history</a:t>
            </a:r>
            <a:endParaRPr lang="en-US" sz="1300" dirty="0"/>
          </a:p>
        </p:txBody>
      </p:sp>
      <p:sp>
        <p:nvSpPr>
          <p:cNvPr id="6" name="arrow"/>
          <p:cNvSpPr/>
          <p:nvPr/>
        </p:nvSpPr>
        <p:spPr>
          <a:xfrm>
            <a:off x="2176729" y="2098548"/>
            <a:ext cx="228600" cy="237744"/>
          </a:xfrm>
          <a:prstGeom prst="rightArrow">
            <a:avLst/>
          </a:prstGeom>
          <a:solidFill>
            <a:srgbClr val="64748B"/>
          </a:solidFill>
          <a:ln w="12700">
            <a:solidFill>
              <a:srgbClr val="64748B"/>
            </a:solidFill>
            <a:prstDash val="solid"/>
          </a:ln>
        </p:spPr>
      </p:sp>
      <p:sp>
        <p:nvSpPr>
          <p:cNvPr id="7" name="flow step 2"/>
          <p:cNvSpPr/>
          <p:nvPr/>
        </p:nvSpPr>
        <p:spPr>
          <a:xfrm>
            <a:off x="2451049" y="1645920"/>
            <a:ext cx="1582369" cy="1143000"/>
          </a:xfrm>
          <a:prstGeom prst="roundRect">
            <a:avLst>
              <a:gd name="adj" fmla="val 6400"/>
            </a:avLst>
          </a:prstGeom>
          <a:solidFill>
            <a:srgbClr val="1B2A41"/>
          </a:solidFill>
          <a:ln w="12700">
            <a:solidFill>
              <a:srgbClr val="1B2A41"/>
            </a:solidFill>
            <a:prstDash val="solid"/>
          </a:ln>
        </p:spPr>
      </p:sp>
      <p:sp>
        <p:nvSpPr>
          <p:cNvPr id="8" name="Text 5"/>
          <p:cNvSpPr txBox="1"/>
          <p:nvPr/>
        </p:nvSpPr>
        <p:spPr>
          <a:xfrm>
            <a:off x="2524201" y="1645920"/>
            <a:ext cx="1436065" cy="1143000"/>
          </a:xfrm>
          <a:prstGeom prst="rect">
            <a:avLst/>
          </a:prstGeom>
          <a:noFill/>
          <a:ln/>
        </p:spPr>
        <p:txBody>
          <a:bodyPr wrap="square" lIns="0" tIns="0" rIns="0" bIns="0" rtlCol="0" anchor="ctr"/>
          <a:lstStyle/>
          <a:p>
            <a:pPr algn="ctr" indent="0" marL="0">
              <a:buNone/>
            </a:pPr>
            <a:r>
              <a:rPr lang="en-US" sz="1300" b="1" dirty="0">
                <a:solidFill>
                  <a:srgbClr val="FFFFFF"/>
                </a:solidFill>
              </a:rPr>
              <a:t>Demand forecast (separate)</a:t>
            </a:r>
            <a:endParaRPr lang="en-US" sz="1300" dirty="0"/>
          </a:p>
        </p:txBody>
      </p:sp>
      <p:sp>
        <p:nvSpPr>
          <p:cNvPr id="9" name="arrow"/>
          <p:cNvSpPr/>
          <p:nvPr/>
        </p:nvSpPr>
        <p:spPr>
          <a:xfrm>
            <a:off x="4079138" y="2098548"/>
            <a:ext cx="228600" cy="237744"/>
          </a:xfrm>
          <a:prstGeom prst="rightArrow">
            <a:avLst/>
          </a:prstGeom>
          <a:solidFill>
            <a:srgbClr val="64748B"/>
          </a:solidFill>
          <a:ln w="12700">
            <a:solidFill>
              <a:srgbClr val="64748B"/>
            </a:solidFill>
            <a:prstDash val="solid"/>
          </a:ln>
        </p:spPr>
      </p:sp>
      <p:sp>
        <p:nvSpPr>
          <p:cNvPr id="10" name="flow step 3"/>
          <p:cNvSpPr/>
          <p:nvPr/>
        </p:nvSpPr>
        <p:spPr>
          <a:xfrm>
            <a:off x="4353458" y="1645920"/>
            <a:ext cx="1582369" cy="1143000"/>
          </a:xfrm>
          <a:prstGeom prst="roundRect">
            <a:avLst>
              <a:gd name="adj" fmla="val 6400"/>
            </a:avLst>
          </a:prstGeom>
          <a:solidFill>
            <a:srgbClr val="1B2A41"/>
          </a:solidFill>
          <a:ln w="12700">
            <a:solidFill>
              <a:srgbClr val="1B2A41"/>
            </a:solidFill>
            <a:prstDash val="solid"/>
          </a:ln>
        </p:spPr>
      </p:sp>
      <p:sp>
        <p:nvSpPr>
          <p:cNvPr id="11" name="Text 8"/>
          <p:cNvSpPr txBox="1"/>
          <p:nvPr/>
        </p:nvSpPr>
        <p:spPr>
          <a:xfrm>
            <a:off x="4426610" y="1645920"/>
            <a:ext cx="1436065" cy="1143000"/>
          </a:xfrm>
          <a:prstGeom prst="rect">
            <a:avLst/>
          </a:prstGeom>
          <a:noFill/>
          <a:ln/>
        </p:spPr>
        <p:txBody>
          <a:bodyPr wrap="square" lIns="0" tIns="0" rIns="0" bIns="0" rtlCol="0" anchor="ctr"/>
          <a:lstStyle/>
          <a:p>
            <a:pPr algn="ctr" indent="0" marL="0">
              <a:buNone/>
            </a:pPr>
            <a:r>
              <a:rPr lang="en-US" sz="1300" b="1" dirty="0">
                <a:solidFill>
                  <a:srgbClr val="FFFFFF"/>
                </a:solidFill>
              </a:rPr>
              <a:t>Fix demand to an average</a:t>
            </a:r>
            <a:endParaRPr lang="en-US" sz="1300" dirty="0"/>
          </a:p>
        </p:txBody>
      </p:sp>
      <p:sp>
        <p:nvSpPr>
          <p:cNvPr id="12" name="arrow"/>
          <p:cNvSpPr/>
          <p:nvPr/>
        </p:nvSpPr>
        <p:spPr>
          <a:xfrm>
            <a:off x="5981548" y="2098548"/>
            <a:ext cx="228600" cy="237744"/>
          </a:xfrm>
          <a:prstGeom prst="rightArrow">
            <a:avLst/>
          </a:prstGeom>
          <a:solidFill>
            <a:srgbClr val="64748B"/>
          </a:solidFill>
          <a:ln w="12700">
            <a:solidFill>
              <a:srgbClr val="64748B"/>
            </a:solidFill>
            <a:prstDash val="solid"/>
          </a:ln>
        </p:spPr>
      </p:sp>
      <p:sp>
        <p:nvSpPr>
          <p:cNvPr id="13" name="flow step 4"/>
          <p:cNvSpPr/>
          <p:nvPr/>
        </p:nvSpPr>
        <p:spPr>
          <a:xfrm>
            <a:off x="6255868" y="1645920"/>
            <a:ext cx="1582369" cy="1143000"/>
          </a:xfrm>
          <a:prstGeom prst="roundRect">
            <a:avLst>
              <a:gd name="adj" fmla="val 6400"/>
            </a:avLst>
          </a:prstGeom>
          <a:solidFill>
            <a:srgbClr val="1B2A41"/>
          </a:solidFill>
          <a:ln w="12700">
            <a:solidFill>
              <a:srgbClr val="1B2A41"/>
            </a:solidFill>
            <a:prstDash val="solid"/>
          </a:ln>
        </p:spPr>
      </p:sp>
      <p:sp>
        <p:nvSpPr>
          <p:cNvPr id="14" name="Text 11"/>
          <p:cNvSpPr txBox="1"/>
          <p:nvPr/>
        </p:nvSpPr>
        <p:spPr>
          <a:xfrm>
            <a:off x="6329020" y="1645920"/>
            <a:ext cx="1436065" cy="1143000"/>
          </a:xfrm>
          <a:prstGeom prst="rect">
            <a:avLst/>
          </a:prstGeom>
          <a:noFill/>
          <a:ln/>
        </p:spPr>
        <p:txBody>
          <a:bodyPr wrap="square" lIns="0" tIns="0" rIns="0" bIns="0" rtlCol="0" anchor="ctr"/>
          <a:lstStyle/>
          <a:p>
            <a:pPr algn="ctr" indent="0" marL="0">
              <a:buNone/>
            </a:pPr>
            <a:r>
              <a:rPr lang="en-US" sz="1300" b="1" dirty="0">
                <a:solidFill>
                  <a:srgbClr val="FFFFFF"/>
                </a:solidFill>
              </a:rPr>
              <a:t>Solve hub model once</a:t>
            </a:r>
            <a:endParaRPr lang="en-US" sz="1300" dirty="0"/>
          </a:p>
        </p:txBody>
      </p:sp>
      <p:sp>
        <p:nvSpPr>
          <p:cNvPr id="15" name="arrow"/>
          <p:cNvSpPr/>
          <p:nvPr/>
        </p:nvSpPr>
        <p:spPr>
          <a:xfrm>
            <a:off x="7883957" y="2098548"/>
            <a:ext cx="228600" cy="237744"/>
          </a:xfrm>
          <a:prstGeom prst="rightArrow">
            <a:avLst/>
          </a:prstGeom>
          <a:solidFill>
            <a:srgbClr val="64748B"/>
          </a:solidFill>
          <a:ln w="12700">
            <a:solidFill>
              <a:srgbClr val="64748B"/>
            </a:solidFill>
            <a:prstDash val="solid"/>
          </a:ln>
        </p:spPr>
      </p:sp>
      <p:sp>
        <p:nvSpPr>
          <p:cNvPr id="16" name="flow step 5"/>
          <p:cNvSpPr/>
          <p:nvPr/>
        </p:nvSpPr>
        <p:spPr>
          <a:xfrm>
            <a:off x="8158277" y="1645920"/>
            <a:ext cx="1582369" cy="1143000"/>
          </a:xfrm>
          <a:prstGeom prst="roundRect">
            <a:avLst>
              <a:gd name="adj" fmla="val 6400"/>
            </a:avLst>
          </a:prstGeom>
          <a:solidFill>
            <a:srgbClr val="1B2A41"/>
          </a:solidFill>
          <a:ln w="12700">
            <a:solidFill>
              <a:srgbClr val="1B2A41"/>
            </a:solidFill>
            <a:prstDash val="solid"/>
          </a:ln>
        </p:spPr>
      </p:sp>
      <p:sp>
        <p:nvSpPr>
          <p:cNvPr id="17" name="Text 14"/>
          <p:cNvSpPr txBox="1"/>
          <p:nvPr/>
        </p:nvSpPr>
        <p:spPr>
          <a:xfrm>
            <a:off x="8231429" y="1645920"/>
            <a:ext cx="1436065" cy="1143000"/>
          </a:xfrm>
          <a:prstGeom prst="rect">
            <a:avLst/>
          </a:prstGeom>
          <a:noFill/>
          <a:ln/>
        </p:spPr>
        <p:txBody>
          <a:bodyPr wrap="square" lIns="0" tIns="0" rIns="0" bIns="0" rtlCol="0" anchor="ctr"/>
          <a:lstStyle/>
          <a:p>
            <a:pPr algn="ctr" indent="0" marL="0">
              <a:buNone/>
            </a:pPr>
            <a:r>
              <a:rPr lang="en-US" sz="1300" b="1" dirty="0">
                <a:solidFill>
                  <a:srgbClr val="FFFFFF"/>
                </a:solidFill>
              </a:rPr>
              <a:t>Open hubs</a:t>
            </a:r>
            <a:endParaRPr lang="en-US" sz="1300" dirty="0"/>
          </a:p>
        </p:txBody>
      </p:sp>
      <p:sp>
        <p:nvSpPr>
          <p:cNvPr id="18" name="arrow"/>
          <p:cNvSpPr/>
          <p:nvPr/>
        </p:nvSpPr>
        <p:spPr>
          <a:xfrm>
            <a:off x="9786366" y="2098548"/>
            <a:ext cx="228600" cy="237744"/>
          </a:xfrm>
          <a:prstGeom prst="rightArrow">
            <a:avLst/>
          </a:prstGeom>
          <a:solidFill>
            <a:srgbClr val="64748B"/>
          </a:solidFill>
          <a:ln w="12700">
            <a:solidFill>
              <a:srgbClr val="64748B"/>
            </a:solidFill>
            <a:prstDash val="solid"/>
          </a:ln>
        </p:spPr>
      </p:sp>
      <p:sp>
        <p:nvSpPr>
          <p:cNvPr id="19" name="flow step 6"/>
          <p:cNvSpPr/>
          <p:nvPr/>
        </p:nvSpPr>
        <p:spPr>
          <a:xfrm>
            <a:off x="10060686" y="1645920"/>
            <a:ext cx="1582369" cy="1143000"/>
          </a:xfrm>
          <a:prstGeom prst="roundRect">
            <a:avLst>
              <a:gd name="adj" fmla="val 6400"/>
            </a:avLst>
          </a:prstGeom>
          <a:solidFill>
            <a:srgbClr val="1B2A41"/>
          </a:solidFill>
          <a:ln w="12700">
            <a:solidFill>
              <a:srgbClr val="1B2A41"/>
            </a:solidFill>
            <a:prstDash val="solid"/>
          </a:ln>
        </p:spPr>
      </p:sp>
      <p:sp>
        <p:nvSpPr>
          <p:cNvPr id="20" name="Text 17"/>
          <p:cNvSpPr txBox="1"/>
          <p:nvPr/>
        </p:nvSpPr>
        <p:spPr>
          <a:xfrm>
            <a:off x="10133838" y="1645920"/>
            <a:ext cx="1436065" cy="1143000"/>
          </a:xfrm>
          <a:prstGeom prst="rect">
            <a:avLst/>
          </a:prstGeom>
          <a:noFill/>
          <a:ln/>
        </p:spPr>
        <p:txBody>
          <a:bodyPr wrap="square" lIns="0" tIns="0" rIns="0" bIns="0" rtlCol="0" anchor="ctr"/>
          <a:lstStyle/>
          <a:p>
            <a:pPr algn="ctr" indent="0" marL="0">
              <a:buNone/>
            </a:pPr>
            <a:r>
              <a:rPr lang="en-US" sz="1300" b="1" dirty="0">
                <a:solidFill>
                  <a:srgbClr val="FFFFFF"/>
                </a:solidFill>
              </a:rPr>
              <a:t>Revisit rarely</a:t>
            </a:r>
            <a:endParaRPr lang="en-US" sz="1300" dirty="0"/>
          </a:p>
        </p:txBody>
      </p:sp>
      <p:sp>
        <p:nvSpPr>
          <p:cNvPr id="21" name="Automatic, text-only card"/>
          <p:cNvSpPr/>
          <p:nvPr/>
        </p:nvSpPr>
        <p:spPr>
          <a:xfrm>
            <a:off x="548640" y="3291840"/>
            <a:ext cx="5440680" cy="2468880"/>
          </a:xfrm>
          <a:prstGeom prst="roundRect">
            <a:avLst>
              <a:gd name="adj" fmla="val 2963"/>
            </a:avLst>
          </a:prstGeom>
          <a:solidFill>
            <a:srgbClr val="F6F8FB"/>
          </a:solidFill>
          <a:ln w="9525">
            <a:solidFill>
              <a:srgbClr val="D5DCE6"/>
            </a:solidFill>
            <a:prstDash val="solid"/>
          </a:ln>
        </p:spPr>
      </p:sp>
      <p:sp>
        <p:nvSpPr>
          <p:cNvPr id="22" name="icon circle"/>
          <p:cNvSpPr/>
          <p:nvPr/>
        </p:nvSpPr>
        <p:spPr>
          <a:xfrm>
            <a:off x="777240" y="3520440"/>
            <a:ext cx="548640" cy="548640"/>
          </a:xfrm>
          <a:prstGeom prst="ellipse">
            <a:avLst/>
          </a:prstGeom>
          <a:solidFill>
            <a:srgbClr val="1B2A41"/>
          </a:solidFill>
          <a:ln w="12700">
            <a:solidFill>
              <a:srgbClr val="1B2A41"/>
            </a:solidFill>
            <a:prstDash val="solid"/>
          </a:ln>
        </p:spPr>
      </p:sp>
      <p:pic>
        <p:nvPicPr>
          <p:cNvPr id="23" name="Image 0" descr="Automatic, text-only">    </p:cNvPr>
          <p:cNvPicPr>
            <a:picLocks noChangeAspect="1"/>
          </p:cNvPicPr>
          <p:nvPr/>
        </p:nvPicPr>
        <p:blipFill>
          <a:blip r:embed="rId1"/>
          <a:stretch>
            <a:fillRect/>
          </a:stretch>
        </p:blipFill>
        <p:spPr>
          <a:xfrm>
            <a:off x="886968" y="3630168"/>
            <a:ext cx="329184" cy="329184"/>
          </a:xfrm>
          <a:prstGeom prst="rect">
            <a:avLst/>
          </a:prstGeom>
        </p:spPr>
      </p:pic>
      <p:sp>
        <p:nvSpPr>
          <p:cNvPr id="24" name="Text 20"/>
          <p:cNvSpPr txBox="1"/>
          <p:nvPr/>
        </p:nvSpPr>
        <p:spPr>
          <a:xfrm>
            <a:off x="1463040" y="347472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Exact and rule-based planning</a:t>
            </a:r>
            <a:endParaRPr lang="en-US" sz="1600" dirty="0"/>
          </a:p>
        </p:txBody>
      </p:sp>
      <p:sp>
        <p:nvSpPr>
          <p:cNvPr id="25" name="Text 21"/>
          <p:cNvSpPr txBox="1"/>
          <p:nvPr/>
        </p:nvSpPr>
        <p:spPr>
          <a:xfrm>
            <a:off x="777240" y="4160520"/>
            <a:ext cx="4983480" cy="146304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Analysts solve a mixed-integer hub model once for a fixed demand, or managers put hubs at the largest markets. Exact models slow down as the network grows; rules give no quality guarantee.</a:t>
            </a:r>
            <a:endParaRPr lang="en-US" sz="1500" dirty="0"/>
          </a:p>
        </p:txBody>
      </p:sp>
      <p:sp>
        <p:nvSpPr>
          <p:cNvPr id="26" name="Manual fact-checking card"/>
          <p:cNvSpPr/>
          <p:nvPr/>
        </p:nvSpPr>
        <p:spPr>
          <a:xfrm>
            <a:off x="6172200" y="3291840"/>
            <a:ext cx="5440680" cy="2468880"/>
          </a:xfrm>
          <a:prstGeom prst="roundRect">
            <a:avLst>
              <a:gd name="adj" fmla="val 2963"/>
            </a:avLst>
          </a:prstGeom>
          <a:solidFill>
            <a:srgbClr val="F6F8FB"/>
          </a:solidFill>
          <a:ln w="9525">
            <a:solidFill>
              <a:srgbClr val="D5DCE6"/>
            </a:solidFill>
            <a:prstDash val="solid"/>
          </a:ln>
        </p:spPr>
      </p:sp>
      <p:sp>
        <p:nvSpPr>
          <p:cNvPr id="27" name="icon circle"/>
          <p:cNvSpPr/>
          <p:nvPr/>
        </p:nvSpPr>
        <p:spPr>
          <a:xfrm>
            <a:off x="6400800" y="3520440"/>
            <a:ext cx="548640" cy="548640"/>
          </a:xfrm>
          <a:prstGeom prst="ellipse">
            <a:avLst/>
          </a:prstGeom>
          <a:solidFill>
            <a:srgbClr val="1B2A41"/>
          </a:solidFill>
          <a:ln w="12700">
            <a:solidFill>
              <a:srgbClr val="1B2A41"/>
            </a:solidFill>
            <a:prstDash val="solid"/>
          </a:ln>
        </p:spPr>
      </p:sp>
      <p:pic>
        <p:nvPicPr>
          <p:cNvPr id="28" name="Image 1" descr="Manual fact-checking">    </p:cNvPr>
          <p:cNvPicPr>
            <a:picLocks noChangeAspect="1"/>
          </p:cNvPicPr>
          <p:nvPr/>
        </p:nvPicPr>
        <p:blipFill>
          <a:blip r:embed="rId2"/>
          <a:stretch>
            <a:fillRect/>
          </a:stretch>
        </p:blipFill>
        <p:spPr>
          <a:xfrm>
            <a:off x="6510528" y="3630168"/>
            <a:ext cx="329184" cy="329184"/>
          </a:xfrm>
          <a:prstGeom prst="rect">
            <a:avLst/>
          </a:prstGeom>
        </p:spPr>
      </p:pic>
      <p:sp>
        <p:nvSpPr>
          <p:cNvPr id="29" name="Text 24"/>
          <p:cNvSpPr txBox="1"/>
          <p:nvPr/>
        </p:nvSpPr>
        <p:spPr>
          <a:xfrm>
            <a:off x="7086600" y="347472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Heuristics</a:t>
            </a:r>
            <a:endParaRPr lang="en-US" sz="1600" dirty="0"/>
          </a:p>
        </p:txBody>
      </p:sp>
      <p:sp>
        <p:nvSpPr>
          <p:cNvPr id="30" name="Text 25"/>
          <p:cNvSpPr txBox="1"/>
          <p:nvPr/>
        </p:nvSpPr>
        <p:spPr>
          <a:xfrm>
            <a:off x="6400800" y="4160520"/>
            <a:ext cx="4983480" cy="1463040"/>
          </a:xfrm>
          <a:prstGeom prst="rect">
            <a:avLst/>
          </a:prstGeom>
          <a:noFill/>
          <a:ln/>
        </p:spPr>
        <p:txBody>
          <a:bodyPr wrap="square" lIns="0" tIns="0" rIns="0" bIns="0" rtlCol="0" anchor="t"/>
          <a:lstStyle/>
          <a:p>
            <a:pPr indent="0" marL="0">
              <a:spcAft>
                <a:spcPts val="400"/>
              </a:spcAft>
              <a:buNone/>
            </a:pPr>
            <a:r>
              <a:rPr lang="en-US" sz="1500" dirty="0">
                <a:solidFill>
                  <a:srgbClr val="475569"/>
                </a:solidFill>
              </a:rPr>
              <a:t>Greedy and clustering heuristics are fast but give no guarantee, and the forecasting team and the network-design team usually work separately.</a:t>
            </a:r>
            <a:endParaRPr lang="en-US" sz="15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Limitations of existing methods</a:t>
            </a:r>
            <a:endParaRPr lang="en-US" sz="3200" dirty="0"/>
          </a:p>
        </p:txBody>
      </p:sp>
      <p:sp>
        <p:nvSpPr>
          <p:cNvPr id="4" name="Ignore the picture card"/>
          <p:cNvSpPr/>
          <p:nvPr/>
        </p:nvSpPr>
        <p:spPr>
          <a:xfrm>
            <a:off x="548640" y="1371600"/>
            <a:ext cx="5440680" cy="2057400"/>
          </a:xfrm>
          <a:prstGeom prst="roundRect">
            <a:avLst>
              <a:gd name="adj" fmla="val 3556"/>
            </a:avLst>
          </a:prstGeom>
          <a:solidFill>
            <a:srgbClr val="F6F8FB"/>
          </a:solidFill>
          <a:ln w="9525">
            <a:solidFill>
              <a:srgbClr val="D5DCE6"/>
            </a:solidFill>
            <a:prstDash val="solid"/>
          </a:ln>
        </p:spPr>
      </p:sp>
      <p:sp>
        <p:nvSpPr>
          <p:cNvPr id="5" name="icon circle"/>
          <p:cNvSpPr/>
          <p:nvPr/>
        </p:nvSpPr>
        <p:spPr>
          <a:xfrm>
            <a:off x="777240" y="1600200"/>
            <a:ext cx="548640" cy="548640"/>
          </a:xfrm>
          <a:prstGeom prst="ellipse">
            <a:avLst/>
          </a:prstGeom>
          <a:solidFill>
            <a:srgbClr val="EB6834"/>
          </a:solidFill>
          <a:ln w="12700">
            <a:solidFill>
              <a:srgbClr val="EB6834"/>
            </a:solidFill>
            <a:prstDash val="solid"/>
          </a:ln>
        </p:spPr>
      </p:sp>
      <p:pic>
        <p:nvPicPr>
          <p:cNvPr id="6" name="Image 0" descr="Ignore the picture">    </p:cNvPr>
          <p:cNvPicPr>
            <a:picLocks noChangeAspect="1"/>
          </p:cNvPicPr>
          <p:nvPr/>
        </p:nvPicPr>
        <p:blipFill>
          <a:blip r:embed="rId1"/>
          <a:stretch>
            <a:fillRect/>
          </a:stretch>
        </p:blipFill>
        <p:spPr>
          <a:xfrm>
            <a:off x="886968" y="1709928"/>
            <a:ext cx="329184" cy="329184"/>
          </a:xfrm>
          <a:prstGeom prst="rect">
            <a:avLst/>
          </a:prstGeom>
        </p:spPr>
      </p:pic>
      <p:sp>
        <p:nvSpPr>
          <p:cNvPr id="7" name="Text 3"/>
          <p:cNvSpPr txBox="1"/>
          <p:nvPr/>
        </p:nvSpPr>
        <p:spPr>
          <a:xfrm>
            <a:off x="1463040" y="155448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Fixed demand</a:t>
            </a:r>
            <a:endParaRPr lang="en-US" sz="1600" dirty="0"/>
          </a:p>
        </p:txBody>
      </p:sp>
      <p:sp>
        <p:nvSpPr>
          <p:cNvPr id="8" name="Text 4"/>
          <p:cNvSpPr txBox="1"/>
          <p:nvPr/>
        </p:nvSpPr>
        <p:spPr>
          <a:xfrm>
            <a:off x="777240" y="2240280"/>
            <a:ext cx="498348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A plan on the historical average served 66.0% of October 2025 orders in our test.</a:t>
            </a:r>
            <a:endParaRPr lang="en-US" sz="1600" dirty="0"/>
          </a:p>
        </p:txBody>
      </p:sp>
      <p:sp>
        <p:nvSpPr>
          <p:cNvPr id="9" name="Label only card"/>
          <p:cNvSpPr/>
          <p:nvPr/>
        </p:nvSpPr>
        <p:spPr>
          <a:xfrm>
            <a:off x="6172200" y="1371600"/>
            <a:ext cx="5440680" cy="2057400"/>
          </a:xfrm>
          <a:prstGeom prst="roundRect">
            <a:avLst>
              <a:gd name="adj" fmla="val 3556"/>
            </a:avLst>
          </a:prstGeom>
          <a:solidFill>
            <a:srgbClr val="F6F8FB"/>
          </a:solidFill>
          <a:ln w="9525">
            <a:solidFill>
              <a:srgbClr val="D5DCE6"/>
            </a:solidFill>
            <a:prstDash val="solid"/>
          </a:ln>
        </p:spPr>
      </p:sp>
      <p:sp>
        <p:nvSpPr>
          <p:cNvPr id="10" name="icon circle"/>
          <p:cNvSpPr/>
          <p:nvPr/>
        </p:nvSpPr>
        <p:spPr>
          <a:xfrm>
            <a:off x="6400800" y="1600200"/>
            <a:ext cx="548640" cy="548640"/>
          </a:xfrm>
          <a:prstGeom prst="ellipse">
            <a:avLst/>
          </a:prstGeom>
          <a:solidFill>
            <a:srgbClr val="2A78D6"/>
          </a:solidFill>
          <a:ln w="12700">
            <a:solidFill>
              <a:srgbClr val="2A78D6"/>
            </a:solidFill>
            <a:prstDash val="solid"/>
          </a:ln>
        </p:spPr>
      </p:sp>
      <p:pic>
        <p:nvPicPr>
          <p:cNvPr id="11" name="Image 1" descr="Label only">    </p:cNvPr>
          <p:cNvPicPr>
            <a:picLocks noChangeAspect="1"/>
          </p:cNvPicPr>
          <p:nvPr/>
        </p:nvPicPr>
        <p:blipFill>
          <a:blip r:embed="rId2"/>
          <a:stretch>
            <a:fillRect/>
          </a:stretch>
        </p:blipFill>
        <p:spPr>
          <a:xfrm>
            <a:off x="6510528" y="1709928"/>
            <a:ext cx="329184" cy="329184"/>
          </a:xfrm>
          <a:prstGeom prst="rect">
            <a:avLst/>
          </a:prstGeom>
        </p:spPr>
      </p:pic>
      <p:sp>
        <p:nvSpPr>
          <p:cNvPr id="12" name="Text 7"/>
          <p:cNvSpPr txBox="1"/>
          <p:nvPr/>
        </p:nvSpPr>
        <p:spPr>
          <a:xfrm>
            <a:off x="7086600" y="155448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Slow exact solving</a:t>
            </a:r>
            <a:endParaRPr lang="en-US" sz="1600" dirty="0"/>
          </a:p>
        </p:txBody>
      </p:sp>
      <p:sp>
        <p:nvSpPr>
          <p:cNvPr id="13" name="Text 8"/>
          <p:cNvSpPr txBox="1"/>
          <p:nvPr/>
        </p:nvSpPr>
        <p:spPr>
          <a:xfrm>
            <a:off x="6400800" y="2240280"/>
            <a:ext cx="498348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The exact MIP did not finish a 270-node network within 67 s in our benchmark.</a:t>
            </a:r>
            <a:endParaRPr lang="en-US" sz="1600" dirty="0"/>
          </a:p>
        </p:txBody>
      </p:sp>
      <p:sp>
        <p:nvSpPr>
          <p:cNvPr id="14" name="One split only card"/>
          <p:cNvSpPr/>
          <p:nvPr/>
        </p:nvSpPr>
        <p:spPr>
          <a:xfrm>
            <a:off x="548640" y="3611880"/>
            <a:ext cx="5440680" cy="2057400"/>
          </a:xfrm>
          <a:prstGeom prst="roundRect">
            <a:avLst>
              <a:gd name="adj" fmla="val 3556"/>
            </a:avLst>
          </a:prstGeom>
          <a:solidFill>
            <a:srgbClr val="F6F8FB"/>
          </a:solidFill>
          <a:ln w="9525">
            <a:solidFill>
              <a:srgbClr val="D5DCE6"/>
            </a:solidFill>
            <a:prstDash val="solid"/>
          </a:ln>
        </p:spPr>
      </p:sp>
      <p:sp>
        <p:nvSpPr>
          <p:cNvPr id="15" name="icon circle"/>
          <p:cNvSpPr/>
          <p:nvPr/>
        </p:nvSpPr>
        <p:spPr>
          <a:xfrm>
            <a:off x="777240" y="3840480"/>
            <a:ext cx="548640" cy="548640"/>
          </a:xfrm>
          <a:prstGeom prst="ellipse">
            <a:avLst/>
          </a:prstGeom>
          <a:solidFill>
            <a:srgbClr val="6250D6"/>
          </a:solidFill>
          <a:ln w="12700">
            <a:solidFill>
              <a:srgbClr val="6250D6"/>
            </a:solidFill>
            <a:prstDash val="solid"/>
          </a:ln>
        </p:spPr>
      </p:sp>
      <p:pic>
        <p:nvPicPr>
          <p:cNvPr id="16" name="Image 2" descr="One split only">    </p:cNvPr>
          <p:cNvPicPr>
            <a:picLocks noChangeAspect="1"/>
          </p:cNvPicPr>
          <p:nvPr/>
        </p:nvPicPr>
        <p:blipFill>
          <a:blip r:embed="rId3"/>
          <a:stretch>
            <a:fillRect/>
          </a:stretch>
        </p:blipFill>
        <p:spPr>
          <a:xfrm>
            <a:off x="886968" y="3950208"/>
            <a:ext cx="329184" cy="329184"/>
          </a:xfrm>
          <a:prstGeom prst="rect">
            <a:avLst/>
          </a:prstGeom>
        </p:spPr>
      </p:pic>
      <p:sp>
        <p:nvSpPr>
          <p:cNvPr id="17" name="Text 11"/>
          <p:cNvSpPr txBox="1"/>
          <p:nvPr/>
        </p:nvSpPr>
        <p:spPr>
          <a:xfrm>
            <a:off x="1463040" y="379476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No quality guarantee</a:t>
            </a:r>
            <a:endParaRPr lang="en-US" sz="1600" dirty="0"/>
          </a:p>
        </p:txBody>
      </p:sp>
      <p:sp>
        <p:nvSpPr>
          <p:cNvPr id="18" name="Text 12"/>
          <p:cNvSpPr txBox="1"/>
          <p:nvPr/>
        </p:nvSpPr>
        <p:spPr>
          <a:xfrm>
            <a:off x="777240" y="4480560"/>
            <a:ext cx="498348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A greedy plan cost 11.5% more than the optimised plan on the same instance.</a:t>
            </a:r>
            <a:endParaRPr lang="en-US" sz="1600" dirty="0"/>
          </a:p>
        </p:txBody>
      </p:sp>
      <p:sp>
        <p:nvSpPr>
          <p:cNvPr id="19" name="Not usable card"/>
          <p:cNvSpPr/>
          <p:nvPr/>
        </p:nvSpPr>
        <p:spPr>
          <a:xfrm>
            <a:off x="6172200" y="3611880"/>
            <a:ext cx="5440680" cy="2057400"/>
          </a:xfrm>
          <a:prstGeom prst="roundRect">
            <a:avLst>
              <a:gd name="adj" fmla="val 3556"/>
            </a:avLst>
          </a:prstGeom>
          <a:solidFill>
            <a:srgbClr val="F6F8FB"/>
          </a:solidFill>
          <a:ln w="9525">
            <a:solidFill>
              <a:srgbClr val="D5DCE6"/>
            </a:solidFill>
            <a:prstDash val="solid"/>
          </a:ln>
        </p:spPr>
      </p:sp>
      <p:sp>
        <p:nvSpPr>
          <p:cNvPr id="20" name="icon circle"/>
          <p:cNvSpPr/>
          <p:nvPr/>
        </p:nvSpPr>
        <p:spPr>
          <a:xfrm>
            <a:off x="6400800" y="3840480"/>
            <a:ext cx="548640" cy="548640"/>
          </a:xfrm>
          <a:prstGeom prst="ellipse">
            <a:avLst/>
          </a:prstGeom>
          <a:solidFill>
            <a:srgbClr val="1BAF7A"/>
          </a:solidFill>
          <a:ln w="12700">
            <a:solidFill>
              <a:srgbClr val="1BAF7A"/>
            </a:solidFill>
            <a:prstDash val="solid"/>
          </a:ln>
        </p:spPr>
      </p:sp>
      <p:pic>
        <p:nvPicPr>
          <p:cNvPr id="21" name="Image 3" descr="Not usable">    </p:cNvPr>
          <p:cNvPicPr>
            <a:picLocks noChangeAspect="1"/>
          </p:cNvPicPr>
          <p:nvPr/>
        </p:nvPicPr>
        <p:blipFill>
          <a:blip r:embed="rId4"/>
          <a:stretch>
            <a:fillRect/>
          </a:stretch>
        </p:blipFill>
        <p:spPr>
          <a:xfrm>
            <a:off x="6510528" y="3950208"/>
            <a:ext cx="329184" cy="329184"/>
          </a:xfrm>
          <a:prstGeom prst="rect">
            <a:avLst/>
          </a:prstGeom>
        </p:spPr>
      </p:pic>
      <p:sp>
        <p:nvSpPr>
          <p:cNvPr id="22" name="Text 15"/>
          <p:cNvSpPr txBox="1"/>
          <p:nvPr/>
        </p:nvSpPr>
        <p:spPr>
          <a:xfrm>
            <a:off x="7086600" y="3794760"/>
            <a:ext cx="434340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Disconnected steps</a:t>
            </a:r>
            <a:endParaRPr lang="en-US" sz="1600" dirty="0"/>
          </a:p>
        </p:txBody>
      </p:sp>
      <p:sp>
        <p:nvSpPr>
          <p:cNvPr id="23" name="Text 16"/>
          <p:cNvSpPr txBox="1"/>
          <p:nvPr/>
        </p:nvSpPr>
        <p:spPr>
          <a:xfrm>
            <a:off x="6400800" y="4480560"/>
            <a:ext cx="498348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Forecasting and hub choice are separate, so plans are not updated when demand moves.</a:t>
            </a:r>
            <a:endParaRPr lang="en-US" sz="16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Research gap</a:t>
            </a:r>
            <a:endParaRPr lang="en-US" sz="3200" dirty="0"/>
          </a:p>
        </p:txBody>
      </p:sp>
      <p:sp>
        <p:nvSpPr>
          <p:cNvPr id="4" name="gap Modality"/>
          <p:cNvSpPr/>
          <p:nvPr/>
        </p:nvSpPr>
        <p:spPr>
          <a:xfrm>
            <a:off x="548640" y="1325880"/>
            <a:ext cx="2377440" cy="749808"/>
          </a:xfrm>
          <a:prstGeom prst="roundRect">
            <a:avLst>
              <a:gd name="adj" fmla="val 7317"/>
            </a:avLst>
          </a:prstGeom>
          <a:solidFill>
            <a:srgbClr val="1B2A41"/>
          </a:solidFill>
          <a:ln w="12700">
            <a:solidFill>
              <a:srgbClr val="1B2A41"/>
            </a:solidFill>
            <a:prstDash val="solid"/>
          </a:ln>
        </p:spPr>
      </p:sp>
      <p:sp>
        <p:nvSpPr>
          <p:cNvPr id="5" name="Text 2"/>
          <p:cNvSpPr txBox="1"/>
          <p:nvPr/>
        </p:nvSpPr>
        <p:spPr>
          <a:xfrm>
            <a:off x="548640" y="1325880"/>
            <a:ext cx="2377440" cy="749808"/>
          </a:xfrm>
          <a:prstGeom prst="rect">
            <a:avLst/>
          </a:prstGeom>
          <a:noFill/>
          <a:ln/>
        </p:spPr>
        <p:txBody>
          <a:bodyPr wrap="square" lIns="0" tIns="0" rIns="0" bIns="0" rtlCol="0" anchor="ctr"/>
          <a:lstStyle/>
          <a:p>
            <a:pPr algn="ctr" indent="0" marL="0">
              <a:buNone/>
            </a:pPr>
            <a:r>
              <a:rPr lang="en-US" sz="1600" b="1" dirty="0">
                <a:solidFill>
                  <a:srgbClr val="FFFFFF"/>
                </a:solidFill>
              </a:rPr>
              <a:t>Fixed demand</a:t>
            </a:r>
            <a:endParaRPr lang="en-US" sz="1600" dirty="0"/>
          </a:p>
        </p:txBody>
      </p:sp>
      <p:sp>
        <p:nvSpPr>
          <p:cNvPr id="6" name="Text 3"/>
          <p:cNvSpPr txBox="1"/>
          <p:nvPr/>
        </p:nvSpPr>
        <p:spPr>
          <a:xfrm>
            <a:off x="3154680" y="1325880"/>
            <a:ext cx="8503920" cy="749808"/>
          </a:xfrm>
          <a:prstGeom prst="rect">
            <a:avLst/>
          </a:prstGeom>
          <a:noFill/>
          <a:ln/>
        </p:spPr>
        <p:txBody>
          <a:bodyPr wrap="square" lIns="0" tIns="0" rIns="0" bIns="0" rtlCol="0" anchor="ctr"/>
          <a:lstStyle/>
          <a:p>
            <a:pPr indent="0" marL="0">
              <a:buNone/>
            </a:pPr>
            <a:r>
              <a:rPr lang="en-US" sz="1700" dirty="0">
                <a:solidFill>
                  <a:srgbClr val="0F172A"/>
                </a:solidFill>
              </a:rPr>
              <a:t>Most hub location studies assume known or assumed demand [2]-[5], [8], [9].</a:t>
            </a:r>
            <a:endParaRPr lang="en-US" sz="1700" dirty="0"/>
          </a:p>
        </p:txBody>
      </p:sp>
      <p:sp>
        <p:nvSpPr>
          <p:cNvPr id="7" name="gap Transparency"/>
          <p:cNvSpPr/>
          <p:nvPr/>
        </p:nvSpPr>
        <p:spPr>
          <a:xfrm>
            <a:off x="548640" y="2240280"/>
            <a:ext cx="2377440" cy="749808"/>
          </a:xfrm>
          <a:prstGeom prst="roundRect">
            <a:avLst>
              <a:gd name="adj" fmla="val 7317"/>
            </a:avLst>
          </a:prstGeom>
          <a:solidFill>
            <a:srgbClr val="1B2A41"/>
          </a:solidFill>
          <a:ln w="12700">
            <a:solidFill>
              <a:srgbClr val="1B2A41"/>
            </a:solidFill>
            <a:prstDash val="solid"/>
          </a:ln>
        </p:spPr>
      </p:sp>
      <p:sp>
        <p:nvSpPr>
          <p:cNvPr id="8" name="Text 5"/>
          <p:cNvSpPr txBox="1"/>
          <p:nvPr/>
        </p:nvSpPr>
        <p:spPr>
          <a:xfrm>
            <a:off x="548640" y="2240280"/>
            <a:ext cx="2377440" cy="749808"/>
          </a:xfrm>
          <a:prstGeom prst="rect">
            <a:avLst/>
          </a:prstGeom>
          <a:noFill/>
          <a:ln/>
        </p:spPr>
        <p:txBody>
          <a:bodyPr wrap="square" lIns="0" tIns="0" rIns="0" bIns="0" rtlCol="0" anchor="ctr"/>
          <a:lstStyle/>
          <a:p>
            <a:pPr algn="ctr" indent="0" marL="0">
              <a:buNone/>
            </a:pPr>
            <a:r>
              <a:rPr lang="en-US" sz="1600" b="1" dirty="0">
                <a:solidFill>
                  <a:srgbClr val="FFFFFF"/>
                </a:solidFill>
              </a:rPr>
              <a:t>Reproducibility</a:t>
            </a:r>
            <a:endParaRPr lang="en-US" sz="1600" dirty="0"/>
          </a:p>
        </p:txBody>
      </p:sp>
      <p:sp>
        <p:nvSpPr>
          <p:cNvPr id="9" name="Text 6"/>
          <p:cNvSpPr txBox="1"/>
          <p:nvPr/>
        </p:nvSpPr>
        <p:spPr>
          <a:xfrm>
            <a:off x="3154680" y="2240280"/>
            <a:ext cx="8503920" cy="749808"/>
          </a:xfrm>
          <a:prstGeom prst="rect">
            <a:avLst/>
          </a:prstGeom>
          <a:noFill/>
          <a:ln/>
        </p:spPr>
        <p:txBody>
          <a:bodyPr wrap="square" lIns="0" tIns="0" rIns="0" bIns="0" rtlCol="0" anchor="ctr"/>
          <a:lstStyle/>
          <a:p>
            <a:pPr indent="0" marL="0">
              <a:buNone/>
            </a:pPr>
            <a:r>
              <a:rPr lang="en-US" sz="1700" dirty="0">
                <a:solidFill>
                  <a:srgbClr val="0F172A"/>
                </a:solidFill>
              </a:rPr>
              <a:t>The base paper's data, code and matheuristic parameters are not available [1].</a:t>
            </a:r>
            <a:endParaRPr lang="en-US" sz="1700" dirty="0"/>
          </a:p>
        </p:txBody>
      </p:sp>
      <p:sp>
        <p:nvSpPr>
          <p:cNvPr id="10" name="gap Generalisation"/>
          <p:cNvSpPr/>
          <p:nvPr/>
        </p:nvSpPr>
        <p:spPr>
          <a:xfrm>
            <a:off x="548640" y="3154680"/>
            <a:ext cx="2377440" cy="749808"/>
          </a:xfrm>
          <a:prstGeom prst="roundRect">
            <a:avLst>
              <a:gd name="adj" fmla="val 7317"/>
            </a:avLst>
          </a:prstGeom>
          <a:solidFill>
            <a:srgbClr val="1B2A41"/>
          </a:solidFill>
          <a:ln w="12700">
            <a:solidFill>
              <a:srgbClr val="1B2A41"/>
            </a:solidFill>
            <a:prstDash val="solid"/>
          </a:ln>
        </p:spPr>
      </p:sp>
      <p:sp>
        <p:nvSpPr>
          <p:cNvPr id="11" name="Text 8"/>
          <p:cNvSpPr txBox="1"/>
          <p:nvPr/>
        </p:nvSpPr>
        <p:spPr>
          <a:xfrm>
            <a:off x="548640" y="3154680"/>
            <a:ext cx="2377440" cy="749808"/>
          </a:xfrm>
          <a:prstGeom prst="rect">
            <a:avLst/>
          </a:prstGeom>
          <a:noFill/>
          <a:ln/>
        </p:spPr>
        <p:txBody>
          <a:bodyPr wrap="square" lIns="0" tIns="0" rIns="0" bIns="0" rtlCol="0" anchor="ctr"/>
          <a:lstStyle/>
          <a:p>
            <a:pPr algn="ctr" indent="0" marL="0">
              <a:buNone/>
            </a:pPr>
            <a:r>
              <a:rPr lang="en-US" sz="1600" b="1" dirty="0">
                <a:solidFill>
                  <a:srgbClr val="FFFFFF"/>
                </a:solidFill>
              </a:rPr>
              <a:t>Forecast error</a:t>
            </a:r>
            <a:endParaRPr lang="en-US" sz="1600" dirty="0"/>
          </a:p>
        </p:txBody>
      </p:sp>
      <p:sp>
        <p:nvSpPr>
          <p:cNvPr id="12" name="Text 9"/>
          <p:cNvSpPr txBox="1"/>
          <p:nvPr/>
        </p:nvSpPr>
        <p:spPr>
          <a:xfrm>
            <a:off x="3154680" y="3154680"/>
            <a:ext cx="8503920" cy="749808"/>
          </a:xfrm>
          <a:prstGeom prst="rect">
            <a:avLst/>
          </a:prstGeom>
          <a:noFill/>
          <a:ln/>
        </p:spPr>
        <p:txBody>
          <a:bodyPr wrap="square" lIns="0" tIns="0" rIns="0" bIns="0" rtlCol="0" anchor="ctr"/>
          <a:lstStyle/>
          <a:p>
            <a:pPr indent="0" marL="0">
              <a:buNone/>
            </a:pPr>
            <a:r>
              <a:rPr lang="en-US" sz="1700" dirty="0">
                <a:solidFill>
                  <a:srgbClr val="0F172A"/>
                </a:solidFill>
              </a:rPr>
              <a:t>The effect of forecast error on the hub plan is not shown.</a:t>
            </a:r>
            <a:endParaRPr lang="en-US" sz="1700" dirty="0"/>
          </a:p>
        </p:txBody>
      </p:sp>
      <p:sp>
        <p:nvSpPr>
          <p:cNvPr id="13" name="gap Generated media"/>
          <p:cNvSpPr/>
          <p:nvPr/>
        </p:nvSpPr>
        <p:spPr>
          <a:xfrm>
            <a:off x="548640" y="4069080"/>
            <a:ext cx="2377440" cy="749808"/>
          </a:xfrm>
          <a:prstGeom prst="roundRect">
            <a:avLst>
              <a:gd name="adj" fmla="val 7317"/>
            </a:avLst>
          </a:prstGeom>
          <a:solidFill>
            <a:srgbClr val="1B2A41"/>
          </a:solidFill>
          <a:ln w="12700">
            <a:solidFill>
              <a:srgbClr val="1B2A41"/>
            </a:solidFill>
            <a:prstDash val="solid"/>
          </a:ln>
        </p:spPr>
      </p:sp>
      <p:sp>
        <p:nvSpPr>
          <p:cNvPr id="14" name="Text 11"/>
          <p:cNvSpPr txBox="1"/>
          <p:nvPr/>
        </p:nvSpPr>
        <p:spPr>
          <a:xfrm>
            <a:off x="548640" y="4069080"/>
            <a:ext cx="2377440" cy="749808"/>
          </a:xfrm>
          <a:prstGeom prst="rect">
            <a:avLst/>
          </a:prstGeom>
          <a:noFill/>
          <a:ln/>
        </p:spPr>
        <p:txBody>
          <a:bodyPr wrap="square" lIns="0" tIns="0" rIns="0" bIns="0" rtlCol="0" anchor="ctr"/>
          <a:lstStyle/>
          <a:p>
            <a:pPr algn="ctr" indent="0" marL="0">
              <a:buNone/>
            </a:pPr>
            <a:r>
              <a:rPr lang="en-US" sz="1600" b="1" dirty="0">
                <a:solidFill>
                  <a:srgbClr val="FFFFFF"/>
                </a:solidFill>
              </a:rPr>
              <a:t>Value of re-planning</a:t>
            </a:r>
            <a:endParaRPr lang="en-US" sz="1600" dirty="0"/>
          </a:p>
        </p:txBody>
      </p:sp>
      <p:sp>
        <p:nvSpPr>
          <p:cNvPr id="15" name="Text 12"/>
          <p:cNvSpPr txBox="1"/>
          <p:nvPr/>
        </p:nvSpPr>
        <p:spPr>
          <a:xfrm>
            <a:off x="3154680" y="4069080"/>
            <a:ext cx="8503920" cy="749808"/>
          </a:xfrm>
          <a:prstGeom prst="rect">
            <a:avLst/>
          </a:prstGeom>
          <a:noFill/>
          <a:ln/>
        </p:spPr>
        <p:txBody>
          <a:bodyPr wrap="square" lIns="0" tIns="0" rIns="0" bIns="0" rtlCol="0" anchor="ctr"/>
          <a:lstStyle/>
          <a:p>
            <a:pPr indent="0" marL="0">
              <a:buNone/>
            </a:pPr>
            <a:r>
              <a:rPr lang="en-US" sz="1700" dirty="0">
                <a:solidFill>
                  <a:srgbClr val="0F172A"/>
                </a:solidFill>
              </a:rPr>
              <a:t>No evidence of what monthly re-optimisation is worth against a static plan.</a:t>
            </a:r>
            <a:endParaRPr lang="en-US" sz="1700" dirty="0"/>
          </a:p>
        </p:txBody>
      </p:sp>
      <p:sp>
        <p:nvSpPr>
          <p:cNvPr id="16" name="gap Application"/>
          <p:cNvSpPr/>
          <p:nvPr/>
        </p:nvSpPr>
        <p:spPr>
          <a:xfrm>
            <a:off x="548640" y="4983480"/>
            <a:ext cx="2377440" cy="749808"/>
          </a:xfrm>
          <a:prstGeom prst="roundRect">
            <a:avLst>
              <a:gd name="adj" fmla="val 7317"/>
            </a:avLst>
          </a:prstGeom>
          <a:solidFill>
            <a:srgbClr val="1B2A41"/>
          </a:solidFill>
          <a:ln w="12700">
            <a:solidFill>
              <a:srgbClr val="1B2A41"/>
            </a:solidFill>
            <a:prstDash val="solid"/>
          </a:ln>
        </p:spPr>
      </p:sp>
      <p:sp>
        <p:nvSpPr>
          <p:cNvPr id="17" name="Text 14"/>
          <p:cNvSpPr txBox="1"/>
          <p:nvPr/>
        </p:nvSpPr>
        <p:spPr>
          <a:xfrm>
            <a:off x="548640" y="4983480"/>
            <a:ext cx="2377440" cy="749808"/>
          </a:xfrm>
          <a:prstGeom prst="rect">
            <a:avLst/>
          </a:prstGeom>
          <a:noFill/>
          <a:ln/>
        </p:spPr>
        <p:txBody>
          <a:bodyPr wrap="square" lIns="0" tIns="0" rIns="0" bIns="0" rtlCol="0" anchor="ctr"/>
          <a:lstStyle/>
          <a:p>
            <a:pPr algn="ctr" indent="0" marL="0">
              <a:buNone/>
            </a:pPr>
            <a:r>
              <a:rPr lang="en-US" sz="1600" b="1" dirty="0">
                <a:solidFill>
                  <a:srgbClr val="FFFFFF"/>
                </a:solidFill>
              </a:rPr>
              <a:t>Scale</a:t>
            </a:r>
            <a:endParaRPr lang="en-US" sz="1600" dirty="0"/>
          </a:p>
        </p:txBody>
      </p:sp>
      <p:sp>
        <p:nvSpPr>
          <p:cNvPr id="18" name="Text 15"/>
          <p:cNvSpPr txBox="1"/>
          <p:nvPr/>
        </p:nvSpPr>
        <p:spPr>
          <a:xfrm>
            <a:off x="3154680" y="4983480"/>
            <a:ext cx="8503920" cy="749808"/>
          </a:xfrm>
          <a:prstGeom prst="rect">
            <a:avLst/>
          </a:prstGeom>
          <a:noFill/>
          <a:ln/>
        </p:spPr>
        <p:txBody>
          <a:bodyPr wrap="square" lIns="0" tIns="0" rIns="0" bIns="0" rtlCol="0" anchor="ctr"/>
          <a:lstStyle/>
          <a:p>
            <a:pPr indent="0" marL="0">
              <a:buNone/>
            </a:pPr>
            <a:r>
              <a:rPr lang="en-US" sz="1700" dirty="0">
                <a:solidFill>
                  <a:srgbClr val="0F172A"/>
                </a:solidFill>
              </a:rPr>
              <a:t>Exact versus matheuristic behaviour is described but not measured as networks grow.</a:t>
            </a:r>
            <a:endParaRPr lang="en-US" sz="17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Problem statement</a:t>
            </a:r>
            <a:endParaRPr lang="en-US" sz="3200" dirty="0"/>
          </a:p>
        </p:txBody>
      </p:sp>
      <p:sp>
        <p:nvSpPr>
          <p:cNvPr id="4" name="statement box"/>
          <p:cNvSpPr/>
          <p:nvPr/>
        </p:nvSpPr>
        <p:spPr>
          <a:xfrm>
            <a:off x="548640" y="1463040"/>
            <a:ext cx="11094415" cy="2743200"/>
          </a:xfrm>
          <a:prstGeom prst="roundRect">
            <a:avLst>
              <a:gd name="adj" fmla="val 2667"/>
            </a:avLst>
          </a:prstGeom>
          <a:solidFill>
            <a:srgbClr val="EEF2F7"/>
          </a:solidFill>
          <a:ln w="12700">
            <a:solidFill>
              <a:srgbClr val="EEF2F7"/>
            </a:solidFill>
            <a:prstDash val="solid"/>
          </a:ln>
        </p:spPr>
      </p:sp>
      <p:sp>
        <p:nvSpPr>
          <p:cNvPr id="5" name="Text 2"/>
          <p:cNvSpPr txBox="1"/>
          <p:nvPr/>
        </p:nvSpPr>
        <p:spPr>
          <a:xfrm>
            <a:off x="914400" y="1600200"/>
            <a:ext cx="10362895" cy="2468880"/>
          </a:xfrm>
          <a:prstGeom prst="rect">
            <a:avLst/>
          </a:prstGeom>
          <a:noFill/>
          <a:ln/>
        </p:spPr>
        <p:txBody>
          <a:bodyPr wrap="square" lIns="0" tIns="0" rIns="0" bIns="0" rtlCol="0" anchor="ctr"/>
          <a:lstStyle/>
          <a:p>
            <a:pPr indent="0" marL="0">
              <a:buNone/>
            </a:pPr>
            <a:r>
              <a:rPr lang="en-US" sz="2100" dirty="0">
                <a:solidFill>
                  <a:srgbClr val="1B2A41"/>
                </a:solidFill>
                <a:latin typeface="Cambria" pitchFamily="34" charset="0"/>
                <a:ea typeface="Cambria" pitchFamily="34" charset="-122"/>
                <a:cs typeface="Cambria" pitchFamily="34" charset="-120"/>
              </a:rPr>
              <a:t>Given a history of monthly orders for demand regions, candidate hub sites with fixed costs and capacities, and cost and service parameters, choose which hubs to open and which hub serves each region so that total cost is minimised, every region has one hub, no hub exceeds its capacity, and the plan stays good as demand changes month to month.</a:t>
            </a:r>
            <a:endParaRPr lang="en-US" sz="2100" dirty="0"/>
          </a:p>
        </p:txBody>
      </p:sp>
      <p:sp>
        <p:nvSpPr>
          <p:cNvPr id="6" name="Input card"/>
          <p:cNvSpPr/>
          <p:nvPr/>
        </p:nvSpPr>
        <p:spPr>
          <a:xfrm>
            <a:off x="548640" y="4480560"/>
            <a:ext cx="3566160" cy="1325880"/>
          </a:xfrm>
          <a:prstGeom prst="roundRect">
            <a:avLst>
              <a:gd name="adj" fmla="val 5517"/>
            </a:avLst>
          </a:prstGeom>
          <a:solidFill>
            <a:srgbClr val="F6F8FB"/>
          </a:solidFill>
          <a:ln w="9525">
            <a:solidFill>
              <a:srgbClr val="D5DCE6"/>
            </a:solidFill>
            <a:prstDash val="solid"/>
          </a:ln>
        </p:spPr>
      </p:sp>
      <p:sp>
        <p:nvSpPr>
          <p:cNvPr id="7" name="Text 4"/>
          <p:cNvSpPr txBox="1"/>
          <p:nvPr/>
        </p:nvSpPr>
        <p:spPr>
          <a:xfrm>
            <a:off x="777240" y="4663440"/>
            <a:ext cx="3154680" cy="640080"/>
          </a:xfrm>
          <a:prstGeom prst="rect">
            <a:avLst/>
          </a:prstGeom>
          <a:noFill/>
          <a:ln/>
        </p:spPr>
        <p:txBody>
          <a:bodyPr wrap="square" lIns="0" tIns="0" rIns="0" bIns="0" rtlCol="0" anchor="ctr">
            <a:normAutofit/>
          </a:bodyPr>
          <a:lstStyle/>
          <a:p>
            <a:pPr indent="0" marL="0">
              <a:buNone/>
            </a:pPr>
            <a:r>
              <a:rPr lang="en-US" sz="1500" b="1" dirty="0">
                <a:solidFill>
                  <a:srgbClr val="0F172A"/>
                </a:solidFill>
              </a:rPr>
              <a:t>Input</a:t>
            </a:r>
            <a:endParaRPr lang="en-US" sz="1500" dirty="0"/>
          </a:p>
        </p:txBody>
      </p:sp>
      <p:sp>
        <p:nvSpPr>
          <p:cNvPr id="8" name="Text 5"/>
          <p:cNvSpPr txBox="1"/>
          <p:nvPr/>
        </p:nvSpPr>
        <p:spPr>
          <a:xfrm>
            <a:off x="777240" y="5349240"/>
            <a:ext cx="3108960" cy="32004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Order history, regions, costs, SLA</a:t>
            </a:r>
            <a:endParaRPr lang="en-US" sz="1400" dirty="0"/>
          </a:p>
        </p:txBody>
      </p:sp>
      <p:sp>
        <p:nvSpPr>
          <p:cNvPr id="9" name="Output card"/>
          <p:cNvSpPr/>
          <p:nvPr/>
        </p:nvSpPr>
        <p:spPr>
          <a:xfrm>
            <a:off x="4297680" y="4480560"/>
            <a:ext cx="3566160" cy="1325880"/>
          </a:xfrm>
          <a:prstGeom prst="roundRect">
            <a:avLst>
              <a:gd name="adj" fmla="val 5517"/>
            </a:avLst>
          </a:prstGeom>
          <a:solidFill>
            <a:srgbClr val="F6F8FB"/>
          </a:solidFill>
          <a:ln w="9525">
            <a:solidFill>
              <a:srgbClr val="D5DCE6"/>
            </a:solidFill>
            <a:prstDash val="solid"/>
          </a:ln>
        </p:spPr>
      </p:sp>
      <p:sp>
        <p:nvSpPr>
          <p:cNvPr id="10" name="Text 7"/>
          <p:cNvSpPr txBox="1"/>
          <p:nvPr/>
        </p:nvSpPr>
        <p:spPr>
          <a:xfrm>
            <a:off x="4526280" y="4663440"/>
            <a:ext cx="3154680" cy="640080"/>
          </a:xfrm>
          <a:prstGeom prst="rect">
            <a:avLst/>
          </a:prstGeom>
          <a:noFill/>
          <a:ln/>
        </p:spPr>
        <p:txBody>
          <a:bodyPr wrap="square" lIns="0" tIns="0" rIns="0" bIns="0" rtlCol="0" anchor="ctr">
            <a:normAutofit/>
          </a:bodyPr>
          <a:lstStyle/>
          <a:p>
            <a:pPr indent="0" marL="0">
              <a:buNone/>
            </a:pPr>
            <a:r>
              <a:rPr lang="en-US" sz="1500" b="1" dirty="0">
                <a:solidFill>
                  <a:srgbClr val="0F172A"/>
                </a:solidFill>
              </a:rPr>
              <a:t>Output</a:t>
            </a:r>
            <a:endParaRPr lang="en-US" sz="1500" dirty="0"/>
          </a:p>
        </p:txBody>
      </p:sp>
      <p:sp>
        <p:nvSpPr>
          <p:cNvPr id="11" name="Text 8"/>
          <p:cNvSpPr txBox="1"/>
          <p:nvPr/>
        </p:nvSpPr>
        <p:spPr>
          <a:xfrm>
            <a:off x="4526280" y="5349240"/>
            <a:ext cx="3108960" cy="32004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Hubs, allocation, KPIs, comparison</a:t>
            </a:r>
            <a:endParaRPr lang="en-US" sz="1400" dirty="0"/>
          </a:p>
        </p:txBody>
      </p:sp>
      <p:sp>
        <p:nvSpPr>
          <p:cNvPr id="12" name="Extra card"/>
          <p:cNvSpPr/>
          <p:nvPr/>
        </p:nvSpPr>
        <p:spPr>
          <a:xfrm>
            <a:off x="8046720" y="4480560"/>
            <a:ext cx="3566160" cy="1325880"/>
          </a:xfrm>
          <a:prstGeom prst="roundRect">
            <a:avLst>
              <a:gd name="adj" fmla="val 5517"/>
            </a:avLst>
          </a:prstGeom>
          <a:solidFill>
            <a:srgbClr val="F6F8FB"/>
          </a:solidFill>
          <a:ln w="9525">
            <a:solidFill>
              <a:srgbClr val="D5DCE6"/>
            </a:solidFill>
            <a:prstDash val="solid"/>
          </a:ln>
        </p:spPr>
      </p:sp>
      <p:sp>
        <p:nvSpPr>
          <p:cNvPr id="13" name="Text 10"/>
          <p:cNvSpPr txBox="1"/>
          <p:nvPr/>
        </p:nvSpPr>
        <p:spPr>
          <a:xfrm>
            <a:off x="8275320" y="4663440"/>
            <a:ext cx="3154680" cy="640080"/>
          </a:xfrm>
          <a:prstGeom prst="rect">
            <a:avLst/>
          </a:prstGeom>
          <a:noFill/>
          <a:ln/>
        </p:spPr>
        <p:txBody>
          <a:bodyPr wrap="square" lIns="0" tIns="0" rIns="0" bIns="0" rtlCol="0" anchor="ctr">
            <a:normAutofit/>
          </a:bodyPr>
          <a:lstStyle/>
          <a:p>
            <a:pPr indent="0" marL="0">
              <a:buNone/>
            </a:pPr>
            <a:r>
              <a:rPr lang="en-US" sz="1500" b="1" dirty="0">
                <a:solidFill>
                  <a:srgbClr val="0F172A"/>
                </a:solidFill>
              </a:rPr>
              <a:t>Extra</a:t>
            </a:r>
            <a:endParaRPr lang="en-US" sz="1500" dirty="0"/>
          </a:p>
        </p:txBody>
      </p:sp>
      <p:sp>
        <p:nvSpPr>
          <p:cNvPr id="14" name="Text 11"/>
          <p:cNvSpPr txBox="1"/>
          <p:nvPr/>
        </p:nvSpPr>
        <p:spPr>
          <a:xfrm>
            <a:off x="8275320" y="5349240"/>
            <a:ext cx="3108960" cy="32004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Re-plan each month as demand moves</a:t>
            </a:r>
            <a:endParaRPr lang="en-US" sz="14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Objectives</a:t>
            </a:r>
            <a:endParaRPr lang="en-US" sz="3200" dirty="0"/>
          </a:p>
        </p:txBody>
      </p:sp>
      <p:sp>
        <p:nvSpPr>
          <p:cNvPr id="4" name="Text 1"/>
          <p:cNvSpPr txBox="1"/>
          <p:nvPr/>
        </p:nvSpPr>
        <p:spPr>
          <a:xfrm>
            <a:off x="548640" y="1325880"/>
            <a:ext cx="11094415" cy="4754880"/>
          </a:xfrm>
          <a:prstGeom prst="rect">
            <a:avLst/>
          </a:prstGeom>
          <a:noFill/>
          <a:ln/>
        </p:spPr>
        <p:txBody>
          <a:bodyPr wrap="square" lIns="0" tIns="0" rIns="0" bIns="0" rtlCol="0" anchor="t"/>
          <a:lstStyle/>
          <a:p>
            <a:pPr marL="228600" indent="-228600">
              <a:spcAft>
                <a:spcPts val="1000"/>
              </a:spcAft>
              <a:buSzPct val="100000"/>
              <a:buChar char="•"/>
            </a:pPr>
            <a:r>
              <a:rPr lang="en-US" sz="2000" dirty="0">
                <a:solidFill>
                  <a:srgbClr val="0F172A"/>
                </a:solidFill>
              </a:rPr>
              <a:t>Collect and preprocess historical e-commerce logistics data.</a:t>
            </a:r>
            <a:pPr indent="0" marL="0">
              <a:spcAft>
                <a:spcPts val="1000"/>
              </a:spcAft>
              <a:buNone/>
            </a:pPr>
            <a:pPr indent="0" marL="0">
              <a:spcAft>
                <a:spcPts val="1000"/>
              </a:spcAft>
              <a:buNone/>
            </a:pPr>
            <a:endParaRPr lang="en-US" sz="2000" dirty="0"/>
          </a:p>
          <a:p>
            <a:pPr marL="228600" indent="-228600">
              <a:spcAft>
                <a:spcPts val="1000"/>
              </a:spcAft>
              <a:buSzPct val="100000"/>
              <a:buChar char="•"/>
            </a:pPr>
            <a:r>
              <a:rPr lang="en-US" sz="2000" dirty="0">
                <a:solidFill>
                  <a:srgbClr val="0F172A"/>
                </a:solidFill>
              </a:rPr>
              <a:t>Predict regional demand using a Random Forest model.</a:t>
            </a:r>
            <a:pPr indent="0" marL="0">
              <a:spcAft>
                <a:spcPts val="1000"/>
              </a:spcAft>
              <a:buNone/>
            </a:pPr>
            <a:pPr indent="0" marL="0">
              <a:spcAft>
                <a:spcPts val="1000"/>
              </a:spcAft>
              <a:buNone/>
            </a:pPr>
            <a:endParaRPr lang="en-US" sz="2000" dirty="0"/>
          </a:p>
          <a:p>
            <a:pPr marL="228600" indent="-228600">
              <a:spcAft>
                <a:spcPts val="1000"/>
              </a:spcAft>
              <a:buSzPct val="100000"/>
              <a:buChar char="•"/>
            </a:pPr>
            <a:r>
              <a:rPr lang="en-US" sz="2000" dirty="0">
                <a:solidFill>
                  <a:srgbClr val="0F172A"/>
                </a:solidFill>
              </a:rPr>
              <a:t>Formulate hub location as an optimisation problem with cost, time and capacity constraints.</a:t>
            </a:r>
            <a:pPr indent="0" marL="0">
              <a:spcAft>
                <a:spcPts val="1000"/>
              </a:spcAft>
              <a:buNone/>
            </a:pPr>
            <a:pPr indent="0" marL="0">
              <a:spcAft>
                <a:spcPts val="1000"/>
              </a:spcAft>
              <a:buNone/>
            </a:pPr>
            <a:endParaRPr lang="en-US" sz="2000" dirty="0"/>
          </a:p>
          <a:p>
            <a:pPr marL="228600" indent="-228600">
              <a:spcAft>
                <a:spcPts val="1000"/>
              </a:spcAft>
              <a:buSzPct val="100000"/>
              <a:buChar char="•"/>
            </a:pPr>
            <a:r>
              <a:rPr lang="en-US" sz="2000" dirty="0">
                <a:solidFill>
                  <a:srgbClr val="0F172A"/>
                </a:solidFill>
              </a:rPr>
              <a:t>Solve the problem efficiently with a matheuristic approach.</a:t>
            </a:r>
            <a:pPr indent="0" marL="0">
              <a:spcAft>
                <a:spcPts val="1000"/>
              </a:spcAft>
              <a:buNone/>
            </a:pPr>
            <a:pPr indent="0" marL="0">
              <a:spcAft>
                <a:spcPts val="1000"/>
              </a:spcAft>
              <a:buNone/>
            </a:pPr>
            <a:endParaRPr lang="en-US" sz="2000" dirty="0"/>
          </a:p>
          <a:p>
            <a:pPr marL="228600" indent="-228600">
              <a:spcAft>
                <a:spcPts val="1000"/>
              </a:spcAft>
              <a:buSzPct val="100000"/>
              <a:buChar char="•"/>
            </a:pPr>
            <a:r>
              <a:rPr lang="en-US" sz="2000" dirty="0">
                <a:solidFill>
                  <a:srgbClr val="0F172A"/>
                </a:solidFill>
              </a:rPr>
              <a:t>Re-optimise hub configurations as demand changes.</a:t>
            </a:r>
            <a:pPr indent="0" marL="0">
              <a:spcAft>
                <a:spcPts val="1000"/>
              </a:spcAft>
              <a:buNone/>
            </a:pPr>
            <a:pPr indent="0" marL="0">
              <a:spcAft>
                <a:spcPts val="1000"/>
              </a:spcAft>
              <a:buNone/>
            </a:pPr>
            <a:endParaRPr lang="en-US" sz="2000" dirty="0"/>
          </a:p>
          <a:p>
            <a:pPr marL="228600" indent="-228600">
              <a:spcAft>
                <a:spcPts val="1000"/>
              </a:spcAft>
              <a:buSzPct val="100000"/>
              <a:buChar char="•"/>
            </a:pPr>
            <a:r>
              <a:rPr lang="en-US" sz="2000" dirty="0">
                <a:solidFill>
                  <a:srgbClr val="0F172A"/>
                </a:solidFill>
              </a:rPr>
              <a:t>Compare performance with traditional hub location methods.</a:t>
            </a:r>
            <a:pPr indent="0" marL="0">
              <a:spcAft>
                <a:spcPts val="1000"/>
              </a:spcAft>
              <a:buNone/>
            </a:pPr>
            <a:pPr indent="0" marL="0">
              <a:spcAft>
                <a:spcPts val="1000"/>
              </a:spcAft>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Proposed approach</a:t>
            </a:r>
            <a:endParaRPr lang="en-US" sz="3200" dirty="0"/>
          </a:p>
        </p:txBody>
      </p:sp>
      <p:sp>
        <p:nvSpPr>
          <p:cNvPr id="4" name="Text track card"/>
          <p:cNvSpPr/>
          <p:nvPr/>
        </p:nvSpPr>
        <p:spPr>
          <a:xfrm>
            <a:off x="548640" y="1371600"/>
            <a:ext cx="2670048" cy="3017520"/>
          </a:xfrm>
          <a:prstGeom prst="roundRect">
            <a:avLst>
              <a:gd name="adj" fmla="val 2740"/>
            </a:avLst>
          </a:prstGeom>
          <a:solidFill>
            <a:srgbClr val="F6F8FB"/>
          </a:solidFill>
          <a:ln w="9525">
            <a:solidFill>
              <a:srgbClr val="D5DCE6"/>
            </a:solidFill>
            <a:prstDash val="solid"/>
          </a:ln>
        </p:spPr>
      </p:sp>
      <p:sp>
        <p:nvSpPr>
          <p:cNvPr id="5" name="icon circle"/>
          <p:cNvSpPr/>
          <p:nvPr/>
        </p:nvSpPr>
        <p:spPr>
          <a:xfrm>
            <a:off x="777240" y="1600200"/>
            <a:ext cx="548640" cy="548640"/>
          </a:xfrm>
          <a:prstGeom prst="ellipse">
            <a:avLst/>
          </a:prstGeom>
          <a:solidFill>
            <a:srgbClr val="6250D6"/>
          </a:solidFill>
          <a:ln w="12700">
            <a:solidFill>
              <a:srgbClr val="6250D6"/>
            </a:solidFill>
            <a:prstDash val="solid"/>
          </a:ln>
        </p:spPr>
      </p:sp>
      <p:pic>
        <p:nvPicPr>
          <p:cNvPr id="6" name="Image 0" descr="Text track">    </p:cNvPr>
          <p:cNvPicPr>
            <a:picLocks noChangeAspect="1"/>
          </p:cNvPicPr>
          <p:nvPr/>
        </p:nvPicPr>
        <p:blipFill>
          <a:blip r:embed="rId1"/>
          <a:stretch>
            <a:fillRect/>
          </a:stretch>
        </p:blipFill>
        <p:spPr>
          <a:xfrm>
            <a:off x="886968" y="1709928"/>
            <a:ext cx="329184" cy="329184"/>
          </a:xfrm>
          <a:prstGeom prst="rect">
            <a:avLst/>
          </a:prstGeom>
        </p:spPr>
      </p:pic>
      <p:sp>
        <p:nvSpPr>
          <p:cNvPr id="7" name="Text 3"/>
          <p:cNvSpPr txBox="1"/>
          <p:nvPr/>
        </p:nvSpPr>
        <p:spPr>
          <a:xfrm>
            <a:off x="1463040" y="1554480"/>
            <a:ext cx="1572768"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Data and forecast</a:t>
            </a:r>
            <a:endParaRPr lang="en-US" sz="1600" dirty="0"/>
          </a:p>
        </p:txBody>
      </p:sp>
      <p:sp>
        <p:nvSpPr>
          <p:cNvPr id="8" name="Text 4"/>
          <p:cNvSpPr txBox="1"/>
          <p:nvPr/>
        </p:nvSpPr>
        <p:spPr>
          <a:xfrm>
            <a:off x="777240" y="2240280"/>
            <a:ext cx="2212848" cy="201168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Clean 36 months of orders for 90 regions; Random Forest with 19 lag, rolling, calendar and region features.</a:t>
            </a:r>
            <a:endParaRPr lang="en-US" sz="1400" dirty="0"/>
          </a:p>
        </p:txBody>
      </p:sp>
      <p:sp>
        <p:nvSpPr>
          <p:cNvPr id="9" name="Visual track card"/>
          <p:cNvSpPr/>
          <p:nvPr/>
        </p:nvSpPr>
        <p:spPr>
          <a:xfrm>
            <a:off x="3364992" y="1371600"/>
            <a:ext cx="2670048" cy="3017520"/>
          </a:xfrm>
          <a:prstGeom prst="roundRect">
            <a:avLst>
              <a:gd name="adj" fmla="val 2740"/>
            </a:avLst>
          </a:prstGeom>
          <a:solidFill>
            <a:srgbClr val="F6F8FB"/>
          </a:solidFill>
          <a:ln w="9525">
            <a:solidFill>
              <a:srgbClr val="D5DCE6"/>
            </a:solidFill>
            <a:prstDash val="solid"/>
          </a:ln>
        </p:spPr>
      </p:sp>
      <p:sp>
        <p:nvSpPr>
          <p:cNvPr id="10" name="icon circle"/>
          <p:cNvSpPr/>
          <p:nvPr/>
        </p:nvSpPr>
        <p:spPr>
          <a:xfrm>
            <a:off x="3593592" y="1600200"/>
            <a:ext cx="548640" cy="548640"/>
          </a:xfrm>
          <a:prstGeom prst="ellipse">
            <a:avLst/>
          </a:prstGeom>
          <a:solidFill>
            <a:srgbClr val="1BAF7A"/>
          </a:solidFill>
          <a:ln w="12700">
            <a:solidFill>
              <a:srgbClr val="1BAF7A"/>
            </a:solidFill>
            <a:prstDash val="solid"/>
          </a:ln>
        </p:spPr>
      </p:sp>
      <p:pic>
        <p:nvPicPr>
          <p:cNvPr id="11" name="Image 1" descr="Visual track">    </p:cNvPr>
          <p:cNvPicPr>
            <a:picLocks noChangeAspect="1"/>
          </p:cNvPicPr>
          <p:nvPr/>
        </p:nvPicPr>
        <p:blipFill>
          <a:blip r:embed="rId2"/>
          <a:stretch>
            <a:fillRect/>
          </a:stretch>
        </p:blipFill>
        <p:spPr>
          <a:xfrm>
            <a:off x="3703320" y="1709928"/>
            <a:ext cx="329184" cy="329184"/>
          </a:xfrm>
          <a:prstGeom prst="rect">
            <a:avLst/>
          </a:prstGeom>
        </p:spPr>
      </p:pic>
      <p:sp>
        <p:nvSpPr>
          <p:cNvPr id="12" name="Text 7"/>
          <p:cNvSpPr txBox="1"/>
          <p:nvPr/>
        </p:nvSpPr>
        <p:spPr>
          <a:xfrm>
            <a:off x="4279392" y="1554480"/>
            <a:ext cx="1572768"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Hub model</a:t>
            </a:r>
            <a:endParaRPr lang="en-US" sz="1600" dirty="0"/>
          </a:p>
        </p:txBody>
      </p:sp>
      <p:sp>
        <p:nvSpPr>
          <p:cNvPr id="13" name="Text 8"/>
          <p:cNvSpPr txBox="1"/>
          <p:nvPr/>
        </p:nvSpPr>
        <p:spPr>
          <a:xfrm>
            <a:off x="3593592" y="2240280"/>
            <a:ext cx="2212848" cy="201168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Capacitated single-allocation MIP: fixed hub cost, transport cost, delivery-time penalty, capacity, p hubs.</a:t>
            </a:r>
            <a:endParaRPr lang="en-US" sz="1400" dirty="0"/>
          </a:p>
        </p:txBody>
      </p:sp>
      <p:sp>
        <p:nvSpPr>
          <p:cNvPr id="14" name="Fusion card"/>
          <p:cNvSpPr/>
          <p:nvPr/>
        </p:nvSpPr>
        <p:spPr>
          <a:xfrm>
            <a:off x="6181344" y="1371600"/>
            <a:ext cx="2670048" cy="3017520"/>
          </a:xfrm>
          <a:prstGeom prst="roundRect">
            <a:avLst>
              <a:gd name="adj" fmla="val 2740"/>
            </a:avLst>
          </a:prstGeom>
          <a:solidFill>
            <a:srgbClr val="F6F8FB"/>
          </a:solidFill>
          <a:ln w="9525">
            <a:solidFill>
              <a:srgbClr val="D5DCE6"/>
            </a:solidFill>
            <a:prstDash val="solid"/>
          </a:ln>
        </p:spPr>
      </p:sp>
      <p:sp>
        <p:nvSpPr>
          <p:cNvPr id="15" name="icon circle"/>
          <p:cNvSpPr/>
          <p:nvPr/>
        </p:nvSpPr>
        <p:spPr>
          <a:xfrm>
            <a:off x="6409944" y="1600200"/>
            <a:ext cx="548640" cy="548640"/>
          </a:xfrm>
          <a:prstGeom prst="ellipse">
            <a:avLst/>
          </a:prstGeom>
          <a:solidFill>
            <a:srgbClr val="EB6834"/>
          </a:solidFill>
          <a:ln w="12700">
            <a:solidFill>
              <a:srgbClr val="EB6834"/>
            </a:solidFill>
            <a:prstDash val="solid"/>
          </a:ln>
        </p:spPr>
      </p:sp>
      <p:pic>
        <p:nvPicPr>
          <p:cNvPr id="16" name="Image 2" descr="Fusion">    </p:cNvPr>
          <p:cNvPicPr>
            <a:picLocks noChangeAspect="1"/>
          </p:cNvPicPr>
          <p:nvPr/>
        </p:nvPicPr>
        <p:blipFill>
          <a:blip r:embed="rId3"/>
          <a:stretch>
            <a:fillRect/>
          </a:stretch>
        </p:blipFill>
        <p:spPr>
          <a:xfrm>
            <a:off x="6519672" y="1709928"/>
            <a:ext cx="329184" cy="329184"/>
          </a:xfrm>
          <a:prstGeom prst="rect">
            <a:avLst/>
          </a:prstGeom>
        </p:spPr>
      </p:pic>
      <p:sp>
        <p:nvSpPr>
          <p:cNvPr id="17" name="Text 11"/>
          <p:cNvSpPr txBox="1"/>
          <p:nvPr/>
        </p:nvSpPr>
        <p:spPr>
          <a:xfrm>
            <a:off x="7095744" y="1554480"/>
            <a:ext cx="1572768"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Matheuristic</a:t>
            </a:r>
            <a:endParaRPr lang="en-US" sz="1600" dirty="0"/>
          </a:p>
        </p:txBody>
      </p:sp>
      <p:sp>
        <p:nvSpPr>
          <p:cNvPr id="18" name="Text 12"/>
          <p:cNvSpPr txBox="1"/>
          <p:nvPr/>
        </p:nvSpPr>
        <p:spPr>
          <a:xfrm>
            <a:off x="6409944" y="2240280"/>
            <a:ext cx="2212848" cy="201168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Greedy construction, swap/drop/add local search priced by exact assignment MIPs, kernel search.</a:t>
            </a:r>
            <a:endParaRPr lang="en-US" sz="1400" dirty="0"/>
          </a:p>
        </p:txBody>
      </p:sp>
      <p:sp>
        <p:nvSpPr>
          <p:cNvPr id="19" name="AI-media check card"/>
          <p:cNvSpPr/>
          <p:nvPr/>
        </p:nvSpPr>
        <p:spPr>
          <a:xfrm>
            <a:off x="8997696" y="1371600"/>
            <a:ext cx="2670048" cy="3017520"/>
          </a:xfrm>
          <a:prstGeom prst="roundRect">
            <a:avLst>
              <a:gd name="adj" fmla="val 2740"/>
            </a:avLst>
          </a:prstGeom>
          <a:solidFill>
            <a:srgbClr val="F6F8FB"/>
          </a:solidFill>
          <a:ln w="9525">
            <a:solidFill>
              <a:srgbClr val="D5DCE6"/>
            </a:solidFill>
            <a:prstDash val="solid"/>
          </a:ln>
        </p:spPr>
      </p:sp>
      <p:sp>
        <p:nvSpPr>
          <p:cNvPr id="20" name="icon circle"/>
          <p:cNvSpPr/>
          <p:nvPr/>
        </p:nvSpPr>
        <p:spPr>
          <a:xfrm>
            <a:off x="9226296" y="1600200"/>
            <a:ext cx="548640" cy="548640"/>
          </a:xfrm>
          <a:prstGeom prst="ellipse">
            <a:avLst/>
          </a:prstGeom>
          <a:solidFill>
            <a:srgbClr val="EDA100"/>
          </a:solidFill>
          <a:ln w="12700">
            <a:solidFill>
              <a:srgbClr val="EDA100"/>
            </a:solidFill>
            <a:prstDash val="solid"/>
          </a:ln>
        </p:spPr>
      </p:sp>
      <p:pic>
        <p:nvPicPr>
          <p:cNvPr id="21" name="Image 3" descr="AI-media check">    </p:cNvPr>
          <p:cNvPicPr>
            <a:picLocks noChangeAspect="1"/>
          </p:cNvPicPr>
          <p:nvPr/>
        </p:nvPicPr>
        <p:blipFill>
          <a:blip r:embed="rId4"/>
          <a:stretch>
            <a:fillRect/>
          </a:stretch>
        </p:blipFill>
        <p:spPr>
          <a:xfrm>
            <a:off x="9336024" y="1709928"/>
            <a:ext cx="329184" cy="329184"/>
          </a:xfrm>
          <a:prstGeom prst="rect">
            <a:avLst/>
          </a:prstGeom>
        </p:spPr>
      </p:pic>
      <p:sp>
        <p:nvSpPr>
          <p:cNvPr id="22" name="Text 15"/>
          <p:cNvSpPr txBox="1"/>
          <p:nvPr/>
        </p:nvSpPr>
        <p:spPr>
          <a:xfrm>
            <a:off x="9912096" y="1554480"/>
            <a:ext cx="1572768"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Evaluate and adapt</a:t>
            </a:r>
            <a:endParaRPr lang="en-US" sz="1600" dirty="0"/>
          </a:p>
        </p:txBody>
      </p:sp>
      <p:sp>
        <p:nvSpPr>
          <p:cNvPr id="23" name="Text 16"/>
          <p:cNvSpPr txBox="1"/>
          <p:nvPr/>
        </p:nvSpPr>
        <p:spPr>
          <a:xfrm>
            <a:off x="9226296" y="2240280"/>
            <a:ext cx="2212848" cy="2011680"/>
          </a:xfrm>
          <a:prstGeom prst="rect">
            <a:avLst/>
          </a:prstGeom>
          <a:noFill/>
          <a:ln/>
        </p:spPr>
        <p:txBody>
          <a:bodyPr wrap="square" lIns="0" tIns="0" rIns="0" bIns="0" rtlCol="0" anchor="t"/>
          <a:lstStyle/>
          <a:p>
            <a:pPr indent="0" marL="0">
              <a:spcAft>
                <a:spcPts val="400"/>
              </a:spcAft>
              <a:buNone/>
            </a:pPr>
            <a:r>
              <a:rPr lang="en-US" sz="1400" dirty="0">
                <a:solidFill>
                  <a:srgbClr val="475569"/>
                </a:solidFill>
              </a:rPr>
              <a:t>Score plans on realised demand; compare five baselines; re-plan monthly.</a:t>
            </a:r>
            <a:endParaRPr lang="en-US" sz="1400" dirty="0"/>
          </a:p>
        </p:txBody>
      </p:sp>
      <p:sp>
        <p:nvSpPr>
          <p:cNvPr id="24" name="Web application card"/>
          <p:cNvSpPr/>
          <p:nvPr/>
        </p:nvSpPr>
        <p:spPr>
          <a:xfrm>
            <a:off x="548640" y="4572000"/>
            <a:ext cx="11094415" cy="1234440"/>
          </a:xfrm>
          <a:prstGeom prst="roundRect">
            <a:avLst>
              <a:gd name="adj" fmla="val 5926"/>
            </a:avLst>
          </a:prstGeom>
          <a:solidFill>
            <a:srgbClr val="F6F8FB"/>
          </a:solidFill>
          <a:ln w="9525">
            <a:solidFill>
              <a:srgbClr val="D5DCE6"/>
            </a:solidFill>
            <a:prstDash val="solid"/>
          </a:ln>
        </p:spPr>
      </p:sp>
      <p:sp>
        <p:nvSpPr>
          <p:cNvPr id="25" name="icon circle"/>
          <p:cNvSpPr/>
          <p:nvPr/>
        </p:nvSpPr>
        <p:spPr>
          <a:xfrm>
            <a:off x="777240" y="4800600"/>
            <a:ext cx="548640" cy="548640"/>
          </a:xfrm>
          <a:prstGeom prst="ellipse">
            <a:avLst/>
          </a:prstGeom>
          <a:solidFill>
            <a:srgbClr val="1B2A41"/>
          </a:solidFill>
          <a:ln w="12700">
            <a:solidFill>
              <a:srgbClr val="1B2A41"/>
            </a:solidFill>
            <a:prstDash val="solid"/>
          </a:ln>
        </p:spPr>
      </p:sp>
      <p:pic>
        <p:nvPicPr>
          <p:cNvPr id="26" name="Image 4" descr="Web application">    </p:cNvPr>
          <p:cNvPicPr>
            <a:picLocks noChangeAspect="1"/>
          </p:cNvPicPr>
          <p:nvPr/>
        </p:nvPicPr>
        <p:blipFill>
          <a:blip r:embed="rId5"/>
          <a:stretch>
            <a:fillRect/>
          </a:stretch>
        </p:blipFill>
        <p:spPr>
          <a:xfrm>
            <a:off x="886968" y="4910328"/>
            <a:ext cx="329184" cy="329184"/>
          </a:xfrm>
          <a:prstGeom prst="rect">
            <a:avLst/>
          </a:prstGeom>
        </p:spPr>
      </p:pic>
      <p:sp>
        <p:nvSpPr>
          <p:cNvPr id="27" name="Text 19"/>
          <p:cNvSpPr txBox="1"/>
          <p:nvPr/>
        </p:nvSpPr>
        <p:spPr>
          <a:xfrm>
            <a:off x="1463040" y="4754880"/>
            <a:ext cx="9997135"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Web application</a:t>
            </a:r>
            <a:endParaRPr lang="en-US" sz="1600" dirty="0"/>
          </a:p>
        </p:txBody>
      </p:sp>
      <p:sp>
        <p:nvSpPr>
          <p:cNvPr id="28" name="Text 20"/>
          <p:cNvSpPr txBox="1"/>
          <p:nvPr/>
        </p:nvSpPr>
        <p:spPr>
          <a:xfrm>
            <a:off x="777240" y="5440680"/>
            <a:ext cx="10637215" cy="228600"/>
          </a:xfrm>
          <a:prstGeom prst="rect">
            <a:avLst/>
          </a:prstGeom>
          <a:noFill/>
          <a:ln/>
        </p:spPr>
        <p:txBody>
          <a:bodyPr wrap="square" lIns="0" tIns="0" rIns="0" bIns="0" rtlCol="0" anchor="t"/>
          <a:lstStyle/>
          <a:p>
            <a:pPr indent="0" marL="0">
              <a:spcAft>
                <a:spcPts val="400"/>
              </a:spcAft>
              <a:buNone/>
            </a:pPr>
            <a:r>
              <a:rPr lang="en-US" sz="1150" dirty="0">
                <a:solidFill>
                  <a:srgbClr val="475569"/>
                </a:solidFill>
              </a:rPr>
              <a:t>FastAPI (14 endpoints) + React: forecast, plan with a network map, compare methods, scalability benchmark and rolling re-optimisation.</a:t>
            </a:r>
            <a:endParaRPr lang="en-US" sz="11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High-level proposed architecture</a:t>
            </a:r>
            <a:endParaRPr lang="en-US" sz="3200" dirty="0"/>
          </a:p>
        </p:txBody>
      </p:sp>
      <p:sp>
        <p:nvSpPr>
          <p:cNvPr id="5" name="Text 1"/>
          <p:cNvSpPr txBox="1"/>
          <p:nvPr/>
        </p:nvSpPr>
        <p:spPr>
          <a:xfrm>
            <a:off x="548640" y="5760720"/>
            <a:ext cx="11094415" cy="274320"/>
          </a:xfrm>
          <a:prstGeom prst="rect">
            <a:avLst/>
          </a:prstGeom>
          <a:noFill/>
          <a:ln/>
        </p:spPr>
        <p:txBody>
          <a:bodyPr wrap="square" lIns="0" tIns="0" rIns="0" bIns="0" rtlCol="0" anchor="ctr"/>
          <a:lstStyle/>
          <a:p>
            <a:pPr algn="ctr" indent="0" marL="0">
              <a:buNone/>
            </a:pPr>
            <a:r>
              <a:rPr lang="en-US" sz="1100" i="1" dirty="0">
                <a:solidFill>
                  <a:srgbClr val="64748B"/>
                </a:solidFill>
              </a:rPr>
              <a:t>Proposed architecture: React frontend, FastAPI layer, hublocator core (forecast, MIP, matheuristic), files</a:t>
            </a:r>
            <a:endParaRPr lang="en-US" sz="11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pic>
        <p:nvPicPr>
          <p:cNvPr id="26" name="System architecture diagram" descr="System architecture diagram"/>
          <p:cNvPicPr>
            <a:picLocks noChangeAspect="1"/>
          </p:cNvPicPr>
          <p:nvPr/>
        </p:nvPicPr>
        <p:blipFill>
          <a:blip r:embed="rId4"/>
          <a:stretch>
            <a:fillRect/>
          </a:stretch>
        </p:blipFill>
        <p:spPr>
          <a:xfrm>
            <a:off x="3034266" y="1123950"/>
            <a:ext cx="5551967" cy="45910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Expected outcomes and contributions</a:t>
            </a:r>
            <a:endParaRPr lang="en-US" sz="3200" dirty="0"/>
          </a:p>
        </p:txBody>
      </p:sp>
      <p:sp>
        <p:nvSpPr>
          <p:cNvPr id="4" name="Multimodal model card"/>
          <p:cNvSpPr/>
          <p:nvPr/>
        </p:nvSpPr>
        <p:spPr>
          <a:xfrm>
            <a:off x="548640" y="1371600"/>
            <a:ext cx="3566160" cy="2057400"/>
          </a:xfrm>
          <a:prstGeom prst="roundRect">
            <a:avLst>
              <a:gd name="adj" fmla="val 3556"/>
            </a:avLst>
          </a:prstGeom>
          <a:solidFill>
            <a:srgbClr val="F6F8FB"/>
          </a:solidFill>
          <a:ln w="9525">
            <a:solidFill>
              <a:srgbClr val="D5DCE6"/>
            </a:solidFill>
            <a:prstDash val="solid"/>
          </a:ln>
        </p:spPr>
      </p:sp>
      <p:sp>
        <p:nvSpPr>
          <p:cNvPr id="5" name="icon circle"/>
          <p:cNvSpPr/>
          <p:nvPr/>
        </p:nvSpPr>
        <p:spPr>
          <a:xfrm>
            <a:off x="777240" y="1600200"/>
            <a:ext cx="548640" cy="548640"/>
          </a:xfrm>
          <a:prstGeom prst="ellipse">
            <a:avLst/>
          </a:prstGeom>
          <a:solidFill>
            <a:srgbClr val="EB6834"/>
          </a:solidFill>
          <a:ln w="12700">
            <a:solidFill>
              <a:srgbClr val="EB6834"/>
            </a:solidFill>
            <a:prstDash val="solid"/>
          </a:ln>
        </p:spPr>
      </p:sp>
      <p:pic>
        <p:nvPicPr>
          <p:cNvPr id="6" name="Image 0" descr="Multimodal model">    </p:cNvPr>
          <p:cNvPicPr>
            <a:picLocks noChangeAspect="1"/>
          </p:cNvPicPr>
          <p:nvPr/>
        </p:nvPicPr>
        <p:blipFill>
          <a:blip r:embed="rId1"/>
          <a:stretch>
            <a:fillRect/>
          </a:stretch>
        </p:blipFill>
        <p:spPr>
          <a:xfrm>
            <a:off x="886968" y="1709928"/>
            <a:ext cx="329184" cy="329184"/>
          </a:xfrm>
          <a:prstGeom prst="rect">
            <a:avLst/>
          </a:prstGeom>
        </p:spPr>
      </p:pic>
      <p:sp>
        <p:nvSpPr>
          <p:cNvPr id="7" name="Text 3"/>
          <p:cNvSpPr txBox="1"/>
          <p:nvPr/>
        </p:nvSpPr>
        <p:spPr>
          <a:xfrm>
            <a:off x="146304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Accurate forecast</a:t>
            </a:r>
            <a:endParaRPr lang="en-US" sz="1600" dirty="0"/>
          </a:p>
        </p:txBody>
      </p:sp>
      <p:sp>
        <p:nvSpPr>
          <p:cNvPr id="8" name="Text 4"/>
          <p:cNvSpPr txBox="1"/>
          <p:nvPr/>
        </p:nvSpPr>
        <p:spPr>
          <a:xfrm>
            <a:off x="777240" y="2240280"/>
            <a:ext cx="310896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A Random Forest clearly better than naive forecasters on held-out months.</a:t>
            </a:r>
            <a:endParaRPr lang="en-US" sz="1600" dirty="0"/>
          </a:p>
        </p:txBody>
      </p:sp>
      <p:sp>
        <p:nvSpPr>
          <p:cNvPr id="9" name="Transparent output card"/>
          <p:cNvSpPr/>
          <p:nvPr/>
        </p:nvSpPr>
        <p:spPr>
          <a:xfrm>
            <a:off x="4297680" y="1371600"/>
            <a:ext cx="3566160" cy="2057400"/>
          </a:xfrm>
          <a:prstGeom prst="roundRect">
            <a:avLst>
              <a:gd name="adj" fmla="val 3556"/>
            </a:avLst>
          </a:prstGeom>
          <a:solidFill>
            <a:srgbClr val="F6F8FB"/>
          </a:solidFill>
          <a:ln w="9525">
            <a:solidFill>
              <a:srgbClr val="D5DCE6"/>
            </a:solidFill>
            <a:prstDash val="solid"/>
          </a:ln>
        </p:spPr>
      </p:sp>
      <p:sp>
        <p:nvSpPr>
          <p:cNvPr id="10" name="icon circle"/>
          <p:cNvSpPr/>
          <p:nvPr/>
        </p:nvSpPr>
        <p:spPr>
          <a:xfrm>
            <a:off x="4526280" y="1600200"/>
            <a:ext cx="548640" cy="548640"/>
          </a:xfrm>
          <a:prstGeom prst="ellipse">
            <a:avLst/>
          </a:prstGeom>
          <a:solidFill>
            <a:srgbClr val="2A78D6"/>
          </a:solidFill>
          <a:ln w="12700">
            <a:solidFill>
              <a:srgbClr val="2A78D6"/>
            </a:solidFill>
            <a:prstDash val="solid"/>
          </a:ln>
        </p:spPr>
      </p:sp>
      <p:pic>
        <p:nvPicPr>
          <p:cNvPr id="11" name="Image 1" descr="Transparent output">    </p:cNvPr>
          <p:cNvPicPr>
            <a:picLocks noChangeAspect="1"/>
          </p:cNvPicPr>
          <p:nvPr/>
        </p:nvPicPr>
        <p:blipFill>
          <a:blip r:embed="rId2"/>
          <a:stretch>
            <a:fillRect/>
          </a:stretch>
        </p:blipFill>
        <p:spPr>
          <a:xfrm>
            <a:off x="4636008" y="1709928"/>
            <a:ext cx="329184" cy="329184"/>
          </a:xfrm>
          <a:prstGeom prst="rect">
            <a:avLst/>
          </a:prstGeom>
        </p:spPr>
      </p:pic>
      <p:sp>
        <p:nvSpPr>
          <p:cNvPr id="12" name="Text 7"/>
          <p:cNvSpPr txBox="1"/>
          <p:nvPr/>
        </p:nvSpPr>
        <p:spPr>
          <a:xfrm>
            <a:off x="521208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Good plans fast</a:t>
            </a:r>
            <a:endParaRPr lang="en-US" sz="1600" dirty="0"/>
          </a:p>
        </p:txBody>
      </p:sp>
      <p:sp>
        <p:nvSpPr>
          <p:cNvPr id="13" name="Text 8"/>
          <p:cNvSpPr txBox="1"/>
          <p:nvPr/>
        </p:nvSpPr>
        <p:spPr>
          <a:xfrm>
            <a:off x="4526280" y="2240280"/>
            <a:ext cx="310896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Plans within seconds that match or approach the exact optimum.</a:t>
            </a:r>
            <a:endParaRPr lang="en-US" sz="1600" dirty="0"/>
          </a:p>
        </p:txBody>
      </p:sp>
      <p:sp>
        <p:nvSpPr>
          <p:cNvPr id="14" name="Honest evaluation card"/>
          <p:cNvSpPr/>
          <p:nvPr/>
        </p:nvSpPr>
        <p:spPr>
          <a:xfrm>
            <a:off x="8046720" y="1371600"/>
            <a:ext cx="3566160" cy="2057400"/>
          </a:xfrm>
          <a:prstGeom prst="roundRect">
            <a:avLst>
              <a:gd name="adj" fmla="val 3556"/>
            </a:avLst>
          </a:prstGeom>
          <a:solidFill>
            <a:srgbClr val="F6F8FB"/>
          </a:solidFill>
          <a:ln w="9525">
            <a:solidFill>
              <a:srgbClr val="D5DCE6"/>
            </a:solidFill>
            <a:prstDash val="solid"/>
          </a:ln>
        </p:spPr>
      </p:sp>
      <p:sp>
        <p:nvSpPr>
          <p:cNvPr id="15" name="icon circle"/>
          <p:cNvSpPr/>
          <p:nvPr/>
        </p:nvSpPr>
        <p:spPr>
          <a:xfrm>
            <a:off x="8275320" y="1600200"/>
            <a:ext cx="548640" cy="548640"/>
          </a:xfrm>
          <a:prstGeom prst="ellipse">
            <a:avLst/>
          </a:prstGeom>
          <a:solidFill>
            <a:srgbClr val="6250D6"/>
          </a:solidFill>
          <a:ln w="12700">
            <a:solidFill>
              <a:srgbClr val="6250D6"/>
            </a:solidFill>
            <a:prstDash val="solid"/>
          </a:ln>
        </p:spPr>
      </p:sp>
      <p:pic>
        <p:nvPicPr>
          <p:cNvPr id="16" name="Image 2" descr="Honest evaluation">    </p:cNvPr>
          <p:cNvPicPr>
            <a:picLocks noChangeAspect="1"/>
          </p:cNvPicPr>
          <p:nvPr/>
        </p:nvPicPr>
        <p:blipFill>
          <a:blip r:embed="rId3"/>
          <a:stretch>
            <a:fillRect/>
          </a:stretch>
        </p:blipFill>
        <p:spPr>
          <a:xfrm>
            <a:off x="8385048" y="1709928"/>
            <a:ext cx="329184" cy="329184"/>
          </a:xfrm>
          <a:prstGeom prst="rect">
            <a:avLst/>
          </a:prstGeom>
        </p:spPr>
      </p:pic>
      <p:sp>
        <p:nvSpPr>
          <p:cNvPr id="17" name="Text 11"/>
          <p:cNvSpPr txBox="1"/>
          <p:nvPr/>
        </p:nvSpPr>
        <p:spPr>
          <a:xfrm>
            <a:off x="8961120" y="155448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Lower cost</a:t>
            </a:r>
            <a:endParaRPr lang="en-US" sz="1600" dirty="0"/>
          </a:p>
        </p:txBody>
      </p:sp>
      <p:sp>
        <p:nvSpPr>
          <p:cNvPr id="18" name="Text 12"/>
          <p:cNvSpPr txBox="1"/>
          <p:nvPr/>
        </p:nvSpPr>
        <p:spPr>
          <a:xfrm>
            <a:off x="8275320" y="2240280"/>
            <a:ext cx="310896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Cost below greedy, clustering and managerial rules on the same instance.</a:t>
            </a:r>
            <a:endParaRPr lang="en-US" sz="1600" dirty="0"/>
          </a:p>
        </p:txBody>
      </p:sp>
      <p:sp>
        <p:nvSpPr>
          <p:cNvPr id="19" name="Generated-media signal card"/>
          <p:cNvSpPr/>
          <p:nvPr/>
        </p:nvSpPr>
        <p:spPr>
          <a:xfrm>
            <a:off x="548640" y="3611880"/>
            <a:ext cx="3566160" cy="2057400"/>
          </a:xfrm>
          <a:prstGeom prst="roundRect">
            <a:avLst>
              <a:gd name="adj" fmla="val 3556"/>
            </a:avLst>
          </a:prstGeom>
          <a:solidFill>
            <a:srgbClr val="F6F8FB"/>
          </a:solidFill>
          <a:ln w="9525">
            <a:solidFill>
              <a:srgbClr val="D5DCE6"/>
            </a:solidFill>
            <a:prstDash val="solid"/>
          </a:ln>
        </p:spPr>
      </p:sp>
      <p:sp>
        <p:nvSpPr>
          <p:cNvPr id="20" name="icon circle"/>
          <p:cNvSpPr/>
          <p:nvPr/>
        </p:nvSpPr>
        <p:spPr>
          <a:xfrm>
            <a:off x="777240" y="3840480"/>
            <a:ext cx="548640" cy="548640"/>
          </a:xfrm>
          <a:prstGeom prst="ellipse">
            <a:avLst/>
          </a:prstGeom>
          <a:solidFill>
            <a:srgbClr val="EDA100"/>
          </a:solidFill>
          <a:ln w="12700">
            <a:solidFill>
              <a:srgbClr val="EDA100"/>
            </a:solidFill>
            <a:prstDash val="solid"/>
          </a:ln>
        </p:spPr>
      </p:sp>
      <p:pic>
        <p:nvPicPr>
          <p:cNvPr id="21" name="Image 3" descr="Generated-media signal">    </p:cNvPr>
          <p:cNvPicPr>
            <a:picLocks noChangeAspect="1"/>
          </p:cNvPicPr>
          <p:nvPr/>
        </p:nvPicPr>
        <p:blipFill>
          <a:blip r:embed="rId4"/>
          <a:stretch>
            <a:fillRect/>
          </a:stretch>
        </p:blipFill>
        <p:spPr>
          <a:xfrm>
            <a:off x="886968" y="3950208"/>
            <a:ext cx="329184" cy="329184"/>
          </a:xfrm>
          <a:prstGeom prst="rect">
            <a:avLst/>
          </a:prstGeom>
        </p:spPr>
      </p:pic>
      <p:sp>
        <p:nvSpPr>
          <p:cNvPr id="22" name="Text 15"/>
          <p:cNvSpPr txBox="1"/>
          <p:nvPr/>
        </p:nvSpPr>
        <p:spPr>
          <a:xfrm>
            <a:off x="1463040" y="379476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Adaptive network</a:t>
            </a:r>
            <a:endParaRPr lang="en-US" sz="1600" dirty="0"/>
          </a:p>
        </p:txBody>
      </p:sp>
      <p:sp>
        <p:nvSpPr>
          <p:cNvPr id="23" name="Text 16"/>
          <p:cNvSpPr txBox="1"/>
          <p:nvPr/>
        </p:nvSpPr>
        <p:spPr>
          <a:xfrm>
            <a:off x="777240" y="4480560"/>
            <a:ext cx="310896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Higher fulfilment than a static plan as demand changes.</a:t>
            </a:r>
            <a:endParaRPr lang="en-US" sz="1600" dirty="0"/>
          </a:p>
        </p:txBody>
      </p:sp>
      <p:sp>
        <p:nvSpPr>
          <p:cNvPr id="24" name="Usable system card"/>
          <p:cNvSpPr/>
          <p:nvPr/>
        </p:nvSpPr>
        <p:spPr>
          <a:xfrm>
            <a:off x="4297680" y="3611880"/>
            <a:ext cx="3566160" cy="2057400"/>
          </a:xfrm>
          <a:prstGeom prst="roundRect">
            <a:avLst>
              <a:gd name="adj" fmla="val 3556"/>
            </a:avLst>
          </a:prstGeom>
          <a:solidFill>
            <a:srgbClr val="F6F8FB"/>
          </a:solidFill>
          <a:ln w="9525">
            <a:solidFill>
              <a:srgbClr val="D5DCE6"/>
            </a:solidFill>
            <a:prstDash val="solid"/>
          </a:ln>
        </p:spPr>
      </p:sp>
      <p:sp>
        <p:nvSpPr>
          <p:cNvPr id="25" name="icon circle"/>
          <p:cNvSpPr/>
          <p:nvPr/>
        </p:nvSpPr>
        <p:spPr>
          <a:xfrm>
            <a:off x="4526280" y="3840480"/>
            <a:ext cx="548640" cy="548640"/>
          </a:xfrm>
          <a:prstGeom prst="ellipse">
            <a:avLst/>
          </a:prstGeom>
          <a:solidFill>
            <a:srgbClr val="1BAF7A"/>
          </a:solidFill>
          <a:ln w="12700">
            <a:solidFill>
              <a:srgbClr val="1BAF7A"/>
            </a:solidFill>
            <a:prstDash val="solid"/>
          </a:ln>
        </p:spPr>
      </p:sp>
      <p:pic>
        <p:nvPicPr>
          <p:cNvPr id="26" name="Image 4" descr="Usable system">    </p:cNvPr>
          <p:cNvPicPr>
            <a:picLocks noChangeAspect="1"/>
          </p:cNvPicPr>
          <p:nvPr/>
        </p:nvPicPr>
        <p:blipFill>
          <a:blip r:embed="rId5"/>
          <a:stretch>
            <a:fillRect/>
          </a:stretch>
        </p:blipFill>
        <p:spPr>
          <a:xfrm>
            <a:off x="4636008" y="3950208"/>
            <a:ext cx="329184" cy="329184"/>
          </a:xfrm>
          <a:prstGeom prst="rect">
            <a:avLst/>
          </a:prstGeom>
        </p:spPr>
      </p:pic>
      <p:sp>
        <p:nvSpPr>
          <p:cNvPr id="27" name="Text 19"/>
          <p:cNvSpPr txBox="1"/>
          <p:nvPr/>
        </p:nvSpPr>
        <p:spPr>
          <a:xfrm>
            <a:off x="5212080" y="379476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Usable tool</a:t>
            </a:r>
            <a:endParaRPr lang="en-US" sz="1600" dirty="0"/>
          </a:p>
        </p:txBody>
      </p:sp>
      <p:sp>
        <p:nvSpPr>
          <p:cNvPr id="28" name="Text 20"/>
          <p:cNvSpPr txBox="1"/>
          <p:nvPr/>
        </p:nvSpPr>
        <p:spPr>
          <a:xfrm>
            <a:off x="4526280" y="4480560"/>
            <a:ext cx="310896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Maps, tables and comparisons a planner can read without code.</a:t>
            </a:r>
            <a:endParaRPr lang="en-US" sz="1600" dirty="0"/>
          </a:p>
        </p:txBody>
      </p:sp>
      <p:sp>
        <p:nvSpPr>
          <p:cNvPr id="29" name="Quality card"/>
          <p:cNvSpPr/>
          <p:nvPr/>
        </p:nvSpPr>
        <p:spPr>
          <a:xfrm>
            <a:off x="8046720" y="3611880"/>
            <a:ext cx="3566160" cy="2057400"/>
          </a:xfrm>
          <a:prstGeom prst="roundRect">
            <a:avLst>
              <a:gd name="adj" fmla="val 3556"/>
            </a:avLst>
          </a:prstGeom>
          <a:solidFill>
            <a:srgbClr val="F6F8FB"/>
          </a:solidFill>
          <a:ln w="9525">
            <a:solidFill>
              <a:srgbClr val="D5DCE6"/>
            </a:solidFill>
            <a:prstDash val="solid"/>
          </a:ln>
        </p:spPr>
      </p:sp>
      <p:sp>
        <p:nvSpPr>
          <p:cNvPr id="30" name="icon circle"/>
          <p:cNvSpPr/>
          <p:nvPr/>
        </p:nvSpPr>
        <p:spPr>
          <a:xfrm>
            <a:off x="8275320" y="3840480"/>
            <a:ext cx="548640" cy="548640"/>
          </a:xfrm>
          <a:prstGeom prst="ellipse">
            <a:avLst/>
          </a:prstGeom>
          <a:solidFill>
            <a:srgbClr val="1B2A41"/>
          </a:solidFill>
          <a:ln w="12700">
            <a:solidFill>
              <a:srgbClr val="1B2A41"/>
            </a:solidFill>
            <a:prstDash val="solid"/>
          </a:ln>
        </p:spPr>
      </p:sp>
      <p:pic>
        <p:nvPicPr>
          <p:cNvPr id="31" name="Image 5" descr="Quality">    </p:cNvPr>
          <p:cNvPicPr>
            <a:picLocks noChangeAspect="1"/>
          </p:cNvPicPr>
          <p:nvPr/>
        </p:nvPicPr>
        <p:blipFill>
          <a:blip r:embed="rId6"/>
          <a:stretch>
            <a:fillRect/>
          </a:stretch>
        </p:blipFill>
        <p:spPr>
          <a:xfrm>
            <a:off x="8385048" y="3950208"/>
            <a:ext cx="329184" cy="329184"/>
          </a:xfrm>
          <a:prstGeom prst="rect">
            <a:avLst/>
          </a:prstGeom>
        </p:spPr>
      </p:pic>
      <p:sp>
        <p:nvSpPr>
          <p:cNvPr id="32" name="Text 23"/>
          <p:cNvSpPr txBox="1"/>
          <p:nvPr/>
        </p:nvSpPr>
        <p:spPr>
          <a:xfrm>
            <a:off x="8961120" y="3794760"/>
            <a:ext cx="2468880" cy="640080"/>
          </a:xfrm>
          <a:prstGeom prst="rect">
            <a:avLst/>
          </a:prstGeom>
          <a:noFill/>
          <a:ln/>
        </p:spPr>
        <p:txBody>
          <a:bodyPr wrap="square" lIns="0" tIns="0" rIns="0" bIns="0" rtlCol="0" anchor="ctr">
            <a:normAutofit/>
          </a:bodyPr>
          <a:lstStyle/>
          <a:p>
            <a:pPr indent="0" marL="0">
              <a:buNone/>
            </a:pPr>
            <a:r>
              <a:rPr lang="en-US" sz="1600" b="1" dirty="0">
                <a:solidFill>
                  <a:srgbClr val="0F172A"/>
                </a:solidFill>
              </a:rPr>
              <a:t>Honest evaluation</a:t>
            </a:r>
            <a:endParaRPr lang="en-US" sz="1600" dirty="0"/>
          </a:p>
        </p:txBody>
      </p:sp>
      <p:sp>
        <p:nvSpPr>
          <p:cNvPr id="33" name="Text 24"/>
          <p:cNvSpPr txBox="1"/>
          <p:nvPr/>
        </p:nvSpPr>
        <p:spPr>
          <a:xfrm>
            <a:off x="8275320" y="4480560"/>
            <a:ext cx="3108960" cy="1051560"/>
          </a:xfrm>
          <a:prstGeom prst="rect">
            <a:avLst/>
          </a:prstGeom>
          <a:noFill/>
          <a:ln/>
        </p:spPr>
        <p:txBody>
          <a:bodyPr wrap="square" lIns="0" tIns="0" rIns="0" bIns="0" rtlCol="0" anchor="t"/>
          <a:lstStyle/>
          <a:p>
            <a:pPr indent="0" marL="0">
              <a:spcAft>
                <a:spcPts val="400"/>
              </a:spcAft>
              <a:buNone/>
            </a:pPr>
            <a:r>
              <a:rPr lang="en-US" sz="1600" dirty="0">
                <a:solidFill>
                  <a:srgbClr val="475569"/>
                </a:solidFill>
              </a:rPr>
              <a:t>Synthetic-data limits and the base-paper gaps stated plainly.</a:t>
            </a:r>
            <a:endParaRPr lang="en-US" sz="16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References</a:t>
            </a:r>
            <a:endParaRPr lang="en-US" sz="3200" dirty="0"/>
          </a:p>
        </p:txBody>
      </p:sp>
      <p:sp>
        <p:nvSpPr>
          <p:cNvPr id="4" name="Text 1"/>
          <p:cNvSpPr txBox="1"/>
          <p:nvPr/>
        </p:nvSpPr>
        <p:spPr>
          <a:xfrm>
            <a:off x="548640" y="1325880"/>
            <a:ext cx="11094415" cy="4754880"/>
          </a:xfrm>
          <a:prstGeom prst="rect">
            <a:avLst/>
          </a:prstGeom>
          <a:noFill/>
          <a:ln/>
        </p:spPr>
        <p:txBody>
          <a:bodyPr wrap="square" lIns="0" tIns="0" rIns="0" bIns="0" rtlCol="0" anchor="t"/>
          <a:lstStyle/>
          <a:p>
            <a:pPr marL="228600" indent="-228600">
              <a:spcAft>
                <a:spcPts val="300"/>
              </a:spcAft>
              <a:buSzPct val="100000"/>
              <a:buChar char="•"/>
            </a:pPr>
            <a:r>
              <a:rPr lang="en-US" sz="1300" dirty="0">
                <a:solidFill>
                  <a:srgbClr val="0F172A"/>
                </a:solidFill>
              </a:rPr>
              <a:t>[1] K. Danach, A. Rammal, I. Moukadem, H. Harb, and A. Nasser, "Advanced optimization in e-commerce logistics: Combining matheuristics with random forests for hub location efficiency," IEEE Access, vol. 13, pp. 55915-55926, 2025, doi: 10.1109/ACCESS.2025.3550560.</a:t>
            </a:r>
            <a:endParaRPr lang="en-US" sz="1300" dirty="0"/>
          </a:p>
          <a:p>
            <a:pPr marL="228600" indent="-228600">
              <a:spcAft>
                <a:spcPts val="300"/>
              </a:spcAft>
              <a:buSzPct val="100000"/>
              <a:buChar char="•"/>
            </a:pPr>
            <a:r>
              <a:rPr lang="en-US" sz="1300" dirty="0">
                <a:solidFill>
                  <a:srgbClr val="0F172A"/>
                </a:solidFill>
              </a:rPr>
              <a:t>[2] L. Zheng, G. Xu, and W. Chen, "Using improved particle swarm optimization algorithm for location problem of drone logistics hub," Computers, Materials &amp; Continua, vol. 78, no. 1, pp. 935-957, 2024, doi: 10.32604/cmc.2023.046006.</a:t>
            </a:r>
            <a:endParaRPr lang="en-US" sz="1300" dirty="0"/>
          </a:p>
          <a:p>
            <a:pPr marL="228600" indent="-228600">
              <a:spcAft>
                <a:spcPts val="300"/>
              </a:spcAft>
              <a:buSzPct val="100000"/>
              <a:buChar char="•"/>
            </a:pPr>
            <a:r>
              <a:rPr lang="en-US" sz="1300" dirty="0">
                <a:solidFill>
                  <a:srgbClr val="0F172A"/>
                </a:solidFill>
              </a:rPr>
              <a:t>[3] L. Yang, J. Zheng, J. Wang, and X. Hu, "The maximal detour liner shipping hub location problem: Improving the applicability of the p-hub center problem," Transportation Research Part E: Logistics and Transportation Review, vol. 179, Art. no. 103330, Nov. 2023, doi: 10.1016/j.tre.2023.103330.</a:t>
            </a:r>
            <a:endParaRPr lang="en-US" sz="1300" dirty="0"/>
          </a:p>
          <a:p>
            <a:pPr marL="228600" indent="-228600">
              <a:spcAft>
                <a:spcPts val="300"/>
              </a:spcAft>
              <a:buSzPct val="100000"/>
              <a:buChar char="•"/>
            </a:pPr>
            <a:r>
              <a:rPr lang="en-US" sz="1300" dirty="0">
                <a:solidFill>
                  <a:srgbClr val="0F172A"/>
                </a:solidFill>
              </a:rPr>
              <a:t>[4] M. Dehghan Chenary, A. Ferdowsi, and R. F. Hartl, "A Pareto-based clustering approach for solving a bi-objective mobile hub location problem with congestion," Logistics, vol. 8, no. 4, Art. no. 130, Dec. 2024, doi: 10.3390/logistics8040130.</a:t>
            </a:r>
            <a:endParaRPr lang="en-US" sz="1300" dirty="0"/>
          </a:p>
          <a:p>
            <a:pPr marL="228600" indent="-228600">
              <a:spcAft>
                <a:spcPts val="300"/>
              </a:spcAft>
              <a:buSzPct val="100000"/>
              <a:buChar char="•"/>
            </a:pPr>
            <a:r>
              <a:rPr lang="en-US" sz="1300" dirty="0">
                <a:solidFill>
                  <a:srgbClr val="0F172A"/>
                </a:solidFill>
              </a:rPr>
              <a:t>[5] H. Zhang, J.-C. Wang, and Y. Gao, "Two-stage adaptive robust hub location problem under demand uncertainty," Naval Research Logistics, Dec. 2025, doi: 10.1002/nav.70043.</a:t>
            </a:r>
            <a:endParaRPr lang="en-US" sz="1300" dirty="0"/>
          </a:p>
          <a:p>
            <a:pPr marL="228600" indent="-228600">
              <a:spcAft>
                <a:spcPts val="300"/>
              </a:spcAft>
              <a:buSzPct val="100000"/>
              <a:buChar char="•"/>
            </a:pPr>
            <a:r>
              <a:rPr lang="en-US" sz="1300" dirty="0">
                <a:solidFill>
                  <a:srgbClr val="0F172A"/>
                </a:solidFill>
              </a:rPr>
              <a:t>[6] M. E. O'Kelly, "The location of interacting hub facilities," Transportation Science, vol. 20, no. 2, pp. 92-106, 1986.</a:t>
            </a:r>
            <a:endParaRPr lang="en-US" sz="1300" dirty="0"/>
          </a:p>
          <a:p>
            <a:pPr marL="228600" indent="-228600">
              <a:spcAft>
                <a:spcPts val="300"/>
              </a:spcAft>
              <a:buSzPct val="100000"/>
              <a:buChar char="•"/>
            </a:pPr>
            <a:r>
              <a:rPr lang="en-US" sz="1300" dirty="0">
                <a:solidFill>
                  <a:srgbClr val="0F172A"/>
                </a:solidFill>
              </a:rPr>
              <a:t>[7] J. F. Campbell, A. T. Ernst, and M. Krishnamoorthy, "Hub location problems," in Facility Location: Applications and Theory. Berlin, Germany: Springer, 2002, pp. 373-407.</a:t>
            </a:r>
            <a:endParaRPr lang="en-US" sz="1300" dirty="0"/>
          </a:p>
          <a:p>
            <a:pPr marL="228600" indent="-228600">
              <a:spcAft>
                <a:spcPts val="300"/>
              </a:spcAft>
              <a:buSzPct val="100000"/>
              <a:buChar char="•"/>
            </a:pPr>
            <a:r>
              <a:rPr lang="en-US" sz="1300" dirty="0">
                <a:solidFill>
                  <a:srgbClr val="0F172A"/>
                </a:solidFill>
              </a:rPr>
              <a:t>[8] A. T. Ernst and M. Krishnamoorthy, "Efficient algorithms for the uncapacitated single allocation p-hub median problem," Location Science, vol. 4, no. 3, pp. 139-154, Oct. 1996.</a:t>
            </a:r>
            <a:endParaRPr lang="en-US" sz="1300" dirty="0"/>
          </a:p>
          <a:p>
            <a:pPr marL="228600" indent="-228600">
              <a:spcAft>
                <a:spcPts val="300"/>
              </a:spcAft>
              <a:buSzPct val="100000"/>
              <a:buChar char="•"/>
            </a:pPr>
            <a:r>
              <a:rPr lang="en-US" sz="1300" dirty="0">
                <a:solidFill>
                  <a:srgbClr val="0F172A"/>
                </a:solidFill>
              </a:rPr>
              <a:t>[9] K. Danach, S. Gelareh, and R. Neamatian Monemi, "The capacitated single-allocation p-hub location routing problem: A Lagrangian relaxation and a hyper-heuristic approach," EURO Journal on Transportation and Logistics, vol. 8, no. 5, pp. 597-631, Dec. 2019.</a:t>
            </a:r>
            <a:endParaRPr lang="en-US" sz="1300" dirty="0"/>
          </a:p>
          <a:p>
            <a:pPr marL="228600" indent="-228600">
              <a:spcAft>
                <a:spcPts val="300"/>
              </a:spcAft>
              <a:buSzPct val="100000"/>
              <a:buChar char="•"/>
            </a:pPr>
            <a:r>
              <a:rPr lang="en-US" sz="1300" dirty="0">
                <a:solidFill>
                  <a:srgbClr val="0F172A"/>
                </a:solidFill>
              </a:rPr>
              <a:t>[10] M. Kahalimoghadam, R. G. Thompson, and A. Rajabifard, "Determining the number and location of micro-consolidation centres as a solution to growing e-commerce demand," Journal of Transport Geography, vol. 117, Art. no. 103875, May 2024.</a:t>
            </a:r>
            <a:endParaRPr lang="en-US" sz="13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Hidden Risk">
  <a:themeElements>
    <a:clrScheme name="Hidden Risk">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Hidden Ris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HubOptima: Review 1</dc:title>
  <dc:subject>Advanced Optimization in E-Commerce Logistics: Combining Matheuristics With Random Forests for Hub Location Efficiency</dc:subject>
  <dc:creator>Batch A4</dc:creator>
  <cp:lastModifiedBy>Batch A4</cp:lastModifiedBy>
  <cp:revision>1</cp:revision>
  <dcterms:created xsi:type="dcterms:W3CDTF">2026-10-13T12:36:40Z</dcterms:created>
  <dcterms:modified xsi:type="dcterms:W3CDTF">2026-10-13T12:36:40Z</dcterms:modified>
  <cp:keywords>hub location, matheuristic, random forest, e-commerce logistics</cp:keywords>
  <cp:category/>
  <dc:description/>
  <cp:contentStatus/>
</cp:coreProperties>
</file>