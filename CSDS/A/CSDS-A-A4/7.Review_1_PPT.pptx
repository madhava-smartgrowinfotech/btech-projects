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402" r:id="rId2"/>
    <p:sldId id="372" r:id="rId3"/>
    <p:sldId id="339" r:id="rId4"/>
    <p:sldId id="340" r:id="rId5"/>
    <p:sldId id="373" r:id="rId6"/>
    <p:sldId id="374" r:id="rId7"/>
    <p:sldId id="375" r:id="rId8"/>
    <p:sldId id="395" r:id="rId9"/>
    <p:sldId id="396" r:id="rId10"/>
    <p:sldId id="397" r:id="rId11"/>
    <p:sldId id="33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D5FC79"/>
    <a:srgbClr val="0432FF"/>
    <a:srgbClr val="73FEFF"/>
    <a:srgbClr val="00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55" autoAdjust="0"/>
    <p:restoredTop sz="94669"/>
  </p:normalViewPr>
  <p:slideViewPr>
    <p:cSldViewPr snapToGrid="0" snapToObjects="1">
      <p:cViewPr>
        <p:scale>
          <a:sx n="100" d="100"/>
          <a:sy n="100" d="100"/>
        </p:scale>
        <p:origin x="163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C3DA0E-D1FD-BC4E-848A-CADAF0C17C7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FDB9C3-3AFD-454D-9BAE-9D714207E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73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F4823-8660-1246-90A6-7E730B6483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FC470B-2D09-CB42-B555-F681F4C46E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AB32D-0B39-BE4C-9B46-2E2ED1D7E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485BE-F059-CB4E-B8DE-A88091C5A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1F8F7D-3DFE-D546-90E5-BCA4C73F8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64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14CE7-812F-614F-984D-E4393BFDB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330C5-43E2-FD4B-BC5C-86590669B6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F5676-83E3-C64F-8973-97022DD3B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187D19-E55D-AB4D-AF75-CC1E01D05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AB3309-CC51-E845-AB52-3C1B2CA00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077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5625C-04E8-9E4E-85F9-69D014E95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19A94-D2E3-1248-8990-C3C83CD72C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89771B-6439-B24E-8CDB-C2C56C838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88177-53D9-A448-9A35-2009BEA3D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A98A85-1343-E247-B0AB-43CCC09A0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69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68C3B-4A97-6E47-A174-63DE91C8D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FB7C7-AE13-C348-A398-901CE21674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FEE88-F113-474D-805E-3490EF31D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053784-A76D-DF43-A8C7-894600CDE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75B21D-297E-CB4F-8DD7-AE42098E1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1CA34A-2507-8941-AC3C-18539C0D8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52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50C35-1BC5-7D4B-A7EB-F21FF3595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FDD651-0936-5C4A-9824-768CE13993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C17A61-0337-1846-98A4-81374415E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6B864D-1FA6-E84C-BF33-C9FBD606D6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3AC4A1-4437-F046-8863-1A658D2E3E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FB2041-7404-6E41-97DF-35E706B83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805910-A1AA-DE41-AB82-090F69178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595B0F-B6B7-B143-B018-788A1411A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363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4808D-98C8-F64E-B203-4B9D12997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E7D4C5-93E1-974D-83B2-8947CDDE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8242C-13FA-444B-9328-71460DDCA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3E2D9F-D621-CE42-91A7-B225A7795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058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D6D12C-396B-794F-ABAB-92909A6DA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498D68-4FBE-334D-819A-9EC8CB1E7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7416FB-FB33-964C-BD29-16A48AF1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602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3887D-ECD1-6944-BCBF-4F8F6CF8A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B4EBF-E686-4A4E-919A-9EB2A56E7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14E58C-0FDD-2B4C-A594-D7A27F11EC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C6B601-3A92-B841-980F-80541562D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CB7C1F-7481-364C-928C-A40E69645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63DFD0-C6E3-2B48-A695-CD16D782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464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8CB15-409E-4744-95AA-C4B2DC145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2005F-BAF3-4E4A-9F3B-2F85C42848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FE6DCF-5650-C044-A969-E07B8C5AC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D2BEB4-E3F3-A64D-8A42-7AAF977BD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9CC08-BD3E-734B-BBAB-4DDCE9F4F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5BAA79-7C90-8F43-BD26-3664E889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150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616C7-323B-DB4A-B8D8-837BC3947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68D35E-AF32-FD46-8009-ED93A7994C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738011-16F8-BC46-B1D6-293204D5E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22084F-7AEA-6B4B-8D85-F5A161119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59106-2163-084C-B6E7-35CFA813A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958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F4E4AF-3AE4-1D46-96D3-E760A96D58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36010-4D51-E243-A075-B5691BED57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504B6-2DB6-524F-AFA6-839887E36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6F2CE-6CE0-B543-9CE5-55D8FA067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FF84C3-E4E4-2444-963E-E63DFB45A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192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FC3910-BBA8-9F48-9C8B-301C01D0C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086F6E-4899-014B-8EEC-22D2ACB41D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D897B-3F2D-474B-9500-6D406D075D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C6B02-AC85-8242-A222-E5A677D8C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47826-2888-7845-BEA2-678AD723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594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B45A142-4255-493C-8284-5D566C121B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4" y="321177"/>
            <a:ext cx="4332307" cy="6179552"/>
          </a:xfrm>
          <a:prstGeom prst="rect">
            <a:avLst/>
          </a:prstGeom>
          <a:solidFill>
            <a:srgbClr val="404040">
              <a:alpha val="89804"/>
            </a:srgbClr>
          </a:solidFill>
          <a:ln w="127000" cap="sq" cmpd="thinThick">
            <a:solidFill>
              <a:srgbClr val="595959">
                <a:alpha val="8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4EA12D-DC9E-2341-974F-1D1E6CF5B2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6884" y="593557"/>
            <a:ext cx="4332307" cy="2131780"/>
          </a:xfrm>
        </p:spPr>
        <p:txBody>
          <a:bodyPr>
            <a:noAutofit/>
          </a:bodyPr>
          <a:lstStyle/>
          <a:p>
            <a:pPr algn="ctr"/>
            <a:r>
              <a:rPr lang="en-US" sz="2050" b="1" dirty="0">
                <a:solidFill>
                  <a:schemeClr val="accent2"/>
                </a:solidFill>
                <a:latin typeface="Copperplate Gothic Bold" pitchFamily="34" charset="0"/>
              </a:rPr>
              <a:t>ADVANCED OPTIMIZATION IN E-COMMERCE LOGISTICS: COMBINING MATHEURISTICS WITH RANDOM FORESTS FOR HUB LOCATION EFFICIENCY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F1DD4-39F1-264E-9726-92ADE6F913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6884" y="2725337"/>
            <a:ext cx="4235116" cy="2615038"/>
          </a:xfrm>
        </p:spPr>
        <p:txBody>
          <a:bodyPr>
            <a:normAutofit/>
          </a:bodyPr>
          <a:lstStyle/>
          <a:p>
            <a:pPr algn="l">
              <a:tabLst>
                <a:tab pos="2260659" algn="l"/>
              </a:tabLst>
            </a:pPr>
            <a:r>
              <a:rPr lang="en-US" sz="1850" b="1" dirty="0">
                <a:solidFill>
                  <a:srgbClr val="92D050"/>
                </a:solidFill>
                <a:latin typeface="Copperplate Gothic Bold" pitchFamily="34" charset="0"/>
              </a:rPr>
              <a:t>NAME</a:t>
            </a:r>
            <a:r>
              <a:rPr lang="en-US" sz="1850" b="1" dirty="0">
                <a:solidFill>
                  <a:srgbClr val="92D050"/>
                </a:solidFill>
                <a:latin typeface="Copperplate Gothic Bold" pitchFamily="34" charset="0"/>
              </a:rPr>
              <a:t>	REG.NO</a:t>
            </a:r>
          </a:p>
          <a:p>
            <a:pPr algn="l">
              <a:tabLst>
                <a:tab pos="2260659" algn="l"/>
              </a:tabLst>
            </a:pPr>
            <a:r>
              <a:rPr lang="en-US" sz="1850" b="1" dirty="0">
                <a:solidFill>
                  <a:srgbClr val="92D050"/>
                </a:solidFill>
                <a:latin typeface="Copperplate Gothic Bold" pitchFamily="34" charset="0"/>
              </a:rPr>
              <a:t>1 CH.ARCHANA</a:t>
            </a:r>
            <a:r>
              <a:rPr lang="en-US" sz="1850" b="1" dirty="0">
                <a:solidFill>
                  <a:srgbClr val="92D050"/>
                </a:solidFill>
                <a:latin typeface="Copperplate Gothic Bold" pitchFamily="34" charset="0"/>
              </a:rPr>
              <a:t>	23K91A6745</a:t>
            </a:r>
          </a:p>
          <a:p>
            <a:pPr algn="l">
              <a:tabLst>
                <a:tab pos="2260659" algn="l"/>
              </a:tabLst>
            </a:pPr>
            <a:r>
              <a:rPr lang="en-US" sz="1850" b="1" dirty="0">
                <a:solidFill>
                  <a:srgbClr val="92D050"/>
                </a:solidFill>
                <a:latin typeface="Copperplate Gothic Bold" pitchFamily="34" charset="0"/>
              </a:rPr>
              <a:t>2 A.MEENAKSHI</a:t>
            </a:r>
            <a:r>
              <a:rPr lang="en-US" sz="1850" b="1" dirty="0">
                <a:solidFill>
                  <a:srgbClr val="92D050"/>
                </a:solidFill>
                <a:latin typeface="Copperplate Gothic Bold" pitchFamily="34" charset="0"/>
              </a:rPr>
              <a:t>	23K91A6705</a:t>
            </a:r>
          </a:p>
          <a:p>
            <a:pPr algn="l">
              <a:tabLst>
                <a:tab pos="2260659" algn="l"/>
              </a:tabLst>
            </a:pPr>
            <a:r>
              <a:rPr lang="en-US" sz="1850" b="1" dirty="0">
                <a:solidFill>
                  <a:srgbClr val="92D050"/>
                </a:solidFill>
                <a:latin typeface="Copperplate Gothic Bold" pitchFamily="34" charset="0"/>
              </a:rPr>
              <a:t>3 B.ARUN</a:t>
            </a:r>
            <a:r>
              <a:rPr lang="en-US" sz="1850" b="1" dirty="0">
                <a:solidFill>
                  <a:srgbClr val="92D050"/>
                </a:solidFill>
                <a:latin typeface="Copperplate Gothic Bold" pitchFamily="34" charset="0"/>
              </a:rPr>
              <a:t>	23K91A6734</a:t>
            </a:r>
          </a:p>
          <a:p>
            <a:pPr algn="l">
              <a:tabLst>
                <a:tab pos="2260659" algn="l"/>
              </a:tabLst>
            </a:pPr>
            <a:r>
              <a:rPr lang="en-US" sz="1850" b="1" dirty="0">
                <a:solidFill>
                  <a:srgbClr val="92D050"/>
                </a:solidFill>
                <a:latin typeface="Copperplate Gothic Bold" pitchFamily="34" charset="0"/>
              </a:rPr>
              <a:t>4 A.SAMPATH</a:t>
            </a:r>
            <a:r>
              <a:rPr lang="en-US" sz="1850" b="1" dirty="0">
                <a:solidFill>
                  <a:srgbClr val="92D050"/>
                </a:solidFill>
                <a:latin typeface="Copperplate Gothic Bold" pitchFamily="34" charset="0"/>
              </a:rPr>
              <a:t>	23K91A6712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2E3B9D-7E6C-6541-B796-E6017CE55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91022" y="6356350"/>
            <a:ext cx="1362777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B6D3A235-9A1B-814A-A45F-231E0934496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3450" y="1865724"/>
            <a:ext cx="7063991" cy="2943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4286" y="323021"/>
            <a:ext cx="6259513" cy="10134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4873450" y="5375868"/>
            <a:ext cx="7063991" cy="980482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CSE (DATA SCIENCE)</a:t>
            </a:r>
          </a:p>
          <a:p>
            <a:pPr algn="ctr"/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BATCH : A4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885" y="5175849"/>
            <a:ext cx="4119368" cy="1180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Guide Name:</a:t>
            </a:r>
          </a:p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GUIDE NAME</a:t>
            </a:r>
          </a:p>
        </p:txBody>
      </p:sp>
    </p:spTree>
    <p:extLst>
      <p:ext uri="{BB962C8B-B14F-4D97-AF65-F5344CB8AC3E}">
        <p14:creationId xmlns:p14="http://schemas.microsoft.com/office/powerpoint/2010/main" val="3123017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29940" y="782509"/>
            <a:ext cx="46786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 dirty="0">
                <a:solidFill>
                  <a:schemeClr val="accent2">
                    <a:lumMod val="75000"/>
                  </a:schemeClr>
                </a:solidFill>
                <a:latin typeface="Copperplate Gothic Bold" pitchFamily="34" charset="0"/>
                <a:cs typeface="Times New Roman" pitchFamily="18" charset="0"/>
              </a:rPr>
              <a:t>CONTEXT</a:t>
            </a:r>
            <a:endParaRPr lang="en-US" sz="20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295605"/>
            <a:ext cx="10088301" cy="3334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 of Existing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Architecture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2589746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3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723900" y="1739900"/>
            <a:ext cx="10744200" cy="46101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E-commerce has raised customer expectations for fast and reliable delivery.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Logistics networks route orders through hubs, so hub placement strongly affects cost and delivery time.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Hub Location Problem is a classic optimisation problem, but real demand fluctuates across regions and seasons.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Traditional optimisation models assume fixed demand and cannot adapt when demand patterns change.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Machine learning can forecast demand from historical data, and matheuristics can solve large optimisation problems efficiently.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This project combines Random Forest demand prediction with matheuristic optimisation for efficient e-commerce hub location.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76062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062913" y="924007"/>
            <a:ext cx="35966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  <a:endParaRPr lang="en-US" sz="2800" b="1" dirty="0">
              <a:solidFill>
                <a:srgbClr val="002060"/>
              </a:solidFill>
              <a:latin typeface="Copperplate Gothic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4135" y="925496"/>
            <a:ext cx="46786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15725-5D37-6694-9DD3-FFF1D88D97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1300"/>
            <a:ext cx="10515600" cy="48387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Rapid e-commerce growth demands fast, reliable and low-cost logistics networks.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Choosing hub locations that minimise transport cost while ensuring timely delivery is a critical supply-chain problem.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project predicts future demand from historical logistics data using a Random Forest model.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predictions feed a matheuristic optimisation model that selects hubs considering transport cost, delivery time, hub capacity and network constraints.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integrated model is evaluated against traditional hub location methods on delivery time, fulfilment rate, reliability and operating cost.</a:t>
            </a: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5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95254" y="847281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Hub locations are chosen using exact mathematical models such as mixed-integer programming with fixed demand.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Heuristics such as greedy and genetic algorithms search for good hub configurations.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Planning decisions are often based on managerial judgement and historical averages.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Demand forecasting and network optimisation are performed as separate, disconnected steps.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6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2923047" y="913876"/>
            <a:ext cx="63459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Limitations of Existing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38300"/>
            <a:ext cx="10515600" cy="47117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Exact models become computationally expensive for large logistics networks.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Fixed-demand assumptions do not reflect fluctuating e-commerce orders.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Hub configurations are not updated when demand or operating conditions change.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Separating forecasting from optimisation leads to sub-optimal hub decisions.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Pure heuristics do not guarantee solution quality.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7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5219" y="949834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63700"/>
            <a:ext cx="10515600" cy="46863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 Random Forest model predicts future demand for each region from historical logistics data.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Predicted demand is fed into a matheuristic optimisation model for hub selection.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optimiser considers transportation cost, delivery time, hub capacity and network constraints.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Hub configurations are re-optimised as demand patterns and business requirements change.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Results are compared with traditional hub location methods on cost, delivery time and fulfilment rate.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8" y="146913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3A250-F23D-CB98-736F-801EC5789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225"/>
            <a:ext cx="10030408" cy="1255984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        PROPOSED SYSTEM ARCHITECTURE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14A22-E0A7-00C3-9C2B-822F5234A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8</a:t>
            </a:fld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56856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7C9EFB-6062-8B08-3313-9FC38DF9C8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6209"/>
            <a:ext cx="10515600" cy="4972330"/>
          </a:xfrm>
        </p:spPr>
        <p:txBody>
          <a:bodyPr>
            <a:normAutofit fontScale="400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828800" lvl="4" indent="0">
              <a:buNone/>
            </a:pPr>
            <a:r>
              <a:rPr lang="en-US" dirty="0"/>
              <a:t>			</a:t>
            </a: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</a:t>
            </a: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</a:t>
            </a: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3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Fig:- 1.1. System Architecture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685152-4C3C-5AE0-BFD4-883D244A45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21" y="1046480"/>
            <a:ext cx="11261959" cy="505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6498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48F3C-FA97-224C-115A-7D99ADF66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AD4CE-1259-24BE-CD87-3C350AFE4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3969" y="848026"/>
            <a:ext cx="6514323" cy="685185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E9FC8B-F44E-C85B-F64D-5435D6671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9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07DEFB9-2A98-AC9B-0CA7-E3DCDAE945E6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D81C6011-F9A6-D6BC-01D4-214393E65D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4C175E-B962-7CB7-66A9-A93FA6F38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Data Collection: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Gather historical order, shipment, route and hub data.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Preprocessing: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Clean the data and engineer features such as region, season and order volume.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Demand Prediction: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Train a Random Forest model to forecast demand per region.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Model Formulation: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Formulate the hub location problem with cost, delivery-time and capacity constraints.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Matheuristic Optimisation: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Combine mathematical programming with heuristic search to select hubs.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Dynamic Re-optimisation: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Update hub configurations when predicted demand changes.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Evaluation: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Compare with traditional methods on delivery time, fulfilment rate, reliability and cost.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Visualisation: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Present hub locations and KPIs on a map-based dashboard.</a:t>
            </a:r>
          </a:p>
        </p:txBody>
      </p:sp>
    </p:spTree>
    <p:extLst>
      <p:ext uri="{BB962C8B-B14F-4D97-AF65-F5344CB8AC3E}">
        <p14:creationId xmlns:p14="http://schemas.microsoft.com/office/powerpoint/2010/main" val="40961280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49627-DFDC-9AEE-003B-61513A22A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FB145-D35B-AB0C-FDE0-A0EC335D8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4FBDBE8-7B97-838A-CFA7-18B663A043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Hardware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Processor: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Intel Core i5 or equivalent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RAM: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8 GB or higher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Storage: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20 GB free space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4D17D66-4287-E913-B85D-61A33D96CDF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Software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Language: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Python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Machine Learning: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scikit-learn, pandas, NumPy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Optimisation: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PuLP / Google OR-Tools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Visualisation: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Matplotlib, Folium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Interface: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Streamlit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Tools: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Jupyter Notebook, VS Code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BAB74-AE3A-5148-7D93-CC36F4AE3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10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AA14475-771A-07F3-4912-EB982FA600F1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8E849A94-9FCC-003E-8933-DBE2FBE59A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48812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424888" y="1022134"/>
            <a:ext cx="22236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  <a:endParaRPr lang="en-US" sz="2400" dirty="0">
              <a:latin typeface="Copperplate Gothic Bold" panose="020E07050202060204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D89F60-F70C-A913-F235-B290A7C984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838200" y="1701800"/>
            <a:ext cx="10515600" cy="4648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Combining ML demand prediction with matheuristic optimisation produces hub decisions that adapt to changing demand.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approach lowers transportation cost while improving delivery-time performance and fulfilment rate.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Dynamic re-optimisation improves network reliability as business conditions change.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framework offers a practical, data-driven tool for e-commerce logistics planning.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08376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3192</TotalTime>
  <Words>938</Words>
  <Application>Microsoft Office PowerPoint</Application>
  <PresentationFormat>Widescreen</PresentationFormat>
  <Paragraphs>147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Copperplate Gothic Bold</vt:lpstr>
      <vt:lpstr>Times New Roman</vt:lpstr>
      <vt:lpstr>Wingdings</vt:lpstr>
      <vt:lpstr>Office Theme</vt:lpstr>
      <vt:lpstr>           IOT DRIVEN MOBILE NETWORK DETECTION AND COMPLAINT AUTOMATION SYSTEM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     PROPOSED SYSTEM ARCHITECTURE</vt:lpstr>
      <vt:lpstr>METHODOLOGY</vt:lpstr>
      <vt:lpstr>SYSTEM REQUIREMENTS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the proposed work</dc:title>
  <dc:creator>mani iz</dc:creator>
  <cp:lastModifiedBy>Rishi Kumar</cp:lastModifiedBy>
  <cp:revision>90</cp:revision>
  <dcterms:created xsi:type="dcterms:W3CDTF">2022-09-13T08:56:36Z</dcterms:created>
  <dcterms:modified xsi:type="dcterms:W3CDTF">2026-08-21T10:21:40Z</dcterms:modified>
</cp:coreProperties>
</file>