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300" b="1"/>
              <a:t>Rows or districts per input</a:t>
            </a:r>
          </a:p>
        </c:rich>
      </c:tx>
      <c:layout/>
      <c:overlay val="0"/>
    </c:title>
    <c:autoTitleDeleted val="0"/>
    <c:plotArea>
      <c:layout/>
      <c:barChart>
        <c:barDir val="bar"/>
        <c:grouping val="stacked"/>
        <c:varyColors val="0"/>
        <c:ser>
          <c:idx val="0"/>
          <c:order val="0"/>
          <c:tx>
            <c:strRef>
              <c:f>Sheet1!$B$1</c:f>
              <c:strCache>
                <c:ptCount val="1"/>
                <c:pt idx="0">
                  <c:v>Rows or districts</c:v>
                </c:pt>
              </c:strCache>
            </c:strRef>
          </c:tx>
          <c:spPr>
            <a:solidFill>
              <a:srgbClr val="2F6FB0"/>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strRef>
              <c:f>Sheet1!$A$2:$A$5</c:f>
              <c:strCache>
                <c:ptCount val="4"/>
                <c:pt idx="0">
                  <c:v>Crime rows (2001-2012)</c:v>
                </c:pt>
                <c:pt idx="1">
                  <c:v>State-year rows (not used)</c:v>
                </c:pt>
                <c:pt idx="2">
                  <c:v>District pairs</c:v>
                </c:pt>
                <c:pt idx="3">
                  <c:v>Geocoded and used</c:v>
                </c:pt>
              </c:strCache>
            </c:strRef>
          </c:cat>
          <c:val>
            <c:numRef>
              <c:f>Sheet1!$B$2:$B$5</c:f>
              <c:numCache>
                <c:formatCode>#,##0</c:formatCode>
                <c:ptCount val="4"/>
                <c:pt idx="0">
                  <c:v>8597</c:v>
                </c:pt>
                <c:pt idx="1">
                  <c:v>736</c:v>
                </c:pt>
                <c:pt idx="2">
                  <c:v>827</c:v>
                </c:pt>
                <c:pt idx="3">
                  <c:v>467</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in val="0.0"/>
        </c:scaling>
        <c:delete val="0"/>
        <c:axPos val="b"/>
        <c:majorGridlines>
          <c:spPr>
            <a:ln w="9525" cap="flat">
              <a:solidFill>
                <a:srgbClr val="E2E8F0"/>
              </a:solidFill>
              <a:prstDash val="solid"/>
              <a:round/>
            </a:ln>
          </c:spPr>
        </c:majorGridlines>
        <c:title>
          <c:tx>
            <c:rich>
              <a:bodyPr/>
              <a:lstStyle/>
              <a:p>
                <a:r>
                  <a:rPr sz="1000" b="0"/>
                  <a:t>rows / districts</a:t>
                </a:r>
              </a:p>
            </c:rich>
          </c:tx>
          <c:layout/>
          <c:overlay val="0"/>
        </c:title>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300" b="1"/>
              <a:t>SafePhrase matcher on written transcripts, by sensitivity (word share needed)</a:t>
            </a:r>
          </a:p>
        </c:rich>
      </c:tx>
      <c:layout/>
      <c:overlay val="0"/>
    </c:title>
    <c:autoTitleDeleted val="0"/>
    <c:plotArea>
      <c:layout/>
      <c:barChart>
        <c:barDir val="col"/>
        <c:grouping val="clustered"/>
        <c:varyColors val="0"/>
        <c:ser>
          <c:idx val="0"/>
          <c:order val="0"/>
          <c:tx>
            <c:strRef>
              <c:f>Sheet1!$B$1</c:f>
              <c:strCache>
                <c:ptCount val="1"/>
                <c:pt idx="0">
                  <c:v>Recall on 24 phrase transcripts (%)</c:v>
                </c:pt>
              </c:strCache>
            </c:strRef>
          </c:tx>
          <c:spPr>
            <a:solidFill>
              <a:srgbClr val="2E8B57"/>
            </a:solidFill>
            <a:effectLst/>
          </c:spPr>
          <c:invertIfNegative val="0"/>
          <c:dLbls>
            <c:numFmt formatCode="0.0" sourceLinked="0"/>
            <c:txPr>
              <a:bodyPr/>
              <a:lstStyle/>
              <a:p>
                <a:pPr>
                  <a:defRPr b="0" i="0" strike="noStrike" sz="1100" u="none">
                    <a:solidFill>
                      <a:srgbClr val="475569"/>
                    </a:solidFill>
                    <a:latin typeface="+mn-lt"/>
                  </a:defRPr>
                </a:pPr>
              </a:p>
            </c:txPr>
            <c:showLegendKey val="0"/>
            <c:showVal val="1"/>
            <c:showCatName val="0"/>
            <c:showSerName val="0"/>
            <c:showPercent val="0"/>
            <c:showBubbleSize val="0"/>
            <c:showLeaderLines val="0"/>
          </c:dLbls>
          <c:cat>
            <c:strRef>
              <c:f>Sheet1!$A$2:$A$5</c:f>
              <c:strCache>
                <c:ptCount val="4"/>
                <c:pt idx="0">
                  <c:v>Low (100 %)</c:v>
                </c:pt>
                <c:pt idx="1">
                  <c:v>Medium (85 %)</c:v>
                </c:pt>
                <c:pt idx="2">
                  <c:v>High (75 %)</c:v>
                </c:pt>
                <c:pt idx="3">
                  <c:v>Ultra (60 %)</c:v>
                </c:pt>
              </c:strCache>
            </c:strRef>
          </c:cat>
          <c:val>
            <c:numRef>
              <c:f>Sheet1!$B$2:$B$5</c:f>
              <c:numCache>
                <c:formatCode>0.0</c:formatCode>
                <c:ptCount val="4"/>
                <c:pt idx="0">
                  <c:v>54.2</c:v>
                </c:pt>
                <c:pt idx="1">
                  <c:v>54.2</c:v>
                </c:pt>
                <c:pt idx="2">
                  <c:v>75.0</c:v>
                </c:pt>
                <c:pt idx="3">
                  <c:v>100.0</c:v>
                </c:pt>
              </c:numCache>
            </c:numRef>
          </c:val>
        </c:ser>
        <c:ser>
          <c:idx val="1"/>
          <c:order val="1"/>
          <c:tx>
            <c:strRef>
              <c:f>Sheet1!$C$1</c:f>
              <c:strCache>
                <c:ptCount val="1"/>
                <c:pt idx="0">
                  <c:v>False triggers on 80 checks (%)</c:v>
                </c:pt>
              </c:strCache>
            </c:strRef>
          </c:tx>
          <c:spPr>
            <a:solidFill>
              <a:srgbClr val="C8453C"/>
            </a:solidFill>
            <a:effectLst/>
          </c:spPr>
          <c:invertIfNegative val="0"/>
          <c:dLbls>
            <c:numFmt formatCode="0.0" sourceLinked="0"/>
            <c:txPr>
              <a:bodyPr/>
              <a:lstStyle/>
              <a:p>
                <a:pPr>
                  <a:defRPr b="0" i="0" strike="noStrike" sz="1100" u="none">
                    <a:solidFill>
                      <a:srgbClr val="475569"/>
                    </a:solidFill>
                    <a:latin typeface="+mn-lt"/>
                  </a:defRPr>
                </a:pPr>
              </a:p>
            </c:txPr>
            <c:showLegendKey val="0"/>
            <c:showVal val="1"/>
            <c:showCatName val="0"/>
            <c:showSerName val="0"/>
            <c:showPercent val="0"/>
            <c:showBubbleSize val="0"/>
            <c:showLeaderLines val="0"/>
          </c:dLbls>
          <c:cat>
            <c:strRef>
              <c:f>Sheet1!$A$2:$A$5</c:f>
              <c:strCache>
                <c:ptCount val="4"/>
                <c:pt idx="0">
                  <c:v>Low (100 %)</c:v>
                </c:pt>
                <c:pt idx="1">
                  <c:v>Medium (85 %)</c:v>
                </c:pt>
                <c:pt idx="2">
                  <c:v>High (75 %)</c:v>
                </c:pt>
                <c:pt idx="3">
                  <c:v>Ultra (60 %)</c:v>
                </c:pt>
              </c:strCache>
            </c:strRef>
          </c:cat>
          <c:val>
            <c:numRef>
              <c:f>Sheet1!$C$2:$C$5</c:f>
              <c:numCache>
                <c:formatCode>0.0</c:formatCode>
                <c:ptCount val="4"/>
                <c:pt idx="0">
                  <c:v>0.0</c:v>
                </c:pt>
                <c:pt idx="1">
                  <c:v>0.0</c:v>
                </c:pt>
                <c:pt idx="2">
                  <c:v>0.0</c:v>
                </c:pt>
                <c:pt idx="3">
                  <c:v>10.0</c:v>
                </c:pt>
              </c:numCache>
            </c:numRef>
          </c:val>
        </c:ser>
        <c:dLbls>
          <c:numFmt formatCode="0.0" sourceLinked="0"/>
          <c:txPr>
            <a:bodyPr/>
            <a:lstStyle/>
            <a:p>
              <a:pPr>
                <a:defRPr b="0" i="0" strike="noStrike" sz="1100" u="none">
                  <a:solidFill>
                    <a:srgbClr val="47556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10.0"/>
          <c:min val="0.0"/>
        </c:scaling>
        <c:delete val="0"/>
        <c:axPos val="l"/>
        <c:majorGridlines>
          <c:spPr>
            <a:ln w="9525" cap="flat">
              <a:solidFill>
                <a:srgbClr val="E2E8F0"/>
              </a:solidFill>
              <a:prstDash val="solid"/>
              <a:round/>
            </a:ln>
          </c:spPr>
        </c:majorGridlines>
        <c:title>
          <c:tx>
            <c:rich>
              <a:bodyPr/>
              <a:lstStyle/>
              <a:p>
                <a:r>
                  <a:rPr sz="1000" b="0"/>
                  <a:t>percent</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7556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2 covers the design, methodology and progress of SHEGUARD.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Twelve parts: recap, architecture, methodology, data, preparation, model, decision logic, data flow and database, technology, progress, results and screens, testing and next steps.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Review 1. The base paper [1] (SafeRoutes) clusters regions for safe paths; SHEGUARD adopts that idea and adds the emergency features. The batch abstract names Flutter and Supabase; the implemented stack is React, FastAPI and SQLite.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browser talks to the Vite server, which proxies /api and /ws to FastAPI. Outside services: OSRM demo server, Nominatim, Gemini, Telegram Bot API and Gmail SMTP.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Seven-step workflow from crime tables to a served application. The model is trained once, in under a second on the CPU, and its output table is loaded into the database at start-up.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inputs are real public data; there is no synthetic data in this project. They are old (2001-2012), district-level counts and only 56.5 % of districts could be geocoded.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Preparation = turning the crime table into one number per district, giving each district a position, and turning a route or a transcript into inputs for the scorer or matcher.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abstract speaks of an AI-powered platform; the only trained model is a three-cluster K-Means. The route scorer and the SafePhrase matcher are transparent rules.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Silhouette is 0.662 at k=2, 0.580 at k=3 and 0.596 at k=4; Davies-Bouldin is 0.531 at k=3 and 0.493 at k=4. Three tiers were chosen for the interface. Thirty single-initialisation runs agree with the shipped tiers with an adjusted Rand index of at least 0.66 (mean 0.79).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Decision logic. The night factor multiplies every route by the same 1.6, so it changes the displayed score but never the recommended route (16 of 16 tested city pairs keep their order). SafePhrase figures are from written transcripts only; no audio or speech recogniser was measured.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 1 splits the system into processes and data stores; level 2 opens the route-planning process.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SQLite tables created by SQLAlchemy. Guardian rows belong to a user; a guardian has no login and sees only a session's share-token page. SafePhrase settings live in the browser, not in the database.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Versions are those pinned in requirements.txt and package.json or reported by the installed packages. The abstract's Flutter and Supabase were not used.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core flow works end to end. Guardian alerts could not be verified because the Telegram and Gmail credentials are empty, and the Gemini key's quota was exhausted during testing.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Silhouette measures cluster separation on one number, not real safety. Coverage: 40 city centres were checked; the nearest district is a median of 8.1 km away but up to 231 km (Lucknow); 7 cities are more than 100 km from any district. SafePhrase numbers come from hand-written transcripts, not speech audio.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captures of the running application. Location was set by the test browser to a Delhi and a Hyderabad city centre; the AI tips panel shows the unavailable message because the assistant's quota was exhausted.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Expected-fail tests are reported as such rather than hidden. Latencies were measured on 127.0.0.1 on an i5-12500, one client at a time.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challenges and findings, each backed by a measurement in REPORT_FACTS.md.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remains: better data and the hardening items found in testing, then real-device checks, then the report and final demonstration.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SHEGUARD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 Id="rId4" Type="http://schemas.openxmlformats.org/officeDocument/2006/relationships/image" Target="../media/image5.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7.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9.png"/><Relationship Id="rId6"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SHEGUARD</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AI Powered Women's Safety Platform</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CH.AARTHI  23K91A6741</a:t>
            </a:r>
            <a:endParaRPr lang="en-US" sz="1500" dirty="0"/>
          </a:p>
          <a:p>
            <a:pPr indent="0" marL="0">
              <a:buNone/>
            </a:pPr>
            <a:r>
              <a:rPr lang="en-US" sz="1500" dirty="0">
                <a:solidFill>
                  <a:srgbClr val="FFFFFF"/>
                </a:solidFill>
              </a:rPr>
              <a:t>D.PRANATHI  23K91A6748</a:t>
            </a:r>
            <a:endParaRPr lang="en-US" sz="1500" dirty="0"/>
          </a:p>
          <a:p>
            <a:pPr indent="0" marL="0">
              <a:buNone/>
            </a:pPr>
            <a:r>
              <a:rPr lang="en-US" sz="1500" dirty="0">
                <a:solidFill>
                  <a:srgbClr val="FFFFFF"/>
                </a:solidFill>
              </a:rPr>
              <a:t>BALA VIGNESH  23K91A6717</a:t>
            </a:r>
            <a:endParaRPr lang="en-US" sz="1500" dirty="0"/>
          </a:p>
          <a:p>
            <a:pPr indent="0" marL="0">
              <a:buNone/>
            </a:pPr>
            <a:r>
              <a:rPr lang="en-US" sz="1500" dirty="0">
                <a:solidFill>
                  <a:srgbClr val="FFFFFF"/>
                </a:solidFill>
              </a:rPr>
              <a:t>A.VISHAL  23K91A6704</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[GUIDE NAME],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 (Data Science)</a:t>
            </a:r>
            <a:endParaRPr lang="en-US" sz="1300" dirty="0"/>
          </a:p>
          <a:p>
            <a:pPr indent="0" marL="0">
              <a:buNone/>
            </a:pPr>
            <a:r>
              <a:rPr lang="en-US" sz="1300" dirty="0">
                <a:solidFill>
                  <a:srgbClr val="CADCFC"/>
                </a:solidFill>
              </a:rPr>
              <a:t>[COLLEGE NAME]  ·  Batch A7 (CSE-DS, Section 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4" name="agenda 1"/>
          <p:cNvSpPr/>
          <p:nvPr/>
        </p:nvSpPr>
        <p:spPr>
          <a:xfrm>
            <a:off x="548640" y="1371600"/>
            <a:ext cx="2670048" cy="1325880"/>
          </a:xfrm>
          <a:prstGeom prst="roundRect">
            <a:avLst>
              <a:gd name="adj" fmla="val 5517"/>
            </a:avLst>
          </a:prstGeom>
          <a:solidFill>
            <a:srgbClr val="F6F8FB"/>
          </a:solidFill>
          <a:ln w="9525">
            <a:solidFill>
              <a:srgbClr val="D5DCE6"/>
            </a:solidFill>
            <a:prstDash val="solid"/>
          </a:ln>
        </p:spPr>
      </p:sp>
      <p:sp>
        <p:nvSpPr>
          <p:cNvPr id="5" name="Text 2"/>
          <p:cNvSpPr txBox="1"/>
          <p:nvPr/>
        </p:nvSpPr>
        <p:spPr>
          <a:xfrm>
            <a:off x="749808" y="153619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01</a:t>
            </a:r>
            <a:endParaRPr lang="en-US" sz="2200" dirty="0"/>
          </a:p>
        </p:txBody>
      </p:sp>
      <p:sp>
        <p:nvSpPr>
          <p:cNvPr id="6" name="Text 3"/>
          <p:cNvSpPr txBox="1"/>
          <p:nvPr/>
        </p:nvSpPr>
        <p:spPr>
          <a:xfrm>
            <a:off x="749808" y="201168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Recap</a:t>
            </a:r>
            <a:endParaRPr lang="en-US" sz="1500" dirty="0"/>
          </a:p>
        </p:txBody>
      </p:sp>
      <p:sp>
        <p:nvSpPr>
          <p:cNvPr id="7" name="agenda 2"/>
          <p:cNvSpPr/>
          <p:nvPr/>
        </p:nvSpPr>
        <p:spPr>
          <a:xfrm>
            <a:off x="3364992" y="1371600"/>
            <a:ext cx="2670048" cy="1325880"/>
          </a:xfrm>
          <a:prstGeom prst="roundRect">
            <a:avLst>
              <a:gd name="adj" fmla="val 5517"/>
            </a:avLst>
          </a:prstGeom>
          <a:solidFill>
            <a:srgbClr val="F6F8FB"/>
          </a:solidFill>
          <a:ln w="9525">
            <a:solidFill>
              <a:srgbClr val="D5DCE6"/>
            </a:solidFill>
            <a:prstDash val="solid"/>
          </a:ln>
        </p:spPr>
      </p:sp>
      <p:sp>
        <p:nvSpPr>
          <p:cNvPr id="8" name="Text 5"/>
          <p:cNvSpPr txBox="1"/>
          <p:nvPr/>
        </p:nvSpPr>
        <p:spPr>
          <a:xfrm>
            <a:off x="3566160" y="153619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02</a:t>
            </a:r>
            <a:endParaRPr lang="en-US" sz="2200" dirty="0"/>
          </a:p>
        </p:txBody>
      </p:sp>
      <p:sp>
        <p:nvSpPr>
          <p:cNvPr id="9" name="Text 6"/>
          <p:cNvSpPr txBox="1"/>
          <p:nvPr/>
        </p:nvSpPr>
        <p:spPr>
          <a:xfrm>
            <a:off x="3566160" y="201168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Architecture</a:t>
            </a:r>
            <a:endParaRPr lang="en-US" sz="1500" dirty="0"/>
          </a:p>
        </p:txBody>
      </p:sp>
      <p:sp>
        <p:nvSpPr>
          <p:cNvPr id="10" name="agenda 3"/>
          <p:cNvSpPr/>
          <p:nvPr/>
        </p:nvSpPr>
        <p:spPr>
          <a:xfrm>
            <a:off x="6181344" y="1371600"/>
            <a:ext cx="2670048" cy="1325880"/>
          </a:xfrm>
          <a:prstGeom prst="roundRect">
            <a:avLst>
              <a:gd name="adj" fmla="val 5517"/>
            </a:avLst>
          </a:prstGeom>
          <a:solidFill>
            <a:srgbClr val="F6F8FB"/>
          </a:solidFill>
          <a:ln w="9525">
            <a:solidFill>
              <a:srgbClr val="D5DCE6"/>
            </a:solidFill>
            <a:prstDash val="solid"/>
          </a:ln>
        </p:spPr>
      </p:sp>
      <p:sp>
        <p:nvSpPr>
          <p:cNvPr id="11" name="Text 8"/>
          <p:cNvSpPr txBox="1"/>
          <p:nvPr/>
        </p:nvSpPr>
        <p:spPr>
          <a:xfrm>
            <a:off x="6382512" y="153619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03</a:t>
            </a:r>
            <a:endParaRPr lang="en-US" sz="2200" dirty="0"/>
          </a:p>
        </p:txBody>
      </p:sp>
      <p:sp>
        <p:nvSpPr>
          <p:cNvPr id="12" name="Text 9"/>
          <p:cNvSpPr txBox="1"/>
          <p:nvPr/>
        </p:nvSpPr>
        <p:spPr>
          <a:xfrm>
            <a:off x="6382512" y="201168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Methodology</a:t>
            </a:r>
            <a:endParaRPr lang="en-US" sz="1500" dirty="0"/>
          </a:p>
        </p:txBody>
      </p:sp>
      <p:sp>
        <p:nvSpPr>
          <p:cNvPr id="13" name="agenda 4"/>
          <p:cNvSpPr/>
          <p:nvPr/>
        </p:nvSpPr>
        <p:spPr>
          <a:xfrm>
            <a:off x="8997696" y="1371600"/>
            <a:ext cx="2670048" cy="1325880"/>
          </a:xfrm>
          <a:prstGeom prst="roundRect">
            <a:avLst>
              <a:gd name="adj" fmla="val 5517"/>
            </a:avLst>
          </a:prstGeom>
          <a:solidFill>
            <a:srgbClr val="F6F8FB"/>
          </a:solidFill>
          <a:ln w="9525">
            <a:solidFill>
              <a:srgbClr val="D5DCE6"/>
            </a:solidFill>
            <a:prstDash val="solid"/>
          </a:ln>
        </p:spPr>
      </p:sp>
      <p:sp>
        <p:nvSpPr>
          <p:cNvPr id="14" name="Text 11"/>
          <p:cNvSpPr txBox="1"/>
          <p:nvPr/>
        </p:nvSpPr>
        <p:spPr>
          <a:xfrm>
            <a:off x="9198864" y="153619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04</a:t>
            </a:r>
            <a:endParaRPr lang="en-US" sz="2200" dirty="0"/>
          </a:p>
        </p:txBody>
      </p:sp>
      <p:sp>
        <p:nvSpPr>
          <p:cNvPr id="15" name="Text 12"/>
          <p:cNvSpPr txBox="1"/>
          <p:nvPr/>
        </p:nvSpPr>
        <p:spPr>
          <a:xfrm>
            <a:off x="9198864" y="201168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Dataset</a:t>
            </a:r>
            <a:endParaRPr lang="en-US" sz="1500" dirty="0"/>
          </a:p>
        </p:txBody>
      </p:sp>
      <p:sp>
        <p:nvSpPr>
          <p:cNvPr id="16" name="agenda 5"/>
          <p:cNvSpPr/>
          <p:nvPr/>
        </p:nvSpPr>
        <p:spPr>
          <a:xfrm>
            <a:off x="548640" y="2880360"/>
            <a:ext cx="2670048" cy="1325880"/>
          </a:xfrm>
          <a:prstGeom prst="roundRect">
            <a:avLst>
              <a:gd name="adj" fmla="val 5517"/>
            </a:avLst>
          </a:prstGeom>
          <a:solidFill>
            <a:srgbClr val="F6F8FB"/>
          </a:solidFill>
          <a:ln w="9525">
            <a:solidFill>
              <a:srgbClr val="D5DCE6"/>
            </a:solidFill>
            <a:prstDash val="solid"/>
          </a:ln>
        </p:spPr>
      </p:sp>
      <p:sp>
        <p:nvSpPr>
          <p:cNvPr id="17" name="Text 14"/>
          <p:cNvSpPr txBox="1"/>
          <p:nvPr/>
        </p:nvSpPr>
        <p:spPr>
          <a:xfrm>
            <a:off x="749808" y="304495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05</a:t>
            </a:r>
            <a:endParaRPr lang="en-US" sz="2200" dirty="0"/>
          </a:p>
        </p:txBody>
      </p:sp>
      <p:sp>
        <p:nvSpPr>
          <p:cNvPr id="18" name="Text 15"/>
          <p:cNvSpPr txBox="1"/>
          <p:nvPr/>
        </p:nvSpPr>
        <p:spPr>
          <a:xfrm>
            <a:off x="749808" y="352044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Data preparation</a:t>
            </a:r>
            <a:endParaRPr lang="en-US" sz="1500" dirty="0"/>
          </a:p>
        </p:txBody>
      </p:sp>
      <p:sp>
        <p:nvSpPr>
          <p:cNvPr id="19" name="agenda 6"/>
          <p:cNvSpPr/>
          <p:nvPr/>
        </p:nvSpPr>
        <p:spPr>
          <a:xfrm>
            <a:off x="3364992" y="2880360"/>
            <a:ext cx="2670048" cy="1325880"/>
          </a:xfrm>
          <a:prstGeom prst="roundRect">
            <a:avLst>
              <a:gd name="adj" fmla="val 5517"/>
            </a:avLst>
          </a:prstGeom>
          <a:solidFill>
            <a:srgbClr val="F6F8FB"/>
          </a:solidFill>
          <a:ln w="9525">
            <a:solidFill>
              <a:srgbClr val="D5DCE6"/>
            </a:solidFill>
            <a:prstDash val="solid"/>
          </a:ln>
        </p:spPr>
      </p:sp>
      <p:sp>
        <p:nvSpPr>
          <p:cNvPr id="20" name="Text 17"/>
          <p:cNvSpPr txBox="1"/>
          <p:nvPr/>
        </p:nvSpPr>
        <p:spPr>
          <a:xfrm>
            <a:off x="3566160" y="304495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06</a:t>
            </a:r>
            <a:endParaRPr lang="en-US" sz="2200" dirty="0"/>
          </a:p>
        </p:txBody>
      </p:sp>
      <p:sp>
        <p:nvSpPr>
          <p:cNvPr id="21" name="Text 18"/>
          <p:cNvSpPr txBox="1"/>
          <p:nvPr/>
        </p:nvSpPr>
        <p:spPr>
          <a:xfrm>
            <a:off x="3566160" y="352044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Model and configuration</a:t>
            </a:r>
            <a:endParaRPr lang="en-US" sz="1500" dirty="0"/>
          </a:p>
        </p:txBody>
      </p:sp>
      <p:sp>
        <p:nvSpPr>
          <p:cNvPr id="22" name="agenda 7"/>
          <p:cNvSpPr/>
          <p:nvPr/>
        </p:nvSpPr>
        <p:spPr>
          <a:xfrm>
            <a:off x="6181344" y="2880360"/>
            <a:ext cx="2670048" cy="1325880"/>
          </a:xfrm>
          <a:prstGeom prst="roundRect">
            <a:avLst>
              <a:gd name="adj" fmla="val 5517"/>
            </a:avLst>
          </a:prstGeom>
          <a:solidFill>
            <a:srgbClr val="F6F8FB"/>
          </a:solidFill>
          <a:ln w="9525">
            <a:solidFill>
              <a:srgbClr val="D5DCE6"/>
            </a:solidFill>
            <a:prstDash val="solid"/>
          </a:ln>
        </p:spPr>
      </p:sp>
      <p:sp>
        <p:nvSpPr>
          <p:cNvPr id="23" name="Text 20"/>
          <p:cNvSpPr txBox="1"/>
          <p:nvPr/>
        </p:nvSpPr>
        <p:spPr>
          <a:xfrm>
            <a:off x="6382512" y="304495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07</a:t>
            </a:r>
            <a:endParaRPr lang="en-US" sz="2200" dirty="0"/>
          </a:p>
        </p:txBody>
      </p:sp>
      <p:sp>
        <p:nvSpPr>
          <p:cNvPr id="24" name="Text 21"/>
          <p:cNvSpPr txBox="1"/>
          <p:nvPr/>
        </p:nvSpPr>
        <p:spPr>
          <a:xfrm>
            <a:off x="6382512" y="352044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Decision logic</a:t>
            </a:r>
            <a:endParaRPr lang="en-US" sz="1500" dirty="0"/>
          </a:p>
        </p:txBody>
      </p:sp>
      <p:sp>
        <p:nvSpPr>
          <p:cNvPr id="25" name="agenda 8"/>
          <p:cNvSpPr/>
          <p:nvPr/>
        </p:nvSpPr>
        <p:spPr>
          <a:xfrm>
            <a:off x="8997696" y="2880360"/>
            <a:ext cx="2670048" cy="1325880"/>
          </a:xfrm>
          <a:prstGeom prst="roundRect">
            <a:avLst>
              <a:gd name="adj" fmla="val 5517"/>
            </a:avLst>
          </a:prstGeom>
          <a:solidFill>
            <a:srgbClr val="F6F8FB"/>
          </a:solidFill>
          <a:ln w="9525">
            <a:solidFill>
              <a:srgbClr val="D5DCE6"/>
            </a:solidFill>
            <a:prstDash val="solid"/>
          </a:ln>
        </p:spPr>
      </p:sp>
      <p:sp>
        <p:nvSpPr>
          <p:cNvPr id="26" name="Text 23"/>
          <p:cNvSpPr txBox="1"/>
          <p:nvPr/>
        </p:nvSpPr>
        <p:spPr>
          <a:xfrm>
            <a:off x="9198864" y="304495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08</a:t>
            </a:r>
            <a:endParaRPr lang="en-US" sz="2200" dirty="0"/>
          </a:p>
        </p:txBody>
      </p:sp>
      <p:sp>
        <p:nvSpPr>
          <p:cNvPr id="27" name="Text 24"/>
          <p:cNvSpPr txBox="1"/>
          <p:nvPr/>
        </p:nvSpPr>
        <p:spPr>
          <a:xfrm>
            <a:off x="9198864" y="352044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Data flow, modules, database</a:t>
            </a:r>
            <a:endParaRPr lang="en-US" sz="1500" dirty="0"/>
          </a:p>
        </p:txBody>
      </p:sp>
      <p:sp>
        <p:nvSpPr>
          <p:cNvPr id="28" name="agenda 9"/>
          <p:cNvSpPr/>
          <p:nvPr/>
        </p:nvSpPr>
        <p:spPr>
          <a:xfrm>
            <a:off x="548640" y="4389120"/>
            <a:ext cx="2670048" cy="1325880"/>
          </a:xfrm>
          <a:prstGeom prst="roundRect">
            <a:avLst>
              <a:gd name="adj" fmla="val 5517"/>
            </a:avLst>
          </a:prstGeom>
          <a:solidFill>
            <a:srgbClr val="F6F8FB"/>
          </a:solidFill>
          <a:ln w="9525">
            <a:solidFill>
              <a:srgbClr val="D5DCE6"/>
            </a:solidFill>
            <a:prstDash val="solid"/>
          </a:ln>
        </p:spPr>
      </p:sp>
      <p:sp>
        <p:nvSpPr>
          <p:cNvPr id="29" name="Text 26"/>
          <p:cNvSpPr txBox="1"/>
          <p:nvPr/>
        </p:nvSpPr>
        <p:spPr>
          <a:xfrm>
            <a:off x="749808" y="455371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09</a:t>
            </a:r>
            <a:endParaRPr lang="en-US" sz="2200" dirty="0"/>
          </a:p>
        </p:txBody>
      </p:sp>
      <p:sp>
        <p:nvSpPr>
          <p:cNvPr id="30" name="Text 27"/>
          <p:cNvSpPr txBox="1"/>
          <p:nvPr/>
        </p:nvSpPr>
        <p:spPr>
          <a:xfrm>
            <a:off x="749808" y="502920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Technology stack</a:t>
            </a:r>
            <a:endParaRPr lang="en-US" sz="1500" dirty="0"/>
          </a:p>
        </p:txBody>
      </p:sp>
      <p:sp>
        <p:nvSpPr>
          <p:cNvPr id="31" name="agenda 10"/>
          <p:cNvSpPr/>
          <p:nvPr/>
        </p:nvSpPr>
        <p:spPr>
          <a:xfrm>
            <a:off x="3364992" y="4389120"/>
            <a:ext cx="2670048" cy="1325880"/>
          </a:xfrm>
          <a:prstGeom prst="roundRect">
            <a:avLst>
              <a:gd name="adj" fmla="val 5517"/>
            </a:avLst>
          </a:prstGeom>
          <a:solidFill>
            <a:srgbClr val="F6F8FB"/>
          </a:solidFill>
          <a:ln w="9525">
            <a:solidFill>
              <a:srgbClr val="D5DCE6"/>
            </a:solidFill>
            <a:prstDash val="solid"/>
          </a:ln>
        </p:spPr>
      </p:sp>
      <p:sp>
        <p:nvSpPr>
          <p:cNvPr id="32" name="Text 29"/>
          <p:cNvSpPr txBox="1"/>
          <p:nvPr/>
        </p:nvSpPr>
        <p:spPr>
          <a:xfrm>
            <a:off x="3566160" y="455371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10</a:t>
            </a:r>
            <a:endParaRPr lang="en-US" sz="2200" dirty="0"/>
          </a:p>
        </p:txBody>
      </p:sp>
      <p:sp>
        <p:nvSpPr>
          <p:cNvPr id="33" name="Text 30"/>
          <p:cNvSpPr txBox="1"/>
          <p:nvPr/>
        </p:nvSpPr>
        <p:spPr>
          <a:xfrm>
            <a:off x="3566160" y="502920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Progress</a:t>
            </a:r>
            <a:endParaRPr lang="en-US" sz="1500" dirty="0"/>
          </a:p>
        </p:txBody>
      </p:sp>
      <p:sp>
        <p:nvSpPr>
          <p:cNvPr id="34" name="agenda 11"/>
          <p:cNvSpPr/>
          <p:nvPr/>
        </p:nvSpPr>
        <p:spPr>
          <a:xfrm>
            <a:off x="6181344" y="4389120"/>
            <a:ext cx="2670048" cy="1325880"/>
          </a:xfrm>
          <a:prstGeom prst="roundRect">
            <a:avLst>
              <a:gd name="adj" fmla="val 5517"/>
            </a:avLst>
          </a:prstGeom>
          <a:solidFill>
            <a:srgbClr val="F6F8FB"/>
          </a:solidFill>
          <a:ln w="9525">
            <a:solidFill>
              <a:srgbClr val="D5DCE6"/>
            </a:solidFill>
            <a:prstDash val="solid"/>
          </a:ln>
        </p:spPr>
      </p:sp>
      <p:sp>
        <p:nvSpPr>
          <p:cNvPr id="35" name="Text 32"/>
          <p:cNvSpPr txBox="1"/>
          <p:nvPr/>
        </p:nvSpPr>
        <p:spPr>
          <a:xfrm>
            <a:off x="6382512" y="455371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11</a:t>
            </a:r>
            <a:endParaRPr lang="en-US" sz="2200" dirty="0"/>
          </a:p>
        </p:txBody>
      </p:sp>
      <p:sp>
        <p:nvSpPr>
          <p:cNvPr id="36" name="Text 33"/>
          <p:cNvSpPr txBox="1"/>
          <p:nvPr/>
        </p:nvSpPr>
        <p:spPr>
          <a:xfrm>
            <a:off x="6382512" y="502920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Preliminary results and screens</a:t>
            </a:r>
            <a:endParaRPr lang="en-US" sz="1500" dirty="0"/>
          </a:p>
        </p:txBody>
      </p:sp>
      <p:sp>
        <p:nvSpPr>
          <p:cNvPr id="37" name="agenda 12"/>
          <p:cNvSpPr/>
          <p:nvPr/>
        </p:nvSpPr>
        <p:spPr>
          <a:xfrm>
            <a:off x="8997696" y="4389120"/>
            <a:ext cx="2670048" cy="1325880"/>
          </a:xfrm>
          <a:prstGeom prst="roundRect">
            <a:avLst>
              <a:gd name="adj" fmla="val 5517"/>
            </a:avLst>
          </a:prstGeom>
          <a:solidFill>
            <a:srgbClr val="F6F8FB"/>
          </a:solidFill>
          <a:ln w="9525">
            <a:solidFill>
              <a:srgbClr val="D5DCE6"/>
            </a:solidFill>
            <a:prstDash val="solid"/>
          </a:ln>
        </p:spPr>
      </p:sp>
      <p:sp>
        <p:nvSpPr>
          <p:cNvPr id="38" name="Text 35"/>
          <p:cNvSpPr txBox="1"/>
          <p:nvPr/>
        </p:nvSpPr>
        <p:spPr>
          <a:xfrm>
            <a:off x="9198864" y="4553712"/>
            <a:ext cx="914400" cy="457200"/>
          </a:xfrm>
          <a:prstGeom prst="rect">
            <a:avLst/>
          </a:prstGeom>
          <a:noFill/>
          <a:ln/>
        </p:spPr>
        <p:txBody>
          <a:bodyPr wrap="square" lIns="0" tIns="0" rIns="0" bIns="0" rtlCol="0" anchor="ctr"/>
          <a:lstStyle/>
          <a:p>
            <a:pPr indent="0" marL="0">
              <a:buNone/>
            </a:pPr>
            <a:r>
              <a:rPr lang="en-US" sz="2200" b="1" dirty="0">
                <a:solidFill>
                  <a:srgbClr val="EB6834"/>
                </a:solidFill>
                <a:latin typeface="Cambria" pitchFamily="34" charset="0"/>
                <a:ea typeface="Cambria" pitchFamily="34" charset="-122"/>
                <a:cs typeface="Cambria" pitchFamily="34" charset="-120"/>
              </a:rPr>
              <a:t>12</a:t>
            </a:r>
            <a:endParaRPr lang="en-US" sz="2200" dirty="0"/>
          </a:p>
        </p:txBody>
      </p:sp>
      <p:sp>
        <p:nvSpPr>
          <p:cNvPr id="39" name="Text 36"/>
          <p:cNvSpPr txBox="1"/>
          <p:nvPr/>
        </p:nvSpPr>
        <p:spPr>
          <a:xfrm>
            <a:off x="9198864" y="5029200"/>
            <a:ext cx="2286000" cy="594360"/>
          </a:xfrm>
          <a:prstGeom prst="rect">
            <a:avLst/>
          </a:prstGeom>
          <a:noFill/>
          <a:ln/>
        </p:spPr>
        <p:txBody>
          <a:bodyPr wrap="square" lIns="0" tIns="0" rIns="0" bIns="0" rtlCol="0" anchor="t"/>
          <a:lstStyle/>
          <a:p>
            <a:pPr indent="0" marL="0">
              <a:buNone/>
            </a:pPr>
            <a:r>
              <a:rPr lang="en-US" sz="1500" b="1" dirty="0">
                <a:solidFill>
                  <a:srgbClr val="0F172A"/>
                </a:solidFill>
              </a:rPr>
              <a:t>Testing, challenges, next steps</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4" name="Problem card"/>
          <p:cNvSpPr/>
          <p:nvPr/>
        </p:nvSpPr>
        <p:spPr>
          <a:xfrm>
            <a:off x="548640" y="1371600"/>
            <a:ext cx="5440680" cy="2103120"/>
          </a:xfrm>
          <a:prstGeom prst="roundRect">
            <a:avLst>
              <a:gd name="adj" fmla="val 3478"/>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Problem">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Problem</a:t>
            </a:r>
            <a:endParaRPr lang="en-US" sz="1600" dirty="0"/>
          </a:p>
        </p:txBody>
      </p:sp>
      <p:sp>
        <p:nvSpPr>
          <p:cNvPr id="8" name="Text 4"/>
          <p:cNvSpPr txBox="1"/>
          <p:nvPr/>
        </p:nvSpPr>
        <p:spPr>
          <a:xfrm>
            <a:off x="777240" y="2240280"/>
            <a:ext cx="4983480" cy="109728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Women face harassment on isolated and crowded streets. Safety apps need a manual SOS press, mostly send one alert, choose routes for speed and rarely keep evidence.</a:t>
            </a:r>
            <a:endParaRPr lang="en-US" sz="1600" dirty="0"/>
          </a:p>
        </p:txBody>
      </p:sp>
      <p:sp>
        <p:nvSpPr>
          <p:cNvPr id="9" name="Proposed system card"/>
          <p:cNvSpPr/>
          <p:nvPr/>
        </p:nvSpPr>
        <p:spPr>
          <a:xfrm>
            <a:off x="6172200" y="1371600"/>
            <a:ext cx="5440680" cy="2103120"/>
          </a:xfrm>
          <a:prstGeom prst="roundRect">
            <a:avLst>
              <a:gd name="adj" fmla="val 3478"/>
            </a:avLst>
          </a:prstGeom>
          <a:solidFill>
            <a:srgbClr val="F6F8FB"/>
          </a:solidFill>
          <a:ln w="9525">
            <a:solidFill>
              <a:srgbClr val="D5DCE6"/>
            </a:solidFill>
            <a:prstDash val="solid"/>
          </a:ln>
        </p:spPr>
      </p:sp>
      <p:sp>
        <p:nvSpPr>
          <p:cNvPr id="10" name="icon circle"/>
          <p:cNvSpPr/>
          <p:nvPr/>
        </p:nvSpPr>
        <p:spPr>
          <a:xfrm>
            <a:off x="6400800" y="1600200"/>
            <a:ext cx="548640" cy="548640"/>
          </a:xfrm>
          <a:prstGeom prst="ellipse">
            <a:avLst/>
          </a:prstGeom>
          <a:solidFill>
            <a:srgbClr val="2A78D6"/>
          </a:solidFill>
          <a:ln w="12700">
            <a:solidFill>
              <a:srgbClr val="2A78D6"/>
            </a:solidFill>
            <a:prstDash val="solid"/>
          </a:ln>
        </p:spPr>
      </p:sp>
      <p:pic>
        <p:nvPicPr>
          <p:cNvPr id="11" name="Image 1" descr="Proposed system">    </p:cNvPr>
          <p:cNvPicPr>
            <a:picLocks noChangeAspect="1"/>
          </p:cNvPicPr>
          <p:nvPr/>
        </p:nvPicPr>
        <p:blipFill>
          <a:blip r:embed="rId2"/>
          <a:stretch>
            <a:fillRect/>
          </a:stretch>
        </p:blipFill>
        <p:spPr>
          <a:xfrm>
            <a:off x="6510528" y="1709928"/>
            <a:ext cx="329184" cy="329184"/>
          </a:xfrm>
          <a:prstGeom prst="rect">
            <a:avLst/>
          </a:prstGeom>
        </p:spPr>
      </p:pic>
      <p:sp>
        <p:nvSpPr>
          <p:cNvPr id="12" name="Text 7"/>
          <p:cNvSpPr txBox="1"/>
          <p:nvPr/>
        </p:nvSpPr>
        <p:spPr>
          <a:xfrm>
            <a:off x="708660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Proposed system</a:t>
            </a:r>
            <a:endParaRPr lang="en-US" sz="1600" dirty="0"/>
          </a:p>
        </p:txBody>
      </p:sp>
      <p:sp>
        <p:nvSpPr>
          <p:cNvPr id="13" name="Text 8"/>
          <p:cNvSpPr txBox="1"/>
          <p:nvPr/>
        </p:nvSpPr>
        <p:spPr>
          <a:xfrm>
            <a:off x="6400800" y="2240280"/>
            <a:ext cx="4983480" cy="109728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safety platform: risk-scored routes, SafePhrase or one-tap SOS, a live guardian link, hashed evidence and a Gemini assistant. Built as a React PWA with FastAPI and SQLite.</a:t>
            </a:r>
            <a:endParaRPr lang="en-US" sz="1600" dirty="0"/>
          </a:p>
        </p:txBody>
      </p:sp>
      <p:sp>
        <p:nvSpPr>
          <p:cNvPr id="14" name="flow step 1"/>
          <p:cNvSpPr/>
          <p:nvPr/>
        </p:nvSpPr>
        <p:spPr>
          <a:xfrm>
            <a:off x="548640" y="3931920"/>
            <a:ext cx="1962851" cy="1280160"/>
          </a:xfrm>
          <a:prstGeom prst="roundRect">
            <a:avLst>
              <a:gd name="adj" fmla="val 5714"/>
            </a:avLst>
          </a:prstGeom>
          <a:solidFill>
            <a:srgbClr val="1B2A41"/>
          </a:solidFill>
          <a:ln w="12700">
            <a:solidFill>
              <a:srgbClr val="1B2A41"/>
            </a:solidFill>
            <a:prstDash val="solid"/>
          </a:ln>
        </p:spPr>
      </p:sp>
      <p:sp>
        <p:nvSpPr>
          <p:cNvPr id="15" name="Text 10"/>
          <p:cNvSpPr txBox="1"/>
          <p:nvPr/>
        </p:nvSpPr>
        <p:spPr>
          <a:xfrm>
            <a:off x="621792" y="3931920"/>
            <a:ext cx="1816547" cy="1280160"/>
          </a:xfrm>
          <a:prstGeom prst="rect">
            <a:avLst/>
          </a:prstGeom>
          <a:noFill/>
          <a:ln/>
        </p:spPr>
        <p:txBody>
          <a:bodyPr wrap="square" lIns="0" tIns="0" rIns="0" bIns="0" rtlCol="0" anchor="ctr"/>
          <a:lstStyle/>
          <a:p>
            <a:pPr algn="ctr" indent="0" marL="0">
              <a:buNone/>
            </a:pPr>
            <a:r>
              <a:rPr lang="en-US" sz="1500" b="1" dirty="0">
                <a:solidFill>
                  <a:srgbClr val="FFFFFF"/>
                </a:solidFill>
              </a:rPr>
              <a:t>Trip, phrase or tap</a:t>
            </a:r>
            <a:endParaRPr lang="en-US" sz="1500" dirty="0"/>
          </a:p>
        </p:txBody>
      </p:sp>
      <p:sp>
        <p:nvSpPr>
          <p:cNvPr id="16" name="arrow"/>
          <p:cNvSpPr/>
          <p:nvPr/>
        </p:nvSpPr>
        <p:spPr>
          <a:xfrm>
            <a:off x="2557211" y="4453128"/>
            <a:ext cx="228600" cy="237744"/>
          </a:xfrm>
          <a:prstGeom prst="rightArrow">
            <a:avLst/>
          </a:prstGeom>
          <a:solidFill>
            <a:srgbClr val="64748B"/>
          </a:solidFill>
          <a:ln w="12700">
            <a:solidFill>
              <a:srgbClr val="64748B"/>
            </a:solidFill>
            <a:prstDash val="solid"/>
          </a:ln>
        </p:spPr>
      </p:sp>
      <p:sp>
        <p:nvSpPr>
          <p:cNvPr id="17" name="flow step 2"/>
          <p:cNvSpPr/>
          <p:nvPr/>
        </p:nvSpPr>
        <p:spPr>
          <a:xfrm>
            <a:off x="2831531" y="3931920"/>
            <a:ext cx="1962851" cy="1280160"/>
          </a:xfrm>
          <a:prstGeom prst="roundRect">
            <a:avLst>
              <a:gd name="adj" fmla="val 5714"/>
            </a:avLst>
          </a:prstGeom>
          <a:solidFill>
            <a:srgbClr val="6250D6"/>
          </a:solidFill>
          <a:ln w="12700">
            <a:solidFill>
              <a:srgbClr val="6250D6"/>
            </a:solidFill>
            <a:prstDash val="solid"/>
          </a:ln>
        </p:spPr>
      </p:sp>
      <p:sp>
        <p:nvSpPr>
          <p:cNvPr id="18" name="Text 13"/>
          <p:cNvSpPr txBox="1"/>
          <p:nvPr/>
        </p:nvSpPr>
        <p:spPr>
          <a:xfrm>
            <a:off x="2904683" y="3931920"/>
            <a:ext cx="1816547" cy="1280160"/>
          </a:xfrm>
          <a:prstGeom prst="rect">
            <a:avLst/>
          </a:prstGeom>
          <a:noFill/>
          <a:ln/>
        </p:spPr>
        <p:txBody>
          <a:bodyPr wrap="square" lIns="0" tIns="0" rIns="0" bIns="0" rtlCol="0" anchor="ctr"/>
          <a:lstStyle/>
          <a:p>
            <a:pPr algn="ctr" indent="0" marL="0">
              <a:buNone/>
            </a:pPr>
            <a:r>
              <a:rPr lang="en-US" sz="1500" b="1" dirty="0">
                <a:solidFill>
                  <a:srgbClr val="FFFFFF"/>
                </a:solidFill>
              </a:rPr>
              <a:t>District risk tiers, OSRM routes</a:t>
            </a:r>
            <a:endParaRPr lang="en-US" sz="1500" dirty="0"/>
          </a:p>
        </p:txBody>
      </p:sp>
      <p:sp>
        <p:nvSpPr>
          <p:cNvPr id="19" name="arrow"/>
          <p:cNvSpPr/>
          <p:nvPr/>
        </p:nvSpPr>
        <p:spPr>
          <a:xfrm>
            <a:off x="4840102" y="4453128"/>
            <a:ext cx="228600" cy="237744"/>
          </a:xfrm>
          <a:prstGeom prst="rightArrow">
            <a:avLst/>
          </a:prstGeom>
          <a:solidFill>
            <a:srgbClr val="64748B"/>
          </a:solidFill>
          <a:ln w="12700">
            <a:solidFill>
              <a:srgbClr val="64748B"/>
            </a:solidFill>
            <a:prstDash val="solid"/>
          </a:ln>
        </p:spPr>
      </p:sp>
      <p:sp>
        <p:nvSpPr>
          <p:cNvPr id="20" name="flow step 3"/>
          <p:cNvSpPr/>
          <p:nvPr/>
        </p:nvSpPr>
        <p:spPr>
          <a:xfrm>
            <a:off x="5114422" y="3931920"/>
            <a:ext cx="1962851" cy="1280160"/>
          </a:xfrm>
          <a:prstGeom prst="roundRect">
            <a:avLst>
              <a:gd name="adj" fmla="val 5714"/>
            </a:avLst>
          </a:prstGeom>
          <a:solidFill>
            <a:srgbClr val="1BAF7A"/>
          </a:solidFill>
          <a:ln w="12700">
            <a:solidFill>
              <a:srgbClr val="1BAF7A"/>
            </a:solidFill>
            <a:prstDash val="solid"/>
          </a:ln>
        </p:spPr>
      </p:sp>
      <p:sp>
        <p:nvSpPr>
          <p:cNvPr id="21" name="Text 16"/>
          <p:cNvSpPr txBox="1"/>
          <p:nvPr/>
        </p:nvSpPr>
        <p:spPr>
          <a:xfrm>
            <a:off x="5187574" y="3931920"/>
            <a:ext cx="1816547" cy="1280160"/>
          </a:xfrm>
          <a:prstGeom prst="rect">
            <a:avLst/>
          </a:prstGeom>
          <a:noFill/>
          <a:ln/>
        </p:spPr>
        <p:txBody>
          <a:bodyPr wrap="square" lIns="0" tIns="0" rIns="0" bIns="0" rtlCol="0" anchor="ctr"/>
          <a:lstStyle/>
          <a:p>
            <a:pPr algn="ctr" indent="0" marL="0">
              <a:buNone/>
            </a:pPr>
            <a:r>
              <a:rPr lang="en-US" sz="1500" b="1" dirty="0">
                <a:solidFill>
                  <a:srgbClr val="FFFFFF"/>
                </a:solidFill>
              </a:rPr>
              <a:t>SOS session + alerts</a:t>
            </a:r>
            <a:endParaRPr lang="en-US" sz="1500" dirty="0"/>
          </a:p>
        </p:txBody>
      </p:sp>
      <p:sp>
        <p:nvSpPr>
          <p:cNvPr id="22" name="arrow"/>
          <p:cNvSpPr/>
          <p:nvPr/>
        </p:nvSpPr>
        <p:spPr>
          <a:xfrm>
            <a:off x="7122993" y="4453128"/>
            <a:ext cx="228600" cy="237744"/>
          </a:xfrm>
          <a:prstGeom prst="rightArrow">
            <a:avLst/>
          </a:prstGeom>
          <a:solidFill>
            <a:srgbClr val="64748B"/>
          </a:solidFill>
          <a:ln w="12700">
            <a:solidFill>
              <a:srgbClr val="64748B"/>
            </a:solidFill>
            <a:prstDash val="solid"/>
          </a:ln>
        </p:spPr>
      </p:sp>
      <p:sp>
        <p:nvSpPr>
          <p:cNvPr id="23" name="flow step 4"/>
          <p:cNvSpPr/>
          <p:nvPr/>
        </p:nvSpPr>
        <p:spPr>
          <a:xfrm>
            <a:off x="7397313" y="3931920"/>
            <a:ext cx="1962851" cy="1280160"/>
          </a:xfrm>
          <a:prstGeom prst="roundRect">
            <a:avLst>
              <a:gd name="adj" fmla="val 5714"/>
            </a:avLst>
          </a:prstGeom>
          <a:solidFill>
            <a:srgbClr val="EB6834"/>
          </a:solidFill>
          <a:ln w="12700">
            <a:solidFill>
              <a:srgbClr val="EB6834"/>
            </a:solidFill>
            <a:prstDash val="solid"/>
          </a:ln>
        </p:spPr>
      </p:sp>
      <p:sp>
        <p:nvSpPr>
          <p:cNvPr id="24" name="Text 19"/>
          <p:cNvSpPr txBox="1"/>
          <p:nvPr/>
        </p:nvSpPr>
        <p:spPr>
          <a:xfrm>
            <a:off x="7470465" y="3931920"/>
            <a:ext cx="1816547" cy="1280160"/>
          </a:xfrm>
          <a:prstGeom prst="rect">
            <a:avLst/>
          </a:prstGeom>
          <a:noFill/>
          <a:ln/>
        </p:spPr>
        <p:txBody>
          <a:bodyPr wrap="square" lIns="0" tIns="0" rIns="0" bIns="0" rtlCol="0" anchor="ctr"/>
          <a:lstStyle/>
          <a:p>
            <a:pPr algn="ctr" indent="0" marL="0">
              <a:buNone/>
            </a:pPr>
            <a:r>
              <a:rPr lang="en-US" sz="1500" b="1" dirty="0">
                <a:solidFill>
                  <a:srgbClr val="FFFFFF"/>
                </a:solidFill>
              </a:rPr>
              <a:t>Live location, evidence</a:t>
            </a:r>
            <a:endParaRPr lang="en-US" sz="1500" dirty="0"/>
          </a:p>
        </p:txBody>
      </p:sp>
      <p:sp>
        <p:nvSpPr>
          <p:cNvPr id="25" name="arrow"/>
          <p:cNvSpPr/>
          <p:nvPr/>
        </p:nvSpPr>
        <p:spPr>
          <a:xfrm>
            <a:off x="9405884" y="4453128"/>
            <a:ext cx="228600" cy="237744"/>
          </a:xfrm>
          <a:prstGeom prst="rightArrow">
            <a:avLst/>
          </a:prstGeom>
          <a:solidFill>
            <a:srgbClr val="64748B"/>
          </a:solidFill>
          <a:ln w="12700">
            <a:solidFill>
              <a:srgbClr val="64748B"/>
            </a:solidFill>
            <a:prstDash val="solid"/>
          </a:ln>
        </p:spPr>
      </p:sp>
      <p:sp>
        <p:nvSpPr>
          <p:cNvPr id="26" name="flow step 5"/>
          <p:cNvSpPr/>
          <p:nvPr/>
        </p:nvSpPr>
        <p:spPr>
          <a:xfrm>
            <a:off x="9680204" y="3931920"/>
            <a:ext cx="1962851" cy="1280160"/>
          </a:xfrm>
          <a:prstGeom prst="roundRect">
            <a:avLst>
              <a:gd name="adj" fmla="val 5714"/>
            </a:avLst>
          </a:prstGeom>
          <a:solidFill>
            <a:srgbClr val="1B2A41"/>
          </a:solidFill>
          <a:ln w="12700">
            <a:solidFill>
              <a:srgbClr val="1B2A41"/>
            </a:solidFill>
            <a:prstDash val="solid"/>
          </a:ln>
        </p:spPr>
      </p:sp>
      <p:sp>
        <p:nvSpPr>
          <p:cNvPr id="27" name="Text 22"/>
          <p:cNvSpPr txBox="1"/>
          <p:nvPr/>
        </p:nvSpPr>
        <p:spPr>
          <a:xfrm>
            <a:off x="9753356" y="3931920"/>
            <a:ext cx="1816547" cy="1280160"/>
          </a:xfrm>
          <a:prstGeom prst="rect">
            <a:avLst/>
          </a:prstGeom>
          <a:noFill/>
          <a:ln/>
        </p:spPr>
        <p:txBody>
          <a:bodyPr wrap="square" lIns="0" tIns="0" rIns="0" bIns="0" rtlCol="0" anchor="ctr"/>
          <a:lstStyle/>
          <a:p>
            <a:pPr algn="ctr" indent="0" marL="0">
              <a:buNone/>
            </a:pPr>
            <a:r>
              <a:rPr lang="en-US" sz="1500" b="1" dirty="0">
                <a:solidFill>
                  <a:srgbClr val="FFFFFF"/>
                </a:solidFill>
              </a:rPr>
              <a:t>Guardian link, cancel</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5" name="Text 1"/>
          <p:cNvSpPr txBox="1"/>
          <p:nvPr/>
        </p:nvSpPr>
        <p:spPr>
          <a:xfrm>
            <a:off x="7543800" y="1463040"/>
            <a:ext cx="4114800" cy="457200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0F172A"/>
                </a:solidFill>
              </a:rPr>
              <a:t>Client: React 19 + TypeScript + Vite (port 5107), installable PWA; Leaflet map, Web Speech API, geolocation, MediaRecorder.</a:t>
            </a:r>
            <a:endParaRPr lang="en-US" sz="1600" dirty="0"/>
          </a:p>
          <a:p>
            <a:pPr marL="228600" indent="-228600">
              <a:spcAft>
                <a:spcPts val="1200"/>
              </a:spcAft>
              <a:buSzPct val="100000"/>
              <a:buChar char="•"/>
            </a:pPr>
            <a:r>
              <a:rPr lang="en-US" sz="1600" dirty="0">
                <a:solidFill>
                  <a:srgbClr val="0F172A"/>
                </a:solidFill>
              </a:rPr>
              <a:t>API: FastAPI (port 8107), 20 endpoints (19 HTTP + 1 WebSocket); JWT login, per-user queries.</a:t>
            </a:r>
            <a:endParaRPr lang="en-US" sz="1600" dirty="0"/>
          </a:p>
          <a:p>
            <a:pPr marL="228600" indent="-228600">
              <a:spcAft>
                <a:spcPts val="1200"/>
              </a:spcAft>
              <a:buSzPct val="100000"/>
              <a:buChar char="•"/>
            </a:pPr>
            <a:r>
              <a:rPr lang="en-US" sz="1600" dirty="0">
                <a:solidFill>
                  <a:srgbClr val="0F172A"/>
                </a:solidFill>
              </a:rPr>
              <a:t>Services: route scorer, OSRM and Nominatim clients, SHA-256 hashing, Gemini client, Telegram and Gmail senders.</a:t>
            </a:r>
            <a:endParaRPr lang="en-US" sz="1600" dirty="0"/>
          </a:p>
          <a:p>
            <a:pPr marL="228600" indent="-228600">
              <a:spcAft>
                <a:spcPts val="1200"/>
              </a:spcAft>
              <a:buSzPct val="100000"/>
              <a:buChar char="•"/>
            </a:pPr>
            <a:r>
              <a:rPr lang="en-US" sz="1600" dirty="0">
                <a:solidFill>
                  <a:srgbClr val="0F172A"/>
                </a:solidFill>
              </a:rPr>
              <a:t>Data: SQLite (6 tables), evidence folder, risk_model.joblib and district_risk.csv.</a:t>
            </a:r>
            <a:endParaRPr lang="en-US" sz="1600" dirty="0"/>
          </a:p>
          <a:p>
            <a:pPr marL="228600" indent="-228600">
              <a:spcAft>
                <a:spcPts val="1200"/>
              </a:spcAft>
              <a:buSzPct val="100000"/>
              <a:buChar char="•"/>
            </a:pPr>
            <a:r>
              <a:rPr lang="en-US" sz="1600" dirty="0">
                <a:solidFill>
                  <a:srgbClr val="0F172A"/>
                </a:solidFill>
              </a:rPr>
              <a:t>Alert channels are coded but not configured in this run.</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System architecture diagram" descr="System architecture diagram"/>
          <p:cNvPicPr>
            <a:picLocks noChangeAspect="1"/>
          </p:cNvPicPr>
          <p:nvPr/>
        </p:nvPicPr>
        <p:blipFill>
          <a:blip r:embed="rId4"/>
          <a:stretch>
            <a:fillRect/>
          </a:stretch>
        </p:blipFill>
        <p:spPr>
          <a:xfrm>
            <a:off x="917575" y="1181100"/>
            <a:ext cx="6108699" cy="49339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end-to-end workflow</a:t>
            </a:r>
            <a:endParaRPr lang="en-US" sz="3200" dirty="0"/>
          </a:p>
        </p:txBody>
      </p:sp>
      <p:sp>
        <p:nvSpPr>
          <p:cNvPr id="4" name="flow step 1"/>
          <p:cNvSpPr/>
          <p:nvPr/>
        </p:nvSpPr>
        <p:spPr>
          <a:xfrm>
            <a:off x="548640" y="1554480"/>
            <a:ext cx="1310596" cy="1463040"/>
          </a:xfrm>
          <a:prstGeom prst="roundRect">
            <a:avLst>
              <a:gd name="adj" fmla="val 5582"/>
            </a:avLst>
          </a:prstGeom>
          <a:solidFill>
            <a:srgbClr val="1B2A41"/>
          </a:solidFill>
          <a:ln w="12700">
            <a:solidFill>
              <a:srgbClr val="1B2A41"/>
            </a:solidFill>
            <a:prstDash val="solid"/>
          </a:ln>
        </p:spPr>
      </p:sp>
      <p:sp>
        <p:nvSpPr>
          <p:cNvPr id="5" name="Text 2"/>
          <p:cNvSpPr txBox="1"/>
          <p:nvPr/>
        </p:nvSpPr>
        <p:spPr>
          <a:xfrm>
            <a:off x="621792"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District crime data 2001-2012</a:t>
            </a:r>
            <a:endParaRPr lang="en-US" sz="1400" dirty="0"/>
          </a:p>
        </p:txBody>
      </p:sp>
      <p:sp>
        <p:nvSpPr>
          <p:cNvPr id="6" name="arrow"/>
          <p:cNvSpPr/>
          <p:nvPr/>
        </p:nvSpPr>
        <p:spPr>
          <a:xfrm>
            <a:off x="1904956" y="2167128"/>
            <a:ext cx="228600" cy="237744"/>
          </a:xfrm>
          <a:prstGeom prst="rightArrow">
            <a:avLst/>
          </a:prstGeom>
          <a:solidFill>
            <a:srgbClr val="64748B"/>
          </a:solidFill>
          <a:ln w="12700">
            <a:solidFill>
              <a:srgbClr val="64748B"/>
            </a:solidFill>
            <a:prstDash val="solid"/>
          </a:ln>
        </p:spPr>
      </p:sp>
      <p:sp>
        <p:nvSpPr>
          <p:cNvPr id="7" name="flow step 2"/>
          <p:cNvSpPr/>
          <p:nvPr/>
        </p:nvSpPr>
        <p:spPr>
          <a:xfrm>
            <a:off x="2179276" y="1554480"/>
            <a:ext cx="1310596" cy="1463040"/>
          </a:xfrm>
          <a:prstGeom prst="roundRect">
            <a:avLst>
              <a:gd name="adj" fmla="val 5582"/>
            </a:avLst>
          </a:prstGeom>
          <a:solidFill>
            <a:srgbClr val="1B2A41"/>
          </a:solidFill>
          <a:ln w="12700">
            <a:solidFill>
              <a:srgbClr val="1B2A41"/>
            </a:solidFill>
            <a:prstDash val="solid"/>
          </a:ln>
        </p:spPr>
      </p:sp>
      <p:sp>
        <p:nvSpPr>
          <p:cNvPr id="8" name="Text 5"/>
          <p:cNvSpPr txBox="1"/>
          <p:nvPr/>
        </p:nvSpPr>
        <p:spPr>
          <a:xfrm>
            <a:off x="2252428"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Sum 7 crimes per reporting year</a:t>
            </a:r>
            <a:endParaRPr lang="en-US" sz="1400" dirty="0"/>
          </a:p>
        </p:txBody>
      </p:sp>
      <p:sp>
        <p:nvSpPr>
          <p:cNvPr id="9" name="arrow"/>
          <p:cNvSpPr/>
          <p:nvPr/>
        </p:nvSpPr>
        <p:spPr>
          <a:xfrm>
            <a:off x="3535593" y="2167128"/>
            <a:ext cx="228600" cy="237744"/>
          </a:xfrm>
          <a:prstGeom prst="rightArrow">
            <a:avLst/>
          </a:prstGeom>
          <a:solidFill>
            <a:srgbClr val="64748B"/>
          </a:solidFill>
          <a:ln w="12700">
            <a:solidFill>
              <a:srgbClr val="64748B"/>
            </a:solidFill>
            <a:prstDash val="solid"/>
          </a:ln>
        </p:spPr>
      </p:sp>
      <p:sp>
        <p:nvSpPr>
          <p:cNvPr id="10" name="flow step 3"/>
          <p:cNvSpPr/>
          <p:nvPr/>
        </p:nvSpPr>
        <p:spPr>
          <a:xfrm>
            <a:off x="3809913" y="1554480"/>
            <a:ext cx="1310596" cy="1463040"/>
          </a:xfrm>
          <a:prstGeom prst="roundRect">
            <a:avLst>
              <a:gd name="adj" fmla="val 5582"/>
            </a:avLst>
          </a:prstGeom>
          <a:solidFill>
            <a:srgbClr val="6250D6"/>
          </a:solidFill>
          <a:ln w="12700">
            <a:solidFill>
              <a:srgbClr val="6250D6"/>
            </a:solidFill>
            <a:prstDash val="solid"/>
          </a:ln>
        </p:spPr>
      </p:sp>
      <p:sp>
        <p:nvSpPr>
          <p:cNvPr id="11" name="Text 8"/>
          <p:cNvSpPr txBox="1"/>
          <p:nvPr/>
        </p:nvSpPr>
        <p:spPr>
          <a:xfrm>
            <a:off x="3883065"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Geocode: 467 of 827 districts</a:t>
            </a:r>
            <a:endParaRPr lang="en-US" sz="1400" dirty="0"/>
          </a:p>
        </p:txBody>
      </p:sp>
      <p:sp>
        <p:nvSpPr>
          <p:cNvPr id="12" name="arrow"/>
          <p:cNvSpPr/>
          <p:nvPr/>
        </p:nvSpPr>
        <p:spPr>
          <a:xfrm>
            <a:off x="5166229" y="2167128"/>
            <a:ext cx="228600" cy="237744"/>
          </a:xfrm>
          <a:prstGeom prst="rightArrow">
            <a:avLst/>
          </a:prstGeom>
          <a:solidFill>
            <a:srgbClr val="64748B"/>
          </a:solidFill>
          <a:ln w="12700">
            <a:solidFill>
              <a:srgbClr val="64748B"/>
            </a:solidFill>
            <a:prstDash val="solid"/>
          </a:ln>
        </p:spPr>
      </p:sp>
      <p:sp>
        <p:nvSpPr>
          <p:cNvPr id="13" name="flow step 4"/>
          <p:cNvSpPr/>
          <p:nvPr/>
        </p:nvSpPr>
        <p:spPr>
          <a:xfrm>
            <a:off x="5440549" y="1554480"/>
            <a:ext cx="1310596" cy="1463040"/>
          </a:xfrm>
          <a:prstGeom prst="roundRect">
            <a:avLst>
              <a:gd name="adj" fmla="val 5582"/>
            </a:avLst>
          </a:prstGeom>
          <a:solidFill>
            <a:srgbClr val="1BAF7A"/>
          </a:solidFill>
          <a:ln w="12700">
            <a:solidFill>
              <a:srgbClr val="1BAF7A"/>
            </a:solidFill>
            <a:prstDash val="solid"/>
          </a:ln>
        </p:spPr>
      </p:sp>
      <p:sp>
        <p:nvSpPr>
          <p:cNvPr id="14" name="Text 11"/>
          <p:cNvSpPr txBox="1"/>
          <p:nvPr/>
        </p:nvSpPr>
        <p:spPr>
          <a:xfrm>
            <a:off x="5513701"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K-Means k=3 on crime rate</a:t>
            </a:r>
            <a:endParaRPr lang="en-US" sz="1400" dirty="0"/>
          </a:p>
        </p:txBody>
      </p:sp>
      <p:sp>
        <p:nvSpPr>
          <p:cNvPr id="15" name="arrow"/>
          <p:cNvSpPr/>
          <p:nvPr/>
        </p:nvSpPr>
        <p:spPr>
          <a:xfrm>
            <a:off x="6796866" y="2167128"/>
            <a:ext cx="228600" cy="237744"/>
          </a:xfrm>
          <a:prstGeom prst="rightArrow">
            <a:avLst/>
          </a:prstGeom>
          <a:solidFill>
            <a:srgbClr val="64748B"/>
          </a:solidFill>
          <a:ln w="12700">
            <a:solidFill>
              <a:srgbClr val="64748B"/>
            </a:solidFill>
            <a:prstDash val="solid"/>
          </a:ln>
        </p:spPr>
      </p:sp>
      <p:sp>
        <p:nvSpPr>
          <p:cNvPr id="16" name="flow step 5"/>
          <p:cNvSpPr/>
          <p:nvPr/>
        </p:nvSpPr>
        <p:spPr>
          <a:xfrm>
            <a:off x="7071186" y="1554480"/>
            <a:ext cx="1310596" cy="1463040"/>
          </a:xfrm>
          <a:prstGeom prst="roundRect">
            <a:avLst>
              <a:gd name="adj" fmla="val 5582"/>
            </a:avLst>
          </a:prstGeom>
          <a:solidFill>
            <a:srgbClr val="EB6834"/>
          </a:solidFill>
          <a:ln w="12700">
            <a:solidFill>
              <a:srgbClr val="EB6834"/>
            </a:solidFill>
            <a:prstDash val="solid"/>
          </a:ln>
        </p:spPr>
      </p:sp>
      <p:sp>
        <p:nvSpPr>
          <p:cNvPr id="17" name="Text 14"/>
          <p:cNvSpPr txBox="1"/>
          <p:nvPr/>
        </p:nvSpPr>
        <p:spPr>
          <a:xfrm>
            <a:off x="7144338"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Evaluate: indices, k sweep</a:t>
            </a:r>
            <a:endParaRPr lang="en-US" sz="1400" dirty="0"/>
          </a:p>
        </p:txBody>
      </p:sp>
      <p:sp>
        <p:nvSpPr>
          <p:cNvPr id="18" name="arrow"/>
          <p:cNvSpPr/>
          <p:nvPr/>
        </p:nvSpPr>
        <p:spPr>
          <a:xfrm>
            <a:off x="8427502" y="2167128"/>
            <a:ext cx="228600" cy="237744"/>
          </a:xfrm>
          <a:prstGeom prst="rightArrow">
            <a:avLst/>
          </a:prstGeom>
          <a:solidFill>
            <a:srgbClr val="64748B"/>
          </a:solidFill>
          <a:ln w="12700">
            <a:solidFill>
              <a:srgbClr val="64748B"/>
            </a:solidFill>
            <a:prstDash val="solid"/>
          </a:ln>
        </p:spPr>
      </p:sp>
      <p:sp>
        <p:nvSpPr>
          <p:cNvPr id="19" name="flow step 6"/>
          <p:cNvSpPr/>
          <p:nvPr/>
        </p:nvSpPr>
        <p:spPr>
          <a:xfrm>
            <a:off x="8701822" y="1554480"/>
            <a:ext cx="1310596" cy="1463040"/>
          </a:xfrm>
          <a:prstGeom prst="roundRect">
            <a:avLst>
              <a:gd name="adj" fmla="val 5582"/>
            </a:avLst>
          </a:prstGeom>
          <a:solidFill>
            <a:srgbClr val="2A78D6"/>
          </a:solidFill>
          <a:ln w="12700">
            <a:solidFill>
              <a:srgbClr val="2A78D6"/>
            </a:solidFill>
            <a:prstDash val="solid"/>
          </a:ln>
        </p:spPr>
      </p:sp>
      <p:sp>
        <p:nvSpPr>
          <p:cNvPr id="20" name="Text 17"/>
          <p:cNvSpPr txBox="1"/>
          <p:nvPr/>
        </p:nvSpPr>
        <p:spPr>
          <a:xfrm>
            <a:off x="8774974"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Score OSRM routes by tier</a:t>
            </a:r>
            <a:endParaRPr lang="en-US" sz="1400" dirty="0"/>
          </a:p>
        </p:txBody>
      </p:sp>
      <p:sp>
        <p:nvSpPr>
          <p:cNvPr id="21" name="arrow"/>
          <p:cNvSpPr/>
          <p:nvPr/>
        </p:nvSpPr>
        <p:spPr>
          <a:xfrm>
            <a:off x="10058139" y="2167128"/>
            <a:ext cx="228600" cy="237744"/>
          </a:xfrm>
          <a:prstGeom prst="rightArrow">
            <a:avLst/>
          </a:prstGeom>
          <a:solidFill>
            <a:srgbClr val="64748B"/>
          </a:solidFill>
          <a:ln w="12700">
            <a:solidFill>
              <a:srgbClr val="64748B"/>
            </a:solidFill>
            <a:prstDash val="solid"/>
          </a:ln>
        </p:spPr>
      </p:sp>
      <p:sp>
        <p:nvSpPr>
          <p:cNvPr id="22" name="flow step 7"/>
          <p:cNvSpPr/>
          <p:nvPr/>
        </p:nvSpPr>
        <p:spPr>
          <a:xfrm>
            <a:off x="10332459" y="1554480"/>
            <a:ext cx="1310596" cy="1463040"/>
          </a:xfrm>
          <a:prstGeom prst="roundRect">
            <a:avLst>
              <a:gd name="adj" fmla="val 5582"/>
            </a:avLst>
          </a:prstGeom>
          <a:solidFill>
            <a:srgbClr val="1B2A41"/>
          </a:solidFill>
          <a:ln w="12700">
            <a:solidFill>
              <a:srgbClr val="1B2A41"/>
            </a:solidFill>
            <a:prstDash val="solid"/>
          </a:ln>
        </p:spPr>
      </p:sp>
      <p:sp>
        <p:nvSpPr>
          <p:cNvPr id="23" name="Text 20"/>
          <p:cNvSpPr txBox="1"/>
          <p:nvPr/>
        </p:nvSpPr>
        <p:spPr>
          <a:xfrm>
            <a:off x="10405611" y="1554480"/>
            <a:ext cx="1164292" cy="1463040"/>
          </a:xfrm>
          <a:prstGeom prst="rect">
            <a:avLst/>
          </a:prstGeom>
          <a:noFill/>
          <a:ln/>
        </p:spPr>
        <p:txBody>
          <a:bodyPr wrap="square" lIns="0" tIns="0" rIns="0" bIns="0" rtlCol="0" anchor="ctr"/>
          <a:lstStyle/>
          <a:p>
            <a:pPr algn="ctr" indent="0" marL="0">
              <a:buNone/>
            </a:pPr>
            <a:r>
              <a:rPr lang="en-US" sz="1400" b="1" dirty="0">
                <a:solidFill>
                  <a:srgbClr val="FFFFFF"/>
                </a:solidFill>
              </a:rPr>
              <a:t>Serve: FastAPI + React</a:t>
            </a:r>
            <a:endParaRPr lang="en-US" sz="1400" dirty="0"/>
          </a:p>
        </p:txBody>
      </p:sp>
      <p:sp>
        <p:nvSpPr>
          <p:cNvPr id="24" name="Separate tracks card"/>
          <p:cNvSpPr/>
          <p:nvPr/>
        </p:nvSpPr>
        <p:spPr>
          <a:xfrm>
            <a:off x="548640" y="3429000"/>
            <a:ext cx="3566160" cy="2331720"/>
          </a:xfrm>
          <a:prstGeom prst="roundRect">
            <a:avLst>
              <a:gd name="adj" fmla="val 3137"/>
            </a:avLst>
          </a:prstGeom>
          <a:solidFill>
            <a:srgbClr val="F6F8FB"/>
          </a:solidFill>
          <a:ln w="9525">
            <a:solidFill>
              <a:srgbClr val="D5DCE6"/>
            </a:solidFill>
            <a:prstDash val="solid"/>
          </a:ln>
        </p:spPr>
      </p:sp>
      <p:sp>
        <p:nvSpPr>
          <p:cNvPr id="25" name="Text 22"/>
          <p:cNvSpPr txBox="1"/>
          <p:nvPr/>
        </p:nvSpPr>
        <p:spPr>
          <a:xfrm>
            <a:off x="777240" y="36118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Cluster, not classify</a:t>
            </a:r>
            <a:endParaRPr lang="en-US" sz="1600" dirty="0"/>
          </a:p>
        </p:txBody>
      </p:sp>
      <p:sp>
        <p:nvSpPr>
          <p:cNvPr id="26" name="Text 23"/>
          <p:cNvSpPr txBox="1"/>
          <p:nvPr/>
        </p:nvSpPr>
        <p:spPr>
          <a:xfrm>
            <a:off x="777240" y="4297680"/>
            <a:ext cx="3108960" cy="13258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There are no safe/unsafe labels, so districts are clustered on one number and named low, medium, high.</a:t>
            </a:r>
            <a:endParaRPr lang="en-US" sz="1500" dirty="0"/>
          </a:p>
        </p:txBody>
      </p:sp>
      <p:sp>
        <p:nvSpPr>
          <p:cNvPr id="27" name="Shared preprocessing card"/>
          <p:cNvSpPr/>
          <p:nvPr/>
        </p:nvSpPr>
        <p:spPr>
          <a:xfrm>
            <a:off x="4297680" y="3429000"/>
            <a:ext cx="3566160" cy="2331720"/>
          </a:xfrm>
          <a:prstGeom prst="roundRect">
            <a:avLst>
              <a:gd name="adj" fmla="val 3137"/>
            </a:avLst>
          </a:prstGeom>
          <a:solidFill>
            <a:srgbClr val="F6F8FB"/>
          </a:solidFill>
          <a:ln w="9525">
            <a:solidFill>
              <a:srgbClr val="D5DCE6"/>
            </a:solidFill>
            <a:prstDash val="solid"/>
          </a:ln>
        </p:spPr>
      </p:sp>
      <p:sp>
        <p:nvSpPr>
          <p:cNvPr id="28" name="Text 25"/>
          <p:cNvSpPr txBox="1"/>
          <p:nvPr/>
        </p:nvSpPr>
        <p:spPr>
          <a:xfrm>
            <a:off x="4526280" y="36118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Tested around the model</a:t>
            </a:r>
            <a:endParaRPr lang="en-US" sz="1600" dirty="0"/>
          </a:p>
        </p:txBody>
      </p:sp>
      <p:sp>
        <p:nvSpPr>
          <p:cNvPr id="29" name="Text 26"/>
          <p:cNvSpPr txBox="1"/>
          <p:nvPr/>
        </p:nvSpPr>
        <p:spPr>
          <a:xfrm>
            <a:off x="4526280" y="4297680"/>
            <a:ext cx="3108960" cy="13258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Alternative tierings, seed stability, route sensitivity and the SafePhrase matcher were measured separately.</a:t>
            </a:r>
            <a:endParaRPr lang="en-US" sz="1500" dirty="0"/>
          </a:p>
        </p:txBody>
      </p:sp>
      <p:sp>
        <p:nvSpPr>
          <p:cNvPr id="30" name="Reproducible card"/>
          <p:cNvSpPr/>
          <p:nvPr/>
        </p:nvSpPr>
        <p:spPr>
          <a:xfrm>
            <a:off x="8046720" y="3429000"/>
            <a:ext cx="3566160" cy="2331720"/>
          </a:xfrm>
          <a:prstGeom prst="roundRect">
            <a:avLst>
              <a:gd name="adj" fmla="val 3137"/>
            </a:avLst>
          </a:prstGeom>
          <a:solidFill>
            <a:srgbClr val="F6F8FB"/>
          </a:solidFill>
          <a:ln w="9525">
            <a:solidFill>
              <a:srgbClr val="D5DCE6"/>
            </a:solidFill>
            <a:prstDash val="solid"/>
          </a:ln>
        </p:spPr>
      </p:sp>
      <p:sp>
        <p:nvSpPr>
          <p:cNvPr id="31" name="Text 28"/>
          <p:cNvSpPr txBox="1"/>
          <p:nvPr/>
        </p:nvSpPr>
        <p:spPr>
          <a:xfrm>
            <a:off x="8275320" y="36118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Reproducible</a:t>
            </a:r>
            <a:endParaRPr lang="en-US" sz="1600" dirty="0"/>
          </a:p>
        </p:txBody>
      </p:sp>
      <p:sp>
        <p:nvSpPr>
          <p:cNvPr id="32" name="Text 29"/>
          <p:cNvSpPr txBox="1"/>
          <p:nvPr/>
        </p:nvSpPr>
        <p:spPr>
          <a:xfrm>
            <a:off x="8275320" y="4297680"/>
            <a:ext cx="3108960" cy="13258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Fixed seed 42; scripts/run_experiments.py regenerates experiments/study/metrics.json.</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Dataset and input sources</a:t>
            </a:r>
            <a:endParaRPr lang="en-US" sz="3200" dirty="0"/>
          </a:p>
        </p:txBody>
      </p:sp>
      <p:graphicFrame>
        <p:nvGraphicFramePr>
          <p:cNvPr id="4" name="Chart 0" descr=""/>
          <p:cNvGraphicFramePr/>
          <p:nvPr/>
        </p:nvGraphicFramePr>
        <p:xfrm>
          <a:off x="548640" y="1280160"/>
          <a:ext cx="5760720" cy="44805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0" y="1463040"/>
          <a:ext cx="5056631" cy="914400"/>
        </p:xfrm>
        <a:graphic>
          <a:graphicData uri="http://schemas.openxmlformats.org/drawingml/2006/table">
            <a:tbl>
              <a:tblPr/>
              <a:tblGrid>
                <a:gridCol w="1921520"/>
                <a:gridCol w="1921520"/>
                <a:gridCol w="1213591"/>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56692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Crime in India district file [23] (CC0)</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8,597 rows, 827 districts, 12 years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Risk feature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Nominatim geocodes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467 of 827 districts (56.5 %)</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Map position</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State-year file 2001-2021 [24] (CC0)</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736 rows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Not used by any feature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OSRM, Nominatim (live)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Public demo servers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Routes, place search</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66928">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Demo database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Demo account + registered users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Walk-through</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preparation and features</a:t>
            </a:r>
            <a:endParaRPr lang="en-US" sz="3200" dirty="0"/>
          </a:p>
        </p:txBody>
      </p:sp>
      <p:sp>
        <p:nvSpPr>
          <p:cNvPr id="4" name="Text card"/>
          <p:cNvSpPr/>
          <p:nvPr/>
        </p:nvSpPr>
        <p:spPr>
          <a:xfrm>
            <a:off x="548640" y="1371600"/>
            <a:ext cx="3566160" cy="4389120"/>
          </a:xfrm>
          <a:prstGeom prst="roundRect">
            <a:avLst>
              <a:gd name="adj" fmla="val 2051"/>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6250D6"/>
          </a:solidFill>
          <a:ln w="12700">
            <a:solidFill>
              <a:srgbClr val="6250D6"/>
            </a:solidFill>
            <a:prstDash val="solid"/>
          </a:ln>
        </p:spPr>
      </p:sp>
      <p:pic>
        <p:nvPicPr>
          <p:cNvPr id="6" name="Image 0" descr="Text">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Crime table</a:t>
            </a:r>
            <a:endParaRPr lang="en-US" sz="1600" dirty="0"/>
          </a:p>
        </p:txBody>
      </p:sp>
      <p:sp>
        <p:nvSpPr>
          <p:cNvPr id="8" name="Text 4"/>
          <p:cNvSpPr txBox="1"/>
          <p:nvPr/>
        </p:nvSpPr>
        <p:spPr>
          <a:xfrm>
            <a:off x="777240" y="2240280"/>
            <a:ext cx="3108960" cy="3383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Drop TOTAL roll-up rows (9,017 to 8,597); sum the 7 crime columns; divide by the years a district reported (638 of 827 reported all 12). Feature: crimes per reporting year.</a:t>
            </a:r>
            <a:endParaRPr lang="en-US" sz="1500" dirty="0"/>
          </a:p>
        </p:txBody>
      </p:sp>
      <p:sp>
        <p:nvSpPr>
          <p:cNvPr id="9" name="Images and video card"/>
          <p:cNvSpPr/>
          <p:nvPr/>
        </p:nvSpPr>
        <p:spPr>
          <a:xfrm>
            <a:off x="4297680" y="1371600"/>
            <a:ext cx="3566160" cy="4389120"/>
          </a:xfrm>
          <a:prstGeom prst="roundRect">
            <a:avLst>
              <a:gd name="adj" fmla="val 2051"/>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1BAF7A"/>
          </a:solidFill>
          <a:ln w="12700">
            <a:solidFill>
              <a:srgbClr val="1BAF7A"/>
            </a:solidFill>
            <a:prstDash val="solid"/>
          </a:ln>
        </p:spPr>
      </p:sp>
      <p:pic>
        <p:nvPicPr>
          <p:cNvPr id="11" name="Image 1" descr="Images and video">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Geocoding and join</a:t>
            </a:r>
            <a:endParaRPr lang="en-US" sz="1600" dirty="0"/>
          </a:p>
        </p:txBody>
      </p:sp>
      <p:sp>
        <p:nvSpPr>
          <p:cNvPr id="13" name="Text 8"/>
          <p:cNvSpPr txBox="1"/>
          <p:nvPr/>
        </p:nvSpPr>
        <p:spPr>
          <a:xfrm>
            <a:off x="4526280" y="2240280"/>
            <a:ext cx="3108960" cy="3383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Nominatim once, 1 request per second; 467 of 827 kept, the rest dropped not guessed. No geocoded district for Uttar Pradesh, West Bengal, Delhi and 8 other states/UTs. StandardScaler on the feature; score 0-100 by min-max.</a:t>
            </a:r>
            <a:endParaRPr lang="en-US" sz="1500" dirty="0"/>
          </a:p>
        </p:txBody>
      </p:sp>
      <p:sp>
        <p:nvSpPr>
          <p:cNvPr id="14" name="AI-media data card"/>
          <p:cNvSpPr/>
          <p:nvPr/>
        </p:nvSpPr>
        <p:spPr>
          <a:xfrm>
            <a:off x="8046720" y="1371600"/>
            <a:ext cx="3566160" cy="4389120"/>
          </a:xfrm>
          <a:prstGeom prst="roundRect">
            <a:avLst>
              <a:gd name="adj" fmla="val 2051"/>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EDA100"/>
          </a:solidFill>
          <a:ln w="12700">
            <a:solidFill>
              <a:srgbClr val="EDA100"/>
            </a:solidFill>
            <a:prstDash val="solid"/>
          </a:ln>
        </p:spPr>
      </p:sp>
      <p:pic>
        <p:nvPicPr>
          <p:cNvPr id="16" name="Image 2" descr="AI-media data">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Run-time inputs</a:t>
            </a:r>
            <a:endParaRPr lang="en-US" sz="1600" dirty="0"/>
          </a:p>
        </p:txBody>
      </p:sp>
      <p:sp>
        <p:nvSpPr>
          <p:cNvPr id="18" name="Text 12"/>
          <p:cNvSpPr txBox="1"/>
          <p:nvPr/>
        </p:nvSpPr>
        <p:spPr>
          <a:xfrm>
            <a:off x="8275320" y="2240280"/>
            <a:ext cx="3108960" cy="3383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Route polyline sampled at every 8th point, nearest district by haversine (no distance limit). SafePhrase transcript lowercased, punctuation removed, matched in a word window.</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Models and decision rules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0" y="1463040"/>
          <a:ext cx="3867912" cy="914400"/>
        </p:xfrm>
        <a:graphic>
          <a:graphicData uri="http://schemas.openxmlformats.org/drawingml/2006/table">
            <a:tbl>
              <a:tblPr/>
              <a:tblGrid>
                <a:gridCol w="2011680"/>
                <a:gridCol w="1856232"/>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Detail</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45720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Risk model</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K-Means, k=3, one feature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Tier weights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low 1.0, medium 2.5, high 5.0</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5720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Night factor</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x 1.6 (about 20:30-05:30 IST)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SafePhrase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word-window match, 4 levels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6" name="Text 1"/>
          <p:cNvSpPr txBox="1"/>
          <p:nvPr/>
        </p:nvSpPr>
        <p:spPr>
          <a:xfrm>
            <a:off x="7772400" y="3931920"/>
            <a:ext cx="3867912" cy="365760"/>
          </a:xfrm>
          <a:prstGeom prst="rect">
            <a:avLst/>
          </a:prstGeom>
          <a:noFill/>
          <a:ln/>
        </p:spPr>
        <p:txBody>
          <a:bodyPr wrap="square" lIns="0" tIns="0" rIns="0" bIns="0" rtlCol="0" anchor="ctr"/>
          <a:lstStyle/>
          <a:p>
            <a:pPr indent="0" marL="0">
              <a:buNone/>
            </a:pPr>
            <a:r>
              <a:rPr lang="en-US" sz="1100" i="1" dirty="0">
                <a:solidFill>
                  <a:srgbClr val="64748B"/>
                </a:solidFill>
              </a:rPr>
              <a:t>Classical clustering on the CPU; no deep network and no GPU.</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pic>
        <p:nvPicPr>
          <p:cNvPr id="26" name="High-level workflow" descr="High-level workflow"/>
          <p:cNvPicPr>
            <a:picLocks noChangeAspect="1"/>
          </p:cNvPicPr>
          <p:nvPr/>
        </p:nvPicPr>
        <p:blipFill>
          <a:blip r:embed="rId4"/>
          <a:stretch>
            <a:fillRect/>
          </a:stretch>
        </p:blipFill>
        <p:spPr>
          <a:xfrm>
            <a:off x="714375" y="1807460"/>
            <a:ext cx="6600825" cy="36812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Training configuration</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669280" cy="914400"/>
        </p:xfrm>
        <a:graphic>
          <a:graphicData uri="http://schemas.openxmlformats.org/drawingml/2006/table">
            <a:tbl>
              <a:tblPr/>
              <a:tblGrid>
                <a:gridCol w="2377440"/>
                <a:gridCol w="3291840"/>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Setting</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548640">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467 districts, 1 feature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Algorithm</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K-Means, k=3, seed 42, n_init 10</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Scaling</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StandardScaler</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Split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none (unsupervised, all 467)</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Fit time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under 1 s on CPU</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Quality</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silhouette 0.580, DB 0.531</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48640">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Tiers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278 low, 148 medium, 41 high</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Cut-offs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213.75 and 529.83 crimes/year</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6" name="picture frame"/>
          <p:cNvSpPr/>
          <p:nvPr/>
        </p:nvSpPr>
        <p:spPr>
          <a:xfrm>
            <a:off x="6960203" y="2190750"/>
            <a:ext cx="4119943" cy="2571750"/>
          </a:xfrm>
          <a:prstGeom prst="rect">
            <a:avLst/>
          </a:prstGeom>
          <a:ln w="9525">
            <a:solidFill>
              <a:srgbClr val="D5DCE6"/>
            </a:solidFill>
            <a:prstDash val="solid"/>
          </a:ln>
        </p:spPr>
      </p:sp>
      <p:sp>
        <p:nvSpPr>
          <p:cNvPr id="7" name="Text 2"/>
          <p:cNvSpPr txBox="1"/>
          <p:nvPr/>
        </p:nvSpPr>
        <p:spPr>
          <a:xfrm>
            <a:off x="6400800" y="4857750"/>
            <a:ext cx="5239512" cy="274320"/>
          </a:xfrm>
          <a:prstGeom prst="rect">
            <a:avLst/>
          </a:prstGeom>
          <a:noFill/>
          <a:ln/>
        </p:spPr>
        <p:txBody>
          <a:bodyPr wrap="square" lIns="0" tIns="0" rIns="0" bIns="0" rtlCol="0" anchor="ctr"/>
          <a:lstStyle/>
          <a:p>
            <a:pPr algn="ctr" indent="0" marL="0">
              <a:buNone/>
            </a:pPr>
            <a:r>
              <a:rPr lang="en-US" sz="1100" i="1" dirty="0">
                <a:solidFill>
                  <a:srgbClr val="64748B"/>
                </a:solidFill>
              </a:rPr>
              <a:t>Silhouette and Davies-Bouldin for k = 2 to 8: k=3 is a UI choice, not the optimum</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pic>
        <p:nvPicPr>
          <p:cNvPr id="26" name="k sweep chart" descr="k sweep chart"/>
          <p:cNvPicPr>
            <a:picLocks noChangeAspect="1"/>
          </p:cNvPicPr>
          <p:nvPr/>
        </p:nvPicPr>
        <p:blipFill>
          <a:blip r:embed="rId4"/>
          <a:stretch>
            <a:fillRect/>
          </a:stretch>
        </p:blipFill>
        <p:spPr>
          <a:xfrm>
            <a:off x="6960203" y="2190750"/>
            <a:ext cx="4119943" cy="25717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a:t>
            </a:r>
            <a:endParaRPr lang="en-US" sz="3200" dirty="0"/>
          </a:p>
        </p:txBody>
      </p:sp>
      <p:sp>
        <p:nvSpPr>
          <p:cNvPr id="5" name="Verdict card"/>
          <p:cNvSpPr/>
          <p:nvPr/>
        </p:nvSpPr>
        <p:spPr>
          <a:xfrm>
            <a:off x="6572250" y="1371600"/>
            <a:ext cx="5057775" cy="1371600"/>
          </a:xfrm>
          <a:prstGeom prst="roundRect">
            <a:avLst>
              <a:gd name="adj" fmla="val 5333"/>
            </a:avLst>
          </a:prstGeom>
          <a:solidFill>
            <a:srgbClr val="F6F8FB"/>
          </a:solidFill>
          <a:ln w="9525">
            <a:solidFill>
              <a:srgbClr val="D5DCE6"/>
            </a:solidFill>
            <a:prstDash val="solid"/>
          </a:ln>
        </p:spPr>
      </p:sp>
      <p:sp>
        <p:nvSpPr>
          <p:cNvPr id="6" name="Text 2"/>
          <p:cNvSpPr txBox="1"/>
          <p:nvPr/>
        </p:nvSpPr>
        <p:spPr>
          <a:xfrm>
            <a:off x="6800850" y="1466850"/>
            <a:ext cx="4667250" cy="381000"/>
          </a:xfrm>
          <a:prstGeom prst="rect">
            <a:avLst/>
          </a:prstGeom>
          <a:noFill/>
          <a:ln/>
        </p:spPr>
        <p:txBody>
          <a:bodyPr wrap="square" lIns="0" tIns="0" rIns="0" bIns="0" rtlCol="0" anchor="ctr">
            <a:normAutofit/>
          </a:bodyPr>
          <a:lstStyle/>
          <a:p>
            <a:pPr indent="0" marL="0">
              <a:buNone/>
            </a:pPr>
            <a:r>
              <a:rPr lang="en-US" sz="1600" b="1" dirty="0">
                <a:solidFill>
                  <a:srgbClr val="0F172A"/>
                </a:solidFill>
              </a:rPr>
              <a:t>Route score</a:t>
            </a:r>
            <a:endParaRPr lang="en-US" sz="1600" dirty="0"/>
          </a:p>
        </p:txBody>
      </p:sp>
      <p:sp>
        <p:nvSpPr>
          <p:cNvPr id="7" name="Text 3"/>
          <p:cNvSpPr txBox="1"/>
          <p:nvPr/>
        </p:nvSpPr>
        <p:spPr>
          <a:xfrm>
            <a:off x="6800850" y="1847850"/>
            <a:ext cx="4667250" cy="87630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Every 8th point: nearest district tier weight; mean x 1.6 at night; lowest score is recommended.</a:t>
            </a:r>
            <a:endParaRPr lang="en-US" sz="1500" dirty="0"/>
          </a:p>
        </p:txBody>
      </p:sp>
      <p:sp>
        <p:nvSpPr>
          <p:cNvPr id="8" name="Partial input card"/>
          <p:cNvSpPr/>
          <p:nvPr/>
        </p:nvSpPr>
        <p:spPr>
          <a:xfrm>
            <a:off x="6572250" y="2880360"/>
            <a:ext cx="5057775" cy="1371600"/>
          </a:xfrm>
          <a:prstGeom prst="roundRect">
            <a:avLst>
              <a:gd name="adj" fmla="val 5333"/>
            </a:avLst>
          </a:prstGeom>
          <a:solidFill>
            <a:srgbClr val="F6F8FB"/>
          </a:solidFill>
          <a:ln w="9525">
            <a:solidFill>
              <a:srgbClr val="D5DCE6"/>
            </a:solidFill>
            <a:prstDash val="solid"/>
          </a:ln>
        </p:spPr>
      </p:sp>
      <p:sp>
        <p:nvSpPr>
          <p:cNvPr id="9" name="Text 5"/>
          <p:cNvSpPr txBox="1"/>
          <p:nvPr/>
        </p:nvSpPr>
        <p:spPr>
          <a:xfrm>
            <a:off x="6800850" y="2975610"/>
            <a:ext cx="4667250" cy="38100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SOS trigger</a:t>
            </a:r>
            <a:endParaRPr lang="en-US" sz="1600" dirty="0"/>
          </a:p>
        </p:txBody>
      </p:sp>
      <p:sp>
        <p:nvSpPr>
          <p:cNvPr id="10" name="Text 6"/>
          <p:cNvSpPr txBox="1"/>
          <p:nvPr/>
        </p:nvSpPr>
        <p:spPr>
          <a:xfrm>
            <a:off x="6800850" y="3356610"/>
            <a:ext cx="4667250" cy="87630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One tap, or a SafePhrase match; start session, alert guardians, stream location; 3-second hold cancels.</a:t>
            </a:r>
            <a:endParaRPr lang="en-US" sz="1500" dirty="0"/>
          </a:p>
        </p:txBody>
      </p:sp>
      <p:sp>
        <p:nvSpPr>
          <p:cNvPr id="11" name="Saving card"/>
          <p:cNvSpPr/>
          <p:nvPr/>
        </p:nvSpPr>
        <p:spPr>
          <a:xfrm>
            <a:off x="6572250" y="4389120"/>
            <a:ext cx="5057775" cy="1371600"/>
          </a:xfrm>
          <a:prstGeom prst="roundRect">
            <a:avLst>
              <a:gd name="adj" fmla="val 5333"/>
            </a:avLst>
          </a:prstGeom>
          <a:solidFill>
            <a:srgbClr val="F6F8FB"/>
          </a:solidFill>
          <a:ln w="9525">
            <a:solidFill>
              <a:srgbClr val="D5DCE6"/>
            </a:solidFill>
            <a:prstDash val="solid"/>
          </a:ln>
        </p:spPr>
      </p:sp>
      <p:sp>
        <p:nvSpPr>
          <p:cNvPr id="12" name="Text 8"/>
          <p:cNvSpPr txBox="1"/>
          <p:nvPr/>
        </p:nvSpPr>
        <p:spPr>
          <a:xfrm>
            <a:off x="6800850" y="4484370"/>
            <a:ext cx="4667250" cy="38100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SafePhrase level</a:t>
            </a:r>
            <a:endParaRPr lang="en-US" sz="1600" dirty="0"/>
          </a:p>
        </p:txBody>
      </p:sp>
      <p:sp>
        <p:nvSpPr>
          <p:cNvPr id="13" name="Text 9"/>
          <p:cNvSpPr txBox="1"/>
          <p:nvPr/>
        </p:nvSpPr>
        <p:spPr>
          <a:xfrm>
            <a:off x="6800850" y="4865370"/>
            <a:ext cx="4667250" cy="87630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Medium (default) 54 % recall, 0 of 80 false triggers; Ultra 100 % recall, 10 % false triggers.</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Decision flowchart" descr="Decision flowchart"/>
          <p:cNvPicPr>
            <a:picLocks noChangeAspect="1"/>
          </p:cNvPicPr>
          <p:nvPr/>
        </p:nvPicPr>
        <p:blipFill>
          <a:blip r:embed="rId4"/>
          <a:stretch>
            <a:fillRect/>
          </a:stretch>
        </p:blipFill>
        <p:spPr>
          <a:xfrm>
            <a:off x="454602" y="1181100"/>
            <a:ext cx="5853545" cy="4953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5" name="Text 1"/>
          <p:cNvSpPr txBox="1"/>
          <p:nvPr/>
        </p:nvSpPr>
        <p:spPr>
          <a:xfrm>
            <a:off x="542925" y="4400550"/>
            <a:ext cx="11094415" cy="274320"/>
          </a:xfrm>
          <a:prstGeom prst="rect">
            <a:avLst/>
          </a:prstGeom>
          <a:noFill/>
          <a:ln/>
        </p:spPr>
        <p:txBody>
          <a:bodyPr wrap="square" lIns="0" tIns="0" rIns="0" bIns="0" rtlCol="0" anchor="ctr"/>
          <a:lstStyle/>
          <a:p>
            <a:pPr algn="ctr" indent="0" marL="0">
              <a:buNone/>
            </a:pPr>
            <a:r>
              <a:rPr lang="en-US" sz="1100" i="1" dirty="0">
                <a:solidFill>
                  <a:srgbClr val="64748B"/>
                </a:solidFill>
              </a:rPr>
              <a:t>DFD level 1 (left) and level 2 expansion of 'Plan safe route' (right)</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686300"/>
          <a:ext cx="11094414" cy="914400"/>
        </p:xfrm>
        <a:graphic>
          <a:graphicData uri="http://schemas.openxmlformats.org/drawingml/2006/table">
            <a:tbl>
              <a:tblPr/>
              <a:tblGrid>
                <a:gridCol w="2440771"/>
                <a:gridCol w="8653643"/>
              </a:tblGrid>
              <a:tr h="32385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Module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Responsibility</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32385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Routes and risk</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OSRM alternatives, nearest-district scoring, risk areas for the map layer</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32385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SOS and tracking</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session, location pings, WebSocket push, public share-token page, cancel</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32385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Evidence, assistant, access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photo/audio with SHA-256; Gemini question endpoint; JWT and owner scoping</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DFD level 1" descr="DFD level 1"/>
          <p:cNvPicPr>
            <a:picLocks noChangeAspect="1"/>
          </p:cNvPicPr>
          <p:nvPr/>
        </p:nvPicPr>
        <p:blipFill>
          <a:blip r:embed="rId4"/>
          <a:stretch>
            <a:fillRect/>
          </a:stretch>
        </p:blipFill>
        <p:spPr>
          <a:xfrm>
            <a:off x="622299" y="1123950"/>
            <a:ext cx="4318000" cy="3238500"/>
          </a:xfrm>
          <a:prstGeom prst="rect">
            <a:avLst/>
          </a:prstGeom>
        </p:spPr>
      </p:pic>
      <p:pic>
        <p:nvPicPr>
          <p:cNvPr id="27" name="DFD level 2" descr="DFD level 2"/>
          <p:cNvPicPr>
            <a:picLocks noChangeAspect="1"/>
          </p:cNvPicPr>
          <p:nvPr/>
        </p:nvPicPr>
        <p:blipFill>
          <a:blip r:embed="rId5"/>
          <a:stretch>
            <a:fillRect/>
          </a:stretch>
        </p:blipFill>
        <p:spPr>
          <a:xfrm>
            <a:off x="5934075" y="1123950"/>
            <a:ext cx="4953000" cy="3238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Database design and UML</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096250" y="1428750"/>
          <a:ext cx="3533775" cy="914400"/>
        </p:xfrm>
        <a:graphic>
          <a:graphicData uri="http://schemas.openxmlformats.org/drawingml/2006/table">
            <a:tbl>
              <a:tblPr/>
              <a:tblGrid>
                <a:gridCol w="1272159"/>
                <a:gridCol w="1342834"/>
                <a:gridCol w="918781"/>
              </a:tblGrid>
              <a:tr h="28575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Table</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Key fields</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Relations</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285750">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users, guardians</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email, password hash; owner_id</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1:N guardians, sessions</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85750">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emergency_sessions</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share_token, status, trigger</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1:N pings, evidence</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285750">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location_pings, evidence</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lat, lng, ts; kind, sha256</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N:1 session</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85750">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district_risk</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district, lat, lng, tier</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seeded from CSV (467)</a:t>
                      </a:r>
                      <a:endParaRPr lang="en-US" sz="10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6" name="Text 1"/>
          <p:cNvSpPr txBox="1"/>
          <p:nvPr/>
        </p:nvSpPr>
        <p:spPr>
          <a:xfrm>
            <a:off x="542925" y="4991100"/>
            <a:ext cx="7315200" cy="274320"/>
          </a:xfrm>
          <a:prstGeom prst="rect">
            <a:avLst/>
          </a:prstGeom>
          <a:noFill/>
          <a:ln/>
        </p:spPr>
        <p:txBody>
          <a:bodyPr wrap="square" lIns="0" tIns="0" rIns="0" bIns="0" rtlCol="0" anchor="ctr"/>
          <a:lstStyle/>
          <a:p>
            <a:pPr algn="ctr" indent="0" marL="0">
              <a:buNone/>
            </a:pPr>
            <a:r>
              <a:rPr lang="en-US" sz="1100" i="1" dirty="0">
                <a:solidFill>
                  <a:srgbClr val="64748B"/>
                </a:solidFill>
              </a:rPr>
              <a:t>ER diagram, 6 tables (left) and UML class diagram (right)</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ER diagram" descr="ER diagram"/>
          <p:cNvPicPr>
            <a:picLocks noChangeAspect="1"/>
          </p:cNvPicPr>
          <p:nvPr/>
        </p:nvPicPr>
        <p:blipFill>
          <a:blip r:embed="rId4"/>
          <a:stretch>
            <a:fillRect/>
          </a:stretch>
        </p:blipFill>
        <p:spPr>
          <a:xfrm>
            <a:off x="542925" y="1265909"/>
            <a:ext cx="3667125" cy="3526081"/>
          </a:xfrm>
          <a:prstGeom prst="rect">
            <a:avLst/>
          </a:prstGeom>
        </p:spPr>
      </p:pic>
      <p:pic>
        <p:nvPicPr>
          <p:cNvPr id="27" name="UML class diagram" descr="UML class diagram"/>
          <p:cNvPicPr>
            <a:picLocks noChangeAspect="1"/>
          </p:cNvPicPr>
          <p:nvPr/>
        </p:nvPicPr>
        <p:blipFill>
          <a:blip r:embed="rId5"/>
          <a:stretch>
            <a:fillRect/>
          </a:stretch>
        </p:blipFill>
        <p:spPr>
          <a:xfrm>
            <a:off x="4639235" y="1123950"/>
            <a:ext cx="2913529" cy="381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4" name="Language card"/>
          <p:cNvSpPr/>
          <p:nvPr/>
        </p:nvSpPr>
        <p:spPr>
          <a:xfrm>
            <a:off x="548640" y="1371600"/>
            <a:ext cx="3566160" cy="2057400"/>
          </a:xfrm>
          <a:prstGeom prst="roundRect">
            <a:avLst>
              <a:gd name="adj" fmla="val 3556"/>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2A78D6"/>
          </a:solidFill>
          <a:ln w="12700">
            <a:solidFill>
              <a:srgbClr val="2A78D6"/>
            </a:solidFill>
            <a:prstDash val="solid"/>
          </a:ln>
        </p:spPr>
      </p:sp>
      <p:pic>
        <p:nvPicPr>
          <p:cNvPr id="6" name="Image 0" descr="Language">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Language</a:t>
            </a:r>
            <a:endParaRPr lang="en-US" sz="1600" dirty="0"/>
          </a:p>
        </p:txBody>
      </p:sp>
      <p:sp>
        <p:nvSpPr>
          <p:cNvPr id="8" name="Text 4"/>
          <p:cNvSpPr txBox="1"/>
          <p:nvPr/>
        </p:nvSpPr>
        <p:spPr>
          <a:xfrm>
            <a:off x="777240" y="2240280"/>
            <a:ext cx="3108960" cy="105156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Python 3.11, TypeScript 5.8</a:t>
            </a:r>
            <a:endParaRPr lang="en-US" sz="1500" dirty="0"/>
          </a:p>
        </p:txBody>
      </p:sp>
      <p:sp>
        <p:nvSpPr>
          <p:cNvPr id="9" name="Deep learning card"/>
          <p:cNvSpPr/>
          <p:nvPr/>
        </p:nvSpPr>
        <p:spPr>
          <a:xfrm>
            <a:off x="4297680" y="1371600"/>
            <a:ext cx="3566160" cy="2057400"/>
          </a:xfrm>
          <a:prstGeom prst="roundRect">
            <a:avLst>
              <a:gd name="adj" fmla="val 3556"/>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6250D6"/>
          </a:solidFill>
          <a:ln w="12700">
            <a:solidFill>
              <a:srgbClr val="6250D6"/>
            </a:solidFill>
            <a:prstDash val="solid"/>
          </a:ln>
        </p:spPr>
      </p:sp>
      <p:pic>
        <p:nvPicPr>
          <p:cNvPr id="11" name="Image 1" descr="Deep learning">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Machine learning</a:t>
            </a:r>
            <a:endParaRPr lang="en-US" sz="1600" dirty="0"/>
          </a:p>
        </p:txBody>
      </p:sp>
      <p:sp>
        <p:nvSpPr>
          <p:cNvPr id="13" name="Text 8"/>
          <p:cNvSpPr txBox="1"/>
          <p:nvPr/>
        </p:nvSpPr>
        <p:spPr>
          <a:xfrm>
            <a:off x="4526280" y="2240280"/>
            <a:ext cx="3108960" cy="105156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scikit-learn 1.5.2 (K-Means), pandas 2.2.3, NumPy 2.1.3, joblib</a:t>
            </a:r>
            <a:endParaRPr lang="en-US" sz="1500" dirty="0"/>
          </a:p>
        </p:txBody>
      </p:sp>
      <p:sp>
        <p:nvSpPr>
          <p:cNvPr id="14" name="Data / NLP card"/>
          <p:cNvSpPr/>
          <p:nvPr/>
        </p:nvSpPr>
        <p:spPr>
          <a:xfrm>
            <a:off x="8046720" y="1371600"/>
            <a:ext cx="3566160" cy="2057400"/>
          </a:xfrm>
          <a:prstGeom prst="roundRect">
            <a:avLst>
              <a:gd name="adj" fmla="val 3556"/>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1BAF7A"/>
          </a:solidFill>
          <a:ln w="12700">
            <a:solidFill>
              <a:srgbClr val="1BAF7A"/>
            </a:solidFill>
            <a:prstDash val="solid"/>
          </a:ln>
        </p:spPr>
      </p:sp>
      <p:pic>
        <p:nvPicPr>
          <p:cNvPr id="16" name="Image 2" descr="Data / NLP">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Maps and services</a:t>
            </a:r>
            <a:endParaRPr lang="en-US" sz="1600" dirty="0"/>
          </a:p>
        </p:txBody>
      </p:sp>
      <p:sp>
        <p:nvSpPr>
          <p:cNvPr id="18" name="Text 12"/>
          <p:cNvSpPr txBox="1"/>
          <p:nvPr/>
        </p:nvSpPr>
        <p:spPr>
          <a:xfrm>
            <a:off x="8275320" y="2240280"/>
            <a:ext cx="3108960" cy="105156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OSRM, Nominatim, OpenStreetMap tiles, Leaflet 1.9, Gemini API</a:t>
            </a:r>
            <a:endParaRPr lang="en-US" sz="1500" dirty="0"/>
          </a:p>
        </p:txBody>
      </p:sp>
      <p:sp>
        <p:nvSpPr>
          <p:cNvPr id="19" name="Backend card"/>
          <p:cNvSpPr/>
          <p:nvPr/>
        </p:nvSpPr>
        <p:spPr>
          <a:xfrm>
            <a:off x="548640" y="3611880"/>
            <a:ext cx="3566160" cy="2057400"/>
          </a:xfrm>
          <a:prstGeom prst="roundRect">
            <a:avLst>
              <a:gd name="adj" fmla="val 3556"/>
            </a:avLst>
          </a:prstGeom>
          <a:solidFill>
            <a:srgbClr val="F6F8FB"/>
          </a:solidFill>
          <a:ln w="9525">
            <a:solidFill>
              <a:srgbClr val="D5DCE6"/>
            </a:solidFill>
            <a:prstDash val="solid"/>
          </a:ln>
        </p:spPr>
      </p:sp>
      <p:sp>
        <p:nvSpPr>
          <p:cNvPr id="20" name="icon circle"/>
          <p:cNvSpPr/>
          <p:nvPr/>
        </p:nvSpPr>
        <p:spPr>
          <a:xfrm>
            <a:off x="777240" y="3840480"/>
            <a:ext cx="548640" cy="548640"/>
          </a:xfrm>
          <a:prstGeom prst="ellipse">
            <a:avLst/>
          </a:prstGeom>
          <a:solidFill>
            <a:srgbClr val="1B2A41"/>
          </a:solidFill>
          <a:ln w="12700">
            <a:solidFill>
              <a:srgbClr val="1B2A41"/>
            </a:solidFill>
            <a:prstDash val="solid"/>
          </a:ln>
        </p:spPr>
      </p:sp>
      <p:pic>
        <p:nvPicPr>
          <p:cNvPr id="21" name="Image 3" descr="Backend">    </p:cNvPr>
          <p:cNvPicPr>
            <a:picLocks noChangeAspect="1"/>
          </p:cNvPicPr>
          <p:nvPr/>
        </p:nvPicPr>
        <p:blipFill>
          <a:blip r:embed="rId4"/>
          <a:stretch>
            <a:fillRect/>
          </a:stretch>
        </p:blipFill>
        <p:spPr>
          <a:xfrm>
            <a:off x="886968" y="3950208"/>
            <a:ext cx="329184" cy="329184"/>
          </a:xfrm>
          <a:prstGeom prst="rect">
            <a:avLst/>
          </a:prstGeom>
        </p:spPr>
      </p:pic>
      <p:sp>
        <p:nvSpPr>
          <p:cNvPr id="22" name="Text 15"/>
          <p:cNvSpPr txBox="1"/>
          <p:nvPr/>
        </p:nvSpPr>
        <p:spPr>
          <a:xfrm>
            <a:off x="146304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Backend</a:t>
            </a:r>
            <a:endParaRPr lang="en-US" sz="1600" dirty="0"/>
          </a:p>
        </p:txBody>
      </p:sp>
      <p:sp>
        <p:nvSpPr>
          <p:cNvPr id="23" name="Text 16"/>
          <p:cNvSpPr txBox="1"/>
          <p:nvPr/>
        </p:nvSpPr>
        <p:spPr>
          <a:xfrm>
            <a:off x="777240" y="4480560"/>
            <a:ext cx="3108960" cy="105156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FastAPI 0.115, SQLAlchemy 2.0, PyJWT, bcrypt, WebSocket, Telegram and Gmail senders</a:t>
            </a:r>
            <a:endParaRPr lang="en-US" sz="1500" dirty="0"/>
          </a:p>
        </p:txBody>
      </p:sp>
      <p:sp>
        <p:nvSpPr>
          <p:cNvPr id="24" name="Frontend card"/>
          <p:cNvSpPr/>
          <p:nvPr/>
        </p:nvSpPr>
        <p:spPr>
          <a:xfrm>
            <a:off x="4297680" y="3611880"/>
            <a:ext cx="3566160" cy="2057400"/>
          </a:xfrm>
          <a:prstGeom prst="roundRect">
            <a:avLst>
              <a:gd name="adj" fmla="val 3556"/>
            </a:avLst>
          </a:prstGeom>
          <a:solidFill>
            <a:srgbClr val="F6F8FB"/>
          </a:solidFill>
          <a:ln w="9525">
            <a:solidFill>
              <a:srgbClr val="D5DCE6"/>
            </a:solidFill>
            <a:prstDash val="solid"/>
          </a:ln>
        </p:spPr>
      </p:sp>
      <p:sp>
        <p:nvSpPr>
          <p:cNvPr id="25" name="icon circle"/>
          <p:cNvSpPr/>
          <p:nvPr/>
        </p:nvSpPr>
        <p:spPr>
          <a:xfrm>
            <a:off x="4526280" y="3840480"/>
            <a:ext cx="548640" cy="548640"/>
          </a:xfrm>
          <a:prstGeom prst="ellipse">
            <a:avLst/>
          </a:prstGeom>
          <a:solidFill>
            <a:srgbClr val="EDA100"/>
          </a:solidFill>
          <a:ln w="12700">
            <a:solidFill>
              <a:srgbClr val="EDA100"/>
            </a:solidFill>
            <a:prstDash val="solid"/>
          </a:ln>
        </p:spPr>
      </p:sp>
      <p:pic>
        <p:nvPicPr>
          <p:cNvPr id="26" name="Image 4" descr="Frontend">    </p:cNvPr>
          <p:cNvPicPr>
            <a:picLocks noChangeAspect="1"/>
          </p:cNvPicPr>
          <p:nvPr/>
        </p:nvPicPr>
        <p:blipFill>
          <a:blip r:embed="rId5"/>
          <a:stretch>
            <a:fillRect/>
          </a:stretch>
        </p:blipFill>
        <p:spPr>
          <a:xfrm>
            <a:off x="4636008" y="3950208"/>
            <a:ext cx="329184" cy="329184"/>
          </a:xfrm>
          <a:prstGeom prst="rect">
            <a:avLst/>
          </a:prstGeom>
        </p:spPr>
      </p:pic>
      <p:sp>
        <p:nvSpPr>
          <p:cNvPr id="27" name="Text 19"/>
          <p:cNvSpPr txBox="1"/>
          <p:nvPr/>
        </p:nvSpPr>
        <p:spPr>
          <a:xfrm>
            <a:off x="521208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Frontend</a:t>
            </a:r>
            <a:endParaRPr lang="en-US" sz="1600" dirty="0"/>
          </a:p>
        </p:txBody>
      </p:sp>
      <p:sp>
        <p:nvSpPr>
          <p:cNvPr id="28" name="Text 20"/>
          <p:cNvSpPr txBox="1"/>
          <p:nvPr/>
        </p:nvSpPr>
        <p:spPr>
          <a:xfrm>
            <a:off x="4526280" y="4480560"/>
            <a:ext cx="3108960" cy="105156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React 19, Vite 6, Tailwind CSS 4, Web Speech API, PWA plugin</a:t>
            </a:r>
            <a:endParaRPr lang="en-US" sz="1500" dirty="0"/>
          </a:p>
        </p:txBody>
      </p:sp>
      <p:sp>
        <p:nvSpPr>
          <p:cNvPr id="29" name="Storage / reports / tests card"/>
          <p:cNvSpPr/>
          <p:nvPr/>
        </p:nvSpPr>
        <p:spPr>
          <a:xfrm>
            <a:off x="8046720" y="3611880"/>
            <a:ext cx="3566160" cy="2057400"/>
          </a:xfrm>
          <a:prstGeom prst="roundRect">
            <a:avLst>
              <a:gd name="adj" fmla="val 3556"/>
            </a:avLst>
          </a:prstGeom>
          <a:solidFill>
            <a:srgbClr val="F6F8FB"/>
          </a:solidFill>
          <a:ln w="9525">
            <a:solidFill>
              <a:srgbClr val="D5DCE6"/>
            </a:solidFill>
            <a:prstDash val="solid"/>
          </a:ln>
        </p:spPr>
      </p:sp>
      <p:sp>
        <p:nvSpPr>
          <p:cNvPr id="30" name="icon circle"/>
          <p:cNvSpPr/>
          <p:nvPr/>
        </p:nvSpPr>
        <p:spPr>
          <a:xfrm>
            <a:off x="8275320" y="3840480"/>
            <a:ext cx="548640" cy="548640"/>
          </a:xfrm>
          <a:prstGeom prst="ellipse">
            <a:avLst/>
          </a:prstGeom>
          <a:solidFill>
            <a:srgbClr val="EB6834"/>
          </a:solidFill>
          <a:ln w="12700">
            <a:solidFill>
              <a:srgbClr val="EB6834"/>
            </a:solidFill>
            <a:prstDash val="solid"/>
          </a:ln>
        </p:spPr>
      </p:sp>
      <p:pic>
        <p:nvPicPr>
          <p:cNvPr id="31" name="Image 5" descr="Storage / reports / tests">    </p:cNvPr>
          <p:cNvPicPr>
            <a:picLocks noChangeAspect="1"/>
          </p:cNvPicPr>
          <p:nvPr/>
        </p:nvPicPr>
        <p:blipFill>
          <a:blip r:embed="rId6"/>
          <a:stretch>
            <a:fillRect/>
          </a:stretch>
        </p:blipFill>
        <p:spPr>
          <a:xfrm>
            <a:off x="8385048" y="3950208"/>
            <a:ext cx="329184" cy="329184"/>
          </a:xfrm>
          <a:prstGeom prst="rect">
            <a:avLst/>
          </a:prstGeom>
        </p:spPr>
      </p:pic>
      <p:sp>
        <p:nvSpPr>
          <p:cNvPr id="32" name="Text 23"/>
          <p:cNvSpPr txBox="1"/>
          <p:nvPr/>
        </p:nvSpPr>
        <p:spPr>
          <a:xfrm>
            <a:off x="896112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Storage and tests</a:t>
            </a:r>
            <a:endParaRPr lang="en-US" sz="1600" dirty="0"/>
          </a:p>
        </p:txBody>
      </p:sp>
      <p:sp>
        <p:nvSpPr>
          <p:cNvPr id="33" name="Text 24"/>
          <p:cNvSpPr txBox="1"/>
          <p:nvPr/>
        </p:nvSpPr>
        <p:spPr>
          <a:xfrm>
            <a:off x="8275320" y="4480560"/>
            <a:ext cx="3108960" cy="105156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SQLite, evidence folder, pytest (51 pass, 6 expected fail), Playwright captures</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914400"/>
        </p:xfrm>
        <a:graphic>
          <a:graphicData uri="http://schemas.openxmlformats.org/drawingml/2006/table">
            <a:tbl>
              <a:tblPr/>
              <a:tblGrid>
                <a:gridCol w="4498848"/>
                <a:gridCol w="2999232"/>
              </a:tblGrid>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Component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Accounts, guardians, per-user data scoping</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Completed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K-Means district risk and route scoring</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Completed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SOS, live location, WebSocket tracking page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Completed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Evidence capture with SHA-256</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Completed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SafePhrase: speech + matcher</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Completed; recogniser not measured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Alerts: Telegram, Gmail</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Coded, never delivered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Gemini assistant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Coded; quota error in test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1206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Real-device, field and user testing</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done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5" name="trained networks tile"/>
          <p:cNvSpPr/>
          <p:nvPr/>
        </p:nvSpPr>
        <p:spPr>
          <a:xfrm>
            <a:off x="8321040" y="1371600"/>
            <a:ext cx="3319272" cy="1417320"/>
          </a:xfrm>
          <a:prstGeom prst="roundRect">
            <a:avLst>
              <a:gd name="adj" fmla="val 5161"/>
            </a:avLst>
          </a:prstGeom>
          <a:solidFill>
            <a:srgbClr val="F6F8FB"/>
          </a:solidFill>
          <a:ln w="9525">
            <a:solidFill>
              <a:srgbClr val="D5DCE6"/>
            </a:solidFill>
            <a:prstDash val="solid"/>
          </a:ln>
        </p:spPr>
      </p:sp>
      <p:sp>
        <p:nvSpPr>
          <p:cNvPr id="6" name="Text 2"/>
          <p:cNvSpPr txBox="1"/>
          <p:nvPr/>
        </p:nvSpPr>
        <p:spPr>
          <a:xfrm>
            <a:off x="8503920" y="1508760"/>
            <a:ext cx="2953512" cy="779526"/>
          </a:xfrm>
          <a:prstGeom prst="rect">
            <a:avLst/>
          </a:prstGeom>
          <a:noFill/>
          <a:ln/>
        </p:spPr>
        <p:txBody>
          <a:bodyPr wrap="square" lIns="0" tIns="0" rIns="0" bIns="0" rtlCol="0" anchor="b"/>
          <a:lstStyle/>
          <a:p>
            <a:pPr indent="0" marL="0">
              <a:buNone/>
            </a:pPr>
            <a:r>
              <a:rPr lang="en-US" sz="3600" b="1" dirty="0">
                <a:solidFill>
                  <a:srgbClr val="2A78D6"/>
                </a:solidFill>
                <a:latin typeface="Cambria" pitchFamily="34" charset="0"/>
                <a:ea typeface="Cambria" pitchFamily="34" charset="-122"/>
                <a:cs typeface="Cambria" pitchFamily="34" charset="-120"/>
              </a:rPr>
              <a:t>20</a:t>
            </a:r>
            <a:endParaRPr lang="en-US" sz="3600" dirty="0"/>
          </a:p>
        </p:txBody>
      </p:sp>
      <p:sp>
        <p:nvSpPr>
          <p:cNvPr id="7" name="Text 3"/>
          <p:cNvSpPr txBox="1"/>
          <p:nvPr/>
        </p:nvSpPr>
        <p:spPr>
          <a:xfrm>
            <a:off x="8503920" y="2250338"/>
            <a:ext cx="2953512" cy="467716"/>
          </a:xfrm>
          <a:prstGeom prst="rect">
            <a:avLst/>
          </a:prstGeom>
          <a:noFill/>
          <a:ln/>
        </p:spPr>
        <p:txBody>
          <a:bodyPr wrap="square" lIns="0" tIns="0" rIns="0" bIns="0" rtlCol="0" anchor="t"/>
          <a:lstStyle/>
          <a:p>
            <a:pPr indent="0" marL="0">
              <a:buNone/>
            </a:pPr>
            <a:r>
              <a:rPr lang="en-US" sz="1300" dirty="0">
                <a:solidFill>
                  <a:srgbClr val="475569"/>
                </a:solidFill>
              </a:rPr>
              <a:t>API endpoints (19 HTTP + 1 WebSocket)</a:t>
            </a:r>
            <a:endParaRPr lang="en-US" sz="1300" dirty="0"/>
          </a:p>
        </p:txBody>
      </p:sp>
      <p:sp>
        <p:nvSpPr>
          <p:cNvPr id="8" name="served model profiles tile"/>
          <p:cNvSpPr/>
          <p:nvPr/>
        </p:nvSpPr>
        <p:spPr>
          <a:xfrm>
            <a:off x="8321040" y="2971800"/>
            <a:ext cx="3319272" cy="1417320"/>
          </a:xfrm>
          <a:prstGeom prst="roundRect">
            <a:avLst>
              <a:gd name="adj" fmla="val 5161"/>
            </a:avLst>
          </a:prstGeom>
          <a:solidFill>
            <a:srgbClr val="F6F8FB"/>
          </a:solidFill>
          <a:ln w="9525">
            <a:solidFill>
              <a:srgbClr val="D5DCE6"/>
            </a:solidFill>
            <a:prstDash val="solid"/>
          </a:ln>
        </p:spPr>
      </p:sp>
      <p:sp>
        <p:nvSpPr>
          <p:cNvPr id="9" name="Text 5"/>
          <p:cNvSpPr txBox="1"/>
          <p:nvPr/>
        </p:nvSpPr>
        <p:spPr>
          <a:xfrm>
            <a:off x="8503920" y="3108960"/>
            <a:ext cx="2953512" cy="779526"/>
          </a:xfrm>
          <a:prstGeom prst="rect">
            <a:avLst/>
          </a:prstGeom>
          <a:noFill/>
          <a:ln/>
        </p:spPr>
        <p:txBody>
          <a:bodyPr wrap="square" lIns="0" tIns="0" rIns="0" bIns="0" rtlCol="0" anchor="b"/>
          <a:lstStyle/>
          <a:p>
            <a:pPr indent="0" marL="0">
              <a:buNone/>
            </a:pPr>
            <a:r>
              <a:rPr lang="en-US" sz="3600" b="1" dirty="0">
                <a:solidFill>
                  <a:srgbClr val="1BAF7A"/>
                </a:solidFill>
                <a:latin typeface="Cambria" pitchFamily="34" charset="0"/>
                <a:ea typeface="Cambria" pitchFamily="34" charset="-122"/>
                <a:cs typeface="Cambria" pitchFamily="34" charset="-120"/>
              </a:rPr>
              <a:t>6</a:t>
            </a:r>
            <a:endParaRPr lang="en-US" sz="3600" dirty="0"/>
          </a:p>
        </p:txBody>
      </p:sp>
      <p:sp>
        <p:nvSpPr>
          <p:cNvPr id="10" name="Text 6"/>
          <p:cNvSpPr txBox="1"/>
          <p:nvPr/>
        </p:nvSpPr>
        <p:spPr>
          <a:xfrm>
            <a:off x="8503920" y="3850538"/>
            <a:ext cx="2953512" cy="467716"/>
          </a:xfrm>
          <a:prstGeom prst="rect">
            <a:avLst/>
          </a:prstGeom>
          <a:noFill/>
          <a:ln/>
        </p:spPr>
        <p:txBody>
          <a:bodyPr wrap="square" lIns="0" tIns="0" rIns="0" bIns="0" rtlCol="0" anchor="t"/>
          <a:lstStyle/>
          <a:p>
            <a:pPr indent="0" marL="0">
              <a:buNone/>
            </a:pPr>
            <a:r>
              <a:rPr lang="en-US" sz="1300" dirty="0">
                <a:solidFill>
                  <a:srgbClr val="475569"/>
                </a:solidFill>
              </a:rPr>
              <a:t>database tables</a:t>
            </a:r>
            <a:endParaRPr lang="en-US" sz="1300" dirty="0"/>
          </a:p>
        </p:txBody>
      </p:sp>
      <p:sp>
        <p:nvSpPr>
          <p:cNvPr id="11" name="automated tests passing tile"/>
          <p:cNvSpPr/>
          <p:nvPr/>
        </p:nvSpPr>
        <p:spPr>
          <a:xfrm>
            <a:off x="8321040" y="4572000"/>
            <a:ext cx="3319272" cy="1417320"/>
          </a:xfrm>
          <a:prstGeom prst="roundRect">
            <a:avLst>
              <a:gd name="adj" fmla="val 5161"/>
            </a:avLst>
          </a:prstGeom>
          <a:solidFill>
            <a:srgbClr val="F6F8FB"/>
          </a:solidFill>
          <a:ln w="9525">
            <a:solidFill>
              <a:srgbClr val="D5DCE6"/>
            </a:solidFill>
            <a:prstDash val="solid"/>
          </a:ln>
        </p:spPr>
      </p:sp>
      <p:sp>
        <p:nvSpPr>
          <p:cNvPr id="12" name="Text 8"/>
          <p:cNvSpPr txBox="1"/>
          <p:nvPr/>
        </p:nvSpPr>
        <p:spPr>
          <a:xfrm>
            <a:off x="8503920" y="4709160"/>
            <a:ext cx="2953512" cy="779526"/>
          </a:xfrm>
          <a:prstGeom prst="rect">
            <a:avLst/>
          </a:prstGeom>
          <a:noFill/>
          <a:ln/>
        </p:spPr>
        <p:txBody>
          <a:bodyPr wrap="square" lIns="0" tIns="0" rIns="0" bIns="0" rtlCol="0" anchor="b"/>
          <a:lstStyle/>
          <a:p>
            <a:pPr indent="0" marL="0">
              <a:buNone/>
            </a:pPr>
            <a:r>
              <a:rPr lang="en-US" sz="3600" b="1" dirty="0">
                <a:solidFill>
                  <a:srgbClr val="EB6834"/>
                </a:solidFill>
                <a:latin typeface="Cambria" pitchFamily="34" charset="0"/>
                <a:ea typeface="Cambria" pitchFamily="34" charset="-122"/>
                <a:cs typeface="Cambria" pitchFamily="34" charset="-120"/>
              </a:rPr>
              <a:t>51</a:t>
            </a:r>
            <a:endParaRPr lang="en-US" sz="3600" dirty="0"/>
          </a:p>
        </p:txBody>
      </p:sp>
      <p:sp>
        <p:nvSpPr>
          <p:cNvPr id="13" name="Text 9"/>
          <p:cNvSpPr txBox="1"/>
          <p:nvPr/>
        </p:nvSpPr>
        <p:spPr>
          <a:xfrm>
            <a:off x="8503920" y="5450738"/>
            <a:ext cx="2953512" cy="467716"/>
          </a:xfrm>
          <a:prstGeom prst="rect">
            <a:avLst/>
          </a:prstGeom>
          <a:noFill/>
          <a:ln/>
        </p:spPr>
        <p:txBody>
          <a:bodyPr wrap="square" lIns="0" tIns="0" rIns="0" bIns="0" rtlCol="0" anchor="t"/>
          <a:lstStyle/>
          <a:p>
            <a:pPr indent="0" marL="0">
              <a:buNone/>
            </a:pPr>
            <a:r>
              <a:rPr lang="en-US" sz="1300" dirty="0">
                <a:solidFill>
                  <a:srgbClr val="475569"/>
                </a:solidFill>
              </a:rPr>
              <a:t>tests pass; 6 expected failures</a:t>
            </a:r>
            <a:endParaRPr lang="en-US" sz="13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 SafePhrase matcher and risk model</a:t>
            </a:r>
            <a:endParaRPr lang="en-US" sz="3200" dirty="0"/>
          </a:p>
        </p:txBody>
      </p:sp>
      <p:graphicFrame>
        <p:nvGraphicFramePr>
          <p:cNvPr id="4" name="Chart 0" descr=""/>
          <p:cNvGraphicFramePr/>
          <p:nvPr/>
        </p:nvGraphicFramePr>
        <p:xfrm>
          <a:off x="548640" y="1234440"/>
          <a:ext cx="7589520" cy="4754880"/>
        </p:xfrm>
        <a:graphic xmlns:a="http://schemas.openxmlformats.org/drawingml/2006/main">
          <a:graphicData uri="http://schemas.openxmlformats.org/drawingml/2006/chart">
            <c:chart xmlns:c="http://schemas.openxmlformats.org/drawingml/2006/chart" r:id="rId1"/>
          </a:graphicData>
        </a:graphic>
      </p:graphicFrame>
      <p:sp>
        <p:nvSpPr>
          <p:cNvPr id="5" name="fusion F1 (text only 0.644) tile"/>
          <p:cNvSpPr/>
          <p:nvPr/>
        </p:nvSpPr>
        <p:spPr>
          <a:xfrm>
            <a:off x="8412480" y="1371600"/>
            <a:ext cx="3227832" cy="1417320"/>
          </a:xfrm>
          <a:prstGeom prst="roundRect">
            <a:avLst>
              <a:gd name="adj" fmla="val 5161"/>
            </a:avLst>
          </a:prstGeom>
          <a:solidFill>
            <a:srgbClr val="F6F8FB"/>
          </a:solidFill>
          <a:ln w="9525">
            <a:solidFill>
              <a:srgbClr val="D5DCE6"/>
            </a:solidFill>
            <a:prstDash val="solid"/>
          </a:ln>
        </p:spPr>
      </p:sp>
      <p:sp>
        <p:nvSpPr>
          <p:cNvPr id="6" name="Text 2"/>
          <p:cNvSpPr txBox="1"/>
          <p:nvPr/>
        </p:nvSpPr>
        <p:spPr>
          <a:xfrm>
            <a:off x="8595360" y="1508760"/>
            <a:ext cx="2862072" cy="779526"/>
          </a:xfrm>
          <a:prstGeom prst="rect">
            <a:avLst/>
          </a:prstGeom>
          <a:noFill/>
          <a:ln/>
        </p:spPr>
        <p:txBody>
          <a:bodyPr wrap="square" lIns="0" tIns="0" rIns="0" bIns="0" rtlCol="0" anchor="b"/>
          <a:lstStyle/>
          <a:p>
            <a:pPr indent="0" marL="0">
              <a:buNone/>
            </a:pPr>
            <a:r>
              <a:rPr lang="en-US" sz="3600" b="1" dirty="0">
                <a:solidFill>
                  <a:srgbClr val="1BAF7A"/>
                </a:solidFill>
                <a:latin typeface="Cambria" pitchFamily="34" charset="0"/>
                <a:ea typeface="Cambria" pitchFamily="34" charset="-122"/>
                <a:cs typeface="Cambria" pitchFamily="34" charset="-120"/>
              </a:rPr>
              <a:t>0.580</a:t>
            </a:r>
            <a:endParaRPr lang="en-US" sz="3600" dirty="0"/>
          </a:p>
        </p:txBody>
      </p:sp>
      <p:sp>
        <p:nvSpPr>
          <p:cNvPr id="7" name="Text 3"/>
          <p:cNvSpPr txBox="1"/>
          <p:nvPr/>
        </p:nvSpPr>
        <p:spPr>
          <a:xfrm>
            <a:off x="8595360" y="2250338"/>
            <a:ext cx="2862072" cy="467716"/>
          </a:xfrm>
          <a:prstGeom prst="rect">
            <a:avLst/>
          </a:prstGeom>
          <a:noFill/>
          <a:ln/>
        </p:spPr>
        <p:txBody>
          <a:bodyPr wrap="square" lIns="0" tIns="0" rIns="0" bIns="0" rtlCol="0" anchor="t"/>
          <a:lstStyle/>
          <a:p>
            <a:pPr indent="0" marL="0">
              <a:buNone/>
            </a:pPr>
            <a:r>
              <a:rPr lang="en-US" sz="1300" dirty="0">
                <a:solidFill>
                  <a:srgbClr val="475569"/>
                </a:solidFill>
              </a:rPr>
              <a:t>silhouette of the 3 tiers (Davies-Bouldin 0.531)</a:t>
            </a:r>
            <a:endParaRPr lang="en-US" sz="1300" dirty="0"/>
          </a:p>
        </p:txBody>
      </p:sp>
      <p:sp>
        <p:nvSpPr>
          <p:cNvPr id="8" name="fusion ROC-AUC (text 0.771) tile"/>
          <p:cNvSpPr/>
          <p:nvPr/>
        </p:nvSpPr>
        <p:spPr>
          <a:xfrm>
            <a:off x="8412480" y="2971800"/>
            <a:ext cx="3227832" cy="1417320"/>
          </a:xfrm>
          <a:prstGeom prst="roundRect">
            <a:avLst>
              <a:gd name="adj" fmla="val 5161"/>
            </a:avLst>
          </a:prstGeom>
          <a:solidFill>
            <a:srgbClr val="F6F8FB"/>
          </a:solidFill>
          <a:ln w="9525">
            <a:solidFill>
              <a:srgbClr val="D5DCE6"/>
            </a:solidFill>
            <a:prstDash val="solid"/>
          </a:ln>
        </p:spPr>
      </p:sp>
      <p:sp>
        <p:nvSpPr>
          <p:cNvPr id="9" name="Text 5"/>
          <p:cNvSpPr txBox="1"/>
          <p:nvPr/>
        </p:nvSpPr>
        <p:spPr>
          <a:xfrm>
            <a:off x="8595360" y="3108960"/>
            <a:ext cx="2862072" cy="779526"/>
          </a:xfrm>
          <a:prstGeom prst="rect">
            <a:avLst/>
          </a:prstGeom>
          <a:noFill/>
          <a:ln/>
        </p:spPr>
        <p:txBody>
          <a:bodyPr wrap="square" lIns="0" tIns="0" rIns="0" bIns="0" rtlCol="0" anchor="b"/>
          <a:lstStyle/>
          <a:p>
            <a:pPr indent="0" marL="0">
              <a:buNone/>
            </a:pPr>
            <a:r>
              <a:rPr lang="en-US" sz="3600" b="1" dirty="0">
                <a:solidFill>
                  <a:srgbClr val="2A78D6"/>
                </a:solidFill>
                <a:latin typeface="Cambria" pitchFamily="34" charset="0"/>
                <a:ea typeface="Cambria" pitchFamily="34" charset="-122"/>
                <a:cs typeface="Cambria" pitchFamily="34" charset="-120"/>
              </a:rPr>
              <a:t>149 km</a:t>
            </a:r>
            <a:endParaRPr lang="en-US" sz="3600" dirty="0"/>
          </a:p>
        </p:txBody>
      </p:sp>
      <p:sp>
        <p:nvSpPr>
          <p:cNvPr id="10" name="Text 6"/>
          <p:cNvSpPr txBox="1"/>
          <p:nvPr/>
        </p:nvSpPr>
        <p:spPr>
          <a:xfrm>
            <a:off x="8595360" y="3850538"/>
            <a:ext cx="2862072" cy="467716"/>
          </a:xfrm>
          <a:prstGeom prst="rect">
            <a:avLst/>
          </a:prstGeom>
          <a:noFill/>
          <a:ln/>
        </p:spPr>
        <p:txBody>
          <a:bodyPr wrap="square" lIns="0" tIns="0" rIns="0" bIns="0" rtlCol="0" anchor="t"/>
          <a:lstStyle/>
          <a:p>
            <a:pPr indent="0" marL="0">
              <a:buNone/>
            </a:pPr>
            <a:r>
              <a:rPr lang="en-US" sz="1300" dirty="0">
                <a:solidFill>
                  <a:srgbClr val="475569"/>
                </a:solidFill>
              </a:rPr>
              <a:t>Hyderabad to its nearest district in the table</a:t>
            </a:r>
            <a:endParaRPr lang="en-US" sz="1300" dirty="0"/>
          </a:p>
        </p:txBody>
      </p:sp>
      <p:sp>
        <p:nvSpPr>
          <p:cNvPr id="11" name="fusion accuracy tile"/>
          <p:cNvSpPr/>
          <p:nvPr/>
        </p:nvSpPr>
        <p:spPr>
          <a:xfrm>
            <a:off x="8412480" y="4572000"/>
            <a:ext cx="3227832" cy="1417320"/>
          </a:xfrm>
          <a:prstGeom prst="roundRect">
            <a:avLst>
              <a:gd name="adj" fmla="val 5161"/>
            </a:avLst>
          </a:prstGeom>
          <a:solidFill>
            <a:srgbClr val="F6F8FB"/>
          </a:solidFill>
          <a:ln w="9525">
            <a:solidFill>
              <a:srgbClr val="D5DCE6"/>
            </a:solidFill>
            <a:prstDash val="solid"/>
          </a:ln>
        </p:spPr>
      </p:sp>
      <p:sp>
        <p:nvSpPr>
          <p:cNvPr id="12" name="Text 8"/>
          <p:cNvSpPr txBox="1"/>
          <p:nvPr/>
        </p:nvSpPr>
        <p:spPr>
          <a:xfrm>
            <a:off x="8595360" y="4709160"/>
            <a:ext cx="2862072" cy="779526"/>
          </a:xfrm>
          <a:prstGeom prst="rect">
            <a:avLst/>
          </a:prstGeom>
          <a:noFill/>
          <a:ln/>
        </p:spPr>
        <p:txBody>
          <a:bodyPr wrap="square" lIns="0" tIns="0" rIns="0" bIns="0" rtlCol="0" anchor="b"/>
          <a:lstStyle/>
          <a:p>
            <a:pPr indent="0" marL="0">
              <a:buNone/>
            </a:pPr>
            <a:r>
              <a:rPr lang="en-US" sz="3600" b="1" dirty="0">
                <a:solidFill>
                  <a:srgbClr val="EB6834"/>
                </a:solidFill>
                <a:latin typeface="Cambria" pitchFamily="34" charset="0"/>
                <a:ea typeface="Cambria" pitchFamily="34" charset="-122"/>
                <a:cs typeface="Cambria" pitchFamily="34" charset="-120"/>
              </a:rPr>
              <a:t>16 / 16</a:t>
            </a:r>
            <a:endParaRPr lang="en-US" sz="3600" dirty="0"/>
          </a:p>
        </p:txBody>
      </p:sp>
      <p:sp>
        <p:nvSpPr>
          <p:cNvPr id="13" name="Text 9"/>
          <p:cNvSpPr txBox="1"/>
          <p:nvPr/>
        </p:nvSpPr>
        <p:spPr>
          <a:xfrm>
            <a:off x="8595360" y="5450738"/>
            <a:ext cx="2862072" cy="467716"/>
          </a:xfrm>
          <a:prstGeom prst="rect">
            <a:avLst/>
          </a:prstGeom>
          <a:noFill/>
          <a:ln/>
        </p:spPr>
        <p:txBody>
          <a:bodyPr wrap="square" lIns="0" tIns="0" rIns="0" bIns="0" rtlCol="0" anchor="t"/>
          <a:lstStyle/>
          <a:p>
            <a:pPr indent="0" marL="0">
              <a:buNone/>
            </a:pPr>
            <a:r>
              <a:rPr lang="en-US" sz="1300" dirty="0">
                <a:solidFill>
                  <a:srgbClr val="475569"/>
                </a:solidFill>
              </a:rPr>
              <a:t>city pairs where the night factor keeps the route order</a:t>
            </a:r>
            <a:endParaRPr lang="en-US" sz="13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5" name="picture frame"/>
          <p:cNvSpPr/>
          <p:nvPr/>
        </p:nvSpPr>
        <p:spPr>
          <a:xfrm>
            <a:off x="428625" y="1729978"/>
            <a:ext cx="5619750" cy="3512343"/>
          </a:xfrm>
          <a:prstGeom prst="rect">
            <a:avLst/>
          </a:prstGeom>
          <a:ln w="9525">
            <a:solidFill>
              <a:srgbClr val="D5DCE6"/>
            </a:solidFill>
            <a:prstDash val="solid"/>
          </a:ln>
        </p:spPr>
      </p:sp>
      <p:sp>
        <p:nvSpPr>
          <p:cNvPr id="6" name="Text 2"/>
          <p:cNvSpPr txBox="1"/>
          <p:nvPr/>
        </p:nvSpPr>
        <p:spPr>
          <a:xfrm>
            <a:off x="548640" y="5356621"/>
            <a:ext cx="5486400" cy="274320"/>
          </a:xfrm>
          <a:prstGeom prst="rect">
            <a:avLst/>
          </a:prstGeom>
          <a:noFill/>
          <a:ln/>
        </p:spPr>
        <p:txBody>
          <a:bodyPr wrap="square" lIns="0" tIns="0" rIns="0" bIns="0" rtlCol="0" anchor="ctr"/>
          <a:lstStyle/>
          <a:p>
            <a:pPr algn="ctr" indent="0" marL="0">
              <a:buNone/>
            </a:pPr>
            <a:r>
              <a:rPr lang="en-US" sz="1100" i="1" dirty="0">
                <a:solidFill>
                  <a:srgbClr val="64748B"/>
                </a:solidFill>
              </a:rPr>
              <a:t>Delhi to Jaipur: two real OSRM routes, both HIGH risk</a:t>
            </a:r>
            <a:endParaRPr lang="en-US" sz="1100" dirty="0"/>
          </a:p>
        </p:txBody>
      </p:sp>
      <p:sp>
        <p:nvSpPr>
          <p:cNvPr id="8" name="picture frame"/>
          <p:cNvSpPr/>
          <p:nvPr/>
        </p:nvSpPr>
        <p:spPr>
          <a:xfrm>
            <a:off x="6143625" y="1729978"/>
            <a:ext cx="5619750" cy="3512343"/>
          </a:xfrm>
          <a:prstGeom prst="rect">
            <a:avLst/>
          </a:prstGeom>
          <a:ln w="9525">
            <a:solidFill>
              <a:srgbClr val="D5DCE6"/>
            </a:solidFill>
            <a:prstDash val="solid"/>
          </a:ln>
        </p:spPr>
      </p:sp>
      <p:sp>
        <p:nvSpPr>
          <p:cNvPr id="9" name="Text 4"/>
          <p:cNvSpPr txBox="1"/>
          <p:nvPr/>
        </p:nvSpPr>
        <p:spPr>
          <a:xfrm>
            <a:off x="6172200" y="5356621"/>
            <a:ext cx="5486400" cy="274320"/>
          </a:xfrm>
          <a:prstGeom prst="rect">
            <a:avLst/>
          </a:prstGeom>
          <a:noFill/>
          <a:ln/>
        </p:spPr>
        <p:txBody>
          <a:bodyPr wrap="square" lIns="0" tIns="0" rIns="0" bIns="0" rtlCol="0" anchor="ctr"/>
          <a:lstStyle/>
          <a:p>
            <a:pPr algn="ctr" indent="0" marL="0">
              <a:buNone/>
            </a:pPr>
            <a:r>
              <a:rPr lang="en-US" sz="1100" i="1" dirty="0">
                <a:solidFill>
                  <a:srgbClr val="64748B"/>
                </a:solidFill>
              </a:rPr>
              <a:t>Emergency: photo and audio saved with SHA-256; 0 of 3 guardians reached (no channel set)</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Route screenshot" descr="Route screenshot"/>
          <p:cNvPicPr>
            <a:picLocks noChangeAspect="1"/>
          </p:cNvPicPr>
          <p:nvPr/>
        </p:nvPicPr>
        <p:blipFill>
          <a:blip r:embed="rId5"/>
          <a:stretch>
            <a:fillRect/>
          </a:stretch>
        </p:blipFill>
        <p:spPr>
          <a:xfrm>
            <a:off x="428625" y="1729978"/>
            <a:ext cx="5619750" cy="3512343"/>
          </a:xfrm>
          <a:prstGeom prst="rect">
            <a:avLst/>
          </a:prstGeom>
        </p:spPr>
      </p:pic>
      <p:pic>
        <p:nvPicPr>
          <p:cNvPr id="27" name="Emergency screenshot" descr="Emergency screenshot"/>
          <p:cNvPicPr>
            <a:picLocks noChangeAspect="1"/>
          </p:cNvPicPr>
          <p:nvPr/>
        </p:nvPicPr>
        <p:blipFill>
          <a:blip r:embed="rId6"/>
          <a:stretch>
            <a:fillRect/>
          </a:stretch>
        </p:blipFill>
        <p:spPr>
          <a:xfrm>
            <a:off x="6143625" y="1729978"/>
            <a:ext cx="5619750" cy="351234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Testing and observations</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120639" cy="914400"/>
        </p:xfrm>
        <a:graphic>
          <a:graphicData uri="http://schemas.openxmlformats.org/drawingml/2006/table">
            <a:tbl>
              <a:tblPr/>
              <a:tblGrid>
                <a:gridCol w="2560320"/>
                <a:gridCol w="614476"/>
                <a:gridCol w="1945843"/>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group</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50292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Authentication, guardians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14 passed</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Risk data, route planning</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6 passed</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0292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SOS, tracking, WebSocket</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7 passed</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6 passed</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50292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AI endpoint, places search</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6 passed</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Scorer and model files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12 passed</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Known defects</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6 expected fail</a:t>
                      </a:r>
                      <a:endParaRPr lang="en-US" sz="12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6035040" y="1417320"/>
            <a:ext cx="5605272" cy="4389120"/>
          </a:xfrm>
          <a:prstGeom prst="rect">
            <a:avLst/>
          </a:prstGeom>
          <a:noFill/>
          <a:ln/>
        </p:spPr>
        <p:txBody>
          <a:bodyPr wrap="square" lIns="0" tIns="0" rIns="0" bIns="0" rtlCol="0" anchor="t"/>
          <a:lstStyle/>
          <a:p>
            <a:pPr marL="228600" indent="-228600">
              <a:spcAft>
                <a:spcPts val="1200"/>
              </a:spcAft>
              <a:buSzPct val="100000"/>
              <a:buChar char="•"/>
            </a:pPr>
            <a:r>
              <a:rPr lang="en-US" sz="1500" dirty="0">
                <a:solidFill>
                  <a:srgbClr val="0F172A"/>
                </a:solidFill>
              </a:rPr>
              <a:t>51 pass in about 14 s; 6 tests assert hardened behaviour and fail today: Gemini timeout gives 500, latitude 999 accepted, any trigger string, WebSocket accepts any token, no upload size limit, .html evidence served as HTML.</a:t>
            </a:r>
            <a:endParaRPr lang="en-US" sz="1500" dirty="0"/>
          </a:p>
          <a:p>
            <a:pPr marL="228600" indent="-228600">
              <a:spcAft>
                <a:spcPts val="1200"/>
              </a:spcAft>
              <a:buSzPct val="100000"/>
              <a:buChar char="•"/>
            </a:pPr>
            <a:r>
              <a:rPr lang="en-US" sz="1500" dirty="0">
                <a:solidFill>
                  <a:srgbClr val="0F172A"/>
                </a:solidFill>
              </a:rPr>
              <a:t>API median times: health 2.1 ms, SOS start 34 ms, location push 15 ms, login 279 ms (bcrypt), live route plan 1.6 s; WebSocket push 13 ms.</a:t>
            </a:r>
            <a:endParaRPr lang="en-US" sz="1500" dirty="0"/>
          </a:p>
          <a:p>
            <a:pPr marL="228600" indent="-228600">
              <a:spcAft>
                <a:spcPts val="1200"/>
              </a:spcAft>
              <a:buSzPct val="100000"/>
              <a:buChar char="•"/>
            </a:pPr>
            <a:r>
              <a:rPr lang="en-US" sz="1500" dirty="0">
                <a:solidFill>
                  <a:srgbClr val="0F172A"/>
                </a:solidFill>
              </a:rPr>
              <a:t>Stored evidence files are readable without login by URL.</a:t>
            </a:r>
            <a:endParaRPr lang="en-US" sz="1500" dirty="0"/>
          </a:p>
          <a:p>
            <a:pPr marL="228600" indent="-228600">
              <a:spcAft>
                <a:spcPts val="1200"/>
              </a:spcAft>
              <a:buSzPct val="100000"/>
              <a:buChar char="•"/>
            </a:pPr>
            <a:r>
              <a:rPr lang="en-US" sz="1500" dirty="0">
                <a:solidFill>
                  <a:srgbClr val="0F172A"/>
                </a:solidFill>
              </a:rPr>
              <a:t>Not done: real alert delivery, real device, user and load testing.</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4" name="Challenge card 1"/>
          <p:cNvSpPr/>
          <p:nvPr/>
        </p:nvSpPr>
        <p:spPr>
          <a:xfrm>
            <a:off x="548640" y="1371600"/>
            <a:ext cx="3566160" cy="2057400"/>
          </a:xfrm>
          <a:prstGeom prst="roundRect">
            <a:avLst>
              <a:gd name="adj" fmla="val 3556"/>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icon">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Old, coarse data</a:t>
            </a:r>
            <a:endParaRPr lang="en-US" sz="1500" dirty="0"/>
          </a:p>
        </p:txBody>
      </p:sp>
      <p:sp>
        <p:nvSpPr>
          <p:cNvPr id="8" name="Text 4"/>
          <p:cNvSpPr txBox="1"/>
          <p:nvPr/>
        </p:nvSpPr>
        <p:spPr>
          <a:xfrm>
            <a:off x="777240" y="2240280"/>
            <a:ext cx="3108960" cy="105156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2001-2012 district counts, not per population; 56.5 % of districts geocoded.</a:t>
            </a:r>
            <a:endParaRPr lang="en-US" sz="1400" dirty="0"/>
          </a:p>
        </p:txBody>
      </p:sp>
      <p:sp>
        <p:nvSpPr>
          <p:cNvPr id="9" name="Challenge card 2"/>
          <p:cNvSpPr/>
          <p:nvPr/>
        </p:nvSpPr>
        <p:spPr>
          <a:xfrm>
            <a:off x="4297680" y="1371600"/>
            <a:ext cx="3566160" cy="2057400"/>
          </a:xfrm>
          <a:prstGeom prst="roundRect">
            <a:avLst>
              <a:gd name="adj" fmla="val 3556"/>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EDA100"/>
          </a:solidFill>
          <a:ln w="12700">
            <a:solidFill>
              <a:srgbClr val="EDA100"/>
            </a:solidFill>
            <a:prstDash val="solid"/>
          </a:ln>
        </p:spPr>
      </p:sp>
      <p:pic>
        <p:nvPicPr>
          <p:cNvPr id="11" name="Image 1" descr="icon">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One-feature model</a:t>
            </a:r>
            <a:endParaRPr lang="en-US" sz="1500" dirty="0"/>
          </a:p>
        </p:txBody>
      </p:sp>
      <p:sp>
        <p:nvSpPr>
          <p:cNvPr id="13" name="Text 8"/>
          <p:cNvSpPr txBox="1"/>
          <p:nvPr/>
        </p:nvSpPr>
        <p:spPr>
          <a:xfrm>
            <a:off x="4526280" y="2240280"/>
            <a:ext cx="3108960" cy="105156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Tiers are two cut-offs (213.75, 529.83); k=4 scores better than the chosen k=3.</a:t>
            </a:r>
            <a:endParaRPr lang="en-US" sz="1400" dirty="0"/>
          </a:p>
        </p:txBody>
      </p:sp>
      <p:sp>
        <p:nvSpPr>
          <p:cNvPr id="14" name="Challenge card 3"/>
          <p:cNvSpPr/>
          <p:nvPr/>
        </p:nvSpPr>
        <p:spPr>
          <a:xfrm>
            <a:off x="8046720" y="1371600"/>
            <a:ext cx="3566160" cy="2057400"/>
          </a:xfrm>
          <a:prstGeom prst="roundRect">
            <a:avLst>
              <a:gd name="adj" fmla="val 3556"/>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6250D6"/>
          </a:solidFill>
          <a:ln w="12700">
            <a:solidFill>
              <a:srgbClr val="6250D6"/>
            </a:solidFill>
            <a:prstDash val="solid"/>
          </a:ln>
        </p:spPr>
      </p:sp>
      <p:pic>
        <p:nvPicPr>
          <p:cNvPr id="16" name="Image 2" descr="icon">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Coverage gaps</a:t>
            </a:r>
            <a:endParaRPr lang="en-US" sz="1500" dirty="0"/>
          </a:p>
        </p:txBody>
      </p:sp>
      <p:sp>
        <p:nvSpPr>
          <p:cNvPr id="18" name="Text 12"/>
          <p:cNvSpPr txBox="1"/>
          <p:nvPr/>
        </p:nvSpPr>
        <p:spPr>
          <a:xfrm>
            <a:off x="8275320" y="2240280"/>
            <a:ext cx="3108960" cy="105156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No district for Uttar Pradesh, West Bengal, Delhi; Hyderabad is 149 km from the nearest.</a:t>
            </a:r>
            <a:endParaRPr lang="en-US" sz="1400" dirty="0"/>
          </a:p>
        </p:txBody>
      </p:sp>
      <p:sp>
        <p:nvSpPr>
          <p:cNvPr id="19" name="Challenge card 4"/>
          <p:cNvSpPr/>
          <p:nvPr/>
        </p:nvSpPr>
        <p:spPr>
          <a:xfrm>
            <a:off x="548640" y="3611880"/>
            <a:ext cx="3566160" cy="2057400"/>
          </a:xfrm>
          <a:prstGeom prst="roundRect">
            <a:avLst>
              <a:gd name="adj" fmla="val 3556"/>
            </a:avLst>
          </a:prstGeom>
          <a:solidFill>
            <a:srgbClr val="F6F8FB"/>
          </a:solidFill>
          <a:ln w="9525">
            <a:solidFill>
              <a:srgbClr val="D5DCE6"/>
            </a:solidFill>
            <a:prstDash val="solid"/>
          </a:ln>
        </p:spPr>
      </p:sp>
      <p:sp>
        <p:nvSpPr>
          <p:cNvPr id="20" name="icon circle"/>
          <p:cNvSpPr/>
          <p:nvPr/>
        </p:nvSpPr>
        <p:spPr>
          <a:xfrm>
            <a:off x="777240" y="3840480"/>
            <a:ext cx="548640" cy="548640"/>
          </a:xfrm>
          <a:prstGeom prst="ellipse">
            <a:avLst/>
          </a:prstGeom>
          <a:solidFill>
            <a:srgbClr val="1B2A41"/>
          </a:solidFill>
          <a:ln w="12700">
            <a:solidFill>
              <a:srgbClr val="1B2A41"/>
            </a:solidFill>
            <a:prstDash val="solid"/>
          </a:ln>
        </p:spPr>
      </p:sp>
      <p:pic>
        <p:nvPicPr>
          <p:cNvPr id="21" name="Image 3" descr="icon">    </p:cNvPr>
          <p:cNvPicPr>
            <a:picLocks noChangeAspect="1"/>
          </p:cNvPicPr>
          <p:nvPr/>
        </p:nvPicPr>
        <p:blipFill>
          <a:blip r:embed="rId4"/>
          <a:stretch>
            <a:fillRect/>
          </a:stretch>
        </p:blipFill>
        <p:spPr>
          <a:xfrm>
            <a:off x="886968" y="3950208"/>
            <a:ext cx="329184" cy="329184"/>
          </a:xfrm>
          <a:prstGeom prst="rect">
            <a:avLst/>
          </a:prstGeom>
        </p:spPr>
      </p:pic>
      <p:sp>
        <p:nvSpPr>
          <p:cNvPr id="22" name="Text 15"/>
          <p:cNvSpPr txBox="1"/>
          <p:nvPr/>
        </p:nvSpPr>
        <p:spPr>
          <a:xfrm>
            <a:off x="1463040" y="3794760"/>
            <a:ext cx="24688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Night factor is a no-op</a:t>
            </a:r>
            <a:endParaRPr lang="en-US" sz="1500" dirty="0"/>
          </a:p>
        </p:txBody>
      </p:sp>
      <p:sp>
        <p:nvSpPr>
          <p:cNvPr id="23" name="Text 16"/>
          <p:cNvSpPr txBox="1"/>
          <p:nvPr/>
        </p:nvSpPr>
        <p:spPr>
          <a:xfrm>
            <a:off x="777240" y="4480560"/>
            <a:ext cx="3108960" cy="105156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x 1.6 on every route: ranking unchanged in 16 of 16 pairs.</a:t>
            </a:r>
            <a:endParaRPr lang="en-US" sz="1400" dirty="0"/>
          </a:p>
        </p:txBody>
      </p:sp>
      <p:sp>
        <p:nvSpPr>
          <p:cNvPr id="24" name="Challenge card 5"/>
          <p:cNvSpPr/>
          <p:nvPr/>
        </p:nvSpPr>
        <p:spPr>
          <a:xfrm>
            <a:off x="4297680" y="3611880"/>
            <a:ext cx="3566160" cy="2057400"/>
          </a:xfrm>
          <a:prstGeom prst="roundRect">
            <a:avLst>
              <a:gd name="adj" fmla="val 3556"/>
            </a:avLst>
          </a:prstGeom>
          <a:solidFill>
            <a:srgbClr val="F6F8FB"/>
          </a:solidFill>
          <a:ln w="9525">
            <a:solidFill>
              <a:srgbClr val="D5DCE6"/>
            </a:solidFill>
            <a:prstDash val="solid"/>
          </a:ln>
        </p:spPr>
      </p:sp>
      <p:sp>
        <p:nvSpPr>
          <p:cNvPr id="25" name="icon circle"/>
          <p:cNvSpPr/>
          <p:nvPr/>
        </p:nvSpPr>
        <p:spPr>
          <a:xfrm>
            <a:off x="4526280" y="3840480"/>
            <a:ext cx="548640" cy="548640"/>
          </a:xfrm>
          <a:prstGeom prst="ellipse">
            <a:avLst/>
          </a:prstGeom>
          <a:solidFill>
            <a:srgbClr val="1BAF7A"/>
          </a:solidFill>
          <a:ln w="12700">
            <a:solidFill>
              <a:srgbClr val="1BAF7A"/>
            </a:solidFill>
            <a:prstDash val="solid"/>
          </a:ln>
        </p:spPr>
      </p:sp>
      <p:pic>
        <p:nvPicPr>
          <p:cNvPr id="26" name="Image 4" descr="icon">    </p:cNvPr>
          <p:cNvPicPr>
            <a:picLocks noChangeAspect="1"/>
          </p:cNvPicPr>
          <p:nvPr/>
        </p:nvPicPr>
        <p:blipFill>
          <a:blip r:embed="rId5"/>
          <a:stretch>
            <a:fillRect/>
          </a:stretch>
        </p:blipFill>
        <p:spPr>
          <a:xfrm>
            <a:off x="4636008" y="3950208"/>
            <a:ext cx="329184" cy="329184"/>
          </a:xfrm>
          <a:prstGeom prst="rect">
            <a:avLst/>
          </a:prstGeom>
        </p:spPr>
      </p:pic>
      <p:sp>
        <p:nvSpPr>
          <p:cNvPr id="27" name="Text 19"/>
          <p:cNvSpPr txBox="1"/>
          <p:nvPr/>
        </p:nvSpPr>
        <p:spPr>
          <a:xfrm>
            <a:off x="5212080" y="3794760"/>
            <a:ext cx="24688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Alerts and AI unverified</a:t>
            </a:r>
            <a:endParaRPr lang="en-US" sz="1500" dirty="0"/>
          </a:p>
        </p:txBody>
      </p:sp>
      <p:sp>
        <p:nvSpPr>
          <p:cNvPr id="28" name="Text 20"/>
          <p:cNvSpPr txBox="1"/>
          <p:nvPr/>
        </p:nvSpPr>
        <p:spPr>
          <a:xfrm>
            <a:off x="4526280" y="4480560"/>
            <a:ext cx="3108960" cy="105156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Telegram and Gmail not configured; Gemini quota 429 and a timeout returns 500.</a:t>
            </a:r>
            <a:endParaRPr lang="en-US" sz="1400" dirty="0"/>
          </a:p>
        </p:txBody>
      </p:sp>
      <p:sp>
        <p:nvSpPr>
          <p:cNvPr id="29" name="Challenge card 6"/>
          <p:cNvSpPr/>
          <p:nvPr/>
        </p:nvSpPr>
        <p:spPr>
          <a:xfrm>
            <a:off x="8046720" y="3611880"/>
            <a:ext cx="3566160" cy="2057400"/>
          </a:xfrm>
          <a:prstGeom prst="roundRect">
            <a:avLst>
              <a:gd name="adj" fmla="val 3556"/>
            </a:avLst>
          </a:prstGeom>
          <a:solidFill>
            <a:srgbClr val="F6F8FB"/>
          </a:solidFill>
          <a:ln w="9525">
            <a:solidFill>
              <a:srgbClr val="D5DCE6"/>
            </a:solidFill>
            <a:prstDash val="solid"/>
          </a:ln>
        </p:spPr>
      </p:sp>
      <p:sp>
        <p:nvSpPr>
          <p:cNvPr id="30" name="icon circle"/>
          <p:cNvSpPr/>
          <p:nvPr/>
        </p:nvSpPr>
        <p:spPr>
          <a:xfrm>
            <a:off x="8275320" y="3840480"/>
            <a:ext cx="548640" cy="548640"/>
          </a:xfrm>
          <a:prstGeom prst="ellipse">
            <a:avLst/>
          </a:prstGeom>
          <a:solidFill>
            <a:srgbClr val="2A78D6"/>
          </a:solidFill>
          <a:ln w="12700">
            <a:solidFill>
              <a:srgbClr val="2A78D6"/>
            </a:solidFill>
            <a:prstDash val="solid"/>
          </a:ln>
        </p:spPr>
      </p:sp>
      <p:pic>
        <p:nvPicPr>
          <p:cNvPr id="31" name="Image 5" descr="icon">    </p:cNvPr>
          <p:cNvPicPr>
            <a:picLocks noChangeAspect="1"/>
          </p:cNvPicPr>
          <p:nvPr/>
        </p:nvPicPr>
        <p:blipFill>
          <a:blip r:embed="rId6"/>
          <a:stretch>
            <a:fillRect/>
          </a:stretch>
        </p:blipFill>
        <p:spPr>
          <a:xfrm>
            <a:off x="8385048" y="3950208"/>
            <a:ext cx="329184" cy="329184"/>
          </a:xfrm>
          <a:prstGeom prst="rect">
            <a:avLst/>
          </a:prstGeom>
        </p:spPr>
      </p:pic>
      <p:sp>
        <p:nvSpPr>
          <p:cNvPr id="32" name="Text 23"/>
          <p:cNvSpPr txBox="1"/>
          <p:nvPr/>
        </p:nvSpPr>
        <p:spPr>
          <a:xfrm>
            <a:off x="8961120" y="3794760"/>
            <a:ext cx="24688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Open evidence URLs</a:t>
            </a:r>
            <a:endParaRPr lang="en-US" sz="1500" dirty="0"/>
          </a:p>
        </p:txBody>
      </p:sp>
      <p:sp>
        <p:nvSpPr>
          <p:cNvPr id="33" name="Text 24"/>
          <p:cNvSpPr txBox="1"/>
          <p:nvPr/>
        </p:nvSpPr>
        <p:spPr>
          <a:xfrm>
            <a:off x="8275320" y="4480560"/>
            <a:ext cx="3108960" cy="105156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Files readable without login; no size limit; found by the security probes.</a:t>
            </a:r>
            <a:endParaRPr lang="en-US" sz="14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4" name="flow step 1"/>
          <p:cNvSpPr/>
          <p:nvPr/>
        </p:nvSpPr>
        <p:spPr>
          <a:xfrm>
            <a:off x="548640" y="1645920"/>
            <a:ext cx="2533574" cy="1371600"/>
          </a:xfrm>
          <a:prstGeom prst="roundRect">
            <a:avLst>
              <a:gd name="adj" fmla="val 5333"/>
            </a:avLst>
          </a:prstGeom>
          <a:solidFill>
            <a:srgbClr val="2A78D6"/>
          </a:solidFill>
          <a:ln w="12700">
            <a:solidFill>
              <a:srgbClr val="2A78D6"/>
            </a:solidFill>
            <a:prstDash val="solid"/>
          </a:ln>
        </p:spPr>
      </p:sp>
      <p:sp>
        <p:nvSpPr>
          <p:cNvPr id="5" name="Text 2"/>
          <p:cNvSpPr txBox="1"/>
          <p:nvPr/>
        </p:nvSpPr>
        <p:spPr>
          <a:xfrm>
            <a:off x="621792" y="1645920"/>
            <a:ext cx="2387270" cy="1371600"/>
          </a:xfrm>
          <a:prstGeom prst="rect">
            <a:avLst/>
          </a:prstGeom>
          <a:noFill/>
          <a:ln/>
        </p:spPr>
        <p:txBody>
          <a:bodyPr wrap="square" lIns="0" tIns="0" rIns="0" bIns="0" rtlCol="0" anchor="ctr"/>
          <a:lstStyle/>
          <a:p>
            <a:pPr algn="ctr" indent="0" marL="0">
              <a:buNone/>
            </a:pPr>
            <a:r>
              <a:rPr lang="en-US" sz="1600" b="1" dirty="0">
                <a:solidFill>
                  <a:srgbClr val="FFFFFF"/>
                </a:solidFill>
              </a:rPr>
              <a:t>Better risk data</a:t>
            </a:r>
            <a:endParaRPr lang="en-US" sz="1600" dirty="0"/>
          </a:p>
        </p:txBody>
      </p:sp>
      <p:sp>
        <p:nvSpPr>
          <p:cNvPr id="6" name="arrow"/>
          <p:cNvSpPr/>
          <p:nvPr/>
        </p:nvSpPr>
        <p:spPr>
          <a:xfrm>
            <a:off x="3127934" y="2212848"/>
            <a:ext cx="228600" cy="237744"/>
          </a:xfrm>
          <a:prstGeom prst="rightArrow">
            <a:avLst/>
          </a:prstGeom>
          <a:solidFill>
            <a:srgbClr val="64748B"/>
          </a:solidFill>
          <a:ln w="12700">
            <a:solidFill>
              <a:srgbClr val="64748B"/>
            </a:solidFill>
            <a:prstDash val="solid"/>
          </a:ln>
        </p:spPr>
      </p:sp>
      <p:sp>
        <p:nvSpPr>
          <p:cNvPr id="7" name="flow step 2"/>
          <p:cNvSpPr/>
          <p:nvPr/>
        </p:nvSpPr>
        <p:spPr>
          <a:xfrm>
            <a:off x="3402254" y="1645920"/>
            <a:ext cx="2533574" cy="1371600"/>
          </a:xfrm>
          <a:prstGeom prst="roundRect">
            <a:avLst>
              <a:gd name="adj" fmla="val 5333"/>
            </a:avLst>
          </a:prstGeom>
          <a:solidFill>
            <a:srgbClr val="6250D6"/>
          </a:solidFill>
          <a:ln w="12700">
            <a:solidFill>
              <a:srgbClr val="6250D6"/>
            </a:solidFill>
            <a:prstDash val="solid"/>
          </a:ln>
        </p:spPr>
      </p:sp>
      <p:sp>
        <p:nvSpPr>
          <p:cNvPr id="8" name="Text 5"/>
          <p:cNvSpPr txBox="1"/>
          <p:nvPr/>
        </p:nvSpPr>
        <p:spPr>
          <a:xfrm>
            <a:off x="3475406" y="1645920"/>
            <a:ext cx="2387270" cy="1371600"/>
          </a:xfrm>
          <a:prstGeom prst="rect">
            <a:avLst/>
          </a:prstGeom>
          <a:noFill/>
          <a:ln/>
        </p:spPr>
        <p:txBody>
          <a:bodyPr wrap="square" lIns="0" tIns="0" rIns="0" bIns="0" rtlCol="0" anchor="ctr"/>
          <a:lstStyle/>
          <a:p>
            <a:pPr algn="ctr" indent="0" marL="0">
              <a:buNone/>
            </a:pPr>
            <a:r>
              <a:rPr lang="en-US" sz="1600" b="1" dirty="0">
                <a:solidFill>
                  <a:srgbClr val="FFFFFF"/>
                </a:solidFill>
              </a:rPr>
              <a:t>Fix the findings</a:t>
            </a:r>
            <a:endParaRPr lang="en-US" sz="1600" dirty="0"/>
          </a:p>
        </p:txBody>
      </p:sp>
      <p:sp>
        <p:nvSpPr>
          <p:cNvPr id="9" name="arrow"/>
          <p:cNvSpPr/>
          <p:nvPr/>
        </p:nvSpPr>
        <p:spPr>
          <a:xfrm>
            <a:off x="5981548" y="2212848"/>
            <a:ext cx="228600" cy="237744"/>
          </a:xfrm>
          <a:prstGeom prst="rightArrow">
            <a:avLst/>
          </a:prstGeom>
          <a:solidFill>
            <a:srgbClr val="64748B"/>
          </a:solidFill>
          <a:ln w="12700">
            <a:solidFill>
              <a:srgbClr val="64748B"/>
            </a:solidFill>
            <a:prstDash val="solid"/>
          </a:ln>
        </p:spPr>
      </p:sp>
      <p:sp>
        <p:nvSpPr>
          <p:cNvPr id="10" name="flow step 3"/>
          <p:cNvSpPr/>
          <p:nvPr/>
        </p:nvSpPr>
        <p:spPr>
          <a:xfrm>
            <a:off x="6255868" y="1645920"/>
            <a:ext cx="2533574" cy="1371600"/>
          </a:xfrm>
          <a:prstGeom prst="roundRect">
            <a:avLst>
              <a:gd name="adj" fmla="val 5333"/>
            </a:avLst>
          </a:prstGeom>
          <a:solidFill>
            <a:srgbClr val="1BAF7A"/>
          </a:solidFill>
          <a:ln w="12700">
            <a:solidFill>
              <a:srgbClr val="1BAF7A"/>
            </a:solidFill>
            <a:prstDash val="solid"/>
          </a:ln>
        </p:spPr>
      </p:sp>
      <p:sp>
        <p:nvSpPr>
          <p:cNvPr id="11" name="Text 8"/>
          <p:cNvSpPr txBox="1"/>
          <p:nvPr/>
        </p:nvSpPr>
        <p:spPr>
          <a:xfrm>
            <a:off x="6329020" y="1645920"/>
            <a:ext cx="2387270" cy="1371600"/>
          </a:xfrm>
          <a:prstGeom prst="rect">
            <a:avLst/>
          </a:prstGeom>
          <a:noFill/>
          <a:ln/>
        </p:spPr>
        <p:txBody>
          <a:bodyPr wrap="square" lIns="0" tIns="0" rIns="0" bIns="0" rtlCol="0" anchor="ctr"/>
          <a:lstStyle/>
          <a:p>
            <a:pPr algn="ctr" indent="0" marL="0">
              <a:buNone/>
            </a:pPr>
            <a:r>
              <a:rPr lang="en-US" sz="1600" b="1" dirty="0">
                <a:solidFill>
                  <a:srgbClr val="FFFFFF"/>
                </a:solidFill>
              </a:rPr>
              <a:t>Real-device test</a:t>
            </a:r>
            <a:endParaRPr lang="en-US" sz="1600" dirty="0"/>
          </a:p>
        </p:txBody>
      </p:sp>
      <p:sp>
        <p:nvSpPr>
          <p:cNvPr id="12" name="arrow"/>
          <p:cNvSpPr/>
          <p:nvPr/>
        </p:nvSpPr>
        <p:spPr>
          <a:xfrm>
            <a:off x="8835161" y="2212848"/>
            <a:ext cx="228600" cy="237744"/>
          </a:xfrm>
          <a:prstGeom prst="rightArrow">
            <a:avLst/>
          </a:prstGeom>
          <a:solidFill>
            <a:srgbClr val="64748B"/>
          </a:solidFill>
          <a:ln w="12700">
            <a:solidFill>
              <a:srgbClr val="64748B"/>
            </a:solidFill>
            <a:prstDash val="solid"/>
          </a:ln>
        </p:spPr>
      </p:sp>
      <p:sp>
        <p:nvSpPr>
          <p:cNvPr id="13" name="flow step 4"/>
          <p:cNvSpPr/>
          <p:nvPr/>
        </p:nvSpPr>
        <p:spPr>
          <a:xfrm>
            <a:off x="9109481" y="1645920"/>
            <a:ext cx="2533574" cy="1371600"/>
          </a:xfrm>
          <a:prstGeom prst="roundRect">
            <a:avLst>
              <a:gd name="adj" fmla="val 5333"/>
            </a:avLst>
          </a:prstGeom>
          <a:solidFill>
            <a:srgbClr val="EB6834"/>
          </a:solidFill>
          <a:ln w="12700">
            <a:solidFill>
              <a:srgbClr val="EB6834"/>
            </a:solidFill>
            <a:prstDash val="solid"/>
          </a:ln>
        </p:spPr>
      </p:sp>
      <p:sp>
        <p:nvSpPr>
          <p:cNvPr id="14" name="Text 11"/>
          <p:cNvSpPr txBox="1"/>
          <p:nvPr/>
        </p:nvSpPr>
        <p:spPr>
          <a:xfrm>
            <a:off x="9182633" y="1645920"/>
            <a:ext cx="2387270" cy="1371600"/>
          </a:xfrm>
          <a:prstGeom prst="rect">
            <a:avLst/>
          </a:prstGeom>
          <a:noFill/>
          <a:ln/>
        </p:spPr>
        <p:txBody>
          <a:bodyPr wrap="square" lIns="0" tIns="0" rIns="0" bIns="0" rtlCol="0" anchor="ctr"/>
          <a:lstStyle/>
          <a:p>
            <a:pPr algn="ctr" indent="0" marL="0">
              <a:buNone/>
            </a:pPr>
            <a:r>
              <a:rPr lang="en-US" sz="1600" b="1" dirty="0">
                <a:solidFill>
                  <a:srgbClr val="FFFFFF"/>
                </a:solidFill>
              </a:rPr>
              <a:t>Final report and demo</a:t>
            </a:r>
            <a:endParaRPr lang="en-US" sz="1600" dirty="0"/>
          </a:p>
        </p:txBody>
      </p:sp>
      <p:sp>
        <p:nvSpPr>
          <p:cNvPr id="15" name="Text 12"/>
          <p:cNvSpPr txBox="1"/>
          <p:nvPr/>
        </p:nvSpPr>
        <p:spPr>
          <a:xfrm>
            <a:off x="548640" y="3566160"/>
            <a:ext cx="11094415" cy="228600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0F172A"/>
                </a:solidFill>
              </a:rPr>
              <a:t>Use population-normalised, newer data and cover the missing states; cap the distance to the nearest district.</a:t>
            </a:r>
            <a:endParaRPr lang="en-US" sz="1700" dirty="0"/>
          </a:p>
          <a:p>
            <a:pPr marL="228600" indent="-228600">
              <a:spcAft>
                <a:spcPts val="1200"/>
              </a:spcAft>
              <a:buSzPct val="100000"/>
              <a:buChar char="•"/>
            </a:pPr>
            <a:r>
              <a:rPr lang="en-US" sz="1700" dirty="0">
                <a:solidFill>
                  <a:srgbClr val="0F172A"/>
                </a:solidFill>
              </a:rPr>
              <a:t>Handle provider timeouts, validate coordinates, authenticate the WebSocket, protect evidence files, cap uploads.</a:t>
            </a:r>
            <a:endParaRPr lang="en-US" sz="1700" dirty="0"/>
          </a:p>
          <a:p>
            <a:pPr marL="228600" indent="-228600">
              <a:spcAft>
                <a:spcPts val="1200"/>
              </a:spcAft>
              <a:buSzPct val="100000"/>
              <a:buChar char="•"/>
            </a:pPr>
            <a:r>
              <a:rPr lang="en-US" sz="1700" dirty="0">
                <a:solidFill>
                  <a:srgbClr val="0F172A"/>
                </a:solidFill>
              </a:rPr>
              <a:t>Configure Telegram and Gmail and test delivery on a phone; measure speech recognition; run a small user trial with real users.</a:t>
            </a:r>
            <a:endParaRPr lang="en-US" sz="1700" dirty="0"/>
          </a:p>
          <a:p>
            <a:pPr marL="228600" indent="-228600">
              <a:spcAft>
                <a:spcPts val="1200"/>
              </a:spcAft>
              <a:buSzPct val="100000"/>
              <a:buChar char="•"/>
            </a:pPr>
            <a:r>
              <a:rPr lang="en-US" sz="1700" dirty="0">
                <a:solidFill>
                  <a:srgbClr val="0F172A"/>
                </a:solidFill>
              </a:rPr>
              <a:t>Complete the report and the final demonstration.</a:t>
            </a:r>
            <a:endParaRPr lang="en-US" sz="17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SHEGUARD">
  <a:themeElements>
    <a:clrScheme name="SHEGUARD">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SHE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SHEGUARD: Review 2</dc:title>
  <dc:subject>SHEGUARD: AI Powered Women's Safety Platform</dc:subject>
  <dc:creator>Batch A7</dc:creator>
  <cp:lastModifiedBy>Batch A7</cp:lastModifiedBy>
  <cp:revision>1</cp:revision>
  <dcterms:created xsi:type="dcterms:W3CDTF">2026-10-13T12:40:05Z</dcterms:created>
  <dcterms:modified xsi:type="dcterms:W3CDTF">2026-10-13T12:40:05Z</dcterms:modified>
  <cp:keywords>women's safety, safe route, K-Means, SafePhrase, SOS, live tracking</cp:keywords>
  <cp:category/>
  <dc:description/>
  <cp:contentStatus/>
</cp:coreProperties>
</file>