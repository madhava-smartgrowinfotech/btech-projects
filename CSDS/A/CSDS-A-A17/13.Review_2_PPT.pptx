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Rows or images per dataset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or images</c:v>
                </c:pt>
              </c:strCache>
            </c:strRef>
          </c:tx>
          <c:spPr>
            <a:solidFill>
              <a:srgbClr val="1B6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Synthetic quality features</c:v>
                </c:pt>
                <c:pt idx="1">
                  <c:v>Synthetic price series</c:v>
                </c:pt>
                <c:pt idx="2">
                  <c:v>Fresh/rotten fruit photos (real)</c:v>
                </c:pt>
                <c:pt idx="3">
                  <c:v>Vegetable photos scanned (real)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6000</c:v>
                </c:pt>
                <c:pt idx="1">
                  <c:v>23360</c:v>
                </c:pt>
                <c:pt idx="2">
                  <c:v>3200</c:v>
                </c:pt>
                <c:pt idx="3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.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rows / images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r>
              <a:rPr sz="1300" b="1"/>
              <a:t>Accuracy of the 11-feature classifier: synthetic data versus 3,200 real fruit photos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6B3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7556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Synthetic test (shipped RF)</c:v>
                </c:pt>
                <c:pt idx="1">
                  <c:v>Synthetic, 5-seed mean</c:v>
                </c:pt>
                <c:pt idx="2">
                  <c:v>Real photos, shipped RF</c:v>
                </c:pt>
                <c:pt idx="3">
                  <c:v>Real photos, retrained (CV)</c:v>
                </c:pt>
              </c:strCache>
            </c:strRef>
          </c:cat>
          <c:val>
            <c:numRef>
              <c:f>Sheet1!$B$2:$B$5</c:f>
              <c:numCache>
                <c:formatCode>0.000</c:formatCode>
                <c:ptCount val="4"/>
                <c:pt idx="0">
                  <c:v>0.923</c:v>
                </c:pt>
                <c:pt idx="1">
                  <c:v>0.929</c:v>
                </c:pt>
                <c:pt idx="2">
                  <c:v>0.504</c:v>
                </c:pt>
                <c:pt idx="3">
                  <c:v>0.906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47556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r>
                  <a:rPr sz="1000" b="0"/>
                  <a:t>accuracy</a:t>
                </a:r>
              </a:p>
            </c:rich>
          </c:tx>
          <c:layout/>
          <c:overlay val="0"/>
        </c:title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 2 covers the design, methodology and progress of CropSight.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Twelve parts: recap, architecture, methodology, data, preparation, models, decision logic, data flow and database, technology, progress, results and screens, testing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of Review 1. The base paper [1] is pre-harvest (soil, irrigation, crop and fertiliser advice); CropSight applies the IoT + ML + explainable-AI idea after harvest.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runs on one machine. The browser talks only to the Vite server, which proxies to FastAPI. No external AI service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Seven-step workflow from data generation to serving, then a real-photo check that was added to test the synthetic-trained grader.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real labelled crop-quality set and no real price series were available, so both models use synthetic data. Two public real-photo sets were used only to test the grader and to produce the demo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Preparation = turning a photo into 11 numbers, building the 19 market inputs, and generating the two training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abstract speaks of deep learning for grading; the implemented grader is a Random Forest on hand-crafted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logistic-regression baseline scores 0.931 and k-NN 0.930, so the synthetic classes are close to linearly separable; the shipped forest scores 0.923.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logic: how a grade is chosen, how the best selling day is picked and how buyers are scored. The buyer offers are simulated from the reference price; the engine is a transparent formula, not a 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Level 1 splits the system into seven processes and six data stores; level 2 opens the grading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Nine SQLite tables created by SQLAlchemy. Structured results (probabilities, features, SHAP, forecasts) are stored as JSON columns. The price_predictions table exists but no route writes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versions are the ones pinned in requirements.txt and package.json. There is no external AI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planned features are implemented. The open items are real training data, real sensors and user-acceptance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scores recover the generator, not field performance. On 3,200 real fruit photos (fresh versus rotten, mapped to grades A/B versus C/Reject) the shipped grader gives grade B to about 99 % of photos and sits at chance (AUC 0.57); the same 11 features retrained on real labels reach 90.6 % in 5-fold cross-validation (66.9 % on unseen fruit types). The price noise floor is MAPE 2.8 %.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application with real photographs (tomato from a public vegetable dataset, CC BY 4.0).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Expected-fail tests are reported as such rather than hidden. Latencies were measured on a live server over 127.0.0.1 on an i5-12500 with other jobs running.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challenges and findings, each backed by a measurement in REPORT_FACTS.md.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remains: real data first, then the hardening items found in testing, then the report and final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CropSight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CropSight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Crop Delivery with AI-Based Price and Quality Intelligence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G.PRANAVI  23K91A6765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G.SIRI CHANDANA  23K91A6763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A.NIKHIL  23K91A6715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G.VISHNU VARDHAN  23K91A6754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K. Mounika,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[COLLEGE NAME]  ·  Batch A17 (CSE-DS, Section A)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preparation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 and configuration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Problem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Farmers see fluctuating prices, inconsistent manual quality grading, unmonitored storage and transport, and little decision support or direct access to buyers.</a:t>
            </a:r>
            <a:endParaRPr lang="en-US" sz="1600" dirty="0"/>
          </a:p>
        </p:txBody>
      </p:sp>
      <p:sp>
        <p:nvSpPr>
          <p:cNvPr id="9" name="Proposed system card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oposed 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54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0" y="224028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75569"/>
                </a:solidFill>
              </a:rPr>
              <a:t>A farmer-buyer-distributor platform: photo-based quality grade with SHAP, price forecast with best day to sell, buyer ranking, a marketplace and live sensor monitoring.</a:t>
            </a:r>
            <a:endParaRPr lang="en-US" sz="1600" dirty="0"/>
          </a:p>
        </p:txBody>
      </p:sp>
      <p:sp>
        <p:nvSpPr>
          <p:cNvPr id="14" name="flow step 1"/>
          <p:cNvSpPr/>
          <p:nvPr/>
        </p:nvSpPr>
        <p:spPr>
          <a:xfrm>
            <a:off x="548640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21792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Crop photo upload</a:t>
            </a:r>
            <a:endParaRPr lang="en-US" sz="1500" dirty="0"/>
          </a:p>
        </p:txBody>
      </p:sp>
      <p:sp>
        <p:nvSpPr>
          <p:cNvPr id="16" name="arrow"/>
          <p:cNvSpPr/>
          <p:nvPr/>
        </p:nvSpPr>
        <p:spPr>
          <a:xfrm>
            <a:off x="2557211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flow step 2"/>
          <p:cNvSpPr/>
          <p:nvPr/>
        </p:nvSpPr>
        <p:spPr>
          <a:xfrm>
            <a:off x="2831531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904683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11 vision features, Random Forest grade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840102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flow step 3"/>
          <p:cNvSpPr/>
          <p:nvPr/>
        </p:nvSpPr>
        <p:spPr>
          <a:xfrm>
            <a:off x="5114422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7574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Price forecast, 31 days</a:t>
            </a:r>
            <a:endParaRPr lang="en-US" sz="1500" dirty="0"/>
          </a:p>
        </p:txBody>
      </p:sp>
      <p:sp>
        <p:nvSpPr>
          <p:cNvPr id="22" name="arrow"/>
          <p:cNvSpPr/>
          <p:nvPr/>
        </p:nvSpPr>
        <p:spPr>
          <a:xfrm>
            <a:off x="7122993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flow step 4"/>
          <p:cNvSpPr/>
          <p:nvPr/>
        </p:nvSpPr>
        <p:spPr>
          <a:xfrm>
            <a:off x="7397313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70465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Buyer ranking, best day</a:t>
            </a:r>
            <a:endParaRPr lang="en-US" sz="1500" dirty="0"/>
          </a:p>
        </p:txBody>
      </p:sp>
      <p:sp>
        <p:nvSpPr>
          <p:cNvPr id="25" name="arrow"/>
          <p:cNvSpPr/>
          <p:nvPr/>
        </p:nvSpPr>
        <p:spPr>
          <a:xfrm>
            <a:off x="9405884" y="4453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flow step 5"/>
          <p:cNvSpPr/>
          <p:nvPr/>
        </p:nvSpPr>
        <p:spPr>
          <a:xfrm>
            <a:off x="9680204" y="3931920"/>
            <a:ext cx="1962851" cy="1280160"/>
          </a:xfrm>
          <a:prstGeom prst="roundRect">
            <a:avLst>
              <a:gd name="adj" fmla="val 571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753356" y="3931920"/>
            <a:ext cx="181654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Order, transit, live sensors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543800" y="14630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Client: React 19 + TypeScript + Vite (port 5190); the dev server proxies /api, /uploads and /ws.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API: FastAPI (port 8000), 21 endpoints (20 REST + 1 WebSocket); JWT sign-in and role guards.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ML services: OpenCV / scikit-image features, Random Forest grader, Gradient Boosting price model, SHAP.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Rule services: buyer scoring, order state machine, simulated sensor stream.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Data: SQLite (9 tables), uploaded photos, .joblib model files.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pic>
        <p:nvPicPr>
          <p:cNvPr id="26" name="System architecture diagram" descr="System architecture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57" y="1181100"/>
            <a:ext cx="6414135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Generate synthetic data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190495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217927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25242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 11 vision features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535593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3809913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3065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 Random Forest grader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516622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544054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70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 price GBR + quantile bands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6796866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flow step 5"/>
          <p:cNvSpPr/>
          <p:nvPr/>
        </p:nvSpPr>
        <p:spPr>
          <a:xfrm>
            <a:off x="7071186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44338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Evaluate: seeds, baselines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427502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flow step 6"/>
          <p:cNvSpPr/>
          <p:nvPr/>
        </p:nvSpPr>
        <p:spPr>
          <a:xfrm>
            <a:off x="8701822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74974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Real-photo check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10058139" y="216712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flow step 7"/>
          <p:cNvSpPr/>
          <p:nvPr/>
        </p:nvSpPr>
        <p:spPr>
          <a:xfrm>
            <a:off x="10332459" y="1554480"/>
            <a:ext cx="1310596" cy="1463040"/>
          </a:xfrm>
          <a:prstGeom prst="roundRect">
            <a:avLst>
              <a:gd name="adj" fmla="val 558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05611" y="1554480"/>
            <a:ext cx="11642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Serve: FastAPI + React</a:t>
            </a:r>
            <a:endParaRPr lang="en-US" sz="1400" dirty="0"/>
          </a:p>
        </p:txBody>
      </p:sp>
      <p:sp>
        <p:nvSpPr>
          <p:cNvPr id="24" name="Separate tracks card"/>
          <p:cNvSpPr/>
          <p:nvPr/>
        </p:nvSpPr>
        <p:spPr>
          <a:xfrm>
            <a:off x="54864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Real vision, synthetic labels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Features are computed from the real pixels of the uploaded photo; the grade classes were learned from generated feature data.</a:t>
            </a:r>
            <a:endParaRPr lang="en-US" sz="1500" dirty="0"/>
          </a:p>
        </p:txBody>
      </p:sp>
      <p:sp>
        <p:nvSpPr>
          <p:cNvPr id="27" name="Shared preprocessing card"/>
          <p:cNvSpPr/>
          <p:nvPr/>
        </p:nvSpPr>
        <p:spPr>
          <a:xfrm>
            <a:off x="429768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Explained and disclosed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SHAP shows what drove each grade and price; the admin screen states that the training data is synthetic.</a:t>
            </a:r>
            <a:endParaRPr lang="en-US" sz="1500" dirty="0"/>
          </a:p>
        </p:txBody>
      </p:sp>
      <p:sp>
        <p:nvSpPr>
          <p:cNvPr id="30" name="Reproducible card"/>
          <p:cNvSpPr/>
          <p:nvPr/>
        </p:nvSpPr>
        <p:spPr>
          <a:xfrm>
            <a:off x="8046720" y="34290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6118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Reproducible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42976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Fixed seeds; scripts/exp_*.py regenerate every figure into experiments/*/metrics.json.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56631" cy="914400"/>
        </p:xfrm>
        <a:graphic>
          <a:graphicData uri="http://schemas.openxmlformats.org/drawingml/2006/table">
            <a:tbl>
              <a:tblPr/>
              <a:tblGrid>
                <a:gridCol w="1921520"/>
                <a:gridCol w="1921520"/>
                <a:gridCol w="121359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quality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rows, 11 features, 4 grades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test the grader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market series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23,360 rows, 2022-2024, 8 crops x 8 regions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and test the price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and Rotten Fruits [8] (CC BY 4.0)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 photos, 8 fruits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Real-photo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Vegetable photos [9] (CC BY 4.0)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scanned of 4,319; 4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screens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users, 8 towns, 1 seeded listing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demo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features</a:t>
            </a:r>
            <a:endParaRPr lang="en-US" sz="3200" dirty="0"/>
          </a:p>
        </p:txBody>
      </p:sp>
      <p:sp>
        <p:nvSpPr>
          <p:cNvPr id="4" name="Text card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6" name="Image 0" descr="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Image features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Photo centred on a 256 x 256 white canvas; HSV foreground mask (Otsu on saturation; whole image if the mask is under 3 % or over 98 %). 11 features: colour (5), GLCM texture (3), edge density, blemish ratio, size score.</a:t>
            </a:r>
            <a:endParaRPr lang="en-US" sz="1500" dirty="0"/>
          </a:p>
        </p:txBody>
      </p:sp>
      <p:sp>
        <p:nvSpPr>
          <p:cNvPr id="9" name="Images and video card"/>
          <p:cNvSpPr/>
          <p:nvPr/>
        </p:nvSpPr>
        <p:spPr>
          <a:xfrm>
            <a:off x="429768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1" name="Image 1" descr="Images and vid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Market features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19 inputs: month sin/cos, rainfall, temperature, demand, supply, fuel index, days to harvest, year trend, grade premium, region factor and 8 crop one-hots. The daily context is hash-seeded per crop, region and date, not a live feed.</a:t>
            </a:r>
            <a:endParaRPr lang="en-US" sz="1500" dirty="0"/>
          </a:p>
        </p:txBody>
      </p:sp>
      <p:sp>
        <p:nvSpPr>
          <p:cNvPr id="14" name="AI-media data card"/>
          <p:cNvSpPr/>
          <p:nvPr/>
        </p:nvSpPr>
        <p:spPr>
          <a:xfrm>
            <a:off x="80467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6" name="Image 2" descr="AI-media 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Synthetic data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Quality: a normal distribution per grade in feature space; 360 of 6,000 labels (6 %) moved to a neighbouring grade. Price: base x grade x region x demand/supply x season x weather x freshness x fuel^0.15 x trend, plus N(0, 3.5 %) noise.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explanation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463040"/>
          <a:ext cx="38679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250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Boosting, 300 trees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GBR, 15 % / 85 %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TreeExplainer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72400" y="3931920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Classical machine learning on the CPU; no deep network and no GPU.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pic>
        <p:nvPicPr>
          <p:cNvPr id="26" name="High-level workflow" descr="High-level workfl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807460"/>
            <a:ext cx="6600825" cy="3681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 synthetic rows, 6 % label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Grader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80/20 stratified (4,800 / 1,200), seed 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trees, depth 9, min leaf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23,360 synthetic rows, 19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85/15 random (19,856 / 3,504)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trees, depth 4, learning rate 0.06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bands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0.15 / 0.85, 250 trees, depth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icture frame"/>
          <p:cNvSpPr/>
          <p:nvPr/>
        </p:nvSpPr>
        <p:spPr>
          <a:xfrm>
            <a:off x="6428755" y="2190750"/>
            <a:ext cx="5182838" cy="2571750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6400800" y="485775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Baselines on the same split (left) and five seeds: 0.929 +- 0.003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Baselines and seeds chart" descr="Baselines and seeds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755" y="2190750"/>
            <a:ext cx="5182838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5" name="Verdict card"/>
          <p:cNvSpPr/>
          <p:nvPr/>
        </p:nvSpPr>
        <p:spPr>
          <a:xfrm>
            <a:off x="6572250" y="1371600"/>
            <a:ext cx="5057775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800850" y="146685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Grade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800850" y="1847850"/>
            <a:ext cx="4667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Class with the highest forest probability; confidence = that probability; top-6 SHAP features explain it.</a:t>
            </a:r>
            <a:endParaRPr lang="en-US" sz="1500" dirty="0"/>
          </a:p>
        </p:txBody>
      </p:sp>
      <p:sp>
        <p:nvSpPr>
          <p:cNvPr id="8" name="Partial input card"/>
          <p:cNvSpPr/>
          <p:nvPr/>
        </p:nvSpPr>
        <p:spPr>
          <a:xfrm>
            <a:off x="6572250" y="2880360"/>
            <a:ext cx="5057775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00850" y="297561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Best day to sell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00850" y="3356610"/>
            <a:ext cx="4667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Price model on 31 successive days; best day = highest price in days 0-14; band from the 15 % / 85 % models.</a:t>
            </a:r>
            <a:endParaRPr lang="en-US" sz="1500" dirty="0"/>
          </a:p>
        </p:txBody>
      </p:sp>
      <p:sp>
        <p:nvSpPr>
          <p:cNvPr id="11" name="Saving card"/>
          <p:cNvSpPr/>
          <p:nvPr/>
        </p:nvSpPr>
        <p:spPr>
          <a:xfrm>
            <a:off x="6572250" y="4389120"/>
            <a:ext cx="5057775" cy="1371600"/>
          </a:xfrm>
          <a:prstGeom prst="roundRect">
            <a:avLst>
              <a:gd name="adj" fmla="val 5333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00850" y="448437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Buyer ranking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00850" y="4865370"/>
            <a:ext cx="4667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Score x100 = 0.38 price + 0.22 distance + 0.18 quality fit + 0.14 reliability + 0.08 (1 - spoilage); top 5 shown.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pic>
        <p:nvPicPr>
          <p:cNvPr id="26" name="Decision flowchart" descr="Decision flow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02" y="1181100"/>
            <a:ext cx="585354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2925" y="440055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DFD level 1 (left) and level 2 expansion of 'Grade crop' (right)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86300"/>
          <a:ext cx="11094414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8653643"/>
              </a:tblGrid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photo, 11 vision features, Random Forest, SHAP, store 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and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31-day forecast with band and best day; weighted buyer score and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and 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listings, order state machine, role guards, simulated sensor stream over WebSocket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pic>
        <p:nvPicPr>
          <p:cNvPr id="26" name="DFD level 1" descr="DFD level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299" y="1123950"/>
            <a:ext cx="4318000" cy="3238500"/>
          </a:xfrm>
          <a:prstGeom prst="rect">
            <a:avLst/>
          </a:prstGeom>
        </p:spPr>
      </p:pic>
      <p:pic>
        <p:nvPicPr>
          <p:cNvPr id="27" name="DFD level 2" descr="DFD level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5" y="1123950"/>
            <a:ext cx="4953000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6250" y="1428750"/>
          <a:ext cx="3533775" cy="914400"/>
        </p:xfrm>
        <a:graphic>
          <a:graphicData uri="http://schemas.openxmlformats.org/drawingml/2006/table">
            <a:tbl>
              <a:tblPr/>
              <a:tblGrid>
                <a:gridCol w="989457"/>
                <a:gridCol w="1484185"/>
                <a:gridCol w="1060132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role, region,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listings,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crop_listings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crop, quantity, status,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 quality_grades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quality_grades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grade, confidence, SHAP (JSON)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N:1 listing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orders, shipments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status, buyer, distributor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1:N sensor_readings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2925" y="49911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ER diagram, 9 tables (left) and UML class diagram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pic>
        <p:nvPicPr>
          <p:cNvPr id="26" name="ER diagram" descr="ER 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58" y="1123950"/>
            <a:ext cx="3537857" cy="3810000"/>
          </a:xfrm>
          <a:prstGeom prst="rect">
            <a:avLst/>
          </a:prstGeom>
        </p:spPr>
      </p:pic>
      <p:pic>
        <p:nvPicPr>
          <p:cNvPr id="27" name="UML class diagram" descr="UML class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065" y="1123950"/>
            <a:ext cx="3247868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Language card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Language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Python 3.11, TypeScript</a:t>
            </a:r>
            <a:endParaRPr lang="en-US" sz="1500" dirty="0"/>
          </a:p>
        </p:txBody>
      </p:sp>
      <p:sp>
        <p:nvSpPr>
          <p:cNvPr id="9" name="Deep learning card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1" name="Image 1" descr="Deep le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Machine learning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scikit-learn 1.5.2 (Random Forest, Gradient Boosting), SHAP 0.46, NumPy, pandas</a:t>
            </a:r>
            <a:endParaRPr lang="en-US" sz="1500" dirty="0"/>
          </a:p>
        </p:txBody>
      </p:sp>
      <p:sp>
        <p:nvSpPr>
          <p:cNvPr id="14" name="Data / NLP card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Data / NL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Vision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OpenCV 4.10, scikit-image 0.24 (GLCM texture), Pillow</a:t>
            </a:r>
            <a:endParaRPr lang="en-US" sz="1500" dirty="0"/>
          </a:p>
        </p:txBody>
      </p:sp>
      <p:sp>
        <p:nvSpPr>
          <p:cNvPr id="19" name="Backend card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Back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FastAPI 0.115, SQLAlchemy 2.0, Pydantic 2, JWT (python-jose), bcrypt, WebSocket</a:t>
            </a:r>
            <a:endParaRPr lang="en-US" sz="1500" dirty="0"/>
          </a:p>
        </p:txBody>
      </p:sp>
      <p:sp>
        <p:nvSpPr>
          <p:cNvPr id="24" name="Frontend card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6" name="Image 4" descr="Front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React 19, Vite 8, Tailwind CSS 4, Recharts, Framer Motion, Three.js, Zustand</a:t>
            </a:r>
            <a:endParaRPr lang="en-US" sz="1500" dirty="0"/>
          </a:p>
        </p:txBody>
      </p:sp>
      <p:sp>
        <p:nvSpPr>
          <p:cNvPr id="29" name="Storage / reports / tests card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1" name="Image 5" descr="Storage / reports / tes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Storage and tests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75569"/>
                </a:solidFill>
              </a:rPr>
              <a:t>SQLite, joblib model files, pytest (36 pass, 3 expected fail), Playwright captures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5248656"/>
                <a:gridCol w="224942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upload, 11 vision features, Random Forest grade, SHAP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model, 31-day forecast, 15-85 % band, best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planner: weighted buyer score and route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Marketplace, order state machine, role guards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monitor: sensor simulator over WebSocket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(simulated)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overview and model insights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Experiments, 39 tests, latency measurements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crop-image and price data; real sensors; user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rained networks tile"/>
          <p:cNvSpPr/>
          <p:nvPr/>
        </p:nvSpPr>
        <p:spPr>
          <a:xfrm>
            <a:off x="8321040" y="13716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5087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503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API endpoints (20 REST + 1 WebSocket)</a:t>
            </a:r>
            <a:endParaRPr lang="en-US" sz="1300" dirty="0"/>
          </a:p>
        </p:txBody>
      </p:sp>
      <p:sp>
        <p:nvSpPr>
          <p:cNvPr id="8" name="served model profiles tile"/>
          <p:cNvSpPr/>
          <p:nvPr/>
        </p:nvSpPr>
        <p:spPr>
          <a:xfrm>
            <a:off x="8321040" y="29718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1089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8505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database tables</a:t>
            </a:r>
            <a:endParaRPr lang="en-US" sz="1300" dirty="0"/>
          </a:p>
        </p:txBody>
      </p:sp>
      <p:sp>
        <p:nvSpPr>
          <p:cNvPr id="11" name="automated tests passing tile"/>
          <p:cNvSpPr/>
          <p:nvPr/>
        </p:nvSpPr>
        <p:spPr>
          <a:xfrm>
            <a:off x="8321040" y="4572000"/>
            <a:ext cx="331927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709160"/>
            <a:ext cx="295351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450738"/>
            <a:ext cx="295351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tests pass; 3 expected failures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grading accuracy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sion F1 (text only 0.644) tile"/>
          <p:cNvSpPr/>
          <p:nvPr/>
        </p:nvSpPr>
        <p:spPr>
          <a:xfrm>
            <a:off x="8412480" y="13716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95360" y="15087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92.3 %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22503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grader test accuracy, synthetic data</a:t>
            </a:r>
            <a:endParaRPr lang="en-US" sz="1300" dirty="0"/>
          </a:p>
        </p:txBody>
      </p:sp>
      <p:sp>
        <p:nvSpPr>
          <p:cNvPr id="8" name="fusion ROC-AUC (text 0.771) tile"/>
          <p:cNvSpPr/>
          <p:nvPr/>
        </p:nvSpPr>
        <p:spPr>
          <a:xfrm>
            <a:off x="8412480" y="29718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95360" y="31089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38505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price model R2 (MAE 164.6, MAPE 5.1 %)</a:t>
            </a:r>
            <a:endParaRPr lang="en-US" sz="1300" dirty="0"/>
          </a:p>
        </p:txBody>
      </p:sp>
      <p:sp>
        <p:nvSpPr>
          <p:cNvPr id="11" name="fusion accuracy tile"/>
          <p:cNvSpPr/>
          <p:nvPr/>
        </p:nvSpPr>
        <p:spPr>
          <a:xfrm>
            <a:off x="8412480" y="4572000"/>
            <a:ext cx="3227832" cy="1417320"/>
          </a:xfrm>
          <a:prstGeom prst="roundRect">
            <a:avLst>
              <a:gd name="adj" fmla="val 5161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95360" y="4709160"/>
            <a:ext cx="2862072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50.4 %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595360" y="5450738"/>
            <a:ext cx="2862072" cy="4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shipped grader on real photos (chance 50 %)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picture frame"/>
          <p:cNvSpPr/>
          <p:nvPr/>
        </p:nvSpPr>
        <p:spPr>
          <a:xfrm>
            <a:off x="428625" y="1729978"/>
            <a:ext cx="5619750" cy="351234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535662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Real tomato photo graded B (70.1 %): radar of features and SHAP drivers</a:t>
            </a:r>
            <a:endParaRPr lang="en-US" sz="1100" dirty="0"/>
          </a:p>
        </p:txBody>
      </p:sp>
      <p:sp>
        <p:nvSpPr>
          <p:cNvPr id="8" name="picture frame"/>
          <p:cNvSpPr/>
          <p:nvPr/>
        </p:nvSpPr>
        <p:spPr>
          <a:xfrm>
            <a:off x="6143625" y="1729978"/>
            <a:ext cx="5619750" cy="3512343"/>
          </a:xfrm>
          <a:prstGeom prst="rect">
            <a:avLst/>
          </a:prstGeom>
          <a:ln w="9525">
            <a:solidFill>
              <a:srgbClr val="D5DCE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172200" y="535662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Price forecast: INR 2,272 per quintal, 30-day curve and drivers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pic>
        <p:nvPicPr>
          <p:cNvPr id="26" name="Grading result screenshot" descr="Grading result 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729978"/>
            <a:ext cx="5619750" cy="3512343"/>
          </a:xfrm>
          <a:prstGeom prst="rect">
            <a:avLst/>
          </a:prstGeom>
        </p:spPr>
      </p:pic>
      <p:pic>
        <p:nvPicPr>
          <p:cNvPr id="27" name="Price forecast screenshot" descr="Price forecast screensh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3625" y="1729978"/>
            <a:ext cx="5619750" cy="35123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observations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120639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14476"/>
                <a:gridCol w="1945843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Health, authentication, role guards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Listings, grading, vision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passed, 1 expected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and delivery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passed, 1 expected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and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passed, 1 expected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IoT, simulator, 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passed, 3 expected 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35040" y="141732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36 tests pass in about 30 s; 3 tests assert hardened behaviour and fail today: a corrupt image gives HTTP 500 and leaves a gradeless draft, unknown crops are priced, order quantity and price are not validated.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API median times: health 1.6 ms, upload and grade 174 ms, price 55 ms, delivery plan 100 ms, login 325 ms.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Delivery ranking: top buyer unchanged in 97.7 % of weight perturbations.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Found while testing: admin volume is 100x too high (INR per quintal x kg).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Not done: user-acceptance, load and security testing.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4" name="Challenge card 1"/>
          <p:cNvSpPr/>
          <p:nvPr/>
        </p:nvSpPr>
        <p:spPr>
          <a:xfrm>
            <a:off x="54864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No real training data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No labelled crop photos or price series: both models use synthetic data, disclosed in the app.</a:t>
            </a:r>
            <a:endParaRPr lang="en-US" sz="1400" dirty="0"/>
          </a:p>
        </p:txBody>
      </p:sp>
      <p:sp>
        <p:nvSpPr>
          <p:cNvPr id="9" name="Challenge card 2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099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Synthetic-to-real gap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On 3,200 real photos the grader is at chance (50.4 %); the same features retrained on real labels reach 90.6 %.</a:t>
            </a:r>
            <a:endParaRPr lang="en-US" sz="1400" dirty="0"/>
          </a:p>
        </p:txBody>
      </p:sp>
      <p:sp>
        <p:nvSpPr>
          <p:cNvPr id="14" name="Challenge card 3"/>
          <p:cNvSpPr/>
          <p:nvPr/>
        </p:nvSpPr>
        <p:spPr>
          <a:xfrm>
            <a:off x="8046720" y="137160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75320" y="1600200"/>
            <a:ext cx="548640" cy="548640"/>
          </a:xfrm>
          <a:prstGeom prst="ellipse">
            <a:avLst/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0992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Circular price score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2402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R2 0.992 recovers the generator (noise floor MAPE 2.8 %); weather features carry about zero importance.</a:t>
            </a:r>
            <a:endParaRPr lang="en-US" sz="1400" dirty="0"/>
          </a:p>
        </p:txBody>
      </p:sp>
      <p:sp>
        <p:nvSpPr>
          <p:cNvPr id="19" name="Challenge card 4"/>
          <p:cNvSpPr/>
          <p:nvPr/>
        </p:nvSpPr>
        <p:spPr>
          <a:xfrm>
            <a:off x="54864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502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Simulated sensors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 random walk without mean reversion: 97 % of alarm steps are drift. Real sensors are needed.</a:t>
            </a:r>
            <a:endParaRPr lang="en-US" sz="1400" dirty="0"/>
          </a:p>
        </p:txBody>
      </p:sp>
      <p:sp>
        <p:nvSpPr>
          <p:cNvPr id="24" name="Challenge card 5"/>
          <p:cNvSpPr/>
          <p:nvPr/>
        </p:nvSpPr>
        <p:spPr>
          <a:xfrm>
            <a:off x="429768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4526280" y="3840480"/>
            <a:ext cx="548640" cy="54864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26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50208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Unvalidated inputs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Corrupt image: HTTP 500 and a gradeless draft; order quantity and price unchecked. Logged as expected-fail tests.</a:t>
            </a:r>
            <a:endParaRPr lang="en-US" sz="1400" dirty="0"/>
          </a:p>
        </p:txBody>
      </p:sp>
      <p:sp>
        <p:nvSpPr>
          <p:cNvPr id="29" name="Challenge card 6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8275320" y="384048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50208"/>
            <a:ext cx="329184" cy="32918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Unit error in a KPI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480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75569"/>
                </a:solidFill>
              </a:rPr>
              <a:t>Admin volume multiplies INR per quintal by kg, so it reads 100x too high; found while capturing screens.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Collect real labelled photos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127934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flow step 2"/>
          <p:cNvSpPr/>
          <p:nvPr/>
        </p:nvSpPr>
        <p:spPr>
          <a:xfrm>
            <a:off x="3402254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6250D6"/>
          </a:solidFill>
          <a:ln w="12700">
            <a:solidFill>
              <a:srgbClr val="6250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5406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Retrain and validate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5981548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flow step 3"/>
          <p:cNvSpPr/>
          <p:nvPr/>
        </p:nvSpPr>
        <p:spPr>
          <a:xfrm>
            <a:off x="6255868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9020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Harden and fix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8835161" y="2212848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flow step 4"/>
          <p:cNvSpPr/>
          <p:nvPr/>
        </p:nvSpPr>
        <p:spPr>
          <a:xfrm>
            <a:off x="9109481" y="1645920"/>
            <a:ext cx="2533574" cy="1371600"/>
          </a:xfrm>
          <a:prstGeom prst="roundRect">
            <a:avLst>
              <a:gd name="adj" fmla="val 5333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2633" y="1645920"/>
            <a:ext cx="23872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 report and demo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56616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Collect a labelled set of real crop photos with grades and retrain the grader; test on unseen photos.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Replace the hash-generated market context with a real mandi price series and validate over time.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Fix the admin unit error, validate inputs, clean up failed uploads, make the sensor alarm clear, authenticate the WebSocket.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</a:rPr>
              <a:t>Collect feedback from farmers and buyers (not yet done); complete the report and final demo.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Sight">
  <a:themeElements>
    <a:clrScheme name="CropSight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CropS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CropSight: Review 2</dc:title>
  <dc:subject>CropSight: Smart Crop Delivery with AI-Based Price and Quality Intelligence</dc:subject>
  <dc:creator>Batch A17</dc:creator>
  <cp:lastModifiedBy>Batch A17</cp:lastModifiedBy>
  <cp:revision>1</cp:revision>
  <dcterms:created xsi:type="dcterms:W3CDTF">2026-10-13T12:40:05Z</dcterms:created>
  <dcterms:modified xsi:type="dcterms:W3CDTF">2026-10-13T12:40:05Z</dcterms:modified>
  <cp:keywords>crop quality grading, price forecasting, smart delivery, SHAP, IoT</cp:keywords>
  <cp:category/>
  <dc:description/>
  <cp:contentStatus/>
</cp:coreProperties>
</file>