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Results reported by the base paper [1] on its own data (%)</a:t>
            </a:r>
          </a:p>
        </c:rich>
      </c:tx>
      <c:layout/>
      <c:overlay val="0"/>
    </c:title>
    <c:autoTitleDeleted val="0"/>
    <c:plotArea>
      <c:layout/>
      <c:barChart>
        <c:barDir val="col"/>
        <c:grouping val="clustered"/>
        <c:varyColors val="0"/>
        <c:ser>
          <c:idx val="0"/>
          <c:order val="0"/>
          <c:tx>
            <c:strRef>
              <c:f>Sheet1!$B$1</c:f>
              <c:strCache>
                <c:ptCount val="1"/>
                <c:pt idx="0">
                  <c:v>Reported (%)</c:v>
                </c:pt>
              </c:strCache>
            </c:strRef>
          </c:tx>
          <c:spPr>
            <a:solidFill>
              <a:srgbClr val="2F7D4F"/>
            </a:solidFill>
            <a:effectLst/>
          </c:spPr>
          <c:invertIfNegative val="0"/>
          <c:dLbls>
            <c:numFmt formatCode="0.00" sourceLinked="0"/>
            <c:txPr>
              <a:bodyPr/>
              <a:lstStyle/>
              <a:p>
                <a:pPr>
                  <a:defRPr b="0" i="0" strike="noStrike" sz="1200" u="none">
                    <a:solidFill>
                      <a:srgbClr val="475569"/>
                    </a:solidFill>
                    <a:latin typeface="+mn-lt"/>
                  </a:defRPr>
                </a:pPr>
              </a:p>
            </c:txPr>
            <c:showLegendKey val="0"/>
            <c:showVal val="1"/>
            <c:showCatName val="0"/>
            <c:showSerName val="0"/>
            <c:showPercent val="0"/>
            <c:showBubbleSize val="0"/>
            <c:showLeaderLines val="0"/>
          </c:dLbls>
          <c:cat>
            <c:strRef>
              <c:f>Sheet1!$A$2:$A$5</c:f>
              <c:strCache>
                <c:ptCount val="4"/>
                <c:pt idx="0">
                  <c:v>Irrigation (TTL)</c:v>
                </c:pt>
                <c:pt idx="1">
                  <c:v>Crop (SwiFT)</c:v>
                </c:pt>
                <c:pt idx="2">
                  <c:v>Fertiliser (TabNet)</c:v>
                </c:pt>
                <c:pt idx="3">
                  <c:v>Soil R2 (TabNet)</c:v>
                </c:pt>
              </c:strCache>
            </c:strRef>
          </c:cat>
          <c:val>
            <c:numRef>
              <c:f>Sheet1!$B$2:$B$5</c:f>
              <c:numCache>
                <c:formatCode>0.00</c:formatCode>
                <c:ptCount val="4"/>
                <c:pt idx="0">
                  <c:v>99.13</c:v>
                </c:pt>
                <c:pt idx="1">
                  <c:v>98.75</c:v>
                </c:pt>
                <c:pt idx="2">
                  <c:v>99.3</c:v>
                </c:pt>
                <c:pt idx="3">
                  <c:v>98.7</c:v>
                </c:pt>
              </c:numCache>
            </c:numRef>
          </c:val>
        </c:ser>
        <c:dLbls>
          <c:numFmt formatCode="0.00" sourceLinked="0"/>
          <c:txPr>
            <a:bodyPr/>
            <a:lstStyle/>
            <a:p>
              <a:pPr>
                <a:defRPr b="0" i="0" strike="noStrike" sz="12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00.0"/>
          <c:min val="0.0"/>
        </c:scaling>
        <c:delete val="0"/>
        <c:axPos val="l"/>
        <c:majorGridlines>
          <c:spPr>
            <a:ln w="9525" cap="flat">
              <a:solidFill>
                <a:srgbClr val="E2E8F0"/>
              </a:solidFill>
              <a:prstDash val="solid"/>
              <a:round/>
            </a:ln>
          </c:spPr>
        </c:majorGridlines>
        <c:title>
          <c:tx>
            <c:rich>
              <a:bodyPr/>
              <a:lstStyle/>
              <a:p>
                <a:r>
                  <a:rPr sz="1000" b="0"/>
                  <a:t>accuracy or R2 (%)</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1 covers problem identification and research for CropSight, a platform that grades crop quality from photos, forecasts prices, plans delivery and monitors shipments.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parts: the abstract, the base paper and related work, the gap we found, our problem statement and objectives, the approach, expected outcomes and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abstract in one slide: the problem, the AI + ML + IoT idea, and the marketplace deliverable.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is a pre-harvest smart-agriculture system. CropSight keeps its IoT, learning and explainability architecture and applies it to post-harvest quality grading, price prediction and delivery.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[6] and [7] were read; [2] to [5] are listed in the batch literature survey but could not be retrieved independently, so only their titles are used and no results are claimed for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published numbers from the base paper and an arXiv study, not ours. They show the approach is viable; CropSight's own measurements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a farmer sells a crop today.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grading is subjective, prices cannot be foreseen, losses go unmonitored and decisions are opaque.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Smart-agriculture systems focus on pre-harvest decisions; few support post-harvest quality grading, price forecasting and delivery planning for farmers.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Inputs are the crop photo, its crop type and region, and market data; outputs are a grade, a price forecast, a ranked delivery plan and alerts; the extra property is explainability.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approach: image features to a grade, a price model with a forecast, explanations with SHAP, a scored delivery plan, and one web application. The prototype's sensors are simulated and its models are trained on synthetic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Browser to React to FastAPI. The grading, price and delivery services run in the backend; sensor readings are streamed to the browser over a WebSocket.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are stated as targets at this stage; they are measured and reported honestly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[1] to [10]; the full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CropSight  ·  Review 1  ·  Batch A17</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CropSight</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Smart Crop Delivery with AI-Based Price and Quality Intelligence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G.PRANAVI  23K91A6765</a:t>
            </a:r>
            <a:endParaRPr lang="en-US" sz="1500" dirty="0"/>
          </a:p>
          <a:p>
            <a:pPr indent="0" marL="0">
              <a:buNone/>
            </a:pPr>
            <a:r>
              <a:rPr lang="en-US" sz="1500" dirty="0">
                <a:solidFill>
                  <a:srgbClr val="FFFFFF"/>
                </a:solidFill>
              </a:rPr>
              <a:t>G.SIRI CHANDANA  23K91A6763</a:t>
            </a:r>
            <a:endParaRPr lang="en-US" sz="1500" dirty="0"/>
          </a:p>
          <a:p>
            <a:pPr indent="0" marL="0">
              <a:buNone/>
            </a:pPr>
            <a:r>
              <a:rPr lang="en-US" sz="1500" dirty="0">
                <a:solidFill>
                  <a:srgbClr val="FFFFFF"/>
                </a:solidFill>
              </a:rPr>
              <a:t>A.NIKHIL  23K91A6715</a:t>
            </a:r>
            <a:endParaRPr lang="en-US" sz="1500" dirty="0"/>
          </a:p>
          <a:p>
            <a:pPr indent="0" marL="0">
              <a:buNone/>
            </a:pPr>
            <a:r>
              <a:rPr lang="en-US" sz="1500" dirty="0">
                <a:solidFill>
                  <a:srgbClr val="FFFFFF"/>
                </a:solidFill>
              </a:rPr>
              <a:t>G.VISHNU VARDHAN  23K91A6754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K. Mounika,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A17 (CSE-DS, Section 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4" name="agenda 1"/>
          <p:cNvSpPr/>
          <p:nvPr/>
        </p:nvSpPr>
        <p:spPr>
          <a:xfrm>
            <a:off x="548640" y="1417320"/>
            <a:ext cx="3566160" cy="1325880"/>
          </a:xfrm>
          <a:prstGeom prst="roundRect">
            <a:avLst>
              <a:gd name="adj" fmla="val 5517"/>
            </a:avLst>
          </a:prstGeom>
          <a:solidFill>
            <a:srgbClr val="F6F8FB"/>
          </a:solidFill>
          <a:ln w="9525">
            <a:solidFill>
              <a:srgbClr val="D5DCE6"/>
            </a:solidFill>
            <a:prstDash val="solid"/>
          </a:ln>
        </p:spPr>
        <p:txBody>
          <a:bodyPr/>
          <a:p/>
        </p:txBody>
      </p:sp>
      <p:sp>
        <p:nvSpPr>
          <p:cNvPr id="5" name="Text 2"/>
          <p:cNvSpPr txBox="1"/>
          <p:nvPr/>
        </p:nvSpPr>
        <p:spPr>
          <a:xfrm>
            <a:off x="77724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01</a:t>
            </a:r>
            <a:endParaRPr lang="en-US" sz="2400" dirty="0"/>
          </a:p>
        </p:txBody>
      </p:sp>
      <p:sp>
        <p:nvSpPr>
          <p:cNvPr id="6" name="Text 3"/>
          <p:cNvSpPr txBox="1"/>
          <p:nvPr/>
        </p:nvSpPr>
        <p:spPr>
          <a:xfrm>
            <a:off x="77724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Abstract and overview</a:t>
            </a:r>
            <a:endParaRPr lang="en-US" sz="1600" dirty="0"/>
          </a:p>
        </p:txBody>
      </p:sp>
      <p:sp>
        <p:nvSpPr>
          <p:cNvPr id="7" name="agenda 2"/>
          <p:cNvSpPr/>
          <p:nvPr/>
        </p:nvSpPr>
        <p:spPr>
          <a:xfrm>
            <a:off x="4297680" y="1417320"/>
            <a:ext cx="3566160" cy="1325880"/>
          </a:xfrm>
          <a:prstGeom prst="roundRect">
            <a:avLst>
              <a:gd name="adj" fmla="val 5517"/>
            </a:avLst>
          </a:prstGeom>
          <a:solidFill>
            <a:srgbClr val="F6F8FB"/>
          </a:solidFill>
          <a:ln w="9525">
            <a:solidFill>
              <a:srgbClr val="D5DCE6"/>
            </a:solidFill>
            <a:prstDash val="solid"/>
          </a:ln>
        </p:spPr>
        <p:txBody>
          <a:bodyPr/>
          <a:p/>
        </p:txBody>
      </p:sp>
      <p:sp>
        <p:nvSpPr>
          <p:cNvPr id="8" name="Text 5"/>
          <p:cNvSpPr txBox="1"/>
          <p:nvPr/>
        </p:nvSpPr>
        <p:spPr>
          <a:xfrm>
            <a:off x="452628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02</a:t>
            </a:r>
            <a:endParaRPr lang="en-US" sz="2400" dirty="0"/>
          </a:p>
        </p:txBody>
      </p:sp>
      <p:sp>
        <p:nvSpPr>
          <p:cNvPr id="9" name="Text 6"/>
          <p:cNvSpPr txBox="1"/>
          <p:nvPr/>
        </p:nvSpPr>
        <p:spPr>
          <a:xfrm>
            <a:off x="452628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Base paper</a:t>
            </a:r>
            <a:endParaRPr lang="en-US" sz="1600" dirty="0"/>
          </a:p>
        </p:txBody>
      </p:sp>
      <p:sp>
        <p:nvSpPr>
          <p:cNvPr id="10" name="agenda 3"/>
          <p:cNvSpPr/>
          <p:nvPr/>
        </p:nvSpPr>
        <p:spPr>
          <a:xfrm>
            <a:off x="8046720" y="141732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1" name="Text 8"/>
          <p:cNvSpPr txBox="1"/>
          <p:nvPr/>
        </p:nvSpPr>
        <p:spPr>
          <a:xfrm>
            <a:off x="827532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03</a:t>
            </a:r>
            <a:endParaRPr lang="en-US" sz="2400" dirty="0"/>
          </a:p>
        </p:txBody>
      </p:sp>
      <p:sp>
        <p:nvSpPr>
          <p:cNvPr id="12" name="Text 9"/>
          <p:cNvSpPr txBox="1"/>
          <p:nvPr/>
        </p:nvSpPr>
        <p:spPr>
          <a:xfrm>
            <a:off x="827532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Literature survey</a:t>
            </a:r>
            <a:endParaRPr lang="en-US" sz="1600" dirty="0"/>
          </a:p>
        </p:txBody>
      </p:sp>
      <p:sp>
        <p:nvSpPr>
          <p:cNvPr id="13" name="agenda 4"/>
          <p:cNvSpPr/>
          <p:nvPr/>
        </p:nvSpPr>
        <p:spPr>
          <a:xfrm>
            <a:off x="548640" y="297180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4" name="Text 11"/>
          <p:cNvSpPr txBox="1"/>
          <p:nvPr/>
        </p:nvSpPr>
        <p:spPr>
          <a:xfrm>
            <a:off x="77724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04</a:t>
            </a:r>
            <a:endParaRPr lang="en-US" sz="2400" dirty="0"/>
          </a:p>
        </p:txBody>
      </p:sp>
      <p:sp>
        <p:nvSpPr>
          <p:cNvPr id="15" name="Text 12"/>
          <p:cNvSpPr txBox="1"/>
          <p:nvPr/>
        </p:nvSpPr>
        <p:spPr>
          <a:xfrm>
            <a:off x="77724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Existing approaches and limitations</a:t>
            </a:r>
            <a:endParaRPr lang="en-US" sz="1600" dirty="0"/>
          </a:p>
        </p:txBody>
      </p:sp>
      <p:sp>
        <p:nvSpPr>
          <p:cNvPr id="16" name="agenda 5"/>
          <p:cNvSpPr/>
          <p:nvPr/>
        </p:nvSpPr>
        <p:spPr>
          <a:xfrm>
            <a:off x="4297680" y="297180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7" name="Text 14"/>
          <p:cNvSpPr txBox="1"/>
          <p:nvPr/>
        </p:nvSpPr>
        <p:spPr>
          <a:xfrm>
            <a:off x="452628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05</a:t>
            </a:r>
            <a:endParaRPr lang="en-US" sz="2400" dirty="0"/>
          </a:p>
        </p:txBody>
      </p:sp>
      <p:sp>
        <p:nvSpPr>
          <p:cNvPr id="18" name="Text 15"/>
          <p:cNvSpPr txBox="1"/>
          <p:nvPr/>
        </p:nvSpPr>
        <p:spPr>
          <a:xfrm>
            <a:off x="452628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Research gap</a:t>
            </a:r>
            <a:endParaRPr lang="en-US" sz="1600" dirty="0"/>
          </a:p>
        </p:txBody>
      </p:sp>
      <p:sp>
        <p:nvSpPr>
          <p:cNvPr id="19" name="agenda 6"/>
          <p:cNvSpPr/>
          <p:nvPr/>
        </p:nvSpPr>
        <p:spPr>
          <a:xfrm>
            <a:off x="8046720" y="2971800"/>
            <a:ext cx="3566160" cy="1325880"/>
          </a:xfrm>
          <a:prstGeom prst="roundRect">
            <a:avLst>
              <a:gd name="adj" fmla="val 5517"/>
            </a:avLst>
          </a:prstGeom>
          <a:solidFill>
            <a:srgbClr val="F6F8FB"/>
          </a:solidFill>
          <a:ln w="9525">
            <a:solidFill>
              <a:srgbClr val="D5DCE6"/>
            </a:solidFill>
            <a:prstDash val="solid"/>
          </a:ln>
        </p:spPr>
        <p:txBody>
          <a:bodyPr/>
          <a:p/>
        </p:txBody>
      </p:sp>
      <p:sp>
        <p:nvSpPr>
          <p:cNvPr id="20" name="Text 17"/>
          <p:cNvSpPr txBox="1"/>
          <p:nvPr/>
        </p:nvSpPr>
        <p:spPr>
          <a:xfrm>
            <a:off x="827532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06</a:t>
            </a:r>
            <a:endParaRPr lang="en-US" sz="2400" dirty="0"/>
          </a:p>
        </p:txBody>
      </p:sp>
      <p:sp>
        <p:nvSpPr>
          <p:cNvPr id="21" name="Text 18"/>
          <p:cNvSpPr txBox="1"/>
          <p:nvPr/>
        </p:nvSpPr>
        <p:spPr>
          <a:xfrm>
            <a:off x="827532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Problem statement and objectives</a:t>
            </a:r>
            <a:endParaRPr lang="en-US" sz="1600" dirty="0"/>
          </a:p>
        </p:txBody>
      </p:sp>
      <p:sp>
        <p:nvSpPr>
          <p:cNvPr id="22" name="agenda 7"/>
          <p:cNvSpPr/>
          <p:nvPr/>
        </p:nvSpPr>
        <p:spPr>
          <a:xfrm>
            <a:off x="548640" y="4526280"/>
            <a:ext cx="3566160" cy="1325880"/>
          </a:xfrm>
          <a:prstGeom prst="roundRect">
            <a:avLst>
              <a:gd name="adj" fmla="val 5517"/>
            </a:avLst>
          </a:prstGeom>
          <a:solidFill>
            <a:srgbClr val="F6F8FB"/>
          </a:solidFill>
          <a:ln w="9525">
            <a:solidFill>
              <a:srgbClr val="D5DCE6"/>
            </a:solidFill>
            <a:prstDash val="solid"/>
          </a:ln>
        </p:spPr>
        <p:txBody>
          <a:bodyPr/>
          <a:p/>
        </p:txBody>
      </p:sp>
      <p:sp>
        <p:nvSpPr>
          <p:cNvPr id="23" name="Text 20"/>
          <p:cNvSpPr txBox="1"/>
          <p:nvPr/>
        </p:nvSpPr>
        <p:spPr>
          <a:xfrm>
            <a:off x="77724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07</a:t>
            </a:r>
            <a:endParaRPr lang="en-US" sz="2400" dirty="0"/>
          </a:p>
        </p:txBody>
      </p:sp>
      <p:sp>
        <p:nvSpPr>
          <p:cNvPr id="24" name="Text 21"/>
          <p:cNvSpPr txBox="1"/>
          <p:nvPr/>
        </p:nvSpPr>
        <p:spPr>
          <a:xfrm>
            <a:off x="77724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Proposed approach and architecture</a:t>
            </a:r>
            <a:endParaRPr lang="en-US" sz="1600" dirty="0"/>
          </a:p>
        </p:txBody>
      </p:sp>
      <p:sp>
        <p:nvSpPr>
          <p:cNvPr id="25" name="agenda 8"/>
          <p:cNvSpPr/>
          <p:nvPr/>
        </p:nvSpPr>
        <p:spPr>
          <a:xfrm>
            <a:off x="4297680" y="4526280"/>
            <a:ext cx="3566160" cy="1325880"/>
          </a:xfrm>
          <a:prstGeom prst="roundRect">
            <a:avLst>
              <a:gd name="adj" fmla="val 5517"/>
            </a:avLst>
          </a:prstGeom>
          <a:solidFill>
            <a:srgbClr val="F6F8FB"/>
          </a:solidFill>
          <a:ln w="9525">
            <a:solidFill>
              <a:srgbClr val="D5DCE6"/>
            </a:solidFill>
            <a:prstDash val="solid"/>
          </a:ln>
        </p:spPr>
        <p:txBody>
          <a:bodyPr/>
          <a:p/>
        </p:txBody>
      </p:sp>
      <p:sp>
        <p:nvSpPr>
          <p:cNvPr id="26" name="Text 23"/>
          <p:cNvSpPr txBox="1"/>
          <p:nvPr/>
        </p:nvSpPr>
        <p:spPr>
          <a:xfrm>
            <a:off x="452628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08</a:t>
            </a:r>
            <a:endParaRPr lang="en-US" sz="2400" dirty="0"/>
          </a:p>
        </p:txBody>
      </p:sp>
      <p:sp>
        <p:nvSpPr>
          <p:cNvPr id="27" name="Text 24"/>
          <p:cNvSpPr txBox="1"/>
          <p:nvPr/>
        </p:nvSpPr>
        <p:spPr>
          <a:xfrm>
            <a:off x="452628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Expected outcomes</a:t>
            </a:r>
            <a:endParaRPr lang="en-US" sz="1600" dirty="0"/>
          </a:p>
        </p:txBody>
      </p:sp>
      <p:sp>
        <p:nvSpPr>
          <p:cNvPr id="28" name="agenda 9"/>
          <p:cNvSpPr/>
          <p:nvPr/>
        </p:nvSpPr>
        <p:spPr>
          <a:xfrm>
            <a:off x="8046720" y="4526280"/>
            <a:ext cx="3566160" cy="1325880"/>
          </a:xfrm>
          <a:prstGeom prst="roundRect">
            <a:avLst>
              <a:gd name="adj" fmla="val 5517"/>
            </a:avLst>
          </a:prstGeom>
          <a:solidFill>
            <a:srgbClr val="F6F8FB"/>
          </a:solidFill>
          <a:ln w="9525">
            <a:solidFill>
              <a:srgbClr val="D5DCE6"/>
            </a:solidFill>
            <a:prstDash val="solid"/>
          </a:ln>
        </p:spPr>
        <p:txBody>
          <a:bodyPr/>
          <a:p/>
        </p:txBody>
      </p:sp>
      <p:sp>
        <p:nvSpPr>
          <p:cNvPr id="29" name="Text 26"/>
          <p:cNvSpPr txBox="1"/>
          <p:nvPr/>
        </p:nvSpPr>
        <p:spPr>
          <a:xfrm>
            <a:off x="827532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09</a:t>
            </a:r>
            <a:endParaRPr lang="en-US" sz="2400" dirty="0"/>
          </a:p>
        </p:txBody>
      </p:sp>
      <p:sp>
        <p:nvSpPr>
          <p:cNvPr id="30" name="Text 27"/>
          <p:cNvSpPr txBox="1"/>
          <p:nvPr/>
        </p:nvSpPr>
        <p:spPr>
          <a:xfrm>
            <a:off x="827532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References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from harvest to delivery with AI</a:t>
            </a:r>
            <a:endParaRPr lang="en-US" sz="3200" dirty="0"/>
          </a:p>
        </p:txBody>
      </p:sp>
      <p:sp>
        <p:nvSpPr>
          <p:cNvPr id="4" name="The problem card"/>
          <p:cNvSpPr/>
          <p:nvPr/>
        </p:nvSpPr>
        <p:spPr>
          <a:xfrm>
            <a:off x="548640" y="1371600"/>
            <a:ext cx="3566160" cy="4206240"/>
          </a:xfrm>
          <a:prstGeom prst="roundRect">
            <a:avLst>
              <a:gd name="adj" fmla="val 2051"/>
            </a:avLst>
          </a:prstGeom>
          <a:solidFill>
            <a:srgbClr val="F6F8FB"/>
          </a:solidFill>
          <a:ln w="9525">
            <a:solidFill>
              <a:srgbClr val="D5DCE6"/>
            </a:solidFill>
            <a:prstDash val="solid"/>
          </a:ln>
        </p:spPr>
        <p:txBody>
          <a:bodyPr/>
          <a:p/>
        </p:txBody>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txBody>
          <a:bodyPr/>
          <a:p/>
        </p:txBody>
      </p:sp>
      <p:pic>
        <p:nvPicPr>
          <p:cNvPr id="6" name="Image 0" descr="The problem">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problem</a:t>
            </a:r>
            <a:endParaRPr lang="en-US" sz="1600" dirty="0"/>
          </a:p>
        </p:txBody>
      </p:sp>
      <p:sp>
        <p:nvSpPr>
          <p:cNvPr id="8" name="Text 4"/>
          <p:cNvSpPr txBox="1"/>
          <p:nvPr/>
        </p:nvSpPr>
        <p:spPr>
          <a:xfrm>
            <a:off x="77724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Farmers face fluctuating prices, inconsistent quality assessment, supply-chain inefficiencies and little real-time decision support. Post-harvest losses occur because storage and transport are not monitored.</a:t>
            </a:r>
            <a:endParaRPr lang="en-US" sz="1600" dirty="0"/>
          </a:p>
        </p:txBody>
      </p:sp>
      <p:sp>
        <p:nvSpPr>
          <p:cNvPr id="9" name="Our idea card"/>
          <p:cNvSpPr/>
          <p:nvPr/>
        </p:nvSpPr>
        <p:spPr>
          <a:xfrm>
            <a:off x="4297680" y="1371600"/>
            <a:ext cx="3566160" cy="4206240"/>
          </a:xfrm>
          <a:prstGeom prst="roundRect">
            <a:avLst>
              <a:gd name="adj" fmla="val 2051"/>
            </a:avLst>
          </a:prstGeom>
          <a:solidFill>
            <a:srgbClr val="F6F8FB"/>
          </a:solidFill>
          <a:ln w="9525">
            <a:solidFill>
              <a:srgbClr val="D5DCE6"/>
            </a:solidFill>
            <a:prstDash val="solid"/>
          </a:ln>
        </p:spPr>
        <p:txBody>
          <a:bodyPr/>
          <a:p/>
        </p:txBody>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txBody>
          <a:bodyPr/>
          <a:p/>
        </p:txBody>
      </p:sp>
      <p:pic>
        <p:nvPicPr>
          <p:cNvPr id="11" name="Image 1" descr="Our idea">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Our idea</a:t>
            </a:r>
            <a:endParaRPr lang="en-US" sz="1600" dirty="0"/>
          </a:p>
        </p:txBody>
      </p:sp>
      <p:sp>
        <p:nvSpPr>
          <p:cNvPr id="13" name="Text 8"/>
          <p:cNvSpPr txBox="1"/>
          <p:nvPr/>
        </p:nvSpPr>
        <p:spPr>
          <a:xfrm>
            <a:off x="4526280" y="2240280"/>
            <a:ext cx="3108960" cy="320040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CropSight integrates AI, ML and IoT. Crop quality is graded from a photo (colour, texture, size, defects), prices are predicted from market, weather and demand data, and sensors monitor storage and transport. XAI explains each decision.</a:t>
            </a:r>
            <a:endParaRPr lang="en-US" sz="1500" dirty="0"/>
          </a:p>
        </p:txBody>
      </p:sp>
      <p:sp>
        <p:nvSpPr>
          <p:cNvPr id="14" name="The deliverable card"/>
          <p:cNvSpPr/>
          <p:nvPr/>
        </p:nvSpPr>
        <p:spPr>
          <a:xfrm>
            <a:off x="8046720" y="1371600"/>
            <a:ext cx="3566160" cy="4206240"/>
          </a:xfrm>
          <a:prstGeom prst="roundRect">
            <a:avLst>
              <a:gd name="adj" fmla="val 2051"/>
            </a:avLst>
          </a:prstGeom>
          <a:solidFill>
            <a:srgbClr val="F6F8FB"/>
          </a:solidFill>
          <a:ln w="9525">
            <a:solidFill>
              <a:srgbClr val="D5DCE6"/>
            </a:solidFill>
            <a:prstDash val="solid"/>
          </a:ln>
        </p:spPr>
        <p:txBody>
          <a:bodyPr/>
          <a:p/>
        </p:txBody>
      </p:sp>
      <p:sp>
        <p:nvSpPr>
          <p:cNvPr id="15" name="icon circle"/>
          <p:cNvSpPr/>
          <p:nvPr/>
        </p:nvSpPr>
        <p:spPr>
          <a:xfrm>
            <a:off x="8275320" y="1600200"/>
            <a:ext cx="548640" cy="548640"/>
          </a:xfrm>
          <a:prstGeom prst="ellipse">
            <a:avLst/>
          </a:prstGeom>
          <a:solidFill>
            <a:srgbClr val="1BAF7A"/>
          </a:solidFill>
          <a:ln w="12700">
            <a:solidFill>
              <a:srgbClr val="1BAF7A"/>
            </a:solidFill>
            <a:prstDash val="solid"/>
          </a:ln>
        </p:spPr>
        <p:txBody>
          <a:bodyPr/>
          <a:p/>
        </p:txBody>
      </p:sp>
      <p:pic>
        <p:nvPicPr>
          <p:cNvPr id="16" name="Image 2" descr="The deliverable">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deliverable</a:t>
            </a:r>
            <a:endParaRPr lang="en-US" sz="1600" dirty="0"/>
          </a:p>
        </p:txBody>
      </p:sp>
      <p:sp>
        <p:nvSpPr>
          <p:cNvPr id="18" name="Text 12"/>
          <p:cNvSpPr txBox="1"/>
          <p:nvPr/>
        </p:nvSpPr>
        <p:spPr>
          <a:xfrm>
            <a:off x="827532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smart delivery module recommends buyers, routes and the best time to sell, and a marketplace connects farmers, distributors and buyers in one web application.</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4" name="citation box"/>
          <p:cNvSpPr/>
          <p:nvPr/>
        </p:nvSpPr>
        <p:spPr>
          <a:xfrm>
            <a:off x="548640" y="1325880"/>
            <a:ext cx="11094415" cy="960120"/>
          </a:xfrm>
          <a:prstGeom prst="roundRect">
            <a:avLst>
              <a:gd name="adj" fmla="val 5714"/>
            </a:avLst>
          </a:prstGeom>
          <a:solidFill>
            <a:srgbClr val="EEF2F7"/>
          </a:solidFill>
          <a:ln w="12700">
            <a:solidFill>
              <a:srgbClr val="EEF2F7"/>
            </a:solidFill>
            <a:prstDash val="solid"/>
          </a:ln>
        </p:spPr>
        <p:txBody>
          <a:bodyPr/>
          <a:p/>
        </p:txBody>
      </p:sp>
      <p:sp>
        <p:nvSpPr>
          <p:cNvPr id="5" name="Text 2"/>
          <p:cNvSpPr txBox="1"/>
          <p:nvPr/>
        </p:nvSpPr>
        <p:spPr>
          <a:xfrm>
            <a:off x="777240" y="1371600"/>
            <a:ext cx="10637215" cy="868680"/>
          </a:xfrm>
          <a:prstGeom prst="rect">
            <a:avLst/>
          </a:prstGeom>
          <a:noFill/>
          <a:ln/>
        </p:spPr>
        <p:txBody>
          <a:bodyPr wrap="square" lIns="0" tIns="0" rIns="0" bIns="0" rtlCol="0" anchor="ctr"/>
          <a:lstStyle/>
          <a:p>
            <a:pPr indent="0" marL="0">
              <a:buNone/>
            </a:pPr>
            <a:r>
              <a:rPr lang="en-US" sz="1400" i="1" dirty="0">
                <a:solidFill>
                  <a:srgbClr val="0F172A"/>
                </a:solidFill>
              </a:rPr>
              <a:t>A. Khaliq, A. Khan, S. Jan, M. Umair, A. Gulshair, A. Ali, and U. A. Shah, "AI-driven smart agriculture: An integrated approach for soil analysis, irrigation, and crop-fertilizer recommendations," IEEE Access, vol. 13, pp. 141124-141138, 2025, doi: 10.1109/ACCESS.2025.3594162.</a:t>
            </a:r>
            <a:endParaRPr lang="en-US" sz="1400" dirty="0"/>
          </a:p>
        </p:txBody>
      </p:sp>
      <p:sp>
        <p:nvSpPr>
          <p:cNvPr id="6" name="Method card"/>
          <p:cNvSpPr/>
          <p:nvPr/>
        </p:nvSpPr>
        <p:spPr>
          <a:xfrm>
            <a:off x="548640" y="2514600"/>
            <a:ext cx="3566160" cy="3246120"/>
          </a:xfrm>
          <a:prstGeom prst="roundRect">
            <a:avLst>
              <a:gd name="adj" fmla="val 2254"/>
            </a:avLst>
          </a:prstGeom>
          <a:solidFill>
            <a:srgbClr val="F6F8FB"/>
          </a:solidFill>
          <a:ln w="9525">
            <a:solidFill>
              <a:srgbClr val="D5DCE6"/>
            </a:solidFill>
            <a:prstDash val="solid"/>
          </a:ln>
        </p:spPr>
        <p:txBody>
          <a:bodyPr/>
          <a:p/>
        </p:txBody>
      </p:sp>
      <p:sp>
        <p:nvSpPr>
          <p:cNvPr id="7" name="Text 4"/>
          <p:cNvSpPr txBox="1"/>
          <p:nvPr/>
        </p:nvSpPr>
        <p:spPr>
          <a:xfrm>
            <a:off x="77724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Method</a:t>
            </a:r>
            <a:endParaRPr lang="en-US" sz="1600" dirty="0"/>
          </a:p>
        </p:txBody>
      </p:sp>
      <p:sp>
        <p:nvSpPr>
          <p:cNvPr id="8" name="Text 5"/>
          <p:cNvSpPr txBox="1"/>
          <p:nvPr/>
        </p:nvSpPr>
        <p:spPr>
          <a:xfrm>
            <a:off x="777240" y="3383280"/>
            <a:ext cx="3108960" cy="22402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IoT soil and environment sensors feed deep tabular models: a transformer (TTL) for irrigation advice, TabNet for soil analysis and fertiliser choice, and SwiFT for crop recommendation. XAI explains the predictions; a weather API and a chatbot support farmers.</a:t>
            </a:r>
            <a:endParaRPr lang="en-US" sz="1400" dirty="0"/>
          </a:p>
        </p:txBody>
      </p:sp>
      <p:sp>
        <p:nvSpPr>
          <p:cNvPr id="9" name="Data and reported results card"/>
          <p:cNvSpPr/>
          <p:nvPr/>
        </p:nvSpPr>
        <p:spPr>
          <a:xfrm>
            <a:off x="4297680" y="2514600"/>
            <a:ext cx="3566160" cy="3246120"/>
          </a:xfrm>
          <a:prstGeom prst="roundRect">
            <a:avLst>
              <a:gd name="adj" fmla="val 2254"/>
            </a:avLst>
          </a:prstGeom>
          <a:solidFill>
            <a:srgbClr val="F6F8FB"/>
          </a:solidFill>
          <a:ln w="9525">
            <a:solidFill>
              <a:srgbClr val="D5DCE6"/>
            </a:solidFill>
            <a:prstDash val="solid"/>
          </a:ln>
        </p:spPr>
        <p:txBody>
          <a:bodyPr/>
          <a:p/>
        </p:txBody>
      </p:sp>
      <p:sp>
        <p:nvSpPr>
          <p:cNvPr id="10" name="Text 7"/>
          <p:cNvSpPr txBox="1"/>
          <p:nvPr/>
        </p:nvSpPr>
        <p:spPr>
          <a:xfrm>
            <a:off x="452628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Data and reported results</a:t>
            </a:r>
            <a:endParaRPr lang="en-US" sz="1600" dirty="0"/>
          </a:p>
        </p:txBody>
      </p:sp>
      <p:sp>
        <p:nvSpPr>
          <p:cNvPr id="11" name="Text 8"/>
          <p:cNvSpPr txBox="1"/>
          <p:nvPr/>
        </p:nvSpPr>
        <p:spPr>
          <a:xfrm>
            <a:off x="4526280" y="3383280"/>
            <a:ext cx="3108960" cy="22402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Soil nutrient profiles, sensor readings, historical weather and crop-yield records. Reported: irrigation accuracy 99.13%; soil TabNet RMSE 1.51 and R2 98.7%; crop SwiFT accuracy 98.75%; fertiliser TabNet accuracy 99.3%.</a:t>
            </a:r>
            <a:endParaRPr lang="en-US" sz="1400" dirty="0"/>
          </a:p>
        </p:txBody>
      </p:sp>
      <p:sp>
        <p:nvSpPr>
          <p:cNvPr id="12" name="Limitations stated by the authors card"/>
          <p:cNvSpPr/>
          <p:nvPr/>
        </p:nvSpPr>
        <p:spPr>
          <a:xfrm>
            <a:off x="8046720" y="2514600"/>
            <a:ext cx="3566160" cy="3246120"/>
          </a:xfrm>
          <a:prstGeom prst="roundRect">
            <a:avLst>
              <a:gd name="adj" fmla="val 2254"/>
            </a:avLst>
          </a:prstGeom>
          <a:solidFill>
            <a:srgbClr val="FDF1EC"/>
          </a:solidFill>
          <a:ln w="9525">
            <a:solidFill>
              <a:srgbClr val="D5DCE6"/>
            </a:solidFill>
            <a:prstDash val="solid"/>
          </a:ln>
        </p:spPr>
        <p:txBody>
          <a:bodyPr/>
          <a:p/>
        </p:txBody>
      </p:sp>
      <p:sp>
        <p:nvSpPr>
          <p:cNvPr id="13" name="Text 10"/>
          <p:cNvSpPr txBox="1"/>
          <p:nvPr/>
        </p:nvSpPr>
        <p:spPr>
          <a:xfrm>
            <a:off x="827532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Stated future work and our adaptation</a:t>
            </a:r>
            <a:endParaRPr lang="en-US" sz="1600" dirty="0"/>
          </a:p>
        </p:txBody>
      </p:sp>
      <p:sp>
        <p:nvSpPr>
          <p:cNvPr id="14" name="Text 11"/>
          <p:cNvSpPr txBox="1"/>
          <p:nvPr/>
        </p:nvSpPr>
        <p:spPr>
          <a:xfrm>
            <a:off x="8275320" y="3383280"/>
            <a:ext cx="3108960" cy="22402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The authors name real-time adaptive control and wider regional generalisation as future work. The system is pre-harvest. CropSight adopts the IoT + ML + XAI idea after harvest: grading, price, delivery.</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3566160"/>
                <a:gridCol w="2194560"/>
                <a:gridCol w="2407615"/>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Reported result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Khaliq et al., 2025 (base) [1]</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IoT sensors + TTL, TabNet, SwiFT deep tabular models + XAI, weather API, chatbot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Soil, weather, fertiliser and crop data</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Irrigation 99.13%; crop 98.75%; fertiliser 99.3%; soil R2 98.7%</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Crop leaf disease diagnosis and severity grading, 2026 [2]</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Multi-task learning (from the title)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Listed in survey, details 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Agricultural product quality inspection and e-commerce grading, 2026 [3]</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Image recognition (from the title)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Listed in survey, details 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Crop and market price prediction, 2023 [4]</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Machine learning (from the title)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Listed in survey, details 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Crop price prediction, 2024 [5]</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Machine learning (from the title)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Listed in survey, details 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Additional reading: Wang and Zhang, 2026 [6]</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17 forecasting methods incl. 5 time-series foundation models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USDA ERS monthly commodity prices, 1997-2025</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Zero-shot foundation models beat USDA futures-based forecasts on 3 of 4 commodities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Additional reading: Feng and Zong, 2026 [7]</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ConvLSTM + LCMST-Net crop image recognition</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Large-scale crop images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Average classification accuracy 0.982</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ML and XAI work in farming</a:t>
            </a:r>
            <a:endParaRPr lang="en-US" sz="3200" dirty="0"/>
          </a:p>
        </p:txBody>
      </p:sp>
      <p:graphicFrame>
        <p:nvGraphicFramePr>
          <p:cNvPr id="4" name="Chart 0" descr=""/>
          <p:cNvGraphicFramePr/>
          <p:nvPr/>
        </p:nvGraphicFramePr>
        <p:xfrm>
          <a:off x="54864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Takeaway card"/>
          <p:cNvSpPr/>
          <p:nvPr/>
        </p:nvSpPr>
        <p:spPr>
          <a:xfrm>
            <a:off x="7589520" y="1371600"/>
            <a:ext cx="4050792" cy="2103120"/>
          </a:xfrm>
          <a:prstGeom prst="roundRect">
            <a:avLst>
              <a:gd name="adj" fmla="val 3478"/>
            </a:avLst>
          </a:prstGeom>
          <a:solidFill>
            <a:srgbClr val="F6F8FB"/>
          </a:solidFill>
          <a:ln w="9525">
            <a:solidFill>
              <a:srgbClr val="D5DCE6"/>
            </a:solidFill>
            <a:prstDash val="solid"/>
          </a:ln>
        </p:spPr>
        <p:txBody>
          <a:bodyPr/>
          <a:p/>
        </p:txBody>
      </p:sp>
      <p:sp>
        <p:nvSpPr>
          <p:cNvPr id="6" name="icon circle"/>
          <p:cNvSpPr/>
          <p:nvPr/>
        </p:nvSpPr>
        <p:spPr>
          <a:xfrm>
            <a:off x="7818120" y="1600200"/>
            <a:ext cx="548640" cy="548640"/>
          </a:xfrm>
          <a:prstGeom prst="ellipse">
            <a:avLst/>
          </a:prstGeom>
          <a:solidFill>
            <a:srgbClr val="1BAF7A"/>
          </a:solidFill>
          <a:ln w="12700">
            <a:solidFill>
              <a:srgbClr val="1BAF7A"/>
            </a:solidFill>
            <a:prstDash val="solid"/>
          </a:ln>
        </p:spPr>
        <p:txBody>
          <a:bodyPr/>
          <a:p/>
        </p:txBody>
      </p:sp>
      <p:pic>
        <p:nvPicPr>
          <p:cNvPr id="7" name="Image 0" descr="Takeaway">    </p:cNvPr>
          <p:cNvPicPr>
            <a:picLocks noChangeAspect="1"/>
          </p:cNvPicPr>
          <p:nvPr/>
        </p:nvPicPr>
        <p:blipFill>
          <a:blip r:embed="rId2"/>
          <a:stretch>
            <a:fillRect/>
          </a:stretch>
        </p:blipFill>
        <p:spPr>
          <a:xfrm>
            <a:off x="7927848" y="1709928"/>
            <a:ext cx="329184" cy="329184"/>
          </a:xfrm>
          <a:prstGeom prst="rect">
            <a:avLst/>
          </a:prstGeom>
        </p:spPr>
      </p:pic>
      <p:sp>
        <p:nvSpPr>
          <p:cNvPr id="8" name="Text 3"/>
          <p:cNvSpPr txBox="1"/>
          <p:nvPr/>
        </p:nvSpPr>
        <p:spPr>
          <a:xfrm>
            <a:off x="8503920" y="1554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Takeaway</a:t>
            </a:r>
            <a:endParaRPr lang="en-US" sz="1600" dirty="0"/>
          </a:p>
        </p:txBody>
      </p:sp>
      <p:sp>
        <p:nvSpPr>
          <p:cNvPr id="9" name="Text 4"/>
          <p:cNvSpPr txBox="1"/>
          <p:nvPr/>
        </p:nvSpPr>
        <p:spPr>
          <a:xfrm>
            <a:off x="7818120" y="2240280"/>
            <a:ext cx="3593592" cy="1097280"/>
          </a:xfrm>
          <a:prstGeom prst="rect">
            <a:avLst/>
          </a:prstGeom>
          <a:noFill/>
          <a:ln/>
        </p:spPr>
        <p:txBody>
          <a:bodyPr wrap="square" lIns="0" tIns="0" rIns="0" bIns="0" rtlCol="0" anchor="t"/>
          <a:lstStyle/>
          <a:p>
            <a:pPr indent="0" marL="0">
              <a:spcAft>
                <a:spcPts val="400"/>
              </a:spcAft>
              <a:buNone/>
            </a:pPr>
            <a:r>
              <a:rPr lang="en-US" sz="1100" dirty="0">
                <a:solidFill>
                  <a:srgbClr val="475569"/>
                </a:solidFill>
              </a:rPr>
              <a:t>IoT data with learned models and XAI gave high reported scores for farm decisions [1]. For prices, modern foundation models beat USDA futures-based forecasts on three of four commodities [6]. Manual grading and unmonitored storage are the post-harvest gaps.</a:t>
            </a:r>
            <a:endParaRPr lang="en-US" sz="1100" dirty="0"/>
          </a:p>
        </p:txBody>
      </p:sp>
      <p:sp>
        <p:nvSpPr>
          <p:cNvPr id="10" name="Caveat card"/>
          <p:cNvSpPr/>
          <p:nvPr/>
        </p:nvSpPr>
        <p:spPr>
          <a:xfrm>
            <a:off x="7589520" y="3657600"/>
            <a:ext cx="4050792" cy="2103120"/>
          </a:xfrm>
          <a:prstGeom prst="roundRect">
            <a:avLst>
              <a:gd name="adj" fmla="val 3478"/>
            </a:avLst>
          </a:prstGeom>
          <a:solidFill>
            <a:srgbClr val="F6F8FB"/>
          </a:solidFill>
          <a:ln w="9525">
            <a:solidFill>
              <a:srgbClr val="D5DCE6"/>
            </a:solidFill>
            <a:prstDash val="solid"/>
          </a:ln>
        </p:spPr>
        <p:txBody>
          <a:bodyPr/>
          <a:p/>
        </p:txBody>
      </p:sp>
      <p:sp>
        <p:nvSpPr>
          <p:cNvPr id="11" name="icon circle"/>
          <p:cNvSpPr/>
          <p:nvPr/>
        </p:nvSpPr>
        <p:spPr>
          <a:xfrm>
            <a:off x="7818120" y="3886200"/>
            <a:ext cx="548640" cy="548640"/>
          </a:xfrm>
          <a:prstGeom prst="ellipse">
            <a:avLst/>
          </a:prstGeom>
          <a:solidFill>
            <a:srgbClr val="EDA100"/>
          </a:solidFill>
          <a:ln w="12700">
            <a:solidFill>
              <a:srgbClr val="EDA100"/>
            </a:solidFill>
            <a:prstDash val="solid"/>
          </a:ln>
        </p:spPr>
        <p:txBody>
          <a:bodyPr/>
          <a:p/>
        </p:txBody>
      </p:sp>
      <p:pic>
        <p:nvPicPr>
          <p:cNvPr id="12" name="Image 1" descr="Caveat">    </p:cNvPr>
          <p:cNvPicPr>
            <a:picLocks noChangeAspect="1"/>
          </p:cNvPicPr>
          <p:nvPr/>
        </p:nvPicPr>
        <p:blipFill>
          <a:blip r:embed="rId3"/>
          <a:stretch>
            <a:fillRect/>
          </a:stretch>
        </p:blipFill>
        <p:spPr>
          <a:xfrm>
            <a:off x="7927848" y="3995928"/>
            <a:ext cx="329184" cy="329184"/>
          </a:xfrm>
          <a:prstGeom prst="rect">
            <a:avLst/>
          </a:prstGeom>
        </p:spPr>
      </p:pic>
      <p:sp>
        <p:nvSpPr>
          <p:cNvPr id="13" name="Text 7"/>
          <p:cNvSpPr txBox="1"/>
          <p:nvPr/>
        </p:nvSpPr>
        <p:spPr>
          <a:xfrm>
            <a:off x="8503920" y="3840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Caveat</a:t>
            </a:r>
            <a:endParaRPr lang="en-US" sz="1600" dirty="0"/>
          </a:p>
        </p:txBody>
      </p:sp>
      <p:sp>
        <p:nvSpPr>
          <p:cNvPr id="14" name="Text 8"/>
          <p:cNvSpPr txBox="1"/>
          <p:nvPr/>
        </p:nvSpPr>
        <p:spPr>
          <a:xfrm>
            <a:off x="7818120" y="4526280"/>
            <a:ext cx="3593592" cy="1097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These figures are published results on other tasks and datasets (pre-harvest, USDA prices). They motivate our approach; they are not our results.</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4" name="flow step 1"/>
          <p:cNvSpPr/>
          <p:nvPr/>
        </p:nvSpPr>
        <p:spPr>
          <a:xfrm>
            <a:off x="548640"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5" name="Text 2"/>
          <p:cNvSpPr txBox="1"/>
          <p:nvPr/>
        </p:nvSpPr>
        <p:spPr>
          <a:xfrm>
            <a:off x="621792"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Harvest the crop</a:t>
            </a:r>
            <a:endParaRPr lang="en-US" sz="1400" dirty="0"/>
          </a:p>
        </p:txBody>
      </p:sp>
      <p:sp>
        <p:nvSpPr>
          <p:cNvPr id="6" name="arrow"/>
          <p:cNvSpPr/>
          <p:nvPr/>
        </p:nvSpPr>
        <p:spPr>
          <a:xfrm>
            <a:off x="2176729" y="2098548"/>
            <a:ext cx="228600" cy="237744"/>
          </a:xfrm>
          <a:prstGeom prst="rightArrow">
            <a:avLst/>
          </a:prstGeom>
          <a:solidFill>
            <a:srgbClr val="64748B"/>
          </a:solidFill>
          <a:ln w="12700">
            <a:solidFill>
              <a:srgbClr val="64748B"/>
            </a:solidFill>
            <a:prstDash val="solid"/>
          </a:ln>
        </p:spPr>
        <p:txBody>
          <a:bodyPr/>
          <a:p/>
        </p:txBody>
      </p:sp>
      <p:sp>
        <p:nvSpPr>
          <p:cNvPr id="7" name="flow step 2"/>
          <p:cNvSpPr/>
          <p:nvPr/>
        </p:nvSpPr>
        <p:spPr>
          <a:xfrm>
            <a:off x="2451049"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8" name="Text 5"/>
          <p:cNvSpPr txBox="1"/>
          <p:nvPr/>
        </p:nvSpPr>
        <p:spPr>
          <a:xfrm>
            <a:off x="2524201"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Trader grades by eye</a:t>
            </a:r>
            <a:endParaRPr lang="en-US" sz="1400" dirty="0"/>
          </a:p>
        </p:txBody>
      </p:sp>
      <p:sp>
        <p:nvSpPr>
          <p:cNvPr id="9" name="arrow"/>
          <p:cNvSpPr/>
          <p:nvPr/>
        </p:nvSpPr>
        <p:spPr>
          <a:xfrm>
            <a:off x="4079138" y="2098548"/>
            <a:ext cx="228600" cy="237744"/>
          </a:xfrm>
          <a:prstGeom prst="rightArrow">
            <a:avLst/>
          </a:prstGeom>
          <a:solidFill>
            <a:srgbClr val="64748B"/>
          </a:solidFill>
          <a:ln w="12700">
            <a:solidFill>
              <a:srgbClr val="64748B"/>
            </a:solidFill>
            <a:prstDash val="solid"/>
          </a:ln>
        </p:spPr>
        <p:txBody>
          <a:bodyPr/>
          <a:p/>
        </p:txBody>
      </p:sp>
      <p:sp>
        <p:nvSpPr>
          <p:cNvPr id="10" name="flow step 3"/>
          <p:cNvSpPr/>
          <p:nvPr/>
        </p:nvSpPr>
        <p:spPr>
          <a:xfrm>
            <a:off x="4353458"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11" name="Text 8"/>
          <p:cNvSpPr txBox="1"/>
          <p:nvPr/>
        </p:nvSpPr>
        <p:spPr>
          <a:xfrm>
            <a:off x="442661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Sell via middleman</a:t>
            </a:r>
            <a:endParaRPr lang="en-US" sz="1400" dirty="0"/>
          </a:p>
        </p:txBody>
      </p:sp>
      <p:sp>
        <p:nvSpPr>
          <p:cNvPr id="12" name="arrow"/>
          <p:cNvSpPr/>
          <p:nvPr/>
        </p:nvSpPr>
        <p:spPr>
          <a:xfrm>
            <a:off x="5981548" y="2098548"/>
            <a:ext cx="228600" cy="237744"/>
          </a:xfrm>
          <a:prstGeom prst="rightArrow">
            <a:avLst/>
          </a:prstGeom>
          <a:solidFill>
            <a:srgbClr val="64748B"/>
          </a:solidFill>
          <a:ln w="12700">
            <a:solidFill>
              <a:srgbClr val="64748B"/>
            </a:solidFill>
            <a:prstDash val="solid"/>
          </a:ln>
        </p:spPr>
        <p:txBody>
          <a:bodyPr/>
          <a:p/>
        </p:txBody>
      </p:sp>
      <p:sp>
        <p:nvSpPr>
          <p:cNvPr id="13" name="flow step 4"/>
          <p:cNvSpPr/>
          <p:nvPr/>
        </p:nvSpPr>
        <p:spPr>
          <a:xfrm>
            <a:off x="6255868"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14" name="Text 11"/>
          <p:cNvSpPr txBox="1"/>
          <p:nvPr/>
        </p:nvSpPr>
        <p:spPr>
          <a:xfrm>
            <a:off x="632902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Mandi price accepted</a:t>
            </a:r>
            <a:endParaRPr lang="en-US" sz="1400" dirty="0"/>
          </a:p>
        </p:txBody>
      </p:sp>
      <p:sp>
        <p:nvSpPr>
          <p:cNvPr id="15" name="arrow"/>
          <p:cNvSpPr/>
          <p:nvPr/>
        </p:nvSpPr>
        <p:spPr>
          <a:xfrm>
            <a:off x="7883957" y="2098548"/>
            <a:ext cx="228600" cy="237744"/>
          </a:xfrm>
          <a:prstGeom prst="rightArrow">
            <a:avLst/>
          </a:prstGeom>
          <a:solidFill>
            <a:srgbClr val="64748B"/>
          </a:solidFill>
          <a:ln w="12700">
            <a:solidFill>
              <a:srgbClr val="64748B"/>
            </a:solidFill>
            <a:prstDash val="solid"/>
          </a:ln>
        </p:spPr>
        <p:txBody>
          <a:bodyPr/>
          <a:p/>
        </p:txBody>
      </p:sp>
      <p:sp>
        <p:nvSpPr>
          <p:cNvPr id="16" name="flow step 5"/>
          <p:cNvSpPr/>
          <p:nvPr/>
        </p:nvSpPr>
        <p:spPr>
          <a:xfrm>
            <a:off x="8158277"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17" name="Text 14"/>
          <p:cNvSpPr txBox="1"/>
          <p:nvPr/>
        </p:nvSpPr>
        <p:spPr>
          <a:xfrm>
            <a:off x="8231429"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Store and transport</a:t>
            </a:r>
            <a:endParaRPr lang="en-US" sz="1400" dirty="0"/>
          </a:p>
        </p:txBody>
      </p:sp>
      <p:sp>
        <p:nvSpPr>
          <p:cNvPr id="18" name="arrow"/>
          <p:cNvSpPr/>
          <p:nvPr/>
        </p:nvSpPr>
        <p:spPr>
          <a:xfrm>
            <a:off x="9786366" y="2098548"/>
            <a:ext cx="228600" cy="237744"/>
          </a:xfrm>
          <a:prstGeom prst="rightArrow">
            <a:avLst/>
          </a:prstGeom>
          <a:solidFill>
            <a:srgbClr val="64748B"/>
          </a:solidFill>
          <a:ln w="12700">
            <a:solidFill>
              <a:srgbClr val="64748B"/>
            </a:solidFill>
            <a:prstDash val="solid"/>
          </a:ln>
        </p:spPr>
        <p:txBody>
          <a:bodyPr/>
          <a:p/>
        </p:txBody>
      </p:sp>
      <p:sp>
        <p:nvSpPr>
          <p:cNvPr id="19" name="flow step 6"/>
          <p:cNvSpPr/>
          <p:nvPr/>
        </p:nvSpPr>
        <p:spPr>
          <a:xfrm>
            <a:off x="10060686"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20" name="Text 17"/>
          <p:cNvSpPr txBox="1"/>
          <p:nvPr/>
        </p:nvSpPr>
        <p:spPr>
          <a:xfrm>
            <a:off x="10133838"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Losses found late</a:t>
            </a:r>
            <a:endParaRPr lang="en-US" sz="1400" dirty="0"/>
          </a:p>
        </p:txBody>
      </p:sp>
      <p:sp>
        <p:nvSpPr>
          <p:cNvPr id="21" name="Automatic, text-only card"/>
          <p:cNvSpPr/>
          <p:nvPr/>
        </p:nvSpPr>
        <p:spPr>
          <a:xfrm>
            <a:off x="548640" y="3291840"/>
            <a:ext cx="5440680" cy="2468880"/>
          </a:xfrm>
          <a:prstGeom prst="roundRect">
            <a:avLst>
              <a:gd name="adj" fmla="val 2963"/>
            </a:avLst>
          </a:prstGeom>
          <a:solidFill>
            <a:srgbClr val="F6F8FB"/>
          </a:solidFill>
          <a:ln w="9525">
            <a:solidFill>
              <a:srgbClr val="D5DCE6"/>
            </a:solidFill>
            <a:prstDash val="solid"/>
          </a:ln>
        </p:spPr>
        <p:txBody>
          <a:bodyPr/>
          <a:p/>
        </p:txBody>
      </p:sp>
      <p:sp>
        <p:nvSpPr>
          <p:cNvPr id="22" name="icon circle"/>
          <p:cNvSpPr/>
          <p:nvPr/>
        </p:nvSpPr>
        <p:spPr>
          <a:xfrm>
            <a:off x="777240" y="3520440"/>
            <a:ext cx="548640" cy="548640"/>
          </a:xfrm>
          <a:prstGeom prst="ellipse">
            <a:avLst/>
          </a:prstGeom>
          <a:solidFill>
            <a:srgbClr val="1B2A41"/>
          </a:solidFill>
          <a:ln w="12700">
            <a:solidFill>
              <a:srgbClr val="1B2A41"/>
            </a:solidFill>
            <a:prstDash val="solid"/>
          </a:ln>
        </p:spPr>
        <p:txBody>
          <a:bodyPr/>
          <a:p/>
        </p:txBody>
      </p:sp>
      <p:pic>
        <p:nvPicPr>
          <p:cNvPr id="23" name="Image 0" descr="Automatic, text-only">    </p:cNvPr>
          <p:cNvPicPr>
            <a:picLocks noChangeAspect="1"/>
          </p:cNvPicPr>
          <p:nvPr/>
        </p:nvPicPr>
        <p:blipFill>
          <a:blip r:embed="rId1"/>
          <a:stretch>
            <a:fillRect/>
          </a:stretch>
        </p:blipFill>
        <p:spPr>
          <a:xfrm>
            <a:off x="886968" y="3630168"/>
            <a:ext cx="329184" cy="329184"/>
          </a:xfrm>
          <a:prstGeom prst="rect">
            <a:avLst/>
          </a:prstGeom>
        </p:spPr>
      </p:pic>
      <p:sp>
        <p:nvSpPr>
          <p:cNvPr id="24" name="Text 20"/>
          <p:cNvSpPr txBox="1"/>
          <p:nvPr/>
        </p:nvSpPr>
        <p:spPr>
          <a:xfrm>
            <a:off x="146304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Manual grading and mandi sales</a:t>
            </a:r>
            <a:endParaRPr lang="en-US" sz="1600" dirty="0"/>
          </a:p>
        </p:txBody>
      </p:sp>
      <p:sp>
        <p:nvSpPr>
          <p:cNvPr id="25" name="Text 21"/>
          <p:cNvSpPr txBox="1"/>
          <p:nvPr/>
        </p:nvSpPr>
        <p:spPr>
          <a:xfrm>
            <a:off x="77724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Crop quality is graded manually by traders at markets, and farmers sell through middlemen at mandi prices.</a:t>
            </a:r>
            <a:endParaRPr lang="en-US" sz="1600" dirty="0"/>
          </a:p>
        </p:txBody>
      </p:sp>
      <p:sp>
        <p:nvSpPr>
          <p:cNvPr id="26" name="Manual fact-checking card"/>
          <p:cNvSpPr/>
          <p:nvPr/>
        </p:nvSpPr>
        <p:spPr>
          <a:xfrm>
            <a:off x="6172200" y="3291840"/>
            <a:ext cx="5440680" cy="2468880"/>
          </a:xfrm>
          <a:prstGeom prst="roundRect">
            <a:avLst>
              <a:gd name="adj" fmla="val 2963"/>
            </a:avLst>
          </a:prstGeom>
          <a:solidFill>
            <a:srgbClr val="F6F8FB"/>
          </a:solidFill>
          <a:ln w="9525">
            <a:solidFill>
              <a:srgbClr val="D5DCE6"/>
            </a:solidFill>
            <a:prstDash val="solid"/>
          </a:ln>
        </p:spPr>
        <p:txBody>
          <a:bodyPr/>
          <a:p/>
        </p:txBody>
      </p:sp>
      <p:sp>
        <p:nvSpPr>
          <p:cNvPr id="27" name="icon circle"/>
          <p:cNvSpPr/>
          <p:nvPr/>
        </p:nvSpPr>
        <p:spPr>
          <a:xfrm>
            <a:off x="6400800" y="3520440"/>
            <a:ext cx="548640" cy="548640"/>
          </a:xfrm>
          <a:prstGeom prst="ellipse">
            <a:avLst/>
          </a:prstGeom>
          <a:solidFill>
            <a:srgbClr val="1B2A41"/>
          </a:solidFill>
          <a:ln w="12700">
            <a:solidFill>
              <a:srgbClr val="1B2A41"/>
            </a:solidFill>
            <a:prstDash val="solid"/>
          </a:ln>
        </p:spPr>
        <p:txBody>
          <a:bodyPr/>
          <a:p/>
        </p:txBody>
      </p:sp>
      <p:pic>
        <p:nvPicPr>
          <p:cNvPr id="28" name="Image 1" descr="Manual fact-checking">    </p:cNvPr>
          <p:cNvPicPr>
            <a:picLocks noChangeAspect="1"/>
          </p:cNvPicPr>
          <p:nvPr/>
        </p:nvPicPr>
        <p:blipFill>
          <a:blip r:embed="rId2"/>
          <a:stretch>
            <a:fillRect/>
          </a:stretch>
        </p:blipFill>
        <p:spPr>
          <a:xfrm>
            <a:off x="6510528" y="3630168"/>
            <a:ext cx="329184" cy="329184"/>
          </a:xfrm>
          <a:prstGeom prst="rect">
            <a:avLst/>
          </a:prstGeom>
        </p:spPr>
      </p:pic>
      <p:sp>
        <p:nvSpPr>
          <p:cNvPr id="29" name="Text 24"/>
          <p:cNvSpPr txBox="1"/>
          <p:nvPr/>
        </p:nvSpPr>
        <p:spPr>
          <a:xfrm>
            <a:off x="708660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Portals without forecasts</a:t>
            </a:r>
            <a:endParaRPr lang="en-US" sz="1600" dirty="0"/>
          </a:p>
        </p:txBody>
      </p:sp>
      <p:sp>
        <p:nvSpPr>
          <p:cNvPr id="30" name="Text 25"/>
          <p:cNvSpPr txBox="1"/>
          <p:nvPr/>
        </p:nvSpPr>
        <p:spPr>
          <a:xfrm>
            <a:off x="640080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Government portals such as e-NAM publish prices without forecasts, and storage and transport conditions are rarely monitored.</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4" name="Ignore the picture card"/>
          <p:cNvSpPr/>
          <p:nvPr/>
        </p:nvSpPr>
        <p:spPr>
          <a:xfrm>
            <a:off x="548640" y="1371600"/>
            <a:ext cx="5440680" cy="2057400"/>
          </a:xfrm>
          <a:prstGeom prst="roundRect">
            <a:avLst>
              <a:gd name="adj" fmla="val 3556"/>
            </a:avLst>
          </a:prstGeom>
          <a:solidFill>
            <a:srgbClr val="F6F8FB"/>
          </a:solidFill>
          <a:ln w="9525">
            <a:solidFill>
              <a:srgbClr val="D5DCE6"/>
            </a:solidFill>
            <a:prstDash val="solid"/>
          </a:ln>
        </p:spPr>
        <p:txBody>
          <a:bodyPr/>
          <a:p/>
        </p:txBody>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txBody>
          <a:bodyPr/>
          <a:p/>
        </p:txBody>
      </p:sp>
      <p:pic>
        <p:nvPicPr>
          <p:cNvPr id="6" name="Image 0" descr="Ignore the picture">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Subjective grading</a:t>
            </a:r>
            <a:endParaRPr lang="en-US" sz="1600" dirty="0"/>
          </a:p>
        </p:txBody>
      </p:sp>
      <p:sp>
        <p:nvSpPr>
          <p:cNvPr id="8" name="Text 4"/>
          <p:cNvSpPr txBox="1"/>
          <p:nvPr/>
        </p:nvSpPr>
        <p:spPr>
          <a:xfrm>
            <a:off x="77724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Manual grading is inconsistent from trader to trader.</a:t>
            </a:r>
            <a:endParaRPr lang="en-US" sz="1600" dirty="0"/>
          </a:p>
        </p:txBody>
      </p:sp>
      <p:sp>
        <p:nvSpPr>
          <p:cNvPr id="9" name="Label only card"/>
          <p:cNvSpPr/>
          <p:nvPr/>
        </p:nvSpPr>
        <p:spPr>
          <a:xfrm>
            <a:off x="6172200" y="1371600"/>
            <a:ext cx="5440680" cy="2057400"/>
          </a:xfrm>
          <a:prstGeom prst="roundRect">
            <a:avLst>
              <a:gd name="adj" fmla="val 3556"/>
            </a:avLst>
          </a:prstGeom>
          <a:solidFill>
            <a:srgbClr val="F6F8FB"/>
          </a:solidFill>
          <a:ln w="9525">
            <a:solidFill>
              <a:srgbClr val="D5DCE6"/>
            </a:solidFill>
            <a:prstDash val="solid"/>
          </a:ln>
        </p:spPr>
        <p:txBody>
          <a:bodyPr/>
          <a:p/>
        </p:txBody>
      </p:sp>
      <p:sp>
        <p:nvSpPr>
          <p:cNvPr id="10" name="icon circle"/>
          <p:cNvSpPr/>
          <p:nvPr/>
        </p:nvSpPr>
        <p:spPr>
          <a:xfrm>
            <a:off x="6400800" y="1600200"/>
            <a:ext cx="548640" cy="548640"/>
          </a:xfrm>
          <a:prstGeom prst="ellipse">
            <a:avLst/>
          </a:prstGeom>
          <a:solidFill>
            <a:srgbClr val="2A78D6"/>
          </a:solidFill>
          <a:ln w="12700">
            <a:solidFill>
              <a:srgbClr val="2A78D6"/>
            </a:solidFill>
            <a:prstDash val="solid"/>
          </a:ln>
        </p:spPr>
        <p:txBody>
          <a:bodyPr/>
          <a:p/>
        </p:txBody>
      </p:sp>
      <p:pic>
        <p:nvPicPr>
          <p:cNvPr id="11" name="Image 1" descr="Label only">    </p:cNvPr>
          <p:cNvPicPr>
            <a:picLocks noChangeAspect="1"/>
          </p:cNvPicPr>
          <p:nvPr/>
        </p:nvPicPr>
        <p:blipFill>
          <a:blip r:embed="rId2"/>
          <a:stretch>
            <a:fillRect/>
          </a:stretch>
        </p:blipFill>
        <p:spPr>
          <a:xfrm>
            <a:off x="6510528" y="1709928"/>
            <a:ext cx="329184" cy="329184"/>
          </a:xfrm>
          <a:prstGeom prst="rect">
            <a:avLst/>
          </a:prstGeom>
        </p:spPr>
      </p:pic>
      <p:sp>
        <p:nvSpPr>
          <p:cNvPr id="12" name="Text 7"/>
          <p:cNvSpPr txBox="1"/>
          <p:nvPr/>
        </p:nvSpPr>
        <p:spPr>
          <a:xfrm>
            <a:off x="708660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No price foresight</a:t>
            </a:r>
            <a:endParaRPr lang="en-US" sz="1600" dirty="0"/>
          </a:p>
        </p:txBody>
      </p:sp>
      <p:sp>
        <p:nvSpPr>
          <p:cNvPr id="13" name="Text 8"/>
          <p:cNvSpPr txBox="1"/>
          <p:nvPr/>
        </p:nvSpPr>
        <p:spPr>
          <a:xfrm>
            <a:off x="640080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Farmers lack forecasts to decide when to sell; middlemen reduce their share.</a:t>
            </a:r>
            <a:endParaRPr lang="en-US" sz="1600" dirty="0"/>
          </a:p>
        </p:txBody>
      </p:sp>
      <p:sp>
        <p:nvSpPr>
          <p:cNvPr id="14" name="One split only card"/>
          <p:cNvSpPr/>
          <p:nvPr/>
        </p:nvSpPr>
        <p:spPr>
          <a:xfrm>
            <a:off x="548640" y="3611880"/>
            <a:ext cx="5440680" cy="2057400"/>
          </a:xfrm>
          <a:prstGeom prst="roundRect">
            <a:avLst>
              <a:gd name="adj" fmla="val 3556"/>
            </a:avLst>
          </a:prstGeom>
          <a:solidFill>
            <a:srgbClr val="F6F8FB"/>
          </a:solidFill>
          <a:ln w="9525">
            <a:solidFill>
              <a:srgbClr val="D5DCE6"/>
            </a:solidFill>
            <a:prstDash val="solid"/>
          </a:ln>
        </p:spPr>
        <p:txBody>
          <a:bodyPr/>
          <a:p/>
        </p:txBody>
      </p:sp>
      <p:sp>
        <p:nvSpPr>
          <p:cNvPr id="15" name="icon circle"/>
          <p:cNvSpPr/>
          <p:nvPr/>
        </p:nvSpPr>
        <p:spPr>
          <a:xfrm>
            <a:off x="777240" y="3840480"/>
            <a:ext cx="548640" cy="548640"/>
          </a:xfrm>
          <a:prstGeom prst="ellipse">
            <a:avLst/>
          </a:prstGeom>
          <a:solidFill>
            <a:srgbClr val="6250D6"/>
          </a:solidFill>
          <a:ln w="12700">
            <a:solidFill>
              <a:srgbClr val="6250D6"/>
            </a:solidFill>
            <a:prstDash val="solid"/>
          </a:ln>
        </p:spPr>
        <p:txBody>
          <a:bodyPr/>
          <a:p/>
        </p:txBody>
      </p:sp>
      <p:pic>
        <p:nvPicPr>
          <p:cNvPr id="16" name="Image 2" descr="One split only">    </p:cNvPr>
          <p:cNvPicPr>
            <a:picLocks noChangeAspect="1"/>
          </p:cNvPicPr>
          <p:nvPr/>
        </p:nvPicPr>
        <p:blipFill>
          <a:blip r:embed="rId3"/>
          <a:stretch>
            <a:fillRect/>
          </a:stretch>
        </p:blipFill>
        <p:spPr>
          <a:xfrm>
            <a:off x="886968" y="3950208"/>
            <a:ext cx="329184" cy="329184"/>
          </a:xfrm>
          <a:prstGeom prst="rect">
            <a:avLst/>
          </a:prstGeom>
        </p:spPr>
      </p:pic>
      <p:sp>
        <p:nvSpPr>
          <p:cNvPr id="17" name="Text 11"/>
          <p:cNvSpPr txBox="1"/>
          <p:nvPr/>
        </p:nvSpPr>
        <p:spPr>
          <a:xfrm>
            <a:off x="146304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Unmonitored losses</a:t>
            </a:r>
            <a:endParaRPr lang="en-US" sz="1600" dirty="0"/>
          </a:p>
        </p:txBody>
      </p:sp>
      <p:sp>
        <p:nvSpPr>
          <p:cNvPr id="18" name="Text 12"/>
          <p:cNvSpPr txBox="1"/>
          <p:nvPr/>
        </p:nvSpPr>
        <p:spPr>
          <a:xfrm>
            <a:off x="77724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Storage and transport conditions cause post-harvest losses.</a:t>
            </a:r>
            <a:endParaRPr lang="en-US" sz="1600" dirty="0"/>
          </a:p>
        </p:txBody>
      </p:sp>
      <p:sp>
        <p:nvSpPr>
          <p:cNvPr id="19" name="Not usable card"/>
          <p:cNvSpPr/>
          <p:nvPr/>
        </p:nvSpPr>
        <p:spPr>
          <a:xfrm>
            <a:off x="6172200" y="3611880"/>
            <a:ext cx="5440680" cy="2057400"/>
          </a:xfrm>
          <a:prstGeom prst="roundRect">
            <a:avLst>
              <a:gd name="adj" fmla="val 3556"/>
            </a:avLst>
          </a:prstGeom>
          <a:solidFill>
            <a:srgbClr val="F6F8FB"/>
          </a:solidFill>
          <a:ln w="9525">
            <a:solidFill>
              <a:srgbClr val="D5DCE6"/>
            </a:solidFill>
            <a:prstDash val="solid"/>
          </a:ln>
        </p:spPr>
        <p:txBody>
          <a:bodyPr/>
          <a:p/>
        </p:txBody>
      </p:sp>
      <p:sp>
        <p:nvSpPr>
          <p:cNvPr id="20" name="icon circle"/>
          <p:cNvSpPr/>
          <p:nvPr/>
        </p:nvSpPr>
        <p:spPr>
          <a:xfrm>
            <a:off x="6400800" y="3840480"/>
            <a:ext cx="548640" cy="548640"/>
          </a:xfrm>
          <a:prstGeom prst="ellipse">
            <a:avLst/>
          </a:prstGeom>
          <a:solidFill>
            <a:srgbClr val="1BAF7A"/>
          </a:solidFill>
          <a:ln w="12700">
            <a:solidFill>
              <a:srgbClr val="1BAF7A"/>
            </a:solidFill>
            <a:prstDash val="solid"/>
          </a:ln>
        </p:spPr>
        <p:txBody>
          <a:bodyPr/>
          <a:p/>
        </p:txBody>
      </p:sp>
      <p:pic>
        <p:nvPicPr>
          <p:cNvPr id="21" name="Image 3" descr="Not usable">    </p:cNvPr>
          <p:cNvPicPr>
            <a:picLocks noChangeAspect="1"/>
          </p:cNvPicPr>
          <p:nvPr/>
        </p:nvPicPr>
        <p:blipFill>
          <a:blip r:embed="rId4"/>
          <a:stretch>
            <a:fillRect/>
          </a:stretch>
        </p:blipFill>
        <p:spPr>
          <a:xfrm>
            <a:off x="6510528" y="3950208"/>
            <a:ext cx="329184" cy="329184"/>
          </a:xfrm>
          <a:prstGeom prst="rect">
            <a:avLst/>
          </a:prstGeom>
        </p:spPr>
      </p:pic>
      <p:sp>
        <p:nvSpPr>
          <p:cNvPr id="22" name="Text 15"/>
          <p:cNvSpPr txBox="1"/>
          <p:nvPr/>
        </p:nvSpPr>
        <p:spPr>
          <a:xfrm>
            <a:off x="708660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Opaque decisions</a:t>
            </a:r>
            <a:endParaRPr lang="en-US" sz="1600" dirty="0"/>
          </a:p>
        </p:txBody>
      </p:sp>
      <p:sp>
        <p:nvSpPr>
          <p:cNvPr id="23" name="Text 16"/>
          <p:cNvSpPr txBox="1"/>
          <p:nvPr/>
        </p:nvSpPr>
        <p:spPr>
          <a:xfrm>
            <a:off x="640080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Grading and pricing decisions are not transparent to the farmer.</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4" name="gap Modality"/>
          <p:cNvSpPr/>
          <p:nvPr/>
        </p:nvSpPr>
        <p:spPr>
          <a:xfrm>
            <a:off x="548640" y="13258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5" name="Text 2"/>
          <p:cNvSpPr txBox="1"/>
          <p:nvPr/>
        </p:nvSpPr>
        <p:spPr>
          <a:xfrm>
            <a:off x="548640" y="13258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Stage</a:t>
            </a:r>
            <a:endParaRPr lang="en-US" sz="1600" dirty="0"/>
          </a:p>
        </p:txBody>
      </p:sp>
      <p:sp>
        <p:nvSpPr>
          <p:cNvPr id="6" name="Text 3"/>
          <p:cNvSpPr txBox="1"/>
          <p:nvPr/>
        </p:nvSpPr>
        <p:spPr>
          <a:xfrm>
            <a:off x="3154680" y="13258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Smart-agriculture systems focus on pre-harvest decisions [1]; post-harvest support is thin.</a:t>
            </a:r>
            <a:endParaRPr lang="en-US" sz="1600" dirty="0"/>
          </a:p>
        </p:txBody>
      </p:sp>
      <p:sp>
        <p:nvSpPr>
          <p:cNvPr id="7" name="gap Transparency"/>
          <p:cNvSpPr/>
          <p:nvPr/>
        </p:nvSpPr>
        <p:spPr>
          <a:xfrm>
            <a:off x="548640" y="22402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8" name="Text 5"/>
          <p:cNvSpPr txBox="1"/>
          <p:nvPr/>
        </p:nvSpPr>
        <p:spPr>
          <a:xfrm>
            <a:off x="548640" y="22402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Quality</a:t>
            </a:r>
            <a:endParaRPr lang="en-US" sz="1600" dirty="0"/>
          </a:p>
        </p:txBody>
      </p:sp>
      <p:sp>
        <p:nvSpPr>
          <p:cNvPr id="9" name="Text 6"/>
          <p:cNvSpPr txBox="1"/>
          <p:nvPr/>
        </p:nvSpPr>
        <p:spPr>
          <a:xfrm>
            <a:off x="3154680" y="22402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Image-based quality grading exists, but it is not joined with pricing and delivery.</a:t>
            </a:r>
            <a:endParaRPr lang="en-US" sz="1600" dirty="0"/>
          </a:p>
        </p:txBody>
      </p:sp>
      <p:sp>
        <p:nvSpPr>
          <p:cNvPr id="10" name="gap Generalisation"/>
          <p:cNvSpPr/>
          <p:nvPr/>
        </p:nvSpPr>
        <p:spPr>
          <a:xfrm>
            <a:off x="548640" y="31546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11" name="Text 8"/>
          <p:cNvSpPr txBox="1"/>
          <p:nvPr/>
        </p:nvSpPr>
        <p:spPr>
          <a:xfrm>
            <a:off x="548640" y="31546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Price</a:t>
            </a:r>
            <a:endParaRPr lang="en-US" sz="1600" dirty="0"/>
          </a:p>
        </p:txBody>
      </p:sp>
      <p:sp>
        <p:nvSpPr>
          <p:cNvPr id="12" name="Text 9"/>
          <p:cNvSpPr txBox="1"/>
          <p:nvPr/>
        </p:nvSpPr>
        <p:spPr>
          <a:xfrm>
            <a:off x="3154680" y="31546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Price prediction studies [4], [5] stop at a forecast; no best-time-to-sell advice.</a:t>
            </a:r>
            <a:endParaRPr lang="en-US" sz="1600" dirty="0"/>
          </a:p>
        </p:txBody>
      </p:sp>
      <p:sp>
        <p:nvSpPr>
          <p:cNvPr id="13" name="gap Generated media"/>
          <p:cNvSpPr/>
          <p:nvPr/>
        </p:nvSpPr>
        <p:spPr>
          <a:xfrm>
            <a:off x="548640" y="40690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14" name="Text 11"/>
          <p:cNvSpPr txBox="1"/>
          <p:nvPr/>
        </p:nvSpPr>
        <p:spPr>
          <a:xfrm>
            <a:off x="548640" y="40690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Delivery</a:t>
            </a:r>
            <a:endParaRPr lang="en-US" sz="1600" dirty="0"/>
          </a:p>
        </p:txBody>
      </p:sp>
      <p:sp>
        <p:nvSpPr>
          <p:cNvPr id="15" name="Text 12"/>
          <p:cNvSpPr txBox="1"/>
          <p:nvPr/>
        </p:nvSpPr>
        <p:spPr>
          <a:xfrm>
            <a:off x="3154680" y="40690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Few systems recommend buyers and routes using price, distance and spoilage risk.</a:t>
            </a:r>
            <a:endParaRPr lang="en-US" sz="1600" dirty="0"/>
          </a:p>
        </p:txBody>
      </p:sp>
      <p:sp>
        <p:nvSpPr>
          <p:cNvPr id="16" name="gap Application"/>
          <p:cNvSpPr/>
          <p:nvPr/>
        </p:nvSpPr>
        <p:spPr>
          <a:xfrm>
            <a:off x="548640" y="49834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17" name="Text 14"/>
          <p:cNvSpPr txBox="1"/>
          <p:nvPr/>
        </p:nvSpPr>
        <p:spPr>
          <a:xfrm>
            <a:off x="548640" y="49834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Transparency</a:t>
            </a:r>
            <a:endParaRPr lang="en-US" sz="1600" dirty="0"/>
          </a:p>
        </p:txBody>
      </p:sp>
      <p:sp>
        <p:nvSpPr>
          <p:cNvPr id="18" name="Text 15"/>
          <p:cNvSpPr txBox="1"/>
          <p:nvPr/>
        </p:nvSpPr>
        <p:spPr>
          <a:xfrm>
            <a:off x="3154680" y="49834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Grading and price decisions are rarely explained to farmers with XAI.</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4" name="statement box"/>
          <p:cNvSpPr/>
          <p:nvPr/>
        </p:nvSpPr>
        <p:spPr>
          <a:xfrm>
            <a:off x="548640" y="1463040"/>
            <a:ext cx="11094415" cy="2743200"/>
          </a:xfrm>
          <a:prstGeom prst="roundRect">
            <a:avLst>
              <a:gd name="adj" fmla="val 2667"/>
            </a:avLst>
          </a:prstGeom>
          <a:solidFill>
            <a:srgbClr val="EEF2F7"/>
          </a:solidFill>
          <a:ln w="12700">
            <a:solidFill>
              <a:srgbClr val="EEF2F7"/>
            </a:solidFill>
            <a:prstDash val="solid"/>
          </a:ln>
        </p:spPr>
        <p:txBody>
          <a:bodyPr/>
          <a:p/>
        </p:txBody>
      </p:sp>
      <p:sp>
        <p:nvSpPr>
          <p:cNvPr id="5" name="Text 2"/>
          <p:cNvSpPr txBox="1"/>
          <p:nvPr/>
        </p:nvSpPr>
        <p:spPr>
          <a:xfrm>
            <a:off x="914400" y="1600200"/>
            <a:ext cx="10362895" cy="2468880"/>
          </a:xfrm>
          <a:prstGeom prst="rect">
            <a:avLst/>
          </a:prstGeom>
          <a:noFill/>
          <a:ln/>
        </p:spPr>
        <p:txBody>
          <a:bodyPr wrap="square" lIns="0" tIns="0" rIns="0" bIns="0" rtlCol="0" anchor="ctr"/>
          <a:lstStyle/>
          <a:p>
            <a:pPr indent="0" marL="0">
              <a:buNone/>
            </a:pPr>
            <a:r>
              <a:rPr lang="en-US" sz="2200" dirty="0">
                <a:solidFill>
                  <a:srgbClr val="1B2A41"/>
                </a:solidFill>
                <a:latin typeface="Cambria" pitchFamily="34" charset="0"/>
                <a:ea typeface="Cambria" pitchFamily="34" charset="-122"/>
                <a:cs typeface="Cambria" pitchFamily="34" charset="-120"/>
              </a:rPr>
              <a:t>Given a photo of a harvested crop and its market context, grade its quality automatically, forecast its price and the best day to sell, recommend buyers and routes, monitor storage and transport conditions, explain each decision, and connect farmers, distributors and buyers through one digital marketplace.</a:t>
            </a:r>
            <a:endParaRPr lang="en-US" sz="2200" dirty="0"/>
          </a:p>
        </p:txBody>
      </p:sp>
      <p:sp>
        <p:nvSpPr>
          <p:cNvPr id="6" name="Input card"/>
          <p:cNvSpPr/>
          <p:nvPr/>
        </p:nvSpPr>
        <p:spPr>
          <a:xfrm>
            <a:off x="548640" y="4480560"/>
            <a:ext cx="3566160" cy="1325880"/>
          </a:xfrm>
          <a:prstGeom prst="roundRect">
            <a:avLst>
              <a:gd name="adj" fmla="val 5517"/>
            </a:avLst>
          </a:prstGeom>
          <a:solidFill>
            <a:srgbClr val="F6F8FB"/>
          </a:solidFill>
          <a:ln w="9525">
            <a:solidFill>
              <a:srgbClr val="D5DCE6"/>
            </a:solidFill>
            <a:prstDash val="solid"/>
          </a:ln>
        </p:spPr>
        <p:txBody>
          <a:bodyPr/>
          <a:p/>
        </p:txBody>
      </p:sp>
      <p:sp>
        <p:nvSpPr>
          <p:cNvPr id="7" name="Text 4"/>
          <p:cNvSpPr txBox="1"/>
          <p:nvPr/>
        </p:nvSpPr>
        <p:spPr>
          <a:xfrm>
            <a:off x="77724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Input</a:t>
            </a:r>
            <a:endParaRPr lang="en-US" sz="1500" dirty="0"/>
          </a:p>
        </p:txBody>
      </p:sp>
      <p:sp>
        <p:nvSpPr>
          <p:cNvPr id="8" name="Text 5"/>
          <p:cNvSpPr txBox="1"/>
          <p:nvPr/>
        </p:nvSpPr>
        <p:spPr>
          <a:xfrm>
            <a:off x="77724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Crop photo, crop and region, market data</a:t>
            </a:r>
            <a:endParaRPr lang="en-US" sz="1400" dirty="0"/>
          </a:p>
        </p:txBody>
      </p:sp>
      <p:sp>
        <p:nvSpPr>
          <p:cNvPr id="9" name="Output card"/>
          <p:cNvSpPr/>
          <p:nvPr/>
        </p:nvSpPr>
        <p:spPr>
          <a:xfrm>
            <a:off x="4297680" y="448056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0" name="Text 7"/>
          <p:cNvSpPr txBox="1"/>
          <p:nvPr/>
        </p:nvSpPr>
        <p:spPr>
          <a:xfrm>
            <a:off x="452628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Output</a:t>
            </a:r>
            <a:endParaRPr lang="en-US" sz="1500" dirty="0"/>
          </a:p>
        </p:txBody>
      </p:sp>
      <p:sp>
        <p:nvSpPr>
          <p:cNvPr id="11" name="Text 8"/>
          <p:cNvSpPr txBox="1"/>
          <p:nvPr/>
        </p:nvSpPr>
        <p:spPr>
          <a:xfrm>
            <a:off x="452628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Grade, price forecast, buyer and route ranking</a:t>
            </a:r>
            <a:endParaRPr lang="en-US" sz="1400" dirty="0"/>
          </a:p>
        </p:txBody>
      </p:sp>
      <p:sp>
        <p:nvSpPr>
          <p:cNvPr id="12" name="Extra card"/>
          <p:cNvSpPr/>
          <p:nvPr/>
        </p:nvSpPr>
        <p:spPr>
          <a:xfrm>
            <a:off x="8046720" y="448056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3" name="Text 10"/>
          <p:cNvSpPr txBox="1"/>
          <p:nvPr/>
        </p:nvSpPr>
        <p:spPr>
          <a:xfrm>
            <a:off x="827532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Extra</a:t>
            </a:r>
            <a:endParaRPr lang="en-US" sz="1500" dirty="0"/>
          </a:p>
        </p:txBody>
      </p:sp>
      <p:sp>
        <p:nvSpPr>
          <p:cNvPr id="14" name="Text 11"/>
          <p:cNvSpPr txBox="1"/>
          <p:nvPr/>
        </p:nvSpPr>
        <p:spPr>
          <a:xfrm>
            <a:off x="827532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Sensor alerts + XAI explanations</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1000"/>
              </a:spcAft>
              <a:buSzPct val="100000"/>
              <a:buChar char="•"/>
            </a:pPr>
            <a:r>
              <a:rPr lang="en-US" sz="2200" dirty="0">
                <a:solidFill>
                  <a:srgbClr val="0F172A"/>
                </a:solidFill>
              </a:rPr>
              <a:t>Grade crop quality automatically from images.</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Forecast crop prices from market, weather and demand data.</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Monitor storage and transport conditions using IoT sensors.</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Explain grading and pricing decisions with XAI.</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Recommend buyers, delivery routes and the best time to sell.</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Connect farmers, distributors and buyers through a digital marketplace.</a:t>
            </a:r>
            <a:pPr indent="0" marL="0">
              <a:spcAft>
                <a:spcPts val="1000"/>
              </a:spcAft>
              <a:buNone/>
            </a:pPr>
            <a:pPr indent="0" marL="0">
              <a:spcAft>
                <a:spcPts val="1000"/>
              </a:spcAft>
              <a:buNone/>
            </a:pPr>
            <a:endParaRPr lang="en-US" sz="2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4" name="Text track card"/>
          <p:cNvSpPr/>
          <p:nvPr/>
        </p:nvSpPr>
        <p:spPr>
          <a:xfrm>
            <a:off x="548640" y="1371600"/>
            <a:ext cx="2670048" cy="3017520"/>
          </a:xfrm>
          <a:prstGeom prst="roundRect">
            <a:avLst>
              <a:gd name="adj" fmla="val 2740"/>
            </a:avLst>
          </a:prstGeom>
          <a:solidFill>
            <a:srgbClr val="F6F8FB"/>
          </a:solidFill>
          <a:ln w="9525">
            <a:solidFill>
              <a:srgbClr val="D5DCE6"/>
            </a:solidFill>
            <a:prstDash val="solid"/>
          </a:ln>
        </p:spPr>
        <p:txBody>
          <a:bodyPr/>
          <a:p/>
        </p:txBody>
      </p:sp>
      <p:sp>
        <p:nvSpPr>
          <p:cNvPr id="5" name="icon circle"/>
          <p:cNvSpPr/>
          <p:nvPr/>
        </p:nvSpPr>
        <p:spPr>
          <a:xfrm>
            <a:off x="777240" y="1600200"/>
            <a:ext cx="548640" cy="548640"/>
          </a:xfrm>
          <a:prstGeom prst="ellipse">
            <a:avLst/>
          </a:prstGeom>
          <a:solidFill>
            <a:srgbClr val="6250D6"/>
          </a:solidFill>
          <a:ln w="12700">
            <a:solidFill>
              <a:srgbClr val="6250D6"/>
            </a:solidFill>
            <a:prstDash val="solid"/>
          </a:ln>
        </p:spPr>
        <p:txBody>
          <a:bodyPr/>
          <a:p/>
        </p:txBody>
      </p:sp>
      <p:pic>
        <p:nvPicPr>
          <p:cNvPr id="6" name="Image 0" descr="Text track">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Quality grading</a:t>
            </a:r>
            <a:endParaRPr lang="en-US" sz="1600" dirty="0"/>
          </a:p>
        </p:txBody>
      </p:sp>
      <p:sp>
        <p:nvSpPr>
          <p:cNvPr id="8" name="Text 4"/>
          <p:cNvSpPr txBox="1"/>
          <p:nvPr/>
        </p:nvSpPr>
        <p:spPr>
          <a:xfrm>
            <a:off x="777240" y="2240280"/>
            <a:ext cx="2212848" cy="20116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Colour, texture, edge, blemish and size features from the photo; classifier gives grade A/B/C/Reject.</a:t>
            </a:r>
            <a:endParaRPr lang="en-US" sz="1300" dirty="0"/>
          </a:p>
        </p:txBody>
      </p:sp>
      <p:sp>
        <p:nvSpPr>
          <p:cNvPr id="9" name="Visual track card"/>
          <p:cNvSpPr/>
          <p:nvPr/>
        </p:nvSpPr>
        <p:spPr>
          <a:xfrm>
            <a:off x="3364992" y="1371600"/>
            <a:ext cx="2670048" cy="3017520"/>
          </a:xfrm>
          <a:prstGeom prst="roundRect">
            <a:avLst>
              <a:gd name="adj" fmla="val 2740"/>
            </a:avLst>
          </a:prstGeom>
          <a:solidFill>
            <a:srgbClr val="F6F8FB"/>
          </a:solidFill>
          <a:ln w="9525">
            <a:solidFill>
              <a:srgbClr val="D5DCE6"/>
            </a:solidFill>
            <a:prstDash val="solid"/>
          </a:ln>
        </p:spPr>
        <p:txBody>
          <a:bodyPr/>
          <a:p/>
        </p:txBody>
      </p:sp>
      <p:sp>
        <p:nvSpPr>
          <p:cNvPr id="10" name="icon circle"/>
          <p:cNvSpPr/>
          <p:nvPr/>
        </p:nvSpPr>
        <p:spPr>
          <a:xfrm>
            <a:off x="3593592" y="1600200"/>
            <a:ext cx="548640" cy="548640"/>
          </a:xfrm>
          <a:prstGeom prst="ellipse">
            <a:avLst/>
          </a:prstGeom>
          <a:solidFill>
            <a:srgbClr val="1BAF7A"/>
          </a:solidFill>
          <a:ln w="12700">
            <a:solidFill>
              <a:srgbClr val="1BAF7A"/>
            </a:solidFill>
            <a:prstDash val="solid"/>
          </a:ln>
        </p:spPr>
        <p:txBody>
          <a:bodyPr/>
          <a:p/>
        </p:txBody>
      </p:sp>
      <p:pic>
        <p:nvPicPr>
          <p:cNvPr id="11" name="Image 1" descr="Visual track">    </p:cNvPr>
          <p:cNvPicPr>
            <a:picLocks noChangeAspect="1"/>
          </p:cNvPicPr>
          <p:nvPr/>
        </p:nvPicPr>
        <p:blipFill>
          <a:blip r:embed="rId2"/>
          <a:stretch>
            <a:fillRect/>
          </a:stretch>
        </p:blipFill>
        <p:spPr>
          <a:xfrm>
            <a:off x="3703320" y="1709928"/>
            <a:ext cx="329184" cy="329184"/>
          </a:xfrm>
          <a:prstGeom prst="rect">
            <a:avLst/>
          </a:prstGeom>
        </p:spPr>
      </p:pic>
      <p:sp>
        <p:nvSpPr>
          <p:cNvPr id="12" name="Text 7"/>
          <p:cNvSpPr txBox="1"/>
          <p:nvPr/>
        </p:nvSpPr>
        <p:spPr>
          <a:xfrm>
            <a:off x="4279392"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Price intelligence</a:t>
            </a:r>
            <a:endParaRPr lang="en-US" sz="1600" dirty="0"/>
          </a:p>
        </p:txBody>
      </p:sp>
      <p:sp>
        <p:nvSpPr>
          <p:cNvPr id="13" name="Text 8"/>
          <p:cNvSpPr txBox="1"/>
          <p:nvPr/>
        </p:nvSpPr>
        <p:spPr>
          <a:xfrm>
            <a:off x="3593592" y="2240280"/>
            <a:ext cx="2212848" cy="20116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Gradient-boosted model: current price, confidence band, 30-day forecast, best day to sell.</a:t>
            </a:r>
            <a:endParaRPr lang="en-US" sz="1300" dirty="0"/>
          </a:p>
        </p:txBody>
      </p:sp>
      <p:sp>
        <p:nvSpPr>
          <p:cNvPr id="14" name="Fusion card"/>
          <p:cNvSpPr/>
          <p:nvPr/>
        </p:nvSpPr>
        <p:spPr>
          <a:xfrm>
            <a:off x="6181344" y="1371600"/>
            <a:ext cx="2670048" cy="3017520"/>
          </a:xfrm>
          <a:prstGeom prst="roundRect">
            <a:avLst>
              <a:gd name="adj" fmla="val 2740"/>
            </a:avLst>
          </a:prstGeom>
          <a:solidFill>
            <a:srgbClr val="F6F8FB"/>
          </a:solidFill>
          <a:ln w="9525">
            <a:solidFill>
              <a:srgbClr val="D5DCE6"/>
            </a:solidFill>
            <a:prstDash val="solid"/>
          </a:ln>
        </p:spPr>
        <p:txBody>
          <a:bodyPr/>
          <a:p/>
        </p:txBody>
      </p:sp>
      <p:sp>
        <p:nvSpPr>
          <p:cNvPr id="15" name="icon circle"/>
          <p:cNvSpPr/>
          <p:nvPr/>
        </p:nvSpPr>
        <p:spPr>
          <a:xfrm>
            <a:off x="6409944" y="1600200"/>
            <a:ext cx="548640" cy="548640"/>
          </a:xfrm>
          <a:prstGeom prst="ellipse">
            <a:avLst/>
          </a:prstGeom>
          <a:solidFill>
            <a:srgbClr val="EB6834"/>
          </a:solidFill>
          <a:ln w="12700">
            <a:solidFill>
              <a:srgbClr val="EB6834"/>
            </a:solidFill>
            <a:prstDash val="solid"/>
          </a:ln>
        </p:spPr>
        <p:txBody>
          <a:bodyPr/>
          <a:p/>
        </p:txBody>
      </p:sp>
      <p:pic>
        <p:nvPicPr>
          <p:cNvPr id="16" name="Image 2" descr="Fusion">    </p:cNvPr>
          <p:cNvPicPr>
            <a:picLocks noChangeAspect="1"/>
          </p:cNvPicPr>
          <p:nvPr/>
        </p:nvPicPr>
        <p:blipFill>
          <a:blip r:embed="rId3"/>
          <a:stretch>
            <a:fillRect/>
          </a:stretch>
        </p:blipFill>
        <p:spPr>
          <a:xfrm>
            <a:off x="6519672" y="1709928"/>
            <a:ext cx="329184" cy="329184"/>
          </a:xfrm>
          <a:prstGeom prst="rect">
            <a:avLst/>
          </a:prstGeom>
        </p:spPr>
      </p:pic>
      <p:sp>
        <p:nvSpPr>
          <p:cNvPr id="17" name="Text 11"/>
          <p:cNvSpPr txBox="1"/>
          <p:nvPr/>
        </p:nvSpPr>
        <p:spPr>
          <a:xfrm>
            <a:off x="7095744"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Explainable AI</a:t>
            </a:r>
            <a:endParaRPr lang="en-US" sz="1600" dirty="0"/>
          </a:p>
        </p:txBody>
      </p:sp>
      <p:sp>
        <p:nvSpPr>
          <p:cNvPr id="18" name="Text 12"/>
          <p:cNvSpPr txBox="1"/>
          <p:nvPr/>
        </p:nvSpPr>
        <p:spPr>
          <a:xfrm>
            <a:off x="6409944" y="2240280"/>
            <a:ext cx="2212848" cy="20116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SHAP shows which features drove each grade and each price.</a:t>
            </a:r>
            <a:endParaRPr lang="en-US" sz="1300" dirty="0"/>
          </a:p>
        </p:txBody>
      </p:sp>
      <p:sp>
        <p:nvSpPr>
          <p:cNvPr id="19" name="AI-media check card"/>
          <p:cNvSpPr/>
          <p:nvPr/>
        </p:nvSpPr>
        <p:spPr>
          <a:xfrm>
            <a:off x="8997696" y="1371600"/>
            <a:ext cx="2670048" cy="3017520"/>
          </a:xfrm>
          <a:prstGeom prst="roundRect">
            <a:avLst>
              <a:gd name="adj" fmla="val 2740"/>
            </a:avLst>
          </a:prstGeom>
          <a:solidFill>
            <a:srgbClr val="F6F8FB"/>
          </a:solidFill>
          <a:ln w="9525">
            <a:solidFill>
              <a:srgbClr val="D5DCE6"/>
            </a:solidFill>
            <a:prstDash val="solid"/>
          </a:ln>
        </p:spPr>
        <p:txBody>
          <a:bodyPr/>
          <a:p/>
        </p:txBody>
      </p:sp>
      <p:sp>
        <p:nvSpPr>
          <p:cNvPr id="20" name="icon circle"/>
          <p:cNvSpPr/>
          <p:nvPr/>
        </p:nvSpPr>
        <p:spPr>
          <a:xfrm>
            <a:off x="9226296" y="1600200"/>
            <a:ext cx="548640" cy="548640"/>
          </a:xfrm>
          <a:prstGeom prst="ellipse">
            <a:avLst/>
          </a:prstGeom>
          <a:solidFill>
            <a:srgbClr val="EDA100"/>
          </a:solidFill>
          <a:ln w="12700">
            <a:solidFill>
              <a:srgbClr val="EDA100"/>
            </a:solidFill>
            <a:prstDash val="solid"/>
          </a:ln>
        </p:spPr>
        <p:txBody>
          <a:bodyPr/>
          <a:p/>
        </p:txBody>
      </p:sp>
      <p:pic>
        <p:nvPicPr>
          <p:cNvPr id="21" name="Image 3" descr="AI-media check">    </p:cNvPr>
          <p:cNvPicPr>
            <a:picLocks noChangeAspect="1"/>
          </p:cNvPicPr>
          <p:nvPr/>
        </p:nvPicPr>
        <p:blipFill>
          <a:blip r:embed="rId4"/>
          <a:stretch>
            <a:fillRect/>
          </a:stretch>
        </p:blipFill>
        <p:spPr>
          <a:xfrm>
            <a:off x="9336024" y="1709928"/>
            <a:ext cx="329184" cy="329184"/>
          </a:xfrm>
          <a:prstGeom prst="rect">
            <a:avLst/>
          </a:prstGeom>
        </p:spPr>
      </p:pic>
      <p:sp>
        <p:nvSpPr>
          <p:cNvPr id="22" name="Text 15"/>
          <p:cNvSpPr txBox="1"/>
          <p:nvPr/>
        </p:nvSpPr>
        <p:spPr>
          <a:xfrm>
            <a:off x="9912096"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Delivery planner</a:t>
            </a:r>
            <a:endParaRPr lang="en-US" sz="1600" dirty="0"/>
          </a:p>
        </p:txBody>
      </p:sp>
      <p:sp>
        <p:nvSpPr>
          <p:cNvPr id="23" name="Text 16"/>
          <p:cNvSpPr txBox="1"/>
          <p:nvPr/>
        </p:nvSpPr>
        <p:spPr>
          <a:xfrm>
            <a:off x="9226296" y="2240280"/>
            <a:ext cx="2212848" cy="20116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Buyers ranked by price, distance, reliability and spoilage risk; best route.</a:t>
            </a:r>
            <a:endParaRPr lang="en-US" sz="1300" dirty="0"/>
          </a:p>
        </p:txBody>
      </p:sp>
      <p:sp>
        <p:nvSpPr>
          <p:cNvPr id="24" name="Web application card"/>
          <p:cNvSpPr/>
          <p:nvPr/>
        </p:nvSpPr>
        <p:spPr>
          <a:xfrm>
            <a:off x="548640" y="4572000"/>
            <a:ext cx="11094415" cy="1234440"/>
          </a:xfrm>
          <a:prstGeom prst="roundRect">
            <a:avLst>
              <a:gd name="adj" fmla="val 5926"/>
            </a:avLst>
          </a:prstGeom>
          <a:solidFill>
            <a:srgbClr val="F6F8FB"/>
          </a:solidFill>
          <a:ln w="9525">
            <a:solidFill>
              <a:srgbClr val="D5DCE6"/>
            </a:solidFill>
            <a:prstDash val="solid"/>
          </a:ln>
        </p:spPr>
        <p:txBody>
          <a:bodyPr/>
          <a:p/>
        </p:txBody>
      </p:sp>
      <p:sp>
        <p:nvSpPr>
          <p:cNvPr id="25" name="icon circle"/>
          <p:cNvSpPr/>
          <p:nvPr/>
        </p:nvSpPr>
        <p:spPr>
          <a:xfrm>
            <a:off x="777240" y="4800600"/>
            <a:ext cx="548640" cy="548640"/>
          </a:xfrm>
          <a:prstGeom prst="ellipse">
            <a:avLst/>
          </a:prstGeom>
          <a:solidFill>
            <a:srgbClr val="1B2A41"/>
          </a:solidFill>
          <a:ln w="12700">
            <a:solidFill>
              <a:srgbClr val="1B2A41"/>
            </a:solidFill>
            <a:prstDash val="solid"/>
          </a:ln>
        </p:spPr>
        <p:txBody>
          <a:bodyPr/>
          <a:p/>
        </p:txBody>
      </p:sp>
      <p:pic>
        <p:nvPicPr>
          <p:cNvPr id="26" name="Image 4" descr="Web application">    </p:cNvPr>
          <p:cNvPicPr>
            <a:picLocks noChangeAspect="1"/>
          </p:cNvPicPr>
          <p:nvPr/>
        </p:nvPicPr>
        <p:blipFill>
          <a:blip r:embed="rId5"/>
          <a:stretch>
            <a:fillRect/>
          </a:stretch>
        </p:blipFill>
        <p:spPr>
          <a:xfrm>
            <a:off x="886968" y="4910328"/>
            <a:ext cx="329184" cy="329184"/>
          </a:xfrm>
          <a:prstGeom prst="rect">
            <a:avLst/>
          </a:prstGeom>
        </p:spPr>
      </p:pic>
      <p:sp>
        <p:nvSpPr>
          <p:cNvPr id="27" name="Text 19"/>
          <p:cNvSpPr txBox="1"/>
          <p:nvPr/>
        </p:nvSpPr>
        <p:spPr>
          <a:xfrm>
            <a:off x="1463040" y="4754880"/>
            <a:ext cx="9997135"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Web application</a:t>
            </a:r>
            <a:endParaRPr lang="en-US" sz="1600" dirty="0"/>
          </a:p>
        </p:txBody>
      </p:sp>
      <p:sp>
        <p:nvSpPr>
          <p:cNvPr id="28" name="Text 20"/>
          <p:cNvSpPr txBox="1"/>
          <p:nvPr/>
        </p:nvSpPr>
        <p:spPr>
          <a:xfrm>
            <a:off x="777240" y="5440680"/>
            <a:ext cx="10637215" cy="228600"/>
          </a:xfrm>
          <a:prstGeom prst="rect">
            <a:avLst/>
          </a:prstGeom>
          <a:noFill/>
          <a:ln/>
        </p:spPr>
        <p:txBody>
          <a:bodyPr wrap="square" lIns="0" tIns="0" rIns="0" bIns="0" rtlCol="0" anchor="t"/>
          <a:lstStyle/>
          <a:p>
            <a:pPr indent="0" marL="0">
              <a:spcAft>
                <a:spcPts val="400"/>
              </a:spcAft>
              <a:buNone/>
            </a:pPr>
            <a:r>
              <a:rPr lang="en-US" sz="1150" dirty="0">
                <a:solidFill>
                  <a:srgbClr val="475569"/>
                </a:solidFill>
              </a:rPr>
              <a:t>React + FastAPI marketplace for farmers, buyers, distributors and admin; live sensor stream (simulated in the prototype).</a:t>
            </a:r>
            <a:endParaRPr lang="en-US" sz="11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5" name="Text 1"/>
          <p:cNvSpPr txBox="1"/>
          <p:nvPr/>
        </p:nvSpPr>
        <p:spPr>
          <a:xfrm>
            <a:off x="548640" y="5760720"/>
            <a:ext cx="11094415" cy="274320"/>
          </a:xfrm>
          <a:prstGeom prst="rect">
            <a:avLst/>
          </a:prstGeom>
          <a:noFill/>
          <a:ln/>
        </p:spPr>
        <p:txBody>
          <a:bodyPr wrap="square" lIns="0" tIns="0" rIns="0" bIns="0" rtlCol="0" anchor="ctr"/>
          <a:lstStyle/>
          <a:p>
            <a:pPr algn="ctr" indent="0" marL="0">
              <a:buNone/>
            </a:pPr>
            <a:r>
              <a:rPr lang="en-US" sz="1100" i="1" dirty="0">
                <a:solidFill>
                  <a:srgbClr val="64748B"/>
                </a:solidFill>
              </a:rPr>
              <a:t>Proposed architecture: React web app, FastAPI backend with grading, price, delivery and sensor services, SQLite and model files</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System architecture diagram" descr="System architecture diagram"/>
          <p:cNvPicPr>
            <a:picLocks noChangeAspect="1"/>
          </p:cNvPicPr>
          <p:nvPr/>
        </p:nvPicPr>
        <p:blipFill>
          <a:blip r:embed="rId4"/>
          <a:stretch>
            <a:fillRect/>
          </a:stretch>
        </p:blipFill>
        <p:spPr>
          <a:xfrm>
            <a:off x="2826067" y="1123950"/>
            <a:ext cx="5968365" cy="45910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4" name="Multimodal model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txBody>
          <a:bodyPr/>
          <a:p/>
        </p:txBody>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txBody>
          <a:bodyPr/>
          <a:p/>
        </p:txBody>
      </p:sp>
      <p:pic>
        <p:nvPicPr>
          <p:cNvPr id="6" name="Image 0" descr="Multimodal model">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Automatic grading</a:t>
            </a:r>
            <a:endParaRPr lang="en-US" sz="16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consistent grade with confidence from every photo.</a:t>
            </a:r>
            <a:endParaRPr lang="en-US" sz="1600" dirty="0"/>
          </a:p>
        </p:txBody>
      </p:sp>
      <p:sp>
        <p:nvSpPr>
          <p:cNvPr id="9" name="Transparent output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txBody>
          <a:bodyPr/>
          <a:p/>
        </p:txBody>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txBody>
          <a:bodyPr/>
          <a:p/>
        </p:txBody>
      </p:sp>
      <p:pic>
        <p:nvPicPr>
          <p:cNvPr id="11" name="Image 1" descr="Transparent output">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Price foresight</a:t>
            </a:r>
            <a:endParaRPr lang="en-US" sz="16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price, a confidence band and the best day to sell.</a:t>
            </a:r>
            <a:endParaRPr lang="en-US" sz="1600" dirty="0"/>
          </a:p>
        </p:txBody>
      </p:sp>
      <p:sp>
        <p:nvSpPr>
          <p:cNvPr id="14" name="Honest evaluation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txBody>
          <a:bodyPr/>
          <a:p/>
        </p:txBody>
      </p:sp>
      <p:sp>
        <p:nvSpPr>
          <p:cNvPr id="15" name="icon circle"/>
          <p:cNvSpPr/>
          <p:nvPr/>
        </p:nvSpPr>
        <p:spPr>
          <a:xfrm>
            <a:off x="8275320" y="1600200"/>
            <a:ext cx="548640" cy="548640"/>
          </a:xfrm>
          <a:prstGeom prst="ellipse">
            <a:avLst/>
          </a:prstGeom>
          <a:solidFill>
            <a:srgbClr val="6250D6"/>
          </a:solidFill>
          <a:ln w="12700">
            <a:solidFill>
              <a:srgbClr val="6250D6"/>
            </a:solidFill>
            <a:prstDash val="solid"/>
          </a:ln>
        </p:spPr>
        <p:txBody>
          <a:bodyPr/>
          <a:p/>
        </p:txBody>
      </p:sp>
      <p:pic>
        <p:nvPicPr>
          <p:cNvPr id="16" name="Image 2" descr="Honest evaluati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Cold-chain alerts</a:t>
            </a:r>
            <a:endParaRPr lang="en-US" sz="16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Temperature, humidity and shock readings with alerts.</a:t>
            </a:r>
            <a:endParaRPr lang="en-US" sz="1600" dirty="0"/>
          </a:p>
        </p:txBody>
      </p:sp>
      <p:sp>
        <p:nvSpPr>
          <p:cNvPr id="19" name="Generated-media signal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txBody>
          <a:bodyPr/>
          <a:p/>
        </p:txBody>
      </p:sp>
      <p:sp>
        <p:nvSpPr>
          <p:cNvPr id="20" name="icon circle"/>
          <p:cNvSpPr/>
          <p:nvPr/>
        </p:nvSpPr>
        <p:spPr>
          <a:xfrm>
            <a:off x="777240" y="3840480"/>
            <a:ext cx="548640" cy="548640"/>
          </a:xfrm>
          <a:prstGeom prst="ellipse">
            <a:avLst/>
          </a:prstGeom>
          <a:solidFill>
            <a:srgbClr val="EDA100"/>
          </a:solidFill>
          <a:ln w="12700">
            <a:solidFill>
              <a:srgbClr val="EDA100"/>
            </a:solidFill>
            <a:prstDash val="solid"/>
          </a:ln>
        </p:spPr>
        <p:txBody>
          <a:bodyPr/>
          <a:p/>
        </p:txBody>
      </p:sp>
      <p:pic>
        <p:nvPicPr>
          <p:cNvPr id="21" name="Image 3" descr="Generated-media signal">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Explained decisions</a:t>
            </a:r>
            <a:endParaRPr lang="en-US" sz="16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SHAP drivers shown with each grade and price.</a:t>
            </a:r>
            <a:endParaRPr lang="en-US" sz="1600" dirty="0"/>
          </a:p>
        </p:txBody>
      </p:sp>
      <p:sp>
        <p:nvSpPr>
          <p:cNvPr id="24" name="Usable system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txBody>
          <a:bodyPr/>
          <a:p/>
        </p:txBody>
      </p:sp>
      <p:sp>
        <p:nvSpPr>
          <p:cNvPr id="25" name="icon circle"/>
          <p:cNvSpPr/>
          <p:nvPr/>
        </p:nvSpPr>
        <p:spPr>
          <a:xfrm>
            <a:off x="4526280" y="3840480"/>
            <a:ext cx="548640" cy="548640"/>
          </a:xfrm>
          <a:prstGeom prst="ellipse">
            <a:avLst/>
          </a:prstGeom>
          <a:solidFill>
            <a:srgbClr val="1BAF7A"/>
          </a:solidFill>
          <a:ln w="12700">
            <a:solidFill>
              <a:srgbClr val="1BAF7A"/>
            </a:solidFill>
            <a:prstDash val="solid"/>
          </a:ln>
        </p:spPr>
        <p:txBody>
          <a:bodyPr/>
          <a:p/>
        </p:txBody>
      </p:sp>
      <p:pic>
        <p:nvPicPr>
          <p:cNvPr id="26" name="Image 4" descr="Usable system">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Smarter delivery</a:t>
            </a:r>
            <a:endParaRPr lang="en-US" sz="16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Ranked buyers and a route for each listing.</a:t>
            </a:r>
            <a:endParaRPr lang="en-US" sz="1600" dirty="0"/>
          </a:p>
        </p:txBody>
      </p:sp>
      <p:sp>
        <p:nvSpPr>
          <p:cNvPr id="29" name="Quality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txBody>
          <a:bodyPr/>
          <a:p/>
        </p:txBody>
      </p:sp>
      <p:sp>
        <p:nvSpPr>
          <p:cNvPr id="30" name="icon circle"/>
          <p:cNvSpPr/>
          <p:nvPr/>
        </p:nvSpPr>
        <p:spPr>
          <a:xfrm>
            <a:off x="8275320" y="3840480"/>
            <a:ext cx="548640" cy="548640"/>
          </a:xfrm>
          <a:prstGeom prst="ellipse">
            <a:avLst/>
          </a:prstGeom>
          <a:solidFill>
            <a:srgbClr val="1B2A41"/>
          </a:solidFill>
          <a:ln w="12700">
            <a:solidFill>
              <a:srgbClr val="1B2A41"/>
            </a:solidFill>
            <a:prstDash val="solid"/>
          </a:ln>
        </p:spPr>
        <p:txBody>
          <a:bodyPr/>
          <a:p/>
        </p:txBody>
      </p:sp>
      <p:pic>
        <p:nvPicPr>
          <p:cNvPr id="31" name="Image 5" descr="Quality">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Connected marketplace</a:t>
            </a:r>
            <a:endParaRPr lang="en-US" sz="16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Order lifecycle from listing to delivery for four roles.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300"/>
              </a:spcAft>
              <a:buSzPct val="100000"/>
              <a:buChar char="•"/>
            </a:pPr>
            <a:r>
              <a:rPr lang="en-US" sz="1300" dirty="0">
                <a:solidFill>
                  <a:srgbClr val="0F172A"/>
                </a:solidFill>
              </a:rPr>
              <a:t>[1] A. Khaliq, A. Khan, S. Jan, M. Umair, A. Gulshair, A. Ali, and U. A. Shah, "AI-driven smart agriculture: An integrated approach for soil analysis, irrigation, and crop-fertilizer recommendations," IEEE Access, vol. 13, pp. 141124-141138, 2025, doi: 10.1109/ACCESS.2025.3594162.</a:t>
            </a:r>
            <a:endParaRPr lang="en-US" sz="1300" dirty="0"/>
          </a:p>
          <a:p>
            <a:pPr marL="228600" indent="-228600">
              <a:spcAft>
                <a:spcPts val="300"/>
              </a:spcAft>
              <a:buSzPct val="100000"/>
              <a:buChar char="•"/>
            </a:pPr>
            <a:r>
              <a:rPr lang="en-US" sz="1300" dirty="0">
                <a:solidFill>
                  <a:srgbClr val="0F172A"/>
                </a:solidFill>
              </a:rPr>
              <a:t>[2] "Cross-task consistent multi-task learning for fine-grained crop leaf disease diagnosis and severity grading," in Proc. 2026 7th Int. Conf. Computer Vision, Image and Deep Learning (CVIDL), 2026 (listed in the batch literature survey; not independently retrieved).</a:t>
            </a:r>
            <a:endParaRPr lang="en-US" sz="1300" dirty="0"/>
          </a:p>
          <a:p>
            <a:pPr marL="228600" indent="-228600">
              <a:spcAft>
                <a:spcPts val="300"/>
              </a:spcAft>
              <a:buSzPct val="100000"/>
              <a:buChar char="•"/>
            </a:pPr>
            <a:r>
              <a:rPr lang="en-US" sz="1300" dirty="0">
                <a:solidFill>
                  <a:srgbClr val="0F172A"/>
                </a:solidFill>
              </a:rPr>
              <a:t>[3] "Design of agricultural product quality inspection and e-commerce grading system based on image recognition," in Proc. 2nd Int. Conf. Artificial Intelligence, Deep Learning, and Neural Networks (AIDLNN 2025), 2026 (listed in the batch literature survey; not independently retrieved).</a:t>
            </a:r>
            <a:endParaRPr lang="en-US" sz="1300" dirty="0"/>
          </a:p>
          <a:p>
            <a:pPr marL="228600" indent="-228600">
              <a:spcAft>
                <a:spcPts val="300"/>
              </a:spcAft>
              <a:buSzPct val="100000"/>
              <a:buChar char="•"/>
            </a:pPr>
            <a:r>
              <a:rPr lang="en-US" sz="1300" dirty="0">
                <a:solidFill>
                  <a:srgbClr val="0F172A"/>
                </a:solidFill>
              </a:rPr>
              <a:t>[4] "Crop and market price prediction system using machine learning," Int. Research J. Modernization in Engineering Technology and Science (IRJMETS), 2023 (listed in the batch literature survey; not independently retrieved).</a:t>
            </a:r>
            <a:endParaRPr lang="en-US" sz="1300" dirty="0"/>
          </a:p>
          <a:p>
            <a:pPr marL="228600" indent="-228600">
              <a:spcAft>
                <a:spcPts val="300"/>
              </a:spcAft>
              <a:buSzPct val="100000"/>
              <a:buChar char="•"/>
            </a:pPr>
            <a:r>
              <a:rPr lang="en-US" sz="1300" dirty="0">
                <a:solidFill>
                  <a:srgbClr val="0F172A"/>
                </a:solidFill>
              </a:rPr>
              <a:t>[5] "Crop price prediction using machine learning," J. Electrical Systems, 2024 (listed in the batch literature survey; not independently retrieved).</a:t>
            </a:r>
            <a:endParaRPr lang="en-US" sz="1300" dirty="0"/>
          </a:p>
          <a:p>
            <a:pPr marL="228600" indent="-228600">
              <a:spcAft>
                <a:spcPts val="300"/>
              </a:spcAft>
              <a:buSzPct val="100000"/>
              <a:buChar char="•"/>
            </a:pPr>
            <a:r>
              <a:rPr lang="en-US" sz="1300" dirty="0">
                <a:solidFill>
                  <a:srgbClr val="0F172A"/>
                </a:solidFill>
              </a:rPr>
              <a:t>[6] L. Wang and B. Zhang, "The promise of time-series foundation models for agricultural forecasting: Evidence from commodity prices," arXiv:2601.06371, Jan. 2026.</a:t>
            </a:r>
            <a:endParaRPr lang="en-US" sz="1300" dirty="0"/>
          </a:p>
          <a:p>
            <a:pPr marL="228600" indent="-228600">
              <a:spcAft>
                <a:spcPts val="300"/>
              </a:spcAft>
              <a:buSzPct val="100000"/>
              <a:buChar char="•"/>
            </a:pPr>
            <a:r>
              <a:rPr lang="en-US" sz="1300" dirty="0">
                <a:solidFill>
                  <a:srgbClr val="0F172A"/>
                </a:solidFill>
              </a:rPr>
              <a:t>[7] L. Feng and S. Zong, "Large-scale crop image recognition based on ConvLSTM spatiotemporal feature extraction and LCMST-Net model," IEEE Access, vol. 14, pp. 10719-10734, 2026, doi: 10.1109/ACCESS.2026.3653414.</a:t>
            </a:r>
            <a:endParaRPr lang="en-US" sz="1300" dirty="0"/>
          </a:p>
          <a:p>
            <a:pPr marL="228600" indent="-228600">
              <a:spcAft>
                <a:spcPts val="300"/>
              </a:spcAft>
              <a:buSzPct val="100000"/>
              <a:buChar char="•"/>
            </a:pPr>
            <a:r>
              <a:rPr lang="en-US" sz="1300" dirty="0">
                <a:solidFill>
                  <a:srgbClr val="0F172A"/>
                </a:solidFill>
              </a:rPr>
              <a:t>[8] N. Sultana, M. Jahan, and M. S. Uddin, "An extensive dataset for successful recognition of fresh and rotten fruits," Data in Brief, vol. 44, Art. no. 108552, 2022, doi: 10.1016/j.dib.2022.108552.</a:t>
            </a:r>
            <a:endParaRPr lang="en-US" sz="1300" dirty="0"/>
          </a:p>
          <a:p>
            <a:pPr marL="228600" indent="-228600">
              <a:spcAft>
                <a:spcPts val="300"/>
              </a:spcAft>
              <a:buSzPct val="100000"/>
              <a:buChar char="•"/>
            </a:pPr>
            <a:r>
              <a:rPr lang="en-US" sz="1300" dirty="0">
                <a:solidFill>
                  <a:srgbClr val="0F172A"/>
                </a:solidFill>
              </a:rPr>
              <a:t>[9] Project-AgML, "Vegetable classification (Bangladesh)," Hugging Face dataset repository, CC BY 4.0. [Online]. Available: https://huggingface.co/datasets/Project-AgML/vegetable_classification_bangladesh</a:t>
            </a:r>
            <a:endParaRPr lang="en-US" sz="1300" dirty="0"/>
          </a:p>
          <a:p>
            <a:pPr marL="228600" indent="-228600">
              <a:spcAft>
                <a:spcPts val="300"/>
              </a:spcAft>
              <a:buSzPct val="100000"/>
              <a:buChar char="•"/>
            </a:pPr>
            <a:r>
              <a:rPr lang="en-US" sz="1300" dirty="0">
                <a:solidFill>
                  <a:srgbClr val="0F172A"/>
                </a:solidFill>
              </a:rPr>
              <a:t>[10] L. Breiman, "Random forests," Machine Learning, vol. 45, no. 1, pp. 5-32, 2001.</a:t>
            </a:r>
            <a:endParaRPr lang="en-US" sz="13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ropSight">
  <a:themeElements>
    <a:clrScheme name="CropSight">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ropS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CropSight: Review 1</dc:title>
  <dc:subject>CropSight: Smart Crop Delivery with AI-Based Price and Quality Intelligence</dc:subject>
  <dc:creator>Batch A17</dc:creator>
  <cp:lastModifiedBy>Batch A17</cp:lastModifiedBy>
  <cp:revision>1</cp:revision>
  <dcterms:created xsi:type="dcterms:W3CDTF">2026-10-13T12:36:40Z</dcterms:created>
  <dcterms:modified xsi:type="dcterms:W3CDTF">2026-10-13T12:36:40Z</dcterms:modified>
  <cp:keywords>smart agriculture, crop quality grading, price forecasting, IoT, explainable AI</cp:keywords>
  <cp:category/>
  <dc:description/>
  <cp:contentStatus/>
</cp:coreProperties>
</file>