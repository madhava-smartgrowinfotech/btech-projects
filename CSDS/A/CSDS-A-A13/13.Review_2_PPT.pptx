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Sample dataset: candidates per sitting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Candidates</c:v>
                </c:pt>
              </c:strCache>
            </c:strRef>
          </c:tx>
          <c:spPr>
            <a:solidFill>
              <a:srgbClr val="3F3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Mon 12 Oct AM</c:v>
                </c:pt>
                <c:pt idx="1">
                  <c:v>Mon 12 Oct PM</c:v>
                </c:pt>
                <c:pt idx="2">
                  <c:v>Tue 13 Oct AM</c:v>
                </c:pt>
                <c:pt idx="3">
                  <c:v>Tue 13 Oct PM</c:v>
                </c:pt>
                <c:pt idx="4">
                  <c:v>Wed 14 Oct AM</c:v>
                </c:pt>
                <c:pt idx="5">
                  <c:v>Wed 14 Oct PM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451</c:v>
                </c:pt>
                <c:pt idx="1">
                  <c:v>457</c:v>
                </c:pt>
                <c:pt idx="2">
                  <c:v>451</c:v>
                </c:pt>
                <c:pt idx="3">
                  <c:v>457</c:v>
                </c:pt>
                <c:pt idx="4">
                  <c:v>511</c:v>
                </c:pt>
                <c:pt idx="5">
                  <c:v>397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candidates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Solve time by sitting size (seconds, mean of 3 seeds)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SeatWise solve time (s)</c:v>
                </c:pt>
              </c:strCache>
            </c:strRef>
          </c:tx>
          <c:spPr>
            <a:solidFill>
              <a:srgbClr val="3F3FB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150</c:v>
                </c:pt>
                <c:pt idx="1">
                  <c:v>300</c:v>
                </c:pt>
                <c:pt idx="2">
                  <c:v>600</c:v>
                </c:pt>
                <c:pt idx="3">
                  <c:v>1,000</c:v>
                </c:pt>
                <c:pt idx="4">
                  <c:v>2,000</c:v>
                </c:pt>
              </c:strCache>
            </c:strRef>
          </c:cat>
          <c:val>
            <c:numRef>
              <c:f>Sheet1!$B$2:$B$6</c:f>
              <c:numCache>
                <c:formatCode>0.00</c:formatCode>
                <c:ptCount val="5"/>
                <c:pt idx="0">
                  <c:v>1.25</c:v>
                </c:pt>
                <c:pt idx="1">
                  <c:v>2.03</c:v>
                </c:pt>
                <c:pt idx="2">
                  <c:v>2.36</c:v>
                </c:pt>
                <c:pt idx="3">
                  <c:v>2.55</c:v>
                </c:pt>
                <c:pt idx="4">
                  <c:v>4.77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47556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seconds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2 covers design, methodology and progress of SeatWise.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Twelve parts, from a recap of Review 1 through the design and the engine to progress, results, testing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of Review 1: the problem and the proposed system as a five-step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browser talks only to the Vite server, which proxies /api to FastAPI. The backend owns every rule; the frontend never decides whether a move is legal.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End-to-end workflow in seven steps. The key idea: confine each paper to one colour class of the seat grid, so same-paper neighbours are impossible by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data is synthetic and generated by a seeded script, so the same seed always gives the same files. There is no external dataset and no train/test split because nothing is trained.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Preprocessing in this project means parsing and validating the four data files, then turning them into the engine's plain data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flowchart is the real algorithm. Stage A confines each paper to one colour class per hall; Stage B picks seats inside the class with a seeded random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only setting that matters for speed is the per-hall budget. The benchmark tried five values on 600 and 1,000 candidates and chose 0.15: 2.63 seconds with 123 same-department pairs; 0.6 gives 114 pairs but takes 6.58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 logic: the engine either returns a plan that satisfies every hard rule or explains why none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 1 shows eight processes and five data stores; level 2 opens the plan-generation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Sixteen tables created by SQLAlchemy. The UML diagram shows the domain entities and the engine's data types and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runs offline: no API keys and no external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planned feature is implemented. The one open item is user-acceptance testing with real invigilators and examination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Benchmark run engine-benchmark-20260921: 8 scenarios, 3 seeds each. Every SeatWise plan met every hard rule; the maximum solve time was 6.1 seconds (4-neighbour mode).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application with the sample data imported and three plans published.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58 backend tests plus a scripted end-to-end demo. The frontend is checked by a strict TypeScript compile, a production build and walkthroughs in Chrome.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challenges and how each was handled.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remains: real-user feedback and a pilot with real data, then the report and the final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SeatWise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SeatWise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Digital Examination Seating Management System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A.SANJAY  23K91A6702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CH.NAVEEN  23K91A6743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D.KOTESH  24K95A6705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A.AKSHITH  [Roll number to be confirmed]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[GUIDE NAME],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 (Data Science)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[COLLEGE NAME]  ·  Batch A13 (CSE-DS, Section 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agenda 1"/>
          <p:cNvSpPr/>
          <p:nvPr/>
        </p:nvSpPr>
        <p:spPr>
          <a:xfrm>
            <a:off x="548640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Recap</a:t>
            </a:r>
            <a:endParaRPr lang="en-US" sz="1500" dirty="0"/>
          </a:p>
        </p:txBody>
      </p:sp>
      <p:sp>
        <p:nvSpPr>
          <p:cNvPr id="7" name="agenda 2"/>
          <p:cNvSpPr/>
          <p:nvPr/>
        </p:nvSpPr>
        <p:spPr>
          <a:xfrm>
            <a:off x="3364992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Architecture</a:t>
            </a:r>
            <a:endParaRPr lang="en-US" sz="1500" dirty="0"/>
          </a:p>
        </p:txBody>
      </p:sp>
      <p:sp>
        <p:nvSpPr>
          <p:cNvPr id="10" name="agenda 3"/>
          <p:cNvSpPr/>
          <p:nvPr/>
        </p:nvSpPr>
        <p:spPr>
          <a:xfrm>
            <a:off x="6181344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82512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3825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Methodology</a:t>
            </a:r>
            <a:endParaRPr lang="en-US" sz="1500" dirty="0"/>
          </a:p>
        </p:txBody>
      </p:sp>
      <p:sp>
        <p:nvSpPr>
          <p:cNvPr id="13" name="agenda 4"/>
          <p:cNvSpPr/>
          <p:nvPr/>
        </p:nvSpPr>
        <p:spPr>
          <a:xfrm>
            <a:off x="8997696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98864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19886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Dataset</a:t>
            </a:r>
            <a:endParaRPr lang="en-US" sz="1500" dirty="0"/>
          </a:p>
        </p:txBody>
      </p:sp>
      <p:sp>
        <p:nvSpPr>
          <p:cNvPr id="16" name="agenda 5"/>
          <p:cNvSpPr/>
          <p:nvPr/>
        </p:nvSpPr>
        <p:spPr>
          <a:xfrm>
            <a:off x="548640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 preparation</a:t>
            </a:r>
            <a:endParaRPr lang="en-US" sz="1500" dirty="0"/>
          </a:p>
        </p:txBody>
      </p:sp>
      <p:sp>
        <p:nvSpPr>
          <p:cNvPr id="19" name="agenda 6"/>
          <p:cNvSpPr/>
          <p:nvPr/>
        </p:nvSpPr>
        <p:spPr>
          <a:xfrm>
            <a:off x="3364992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66160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Engine and configuration</a:t>
            </a:r>
            <a:endParaRPr lang="en-US" sz="1500" dirty="0"/>
          </a:p>
        </p:txBody>
      </p:sp>
      <p:sp>
        <p:nvSpPr>
          <p:cNvPr id="22" name="agenda 7"/>
          <p:cNvSpPr/>
          <p:nvPr/>
        </p:nvSpPr>
        <p:spPr>
          <a:xfrm>
            <a:off x="6181344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82512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382512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Decision logic</a:t>
            </a:r>
            <a:endParaRPr lang="en-US" sz="1500" dirty="0"/>
          </a:p>
        </p:txBody>
      </p:sp>
      <p:sp>
        <p:nvSpPr>
          <p:cNvPr id="25" name="agenda 8"/>
          <p:cNvSpPr/>
          <p:nvPr/>
        </p:nvSpPr>
        <p:spPr>
          <a:xfrm>
            <a:off x="8997696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98864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198864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 flow, modules, database</a:t>
            </a:r>
            <a:endParaRPr lang="en-US" sz="1500" dirty="0"/>
          </a:p>
        </p:txBody>
      </p:sp>
      <p:sp>
        <p:nvSpPr>
          <p:cNvPr id="28" name="agenda 9"/>
          <p:cNvSpPr/>
          <p:nvPr/>
        </p:nvSpPr>
        <p:spPr>
          <a:xfrm>
            <a:off x="548640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Technology stack</a:t>
            </a:r>
            <a:endParaRPr lang="en-US" sz="1500" dirty="0"/>
          </a:p>
        </p:txBody>
      </p:sp>
      <p:sp>
        <p:nvSpPr>
          <p:cNvPr id="31" name="agenda 10"/>
          <p:cNvSpPr/>
          <p:nvPr/>
        </p:nvSpPr>
        <p:spPr>
          <a:xfrm>
            <a:off x="3364992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66160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3566160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Progress</a:t>
            </a:r>
            <a:endParaRPr lang="en-US" sz="1500" dirty="0"/>
          </a:p>
        </p:txBody>
      </p:sp>
      <p:sp>
        <p:nvSpPr>
          <p:cNvPr id="34" name="agenda 11"/>
          <p:cNvSpPr/>
          <p:nvPr/>
        </p:nvSpPr>
        <p:spPr>
          <a:xfrm>
            <a:off x="6181344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382512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6382512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Preliminary results and screens</a:t>
            </a:r>
            <a:endParaRPr lang="en-US" sz="1500" dirty="0"/>
          </a:p>
        </p:txBody>
      </p:sp>
      <p:sp>
        <p:nvSpPr>
          <p:cNvPr id="37" name="agenda 12"/>
          <p:cNvSpPr/>
          <p:nvPr/>
        </p:nvSpPr>
        <p:spPr>
          <a:xfrm>
            <a:off x="8997696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98864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39" name="Text 36"/>
          <p:cNvSpPr txBox="1"/>
          <p:nvPr/>
        </p:nvSpPr>
        <p:spPr>
          <a:xfrm>
            <a:off x="9198864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Testing, challenges, next steps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4" name="Problem card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Problem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Seating by hand or in spreadsheets is slow, error-prone and predictable: neighbours write the same paper, several rules clash, and candidates cannot look up a seat.</a:t>
            </a:r>
            <a:endParaRPr lang="en-US" sz="1600" dirty="0"/>
          </a:p>
        </p:txBody>
      </p:sp>
      <p:sp>
        <p:nvSpPr>
          <p:cNvPr id="9" name="Proposed system card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Proposed sys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8660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Proposed system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 two-stage OR-Tools CP-SAT engine and an independent validator, served by a FastAPI backend and a React web application.</a:t>
            </a:r>
            <a:endParaRPr lang="en-US" sz="1600" dirty="0"/>
          </a:p>
        </p:txBody>
      </p:sp>
      <p:sp>
        <p:nvSpPr>
          <p:cNvPr id="14" name="flow step 1"/>
          <p:cNvSpPr/>
          <p:nvPr/>
        </p:nvSpPr>
        <p:spPr>
          <a:xfrm>
            <a:off x="548640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1792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Excel / CSV data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2557211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flow step 2"/>
          <p:cNvSpPr/>
          <p:nvPr/>
        </p:nvSpPr>
        <p:spPr>
          <a:xfrm>
            <a:off x="2831531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904683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Stage A: halls + colour classes</a:t>
            </a:r>
            <a:endParaRPr lang="en-US" sz="1500" dirty="0"/>
          </a:p>
        </p:txBody>
      </p:sp>
      <p:sp>
        <p:nvSpPr>
          <p:cNvPr id="19" name="arrow"/>
          <p:cNvSpPr/>
          <p:nvPr/>
        </p:nvSpPr>
        <p:spPr>
          <a:xfrm>
            <a:off x="4840102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flow step 3"/>
          <p:cNvSpPr/>
          <p:nvPr/>
        </p:nvSpPr>
        <p:spPr>
          <a:xfrm>
            <a:off x="5114422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87574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Stage B: seats per hall</a:t>
            </a:r>
            <a:endParaRPr lang="en-US" sz="1500" dirty="0"/>
          </a:p>
        </p:txBody>
      </p:sp>
      <p:sp>
        <p:nvSpPr>
          <p:cNvPr id="22" name="arrow"/>
          <p:cNvSpPr/>
          <p:nvPr/>
        </p:nvSpPr>
        <p:spPr>
          <a:xfrm>
            <a:off x="7122993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flow step 4"/>
          <p:cNvSpPr/>
          <p:nvPr/>
        </p:nvSpPr>
        <p:spPr>
          <a:xfrm>
            <a:off x="7397313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470465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Validator + scorecard</a:t>
            </a:r>
            <a:endParaRPr lang="en-US" sz="1500" dirty="0"/>
          </a:p>
        </p:txBody>
      </p:sp>
      <p:sp>
        <p:nvSpPr>
          <p:cNvPr id="25" name="arrow"/>
          <p:cNvSpPr/>
          <p:nvPr/>
        </p:nvSpPr>
        <p:spPr>
          <a:xfrm>
            <a:off x="9405884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flow step 5"/>
          <p:cNvSpPr/>
          <p:nvPr/>
        </p:nvSpPr>
        <p:spPr>
          <a:xfrm>
            <a:off x="9680204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753356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Publish, charts, QR slips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7543800" y="146304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Client: React 18 + TypeScript + Vite (port 5113), role guards, seat map with dnd-kit, TanStack Query.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Application: FastAPI (port 8113): JWT sign-in, administrator and invigilator roles, rate-limited public endpoints.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Engine: OR-Tools CP-SAT Stage A and Stage B, an independent validator and a swap checker.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Data: SQLite with 16 tables and an append-only audit trail.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Outputs: ReportLab PDFs, openpyxl Excel files, qrcode slips.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System architecture diagram" descr="System architectur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274151"/>
            <a:ext cx="6858000" cy="4747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Import files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1904956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2179276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52428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Validate rows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535593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flow step 3"/>
          <p:cNvSpPr/>
          <p:nvPr/>
        </p:nvSpPr>
        <p:spPr>
          <a:xfrm>
            <a:off x="3809913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83065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Pre-check capacity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5166229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flow step 4"/>
          <p:cNvSpPr/>
          <p:nvPr/>
        </p:nvSpPr>
        <p:spPr>
          <a:xfrm>
            <a:off x="5440549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13701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 A: halls + classes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6796866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flow step 5"/>
          <p:cNvSpPr/>
          <p:nvPr/>
        </p:nvSpPr>
        <p:spPr>
          <a:xfrm>
            <a:off x="7071186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44338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 B: seats per hall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8427502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flow step 6"/>
          <p:cNvSpPr/>
          <p:nvPr/>
        </p:nvSpPr>
        <p:spPr>
          <a:xfrm>
            <a:off x="8701822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74974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Validate + scorecard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10058139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flow step 7"/>
          <p:cNvSpPr/>
          <p:nvPr/>
        </p:nvSpPr>
        <p:spPr>
          <a:xfrm>
            <a:off x="10332459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405611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Publish + outputs</a:t>
            </a:r>
            <a:endParaRPr lang="en-US" sz="1400" dirty="0"/>
          </a:p>
        </p:txBody>
      </p:sp>
      <p:sp>
        <p:nvSpPr>
          <p:cNvPr id="24" name="Separate tracks card"/>
          <p:cNvSpPr/>
          <p:nvPr/>
        </p:nvSpPr>
        <p:spPr>
          <a:xfrm>
            <a:off x="54864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Two separate stages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Stage A decides each paper's hall and colour class; Stage B only places seats inside that class. Each stage can be tested alone.</a:t>
            </a:r>
            <a:endParaRPr lang="en-US" sz="1500" dirty="0"/>
          </a:p>
        </p:txBody>
      </p:sp>
      <p:sp>
        <p:nvSpPr>
          <p:cNvPr id="27" name="Shared preprocessing card"/>
          <p:cNvSpPr/>
          <p:nvPr/>
        </p:nvSpPr>
        <p:spPr>
          <a:xfrm>
            <a:off x="429768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2628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One rule set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The engine, the swap checker and the validator share the neighbour-graph and roll-gap code, so map, exports and benchmark agree.</a:t>
            </a:r>
            <a:endParaRPr lang="en-US" sz="1500" dirty="0"/>
          </a:p>
        </p:txBody>
      </p:sp>
      <p:sp>
        <p:nvSpPr>
          <p:cNvPr id="30" name="Reproducible card"/>
          <p:cNvSpPr/>
          <p:nvPr/>
        </p:nvSpPr>
        <p:spPr>
          <a:xfrm>
            <a:off x="804672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Reproducible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27532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Sub-seeds derive from the plan seed with SHA-256; inputs, result and seating are fingerprinted; Verify re-runs the engine.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input sources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63040"/>
          <a:ext cx="5056631" cy="914400"/>
        </p:xfrm>
        <a:graphic>
          <a:graphicData uri="http://schemas.openxmlformats.org/drawingml/2006/table">
            <a:tbl>
              <a:tblPr/>
              <a:tblGrid>
                <a:gridCol w="2022652"/>
                <a:gridCol w="1921520"/>
                <a:gridCol w="1112459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workbook (synthetic, seed 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courses, 908 candidates, 14 halls (871 seats), 6 sittings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Demo, import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2,724; 10 candidates need an accessible seat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and access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scenarios (seeded)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to 2,000 candidates, 8 scenarios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templates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empty files + 1 workbook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data entry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None; no downloads, no API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offline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and validation</a:t>
            </a:r>
            <a:endParaRPr lang="en-US" sz="3200" dirty="0"/>
          </a:p>
        </p:txBody>
      </p:sp>
      <p:sp>
        <p:nvSpPr>
          <p:cNvPr id="4" name="Text card"/>
          <p:cNvSpPr/>
          <p:nvPr/>
        </p:nvSpPr>
        <p:spPr>
          <a:xfrm>
            <a:off x="54864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6" name="Image 0" descr="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Import parsing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CSV or XLSX with flexible headers (Roll No, roll_number and candidate_id are all accepted); lists split on ; , or |; dates in two formats; combined workbook or single files.</a:t>
            </a:r>
            <a:endParaRPr lang="en-US" sz="1600" dirty="0"/>
          </a:p>
        </p:txBody>
      </p:sp>
      <p:sp>
        <p:nvSpPr>
          <p:cNvPr id="9" name="Images and video card"/>
          <p:cNvSpPr/>
          <p:nvPr/>
        </p:nvSpPr>
        <p:spPr>
          <a:xfrm>
            <a:off x="429768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1" name="Image 1" descr="Images and vi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Row-by-row checks: required columns, duplicates, unknown departments or courses, seat labels outside the layout, aisle positions, time order, split paper groups and timetable clashes. Nothing is saved until the administrator imports.</a:t>
            </a:r>
            <a:endParaRPr lang="en-US" sz="1600" dirty="0"/>
          </a:p>
        </p:txBody>
      </p:sp>
      <p:sp>
        <p:nvSpPr>
          <p:cNvPr id="14" name="AI-media data card"/>
          <p:cNvSpPr/>
          <p:nvPr/>
        </p:nvSpPr>
        <p:spPr>
          <a:xfrm>
            <a:off x="804672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6" name="Image 2" descr="AI-media da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Engine inputs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Candidates become (paper, department, accessible need) groups; courses that share a question paper count as one paper. Each hall becomes a seat graph; blocked seats and aisles remove neighbours. Halls without accessible seats get 2 by default.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architecture: the seating engine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463040"/>
          <a:ext cx="38679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56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(CP-SAT)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to halls and colour classes, 2 passes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B (CP-SAT)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x[candidate, seat] per hall, in parallel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 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(8 neighbours) or 2 (4 neighbours)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Python, no solver; scorecard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772400" y="39319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No neural network or trained parameters: the model is a constraint model solved by OR-Tools.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Engine algorithm flowchart" descr="Engine algorithm flow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187" y="1181100"/>
            <a:ext cx="3759200" cy="4933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configuration (nothing is trained)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OR-Tools CP-SAT 9.15.6755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Per-hall budget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 deterministic seconds (tuned)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A budget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(pass 2: half)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Workers per hall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(deterministic); halls in parallel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5 re-balancing rounds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weights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0-19 per seat, 0-999 per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12-thread Intel desktop, Python 3.11.9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icture frame"/>
          <p:cNvSpPr/>
          <p:nvPr/>
        </p:nvSpPr>
        <p:spPr>
          <a:xfrm>
            <a:off x="6400800" y="2199059"/>
            <a:ext cx="5239512" cy="2414163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400800" y="553212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Budget tuning: 0.15 is the fastest budget within 10% of the best department mix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26" name="Budget tuning chart" descr="Budget tuning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98607"/>
            <a:ext cx="5238750" cy="27656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5" name="Verdict card"/>
          <p:cNvSpPr/>
          <p:nvPr/>
        </p:nvSpPr>
        <p:spPr>
          <a:xfrm>
            <a:off x="4663440" y="1371600"/>
            <a:ext cx="6976872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892040" y="1554480"/>
            <a:ext cx="6565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Valid plan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892040" y="2240280"/>
            <a:ext cx="65196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475569"/>
                </a:solidFill>
              </a:rPr>
              <a:t>A plan is hard-valid when same-paper pairs, roll-gap violations, accessible misses and capacity violations are all 0 and everyone is seated.</a:t>
            </a:r>
            <a:endParaRPr lang="en-US" sz="1550" dirty="0"/>
          </a:p>
        </p:txBody>
      </p:sp>
      <p:sp>
        <p:nvSpPr>
          <p:cNvPr id="8" name="Partial input card"/>
          <p:cNvSpPr/>
          <p:nvPr/>
        </p:nvSpPr>
        <p:spPr>
          <a:xfrm>
            <a:off x="4663440" y="2880360"/>
            <a:ext cx="6976872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892040" y="3063240"/>
            <a:ext cx="6565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Impossible input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892040" y="3749040"/>
            <a:ext cx="65196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The pre-check names the cause and suggests a fix. A failing hall is retried at 4x budget, then re-balanced (max 5).</a:t>
            </a:r>
            <a:endParaRPr lang="en-US" sz="1600" dirty="0"/>
          </a:p>
        </p:txBody>
      </p:sp>
      <p:sp>
        <p:nvSpPr>
          <p:cNvPr id="11" name="Saving card"/>
          <p:cNvSpPr/>
          <p:nvPr/>
        </p:nvSpPr>
        <p:spPr>
          <a:xfrm>
            <a:off x="4663440" y="4389120"/>
            <a:ext cx="6976872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892040" y="4572000"/>
            <a:ext cx="6565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Saving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5257800"/>
            <a:ext cx="65196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475569"/>
                </a:solidFill>
              </a:rPr>
              <a:t>Each plan stores seed, rules, engine version and three SHA-256 fingerprints; publishing archives the previous version; every action is audited.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Decision flowchart" descr="Decision flow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17" y="1181100"/>
            <a:ext cx="3773714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542925" y="43053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DFD level 1 (left) and level 2 expansion of 'Generate seating plan' (right)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9625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8875532"/>
              </a:tblGrid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CSV/XLSX, validate row by row, preview, commit; re-validates against current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and validator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pre-check, Stage A, Stage B in parallel, independent scorecard, roll-order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 and attendance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charts and sheets, Excel lists, QR slips, tablet register with 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DFD level 1" descr="DFD level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19" y="1123950"/>
            <a:ext cx="3986560" cy="3143250"/>
          </a:xfrm>
          <a:prstGeom prst="rect">
            <a:avLst/>
          </a:prstGeom>
        </p:spPr>
      </p:pic>
      <p:pic>
        <p:nvPicPr>
          <p:cNvPr id="27" name="DFD level 2" descr="DFD level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6425" y="1123950"/>
            <a:ext cx="54483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2925" y="4686300"/>
          <a:ext cx="11087100" cy="914400"/>
        </p:xfrm>
        <a:graphic>
          <a:graphicData uri="http://schemas.openxmlformats.org/drawingml/2006/table">
            <a:tbl>
              <a:tblPr/>
              <a:tblGrid>
                <a:gridCol w="2217420"/>
                <a:gridCol w="4878324"/>
                <a:gridCol w="3991356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session, version, status, seed, rules, three hashes, scorecard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 seat_assignments, attendance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seat_assignments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plan, candidate, hall, row, col, seat_label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per plan+candidate and plan+seat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roll_no, department, needs_accessible_seat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N:M courses through registrations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2925" y="4381500"/>
            <a:ext cx="11087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ER diagram, 16 tables (left) and UML class diagram (right)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ER diagram" descr="ER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342" y="1123950"/>
            <a:ext cx="4073164" cy="3238500"/>
          </a:xfrm>
          <a:prstGeom prst="rect">
            <a:avLst/>
          </a:prstGeom>
        </p:spPr>
      </p:pic>
      <p:pic>
        <p:nvPicPr>
          <p:cNvPr id="27" name="UML class diagram" descr="UML class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6844" y="1123950"/>
            <a:ext cx="4416136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Language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Langu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Language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Python 3.11, TypeScript 5.8</a:t>
            </a:r>
            <a:endParaRPr lang="en-US" sz="1500" dirty="0"/>
          </a:p>
        </p:txBody>
      </p:sp>
      <p:sp>
        <p:nvSpPr>
          <p:cNvPr id="9" name="Deep learning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1" name="Image 1" descr="Deep le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Optimisation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Google OR-Tools CP-SAT 9.15, NumPy, pandas</a:t>
            </a:r>
            <a:endParaRPr lang="en-US" sz="1500" dirty="0"/>
          </a:p>
        </p:txBody>
      </p:sp>
      <p:sp>
        <p:nvSpPr>
          <p:cNvPr id="14" name="Data / NLP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6" name="Image 2" descr="Data / NL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Frontend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React 18, Vite 6, Tailwind CSS, shadcn/ui, Recharts, dnd-kit</a:t>
            </a:r>
            <a:endParaRPr lang="en-US" sz="1500" dirty="0"/>
          </a:p>
        </p:txBody>
      </p:sp>
      <p:sp>
        <p:nvSpPr>
          <p:cNvPr id="19" name="Backend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1" name="Image 3" descr="Backe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Backend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FastAPI, Pydantic v2, SQLAlchemy 2, PyJWT, bcrypt</a:t>
            </a:r>
            <a:endParaRPr lang="en-US" sz="1500" dirty="0"/>
          </a:p>
        </p:txBody>
      </p:sp>
      <p:sp>
        <p:nvSpPr>
          <p:cNvPr id="24" name="Frontend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26" name="Image 4" descr="Fronte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Storage and outputs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SQLite, ReportLab (PDF), openpyxl (Excel), qrcode</a:t>
            </a:r>
            <a:endParaRPr lang="en-US" sz="1500" dirty="0"/>
          </a:p>
        </p:txBody>
      </p:sp>
      <p:sp>
        <p:nvSpPr>
          <p:cNvPr id="29" name="Storage / reports / tests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31" name="Image 5" descr="Storage / reports / tes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Testing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pytest (58 tests), strict TypeScript check, Playwright captures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79" cy="914400"/>
        </p:xfrm>
        <a:graphic>
          <a:graphicData uri="http://schemas.openxmlformats.org/drawingml/2006/table">
            <a:tbl>
              <a:tblPr/>
              <a:tblGrid>
                <a:gridCol w="5848502"/>
                <a:gridCol w="1649577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import (CSV/XLSX, four kinds)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CP-SAT engine + independent validator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Plans: generate, verify, publish, versions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 map with drag-to-swap and live rule checks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Exports: charts, hall lists, sheets, QR slips, attendance 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 attendance, public lookup, analytics, audit trail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tests (58 passed) and engine benchmark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acceptance testing with real 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rained networks tile"/>
          <p:cNvSpPr/>
          <p:nvPr/>
        </p:nvSpPr>
        <p:spPr>
          <a:xfrm>
            <a:off x="8321040" y="13716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03920" y="15087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22503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API operations</a:t>
            </a:r>
            <a:endParaRPr lang="en-US" sz="1300" dirty="0"/>
          </a:p>
        </p:txBody>
      </p:sp>
      <p:sp>
        <p:nvSpPr>
          <p:cNvPr id="8" name="served model profiles tile"/>
          <p:cNvSpPr/>
          <p:nvPr/>
        </p:nvSpPr>
        <p:spPr>
          <a:xfrm>
            <a:off x="8321040" y="29718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03920" y="31089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38505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database tables</a:t>
            </a:r>
            <a:endParaRPr lang="en-US" sz="1300" dirty="0"/>
          </a:p>
        </p:txBody>
      </p:sp>
      <p:sp>
        <p:nvSpPr>
          <p:cNvPr id="11" name="automated tests passing tile"/>
          <p:cNvSpPr/>
          <p:nvPr/>
        </p:nvSpPr>
        <p:spPr>
          <a:xfrm>
            <a:off x="8321040" y="45720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47091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58/58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54507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backend tests passing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engine benchmark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usion F1 (text only 0.644) tile"/>
          <p:cNvSpPr/>
          <p:nvPr/>
        </p:nvSpPr>
        <p:spPr>
          <a:xfrm>
            <a:off x="8412480" y="13716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95360" y="15087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24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8595360" y="22503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plans meeting every hard rule</a:t>
            </a:r>
            <a:endParaRPr lang="en-US" sz="1300" dirty="0"/>
          </a:p>
        </p:txBody>
      </p:sp>
      <p:sp>
        <p:nvSpPr>
          <p:cNvPr id="8" name="fusion ROC-AUC (text 0.771) tile"/>
          <p:cNvSpPr/>
          <p:nvPr/>
        </p:nvSpPr>
        <p:spPr>
          <a:xfrm>
            <a:off x="8412480" y="29718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95360" y="31089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s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38505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to seat 600 candidates (4.8 s for 2,000)</a:t>
            </a:r>
            <a:endParaRPr lang="en-US" sz="1300" dirty="0"/>
          </a:p>
        </p:txBody>
      </p:sp>
      <p:sp>
        <p:nvSpPr>
          <p:cNvPr id="11" name="fusion accuracy tile"/>
          <p:cNvSpPr/>
          <p:nvPr/>
        </p:nvSpPr>
        <p:spPr>
          <a:xfrm>
            <a:off x="8412480" y="45720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95360" y="47091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54507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same-paper neighbours (roll order: 1,253)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5" name="picture frame"/>
          <p:cNvSpPr/>
          <p:nvPr/>
        </p:nvSpPr>
        <p:spPr>
          <a:xfrm>
            <a:off x="873834" y="1188720"/>
            <a:ext cx="4836012" cy="4617720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Plan page: 0 same-paper neighbours, 0 roll-gap violations, 1,099 conflicts avoided</a:t>
            </a:r>
            <a:endParaRPr lang="en-US" sz="1100" dirty="0"/>
          </a:p>
        </p:txBody>
      </p:sp>
      <p:sp>
        <p:nvSpPr>
          <p:cNvPr id="8" name="picture frame"/>
          <p:cNvSpPr/>
          <p:nvPr/>
        </p:nvSpPr>
        <p:spPr>
          <a:xfrm>
            <a:off x="6476106" y="1188720"/>
            <a:ext cx="4878589" cy="4617720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1722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Seat map: an illegal move is refused with the reason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lan page screenshot" descr="Plan page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4" y="1977032"/>
            <a:ext cx="4829175" cy="3018234"/>
          </a:xfrm>
          <a:prstGeom prst="rect">
            <a:avLst/>
          </a:prstGeom>
        </p:spPr>
      </p:pic>
      <p:pic>
        <p:nvPicPr>
          <p:cNvPr id="27" name="Seat map screenshot" descr="Seat map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1962150"/>
            <a:ext cx="48768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observations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768096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Authentication, roles,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and 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and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Plans, swap, verify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Exports, attendance, public, 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 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035040" y="141732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58 backend tests passed on a throw-away database; the slowest takes 7.1 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The same seed reproduces the plan exactly (hashes equal); different seeds give different plans.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Illegal swaps are refused with reasons; impossible inputs are explained; the public lookup returns 429 after 30 requests a minute.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Demo scenario: import, three plans (1.8-2.2 s, 0 same-paper pairs), exports, lookup and attendance in 11.4 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Not done: user-acceptance testing and load testing.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4" name="Small multimodal dataset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Small multimodal data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Rules by construction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Each paper is confined to one colour class per hall, so same-paper neighbours are impossible before seats are chosen.</a:t>
            </a:r>
            <a:endParaRPr lang="en-US" sz="1500" dirty="0"/>
          </a:p>
        </p:txBody>
      </p:sp>
      <p:sp>
        <p:nvSpPr>
          <p:cNvPr id="9" name="Hyperparameters unreadable in the paper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1" name="Image 1" descr="Hyperparameters unreadable in the pap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Speed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Halls solve in parallel; the 0.15 budget was tuned. 2.4 s at 600 candidates.</a:t>
            </a:r>
            <a:endParaRPr lang="en-US" sz="1500" dirty="0"/>
          </a:p>
        </p:txBody>
      </p:sp>
      <p:sp>
        <p:nvSpPr>
          <p:cNvPr id="14" name="Format shortcut in GenImage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6" name="Image 2" descr="Format shortcut in Gen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Reproducibility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Deterministic budget, one worker per hall and SHA-256 sub-seeds give the same plan from the same seed.</a:t>
            </a:r>
            <a:endParaRPr lang="en-US" sz="1500" dirty="0"/>
          </a:p>
        </p:txBody>
      </p:sp>
      <p:sp>
        <p:nvSpPr>
          <p:cNvPr id="19" name="Unsafe links (SSRF risk)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1" name="Image 3" descr="Unsafe links (SSRF risk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Impossible inputs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A pre-check explains the cause; a failing hall is retried at 4x budget, then re-balanced.</a:t>
            </a:r>
            <a:endParaRPr lang="en-US" sz="1500" dirty="0"/>
          </a:p>
        </p:txBody>
      </p:sp>
      <p:sp>
        <p:nvSpPr>
          <p:cNvPr id="24" name="Webcam privacy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26" name="Image 4" descr="Webcam privac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Front-row bias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The construction gives a 4.7-point front-row bias (random shuffle 1.6); recorded as a limitation.</a:t>
            </a:r>
            <a:endParaRPr lang="en-US" sz="1500" dirty="0"/>
          </a:p>
        </p:txBody>
      </p:sp>
      <p:sp>
        <p:nvSpPr>
          <p:cNvPr id="29" name="TensorFlow start-up time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31" name="Image 5" descr="TensorFlow start-up tim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Public data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Lookup shows published seats only, a shortened name, rate-limited; no e-mail or date of birth.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acceptance testing</a:t>
            </a:r>
            <a:endParaRPr lang="en-US" sz="1600" dirty="0"/>
          </a:p>
        </p:txBody>
      </p:sp>
      <p:sp>
        <p:nvSpPr>
          <p:cNvPr id="6" name="arrow"/>
          <p:cNvSpPr/>
          <p:nvPr/>
        </p:nvSpPr>
        <p:spPr>
          <a:xfrm>
            <a:off x="3127934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3402254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5406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Anonymised real-sitting pilot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5981548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flow step 3"/>
          <p:cNvSpPr/>
          <p:nvPr/>
        </p:nvSpPr>
        <p:spPr>
          <a:xfrm>
            <a:off x="6255868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29020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report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8835161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flow step 4"/>
          <p:cNvSpPr/>
          <p:nvPr/>
        </p:nvSpPr>
        <p:spPr>
          <a:xfrm>
            <a:off x="9109481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82633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presentation and demo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56616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Collect feedback from invigilators and the examination cell on the seat map, attendance screen and lookup page (not yet done).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Run the engine on a real, anonymised sitting and compare it with the cell's manual plan.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Reduce the front-row bias and speed up 4-neighbour mode (6.0 s at 600 candidates).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Document every diagram, test and result in the report.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dden Risk">
  <a:themeElements>
    <a:clrScheme name="Hidden Risk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Hidden 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SeatWise: Review 2</dc:title>
  <dc:subject>AI-Enabled Digital Examination Seating Management System</dc:subject>
  <dc:creator>Batch A13</dc:creator>
  <cp:lastModifiedBy>Batch A13</cp:lastModifiedBy>
  <cp:revision>1</cp:revision>
  <dcterms:created xsi:type="dcterms:W3CDTF">2026-10-13T12:40:05Z</dcterms:created>
  <dcterms:modified xsi:type="dcterms:W3CDTF">2026-10-13T12:40:05Z</dcterms:modified>
  <cp:keywords>exam seating, CP-SAT, optimisation</cp:keywords>
  <cp:category/>
  <dc:description/>
  <cp:contentStatus/>
</cp:coreProperties>
</file>