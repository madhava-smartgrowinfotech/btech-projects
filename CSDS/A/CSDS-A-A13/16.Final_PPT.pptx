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review of SeatWise: AI-enabled digital examination seating management.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Abstract: problem, approach, application, and the benchmark headline.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a practical Flask system with no measured results, so we compare rules and behaviour.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Works [2], [3] and [5] from the batch survey could not be retrieved, so they are not summarised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is rule-respecting randomness with measured evidence in a complete application.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is a constraint model, not a trained model: the honest evaluation is a benchmark against manual methods.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accuracy or F1: nothing is trained. These are the measured rule violations and solve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equivalent of a confusion matrix for an optimisation engine: how many rule violations each method leaves, and how predictable each method 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budget is the one tunable setting; the scaling chart shows near-linear growth with the number of halls.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measured: concurrent-user load, memory use, other hardware; user-acceptance testing was not performed.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 Id="rId6" Type="http://schemas.openxmlformats.org/officeDocument/2006/relationships/image" Target="../media/image6.png"/><Relationship Id="rId7"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 Id="rId6" Type="http://schemas.openxmlformats.org/officeDocument/2006/relationships/image" Target="../media/image8.png"/><Relationship Id="rId7"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 Id="rId6" Type="http://schemas.openxmlformats.org/officeDocument/2006/relationships/image" Target="../media/image10.png"/><Relationship Id="rId7"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 Id="rId6" Type="http://schemas.openxmlformats.org/officeDocument/2006/relationships/image" Target="../media/image12.png"/><Relationship Id="rId7"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 Id="rId6" Type="http://schemas.openxmlformats.org/officeDocument/2006/relationships/image" Target="../media/image14.png"/><Relationship Id="rId7"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200" b="1" dirty="0">
                <a:solidFill>
                  <a:srgbClr val="1F3864"/>
                </a:solidFill>
                <a:latin typeface="Calibri" pitchFamily="34" charset="0"/>
                <a:ea typeface="Calibri" pitchFamily="34" charset="-122"/>
                <a:cs typeface="Calibri" pitchFamily="34" charset="-120"/>
              </a:rPr>
              <a:t>AI-Enabled Digital Examination Seating Management System</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A13</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23K91A6702   A.SANJAY</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23K91A6743   CH.NAVEEN</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24K95A6705   D.KOTESH</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[Roll number to be confirmed]   A.AKSHITH</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[GUIDE NAME]</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 (Data Science)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(DATA SCIENCE)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Abstract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Base Paper &amp; Literature Survey</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Research Gap &amp; Problem Statement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Objectives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Proposed System &amp; Architecture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Methodology &amp; Engine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Design &amp; Implementation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Results, Testing &amp; Comparison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Output Screens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Conclusion &amp; Future Scope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850" dirty="0">
                <a:solidFill>
                  <a:srgbClr val="222222"/>
                </a:solidFill>
                <a:latin typeface="Calibri" pitchFamily="34" charset="0"/>
                <a:ea typeface="Calibri" pitchFamily="34" charset="-122"/>
                <a:cs typeface="Calibri" pitchFamily="34" charset="-120"/>
              </a:rPr>
              <a:t>Exam seating is prepared by hand or in spreadsheets before every cycle: slow, error-prone and predictable, so candidates of the same paper can end up side by side.</a:t>
            </a:r>
            <a:endParaRPr lang="en-US" sz="1850" dirty="0"/>
          </a:p>
          <a:p>
            <a:pPr marL="342900" indent="-342900">
              <a:spcAft>
                <a:spcPts val="1000"/>
              </a:spcAft>
              <a:buSzPct val="100000"/>
              <a:buChar char="•"/>
            </a:pPr>
            <a:r>
              <a:rPr lang="en-US" sz="1850" dirty="0">
                <a:solidFill>
                  <a:srgbClr val="222222"/>
                </a:solidFill>
                <a:latin typeface="Calibri" pitchFamily="34" charset="0"/>
                <a:ea typeface="Calibri" pitchFamily="34" charset="-122"/>
                <a:cs typeface="Calibri" pitchFamily="34" charset="-120"/>
              </a:rPr>
              <a:t>SeatWise treats seating as constraint optimisation: OR-Tools CP-SAT seats everyone so that no two neighbours (diagonals included) write the same paper, close roll numbers are apart and accessible seats are honoured.</a:t>
            </a:r>
            <a:endParaRPr lang="en-US" sz="1850" dirty="0"/>
          </a:p>
          <a:p>
            <a:pPr marL="342900" indent="-342900">
              <a:spcAft>
                <a:spcPts val="1000"/>
              </a:spcAft>
              <a:buSzPct val="100000"/>
              <a:buChar char="•"/>
            </a:pPr>
            <a:r>
              <a:rPr lang="en-US" sz="1850" dirty="0">
                <a:solidFill>
                  <a:srgbClr val="222222"/>
                </a:solidFill>
                <a:latin typeface="Calibri" pitchFamily="34" charset="0"/>
                <a:ea typeface="Calibri" pitchFamily="34" charset="-122"/>
                <a:cs typeface="Calibri" pitchFamily="34" charset="-120"/>
              </a:rPr>
              <a:t>Every plan is a random valid choice from a recorded seed, scored by an independent validator and reproducible with one click (Verify).</a:t>
            </a:r>
            <a:endParaRPr lang="en-US" sz="1850" dirty="0"/>
          </a:p>
          <a:p>
            <a:pPr marL="342900" indent="-342900">
              <a:spcAft>
                <a:spcPts val="1000"/>
              </a:spcAft>
              <a:buSzPct val="100000"/>
              <a:buChar char="•"/>
            </a:pPr>
            <a:r>
              <a:rPr lang="en-US" sz="1850" dirty="0">
                <a:solidFill>
                  <a:srgbClr val="222222"/>
                </a:solidFill>
                <a:latin typeface="Calibri" pitchFamily="34" charset="0"/>
                <a:ea typeface="Calibri" pitchFamily="34" charset="-122"/>
                <a:cs typeface="Calibri" pitchFamily="34" charset="-120"/>
              </a:rPr>
              <a:t>A FastAPI + React application adds validated import, a drag-to-swap seat map, PDF/Excel outputs, QR seat slips, tablet attendance, public lookup, analytics and an audit trail.</a:t>
            </a:r>
            <a:endParaRPr lang="en-US" sz="1850" dirty="0"/>
          </a:p>
          <a:p>
            <a:pPr marL="342900" indent="-342900">
              <a:spcAft>
                <a:spcPts val="1000"/>
              </a:spcAft>
              <a:buSzPct val="100000"/>
              <a:buChar char="•"/>
            </a:pPr>
            <a:r>
              <a:rPr lang="en-US" sz="1850" dirty="0">
                <a:solidFill>
                  <a:srgbClr val="222222"/>
                </a:solidFill>
                <a:latin typeface="Calibri" pitchFamily="34" charset="0"/>
                <a:ea typeface="Calibri" pitchFamily="34" charset="-122"/>
                <a:cs typeface="Calibri" pitchFamily="34" charset="-120"/>
              </a:rPr>
              <a:t>Benchmark (8 scenarios x 3 seeds): 24 of 24 plans met every hard rule; 2.4 s for 600 and 4.8 s for 2,000 candidates; roll-order seating leaves 1,253 same-paper pairs at 600 candidates.</a:t>
            </a:r>
            <a:endParaRPr lang="en-US" sz="1850" dirty="0"/>
          </a:p>
          <a:p>
            <a:pPr marL="342900" indent="-342900">
              <a:spcAft>
                <a:spcPts val="1000"/>
              </a:spcAft>
              <a:buSzPct val="100000"/>
              <a:buChar char="•"/>
            </a:pPr>
            <a:r>
              <a:rPr lang="en-US" sz="1850" dirty="0">
                <a:solidFill>
                  <a:srgbClr val="222222"/>
                </a:solidFill>
                <a:latin typeface="Calibri" pitchFamily="34" charset="0"/>
                <a:ea typeface="Calibri" pitchFamily="34" charset="-122"/>
                <a:cs typeface="Calibri" pitchFamily="34" charset="-120"/>
              </a:rPr>
              <a:t>Keywords: exam seating, constraint programming, CP-SAT, malpractice prevention, web application.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P. Yukth, I. S. Mahmood, K. H. Shashank, S. G. Thejus and M. S. Darshini, "Exam Seating Arrangement System," International Journal of Research Publication and Reviews (IJRPR), vol. 6, no. 12, pp. 2093-2105, Dec. 2025.</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Method: Flask + SQLite web application; students uploaded as CSV or PDF; a zipper algorithm (itertools.zip_longest) interleaves two subject lists; optional branch constraint; blocked seats skipped.</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Output: grid map, ReportLab PDF chart, hall-wise reports, public search by USN.</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Reported results: none measured. The only quantitative statement is a requirement: 100 students allocated in under 3 seconds.</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Limitations (our reading): two subjects only; no roll-number or accessible-seat rule; fixed pattern; no attendance; no optimisation. Authors' future work: mobile app, e-mail/SMS, face recognition, cloud, drag-and-drop swap.</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8" cy="914400"/>
        </p:xfrm>
        <a:graphic>
          <a:graphicData uri="http://schemas.openxmlformats.org/drawingml/2006/table">
            <a:tbl>
              <a:tblPr/>
              <a:tblGrid>
                <a:gridCol w="2249424"/>
                <a:gridCol w="2811780"/>
                <a:gridCol w="1574596"/>
                <a:gridCol w="2474366"/>
                <a:gridCol w="2136952"/>
              </a:tblGrid>
              <a:tr h="0">
                <a:tc>
                  <a:txBody>
                    <a:bodyPr/>
                    <a:lstStyle/>
                    <a:p>
                      <a:pPr algn="ctr" indent="0" marL="0">
                        <a:buNone/>
                      </a:pPr>
                      <a:r>
                        <a:rPr lang="en-US" sz="1400" b="1" dirty="0">
                          <a:solidFill>
                            <a:srgbClr val="1F3864"/>
                          </a:solidFill>
                          <a:latin typeface="Calibri" pitchFamily="34" charset="0"/>
                          <a:ea typeface="Calibri" pitchFamily="34" charset="-122"/>
                          <a:cs typeface="Calibri" pitchFamily="34" charset="-120"/>
                        </a:rPr>
                        <a:t>Author / Year</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00" b="1" dirty="0">
                          <a:solidFill>
                            <a:srgbClr val="1F3864"/>
                          </a:solidFill>
                          <a:latin typeface="Calibri" pitchFamily="34" charset="0"/>
                          <a:ea typeface="Calibri" pitchFamily="34" charset="-122"/>
                          <a:cs typeface="Calibri" pitchFamily="34" charset="-120"/>
                        </a:rPr>
                        <a:t>Methodology</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00" b="1" dirty="0">
                          <a:solidFill>
                            <a:srgbClr val="1F3864"/>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00" b="1" dirty="0">
                          <a:solidFill>
                            <a:srgbClr val="1F3864"/>
                          </a:solidFill>
                          <a:latin typeface="Calibri" pitchFamily="34" charset="0"/>
                          <a:ea typeface="Calibri" pitchFamily="34" charset="-122"/>
                          <a:cs typeface="Calibri" pitchFamily="34" charset="-120"/>
                        </a:rPr>
                        <a:t>Key Results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00" b="1" dirty="0">
                          <a:solidFill>
                            <a:srgbClr val="1F3864"/>
                          </a:solidFill>
                          <a:latin typeface="Calibri" pitchFamily="34" charset="0"/>
                          <a:ea typeface="Calibri" pitchFamily="34" charset="-122"/>
                          <a:cs typeface="Calibri" pitchFamily="34" charset="-120"/>
                        </a:rPr>
                        <a:t>Limitations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Yukth et al., 2025 (base) [1]</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Flask app; zipper interleaving of two subjects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Institutional lists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 measured results; 100 students &lt; 3 s target</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Two subjects; no roll or accessibility rule</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Adetona and Akintoye, 2023 [4]</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Web app; greedy graph colouring; SMS reminders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University test group</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Limited testing reported in abstract</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Same-course separation only; figures not read</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Kashyap et al., 2021 [6]</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Genetic multi-objective search</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Not reviewed</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Not reviewed</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Not reviewed in detail</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Jitha and Fathima, 2022 [7]</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Web portal, CSV upload, static seat table</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Student CSV lists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 [1]: reduces notice-board crowding</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 [1]: no interleaving</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Patel, 2021 [8]</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Biometric attendance + QR seat lookup</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University</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 [1]: seat lookup by QR</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 [1]: costly, needs internet</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LCG allocation, 2021 [9]</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Linear congruential generator shuffle</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Student lists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 [1]: fully random seats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 [1]: confuses invigilators</a:t>
                      </a:r>
                      <a:endParaRPr lang="en-US" sz="14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924251"/>
                <a:gridCol w="8322868"/>
              </a:tblGrid>
              <a:tr h="0">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Author / Paper</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Research Gap</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Base paper [1]</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Interleaves two subjects only; no guarantee for diagonals, roll-number gaps or accessible seats; no measured results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Adetona and Akintoye [4]</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Colouring separates same-course students; no roll-number, accessibility or randomness control reported</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Kashyap et al. [6]</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Search-based and not guaranteed to satisfy every rule; no reproducible seed or audit</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Fixed-pattern tools [7], [9]</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Predictable patterns or full randomness that breaks rules; no hybrid</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All reviewed work</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No complete application joining validated import, optimisation, live swap checks, QR slips, attendance and audit</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Seating plans are slow to prepare and error-prone, and predictable patterns allow malpractice.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Many rules apply together: capacity, papers, roll-number spacing, accessible seats and department mix.</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Candidates and staff have no reliable digital way to find or track seat allocations.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Problem: given candidates, courses, halls and a timetable, produce a fair, unpredictable seating plan in which no two neighbours write the same paper, close roll numbers are apart and accessible seats are honoured, and deliver it through a secure web application whose correctness is measured.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Automate seat allocation from uploaded student, course, hall and timetable data, with row-level validation.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Satisfy capacity, subject-combination and roll-number constraints with OR-Tools CP-SAT.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Enforce anti-cheating spacing and randomise seating from a recorded, reproducible seed.</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Generate seating charts, hall lists, invigilator sheets and QR seat slips.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Provide real-time seat lookup and tablet attendance tracking.</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Reduce the time and errors of manual preparation, and benchmark the engine against manual methods.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Verify with automated tests and a reproducible benchmark.</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1. Import - Excel/CSV for courses, halls, candidates and timetable, validated row by row before saving.</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2. Pre-check - seats, accessible seats and the largest paper are checked; impossible requests are explained.</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3. Stage A - CP-SAT shares candidates between halls and gives each paper one colour class of the seat grid.</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4. Stage B - CP-SAT lays out seats per hall: roll gap, accessible seats, department mix, seeded random choice.</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5. Validate - an independent checker scores the plan; seed and hashes are stored.</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6. Review and publish - drag-to-swap with live checks, versions, audit trail.</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7. Use - charts, QR slips, public lookup, tablet attendance, analytics.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Layered architecture: browsers, React frontend, FastAPI backend with engine and services, SQLite storage</a:t>
            </a:r>
            <a:endParaRPr lang="en-US" sz="1200" dirty="0"/>
          </a:p>
        </p:txBody>
      </p:sp>
      <p:pic>
        <p:nvPicPr>
          <p:cNvPr id="9" name="System architecture" descr="System architecture"/>
          <p:cNvPicPr>
            <a:picLocks noChangeAspect="1"/>
          </p:cNvPicPr>
          <p:nvPr/>
        </p:nvPicPr>
        <p:blipFill>
          <a:blip r:embed="rId5"/>
          <a:stretch>
            <a:fillRect/>
          </a:stretch>
        </p:blipFill>
        <p:spPr>
          <a:xfrm>
            <a:off x="3179233" y="1695450"/>
            <a:ext cx="5833533" cy="4038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End-to-end workflow: import, validate, set rules, generate, validate, review, publish, outputs, on the day, analyse</a:t>
            </a:r>
            <a:endParaRPr lang="en-US" sz="1200" dirty="0"/>
          </a:p>
        </p:txBody>
      </p:sp>
      <p:pic>
        <p:nvPicPr>
          <p:cNvPr id="9" name="High-level workflow" descr="High-level workflow"/>
          <p:cNvPicPr>
            <a:picLocks noChangeAspect="1"/>
          </p:cNvPicPr>
          <p:nvPr/>
        </p:nvPicPr>
        <p:blipFill>
          <a:blip r:embed="rId5"/>
          <a:stretch>
            <a:fillRect/>
          </a:stretch>
        </p:blipFill>
        <p:spPr>
          <a:xfrm>
            <a:off x="2322058" y="1695450"/>
            <a:ext cx="7500257" cy="4038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Rules &amp; Model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Synthetic sample (seed 2026): 49 courses, 7 departments, 908 candidates, 2,724 registrations, 14 halls (871 seats), 6 sittings; no real person or record.</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Benchmark scenarios: 150 to 2,000 candidates, 4 to 14 papers, 3 to 39 halls; rebuilt from their seeds.</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Rules (the model's parameters): 8- or 4-neighbour adjacency, roll gap 5, department mix, compact or balanced halls, 2 accessible seats by default.</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Model: a two-stage CP-SAT constraint model. Nothing is trained, so there is no train/validation/test split.</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Settings: per-hall budget 0.15 (tuned), Stage A budget 0.3, one worker per hall, engine 1.0.0, OR-Tools 9.15.6755.</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Groups: candidates are grouped by (paper, department, accessible need); courses sharing a question paper count as one paper.</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Core algorithm: pre-checks, Stage A (2 passes), seeded split, Stage B per hall, retry, validate and store</a:t>
            </a:r>
            <a:endParaRPr lang="en-US" sz="1200" dirty="0"/>
          </a:p>
        </p:txBody>
      </p:sp>
      <p:pic>
        <p:nvPicPr>
          <p:cNvPr id="9" name="Algorithm flowchart" descr="Algorithm flowchart"/>
          <p:cNvPicPr>
            <a:picLocks noChangeAspect="1"/>
          </p:cNvPicPr>
          <p:nvPr/>
        </p:nvPicPr>
        <p:blipFill>
          <a:blip r:embed="rId5"/>
          <a:stretch>
            <a:fillRect/>
          </a:stretch>
        </p:blipFill>
        <p:spPr>
          <a:xfrm>
            <a:off x="4557485" y="1695450"/>
            <a:ext cx="3077028" cy="4038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Sequence: generate a plan, publish it, and a candidate finds the seat</a:t>
            </a:r>
            <a:endParaRPr lang="en-US" sz="1200" dirty="0"/>
          </a:p>
        </p:txBody>
      </p:sp>
      <p:pic>
        <p:nvPicPr>
          <p:cNvPr id="9" name="Sequence diagram" descr="Sequence diagram"/>
          <p:cNvPicPr>
            <a:picLocks noChangeAspect="1"/>
          </p:cNvPicPr>
          <p:nvPr/>
        </p:nvPicPr>
        <p:blipFill>
          <a:blip r:embed="rId5"/>
          <a:stretch>
            <a:fillRect/>
          </a:stretch>
        </p:blipFill>
        <p:spPr>
          <a:xfrm>
            <a:off x="3960201" y="1695450"/>
            <a:ext cx="4271596" cy="40385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Database Design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Entity–relationship diagram (16 SQLite tables)</a:t>
            </a:r>
            <a:endParaRPr lang="en-US" sz="1200" dirty="0"/>
          </a:p>
        </p:txBody>
      </p:sp>
      <p:pic>
        <p:nvPicPr>
          <p:cNvPr id="9" name="ER diagram" descr="ER diagram"/>
          <p:cNvPicPr>
            <a:picLocks noChangeAspect="1"/>
          </p:cNvPicPr>
          <p:nvPr/>
        </p:nvPicPr>
        <p:blipFill>
          <a:blip r:embed="rId5"/>
          <a:stretch>
            <a:fillRect/>
          </a:stretch>
        </p:blipFill>
        <p:spPr>
          <a:xfrm>
            <a:off x="3556261" y="1695450"/>
            <a:ext cx="5079476" cy="4038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20" cy="914400"/>
        </p:xfrm>
        <a:graphic>
          <a:graphicData uri="http://schemas.openxmlformats.org/drawingml/2006/table">
            <a:tbl>
              <a:tblPr/>
              <a:tblGrid>
                <a:gridCol w="2249424"/>
                <a:gridCol w="8997696"/>
              </a:tblGrid>
              <a:tr h="0">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Module</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Implementation</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Import</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CSV/XLSX parsing, row checks incl. timetable clashes, preview, re-validation at commit, a batch applies once</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Engine</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CP-SAT Stage A (two passes) and Stage B per hall in parallel threads; seeded; at most 5 retries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Reproducibility</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SHA-256 sub-seeds; data_fingerprint, solver_hash, assignment_hash; Verify re-runs the engine</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Seat map</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dnd-kit drag or tap; swap-check marks every seat green or red with the reason</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Outputs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ReportLab PDFs (charts, sheets, QR slips), openpyxl hall lists and attendance report</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Security and tests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bcrypt, JWT 12 h, roles, rate-limited public lookup, audit trail; 58 backend tests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Engine Benchmark (600 candidates)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5173675"/>
                <a:gridCol w="3036722"/>
                <a:gridCol w="3036722"/>
              </a:tblGrid>
              <a:tr h="0">
                <a:tc>
                  <a:txBody>
                    <a:bodyPr/>
                    <a:lstStyle/>
                    <a:p>
                      <a:pPr algn="ctr" indent="0" marL="0">
                        <a:buNone/>
                      </a:pPr>
                      <a:r>
                        <a:rPr lang="en-US" sz="1900" b="1" dirty="0">
                          <a:solidFill>
                            <a:srgbClr val="1F3864"/>
                          </a:solidFill>
                          <a:latin typeface="Calibri" pitchFamily="34" charset="0"/>
                          <a:ea typeface="Calibri" pitchFamily="34" charset="-122"/>
                          <a:cs typeface="Calibri" pitchFamily="34" charset="-120"/>
                        </a:rPr>
                        <a:t>Measure (mean of 3 seeds)</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900" b="1" dirty="0">
                          <a:solidFill>
                            <a:srgbClr val="1F3864"/>
                          </a:solidFill>
                          <a:latin typeface="Calibri" pitchFamily="34" charset="0"/>
                          <a:ea typeface="Calibri" pitchFamily="34" charset="-122"/>
                          <a:cs typeface="Calibri" pitchFamily="34" charset="-120"/>
                        </a:rPr>
                        <a:t>SeatWise</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900" b="1" dirty="0">
                          <a:solidFill>
                            <a:srgbClr val="1F3864"/>
                          </a:solidFill>
                          <a:latin typeface="Calibri" pitchFamily="34" charset="0"/>
                          <a:ea typeface="Calibri" pitchFamily="34" charset="-122"/>
                          <a:cs typeface="Calibri" pitchFamily="34" charset="-120"/>
                        </a:rPr>
                        <a:t>Sequential (roll order)</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Same-paper neighbour pairs</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1,253</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Roll-gap violations</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453</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Accessible seats missed</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6</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Same-department neighbour pairs</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109</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1,648</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Solve time</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2.36 s</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under 0.001 s</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Plans meeting every hard rule</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100% (24 of 24 overall)</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900" dirty="0">
                          <a:solidFill>
                            <a:srgbClr val="000000"/>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8" name="Text 4"/>
          <p:cNvSpPr/>
          <p:nvPr/>
        </p:nvSpPr>
        <p:spPr>
          <a:xfrm>
            <a:off x="457200" y="5943600"/>
            <a:ext cx="11247120" cy="411480"/>
          </a:xfrm>
          <a:prstGeom prst="rect">
            <a:avLst/>
          </a:prstGeom>
          <a:noFill/>
          <a:ln/>
        </p:spPr>
        <p:txBody>
          <a:bodyPr wrap="square" rtlCol="0" anchor="ctr"/>
          <a:lstStyle/>
          <a:p>
            <a:pPr indent="0" marL="0">
              <a:buNone/>
            </a:pPr>
            <a:r>
              <a:rPr lang="en-US" sz="1200" i="1" dirty="0">
                <a:solidFill>
                  <a:srgbClr val="595959"/>
                </a:solidFill>
                <a:latin typeface="Calibri" pitchFamily="34" charset="0"/>
                <a:ea typeface="Calibri" pitchFamily="34" charset="-122"/>
                <a:cs typeface="Calibri" pitchFamily="34" charset="-120"/>
              </a:rPr>
              <a:t>Synthetic 600-candidate sitting (8 papers, 6 departments, 12 halls); run engine-benchmark-20260921; not an estimate of real-world performance.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Rule Violations &amp; Predictability by Method</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sp>
        <p:nvSpPr>
          <p:cNvPr id="8" name="Text 4"/>
          <p:cNvSpPr/>
          <p:nvPr/>
        </p:nvSpPr>
        <p:spPr>
          <a:xfrm>
            <a:off x="41148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Same-paper neighbour pairs by method and size (SeatWise: 0)</a:t>
            </a:r>
            <a:endParaRPr lang="en-US" sz="1200" dirty="0"/>
          </a:p>
        </p:txBody>
      </p:sp>
      <p:sp>
        <p:nvSpPr>
          <p:cNvPr id="10" name="Text 5"/>
          <p:cNvSpPr/>
          <p:nvPr/>
        </p:nvSpPr>
        <p:spPr>
          <a:xfrm>
            <a:off x="626364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Neighbour pairs repeated across seeds: SeatWise 1.0%, sequential 100%</a:t>
            </a:r>
            <a:endParaRPr lang="en-US" sz="1200" dirty="0"/>
          </a:p>
        </p:txBody>
      </p:sp>
      <p:pic>
        <p:nvPicPr>
          <p:cNvPr id="11" name="Same-paper neighbour pairs by method and size (SeatWise: 0)" descr="Same-paper neighbour pairs by method and size (SeatWise: 0)"/>
          <p:cNvPicPr>
            <a:picLocks noChangeAspect="1"/>
          </p:cNvPicPr>
          <p:nvPr/>
        </p:nvPicPr>
        <p:blipFill>
          <a:blip r:embed="rId6"/>
          <a:stretch>
            <a:fillRect/>
          </a:stretch>
        </p:blipFill>
        <p:spPr>
          <a:xfrm>
            <a:off x="409575" y="2018916"/>
            <a:ext cx="5486400" cy="2782067"/>
          </a:xfrm>
          <a:prstGeom prst="rect">
            <a:avLst/>
          </a:prstGeom>
        </p:spPr>
      </p:pic>
      <p:pic>
        <p:nvPicPr>
          <p:cNvPr id="12" name="Neighbour pairs repeated across seeds: SeatWise 1.0%, sequential 100%" descr="Neighbour pairs repeated across seeds: SeatWise 1.0%, sequential 100%"/>
          <p:cNvPicPr>
            <a:picLocks noChangeAspect="1"/>
          </p:cNvPicPr>
          <p:nvPr/>
        </p:nvPicPr>
        <p:blipFill>
          <a:blip r:embed="rId7"/>
          <a:stretch>
            <a:fillRect/>
          </a:stretch>
        </p:blipFill>
        <p:spPr>
          <a:xfrm>
            <a:off x="6257925" y="2037190"/>
            <a:ext cx="5486400" cy="27455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Parameter Analysis &amp; Scaling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sp>
        <p:nvSpPr>
          <p:cNvPr id="8" name="Text 4"/>
          <p:cNvSpPr/>
          <p:nvPr/>
        </p:nvSpPr>
        <p:spPr>
          <a:xfrm>
            <a:off x="41148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Per-hall budget: 0.15 chosen (2.63 s, 123 same-department pairs)</a:t>
            </a:r>
            <a:endParaRPr lang="en-US" sz="1200" dirty="0"/>
          </a:p>
        </p:txBody>
      </p:sp>
      <p:sp>
        <p:nvSpPr>
          <p:cNvPr id="10" name="Text 5"/>
          <p:cNvSpPr/>
          <p:nvPr/>
        </p:nvSpPr>
        <p:spPr>
          <a:xfrm>
            <a:off x="626364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Solve time grows slowly with sitting size: 4.8 s at 2,000 candidates</a:t>
            </a:r>
            <a:endParaRPr lang="en-US" sz="1200" dirty="0"/>
          </a:p>
        </p:txBody>
      </p:sp>
      <p:pic>
        <p:nvPicPr>
          <p:cNvPr id="11" name="Per-hall budget: 0.15 chosen (2.63 s, 123 same-department pairs)" descr="Per-hall budget: 0.15 chosen (2.63 s, 123 same-department pairs)"/>
          <p:cNvPicPr>
            <a:picLocks noChangeAspect="1"/>
          </p:cNvPicPr>
          <p:nvPr/>
        </p:nvPicPr>
        <p:blipFill>
          <a:blip r:embed="rId6"/>
          <a:stretch>
            <a:fillRect/>
          </a:stretch>
        </p:blipFill>
        <p:spPr>
          <a:xfrm>
            <a:off x="409575" y="1961763"/>
            <a:ext cx="5486400" cy="2896373"/>
          </a:xfrm>
          <a:prstGeom prst="rect">
            <a:avLst/>
          </a:prstGeom>
        </p:spPr>
      </p:pic>
      <p:pic>
        <p:nvPicPr>
          <p:cNvPr id="12" name="Solve time grows slowly with sitting size: 4.8 s at 2,000 candidates" descr="Solve time grows slowly with sitting size: 4.8 s at 2,000 candidates"/>
          <p:cNvPicPr>
            <a:picLocks noChangeAspect="1"/>
          </p:cNvPicPr>
          <p:nvPr/>
        </p:nvPicPr>
        <p:blipFill>
          <a:blip r:embed="rId7"/>
          <a:stretch>
            <a:fillRect/>
          </a:stretch>
        </p:blipFill>
        <p:spPr>
          <a:xfrm>
            <a:off x="6257925" y="1875815"/>
            <a:ext cx="5486400" cy="306826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474366"/>
                <a:gridCol w="8772753"/>
              </a:tblGrid>
              <a:tr h="0">
                <a:tc>
                  <a:txBody>
                    <a:bodyPr/>
                    <a:lstStyle/>
                    <a:p>
                      <a:pPr algn="ctr" indent="0" marL="0">
                        <a:buNone/>
                      </a:pPr>
                      <a:r>
                        <a:rPr lang="en-US" sz="1800" b="1" dirty="0">
                          <a:solidFill>
                            <a:srgbClr val="1F3864"/>
                          </a:solidFill>
                          <a:latin typeface="Calibri" pitchFamily="34" charset="0"/>
                          <a:ea typeface="Calibri" pitchFamily="34" charset="-122"/>
                          <a:cs typeface="Calibri" pitchFamily="34" charset="-120"/>
                        </a:rPr>
                        <a:t>Measurement</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800" b="1" dirty="0">
                          <a:solidFill>
                            <a:srgbClr val="1F3864"/>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Solve time</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2.4 s (600 candidates), 4.8 s (2,000); slowest benchmark run 6.1 s (4-neighbour mode)</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API latency (local)</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median 2-11 ms for data endpoints; seat map 7 ms; seating-chart PDF 96 ms; Excel lists 314 ms; QR slips PDF 3.2 s</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Verify a plan</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reproduced exactly (hashes equal) in about 2.2 s</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Automated tests</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58 passed, 0 failed (engine 14, import 9, plans 6, exports 7, attendance 5, public 5, analytics 4, auth 8)</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Demo scenario</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800" dirty="0">
                          <a:solidFill>
                            <a:srgbClr val="000000"/>
                          </a:solidFill>
                          <a:latin typeface="Calibri" pitchFamily="34" charset="0"/>
                          <a:ea typeface="Calibri" pitchFamily="34" charset="-122"/>
                          <a:cs typeface="Calibri" pitchFamily="34" charset="-120"/>
                        </a:rPr>
                        <a:t>end to end in 11.4 s: import, three plans (1.8-2.2 s, 0 same-paper pairs), exports, lookup, attendance</a:t>
                      </a:r>
                      <a:endParaRPr lang="en-US" sz="18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datasets)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8" cy="914400"/>
        </p:xfrm>
        <a:graphic>
          <a:graphicData uri="http://schemas.openxmlformats.org/drawingml/2006/table">
            <a:tbl>
              <a:tblPr/>
              <a:tblGrid>
                <a:gridCol w="1462125"/>
                <a:gridCol w="1687068"/>
                <a:gridCol w="1799539"/>
                <a:gridCol w="2474366"/>
                <a:gridCol w="2136952"/>
                <a:gridCol w="1687068"/>
              </a:tblGrid>
              <a:tr h="0">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System</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Rules enforced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Reported / measured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Extras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Base paper [1]</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Institutional lists; none reported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Zipper interleave of two subjects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Subject alternation, optional branch rule, blocked seats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 results; 100 students in &lt; 3 s target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PDF chart, grid map, public search</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Round-robin baseline (ours)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Synthetic, 600 candidates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Papers interleaved cyclically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None guaranteed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281 same-paper pairs, 198 roll-gap violations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SeatWise</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Synthetic, 150-2,000 candidates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CP-SAT, seeded, validated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 same-paper neighbours (8 sides), roll gap, accessible seats, capacity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0 violations in 24 of 24 plans; 2.4 s at 600</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Swap map, QR slips, attendance, analytics, audit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8" name="Text 4"/>
          <p:cNvSpPr/>
          <p:nvPr/>
        </p:nvSpPr>
        <p:spPr>
          <a:xfrm>
            <a:off x="457200" y="5943600"/>
            <a:ext cx="11247120" cy="411480"/>
          </a:xfrm>
          <a:prstGeom prst="rect">
            <a:avLst/>
          </a:prstGeom>
          <a:noFill/>
          <a:ln/>
        </p:spPr>
        <p:txBody>
          <a:bodyPr wrap="square" rtlCol="0" anchor="ctr"/>
          <a:lstStyle/>
          <a:p>
            <a:pPr indent="0" marL="0">
              <a:buNone/>
            </a:pPr>
            <a:r>
              <a:rPr lang="en-US" sz="1200" i="1" dirty="0">
                <a:solidFill>
                  <a:srgbClr val="595959"/>
                </a:solidFill>
                <a:latin typeface="Calibri" pitchFamily="34" charset="0"/>
                <a:ea typeface="Calibri" pitchFamily="34" charset="-122"/>
                <a:cs typeface="Calibri" pitchFamily="34" charset="-120"/>
              </a:rPr>
              <a:t>Different data: the base paper reports no measured results, so no numeric head-to-head is possible. Round-robin is our closest proxy for its interleaving idea, not a re-implementation of the base paper.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Plan and Seat Map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sp>
        <p:nvSpPr>
          <p:cNvPr id="8" name="Text 4"/>
          <p:cNvSpPr/>
          <p:nvPr/>
        </p:nvSpPr>
        <p:spPr>
          <a:xfrm>
            <a:off x="41148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Plan page: scorecard, versions, halls, Verify</a:t>
            </a:r>
            <a:endParaRPr lang="en-US" sz="1200" dirty="0"/>
          </a:p>
        </p:txBody>
      </p:sp>
      <p:sp>
        <p:nvSpPr>
          <p:cNvPr id="10" name="Text 5"/>
          <p:cNvSpPr/>
          <p:nvPr/>
        </p:nvSpPr>
        <p:spPr>
          <a:xfrm>
            <a:off x="626364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Seat map: a picked-up candidate and the seats that keep every rule</a:t>
            </a:r>
            <a:endParaRPr lang="en-US" sz="1200" dirty="0"/>
          </a:p>
        </p:txBody>
      </p:sp>
      <p:pic>
        <p:nvPicPr>
          <p:cNvPr id="11" name="Plan page: scorecard, versions, halls, Verify" descr="Plan page: scorecard, versions, halls, Verify"/>
          <p:cNvPicPr>
            <a:picLocks noChangeAspect="1"/>
          </p:cNvPicPr>
          <p:nvPr/>
        </p:nvPicPr>
        <p:blipFill>
          <a:blip r:embed="rId6"/>
          <a:stretch>
            <a:fillRect/>
          </a:stretch>
        </p:blipFill>
        <p:spPr>
          <a:xfrm>
            <a:off x="470534" y="1733550"/>
            <a:ext cx="5364480" cy="3352800"/>
          </a:xfrm>
          <a:prstGeom prst="rect">
            <a:avLst/>
          </a:prstGeom>
        </p:spPr>
      </p:pic>
      <p:pic>
        <p:nvPicPr>
          <p:cNvPr id="12" name="Seat map: a picked-up candidate and the seats that keep every rule" descr="Seat map: a picked-up candidate and the seats that keep every rule"/>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Seat Lookup and Attendance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sp>
        <p:nvSpPr>
          <p:cNvPr id="8" name="Text 4"/>
          <p:cNvSpPr/>
          <p:nvPr/>
        </p:nvSpPr>
        <p:spPr>
          <a:xfrm>
            <a:off x="41148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Public seat lookup with hall map and QR slip</a:t>
            </a:r>
            <a:endParaRPr lang="en-US" sz="1200" dirty="0"/>
          </a:p>
        </p:txBody>
      </p:sp>
      <p:sp>
        <p:nvSpPr>
          <p:cNvPr id="10" name="Text 5"/>
          <p:cNvSpPr/>
          <p:nvPr/>
        </p:nvSpPr>
        <p:spPr>
          <a:xfrm>
            <a:off x="626364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Tablet attendance: present, absent, to mark; submit and lock</a:t>
            </a:r>
            <a:endParaRPr lang="en-US" sz="1200" dirty="0"/>
          </a:p>
        </p:txBody>
      </p:sp>
      <p:pic>
        <p:nvPicPr>
          <p:cNvPr id="11" name="Public seat lookup with hall map and QR slip" descr="Public seat lookup with hall map and QR slip"/>
          <p:cNvPicPr>
            <a:picLocks noChangeAspect="1"/>
          </p:cNvPicPr>
          <p:nvPr/>
        </p:nvPicPr>
        <p:blipFill>
          <a:blip r:embed="rId6"/>
          <a:stretch>
            <a:fillRect/>
          </a:stretch>
        </p:blipFill>
        <p:spPr>
          <a:xfrm>
            <a:off x="470534" y="1733550"/>
            <a:ext cx="5364480" cy="3352800"/>
          </a:xfrm>
          <a:prstGeom prst="rect">
            <a:avLst/>
          </a:prstGeom>
        </p:spPr>
      </p:pic>
      <p:pic>
        <p:nvPicPr>
          <p:cNvPr id="12" name="Tablet attendance: present, absent, to mark; submit and lock" descr="Tablet attendance: present, absent, to mark; submit and lock"/>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Dashboard and Analytics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sp>
        <p:nvSpPr>
          <p:cNvPr id="8" name="Text 4"/>
          <p:cNvSpPr/>
          <p:nvPr/>
        </p:nvSpPr>
        <p:spPr>
          <a:xfrm>
            <a:off x="41148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Dashboard after three published plans and attendance</a:t>
            </a:r>
            <a:endParaRPr lang="en-US" sz="1200" dirty="0"/>
          </a:p>
        </p:txBody>
      </p:sp>
      <p:sp>
        <p:nvSpPr>
          <p:cNvPr id="10" name="Text 5"/>
          <p:cNvSpPr/>
          <p:nvPr/>
        </p:nvSpPr>
        <p:spPr>
          <a:xfrm>
            <a:off x="6263640" y="5276850"/>
            <a:ext cx="5486400" cy="292608"/>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Analytics: engine performance from the benchmark</a:t>
            </a:r>
            <a:endParaRPr lang="en-US" sz="1200" dirty="0"/>
          </a:p>
        </p:txBody>
      </p:sp>
      <p:pic>
        <p:nvPicPr>
          <p:cNvPr id="11" name="Dashboard after three published plans and attendance" descr="Dashboard after three published plans and attendance"/>
          <p:cNvPicPr>
            <a:picLocks noChangeAspect="1"/>
          </p:cNvPicPr>
          <p:nvPr/>
        </p:nvPicPr>
        <p:blipFill>
          <a:blip r:embed="rId6"/>
          <a:stretch>
            <a:fillRect/>
          </a:stretch>
        </p:blipFill>
        <p:spPr>
          <a:xfrm>
            <a:off x="470534" y="1733550"/>
            <a:ext cx="5364480" cy="3352800"/>
          </a:xfrm>
          <a:prstGeom prst="rect">
            <a:avLst/>
          </a:prstGeom>
        </p:spPr>
      </p:pic>
      <p:pic>
        <p:nvPicPr>
          <p:cNvPr id="12" name="Analytics: engine performance from the benchmark" descr="Analytics: engine performance from the benchmark"/>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Built SeatWise: constraint-optimised, reproducible exam seating with a complete web application.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24 of 24 benchmark plans met every hard rule: 0 same-paper neighbours against 1,253 for roll-order seating (600 candidates).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2.4 s for 600 and 4.8 s for 2,000 candidates; roll-to-seat correlation 0.065; 1% of neighbour pairs repeat across seeds.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58 backend tests pass; the demo scenario runs import, planning, exports, lookup and attendance end to end.</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Limits: synthetic data only; no user-acceptance test; front-row bias 4.7 points; 4-neighbour mode slower (6.0 s).</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Pilot on a real, anonymised sitting and gather feedback from invigilators and the examination cell.</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E-mail or SMS seat notifications and an installable mobile app (also the base paper's future work).</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Reduce front-row bias (for example by rotating colour classes) and speed up 4-neighbour mode.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Invigilator rostering and objectives such as seat visibility and distance.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Multi-institution deployment with a server database; face-recognition attendance only after a privacy review.</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 P. Yukth, I. S. Mahmood, K. H. Shashank, S. G. Thejus and M. S. Darshini, "Exam Seating Arrangement System," International Journal of Research Publication and Reviews (IJRPR), vol. 6, no. 12, pp. 2093-2105, Dec. 2025.</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[2] "Automated examination seating arrangement and hall allocation system," International Journal of AI, Electrical, Civil and Mechanical Engineering, 2026.</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[3] "An intelligent machine learning-based system for automated examination hall seating arrangement in universities," in Proc. 2026 Int. Conf. AI-Driven Solutions for Sustainable Smart Cities: Challenges and Opportunities (ADSSSC), 2026.</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[4] S. O. Adetona and F. A. Akintoye, "Design and implementation of an examination seating arrangement application to curb examination malpractice," ABUAD Journal of Engineering Research and Development (AJERD), vol. 6, no. 2, pp. 143-156, Dec. 2023.</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[5] "Automated seating arrangement for conducting examination," in Proc. 2025 Int. Conf. Multi-Agent Systems for Collaborative Intelligence (ICMSCI), 2025.</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[6] Kashyap et al., "Exam seating allocation to prevent malpractice using genetic multi-optimization algorithm," Springer, 2021, doi: 10.1007/978-981-16-0419-5_11.</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[7] K. Jitha and A. Fathima, "Web application based exam hall seating management system," in Proc. IEEE Int. Conf. Applied Artificial Intelligence and Computing (ICAAIC), 2022 (as described in [1]).</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[8] M. Patel, "Smart seating system for universities," in Proc. IEEE Int. Conf. Computing, Communication and Automation, 2021 (as described in [1]).</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[9] "Automated students examination seat allocation using linear congruential generator," International Journal of Computer Trends and Technology (IJCTT), 2021 (as described in [1]).</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[10] "AI powered automated exam hall allocation and management system," International Journal of Science and Research (IJSART), 2025 (as described in [1]).</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[11] D. J. A. Welsh and M. B. Powell, "An upper bound for the chromatic number of a graph and its application to timetabling problems," The Computer Journal, vol. 10, no. 1, pp. 85-86, 1967.</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[12] R. Qu, E. K. Burke, B. McCollum, L. T. G. Merlot and S. Y. Lee, "A survey of search methodologies and automated system development for examination timetabling," Journal of Scheduling, vol. 12, no. 1, pp. 55-89, 2009.</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[13] F. Rossi, P. van Beek and T. Walsh, Eds., Handbook of Constraint Programming. Amsterdam, The Netherlands: Elsevier, 2006.</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[14] L. Perron and V. Furnon, "OR-Tools," Google. [Online]. Available: https://developers.google.com/optimization</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[15] M. Jones, J. Bradley and N. Sakimura, "JSON Web Token (JWT)," RFC 7519, Internet Engineering Task Force, May 2015.</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[16] N. Provos and D. Mazieres, "A future-adaptable password scheme," in Proc. USENIX Annual Technical Conference, 1999.</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[17] S. Ramirez, "FastAPI documentation." [Online]. Available: https://fastapi.tiangolo.com</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[18] M. Bayer, "SQLAlchemy," in The Architecture of Open Source Applications, vol. 2, A. Brown and G. Wilson, Eds., 2012.</a:t>
            </a:r>
            <a:endParaRPr lang="en-US" sz="1000" dirty="0"/>
          </a:p>
          <a:p>
            <a:pPr marL="342900" indent="-342900">
              <a:spcAft>
                <a:spcPts val="200"/>
              </a:spcAft>
              <a:buSzPct val="100000"/>
              <a:buChar char="•"/>
            </a:pPr>
            <a:r>
              <a:rPr lang="en-US" sz="1000" dirty="0">
                <a:solidFill>
                  <a:srgbClr val="222222"/>
                </a:solidFill>
                <a:latin typeface="Calibri" pitchFamily="34" charset="0"/>
                <a:ea typeface="Calibri" pitchFamily="34" charset="-122"/>
                <a:cs typeface="Calibri" pitchFamily="34" charset="-120"/>
              </a:rPr>
              <a:t>[19] Meta Platforms, "React documentation." [Online]. Available: https://react.dev</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(Data Science)  |  Batch A13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SeatWise: Final Review</dc:title>
  <dc:subject>AI-Enabled Digital Examination Seating Management System</dc:subject>
  <dc:creator>Batch A13</dc:creator>
  <cp:lastModifiedBy>Batch A13</cp:lastModifiedBy>
  <cp:revision>1</cp:revision>
  <dcterms:created xsi:type="dcterms:W3CDTF">2026-10-07T05:03:03Z</dcterms:created>
  <dcterms:modified xsi:type="dcterms:W3CDTF">2026-10-07T05:03:03Z</dcterms:modified>
  <cp:keywords>exam seating, CP-SAT, optimisation</cp:keywords>
  <cp:category/>
  <dc:description/>
  <cp:contentStatus/>
</cp:coreProperties>
</file>