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02" r:id="rId2"/>
    <p:sldId id="372" r:id="rId3"/>
    <p:sldId id="339" r:id="rId4"/>
    <p:sldId id="340" r:id="rId5"/>
    <p:sldId id="373" r:id="rId6"/>
    <p:sldId id="374" r:id="rId7"/>
    <p:sldId id="375" r:id="rId8"/>
    <p:sldId id="395" r:id="rId9"/>
    <p:sldId id="396" r:id="rId10"/>
    <p:sldId id="397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D5FC79"/>
    <a:srgbClr val="0432FF"/>
    <a:srgbClr val="73FE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 autoAdjust="0"/>
    <p:restoredTop sz="94669"/>
  </p:normalViewPr>
  <p:slideViewPr>
    <p:cSldViewPr snapToGrid="0" snapToObjects="1">
      <p:cViewPr>
        <p:scale>
          <a:sx n="100" d="100"/>
          <a:sy n="100" d="100"/>
        </p:scale>
        <p:origin x="163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C3DA0E-D1FD-BC4E-848A-CADAF0C17C7F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FDB9C3-3AFD-454D-9BAE-9D714207E3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3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F4823-8660-1246-90A6-7E730B648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FC470B-2D09-CB42-B555-F681F4C46E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AB32D-0B39-BE4C-9B46-2E2ED1D7E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485BE-F059-CB4E-B8DE-A88091C5A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1F8F7D-3DFE-D546-90E5-BCA4C73F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64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4CE7-812F-614F-984D-E4393BFDB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330C5-43E2-FD4B-BC5C-86590669B6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F5676-83E3-C64F-8973-97022DD3B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87D19-E55D-AB4D-AF75-CC1E01D05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B3309-CC51-E845-AB52-3C1B2CA00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077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5625C-04E8-9E4E-85F9-69D014E95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19A94-D2E3-1248-8990-C3C83CD72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9771B-6439-B24E-8CDB-C2C56C838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8177-53D9-A448-9A35-2009BEA3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98A85-1343-E247-B0AB-43CCC09A0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69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68C3B-4A97-6E47-A174-63DE91C8D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FB7C7-AE13-C348-A398-901CE2167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FEE88-F113-474D-805E-3490EF31D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53784-A76D-DF43-A8C7-894600CD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5B21D-297E-CB4F-8DD7-AE42098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1CA34A-2507-8941-AC3C-18539C0D8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5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0C35-1BC5-7D4B-A7EB-F21FF359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DD651-0936-5C4A-9824-768CE1399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17A61-0337-1846-98A4-81374415E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864D-1FA6-E84C-BF33-C9FBD606D6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AC4A1-4437-F046-8863-1A658D2E3E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2041-7404-6E41-97DF-35E706B83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805910-A1AA-DE41-AB82-090F6917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595B0F-B6B7-B143-B018-788A1411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36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4808D-98C8-F64E-B203-4B9D1299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E7D4C5-93E1-974D-83B2-8947CDDE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8242C-13FA-444B-9328-71460DDC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E2D9F-D621-CE42-91A7-B225A779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8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6D12C-396B-794F-ABAB-92909A6DA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98D68-4FBE-334D-819A-9EC8CB1E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7416FB-FB33-964C-BD29-16A48AF1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0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887D-ECD1-6944-BCBF-4F8F6CF8A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B4EBF-E686-4A4E-919A-9EB2A56E7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14E58C-0FDD-2B4C-A594-D7A27F11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6B601-3A92-B841-980F-80541562D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CB7C1F-7481-364C-928C-A40E69645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3DFD0-C6E3-2B48-A695-CD16D782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64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8CB15-409E-4744-95AA-C4B2DC14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2005F-BAF3-4E4A-9F3B-2F85C42848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E6DCF-5650-C044-A969-E07B8C5AC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2BEB4-E3F3-A64D-8A42-7AAF977BD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9CC08-BD3E-734B-BBAB-4DDCE9F4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BAA79-7C90-8F43-BD26-3664E8896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150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616C7-323B-DB4A-B8D8-837BC3947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8D35E-AF32-FD46-8009-ED93A7994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38011-16F8-BC46-B1D6-293204D5E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2084F-7AEA-6B4B-8D85-F5A16111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59106-2163-084C-B6E7-35CFA81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58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F4E4AF-3AE4-1D46-96D3-E760A96D58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36010-4D51-E243-A075-B5691BED5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504B6-2DB6-524F-AFA6-839887E36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6F2CE-6CE0-B543-9CE5-55D8FA06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F84C3-E4E4-2444-963E-E63DFB45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192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C3910-BBA8-9F48-9C8B-301C01D0C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86F6E-4899-014B-8EEC-22D2ACB4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D897B-3F2D-474B-9500-6D406D075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6B02-AC85-8242-A222-E5A677D8C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Computation Efficient Privacy and Data Integrity Method for Mobile Health Monitoring System in Cloud and Network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47826-2888-7845-BEA2-678AD723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D3A235-9A1B-814A-A45F-231E093449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9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B45A142-4255-493C-8284-5D566C121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21177"/>
            <a:ext cx="4332307" cy="6179552"/>
          </a:xfrm>
          <a:prstGeom prst="rect">
            <a:avLst/>
          </a:prstGeom>
          <a:solidFill>
            <a:srgbClr val="404040">
              <a:alpha val="89804"/>
            </a:srgbClr>
          </a:solidFill>
          <a:ln w="127000" cap="sq" cmpd="thinThick">
            <a:solidFill>
              <a:srgbClr val="595959">
                <a:alpha val="8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EA12D-DC9E-2341-974F-1D1E6CF5B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884" y="593557"/>
            <a:ext cx="4332307" cy="2131780"/>
          </a:xfrm>
        </p:spPr>
        <p:txBody>
          <a:bodyPr>
            <a:noAutofit/>
          </a:bodyPr>
          <a:lstStyle/>
          <a:p>
            <a:pPr algn="ctr"/>
            <a:r>
              <a:rPr lang="en-US" sz="2750" b="1" dirty="0">
                <a:solidFill>
                  <a:schemeClr val="accent2"/>
                </a:solidFill>
                <a:latin typeface="Copperplate Gothic Bold" pitchFamily="34" charset="0"/>
              </a:rPr>
              <a:t>AI-ENABLED DIGITAL EXAMINATION SEATING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F1DD4-39F1-264E-9726-92ADE6F91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6884" y="2725337"/>
            <a:ext cx="4235116" cy="2615038"/>
          </a:xfrm>
        </p:spPr>
        <p:txBody>
          <a:bodyPr>
            <a:normAutofit/>
          </a:bodyPr>
          <a:lstStyle/>
          <a:p>
            <a:pPr algn="l">
              <a:tabLst>
                <a:tab pos="2372459" algn="l"/>
              </a:tabLst>
            </a:pP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NAME</a:t>
            </a: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	REG.NO</a:t>
            </a:r>
          </a:p>
          <a:p>
            <a:pPr algn="l">
              <a:tabLst>
                <a:tab pos="2372459" algn="l"/>
              </a:tabLst>
            </a:pP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1 A.SANJAY</a:t>
            </a: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	23K91A6702</a:t>
            </a:r>
          </a:p>
          <a:p>
            <a:pPr algn="l">
              <a:tabLst>
                <a:tab pos="2372459" algn="l"/>
              </a:tabLst>
            </a:pP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2 CH.NAVEEN</a:t>
            </a: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	23K91A6743</a:t>
            </a:r>
          </a:p>
          <a:p>
            <a:pPr algn="l">
              <a:tabLst>
                <a:tab pos="2372459" algn="l"/>
              </a:tabLst>
            </a:pP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3 D.KOTESH</a:t>
            </a: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	24K95A6705</a:t>
            </a:r>
          </a:p>
          <a:p>
            <a:pPr algn="l">
              <a:tabLst>
                <a:tab pos="2372459" algn="l"/>
              </a:tabLst>
            </a:pP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4 STUDENT NAME</a:t>
            </a:r>
            <a:r>
              <a:rPr lang="en-US" sz="1750" b="1" dirty="0">
                <a:solidFill>
                  <a:srgbClr val="92D050"/>
                </a:solidFill>
                <a:latin typeface="Copperplate Gothic Bold" pitchFamily="34" charset="0"/>
              </a:rPr>
              <a:t>	A.AKSHITH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2E3B9D-7E6C-6541-B796-E6017CE55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91022" y="6356350"/>
            <a:ext cx="1362777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B6D3A235-9A1B-814A-A45F-231E0934496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450" y="1865724"/>
            <a:ext cx="7063991" cy="294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4286" y="323021"/>
            <a:ext cx="6259513" cy="1013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4873450" y="5375868"/>
            <a:ext cx="7063991" cy="980482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CSE (DATA SCIENCE)</a:t>
            </a:r>
          </a:p>
          <a:p>
            <a:pPr algn="ctr"/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40000"/>
                    <a:lumOff val="60000"/>
                  </a:srgbClr>
                </a:solidFill>
                <a:effectLst/>
                <a:uLnTx/>
                <a:uFillTx/>
                <a:latin typeface="Copperplate Gothic Bold" pitchFamily="34" charset="0"/>
                <a:ea typeface="+mn-ea"/>
                <a:cs typeface="+mn-cs"/>
              </a:rPr>
              <a:t>BATCH : A13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885" y="5175849"/>
            <a:ext cx="4119368" cy="1180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Name:</a:t>
            </a:r>
          </a:p>
          <a:p>
            <a:pPr algn="ctr">
              <a:buNone/>
            </a:pPr>
            <a:r>
              <a:rPr lang="en-US" sz="2400" dirty="0">
                <a:solidFill>
                  <a:srgbClr val="FFFF00"/>
                </a:solidFill>
                <a:latin typeface="Copperplate Gothic Bold" pitchFamily="34" charset="0"/>
              </a:rPr>
              <a:t>GUIDE NAME</a:t>
            </a:r>
          </a:p>
        </p:txBody>
      </p:sp>
    </p:spTree>
    <p:extLst>
      <p:ext uri="{BB962C8B-B14F-4D97-AF65-F5344CB8AC3E}">
        <p14:creationId xmlns:p14="http://schemas.microsoft.com/office/powerpoint/2010/main" val="3123017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29940" y="782509"/>
            <a:ext cx="4678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u="sng" dirty="0">
                <a:solidFill>
                  <a:schemeClr val="accent2">
                    <a:lumMod val="75000"/>
                  </a:schemeClr>
                </a:solidFill>
                <a:latin typeface="Copperplate Gothic Bold" pitchFamily="34" charset="0"/>
                <a:cs typeface="Times New Roman" pitchFamily="18" charset="0"/>
              </a:rPr>
              <a:t>CONTEXT</a:t>
            </a:r>
            <a:endParaRPr lang="en-US" sz="20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295605"/>
            <a:ext cx="10088301" cy="3334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 of Existing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Architecture 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</a:p>
          <a:p>
            <a:pPr marL="457200" indent="-457200" algn="just">
              <a:lnSpc>
                <a:spcPct val="100000"/>
              </a:lnSpc>
              <a:buClr>
                <a:srgbClr val="002060"/>
              </a:buClr>
              <a:buSzPct val="100000"/>
              <a:buFont typeface="Wingdings" pitchFamily="2" charset="2"/>
              <a:buChar char="q"/>
            </a:pPr>
            <a:r>
              <a:rPr lang="en-US" sz="1600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2589746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3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723900" y="1739900"/>
            <a:ext cx="10744200" cy="46101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Seating arrangement is a critical administrative task before every examination.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Many institutions still prepare seating manually or with spreadsheets.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Allocation must satisfy room capacity, subject combinations, department distribution and roll-number order.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Predictable seating makes malpractice easier.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AI and optimisation can generate fair, randomised and constraint-satisfying plans quickly.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This project builds an AI-enabled digital examination seating management system.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76062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062913" y="924007"/>
            <a:ext cx="35966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INTRODUCTION</a:t>
            </a:r>
            <a:endParaRPr lang="en-US" sz="2800" b="1" dirty="0">
              <a:solidFill>
                <a:srgbClr val="002060"/>
              </a:solidFill>
              <a:latin typeface="Copperplate Gothic Bold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4135" y="925496"/>
            <a:ext cx="4678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ABSTRACT</a:t>
            </a:r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5725-5D37-6694-9DD3-FFF1D88D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0515600" cy="48387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Exam seating is prepared manually or with spreadsheets before every examination cycle, which is slow and error-prone.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Predictable seating patterns fail to prevent malpractice and struggle with room capacity, subject clashes and roll-number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project automates seat allocation with AI and optimisation to produce fair, randomised, constraint-satisfying plans in seconds.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Anti-cheating rules ensure that students of the same course or with adjacent roll numbers are not seated together.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 central dashboard supports data upload, hall configuration, chart export, attendance tracking, seat lookup and reports.</a:t>
            </a:r>
          </a:p>
        </p:txBody>
      </p:sp>
    </p:spTree>
    <p:extLst>
      <p:ext uri="{BB962C8B-B14F-4D97-AF65-F5344CB8AC3E}">
        <p14:creationId xmlns:p14="http://schemas.microsoft.com/office/powerpoint/2010/main" val="72712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395254" y="847281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Existing system 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Seating plans prepared manually by the examination cell.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Spreadsheet templates that sort students by roll number.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Basic seating software that assigns seats sequentially by hall capacity.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Printed seating charts displayed on notice boards.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2923047" y="913876"/>
            <a:ext cx="634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Limitations of Existing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38300"/>
            <a:ext cx="10515600" cy="47117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Manual allocation is time-consuming and error-prone.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Sequential patterns are predictable and allow malpractice.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Constraints such as subject clashes and spacing are hard to satisfy manually.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Any change requires redoing the whole plan.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Students cannot look up their seats digitally.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3235219" y="949834"/>
            <a:ext cx="46786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buClr>
                <a:srgbClr val="002060"/>
              </a:buClr>
              <a:buSzPct val="100000"/>
            </a:pPr>
            <a:r>
              <a:rPr lang="en-US" sz="2800" dirty="0">
                <a:solidFill>
                  <a:srgbClr val="002060"/>
                </a:solidFill>
                <a:latin typeface="Copperplate Gothic Bold" pitchFamily="34" charset="0"/>
                <a:cs typeface="Times New Roman" panose="02020603050405020304" pitchFamily="18" charset="0"/>
              </a:rPr>
              <a:t>Proposed System</a:t>
            </a:r>
          </a:p>
          <a:p>
            <a:pPr algn="ctr"/>
            <a:endParaRPr lang="en-US" sz="2800" u="sng" dirty="0">
              <a:solidFill>
                <a:schemeClr val="accent2">
                  <a:lumMod val="75000"/>
                </a:schemeClr>
              </a:solidFill>
              <a:latin typeface="Copperplate Gothic Bold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>
          <a:xfrm>
            <a:off x="838200" y="1663700"/>
            <a:ext cx="10515600" cy="46863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Administrators upload student data and configure examination halls on a central dashboard.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 optimisation algorithm allocates seats while respecting capacity, subject combinations and roll-number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Anti-cheating spacing keeps students of the same course or adjacent roll numbers apart.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Randomisation makes seating unpredictable while keeping it fair.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Seating charts are exported, printed or displayed, with attendance tracking, seat lookup and automated reports.</a:t>
            </a: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497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8" y="146913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Rounded Rectangle 13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</p:spTree>
    <p:extLst>
      <p:ext uri="{BB962C8B-B14F-4D97-AF65-F5344CB8AC3E}">
        <p14:creationId xmlns:p14="http://schemas.microsoft.com/office/powerpoint/2010/main" val="387972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250-F23D-CB98-736F-801EC578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0225"/>
            <a:ext cx="10030408" cy="125598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        PROPOSED SYSTEM ARCHITECTURE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14A22-E0A7-00C3-9C2B-822F5234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8</a:t>
            </a:fld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56856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7C9EFB-6062-8B08-3313-9FC38DF9C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209"/>
            <a:ext cx="10515600" cy="4972330"/>
          </a:xfrm>
        </p:spPr>
        <p:txBody>
          <a:bodyPr>
            <a:normAutofit fontScale="400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828800" lvl="4" indent="0">
              <a:buNone/>
            </a:pPr>
            <a:r>
              <a:rPr lang="en-US" dirty="0"/>
              <a:t>			</a:t>
            </a: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</a:t>
            </a: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</a:t>
            </a: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1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</a:p>
          <a:p>
            <a:pPr marL="1828800" lvl="4" indent="0">
              <a:buNone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</a:t>
            </a: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endParaRPr 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28800" lvl="4" indent="0">
              <a:buNone/>
            </a:pPr>
            <a:r>
              <a:rPr lang="en-US" sz="3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Fig:- 1.1. 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685152-4C3C-5AE0-BFD4-883D244A4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21" y="1046480"/>
            <a:ext cx="11261959" cy="50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64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8F3C-FA97-224C-115A-7D99ADF6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AD4CE-1259-24BE-CD87-3C350AFE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969" y="848026"/>
            <a:ext cx="6514323" cy="685185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METHODOLOGY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9FC8B-F44E-C85B-F64D-5435D6671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9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7DEFB9-2A98-AC9B-0CA7-E3DCDAE945E6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D81C6011-F9A6-D6BC-01D4-214393E65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4C175E-B962-7CB7-66A9-A93FA6F38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4775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Data Input: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Upload student lists, course details, hall capacities and exam schedules.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Constraint Definition: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Encode capacity, subject-combination, department and roll-number spacing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Seat Allocation: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Use constraint optimisation to assign seats that satisfy all rules.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Randomisation: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Shuffle valid allocations so that seating is unpredictable.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Validation: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Check the plan for clashes, overflow and adjacency violations.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Output Generation: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Produce hall-wise seating charts for export, printing or display.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Student Services: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Provide real-time seat lookup and attendance tracking.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b="1" dirty="0">
                <a:latin typeface="Times New Roman" pitchFamily="18" charset="0"/>
                <a:cs typeface="Times New Roman" pitchFamily="18" charset="0"/>
              </a:rPr>
              <a:t>Reporting:</a:t>
            </a: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 Generate automated hall-wise and exam-wise reports.</a:t>
            </a:r>
          </a:p>
        </p:txBody>
      </p:sp>
    </p:spTree>
    <p:extLst>
      <p:ext uri="{BB962C8B-B14F-4D97-AF65-F5344CB8AC3E}">
        <p14:creationId xmlns:p14="http://schemas.microsoft.com/office/powerpoint/2010/main" val="40961280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9627-DFDC-9AEE-003B-61513A22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B145-D35B-AB0C-FDE0-A0EC335D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anose="020E0705020206020404" pitchFamily="34" charset="0"/>
              </a:rPr>
              <a:t>SYSTEM REQUIREMENTS</a:t>
            </a:r>
            <a:endParaRPr lang="en-US" sz="2400" b="1" dirty="0">
              <a:solidFill>
                <a:srgbClr val="002060"/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4FBDBE8-7B97-838A-CFA7-18B663A043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Processor: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Intel Core i3/i5 or equivalent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RAM: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8 GB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Storage: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10 GB free space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Printer: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For seating charts (optional)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4D17D66-4287-E913-B85D-61A33D96CD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Software Requirements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Language: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Python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Optimisation: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Google OR-Tools / PuLP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Backend: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Django / Flask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Frontend: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React / HTML-CSS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Database: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MySQL / PostgreSQL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Reports:</a:t>
            </a:r>
            <a:r>
              <a:rPr lang="en-US" sz="1600" dirty="0">
                <a:latin typeface="Times New Roman" pitchFamily="18" charset="0"/>
                <a:cs typeface="Times New Roman" pitchFamily="18" charset="0"/>
              </a:rPr>
              <a:t> ReportLab / openpyxl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BAB74-AE3A-5148-7D93-CC36F4AE3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10</a:t>
            </a:fld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AA14475-771A-07F3-4912-EB982FA600F1}"/>
              </a:ext>
            </a:extLst>
          </p:cNvPr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8E849A94-9FCC-003E-8933-DBE2FBE59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48812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8B864-6824-1FA9-3E4D-6DF61636B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D3A235-9A1B-814A-A45F-231E09344964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66637-A84A-D516-C6F7-CE6F05DBD244}"/>
              </a:ext>
            </a:extLst>
          </p:cNvPr>
          <p:cNvSpPr txBox="1"/>
          <p:nvPr/>
        </p:nvSpPr>
        <p:spPr>
          <a:xfrm>
            <a:off x="4424888" y="1022134"/>
            <a:ext cx="22236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opperplate Gothic Bold" pitchFamily="34" charset="0"/>
                <a:cs typeface="Times New Roman" pitchFamily="18" charset="0"/>
              </a:rPr>
              <a:t>Conclusion</a:t>
            </a:r>
            <a:endParaRPr lang="en-US" sz="2400" dirty="0">
              <a:latin typeface="Copperplate Gothic Bold" panose="020E07050202060204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A5FD82-C4CC-A587-459B-A39D99EC3BFD}"/>
              </a:ext>
            </a:extLst>
          </p:cNvPr>
          <p:cNvSpPr txBox="1"/>
          <p:nvPr/>
        </p:nvSpPr>
        <p:spPr>
          <a:xfrm>
            <a:off x="-3215148" y="52504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89F60-F70C-A913-F235-B290A7C984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838200" y="1701800"/>
            <a:ext cx="10515600" cy="4648200"/>
          </a:xfrm>
        </p:spPr>
        <p:txBody>
          <a:bodyPr wrap="square">
            <a:normAutofit/>
          </a:bodyPr>
          <a:lstStyle/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system produces fair, constraint-satisfying seating plans in seconds.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Anti-cheating spacing and randomisation strengthen examination integrity.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Administrative workload and human error are significantly reduced.</a:t>
            </a:r>
          </a:p>
          <a:p>
            <a:pPr>
              <a:spcAft>
                <a:spcPts val="1000"/>
              </a:spcAft>
              <a:buFont typeface="Wingdings" pitchFamily="2" charset="2"/>
              <a:buChar char="Ø"/>
            </a:pPr>
            <a:r>
              <a:rPr lang="en-US" sz="1800" dirty="0">
                <a:latin typeface="Times New Roman" pitchFamily="18" charset="0"/>
                <a:cs typeface="Times New Roman" pitchFamily="18" charset="0"/>
              </a:rPr>
              <a:t>The solution scales to institutions of different sizes.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907" y="6468539"/>
            <a:ext cx="10498238" cy="25293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pperplate Gothic Bold" pitchFamily="34" charset="0"/>
              </a:rPr>
              <a:t>CSE (DATA SCIENCE)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79" y="115747"/>
            <a:ext cx="6259513" cy="5787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8376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938</Words>
  <Application>Microsoft Office PowerPoint</Application>
  <PresentationFormat>Widescreen</PresentationFormat>
  <Paragraphs>147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Copperplate Gothic Bold</vt:lpstr>
      <vt:lpstr>Times New Roman</vt:lpstr>
      <vt:lpstr>Wingdings</vt:lpstr>
      <vt:lpstr>Office Theme</vt:lpstr>
      <vt:lpstr>           IOT DRIVEN MOBILE NETWORK DETECTION AND COMPLAINT AUTOMATION SYSTEM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PROPOSED SYSTEM ARCHITECTURE</vt:lpstr>
      <vt:lpstr>METHODOLOGY</vt:lpstr>
      <vt:lpstr>SYSTEM REQUIREMENTS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proposed work</dc:title>
  <dc:creator>mani iz</dc:creator>
  <cp:lastModifiedBy>Rishi Kumar</cp:lastModifiedBy>
  <cp:revision>90</cp:revision>
  <dcterms:created xsi:type="dcterms:W3CDTF">2022-09-13T08:56:36Z</dcterms:created>
  <dcterms:modified xsi:type="dcterms:W3CDTF">2026-08-21T10:21:40Z</dcterms:modified>
</cp:coreProperties>
</file>