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ff0aec94-eb0f-294a-de05-1614c3997827}">
          <p14:sldIdLst>
            <p14:sldId id="256"/>
            <p14:sldId id="257"/>
            <p14:sldId id="258"/>
          </p14:sldIdLst>
        </p14:section>
        <p14:section name="Research" id="{c5b655bf-1c78-45d9-2d43-c8947840fc05}">
          <p14:sldIdLst>
            <p14:sldId id="259"/>
            <p14:sldId id="260"/>
            <p14:sldId id="261"/>
          </p14:sldIdLst>
        </p14:section>
        <p14:section name="Problem" id="{c83c02f1-f6cc-56f3-d67e-57d82ce85a28}">
          <p14:sldIdLst>
            <p14:sldId id="262"/>
            <p14:sldId id="263"/>
            <p14:sldId id="264"/>
            <p14:sldId id="265"/>
            <p14:sldId id="266"/>
          </p14:sldIdLst>
        </p14:section>
        <p14:section name="Proposed solution" id="{0d7ed7fb-f0c3-288f-402c-2a68d644f815}">
          <p14:sldIdLst>
            <p14:sldId id="267"/>
            <p14:sldId id="268"/>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r>
              <a:rPr sz="1300" b="1"/>
              <a:t>Same-paper neighbour pairs by seating method and sitting size (candidates)</a:t>
            </a:r>
          </a:p>
        </c:rich>
      </c:tx>
      <c:layout/>
      <c:overlay val="0"/>
    </c:title>
    <c:autoTitleDeleted val="0"/>
    <c:plotArea>
      <c:layout/>
      <c:barChart>
        <c:barDir val="col"/>
        <c:grouping val="clustered"/>
        <c:varyColors val="0"/>
        <c:ser>
          <c:idx val="0"/>
          <c:order val="0"/>
          <c:tx>
            <c:strRef>
              <c:f>Sheet1!$B$1</c:f>
              <c:strCache>
                <c:ptCount val="1"/>
                <c:pt idx="0">
                  <c:v>Sequential</c:v>
                </c:pt>
              </c:strCache>
            </c:strRef>
          </c:tx>
          <c:spPr>
            <a:solidFill>
              <a:srgbClr val="E4572E"/>
            </a:solidFill>
            <a:effectLst/>
          </c:spPr>
          <c:invertIfNegative val="0"/>
          <c:dLbls>
            <c:numFmt formatCode="#,##0" sourceLinked="0"/>
            <c:txPr>
              <a:bodyPr/>
              <a:lstStyle/>
              <a:p>
                <a:pPr>
                  <a:defRPr b="0" i="0" strike="noStrike" sz="700" u="none">
                    <a:solidFill>
                      <a:srgbClr val="475569"/>
                    </a:solidFill>
                    <a:latin typeface="+mn-lt"/>
                  </a:defRPr>
                </a:pPr>
              </a:p>
            </c:txPr>
            <c:showLegendKey val="0"/>
            <c:showVal val="1"/>
            <c:showCatName val="0"/>
            <c:showSerName val="0"/>
            <c:showPercent val="0"/>
            <c:showBubbleSize val="0"/>
            <c:showLeaderLines val="0"/>
          </c:dLbls>
          <c:cat>
            <c:strRef>
              <c:f>Sheet1!$A$2:$A$6</c:f>
              <c:strCache>
                <c:ptCount val="5"/>
                <c:pt idx="0">
                  <c:v>150</c:v>
                </c:pt>
                <c:pt idx="1">
                  <c:v>300</c:v>
                </c:pt>
                <c:pt idx="2">
                  <c:v>600</c:v>
                </c:pt>
                <c:pt idx="3">
                  <c:v>1,000</c:v>
                </c:pt>
                <c:pt idx="4">
                  <c:v>2,000</c:v>
                </c:pt>
              </c:strCache>
            </c:strRef>
          </c:cat>
          <c:val>
            <c:numRef>
              <c:f>Sheet1!$B$2:$B$6</c:f>
              <c:numCache>
                <c:formatCode>#,##0</c:formatCode>
                <c:ptCount val="5"/>
                <c:pt idx="0">
                  <c:v>307</c:v>
                </c:pt>
                <c:pt idx="1">
                  <c:v>648</c:v>
                </c:pt>
                <c:pt idx="2">
                  <c:v>1253</c:v>
                </c:pt>
                <c:pt idx="3">
                  <c:v>1954</c:v>
                </c:pt>
                <c:pt idx="4">
                  <c:v>3299</c:v>
                </c:pt>
              </c:numCache>
            </c:numRef>
          </c:val>
        </c:ser>
        <c:ser>
          <c:idx val="1"/>
          <c:order val="1"/>
          <c:tx>
            <c:strRef>
              <c:f>Sheet1!$C$1</c:f>
              <c:strCache>
                <c:ptCount val="1"/>
                <c:pt idx="0">
                  <c:v>Round-robin</c:v>
                </c:pt>
              </c:strCache>
            </c:strRef>
          </c:tx>
          <c:spPr>
            <a:solidFill>
              <a:srgbClr val="F2A541"/>
            </a:solidFill>
            <a:effectLst/>
          </c:spPr>
          <c:invertIfNegative val="0"/>
          <c:dLbls>
            <c:numFmt formatCode="#,##0" sourceLinked="0"/>
            <c:txPr>
              <a:bodyPr/>
              <a:lstStyle/>
              <a:p>
                <a:pPr>
                  <a:defRPr b="0" i="0" strike="noStrike" sz="700" u="none">
                    <a:solidFill>
                      <a:srgbClr val="475569"/>
                    </a:solidFill>
                    <a:latin typeface="+mn-lt"/>
                  </a:defRPr>
                </a:pPr>
              </a:p>
            </c:txPr>
            <c:showLegendKey val="0"/>
            <c:showVal val="1"/>
            <c:showCatName val="0"/>
            <c:showSerName val="0"/>
            <c:showPercent val="0"/>
            <c:showBubbleSize val="0"/>
            <c:showLeaderLines val="0"/>
          </c:dLbls>
          <c:cat>
            <c:strRef>
              <c:f>Sheet1!$A$2:$A$6</c:f>
              <c:strCache>
                <c:ptCount val="5"/>
                <c:pt idx="0">
                  <c:v>150</c:v>
                </c:pt>
                <c:pt idx="1">
                  <c:v>300</c:v>
                </c:pt>
                <c:pt idx="2">
                  <c:v>600</c:v>
                </c:pt>
                <c:pt idx="3">
                  <c:v>1,000</c:v>
                </c:pt>
                <c:pt idx="4">
                  <c:v>2,000</c:v>
                </c:pt>
              </c:strCache>
            </c:strRef>
          </c:cat>
          <c:val>
            <c:numRef>
              <c:f>Sheet1!$C$2:$C$6</c:f>
              <c:numCache>
                <c:formatCode>#,##0</c:formatCode>
                <c:ptCount val="5"/>
                <c:pt idx="0">
                  <c:v>41</c:v>
                </c:pt>
                <c:pt idx="1">
                  <c:v>63</c:v>
                </c:pt>
                <c:pt idx="2">
                  <c:v>281</c:v>
                </c:pt>
                <c:pt idx="3">
                  <c:v>607</c:v>
                </c:pt>
                <c:pt idx="4">
                  <c:v>511</c:v>
                </c:pt>
              </c:numCache>
            </c:numRef>
          </c:val>
        </c:ser>
        <c:ser>
          <c:idx val="2"/>
          <c:order val="2"/>
          <c:tx>
            <c:strRef>
              <c:f>Sheet1!$D$1</c:f>
              <c:strCache>
                <c:ptCount val="1"/>
                <c:pt idx="0">
                  <c:v>Random shuffle</c:v>
                </c:pt>
              </c:strCache>
            </c:strRef>
          </c:tx>
          <c:spPr>
            <a:solidFill>
              <a:srgbClr val="7A8BA8"/>
            </a:solidFill>
            <a:effectLst/>
          </c:spPr>
          <c:invertIfNegative val="0"/>
          <c:dLbls>
            <c:numFmt formatCode="#,##0" sourceLinked="0"/>
            <c:txPr>
              <a:bodyPr/>
              <a:lstStyle/>
              <a:p>
                <a:pPr>
                  <a:defRPr b="0" i="0" strike="noStrike" sz="700" u="none">
                    <a:solidFill>
                      <a:srgbClr val="475569"/>
                    </a:solidFill>
                    <a:latin typeface="+mn-lt"/>
                  </a:defRPr>
                </a:pPr>
              </a:p>
            </c:txPr>
            <c:showLegendKey val="0"/>
            <c:showVal val="1"/>
            <c:showCatName val="0"/>
            <c:showSerName val="0"/>
            <c:showPercent val="0"/>
            <c:showBubbleSize val="0"/>
            <c:showLeaderLines val="0"/>
          </c:dLbls>
          <c:cat>
            <c:strRef>
              <c:f>Sheet1!$A$2:$A$6</c:f>
              <c:strCache>
                <c:ptCount val="5"/>
                <c:pt idx="0">
                  <c:v>150</c:v>
                </c:pt>
                <c:pt idx="1">
                  <c:v>300</c:v>
                </c:pt>
                <c:pt idx="2">
                  <c:v>600</c:v>
                </c:pt>
                <c:pt idx="3">
                  <c:v>1,000</c:v>
                </c:pt>
                <c:pt idx="4">
                  <c:v>2,000</c:v>
                </c:pt>
              </c:strCache>
            </c:strRef>
          </c:cat>
          <c:val>
            <c:numRef>
              <c:f>Sheet1!$D$2:$D$6</c:f>
              <c:numCache>
                <c:formatCode>#,##0</c:formatCode>
                <c:ptCount val="5"/>
                <c:pt idx="0">
                  <c:v>116</c:v>
                </c:pt>
                <c:pt idx="1">
                  <c:v>171</c:v>
                </c:pt>
                <c:pt idx="2">
                  <c:v>265</c:v>
                </c:pt>
                <c:pt idx="3">
                  <c:v>376</c:v>
                </c:pt>
                <c:pt idx="4">
                  <c:v>490</c:v>
                </c:pt>
              </c:numCache>
            </c:numRef>
          </c:val>
        </c:ser>
        <c:ser>
          <c:idx val="3"/>
          <c:order val="3"/>
          <c:tx>
            <c:strRef>
              <c:f>Sheet1!$E$1</c:f>
              <c:strCache>
                <c:ptCount val="1"/>
                <c:pt idx="0">
                  <c:v>SeatWise</c:v>
                </c:pt>
              </c:strCache>
            </c:strRef>
          </c:tx>
          <c:spPr>
            <a:solidFill>
              <a:srgbClr val="2F9E6D"/>
            </a:solidFill>
            <a:effectLst/>
          </c:spPr>
          <c:invertIfNegative val="0"/>
          <c:dLbls>
            <c:numFmt formatCode="#,##0" sourceLinked="0"/>
            <c:txPr>
              <a:bodyPr/>
              <a:lstStyle/>
              <a:p>
                <a:pPr>
                  <a:defRPr b="0" i="0" strike="noStrike" sz="700" u="none">
                    <a:solidFill>
                      <a:srgbClr val="475569"/>
                    </a:solidFill>
                    <a:latin typeface="+mn-lt"/>
                  </a:defRPr>
                </a:pPr>
              </a:p>
            </c:txPr>
            <c:showLegendKey val="0"/>
            <c:showVal val="1"/>
            <c:showCatName val="0"/>
            <c:showSerName val="0"/>
            <c:showPercent val="0"/>
            <c:showBubbleSize val="0"/>
            <c:showLeaderLines val="0"/>
          </c:dLbls>
          <c:cat>
            <c:strRef>
              <c:f>Sheet1!$A$2:$A$6</c:f>
              <c:strCache>
                <c:ptCount val="5"/>
                <c:pt idx="0">
                  <c:v>150</c:v>
                </c:pt>
                <c:pt idx="1">
                  <c:v>300</c:v>
                </c:pt>
                <c:pt idx="2">
                  <c:v>600</c:v>
                </c:pt>
                <c:pt idx="3">
                  <c:v>1,000</c:v>
                </c:pt>
                <c:pt idx="4">
                  <c:v>2,000</c:v>
                </c:pt>
              </c:strCache>
            </c:strRef>
          </c:cat>
          <c:val>
            <c:numRef>
              <c:f>Sheet1!$E$2:$E$6</c:f>
              <c:numCache>
                <c:formatCode>#,##0</c:formatCode>
                <c:ptCount val="5"/>
                <c:pt idx="0">
                  <c:v>0</c:v>
                </c:pt>
                <c:pt idx="1">
                  <c:v>0</c:v>
                </c:pt>
                <c:pt idx="2">
                  <c:v>0</c:v>
                </c:pt>
                <c:pt idx="3">
                  <c:v>0</c:v>
                </c:pt>
                <c:pt idx="4">
                  <c:v>0</c:v>
                </c:pt>
              </c:numCache>
            </c:numRef>
          </c:val>
        </c:ser>
        <c:dLbls>
          <c:numFmt formatCode="#,##0" sourceLinked="0"/>
          <c:txPr>
            <a:bodyPr/>
            <a:lstStyle/>
            <a:p>
              <a:pPr>
                <a:defRPr b="0" i="0" strike="noStrike" sz="700" u="none">
                  <a:solidFill>
                    <a:srgbClr val="475569"/>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475569"/>
                </a:solidFill>
                <a:latin typeface="+mn-lt"/>
              </a:defRPr>
            </a:pPr>
            <a:endParaRPr lang="en-US"/>
          </a:p>
        </c:txPr>
        <c:crossAx val="2094734552"/>
        <c:crosses val="autoZero"/>
        <c:auto val="1"/>
        <c:lblAlgn val="ctr"/>
        <c:noMultiLvlLbl val="1"/>
      </c:catAx>
      <c:valAx>
        <c:axId val="2094734552"/>
        <c:scaling>
          <c:orientation val="minMax"/>
          <c:min val="0.0"/>
        </c:scaling>
        <c:delete val="0"/>
        <c:axPos val="l"/>
        <c:majorGridlines>
          <c:spPr>
            <a:ln w="9525" cap="flat">
              <a:solidFill>
                <a:srgbClr val="E2E8F0"/>
              </a:solidFill>
              <a:prstDash val="solid"/>
              <a:round/>
            </a:ln>
          </c:spPr>
        </c:majorGridlines>
        <c:title>
          <c:tx>
            <c:rich>
              <a:bodyPr/>
              <a:lstStyle/>
              <a:p>
                <a:r>
                  <a:rPr sz="1000" b="0"/>
                  <a:t>neighbour pairs</a:t>
                </a:r>
              </a:p>
            </c:rich>
          </c:tx>
          <c:layout/>
          <c:overlay val="0"/>
        </c:title>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4748B"/>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pPr>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Review 1 covers problem identification and research for SeatWise, an AI-enabled digital examination seating management system.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Nine parts: the abstract, the base paper and related work, the gap we found, our problem statement and objectives, the approach, expected outcomes and references.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abstract in one slide: the manual process is slow and predictable; we model it as constraint optimisation and wrap it in a usable web application.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base paper is a practical Flask system. It reports no numbers, so we compare behaviour and rules rather than metrics. Its own future work names drag-and-drop swapping, which SeatWise already provides.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Seven works. Only Adetona and Akintoye could be verified online beyond the base paper; the last row is listed by title because the abstracts could not be retrieved. We do not claim their methods or results.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our own measurement, from the engine benchmark run on 21 September 2026: same-paper neighbour pairs by method and sitting size. SeatWise has zero in every run.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How seating is done today: by hand or with software that applies a fixed pattern.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Four limitations: slow, predictable, few rules, and no digital access for candidates and staff.</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gap is the combination: guaranteed anti-cheating spacing, controlled randomness, measured evidence and a complete application.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problem statement: inputs are the four data files; outputs are plans, charts and slips; extra properties are reproducibility and auditability.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Six objectives from the project definition plus a seventh on verification.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approach: validated import, a two-stage CP-SAT engine, an independent validator and a complete web application around it.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Browser to React to FastAPI. The engine and the independent validator sit in the service layer; everything is stored in SQLite.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Expected outcomes are stated as targets at this stage and are measured in the later reviews.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References [1] to [13]; the full list is in the report.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Thank you. Questions are welcome.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B2A4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11094415" cy="137160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2880360"/>
            <a:ext cx="11094415" cy="822960"/>
          </a:xfrm>
          <a:prstGeom prst="rect">
            <a:avLst/>
          </a:prstGeom>
          <a:noFill/>
          <a:ln/>
        </p:spPr>
        <p:txBody>
          <a:bodyPr wrap="square" rtlCol="0"/>
          <a:lstStyle>
            <a:lvl1pPr algn="l" indent="0" marL="0">
              <a:buNone/>
              <a:defRPr lang="en-US" sz="2000" dirty="0">
                <a:solidFill>
                  <a:srgbClr val="CADCFC"/>
                </a:solidFill>
                <a:latin typeface="Calibri" pitchFamily="34" charset="0"/>
                <a:ea typeface="Calibri" pitchFamily="34" charset="-122"/>
                <a:cs typeface="Calibri" pitchFamily="34" charset="-120"/>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SeatWise  ·  Review 1</a:t>
            </a:r>
            <a:endParaRPr lang="en-US" sz="1000" dirty="0"/>
          </a:p>
        </p:txBody>
      </p:sp>
      <p:sp>
        <p:nvSpPr>
          <p:cNvPr id="3" name="Text 1"/>
          <p:cNvSpPr/>
          <p:nvPr>
            <p:ph idx="101" type="title" hasCustomPrompt="1"/>
          </p:nvPr>
        </p:nvSpPr>
        <p:spPr>
          <a:xfrm>
            <a:off x="548640" y="320040"/>
            <a:ext cx="11094415" cy="777240"/>
          </a:xfrm>
          <a:prstGeom prst="rect">
            <a:avLst/>
          </a:prstGeom>
          <a:noFill/>
          <a:ln/>
        </p:spPr>
        <p:txBody>
          <a:bodyPr wrap="square" rtlCol="0"/>
          <a:lstStyle>
            <a:lvl1pPr algn="l" indent="0" marL="0">
              <a:buNone/>
              <a:defRPr lang="en-US" sz="3200" b="1" dirty="0">
                <a:solidFill>
                  <a:srgbClr val="1B2A4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p:bg>
      <p:bgPr>
        <a:solidFill>
          <a:srgbClr val="1B2A4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0"/>
            <a:ext cx="11094415" cy="118872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3474720"/>
            <a:ext cx="11094415" cy="1463040"/>
          </a:xfrm>
          <a:prstGeom prst="rect">
            <a:avLst/>
          </a:prstGeom>
          <a:noFill/>
          <a:ln/>
        </p:spPr>
        <p:txBody>
          <a:bodyPr wrap="square" rtlCol="0"/>
          <a:lstStyle>
            <a:lvl1pPr algn="l" indent="0" marL="0">
              <a:buNone/>
              <a:defRPr lang="en-US" sz="2000" dirty="0">
                <a:solidFill>
                  <a:srgbClr val="CADCFC"/>
                </a:solidFill>
                <a:latin typeface="Calibri" pitchFamily="34" charset="0"/>
                <a:ea typeface="Calibri" pitchFamily="34" charset="-122"/>
                <a:cs typeface="Calibri" pitchFamily="34" charset="-120"/>
              </a:defRPr>
            </a:lvl1pPr>
          </a:lstStyle>
          <a:p>
            <a:pPr algn="l" indent="0" marL="0">
              <a:buNone/>
            </a:pPr>
            <a:endParaRPr lang="en-US" sz="2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image" Target="../media/image-6-1.png"/><Relationship Id="rId3" Type="http://schemas.openxmlformats.org/officeDocument/2006/relationships/image" Target="../media/image-6-2.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3.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3.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11094415" cy="1371600"/>
          </a:xfrm>
          <a:prstGeom prst="rect">
            <a:avLst/>
          </a:prstGeom>
          <a:noFill/>
          <a:ln/>
        </p:spPr>
        <p:txBody>
          <a:bodyPr wrap="square" lIns="0" tIns="0" rIns="0" bIns="0" rtlCol="0" anchor="b"/>
          <a:lstStyle/>
          <a:p>
            <a:pPr algn="l" indent="0" marL="0">
              <a:buNone/>
            </a:pPr>
            <a:r>
              <a:rPr lang="en-US" sz="4000" b="1" dirty="0">
                <a:solidFill>
                  <a:srgbClr val="FFFFFF"/>
                </a:solidFill>
                <a:latin typeface="Cambria" pitchFamily="34" charset="0"/>
                <a:ea typeface="Cambria" pitchFamily="34" charset="-122"/>
                <a:cs typeface="Cambria" pitchFamily="34" charset="-120"/>
              </a:rPr>
              <a:t>SeatWise</a:t>
            </a:r>
            <a:endParaRPr lang="en-US" sz="4000" dirty="0"/>
          </a:p>
        </p:txBody>
      </p:sp>
      <p:sp>
        <p:nvSpPr>
          <p:cNvPr id="3" name="Text 0"/>
          <p:cNvSpPr/>
          <p:nvPr>
            <p:ph idx="101" type="body" hasCustomPrompt="1"/>
          </p:nvPr>
        </p:nvSpPr>
        <p:spPr>
          <a:xfrm>
            <a:off x="548640" y="2880360"/>
            <a:ext cx="11094415" cy="822960"/>
          </a:xfrm>
          <a:prstGeom prst="rect">
            <a:avLst/>
          </a:prstGeom>
          <a:noFill/>
          <a:ln/>
        </p:spPr>
        <p:txBody>
          <a:bodyPr wrap="square" lIns="0" tIns="0" rIns="0" bIns="0" rtlCol="0" anchor="t"/>
          <a:lstStyle/>
          <a:p>
            <a:pPr algn="l" indent="0" marL="0">
              <a:buNone/>
            </a:pPr>
            <a:r>
              <a:rPr lang="en-US" sz="2000" dirty="0">
                <a:solidFill>
                  <a:srgbClr val="CADCFC"/>
                </a:solidFill>
                <a:latin typeface="Calibri" pitchFamily="34" charset="0"/>
                <a:ea typeface="Calibri" pitchFamily="34" charset="-122"/>
                <a:cs typeface="Calibri" pitchFamily="34" charset="-120"/>
              </a:rPr>
              <a:t>AI-Enabled Digital Examination Seating Management System</a:t>
            </a:r>
            <a:endParaRPr lang="en-US" sz="2000" dirty="0"/>
          </a:p>
        </p:txBody>
      </p:sp>
      <p:sp>
        <p:nvSpPr>
          <p:cNvPr id="4" name="review label"/>
          <p:cNvSpPr txBox="1"/>
          <p:nvPr/>
        </p:nvSpPr>
        <p:spPr>
          <a:xfrm>
            <a:off x="548640" y="640080"/>
            <a:ext cx="7315200" cy="365760"/>
          </a:xfrm>
          <a:prstGeom prst="rect">
            <a:avLst/>
          </a:prstGeom>
          <a:noFill/>
          <a:ln/>
        </p:spPr>
        <p:txBody>
          <a:bodyPr wrap="square" lIns="0" tIns="0" rIns="0" bIns="0" rtlCol="0" anchor="ctr"/>
          <a:lstStyle/>
          <a:p>
            <a:pPr indent="0" marL="0">
              <a:buNone/>
            </a:pPr>
            <a:r>
              <a:rPr lang="en-US" sz="1400" b="1" spc="200" kern="0" dirty="0">
                <a:solidFill>
                  <a:srgbClr val="EDA100"/>
                </a:solidFill>
              </a:rPr>
              <a:t>REVIEW 1  ·  PROBLEM IDENTIFICATION AND RESEARCH</a:t>
            </a:r>
            <a:endParaRPr lang="en-US" sz="1400" dirty="0"/>
          </a:p>
        </p:txBody>
      </p:sp>
      <p:sp>
        <p:nvSpPr>
          <p:cNvPr id="5" name="Text 3"/>
          <p:cNvSpPr txBox="1"/>
          <p:nvPr/>
        </p:nvSpPr>
        <p:spPr>
          <a:xfrm>
            <a:off x="548640" y="4160520"/>
            <a:ext cx="5120640" cy="320040"/>
          </a:xfrm>
          <a:prstGeom prst="rect">
            <a:avLst/>
          </a:prstGeom>
          <a:noFill/>
          <a:ln/>
        </p:spPr>
        <p:txBody>
          <a:bodyPr wrap="square" lIns="0" tIns="0" rIns="0" bIns="0" rtlCol="0" anchor="ctr"/>
          <a:lstStyle/>
          <a:p>
            <a:pPr indent="0" marL="0">
              <a:buNone/>
            </a:pPr>
            <a:r>
              <a:rPr lang="en-US" sz="1400" dirty="0">
                <a:solidFill>
                  <a:srgbClr val="CADCFC"/>
                </a:solidFill>
              </a:rPr>
              <a:t>Presented by</a:t>
            </a:r>
            <a:endParaRPr lang="en-US" sz="1400" dirty="0"/>
          </a:p>
        </p:txBody>
      </p:sp>
      <p:sp>
        <p:nvSpPr>
          <p:cNvPr id="6" name="team"/>
          <p:cNvSpPr txBox="1"/>
          <p:nvPr/>
        </p:nvSpPr>
        <p:spPr>
          <a:xfrm>
            <a:off x="548640" y="4480560"/>
            <a:ext cx="5120640" cy="1280160"/>
          </a:xfrm>
          <a:prstGeom prst="rect">
            <a:avLst/>
          </a:prstGeom>
          <a:noFill/>
          <a:ln/>
        </p:spPr>
        <p:txBody>
          <a:bodyPr wrap="square" lIns="0" tIns="0" rIns="0" bIns="0" rtlCol="0" anchor="t"/>
          <a:lstStyle/>
          <a:p>
            <a:pPr indent="0" marL="0">
              <a:buNone/>
            </a:pPr>
            <a:r>
              <a:rPr lang="en-US" sz="1500" dirty="0">
                <a:solidFill>
                  <a:srgbClr val="FFFFFF"/>
                </a:solidFill>
              </a:rPr>
              <a:t>A.SANJAY  23K91A6702</a:t>
            </a:r>
            <a:endParaRPr lang="en-US" sz="1500" dirty="0"/>
          </a:p>
          <a:p>
            <a:pPr indent="0" marL="0">
              <a:buNone/>
            </a:pPr>
            <a:r>
              <a:rPr lang="en-US" sz="1500" dirty="0">
                <a:solidFill>
                  <a:srgbClr val="FFFFFF"/>
                </a:solidFill>
              </a:rPr>
              <a:t>CH.NAVEEN  23K91A6743</a:t>
            </a:r>
            <a:endParaRPr lang="en-US" sz="1500" dirty="0"/>
          </a:p>
          <a:p>
            <a:pPr indent="0" marL="0">
              <a:buNone/>
            </a:pPr>
            <a:r>
              <a:rPr lang="en-US" sz="1500" dirty="0">
                <a:solidFill>
                  <a:srgbClr val="FFFFFF"/>
                </a:solidFill>
              </a:rPr>
              <a:t>D.KOTESH  24K95A6705</a:t>
            </a:r>
            <a:endParaRPr lang="en-US" sz="1500" dirty="0"/>
          </a:p>
          <a:p>
            <a:pPr indent="0" marL="0">
              <a:buNone/>
            </a:pPr>
            <a:r>
              <a:rPr lang="en-US" sz="1500" dirty="0">
                <a:solidFill>
                  <a:srgbClr val="FFFFFF"/>
                </a:solidFill>
              </a:rPr>
              <a:t>A.AKSHITH  [Roll number to be confirmed]</a:t>
            </a:r>
            <a:endParaRPr lang="en-US" sz="1500" dirty="0"/>
          </a:p>
        </p:txBody>
      </p:sp>
      <p:sp>
        <p:nvSpPr>
          <p:cNvPr id="7" name="Text 5"/>
          <p:cNvSpPr txBox="1"/>
          <p:nvPr/>
        </p:nvSpPr>
        <p:spPr>
          <a:xfrm>
            <a:off x="6400800" y="4160520"/>
            <a:ext cx="5212080" cy="320040"/>
          </a:xfrm>
          <a:prstGeom prst="rect">
            <a:avLst/>
          </a:prstGeom>
          <a:noFill/>
          <a:ln/>
        </p:spPr>
        <p:txBody>
          <a:bodyPr wrap="square" lIns="0" tIns="0" rIns="0" bIns="0" rtlCol="0" anchor="ctr"/>
          <a:lstStyle/>
          <a:p>
            <a:pPr indent="0" marL="0">
              <a:buNone/>
            </a:pPr>
            <a:r>
              <a:rPr lang="en-US" sz="1400" dirty="0">
                <a:solidFill>
                  <a:srgbClr val="CADCFC"/>
                </a:solidFill>
              </a:rPr>
              <a:t>Under the guidance of</a:t>
            </a:r>
            <a:endParaRPr lang="en-US" sz="1400" dirty="0"/>
          </a:p>
        </p:txBody>
      </p:sp>
      <p:sp>
        <p:nvSpPr>
          <p:cNvPr id="8" name="Text 6"/>
          <p:cNvSpPr txBox="1"/>
          <p:nvPr/>
        </p:nvSpPr>
        <p:spPr>
          <a:xfrm>
            <a:off x="6400800" y="4480560"/>
            <a:ext cx="5212080" cy="365760"/>
          </a:xfrm>
          <a:prstGeom prst="rect">
            <a:avLst/>
          </a:prstGeom>
          <a:noFill/>
          <a:ln/>
        </p:spPr>
        <p:txBody>
          <a:bodyPr wrap="square" lIns="0" tIns="0" rIns="0" bIns="0" rtlCol="0" anchor="ctr"/>
          <a:lstStyle/>
          <a:p>
            <a:pPr indent="0" marL="0">
              <a:buNone/>
            </a:pPr>
            <a:r>
              <a:rPr lang="en-US" sz="1500" dirty="0">
                <a:solidFill>
                  <a:srgbClr val="FFFFFF"/>
                </a:solidFill>
              </a:rPr>
              <a:t>[GUIDE NAME], [DESIGNATION]</a:t>
            </a:r>
            <a:endParaRPr lang="en-US" sz="1500" dirty="0"/>
          </a:p>
        </p:txBody>
      </p:sp>
      <p:sp>
        <p:nvSpPr>
          <p:cNvPr id="9" name="Text 7"/>
          <p:cNvSpPr txBox="1"/>
          <p:nvPr/>
        </p:nvSpPr>
        <p:spPr>
          <a:xfrm>
            <a:off x="6400800" y="4983480"/>
            <a:ext cx="5212080" cy="777240"/>
          </a:xfrm>
          <a:prstGeom prst="rect">
            <a:avLst/>
          </a:prstGeom>
          <a:noFill/>
          <a:ln/>
        </p:spPr>
        <p:txBody>
          <a:bodyPr wrap="square" lIns="0" tIns="0" rIns="0" bIns="0" rtlCol="0" anchor="t"/>
          <a:lstStyle/>
          <a:p>
            <a:pPr indent="0" marL="0">
              <a:buNone/>
            </a:pPr>
            <a:r>
              <a:rPr lang="en-US" sz="1300" dirty="0">
                <a:solidFill>
                  <a:srgbClr val="CADCFC"/>
                </a:solidFill>
              </a:rPr>
              <a:t>Department of Computer Science and Engineering (Data Science)</a:t>
            </a:r>
            <a:endParaRPr lang="en-US" sz="1300" dirty="0"/>
          </a:p>
          <a:p>
            <a:pPr indent="0" marL="0">
              <a:buNone/>
            </a:pPr>
            <a:r>
              <a:rPr lang="en-US" sz="1300" dirty="0">
                <a:solidFill>
                  <a:srgbClr val="CADCFC"/>
                </a:solidFill>
              </a:rPr>
              <a:t>[COLLEGE NAME]  ·  Batch A13 (CSE-DS, Section A)  ·  [ACADEMIC YEAR]</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Contents</a:t>
            </a:r>
            <a:endParaRPr lang="en-US" sz="3200" dirty="0"/>
          </a:p>
        </p:txBody>
      </p:sp>
      <p:sp>
        <p:nvSpPr>
          <p:cNvPr id="4" name="agenda 1"/>
          <p:cNvSpPr/>
          <p:nvPr/>
        </p:nvSpPr>
        <p:spPr>
          <a:xfrm>
            <a:off x="548640" y="1417320"/>
            <a:ext cx="3566160" cy="1325880"/>
          </a:xfrm>
          <a:prstGeom prst="roundRect">
            <a:avLst>
              <a:gd name="adj" fmla="val 5517"/>
            </a:avLst>
          </a:prstGeom>
          <a:solidFill>
            <a:srgbClr val="F6F8FB"/>
          </a:solidFill>
          <a:ln w="9525">
            <a:solidFill>
              <a:srgbClr val="D5DCE6"/>
            </a:solidFill>
            <a:prstDash val="solid"/>
          </a:ln>
        </p:spPr>
      </p:sp>
      <p:sp>
        <p:nvSpPr>
          <p:cNvPr id="5" name="Text 2"/>
          <p:cNvSpPr txBox="1"/>
          <p:nvPr/>
        </p:nvSpPr>
        <p:spPr>
          <a:xfrm>
            <a:off x="777240" y="1600200"/>
            <a:ext cx="914400" cy="457200"/>
          </a:xfrm>
          <a:prstGeom prst="rect">
            <a:avLst/>
          </a:prstGeom>
          <a:noFill/>
          <a:ln/>
        </p:spPr>
        <p:txBody>
          <a:bodyPr wrap="square" lIns="0" tIns="0" rIns="0" bIns="0" rtlCol="0" anchor="ctr"/>
          <a:lstStyle/>
          <a:p>
            <a:pPr indent="0" marL="0">
              <a:buNone/>
            </a:pPr>
            <a:r>
              <a:rPr lang="en-US" sz="2400" b="1" dirty="0">
                <a:solidFill>
                  <a:srgbClr val="EB6834"/>
                </a:solidFill>
                <a:latin typeface="Cambria" pitchFamily="34" charset="0"/>
                <a:ea typeface="Cambria" pitchFamily="34" charset="-122"/>
                <a:cs typeface="Cambria" pitchFamily="34" charset="-120"/>
              </a:rPr>
              <a:t>01</a:t>
            </a:r>
            <a:endParaRPr lang="en-US" sz="2400" dirty="0"/>
          </a:p>
        </p:txBody>
      </p:sp>
      <p:sp>
        <p:nvSpPr>
          <p:cNvPr id="6" name="Text 3"/>
          <p:cNvSpPr txBox="1"/>
          <p:nvPr/>
        </p:nvSpPr>
        <p:spPr>
          <a:xfrm>
            <a:off x="777240" y="2075688"/>
            <a:ext cx="3108960" cy="548640"/>
          </a:xfrm>
          <a:prstGeom prst="rect">
            <a:avLst/>
          </a:prstGeom>
          <a:noFill/>
          <a:ln/>
        </p:spPr>
        <p:txBody>
          <a:bodyPr wrap="square" lIns="0" tIns="0" rIns="0" bIns="0" rtlCol="0" anchor="t"/>
          <a:lstStyle/>
          <a:p>
            <a:pPr indent="0" marL="0">
              <a:buNone/>
            </a:pPr>
            <a:r>
              <a:rPr lang="en-US" sz="1600" b="1" dirty="0">
                <a:solidFill>
                  <a:srgbClr val="0F172A"/>
                </a:solidFill>
              </a:rPr>
              <a:t>Abstract and overview</a:t>
            </a:r>
            <a:endParaRPr lang="en-US" sz="1600" dirty="0"/>
          </a:p>
        </p:txBody>
      </p:sp>
      <p:sp>
        <p:nvSpPr>
          <p:cNvPr id="7" name="agenda 2"/>
          <p:cNvSpPr/>
          <p:nvPr/>
        </p:nvSpPr>
        <p:spPr>
          <a:xfrm>
            <a:off x="4297680" y="1417320"/>
            <a:ext cx="3566160" cy="1325880"/>
          </a:xfrm>
          <a:prstGeom prst="roundRect">
            <a:avLst>
              <a:gd name="adj" fmla="val 5517"/>
            </a:avLst>
          </a:prstGeom>
          <a:solidFill>
            <a:srgbClr val="F6F8FB"/>
          </a:solidFill>
          <a:ln w="9525">
            <a:solidFill>
              <a:srgbClr val="D5DCE6"/>
            </a:solidFill>
            <a:prstDash val="solid"/>
          </a:ln>
        </p:spPr>
      </p:sp>
      <p:sp>
        <p:nvSpPr>
          <p:cNvPr id="8" name="Text 5"/>
          <p:cNvSpPr txBox="1"/>
          <p:nvPr/>
        </p:nvSpPr>
        <p:spPr>
          <a:xfrm>
            <a:off x="4526280" y="1600200"/>
            <a:ext cx="914400" cy="457200"/>
          </a:xfrm>
          <a:prstGeom prst="rect">
            <a:avLst/>
          </a:prstGeom>
          <a:noFill/>
          <a:ln/>
        </p:spPr>
        <p:txBody>
          <a:bodyPr wrap="square" lIns="0" tIns="0" rIns="0" bIns="0" rtlCol="0" anchor="ctr"/>
          <a:lstStyle/>
          <a:p>
            <a:pPr indent="0" marL="0">
              <a:buNone/>
            </a:pPr>
            <a:r>
              <a:rPr lang="en-US" sz="2400" b="1" dirty="0">
                <a:solidFill>
                  <a:srgbClr val="EB6834"/>
                </a:solidFill>
                <a:latin typeface="Cambria" pitchFamily="34" charset="0"/>
                <a:ea typeface="Cambria" pitchFamily="34" charset="-122"/>
                <a:cs typeface="Cambria" pitchFamily="34" charset="-120"/>
              </a:rPr>
              <a:t>02</a:t>
            </a:r>
            <a:endParaRPr lang="en-US" sz="2400" dirty="0"/>
          </a:p>
        </p:txBody>
      </p:sp>
      <p:sp>
        <p:nvSpPr>
          <p:cNvPr id="9" name="Text 6"/>
          <p:cNvSpPr txBox="1"/>
          <p:nvPr/>
        </p:nvSpPr>
        <p:spPr>
          <a:xfrm>
            <a:off x="4526280" y="2075688"/>
            <a:ext cx="3108960" cy="548640"/>
          </a:xfrm>
          <a:prstGeom prst="rect">
            <a:avLst/>
          </a:prstGeom>
          <a:noFill/>
          <a:ln/>
        </p:spPr>
        <p:txBody>
          <a:bodyPr wrap="square" lIns="0" tIns="0" rIns="0" bIns="0" rtlCol="0" anchor="t"/>
          <a:lstStyle/>
          <a:p>
            <a:pPr indent="0" marL="0">
              <a:buNone/>
            </a:pPr>
            <a:r>
              <a:rPr lang="en-US" sz="1600" b="1" dirty="0">
                <a:solidFill>
                  <a:srgbClr val="0F172A"/>
                </a:solidFill>
              </a:rPr>
              <a:t>Base paper</a:t>
            </a:r>
            <a:endParaRPr lang="en-US" sz="1600" dirty="0"/>
          </a:p>
        </p:txBody>
      </p:sp>
      <p:sp>
        <p:nvSpPr>
          <p:cNvPr id="10" name="agenda 3"/>
          <p:cNvSpPr/>
          <p:nvPr/>
        </p:nvSpPr>
        <p:spPr>
          <a:xfrm>
            <a:off x="8046720" y="1417320"/>
            <a:ext cx="3566160" cy="1325880"/>
          </a:xfrm>
          <a:prstGeom prst="roundRect">
            <a:avLst>
              <a:gd name="adj" fmla="val 5517"/>
            </a:avLst>
          </a:prstGeom>
          <a:solidFill>
            <a:srgbClr val="F6F8FB"/>
          </a:solidFill>
          <a:ln w="9525">
            <a:solidFill>
              <a:srgbClr val="D5DCE6"/>
            </a:solidFill>
            <a:prstDash val="solid"/>
          </a:ln>
        </p:spPr>
      </p:sp>
      <p:sp>
        <p:nvSpPr>
          <p:cNvPr id="11" name="Text 8"/>
          <p:cNvSpPr txBox="1"/>
          <p:nvPr/>
        </p:nvSpPr>
        <p:spPr>
          <a:xfrm>
            <a:off x="8275320" y="1600200"/>
            <a:ext cx="914400" cy="457200"/>
          </a:xfrm>
          <a:prstGeom prst="rect">
            <a:avLst/>
          </a:prstGeom>
          <a:noFill/>
          <a:ln/>
        </p:spPr>
        <p:txBody>
          <a:bodyPr wrap="square" lIns="0" tIns="0" rIns="0" bIns="0" rtlCol="0" anchor="ctr"/>
          <a:lstStyle/>
          <a:p>
            <a:pPr indent="0" marL="0">
              <a:buNone/>
            </a:pPr>
            <a:r>
              <a:rPr lang="en-US" sz="2400" b="1" dirty="0">
                <a:solidFill>
                  <a:srgbClr val="EB6834"/>
                </a:solidFill>
                <a:latin typeface="Cambria" pitchFamily="34" charset="0"/>
                <a:ea typeface="Cambria" pitchFamily="34" charset="-122"/>
                <a:cs typeface="Cambria" pitchFamily="34" charset="-120"/>
              </a:rPr>
              <a:t>03</a:t>
            </a:r>
            <a:endParaRPr lang="en-US" sz="2400" dirty="0"/>
          </a:p>
        </p:txBody>
      </p:sp>
      <p:sp>
        <p:nvSpPr>
          <p:cNvPr id="12" name="Text 9"/>
          <p:cNvSpPr txBox="1"/>
          <p:nvPr/>
        </p:nvSpPr>
        <p:spPr>
          <a:xfrm>
            <a:off x="8275320" y="2075688"/>
            <a:ext cx="3108960" cy="548640"/>
          </a:xfrm>
          <a:prstGeom prst="rect">
            <a:avLst/>
          </a:prstGeom>
          <a:noFill/>
          <a:ln/>
        </p:spPr>
        <p:txBody>
          <a:bodyPr wrap="square" lIns="0" tIns="0" rIns="0" bIns="0" rtlCol="0" anchor="t"/>
          <a:lstStyle/>
          <a:p>
            <a:pPr indent="0" marL="0">
              <a:buNone/>
            </a:pPr>
            <a:r>
              <a:rPr lang="en-US" sz="1600" b="1" dirty="0">
                <a:solidFill>
                  <a:srgbClr val="0F172A"/>
                </a:solidFill>
              </a:rPr>
              <a:t>Literature survey</a:t>
            </a:r>
            <a:endParaRPr lang="en-US" sz="1600" dirty="0"/>
          </a:p>
        </p:txBody>
      </p:sp>
      <p:sp>
        <p:nvSpPr>
          <p:cNvPr id="13" name="agenda 4"/>
          <p:cNvSpPr/>
          <p:nvPr/>
        </p:nvSpPr>
        <p:spPr>
          <a:xfrm>
            <a:off x="548640" y="2971800"/>
            <a:ext cx="3566160" cy="1325880"/>
          </a:xfrm>
          <a:prstGeom prst="roundRect">
            <a:avLst>
              <a:gd name="adj" fmla="val 5517"/>
            </a:avLst>
          </a:prstGeom>
          <a:solidFill>
            <a:srgbClr val="F6F8FB"/>
          </a:solidFill>
          <a:ln w="9525">
            <a:solidFill>
              <a:srgbClr val="D5DCE6"/>
            </a:solidFill>
            <a:prstDash val="solid"/>
          </a:ln>
        </p:spPr>
      </p:sp>
      <p:sp>
        <p:nvSpPr>
          <p:cNvPr id="14" name="Text 11"/>
          <p:cNvSpPr txBox="1"/>
          <p:nvPr/>
        </p:nvSpPr>
        <p:spPr>
          <a:xfrm>
            <a:off x="777240" y="3154680"/>
            <a:ext cx="914400" cy="457200"/>
          </a:xfrm>
          <a:prstGeom prst="rect">
            <a:avLst/>
          </a:prstGeom>
          <a:noFill/>
          <a:ln/>
        </p:spPr>
        <p:txBody>
          <a:bodyPr wrap="square" lIns="0" tIns="0" rIns="0" bIns="0" rtlCol="0" anchor="ctr"/>
          <a:lstStyle/>
          <a:p>
            <a:pPr indent="0" marL="0">
              <a:buNone/>
            </a:pPr>
            <a:r>
              <a:rPr lang="en-US" sz="2400" b="1" dirty="0">
                <a:solidFill>
                  <a:srgbClr val="EB6834"/>
                </a:solidFill>
                <a:latin typeface="Cambria" pitchFamily="34" charset="0"/>
                <a:ea typeface="Cambria" pitchFamily="34" charset="-122"/>
                <a:cs typeface="Cambria" pitchFamily="34" charset="-120"/>
              </a:rPr>
              <a:t>04</a:t>
            </a:r>
            <a:endParaRPr lang="en-US" sz="2400" dirty="0"/>
          </a:p>
        </p:txBody>
      </p:sp>
      <p:sp>
        <p:nvSpPr>
          <p:cNvPr id="15" name="Text 12"/>
          <p:cNvSpPr txBox="1"/>
          <p:nvPr/>
        </p:nvSpPr>
        <p:spPr>
          <a:xfrm>
            <a:off x="777240" y="3630168"/>
            <a:ext cx="3108960" cy="548640"/>
          </a:xfrm>
          <a:prstGeom prst="rect">
            <a:avLst/>
          </a:prstGeom>
          <a:noFill/>
          <a:ln/>
        </p:spPr>
        <p:txBody>
          <a:bodyPr wrap="square" lIns="0" tIns="0" rIns="0" bIns="0" rtlCol="0" anchor="t"/>
          <a:lstStyle/>
          <a:p>
            <a:pPr indent="0" marL="0">
              <a:buNone/>
            </a:pPr>
            <a:r>
              <a:rPr lang="en-US" sz="1600" b="1" dirty="0">
                <a:solidFill>
                  <a:srgbClr val="0F172A"/>
                </a:solidFill>
              </a:rPr>
              <a:t>Existing approaches and limitations</a:t>
            </a:r>
            <a:endParaRPr lang="en-US" sz="1600" dirty="0"/>
          </a:p>
        </p:txBody>
      </p:sp>
      <p:sp>
        <p:nvSpPr>
          <p:cNvPr id="16" name="agenda 5"/>
          <p:cNvSpPr/>
          <p:nvPr/>
        </p:nvSpPr>
        <p:spPr>
          <a:xfrm>
            <a:off x="4297680" y="2971800"/>
            <a:ext cx="3566160" cy="1325880"/>
          </a:xfrm>
          <a:prstGeom prst="roundRect">
            <a:avLst>
              <a:gd name="adj" fmla="val 5517"/>
            </a:avLst>
          </a:prstGeom>
          <a:solidFill>
            <a:srgbClr val="F6F8FB"/>
          </a:solidFill>
          <a:ln w="9525">
            <a:solidFill>
              <a:srgbClr val="D5DCE6"/>
            </a:solidFill>
            <a:prstDash val="solid"/>
          </a:ln>
        </p:spPr>
      </p:sp>
      <p:sp>
        <p:nvSpPr>
          <p:cNvPr id="17" name="Text 14"/>
          <p:cNvSpPr txBox="1"/>
          <p:nvPr/>
        </p:nvSpPr>
        <p:spPr>
          <a:xfrm>
            <a:off x="4526280" y="3154680"/>
            <a:ext cx="914400" cy="457200"/>
          </a:xfrm>
          <a:prstGeom prst="rect">
            <a:avLst/>
          </a:prstGeom>
          <a:noFill/>
          <a:ln/>
        </p:spPr>
        <p:txBody>
          <a:bodyPr wrap="square" lIns="0" tIns="0" rIns="0" bIns="0" rtlCol="0" anchor="ctr"/>
          <a:lstStyle/>
          <a:p>
            <a:pPr indent="0" marL="0">
              <a:buNone/>
            </a:pPr>
            <a:r>
              <a:rPr lang="en-US" sz="2400" b="1" dirty="0">
                <a:solidFill>
                  <a:srgbClr val="EB6834"/>
                </a:solidFill>
                <a:latin typeface="Cambria" pitchFamily="34" charset="0"/>
                <a:ea typeface="Cambria" pitchFamily="34" charset="-122"/>
                <a:cs typeface="Cambria" pitchFamily="34" charset="-120"/>
              </a:rPr>
              <a:t>05</a:t>
            </a:r>
            <a:endParaRPr lang="en-US" sz="2400" dirty="0"/>
          </a:p>
        </p:txBody>
      </p:sp>
      <p:sp>
        <p:nvSpPr>
          <p:cNvPr id="18" name="Text 15"/>
          <p:cNvSpPr txBox="1"/>
          <p:nvPr/>
        </p:nvSpPr>
        <p:spPr>
          <a:xfrm>
            <a:off x="4526280" y="3630168"/>
            <a:ext cx="3108960" cy="548640"/>
          </a:xfrm>
          <a:prstGeom prst="rect">
            <a:avLst/>
          </a:prstGeom>
          <a:noFill/>
          <a:ln/>
        </p:spPr>
        <p:txBody>
          <a:bodyPr wrap="square" lIns="0" tIns="0" rIns="0" bIns="0" rtlCol="0" anchor="t"/>
          <a:lstStyle/>
          <a:p>
            <a:pPr indent="0" marL="0">
              <a:buNone/>
            </a:pPr>
            <a:r>
              <a:rPr lang="en-US" sz="1600" b="1" dirty="0">
                <a:solidFill>
                  <a:srgbClr val="0F172A"/>
                </a:solidFill>
              </a:rPr>
              <a:t>Research gap</a:t>
            </a:r>
            <a:endParaRPr lang="en-US" sz="1600" dirty="0"/>
          </a:p>
        </p:txBody>
      </p:sp>
      <p:sp>
        <p:nvSpPr>
          <p:cNvPr id="19" name="agenda 6"/>
          <p:cNvSpPr/>
          <p:nvPr/>
        </p:nvSpPr>
        <p:spPr>
          <a:xfrm>
            <a:off x="8046720" y="2971800"/>
            <a:ext cx="3566160" cy="1325880"/>
          </a:xfrm>
          <a:prstGeom prst="roundRect">
            <a:avLst>
              <a:gd name="adj" fmla="val 5517"/>
            </a:avLst>
          </a:prstGeom>
          <a:solidFill>
            <a:srgbClr val="F6F8FB"/>
          </a:solidFill>
          <a:ln w="9525">
            <a:solidFill>
              <a:srgbClr val="D5DCE6"/>
            </a:solidFill>
            <a:prstDash val="solid"/>
          </a:ln>
        </p:spPr>
      </p:sp>
      <p:sp>
        <p:nvSpPr>
          <p:cNvPr id="20" name="Text 17"/>
          <p:cNvSpPr txBox="1"/>
          <p:nvPr/>
        </p:nvSpPr>
        <p:spPr>
          <a:xfrm>
            <a:off x="8275320" y="3154680"/>
            <a:ext cx="914400" cy="457200"/>
          </a:xfrm>
          <a:prstGeom prst="rect">
            <a:avLst/>
          </a:prstGeom>
          <a:noFill/>
          <a:ln/>
        </p:spPr>
        <p:txBody>
          <a:bodyPr wrap="square" lIns="0" tIns="0" rIns="0" bIns="0" rtlCol="0" anchor="ctr"/>
          <a:lstStyle/>
          <a:p>
            <a:pPr indent="0" marL="0">
              <a:buNone/>
            </a:pPr>
            <a:r>
              <a:rPr lang="en-US" sz="2400" b="1" dirty="0">
                <a:solidFill>
                  <a:srgbClr val="EB6834"/>
                </a:solidFill>
                <a:latin typeface="Cambria" pitchFamily="34" charset="0"/>
                <a:ea typeface="Cambria" pitchFamily="34" charset="-122"/>
                <a:cs typeface="Cambria" pitchFamily="34" charset="-120"/>
              </a:rPr>
              <a:t>06</a:t>
            </a:r>
            <a:endParaRPr lang="en-US" sz="2400" dirty="0"/>
          </a:p>
        </p:txBody>
      </p:sp>
      <p:sp>
        <p:nvSpPr>
          <p:cNvPr id="21" name="Text 18"/>
          <p:cNvSpPr txBox="1"/>
          <p:nvPr/>
        </p:nvSpPr>
        <p:spPr>
          <a:xfrm>
            <a:off x="8275320" y="3630168"/>
            <a:ext cx="3108960" cy="548640"/>
          </a:xfrm>
          <a:prstGeom prst="rect">
            <a:avLst/>
          </a:prstGeom>
          <a:noFill/>
          <a:ln/>
        </p:spPr>
        <p:txBody>
          <a:bodyPr wrap="square" lIns="0" tIns="0" rIns="0" bIns="0" rtlCol="0" anchor="t"/>
          <a:lstStyle/>
          <a:p>
            <a:pPr indent="0" marL="0">
              <a:buNone/>
            </a:pPr>
            <a:r>
              <a:rPr lang="en-US" sz="1600" b="1" dirty="0">
                <a:solidFill>
                  <a:srgbClr val="0F172A"/>
                </a:solidFill>
              </a:rPr>
              <a:t>Problem statement and objectives</a:t>
            </a:r>
            <a:endParaRPr lang="en-US" sz="1600" dirty="0"/>
          </a:p>
        </p:txBody>
      </p:sp>
      <p:sp>
        <p:nvSpPr>
          <p:cNvPr id="22" name="agenda 7"/>
          <p:cNvSpPr/>
          <p:nvPr/>
        </p:nvSpPr>
        <p:spPr>
          <a:xfrm>
            <a:off x="548640" y="4526280"/>
            <a:ext cx="3566160" cy="1325880"/>
          </a:xfrm>
          <a:prstGeom prst="roundRect">
            <a:avLst>
              <a:gd name="adj" fmla="val 5517"/>
            </a:avLst>
          </a:prstGeom>
          <a:solidFill>
            <a:srgbClr val="F6F8FB"/>
          </a:solidFill>
          <a:ln w="9525">
            <a:solidFill>
              <a:srgbClr val="D5DCE6"/>
            </a:solidFill>
            <a:prstDash val="solid"/>
          </a:ln>
        </p:spPr>
      </p:sp>
      <p:sp>
        <p:nvSpPr>
          <p:cNvPr id="23" name="Text 20"/>
          <p:cNvSpPr txBox="1"/>
          <p:nvPr/>
        </p:nvSpPr>
        <p:spPr>
          <a:xfrm>
            <a:off x="777240" y="4709160"/>
            <a:ext cx="914400" cy="457200"/>
          </a:xfrm>
          <a:prstGeom prst="rect">
            <a:avLst/>
          </a:prstGeom>
          <a:noFill/>
          <a:ln/>
        </p:spPr>
        <p:txBody>
          <a:bodyPr wrap="square" lIns="0" tIns="0" rIns="0" bIns="0" rtlCol="0" anchor="ctr"/>
          <a:lstStyle/>
          <a:p>
            <a:pPr indent="0" marL="0">
              <a:buNone/>
            </a:pPr>
            <a:r>
              <a:rPr lang="en-US" sz="2400" b="1" dirty="0">
                <a:solidFill>
                  <a:srgbClr val="EB6834"/>
                </a:solidFill>
                <a:latin typeface="Cambria" pitchFamily="34" charset="0"/>
                <a:ea typeface="Cambria" pitchFamily="34" charset="-122"/>
                <a:cs typeface="Cambria" pitchFamily="34" charset="-120"/>
              </a:rPr>
              <a:t>07</a:t>
            </a:r>
            <a:endParaRPr lang="en-US" sz="2400" dirty="0"/>
          </a:p>
        </p:txBody>
      </p:sp>
      <p:sp>
        <p:nvSpPr>
          <p:cNvPr id="24" name="Text 21"/>
          <p:cNvSpPr txBox="1"/>
          <p:nvPr/>
        </p:nvSpPr>
        <p:spPr>
          <a:xfrm>
            <a:off x="777240" y="5184648"/>
            <a:ext cx="3108960" cy="548640"/>
          </a:xfrm>
          <a:prstGeom prst="rect">
            <a:avLst/>
          </a:prstGeom>
          <a:noFill/>
          <a:ln/>
        </p:spPr>
        <p:txBody>
          <a:bodyPr wrap="square" lIns="0" tIns="0" rIns="0" bIns="0" rtlCol="0" anchor="t"/>
          <a:lstStyle/>
          <a:p>
            <a:pPr indent="0" marL="0">
              <a:buNone/>
            </a:pPr>
            <a:r>
              <a:rPr lang="en-US" sz="1600" b="1" dirty="0">
                <a:solidFill>
                  <a:srgbClr val="0F172A"/>
                </a:solidFill>
              </a:rPr>
              <a:t>Proposed approach and architecture</a:t>
            </a:r>
            <a:endParaRPr lang="en-US" sz="1600" dirty="0"/>
          </a:p>
        </p:txBody>
      </p:sp>
      <p:sp>
        <p:nvSpPr>
          <p:cNvPr id="25" name="agenda 8"/>
          <p:cNvSpPr/>
          <p:nvPr/>
        </p:nvSpPr>
        <p:spPr>
          <a:xfrm>
            <a:off x="4297680" y="4526280"/>
            <a:ext cx="3566160" cy="1325880"/>
          </a:xfrm>
          <a:prstGeom prst="roundRect">
            <a:avLst>
              <a:gd name="adj" fmla="val 5517"/>
            </a:avLst>
          </a:prstGeom>
          <a:solidFill>
            <a:srgbClr val="F6F8FB"/>
          </a:solidFill>
          <a:ln w="9525">
            <a:solidFill>
              <a:srgbClr val="D5DCE6"/>
            </a:solidFill>
            <a:prstDash val="solid"/>
          </a:ln>
        </p:spPr>
      </p:sp>
      <p:sp>
        <p:nvSpPr>
          <p:cNvPr id="26" name="Text 23"/>
          <p:cNvSpPr txBox="1"/>
          <p:nvPr/>
        </p:nvSpPr>
        <p:spPr>
          <a:xfrm>
            <a:off x="4526280" y="4709160"/>
            <a:ext cx="914400" cy="457200"/>
          </a:xfrm>
          <a:prstGeom prst="rect">
            <a:avLst/>
          </a:prstGeom>
          <a:noFill/>
          <a:ln/>
        </p:spPr>
        <p:txBody>
          <a:bodyPr wrap="square" lIns="0" tIns="0" rIns="0" bIns="0" rtlCol="0" anchor="ctr"/>
          <a:lstStyle/>
          <a:p>
            <a:pPr indent="0" marL="0">
              <a:buNone/>
            </a:pPr>
            <a:r>
              <a:rPr lang="en-US" sz="2400" b="1" dirty="0">
                <a:solidFill>
                  <a:srgbClr val="EB6834"/>
                </a:solidFill>
                <a:latin typeface="Cambria" pitchFamily="34" charset="0"/>
                <a:ea typeface="Cambria" pitchFamily="34" charset="-122"/>
                <a:cs typeface="Cambria" pitchFamily="34" charset="-120"/>
              </a:rPr>
              <a:t>08</a:t>
            </a:r>
            <a:endParaRPr lang="en-US" sz="2400" dirty="0"/>
          </a:p>
        </p:txBody>
      </p:sp>
      <p:sp>
        <p:nvSpPr>
          <p:cNvPr id="27" name="Text 24"/>
          <p:cNvSpPr txBox="1"/>
          <p:nvPr/>
        </p:nvSpPr>
        <p:spPr>
          <a:xfrm>
            <a:off x="4526280" y="5184648"/>
            <a:ext cx="3108960" cy="548640"/>
          </a:xfrm>
          <a:prstGeom prst="rect">
            <a:avLst/>
          </a:prstGeom>
          <a:noFill/>
          <a:ln/>
        </p:spPr>
        <p:txBody>
          <a:bodyPr wrap="square" lIns="0" tIns="0" rIns="0" bIns="0" rtlCol="0" anchor="t"/>
          <a:lstStyle/>
          <a:p>
            <a:pPr indent="0" marL="0">
              <a:buNone/>
            </a:pPr>
            <a:r>
              <a:rPr lang="en-US" sz="1600" b="1" dirty="0">
                <a:solidFill>
                  <a:srgbClr val="0F172A"/>
                </a:solidFill>
              </a:rPr>
              <a:t>Expected outcomes</a:t>
            </a:r>
            <a:endParaRPr lang="en-US" sz="1600" dirty="0"/>
          </a:p>
        </p:txBody>
      </p:sp>
      <p:sp>
        <p:nvSpPr>
          <p:cNvPr id="28" name="agenda 9"/>
          <p:cNvSpPr/>
          <p:nvPr/>
        </p:nvSpPr>
        <p:spPr>
          <a:xfrm>
            <a:off x="8046720" y="4526280"/>
            <a:ext cx="3566160" cy="1325880"/>
          </a:xfrm>
          <a:prstGeom prst="roundRect">
            <a:avLst>
              <a:gd name="adj" fmla="val 5517"/>
            </a:avLst>
          </a:prstGeom>
          <a:solidFill>
            <a:srgbClr val="F6F8FB"/>
          </a:solidFill>
          <a:ln w="9525">
            <a:solidFill>
              <a:srgbClr val="D5DCE6"/>
            </a:solidFill>
            <a:prstDash val="solid"/>
          </a:ln>
        </p:spPr>
      </p:sp>
      <p:sp>
        <p:nvSpPr>
          <p:cNvPr id="29" name="Text 26"/>
          <p:cNvSpPr txBox="1"/>
          <p:nvPr/>
        </p:nvSpPr>
        <p:spPr>
          <a:xfrm>
            <a:off x="8275320" y="4709160"/>
            <a:ext cx="914400" cy="457200"/>
          </a:xfrm>
          <a:prstGeom prst="rect">
            <a:avLst/>
          </a:prstGeom>
          <a:noFill/>
          <a:ln/>
        </p:spPr>
        <p:txBody>
          <a:bodyPr wrap="square" lIns="0" tIns="0" rIns="0" bIns="0" rtlCol="0" anchor="ctr"/>
          <a:lstStyle/>
          <a:p>
            <a:pPr indent="0" marL="0">
              <a:buNone/>
            </a:pPr>
            <a:r>
              <a:rPr lang="en-US" sz="2400" b="1" dirty="0">
                <a:solidFill>
                  <a:srgbClr val="EB6834"/>
                </a:solidFill>
                <a:latin typeface="Cambria" pitchFamily="34" charset="0"/>
                <a:ea typeface="Cambria" pitchFamily="34" charset="-122"/>
                <a:cs typeface="Cambria" pitchFamily="34" charset="-120"/>
              </a:rPr>
              <a:t>09</a:t>
            </a:r>
            <a:endParaRPr lang="en-US" sz="2400" dirty="0"/>
          </a:p>
        </p:txBody>
      </p:sp>
      <p:sp>
        <p:nvSpPr>
          <p:cNvPr id="30" name="Text 27"/>
          <p:cNvSpPr txBox="1"/>
          <p:nvPr/>
        </p:nvSpPr>
        <p:spPr>
          <a:xfrm>
            <a:off x="8275320" y="5184648"/>
            <a:ext cx="3108960" cy="548640"/>
          </a:xfrm>
          <a:prstGeom prst="rect">
            <a:avLst/>
          </a:prstGeom>
          <a:noFill/>
          <a:ln/>
        </p:spPr>
        <p:txBody>
          <a:bodyPr wrap="square" lIns="0" tIns="0" rIns="0" bIns="0" rtlCol="0" anchor="t"/>
          <a:lstStyle/>
          <a:p>
            <a:pPr indent="0" marL="0">
              <a:buNone/>
            </a:pPr>
            <a:r>
              <a:rPr lang="en-US" sz="1600" b="1" dirty="0">
                <a:solidFill>
                  <a:srgbClr val="0F172A"/>
                </a:solidFill>
              </a:rPr>
              <a:t>References</a:t>
            </a:r>
            <a:endParaRPr lang="en-US" sz="16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Abstract: seating as a constraint problem</a:t>
            </a:r>
            <a:endParaRPr lang="en-US" sz="3200" dirty="0"/>
          </a:p>
        </p:txBody>
      </p:sp>
      <p:sp>
        <p:nvSpPr>
          <p:cNvPr id="4" name="The problem card"/>
          <p:cNvSpPr/>
          <p:nvPr/>
        </p:nvSpPr>
        <p:spPr>
          <a:xfrm>
            <a:off x="548640" y="1371600"/>
            <a:ext cx="3566160" cy="4206240"/>
          </a:xfrm>
          <a:prstGeom prst="roundRect">
            <a:avLst>
              <a:gd name="adj" fmla="val 2051"/>
            </a:avLst>
          </a:prstGeom>
          <a:solidFill>
            <a:srgbClr val="F6F8FB"/>
          </a:solidFill>
          <a:ln w="9525">
            <a:solidFill>
              <a:srgbClr val="D5DCE6"/>
            </a:solidFill>
            <a:prstDash val="solid"/>
          </a:ln>
        </p:spPr>
      </p:sp>
      <p:sp>
        <p:nvSpPr>
          <p:cNvPr id="5" name="icon circle"/>
          <p:cNvSpPr/>
          <p:nvPr/>
        </p:nvSpPr>
        <p:spPr>
          <a:xfrm>
            <a:off x="777240" y="1600200"/>
            <a:ext cx="548640" cy="548640"/>
          </a:xfrm>
          <a:prstGeom prst="ellipse">
            <a:avLst/>
          </a:prstGeom>
          <a:solidFill>
            <a:srgbClr val="EB6834"/>
          </a:solidFill>
          <a:ln w="12700">
            <a:solidFill>
              <a:srgbClr val="EB6834"/>
            </a:solidFill>
            <a:prstDash val="solid"/>
          </a:ln>
        </p:spPr>
      </p:sp>
      <p:pic>
        <p:nvPicPr>
          <p:cNvPr id="6" name="Image 0" descr="The problem">    </p:cNvPr>
          <p:cNvPicPr>
            <a:picLocks noChangeAspect="1"/>
          </p:cNvPicPr>
          <p:nvPr/>
        </p:nvPicPr>
        <p:blipFill>
          <a:blip r:embed="rId1"/>
          <a:stretch>
            <a:fillRect/>
          </a:stretch>
        </p:blipFill>
        <p:spPr>
          <a:xfrm>
            <a:off x="886968" y="1709928"/>
            <a:ext cx="329184" cy="329184"/>
          </a:xfrm>
          <a:prstGeom prst="rect">
            <a:avLst/>
          </a:prstGeom>
        </p:spPr>
      </p:pic>
      <p:sp>
        <p:nvSpPr>
          <p:cNvPr id="7" name="Text 3"/>
          <p:cNvSpPr txBox="1"/>
          <p:nvPr/>
        </p:nvSpPr>
        <p:spPr>
          <a:xfrm>
            <a:off x="1463040" y="1554480"/>
            <a:ext cx="246888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The problem</a:t>
            </a:r>
            <a:endParaRPr lang="en-US" sz="1600" dirty="0"/>
          </a:p>
        </p:txBody>
      </p:sp>
      <p:sp>
        <p:nvSpPr>
          <p:cNvPr id="8" name="Text 4"/>
          <p:cNvSpPr txBox="1"/>
          <p:nvPr/>
        </p:nvSpPr>
        <p:spPr>
          <a:xfrm>
            <a:off x="777240" y="2240280"/>
            <a:ext cx="3108960" cy="3200400"/>
          </a:xfrm>
          <a:prstGeom prst="rect">
            <a:avLst/>
          </a:prstGeom>
          <a:noFill/>
          <a:ln/>
        </p:spPr>
        <p:txBody>
          <a:bodyPr wrap="square" lIns="0" tIns="0" rIns="0" bIns="0" rtlCol="0" anchor="t"/>
          <a:lstStyle/>
          <a:p>
            <a:pPr indent="0" marL="0">
              <a:spcAft>
                <a:spcPts val="400"/>
              </a:spcAft>
              <a:buNone/>
            </a:pPr>
            <a:r>
              <a:rPr lang="en-US" sz="1600" dirty="0">
                <a:solidFill>
                  <a:srgbClr val="475569"/>
                </a:solidFill>
              </a:rPr>
              <a:t>Exam seating is still prepared by hand or in spreadsheets before every cycle. It is slow and error-prone, and predictable patterns let candidates of the same paper sit side by side, which invites malpractice. Capacity, papers, roll numbers and accessible seats are hard to satisfy together by hand.</a:t>
            </a:r>
            <a:endParaRPr lang="en-US" sz="1600" dirty="0"/>
          </a:p>
        </p:txBody>
      </p:sp>
      <p:sp>
        <p:nvSpPr>
          <p:cNvPr id="9" name="Our idea card"/>
          <p:cNvSpPr/>
          <p:nvPr/>
        </p:nvSpPr>
        <p:spPr>
          <a:xfrm>
            <a:off x="4297680" y="1371600"/>
            <a:ext cx="3566160" cy="4206240"/>
          </a:xfrm>
          <a:prstGeom prst="roundRect">
            <a:avLst>
              <a:gd name="adj" fmla="val 2051"/>
            </a:avLst>
          </a:prstGeom>
          <a:solidFill>
            <a:srgbClr val="F6F8FB"/>
          </a:solidFill>
          <a:ln w="9525">
            <a:solidFill>
              <a:srgbClr val="D5DCE6"/>
            </a:solidFill>
            <a:prstDash val="solid"/>
          </a:ln>
        </p:spPr>
      </p:sp>
      <p:sp>
        <p:nvSpPr>
          <p:cNvPr id="10" name="icon circle"/>
          <p:cNvSpPr/>
          <p:nvPr/>
        </p:nvSpPr>
        <p:spPr>
          <a:xfrm>
            <a:off x="4526280" y="1600200"/>
            <a:ext cx="548640" cy="548640"/>
          </a:xfrm>
          <a:prstGeom prst="ellipse">
            <a:avLst/>
          </a:prstGeom>
          <a:solidFill>
            <a:srgbClr val="2A78D6"/>
          </a:solidFill>
          <a:ln w="12700">
            <a:solidFill>
              <a:srgbClr val="2A78D6"/>
            </a:solidFill>
            <a:prstDash val="solid"/>
          </a:ln>
        </p:spPr>
      </p:sp>
      <p:pic>
        <p:nvPicPr>
          <p:cNvPr id="11" name="Image 1" descr="Our idea">    </p:cNvPr>
          <p:cNvPicPr>
            <a:picLocks noChangeAspect="1"/>
          </p:cNvPicPr>
          <p:nvPr/>
        </p:nvPicPr>
        <p:blipFill>
          <a:blip r:embed="rId2"/>
          <a:stretch>
            <a:fillRect/>
          </a:stretch>
        </p:blipFill>
        <p:spPr>
          <a:xfrm>
            <a:off x="4636008" y="1709928"/>
            <a:ext cx="329184" cy="329184"/>
          </a:xfrm>
          <a:prstGeom prst="rect">
            <a:avLst/>
          </a:prstGeom>
        </p:spPr>
      </p:pic>
      <p:sp>
        <p:nvSpPr>
          <p:cNvPr id="12" name="Text 7"/>
          <p:cNvSpPr txBox="1"/>
          <p:nvPr/>
        </p:nvSpPr>
        <p:spPr>
          <a:xfrm>
            <a:off x="5212080" y="1554480"/>
            <a:ext cx="246888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Our idea</a:t>
            </a:r>
            <a:endParaRPr lang="en-US" sz="1600" dirty="0"/>
          </a:p>
        </p:txBody>
      </p:sp>
      <p:sp>
        <p:nvSpPr>
          <p:cNvPr id="13" name="Text 8"/>
          <p:cNvSpPr txBox="1"/>
          <p:nvPr/>
        </p:nvSpPr>
        <p:spPr>
          <a:xfrm>
            <a:off x="4526280" y="2240280"/>
            <a:ext cx="3108960" cy="3200400"/>
          </a:xfrm>
          <a:prstGeom prst="rect">
            <a:avLst/>
          </a:prstGeom>
          <a:noFill/>
          <a:ln/>
        </p:spPr>
        <p:txBody>
          <a:bodyPr wrap="square" lIns="0" tIns="0" rIns="0" bIns="0" rtlCol="0" anchor="t"/>
          <a:lstStyle/>
          <a:p>
            <a:pPr indent="0" marL="0">
              <a:spcAft>
                <a:spcPts val="400"/>
              </a:spcAft>
              <a:buNone/>
            </a:pPr>
            <a:r>
              <a:rPr lang="en-US" sz="1600" dirty="0">
                <a:solidFill>
                  <a:srgbClr val="475569"/>
                </a:solidFill>
              </a:rPr>
              <a:t>Treat seating as a constraint-optimisation problem. SeatWise uses Google OR-Tools CP-SAT to seat every candidate so that no two neighbours, diagonals included, write the same paper and close roll numbers are kept apart. It then picks one valid plan at random from a recorded seed.</a:t>
            </a:r>
            <a:endParaRPr lang="en-US" sz="1600" dirty="0"/>
          </a:p>
        </p:txBody>
      </p:sp>
      <p:sp>
        <p:nvSpPr>
          <p:cNvPr id="14" name="The deliverable card"/>
          <p:cNvSpPr/>
          <p:nvPr/>
        </p:nvSpPr>
        <p:spPr>
          <a:xfrm>
            <a:off x="8046720" y="1371600"/>
            <a:ext cx="3566160" cy="4206240"/>
          </a:xfrm>
          <a:prstGeom prst="roundRect">
            <a:avLst>
              <a:gd name="adj" fmla="val 2051"/>
            </a:avLst>
          </a:prstGeom>
          <a:solidFill>
            <a:srgbClr val="F6F8FB"/>
          </a:solidFill>
          <a:ln w="9525">
            <a:solidFill>
              <a:srgbClr val="D5DCE6"/>
            </a:solidFill>
            <a:prstDash val="solid"/>
          </a:ln>
        </p:spPr>
      </p:sp>
      <p:sp>
        <p:nvSpPr>
          <p:cNvPr id="15" name="icon circle"/>
          <p:cNvSpPr/>
          <p:nvPr/>
        </p:nvSpPr>
        <p:spPr>
          <a:xfrm>
            <a:off x="8275320" y="1600200"/>
            <a:ext cx="548640" cy="548640"/>
          </a:xfrm>
          <a:prstGeom prst="ellipse">
            <a:avLst/>
          </a:prstGeom>
          <a:solidFill>
            <a:srgbClr val="1BAF7A"/>
          </a:solidFill>
          <a:ln w="12700">
            <a:solidFill>
              <a:srgbClr val="1BAF7A"/>
            </a:solidFill>
            <a:prstDash val="solid"/>
          </a:ln>
        </p:spPr>
      </p:sp>
      <p:pic>
        <p:nvPicPr>
          <p:cNvPr id="16" name="Image 2" descr="The deliverable">    </p:cNvPr>
          <p:cNvPicPr>
            <a:picLocks noChangeAspect="1"/>
          </p:cNvPicPr>
          <p:nvPr/>
        </p:nvPicPr>
        <p:blipFill>
          <a:blip r:embed="rId3"/>
          <a:stretch>
            <a:fillRect/>
          </a:stretch>
        </p:blipFill>
        <p:spPr>
          <a:xfrm>
            <a:off x="8385048" y="1709928"/>
            <a:ext cx="329184" cy="329184"/>
          </a:xfrm>
          <a:prstGeom prst="rect">
            <a:avLst/>
          </a:prstGeom>
        </p:spPr>
      </p:pic>
      <p:sp>
        <p:nvSpPr>
          <p:cNvPr id="17" name="Text 11"/>
          <p:cNvSpPr txBox="1"/>
          <p:nvPr/>
        </p:nvSpPr>
        <p:spPr>
          <a:xfrm>
            <a:off x="8961120" y="1554480"/>
            <a:ext cx="246888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The deliverable</a:t>
            </a:r>
            <a:endParaRPr lang="en-US" sz="1600" dirty="0"/>
          </a:p>
        </p:txBody>
      </p:sp>
      <p:sp>
        <p:nvSpPr>
          <p:cNvPr id="18" name="Text 12"/>
          <p:cNvSpPr txBox="1"/>
          <p:nvPr/>
        </p:nvSpPr>
        <p:spPr>
          <a:xfrm>
            <a:off x="8275320" y="2240280"/>
            <a:ext cx="3108960" cy="3200400"/>
          </a:xfrm>
          <a:prstGeom prst="rect">
            <a:avLst/>
          </a:prstGeom>
          <a:noFill/>
          <a:ln/>
        </p:spPr>
        <p:txBody>
          <a:bodyPr wrap="square" lIns="0" tIns="0" rIns="0" bIns="0" rtlCol="0" anchor="t"/>
          <a:lstStyle/>
          <a:p>
            <a:pPr indent="0" marL="0">
              <a:spcAft>
                <a:spcPts val="400"/>
              </a:spcAft>
              <a:buNone/>
            </a:pPr>
            <a:r>
              <a:rPr lang="en-US" sz="1600" dirty="0">
                <a:solidFill>
                  <a:srgbClr val="475569"/>
                </a:solidFill>
              </a:rPr>
              <a:t>A web application with validated Excel/CSV import, plans in seconds, a seat map with live rule checks, printable charts and QR seat slips, tablet attendance, public seat lookup, analytics and an audit trail.</a:t>
            </a:r>
            <a:endParaRPr lang="en-US" sz="16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Base paper</a:t>
            </a:r>
            <a:endParaRPr lang="en-US" sz="3200" dirty="0"/>
          </a:p>
        </p:txBody>
      </p:sp>
      <p:sp>
        <p:nvSpPr>
          <p:cNvPr id="4" name="citation box"/>
          <p:cNvSpPr/>
          <p:nvPr/>
        </p:nvSpPr>
        <p:spPr>
          <a:xfrm>
            <a:off x="548640" y="1325880"/>
            <a:ext cx="11094415" cy="960120"/>
          </a:xfrm>
          <a:prstGeom prst="roundRect">
            <a:avLst>
              <a:gd name="adj" fmla="val 5714"/>
            </a:avLst>
          </a:prstGeom>
          <a:solidFill>
            <a:srgbClr val="EEF2F7"/>
          </a:solidFill>
          <a:ln w="12700">
            <a:solidFill>
              <a:srgbClr val="EEF2F7"/>
            </a:solidFill>
            <a:prstDash val="solid"/>
          </a:ln>
        </p:spPr>
      </p:sp>
      <p:sp>
        <p:nvSpPr>
          <p:cNvPr id="5" name="Text 2"/>
          <p:cNvSpPr txBox="1"/>
          <p:nvPr/>
        </p:nvSpPr>
        <p:spPr>
          <a:xfrm>
            <a:off x="777240" y="1371600"/>
            <a:ext cx="10637215" cy="868680"/>
          </a:xfrm>
          <a:prstGeom prst="rect">
            <a:avLst/>
          </a:prstGeom>
          <a:noFill/>
          <a:ln/>
        </p:spPr>
        <p:txBody>
          <a:bodyPr wrap="square" lIns="0" tIns="0" rIns="0" bIns="0" rtlCol="0" anchor="ctr"/>
          <a:lstStyle/>
          <a:p>
            <a:pPr indent="0" marL="0">
              <a:buNone/>
            </a:pPr>
            <a:r>
              <a:rPr lang="en-US" sz="1400" i="1" dirty="0">
                <a:solidFill>
                  <a:srgbClr val="0F172A"/>
                </a:solidFill>
              </a:rPr>
              <a:t>P. Yukth, I. S. Mahmood, K. H. Shashank, S. G. Thejus and M. S. Darshini, "Exam Seating Arrangement System," International Journal of Research Publication and Reviews (IJRPR), vol. 6, no. 12, pp. 2093-2105, Dec. 2025.</a:t>
            </a:r>
            <a:endParaRPr lang="en-US" sz="1400" dirty="0"/>
          </a:p>
        </p:txBody>
      </p:sp>
      <p:sp>
        <p:nvSpPr>
          <p:cNvPr id="6" name="Method card"/>
          <p:cNvSpPr/>
          <p:nvPr/>
        </p:nvSpPr>
        <p:spPr>
          <a:xfrm>
            <a:off x="548640" y="2514600"/>
            <a:ext cx="3566160" cy="3246120"/>
          </a:xfrm>
          <a:prstGeom prst="roundRect">
            <a:avLst>
              <a:gd name="adj" fmla="val 2254"/>
            </a:avLst>
          </a:prstGeom>
          <a:solidFill>
            <a:srgbClr val="F6F8FB"/>
          </a:solidFill>
          <a:ln w="9525">
            <a:solidFill>
              <a:srgbClr val="D5DCE6"/>
            </a:solidFill>
            <a:prstDash val="solid"/>
          </a:ln>
        </p:spPr>
      </p:sp>
      <p:sp>
        <p:nvSpPr>
          <p:cNvPr id="7" name="Text 4"/>
          <p:cNvSpPr txBox="1"/>
          <p:nvPr/>
        </p:nvSpPr>
        <p:spPr>
          <a:xfrm>
            <a:off x="777240" y="2697480"/>
            <a:ext cx="315468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Method</a:t>
            </a:r>
            <a:endParaRPr lang="en-US" sz="1600" dirty="0"/>
          </a:p>
        </p:txBody>
      </p:sp>
      <p:sp>
        <p:nvSpPr>
          <p:cNvPr id="8" name="Text 5"/>
          <p:cNvSpPr txBox="1"/>
          <p:nvPr/>
        </p:nvSpPr>
        <p:spPr>
          <a:xfrm>
            <a:off x="777240" y="3383280"/>
            <a:ext cx="3108960" cy="2240280"/>
          </a:xfrm>
          <a:prstGeom prst="rect">
            <a:avLst/>
          </a:prstGeom>
          <a:noFill/>
          <a:ln/>
        </p:spPr>
        <p:txBody>
          <a:bodyPr wrap="square" lIns="0" tIns="0" rIns="0" bIns="0" rtlCol="0" anchor="t"/>
          <a:lstStyle/>
          <a:p>
            <a:pPr indent="0" marL="0">
              <a:spcAft>
                <a:spcPts val="400"/>
              </a:spcAft>
              <a:buNone/>
            </a:pPr>
            <a:r>
              <a:rPr lang="en-US" sz="1450" dirty="0">
                <a:solidFill>
                  <a:srgbClr val="475569"/>
                </a:solidFill>
              </a:rPr>
              <a:t>A Flask and SQLite web application. Student lists are uploaded as CSV or PDF. A "zipper" algorithm (itertools.zip_longest) interleaves two subject lists so subjects alternate, with an optional branch constraint and blocked seats skipped. Output: grid map, PDF chart, public search by USN.</a:t>
            </a:r>
            <a:endParaRPr lang="en-US" sz="1450" dirty="0"/>
          </a:p>
        </p:txBody>
      </p:sp>
      <p:sp>
        <p:nvSpPr>
          <p:cNvPr id="9" name="Data and reported results card"/>
          <p:cNvSpPr/>
          <p:nvPr/>
        </p:nvSpPr>
        <p:spPr>
          <a:xfrm>
            <a:off x="4297680" y="2514600"/>
            <a:ext cx="3566160" cy="3246120"/>
          </a:xfrm>
          <a:prstGeom prst="roundRect">
            <a:avLst>
              <a:gd name="adj" fmla="val 2254"/>
            </a:avLst>
          </a:prstGeom>
          <a:solidFill>
            <a:srgbClr val="F6F8FB"/>
          </a:solidFill>
          <a:ln w="9525">
            <a:solidFill>
              <a:srgbClr val="D5DCE6"/>
            </a:solidFill>
            <a:prstDash val="solid"/>
          </a:ln>
        </p:spPr>
      </p:sp>
      <p:sp>
        <p:nvSpPr>
          <p:cNvPr id="10" name="Text 7"/>
          <p:cNvSpPr txBox="1"/>
          <p:nvPr/>
        </p:nvSpPr>
        <p:spPr>
          <a:xfrm>
            <a:off x="4526280" y="2697480"/>
            <a:ext cx="315468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Data and reported results</a:t>
            </a:r>
            <a:endParaRPr lang="en-US" sz="1600" dirty="0"/>
          </a:p>
        </p:txBody>
      </p:sp>
      <p:sp>
        <p:nvSpPr>
          <p:cNvPr id="11" name="Text 8"/>
          <p:cNvSpPr txBox="1"/>
          <p:nvPr/>
        </p:nvSpPr>
        <p:spPr>
          <a:xfrm>
            <a:off x="4526280" y="3383280"/>
            <a:ext cx="3108960" cy="2240280"/>
          </a:xfrm>
          <a:prstGeom prst="rect">
            <a:avLst/>
          </a:prstGeom>
          <a:noFill/>
          <a:ln/>
        </p:spPr>
        <p:txBody>
          <a:bodyPr wrap="square" lIns="0" tIns="0" rIns="0" bIns="0" rtlCol="0" anchor="t"/>
          <a:lstStyle/>
          <a:p>
            <a:pPr indent="0" marL="0">
              <a:spcAft>
                <a:spcPts val="400"/>
              </a:spcAft>
              <a:buNone/>
            </a:pPr>
            <a:r>
              <a:rPr lang="en-US" sz="1500" dirty="0">
                <a:solidFill>
                  <a:srgbClr val="475569"/>
                </a:solidFill>
              </a:rPr>
              <a:t>No dataset and no measured results are reported. The only quantitative statement is a requirement: allocate a batch of 100 students in under 3 seconds. The system is evidenced by screenshots of the working application.</a:t>
            </a:r>
            <a:endParaRPr lang="en-US" sz="1500" dirty="0"/>
          </a:p>
        </p:txBody>
      </p:sp>
      <p:sp>
        <p:nvSpPr>
          <p:cNvPr id="12" name="Limitations stated by the authors card"/>
          <p:cNvSpPr/>
          <p:nvPr/>
        </p:nvSpPr>
        <p:spPr>
          <a:xfrm>
            <a:off x="8046720" y="2514600"/>
            <a:ext cx="3566160" cy="3246120"/>
          </a:xfrm>
          <a:prstGeom prst="roundRect">
            <a:avLst>
              <a:gd name="adj" fmla="val 2254"/>
            </a:avLst>
          </a:prstGeom>
          <a:solidFill>
            <a:srgbClr val="FDF1EC"/>
          </a:solidFill>
          <a:ln w="9525">
            <a:solidFill>
              <a:srgbClr val="D5DCE6"/>
            </a:solidFill>
            <a:prstDash val="solid"/>
          </a:ln>
        </p:spPr>
      </p:sp>
      <p:sp>
        <p:nvSpPr>
          <p:cNvPr id="13" name="Text 10"/>
          <p:cNvSpPr txBox="1"/>
          <p:nvPr/>
        </p:nvSpPr>
        <p:spPr>
          <a:xfrm>
            <a:off x="8275320" y="2697480"/>
            <a:ext cx="315468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Limits and future work</a:t>
            </a:r>
            <a:endParaRPr lang="en-US" sz="1600" dirty="0"/>
          </a:p>
        </p:txBody>
      </p:sp>
      <p:sp>
        <p:nvSpPr>
          <p:cNvPr id="14" name="Text 11"/>
          <p:cNvSpPr txBox="1"/>
          <p:nvPr/>
        </p:nvSpPr>
        <p:spPr>
          <a:xfrm>
            <a:off x="8275320" y="3383280"/>
            <a:ext cx="3108960" cy="2240280"/>
          </a:xfrm>
          <a:prstGeom prst="rect">
            <a:avLst/>
          </a:prstGeom>
          <a:noFill/>
          <a:ln/>
        </p:spPr>
        <p:txBody>
          <a:bodyPr wrap="square" lIns="0" tIns="0" rIns="0" bIns="0" rtlCol="0" anchor="t"/>
          <a:lstStyle/>
          <a:p>
            <a:pPr indent="0" marL="0">
              <a:spcAft>
                <a:spcPts val="400"/>
              </a:spcAft>
              <a:buNone/>
            </a:pPr>
            <a:r>
              <a:rPr lang="en-US" sz="1500" dirty="0">
                <a:solidFill>
                  <a:srgbClr val="475569"/>
                </a:solidFill>
              </a:rPr>
              <a:t>Our reading: only two subjects are interleaved; no roll-number or accessible-seat rule; the pattern is fixed. The authors' future work: mobile app, e-mail/SMS, face-recognition attendance, cloud hosting, drag-and-drop seat swapping.</a:t>
            </a:r>
            <a:endParaRPr lang="en-US" sz="15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Literature survey</a:t>
            </a:r>
            <a:endParaRPr lang="en-US" sz="3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2926080"/>
                <a:gridCol w="3566160"/>
                <a:gridCol w="2194560"/>
                <a:gridCol w="2407615"/>
              </a:tblGrid>
              <a:tr h="47548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Work</a:t>
                      </a:r>
                      <a:endParaRPr lang="en-US" sz="125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B2A41"/>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Approach</a:t>
                      </a:r>
                      <a:endParaRPr lang="en-US" sz="125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B2A41"/>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Data</a:t>
                      </a:r>
                      <a:endParaRPr lang="en-US" sz="125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B2A41"/>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Reported result</a:t>
                      </a:r>
                      <a:endParaRPr lang="en-US" sz="125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B2A41"/>
                    </a:solidFill>
                  </a:tcPr>
                </a:tc>
              </a:tr>
              <a:tr h="475488">
                <a:tc>
                  <a:txBody>
                    <a:bodyPr/>
                    <a:lstStyle/>
                    <a:p>
                      <a:pPr indent="0" marL="0">
                        <a:buNone/>
                      </a:pPr>
                      <a:r>
                        <a:rPr lang="en-US" sz="1250" dirty="0">
                          <a:solidFill>
                            <a:srgbClr val="0F172A"/>
                          </a:solidFill>
                          <a:latin typeface="Calibri" pitchFamily="34" charset="0"/>
                          <a:ea typeface="Calibri" pitchFamily="34" charset="-122"/>
                          <a:cs typeface="Calibri" pitchFamily="34" charset="-120"/>
                        </a:rPr>
                        <a:t>Yukth et al., 2025 (base) [1]</a:t>
                      </a:r>
                      <a:endParaRPr lang="en-US" sz="125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50" dirty="0">
                          <a:solidFill>
                            <a:srgbClr val="0F172A"/>
                          </a:solidFill>
                          <a:latin typeface="Calibri" pitchFamily="34" charset="0"/>
                          <a:ea typeface="Calibri" pitchFamily="34" charset="-122"/>
                          <a:cs typeface="Calibri" pitchFamily="34" charset="-120"/>
                        </a:rPr>
                        <a:t>Flask web app; zipper interleaving of two subject lists; PDF chart and grid map</a:t>
                      </a:r>
                      <a:endParaRPr lang="en-US" sz="125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50" dirty="0">
                          <a:solidFill>
                            <a:srgbClr val="0F172A"/>
                          </a:solidFill>
                          <a:latin typeface="Calibri" pitchFamily="34" charset="0"/>
                          <a:ea typeface="Calibri" pitchFamily="34" charset="-122"/>
                          <a:cs typeface="Calibri" pitchFamily="34" charset="-120"/>
                        </a:rPr>
                        <a:t>Institutional student, hall and exam lists</a:t>
                      </a:r>
                      <a:endParaRPr lang="en-US" sz="125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50" dirty="0">
                          <a:solidFill>
                            <a:srgbClr val="0F172A"/>
                          </a:solidFill>
                          <a:latin typeface="Calibri" pitchFamily="34" charset="0"/>
                          <a:ea typeface="Calibri" pitchFamily="34" charset="-122"/>
                          <a:cs typeface="Calibri" pitchFamily="34" charset="-120"/>
                        </a:rPr>
                        <a:t>No measured results; target of 100 students in under 3 s</a:t>
                      </a:r>
                      <a:endParaRPr lang="en-US" sz="125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475488">
                <a:tc>
                  <a:txBody>
                    <a:bodyPr/>
                    <a:lstStyle/>
                    <a:p>
                      <a:pPr indent="0" marL="0">
                        <a:buNone/>
                      </a:pPr>
                      <a:r>
                        <a:rPr lang="en-US" sz="1250" dirty="0">
                          <a:solidFill>
                            <a:srgbClr val="0F172A"/>
                          </a:solidFill>
                          <a:latin typeface="Calibri" pitchFamily="34" charset="0"/>
                          <a:ea typeface="Calibri" pitchFamily="34" charset="-122"/>
                          <a:cs typeface="Calibri" pitchFamily="34" charset="-120"/>
                        </a:rPr>
                        <a:t>Adetona and Akintoye, 2023 [4]</a:t>
                      </a:r>
                      <a:endParaRPr lang="en-US" sz="125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50" dirty="0">
                          <a:solidFill>
                            <a:srgbClr val="0F172A"/>
                          </a:solidFill>
                          <a:latin typeface="Calibri" pitchFamily="34" charset="0"/>
                          <a:ea typeface="Calibri" pitchFamily="34" charset="-122"/>
                          <a:cs typeface="Calibri" pitchFamily="34" charset="-120"/>
                        </a:rPr>
                        <a:t>Web app; greedy graph colouring keeps same-course students apart; SMS reminders</a:t>
                      </a:r>
                      <a:endParaRPr lang="en-US" sz="125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50" dirty="0">
                          <a:solidFill>
                            <a:srgbClr val="0F172A"/>
                          </a:solidFill>
                          <a:latin typeface="Calibri" pitchFamily="34" charset="0"/>
                          <a:ea typeface="Calibri" pitchFamily="34" charset="-122"/>
                          <a:cs typeface="Calibri" pitchFamily="34" charset="-120"/>
                        </a:rPr>
                        <a:t>University test group</a:t>
                      </a:r>
                      <a:endParaRPr lang="en-US" sz="125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50" dirty="0">
                          <a:solidFill>
                            <a:srgbClr val="0F172A"/>
                          </a:solidFill>
                          <a:latin typeface="Calibri" pitchFamily="34" charset="0"/>
                          <a:ea typeface="Calibri" pitchFamily="34" charset="-122"/>
                          <a:cs typeface="Calibri" pitchFamily="34" charset="-120"/>
                        </a:rPr>
                        <a:t>Abstract reports successful limited testing; no figures read</a:t>
                      </a:r>
                      <a:endParaRPr lang="en-US" sz="125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475488">
                <a:tc>
                  <a:txBody>
                    <a:bodyPr/>
                    <a:lstStyle/>
                    <a:p>
                      <a:pPr indent="0" marL="0">
                        <a:buNone/>
                      </a:pPr>
                      <a:r>
                        <a:rPr lang="en-US" sz="1250" dirty="0">
                          <a:solidFill>
                            <a:srgbClr val="0F172A"/>
                          </a:solidFill>
                          <a:latin typeface="Calibri" pitchFamily="34" charset="0"/>
                          <a:ea typeface="Calibri" pitchFamily="34" charset="-122"/>
                          <a:cs typeface="Calibri" pitchFamily="34" charset="-120"/>
                        </a:rPr>
                        <a:t>Kashyap et al., 2021 [6]</a:t>
                      </a:r>
                      <a:endParaRPr lang="en-US" sz="125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50" dirty="0">
                          <a:solidFill>
                            <a:srgbClr val="0F172A"/>
                          </a:solidFill>
                          <a:latin typeface="Calibri" pitchFamily="34" charset="0"/>
                          <a:ea typeface="Calibri" pitchFamily="34" charset="-122"/>
                          <a:cs typeface="Calibri" pitchFamily="34" charset="-120"/>
                        </a:rPr>
                        <a:t>Genetic multi-objective search (subject similarity, distance, seat visibility)</a:t>
                      </a:r>
                      <a:endParaRPr lang="en-US" sz="125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50" dirty="0">
                          <a:solidFill>
                            <a:srgbClr val="0F172A"/>
                          </a:solidFill>
                          <a:latin typeface="Calibri" pitchFamily="34" charset="0"/>
                          <a:ea typeface="Calibri" pitchFamily="34" charset="-122"/>
                          <a:cs typeface="Calibri" pitchFamily="34" charset="-120"/>
                        </a:rPr>
                        <a:t>Not reviewed in detail</a:t>
                      </a:r>
                      <a:endParaRPr lang="en-US" sz="125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50" dirty="0">
                          <a:solidFill>
                            <a:srgbClr val="0F172A"/>
                          </a:solidFill>
                          <a:latin typeface="Calibri" pitchFamily="34" charset="0"/>
                          <a:ea typeface="Calibri" pitchFamily="34" charset="-122"/>
                          <a:cs typeface="Calibri" pitchFamily="34" charset="-120"/>
                        </a:rPr>
                        <a:t>Not reviewed in detail</a:t>
                      </a:r>
                      <a:endParaRPr lang="en-US" sz="125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475488">
                <a:tc>
                  <a:txBody>
                    <a:bodyPr/>
                    <a:lstStyle/>
                    <a:p>
                      <a:pPr indent="0" marL="0">
                        <a:buNone/>
                      </a:pPr>
                      <a:r>
                        <a:rPr lang="en-US" sz="1250" dirty="0">
                          <a:solidFill>
                            <a:srgbClr val="0F172A"/>
                          </a:solidFill>
                          <a:latin typeface="Calibri" pitchFamily="34" charset="0"/>
                          <a:ea typeface="Calibri" pitchFamily="34" charset="-122"/>
                          <a:cs typeface="Calibri" pitchFamily="34" charset="-120"/>
                        </a:rPr>
                        <a:t>Jitha and Fathima, 2022 [7]</a:t>
                      </a:r>
                      <a:endParaRPr lang="en-US" sz="125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50" dirty="0">
                          <a:solidFill>
                            <a:srgbClr val="0F172A"/>
                          </a:solidFill>
                          <a:latin typeface="Calibri" pitchFamily="34" charset="0"/>
                          <a:ea typeface="Calibri" pitchFamily="34" charset="-122"/>
                          <a:cs typeface="Calibri" pitchFamily="34" charset="-120"/>
                        </a:rPr>
                        <a:t>Central web portal; CSV upload; static seat table</a:t>
                      </a:r>
                      <a:endParaRPr lang="en-US" sz="125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50" dirty="0">
                          <a:solidFill>
                            <a:srgbClr val="0F172A"/>
                          </a:solidFill>
                          <a:latin typeface="Calibri" pitchFamily="34" charset="0"/>
                          <a:ea typeface="Calibri" pitchFamily="34" charset="-122"/>
                          <a:cs typeface="Calibri" pitchFamily="34" charset="-120"/>
                        </a:rPr>
                        <a:t>Student CSV lists</a:t>
                      </a:r>
                      <a:endParaRPr lang="en-US" sz="125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50" dirty="0">
                          <a:solidFill>
                            <a:srgbClr val="0F172A"/>
                          </a:solidFill>
                          <a:latin typeface="Calibri" pitchFamily="34" charset="0"/>
                          <a:ea typeface="Calibri" pitchFamily="34" charset="-122"/>
                          <a:cs typeface="Calibri" pitchFamily="34" charset="-120"/>
                        </a:rPr>
                        <a:t>Per [1]: no interleaving of subjects</a:t>
                      </a:r>
                      <a:endParaRPr lang="en-US" sz="125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475488">
                <a:tc>
                  <a:txBody>
                    <a:bodyPr/>
                    <a:lstStyle/>
                    <a:p>
                      <a:pPr indent="0" marL="0">
                        <a:buNone/>
                      </a:pPr>
                      <a:r>
                        <a:rPr lang="en-US" sz="1250" dirty="0">
                          <a:solidFill>
                            <a:srgbClr val="0F172A"/>
                          </a:solidFill>
                          <a:latin typeface="Calibri" pitchFamily="34" charset="0"/>
                          <a:ea typeface="Calibri" pitchFamily="34" charset="-122"/>
                          <a:cs typeface="Calibri" pitchFamily="34" charset="-120"/>
                        </a:rPr>
                        <a:t>Patel, 2021 [8]</a:t>
                      </a:r>
                      <a:endParaRPr lang="en-US" sz="125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50" dirty="0">
                          <a:solidFill>
                            <a:srgbClr val="0F172A"/>
                          </a:solidFill>
                          <a:latin typeface="Calibri" pitchFamily="34" charset="0"/>
                          <a:ea typeface="Calibri" pitchFamily="34" charset="-122"/>
                          <a:cs typeface="Calibri" pitchFamily="34" charset="-120"/>
                        </a:rPr>
                        <a:t>Smart seating with biometric attendance and QR lookup</a:t>
                      </a:r>
                      <a:endParaRPr lang="en-US" sz="125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50" dirty="0">
                          <a:solidFill>
                            <a:srgbClr val="0F172A"/>
                          </a:solidFill>
                          <a:latin typeface="Calibri" pitchFamily="34" charset="0"/>
                          <a:ea typeface="Calibri" pitchFamily="34" charset="-122"/>
                          <a:cs typeface="Calibri" pitchFamily="34" charset="-120"/>
                        </a:rPr>
                        <a:t>University setting</a:t>
                      </a:r>
                      <a:endParaRPr lang="en-US" sz="125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50" dirty="0">
                          <a:solidFill>
                            <a:srgbClr val="0F172A"/>
                          </a:solidFill>
                          <a:latin typeface="Calibri" pitchFamily="34" charset="0"/>
                          <a:ea typeface="Calibri" pitchFamily="34" charset="-122"/>
                          <a:cs typeface="Calibri" pitchFamily="34" charset="-120"/>
                        </a:rPr>
                        <a:t>Per [1]: costly hardware, needs internet</a:t>
                      </a:r>
                      <a:endParaRPr lang="en-US" sz="125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475488">
                <a:tc>
                  <a:txBody>
                    <a:bodyPr/>
                    <a:lstStyle/>
                    <a:p>
                      <a:pPr indent="0" marL="0">
                        <a:buNone/>
                      </a:pPr>
                      <a:r>
                        <a:rPr lang="en-US" sz="1250" dirty="0">
                          <a:solidFill>
                            <a:srgbClr val="0F172A"/>
                          </a:solidFill>
                          <a:latin typeface="Calibri" pitchFamily="34" charset="0"/>
                          <a:ea typeface="Calibri" pitchFamily="34" charset="-122"/>
                          <a:cs typeface="Calibri" pitchFamily="34" charset="-120"/>
                        </a:rPr>
                        <a:t>LCG allocation, 2021 [9]</a:t>
                      </a:r>
                      <a:endParaRPr lang="en-US" sz="125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50" dirty="0">
                          <a:solidFill>
                            <a:srgbClr val="0F172A"/>
                          </a:solidFill>
                          <a:latin typeface="Calibri" pitchFamily="34" charset="0"/>
                          <a:ea typeface="Calibri" pitchFamily="34" charset="-122"/>
                          <a:cs typeface="Calibri" pitchFamily="34" charset="-120"/>
                        </a:rPr>
                        <a:t>Linear congruential generator shuffles seats</a:t>
                      </a:r>
                      <a:endParaRPr lang="en-US" sz="125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50" dirty="0">
                          <a:solidFill>
                            <a:srgbClr val="0F172A"/>
                          </a:solidFill>
                          <a:latin typeface="Calibri" pitchFamily="34" charset="0"/>
                          <a:ea typeface="Calibri" pitchFamily="34" charset="-122"/>
                          <a:cs typeface="Calibri" pitchFamily="34" charset="-120"/>
                        </a:rPr>
                        <a:t>Student lists</a:t>
                      </a:r>
                      <a:endParaRPr lang="en-US" sz="125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50" dirty="0">
                          <a:solidFill>
                            <a:srgbClr val="0F172A"/>
                          </a:solidFill>
                          <a:latin typeface="Calibri" pitchFamily="34" charset="0"/>
                          <a:ea typeface="Calibri" pitchFamily="34" charset="-122"/>
                          <a:cs typeface="Calibri" pitchFamily="34" charset="-120"/>
                        </a:rPr>
                        <a:t>Per [1]: random order confuses invigilators</a:t>
                      </a:r>
                      <a:endParaRPr lang="en-US" sz="125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475488">
                <a:tc>
                  <a:txBody>
                    <a:bodyPr/>
                    <a:lstStyle/>
                    <a:p>
                      <a:pPr indent="0" marL="0">
                        <a:buNone/>
                      </a:pPr>
                      <a:r>
                        <a:rPr lang="en-US" sz="1250" dirty="0">
                          <a:solidFill>
                            <a:srgbClr val="0F172A"/>
                          </a:solidFill>
                          <a:latin typeface="Calibri" pitchFamily="34" charset="0"/>
                          <a:ea typeface="Calibri" pitchFamily="34" charset="-122"/>
                          <a:cs typeface="Calibri" pitchFamily="34" charset="-120"/>
                        </a:rPr>
                        <a:t>Batch survey [2], [3], [5]</a:t>
                      </a:r>
                      <a:endParaRPr lang="en-US" sz="125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50" dirty="0">
                          <a:solidFill>
                            <a:srgbClr val="0F172A"/>
                          </a:solidFill>
                          <a:latin typeface="Calibri" pitchFamily="34" charset="0"/>
                          <a:ea typeface="Calibri" pitchFamily="34" charset="-122"/>
                          <a:cs typeface="Calibri" pitchFamily="34" charset="-120"/>
                        </a:rPr>
                        <a:t>Automated hall allocation and seating systems, 2025-2026</a:t>
                      </a:r>
                      <a:endParaRPr lang="en-US" sz="125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50" dirty="0">
                          <a:solidFill>
                            <a:srgbClr val="0F172A"/>
                          </a:solidFill>
                          <a:latin typeface="Calibri" pitchFamily="34" charset="0"/>
                          <a:ea typeface="Calibri" pitchFamily="34" charset="-122"/>
                          <a:cs typeface="Calibri" pitchFamily="34" charset="-120"/>
                        </a:rPr>
                        <a:t>Not independently retrieved</a:t>
                      </a:r>
                      <a:endParaRPr lang="en-US" sz="125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50" dirty="0">
                          <a:solidFill>
                            <a:srgbClr val="0F172A"/>
                          </a:solidFill>
                          <a:latin typeface="Calibri" pitchFamily="34" charset="0"/>
                          <a:ea typeface="Calibri" pitchFamily="34" charset="-122"/>
                          <a:cs typeface="Calibri" pitchFamily="34" charset="-120"/>
                        </a:rPr>
                        <a:t>Listed by title only; not verified</a:t>
                      </a:r>
                      <a:endParaRPr lang="en-US" sz="125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Supporting evidence: manual-style seating breaks the rules</a:t>
            </a:r>
            <a:endParaRPr lang="en-US" sz="3200" dirty="0"/>
          </a:p>
        </p:txBody>
      </p:sp>
      <p:graphicFrame>
        <p:nvGraphicFramePr>
          <p:cNvPr id="4" name="Chart 0" descr=""/>
          <p:cNvGraphicFramePr/>
          <p:nvPr/>
        </p:nvGraphicFramePr>
        <p:xfrm>
          <a:off x="548640" y="1280160"/>
          <a:ext cx="6766560" cy="4663440"/>
        </p:xfrm>
        <a:graphic xmlns:a="http://schemas.openxmlformats.org/drawingml/2006/main">
          <a:graphicData uri="http://schemas.openxmlformats.org/drawingml/2006/chart">
            <c:chart xmlns:c="http://schemas.openxmlformats.org/drawingml/2006/chart" r:id="rId1"/>
          </a:graphicData>
        </a:graphic>
      </p:graphicFrame>
      <p:sp>
        <p:nvSpPr>
          <p:cNvPr id="5" name="Takeaway card"/>
          <p:cNvSpPr/>
          <p:nvPr/>
        </p:nvSpPr>
        <p:spPr>
          <a:xfrm>
            <a:off x="7589520" y="1371600"/>
            <a:ext cx="4050792" cy="2103120"/>
          </a:xfrm>
          <a:prstGeom prst="roundRect">
            <a:avLst>
              <a:gd name="adj" fmla="val 3478"/>
            </a:avLst>
          </a:prstGeom>
          <a:solidFill>
            <a:srgbClr val="F6F8FB"/>
          </a:solidFill>
          <a:ln w="9525">
            <a:solidFill>
              <a:srgbClr val="D5DCE6"/>
            </a:solidFill>
            <a:prstDash val="solid"/>
          </a:ln>
        </p:spPr>
      </p:sp>
      <p:sp>
        <p:nvSpPr>
          <p:cNvPr id="6" name="icon circle"/>
          <p:cNvSpPr/>
          <p:nvPr/>
        </p:nvSpPr>
        <p:spPr>
          <a:xfrm>
            <a:off x="7818120" y="1600200"/>
            <a:ext cx="548640" cy="548640"/>
          </a:xfrm>
          <a:prstGeom prst="ellipse">
            <a:avLst/>
          </a:prstGeom>
          <a:solidFill>
            <a:srgbClr val="1BAF7A"/>
          </a:solidFill>
          <a:ln w="12700">
            <a:solidFill>
              <a:srgbClr val="1BAF7A"/>
            </a:solidFill>
            <a:prstDash val="solid"/>
          </a:ln>
        </p:spPr>
      </p:sp>
      <p:pic>
        <p:nvPicPr>
          <p:cNvPr id="7" name="Image 0" descr="Takeaway">    </p:cNvPr>
          <p:cNvPicPr>
            <a:picLocks noChangeAspect="1"/>
          </p:cNvPicPr>
          <p:nvPr/>
        </p:nvPicPr>
        <p:blipFill>
          <a:blip r:embed="rId2"/>
          <a:stretch>
            <a:fillRect/>
          </a:stretch>
        </p:blipFill>
        <p:spPr>
          <a:xfrm>
            <a:off x="7927848" y="1709928"/>
            <a:ext cx="329184" cy="329184"/>
          </a:xfrm>
          <a:prstGeom prst="rect">
            <a:avLst/>
          </a:prstGeom>
        </p:spPr>
      </p:pic>
      <p:sp>
        <p:nvSpPr>
          <p:cNvPr id="8" name="Text 3"/>
          <p:cNvSpPr txBox="1"/>
          <p:nvPr/>
        </p:nvSpPr>
        <p:spPr>
          <a:xfrm>
            <a:off x="8503920" y="1554480"/>
            <a:ext cx="2953512"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Takeaway</a:t>
            </a:r>
            <a:endParaRPr lang="en-US" sz="1600" dirty="0"/>
          </a:p>
        </p:txBody>
      </p:sp>
      <p:sp>
        <p:nvSpPr>
          <p:cNvPr id="9" name="Text 4"/>
          <p:cNvSpPr txBox="1"/>
          <p:nvPr/>
        </p:nvSpPr>
        <p:spPr>
          <a:xfrm>
            <a:off x="7818120" y="2240280"/>
            <a:ext cx="3593592" cy="1097280"/>
          </a:xfrm>
          <a:prstGeom prst="rect">
            <a:avLst/>
          </a:prstGeom>
          <a:noFill/>
          <a:ln/>
        </p:spPr>
        <p:txBody>
          <a:bodyPr wrap="square" lIns="0" tIns="0" rIns="0" bIns="0" rtlCol="0" anchor="t"/>
          <a:lstStyle/>
          <a:p>
            <a:pPr indent="0" marL="0">
              <a:spcAft>
                <a:spcPts val="400"/>
              </a:spcAft>
              <a:buNone/>
            </a:pPr>
            <a:r>
              <a:rPr lang="en-US" sz="1300" dirty="0">
                <a:solidFill>
                  <a:srgbClr val="475569"/>
                </a:solidFill>
              </a:rPr>
              <a:t>Roll-order seating of a 600-candidate sitting leaves 1,253 same-paper neighbour pairs. Round-robin still leaves 281 and a random shuffle 265. The same-paper pairs are plotted by sitting size (candidates).</a:t>
            </a:r>
            <a:endParaRPr lang="en-US" sz="1300" dirty="0"/>
          </a:p>
        </p:txBody>
      </p:sp>
      <p:sp>
        <p:nvSpPr>
          <p:cNvPr id="10" name="Caveat card"/>
          <p:cNvSpPr/>
          <p:nvPr/>
        </p:nvSpPr>
        <p:spPr>
          <a:xfrm>
            <a:off x="7589520" y="3657600"/>
            <a:ext cx="4050792" cy="2103120"/>
          </a:xfrm>
          <a:prstGeom prst="roundRect">
            <a:avLst>
              <a:gd name="adj" fmla="val 3478"/>
            </a:avLst>
          </a:prstGeom>
          <a:solidFill>
            <a:srgbClr val="F6F8FB"/>
          </a:solidFill>
          <a:ln w="9525">
            <a:solidFill>
              <a:srgbClr val="D5DCE6"/>
            </a:solidFill>
            <a:prstDash val="solid"/>
          </a:ln>
        </p:spPr>
      </p:sp>
      <p:sp>
        <p:nvSpPr>
          <p:cNvPr id="11" name="icon circle"/>
          <p:cNvSpPr/>
          <p:nvPr/>
        </p:nvSpPr>
        <p:spPr>
          <a:xfrm>
            <a:off x="7818120" y="3886200"/>
            <a:ext cx="548640" cy="548640"/>
          </a:xfrm>
          <a:prstGeom prst="ellipse">
            <a:avLst/>
          </a:prstGeom>
          <a:solidFill>
            <a:srgbClr val="EDA100"/>
          </a:solidFill>
          <a:ln w="12700">
            <a:solidFill>
              <a:srgbClr val="EDA100"/>
            </a:solidFill>
            <a:prstDash val="solid"/>
          </a:ln>
        </p:spPr>
      </p:sp>
      <p:pic>
        <p:nvPicPr>
          <p:cNvPr id="12" name="Image 1" descr="Caveat">    </p:cNvPr>
          <p:cNvPicPr>
            <a:picLocks noChangeAspect="1"/>
          </p:cNvPicPr>
          <p:nvPr/>
        </p:nvPicPr>
        <p:blipFill>
          <a:blip r:embed="rId3"/>
          <a:stretch>
            <a:fillRect/>
          </a:stretch>
        </p:blipFill>
        <p:spPr>
          <a:xfrm>
            <a:off x="7927848" y="3995928"/>
            <a:ext cx="329184" cy="329184"/>
          </a:xfrm>
          <a:prstGeom prst="rect">
            <a:avLst/>
          </a:prstGeom>
        </p:spPr>
      </p:pic>
      <p:sp>
        <p:nvSpPr>
          <p:cNvPr id="13" name="Text 7"/>
          <p:cNvSpPr txBox="1"/>
          <p:nvPr/>
        </p:nvSpPr>
        <p:spPr>
          <a:xfrm>
            <a:off x="8503920" y="3840480"/>
            <a:ext cx="2953512"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Caveat</a:t>
            </a:r>
            <a:endParaRPr lang="en-US" sz="1600" dirty="0"/>
          </a:p>
        </p:txBody>
      </p:sp>
      <p:sp>
        <p:nvSpPr>
          <p:cNvPr id="14" name="Text 8"/>
          <p:cNvSpPr txBox="1"/>
          <p:nvPr/>
        </p:nvSpPr>
        <p:spPr>
          <a:xfrm>
            <a:off x="7818120" y="4526280"/>
            <a:ext cx="3593592" cy="1097280"/>
          </a:xfrm>
          <a:prstGeom prst="rect">
            <a:avLst/>
          </a:prstGeom>
          <a:noFill/>
          <a:ln/>
        </p:spPr>
        <p:txBody>
          <a:bodyPr wrap="square" lIns="0" tIns="0" rIns="0" bIns="0" rtlCol="0" anchor="t"/>
          <a:lstStyle/>
          <a:p>
            <a:pPr indent="0" marL="0">
              <a:spcAft>
                <a:spcPts val="400"/>
              </a:spcAft>
              <a:buNone/>
            </a:pPr>
            <a:r>
              <a:rPr lang="en-US" sz="1450" dirty="0">
                <a:solidFill>
                  <a:srgbClr val="475569"/>
                </a:solidFill>
              </a:rPr>
              <a:t>Measured by us on synthetic sittings (benchmark of 8 scenarios). The base paper reports no comparable figures, and real examination data may differ.</a:t>
            </a:r>
            <a:endParaRPr lang="en-US" sz="14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Existing system and current approaches</a:t>
            </a:r>
            <a:endParaRPr lang="en-US" sz="3200" dirty="0"/>
          </a:p>
        </p:txBody>
      </p:sp>
      <p:sp>
        <p:nvSpPr>
          <p:cNvPr id="4" name="flow step 1"/>
          <p:cNvSpPr/>
          <p:nvPr/>
        </p:nvSpPr>
        <p:spPr>
          <a:xfrm>
            <a:off x="548640" y="1645920"/>
            <a:ext cx="1582369" cy="1143000"/>
          </a:xfrm>
          <a:prstGeom prst="roundRect">
            <a:avLst>
              <a:gd name="adj" fmla="val 6400"/>
            </a:avLst>
          </a:prstGeom>
          <a:solidFill>
            <a:srgbClr val="1B2A41"/>
          </a:solidFill>
          <a:ln w="12700">
            <a:solidFill>
              <a:srgbClr val="1B2A41"/>
            </a:solidFill>
            <a:prstDash val="solid"/>
          </a:ln>
        </p:spPr>
      </p:sp>
      <p:sp>
        <p:nvSpPr>
          <p:cNvPr id="5" name="Text 2"/>
          <p:cNvSpPr txBox="1"/>
          <p:nvPr/>
        </p:nvSpPr>
        <p:spPr>
          <a:xfrm>
            <a:off x="621792" y="1645920"/>
            <a:ext cx="1436065" cy="1143000"/>
          </a:xfrm>
          <a:prstGeom prst="rect">
            <a:avLst/>
          </a:prstGeom>
          <a:noFill/>
          <a:ln/>
        </p:spPr>
        <p:txBody>
          <a:bodyPr wrap="square" lIns="0" tIns="0" rIns="0" bIns="0" rtlCol="0" anchor="ctr"/>
          <a:lstStyle/>
          <a:p>
            <a:pPr algn="ctr" indent="0" marL="0">
              <a:buNone/>
            </a:pPr>
            <a:r>
              <a:rPr lang="en-US" sz="1400" b="1" dirty="0">
                <a:solidFill>
                  <a:srgbClr val="FFFFFF"/>
                </a:solidFill>
              </a:rPr>
              <a:t>Collect lists</a:t>
            </a:r>
            <a:endParaRPr lang="en-US" sz="1400" dirty="0"/>
          </a:p>
        </p:txBody>
      </p:sp>
      <p:sp>
        <p:nvSpPr>
          <p:cNvPr id="6" name="arrow"/>
          <p:cNvSpPr/>
          <p:nvPr/>
        </p:nvSpPr>
        <p:spPr>
          <a:xfrm>
            <a:off x="2176729" y="2098548"/>
            <a:ext cx="228600" cy="237744"/>
          </a:xfrm>
          <a:prstGeom prst="rightArrow">
            <a:avLst/>
          </a:prstGeom>
          <a:solidFill>
            <a:srgbClr val="64748B"/>
          </a:solidFill>
          <a:ln w="12700">
            <a:solidFill>
              <a:srgbClr val="64748B"/>
            </a:solidFill>
            <a:prstDash val="solid"/>
          </a:ln>
        </p:spPr>
      </p:sp>
      <p:sp>
        <p:nvSpPr>
          <p:cNvPr id="7" name="flow step 2"/>
          <p:cNvSpPr/>
          <p:nvPr/>
        </p:nvSpPr>
        <p:spPr>
          <a:xfrm>
            <a:off x="2451049" y="1645920"/>
            <a:ext cx="1582369" cy="1143000"/>
          </a:xfrm>
          <a:prstGeom prst="roundRect">
            <a:avLst>
              <a:gd name="adj" fmla="val 6400"/>
            </a:avLst>
          </a:prstGeom>
          <a:solidFill>
            <a:srgbClr val="1B2A41"/>
          </a:solidFill>
          <a:ln w="12700">
            <a:solidFill>
              <a:srgbClr val="1B2A41"/>
            </a:solidFill>
            <a:prstDash val="solid"/>
          </a:ln>
        </p:spPr>
      </p:sp>
      <p:sp>
        <p:nvSpPr>
          <p:cNvPr id="8" name="Text 5"/>
          <p:cNvSpPr txBox="1"/>
          <p:nvPr/>
        </p:nvSpPr>
        <p:spPr>
          <a:xfrm>
            <a:off x="2524201" y="1645920"/>
            <a:ext cx="1436065" cy="1143000"/>
          </a:xfrm>
          <a:prstGeom prst="rect">
            <a:avLst/>
          </a:prstGeom>
          <a:noFill/>
          <a:ln/>
        </p:spPr>
        <p:txBody>
          <a:bodyPr wrap="square" lIns="0" tIns="0" rIns="0" bIns="0" rtlCol="0" anchor="ctr"/>
          <a:lstStyle/>
          <a:p>
            <a:pPr algn="ctr" indent="0" marL="0">
              <a:buNone/>
            </a:pPr>
            <a:r>
              <a:rPr lang="en-US" sz="1400" b="1" dirty="0">
                <a:solidFill>
                  <a:srgbClr val="FFFFFF"/>
                </a:solidFill>
              </a:rPr>
              <a:t>Sort by roll number</a:t>
            </a:r>
            <a:endParaRPr lang="en-US" sz="1400" dirty="0"/>
          </a:p>
        </p:txBody>
      </p:sp>
      <p:sp>
        <p:nvSpPr>
          <p:cNvPr id="9" name="arrow"/>
          <p:cNvSpPr/>
          <p:nvPr/>
        </p:nvSpPr>
        <p:spPr>
          <a:xfrm>
            <a:off x="4079138" y="2098548"/>
            <a:ext cx="228600" cy="237744"/>
          </a:xfrm>
          <a:prstGeom prst="rightArrow">
            <a:avLst/>
          </a:prstGeom>
          <a:solidFill>
            <a:srgbClr val="64748B"/>
          </a:solidFill>
          <a:ln w="12700">
            <a:solidFill>
              <a:srgbClr val="64748B"/>
            </a:solidFill>
            <a:prstDash val="solid"/>
          </a:ln>
        </p:spPr>
      </p:sp>
      <p:sp>
        <p:nvSpPr>
          <p:cNvPr id="10" name="flow step 3"/>
          <p:cNvSpPr/>
          <p:nvPr/>
        </p:nvSpPr>
        <p:spPr>
          <a:xfrm>
            <a:off x="4353458" y="1645920"/>
            <a:ext cx="1582369" cy="1143000"/>
          </a:xfrm>
          <a:prstGeom prst="roundRect">
            <a:avLst>
              <a:gd name="adj" fmla="val 6400"/>
            </a:avLst>
          </a:prstGeom>
          <a:solidFill>
            <a:srgbClr val="1B2A41"/>
          </a:solidFill>
          <a:ln w="12700">
            <a:solidFill>
              <a:srgbClr val="1B2A41"/>
            </a:solidFill>
            <a:prstDash val="solid"/>
          </a:ln>
        </p:spPr>
      </p:sp>
      <p:sp>
        <p:nvSpPr>
          <p:cNvPr id="11" name="Text 8"/>
          <p:cNvSpPr txBox="1"/>
          <p:nvPr/>
        </p:nvSpPr>
        <p:spPr>
          <a:xfrm>
            <a:off x="4426610" y="1645920"/>
            <a:ext cx="1436065" cy="1143000"/>
          </a:xfrm>
          <a:prstGeom prst="rect">
            <a:avLst/>
          </a:prstGeom>
          <a:noFill/>
          <a:ln/>
        </p:spPr>
        <p:txBody>
          <a:bodyPr wrap="square" lIns="0" tIns="0" rIns="0" bIns="0" rtlCol="0" anchor="ctr"/>
          <a:lstStyle/>
          <a:p>
            <a:pPr algn="ctr" indent="0" marL="0">
              <a:buNone/>
            </a:pPr>
            <a:r>
              <a:rPr lang="en-US" sz="1400" b="1" dirty="0">
                <a:solidFill>
                  <a:srgbClr val="FFFFFF"/>
                </a:solidFill>
              </a:rPr>
              <a:t>Fill halls in order</a:t>
            </a:r>
            <a:endParaRPr lang="en-US" sz="1400" dirty="0"/>
          </a:p>
        </p:txBody>
      </p:sp>
      <p:sp>
        <p:nvSpPr>
          <p:cNvPr id="12" name="arrow"/>
          <p:cNvSpPr/>
          <p:nvPr/>
        </p:nvSpPr>
        <p:spPr>
          <a:xfrm>
            <a:off x="5981548" y="2098548"/>
            <a:ext cx="228600" cy="237744"/>
          </a:xfrm>
          <a:prstGeom prst="rightArrow">
            <a:avLst/>
          </a:prstGeom>
          <a:solidFill>
            <a:srgbClr val="64748B"/>
          </a:solidFill>
          <a:ln w="12700">
            <a:solidFill>
              <a:srgbClr val="64748B"/>
            </a:solidFill>
            <a:prstDash val="solid"/>
          </a:ln>
        </p:spPr>
      </p:sp>
      <p:sp>
        <p:nvSpPr>
          <p:cNvPr id="13" name="flow step 4"/>
          <p:cNvSpPr/>
          <p:nvPr/>
        </p:nvSpPr>
        <p:spPr>
          <a:xfrm>
            <a:off x="6255868" y="1645920"/>
            <a:ext cx="1582369" cy="1143000"/>
          </a:xfrm>
          <a:prstGeom prst="roundRect">
            <a:avLst>
              <a:gd name="adj" fmla="val 6400"/>
            </a:avLst>
          </a:prstGeom>
          <a:solidFill>
            <a:srgbClr val="1B2A41"/>
          </a:solidFill>
          <a:ln w="12700">
            <a:solidFill>
              <a:srgbClr val="1B2A41"/>
            </a:solidFill>
            <a:prstDash val="solid"/>
          </a:ln>
        </p:spPr>
      </p:sp>
      <p:sp>
        <p:nvSpPr>
          <p:cNvPr id="14" name="Text 11"/>
          <p:cNvSpPr txBox="1"/>
          <p:nvPr/>
        </p:nvSpPr>
        <p:spPr>
          <a:xfrm>
            <a:off x="6329020" y="1645920"/>
            <a:ext cx="1436065" cy="1143000"/>
          </a:xfrm>
          <a:prstGeom prst="rect">
            <a:avLst/>
          </a:prstGeom>
          <a:noFill/>
          <a:ln/>
        </p:spPr>
        <p:txBody>
          <a:bodyPr wrap="square" lIns="0" tIns="0" rIns="0" bIns="0" rtlCol="0" anchor="ctr"/>
          <a:lstStyle/>
          <a:p>
            <a:pPr algn="ctr" indent="0" marL="0">
              <a:buNone/>
            </a:pPr>
            <a:r>
              <a:rPr lang="en-US" sz="1400" b="1" dirty="0">
                <a:solidFill>
                  <a:srgbClr val="FFFFFF"/>
                </a:solidFill>
              </a:rPr>
              <a:t>Print notice-board chart</a:t>
            </a:r>
            <a:endParaRPr lang="en-US" sz="1400" dirty="0"/>
          </a:p>
        </p:txBody>
      </p:sp>
      <p:sp>
        <p:nvSpPr>
          <p:cNvPr id="15" name="arrow"/>
          <p:cNvSpPr/>
          <p:nvPr/>
        </p:nvSpPr>
        <p:spPr>
          <a:xfrm>
            <a:off x="7883957" y="2098548"/>
            <a:ext cx="228600" cy="237744"/>
          </a:xfrm>
          <a:prstGeom prst="rightArrow">
            <a:avLst/>
          </a:prstGeom>
          <a:solidFill>
            <a:srgbClr val="64748B"/>
          </a:solidFill>
          <a:ln w="12700">
            <a:solidFill>
              <a:srgbClr val="64748B"/>
            </a:solidFill>
            <a:prstDash val="solid"/>
          </a:ln>
        </p:spPr>
      </p:sp>
      <p:sp>
        <p:nvSpPr>
          <p:cNvPr id="16" name="flow step 5"/>
          <p:cNvSpPr/>
          <p:nvPr/>
        </p:nvSpPr>
        <p:spPr>
          <a:xfrm>
            <a:off x="8158277" y="1645920"/>
            <a:ext cx="1582369" cy="1143000"/>
          </a:xfrm>
          <a:prstGeom prst="roundRect">
            <a:avLst>
              <a:gd name="adj" fmla="val 6400"/>
            </a:avLst>
          </a:prstGeom>
          <a:solidFill>
            <a:srgbClr val="1B2A41"/>
          </a:solidFill>
          <a:ln w="12700">
            <a:solidFill>
              <a:srgbClr val="1B2A41"/>
            </a:solidFill>
            <a:prstDash val="solid"/>
          </a:ln>
        </p:spPr>
      </p:sp>
      <p:sp>
        <p:nvSpPr>
          <p:cNvPr id="17" name="Text 14"/>
          <p:cNvSpPr txBox="1"/>
          <p:nvPr/>
        </p:nvSpPr>
        <p:spPr>
          <a:xfrm>
            <a:off x="8231429" y="1645920"/>
            <a:ext cx="1436065" cy="1143000"/>
          </a:xfrm>
          <a:prstGeom prst="rect">
            <a:avLst/>
          </a:prstGeom>
          <a:noFill/>
          <a:ln/>
        </p:spPr>
        <p:txBody>
          <a:bodyPr wrap="square" lIns="0" tIns="0" rIns="0" bIns="0" rtlCol="0" anchor="ctr"/>
          <a:lstStyle/>
          <a:p>
            <a:pPr algn="ctr" indent="0" marL="0">
              <a:buNone/>
            </a:pPr>
            <a:r>
              <a:rPr lang="en-US" sz="1400" b="1" dirty="0">
                <a:solidFill>
                  <a:srgbClr val="FFFFFF"/>
                </a:solidFill>
              </a:rPr>
              <a:t>Fix clashes by hand</a:t>
            </a:r>
            <a:endParaRPr lang="en-US" sz="1400" dirty="0"/>
          </a:p>
        </p:txBody>
      </p:sp>
      <p:sp>
        <p:nvSpPr>
          <p:cNvPr id="18" name="arrow"/>
          <p:cNvSpPr/>
          <p:nvPr/>
        </p:nvSpPr>
        <p:spPr>
          <a:xfrm>
            <a:off x="9786366" y="2098548"/>
            <a:ext cx="228600" cy="237744"/>
          </a:xfrm>
          <a:prstGeom prst="rightArrow">
            <a:avLst/>
          </a:prstGeom>
          <a:solidFill>
            <a:srgbClr val="64748B"/>
          </a:solidFill>
          <a:ln w="12700">
            <a:solidFill>
              <a:srgbClr val="64748B"/>
            </a:solidFill>
            <a:prstDash val="solid"/>
          </a:ln>
        </p:spPr>
      </p:sp>
      <p:sp>
        <p:nvSpPr>
          <p:cNvPr id="19" name="flow step 6"/>
          <p:cNvSpPr/>
          <p:nvPr/>
        </p:nvSpPr>
        <p:spPr>
          <a:xfrm>
            <a:off x="10060686" y="1645920"/>
            <a:ext cx="1582369" cy="1143000"/>
          </a:xfrm>
          <a:prstGeom prst="roundRect">
            <a:avLst>
              <a:gd name="adj" fmla="val 6400"/>
            </a:avLst>
          </a:prstGeom>
          <a:solidFill>
            <a:srgbClr val="1B2A41"/>
          </a:solidFill>
          <a:ln w="12700">
            <a:solidFill>
              <a:srgbClr val="1B2A41"/>
            </a:solidFill>
            <a:prstDash val="solid"/>
          </a:ln>
        </p:spPr>
      </p:sp>
      <p:sp>
        <p:nvSpPr>
          <p:cNvPr id="20" name="Text 17"/>
          <p:cNvSpPr txBox="1"/>
          <p:nvPr/>
        </p:nvSpPr>
        <p:spPr>
          <a:xfrm>
            <a:off x="10133838" y="1645920"/>
            <a:ext cx="1436065" cy="1143000"/>
          </a:xfrm>
          <a:prstGeom prst="rect">
            <a:avLst/>
          </a:prstGeom>
          <a:noFill/>
          <a:ln/>
        </p:spPr>
        <p:txBody>
          <a:bodyPr wrap="square" lIns="0" tIns="0" rIns="0" bIns="0" rtlCol="0" anchor="ctr"/>
          <a:lstStyle/>
          <a:p>
            <a:pPr algn="ctr" indent="0" marL="0">
              <a:buNone/>
            </a:pPr>
            <a:r>
              <a:rPr lang="en-US" sz="1400" b="1" dirty="0">
                <a:solidFill>
                  <a:srgbClr val="FFFFFF"/>
                </a:solidFill>
              </a:rPr>
              <a:t>Redo on any change</a:t>
            </a:r>
            <a:endParaRPr lang="en-US" sz="1400" dirty="0"/>
          </a:p>
        </p:txBody>
      </p:sp>
      <p:sp>
        <p:nvSpPr>
          <p:cNvPr id="21" name="Automatic, text-only card"/>
          <p:cNvSpPr/>
          <p:nvPr/>
        </p:nvSpPr>
        <p:spPr>
          <a:xfrm>
            <a:off x="548640" y="3291840"/>
            <a:ext cx="5440680" cy="2468880"/>
          </a:xfrm>
          <a:prstGeom prst="roundRect">
            <a:avLst>
              <a:gd name="adj" fmla="val 2963"/>
            </a:avLst>
          </a:prstGeom>
          <a:solidFill>
            <a:srgbClr val="F6F8FB"/>
          </a:solidFill>
          <a:ln w="9525">
            <a:solidFill>
              <a:srgbClr val="D5DCE6"/>
            </a:solidFill>
            <a:prstDash val="solid"/>
          </a:ln>
        </p:spPr>
      </p:sp>
      <p:sp>
        <p:nvSpPr>
          <p:cNvPr id="22" name="icon circle"/>
          <p:cNvSpPr/>
          <p:nvPr/>
        </p:nvSpPr>
        <p:spPr>
          <a:xfrm>
            <a:off x="777240" y="3520440"/>
            <a:ext cx="548640" cy="548640"/>
          </a:xfrm>
          <a:prstGeom prst="ellipse">
            <a:avLst/>
          </a:prstGeom>
          <a:solidFill>
            <a:srgbClr val="1B2A41"/>
          </a:solidFill>
          <a:ln w="12700">
            <a:solidFill>
              <a:srgbClr val="1B2A41"/>
            </a:solidFill>
            <a:prstDash val="solid"/>
          </a:ln>
        </p:spPr>
      </p:sp>
      <p:pic>
        <p:nvPicPr>
          <p:cNvPr id="23" name="Image 0" descr="Automatic, text-only">    </p:cNvPr>
          <p:cNvPicPr>
            <a:picLocks noChangeAspect="1"/>
          </p:cNvPicPr>
          <p:nvPr/>
        </p:nvPicPr>
        <p:blipFill>
          <a:blip r:embed="rId1"/>
          <a:stretch>
            <a:fillRect/>
          </a:stretch>
        </p:blipFill>
        <p:spPr>
          <a:xfrm>
            <a:off x="886968" y="3630168"/>
            <a:ext cx="329184" cy="329184"/>
          </a:xfrm>
          <a:prstGeom prst="rect">
            <a:avLst/>
          </a:prstGeom>
        </p:spPr>
      </p:pic>
      <p:sp>
        <p:nvSpPr>
          <p:cNvPr id="24" name="Text 20"/>
          <p:cNvSpPr txBox="1"/>
          <p:nvPr/>
        </p:nvSpPr>
        <p:spPr>
          <a:xfrm>
            <a:off x="1463040" y="3474720"/>
            <a:ext cx="434340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Manual and spreadsheet</a:t>
            </a:r>
            <a:endParaRPr lang="en-US" sz="1600" dirty="0"/>
          </a:p>
        </p:txBody>
      </p:sp>
      <p:sp>
        <p:nvSpPr>
          <p:cNvPr id="25" name="Text 21"/>
          <p:cNvSpPr txBox="1"/>
          <p:nvPr/>
        </p:nvSpPr>
        <p:spPr>
          <a:xfrm>
            <a:off x="777240" y="4160520"/>
            <a:ext cx="4983480" cy="1463040"/>
          </a:xfrm>
          <a:prstGeom prst="rect">
            <a:avLst/>
          </a:prstGeom>
          <a:noFill/>
          <a:ln/>
        </p:spPr>
        <p:txBody>
          <a:bodyPr wrap="square" lIns="0" tIns="0" rIns="0" bIns="0" rtlCol="0" anchor="t"/>
          <a:lstStyle/>
          <a:p>
            <a:pPr indent="0" marL="0">
              <a:spcAft>
                <a:spcPts val="400"/>
              </a:spcAft>
              <a:buNone/>
            </a:pPr>
            <a:r>
              <a:rPr lang="en-US" sz="1600" dirty="0">
                <a:solidFill>
                  <a:srgbClr val="475569"/>
                </a:solidFill>
              </a:rPr>
              <a:t>The examination cell sorts candidates by roll number and fills halls row by row. It takes days for thousands of candidates, and every late change means redoing the plan.</a:t>
            </a:r>
            <a:endParaRPr lang="en-US" sz="1600" dirty="0"/>
          </a:p>
        </p:txBody>
      </p:sp>
      <p:sp>
        <p:nvSpPr>
          <p:cNvPr id="26" name="Manual fact-checking card"/>
          <p:cNvSpPr/>
          <p:nvPr/>
        </p:nvSpPr>
        <p:spPr>
          <a:xfrm>
            <a:off x="6172200" y="3291840"/>
            <a:ext cx="5440680" cy="2468880"/>
          </a:xfrm>
          <a:prstGeom prst="roundRect">
            <a:avLst>
              <a:gd name="adj" fmla="val 2963"/>
            </a:avLst>
          </a:prstGeom>
          <a:solidFill>
            <a:srgbClr val="F6F8FB"/>
          </a:solidFill>
          <a:ln w="9525">
            <a:solidFill>
              <a:srgbClr val="D5DCE6"/>
            </a:solidFill>
            <a:prstDash val="solid"/>
          </a:ln>
        </p:spPr>
      </p:sp>
      <p:sp>
        <p:nvSpPr>
          <p:cNvPr id="27" name="icon circle"/>
          <p:cNvSpPr/>
          <p:nvPr/>
        </p:nvSpPr>
        <p:spPr>
          <a:xfrm>
            <a:off x="6400800" y="3520440"/>
            <a:ext cx="548640" cy="548640"/>
          </a:xfrm>
          <a:prstGeom prst="ellipse">
            <a:avLst/>
          </a:prstGeom>
          <a:solidFill>
            <a:srgbClr val="1B2A41"/>
          </a:solidFill>
          <a:ln w="12700">
            <a:solidFill>
              <a:srgbClr val="1B2A41"/>
            </a:solidFill>
            <a:prstDash val="solid"/>
          </a:ln>
        </p:spPr>
      </p:sp>
      <p:pic>
        <p:nvPicPr>
          <p:cNvPr id="28" name="Image 1" descr="Manual fact-checking">    </p:cNvPr>
          <p:cNvPicPr>
            <a:picLocks noChangeAspect="1"/>
          </p:cNvPicPr>
          <p:nvPr/>
        </p:nvPicPr>
        <p:blipFill>
          <a:blip r:embed="rId2"/>
          <a:stretch>
            <a:fillRect/>
          </a:stretch>
        </p:blipFill>
        <p:spPr>
          <a:xfrm>
            <a:off x="6510528" y="3630168"/>
            <a:ext cx="329184" cy="329184"/>
          </a:xfrm>
          <a:prstGeom prst="rect">
            <a:avLst/>
          </a:prstGeom>
        </p:spPr>
      </p:pic>
      <p:sp>
        <p:nvSpPr>
          <p:cNvPr id="29" name="Text 24"/>
          <p:cNvSpPr txBox="1"/>
          <p:nvPr/>
        </p:nvSpPr>
        <p:spPr>
          <a:xfrm>
            <a:off x="7086600" y="3474720"/>
            <a:ext cx="434340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Software with fixed rules</a:t>
            </a:r>
            <a:endParaRPr lang="en-US" sz="1600" dirty="0"/>
          </a:p>
        </p:txBody>
      </p:sp>
      <p:sp>
        <p:nvSpPr>
          <p:cNvPr id="30" name="Text 25"/>
          <p:cNvSpPr txBox="1"/>
          <p:nvPr/>
        </p:nvSpPr>
        <p:spPr>
          <a:xfrm>
            <a:off x="6400800" y="4160520"/>
            <a:ext cx="4983480" cy="1463040"/>
          </a:xfrm>
          <a:prstGeom prst="rect">
            <a:avLst/>
          </a:prstGeom>
          <a:noFill/>
          <a:ln/>
        </p:spPr>
        <p:txBody>
          <a:bodyPr wrap="square" lIns="0" tIns="0" rIns="0" bIns="0" rtlCol="0" anchor="t"/>
          <a:lstStyle/>
          <a:p>
            <a:pPr indent="0" marL="0">
              <a:spcAft>
                <a:spcPts val="400"/>
              </a:spcAft>
              <a:buNone/>
            </a:pPr>
            <a:r>
              <a:rPr lang="en-US" sz="1600" dirty="0">
                <a:solidFill>
                  <a:srgbClr val="475569"/>
                </a:solidFill>
              </a:rPr>
              <a:t>Basic tools, and the base paper's zipper method, alternate two subjects or branches in a fixed pattern. Faster, but predictable and limited to the rules they encode.</a:t>
            </a:r>
            <a:endParaRPr lang="en-US" sz="16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Limitations of existing methods</a:t>
            </a:r>
            <a:endParaRPr lang="en-US" sz="3200" dirty="0"/>
          </a:p>
        </p:txBody>
      </p:sp>
      <p:sp>
        <p:nvSpPr>
          <p:cNvPr id="4" name="Ignore the picture card"/>
          <p:cNvSpPr/>
          <p:nvPr/>
        </p:nvSpPr>
        <p:spPr>
          <a:xfrm>
            <a:off x="548640" y="1371600"/>
            <a:ext cx="5440680" cy="2057400"/>
          </a:xfrm>
          <a:prstGeom prst="roundRect">
            <a:avLst>
              <a:gd name="adj" fmla="val 3556"/>
            </a:avLst>
          </a:prstGeom>
          <a:solidFill>
            <a:srgbClr val="F6F8FB"/>
          </a:solidFill>
          <a:ln w="9525">
            <a:solidFill>
              <a:srgbClr val="D5DCE6"/>
            </a:solidFill>
            <a:prstDash val="solid"/>
          </a:ln>
        </p:spPr>
      </p:sp>
      <p:sp>
        <p:nvSpPr>
          <p:cNvPr id="5" name="icon circle"/>
          <p:cNvSpPr/>
          <p:nvPr/>
        </p:nvSpPr>
        <p:spPr>
          <a:xfrm>
            <a:off x="777240" y="1600200"/>
            <a:ext cx="548640" cy="548640"/>
          </a:xfrm>
          <a:prstGeom prst="ellipse">
            <a:avLst/>
          </a:prstGeom>
          <a:solidFill>
            <a:srgbClr val="EB6834"/>
          </a:solidFill>
          <a:ln w="12700">
            <a:solidFill>
              <a:srgbClr val="EB6834"/>
            </a:solidFill>
            <a:prstDash val="solid"/>
          </a:ln>
        </p:spPr>
      </p:sp>
      <p:pic>
        <p:nvPicPr>
          <p:cNvPr id="6" name="Image 0" descr="Ignore the picture">    </p:cNvPr>
          <p:cNvPicPr>
            <a:picLocks noChangeAspect="1"/>
          </p:cNvPicPr>
          <p:nvPr/>
        </p:nvPicPr>
        <p:blipFill>
          <a:blip r:embed="rId1"/>
          <a:stretch>
            <a:fillRect/>
          </a:stretch>
        </p:blipFill>
        <p:spPr>
          <a:xfrm>
            <a:off x="886968" y="1709928"/>
            <a:ext cx="329184" cy="329184"/>
          </a:xfrm>
          <a:prstGeom prst="rect">
            <a:avLst/>
          </a:prstGeom>
        </p:spPr>
      </p:pic>
      <p:sp>
        <p:nvSpPr>
          <p:cNvPr id="7" name="Text 3"/>
          <p:cNvSpPr txBox="1"/>
          <p:nvPr/>
        </p:nvSpPr>
        <p:spPr>
          <a:xfrm>
            <a:off x="1463040" y="1554480"/>
            <a:ext cx="434340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Slow and error-prone</a:t>
            </a:r>
            <a:endParaRPr lang="en-US" sz="1600" dirty="0"/>
          </a:p>
        </p:txBody>
      </p:sp>
      <p:sp>
        <p:nvSpPr>
          <p:cNvPr id="8" name="Text 4"/>
          <p:cNvSpPr txBox="1"/>
          <p:nvPr/>
        </p:nvSpPr>
        <p:spPr>
          <a:xfrm>
            <a:off x="777240" y="2240280"/>
            <a:ext cx="4983480" cy="1051560"/>
          </a:xfrm>
          <a:prstGeom prst="rect">
            <a:avLst/>
          </a:prstGeom>
          <a:noFill/>
          <a:ln/>
        </p:spPr>
        <p:txBody>
          <a:bodyPr wrap="square" lIns="0" tIns="0" rIns="0" bIns="0" rtlCol="0" anchor="t"/>
          <a:lstStyle/>
          <a:p>
            <a:pPr indent="0" marL="0">
              <a:spcAft>
                <a:spcPts val="400"/>
              </a:spcAft>
              <a:buNone/>
            </a:pPr>
            <a:r>
              <a:rPr lang="en-US" sz="1600" dirty="0">
                <a:solidFill>
                  <a:srgbClr val="475569"/>
                </a:solidFill>
              </a:rPr>
              <a:t>Days of effort; duplicate or missing seats; any late change forces a full redo.</a:t>
            </a:r>
            <a:endParaRPr lang="en-US" sz="1600" dirty="0"/>
          </a:p>
        </p:txBody>
      </p:sp>
      <p:sp>
        <p:nvSpPr>
          <p:cNvPr id="9" name="Label only card"/>
          <p:cNvSpPr/>
          <p:nvPr/>
        </p:nvSpPr>
        <p:spPr>
          <a:xfrm>
            <a:off x="6172200" y="1371600"/>
            <a:ext cx="5440680" cy="2057400"/>
          </a:xfrm>
          <a:prstGeom prst="roundRect">
            <a:avLst>
              <a:gd name="adj" fmla="val 3556"/>
            </a:avLst>
          </a:prstGeom>
          <a:solidFill>
            <a:srgbClr val="F6F8FB"/>
          </a:solidFill>
          <a:ln w="9525">
            <a:solidFill>
              <a:srgbClr val="D5DCE6"/>
            </a:solidFill>
            <a:prstDash val="solid"/>
          </a:ln>
        </p:spPr>
      </p:sp>
      <p:sp>
        <p:nvSpPr>
          <p:cNvPr id="10" name="icon circle"/>
          <p:cNvSpPr/>
          <p:nvPr/>
        </p:nvSpPr>
        <p:spPr>
          <a:xfrm>
            <a:off x="6400800" y="1600200"/>
            <a:ext cx="548640" cy="548640"/>
          </a:xfrm>
          <a:prstGeom prst="ellipse">
            <a:avLst/>
          </a:prstGeom>
          <a:solidFill>
            <a:srgbClr val="2A78D6"/>
          </a:solidFill>
          <a:ln w="12700">
            <a:solidFill>
              <a:srgbClr val="2A78D6"/>
            </a:solidFill>
            <a:prstDash val="solid"/>
          </a:ln>
        </p:spPr>
      </p:sp>
      <p:pic>
        <p:nvPicPr>
          <p:cNvPr id="11" name="Image 1" descr="Label only">    </p:cNvPr>
          <p:cNvPicPr>
            <a:picLocks noChangeAspect="1"/>
          </p:cNvPicPr>
          <p:nvPr/>
        </p:nvPicPr>
        <p:blipFill>
          <a:blip r:embed="rId2"/>
          <a:stretch>
            <a:fillRect/>
          </a:stretch>
        </p:blipFill>
        <p:spPr>
          <a:xfrm>
            <a:off x="6510528" y="1709928"/>
            <a:ext cx="329184" cy="329184"/>
          </a:xfrm>
          <a:prstGeom prst="rect">
            <a:avLst/>
          </a:prstGeom>
        </p:spPr>
      </p:pic>
      <p:sp>
        <p:nvSpPr>
          <p:cNvPr id="12" name="Text 7"/>
          <p:cNvSpPr txBox="1"/>
          <p:nvPr/>
        </p:nvSpPr>
        <p:spPr>
          <a:xfrm>
            <a:off x="7086600" y="1554480"/>
            <a:ext cx="434340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Predictable</a:t>
            </a:r>
            <a:endParaRPr lang="en-US" sz="1600" dirty="0"/>
          </a:p>
        </p:txBody>
      </p:sp>
      <p:sp>
        <p:nvSpPr>
          <p:cNvPr id="13" name="Text 8"/>
          <p:cNvSpPr txBox="1"/>
          <p:nvPr/>
        </p:nvSpPr>
        <p:spPr>
          <a:xfrm>
            <a:off x="6400800" y="2240280"/>
            <a:ext cx="4983480" cy="1051560"/>
          </a:xfrm>
          <a:prstGeom prst="rect">
            <a:avLst/>
          </a:prstGeom>
          <a:noFill/>
          <a:ln/>
        </p:spPr>
        <p:txBody>
          <a:bodyPr wrap="square" lIns="0" tIns="0" rIns="0" bIns="0" rtlCol="0" anchor="t"/>
          <a:lstStyle/>
          <a:p>
            <a:pPr indent="0" marL="0">
              <a:spcAft>
                <a:spcPts val="400"/>
              </a:spcAft>
              <a:buNone/>
            </a:pPr>
            <a:r>
              <a:rPr lang="en-US" sz="1600" dirty="0">
                <a:solidFill>
                  <a:srgbClr val="475569"/>
                </a:solidFill>
              </a:rPr>
              <a:t>Sequential seating repeats 100% of neighbour pairs when regenerated (measured); fixed patterns can be guessed.</a:t>
            </a:r>
            <a:endParaRPr lang="en-US" sz="1600" dirty="0"/>
          </a:p>
        </p:txBody>
      </p:sp>
      <p:sp>
        <p:nvSpPr>
          <p:cNvPr id="14" name="One split only card"/>
          <p:cNvSpPr/>
          <p:nvPr/>
        </p:nvSpPr>
        <p:spPr>
          <a:xfrm>
            <a:off x="548640" y="3611880"/>
            <a:ext cx="5440680" cy="2057400"/>
          </a:xfrm>
          <a:prstGeom prst="roundRect">
            <a:avLst>
              <a:gd name="adj" fmla="val 3556"/>
            </a:avLst>
          </a:prstGeom>
          <a:solidFill>
            <a:srgbClr val="F6F8FB"/>
          </a:solidFill>
          <a:ln w="9525">
            <a:solidFill>
              <a:srgbClr val="D5DCE6"/>
            </a:solidFill>
            <a:prstDash val="solid"/>
          </a:ln>
        </p:spPr>
      </p:sp>
      <p:sp>
        <p:nvSpPr>
          <p:cNvPr id="15" name="icon circle"/>
          <p:cNvSpPr/>
          <p:nvPr/>
        </p:nvSpPr>
        <p:spPr>
          <a:xfrm>
            <a:off x="777240" y="3840480"/>
            <a:ext cx="548640" cy="548640"/>
          </a:xfrm>
          <a:prstGeom prst="ellipse">
            <a:avLst/>
          </a:prstGeom>
          <a:solidFill>
            <a:srgbClr val="6250D6"/>
          </a:solidFill>
          <a:ln w="12700">
            <a:solidFill>
              <a:srgbClr val="6250D6"/>
            </a:solidFill>
            <a:prstDash val="solid"/>
          </a:ln>
        </p:spPr>
      </p:sp>
      <p:pic>
        <p:nvPicPr>
          <p:cNvPr id="16" name="Image 2" descr="One split only">    </p:cNvPr>
          <p:cNvPicPr>
            <a:picLocks noChangeAspect="1"/>
          </p:cNvPicPr>
          <p:nvPr/>
        </p:nvPicPr>
        <p:blipFill>
          <a:blip r:embed="rId3"/>
          <a:stretch>
            <a:fillRect/>
          </a:stretch>
        </p:blipFill>
        <p:spPr>
          <a:xfrm>
            <a:off x="886968" y="3950208"/>
            <a:ext cx="329184" cy="329184"/>
          </a:xfrm>
          <a:prstGeom prst="rect">
            <a:avLst/>
          </a:prstGeom>
        </p:spPr>
      </p:pic>
      <p:sp>
        <p:nvSpPr>
          <p:cNvPr id="17" name="Text 11"/>
          <p:cNvSpPr txBox="1"/>
          <p:nvPr/>
        </p:nvSpPr>
        <p:spPr>
          <a:xfrm>
            <a:off x="1463040" y="3794760"/>
            <a:ext cx="434340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Few rules</a:t>
            </a:r>
            <a:endParaRPr lang="en-US" sz="1600" dirty="0"/>
          </a:p>
        </p:txBody>
      </p:sp>
      <p:sp>
        <p:nvSpPr>
          <p:cNvPr id="18" name="Text 12"/>
          <p:cNvSpPr txBox="1"/>
          <p:nvPr/>
        </p:nvSpPr>
        <p:spPr>
          <a:xfrm>
            <a:off x="777240" y="4480560"/>
            <a:ext cx="4983480" cy="1051560"/>
          </a:xfrm>
          <a:prstGeom prst="rect">
            <a:avLst/>
          </a:prstGeom>
          <a:noFill/>
          <a:ln/>
        </p:spPr>
        <p:txBody>
          <a:bodyPr wrap="square" lIns="0" tIns="0" rIns="0" bIns="0" rtlCol="0" anchor="t"/>
          <a:lstStyle/>
          <a:p>
            <a:pPr indent="0" marL="0">
              <a:spcAft>
                <a:spcPts val="400"/>
              </a:spcAft>
              <a:buNone/>
            </a:pPr>
            <a:r>
              <a:rPr lang="en-US" sz="1600" dirty="0">
                <a:solidFill>
                  <a:srgbClr val="475569"/>
                </a:solidFill>
              </a:rPr>
              <a:t>Subject clashes, roll-number spacing, accessible seats and department mix are hard by hand; the base paper interleaves two subjects only.</a:t>
            </a:r>
            <a:endParaRPr lang="en-US" sz="1600" dirty="0"/>
          </a:p>
        </p:txBody>
      </p:sp>
      <p:sp>
        <p:nvSpPr>
          <p:cNvPr id="19" name="Not usable card"/>
          <p:cNvSpPr/>
          <p:nvPr/>
        </p:nvSpPr>
        <p:spPr>
          <a:xfrm>
            <a:off x="6172200" y="3611880"/>
            <a:ext cx="5440680" cy="2057400"/>
          </a:xfrm>
          <a:prstGeom prst="roundRect">
            <a:avLst>
              <a:gd name="adj" fmla="val 3556"/>
            </a:avLst>
          </a:prstGeom>
          <a:solidFill>
            <a:srgbClr val="F6F8FB"/>
          </a:solidFill>
          <a:ln w="9525">
            <a:solidFill>
              <a:srgbClr val="D5DCE6"/>
            </a:solidFill>
            <a:prstDash val="solid"/>
          </a:ln>
        </p:spPr>
      </p:sp>
      <p:sp>
        <p:nvSpPr>
          <p:cNvPr id="20" name="icon circle"/>
          <p:cNvSpPr/>
          <p:nvPr/>
        </p:nvSpPr>
        <p:spPr>
          <a:xfrm>
            <a:off x="6400800" y="3840480"/>
            <a:ext cx="548640" cy="548640"/>
          </a:xfrm>
          <a:prstGeom prst="ellipse">
            <a:avLst/>
          </a:prstGeom>
          <a:solidFill>
            <a:srgbClr val="1BAF7A"/>
          </a:solidFill>
          <a:ln w="12700">
            <a:solidFill>
              <a:srgbClr val="1BAF7A"/>
            </a:solidFill>
            <a:prstDash val="solid"/>
          </a:ln>
        </p:spPr>
      </p:sp>
      <p:pic>
        <p:nvPicPr>
          <p:cNvPr id="21" name="Image 3" descr="Not usable">    </p:cNvPr>
          <p:cNvPicPr>
            <a:picLocks noChangeAspect="1"/>
          </p:cNvPicPr>
          <p:nvPr/>
        </p:nvPicPr>
        <p:blipFill>
          <a:blip r:embed="rId4"/>
          <a:stretch>
            <a:fillRect/>
          </a:stretch>
        </p:blipFill>
        <p:spPr>
          <a:xfrm>
            <a:off x="6510528" y="3950208"/>
            <a:ext cx="329184" cy="329184"/>
          </a:xfrm>
          <a:prstGeom prst="rect">
            <a:avLst/>
          </a:prstGeom>
        </p:spPr>
      </p:pic>
      <p:sp>
        <p:nvSpPr>
          <p:cNvPr id="22" name="Text 15"/>
          <p:cNvSpPr txBox="1"/>
          <p:nvPr/>
        </p:nvSpPr>
        <p:spPr>
          <a:xfrm>
            <a:off x="7086600" y="3794760"/>
            <a:ext cx="434340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No digital access</a:t>
            </a:r>
            <a:endParaRPr lang="en-US" sz="1600" dirty="0"/>
          </a:p>
        </p:txBody>
      </p:sp>
      <p:sp>
        <p:nvSpPr>
          <p:cNvPr id="23" name="Text 16"/>
          <p:cNvSpPr txBox="1"/>
          <p:nvPr/>
        </p:nvSpPr>
        <p:spPr>
          <a:xfrm>
            <a:off x="6400800" y="4480560"/>
            <a:ext cx="4983480" cy="1051560"/>
          </a:xfrm>
          <a:prstGeom prst="rect">
            <a:avLst/>
          </a:prstGeom>
          <a:noFill/>
          <a:ln/>
        </p:spPr>
        <p:txBody>
          <a:bodyPr wrap="square" lIns="0" tIns="0" rIns="0" bIns="0" rtlCol="0" anchor="t"/>
          <a:lstStyle/>
          <a:p>
            <a:pPr indent="0" marL="0">
              <a:spcAft>
                <a:spcPts val="400"/>
              </a:spcAft>
              <a:buNone/>
            </a:pPr>
            <a:r>
              <a:rPr lang="en-US" sz="1600" dirty="0">
                <a:solidFill>
                  <a:srgbClr val="475569"/>
                </a:solidFill>
              </a:rPr>
              <a:t>Printed charts only: candidates cannot look up a seat, and staff cannot track attendance or audit changes.</a:t>
            </a:r>
            <a:endParaRPr lang="en-US" sz="16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Research gap</a:t>
            </a:r>
            <a:endParaRPr lang="en-US" sz="3200" dirty="0"/>
          </a:p>
        </p:txBody>
      </p:sp>
      <p:sp>
        <p:nvSpPr>
          <p:cNvPr id="4" name="gap Modality"/>
          <p:cNvSpPr/>
          <p:nvPr/>
        </p:nvSpPr>
        <p:spPr>
          <a:xfrm>
            <a:off x="548640" y="1325880"/>
            <a:ext cx="2377440" cy="749808"/>
          </a:xfrm>
          <a:prstGeom prst="roundRect">
            <a:avLst>
              <a:gd name="adj" fmla="val 7317"/>
            </a:avLst>
          </a:prstGeom>
          <a:solidFill>
            <a:srgbClr val="1B2A41"/>
          </a:solidFill>
          <a:ln w="12700">
            <a:solidFill>
              <a:srgbClr val="1B2A41"/>
            </a:solidFill>
            <a:prstDash val="solid"/>
          </a:ln>
        </p:spPr>
      </p:sp>
      <p:sp>
        <p:nvSpPr>
          <p:cNvPr id="5" name="Text 2"/>
          <p:cNvSpPr txBox="1"/>
          <p:nvPr/>
        </p:nvSpPr>
        <p:spPr>
          <a:xfrm>
            <a:off x="548640" y="1325880"/>
            <a:ext cx="2377440" cy="749808"/>
          </a:xfrm>
          <a:prstGeom prst="rect">
            <a:avLst/>
          </a:prstGeom>
          <a:noFill/>
          <a:ln/>
        </p:spPr>
        <p:txBody>
          <a:bodyPr wrap="square" lIns="0" tIns="0" rIns="0" bIns="0" rtlCol="0" anchor="ctr"/>
          <a:lstStyle/>
          <a:p>
            <a:pPr algn="ctr" indent="0" marL="0">
              <a:buNone/>
            </a:pPr>
            <a:r>
              <a:rPr lang="en-US" sz="1600" b="1" dirty="0">
                <a:solidFill>
                  <a:srgbClr val="FFFFFF"/>
                </a:solidFill>
              </a:rPr>
              <a:t>Rules</a:t>
            </a:r>
            <a:endParaRPr lang="en-US" sz="1600" dirty="0"/>
          </a:p>
        </p:txBody>
      </p:sp>
      <p:sp>
        <p:nvSpPr>
          <p:cNvPr id="6" name="Text 3"/>
          <p:cNvSpPr txBox="1"/>
          <p:nvPr/>
        </p:nvSpPr>
        <p:spPr>
          <a:xfrm>
            <a:off x="3154680" y="1325880"/>
            <a:ext cx="8503920" cy="749808"/>
          </a:xfrm>
          <a:prstGeom prst="rect">
            <a:avLst/>
          </a:prstGeom>
          <a:noFill/>
          <a:ln/>
        </p:spPr>
        <p:txBody>
          <a:bodyPr wrap="square" lIns="0" tIns="0" rIns="0" bIns="0" rtlCol="0" anchor="ctr"/>
          <a:lstStyle/>
          <a:p>
            <a:pPr indent="0" marL="0">
              <a:buNone/>
            </a:pPr>
            <a:r>
              <a:rPr lang="en-US" sz="1700" dirty="0">
                <a:solidFill>
                  <a:srgbClr val="0F172A"/>
                </a:solidFill>
              </a:rPr>
              <a:t>Existing tools follow fixed sort or interleave rules; few guarantee that no neighbour, diagonals included, writes the same paper [1], [4].</a:t>
            </a:r>
            <a:endParaRPr lang="en-US" sz="1700" dirty="0"/>
          </a:p>
        </p:txBody>
      </p:sp>
      <p:sp>
        <p:nvSpPr>
          <p:cNvPr id="7" name="gap Transparency"/>
          <p:cNvSpPr/>
          <p:nvPr/>
        </p:nvSpPr>
        <p:spPr>
          <a:xfrm>
            <a:off x="548640" y="2240280"/>
            <a:ext cx="2377440" cy="749808"/>
          </a:xfrm>
          <a:prstGeom prst="roundRect">
            <a:avLst>
              <a:gd name="adj" fmla="val 7317"/>
            </a:avLst>
          </a:prstGeom>
          <a:solidFill>
            <a:srgbClr val="1B2A41"/>
          </a:solidFill>
          <a:ln w="12700">
            <a:solidFill>
              <a:srgbClr val="1B2A41"/>
            </a:solidFill>
            <a:prstDash val="solid"/>
          </a:ln>
        </p:spPr>
      </p:sp>
      <p:sp>
        <p:nvSpPr>
          <p:cNvPr id="8" name="Text 5"/>
          <p:cNvSpPr txBox="1"/>
          <p:nvPr/>
        </p:nvSpPr>
        <p:spPr>
          <a:xfrm>
            <a:off x="548640" y="2240280"/>
            <a:ext cx="2377440" cy="749808"/>
          </a:xfrm>
          <a:prstGeom prst="rect">
            <a:avLst/>
          </a:prstGeom>
          <a:noFill/>
          <a:ln/>
        </p:spPr>
        <p:txBody>
          <a:bodyPr wrap="square" lIns="0" tIns="0" rIns="0" bIns="0" rtlCol="0" anchor="ctr"/>
          <a:lstStyle/>
          <a:p>
            <a:pPr algn="ctr" indent="0" marL="0">
              <a:buNone/>
            </a:pPr>
            <a:r>
              <a:rPr lang="en-US" sz="1600" b="1" dirty="0">
                <a:solidFill>
                  <a:srgbClr val="FFFFFF"/>
                </a:solidFill>
              </a:rPr>
              <a:t>Spacing</a:t>
            </a:r>
            <a:endParaRPr lang="en-US" sz="1600" dirty="0"/>
          </a:p>
        </p:txBody>
      </p:sp>
      <p:sp>
        <p:nvSpPr>
          <p:cNvPr id="9" name="Text 6"/>
          <p:cNvSpPr txBox="1"/>
          <p:nvPr/>
        </p:nvSpPr>
        <p:spPr>
          <a:xfrm>
            <a:off x="3154680" y="2240280"/>
            <a:ext cx="8503920" cy="749808"/>
          </a:xfrm>
          <a:prstGeom prst="rect">
            <a:avLst/>
          </a:prstGeom>
          <a:noFill/>
          <a:ln/>
        </p:spPr>
        <p:txBody>
          <a:bodyPr wrap="square" lIns="0" tIns="0" rIns="0" bIns="0" rtlCol="0" anchor="ctr"/>
          <a:lstStyle/>
          <a:p>
            <a:pPr indent="0" marL="0">
              <a:buNone/>
            </a:pPr>
            <a:r>
              <a:rPr lang="en-US" sz="1700" dirty="0">
                <a:solidFill>
                  <a:srgbClr val="0F172A"/>
                </a:solidFill>
              </a:rPr>
              <a:t>Roll-number adjacency and accessible-seat needs are rarely enforced together with paper separation.</a:t>
            </a:r>
            <a:endParaRPr lang="en-US" sz="1700" dirty="0"/>
          </a:p>
        </p:txBody>
      </p:sp>
      <p:sp>
        <p:nvSpPr>
          <p:cNvPr id="10" name="gap Generalisation"/>
          <p:cNvSpPr/>
          <p:nvPr/>
        </p:nvSpPr>
        <p:spPr>
          <a:xfrm>
            <a:off x="548640" y="3154680"/>
            <a:ext cx="2377440" cy="749808"/>
          </a:xfrm>
          <a:prstGeom prst="roundRect">
            <a:avLst>
              <a:gd name="adj" fmla="val 7317"/>
            </a:avLst>
          </a:prstGeom>
          <a:solidFill>
            <a:srgbClr val="1B2A41"/>
          </a:solidFill>
          <a:ln w="12700">
            <a:solidFill>
              <a:srgbClr val="1B2A41"/>
            </a:solidFill>
            <a:prstDash val="solid"/>
          </a:ln>
        </p:spPr>
      </p:sp>
      <p:sp>
        <p:nvSpPr>
          <p:cNvPr id="11" name="Text 8"/>
          <p:cNvSpPr txBox="1"/>
          <p:nvPr/>
        </p:nvSpPr>
        <p:spPr>
          <a:xfrm>
            <a:off x="548640" y="3154680"/>
            <a:ext cx="2377440" cy="749808"/>
          </a:xfrm>
          <a:prstGeom prst="rect">
            <a:avLst/>
          </a:prstGeom>
          <a:noFill/>
          <a:ln/>
        </p:spPr>
        <p:txBody>
          <a:bodyPr wrap="square" lIns="0" tIns="0" rIns="0" bIns="0" rtlCol="0" anchor="ctr"/>
          <a:lstStyle/>
          <a:p>
            <a:pPr algn="ctr" indent="0" marL="0">
              <a:buNone/>
            </a:pPr>
            <a:r>
              <a:rPr lang="en-US" sz="1600" b="1" dirty="0">
                <a:solidFill>
                  <a:srgbClr val="FFFFFF"/>
                </a:solidFill>
              </a:rPr>
              <a:t>Randomness</a:t>
            </a:r>
            <a:endParaRPr lang="en-US" sz="1600" dirty="0"/>
          </a:p>
        </p:txBody>
      </p:sp>
      <p:sp>
        <p:nvSpPr>
          <p:cNvPr id="12" name="Text 9"/>
          <p:cNvSpPr txBox="1"/>
          <p:nvPr/>
        </p:nvSpPr>
        <p:spPr>
          <a:xfrm>
            <a:off x="3154680" y="3154680"/>
            <a:ext cx="8503920" cy="749808"/>
          </a:xfrm>
          <a:prstGeom prst="rect">
            <a:avLst/>
          </a:prstGeom>
          <a:noFill/>
          <a:ln/>
        </p:spPr>
        <p:txBody>
          <a:bodyPr wrap="square" lIns="0" tIns="0" rIns="0" bIns="0" rtlCol="0" anchor="ctr"/>
          <a:lstStyle/>
          <a:p>
            <a:pPr indent="0" marL="0">
              <a:buNone/>
            </a:pPr>
            <a:r>
              <a:rPr lang="en-US" sz="1700" dirty="0">
                <a:solidFill>
                  <a:srgbClr val="0F172A"/>
                </a:solidFill>
              </a:rPr>
              <a:t>Pure shuffling breaks the rules and fixed patterns are predictable: rule-respecting randomness is missing [9].</a:t>
            </a:r>
            <a:endParaRPr lang="en-US" sz="1700" dirty="0"/>
          </a:p>
        </p:txBody>
      </p:sp>
      <p:sp>
        <p:nvSpPr>
          <p:cNvPr id="13" name="gap Generated media"/>
          <p:cNvSpPr/>
          <p:nvPr/>
        </p:nvSpPr>
        <p:spPr>
          <a:xfrm>
            <a:off x="548640" y="4069080"/>
            <a:ext cx="2377440" cy="749808"/>
          </a:xfrm>
          <a:prstGeom prst="roundRect">
            <a:avLst>
              <a:gd name="adj" fmla="val 7317"/>
            </a:avLst>
          </a:prstGeom>
          <a:solidFill>
            <a:srgbClr val="1B2A41"/>
          </a:solidFill>
          <a:ln w="12700">
            <a:solidFill>
              <a:srgbClr val="1B2A41"/>
            </a:solidFill>
            <a:prstDash val="solid"/>
          </a:ln>
        </p:spPr>
      </p:sp>
      <p:sp>
        <p:nvSpPr>
          <p:cNvPr id="14" name="Text 11"/>
          <p:cNvSpPr txBox="1"/>
          <p:nvPr/>
        </p:nvSpPr>
        <p:spPr>
          <a:xfrm>
            <a:off x="548640" y="4069080"/>
            <a:ext cx="2377440" cy="749808"/>
          </a:xfrm>
          <a:prstGeom prst="rect">
            <a:avLst/>
          </a:prstGeom>
          <a:noFill/>
          <a:ln/>
        </p:spPr>
        <p:txBody>
          <a:bodyPr wrap="square" lIns="0" tIns="0" rIns="0" bIns="0" rtlCol="0" anchor="ctr"/>
          <a:lstStyle/>
          <a:p>
            <a:pPr algn="ctr" indent="0" marL="0">
              <a:buNone/>
            </a:pPr>
            <a:r>
              <a:rPr lang="en-US" sz="1600" b="1" dirty="0">
                <a:solidFill>
                  <a:srgbClr val="FFFFFF"/>
                </a:solidFill>
              </a:rPr>
              <a:t>Evidence</a:t>
            </a:r>
            <a:endParaRPr lang="en-US" sz="1600" dirty="0"/>
          </a:p>
        </p:txBody>
      </p:sp>
      <p:sp>
        <p:nvSpPr>
          <p:cNvPr id="15" name="Text 12"/>
          <p:cNvSpPr txBox="1"/>
          <p:nvPr/>
        </p:nvSpPr>
        <p:spPr>
          <a:xfrm>
            <a:off x="3154680" y="4069080"/>
            <a:ext cx="8503920" cy="749808"/>
          </a:xfrm>
          <a:prstGeom prst="rect">
            <a:avLst/>
          </a:prstGeom>
          <a:noFill/>
          <a:ln/>
        </p:spPr>
        <p:txBody>
          <a:bodyPr wrap="square" lIns="0" tIns="0" rIns="0" bIns="0" rtlCol="0" anchor="ctr"/>
          <a:lstStyle/>
          <a:p>
            <a:pPr indent="0" marL="0">
              <a:buNone/>
            </a:pPr>
            <a:r>
              <a:rPr lang="en-US" sz="1700" dirty="0">
                <a:solidFill>
                  <a:srgbClr val="0F172A"/>
                </a:solidFill>
              </a:rPr>
              <a:t>Reviewed work reports no measured conflict counts or solve times; the base paper states only a 3-second target.</a:t>
            </a:r>
            <a:endParaRPr lang="en-US" sz="1700" dirty="0"/>
          </a:p>
        </p:txBody>
      </p:sp>
      <p:sp>
        <p:nvSpPr>
          <p:cNvPr id="16" name="gap Application"/>
          <p:cNvSpPr/>
          <p:nvPr/>
        </p:nvSpPr>
        <p:spPr>
          <a:xfrm>
            <a:off x="548640" y="4983480"/>
            <a:ext cx="2377440" cy="749808"/>
          </a:xfrm>
          <a:prstGeom prst="roundRect">
            <a:avLst>
              <a:gd name="adj" fmla="val 7317"/>
            </a:avLst>
          </a:prstGeom>
          <a:solidFill>
            <a:srgbClr val="1B2A41"/>
          </a:solidFill>
          <a:ln w="12700">
            <a:solidFill>
              <a:srgbClr val="1B2A41"/>
            </a:solidFill>
            <a:prstDash val="solid"/>
          </a:ln>
        </p:spPr>
      </p:sp>
      <p:sp>
        <p:nvSpPr>
          <p:cNvPr id="17" name="Text 14"/>
          <p:cNvSpPr txBox="1"/>
          <p:nvPr/>
        </p:nvSpPr>
        <p:spPr>
          <a:xfrm>
            <a:off x="548640" y="4983480"/>
            <a:ext cx="2377440" cy="749808"/>
          </a:xfrm>
          <a:prstGeom prst="rect">
            <a:avLst/>
          </a:prstGeom>
          <a:noFill/>
          <a:ln/>
        </p:spPr>
        <p:txBody>
          <a:bodyPr wrap="square" lIns="0" tIns="0" rIns="0" bIns="0" rtlCol="0" anchor="ctr"/>
          <a:lstStyle/>
          <a:p>
            <a:pPr algn="ctr" indent="0" marL="0">
              <a:buNone/>
            </a:pPr>
            <a:r>
              <a:rPr lang="en-US" sz="1600" b="1" dirty="0">
                <a:solidFill>
                  <a:srgbClr val="FFFFFF"/>
                </a:solidFill>
              </a:rPr>
              <a:t>Application</a:t>
            </a:r>
            <a:endParaRPr lang="en-US" sz="1600" dirty="0"/>
          </a:p>
        </p:txBody>
      </p:sp>
      <p:sp>
        <p:nvSpPr>
          <p:cNvPr id="18" name="Text 15"/>
          <p:cNvSpPr txBox="1"/>
          <p:nvPr/>
        </p:nvSpPr>
        <p:spPr>
          <a:xfrm>
            <a:off x="3154680" y="4983480"/>
            <a:ext cx="8503920" cy="749808"/>
          </a:xfrm>
          <a:prstGeom prst="rect">
            <a:avLst/>
          </a:prstGeom>
          <a:noFill/>
          <a:ln/>
        </p:spPr>
        <p:txBody>
          <a:bodyPr wrap="square" lIns="0" tIns="0" rIns="0" bIns="0" rtlCol="0" anchor="ctr"/>
          <a:lstStyle/>
          <a:p>
            <a:pPr indent="0" marL="0">
              <a:buNone/>
            </a:pPr>
            <a:r>
              <a:rPr lang="en-US" sz="1700" dirty="0">
                <a:solidFill>
                  <a:srgbClr val="0F172A"/>
                </a:solidFill>
              </a:rPr>
              <a:t>No single tool joins validated import, optimisation, live swap checks, QR slips, attendance and an audit trail.</a:t>
            </a:r>
            <a:endParaRPr lang="en-US" sz="17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Problem statement</a:t>
            </a:r>
            <a:endParaRPr lang="en-US" sz="3200" dirty="0"/>
          </a:p>
        </p:txBody>
      </p:sp>
      <p:sp>
        <p:nvSpPr>
          <p:cNvPr id="4" name="statement box"/>
          <p:cNvSpPr/>
          <p:nvPr/>
        </p:nvSpPr>
        <p:spPr>
          <a:xfrm>
            <a:off x="548640" y="1463040"/>
            <a:ext cx="11094415" cy="2743200"/>
          </a:xfrm>
          <a:prstGeom prst="roundRect">
            <a:avLst>
              <a:gd name="adj" fmla="val 2667"/>
            </a:avLst>
          </a:prstGeom>
          <a:solidFill>
            <a:srgbClr val="EEF2F7"/>
          </a:solidFill>
          <a:ln w="12700">
            <a:solidFill>
              <a:srgbClr val="EEF2F7"/>
            </a:solidFill>
            <a:prstDash val="solid"/>
          </a:ln>
        </p:spPr>
      </p:sp>
      <p:sp>
        <p:nvSpPr>
          <p:cNvPr id="5" name="Text 2"/>
          <p:cNvSpPr txBox="1"/>
          <p:nvPr/>
        </p:nvSpPr>
        <p:spPr>
          <a:xfrm>
            <a:off x="914400" y="1600200"/>
            <a:ext cx="10362895" cy="2468880"/>
          </a:xfrm>
          <a:prstGeom prst="rect">
            <a:avLst/>
          </a:prstGeom>
          <a:noFill/>
          <a:ln/>
        </p:spPr>
        <p:txBody>
          <a:bodyPr wrap="square" lIns="0" tIns="0" rIns="0" bIns="0" rtlCol="0" anchor="ctr"/>
          <a:lstStyle/>
          <a:p>
            <a:pPr indent="0" marL="0">
              <a:buNone/>
            </a:pPr>
            <a:r>
              <a:rPr lang="en-US" sz="2200" dirty="0">
                <a:solidFill>
                  <a:srgbClr val="1B2A41"/>
                </a:solidFill>
                <a:latin typeface="Cambria" pitchFamily="34" charset="0"/>
                <a:ea typeface="Cambria" pitchFamily="34" charset="-122"/>
                <a:cs typeface="Cambria" pitchFamily="34" charset="-120"/>
              </a:rPr>
              <a:t>Given candidate lists, course registrations, hall layouts and a timetable, seat every candidate so that no two neighbours write the same paper, close roll numbers are kept apart and accessible seats are honoured; choose one such plan at random from a recorded seed; and deliver it, with seat lookup, attendance and reports, through a secure web application whose correctness is measured on benchmark sittings.</a:t>
            </a:r>
            <a:endParaRPr lang="en-US" sz="2200" dirty="0"/>
          </a:p>
        </p:txBody>
      </p:sp>
      <p:sp>
        <p:nvSpPr>
          <p:cNvPr id="6" name="Input card"/>
          <p:cNvSpPr/>
          <p:nvPr/>
        </p:nvSpPr>
        <p:spPr>
          <a:xfrm>
            <a:off x="548640" y="4480560"/>
            <a:ext cx="3566160" cy="1325880"/>
          </a:xfrm>
          <a:prstGeom prst="roundRect">
            <a:avLst>
              <a:gd name="adj" fmla="val 5517"/>
            </a:avLst>
          </a:prstGeom>
          <a:solidFill>
            <a:srgbClr val="F6F8FB"/>
          </a:solidFill>
          <a:ln w="9525">
            <a:solidFill>
              <a:srgbClr val="D5DCE6"/>
            </a:solidFill>
            <a:prstDash val="solid"/>
          </a:ln>
        </p:spPr>
      </p:sp>
      <p:sp>
        <p:nvSpPr>
          <p:cNvPr id="7" name="Text 4"/>
          <p:cNvSpPr txBox="1"/>
          <p:nvPr/>
        </p:nvSpPr>
        <p:spPr>
          <a:xfrm>
            <a:off x="777240" y="4663440"/>
            <a:ext cx="3154680" cy="640080"/>
          </a:xfrm>
          <a:prstGeom prst="rect">
            <a:avLst/>
          </a:prstGeom>
          <a:noFill/>
          <a:ln/>
        </p:spPr>
        <p:txBody>
          <a:bodyPr wrap="square" lIns="0" tIns="0" rIns="0" bIns="0" rtlCol="0" anchor="ctr">
            <a:normAutofit/>
          </a:bodyPr>
          <a:lstStyle/>
          <a:p>
            <a:pPr indent="0" marL="0">
              <a:buNone/>
            </a:pPr>
            <a:r>
              <a:rPr lang="en-US" sz="1500" b="1" dirty="0">
                <a:solidFill>
                  <a:srgbClr val="0F172A"/>
                </a:solidFill>
              </a:rPr>
              <a:t>Input</a:t>
            </a:r>
            <a:endParaRPr lang="en-US" sz="1500" dirty="0"/>
          </a:p>
        </p:txBody>
      </p:sp>
      <p:sp>
        <p:nvSpPr>
          <p:cNvPr id="8" name="Text 5"/>
          <p:cNvSpPr txBox="1"/>
          <p:nvPr/>
        </p:nvSpPr>
        <p:spPr>
          <a:xfrm>
            <a:off x="777240" y="5349240"/>
            <a:ext cx="3108960" cy="320040"/>
          </a:xfrm>
          <a:prstGeom prst="rect">
            <a:avLst/>
          </a:prstGeom>
          <a:noFill/>
          <a:ln/>
        </p:spPr>
        <p:txBody>
          <a:bodyPr wrap="square" lIns="0" tIns="0" rIns="0" bIns="0" rtlCol="0" anchor="t"/>
          <a:lstStyle/>
          <a:p>
            <a:pPr indent="0" marL="0">
              <a:spcAft>
                <a:spcPts val="400"/>
              </a:spcAft>
              <a:buNone/>
            </a:pPr>
            <a:r>
              <a:rPr lang="en-US" sz="1400" dirty="0">
                <a:solidFill>
                  <a:srgbClr val="475569"/>
                </a:solidFill>
              </a:rPr>
              <a:t>Candidates, courses, halls, timetable</a:t>
            </a:r>
            <a:endParaRPr lang="en-US" sz="1400" dirty="0"/>
          </a:p>
        </p:txBody>
      </p:sp>
      <p:sp>
        <p:nvSpPr>
          <p:cNvPr id="9" name="Output card"/>
          <p:cNvSpPr/>
          <p:nvPr/>
        </p:nvSpPr>
        <p:spPr>
          <a:xfrm>
            <a:off x="4297680" y="4480560"/>
            <a:ext cx="3566160" cy="1325880"/>
          </a:xfrm>
          <a:prstGeom prst="roundRect">
            <a:avLst>
              <a:gd name="adj" fmla="val 5517"/>
            </a:avLst>
          </a:prstGeom>
          <a:solidFill>
            <a:srgbClr val="F6F8FB"/>
          </a:solidFill>
          <a:ln w="9525">
            <a:solidFill>
              <a:srgbClr val="D5DCE6"/>
            </a:solidFill>
            <a:prstDash val="solid"/>
          </a:ln>
        </p:spPr>
      </p:sp>
      <p:sp>
        <p:nvSpPr>
          <p:cNvPr id="10" name="Text 7"/>
          <p:cNvSpPr txBox="1"/>
          <p:nvPr/>
        </p:nvSpPr>
        <p:spPr>
          <a:xfrm>
            <a:off x="4526280" y="4663440"/>
            <a:ext cx="3154680" cy="640080"/>
          </a:xfrm>
          <a:prstGeom prst="rect">
            <a:avLst/>
          </a:prstGeom>
          <a:noFill/>
          <a:ln/>
        </p:spPr>
        <p:txBody>
          <a:bodyPr wrap="square" lIns="0" tIns="0" rIns="0" bIns="0" rtlCol="0" anchor="ctr">
            <a:normAutofit/>
          </a:bodyPr>
          <a:lstStyle/>
          <a:p>
            <a:pPr indent="0" marL="0">
              <a:buNone/>
            </a:pPr>
            <a:r>
              <a:rPr lang="en-US" sz="1500" b="1" dirty="0">
                <a:solidFill>
                  <a:srgbClr val="0F172A"/>
                </a:solidFill>
              </a:rPr>
              <a:t>Output</a:t>
            </a:r>
            <a:endParaRPr lang="en-US" sz="1500" dirty="0"/>
          </a:p>
        </p:txBody>
      </p:sp>
      <p:sp>
        <p:nvSpPr>
          <p:cNvPr id="11" name="Text 8"/>
          <p:cNvSpPr txBox="1"/>
          <p:nvPr/>
        </p:nvSpPr>
        <p:spPr>
          <a:xfrm>
            <a:off x="4526280" y="5349240"/>
            <a:ext cx="3108960" cy="320040"/>
          </a:xfrm>
          <a:prstGeom prst="rect">
            <a:avLst/>
          </a:prstGeom>
          <a:noFill/>
          <a:ln/>
        </p:spPr>
        <p:txBody>
          <a:bodyPr wrap="square" lIns="0" tIns="0" rIns="0" bIns="0" rtlCol="0" anchor="t"/>
          <a:lstStyle/>
          <a:p>
            <a:pPr indent="0" marL="0">
              <a:spcAft>
                <a:spcPts val="400"/>
              </a:spcAft>
              <a:buNone/>
            </a:pPr>
            <a:r>
              <a:rPr lang="en-US" sz="1400" dirty="0">
                <a:solidFill>
                  <a:srgbClr val="475569"/>
                </a:solidFill>
              </a:rPr>
              <a:t>Seating plan, scorecard, charts, QR slips</a:t>
            </a:r>
            <a:endParaRPr lang="en-US" sz="1400" dirty="0"/>
          </a:p>
        </p:txBody>
      </p:sp>
      <p:sp>
        <p:nvSpPr>
          <p:cNvPr id="12" name="Extra card"/>
          <p:cNvSpPr/>
          <p:nvPr/>
        </p:nvSpPr>
        <p:spPr>
          <a:xfrm>
            <a:off x="8046720" y="4480560"/>
            <a:ext cx="3566160" cy="1325880"/>
          </a:xfrm>
          <a:prstGeom prst="roundRect">
            <a:avLst>
              <a:gd name="adj" fmla="val 5517"/>
            </a:avLst>
          </a:prstGeom>
          <a:solidFill>
            <a:srgbClr val="F6F8FB"/>
          </a:solidFill>
          <a:ln w="9525">
            <a:solidFill>
              <a:srgbClr val="D5DCE6"/>
            </a:solidFill>
            <a:prstDash val="solid"/>
          </a:ln>
        </p:spPr>
      </p:sp>
      <p:sp>
        <p:nvSpPr>
          <p:cNvPr id="13" name="Text 10"/>
          <p:cNvSpPr txBox="1"/>
          <p:nvPr/>
        </p:nvSpPr>
        <p:spPr>
          <a:xfrm>
            <a:off x="8275320" y="4663440"/>
            <a:ext cx="3154680" cy="640080"/>
          </a:xfrm>
          <a:prstGeom prst="rect">
            <a:avLst/>
          </a:prstGeom>
          <a:noFill/>
          <a:ln/>
        </p:spPr>
        <p:txBody>
          <a:bodyPr wrap="square" lIns="0" tIns="0" rIns="0" bIns="0" rtlCol="0" anchor="ctr">
            <a:normAutofit/>
          </a:bodyPr>
          <a:lstStyle/>
          <a:p>
            <a:pPr indent="0" marL="0">
              <a:buNone/>
            </a:pPr>
            <a:r>
              <a:rPr lang="en-US" sz="1500" b="1" dirty="0">
                <a:solidFill>
                  <a:srgbClr val="0F172A"/>
                </a:solidFill>
              </a:rPr>
              <a:t>Extra</a:t>
            </a:r>
            <a:endParaRPr lang="en-US" sz="1500" dirty="0"/>
          </a:p>
        </p:txBody>
      </p:sp>
      <p:sp>
        <p:nvSpPr>
          <p:cNvPr id="14" name="Text 11"/>
          <p:cNvSpPr txBox="1"/>
          <p:nvPr/>
        </p:nvSpPr>
        <p:spPr>
          <a:xfrm>
            <a:off x="8275320" y="5349240"/>
            <a:ext cx="3108960" cy="320040"/>
          </a:xfrm>
          <a:prstGeom prst="rect">
            <a:avLst/>
          </a:prstGeom>
          <a:noFill/>
          <a:ln/>
        </p:spPr>
        <p:txBody>
          <a:bodyPr wrap="square" lIns="0" tIns="0" rIns="0" bIns="0" rtlCol="0" anchor="t"/>
          <a:lstStyle/>
          <a:p>
            <a:pPr indent="0" marL="0">
              <a:spcAft>
                <a:spcPts val="400"/>
              </a:spcAft>
              <a:buNone/>
            </a:pPr>
            <a:r>
              <a:rPr lang="en-US" sz="1400" dirty="0">
                <a:solidFill>
                  <a:srgbClr val="475569"/>
                </a:solidFill>
              </a:rPr>
              <a:t>Reproducible seed + audit trail</a:t>
            </a:r>
            <a:endParaRPr lang="en-US" sz="14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Objectives</a:t>
            </a:r>
            <a:endParaRPr lang="en-US" sz="3200" dirty="0"/>
          </a:p>
        </p:txBody>
      </p:sp>
      <p:sp>
        <p:nvSpPr>
          <p:cNvPr id="4" name="Text 1"/>
          <p:cNvSpPr txBox="1"/>
          <p:nvPr/>
        </p:nvSpPr>
        <p:spPr>
          <a:xfrm>
            <a:off x="548640" y="1325880"/>
            <a:ext cx="11094415" cy="4754880"/>
          </a:xfrm>
          <a:prstGeom prst="rect">
            <a:avLst/>
          </a:prstGeom>
          <a:noFill/>
          <a:ln/>
        </p:spPr>
        <p:txBody>
          <a:bodyPr wrap="square" lIns="0" tIns="0" rIns="0" bIns="0" rtlCol="0" anchor="t"/>
          <a:lstStyle/>
          <a:p>
            <a:pPr marL="228600" indent="-228600">
              <a:spcAft>
                <a:spcPts val="1000"/>
              </a:spcAft>
              <a:buSzPct val="100000"/>
              <a:buChar char="•"/>
            </a:pPr>
            <a:r>
              <a:rPr lang="en-US" sz="1800" dirty="0">
                <a:solidFill>
                  <a:srgbClr val="0F172A"/>
                </a:solidFill>
              </a:rPr>
              <a:t>Automate seat allocation from uploaded student, course, hall and timetable data, with row-level validation.</a:t>
            </a:r>
            <a:pPr indent="0" marL="0">
              <a:spcAft>
                <a:spcPts val="1000"/>
              </a:spcAft>
              <a:buNone/>
            </a:pPr>
            <a:pPr indent="0" marL="0">
              <a:spcAft>
                <a:spcPts val="1000"/>
              </a:spcAft>
              <a:buNone/>
            </a:pPr>
            <a:endParaRPr lang="en-US" sz="1800" dirty="0"/>
          </a:p>
          <a:p>
            <a:pPr marL="228600" indent="-228600">
              <a:spcAft>
                <a:spcPts val="1000"/>
              </a:spcAft>
              <a:buSzPct val="100000"/>
              <a:buChar char="•"/>
            </a:pPr>
            <a:r>
              <a:rPr lang="en-US" sz="1800" dirty="0">
                <a:solidFill>
                  <a:srgbClr val="0F172A"/>
                </a:solidFill>
              </a:rPr>
              <a:t>Satisfy capacity, subject-combination and roll-number constraints with constraint optimisation (OR-Tools CP-SAT).</a:t>
            </a:r>
            <a:pPr indent="0" marL="0">
              <a:spcAft>
                <a:spcPts val="1000"/>
              </a:spcAft>
              <a:buNone/>
            </a:pPr>
            <a:pPr indent="0" marL="0">
              <a:spcAft>
                <a:spcPts val="1000"/>
              </a:spcAft>
              <a:buNone/>
            </a:pPr>
            <a:endParaRPr lang="en-US" sz="1800" dirty="0"/>
          </a:p>
          <a:p>
            <a:pPr marL="228600" indent="-228600">
              <a:spcAft>
                <a:spcPts val="1000"/>
              </a:spcAft>
              <a:buSzPct val="100000"/>
              <a:buChar char="•"/>
            </a:pPr>
            <a:r>
              <a:rPr lang="en-US" sz="1800" dirty="0">
                <a:solidFill>
                  <a:srgbClr val="0F172A"/>
                </a:solidFill>
              </a:rPr>
              <a:t>Enforce anti-cheating spacing (no same-paper neighbours, diagonals included) and randomise seating from a recorded seed.</a:t>
            </a:r>
            <a:pPr indent="0" marL="0">
              <a:spcAft>
                <a:spcPts val="1000"/>
              </a:spcAft>
              <a:buNone/>
            </a:pPr>
            <a:pPr indent="0" marL="0">
              <a:spcAft>
                <a:spcPts val="1000"/>
              </a:spcAft>
              <a:buNone/>
            </a:pPr>
            <a:endParaRPr lang="en-US" sz="1800" dirty="0"/>
          </a:p>
          <a:p>
            <a:pPr marL="228600" indent="-228600">
              <a:spcAft>
                <a:spcPts val="1000"/>
              </a:spcAft>
              <a:buSzPct val="100000"/>
              <a:buChar char="•"/>
            </a:pPr>
            <a:r>
              <a:rPr lang="en-US" sz="1800" dirty="0">
                <a:solidFill>
                  <a:srgbClr val="0F172A"/>
                </a:solidFill>
              </a:rPr>
              <a:t>Generate exportable seating charts, hall lists, invigilator sheets and QR seat slips.</a:t>
            </a:r>
            <a:pPr indent="0" marL="0">
              <a:spcAft>
                <a:spcPts val="1000"/>
              </a:spcAft>
              <a:buNone/>
            </a:pPr>
            <a:pPr indent="0" marL="0">
              <a:spcAft>
                <a:spcPts val="1000"/>
              </a:spcAft>
              <a:buNone/>
            </a:pPr>
            <a:endParaRPr lang="en-US" sz="1800" dirty="0"/>
          </a:p>
          <a:p>
            <a:pPr marL="228600" indent="-228600">
              <a:spcAft>
                <a:spcPts val="1000"/>
              </a:spcAft>
              <a:buSzPct val="100000"/>
              <a:buChar char="•"/>
            </a:pPr>
            <a:r>
              <a:rPr lang="en-US" sz="1800" dirty="0">
                <a:solidFill>
                  <a:srgbClr val="0F172A"/>
                </a:solidFill>
              </a:rPr>
              <a:t>Provide real-time seat lookup and tablet attendance tracking.</a:t>
            </a:r>
            <a:pPr indent="0" marL="0">
              <a:spcAft>
                <a:spcPts val="1000"/>
              </a:spcAft>
              <a:buNone/>
            </a:pPr>
            <a:pPr indent="0" marL="0">
              <a:spcAft>
                <a:spcPts val="1000"/>
              </a:spcAft>
              <a:buNone/>
            </a:pPr>
            <a:endParaRPr lang="en-US" sz="1800" dirty="0"/>
          </a:p>
          <a:p>
            <a:pPr marL="228600" indent="-228600">
              <a:spcAft>
                <a:spcPts val="1000"/>
              </a:spcAft>
              <a:buSzPct val="100000"/>
              <a:buChar char="•"/>
            </a:pPr>
            <a:r>
              <a:rPr lang="en-US" sz="1800" dirty="0">
                <a:solidFill>
                  <a:srgbClr val="0F172A"/>
                </a:solidFill>
              </a:rPr>
              <a:t>Reduce the time and errors of manual preparation, and measure the engine against manual methods.</a:t>
            </a:r>
            <a:pPr indent="0" marL="0">
              <a:spcAft>
                <a:spcPts val="1000"/>
              </a:spcAft>
              <a:buNone/>
            </a:pPr>
            <a:pPr indent="0" marL="0">
              <a:spcAft>
                <a:spcPts val="1000"/>
              </a:spcAft>
              <a:buNone/>
            </a:pPr>
            <a:endParaRPr lang="en-US" sz="1800" dirty="0"/>
          </a:p>
          <a:p>
            <a:pPr marL="228600" indent="-228600">
              <a:spcAft>
                <a:spcPts val="1000"/>
              </a:spcAft>
              <a:buSzPct val="100000"/>
              <a:buChar char="•"/>
            </a:pPr>
            <a:r>
              <a:rPr lang="en-US" sz="1800" dirty="0">
                <a:solidFill>
                  <a:srgbClr val="0F172A"/>
                </a:solidFill>
              </a:rPr>
              <a:t>Verify the system with automated tests and a reproducible benchmark.</a:t>
            </a:r>
            <a:pPr indent="0" marL="0">
              <a:spcAft>
                <a:spcPts val="1000"/>
              </a:spcAft>
              <a:buNone/>
            </a:pPr>
            <a:pPr indent="0" marL="0">
              <a:spcAft>
                <a:spcPts val="1000"/>
              </a:spcAft>
              <a:buNone/>
            </a:pPr>
            <a:endParaRPr lang="en-US" sz="18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Proposed approach</a:t>
            </a:r>
            <a:endParaRPr lang="en-US" sz="3200" dirty="0"/>
          </a:p>
        </p:txBody>
      </p:sp>
      <p:sp>
        <p:nvSpPr>
          <p:cNvPr id="4" name="Text track card"/>
          <p:cNvSpPr/>
          <p:nvPr/>
        </p:nvSpPr>
        <p:spPr>
          <a:xfrm>
            <a:off x="548640" y="1371600"/>
            <a:ext cx="2670048" cy="3017520"/>
          </a:xfrm>
          <a:prstGeom prst="roundRect">
            <a:avLst>
              <a:gd name="adj" fmla="val 2740"/>
            </a:avLst>
          </a:prstGeom>
          <a:solidFill>
            <a:srgbClr val="F6F8FB"/>
          </a:solidFill>
          <a:ln w="9525">
            <a:solidFill>
              <a:srgbClr val="D5DCE6"/>
            </a:solidFill>
            <a:prstDash val="solid"/>
          </a:ln>
        </p:spPr>
      </p:sp>
      <p:sp>
        <p:nvSpPr>
          <p:cNvPr id="5" name="icon circle"/>
          <p:cNvSpPr/>
          <p:nvPr/>
        </p:nvSpPr>
        <p:spPr>
          <a:xfrm>
            <a:off x="777240" y="1600200"/>
            <a:ext cx="548640" cy="548640"/>
          </a:xfrm>
          <a:prstGeom prst="ellipse">
            <a:avLst/>
          </a:prstGeom>
          <a:solidFill>
            <a:srgbClr val="6250D6"/>
          </a:solidFill>
          <a:ln w="12700">
            <a:solidFill>
              <a:srgbClr val="6250D6"/>
            </a:solidFill>
            <a:prstDash val="solid"/>
          </a:ln>
        </p:spPr>
      </p:sp>
      <p:pic>
        <p:nvPicPr>
          <p:cNvPr id="6" name="Image 0" descr="Text track">    </p:cNvPr>
          <p:cNvPicPr>
            <a:picLocks noChangeAspect="1"/>
          </p:cNvPicPr>
          <p:nvPr/>
        </p:nvPicPr>
        <p:blipFill>
          <a:blip r:embed="rId1"/>
          <a:stretch>
            <a:fillRect/>
          </a:stretch>
        </p:blipFill>
        <p:spPr>
          <a:xfrm>
            <a:off x="886968" y="1709928"/>
            <a:ext cx="329184" cy="329184"/>
          </a:xfrm>
          <a:prstGeom prst="rect">
            <a:avLst/>
          </a:prstGeom>
        </p:spPr>
      </p:pic>
      <p:sp>
        <p:nvSpPr>
          <p:cNvPr id="7" name="Text 3"/>
          <p:cNvSpPr txBox="1"/>
          <p:nvPr/>
        </p:nvSpPr>
        <p:spPr>
          <a:xfrm>
            <a:off x="1463040" y="1554480"/>
            <a:ext cx="1572768"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Validated import</a:t>
            </a:r>
            <a:endParaRPr lang="en-US" sz="1600" dirty="0"/>
          </a:p>
        </p:txBody>
      </p:sp>
      <p:sp>
        <p:nvSpPr>
          <p:cNvPr id="8" name="Text 4"/>
          <p:cNvSpPr txBox="1"/>
          <p:nvPr/>
        </p:nvSpPr>
        <p:spPr>
          <a:xfrm>
            <a:off x="777240" y="2240280"/>
            <a:ext cx="2212848" cy="2011680"/>
          </a:xfrm>
          <a:prstGeom prst="rect">
            <a:avLst/>
          </a:prstGeom>
          <a:noFill/>
          <a:ln/>
        </p:spPr>
        <p:txBody>
          <a:bodyPr wrap="square" lIns="0" tIns="0" rIns="0" bIns="0" rtlCol="0" anchor="t"/>
          <a:lstStyle/>
          <a:p>
            <a:pPr indent="0" marL="0">
              <a:spcAft>
                <a:spcPts val="400"/>
              </a:spcAft>
              <a:buNone/>
            </a:pPr>
            <a:r>
              <a:rPr lang="en-US" sz="1400" dirty="0">
                <a:solidFill>
                  <a:srgbClr val="475569"/>
                </a:solidFill>
              </a:rPr>
              <a:t>Excel/CSV templates; row-by-row checks including timetable clashes.</a:t>
            </a:r>
            <a:endParaRPr lang="en-US" sz="1400" dirty="0"/>
          </a:p>
        </p:txBody>
      </p:sp>
      <p:sp>
        <p:nvSpPr>
          <p:cNvPr id="9" name="Visual track card"/>
          <p:cNvSpPr/>
          <p:nvPr/>
        </p:nvSpPr>
        <p:spPr>
          <a:xfrm>
            <a:off x="3364992" y="1371600"/>
            <a:ext cx="2670048" cy="3017520"/>
          </a:xfrm>
          <a:prstGeom prst="roundRect">
            <a:avLst>
              <a:gd name="adj" fmla="val 2740"/>
            </a:avLst>
          </a:prstGeom>
          <a:solidFill>
            <a:srgbClr val="F6F8FB"/>
          </a:solidFill>
          <a:ln w="9525">
            <a:solidFill>
              <a:srgbClr val="D5DCE6"/>
            </a:solidFill>
            <a:prstDash val="solid"/>
          </a:ln>
        </p:spPr>
      </p:sp>
      <p:sp>
        <p:nvSpPr>
          <p:cNvPr id="10" name="icon circle"/>
          <p:cNvSpPr/>
          <p:nvPr/>
        </p:nvSpPr>
        <p:spPr>
          <a:xfrm>
            <a:off x="3593592" y="1600200"/>
            <a:ext cx="548640" cy="548640"/>
          </a:xfrm>
          <a:prstGeom prst="ellipse">
            <a:avLst/>
          </a:prstGeom>
          <a:solidFill>
            <a:srgbClr val="1BAF7A"/>
          </a:solidFill>
          <a:ln w="12700">
            <a:solidFill>
              <a:srgbClr val="1BAF7A"/>
            </a:solidFill>
            <a:prstDash val="solid"/>
          </a:ln>
        </p:spPr>
      </p:sp>
      <p:pic>
        <p:nvPicPr>
          <p:cNvPr id="11" name="Image 1" descr="Visual track">    </p:cNvPr>
          <p:cNvPicPr>
            <a:picLocks noChangeAspect="1"/>
          </p:cNvPicPr>
          <p:nvPr/>
        </p:nvPicPr>
        <p:blipFill>
          <a:blip r:embed="rId2"/>
          <a:stretch>
            <a:fillRect/>
          </a:stretch>
        </p:blipFill>
        <p:spPr>
          <a:xfrm>
            <a:off x="3703320" y="1709928"/>
            <a:ext cx="329184" cy="329184"/>
          </a:xfrm>
          <a:prstGeom prst="rect">
            <a:avLst/>
          </a:prstGeom>
        </p:spPr>
      </p:pic>
      <p:sp>
        <p:nvSpPr>
          <p:cNvPr id="12" name="Text 7"/>
          <p:cNvSpPr txBox="1"/>
          <p:nvPr/>
        </p:nvSpPr>
        <p:spPr>
          <a:xfrm>
            <a:off x="4279392" y="1554480"/>
            <a:ext cx="1572768"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Stage A: halls</a:t>
            </a:r>
            <a:endParaRPr lang="en-US" sz="1600" dirty="0"/>
          </a:p>
        </p:txBody>
      </p:sp>
      <p:sp>
        <p:nvSpPr>
          <p:cNvPr id="13" name="Text 8"/>
          <p:cNvSpPr txBox="1"/>
          <p:nvPr/>
        </p:nvSpPr>
        <p:spPr>
          <a:xfrm>
            <a:off x="3593592" y="2240280"/>
            <a:ext cx="2212848" cy="2011680"/>
          </a:xfrm>
          <a:prstGeom prst="rect">
            <a:avLst/>
          </a:prstGeom>
          <a:noFill/>
          <a:ln/>
        </p:spPr>
        <p:txBody>
          <a:bodyPr wrap="square" lIns="0" tIns="0" rIns="0" bIns="0" rtlCol="0" anchor="t"/>
          <a:lstStyle/>
          <a:p>
            <a:pPr indent="0" marL="0">
              <a:spcAft>
                <a:spcPts val="400"/>
              </a:spcAft>
              <a:buNone/>
            </a:pPr>
            <a:r>
              <a:rPr lang="en-US" sz="1400" dirty="0">
                <a:solidFill>
                  <a:srgbClr val="475569"/>
                </a:solidFill>
              </a:rPr>
              <a:t>CP-SAT shares candidates between halls and confines each paper to one colour class of the seat grid.</a:t>
            </a:r>
            <a:endParaRPr lang="en-US" sz="1400" dirty="0"/>
          </a:p>
        </p:txBody>
      </p:sp>
      <p:sp>
        <p:nvSpPr>
          <p:cNvPr id="14" name="Fusion card"/>
          <p:cNvSpPr/>
          <p:nvPr/>
        </p:nvSpPr>
        <p:spPr>
          <a:xfrm>
            <a:off x="6181344" y="1371600"/>
            <a:ext cx="2670048" cy="3017520"/>
          </a:xfrm>
          <a:prstGeom prst="roundRect">
            <a:avLst>
              <a:gd name="adj" fmla="val 2740"/>
            </a:avLst>
          </a:prstGeom>
          <a:solidFill>
            <a:srgbClr val="F6F8FB"/>
          </a:solidFill>
          <a:ln w="9525">
            <a:solidFill>
              <a:srgbClr val="D5DCE6"/>
            </a:solidFill>
            <a:prstDash val="solid"/>
          </a:ln>
        </p:spPr>
      </p:sp>
      <p:sp>
        <p:nvSpPr>
          <p:cNvPr id="15" name="icon circle"/>
          <p:cNvSpPr/>
          <p:nvPr/>
        </p:nvSpPr>
        <p:spPr>
          <a:xfrm>
            <a:off x="6409944" y="1600200"/>
            <a:ext cx="548640" cy="548640"/>
          </a:xfrm>
          <a:prstGeom prst="ellipse">
            <a:avLst/>
          </a:prstGeom>
          <a:solidFill>
            <a:srgbClr val="EB6834"/>
          </a:solidFill>
          <a:ln w="12700">
            <a:solidFill>
              <a:srgbClr val="EB6834"/>
            </a:solidFill>
            <a:prstDash val="solid"/>
          </a:ln>
        </p:spPr>
      </p:sp>
      <p:pic>
        <p:nvPicPr>
          <p:cNvPr id="16" name="Image 2" descr="Fusion">    </p:cNvPr>
          <p:cNvPicPr>
            <a:picLocks noChangeAspect="1"/>
          </p:cNvPicPr>
          <p:nvPr/>
        </p:nvPicPr>
        <p:blipFill>
          <a:blip r:embed="rId3"/>
          <a:stretch>
            <a:fillRect/>
          </a:stretch>
        </p:blipFill>
        <p:spPr>
          <a:xfrm>
            <a:off x="6519672" y="1709928"/>
            <a:ext cx="329184" cy="329184"/>
          </a:xfrm>
          <a:prstGeom prst="rect">
            <a:avLst/>
          </a:prstGeom>
        </p:spPr>
      </p:pic>
      <p:sp>
        <p:nvSpPr>
          <p:cNvPr id="17" name="Text 11"/>
          <p:cNvSpPr txBox="1"/>
          <p:nvPr/>
        </p:nvSpPr>
        <p:spPr>
          <a:xfrm>
            <a:off x="7095744" y="1554480"/>
            <a:ext cx="1572768"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Stage B: seats</a:t>
            </a:r>
            <a:endParaRPr lang="en-US" sz="1600" dirty="0"/>
          </a:p>
        </p:txBody>
      </p:sp>
      <p:sp>
        <p:nvSpPr>
          <p:cNvPr id="18" name="Text 12"/>
          <p:cNvSpPr txBox="1"/>
          <p:nvPr/>
        </p:nvSpPr>
        <p:spPr>
          <a:xfrm>
            <a:off x="6409944" y="2240280"/>
            <a:ext cx="2212848" cy="2011680"/>
          </a:xfrm>
          <a:prstGeom prst="rect">
            <a:avLst/>
          </a:prstGeom>
          <a:noFill/>
          <a:ln/>
        </p:spPr>
        <p:txBody>
          <a:bodyPr wrap="square" lIns="0" tIns="0" rIns="0" bIns="0" rtlCol="0" anchor="t"/>
          <a:lstStyle/>
          <a:p>
            <a:pPr indent="0" marL="0">
              <a:spcAft>
                <a:spcPts val="400"/>
              </a:spcAft>
              <a:buNone/>
            </a:pPr>
            <a:r>
              <a:rPr lang="en-US" sz="1400" dirty="0">
                <a:solidFill>
                  <a:srgbClr val="475569"/>
                </a:solidFill>
              </a:rPr>
              <a:t>Per-hall CP-SAT: roll gap, accessible seats, department mix, seeded random choice.</a:t>
            </a:r>
            <a:endParaRPr lang="en-US" sz="1400" dirty="0"/>
          </a:p>
        </p:txBody>
      </p:sp>
      <p:sp>
        <p:nvSpPr>
          <p:cNvPr id="19" name="AI-media check card"/>
          <p:cNvSpPr/>
          <p:nvPr/>
        </p:nvSpPr>
        <p:spPr>
          <a:xfrm>
            <a:off x="8997696" y="1371600"/>
            <a:ext cx="2670048" cy="3017520"/>
          </a:xfrm>
          <a:prstGeom prst="roundRect">
            <a:avLst>
              <a:gd name="adj" fmla="val 2740"/>
            </a:avLst>
          </a:prstGeom>
          <a:solidFill>
            <a:srgbClr val="F6F8FB"/>
          </a:solidFill>
          <a:ln w="9525">
            <a:solidFill>
              <a:srgbClr val="D5DCE6"/>
            </a:solidFill>
            <a:prstDash val="solid"/>
          </a:ln>
        </p:spPr>
      </p:sp>
      <p:sp>
        <p:nvSpPr>
          <p:cNvPr id="20" name="icon circle"/>
          <p:cNvSpPr/>
          <p:nvPr/>
        </p:nvSpPr>
        <p:spPr>
          <a:xfrm>
            <a:off x="9226296" y="1600200"/>
            <a:ext cx="548640" cy="548640"/>
          </a:xfrm>
          <a:prstGeom prst="ellipse">
            <a:avLst/>
          </a:prstGeom>
          <a:solidFill>
            <a:srgbClr val="EDA100"/>
          </a:solidFill>
          <a:ln w="12700">
            <a:solidFill>
              <a:srgbClr val="EDA100"/>
            </a:solidFill>
            <a:prstDash val="solid"/>
          </a:ln>
        </p:spPr>
      </p:sp>
      <p:pic>
        <p:nvPicPr>
          <p:cNvPr id="21" name="Image 3" descr="AI-media check">    </p:cNvPr>
          <p:cNvPicPr>
            <a:picLocks noChangeAspect="1"/>
          </p:cNvPicPr>
          <p:nvPr/>
        </p:nvPicPr>
        <p:blipFill>
          <a:blip r:embed="rId4"/>
          <a:stretch>
            <a:fillRect/>
          </a:stretch>
        </p:blipFill>
        <p:spPr>
          <a:xfrm>
            <a:off x="9336024" y="1709928"/>
            <a:ext cx="329184" cy="329184"/>
          </a:xfrm>
          <a:prstGeom prst="rect">
            <a:avLst/>
          </a:prstGeom>
        </p:spPr>
      </p:pic>
      <p:sp>
        <p:nvSpPr>
          <p:cNvPr id="22" name="Text 15"/>
          <p:cNvSpPr txBox="1"/>
          <p:nvPr/>
        </p:nvSpPr>
        <p:spPr>
          <a:xfrm>
            <a:off x="9912096" y="1554480"/>
            <a:ext cx="1572768"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Validate + verify</a:t>
            </a:r>
            <a:endParaRPr lang="en-US" sz="1600" dirty="0"/>
          </a:p>
        </p:txBody>
      </p:sp>
      <p:sp>
        <p:nvSpPr>
          <p:cNvPr id="23" name="Text 16"/>
          <p:cNvSpPr txBox="1"/>
          <p:nvPr/>
        </p:nvSpPr>
        <p:spPr>
          <a:xfrm>
            <a:off x="9226296" y="2240280"/>
            <a:ext cx="2212848" cy="2011680"/>
          </a:xfrm>
          <a:prstGeom prst="rect">
            <a:avLst/>
          </a:prstGeom>
          <a:noFill/>
          <a:ln/>
        </p:spPr>
        <p:txBody>
          <a:bodyPr wrap="square" lIns="0" tIns="0" rIns="0" bIns="0" rtlCol="0" anchor="t"/>
          <a:lstStyle/>
          <a:p>
            <a:pPr indent="0" marL="0">
              <a:spcAft>
                <a:spcPts val="400"/>
              </a:spcAft>
              <a:buNone/>
            </a:pPr>
            <a:r>
              <a:rPr lang="en-US" sz="1400" dirty="0">
                <a:solidFill>
                  <a:srgbClr val="475569"/>
                </a:solidFill>
              </a:rPr>
              <a:t>An independent checker scores every plan; seed and hashes make it reproducible.</a:t>
            </a:r>
            <a:endParaRPr lang="en-US" sz="1400" dirty="0"/>
          </a:p>
        </p:txBody>
      </p:sp>
      <p:sp>
        <p:nvSpPr>
          <p:cNvPr id="24" name="Web application card"/>
          <p:cNvSpPr/>
          <p:nvPr/>
        </p:nvSpPr>
        <p:spPr>
          <a:xfrm>
            <a:off x="548640" y="4572000"/>
            <a:ext cx="11094415" cy="1234440"/>
          </a:xfrm>
          <a:prstGeom prst="roundRect">
            <a:avLst>
              <a:gd name="adj" fmla="val 5926"/>
            </a:avLst>
          </a:prstGeom>
          <a:solidFill>
            <a:srgbClr val="F6F8FB"/>
          </a:solidFill>
          <a:ln w="9525">
            <a:solidFill>
              <a:srgbClr val="D5DCE6"/>
            </a:solidFill>
            <a:prstDash val="solid"/>
          </a:ln>
        </p:spPr>
      </p:sp>
      <p:sp>
        <p:nvSpPr>
          <p:cNvPr id="25" name="icon circle"/>
          <p:cNvSpPr/>
          <p:nvPr/>
        </p:nvSpPr>
        <p:spPr>
          <a:xfrm>
            <a:off x="777240" y="4800600"/>
            <a:ext cx="548640" cy="548640"/>
          </a:xfrm>
          <a:prstGeom prst="ellipse">
            <a:avLst/>
          </a:prstGeom>
          <a:solidFill>
            <a:srgbClr val="1B2A41"/>
          </a:solidFill>
          <a:ln w="12700">
            <a:solidFill>
              <a:srgbClr val="1B2A41"/>
            </a:solidFill>
            <a:prstDash val="solid"/>
          </a:ln>
        </p:spPr>
      </p:sp>
      <p:pic>
        <p:nvPicPr>
          <p:cNvPr id="26" name="Image 4" descr="Web application">    </p:cNvPr>
          <p:cNvPicPr>
            <a:picLocks noChangeAspect="1"/>
          </p:cNvPicPr>
          <p:nvPr/>
        </p:nvPicPr>
        <p:blipFill>
          <a:blip r:embed="rId5"/>
          <a:stretch>
            <a:fillRect/>
          </a:stretch>
        </p:blipFill>
        <p:spPr>
          <a:xfrm>
            <a:off x="886968" y="4910328"/>
            <a:ext cx="329184" cy="329184"/>
          </a:xfrm>
          <a:prstGeom prst="rect">
            <a:avLst/>
          </a:prstGeom>
        </p:spPr>
      </p:pic>
      <p:sp>
        <p:nvSpPr>
          <p:cNvPr id="27" name="Text 19"/>
          <p:cNvSpPr txBox="1"/>
          <p:nvPr/>
        </p:nvSpPr>
        <p:spPr>
          <a:xfrm>
            <a:off x="1463040" y="4754880"/>
            <a:ext cx="9997135"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Web application</a:t>
            </a:r>
            <a:endParaRPr lang="en-US" sz="1600" dirty="0"/>
          </a:p>
        </p:txBody>
      </p:sp>
      <p:sp>
        <p:nvSpPr>
          <p:cNvPr id="28" name="Text 20"/>
          <p:cNvSpPr txBox="1"/>
          <p:nvPr/>
        </p:nvSpPr>
        <p:spPr>
          <a:xfrm>
            <a:off x="777240" y="5440680"/>
            <a:ext cx="10637215" cy="419100"/>
          </a:xfrm>
          <a:prstGeom prst="rect">
            <a:avLst/>
          </a:prstGeom>
          <a:noFill/>
          <a:ln/>
        </p:spPr>
        <p:txBody>
          <a:bodyPr wrap="square" lIns="0" tIns="0" rIns="0" bIns="0" rtlCol="0" anchor="t"/>
          <a:lstStyle/>
          <a:p>
            <a:pPr indent="0" marL="0">
              <a:spcAft>
                <a:spcPts val="400"/>
              </a:spcAft>
              <a:buNone/>
            </a:pPr>
            <a:r>
              <a:rPr lang="en-US" sz="1200" dirty="0">
                <a:solidFill>
                  <a:srgbClr val="475569"/>
                </a:solidFill>
              </a:rPr>
              <a:t>React + FastAPI + SQLite: seat map with drag-to-swap, PDF and Excel outputs, QR slips, tablet attendance, public lookup, analytics, audit trail.</a:t>
            </a:r>
            <a:endParaRPr lang="en-US" sz="1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High-level proposed architecture</a:t>
            </a:r>
            <a:endParaRPr lang="en-US" sz="3200" dirty="0"/>
          </a:p>
        </p:txBody>
      </p:sp>
      <p:sp>
        <p:nvSpPr>
          <p:cNvPr id="5" name="Text 1"/>
          <p:cNvSpPr txBox="1"/>
          <p:nvPr/>
        </p:nvSpPr>
        <p:spPr>
          <a:xfrm>
            <a:off x="548640" y="5760720"/>
            <a:ext cx="11094415" cy="274320"/>
          </a:xfrm>
          <a:prstGeom prst="rect">
            <a:avLst/>
          </a:prstGeom>
          <a:noFill/>
          <a:ln/>
        </p:spPr>
        <p:txBody>
          <a:bodyPr wrap="square" lIns="0" tIns="0" rIns="0" bIns="0" rtlCol="0" anchor="ctr"/>
          <a:lstStyle/>
          <a:p>
            <a:pPr algn="ctr" indent="0" marL="0">
              <a:buNone/>
            </a:pPr>
            <a:r>
              <a:rPr lang="en-US" sz="1100" i="1" dirty="0">
                <a:solidFill>
                  <a:srgbClr val="64748B"/>
                </a:solidFill>
              </a:rPr>
              <a:t>Proposed architecture: React frontend, FastAPI backend with services and engine, SQLite storage</a:t>
            </a:r>
            <a:endParaRPr lang="en-US" sz="11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13</a:t>
            </a:fld>
            <a:endParaRPr lang="en-US"/>
          </a:p>
        </p:txBody>
      </p:sp>
      <p:pic>
        <p:nvPicPr>
          <p:cNvPr id="26" name="System architecture diagram" descr="System architecture diagram"/>
          <p:cNvPicPr>
            <a:picLocks noChangeAspect="1"/>
          </p:cNvPicPr>
          <p:nvPr/>
        </p:nvPicPr>
        <p:blipFill>
          <a:blip r:embed="rId4"/>
          <a:stretch>
            <a:fillRect/>
          </a:stretch>
        </p:blipFill>
        <p:spPr>
          <a:xfrm>
            <a:off x="2494491" y="1123950"/>
            <a:ext cx="6631516" cy="45910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Expected outcomes and contributions</a:t>
            </a:r>
            <a:endParaRPr lang="en-US" sz="3200" dirty="0"/>
          </a:p>
        </p:txBody>
      </p:sp>
      <p:sp>
        <p:nvSpPr>
          <p:cNvPr id="4" name="Multimodal model card"/>
          <p:cNvSpPr/>
          <p:nvPr/>
        </p:nvSpPr>
        <p:spPr>
          <a:xfrm>
            <a:off x="548640" y="1371600"/>
            <a:ext cx="3566160" cy="2057400"/>
          </a:xfrm>
          <a:prstGeom prst="roundRect">
            <a:avLst>
              <a:gd name="adj" fmla="val 3556"/>
            </a:avLst>
          </a:prstGeom>
          <a:solidFill>
            <a:srgbClr val="F6F8FB"/>
          </a:solidFill>
          <a:ln w="9525">
            <a:solidFill>
              <a:srgbClr val="D5DCE6"/>
            </a:solidFill>
            <a:prstDash val="solid"/>
          </a:ln>
        </p:spPr>
      </p:sp>
      <p:sp>
        <p:nvSpPr>
          <p:cNvPr id="5" name="icon circle"/>
          <p:cNvSpPr/>
          <p:nvPr/>
        </p:nvSpPr>
        <p:spPr>
          <a:xfrm>
            <a:off x="777240" y="1600200"/>
            <a:ext cx="548640" cy="548640"/>
          </a:xfrm>
          <a:prstGeom prst="ellipse">
            <a:avLst/>
          </a:prstGeom>
          <a:solidFill>
            <a:srgbClr val="EB6834"/>
          </a:solidFill>
          <a:ln w="12700">
            <a:solidFill>
              <a:srgbClr val="EB6834"/>
            </a:solidFill>
            <a:prstDash val="solid"/>
          </a:ln>
        </p:spPr>
      </p:sp>
      <p:pic>
        <p:nvPicPr>
          <p:cNvPr id="6" name="Image 0" descr="Multimodal model">    </p:cNvPr>
          <p:cNvPicPr>
            <a:picLocks noChangeAspect="1"/>
          </p:cNvPicPr>
          <p:nvPr/>
        </p:nvPicPr>
        <p:blipFill>
          <a:blip r:embed="rId1"/>
          <a:stretch>
            <a:fillRect/>
          </a:stretch>
        </p:blipFill>
        <p:spPr>
          <a:xfrm>
            <a:off x="886968" y="1709928"/>
            <a:ext cx="329184" cy="329184"/>
          </a:xfrm>
          <a:prstGeom prst="rect">
            <a:avLst/>
          </a:prstGeom>
        </p:spPr>
      </p:pic>
      <p:sp>
        <p:nvSpPr>
          <p:cNvPr id="7" name="Text 3"/>
          <p:cNvSpPr txBox="1"/>
          <p:nvPr/>
        </p:nvSpPr>
        <p:spPr>
          <a:xfrm>
            <a:off x="1463040" y="1554480"/>
            <a:ext cx="246888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Conflict-free plans</a:t>
            </a:r>
            <a:endParaRPr lang="en-US" sz="1600" dirty="0"/>
          </a:p>
        </p:txBody>
      </p:sp>
      <p:sp>
        <p:nvSpPr>
          <p:cNvPr id="8" name="Text 4"/>
          <p:cNvSpPr txBox="1"/>
          <p:nvPr/>
        </p:nvSpPr>
        <p:spPr>
          <a:xfrm>
            <a:off x="777240" y="2240280"/>
            <a:ext cx="3108960" cy="1051560"/>
          </a:xfrm>
          <a:prstGeom prst="rect">
            <a:avLst/>
          </a:prstGeom>
          <a:noFill/>
          <a:ln/>
        </p:spPr>
        <p:txBody>
          <a:bodyPr wrap="square" lIns="0" tIns="0" rIns="0" bIns="0" rtlCol="0" anchor="t"/>
          <a:lstStyle/>
          <a:p>
            <a:pPr indent="0" marL="0">
              <a:spcAft>
                <a:spcPts val="400"/>
              </a:spcAft>
              <a:buNone/>
            </a:pPr>
            <a:r>
              <a:rPr lang="en-US" sz="1600" dirty="0">
                <a:solidFill>
                  <a:srgbClr val="475569"/>
                </a:solidFill>
              </a:rPr>
              <a:t>Zero same-paper neighbours and roll-gap violations (target).</a:t>
            </a:r>
            <a:endParaRPr lang="en-US" sz="1600" dirty="0"/>
          </a:p>
        </p:txBody>
      </p:sp>
      <p:sp>
        <p:nvSpPr>
          <p:cNvPr id="9" name="Transparent output card"/>
          <p:cNvSpPr/>
          <p:nvPr/>
        </p:nvSpPr>
        <p:spPr>
          <a:xfrm>
            <a:off x="4297680" y="1371600"/>
            <a:ext cx="3566160" cy="2057400"/>
          </a:xfrm>
          <a:prstGeom prst="roundRect">
            <a:avLst>
              <a:gd name="adj" fmla="val 3556"/>
            </a:avLst>
          </a:prstGeom>
          <a:solidFill>
            <a:srgbClr val="F6F8FB"/>
          </a:solidFill>
          <a:ln w="9525">
            <a:solidFill>
              <a:srgbClr val="D5DCE6"/>
            </a:solidFill>
            <a:prstDash val="solid"/>
          </a:ln>
        </p:spPr>
      </p:sp>
      <p:sp>
        <p:nvSpPr>
          <p:cNvPr id="10" name="icon circle"/>
          <p:cNvSpPr/>
          <p:nvPr/>
        </p:nvSpPr>
        <p:spPr>
          <a:xfrm>
            <a:off x="4526280" y="1600200"/>
            <a:ext cx="548640" cy="548640"/>
          </a:xfrm>
          <a:prstGeom prst="ellipse">
            <a:avLst/>
          </a:prstGeom>
          <a:solidFill>
            <a:srgbClr val="2A78D6"/>
          </a:solidFill>
          <a:ln w="12700">
            <a:solidFill>
              <a:srgbClr val="2A78D6"/>
            </a:solidFill>
            <a:prstDash val="solid"/>
          </a:ln>
        </p:spPr>
      </p:sp>
      <p:pic>
        <p:nvPicPr>
          <p:cNvPr id="11" name="Image 1" descr="Transparent output">    </p:cNvPr>
          <p:cNvPicPr>
            <a:picLocks noChangeAspect="1"/>
          </p:cNvPicPr>
          <p:nvPr/>
        </p:nvPicPr>
        <p:blipFill>
          <a:blip r:embed="rId2"/>
          <a:stretch>
            <a:fillRect/>
          </a:stretch>
        </p:blipFill>
        <p:spPr>
          <a:xfrm>
            <a:off x="4636008" y="1709928"/>
            <a:ext cx="329184" cy="329184"/>
          </a:xfrm>
          <a:prstGeom prst="rect">
            <a:avLst/>
          </a:prstGeom>
        </p:spPr>
      </p:pic>
      <p:sp>
        <p:nvSpPr>
          <p:cNvPr id="12" name="Text 7"/>
          <p:cNvSpPr txBox="1"/>
          <p:nvPr/>
        </p:nvSpPr>
        <p:spPr>
          <a:xfrm>
            <a:off x="5212080" y="1554480"/>
            <a:ext cx="246888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Seconds, not days</a:t>
            </a:r>
            <a:endParaRPr lang="en-US" sz="1600" dirty="0"/>
          </a:p>
        </p:txBody>
      </p:sp>
      <p:sp>
        <p:nvSpPr>
          <p:cNvPr id="13" name="Text 8"/>
          <p:cNvSpPr txBox="1"/>
          <p:nvPr/>
        </p:nvSpPr>
        <p:spPr>
          <a:xfrm>
            <a:off x="4526280" y="2240280"/>
            <a:ext cx="3108960" cy="1051560"/>
          </a:xfrm>
          <a:prstGeom prst="rect">
            <a:avLst/>
          </a:prstGeom>
          <a:noFill/>
          <a:ln/>
        </p:spPr>
        <p:txBody>
          <a:bodyPr wrap="square" lIns="0" tIns="0" rIns="0" bIns="0" rtlCol="0" anchor="t"/>
          <a:lstStyle/>
          <a:p>
            <a:pPr indent="0" marL="0">
              <a:spcAft>
                <a:spcPts val="400"/>
              </a:spcAft>
              <a:buNone/>
            </a:pPr>
            <a:r>
              <a:rPr lang="en-US" sz="1600" dirty="0">
                <a:solidFill>
                  <a:srgbClr val="475569"/>
                </a:solidFill>
              </a:rPr>
              <a:t>A plan for hundreds of candidates in a few seconds.</a:t>
            </a:r>
            <a:endParaRPr lang="en-US" sz="1600" dirty="0"/>
          </a:p>
        </p:txBody>
      </p:sp>
      <p:sp>
        <p:nvSpPr>
          <p:cNvPr id="14" name="Honest evaluation card"/>
          <p:cNvSpPr/>
          <p:nvPr/>
        </p:nvSpPr>
        <p:spPr>
          <a:xfrm>
            <a:off x="8046720" y="1371600"/>
            <a:ext cx="3566160" cy="2057400"/>
          </a:xfrm>
          <a:prstGeom prst="roundRect">
            <a:avLst>
              <a:gd name="adj" fmla="val 3556"/>
            </a:avLst>
          </a:prstGeom>
          <a:solidFill>
            <a:srgbClr val="F6F8FB"/>
          </a:solidFill>
          <a:ln w="9525">
            <a:solidFill>
              <a:srgbClr val="D5DCE6"/>
            </a:solidFill>
            <a:prstDash val="solid"/>
          </a:ln>
        </p:spPr>
      </p:sp>
      <p:sp>
        <p:nvSpPr>
          <p:cNvPr id="15" name="icon circle"/>
          <p:cNvSpPr/>
          <p:nvPr/>
        </p:nvSpPr>
        <p:spPr>
          <a:xfrm>
            <a:off x="8275320" y="1600200"/>
            <a:ext cx="548640" cy="548640"/>
          </a:xfrm>
          <a:prstGeom prst="ellipse">
            <a:avLst/>
          </a:prstGeom>
          <a:solidFill>
            <a:srgbClr val="6250D6"/>
          </a:solidFill>
          <a:ln w="12700">
            <a:solidFill>
              <a:srgbClr val="6250D6"/>
            </a:solidFill>
            <a:prstDash val="solid"/>
          </a:ln>
        </p:spPr>
      </p:sp>
      <p:pic>
        <p:nvPicPr>
          <p:cNvPr id="16" name="Image 2" descr="Honest evaluation">    </p:cNvPr>
          <p:cNvPicPr>
            <a:picLocks noChangeAspect="1"/>
          </p:cNvPicPr>
          <p:nvPr/>
        </p:nvPicPr>
        <p:blipFill>
          <a:blip r:embed="rId3"/>
          <a:stretch>
            <a:fillRect/>
          </a:stretch>
        </p:blipFill>
        <p:spPr>
          <a:xfrm>
            <a:off x="8385048" y="1709928"/>
            <a:ext cx="329184" cy="329184"/>
          </a:xfrm>
          <a:prstGeom prst="rect">
            <a:avLst/>
          </a:prstGeom>
        </p:spPr>
      </p:pic>
      <p:sp>
        <p:nvSpPr>
          <p:cNvPr id="17" name="Text 11"/>
          <p:cNvSpPr txBox="1"/>
          <p:nvPr/>
        </p:nvSpPr>
        <p:spPr>
          <a:xfrm>
            <a:off x="8961120" y="1554480"/>
            <a:ext cx="246888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Unpredictable, fair</a:t>
            </a:r>
            <a:endParaRPr lang="en-US" sz="1600" dirty="0"/>
          </a:p>
        </p:txBody>
      </p:sp>
      <p:sp>
        <p:nvSpPr>
          <p:cNvPr id="18" name="Text 12"/>
          <p:cNvSpPr txBox="1"/>
          <p:nvPr/>
        </p:nvSpPr>
        <p:spPr>
          <a:xfrm>
            <a:off x="8275320" y="2240280"/>
            <a:ext cx="3108960" cy="1051560"/>
          </a:xfrm>
          <a:prstGeom prst="rect">
            <a:avLst/>
          </a:prstGeom>
          <a:noFill/>
          <a:ln/>
        </p:spPr>
        <p:txBody>
          <a:bodyPr wrap="square" lIns="0" tIns="0" rIns="0" bIns="0" rtlCol="0" anchor="t"/>
          <a:lstStyle/>
          <a:p>
            <a:pPr indent="0" marL="0">
              <a:spcAft>
                <a:spcPts val="400"/>
              </a:spcAft>
              <a:buNone/>
            </a:pPr>
            <a:r>
              <a:rPr lang="en-US" sz="1600" dirty="0">
                <a:solidFill>
                  <a:srgbClr val="475569"/>
                </a:solidFill>
              </a:rPr>
              <a:t>Seeded random choice; roll number says nothing about the seat.</a:t>
            </a:r>
            <a:endParaRPr lang="en-US" sz="1600" dirty="0"/>
          </a:p>
        </p:txBody>
      </p:sp>
      <p:sp>
        <p:nvSpPr>
          <p:cNvPr id="19" name="Generated-media signal card"/>
          <p:cNvSpPr/>
          <p:nvPr/>
        </p:nvSpPr>
        <p:spPr>
          <a:xfrm>
            <a:off x="548640" y="3611880"/>
            <a:ext cx="3566160" cy="2057400"/>
          </a:xfrm>
          <a:prstGeom prst="roundRect">
            <a:avLst>
              <a:gd name="adj" fmla="val 3556"/>
            </a:avLst>
          </a:prstGeom>
          <a:solidFill>
            <a:srgbClr val="F6F8FB"/>
          </a:solidFill>
          <a:ln w="9525">
            <a:solidFill>
              <a:srgbClr val="D5DCE6"/>
            </a:solidFill>
            <a:prstDash val="solid"/>
          </a:ln>
        </p:spPr>
      </p:sp>
      <p:sp>
        <p:nvSpPr>
          <p:cNvPr id="20" name="icon circle"/>
          <p:cNvSpPr/>
          <p:nvPr/>
        </p:nvSpPr>
        <p:spPr>
          <a:xfrm>
            <a:off x="777240" y="3840480"/>
            <a:ext cx="548640" cy="548640"/>
          </a:xfrm>
          <a:prstGeom prst="ellipse">
            <a:avLst/>
          </a:prstGeom>
          <a:solidFill>
            <a:srgbClr val="EDA100"/>
          </a:solidFill>
          <a:ln w="12700">
            <a:solidFill>
              <a:srgbClr val="EDA100"/>
            </a:solidFill>
            <a:prstDash val="solid"/>
          </a:ln>
        </p:spPr>
      </p:sp>
      <p:pic>
        <p:nvPicPr>
          <p:cNvPr id="21" name="Image 3" descr="Generated-media signal">    </p:cNvPr>
          <p:cNvPicPr>
            <a:picLocks noChangeAspect="1"/>
          </p:cNvPicPr>
          <p:nvPr/>
        </p:nvPicPr>
        <p:blipFill>
          <a:blip r:embed="rId4"/>
          <a:stretch>
            <a:fillRect/>
          </a:stretch>
        </p:blipFill>
        <p:spPr>
          <a:xfrm>
            <a:off x="886968" y="3950208"/>
            <a:ext cx="329184" cy="329184"/>
          </a:xfrm>
          <a:prstGeom prst="rect">
            <a:avLst/>
          </a:prstGeom>
        </p:spPr>
      </p:pic>
      <p:sp>
        <p:nvSpPr>
          <p:cNvPr id="22" name="Text 15"/>
          <p:cNvSpPr txBox="1"/>
          <p:nvPr/>
        </p:nvSpPr>
        <p:spPr>
          <a:xfrm>
            <a:off x="1463040" y="3794760"/>
            <a:ext cx="246888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Reproducible</a:t>
            </a:r>
            <a:endParaRPr lang="en-US" sz="1600" dirty="0"/>
          </a:p>
        </p:txBody>
      </p:sp>
      <p:sp>
        <p:nvSpPr>
          <p:cNvPr id="23" name="Text 16"/>
          <p:cNvSpPr txBox="1"/>
          <p:nvPr/>
        </p:nvSpPr>
        <p:spPr>
          <a:xfrm>
            <a:off x="777240" y="4480560"/>
            <a:ext cx="3108960" cy="1051560"/>
          </a:xfrm>
          <a:prstGeom prst="rect">
            <a:avLst/>
          </a:prstGeom>
          <a:noFill/>
          <a:ln/>
        </p:spPr>
        <p:txBody>
          <a:bodyPr wrap="square" lIns="0" tIns="0" rIns="0" bIns="0" rtlCol="0" anchor="t"/>
          <a:lstStyle/>
          <a:p>
            <a:pPr indent="0" marL="0">
              <a:spcAft>
                <a:spcPts val="400"/>
              </a:spcAft>
              <a:buNone/>
            </a:pPr>
            <a:r>
              <a:rPr lang="en-US" sz="1600" dirty="0">
                <a:solidFill>
                  <a:srgbClr val="475569"/>
                </a:solidFill>
              </a:rPr>
              <a:t>Same data and seed give the same plan; Verify proves it.</a:t>
            </a:r>
            <a:endParaRPr lang="en-US" sz="1600" dirty="0"/>
          </a:p>
        </p:txBody>
      </p:sp>
      <p:sp>
        <p:nvSpPr>
          <p:cNvPr id="24" name="Usable system card"/>
          <p:cNvSpPr/>
          <p:nvPr/>
        </p:nvSpPr>
        <p:spPr>
          <a:xfrm>
            <a:off x="4297680" y="3611880"/>
            <a:ext cx="3566160" cy="2057400"/>
          </a:xfrm>
          <a:prstGeom prst="roundRect">
            <a:avLst>
              <a:gd name="adj" fmla="val 3556"/>
            </a:avLst>
          </a:prstGeom>
          <a:solidFill>
            <a:srgbClr val="F6F8FB"/>
          </a:solidFill>
          <a:ln w="9525">
            <a:solidFill>
              <a:srgbClr val="D5DCE6"/>
            </a:solidFill>
            <a:prstDash val="solid"/>
          </a:ln>
        </p:spPr>
      </p:sp>
      <p:sp>
        <p:nvSpPr>
          <p:cNvPr id="25" name="icon circle"/>
          <p:cNvSpPr/>
          <p:nvPr/>
        </p:nvSpPr>
        <p:spPr>
          <a:xfrm>
            <a:off x="4526280" y="3840480"/>
            <a:ext cx="548640" cy="548640"/>
          </a:xfrm>
          <a:prstGeom prst="ellipse">
            <a:avLst/>
          </a:prstGeom>
          <a:solidFill>
            <a:srgbClr val="1BAF7A"/>
          </a:solidFill>
          <a:ln w="12700">
            <a:solidFill>
              <a:srgbClr val="1BAF7A"/>
            </a:solidFill>
            <a:prstDash val="solid"/>
          </a:ln>
        </p:spPr>
      </p:sp>
      <p:pic>
        <p:nvPicPr>
          <p:cNvPr id="26" name="Image 4" descr="Usable system">    </p:cNvPr>
          <p:cNvPicPr>
            <a:picLocks noChangeAspect="1"/>
          </p:cNvPicPr>
          <p:nvPr/>
        </p:nvPicPr>
        <p:blipFill>
          <a:blip r:embed="rId5"/>
          <a:stretch>
            <a:fillRect/>
          </a:stretch>
        </p:blipFill>
        <p:spPr>
          <a:xfrm>
            <a:off x="4636008" y="3950208"/>
            <a:ext cx="329184" cy="329184"/>
          </a:xfrm>
          <a:prstGeom prst="rect">
            <a:avLst/>
          </a:prstGeom>
        </p:spPr>
      </p:pic>
      <p:sp>
        <p:nvSpPr>
          <p:cNvPr id="27" name="Text 19"/>
          <p:cNvSpPr txBox="1"/>
          <p:nvPr/>
        </p:nvSpPr>
        <p:spPr>
          <a:xfrm>
            <a:off x="5212080" y="3794760"/>
            <a:ext cx="246888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Usable system</a:t>
            </a:r>
            <a:endParaRPr lang="en-US" sz="1600" dirty="0"/>
          </a:p>
        </p:txBody>
      </p:sp>
      <p:sp>
        <p:nvSpPr>
          <p:cNvPr id="28" name="Text 20"/>
          <p:cNvSpPr txBox="1"/>
          <p:nvPr/>
        </p:nvSpPr>
        <p:spPr>
          <a:xfrm>
            <a:off x="4526280" y="4480560"/>
            <a:ext cx="3108960" cy="1051560"/>
          </a:xfrm>
          <a:prstGeom prst="rect">
            <a:avLst/>
          </a:prstGeom>
          <a:noFill/>
          <a:ln/>
        </p:spPr>
        <p:txBody>
          <a:bodyPr wrap="square" lIns="0" tIns="0" rIns="0" bIns="0" rtlCol="0" anchor="t"/>
          <a:lstStyle/>
          <a:p>
            <a:pPr indent="0" marL="0">
              <a:spcAft>
                <a:spcPts val="400"/>
              </a:spcAft>
              <a:buNone/>
            </a:pPr>
            <a:r>
              <a:rPr lang="en-US" sz="1600" dirty="0">
                <a:solidFill>
                  <a:srgbClr val="475569"/>
                </a:solidFill>
              </a:rPr>
              <a:t>Charts, QR slips, attendance, lookup, analytics.</a:t>
            </a:r>
            <a:endParaRPr lang="en-US" sz="1600" dirty="0"/>
          </a:p>
        </p:txBody>
      </p:sp>
      <p:sp>
        <p:nvSpPr>
          <p:cNvPr id="29" name="Quality card"/>
          <p:cNvSpPr/>
          <p:nvPr/>
        </p:nvSpPr>
        <p:spPr>
          <a:xfrm>
            <a:off x="8046720" y="3611880"/>
            <a:ext cx="3566160" cy="2057400"/>
          </a:xfrm>
          <a:prstGeom prst="roundRect">
            <a:avLst>
              <a:gd name="adj" fmla="val 3556"/>
            </a:avLst>
          </a:prstGeom>
          <a:solidFill>
            <a:srgbClr val="F6F8FB"/>
          </a:solidFill>
          <a:ln w="9525">
            <a:solidFill>
              <a:srgbClr val="D5DCE6"/>
            </a:solidFill>
            <a:prstDash val="solid"/>
          </a:ln>
        </p:spPr>
      </p:sp>
      <p:sp>
        <p:nvSpPr>
          <p:cNvPr id="30" name="icon circle"/>
          <p:cNvSpPr/>
          <p:nvPr/>
        </p:nvSpPr>
        <p:spPr>
          <a:xfrm>
            <a:off x="8275320" y="3840480"/>
            <a:ext cx="548640" cy="548640"/>
          </a:xfrm>
          <a:prstGeom prst="ellipse">
            <a:avLst/>
          </a:prstGeom>
          <a:solidFill>
            <a:srgbClr val="1B2A41"/>
          </a:solidFill>
          <a:ln w="12700">
            <a:solidFill>
              <a:srgbClr val="1B2A41"/>
            </a:solidFill>
            <a:prstDash val="solid"/>
          </a:ln>
        </p:spPr>
      </p:sp>
      <p:pic>
        <p:nvPicPr>
          <p:cNvPr id="31" name="Image 5" descr="Quality">    </p:cNvPr>
          <p:cNvPicPr>
            <a:picLocks noChangeAspect="1"/>
          </p:cNvPicPr>
          <p:nvPr/>
        </p:nvPicPr>
        <p:blipFill>
          <a:blip r:embed="rId6"/>
          <a:stretch>
            <a:fillRect/>
          </a:stretch>
        </p:blipFill>
        <p:spPr>
          <a:xfrm>
            <a:off x="8385048" y="3950208"/>
            <a:ext cx="329184" cy="329184"/>
          </a:xfrm>
          <a:prstGeom prst="rect">
            <a:avLst/>
          </a:prstGeom>
        </p:spPr>
      </p:pic>
      <p:sp>
        <p:nvSpPr>
          <p:cNvPr id="32" name="Text 23"/>
          <p:cNvSpPr txBox="1"/>
          <p:nvPr/>
        </p:nvSpPr>
        <p:spPr>
          <a:xfrm>
            <a:off x="8961120" y="3794760"/>
            <a:ext cx="246888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Honest evaluation</a:t>
            </a:r>
            <a:endParaRPr lang="en-US" sz="1600" dirty="0"/>
          </a:p>
        </p:txBody>
      </p:sp>
      <p:sp>
        <p:nvSpPr>
          <p:cNvPr id="33" name="Text 24"/>
          <p:cNvSpPr txBox="1"/>
          <p:nvPr/>
        </p:nvSpPr>
        <p:spPr>
          <a:xfrm>
            <a:off x="8275320" y="4480560"/>
            <a:ext cx="3108960" cy="1051560"/>
          </a:xfrm>
          <a:prstGeom prst="rect">
            <a:avLst/>
          </a:prstGeom>
          <a:noFill/>
          <a:ln/>
        </p:spPr>
        <p:txBody>
          <a:bodyPr wrap="square" lIns="0" tIns="0" rIns="0" bIns="0" rtlCol="0" anchor="t"/>
          <a:lstStyle/>
          <a:p>
            <a:pPr indent="0" marL="0">
              <a:spcAft>
                <a:spcPts val="400"/>
              </a:spcAft>
              <a:buNone/>
            </a:pPr>
            <a:r>
              <a:rPr lang="en-US" sz="1600" dirty="0">
                <a:solidFill>
                  <a:srgbClr val="475569"/>
                </a:solidFill>
              </a:rPr>
              <a:t>Benchmark against manual methods; gaps reported plainly.</a:t>
            </a:r>
            <a:endParaRPr lang="en-US" sz="16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References</a:t>
            </a:r>
            <a:endParaRPr lang="en-US" sz="3200" dirty="0"/>
          </a:p>
        </p:txBody>
      </p:sp>
      <p:sp>
        <p:nvSpPr>
          <p:cNvPr id="4" name="Text 1"/>
          <p:cNvSpPr txBox="1"/>
          <p:nvPr/>
        </p:nvSpPr>
        <p:spPr>
          <a:xfrm>
            <a:off x="548640" y="1325880"/>
            <a:ext cx="11094415" cy="4754880"/>
          </a:xfrm>
          <a:prstGeom prst="rect">
            <a:avLst/>
          </a:prstGeom>
          <a:noFill/>
          <a:ln/>
        </p:spPr>
        <p:txBody>
          <a:bodyPr wrap="square" lIns="0" tIns="0" rIns="0" bIns="0" rtlCol="0" anchor="t"/>
          <a:lstStyle/>
          <a:p>
            <a:pPr marL="228600" indent="-228600">
              <a:spcAft>
                <a:spcPts val="300"/>
              </a:spcAft>
              <a:buSzPct val="100000"/>
              <a:buChar char="•"/>
            </a:pPr>
            <a:r>
              <a:rPr lang="en-US" sz="1100" dirty="0">
                <a:solidFill>
                  <a:srgbClr val="0F172A"/>
                </a:solidFill>
              </a:rPr>
              <a:t>[1] P. Yukth, I. S. Mahmood, K. H. Shashank, S. G. Thejus and M. S. Darshini, "Exam Seating Arrangement System," International Journal of Research Publication and Reviews (IJRPR), vol. 6, no. 12, pp. 2093-2105, Dec. 2025.</a:t>
            </a:r>
            <a:endParaRPr lang="en-US" sz="1100" dirty="0"/>
          </a:p>
          <a:p>
            <a:pPr marL="228600" indent="-228600">
              <a:spcAft>
                <a:spcPts val="300"/>
              </a:spcAft>
              <a:buSzPct val="100000"/>
              <a:buChar char="•"/>
            </a:pPr>
            <a:r>
              <a:rPr lang="en-US" sz="1100" dirty="0">
                <a:solidFill>
                  <a:srgbClr val="0F172A"/>
                </a:solidFill>
              </a:rPr>
              <a:t>[2] "Automated examination seating arrangement and hall allocation system," International Journal of AI, Electrical, Civil and Mechanical Engineering, 2026.</a:t>
            </a:r>
            <a:endParaRPr lang="en-US" sz="1100" dirty="0"/>
          </a:p>
          <a:p>
            <a:pPr marL="228600" indent="-228600">
              <a:spcAft>
                <a:spcPts val="300"/>
              </a:spcAft>
              <a:buSzPct val="100000"/>
              <a:buChar char="•"/>
            </a:pPr>
            <a:r>
              <a:rPr lang="en-US" sz="1100" dirty="0">
                <a:solidFill>
                  <a:srgbClr val="0F172A"/>
                </a:solidFill>
              </a:rPr>
              <a:t>[3] "An intelligent machine learning-based system for automated examination hall seating arrangement in universities," in Proc. 2026 Int. Conf. AI-Driven Solutions for Sustainable Smart Cities: Challenges and Opportunities (ADSSSC), 2026.</a:t>
            </a:r>
            <a:endParaRPr lang="en-US" sz="1100" dirty="0"/>
          </a:p>
          <a:p>
            <a:pPr marL="228600" indent="-228600">
              <a:spcAft>
                <a:spcPts val="300"/>
              </a:spcAft>
              <a:buSzPct val="100000"/>
              <a:buChar char="•"/>
            </a:pPr>
            <a:r>
              <a:rPr lang="en-US" sz="1100" dirty="0">
                <a:solidFill>
                  <a:srgbClr val="0F172A"/>
                </a:solidFill>
              </a:rPr>
              <a:t>[4] S. O. Adetona and F. A. Akintoye, "Design and implementation of an examination seating arrangement application to curb examination malpractice," ABUAD Journal of Engineering Research and Development (AJERD), vol. 6, no. 2, pp. 143-156, Dec. 2023.</a:t>
            </a:r>
            <a:endParaRPr lang="en-US" sz="1100" dirty="0"/>
          </a:p>
          <a:p>
            <a:pPr marL="228600" indent="-228600">
              <a:spcAft>
                <a:spcPts val="300"/>
              </a:spcAft>
              <a:buSzPct val="100000"/>
              <a:buChar char="•"/>
            </a:pPr>
            <a:r>
              <a:rPr lang="en-US" sz="1100" dirty="0">
                <a:solidFill>
                  <a:srgbClr val="0F172A"/>
                </a:solidFill>
              </a:rPr>
              <a:t>[5] "Automated seating arrangement for conducting examination," in Proc. 2025 Int. Conf. Multi-Agent Systems for Collaborative Intelligence (ICMSCI), 2025.</a:t>
            </a:r>
            <a:endParaRPr lang="en-US" sz="1100" dirty="0"/>
          </a:p>
          <a:p>
            <a:pPr marL="228600" indent="-228600">
              <a:spcAft>
                <a:spcPts val="300"/>
              </a:spcAft>
              <a:buSzPct val="100000"/>
              <a:buChar char="•"/>
            </a:pPr>
            <a:r>
              <a:rPr lang="en-US" sz="1100" dirty="0">
                <a:solidFill>
                  <a:srgbClr val="0F172A"/>
                </a:solidFill>
              </a:rPr>
              <a:t>[6] Kashyap et al., "Exam seating allocation to prevent malpractice using genetic multi-optimization algorithm," Springer, 2021, doi: 10.1007/978-981-16-0419-5_11.</a:t>
            </a:r>
            <a:endParaRPr lang="en-US" sz="1100" dirty="0"/>
          </a:p>
          <a:p>
            <a:pPr marL="228600" indent="-228600">
              <a:spcAft>
                <a:spcPts val="300"/>
              </a:spcAft>
              <a:buSzPct val="100000"/>
              <a:buChar char="•"/>
            </a:pPr>
            <a:r>
              <a:rPr lang="en-US" sz="1100" dirty="0">
                <a:solidFill>
                  <a:srgbClr val="0F172A"/>
                </a:solidFill>
              </a:rPr>
              <a:t>[7] K. Jitha and A. Fathima, "Web application based exam hall seating management system," in Proc. IEEE Int. Conf. Applied Artificial Intelligence and Computing (ICAAIC), 2022 (as described in [1]).</a:t>
            </a:r>
            <a:endParaRPr lang="en-US" sz="1100" dirty="0"/>
          </a:p>
          <a:p>
            <a:pPr marL="228600" indent="-228600">
              <a:spcAft>
                <a:spcPts val="300"/>
              </a:spcAft>
              <a:buSzPct val="100000"/>
              <a:buChar char="•"/>
            </a:pPr>
            <a:r>
              <a:rPr lang="en-US" sz="1100" dirty="0">
                <a:solidFill>
                  <a:srgbClr val="0F172A"/>
                </a:solidFill>
              </a:rPr>
              <a:t>[8] M. Patel, "Smart seating system for universities," in Proc. IEEE Int. Conf. Computing, Communication and Automation, 2021 (as described in [1]).</a:t>
            </a:r>
            <a:endParaRPr lang="en-US" sz="1100" dirty="0"/>
          </a:p>
          <a:p>
            <a:pPr marL="228600" indent="-228600">
              <a:spcAft>
                <a:spcPts val="300"/>
              </a:spcAft>
              <a:buSzPct val="100000"/>
              <a:buChar char="•"/>
            </a:pPr>
            <a:r>
              <a:rPr lang="en-US" sz="1100" dirty="0">
                <a:solidFill>
                  <a:srgbClr val="0F172A"/>
                </a:solidFill>
              </a:rPr>
              <a:t>[9] "Automated students examination seat allocation using linear congruential generator," International Journal of Computer Trends and Technology (IJCTT), 2021 (as described in [1]).</a:t>
            </a:r>
            <a:endParaRPr lang="en-US" sz="1100" dirty="0"/>
          </a:p>
          <a:p>
            <a:pPr marL="228600" indent="-228600">
              <a:spcAft>
                <a:spcPts val="300"/>
              </a:spcAft>
              <a:buSzPct val="100000"/>
              <a:buChar char="•"/>
            </a:pPr>
            <a:r>
              <a:rPr lang="en-US" sz="1100" dirty="0">
                <a:solidFill>
                  <a:srgbClr val="0F172A"/>
                </a:solidFill>
              </a:rPr>
              <a:t>[10] "AI powered automated exam hall allocation and management system," International Journal of Science and Research (IJSART), 2025 (as described in [1]).</a:t>
            </a:r>
            <a:endParaRPr lang="en-US" sz="1100" dirty="0"/>
          </a:p>
          <a:p>
            <a:pPr marL="228600" indent="-228600">
              <a:spcAft>
                <a:spcPts val="300"/>
              </a:spcAft>
              <a:buSzPct val="100000"/>
              <a:buChar char="•"/>
            </a:pPr>
            <a:r>
              <a:rPr lang="en-US" sz="1100" dirty="0">
                <a:solidFill>
                  <a:srgbClr val="0F172A"/>
                </a:solidFill>
              </a:rPr>
              <a:t>[11] D. J. A. Welsh and M. B. Powell, "An upper bound for the chromatic number of a graph and its application to timetabling problems," The Computer Journal, vol. 10, no. 1, pp. 85-86, 1967.</a:t>
            </a:r>
            <a:endParaRPr lang="en-US" sz="1100" dirty="0"/>
          </a:p>
          <a:p>
            <a:pPr marL="228600" indent="-228600">
              <a:spcAft>
                <a:spcPts val="300"/>
              </a:spcAft>
              <a:buSzPct val="100000"/>
              <a:buChar char="•"/>
            </a:pPr>
            <a:r>
              <a:rPr lang="en-US" sz="1100" dirty="0">
                <a:solidFill>
                  <a:srgbClr val="0F172A"/>
                </a:solidFill>
              </a:rPr>
              <a:t>[12] R. Qu, E. K. Burke, B. McCollum, L. T. G. Merlot and S. Y. Lee, "A survey of search methodologies and automated system development for examination timetabling," Journal of Scheduling, vol. 12, no. 1, pp. 55-89, 2009.</a:t>
            </a:r>
            <a:endParaRPr lang="en-US" sz="1100" dirty="0"/>
          </a:p>
          <a:p>
            <a:pPr marL="228600" indent="-228600">
              <a:spcAft>
                <a:spcPts val="300"/>
              </a:spcAft>
              <a:buSzPct val="100000"/>
              <a:buChar char="•"/>
            </a:pPr>
            <a:r>
              <a:rPr lang="en-US" sz="1100" dirty="0">
                <a:solidFill>
                  <a:srgbClr val="0F172A"/>
                </a:solidFill>
              </a:rPr>
              <a:t>[13] F. Rossi, P. van Beek and T. Walsh, Eds., Handbook of Constraint Programming. Amsterdam, The Netherlands: Elsevier, 2006.</a:t>
            </a:r>
            <a:endParaRPr lang="en-US" sz="11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0"/>
            <a:ext cx="11094415" cy="118872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3" name="Text 0"/>
          <p:cNvSpPr/>
          <p:nvPr>
            <p:ph idx="101" type="body" hasCustomPrompt="1"/>
          </p:nvPr>
        </p:nvSpPr>
        <p:spPr>
          <a:xfrm>
            <a:off x="548640" y="3474720"/>
            <a:ext cx="11094415" cy="1463040"/>
          </a:xfrm>
          <a:prstGeom prst="rect">
            <a:avLst/>
          </a:prstGeom>
          <a:noFill/>
          <a:ln/>
        </p:spPr>
        <p:txBody>
          <a:bodyPr wrap="square" lIns="0" tIns="0" rIns="0" bIns="0" rtlCol="0" anchor="t"/>
          <a:lstStyle/>
          <a:p>
            <a:pPr algn="l" indent="0" marL="0">
              <a:buNone/>
            </a:pPr>
            <a:r>
              <a:rPr lang="en-US" sz="2000" dirty="0">
                <a:solidFill>
                  <a:srgbClr val="CADCFC"/>
                </a:solidFill>
                <a:latin typeface="Calibri" pitchFamily="34" charset="0"/>
                <a:ea typeface="Calibri" pitchFamily="34" charset="-122"/>
                <a:cs typeface="Calibri" pitchFamily="34" charset="-120"/>
              </a:rPr>
              <a:t>Questions and suggestions are welcome.</a:t>
            </a:r>
            <a:endParaRPr lang="en-US" sz="2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Hidden Risk">
  <a:themeElements>
    <a:clrScheme name="Hidden Risk">
      <a:dk1>
        <a:srgbClr val="0F172A"/>
      </a:dk1>
      <a:lt1>
        <a:srgbClr val="FFFFFF"/>
      </a:lt1>
      <a:dk2>
        <a:srgbClr val="1B2A41"/>
      </a:dk2>
      <a:lt2>
        <a:srgbClr val="EEF2F7"/>
      </a:lt2>
      <a:accent1>
        <a:srgbClr val="2A78D6"/>
      </a:accent1>
      <a:accent2>
        <a:srgbClr val="EB6834"/>
      </a:accent2>
      <a:accent3>
        <a:srgbClr val="1BAF7A"/>
      </a:accent3>
      <a:accent4>
        <a:srgbClr val="EDA100"/>
      </a:accent4>
      <a:accent5>
        <a:srgbClr val="6250D6"/>
      </a:accent5>
      <a:accent6>
        <a:srgbClr val="E34948"/>
      </a:accent6>
      <a:hlink>
        <a:srgbClr val="2A78D6"/>
      </a:hlink>
      <a:folHlink>
        <a:srgbClr val="6250D6"/>
      </a:folHlink>
    </a:clrScheme>
    <a:fontScheme name="Hidden Ris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SeatWise: Review 1</dc:title>
  <dc:subject>AI-Enabled Digital Examination Seating Management System</dc:subject>
  <dc:creator>Batch A13</dc:creator>
  <cp:lastModifiedBy>Batch A13</cp:lastModifiedBy>
  <cp:revision>1</cp:revision>
  <dcterms:created xsi:type="dcterms:W3CDTF">2026-10-13T12:36:40Z</dcterms:created>
  <dcterms:modified xsi:type="dcterms:W3CDTF">2026-10-13T12:36:40Z</dcterms:modified>
  <cp:keywords>exam seating, CP-SAT, optimisation</cp:keywords>
  <cp:category/>
  <dc:description/>
  <cp:contentStatus/>
</cp:coreProperties>
</file>