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t>Faithfulness of policy-document answers (Maharjan and Yadav [6])</a:t>
            </a:r>
          </a:p>
        </c:rich>
      </c:tx>
      <c:layout/>
      <c:overlay val="0"/>
    </c:title>
    <c:autoTitleDeleted val="0"/>
    <c:plotArea>
      <c:layout/>
      <c:barChart>
        <c:barDir val="col"/>
        <c:grouping val="clustered"/>
        <c:varyColors val="0"/>
        <c:ser>
          <c:idx val="0"/>
          <c:order val="0"/>
          <c:tx>
            <c:strRef>
              <c:f>Sheet1!$B$1</c:f>
              <c:strCache>
                <c:ptCount val="1"/>
                <c:pt idx="0">
                  <c:v>Faithfulness [6]</c:v>
                </c:pt>
              </c:strCache>
            </c:strRef>
          </c:tx>
          <c:spPr>
            <a:solidFill>
              <a:srgbClr val="6D5BD0"/>
            </a:solidFill>
            <a:effectLst/>
          </c:spPr>
          <c:invertIfNegative val="0"/>
          <c:dLbls>
            <c:numFmt formatCode="0.000" sourceLinked="0"/>
            <c:txPr>
              <a:bodyPr/>
              <a:lstStyle/>
              <a:p>
                <a:pPr>
                  <a:defRPr b="0" i="0" strike="noStrike" sz="1200" u="none">
                    <a:solidFill>
                      <a:srgbClr val="475569"/>
                    </a:solidFill>
                    <a:latin typeface="+mn-lt"/>
                  </a:defRPr>
                </a:pPr>
              </a:p>
            </c:txPr>
            <c:showLegendKey val="0"/>
            <c:showVal val="1"/>
            <c:showCatName val="0"/>
            <c:showSerName val="0"/>
            <c:showPercent val="0"/>
            <c:showBubbleSize val="0"/>
            <c:showLeaderLines val="0"/>
          </c:dLbls>
          <c:cat>
            <c:strRef>
              <c:f>Sheet1!$A$2:$A$4</c:f>
              <c:strCache>
                <c:ptCount val="3"/>
                <c:pt idx="0">
                  <c:v>Plain LLM</c:v>
                </c:pt>
                <c:pt idx="1">
                  <c:v>Basic RAG</c:v>
                </c:pt>
                <c:pt idx="2">
                  <c:v>RAG + cross-encoder</c:v>
                </c:pt>
              </c:strCache>
            </c:strRef>
          </c:cat>
          <c:val>
            <c:numRef>
              <c:f>Sheet1!$B$2:$B$4</c:f>
              <c:numCache>
                <c:formatCode>0.000</c:formatCode>
                <c:ptCount val="3"/>
                <c:pt idx="0">
                  <c:v>0.347</c:v>
                </c:pt>
                <c:pt idx="1">
                  <c:v>0.621</c:v>
                </c:pt>
                <c:pt idx="2">
                  <c:v>0.797</c:v>
                </c:pt>
              </c:numCache>
            </c:numRef>
          </c:val>
        </c:ser>
        <c:dLbls>
          <c:numFmt formatCode="0.000" sourceLinked="0"/>
          <c:txPr>
            <a:bodyPr/>
            <a:lstStyle/>
            <a:p>
              <a:pPr>
                <a:defRPr b="0" i="0" strike="noStrike" sz="1200" u="none">
                  <a:solidFill>
                    <a:srgbClr val="47556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in val="0.0"/>
        </c:scaling>
        <c:delete val="0"/>
        <c:axPos val="l"/>
        <c:majorGridlines>
          <c:spPr>
            <a:ln w="9525" cap="flat">
              <a:solidFill>
                <a:srgbClr val="E2E8F0"/>
              </a:solidFill>
              <a:prstDash val="solid"/>
              <a:round/>
            </a:ln>
          </c:spPr>
        </c:majorGridlines>
        <c:title>
          <c:tx>
            <c:rich>
              <a:bodyPr/>
              <a:lstStyle/>
              <a:p>
                <a:r>
                  <a:rPr sz="1000" b="0"/>
                  <a:t>faithfulness score</a:t>
                </a:r>
              </a:p>
            </c:rich>
          </c:tx>
          <c:layout/>
          <c:overlay val="0"/>
        </c:title>
        <c:numFmt formatCode="0.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1 covers problem identification and research for PolicyLens, an AI health-insurance assistant that combines retrieval-augmented generation with a large language model.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 parts: the abstract, the base paper and related work, the gap we found, our problem statement and objectives, the approach, expected outcomes and references.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abstract in one slide: the problem, the RAG approach, and the claim-guidance and comparison features.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paper summarises Turkish court rulings and reports ROUGE. Its select-then-generate idea is the starting point of PolicyLens, which applies it to cited question answering over insurance wordings.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Six works. [1], [2] and [6] were read in detail; [3] and [4] are listed in the batch survey but could not be retrieved, and the results of [5] were not read, so no results are claimed for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published numbers, not ours. They show that retrieval and re-ranking help and that wrong statements remain, which is why PolicyLens adds citations and a faithfulness score.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a policyholder understands a policy today.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the wording is hard to read, human help is slow, chatbots are not grounded, and claim filing is unguided.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Existing work summarises or answers questions over legal and general documents, but few systems combine attribute extraction, clause-grounded answers and claim guidance for health insurance.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statement: inputs are the policy and the user's questions; outputs are cards, cited answers, claim plans and comparisons; extra property is a measured faithfulness.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approach: parse and segment, retrieve, generate from the clauses only, then check and guide.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Browser to React to FastAPI. Retrieval, faithfulness and the rules run locally; only the language generation calls the Gemini API.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outcomes are stated as targets at this stage and are measured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[1] to [12]; the full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PolicyLens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PolicyLens</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AI Health Insurance Assistance Using LLM + RAG</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G.PRANATHI  23K91A6764</a:t>
            </a:r>
            <a:endParaRPr lang="en-US" sz="1500" dirty="0"/>
          </a:p>
          <a:p>
            <a:pPr indent="0" marL="0">
              <a:buNone/>
            </a:pPr>
            <a:r>
              <a:rPr lang="en-US" sz="1500" dirty="0">
                <a:solidFill>
                  <a:srgbClr val="FFFFFF"/>
                </a:solidFill>
              </a:rPr>
              <a:t>CH.AISHWARYA  23K91A6747</a:t>
            </a:r>
            <a:endParaRPr lang="en-US" sz="1500" dirty="0"/>
          </a:p>
          <a:p>
            <a:pPr indent="0" marL="0">
              <a:buNone/>
            </a:pPr>
            <a:r>
              <a:rPr lang="en-US" sz="1500" dirty="0">
                <a:solidFill>
                  <a:srgbClr val="FFFFFF"/>
                </a:solidFill>
              </a:rPr>
              <a:t>BHAVANSH MANE  23K91A6728</a:t>
            </a:r>
            <a:endParaRPr lang="en-US" sz="1500" dirty="0"/>
          </a:p>
          <a:p>
            <a:pPr indent="0" marL="0">
              <a:buNone/>
            </a:pPr>
            <a:r>
              <a:rPr lang="en-US" sz="1500" dirty="0">
                <a:solidFill>
                  <a:srgbClr val="FFFFFF"/>
                </a:solidFill>
              </a:rPr>
              <a:t>B.DEEKSHITH  24K95A6701</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NAME],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 (Data Science)</a:t>
            </a:r>
            <a:endParaRPr lang="en-US" sz="1300" dirty="0"/>
          </a:p>
          <a:p>
            <a:pPr indent="0" marL="0">
              <a:buNone/>
            </a:pPr>
            <a:r>
              <a:rPr lang="en-US" sz="1300" dirty="0">
                <a:solidFill>
                  <a:srgbClr val="CADCFC"/>
                </a:solidFill>
              </a:rPr>
              <a:t>[COLLEGE NAME]  ·  Batch A1 (CSE-DS, Section 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4" name="agenda 1"/>
          <p:cNvSpPr/>
          <p:nvPr/>
        </p:nvSpPr>
        <p:spPr>
          <a:xfrm>
            <a:off x="548640" y="1417320"/>
            <a:ext cx="3566160" cy="1325880"/>
          </a:xfrm>
          <a:prstGeom prst="roundRect">
            <a:avLst>
              <a:gd name="adj" fmla="val 5517"/>
            </a:avLst>
          </a:prstGeom>
          <a:solidFill>
            <a:srgbClr val="F6F8FB"/>
          </a:solidFill>
          <a:ln w="9525">
            <a:solidFill>
              <a:srgbClr val="D5DCE6"/>
            </a:solidFill>
            <a:prstDash val="solid"/>
          </a:ln>
        </p:spPr>
      </p:sp>
      <p:sp>
        <p:nvSpPr>
          <p:cNvPr id="5" name="Text 2"/>
          <p:cNvSpPr txBox="1"/>
          <p:nvPr/>
        </p:nvSpPr>
        <p:spPr>
          <a:xfrm>
            <a:off x="77724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01</a:t>
            </a:r>
            <a:endParaRPr lang="en-US" sz="2400" dirty="0"/>
          </a:p>
        </p:txBody>
      </p:sp>
      <p:sp>
        <p:nvSpPr>
          <p:cNvPr id="6" name="Text 3"/>
          <p:cNvSpPr txBox="1"/>
          <p:nvPr/>
        </p:nvSpPr>
        <p:spPr>
          <a:xfrm>
            <a:off x="77724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Abstract and overview</a:t>
            </a:r>
            <a:endParaRPr lang="en-US" sz="1600" dirty="0"/>
          </a:p>
        </p:txBody>
      </p:sp>
      <p:sp>
        <p:nvSpPr>
          <p:cNvPr id="7" name="agenda 2"/>
          <p:cNvSpPr/>
          <p:nvPr/>
        </p:nvSpPr>
        <p:spPr>
          <a:xfrm>
            <a:off x="4297680" y="1417320"/>
            <a:ext cx="3566160" cy="1325880"/>
          </a:xfrm>
          <a:prstGeom prst="roundRect">
            <a:avLst>
              <a:gd name="adj" fmla="val 5517"/>
            </a:avLst>
          </a:prstGeom>
          <a:solidFill>
            <a:srgbClr val="F6F8FB"/>
          </a:solidFill>
          <a:ln w="9525">
            <a:solidFill>
              <a:srgbClr val="D5DCE6"/>
            </a:solidFill>
            <a:prstDash val="solid"/>
          </a:ln>
        </p:spPr>
      </p:sp>
      <p:sp>
        <p:nvSpPr>
          <p:cNvPr id="8" name="Text 5"/>
          <p:cNvSpPr txBox="1"/>
          <p:nvPr/>
        </p:nvSpPr>
        <p:spPr>
          <a:xfrm>
            <a:off x="452628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02</a:t>
            </a:r>
            <a:endParaRPr lang="en-US" sz="2400" dirty="0"/>
          </a:p>
        </p:txBody>
      </p:sp>
      <p:sp>
        <p:nvSpPr>
          <p:cNvPr id="9" name="Text 6"/>
          <p:cNvSpPr txBox="1"/>
          <p:nvPr/>
        </p:nvSpPr>
        <p:spPr>
          <a:xfrm>
            <a:off x="452628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Base paper</a:t>
            </a:r>
            <a:endParaRPr lang="en-US" sz="1600" dirty="0"/>
          </a:p>
        </p:txBody>
      </p:sp>
      <p:sp>
        <p:nvSpPr>
          <p:cNvPr id="10" name="agenda 3"/>
          <p:cNvSpPr/>
          <p:nvPr/>
        </p:nvSpPr>
        <p:spPr>
          <a:xfrm>
            <a:off x="8046720" y="1417320"/>
            <a:ext cx="3566160" cy="1325880"/>
          </a:xfrm>
          <a:prstGeom prst="roundRect">
            <a:avLst>
              <a:gd name="adj" fmla="val 5517"/>
            </a:avLst>
          </a:prstGeom>
          <a:solidFill>
            <a:srgbClr val="F6F8FB"/>
          </a:solidFill>
          <a:ln w="9525">
            <a:solidFill>
              <a:srgbClr val="D5DCE6"/>
            </a:solidFill>
            <a:prstDash val="solid"/>
          </a:ln>
        </p:spPr>
      </p:sp>
      <p:sp>
        <p:nvSpPr>
          <p:cNvPr id="11" name="Text 8"/>
          <p:cNvSpPr txBox="1"/>
          <p:nvPr/>
        </p:nvSpPr>
        <p:spPr>
          <a:xfrm>
            <a:off x="827532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03</a:t>
            </a:r>
            <a:endParaRPr lang="en-US" sz="2400" dirty="0"/>
          </a:p>
        </p:txBody>
      </p:sp>
      <p:sp>
        <p:nvSpPr>
          <p:cNvPr id="12" name="Text 9"/>
          <p:cNvSpPr txBox="1"/>
          <p:nvPr/>
        </p:nvSpPr>
        <p:spPr>
          <a:xfrm>
            <a:off x="827532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Literature survey</a:t>
            </a:r>
            <a:endParaRPr lang="en-US" sz="1600" dirty="0"/>
          </a:p>
        </p:txBody>
      </p:sp>
      <p:sp>
        <p:nvSpPr>
          <p:cNvPr id="13" name="agenda 4"/>
          <p:cNvSpPr/>
          <p:nvPr/>
        </p:nvSpPr>
        <p:spPr>
          <a:xfrm>
            <a:off x="548640" y="2971800"/>
            <a:ext cx="3566160" cy="1325880"/>
          </a:xfrm>
          <a:prstGeom prst="roundRect">
            <a:avLst>
              <a:gd name="adj" fmla="val 5517"/>
            </a:avLst>
          </a:prstGeom>
          <a:solidFill>
            <a:srgbClr val="F6F8FB"/>
          </a:solidFill>
          <a:ln w="9525">
            <a:solidFill>
              <a:srgbClr val="D5DCE6"/>
            </a:solidFill>
            <a:prstDash val="solid"/>
          </a:ln>
        </p:spPr>
      </p:sp>
      <p:sp>
        <p:nvSpPr>
          <p:cNvPr id="14" name="Text 11"/>
          <p:cNvSpPr txBox="1"/>
          <p:nvPr/>
        </p:nvSpPr>
        <p:spPr>
          <a:xfrm>
            <a:off x="77724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04</a:t>
            </a:r>
            <a:endParaRPr lang="en-US" sz="2400" dirty="0"/>
          </a:p>
        </p:txBody>
      </p:sp>
      <p:sp>
        <p:nvSpPr>
          <p:cNvPr id="15" name="Text 12"/>
          <p:cNvSpPr txBox="1"/>
          <p:nvPr/>
        </p:nvSpPr>
        <p:spPr>
          <a:xfrm>
            <a:off x="77724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Existing approaches and limitations</a:t>
            </a:r>
            <a:endParaRPr lang="en-US" sz="1600" dirty="0"/>
          </a:p>
        </p:txBody>
      </p:sp>
      <p:sp>
        <p:nvSpPr>
          <p:cNvPr id="16" name="agenda 5"/>
          <p:cNvSpPr/>
          <p:nvPr/>
        </p:nvSpPr>
        <p:spPr>
          <a:xfrm>
            <a:off x="4297680" y="2971800"/>
            <a:ext cx="3566160" cy="1325880"/>
          </a:xfrm>
          <a:prstGeom prst="roundRect">
            <a:avLst>
              <a:gd name="adj" fmla="val 5517"/>
            </a:avLst>
          </a:prstGeom>
          <a:solidFill>
            <a:srgbClr val="F6F8FB"/>
          </a:solidFill>
          <a:ln w="9525">
            <a:solidFill>
              <a:srgbClr val="D5DCE6"/>
            </a:solidFill>
            <a:prstDash val="solid"/>
          </a:ln>
        </p:spPr>
      </p:sp>
      <p:sp>
        <p:nvSpPr>
          <p:cNvPr id="17" name="Text 14"/>
          <p:cNvSpPr txBox="1"/>
          <p:nvPr/>
        </p:nvSpPr>
        <p:spPr>
          <a:xfrm>
            <a:off x="452628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05</a:t>
            </a:r>
            <a:endParaRPr lang="en-US" sz="2400" dirty="0"/>
          </a:p>
        </p:txBody>
      </p:sp>
      <p:sp>
        <p:nvSpPr>
          <p:cNvPr id="18" name="Text 15"/>
          <p:cNvSpPr txBox="1"/>
          <p:nvPr/>
        </p:nvSpPr>
        <p:spPr>
          <a:xfrm>
            <a:off x="452628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Research gap</a:t>
            </a:r>
            <a:endParaRPr lang="en-US" sz="1600" dirty="0"/>
          </a:p>
        </p:txBody>
      </p:sp>
      <p:sp>
        <p:nvSpPr>
          <p:cNvPr id="19" name="agenda 6"/>
          <p:cNvSpPr/>
          <p:nvPr/>
        </p:nvSpPr>
        <p:spPr>
          <a:xfrm>
            <a:off x="8046720" y="2971800"/>
            <a:ext cx="3566160" cy="1325880"/>
          </a:xfrm>
          <a:prstGeom prst="roundRect">
            <a:avLst>
              <a:gd name="adj" fmla="val 5517"/>
            </a:avLst>
          </a:prstGeom>
          <a:solidFill>
            <a:srgbClr val="F6F8FB"/>
          </a:solidFill>
          <a:ln w="9525">
            <a:solidFill>
              <a:srgbClr val="D5DCE6"/>
            </a:solidFill>
            <a:prstDash val="solid"/>
          </a:ln>
        </p:spPr>
      </p:sp>
      <p:sp>
        <p:nvSpPr>
          <p:cNvPr id="20" name="Text 17"/>
          <p:cNvSpPr txBox="1"/>
          <p:nvPr/>
        </p:nvSpPr>
        <p:spPr>
          <a:xfrm>
            <a:off x="827532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06</a:t>
            </a:r>
            <a:endParaRPr lang="en-US" sz="2400" dirty="0"/>
          </a:p>
        </p:txBody>
      </p:sp>
      <p:sp>
        <p:nvSpPr>
          <p:cNvPr id="21" name="Text 18"/>
          <p:cNvSpPr txBox="1"/>
          <p:nvPr/>
        </p:nvSpPr>
        <p:spPr>
          <a:xfrm>
            <a:off x="827532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Problem statement and objectives</a:t>
            </a:r>
            <a:endParaRPr lang="en-US" sz="1600" dirty="0"/>
          </a:p>
        </p:txBody>
      </p:sp>
      <p:sp>
        <p:nvSpPr>
          <p:cNvPr id="22" name="agenda 7"/>
          <p:cNvSpPr/>
          <p:nvPr/>
        </p:nvSpPr>
        <p:spPr>
          <a:xfrm>
            <a:off x="548640" y="4526280"/>
            <a:ext cx="3566160" cy="1325880"/>
          </a:xfrm>
          <a:prstGeom prst="roundRect">
            <a:avLst>
              <a:gd name="adj" fmla="val 5517"/>
            </a:avLst>
          </a:prstGeom>
          <a:solidFill>
            <a:srgbClr val="F6F8FB"/>
          </a:solidFill>
          <a:ln w="9525">
            <a:solidFill>
              <a:srgbClr val="D5DCE6"/>
            </a:solidFill>
            <a:prstDash val="solid"/>
          </a:ln>
        </p:spPr>
      </p:sp>
      <p:sp>
        <p:nvSpPr>
          <p:cNvPr id="23" name="Text 20"/>
          <p:cNvSpPr txBox="1"/>
          <p:nvPr/>
        </p:nvSpPr>
        <p:spPr>
          <a:xfrm>
            <a:off x="77724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07</a:t>
            </a:r>
            <a:endParaRPr lang="en-US" sz="2400" dirty="0"/>
          </a:p>
        </p:txBody>
      </p:sp>
      <p:sp>
        <p:nvSpPr>
          <p:cNvPr id="24" name="Text 21"/>
          <p:cNvSpPr txBox="1"/>
          <p:nvPr/>
        </p:nvSpPr>
        <p:spPr>
          <a:xfrm>
            <a:off x="77724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Proposed approach and architecture</a:t>
            </a:r>
            <a:endParaRPr lang="en-US" sz="1600" dirty="0"/>
          </a:p>
        </p:txBody>
      </p:sp>
      <p:sp>
        <p:nvSpPr>
          <p:cNvPr id="25" name="agenda 8"/>
          <p:cNvSpPr/>
          <p:nvPr/>
        </p:nvSpPr>
        <p:spPr>
          <a:xfrm>
            <a:off x="4297680" y="4526280"/>
            <a:ext cx="3566160" cy="1325880"/>
          </a:xfrm>
          <a:prstGeom prst="roundRect">
            <a:avLst>
              <a:gd name="adj" fmla="val 5517"/>
            </a:avLst>
          </a:prstGeom>
          <a:solidFill>
            <a:srgbClr val="F6F8FB"/>
          </a:solidFill>
          <a:ln w="9525">
            <a:solidFill>
              <a:srgbClr val="D5DCE6"/>
            </a:solidFill>
            <a:prstDash val="solid"/>
          </a:ln>
        </p:spPr>
      </p:sp>
      <p:sp>
        <p:nvSpPr>
          <p:cNvPr id="26" name="Text 23"/>
          <p:cNvSpPr txBox="1"/>
          <p:nvPr/>
        </p:nvSpPr>
        <p:spPr>
          <a:xfrm>
            <a:off x="452628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08</a:t>
            </a:r>
            <a:endParaRPr lang="en-US" sz="2400" dirty="0"/>
          </a:p>
        </p:txBody>
      </p:sp>
      <p:sp>
        <p:nvSpPr>
          <p:cNvPr id="27" name="Text 24"/>
          <p:cNvSpPr txBox="1"/>
          <p:nvPr/>
        </p:nvSpPr>
        <p:spPr>
          <a:xfrm>
            <a:off x="452628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Expected outcomes</a:t>
            </a:r>
            <a:endParaRPr lang="en-US" sz="1600" dirty="0"/>
          </a:p>
        </p:txBody>
      </p:sp>
      <p:sp>
        <p:nvSpPr>
          <p:cNvPr id="28" name="agenda 9"/>
          <p:cNvSpPr/>
          <p:nvPr/>
        </p:nvSpPr>
        <p:spPr>
          <a:xfrm>
            <a:off x="8046720" y="4526280"/>
            <a:ext cx="3566160" cy="1325880"/>
          </a:xfrm>
          <a:prstGeom prst="roundRect">
            <a:avLst>
              <a:gd name="adj" fmla="val 5517"/>
            </a:avLst>
          </a:prstGeom>
          <a:solidFill>
            <a:srgbClr val="F6F8FB"/>
          </a:solidFill>
          <a:ln w="9525">
            <a:solidFill>
              <a:srgbClr val="D5DCE6"/>
            </a:solidFill>
            <a:prstDash val="solid"/>
          </a:ln>
        </p:spPr>
      </p:sp>
      <p:sp>
        <p:nvSpPr>
          <p:cNvPr id="29" name="Text 26"/>
          <p:cNvSpPr txBox="1"/>
          <p:nvPr/>
        </p:nvSpPr>
        <p:spPr>
          <a:xfrm>
            <a:off x="827532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09</a:t>
            </a:r>
            <a:endParaRPr lang="en-US" sz="2400" dirty="0"/>
          </a:p>
        </p:txBody>
      </p:sp>
      <p:sp>
        <p:nvSpPr>
          <p:cNvPr id="30" name="Text 27"/>
          <p:cNvSpPr txBox="1"/>
          <p:nvPr/>
        </p:nvSpPr>
        <p:spPr>
          <a:xfrm>
            <a:off x="827532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References</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policies explained from the policy itself</a:t>
            </a:r>
            <a:endParaRPr lang="en-US" sz="3200" dirty="0"/>
          </a:p>
        </p:txBody>
      </p:sp>
      <p:sp>
        <p:nvSpPr>
          <p:cNvPr id="4" name="The problem card"/>
          <p:cNvSpPr/>
          <p:nvPr/>
        </p:nvSpPr>
        <p:spPr>
          <a:xfrm>
            <a:off x="548640" y="1371600"/>
            <a:ext cx="3566160" cy="4206240"/>
          </a:xfrm>
          <a:prstGeom prst="roundRect">
            <a:avLst>
              <a:gd name="adj" fmla="val 2051"/>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The problem">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problem</a:t>
            </a:r>
            <a:endParaRPr lang="en-US" sz="1600" dirty="0"/>
          </a:p>
        </p:txBody>
      </p:sp>
      <p:sp>
        <p:nvSpPr>
          <p:cNvPr id="8" name="Text 4"/>
          <p:cNvSpPr txBox="1"/>
          <p:nvPr/>
        </p:nvSpPr>
        <p:spPr>
          <a:xfrm>
            <a:off x="77724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Health insurance policies are long, technical documents, so users struggle to understand coverage, exclusions, deductibles and claim procedures. Agents give slow, generic answers, and general chatbots can state things the policy does not say.</a:t>
            </a:r>
            <a:endParaRPr lang="en-US" sz="1600" dirty="0"/>
          </a:p>
        </p:txBody>
      </p:sp>
      <p:sp>
        <p:nvSpPr>
          <p:cNvPr id="9" name="Our idea card"/>
          <p:cNvSpPr/>
          <p:nvPr/>
        </p:nvSpPr>
        <p:spPr>
          <a:xfrm>
            <a:off x="4297680" y="1371600"/>
            <a:ext cx="3566160" cy="4206240"/>
          </a:xfrm>
          <a:prstGeom prst="roundRect">
            <a:avLst>
              <a:gd name="adj" fmla="val 2051"/>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sp>
      <p:pic>
        <p:nvPicPr>
          <p:cNvPr id="11" name="Image 1" descr="Our idea">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Our idea</a:t>
            </a:r>
            <a:endParaRPr lang="en-US" sz="1600" dirty="0"/>
          </a:p>
        </p:txBody>
      </p:sp>
      <p:sp>
        <p:nvSpPr>
          <p:cNvPr id="13" name="Text 8"/>
          <p:cNvSpPr txBox="1"/>
          <p:nvPr/>
        </p:nvSpPr>
        <p:spPr>
          <a:xfrm>
            <a:off x="452628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PolicyLens combines retrieval-augmented generation (RAG) with an LLM. The uploaded policy is parsed into numbered clauses; a Policy Card lists the key terms; a chatbot answers in plain language, citing the clauses it used.</a:t>
            </a:r>
            <a:endParaRPr lang="en-US" sz="1600" dirty="0"/>
          </a:p>
        </p:txBody>
      </p:sp>
      <p:sp>
        <p:nvSpPr>
          <p:cNvPr id="14" name="The deliverable card"/>
          <p:cNvSpPr/>
          <p:nvPr/>
        </p:nvSpPr>
        <p:spPr>
          <a:xfrm>
            <a:off x="8046720" y="1371600"/>
            <a:ext cx="3566160" cy="4206240"/>
          </a:xfrm>
          <a:prstGeom prst="roundRect">
            <a:avLst>
              <a:gd name="adj" fmla="val 2051"/>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1BAF7A"/>
          </a:solidFill>
          <a:ln w="12700">
            <a:solidFill>
              <a:srgbClr val="1BAF7A"/>
            </a:solidFill>
            <a:prstDash val="solid"/>
          </a:ln>
        </p:spPr>
      </p:sp>
      <p:pic>
        <p:nvPicPr>
          <p:cNvPr id="16" name="Image 2" descr="The deliverable">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deliverable</a:t>
            </a:r>
            <a:endParaRPr lang="en-US" sz="1600" dirty="0"/>
          </a:p>
        </p:txBody>
      </p:sp>
      <p:sp>
        <p:nvSpPr>
          <p:cNvPr id="18" name="Text 12"/>
          <p:cNvSpPr txBox="1"/>
          <p:nvPr/>
        </p:nvSpPr>
        <p:spPr>
          <a:xfrm>
            <a:off x="827532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It also guides claims with eligibility pre-checks, an evidence checklist and step-by-step procedures, flags risky terms and compares two plans, in English, Hindi and Telugu.</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4" name="citation box"/>
          <p:cNvSpPr/>
          <p:nvPr/>
        </p:nvSpPr>
        <p:spPr>
          <a:xfrm>
            <a:off x="548640" y="1325880"/>
            <a:ext cx="11094415" cy="960120"/>
          </a:xfrm>
          <a:prstGeom prst="roundRect">
            <a:avLst>
              <a:gd name="adj" fmla="val 5714"/>
            </a:avLst>
          </a:prstGeom>
          <a:solidFill>
            <a:srgbClr val="EEF2F7"/>
          </a:solidFill>
          <a:ln w="12700">
            <a:solidFill>
              <a:srgbClr val="EEF2F7"/>
            </a:solidFill>
            <a:prstDash val="solid"/>
          </a:ln>
        </p:spPr>
      </p:sp>
      <p:sp>
        <p:nvSpPr>
          <p:cNvPr id="5" name="Text 2"/>
          <p:cNvSpPr txBox="1"/>
          <p:nvPr/>
        </p:nvSpPr>
        <p:spPr>
          <a:xfrm>
            <a:off x="777240" y="1371600"/>
            <a:ext cx="10637215" cy="868680"/>
          </a:xfrm>
          <a:prstGeom prst="rect">
            <a:avLst/>
          </a:prstGeom>
          <a:noFill/>
          <a:ln/>
        </p:spPr>
        <p:txBody>
          <a:bodyPr wrap="square" lIns="0" tIns="0" rIns="0" bIns="0" rtlCol="0" anchor="ctr"/>
          <a:lstStyle/>
          <a:p>
            <a:pPr indent="0" marL="0">
              <a:buNone/>
            </a:pPr>
            <a:r>
              <a:rPr lang="en-US" sz="1400" i="1" dirty="0">
                <a:solidFill>
                  <a:srgbClr val="0F172A"/>
                </a:solidFill>
              </a:rPr>
              <a:t>M. A. A. Albayati and O. Findik, "A hybrid transformer-based framework for multi-document summarization of Turkish legal documents," IEEE Access, vol. 13, pp. 37165-37181, 2025, doi: 10.1109/ACCESS.2025.3545750.</a:t>
            </a:r>
            <a:endParaRPr lang="en-US" sz="1400" dirty="0"/>
          </a:p>
        </p:txBody>
      </p:sp>
      <p:sp>
        <p:nvSpPr>
          <p:cNvPr id="6" name="Method card"/>
          <p:cNvSpPr/>
          <p:nvPr/>
        </p:nvSpPr>
        <p:spPr>
          <a:xfrm>
            <a:off x="548640" y="2514600"/>
            <a:ext cx="3566160" cy="3246120"/>
          </a:xfrm>
          <a:prstGeom prst="roundRect">
            <a:avLst>
              <a:gd name="adj" fmla="val 2254"/>
            </a:avLst>
          </a:prstGeom>
          <a:solidFill>
            <a:srgbClr val="F6F8FB"/>
          </a:solidFill>
          <a:ln w="9525">
            <a:solidFill>
              <a:srgbClr val="D5DCE6"/>
            </a:solidFill>
            <a:prstDash val="solid"/>
          </a:ln>
        </p:spPr>
      </p:sp>
      <p:sp>
        <p:nvSpPr>
          <p:cNvPr id="7" name="Text 4"/>
          <p:cNvSpPr txBox="1"/>
          <p:nvPr/>
        </p:nvSpPr>
        <p:spPr>
          <a:xfrm>
            <a:off x="77724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Method</a:t>
            </a:r>
            <a:endParaRPr lang="en-US" sz="1600" dirty="0"/>
          </a:p>
        </p:txBody>
      </p:sp>
      <p:sp>
        <p:nvSpPr>
          <p:cNvPr id="8" name="Text 5"/>
          <p:cNvSpPr txBox="1"/>
          <p:nvPr/>
        </p:nvSpPr>
        <p:spPr>
          <a:xfrm>
            <a:off x="777240" y="3383280"/>
            <a:ext cx="3108960" cy="2240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Hybrid pipeline for long Turkish court rulings: TF-IDF and TextRank first select the important sentences; LED, Long-T5, BART-large and GPT-3.5 Turbo then generate an abstractive summary from them.</a:t>
            </a:r>
            <a:endParaRPr lang="en-US" sz="1500" dirty="0"/>
          </a:p>
        </p:txBody>
      </p:sp>
      <p:sp>
        <p:nvSpPr>
          <p:cNvPr id="9" name="Data and reported results card"/>
          <p:cNvSpPr/>
          <p:nvPr/>
        </p:nvSpPr>
        <p:spPr>
          <a:xfrm>
            <a:off x="4297680" y="2514600"/>
            <a:ext cx="3566160" cy="3246120"/>
          </a:xfrm>
          <a:prstGeom prst="roundRect">
            <a:avLst>
              <a:gd name="adj" fmla="val 2254"/>
            </a:avLst>
          </a:prstGeom>
          <a:solidFill>
            <a:srgbClr val="F6F8FB"/>
          </a:solidFill>
          <a:ln w="9525">
            <a:solidFill>
              <a:srgbClr val="D5DCE6"/>
            </a:solidFill>
            <a:prstDash val="solid"/>
          </a:ln>
        </p:spPr>
      </p:sp>
      <p:sp>
        <p:nvSpPr>
          <p:cNvPr id="10" name="Text 7"/>
          <p:cNvSpPr txBox="1"/>
          <p:nvPr/>
        </p:nvSpPr>
        <p:spPr>
          <a:xfrm>
            <a:off x="452628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Data and reported results</a:t>
            </a:r>
            <a:endParaRPr lang="en-US" sz="1600" dirty="0"/>
          </a:p>
        </p:txBody>
      </p:sp>
      <p:sp>
        <p:nvSpPr>
          <p:cNvPr id="11" name="Text 8"/>
          <p:cNvSpPr txBox="1"/>
          <p:nvPr/>
        </p:nvSpPr>
        <p:spPr>
          <a:xfrm>
            <a:off x="4526280" y="3383280"/>
            <a:ext cx="3108960" cy="2240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2,000 Turkish consumer-rights rulings. TF-IDF with keywords: content F1 0.47. Best model GPT-3.5 Turbo: ROUGE-1 55%, ROUGE-2 35%, ROUGE-L 42%, ROUGE-Sum 44%.</a:t>
            </a:r>
            <a:endParaRPr lang="en-US" sz="1500" dirty="0"/>
          </a:p>
        </p:txBody>
      </p:sp>
      <p:sp>
        <p:nvSpPr>
          <p:cNvPr id="12" name="Limitations stated by the authors card"/>
          <p:cNvSpPr/>
          <p:nvPr/>
        </p:nvSpPr>
        <p:spPr>
          <a:xfrm>
            <a:off x="8046720" y="2514600"/>
            <a:ext cx="3566160" cy="3246120"/>
          </a:xfrm>
          <a:prstGeom prst="roundRect">
            <a:avLst>
              <a:gd name="adj" fmla="val 2254"/>
            </a:avLst>
          </a:prstGeom>
          <a:solidFill>
            <a:srgbClr val="FDF1EC"/>
          </a:solidFill>
          <a:ln w="9525">
            <a:solidFill>
              <a:srgbClr val="D5DCE6"/>
            </a:solidFill>
            <a:prstDash val="solid"/>
          </a:ln>
        </p:spPr>
      </p:sp>
      <p:sp>
        <p:nvSpPr>
          <p:cNvPr id="13" name="Text 10"/>
          <p:cNvSpPr txBox="1"/>
          <p:nvPr/>
        </p:nvSpPr>
        <p:spPr>
          <a:xfrm>
            <a:off x="827532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What we adopt and what we change</a:t>
            </a:r>
            <a:endParaRPr lang="en-US" sz="1600" dirty="0"/>
          </a:p>
        </p:txBody>
      </p:sp>
      <p:sp>
        <p:nvSpPr>
          <p:cNvPr id="14" name="Text 11"/>
          <p:cNvSpPr txBox="1"/>
          <p:nvPr/>
        </p:nvSpPr>
        <p:spPr>
          <a:xfrm>
            <a:off x="8275320" y="3383280"/>
            <a:ext cx="3108960" cy="2240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We adopt select-then-generate for long legal text. We change the task (cited question answering, claims, comparison), the domain (health-insurance wordings) and the evaluation (retrieval, citation, faithfulness).</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26080"/>
                <a:gridCol w="3566160"/>
                <a:gridCol w="2194560"/>
                <a:gridCol w="2407615"/>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Reported result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Albayati and Findik, 2025 (base) [1]</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TF-IDF/TextRank extraction, then LED, Long-T5, BART, GPT-3.5 summaries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2,000 Turkish court rulings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GPT-3.5 Turbo ROUGE-1 55%, ROUGE-2 35%, ROUGE-L 42%</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Beauchemin et al., 2024 [2]</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RAG with GPT-4o over a Quebec auto-insurance corpus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Corpus + 82 expert answers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Better on average; 5-13% of answers had a false statement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Maharjan and Yadav, 2026 [6]</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Plain LLM vs basic RAG vs RAG with cross-encoder re-ranking</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Public-health policy documents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Faithfulness 0.347 / 0.621 / 0.797</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Multi-strategy RAG for medical-insurance QA, 2026 [3]</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Multi-strategy RAG</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 (listed in batch survey)</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AI chatbot, Iran Health Insurance Org., 2023 [4]</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Service chatbot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retrieved (listed in batch survey)</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Knollmeyer et al., 2025 [5]</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Knowledge-graph-enhanced RAG for document QA</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Manufacturing documents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read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grounding raises faithfulness</a:t>
            </a:r>
            <a:endParaRPr lang="en-US" sz="3200" dirty="0"/>
          </a:p>
        </p:txBody>
      </p:sp>
      <p:graphicFrame>
        <p:nvGraphicFramePr>
          <p:cNvPr id="4" name="Chart 0" descr=""/>
          <p:cNvGraphicFramePr/>
          <p:nvPr/>
        </p:nvGraphicFramePr>
        <p:xfrm>
          <a:off x="548640" y="128016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5" name="Takeaway card"/>
          <p:cNvSpPr/>
          <p:nvPr/>
        </p:nvSpPr>
        <p:spPr>
          <a:xfrm>
            <a:off x="7589520" y="1371600"/>
            <a:ext cx="4050792" cy="2103120"/>
          </a:xfrm>
          <a:prstGeom prst="roundRect">
            <a:avLst>
              <a:gd name="adj" fmla="val 3478"/>
            </a:avLst>
          </a:prstGeom>
          <a:solidFill>
            <a:srgbClr val="F6F8FB"/>
          </a:solidFill>
          <a:ln w="9525">
            <a:solidFill>
              <a:srgbClr val="D5DCE6"/>
            </a:solidFill>
            <a:prstDash val="solid"/>
          </a:ln>
        </p:spPr>
      </p:sp>
      <p:sp>
        <p:nvSpPr>
          <p:cNvPr id="6" name="icon circle"/>
          <p:cNvSpPr/>
          <p:nvPr/>
        </p:nvSpPr>
        <p:spPr>
          <a:xfrm>
            <a:off x="7818120" y="1600200"/>
            <a:ext cx="548640" cy="548640"/>
          </a:xfrm>
          <a:prstGeom prst="ellipse">
            <a:avLst/>
          </a:prstGeom>
          <a:solidFill>
            <a:srgbClr val="1BAF7A"/>
          </a:solidFill>
          <a:ln w="12700">
            <a:solidFill>
              <a:srgbClr val="1BAF7A"/>
            </a:solidFill>
            <a:prstDash val="solid"/>
          </a:ln>
        </p:spPr>
      </p:sp>
      <p:pic>
        <p:nvPicPr>
          <p:cNvPr id="7" name="Image 0" descr="Takeaway">    </p:cNvPr>
          <p:cNvPicPr>
            <a:picLocks noChangeAspect="1"/>
          </p:cNvPicPr>
          <p:nvPr/>
        </p:nvPicPr>
        <p:blipFill>
          <a:blip r:embed="rId2"/>
          <a:stretch>
            <a:fillRect/>
          </a:stretch>
        </p:blipFill>
        <p:spPr>
          <a:xfrm>
            <a:off x="7927848" y="1709928"/>
            <a:ext cx="329184" cy="329184"/>
          </a:xfrm>
          <a:prstGeom prst="rect">
            <a:avLst/>
          </a:prstGeom>
        </p:spPr>
      </p:pic>
      <p:sp>
        <p:nvSpPr>
          <p:cNvPr id="8" name="Text 3"/>
          <p:cNvSpPr txBox="1"/>
          <p:nvPr/>
        </p:nvSpPr>
        <p:spPr>
          <a:xfrm>
            <a:off x="8503920" y="1554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Takeaway</a:t>
            </a:r>
            <a:endParaRPr lang="en-US" sz="1600" dirty="0"/>
          </a:p>
        </p:txBody>
      </p:sp>
      <p:sp>
        <p:nvSpPr>
          <p:cNvPr id="9" name="Text 4"/>
          <p:cNvSpPr txBox="1"/>
          <p:nvPr/>
        </p:nvSpPr>
        <p:spPr>
          <a:xfrm>
            <a:off x="7818120" y="2240280"/>
            <a:ext cx="3593592" cy="1097280"/>
          </a:xfrm>
          <a:prstGeom prst="rect">
            <a:avLst/>
          </a:prstGeom>
          <a:noFill/>
          <a:ln/>
        </p:spPr>
        <p:txBody>
          <a:bodyPr wrap="square" lIns="0" tIns="0" rIns="0" bIns="0" rtlCol="0" anchor="t"/>
          <a:lstStyle/>
          <a:p>
            <a:pPr indent="0" marL="0">
              <a:spcAft>
                <a:spcPts val="400"/>
              </a:spcAft>
              <a:buNone/>
            </a:pPr>
            <a:r>
              <a:rPr lang="en-US" sz="1150" dirty="0">
                <a:solidFill>
                  <a:srgbClr val="475569"/>
                </a:solidFill>
              </a:rPr>
              <a:t>On public-health policy documents, retrieval raised faithfulness from 0.347 to 0.621 and cross-encoder re-ranking to 0.797 [6]. Even so, 5-13% of retrieval-augmented answers about Quebec car insurance contained a false statement [2].</a:t>
            </a:r>
            <a:endParaRPr lang="en-US" sz="1150" dirty="0"/>
          </a:p>
        </p:txBody>
      </p:sp>
      <p:sp>
        <p:nvSpPr>
          <p:cNvPr id="10" name="Caveat card"/>
          <p:cNvSpPr/>
          <p:nvPr/>
        </p:nvSpPr>
        <p:spPr>
          <a:xfrm>
            <a:off x="7589520" y="3657600"/>
            <a:ext cx="4050792" cy="2103120"/>
          </a:xfrm>
          <a:prstGeom prst="roundRect">
            <a:avLst>
              <a:gd name="adj" fmla="val 3478"/>
            </a:avLst>
          </a:prstGeom>
          <a:solidFill>
            <a:srgbClr val="F6F8FB"/>
          </a:solidFill>
          <a:ln w="9525">
            <a:solidFill>
              <a:srgbClr val="D5DCE6"/>
            </a:solidFill>
            <a:prstDash val="solid"/>
          </a:ln>
        </p:spPr>
      </p:sp>
      <p:sp>
        <p:nvSpPr>
          <p:cNvPr id="11" name="icon circle"/>
          <p:cNvSpPr/>
          <p:nvPr/>
        </p:nvSpPr>
        <p:spPr>
          <a:xfrm>
            <a:off x="7818120" y="3886200"/>
            <a:ext cx="548640" cy="548640"/>
          </a:xfrm>
          <a:prstGeom prst="ellipse">
            <a:avLst/>
          </a:prstGeom>
          <a:solidFill>
            <a:srgbClr val="EDA100"/>
          </a:solidFill>
          <a:ln w="12700">
            <a:solidFill>
              <a:srgbClr val="EDA100"/>
            </a:solidFill>
            <a:prstDash val="solid"/>
          </a:ln>
        </p:spPr>
      </p:sp>
      <p:pic>
        <p:nvPicPr>
          <p:cNvPr id="12" name="Image 1" descr="Caveat">    </p:cNvPr>
          <p:cNvPicPr>
            <a:picLocks noChangeAspect="1"/>
          </p:cNvPicPr>
          <p:nvPr/>
        </p:nvPicPr>
        <p:blipFill>
          <a:blip r:embed="rId3"/>
          <a:stretch>
            <a:fillRect/>
          </a:stretch>
        </p:blipFill>
        <p:spPr>
          <a:xfrm>
            <a:off x="7927848" y="3995928"/>
            <a:ext cx="329184" cy="329184"/>
          </a:xfrm>
          <a:prstGeom prst="rect">
            <a:avLst/>
          </a:prstGeom>
        </p:spPr>
      </p:pic>
      <p:sp>
        <p:nvSpPr>
          <p:cNvPr id="13" name="Text 7"/>
          <p:cNvSpPr txBox="1"/>
          <p:nvPr/>
        </p:nvSpPr>
        <p:spPr>
          <a:xfrm>
            <a:off x="8503920" y="3840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Caveat</a:t>
            </a:r>
            <a:endParaRPr lang="en-US" sz="1600" dirty="0"/>
          </a:p>
        </p:txBody>
      </p:sp>
      <p:sp>
        <p:nvSpPr>
          <p:cNvPr id="14" name="Text 8"/>
          <p:cNvSpPr txBox="1"/>
          <p:nvPr/>
        </p:nvSpPr>
        <p:spPr>
          <a:xfrm>
            <a:off x="7818120" y="4526280"/>
            <a:ext cx="3593592" cy="1097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Published figures from other corpora, models and metrics. They motivate re-ranking and an independent support check; they are not our results.</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4" name="flow step 1"/>
          <p:cNvSpPr/>
          <p:nvPr/>
        </p:nvSpPr>
        <p:spPr>
          <a:xfrm>
            <a:off x="548640" y="1645920"/>
            <a:ext cx="1582369" cy="1143000"/>
          </a:xfrm>
          <a:prstGeom prst="roundRect">
            <a:avLst>
              <a:gd name="adj" fmla="val 6400"/>
            </a:avLst>
          </a:prstGeom>
          <a:solidFill>
            <a:srgbClr val="1B2A41"/>
          </a:solidFill>
          <a:ln w="12700">
            <a:solidFill>
              <a:srgbClr val="1B2A41"/>
            </a:solidFill>
            <a:prstDash val="solid"/>
          </a:ln>
        </p:spPr>
      </p:sp>
      <p:sp>
        <p:nvSpPr>
          <p:cNvPr id="5" name="Text 2"/>
          <p:cNvSpPr txBox="1"/>
          <p:nvPr/>
        </p:nvSpPr>
        <p:spPr>
          <a:xfrm>
            <a:off x="621792"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Receive policy PDF</a:t>
            </a:r>
            <a:endParaRPr lang="en-US" sz="1400" dirty="0"/>
          </a:p>
        </p:txBody>
      </p:sp>
      <p:sp>
        <p:nvSpPr>
          <p:cNvPr id="6" name="arrow"/>
          <p:cNvSpPr/>
          <p:nvPr/>
        </p:nvSpPr>
        <p:spPr>
          <a:xfrm>
            <a:off x="2176729" y="2098548"/>
            <a:ext cx="228600" cy="237744"/>
          </a:xfrm>
          <a:prstGeom prst="rightArrow">
            <a:avLst/>
          </a:prstGeom>
          <a:solidFill>
            <a:srgbClr val="64748B"/>
          </a:solidFill>
          <a:ln w="12700">
            <a:solidFill>
              <a:srgbClr val="64748B"/>
            </a:solidFill>
            <a:prstDash val="solid"/>
          </a:ln>
        </p:spPr>
      </p:sp>
      <p:sp>
        <p:nvSpPr>
          <p:cNvPr id="7" name="flow step 2"/>
          <p:cNvSpPr/>
          <p:nvPr/>
        </p:nvSpPr>
        <p:spPr>
          <a:xfrm>
            <a:off x="2451049" y="1645920"/>
            <a:ext cx="1582369" cy="1143000"/>
          </a:xfrm>
          <a:prstGeom prst="roundRect">
            <a:avLst>
              <a:gd name="adj" fmla="val 6400"/>
            </a:avLst>
          </a:prstGeom>
          <a:solidFill>
            <a:srgbClr val="1B2A41"/>
          </a:solidFill>
          <a:ln w="12700">
            <a:solidFill>
              <a:srgbClr val="1B2A41"/>
            </a:solidFill>
            <a:prstDash val="solid"/>
          </a:ln>
        </p:spPr>
      </p:sp>
      <p:sp>
        <p:nvSpPr>
          <p:cNvPr id="8" name="Text 5"/>
          <p:cNvSpPr txBox="1"/>
          <p:nvPr/>
        </p:nvSpPr>
        <p:spPr>
          <a:xfrm>
            <a:off x="2524201"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Read it alone</a:t>
            </a:r>
            <a:endParaRPr lang="en-US" sz="1400" dirty="0"/>
          </a:p>
        </p:txBody>
      </p:sp>
      <p:sp>
        <p:nvSpPr>
          <p:cNvPr id="9" name="arrow"/>
          <p:cNvSpPr/>
          <p:nvPr/>
        </p:nvSpPr>
        <p:spPr>
          <a:xfrm>
            <a:off x="4079138" y="2098548"/>
            <a:ext cx="228600" cy="237744"/>
          </a:xfrm>
          <a:prstGeom prst="rightArrow">
            <a:avLst/>
          </a:prstGeom>
          <a:solidFill>
            <a:srgbClr val="64748B"/>
          </a:solidFill>
          <a:ln w="12700">
            <a:solidFill>
              <a:srgbClr val="64748B"/>
            </a:solidFill>
            <a:prstDash val="solid"/>
          </a:ln>
        </p:spPr>
      </p:sp>
      <p:sp>
        <p:nvSpPr>
          <p:cNvPr id="10" name="flow step 3"/>
          <p:cNvSpPr/>
          <p:nvPr/>
        </p:nvSpPr>
        <p:spPr>
          <a:xfrm>
            <a:off x="4353458" y="1645920"/>
            <a:ext cx="1582369" cy="1143000"/>
          </a:xfrm>
          <a:prstGeom prst="roundRect">
            <a:avLst>
              <a:gd name="adj" fmla="val 6400"/>
            </a:avLst>
          </a:prstGeom>
          <a:solidFill>
            <a:srgbClr val="1B2A41"/>
          </a:solidFill>
          <a:ln w="12700">
            <a:solidFill>
              <a:srgbClr val="1B2A41"/>
            </a:solidFill>
            <a:prstDash val="solid"/>
          </a:ln>
        </p:spPr>
      </p:sp>
      <p:sp>
        <p:nvSpPr>
          <p:cNvPr id="11" name="Text 8"/>
          <p:cNvSpPr txBox="1"/>
          <p:nvPr/>
        </p:nvSpPr>
        <p:spPr>
          <a:xfrm>
            <a:off x="4426610"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Ask agent / helpline</a:t>
            </a:r>
            <a:endParaRPr lang="en-US" sz="1400" dirty="0"/>
          </a:p>
        </p:txBody>
      </p:sp>
      <p:sp>
        <p:nvSpPr>
          <p:cNvPr id="12" name="arrow"/>
          <p:cNvSpPr/>
          <p:nvPr/>
        </p:nvSpPr>
        <p:spPr>
          <a:xfrm>
            <a:off x="5981548" y="2098548"/>
            <a:ext cx="228600" cy="237744"/>
          </a:xfrm>
          <a:prstGeom prst="rightArrow">
            <a:avLst/>
          </a:prstGeom>
          <a:solidFill>
            <a:srgbClr val="64748B"/>
          </a:solidFill>
          <a:ln w="12700">
            <a:solidFill>
              <a:srgbClr val="64748B"/>
            </a:solidFill>
            <a:prstDash val="solid"/>
          </a:ln>
        </p:spPr>
      </p:sp>
      <p:sp>
        <p:nvSpPr>
          <p:cNvPr id="13" name="flow step 4"/>
          <p:cNvSpPr/>
          <p:nvPr/>
        </p:nvSpPr>
        <p:spPr>
          <a:xfrm>
            <a:off x="6255868" y="1645920"/>
            <a:ext cx="1582369" cy="1143000"/>
          </a:xfrm>
          <a:prstGeom prst="roundRect">
            <a:avLst>
              <a:gd name="adj" fmla="val 6400"/>
            </a:avLst>
          </a:prstGeom>
          <a:solidFill>
            <a:srgbClr val="1B2A41"/>
          </a:solidFill>
          <a:ln w="12700">
            <a:solidFill>
              <a:srgbClr val="1B2A41"/>
            </a:solidFill>
            <a:prstDash val="solid"/>
          </a:ln>
        </p:spPr>
      </p:sp>
      <p:sp>
        <p:nvSpPr>
          <p:cNvPr id="14" name="Text 11"/>
          <p:cNvSpPr txBox="1"/>
          <p:nvPr/>
        </p:nvSpPr>
        <p:spPr>
          <a:xfrm>
            <a:off x="6329020"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Search comparison sites</a:t>
            </a:r>
            <a:endParaRPr lang="en-US" sz="1400" dirty="0"/>
          </a:p>
        </p:txBody>
      </p:sp>
      <p:sp>
        <p:nvSpPr>
          <p:cNvPr id="15" name="arrow"/>
          <p:cNvSpPr/>
          <p:nvPr/>
        </p:nvSpPr>
        <p:spPr>
          <a:xfrm>
            <a:off x="7883957" y="2098548"/>
            <a:ext cx="228600" cy="237744"/>
          </a:xfrm>
          <a:prstGeom prst="rightArrow">
            <a:avLst/>
          </a:prstGeom>
          <a:solidFill>
            <a:srgbClr val="64748B"/>
          </a:solidFill>
          <a:ln w="12700">
            <a:solidFill>
              <a:srgbClr val="64748B"/>
            </a:solidFill>
            <a:prstDash val="solid"/>
          </a:ln>
        </p:spPr>
      </p:sp>
      <p:sp>
        <p:nvSpPr>
          <p:cNvPr id="16" name="flow step 5"/>
          <p:cNvSpPr/>
          <p:nvPr/>
        </p:nvSpPr>
        <p:spPr>
          <a:xfrm>
            <a:off x="8158277" y="1645920"/>
            <a:ext cx="1582369" cy="1143000"/>
          </a:xfrm>
          <a:prstGeom prst="roundRect">
            <a:avLst>
              <a:gd name="adj" fmla="val 6400"/>
            </a:avLst>
          </a:prstGeom>
          <a:solidFill>
            <a:srgbClr val="1B2A41"/>
          </a:solidFill>
          <a:ln w="12700">
            <a:solidFill>
              <a:srgbClr val="1B2A41"/>
            </a:solidFill>
            <a:prstDash val="solid"/>
          </a:ln>
        </p:spPr>
      </p:sp>
      <p:sp>
        <p:nvSpPr>
          <p:cNvPr id="17" name="Text 14"/>
          <p:cNvSpPr txBox="1"/>
          <p:nvPr/>
        </p:nvSpPr>
        <p:spPr>
          <a:xfrm>
            <a:off x="8231429"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Ask a general chatbot</a:t>
            </a:r>
            <a:endParaRPr lang="en-US" sz="1400" dirty="0"/>
          </a:p>
        </p:txBody>
      </p:sp>
      <p:sp>
        <p:nvSpPr>
          <p:cNvPr id="18" name="arrow"/>
          <p:cNvSpPr/>
          <p:nvPr/>
        </p:nvSpPr>
        <p:spPr>
          <a:xfrm>
            <a:off x="9786366" y="2098548"/>
            <a:ext cx="228600" cy="237744"/>
          </a:xfrm>
          <a:prstGeom prst="rightArrow">
            <a:avLst/>
          </a:prstGeom>
          <a:solidFill>
            <a:srgbClr val="64748B"/>
          </a:solidFill>
          <a:ln w="12700">
            <a:solidFill>
              <a:srgbClr val="64748B"/>
            </a:solidFill>
            <a:prstDash val="solid"/>
          </a:ln>
        </p:spPr>
      </p:sp>
      <p:sp>
        <p:nvSpPr>
          <p:cNvPr id="19" name="flow step 6"/>
          <p:cNvSpPr/>
          <p:nvPr/>
        </p:nvSpPr>
        <p:spPr>
          <a:xfrm>
            <a:off x="10060686" y="1645920"/>
            <a:ext cx="1582369" cy="1143000"/>
          </a:xfrm>
          <a:prstGeom prst="roundRect">
            <a:avLst>
              <a:gd name="adj" fmla="val 6400"/>
            </a:avLst>
          </a:prstGeom>
          <a:solidFill>
            <a:srgbClr val="1B2A41"/>
          </a:solidFill>
          <a:ln w="12700">
            <a:solidFill>
              <a:srgbClr val="1B2A41"/>
            </a:solidFill>
            <a:prstDash val="solid"/>
          </a:ln>
        </p:spPr>
      </p:sp>
      <p:sp>
        <p:nvSpPr>
          <p:cNvPr id="20" name="Text 17"/>
          <p:cNvSpPr txBox="1"/>
          <p:nvPr/>
        </p:nvSpPr>
        <p:spPr>
          <a:xfrm>
            <a:off x="10133838" y="1645920"/>
            <a:ext cx="1436065" cy="1143000"/>
          </a:xfrm>
          <a:prstGeom prst="rect">
            <a:avLst/>
          </a:prstGeom>
          <a:noFill/>
          <a:ln/>
        </p:spPr>
        <p:txBody>
          <a:bodyPr wrap="square" lIns="0" tIns="0" rIns="0" bIns="0" rtlCol="0" anchor="ctr"/>
          <a:lstStyle/>
          <a:p>
            <a:pPr algn="ctr" indent="0" marL="0">
              <a:buNone/>
            </a:pPr>
            <a:r>
              <a:rPr lang="en-US" sz="1400" b="1" dirty="0">
                <a:solidFill>
                  <a:srgbClr val="FFFFFF"/>
                </a:solidFill>
              </a:rPr>
              <a:t>Find out at claim time</a:t>
            </a:r>
            <a:endParaRPr lang="en-US" sz="1400" dirty="0"/>
          </a:p>
        </p:txBody>
      </p:sp>
      <p:sp>
        <p:nvSpPr>
          <p:cNvPr id="21" name="Automatic, text-only card"/>
          <p:cNvSpPr/>
          <p:nvPr/>
        </p:nvSpPr>
        <p:spPr>
          <a:xfrm>
            <a:off x="548640" y="3291840"/>
            <a:ext cx="5440680" cy="2468880"/>
          </a:xfrm>
          <a:prstGeom prst="roundRect">
            <a:avLst>
              <a:gd name="adj" fmla="val 2963"/>
            </a:avLst>
          </a:prstGeom>
          <a:solidFill>
            <a:srgbClr val="F6F8FB"/>
          </a:solidFill>
          <a:ln w="9525">
            <a:solidFill>
              <a:srgbClr val="D5DCE6"/>
            </a:solidFill>
            <a:prstDash val="solid"/>
          </a:ln>
        </p:spPr>
      </p:sp>
      <p:sp>
        <p:nvSpPr>
          <p:cNvPr id="22" name="icon circle"/>
          <p:cNvSpPr/>
          <p:nvPr/>
        </p:nvSpPr>
        <p:spPr>
          <a:xfrm>
            <a:off x="777240" y="3520440"/>
            <a:ext cx="548640" cy="548640"/>
          </a:xfrm>
          <a:prstGeom prst="ellipse">
            <a:avLst/>
          </a:prstGeom>
          <a:solidFill>
            <a:srgbClr val="1B2A41"/>
          </a:solidFill>
          <a:ln w="12700">
            <a:solidFill>
              <a:srgbClr val="1B2A41"/>
            </a:solidFill>
            <a:prstDash val="solid"/>
          </a:ln>
        </p:spPr>
      </p:sp>
      <p:pic>
        <p:nvPicPr>
          <p:cNvPr id="23" name="Image 0" descr="Automatic, text-only">    </p:cNvPr>
          <p:cNvPicPr>
            <a:picLocks noChangeAspect="1"/>
          </p:cNvPicPr>
          <p:nvPr/>
        </p:nvPicPr>
        <p:blipFill>
          <a:blip r:embed="rId1"/>
          <a:stretch>
            <a:fillRect/>
          </a:stretch>
        </p:blipFill>
        <p:spPr>
          <a:xfrm>
            <a:off x="886968" y="3630168"/>
            <a:ext cx="329184" cy="329184"/>
          </a:xfrm>
          <a:prstGeom prst="rect">
            <a:avLst/>
          </a:prstGeom>
        </p:spPr>
      </p:pic>
      <p:sp>
        <p:nvSpPr>
          <p:cNvPr id="24" name="Text 20"/>
          <p:cNvSpPr txBox="1"/>
          <p:nvPr/>
        </p:nvSpPr>
        <p:spPr>
          <a:xfrm>
            <a:off x="146304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Human help</a:t>
            </a:r>
            <a:endParaRPr lang="en-US" sz="1600" dirty="0"/>
          </a:p>
        </p:txBody>
      </p:sp>
      <p:sp>
        <p:nvSpPr>
          <p:cNvPr id="25" name="Text 21"/>
          <p:cNvSpPr txBox="1"/>
          <p:nvPr/>
        </p:nvSpPr>
        <p:spPr>
          <a:xfrm>
            <a:off x="777240" y="4160520"/>
            <a:ext cx="4983480" cy="146304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Agents, call centres and FAQ pages answer in general terms. They are slow, inconsistent and depend on human availability.</a:t>
            </a:r>
            <a:endParaRPr lang="en-US" sz="1600" dirty="0"/>
          </a:p>
        </p:txBody>
      </p:sp>
      <p:sp>
        <p:nvSpPr>
          <p:cNvPr id="26" name="Manual fact-checking card"/>
          <p:cNvSpPr/>
          <p:nvPr/>
        </p:nvSpPr>
        <p:spPr>
          <a:xfrm>
            <a:off x="6172200" y="3291840"/>
            <a:ext cx="5440680" cy="2468880"/>
          </a:xfrm>
          <a:prstGeom prst="roundRect">
            <a:avLst>
              <a:gd name="adj" fmla="val 2963"/>
            </a:avLst>
          </a:prstGeom>
          <a:solidFill>
            <a:srgbClr val="F6F8FB"/>
          </a:solidFill>
          <a:ln w="9525">
            <a:solidFill>
              <a:srgbClr val="D5DCE6"/>
            </a:solidFill>
            <a:prstDash val="solid"/>
          </a:ln>
        </p:spPr>
      </p:sp>
      <p:sp>
        <p:nvSpPr>
          <p:cNvPr id="27" name="icon circle"/>
          <p:cNvSpPr/>
          <p:nvPr/>
        </p:nvSpPr>
        <p:spPr>
          <a:xfrm>
            <a:off x="6400800" y="3520440"/>
            <a:ext cx="548640" cy="548640"/>
          </a:xfrm>
          <a:prstGeom prst="ellipse">
            <a:avLst/>
          </a:prstGeom>
          <a:solidFill>
            <a:srgbClr val="1B2A41"/>
          </a:solidFill>
          <a:ln w="12700">
            <a:solidFill>
              <a:srgbClr val="1B2A41"/>
            </a:solidFill>
            <a:prstDash val="solid"/>
          </a:ln>
        </p:spPr>
      </p:sp>
      <p:pic>
        <p:nvPicPr>
          <p:cNvPr id="28" name="Image 1" descr="Manual fact-checking">    </p:cNvPr>
          <p:cNvPicPr>
            <a:picLocks noChangeAspect="1"/>
          </p:cNvPicPr>
          <p:nvPr/>
        </p:nvPicPr>
        <p:blipFill>
          <a:blip r:embed="rId2"/>
          <a:stretch>
            <a:fillRect/>
          </a:stretch>
        </p:blipFill>
        <p:spPr>
          <a:xfrm>
            <a:off x="6510528" y="3630168"/>
            <a:ext cx="329184" cy="329184"/>
          </a:xfrm>
          <a:prstGeom prst="rect">
            <a:avLst/>
          </a:prstGeom>
        </p:spPr>
      </p:pic>
      <p:sp>
        <p:nvSpPr>
          <p:cNvPr id="29" name="Text 24"/>
          <p:cNvSpPr txBox="1"/>
          <p:nvPr/>
        </p:nvSpPr>
        <p:spPr>
          <a:xfrm>
            <a:off x="708660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Tools without the policy</a:t>
            </a:r>
            <a:endParaRPr lang="en-US" sz="1600" dirty="0"/>
          </a:p>
        </p:txBody>
      </p:sp>
      <p:sp>
        <p:nvSpPr>
          <p:cNvPr id="30" name="Text 25"/>
          <p:cNvSpPr txBox="1"/>
          <p:nvPr/>
        </p:nvSpPr>
        <p:spPr>
          <a:xfrm>
            <a:off x="6400800" y="4160520"/>
            <a:ext cx="4983480" cy="146304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Comparison sites compare premiums and headline benefits, not exclusions. General chatbots answer from training data and can hallucinate coverage.</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4" name="Ignore the picture card"/>
          <p:cNvSpPr/>
          <p:nvPr/>
        </p:nvSpPr>
        <p:spPr>
          <a:xfrm>
            <a:off x="548640" y="1371600"/>
            <a:ext cx="544068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Ignore the picture">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Technical and long</a:t>
            </a:r>
            <a:endParaRPr lang="en-US" sz="1600" dirty="0"/>
          </a:p>
        </p:txBody>
      </p:sp>
      <p:sp>
        <p:nvSpPr>
          <p:cNvPr id="8" name="Text 4"/>
          <p:cNvSpPr txBox="1"/>
          <p:nvPr/>
        </p:nvSpPr>
        <p:spPr>
          <a:xfrm>
            <a:off x="77724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Key exclusions, waiting periods and conditions are easily missed in a 20-60 page wording.</a:t>
            </a:r>
            <a:endParaRPr lang="en-US" sz="1600" dirty="0"/>
          </a:p>
        </p:txBody>
      </p:sp>
      <p:sp>
        <p:nvSpPr>
          <p:cNvPr id="9" name="Label only card"/>
          <p:cNvSpPr/>
          <p:nvPr/>
        </p:nvSpPr>
        <p:spPr>
          <a:xfrm>
            <a:off x="6172200" y="1371600"/>
            <a:ext cx="544068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6400800" y="1600200"/>
            <a:ext cx="548640" cy="548640"/>
          </a:xfrm>
          <a:prstGeom prst="ellipse">
            <a:avLst/>
          </a:prstGeom>
          <a:solidFill>
            <a:srgbClr val="2A78D6"/>
          </a:solidFill>
          <a:ln w="12700">
            <a:solidFill>
              <a:srgbClr val="2A78D6"/>
            </a:solidFill>
            <a:prstDash val="solid"/>
          </a:ln>
        </p:spPr>
      </p:sp>
      <p:pic>
        <p:nvPicPr>
          <p:cNvPr id="11" name="Image 1" descr="Label only">    </p:cNvPr>
          <p:cNvPicPr>
            <a:picLocks noChangeAspect="1"/>
          </p:cNvPicPr>
          <p:nvPr/>
        </p:nvPicPr>
        <p:blipFill>
          <a:blip r:embed="rId2"/>
          <a:stretch>
            <a:fillRect/>
          </a:stretch>
        </p:blipFill>
        <p:spPr>
          <a:xfrm>
            <a:off x="6510528" y="1709928"/>
            <a:ext cx="329184" cy="329184"/>
          </a:xfrm>
          <a:prstGeom prst="rect">
            <a:avLst/>
          </a:prstGeom>
        </p:spPr>
      </p:pic>
      <p:sp>
        <p:nvSpPr>
          <p:cNvPr id="12" name="Text 7"/>
          <p:cNvSpPr txBox="1"/>
          <p:nvPr/>
        </p:nvSpPr>
        <p:spPr>
          <a:xfrm>
            <a:off x="708660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Slow and inconsistent</a:t>
            </a:r>
            <a:endParaRPr lang="en-US" sz="1600" dirty="0"/>
          </a:p>
        </p:txBody>
      </p:sp>
      <p:sp>
        <p:nvSpPr>
          <p:cNvPr id="13" name="Text 8"/>
          <p:cNvSpPr txBox="1"/>
          <p:nvPr/>
        </p:nvSpPr>
        <p:spPr>
          <a:xfrm>
            <a:off x="640080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Answers from agents and helplines depend on who answers and when.</a:t>
            </a:r>
            <a:endParaRPr lang="en-US" sz="1600" dirty="0"/>
          </a:p>
        </p:txBody>
      </p:sp>
      <p:sp>
        <p:nvSpPr>
          <p:cNvPr id="14" name="One split only card"/>
          <p:cNvSpPr/>
          <p:nvPr/>
        </p:nvSpPr>
        <p:spPr>
          <a:xfrm>
            <a:off x="548640" y="3611880"/>
            <a:ext cx="544068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777240" y="3840480"/>
            <a:ext cx="548640" cy="548640"/>
          </a:xfrm>
          <a:prstGeom prst="ellipse">
            <a:avLst/>
          </a:prstGeom>
          <a:solidFill>
            <a:srgbClr val="6250D6"/>
          </a:solidFill>
          <a:ln w="12700">
            <a:solidFill>
              <a:srgbClr val="6250D6"/>
            </a:solidFill>
            <a:prstDash val="solid"/>
          </a:ln>
        </p:spPr>
      </p:sp>
      <p:pic>
        <p:nvPicPr>
          <p:cNvPr id="16" name="Image 2" descr="One split only">    </p:cNvPr>
          <p:cNvPicPr>
            <a:picLocks noChangeAspect="1"/>
          </p:cNvPicPr>
          <p:nvPr/>
        </p:nvPicPr>
        <p:blipFill>
          <a:blip r:embed="rId3"/>
          <a:stretch>
            <a:fillRect/>
          </a:stretch>
        </p:blipFill>
        <p:spPr>
          <a:xfrm>
            <a:off x="886968" y="3950208"/>
            <a:ext cx="329184" cy="329184"/>
          </a:xfrm>
          <a:prstGeom prst="rect">
            <a:avLst/>
          </a:prstGeom>
        </p:spPr>
      </p:pic>
      <p:sp>
        <p:nvSpPr>
          <p:cNvPr id="17" name="Text 11"/>
          <p:cNvSpPr txBox="1"/>
          <p:nvPr/>
        </p:nvSpPr>
        <p:spPr>
          <a:xfrm>
            <a:off x="146304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Not grounded</a:t>
            </a:r>
            <a:endParaRPr lang="en-US" sz="1600" dirty="0"/>
          </a:p>
        </p:txBody>
      </p:sp>
      <p:sp>
        <p:nvSpPr>
          <p:cNvPr id="18" name="Text 12"/>
          <p:cNvSpPr txBox="1"/>
          <p:nvPr/>
        </p:nvSpPr>
        <p:spPr>
          <a:xfrm>
            <a:off x="77724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Generic chatbots can state coverage the policy does not contain, with no clause to check.</a:t>
            </a:r>
            <a:endParaRPr lang="en-US" sz="1600" dirty="0"/>
          </a:p>
        </p:txBody>
      </p:sp>
      <p:sp>
        <p:nvSpPr>
          <p:cNvPr id="19" name="Not usable card"/>
          <p:cNvSpPr/>
          <p:nvPr/>
        </p:nvSpPr>
        <p:spPr>
          <a:xfrm>
            <a:off x="6172200" y="3611880"/>
            <a:ext cx="544068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6400800" y="3840480"/>
            <a:ext cx="548640" cy="548640"/>
          </a:xfrm>
          <a:prstGeom prst="ellipse">
            <a:avLst/>
          </a:prstGeom>
          <a:solidFill>
            <a:srgbClr val="1BAF7A"/>
          </a:solidFill>
          <a:ln w="12700">
            <a:solidFill>
              <a:srgbClr val="1BAF7A"/>
            </a:solidFill>
            <a:prstDash val="solid"/>
          </a:ln>
        </p:spPr>
      </p:sp>
      <p:pic>
        <p:nvPicPr>
          <p:cNvPr id="21" name="Image 3" descr="Not usable">    </p:cNvPr>
          <p:cNvPicPr>
            <a:picLocks noChangeAspect="1"/>
          </p:cNvPicPr>
          <p:nvPr/>
        </p:nvPicPr>
        <p:blipFill>
          <a:blip r:embed="rId4"/>
          <a:stretch>
            <a:fillRect/>
          </a:stretch>
        </p:blipFill>
        <p:spPr>
          <a:xfrm>
            <a:off x="6510528" y="3950208"/>
            <a:ext cx="329184" cy="329184"/>
          </a:xfrm>
          <a:prstGeom prst="rect">
            <a:avLst/>
          </a:prstGeom>
        </p:spPr>
      </p:pic>
      <p:sp>
        <p:nvSpPr>
          <p:cNvPr id="22" name="Text 15"/>
          <p:cNvSpPr txBox="1"/>
          <p:nvPr/>
        </p:nvSpPr>
        <p:spPr>
          <a:xfrm>
            <a:off x="708660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No claim guidance</a:t>
            </a:r>
            <a:endParaRPr lang="en-US" sz="1600" dirty="0"/>
          </a:p>
        </p:txBody>
      </p:sp>
      <p:sp>
        <p:nvSpPr>
          <p:cNvPr id="23" name="Text 16"/>
          <p:cNvSpPr txBox="1"/>
          <p:nvPr/>
        </p:nvSpPr>
        <p:spPr>
          <a:xfrm>
            <a:off x="640080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No tool extracts deductibles and limits or pre-checks eligibility and documents before a claim.</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4" name="gap Modality"/>
          <p:cNvSpPr/>
          <p:nvPr/>
        </p:nvSpPr>
        <p:spPr>
          <a:xfrm>
            <a:off x="548640" y="1325880"/>
            <a:ext cx="2377440" cy="749808"/>
          </a:xfrm>
          <a:prstGeom prst="roundRect">
            <a:avLst>
              <a:gd name="adj" fmla="val 7317"/>
            </a:avLst>
          </a:prstGeom>
          <a:solidFill>
            <a:srgbClr val="1B2A41"/>
          </a:solidFill>
          <a:ln w="12700">
            <a:solidFill>
              <a:srgbClr val="1B2A41"/>
            </a:solidFill>
            <a:prstDash val="solid"/>
          </a:ln>
        </p:spPr>
      </p:sp>
      <p:sp>
        <p:nvSpPr>
          <p:cNvPr id="5" name="Text 2"/>
          <p:cNvSpPr txBox="1"/>
          <p:nvPr/>
        </p:nvSpPr>
        <p:spPr>
          <a:xfrm>
            <a:off x="548640" y="13258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Structure</a:t>
            </a:r>
            <a:endParaRPr lang="en-US" sz="1600" dirty="0"/>
          </a:p>
        </p:txBody>
      </p:sp>
      <p:sp>
        <p:nvSpPr>
          <p:cNvPr id="6" name="Text 3"/>
          <p:cNvSpPr txBox="1"/>
          <p:nvPr/>
        </p:nvSpPr>
        <p:spPr>
          <a:xfrm>
            <a:off x="3154680" y="13258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Flat text chunks lose clause numbers and pages; segmentation is named a bottleneck in [6].</a:t>
            </a:r>
            <a:endParaRPr lang="en-US" sz="1700" dirty="0"/>
          </a:p>
        </p:txBody>
      </p:sp>
      <p:sp>
        <p:nvSpPr>
          <p:cNvPr id="7" name="gap Transparency"/>
          <p:cNvSpPr/>
          <p:nvPr/>
        </p:nvSpPr>
        <p:spPr>
          <a:xfrm>
            <a:off x="548640" y="2240280"/>
            <a:ext cx="2377440" cy="749808"/>
          </a:xfrm>
          <a:prstGeom prst="roundRect">
            <a:avLst>
              <a:gd name="adj" fmla="val 7317"/>
            </a:avLst>
          </a:prstGeom>
          <a:solidFill>
            <a:srgbClr val="1B2A41"/>
          </a:solidFill>
          <a:ln w="12700">
            <a:solidFill>
              <a:srgbClr val="1B2A41"/>
            </a:solidFill>
            <a:prstDash val="solid"/>
          </a:ln>
        </p:spPr>
      </p:sp>
      <p:sp>
        <p:nvSpPr>
          <p:cNvPr id="8" name="Text 5"/>
          <p:cNvSpPr txBox="1"/>
          <p:nvPr/>
        </p:nvSpPr>
        <p:spPr>
          <a:xfrm>
            <a:off x="548640" y="22402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Support</a:t>
            </a:r>
            <a:endParaRPr lang="en-US" sz="1600" dirty="0"/>
          </a:p>
        </p:txBody>
      </p:sp>
      <p:sp>
        <p:nvSpPr>
          <p:cNvPr id="9" name="Text 6"/>
          <p:cNvSpPr txBox="1"/>
          <p:nvPr/>
        </p:nvSpPr>
        <p:spPr>
          <a:xfrm>
            <a:off x="3154680" y="22402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Retrieval alone leaves false statements [2]; no reviewed system scores each answer's support.</a:t>
            </a:r>
            <a:endParaRPr lang="en-US" sz="1700" dirty="0"/>
          </a:p>
        </p:txBody>
      </p:sp>
      <p:sp>
        <p:nvSpPr>
          <p:cNvPr id="10" name="gap Generalisation"/>
          <p:cNvSpPr/>
          <p:nvPr/>
        </p:nvSpPr>
        <p:spPr>
          <a:xfrm>
            <a:off x="548640" y="3154680"/>
            <a:ext cx="2377440" cy="749808"/>
          </a:xfrm>
          <a:prstGeom prst="roundRect">
            <a:avLst>
              <a:gd name="adj" fmla="val 7317"/>
            </a:avLst>
          </a:prstGeom>
          <a:solidFill>
            <a:srgbClr val="1B2A41"/>
          </a:solidFill>
          <a:ln w="12700">
            <a:solidFill>
              <a:srgbClr val="1B2A41"/>
            </a:solidFill>
            <a:prstDash val="solid"/>
          </a:ln>
        </p:spPr>
      </p:sp>
      <p:sp>
        <p:nvSpPr>
          <p:cNvPr id="11" name="Text 8"/>
          <p:cNvSpPr txBox="1"/>
          <p:nvPr/>
        </p:nvSpPr>
        <p:spPr>
          <a:xfrm>
            <a:off x="548640" y="31546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Declining</a:t>
            </a:r>
            <a:endParaRPr lang="en-US" sz="1600" dirty="0"/>
          </a:p>
        </p:txBody>
      </p:sp>
      <p:sp>
        <p:nvSpPr>
          <p:cNvPr id="12" name="Text 9"/>
          <p:cNvSpPr txBox="1"/>
          <p:nvPr/>
        </p:nvSpPr>
        <p:spPr>
          <a:xfrm>
            <a:off x="3154680" y="31546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A policy may not cover a question; the assistant must say so instead of inventing an answer.</a:t>
            </a:r>
            <a:endParaRPr lang="en-US" sz="1700" dirty="0"/>
          </a:p>
        </p:txBody>
      </p:sp>
      <p:sp>
        <p:nvSpPr>
          <p:cNvPr id="13" name="gap Generated media"/>
          <p:cNvSpPr/>
          <p:nvPr/>
        </p:nvSpPr>
        <p:spPr>
          <a:xfrm>
            <a:off x="548640" y="4069080"/>
            <a:ext cx="2377440" cy="749808"/>
          </a:xfrm>
          <a:prstGeom prst="roundRect">
            <a:avLst>
              <a:gd name="adj" fmla="val 7317"/>
            </a:avLst>
          </a:prstGeom>
          <a:solidFill>
            <a:srgbClr val="1B2A41"/>
          </a:solidFill>
          <a:ln w="12700">
            <a:solidFill>
              <a:srgbClr val="1B2A41"/>
            </a:solidFill>
            <a:prstDash val="solid"/>
          </a:ln>
        </p:spPr>
      </p:sp>
      <p:sp>
        <p:nvSpPr>
          <p:cNvPr id="14" name="Text 11"/>
          <p:cNvSpPr txBox="1"/>
          <p:nvPr/>
        </p:nvSpPr>
        <p:spPr>
          <a:xfrm>
            <a:off x="548640" y="40690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Guidance</a:t>
            </a:r>
            <a:endParaRPr lang="en-US" sz="1600" dirty="0"/>
          </a:p>
        </p:txBody>
      </p:sp>
      <p:sp>
        <p:nvSpPr>
          <p:cNvPr id="15" name="Text 12"/>
          <p:cNvSpPr txBox="1"/>
          <p:nvPr/>
        </p:nvSpPr>
        <p:spPr>
          <a:xfrm>
            <a:off x="3154680" y="40690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Question answering is not joined with claim pre-checks, checklists and estimates.</a:t>
            </a:r>
            <a:endParaRPr lang="en-US" sz="1700" dirty="0"/>
          </a:p>
        </p:txBody>
      </p:sp>
      <p:sp>
        <p:nvSpPr>
          <p:cNvPr id="16" name="gap Application"/>
          <p:cNvSpPr/>
          <p:nvPr/>
        </p:nvSpPr>
        <p:spPr>
          <a:xfrm>
            <a:off x="548640" y="4983480"/>
            <a:ext cx="2377440" cy="749808"/>
          </a:xfrm>
          <a:prstGeom prst="roundRect">
            <a:avLst>
              <a:gd name="adj" fmla="val 7317"/>
            </a:avLst>
          </a:prstGeom>
          <a:solidFill>
            <a:srgbClr val="1B2A41"/>
          </a:solidFill>
          <a:ln w="12700">
            <a:solidFill>
              <a:srgbClr val="1B2A41"/>
            </a:solidFill>
            <a:prstDash val="solid"/>
          </a:ln>
        </p:spPr>
      </p:sp>
      <p:sp>
        <p:nvSpPr>
          <p:cNvPr id="17" name="Text 14"/>
          <p:cNvSpPr txBox="1"/>
          <p:nvPr/>
        </p:nvSpPr>
        <p:spPr>
          <a:xfrm>
            <a:off x="548640" y="49834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Evidence</a:t>
            </a:r>
            <a:endParaRPr lang="en-US" sz="1600" dirty="0"/>
          </a:p>
        </p:txBody>
      </p:sp>
      <p:sp>
        <p:nvSpPr>
          <p:cNvPr id="18" name="Text 15"/>
          <p:cNvSpPr txBox="1"/>
          <p:nvPr/>
        </p:nvSpPr>
        <p:spPr>
          <a:xfrm>
            <a:off x="3154680" y="49834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No repeatable evaluation on several real health-insurance wordings was found.</a:t>
            </a:r>
            <a:endParaRPr lang="en-US" sz="17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4" name="statement box"/>
          <p:cNvSpPr/>
          <p:nvPr/>
        </p:nvSpPr>
        <p:spPr>
          <a:xfrm>
            <a:off x="548640" y="1463040"/>
            <a:ext cx="11094415" cy="2743200"/>
          </a:xfrm>
          <a:prstGeom prst="roundRect">
            <a:avLst>
              <a:gd name="adj" fmla="val 2667"/>
            </a:avLst>
          </a:prstGeom>
          <a:solidFill>
            <a:srgbClr val="EEF2F7"/>
          </a:solidFill>
          <a:ln w="12700">
            <a:solidFill>
              <a:srgbClr val="EEF2F7"/>
            </a:solidFill>
            <a:prstDash val="solid"/>
          </a:ln>
        </p:spPr>
      </p:sp>
      <p:sp>
        <p:nvSpPr>
          <p:cNvPr id="5" name="Text 2"/>
          <p:cNvSpPr txBox="1"/>
          <p:nvPr/>
        </p:nvSpPr>
        <p:spPr>
          <a:xfrm>
            <a:off x="914400" y="1600200"/>
            <a:ext cx="10362895" cy="2468880"/>
          </a:xfrm>
          <a:prstGeom prst="rect">
            <a:avLst/>
          </a:prstGeom>
          <a:noFill/>
          <a:ln/>
        </p:spPr>
        <p:txBody>
          <a:bodyPr wrap="square" lIns="0" tIns="0" rIns="0" bIns="0" rtlCol="0" anchor="ctr"/>
          <a:lstStyle/>
          <a:p>
            <a:pPr indent="0" marL="0">
              <a:buNone/>
            </a:pPr>
            <a:r>
              <a:rPr lang="en-US" sz="2200" dirty="0">
                <a:solidFill>
                  <a:srgbClr val="1B2A41"/>
                </a:solidFill>
                <a:latin typeface="Cambria" pitchFamily="34" charset="0"/>
                <a:ea typeface="Cambria" pitchFamily="34" charset="-122"/>
                <a:cs typeface="Cambria" pitchFamily="34" charset="-120"/>
              </a:rPr>
              <a:t>Given a health-insurance policy wording, extract its key attributes, answer questions in plain language using only that wording and citing the clauses used, say so when the wording does not cover a question, guide claims with eligibility pre-checks and a document checklist, and compare plans, in a secure application whose accuracy and faithfulness are measured.</a:t>
            </a:r>
            <a:endParaRPr lang="en-US" sz="2200" dirty="0"/>
          </a:p>
        </p:txBody>
      </p:sp>
      <p:sp>
        <p:nvSpPr>
          <p:cNvPr id="6" name="Input card"/>
          <p:cNvSpPr/>
          <p:nvPr/>
        </p:nvSpPr>
        <p:spPr>
          <a:xfrm>
            <a:off x="548640" y="4480560"/>
            <a:ext cx="3566160" cy="1325880"/>
          </a:xfrm>
          <a:prstGeom prst="roundRect">
            <a:avLst>
              <a:gd name="adj" fmla="val 5517"/>
            </a:avLst>
          </a:prstGeom>
          <a:solidFill>
            <a:srgbClr val="F6F8FB"/>
          </a:solidFill>
          <a:ln w="9525">
            <a:solidFill>
              <a:srgbClr val="D5DCE6"/>
            </a:solidFill>
            <a:prstDash val="solid"/>
          </a:ln>
        </p:spPr>
      </p:sp>
      <p:sp>
        <p:nvSpPr>
          <p:cNvPr id="7" name="Text 4"/>
          <p:cNvSpPr txBox="1"/>
          <p:nvPr/>
        </p:nvSpPr>
        <p:spPr>
          <a:xfrm>
            <a:off x="77724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Input</a:t>
            </a:r>
            <a:endParaRPr lang="en-US" sz="1500" dirty="0"/>
          </a:p>
        </p:txBody>
      </p:sp>
      <p:sp>
        <p:nvSpPr>
          <p:cNvPr id="8" name="Text 5"/>
          <p:cNvSpPr txBox="1"/>
          <p:nvPr/>
        </p:nvSpPr>
        <p:spPr>
          <a:xfrm>
            <a:off x="77724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Policy PDF, questions, claim details</a:t>
            </a:r>
            <a:endParaRPr lang="en-US" sz="1400" dirty="0"/>
          </a:p>
        </p:txBody>
      </p:sp>
      <p:sp>
        <p:nvSpPr>
          <p:cNvPr id="9" name="Output card"/>
          <p:cNvSpPr/>
          <p:nvPr/>
        </p:nvSpPr>
        <p:spPr>
          <a:xfrm>
            <a:off x="4297680" y="4480560"/>
            <a:ext cx="3566160" cy="1325880"/>
          </a:xfrm>
          <a:prstGeom prst="roundRect">
            <a:avLst>
              <a:gd name="adj" fmla="val 5517"/>
            </a:avLst>
          </a:prstGeom>
          <a:solidFill>
            <a:srgbClr val="F6F8FB"/>
          </a:solidFill>
          <a:ln w="9525">
            <a:solidFill>
              <a:srgbClr val="D5DCE6"/>
            </a:solidFill>
            <a:prstDash val="solid"/>
          </a:ln>
        </p:spPr>
      </p:sp>
      <p:sp>
        <p:nvSpPr>
          <p:cNvPr id="10" name="Text 7"/>
          <p:cNvSpPr txBox="1"/>
          <p:nvPr/>
        </p:nvSpPr>
        <p:spPr>
          <a:xfrm>
            <a:off x="452628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Output</a:t>
            </a:r>
            <a:endParaRPr lang="en-US" sz="1500" dirty="0"/>
          </a:p>
        </p:txBody>
      </p:sp>
      <p:sp>
        <p:nvSpPr>
          <p:cNvPr id="11" name="Text 8"/>
          <p:cNvSpPr txBox="1"/>
          <p:nvPr/>
        </p:nvSpPr>
        <p:spPr>
          <a:xfrm>
            <a:off x="452628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Policy Card, cited answers, claim plan, comparison</a:t>
            </a:r>
            <a:endParaRPr lang="en-US" sz="1400" dirty="0"/>
          </a:p>
        </p:txBody>
      </p:sp>
      <p:sp>
        <p:nvSpPr>
          <p:cNvPr id="12" name="Extra card"/>
          <p:cNvSpPr/>
          <p:nvPr/>
        </p:nvSpPr>
        <p:spPr>
          <a:xfrm>
            <a:off x="8046720" y="4480560"/>
            <a:ext cx="3566160" cy="1325880"/>
          </a:xfrm>
          <a:prstGeom prst="roundRect">
            <a:avLst>
              <a:gd name="adj" fmla="val 5517"/>
            </a:avLst>
          </a:prstGeom>
          <a:solidFill>
            <a:srgbClr val="F6F8FB"/>
          </a:solidFill>
          <a:ln w="9525">
            <a:solidFill>
              <a:srgbClr val="D5DCE6"/>
            </a:solidFill>
            <a:prstDash val="solid"/>
          </a:ln>
        </p:spPr>
      </p:sp>
      <p:sp>
        <p:nvSpPr>
          <p:cNvPr id="13" name="Text 10"/>
          <p:cNvSpPr txBox="1"/>
          <p:nvPr/>
        </p:nvSpPr>
        <p:spPr>
          <a:xfrm>
            <a:off x="827532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Extra</a:t>
            </a:r>
            <a:endParaRPr lang="en-US" sz="1500" dirty="0"/>
          </a:p>
        </p:txBody>
      </p:sp>
      <p:sp>
        <p:nvSpPr>
          <p:cNvPr id="14" name="Text 11"/>
          <p:cNvSpPr txBox="1"/>
          <p:nvPr/>
        </p:nvSpPr>
        <p:spPr>
          <a:xfrm>
            <a:off x="827532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Faithfulness score + measured evaluation</a:t>
            </a:r>
            <a:endParaRPr lang="en-US" sz="14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0F172A"/>
                </a:solidFill>
              </a:rPr>
              <a:t>Extract key policy attributes automatically from uploaded health insurance documents.</a:t>
            </a:r>
            <a:pPr indent="0" marL="0">
              <a:spcAft>
                <a:spcPts val="1000"/>
              </a:spcAft>
              <a:buNone/>
            </a:pPr>
            <a:pPr indent="0" marL="0">
              <a:spcAft>
                <a:spcPts val="1000"/>
              </a:spcAft>
              <a:buNone/>
            </a:pPr>
            <a:endParaRPr lang="en-US" sz="2000" dirty="0"/>
          </a:p>
          <a:p>
            <a:pPr marL="228600" indent="-228600">
              <a:spcAft>
                <a:spcPts val="1000"/>
              </a:spcAft>
              <a:buSzPct val="100000"/>
              <a:buChar char="•"/>
            </a:pPr>
            <a:r>
              <a:rPr lang="en-US" sz="2000" dirty="0">
                <a:solidFill>
                  <a:srgbClr val="0F172A"/>
                </a:solidFill>
              </a:rPr>
              <a:t>Build a RAG pipeline that retrieves the policy clauses relevant to each user question.</a:t>
            </a:r>
            <a:pPr indent="0" marL="0">
              <a:spcAft>
                <a:spcPts val="1000"/>
              </a:spcAft>
              <a:buNone/>
            </a:pPr>
            <a:pPr indent="0" marL="0">
              <a:spcAft>
                <a:spcPts val="1000"/>
              </a:spcAft>
              <a:buNone/>
            </a:pPr>
            <a:endParaRPr lang="en-US" sz="2000" dirty="0"/>
          </a:p>
          <a:p>
            <a:pPr marL="228600" indent="-228600">
              <a:spcAft>
                <a:spcPts val="1000"/>
              </a:spcAft>
              <a:buSzPct val="100000"/>
              <a:buChar char="•"/>
            </a:pPr>
            <a:r>
              <a:rPr lang="en-US" sz="2000" dirty="0">
                <a:solidFill>
                  <a:srgbClr val="0F172A"/>
                </a:solidFill>
              </a:rPr>
              <a:t>Generate plain-language answers with an LLM, grounded in and citing the retrieved clauses.</a:t>
            </a:r>
            <a:pPr indent="0" marL="0">
              <a:spcAft>
                <a:spcPts val="1000"/>
              </a:spcAft>
              <a:buNone/>
            </a:pPr>
            <a:pPr indent="0" marL="0">
              <a:spcAft>
                <a:spcPts val="1000"/>
              </a:spcAft>
              <a:buNone/>
            </a:pPr>
            <a:endParaRPr lang="en-US" sz="2000" dirty="0"/>
          </a:p>
          <a:p>
            <a:pPr marL="228600" indent="-228600">
              <a:spcAft>
                <a:spcPts val="1000"/>
              </a:spcAft>
              <a:buSzPct val="100000"/>
              <a:buChar char="•"/>
            </a:pPr>
            <a:r>
              <a:rPr lang="en-US" sz="2000" dirty="0">
                <a:solidFill>
                  <a:srgbClr val="0F172A"/>
                </a:solidFill>
              </a:rPr>
              <a:t>Provide guided claim support with eligibility pre-checks, evidence checklists and procedural steps.</a:t>
            </a:r>
            <a:pPr indent="0" marL="0">
              <a:spcAft>
                <a:spcPts val="1000"/>
              </a:spcAft>
              <a:buNone/>
            </a:pPr>
            <a:pPr indent="0" marL="0">
              <a:spcAft>
                <a:spcPts val="1000"/>
              </a:spcAft>
              <a:buNone/>
            </a:pPr>
            <a:endParaRPr lang="en-US" sz="2000" dirty="0"/>
          </a:p>
          <a:p>
            <a:pPr marL="228600" indent="-228600">
              <a:spcAft>
                <a:spcPts val="1000"/>
              </a:spcAft>
              <a:buSzPct val="100000"/>
              <a:buChar char="•"/>
            </a:pPr>
            <a:r>
              <a:rPr lang="en-US" sz="2000" dirty="0">
                <a:solidFill>
                  <a:srgbClr val="0F172A"/>
                </a:solidFill>
              </a:rPr>
              <a:t>Summarise risks, exclusions and cost-coverage trade-offs to support plan comparison.</a:t>
            </a:r>
            <a:pPr indent="0" marL="0">
              <a:spcAft>
                <a:spcPts val="1000"/>
              </a:spcAft>
              <a:buNone/>
            </a:pPr>
            <a:pPr indent="0" marL="0">
              <a:spcAft>
                <a:spcPts val="1000"/>
              </a:spcAft>
              <a:buNone/>
            </a:pPr>
            <a:endParaRPr lang="en-US" sz="2000" dirty="0"/>
          </a:p>
          <a:p>
            <a:pPr marL="228600" indent="-228600">
              <a:spcAft>
                <a:spcPts val="1000"/>
              </a:spcAft>
              <a:buSzPct val="100000"/>
              <a:buChar char="•"/>
            </a:pPr>
            <a:r>
              <a:rPr lang="en-US" sz="2000" dirty="0">
                <a:solidFill>
                  <a:srgbClr val="0F172A"/>
                </a:solidFill>
              </a:rPr>
              <a:t>Evaluate the assistant for answer accuracy, faithfulness and response time.</a:t>
            </a:r>
            <a:pPr indent="0" marL="0">
              <a:spcAft>
                <a:spcPts val="1000"/>
              </a:spcAft>
              <a:buNone/>
            </a:pPr>
            <a:pPr indent="0" marL="0">
              <a:spcAft>
                <a:spcPts val="1000"/>
              </a:spcAft>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4" name="Text track card"/>
          <p:cNvSpPr/>
          <p:nvPr/>
        </p:nvSpPr>
        <p:spPr>
          <a:xfrm>
            <a:off x="548640" y="1371600"/>
            <a:ext cx="2670048" cy="3017520"/>
          </a:xfrm>
          <a:prstGeom prst="roundRect">
            <a:avLst>
              <a:gd name="adj" fmla="val 2740"/>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6250D6"/>
          </a:solidFill>
          <a:ln w="12700">
            <a:solidFill>
              <a:srgbClr val="6250D6"/>
            </a:solidFill>
            <a:prstDash val="solid"/>
          </a:ln>
        </p:spPr>
      </p:sp>
      <p:pic>
        <p:nvPicPr>
          <p:cNvPr id="6" name="Image 0" descr="Text track">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Parse and segment</a:t>
            </a:r>
            <a:endParaRPr lang="en-US" sz="1600" dirty="0"/>
          </a:p>
        </p:txBody>
      </p:sp>
      <p:sp>
        <p:nvSpPr>
          <p:cNvPr id="8" name="Text 4"/>
          <p:cNvSpPr txBox="1"/>
          <p:nvPr/>
        </p:nvSpPr>
        <p:spPr>
          <a:xfrm>
            <a:off x="777240"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PDF to numbered clauses with pages and highlight boxes.</a:t>
            </a:r>
            <a:endParaRPr lang="en-US" sz="1400" dirty="0"/>
          </a:p>
        </p:txBody>
      </p:sp>
      <p:sp>
        <p:nvSpPr>
          <p:cNvPr id="9" name="Visual track card"/>
          <p:cNvSpPr/>
          <p:nvPr/>
        </p:nvSpPr>
        <p:spPr>
          <a:xfrm>
            <a:off x="3364992" y="1371600"/>
            <a:ext cx="2670048" cy="3017520"/>
          </a:xfrm>
          <a:prstGeom prst="roundRect">
            <a:avLst>
              <a:gd name="adj" fmla="val 2740"/>
            </a:avLst>
          </a:prstGeom>
          <a:solidFill>
            <a:srgbClr val="F6F8FB"/>
          </a:solidFill>
          <a:ln w="9525">
            <a:solidFill>
              <a:srgbClr val="D5DCE6"/>
            </a:solidFill>
            <a:prstDash val="solid"/>
          </a:ln>
        </p:spPr>
      </p:sp>
      <p:sp>
        <p:nvSpPr>
          <p:cNvPr id="10" name="icon circle"/>
          <p:cNvSpPr/>
          <p:nvPr/>
        </p:nvSpPr>
        <p:spPr>
          <a:xfrm>
            <a:off x="3593592" y="1600200"/>
            <a:ext cx="548640" cy="548640"/>
          </a:xfrm>
          <a:prstGeom prst="ellipse">
            <a:avLst/>
          </a:prstGeom>
          <a:solidFill>
            <a:srgbClr val="1BAF7A"/>
          </a:solidFill>
          <a:ln w="12700">
            <a:solidFill>
              <a:srgbClr val="1BAF7A"/>
            </a:solidFill>
            <a:prstDash val="solid"/>
          </a:ln>
        </p:spPr>
      </p:sp>
      <p:pic>
        <p:nvPicPr>
          <p:cNvPr id="11" name="Image 1" descr="Visual track">    </p:cNvPr>
          <p:cNvPicPr>
            <a:picLocks noChangeAspect="1"/>
          </p:cNvPicPr>
          <p:nvPr/>
        </p:nvPicPr>
        <p:blipFill>
          <a:blip r:embed="rId2"/>
          <a:stretch>
            <a:fillRect/>
          </a:stretch>
        </p:blipFill>
        <p:spPr>
          <a:xfrm>
            <a:off x="3703320" y="1709928"/>
            <a:ext cx="329184" cy="329184"/>
          </a:xfrm>
          <a:prstGeom prst="rect">
            <a:avLst/>
          </a:prstGeom>
        </p:spPr>
      </p:pic>
      <p:sp>
        <p:nvSpPr>
          <p:cNvPr id="12" name="Text 7"/>
          <p:cNvSpPr txBox="1"/>
          <p:nvPr/>
        </p:nvSpPr>
        <p:spPr>
          <a:xfrm>
            <a:off x="4279392"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Hybrid retrieval</a:t>
            </a:r>
            <a:endParaRPr lang="en-US" sz="1600" dirty="0"/>
          </a:p>
        </p:txBody>
      </p:sp>
      <p:sp>
        <p:nvSpPr>
          <p:cNvPr id="13" name="Text 8"/>
          <p:cNvSpPr txBox="1"/>
          <p:nvPr/>
        </p:nvSpPr>
        <p:spPr>
          <a:xfrm>
            <a:off x="3593592"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BM25 + MiniLM embeddings, rank fusion, cross-encoder re-rank.</a:t>
            </a:r>
            <a:endParaRPr lang="en-US" sz="1400" dirty="0"/>
          </a:p>
        </p:txBody>
      </p:sp>
      <p:sp>
        <p:nvSpPr>
          <p:cNvPr id="14" name="Fusion card"/>
          <p:cNvSpPr/>
          <p:nvPr/>
        </p:nvSpPr>
        <p:spPr>
          <a:xfrm>
            <a:off x="6181344" y="1371600"/>
            <a:ext cx="2670048" cy="3017520"/>
          </a:xfrm>
          <a:prstGeom prst="roundRect">
            <a:avLst>
              <a:gd name="adj" fmla="val 2740"/>
            </a:avLst>
          </a:prstGeom>
          <a:solidFill>
            <a:srgbClr val="F6F8FB"/>
          </a:solidFill>
          <a:ln w="9525">
            <a:solidFill>
              <a:srgbClr val="D5DCE6"/>
            </a:solidFill>
            <a:prstDash val="solid"/>
          </a:ln>
        </p:spPr>
      </p:sp>
      <p:sp>
        <p:nvSpPr>
          <p:cNvPr id="15" name="icon circle"/>
          <p:cNvSpPr/>
          <p:nvPr/>
        </p:nvSpPr>
        <p:spPr>
          <a:xfrm>
            <a:off x="6409944" y="1600200"/>
            <a:ext cx="548640" cy="548640"/>
          </a:xfrm>
          <a:prstGeom prst="ellipse">
            <a:avLst/>
          </a:prstGeom>
          <a:solidFill>
            <a:srgbClr val="EB6834"/>
          </a:solidFill>
          <a:ln w="12700">
            <a:solidFill>
              <a:srgbClr val="EB6834"/>
            </a:solidFill>
            <a:prstDash val="solid"/>
          </a:ln>
        </p:spPr>
      </p:sp>
      <p:pic>
        <p:nvPicPr>
          <p:cNvPr id="16" name="Image 2" descr="Fusion">    </p:cNvPr>
          <p:cNvPicPr>
            <a:picLocks noChangeAspect="1"/>
          </p:cNvPicPr>
          <p:nvPr/>
        </p:nvPicPr>
        <p:blipFill>
          <a:blip r:embed="rId3"/>
          <a:stretch>
            <a:fillRect/>
          </a:stretch>
        </p:blipFill>
        <p:spPr>
          <a:xfrm>
            <a:off x="6519672" y="1709928"/>
            <a:ext cx="329184" cy="329184"/>
          </a:xfrm>
          <a:prstGeom prst="rect">
            <a:avLst/>
          </a:prstGeom>
        </p:spPr>
      </p:pic>
      <p:sp>
        <p:nvSpPr>
          <p:cNvPr id="17" name="Text 11"/>
          <p:cNvSpPr txBox="1"/>
          <p:nvPr/>
        </p:nvSpPr>
        <p:spPr>
          <a:xfrm>
            <a:off x="7095744"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Grounded generation</a:t>
            </a:r>
            <a:endParaRPr lang="en-US" sz="1600" dirty="0"/>
          </a:p>
        </p:txBody>
      </p:sp>
      <p:sp>
        <p:nvSpPr>
          <p:cNvPr id="18" name="Text 12"/>
          <p:cNvSpPr txBox="1"/>
          <p:nvPr/>
        </p:nvSpPr>
        <p:spPr>
          <a:xfrm>
            <a:off x="6409944"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Gemini answers from the retrieved clauses only, with citations.</a:t>
            </a:r>
            <a:endParaRPr lang="en-US" sz="1400" dirty="0"/>
          </a:p>
        </p:txBody>
      </p:sp>
      <p:sp>
        <p:nvSpPr>
          <p:cNvPr id="19" name="AI-media check card"/>
          <p:cNvSpPr/>
          <p:nvPr/>
        </p:nvSpPr>
        <p:spPr>
          <a:xfrm>
            <a:off x="8997696" y="1371600"/>
            <a:ext cx="2670048" cy="3017520"/>
          </a:xfrm>
          <a:prstGeom prst="roundRect">
            <a:avLst>
              <a:gd name="adj" fmla="val 2740"/>
            </a:avLst>
          </a:prstGeom>
          <a:solidFill>
            <a:srgbClr val="F6F8FB"/>
          </a:solidFill>
          <a:ln w="9525">
            <a:solidFill>
              <a:srgbClr val="D5DCE6"/>
            </a:solidFill>
            <a:prstDash val="solid"/>
          </a:ln>
        </p:spPr>
      </p:sp>
      <p:sp>
        <p:nvSpPr>
          <p:cNvPr id="20" name="icon circle"/>
          <p:cNvSpPr/>
          <p:nvPr/>
        </p:nvSpPr>
        <p:spPr>
          <a:xfrm>
            <a:off x="9226296" y="1600200"/>
            <a:ext cx="548640" cy="548640"/>
          </a:xfrm>
          <a:prstGeom prst="ellipse">
            <a:avLst/>
          </a:prstGeom>
          <a:solidFill>
            <a:srgbClr val="EDA100"/>
          </a:solidFill>
          <a:ln w="12700">
            <a:solidFill>
              <a:srgbClr val="EDA100"/>
            </a:solidFill>
            <a:prstDash val="solid"/>
          </a:ln>
        </p:spPr>
      </p:sp>
      <p:pic>
        <p:nvPicPr>
          <p:cNvPr id="21" name="Image 3" descr="AI-media check">    </p:cNvPr>
          <p:cNvPicPr>
            <a:picLocks noChangeAspect="1"/>
          </p:cNvPicPr>
          <p:nvPr/>
        </p:nvPicPr>
        <p:blipFill>
          <a:blip r:embed="rId4"/>
          <a:stretch>
            <a:fillRect/>
          </a:stretch>
        </p:blipFill>
        <p:spPr>
          <a:xfrm>
            <a:off x="9336024" y="1709928"/>
            <a:ext cx="329184" cy="329184"/>
          </a:xfrm>
          <a:prstGeom prst="rect">
            <a:avLst/>
          </a:prstGeom>
        </p:spPr>
      </p:pic>
      <p:sp>
        <p:nvSpPr>
          <p:cNvPr id="22" name="Text 15"/>
          <p:cNvSpPr txBox="1"/>
          <p:nvPr/>
        </p:nvSpPr>
        <p:spPr>
          <a:xfrm>
            <a:off x="9912096"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Check and guide</a:t>
            </a:r>
            <a:endParaRPr lang="en-US" sz="1600" dirty="0"/>
          </a:p>
        </p:txBody>
      </p:sp>
      <p:sp>
        <p:nvSpPr>
          <p:cNvPr id="23" name="Text 16"/>
          <p:cNvSpPr txBox="1"/>
          <p:nvPr/>
        </p:nvSpPr>
        <p:spPr>
          <a:xfrm>
            <a:off x="9226296"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NLI faithfulness score; calculated claim pre-checks and estimate.</a:t>
            </a:r>
            <a:endParaRPr lang="en-US" sz="1400" dirty="0"/>
          </a:p>
        </p:txBody>
      </p:sp>
      <p:sp>
        <p:nvSpPr>
          <p:cNvPr id="24" name="Web application card"/>
          <p:cNvSpPr/>
          <p:nvPr/>
        </p:nvSpPr>
        <p:spPr>
          <a:xfrm>
            <a:off x="548640" y="4572000"/>
            <a:ext cx="11094415" cy="1234440"/>
          </a:xfrm>
          <a:prstGeom prst="roundRect">
            <a:avLst>
              <a:gd name="adj" fmla="val 5926"/>
            </a:avLst>
          </a:prstGeom>
          <a:solidFill>
            <a:srgbClr val="F6F8FB"/>
          </a:solidFill>
          <a:ln w="9525">
            <a:solidFill>
              <a:srgbClr val="D5DCE6"/>
            </a:solidFill>
            <a:prstDash val="solid"/>
          </a:ln>
        </p:spPr>
      </p:sp>
      <p:sp>
        <p:nvSpPr>
          <p:cNvPr id="25" name="icon circle"/>
          <p:cNvSpPr/>
          <p:nvPr/>
        </p:nvSpPr>
        <p:spPr>
          <a:xfrm>
            <a:off x="777240" y="4800600"/>
            <a:ext cx="548640" cy="548640"/>
          </a:xfrm>
          <a:prstGeom prst="ellipse">
            <a:avLst/>
          </a:prstGeom>
          <a:solidFill>
            <a:srgbClr val="1B2A41"/>
          </a:solidFill>
          <a:ln w="12700">
            <a:solidFill>
              <a:srgbClr val="1B2A41"/>
            </a:solidFill>
            <a:prstDash val="solid"/>
          </a:ln>
        </p:spPr>
      </p:sp>
      <p:pic>
        <p:nvPicPr>
          <p:cNvPr id="26" name="Image 4" descr="Web application">    </p:cNvPr>
          <p:cNvPicPr>
            <a:picLocks noChangeAspect="1"/>
          </p:cNvPicPr>
          <p:nvPr/>
        </p:nvPicPr>
        <p:blipFill>
          <a:blip r:embed="rId5"/>
          <a:stretch>
            <a:fillRect/>
          </a:stretch>
        </p:blipFill>
        <p:spPr>
          <a:xfrm>
            <a:off x="886968" y="4910328"/>
            <a:ext cx="329184" cy="329184"/>
          </a:xfrm>
          <a:prstGeom prst="rect">
            <a:avLst/>
          </a:prstGeom>
        </p:spPr>
      </p:pic>
      <p:sp>
        <p:nvSpPr>
          <p:cNvPr id="27" name="Text 19"/>
          <p:cNvSpPr txBox="1"/>
          <p:nvPr/>
        </p:nvSpPr>
        <p:spPr>
          <a:xfrm>
            <a:off x="1463040" y="4754880"/>
            <a:ext cx="9997135"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Web application</a:t>
            </a:r>
            <a:endParaRPr lang="en-US" sz="1600" dirty="0"/>
          </a:p>
        </p:txBody>
      </p:sp>
      <p:sp>
        <p:nvSpPr>
          <p:cNvPr id="28" name="Text 20"/>
          <p:cNvSpPr txBox="1"/>
          <p:nvPr/>
        </p:nvSpPr>
        <p:spPr>
          <a:xfrm>
            <a:off x="777240" y="5440680"/>
            <a:ext cx="10637215" cy="419100"/>
          </a:xfrm>
          <a:prstGeom prst="rect">
            <a:avLst/>
          </a:prstGeom>
          <a:noFill/>
          <a:ln/>
        </p:spPr>
        <p:txBody>
          <a:bodyPr wrap="square" lIns="0" tIns="0" rIns="0" bIns="0" rtlCol="0" anchor="t"/>
          <a:lstStyle/>
          <a:p>
            <a:pPr indent="0" marL="0">
              <a:spcAft>
                <a:spcPts val="400"/>
              </a:spcAft>
              <a:buNone/>
            </a:pPr>
            <a:r>
              <a:rPr lang="en-US" sz="1200" dirty="0">
                <a:solidFill>
                  <a:srgbClr val="475569"/>
                </a:solidFill>
              </a:rPr>
              <a:t>React + FastAPI + SQLite: Policy Card, risks, original-page viewer, chat, Claim Copilot, plan comparison, dashboard; English, Hindi, Telugu.</a:t>
            </a:r>
            <a:endParaRPr lang="en-US" sz="1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5" name="Text 1"/>
          <p:cNvSpPr txBox="1"/>
          <p:nvPr/>
        </p:nvSpPr>
        <p:spPr>
          <a:xfrm>
            <a:off x="548640" y="5760720"/>
            <a:ext cx="11094415" cy="274320"/>
          </a:xfrm>
          <a:prstGeom prst="rect">
            <a:avLst/>
          </a:prstGeom>
          <a:noFill/>
          <a:ln/>
        </p:spPr>
        <p:txBody>
          <a:bodyPr wrap="square" lIns="0" tIns="0" rIns="0" bIns="0" rtlCol="0" anchor="ctr"/>
          <a:lstStyle/>
          <a:p>
            <a:pPr algn="ctr" indent="0" marL="0">
              <a:buNone/>
            </a:pPr>
            <a:r>
              <a:rPr lang="en-US" sz="1100" i="1" dirty="0">
                <a:solidFill>
                  <a:srgbClr val="64748B"/>
                </a:solidFill>
              </a:rPr>
              <a:t>Proposed architecture: React web app, FastAPI backend with retrieval and answering services, local models, SQLite and ChromaDB, Gemini API</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System architecture diagram" descr="System architecture diagram"/>
          <p:cNvPicPr>
            <a:picLocks noChangeAspect="1"/>
          </p:cNvPicPr>
          <p:nvPr/>
        </p:nvPicPr>
        <p:blipFill>
          <a:blip r:embed="rId4"/>
          <a:stretch>
            <a:fillRect/>
          </a:stretch>
        </p:blipFill>
        <p:spPr>
          <a:xfrm>
            <a:off x="2669005" y="1123950"/>
            <a:ext cx="6282489" cy="45910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4" name="Multimodal model card"/>
          <p:cNvSpPr/>
          <p:nvPr/>
        </p:nvSpPr>
        <p:spPr>
          <a:xfrm>
            <a:off x="548640" y="1371600"/>
            <a:ext cx="356616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Multimodal model">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Right clause found</a:t>
            </a:r>
            <a:endParaRPr lang="en-US" sz="1600" dirty="0"/>
          </a:p>
        </p:txBody>
      </p:sp>
      <p:sp>
        <p:nvSpPr>
          <p:cNvPr id="8" name="Text 4"/>
          <p:cNvSpPr txBox="1"/>
          <p:nvPr/>
        </p:nvSpPr>
        <p:spPr>
          <a:xfrm>
            <a:off x="77724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The clause that answers a question is among the top results (target).</a:t>
            </a:r>
            <a:endParaRPr lang="en-US" sz="1600" dirty="0"/>
          </a:p>
        </p:txBody>
      </p:sp>
      <p:sp>
        <p:nvSpPr>
          <p:cNvPr id="9" name="Transparent output card"/>
          <p:cNvSpPr/>
          <p:nvPr/>
        </p:nvSpPr>
        <p:spPr>
          <a:xfrm>
            <a:off x="4297680" y="1371600"/>
            <a:ext cx="356616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sp>
      <p:pic>
        <p:nvPicPr>
          <p:cNvPr id="11" name="Image 1" descr="Transparent output">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Cited, grounded answers</a:t>
            </a:r>
            <a:endParaRPr lang="en-US" sz="1600" dirty="0"/>
          </a:p>
        </p:txBody>
      </p:sp>
      <p:sp>
        <p:nvSpPr>
          <p:cNvPr id="13" name="Text 8"/>
          <p:cNvSpPr txBox="1"/>
          <p:nvPr/>
        </p:nvSpPr>
        <p:spPr>
          <a:xfrm>
            <a:off x="452628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Every answer names clause and page; unanswerable questions are declined.</a:t>
            </a:r>
            <a:endParaRPr lang="en-US" sz="1600" dirty="0"/>
          </a:p>
        </p:txBody>
      </p:sp>
      <p:sp>
        <p:nvSpPr>
          <p:cNvPr id="14" name="Honest evaluation card"/>
          <p:cNvSpPr/>
          <p:nvPr/>
        </p:nvSpPr>
        <p:spPr>
          <a:xfrm>
            <a:off x="8046720" y="1371600"/>
            <a:ext cx="356616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6250D6"/>
          </a:solidFill>
          <a:ln w="12700">
            <a:solidFill>
              <a:srgbClr val="6250D6"/>
            </a:solidFill>
            <a:prstDash val="solid"/>
          </a:ln>
        </p:spPr>
      </p:sp>
      <p:pic>
        <p:nvPicPr>
          <p:cNvPr id="16" name="Image 2" descr="Honest evaluation">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Measured support</a:t>
            </a:r>
            <a:endParaRPr lang="en-US" sz="1600" dirty="0"/>
          </a:p>
        </p:txBody>
      </p:sp>
      <p:sp>
        <p:nvSpPr>
          <p:cNvPr id="18" name="Text 12"/>
          <p:cNvSpPr txBox="1"/>
          <p:nvPr/>
        </p:nvSpPr>
        <p:spPr>
          <a:xfrm>
            <a:off x="827532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faithfulness score on each answer.</a:t>
            </a:r>
            <a:endParaRPr lang="en-US" sz="1600" dirty="0"/>
          </a:p>
        </p:txBody>
      </p:sp>
      <p:sp>
        <p:nvSpPr>
          <p:cNvPr id="19" name="Generated-media signal card"/>
          <p:cNvSpPr/>
          <p:nvPr/>
        </p:nvSpPr>
        <p:spPr>
          <a:xfrm>
            <a:off x="548640" y="3611880"/>
            <a:ext cx="356616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777240" y="3840480"/>
            <a:ext cx="548640" cy="548640"/>
          </a:xfrm>
          <a:prstGeom prst="ellipse">
            <a:avLst/>
          </a:prstGeom>
          <a:solidFill>
            <a:srgbClr val="EDA100"/>
          </a:solidFill>
          <a:ln w="12700">
            <a:solidFill>
              <a:srgbClr val="EDA100"/>
            </a:solidFill>
            <a:prstDash val="solid"/>
          </a:ln>
        </p:spPr>
      </p:sp>
      <p:pic>
        <p:nvPicPr>
          <p:cNvPr id="21" name="Image 3" descr="Generated-media signal">    </p:cNvPr>
          <p:cNvPicPr>
            <a:picLocks noChangeAspect="1"/>
          </p:cNvPicPr>
          <p:nvPr/>
        </p:nvPicPr>
        <p:blipFill>
          <a:blip r:embed="rId4"/>
          <a:stretch>
            <a:fillRect/>
          </a:stretch>
        </p:blipFill>
        <p:spPr>
          <a:xfrm>
            <a:off x="886968" y="3950208"/>
            <a:ext cx="329184" cy="329184"/>
          </a:xfrm>
          <a:prstGeom prst="rect">
            <a:avLst/>
          </a:prstGeom>
        </p:spPr>
      </p:pic>
      <p:sp>
        <p:nvSpPr>
          <p:cNvPr id="22" name="Text 15"/>
          <p:cNvSpPr txBox="1"/>
          <p:nvPr/>
        </p:nvSpPr>
        <p:spPr>
          <a:xfrm>
            <a:off x="146304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Claims guided</a:t>
            </a:r>
            <a:endParaRPr lang="en-US" sz="1600" dirty="0"/>
          </a:p>
        </p:txBody>
      </p:sp>
      <p:sp>
        <p:nvSpPr>
          <p:cNvPr id="23" name="Text 16"/>
          <p:cNvSpPr txBox="1"/>
          <p:nvPr/>
        </p:nvSpPr>
        <p:spPr>
          <a:xfrm>
            <a:off x="77724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Verdict, checklist, steps and estimate before filing.</a:t>
            </a:r>
            <a:endParaRPr lang="en-US" sz="1600" dirty="0"/>
          </a:p>
        </p:txBody>
      </p:sp>
      <p:sp>
        <p:nvSpPr>
          <p:cNvPr id="24" name="Usable system card"/>
          <p:cNvSpPr/>
          <p:nvPr/>
        </p:nvSpPr>
        <p:spPr>
          <a:xfrm>
            <a:off x="4297680" y="3611880"/>
            <a:ext cx="3566160" cy="2057400"/>
          </a:xfrm>
          <a:prstGeom prst="roundRect">
            <a:avLst>
              <a:gd name="adj" fmla="val 3556"/>
            </a:avLst>
          </a:prstGeom>
          <a:solidFill>
            <a:srgbClr val="F6F8FB"/>
          </a:solidFill>
          <a:ln w="9525">
            <a:solidFill>
              <a:srgbClr val="D5DCE6"/>
            </a:solidFill>
            <a:prstDash val="solid"/>
          </a:ln>
        </p:spPr>
      </p:sp>
      <p:sp>
        <p:nvSpPr>
          <p:cNvPr id="25" name="icon circle"/>
          <p:cNvSpPr/>
          <p:nvPr/>
        </p:nvSpPr>
        <p:spPr>
          <a:xfrm>
            <a:off x="4526280" y="3840480"/>
            <a:ext cx="548640" cy="548640"/>
          </a:xfrm>
          <a:prstGeom prst="ellipse">
            <a:avLst/>
          </a:prstGeom>
          <a:solidFill>
            <a:srgbClr val="1BAF7A"/>
          </a:solidFill>
          <a:ln w="12700">
            <a:solidFill>
              <a:srgbClr val="1BAF7A"/>
            </a:solidFill>
            <a:prstDash val="solid"/>
          </a:ln>
        </p:spPr>
      </p:sp>
      <p:pic>
        <p:nvPicPr>
          <p:cNvPr id="26" name="Image 4" descr="Usable system">    </p:cNvPr>
          <p:cNvPicPr>
            <a:picLocks noChangeAspect="1"/>
          </p:cNvPicPr>
          <p:nvPr/>
        </p:nvPicPr>
        <p:blipFill>
          <a:blip r:embed="rId5"/>
          <a:stretch>
            <a:fillRect/>
          </a:stretch>
        </p:blipFill>
        <p:spPr>
          <a:xfrm>
            <a:off x="4636008" y="3950208"/>
            <a:ext cx="329184" cy="329184"/>
          </a:xfrm>
          <a:prstGeom prst="rect">
            <a:avLst/>
          </a:prstGeom>
        </p:spPr>
      </p:pic>
      <p:sp>
        <p:nvSpPr>
          <p:cNvPr id="27" name="Text 19"/>
          <p:cNvSpPr txBox="1"/>
          <p:nvPr/>
        </p:nvSpPr>
        <p:spPr>
          <a:xfrm>
            <a:off x="521208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Plans compared</a:t>
            </a:r>
            <a:endParaRPr lang="en-US" sz="1600" dirty="0"/>
          </a:p>
        </p:txBody>
      </p:sp>
      <p:sp>
        <p:nvSpPr>
          <p:cNvPr id="28" name="Text 20"/>
          <p:cNvSpPr txBox="1"/>
          <p:nvPr/>
        </p:nvSpPr>
        <p:spPr>
          <a:xfrm>
            <a:off x="452628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Two policies side by side with trade-offs.</a:t>
            </a:r>
            <a:endParaRPr lang="en-US" sz="1600" dirty="0"/>
          </a:p>
        </p:txBody>
      </p:sp>
      <p:sp>
        <p:nvSpPr>
          <p:cNvPr id="29" name="Quality card"/>
          <p:cNvSpPr/>
          <p:nvPr/>
        </p:nvSpPr>
        <p:spPr>
          <a:xfrm>
            <a:off x="8046720" y="3611880"/>
            <a:ext cx="3566160" cy="2057400"/>
          </a:xfrm>
          <a:prstGeom prst="roundRect">
            <a:avLst>
              <a:gd name="adj" fmla="val 3556"/>
            </a:avLst>
          </a:prstGeom>
          <a:solidFill>
            <a:srgbClr val="F6F8FB"/>
          </a:solidFill>
          <a:ln w="9525">
            <a:solidFill>
              <a:srgbClr val="D5DCE6"/>
            </a:solidFill>
            <a:prstDash val="solid"/>
          </a:ln>
        </p:spPr>
      </p:sp>
      <p:sp>
        <p:nvSpPr>
          <p:cNvPr id="30" name="icon circle"/>
          <p:cNvSpPr/>
          <p:nvPr/>
        </p:nvSpPr>
        <p:spPr>
          <a:xfrm>
            <a:off x="8275320" y="3840480"/>
            <a:ext cx="548640" cy="548640"/>
          </a:xfrm>
          <a:prstGeom prst="ellipse">
            <a:avLst/>
          </a:prstGeom>
          <a:solidFill>
            <a:srgbClr val="1B2A41"/>
          </a:solidFill>
          <a:ln w="12700">
            <a:solidFill>
              <a:srgbClr val="1B2A41"/>
            </a:solidFill>
            <a:prstDash val="solid"/>
          </a:ln>
        </p:spPr>
      </p:sp>
      <p:pic>
        <p:nvPicPr>
          <p:cNvPr id="31" name="Image 5" descr="Quality">    </p:cNvPr>
          <p:cNvPicPr>
            <a:picLocks noChangeAspect="1"/>
          </p:cNvPicPr>
          <p:nvPr/>
        </p:nvPicPr>
        <p:blipFill>
          <a:blip r:embed="rId6"/>
          <a:stretch>
            <a:fillRect/>
          </a:stretch>
        </p:blipFill>
        <p:spPr>
          <a:xfrm>
            <a:off x="8385048" y="3950208"/>
            <a:ext cx="329184" cy="329184"/>
          </a:xfrm>
          <a:prstGeom prst="rect">
            <a:avLst/>
          </a:prstGeom>
        </p:spPr>
      </p:pic>
      <p:sp>
        <p:nvSpPr>
          <p:cNvPr id="32" name="Text 23"/>
          <p:cNvSpPr txBox="1"/>
          <p:nvPr/>
        </p:nvSpPr>
        <p:spPr>
          <a:xfrm>
            <a:off x="896112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Honest evaluation</a:t>
            </a:r>
            <a:endParaRPr lang="en-US" sz="1600" dirty="0"/>
          </a:p>
        </p:txBody>
      </p:sp>
      <p:sp>
        <p:nvSpPr>
          <p:cNvPr id="33" name="Text 24"/>
          <p:cNvSpPr txBox="1"/>
          <p:nvPr/>
        </p:nvSpPr>
        <p:spPr>
          <a:xfrm>
            <a:off x="827532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Accuracy, faithfulness and speed measured; gaps reported plainly.</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300"/>
              </a:spcAft>
              <a:buSzPct val="100000"/>
              <a:buChar char="•"/>
            </a:pPr>
            <a:r>
              <a:rPr lang="en-US" sz="1200" dirty="0">
                <a:solidFill>
                  <a:srgbClr val="0F172A"/>
                </a:solidFill>
              </a:rPr>
              <a:t>[1] M. A. A. Albayati and O. Findik, "A hybrid transformer-based framework for multi-document summarization of Turkish legal documents," IEEE Access, vol. 13, pp. 37165-37181, 2025, doi: 10.1109/ACCESS.2025.3545750.</a:t>
            </a:r>
            <a:endParaRPr lang="en-US" sz="1200" dirty="0"/>
          </a:p>
          <a:p>
            <a:pPr marL="228600" indent="-228600">
              <a:spcAft>
                <a:spcPts val="300"/>
              </a:spcAft>
              <a:buSzPct val="100000"/>
              <a:buChar char="•"/>
            </a:pPr>
            <a:r>
              <a:rPr lang="en-US" sz="1200" dirty="0">
                <a:solidFill>
                  <a:srgbClr val="0F172A"/>
                </a:solidFill>
              </a:rPr>
              <a:t>[2] D. Beauchemin, R. Khoury and Z. Gagnon, "Quebec automobile insurance question-answering with retrieval-augmented generation," in Proc. Natural Legal Language Processing Workshop (NLLP), Miami, FL, USA, 2024, pp. 48-60, doi: 10.18653/v1/2024.nllp-1.5.</a:t>
            </a:r>
            <a:endParaRPr lang="en-US" sz="1200" dirty="0"/>
          </a:p>
          <a:p>
            <a:pPr marL="228600" indent="-228600">
              <a:spcAft>
                <a:spcPts val="300"/>
              </a:spcAft>
              <a:buSzPct val="100000"/>
              <a:buChar char="•"/>
            </a:pPr>
            <a:r>
              <a:rPr lang="en-US" sz="1200" dirty="0">
                <a:solidFill>
                  <a:srgbClr val="0F172A"/>
                </a:solidFill>
              </a:rPr>
              <a:t>[3] "A medical insurance question answering system based on multi-strategy retrieval-augmented generation," in Proc. 2026 5th Int. Symp. Computer Applications and Information Technology (ISCAIT), 2026 (listed in the batch literature survey; not independently retrieved).</a:t>
            </a:r>
            <a:endParaRPr lang="en-US" sz="1200" dirty="0"/>
          </a:p>
          <a:p>
            <a:pPr marL="228600" indent="-228600">
              <a:spcAft>
                <a:spcPts val="300"/>
              </a:spcAft>
              <a:buSzPct val="100000"/>
              <a:buChar char="•"/>
            </a:pPr>
            <a:r>
              <a:rPr lang="en-US" sz="1200" dirty="0">
                <a:solidFill>
                  <a:srgbClr val="0F172A"/>
                </a:solidFill>
              </a:rPr>
              <a:t>[4] "Artificial intelligence chatbot in Iran Health Insurance Organization: A new era in service providing," Iranian Journal of Health Insurance, 2023 (listed in the batch literature survey; not independently retrieved).</a:t>
            </a:r>
            <a:endParaRPr lang="en-US" sz="1200" dirty="0"/>
          </a:p>
          <a:p>
            <a:pPr marL="228600" indent="-228600">
              <a:spcAft>
                <a:spcPts val="300"/>
              </a:spcAft>
              <a:buSzPct val="100000"/>
              <a:buChar char="•"/>
            </a:pPr>
            <a:r>
              <a:rPr lang="en-US" sz="1200" dirty="0">
                <a:solidFill>
                  <a:srgbClr val="0F172A"/>
                </a:solidFill>
              </a:rPr>
              <a:t>[5] S. Knollmeyer, O. Caymazer and D. Grossmann, "Document GraphRAG: Knowledge graph enhanced retrieval augmented generation for document question answering within the manufacturing domain," Electronics, vol. 14, no. 11, Art. 2102, 2025, doi: 10.3390/electronics14112102.</a:t>
            </a:r>
            <a:endParaRPr lang="en-US" sz="1200" dirty="0"/>
          </a:p>
          <a:p>
            <a:pPr marL="228600" indent="-228600">
              <a:spcAft>
                <a:spcPts val="300"/>
              </a:spcAft>
              <a:buSzPct val="100000"/>
              <a:buChar char="•"/>
            </a:pPr>
            <a:r>
              <a:rPr lang="en-US" sz="1200" dirty="0">
                <a:solidFill>
                  <a:srgbClr val="0F172A"/>
                </a:solidFill>
              </a:rPr>
              <a:t>[6] A. Maharjan and U. Yadav, "Chunking, retrieval, and re-ranking: An empirical evaluation of RAG architectures for policy document question answering," arXiv:2601.15457, Jan. 2026.</a:t>
            </a:r>
            <a:endParaRPr lang="en-US" sz="1200" dirty="0"/>
          </a:p>
          <a:p>
            <a:pPr marL="228600" indent="-228600">
              <a:spcAft>
                <a:spcPts val="300"/>
              </a:spcAft>
              <a:buSzPct val="100000"/>
              <a:buChar char="•"/>
            </a:pPr>
            <a:r>
              <a:rPr lang="en-US" sz="1200" dirty="0">
                <a:solidFill>
                  <a:srgbClr val="0F172A"/>
                </a:solidFill>
              </a:rPr>
              <a:t>[7] P. Lewis et al., "Retrieval-augmented generation for knowledge-intensive NLP tasks," in Advances in Neural Information Processing Systems (NeurIPS), vol. 33, 2020, pp. 9459-9474.</a:t>
            </a:r>
            <a:endParaRPr lang="en-US" sz="1200" dirty="0"/>
          </a:p>
          <a:p>
            <a:pPr marL="228600" indent="-228600">
              <a:spcAft>
                <a:spcPts val="300"/>
              </a:spcAft>
              <a:buSzPct val="100000"/>
              <a:buChar char="•"/>
            </a:pPr>
            <a:r>
              <a:rPr lang="en-US" sz="1200" dirty="0">
                <a:solidFill>
                  <a:srgbClr val="0F172A"/>
                </a:solidFill>
              </a:rPr>
              <a:t>[8] S. Robertson and H. Zaragoza, "The probabilistic relevance framework: BM25 and beyond," Foundations and Trends in Information Retrieval, vol. 3, no. 4, pp. 333-389, 2009.</a:t>
            </a:r>
            <a:endParaRPr lang="en-US" sz="1200" dirty="0"/>
          </a:p>
          <a:p>
            <a:pPr marL="228600" indent="-228600">
              <a:spcAft>
                <a:spcPts val="300"/>
              </a:spcAft>
              <a:buSzPct val="100000"/>
              <a:buChar char="•"/>
            </a:pPr>
            <a:r>
              <a:rPr lang="en-US" sz="1200" dirty="0">
                <a:solidFill>
                  <a:srgbClr val="0F172A"/>
                </a:solidFill>
              </a:rPr>
              <a:t>[9] G. V. Cormack, C. L. A. Clarke and S. Buettcher, "Reciprocal rank fusion outperforms Condorcet and individual rank learning methods," in Proc. 32nd Int. ACM SIGIR Conf. Research and Development in Information Retrieval, 2009, pp. 758-759.</a:t>
            </a:r>
            <a:endParaRPr lang="en-US" sz="1200" dirty="0"/>
          </a:p>
          <a:p>
            <a:pPr marL="228600" indent="-228600">
              <a:spcAft>
                <a:spcPts val="300"/>
              </a:spcAft>
              <a:buSzPct val="100000"/>
              <a:buChar char="•"/>
            </a:pPr>
            <a:r>
              <a:rPr lang="en-US" sz="1200" dirty="0">
                <a:solidFill>
                  <a:srgbClr val="0F172A"/>
                </a:solidFill>
              </a:rPr>
              <a:t>[10] N. Reimers and I. Gurevych, "Sentence-BERT: Sentence embeddings using Siamese BERT-networks," in Proc. EMNLP-IJCNLP, 2019, pp. 3982-3992.</a:t>
            </a:r>
            <a:endParaRPr lang="en-US" sz="1200" dirty="0"/>
          </a:p>
          <a:p>
            <a:pPr marL="228600" indent="-228600">
              <a:spcAft>
                <a:spcPts val="300"/>
              </a:spcAft>
              <a:buSzPct val="100000"/>
              <a:buChar char="•"/>
            </a:pPr>
            <a:r>
              <a:rPr lang="en-US" sz="1200" dirty="0">
                <a:solidFill>
                  <a:srgbClr val="0F172A"/>
                </a:solidFill>
              </a:rPr>
              <a:t>[11] W. Wang, F. Wei, L. Dong, H. Bao, N. Yang and M. Zhou, "MiniLM: Deep self-attention distillation for task-agnostic compression of pre-trained transformers," in Advances in Neural Information Processing Systems (NeurIPS), vol. 33, 2020, pp. 5776-5788.</a:t>
            </a:r>
            <a:endParaRPr lang="en-US" sz="1200" dirty="0"/>
          </a:p>
          <a:p>
            <a:pPr marL="228600" indent="-228600">
              <a:spcAft>
                <a:spcPts val="300"/>
              </a:spcAft>
              <a:buSzPct val="100000"/>
              <a:buChar char="•"/>
            </a:pPr>
            <a:r>
              <a:rPr lang="en-US" sz="1200" dirty="0">
                <a:solidFill>
                  <a:srgbClr val="0F172A"/>
                </a:solidFill>
              </a:rPr>
              <a:t>[12] R. Nogueira and K. Cho, "Passage re-ranking with BERT," arXiv:1901.04085, 2019.</a:t>
            </a:r>
            <a:endParaRPr lang="en-US" sz="1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Hidden Risk">
  <a:themeElements>
    <a:clrScheme name="Hidden Risk">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Hidden Ri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PolicyLens: Review 1</dc:title>
  <dc:subject>AI Health Insurance Assistance Using LLM + RAG</dc:subject>
  <dc:creator>Batch A1</dc:creator>
  <cp:lastModifiedBy>Batch A1</cp:lastModifiedBy>
  <cp:revision>1</cp:revision>
  <dcterms:created xsi:type="dcterms:W3CDTF">2026-10-13T12:36:40Z</dcterms:created>
  <dcterms:modified xsi:type="dcterms:W3CDTF">2026-10-13T12:36:40Z</dcterms:modified>
  <cp:keywords>health insurance, RAG, LLM, question answering</cp:keywords>
  <cp:category/>
  <dc:description/>
  <cp:contentStatus/>
</cp:coreProperties>
</file>