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Clauses per sample policy (801 in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Clauses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Star Health</c:v>
                </c:pt>
                <c:pt idx="1">
                  <c:v>HDFC ERGO</c:v>
                </c:pt>
                <c:pt idx="2">
                  <c:v>Niva Bupa</c:v>
                </c:pt>
                <c:pt idx="3">
                  <c:v>Care Health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219</c:v>
                </c:pt>
                <c:pt idx="1">
                  <c:v>207</c:v>
                </c:pt>
                <c:pt idx="2">
                  <c:v>166</c:v>
                </c:pt>
                <c:pt idx="3">
                  <c:v>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clauses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Relevant clause ranked first (hit@1) and in the top 5 (hit@5), 51 questions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rgbClr val="3F3F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BM25</c:v>
                </c:pt>
                <c:pt idx="1">
                  <c:v>Dense</c:v>
                </c:pt>
                <c:pt idx="2">
                  <c:v>Hybrid (RRF)</c:v>
                </c:pt>
                <c:pt idx="3">
                  <c:v>Hybrid + re-rank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0.647</c:v>
                </c:pt>
                <c:pt idx="1">
                  <c:v>0.49</c:v>
                </c:pt>
                <c:pt idx="2">
                  <c:v>0.686</c:v>
                </c:pt>
                <c:pt idx="3">
                  <c:v>0.804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hit@5</c:v>
                </c:pt>
              </c:strCache>
            </c:strRef>
          </c:tx>
          <c:spPr>
            <a:solidFill>
              <a:srgbClr val="2F9E6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BM25</c:v>
                </c:pt>
                <c:pt idx="1">
                  <c:v>Dense</c:v>
                </c:pt>
                <c:pt idx="2">
                  <c:v>Hybrid (RRF)</c:v>
                </c:pt>
                <c:pt idx="3">
                  <c:v>Hybrid + re-rank</c:v>
                </c:pt>
              </c:strCache>
            </c:strRef>
          </c:cat>
          <c:val>
            <c:numRef>
              <c:f>Sheet1!$C$2:$C$5</c:f>
              <c:numCache>
                <c:formatCode>0.000</c:formatCode>
                <c:ptCount val="4"/>
                <c:pt idx="0">
                  <c:v>1.0</c:v>
                </c:pt>
                <c:pt idx="1">
                  <c:v>0.804</c:v>
                </c:pt>
                <c:pt idx="2">
                  <c:v>0.961</c:v>
                </c:pt>
                <c:pt idx="3">
                  <c:v>1.0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share of questions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design, methodology and progress of PolicyLens.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parts, from a recap of Review 1 through the design and the pipeline to progress, results,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1: the problem and the proposed system as a five-step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browser talks only to the Vite server, which proxies /api to FastAPI. Retrieval, faithfulness and the rules run locally; only language generation uses the Gemini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workflow in seven steps. The central idea: the language model only sees retrieved clauses and everything it returns is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wordings are public documents that insurers publish; they are stored unmodified. The evaluation set was written by hand from them. There is no train/test split because no model is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Preprocessing here is turning a printed PDF into clean, numbered, indexed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model is pre-trained and used as is. The pipeline is the design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Settings were chosen by measurement on the evaluation set: for example, adding each retriever's top 8 to the re-rank pool recovered questions where one retriever alone found the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when to answer, how to cite and score, and which parts of a claim check are rules rather than model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shows eight processes and nine data stores; level 2 opens the question-answering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tables created by SQLAlchemy. Documents are shared by content hash. Structured results are stored as JSON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on one laptop; the Gemini API key is the only credential.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planned feature is implemented. The one open item is user-acceptance testing with real policyholders.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run eval-20260922-0027 on 51 answerable questions, 6 out-of-scope, 5 multilingual, 14 claim scenarios and 52 card values; all with the smallest Gemini model because of free-tier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the four sample policies and live Gemini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backend tests plus the measured evaluation and a scripted end-to-end demo run. The frontend is checked by a strict TypeScript compile and a production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how each was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unseen-policy evaluation and real-user feedback, then the report and the final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PolicyLens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PolicyLens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Insurance Assistance Using LLM + RAG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G.PRANATHI  23K91A6764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CH.AISHWARYA  23K91A6747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BHAVANSH MANE  23K91A6728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B.DEEKSHITH  24K95A6701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[GUIDE NAME],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A1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 and preparation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 and configuration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Policies are long and technical; agents are slow; general chatbots are not grounded in the user's own policy; claim filing has no guided pre-check.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RAG pipeline: clause-aware parsing, hybrid retrieval, Gemini answers from the retrieved clauses only, an independent faithfulness score, and calculated claim rules.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Upload policy PDF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Parse + segment + index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Policy Card + risks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Retrieve + cited answer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Claim plan, compare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18 + TypeScript + Vite (port 5101), TanStack Query, Recharts.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Application: FastAPI (port 8101): JWT sign-in, owner-only access, 42 route handlers.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Retrieval: BM25 + MiniLM/ChromaDB, rank fusion, cross-encoder re-rank.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AI: Gemini (JSON schema, fallback chain) and a local NLI faithfulness scorer.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Data: SQLite with 12 tables, vector index, PDFs and page images.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64" y="1181100"/>
            <a:ext cx="6751721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Upload + validate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Parse + segment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Index (BM25, vectors)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Policy Card + risks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Retrieve + re-rank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Generate + cite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Score + guide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Clauses, not chunks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Numbered clauses with pages and highlight boxes make every citation checkable on the original page.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Grounded generation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Gemini sees only the retrieved, tagged clauses; tags it was not given are removed.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Independent checks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An NLI model scores support; rules calculate waiting periods, co-pay and the estimate.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2022652"/>
                <a:gridCol w="1921520"/>
                <a:gridCol w="111245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policy wordings (public, insurers' sites)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policies, 166 pages, 73,001 words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samples, evaluation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(hand-written)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57: 51 answerable, 6 out-of-scope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and answer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 / Telugu questions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scenarios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(5 covered, 1 partly, 7 not, 1 needs info)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Card 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hand-checked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nothing is trained; whole set is test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preparation: parse, segment, index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Parsing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PyMuPDF lines with page, position and font; running headers and footers removed; two-column reading order restored; letter-spaced headings joined; tables read by row; scans rejected.</a:t>
            </a:r>
            <a:endParaRPr lang="en-US" sz="16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Segmentation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Clause starts at 4.2.1, Def. 5, Excl03 and headings; exclusion-coded list items become clauses; heading path; 12-380 word chunks with highlight boxes. 801 clauses from four policies.</a:t>
            </a:r>
            <a:endParaRPr lang="en-US" sz="16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Indexing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BM25 Okapi (k1 1.4, b 0.7) with an insurance synonym list, and 384-d MiniLM embeddings in ChromaDB (cosine). One Gemini call then builds the Policy Card.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 (no model is trained)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all-MiniLM-L6-v2, 384-d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ms-marco-MiniLM-L6-v2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nli-deberta-v3-xsmall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Gemini, JSON schema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All pre-trained; three small models run on the CPU, only generation uses the Gemini API.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High-level workflow" descr="High-level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807460"/>
            <a:ext cx="6600825" cy="3681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configuration (nothing is trained)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per retriever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RRF, k = 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top 20 + top 8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Clauses to the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7 (+ up to 4 context)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 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&lt; 0.004 and BM25 &lt; 9.0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answers, 0.1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3.8-flash, 3.6-flash, 3.5-flash-lite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00800" y="2199059"/>
            <a:ext cx="5239512" cy="241416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553212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Retrieval ablation: hybrid + re-rank is best on hit@1, hit@3 and MRR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Retrieval ablation chart" descr="Retrieval ablation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406253"/>
            <a:ext cx="5238750" cy="2750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4663440" y="137160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892040" y="155448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Abstain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24028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If the best re-rank score is below 0.004 and the best BM25 score below 9.0, answer "not covered in this policy" without calling the model.</a:t>
            </a:r>
            <a:endParaRPr lang="en-US" sz="1550" dirty="0"/>
          </a:p>
        </p:txBody>
      </p:sp>
      <p:sp>
        <p:nvSpPr>
          <p:cNvPr id="8" name="Partial input card"/>
          <p:cNvSpPr/>
          <p:nvPr/>
        </p:nvSpPr>
        <p:spPr>
          <a:xfrm>
            <a:off x="4663440" y="288036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92040" y="306324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Cite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374904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Gemini cites clause tags; tags that were not retrieved are removed; each claim is scored by an NLI model.</a:t>
            </a:r>
            <a:endParaRPr lang="en-US" sz="1600" dirty="0"/>
          </a:p>
        </p:txBody>
      </p:sp>
      <p:sp>
        <p:nvSpPr>
          <p:cNvPr id="11" name="Saving card"/>
          <p:cNvSpPr/>
          <p:nvPr/>
        </p:nvSpPr>
        <p:spPr>
          <a:xfrm>
            <a:off x="4663440" y="4389120"/>
            <a:ext cx="6976872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92040" y="4572000"/>
            <a:ext cx="6565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Claims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5257800"/>
            <a:ext cx="651967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475569"/>
                </a:solidFill>
              </a:rPr>
              <a:t>Waiting periods, age/network co-payment, sub-limits and the estimate are calculated; a failed waiting period is never "covered".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042013"/>
            <a:ext cx="4000500" cy="32311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3053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'Answer a question'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9625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8875532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validate, parse, segment, index, build card and risks in a background 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+ answering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dense, fusion, re-rank, abstention rule, cited answer, faithfulness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Copilot + compare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pre-checks and estimate, verdict, checklist; two-policy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55" y="1123950"/>
            <a:ext cx="4301289" cy="314325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123950"/>
            <a:ext cx="49530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4686300"/>
          <a:ext cx="11087100" cy="914400"/>
        </p:xfrm>
        <a:graphic>
          <a:graphicData uri="http://schemas.openxmlformats.org/drawingml/2006/table">
            <a:tbl>
              <a:tblPr/>
              <a:tblGrid>
                <a:gridCol w="2217420"/>
                <a:gridCol w="4878324"/>
                <a:gridCol w="3991356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sha256, page_count, insurer, uin, status, parse_stats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clauses, risk_flags; 1:1 policy_cards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ordinal, clause_ref, section_path, text, pages, bboxes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role, content, citations, faithfulness, timings,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conversations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381500"/>
            <a:ext cx="11087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diagram, 12 tables (left)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254" y="1123950"/>
            <a:ext cx="4263341" cy="32385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524" y="1123950"/>
            <a:ext cx="3436775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TypeScript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Retrieval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rank-bm25, ChromaDB, sentence-transformers, PyMuPDF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18, Vite, Tailwind CSS, shadcn/ui, TanStack Query, Recharts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FastAPI, Pydantic v2, SQLAlchemy 2, PyJWT, bcrypt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AI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Google Gemini (google-genai), three local CPU models, torch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Testing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pytest (25 tests), strict TypeScript build,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79" cy="914400"/>
        </p:xfrm>
        <a:graphic>
          <a:graphicData uri="http://schemas.openxmlformats.org/drawingml/2006/table">
            <a:tbl>
              <a:tblPr/>
              <a:tblGrid>
                <a:gridCol w="5848502"/>
                <a:gridCol w="1649577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Upload, parsing, clause segmentation, viewer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Card with verified sources; risk highlights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retrieval, cited answers, faithfulness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Copilot with calculated pre-checks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comparison; English, Hindi, Telugu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and Model performance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harness, 3 runs, 25 backend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acceptance testing with real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route handlers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backend tests passing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retrieval and answers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/ 51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answers correct and correctly cited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out-of-scope questions declined, 0 false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mean faithfulness; median answer 4.3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873834" y="1188720"/>
            <a:ext cx="4836012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Cited answer: 24-month waiting period, two sources, faithfulness 88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476106" y="1188720"/>
            <a:ext cx="4878589" cy="461772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Claim Copilot: knee replacement is partly covered (20% co-payment)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Chat answer screenshot" descr="Chat answer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4" y="1977032"/>
            <a:ext cx="4829175" cy="3018234"/>
          </a:xfrm>
          <a:prstGeom prst="rect">
            <a:avLst/>
          </a:prstGeom>
        </p:spPr>
      </p:pic>
      <p:pic>
        <p:nvPicPr>
          <p:cNvPr id="27" name="Claim check screenshot" descr="Claim check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962150"/>
            <a:ext cx="48768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768096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and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and clause segmentation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Rules, fusion, risks, estimate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flow, search, chat, claims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25 backend tests pass in about 15 s on a synthetic policy; Gemini is never called in tests.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Web build: strict TypeScript and Vite production build succeed.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Evaluation: relevant clause in the top 5 for 51/51; 51/51 answers correct and cited; 14/14 claim verdicts; 51/52 card values.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Edge cases: scanned PDFs rejected; uncited tags removed; out-of-scope questions declined.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Not done: user-acceptance, load and security testing.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Small multimodal dataset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Small multimodal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Wordings are messy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Two-column layouts, running headers, tables: a rule-based parser and segmenter restore order and clause numbers.</a:t>
            </a:r>
            <a:endParaRPr lang="en-US" sz="1500" dirty="0"/>
          </a:p>
        </p:txBody>
      </p:sp>
      <p:sp>
        <p:nvSpPr>
          <p:cNvPr id="9" name="Hyperparameters unreadable in the paper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Hyperparameters unreadable in the 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Finding the clause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BM25 and embeddings each miss cases; fusion plus a cross-encoder gives hit@5 of 100%.</a:t>
            </a:r>
            <a:endParaRPr lang="en-US" sz="1500" dirty="0"/>
          </a:p>
        </p:txBody>
      </p:sp>
      <p:sp>
        <p:nvSpPr>
          <p:cNvPr id="14" name="Format shortcut in GenImage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Format shortcut in Gen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Unsupported answers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Citations are filtered to retrieved clauses and an NLI score is shown; it is a heuristic, not a verdict.</a:t>
            </a:r>
            <a:endParaRPr lang="en-US" sz="1500" dirty="0"/>
          </a:p>
        </p:txBody>
      </p:sp>
      <p:sp>
        <p:nvSpPr>
          <p:cNvPr id="19" name="Unsafe links (SSRF risk)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Unsafe links (SSRF risk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Knowing when to decline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Neither score alone separates the cases; the pair (re-rank &lt; 0.004, BM25 &lt; 9.0) does.</a:t>
            </a:r>
            <a:endParaRPr lang="en-US" sz="1500" dirty="0"/>
          </a:p>
        </p:txBody>
      </p:sp>
      <p:sp>
        <p:nvSpPr>
          <p:cNvPr id="24" name="Webcam privacy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Webcam privac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Quota and overload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A fallback chain of three Gemini models, a cool-down and a cache keep answers coming.</a:t>
            </a:r>
            <a:endParaRPr lang="en-US" sz="1500" dirty="0"/>
          </a:p>
        </p:txBody>
      </p:sp>
      <p:sp>
        <p:nvSpPr>
          <p:cNvPr id="29" name="TensorFlow start-up time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TensorFlow start-up tim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Translation quality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One Telugu card line mixes scripts; recorded as a limitation.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Evaluate on unseen policies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 acceptance testing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presentation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Write a fresh question set on policy wordings not used in development and re-measure (the current figures are partly tuned).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Collect feedback from policyholders on answers, citations and claim checks (not yet done).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Re-run the evaluation with the larger Gemini models; add plan-variant selection.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Document every diagram, test and result in the report.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PolicyLens: Review 2</dc:title>
  <dc:subject>AI Health Insurance Assistance Using LLM + RAG</dc:subject>
  <dc:creator>Batch A1</dc:creator>
  <cp:lastModifiedBy>Batch A1</cp:lastModifiedBy>
  <cp:revision>1</cp:revision>
  <dcterms:created xsi:type="dcterms:W3CDTF">2026-10-13T12:40:05Z</dcterms:created>
  <dcterms:modified xsi:type="dcterms:W3CDTF">2026-10-13T12:40:05Z</dcterms:modified>
  <cp:keywords>health insurance, RAG, LLM, question answering</cp:keywords>
  <cp:category/>
  <dc:description/>
  <cp:contentStatus/>
</cp:coreProperties>
</file>