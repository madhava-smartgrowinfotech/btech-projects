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review of PolicyLens: an AI health-insurance assistant using retrieval-augmented generation and a large language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Abstract: problem, approach, application, and the headline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base paper summarises legal rulings; PolicyLens applies its select-then-generate idea to cited question answering over insurance wordings.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[1], [2] and [6] were read in detail. [3] and [4] could not be retrieved and [5]'s results were not read, so no results are claimed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gap is grounded, cited, scored answers plus claim guidance, with measured evidence on real wordings.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There is no train/validation/test split because no model is trained; the whole evaluation set is test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Nothing is trained, so there is no accuracy of a trained model; these are measured retrieval, answer, citation, faithfulness and verdict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confusion matrix of the four claim verdicts and the distribution of the faithfulness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Scores measured through the live API for all 57 questions: no answerable question is below both floors, all six out-of-scope questions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 measured: concurrent-user load, memory use, other hardware; user-acceptance testing was not performed.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Questions are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PolicyLens: AI Health Insurance Assistance Using LLM + RAG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23K91A6764   G.PRANATHI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23K91A6747   CH.AISHWARYA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23K91A6728   BHAVANSH MANE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24K95A6701   B.DEEKSHITH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 NAME]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 (Data Science)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(DATA SCIENCE)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Problem Statement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Pipeline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Testing &amp; Comparison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policies are long and technical, so users struggle to find coverage, exclusions, waiting periods and claim steps; agents are slow and general chatbots are not grounded in the user's own policy.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PolicyLens combines retrieval-augmented generation with Google Gemini: the policy is parsed into numbered clauses; a hybrid retriever finds the relevant ones; the model answers from those clauses only, with citations.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Card lists key terms with their clause and page; an independent NLI model scores each answer's support; the assistant says "not covered in this policy" when the wording is silent.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Copilot adds calculated eligibility pre-checks, a verdict, a document checklist and a cost estimate; plans can be compared; English, Hindi and Telugu are supported.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 4 real wordings: relevant clause in the top 5 for 51/51 questions, 51/51 answers correct and cited, 6/6 out-of-scope declined, 14/14 claim verdicts, mean faithfulness 87.0, median answer 4.3 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health insurance, RAG, LLM, question answering, faithfulness, claim guidance.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A. A. Albayati and O. Findik, "A hybrid transformer-based framework for multi-document summarization of Turkish legal documents," IEEE Access, vol. 13, pp. 37165-37181, 2025, doi: 10.1109/ACCESS.2025.3545750.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multi-document summarisation of Turkish court rulings; 2,000 consumer-rights rulings scraped from a public site.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TF-IDF and TextRank select important sentences; LED, Long-T5, BART-large and GPT-3.5 Turbo generate abstractive summaries from them.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results: TF-IDF content F1 0.47; GPT-3.5 Turbo ROUGE-1 55%, ROUGE-2 35%, ROUGE-L 42%, ROUGE-Sum 44%.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reading: overlap with reference summaries does not show whether statements are supported; no citations; no question answering or guidance. We adopt select-then-generate and change task, domain and evaluation.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2811780"/>
                <a:gridCol w="1912010"/>
                <a:gridCol w="2474366"/>
                <a:gridCol w="1799539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Albayati and Findik, 2025 (base) [1]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TF-IDF/TextRank, then LED, Long-T5, BART, GPT-3.5 Turbo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 Turkish court rulings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GPT-3.5 Turbo ROUGE-1 55%, ROUGE-2 35%, ROUGE-L 42%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Summaries only; no citations or QA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Beauchemin et al., 2024 [2]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with GPT-4o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Quebec auto-insurance corpus; 82 expert answers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on average; 5-13% false statements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insurance; one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Maharjan and Yadav, 2026 [6]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LLM vs basic RAG vs RAG + cross-encoder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Public-health policy documents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0.347 / 0.621 / 0.797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insurance wordings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Knollmeyer et al., 2025 [5]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Knowledge-graph-enhanced RAG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Manufacturing documents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domain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Multi-strategy RAG, 2026 [3]; Iran chatbot, 2023 [4]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for medical-insurance QA; service chatbot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 in batch survey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2924251"/>
                <a:gridCol w="832286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Paper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Gap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[1]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Summarisation of rulings: no question answering, no citations, no per-statement support, no guidance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Beauchemin et al. [2]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still produced 5-13% false statements; no per-answer support score; one insurance line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Maharjan and Yadav [6]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re-ranking helps and segmentation is a bottleneck; other domain, no claim guidance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chatbots and websites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from training data or compare premiums; not grounded in the user's policy; no claim pre-check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reviewed work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system joins attribute extraction, clause-grounded cited answers, abstention, claim guidance and a repeatable evaluation on several real wordings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policies are long and technical, so users cannot easily find coverage, exclusions and conditions.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depend on agents and helplines that give slow, generic and inconsistent answers.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chatbots may produce answers that are not supported by the user's actual policy.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filing lacks guidance on eligibility and required documents, leading to delays and rejections.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an assistant that answers strictly from the user's own policy, cites the supporting clauses and guides claims step by step.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key policy attributes automatically from uploaded health insurance documents.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RAG pipeline that retrieves the policy clauses relevant to each user question.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plain-language answers with an LLM, grounded in and citing the retrieved clauses.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guided claim support with eligibility pre-checks, evidence checklists and procedural steps.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risks, exclusions and cost-coverage trade-offs to support plan comparison.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assistant for answer accuracy, faithfulness and response time.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 - a policy wording PDF (or one of four samples); scans, encrypted and oversize files are refused.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Parse and segment - numbered clauses with pages and highlight boxes; exclusion codes become clauses.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Index - BM25 and MiniLM embeddings in ChromaDB.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Policy Card and risks - one Gemini call, every value verified against its quote; rule and AI risks.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Ask - hybrid retrieval, cited answer, faithfulness score; "not covered in this policy" when silent.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Claim Copilot - calculated pre-checks, verdict, checklist, steps, estimate.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Compare, translate, review - two plans side by side; English, Hindi, Telugu; dashboard.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architecture: browser, React web app, FastAPI backend with retrieval and answering services, local models, storage, Gemini API</a:t>
            </a:r>
            <a:endParaRPr lang="en-US" sz="1200" dirty="0"/>
          </a:p>
        </p:txBody>
      </p:sp>
      <p:pic>
        <p:nvPicPr>
          <p:cNvPr id="9" name="System architecture" descr="System archite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2747" y="1695450"/>
            <a:ext cx="5526505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workflow: upload, parse, segment, index, Policy Card, risks, ask, Claim Copilot, compare, review</a:t>
            </a:r>
            <a:endParaRPr lang="en-US" sz="1200" dirty="0"/>
          </a:p>
        </p:txBody>
      </p:sp>
      <p:pic>
        <p:nvPicPr>
          <p:cNvPr id="9" name="High-level workflow" descr="High-level workflo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373" y="1695450"/>
            <a:ext cx="7241627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Features &amp; Models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four public policy wordings (Star Health, HDFC ERGO, Niva Bupa, Care Health): 166 pages, 73,001 words, 801 clauses; no personal data.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set (hand-written): 57 questions (51 answerable, 6 out-of-scope), 5 Hindi/Telugu, 14 claim scenarios, 52 Policy Card values. All of it is test data; nothing is trained.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clause text with heading path; BM25 terms with insurance synonyms; 384-d MiniLM embeddings.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(pre-trained, not fine-tuned): Gemini for generation; all-MiniLM-L6-v2; ms-marco-MiniLM-L6-v2 cross-encoder; nli-deberta-v3-xsmall.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 30 candidates per retriever, RRF k 60, re-rank pool 20 + 8, top 7 clauses, abstain if re-rank &lt; 0.004 and BM25 &lt; 9.0, temperature 0.2.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training: the task is reading, not predicting; no labelled public set; wordings change every year.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 answer_question(): translate, retrieve, fuse, re-rank, abstain or generate, filter citations, score faithfulness</a:t>
            </a:r>
            <a:endParaRPr lang="en-US" sz="1200" dirty="0"/>
          </a:p>
        </p:txBody>
      </p:sp>
      <p:pic>
        <p:nvPicPr>
          <p:cNvPr id="9" name="Algorithm flowchart" descr="Algorithm flow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914" y="1695449"/>
            <a:ext cx="5000171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User–System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ask a question, receive a cited answer with a faithfulness score, open the source page</a:t>
            </a:r>
            <a:endParaRPr lang="en-US" sz="1200" dirty="0"/>
          </a:p>
        </p:txBody>
      </p:sp>
      <p:pic>
        <p:nvPicPr>
          <p:cNvPr id="9" name="Sequence diagram" descr="Sequence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3600" y="1695450"/>
            <a:ext cx="538480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Entity–relationship diagram (12 SQLite tables)</a:t>
            </a:r>
            <a:endParaRPr lang="en-US" sz="1200" dirty="0"/>
          </a:p>
        </p:txBody>
      </p:sp>
      <p:pic>
        <p:nvPicPr>
          <p:cNvPr id="9" name="ER diagram" descr="ER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7681" y="1695450"/>
            <a:ext cx="5316637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20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899769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Parser + segmenter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PyMuPDF lines; header/footer removal; column order; clause starts and IRDAI exclusion codes; 12-380 word chunks with highlight boxes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Okapi (k1 1.4, b 0.7) + MiniLM/ChromaDB; Reciprocal Rank Fusion (k 60); cross-encoder re-rank; top 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Answerer + faithfulness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Tagged clauses to Gemini with a JSON schema; uncited tags dropped; NLI entailment + number check -&gt; score 0-100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Copilot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Calculated waiting-period, co-payment, sub-limit checks and estimate; Gemini plan; a failed waiting period is never "covered"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client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schema, three-model fallback chain, 10-minute cool-down, pacing, disk cache, usage log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 + security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FastAPI; bcrypt, JWT 24 h, owner-only data, upload validation; 42 routes; 25 backend tests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Evaluation (run eval-20260922-0027)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4498848"/>
                <a:gridCol w="2811780"/>
                <a:gridCol w="3936491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PolicyLens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 clause in top 5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(51/51)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alone 100%, dense alone 80.4%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 clause ranked first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80.4%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64.7%, hybrid 68.6%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accuracy / citation accuracy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/ 100% (51/51)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key facts; right clause or page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mean / median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 / 91.7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well, 8 partly, 3 weakly supported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Out-of-scope declined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6/6, 0 false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 answerable never declined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verdicts / card values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14/14 / 51/52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98.1% card accuracy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time median / p95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 s / 18.2 s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Gemini, smallest model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real wordings, 57 questions, 14 claim scenarios, 52 card values; held-out test only; small set partly tuned on itself; model: gemini-3.5-flash-lite.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Verdicts &amp; Faithfulness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Copilot confusion matrix: 14 of 14 verdicts correct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of 56 answers: 45 well, 8 partly, 3 weakly supported</a:t>
            </a:r>
            <a:endParaRPr lang="en-US" sz="1200" dirty="0"/>
          </a:p>
        </p:txBody>
      </p:sp>
      <p:pic>
        <p:nvPicPr>
          <p:cNvPr id="11" name="Claim Copilot confusion matrix: 14 of 14 verdicts correct" descr="Claim Copilot confusion matrix: 14 of 14 verdicts correc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841" y="1733550"/>
            <a:ext cx="4097866" cy="3352800"/>
          </a:xfrm>
          <a:prstGeom prst="rect">
            <a:avLst/>
          </a:prstGeom>
        </p:spPr>
      </p:pic>
      <p:pic>
        <p:nvPicPr>
          <p:cNvPr id="12" name="Faithfulness of 56 answers: 45 well, 8 partly, 3 weakly supported" descr="Faithfulness of 56 answers: 45 well, 8 partly, 3 weakly supporte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925" y="1764030"/>
            <a:ext cx="5486400" cy="329183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&amp; Parameter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 rule: only the pair of scores separates the 6 out-of-scope questions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ablation: re-ranking lifts hit@1 from 0.686 to 0.804</a:t>
            </a:r>
            <a:endParaRPr lang="en-US" sz="1200" dirty="0"/>
          </a:p>
        </p:txBody>
      </p:sp>
      <p:pic>
        <p:nvPicPr>
          <p:cNvPr id="11" name="Abstention rule: only the pair of scores separates the 6 out-of-scope questions" descr="Abstention rule: only the pair of scores separates the 6 out-of-scope question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" y="1772879"/>
            <a:ext cx="5486400" cy="3274141"/>
          </a:xfrm>
          <a:prstGeom prst="rect">
            <a:avLst/>
          </a:prstGeom>
        </p:spPr>
      </p:pic>
      <p:pic>
        <p:nvPicPr>
          <p:cNvPr id="12" name="Retrieval ablation: re-ranking lifts hit@1 from 0.686 to 0.804" descr="Retrieval ablation: re-ranking lifts hit@1 from 0.686 to 0.80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925" y="1969769"/>
            <a:ext cx="548640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2474366"/>
                <a:gridCol w="8772753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time (median)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1.1 ms; dense 10.7 ms; hybrid 11.0 ms; hybrid + re-rank 879 ms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time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4.3 s, p95 18.2 s; stages: retrieval 0.86 s, Gemini 2.5 s, faithfulness 0.83 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check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13.8 s on four live calls; policy parsing 3.2-4.2 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tests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passed, 0 failed (auth 6, faithfulness 3, parser 3, policy flow 7, units 6)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build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TypeScript + Vite production build succeed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demo (15 Oct 2026)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cited answer 6.2 s; abstained question 1.7 s; Hindi answer 10.0 s; claim check 14.2 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(context only – different datasets)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8" cy="914400"/>
        </p:xfrm>
        <a:graphic>
          <a:graphicData uri="http://schemas.openxmlformats.org/drawingml/2006/table">
            <a:tbl>
              <a:tblPr/>
              <a:tblGrid>
                <a:gridCol w="1349654"/>
                <a:gridCol w="1912010"/>
                <a:gridCol w="2249424"/>
                <a:gridCol w="2249424"/>
                <a:gridCol w="2024481"/>
                <a:gridCol w="146212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for statements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/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[1]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 Turkish court rulings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TF-IDF/TextRank + LED, Long-T5, BART, GPT-3.5 Turbo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measured; no citations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ROUGE-1 55%, ROUGE-2 35%, ROUGE-L 42%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study [6]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Public-health policy documents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Mistral-7B + MiniLM + cross-encoder re-rank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measure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0.347 / 0.621 / 0.797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PolicyLens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English health-insurance wordings (801 clauses)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+ dense + RRF + cross-encoder; Gemini JSON schema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Clause + page citations; NLI score 0-100; abstention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hit@5 100%, answers 51/51, citations 100%, faithfulness 87.0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Card, Claim Copilot, compare, 3 languages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tasks, data, languages and metrics: no numeric head-to-head is possible, so the comparison is of approach. Faithfulness values are on different scales.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Cited Answer and Source Page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two sources, faithfulness 88 and follow-ups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 chip opens the original page with the clause outlined</a:t>
            </a:r>
            <a:endParaRPr lang="en-US" sz="1200" dirty="0"/>
          </a:p>
        </p:txBody>
      </p:sp>
      <p:pic>
        <p:nvPicPr>
          <p:cNvPr id="11" name="Answer with two sources, faithfulness 88 and follow-ups" descr="Answer with two sources, faithfulness 88 and follow-up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4" y="1733550"/>
            <a:ext cx="5364480" cy="3352800"/>
          </a:xfrm>
          <a:prstGeom prst="rect">
            <a:avLst/>
          </a:prstGeom>
        </p:spPr>
      </p:pic>
      <p:pic>
        <p:nvPicPr>
          <p:cNvPr id="12" name="A source chip opens the original page with the clause outlined" descr="A source chip opens the original page with the clause outline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885" y="1733550"/>
            <a:ext cx="536448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Claim Copilot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replacement, 36 months of cover: partly covered (20% co-payment)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from April 2026: not covered, waiting period incomplete</a:t>
            </a:r>
            <a:endParaRPr lang="en-US" sz="1200" dirty="0"/>
          </a:p>
        </p:txBody>
      </p:sp>
      <p:pic>
        <p:nvPicPr>
          <p:cNvPr id="11" name="Knee replacement, 36 months of cover: partly covered (20% co-payment)" descr="Knee replacement, 36 months of cover: partly covered (20% co-payment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4" y="1733550"/>
            <a:ext cx="5364480" cy="3352800"/>
          </a:xfrm>
          <a:prstGeom prst="rect">
            <a:avLst/>
          </a:prstGeom>
        </p:spPr>
      </p:pic>
      <p:pic>
        <p:nvPicPr>
          <p:cNvPr id="12" name="Cover from April 2026: not covered, waiting period incomplete" descr="Cover from April 2026: not covered, waiting period incomplet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885" y="1733550"/>
            <a:ext cx="536448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Policy Card and Plan Comparison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Card with values linked to clause and page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Health against HDFC ERGO: overview and choose-A / choose-B</a:t>
            </a:r>
            <a:endParaRPr lang="en-US" sz="1200" dirty="0"/>
          </a:p>
        </p:txBody>
      </p:sp>
      <p:pic>
        <p:nvPicPr>
          <p:cNvPr id="11" name="Policy Card with values linked to clause and page" descr="Policy Card with values linked to clause and p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4" y="1733550"/>
            <a:ext cx="5364480" cy="3352800"/>
          </a:xfrm>
          <a:prstGeom prst="rect">
            <a:avLst/>
          </a:prstGeom>
        </p:spPr>
      </p:pic>
      <p:pic>
        <p:nvPicPr>
          <p:cNvPr id="12" name="Star Health against HDFC ERGO: overview and choose-A / choose-B" descr="Star Health against HDFC ERGO: overview and choose-A / choose-B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885" y="1733550"/>
            <a:ext cx="536448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PolicyLens: grounded, cited, scored health-insurance answers, a verified Policy Card, claim guidance and plan comparison.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clause in the top 5 for 51/51 questions; 51/51 answers correct and cited; 6/6 out-of-scope declined with no false abstentions; 14/14 claim verdicts; 51/52 card values.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faithfulness 87.0; median answer time 4.3 s; hybrid + re-rank beats BM25 alone and dense alone at the top of the list.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backend tests pass; the web build succeeds; every screen was captured from the running application.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small set partly tuned on itself; smallest Gemini model; heuristic faithfulness; mixed-script Telugu line; no user study; no numeric comparison with the base paper.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a fresh, larger question set from unseen wordings and with the larger Gemini models.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Plan-variant selection on the Policy Card; OCR for scanned policies.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faithfulness scoring and automatic checks of translation quality.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document upload with checklist verification and deadline reminders; renewal comparison.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deployment: hosted database and vector store, HTTPS, rate limiting, load testing and a user study.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M. A. A. Albayati and O. Findik, "A hybrid transformer-based framework for multi-document summarization of Turkish legal documents," IEEE Access, vol. 13, pp. 37165-37181, 2025, doi: 10.1109/ACCESS.2025.3545750.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D. Beauchemin, R. Khoury and Z. Gagnon, "Quebec automobile insurance question-answering with retrieval-augmented generation," in Proc. Natural Legal Language Processing Workshop (NLLP), Miami, FL, USA, 2024, pp. 48-60, doi: 10.18653/v1/2024.nllp-1.5.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"A medical insurance question answering system based on multi-strategy retrieval-augmented generation," in Proc. 2026 5th Int. Symp. Computer Applications and Information Technology (ISCAIT), 2026 (listed in the batch literature survey; not independently retrieved).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"Artificial intelligence chatbot in Iran Health Insurance Organization: A new era in service providing," Iranian Journal of Health Insurance, 2023 (listed in the batch literature survey; not independently retrieved).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S. Knollmeyer, O. Caymazer and D. Grossmann, "Document GraphRAG: Knowledge graph enhanced retrieval augmented generation for document question answering within the manufacturing domain," Electronics, vol. 14, no. 11, Art. 2102, 2025, doi: 10.3390/electronics14112102.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A. Maharjan and U. Yadav, "Chunking, retrieval, and re-ranking: An empirical evaluation of RAG architectures for policy document question answering," arXiv:2601.15457, Jan. 2026.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P. Lewis et al., "Retrieval-augmented generation for knowledge-intensive NLP tasks," in Advances in Neural Information Processing Systems (NeurIPS), vol. 33, 2020, pp. 9459-9474.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S. Robertson and H. Zaragoza, "The probabilistic relevance framework: BM25 and beyond," Foundations and Trends in Information Retrieval, vol. 3, no. 4, pp. 333-389, 2009.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G. V. Cormack, C. L. A. Clarke and S. Buettcher, "Reciprocal rank fusion outperforms Condorcet and individual rank learning methods," in Proc. 32nd Int. ACM SIGIR Conf. Research and Development in Information Retrieval, 2009, pp. 758-759.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N. Reimers and I. Gurevych, "Sentence-BERT: Sentence embeddings using Siamese BERT-networks," in Proc. EMNLP-IJCNLP, 2019, pp. 3982-3992.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W. Wang, F. Wei, L. Dong, H. Bao, N. Yang and M. Zhou, "MiniLM: Deep self-attention distillation for task-agnostic compression of pre-trained transformers," in Advances in Neural Information Processing Systems (NeurIPS), vol. 33, 2020, pp. 5776-5788.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R. Nogueira and K. Cho, "Passage re-ranking with BERT," arXiv:1901.04085, 2019.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P. He, J. Gao and W. Chen, "DeBERTaV3: Improving DeBERTa using ELECTRA-style pre-training with gradient-disentangled embedding sharing," arXiv:2111.09543, 2021.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A. Williams, N. Nangia and S. Bowman, "A broad-coverage challenge corpus for sentence understanding through inference," in Proc. NAACL-HLT, 2018, pp. 1112-1122.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T. Bajaj et al., "MS MARCO: A human generated machine reading comprehension dataset," arXiv:1611.09268, 2016.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Z. Ji et al., "Survey of hallucination in natural language generation," ACM Computing Surveys, vol. 55, no. 12, Art. 248, 2023.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Gemini Team, Google, "Gemini: A family of highly capable multimodal models," arXiv:2312.11805, 2023.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V. Karpukhin et al., "Dense passage retrieval for open-domain question answering," in Proc. EMNLP, 2020, pp. 6769-6781.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C.-Y. Lin, "ROUGE: A package for automatic evaluation of summaries," in Text Summarization Branches Out, ACL Workshop, Barcelona, Spain, 2004, pp. 74-81.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PolicyLens: Final Review</dc:title>
  <dc:subject>AI Health Insurance Assistance Using LLM + RAG</dc:subject>
  <dc:creator>Batch A1</dc:creator>
  <cp:lastModifiedBy>Batch A1</cp:lastModifiedBy>
  <cp:revision>1</cp:revision>
  <dcterms:created xsi:type="dcterms:W3CDTF">2026-10-07T05:03:03Z</dcterms:created>
  <dcterms:modified xsi:type="dcterms:W3CDTF">2026-10-07T05:03:03Z</dcterms:modified>
  <cp:keywords>health insurance, RAG, LLM, question answering</cp:keywords>
  <cp:category/>
  <dc:description/>
  <cp:contentStatus/>
</cp:coreProperties>
</file>