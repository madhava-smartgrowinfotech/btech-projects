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LFW protocol pairs (6,000 in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LFW verification pairs</c:v>
                </c:pt>
              </c:strCache>
            </c:strRef>
          </c:tx>
          <c:spPr>
            <a:solidFill>
              <a:srgbClr val="3F3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Same-person pairs scored</c:v>
                </c:pt>
                <c:pt idx="1">
                  <c:v>Different-person pairs scored</c:v>
                </c:pt>
                <c:pt idx="2">
                  <c:v>Pairs dropped (no single face)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2141</c:v>
                </c:pt>
                <c:pt idx="1">
                  <c:v>2166</c:v>
                </c:pt>
                <c:pt idx="2">
                  <c:v>1693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pairs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Same-person pairs accepted by similarity threshold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Same person accepted (%)</c:v>
                </c:pt>
              </c:strCache>
            </c:strRef>
          </c:tx>
          <c:spPr>
            <a:solidFill>
              <a:srgbClr val="3F3F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0.30</c:v>
                </c:pt>
                <c:pt idx="1">
                  <c:v>0.40</c:v>
                </c:pt>
                <c:pt idx="2">
                  <c:v>0.45</c:v>
                </c:pt>
                <c:pt idx="3">
                  <c:v>0.50</c:v>
                </c:pt>
                <c:pt idx="4">
                  <c:v>0.60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99.5</c:v>
                </c:pt>
                <c:pt idx="1">
                  <c:v>98.7</c:v>
                </c:pt>
                <c:pt idx="2">
                  <c:v>97.2</c:v>
                </c:pt>
                <c:pt idx="3">
                  <c:v>94.7</c:v>
                </c:pt>
                <c:pt idx="4">
                  <c:v>78.5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47556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% accepted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2 covers design, methodology and progress of Attendance Magic.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Twelve parts: recap, design, methodology, data, components, decision logic, data flow, stack, progress, results, testing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of Review 1: the problem and the proposed system as a five-step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browser talks only to the Vite server, which proxies /api to FastAPI. The API is thin: every rule lives in core/, shared with the Streamlit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End-to-end workflow in seven steps. A failed stage never writes an attendance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model is trained in this project, so there is no training set. LFW is a public benchmark used only to evaluate the thresholds of the verification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Preparation here means decoding and validating the photos, the GPS fix and the roll numbers before the checks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data-flow diagram of the face-verification process. The two AI components are used as published; the project contribution is the chain, the thresholds and their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settings are defaults from config.py. The chart is our measurement on 4,307 LFW pairs: no different-person pair reached 0.40 (highest 0.246).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 logic: a strict sequence of checks; the order is the order of the wizard.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 1 shows eight processes and four data stores; the use-case diagram shows what faculty and students can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tables created by SQLAlchemy. The UML diagram shows the entities and the decision classes of core/.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runs offline on a laptop CPU; only the map tiles need the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planned feature is implemented. Open items are volunteer camera trials and a phone test over HTTPS.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Measured on the standard LFW verification protocol with our own pipeline: 4,307 scored pairs; 1,693 pairs were dropped because a photo failed the single-face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application with demo data (LFW photos as stand-ins for student photographs).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Testing so far: automated tests and scripted attacks. The weaknesses found by our own attack experiments are reported openly.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challenges and how each was handled or recorded.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remains: real-user trials and a stronger liveness check, then the report and the final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Magic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Magic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Geo-Fenced Attendance System with Live Challenge Verification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A.GREESHMA  23K91A6706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B.VINAY  23K91A6740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G.SRIRAM  23K91A6757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B.SAI KUMAR  24K95A6704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[GUIDE NAME],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 (Data Science)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and Technology  ·  Batch A2 (CSE-DS, Section 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agenda 1"/>
          <p:cNvSpPr/>
          <p:nvPr/>
        </p:nvSpPr>
        <p:spPr>
          <a:xfrm>
            <a:off x="548640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Recap</a:t>
            </a:r>
            <a:endParaRPr lang="en-US" sz="1500" dirty="0"/>
          </a:p>
        </p:txBody>
      </p:sp>
      <p:sp>
        <p:nvSpPr>
          <p:cNvPr id="7" name="agenda 2"/>
          <p:cNvSpPr/>
          <p:nvPr/>
        </p:nvSpPr>
        <p:spPr>
          <a:xfrm>
            <a:off x="3364992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Architecture</a:t>
            </a:r>
            <a:endParaRPr lang="en-US" sz="1500" dirty="0"/>
          </a:p>
        </p:txBody>
      </p:sp>
      <p:sp>
        <p:nvSpPr>
          <p:cNvPr id="10" name="agenda 3"/>
          <p:cNvSpPr/>
          <p:nvPr/>
        </p:nvSpPr>
        <p:spPr>
          <a:xfrm>
            <a:off x="6181344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82512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3825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Methodology</a:t>
            </a:r>
            <a:endParaRPr lang="en-US" sz="1500" dirty="0"/>
          </a:p>
        </p:txBody>
      </p:sp>
      <p:sp>
        <p:nvSpPr>
          <p:cNvPr id="13" name="agenda 4"/>
          <p:cNvSpPr/>
          <p:nvPr/>
        </p:nvSpPr>
        <p:spPr>
          <a:xfrm>
            <a:off x="8997696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98864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19886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Evaluation data</a:t>
            </a:r>
            <a:endParaRPr lang="en-US" sz="1500" dirty="0"/>
          </a:p>
        </p:txBody>
      </p:sp>
      <p:sp>
        <p:nvSpPr>
          <p:cNvPr id="16" name="agenda 5"/>
          <p:cNvSpPr/>
          <p:nvPr/>
        </p:nvSpPr>
        <p:spPr>
          <a:xfrm>
            <a:off x="548640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Inputs and preparation</a:t>
            </a:r>
            <a:endParaRPr lang="en-US" sz="1500" dirty="0"/>
          </a:p>
        </p:txBody>
      </p:sp>
      <p:sp>
        <p:nvSpPr>
          <p:cNvPr id="19" name="agenda 6"/>
          <p:cNvSpPr/>
          <p:nvPr/>
        </p:nvSpPr>
        <p:spPr>
          <a:xfrm>
            <a:off x="3364992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66160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Verification components</a:t>
            </a:r>
            <a:endParaRPr lang="en-US" sz="1500" dirty="0"/>
          </a:p>
        </p:txBody>
      </p:sp>
      <p:sp>
        <p:nvSpPr>
          <p:cNvPr id="22" name="agenda 7"/>
          <p:cNvSpPr/>
          <p:nvPr/>
        </p:nvSpPr>
        <p:spPr>
          <a:xfrm>
            <a:off x="6181344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82512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382512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Decision logic</a:t>
            </a:r>
            <a:endParaRPr lang="en-US" sz="1500" dirty="0"/>
          </a:p>
        </p:txBody>
      </p:sp>
      <p:sp>
        <p:nvSpPr>
          <p:cNvPr id="25" name="agenda 8"/>
          <p:cNvSpPr/>
          <p:nvPr/>
        </p:nvSpPr>
        <p:spPr>
          <a:xfrm>
            <a:off x="8997696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98864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198864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 flow, modules, database</a:t>
            </a:r>
            <a:endParaRPr lang="en-US" sz="1500" dirty="0"/>
          </a:p>
        </p:txBody>
      </p:sp>
      <p:sp>
        <p:nvSpPr>
          <p:cNvPr id="28" name="agenda 9"/>
          <p:cNvSpPr/>
          <p:nvPr/>
        </p:nvSpPr>
        <p:spPr>
          <a:xfrm>
            <a:off x="548640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Technology stack</a:t>
            </a:r>
            <a:endParaRPr lang="en-US" sz="1500" dirty="0"/>
          </a:p>
        </p:txBody>
      </p:sp>
      <p:sp>
        <p:nvSpPr>
          <p:cNvPr id="31" name="agenda 10"/>
          <p:cNvSpPr/>
          <p:nvPr/>
        </p:nvSpPr>
        <p:spPr>
          <a:xfrm>
            <a:off x="3364992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66160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3566160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Progress</a:t>
            </a:r>
            <a:endParaRPr lang="en-US" sz="1500" dirty="0"/>
          </a:p>
        </p:txBody>
      </p:sp>
      <p:sp>
        <p:nvSpPr>
          <p:cNvPr id="34" name="agenda 11"/>
          <p:cNvSpPr/>
          <p:nvPr/>
        </p:nvSpPr>
        <p:spPr>
          <a:xfrm>
            <a:off x="6181344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382512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6382512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Preliminary results and screens</a:t>
            </a:r>
            <a:endParaRPr lang="en-US" sz="1500" dirty="0"/>
          </a:p>
        </p:txBody>
      </p:sp>
      <p:sp>
        <p:nvSpPr>
          <p:cNvPr id="37" name="agenda 12"/>
          <p:cNvSpPr/>
          <p:nvPr/>
        </p:nvSpPr>
        <p:spPr>
          <a:xfrm>
            <a:off x="8997696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98864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39" name="Text 36"/>
          <p:cNvSpPr txBox="1"/>
          <p:nvPr/>
        </p:nvSpPr>
        <p:spPr>
          <a:xfrm>
            <a:off x="9198864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Testing, challenges, next steps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4" name="Problem card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Problem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Attendance by roll call or a shared link is slow, error-prone and easy to fake: a forwarded link, a photo or a friend can mark an absent student present.</a:t>
            </a:r>
            <a:endParaRPr lang="en-US" sz="1600" dirty="0"/>
          </a:p>
        </p:txBody>
      </p:sp>
      <p:sp>
        <p:nvSpPr>
          <p:cNvPr id="9" name="Proposed system card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Proposed sys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8660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Proposed system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Time-bound sessions with a geo-fence, a random live facial challenge and duplicate-face checks, delivered by a FastAPI and React web application.</a:t>
            </a:r>
            <a:endParaRPr lang="en-US" sz="1600" dirty="0"/>
          </a:p>
        </p:txBody>
      </p:sp>
      <p:sp>
        <p:nvSpPr>
          <p:cNvPr id="14" name="flow step 1"/>
          <p:cNvSpPr/>
          <p:nvPr/>
        </p:nvSpPr>
        <p:spPr>
          <a:xfrm>
            <a:off x="548640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1792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Session link + sign-in (JWT, device)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2557211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flow step 2"/>
          <p:cNvSpPr/>
          <p:nvPr/>
        </p:nvSpPr>
        <p:spPr>
          <a:xfrm>
            <a:off x="2831531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904683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Eligibility + GPS geo-fence</a:t>
            </a:r>
            <a:endParaRPr lang="en-US" sz="1500" dirty="0"/>
          </a:p>
        </p:txBody>
      </p:sp>
      <p:sp>
        <p:nvSpPr>
          <p:cNvPr id="19" name="arrow"/>
          <p:cNvSpPr/>
          <p:nvPr/>
        </p:nvSpPr>
        <p:spPr>
          <a:xfrm>
            <a:off x="4840102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flow step 3"/>
          <p:cNvSpPr/>
          <p:nvPr/>
        </p:nvSpPr>
        <p:spPr>
          <a:xfrm>
            <a:off x="5114422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87574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Random live challenge (Face Mesh)</a:t>
            </a:r>
            <a:endParaRPr lang="en-US" sz="1500" dirty="0"/>
          </a:p>
        </p:txBody>
      </p:sp>
      <p:sp>
        <p:nvSpPr>
          <p:cNvPr id="22" name="arrow"/>
          <p:cNvSpPr/>
          <p:nvPr/>
        </p:nvSpPr>
        <p:spPr>
          <a:xfrm>
            <a:off x="7122993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flow step 4"/>
          <p:cNvSpPr/>
          <p:nvPr/>
        </p:nvSpPr>
        <p:spPr>
          <a:xfrm>
            <a:off x="7397313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470465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Face match + duplicate check</a:t>
            </a:r>
            <a:endParaRPr lang="en-US" sz="1500" dirty="0"/>
          </a:p>
        </p:txBody>
      </p:sp>
      <p:sp>
        <p:nvSpPr>
          <p:cNvPr id="25" name="arrow"/>
          <p:cNvSpPr/>
          <p:nvPr/>
        </p:nvSpPr>
        <p:spPr>
          <a:xfrm>
            <a:off x="9405884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flow step 5"/>
          <p:cNvSpPr/>
          <p:nvPr/>
        </p:nvSpPr>
        <p:spPr>
          <a:xfrm>
            <a:off x="9680204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753356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Record, log, Excel export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7543800" y="146304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Client: React 19 + Vite 8 (port 5102): 12 routes, camera or upload, Geolocation, Leaflet map.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API: FastAPI (port 8102): 27 endpoints; JWT bound to the device; server-side check-in wizard state.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Core services: geofence, liveness (MediaPipe Face Mesh), face_match (InsightFace ArcFace), eligibility, export.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Data: SQLite with 5 tables and a verification-attempt log.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Original Streamlit UI kept on the same core.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System architecture diagram" descr="System architectur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208209"/>
            <a:ext cx="6858000" cy="4879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Create session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1904956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2179276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52428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Share link / QR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535593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flow step 3"/>
          <p:cNvSpPr/>
          <p:nvPr/>
        </p:nvSpPr>
        <p:spPr>
          <a:xfrm>
            <a:off x="3809913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83065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Sign in + eligibility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5166229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flow step 4"/>
          <p:cNvSpPr/>
          <p:nvPr/>
        </p:nvSpPr>
        <p:spPr>
          <a:xfrm>
            <a:off x="5440549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13701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GPS geo-fence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6796866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flow step 5"/>
          <p:cNvSpPr/>
          <p:nvPr/>
        </p:nvSpPr>
        <p:spPr>
          <a:xfrm>
            <a:off x="7071186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44338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Random live challenge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8427502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flow step 6"/>
          <p:cNvSpPr/>
          <p:nvPr/>
        </p:nvSpPr>
        <p:spPr>
          <a:xfrm>
            <a:off x="8701822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74974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Face match + duplicate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10058139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flow step 7"/>
          <p:cNvSpPr/>
          <p:nvPr/>
        </p:nvSpPr>
        <p:spPr>
          <a:xfrm>
            <a:off x="10332459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405611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Record + export</a:t>
            </a:r>
            <a:endParaRPr lang="en-US" sz="1400" dirty="0"/>
          </a:p>
        </p:txBody>
      </p:sp>
      <p:sp>
        <p:nvSpPr>
          <p:cNvPr id="24" name="Separate tracks card"/>
          <p:cNvSpPr/>
          <p:nvPr/>
        </p:nvSpPr>
        <p:spPr>
          <a:xfrm>
            <a:off x="54864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Staged and logged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Each stage can stop the check-in with a plain reason, and every attempt (pass or block) is stored with its stage and reason.</a:t>
            </a:r>
            <a:endParaRPr lang="en-US" sz="1500" dirty="0"/>
          </a:p>
        </p:txBody>
      </p:sp>
      <p:sp>
        <p:nvSpPr>
          <p:cNvPr id="27" name="Shared preprocessing card"/>
          <p:cNvSpPr/>
          <p:nvPr/>
        </p:nvSpPr>
        <p:spPr>
          <a:xfrm>
            <a:off x="429768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2628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Rules in one place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The REST API and the Streamlit UI both call core/, so there is a single implementation of every check.</a:t>
            </a:r>
            <a:endParaRPr lang="en-US" sz="1500" dirty="0"/>
          </a:p>
        </p:txBody>
      </p:sp>
      <p:sp>
        <p:nvSpPr>
          <p:cNvPr id="30" name="Reproducible card"/>
          <p:cNvSpPr/>
          <p:nvPr/>
        </p:nvSpPr>
        <p:spPr>
          <a:xfrm>
            <a:off x="804672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Configurable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27532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Radius, tolerance, GPS accuracy, thresholds and device limits are environment settings with documented defaults.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data and input sources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63040"/>
          <a:ext cx="5056630" cy="914400"/>
        </p:xfrm>
        <a:graphic>
          <a:graphicData uri="http://schemas.openxmlformats.org/drawingml/2006/table">
            <a:tbl>
              <a:tblPr/>
              <a:tblGrid>
                <a:gridCol w="1719254"/>
                <a:gridCol w="2123785"/>
                <a:gridCol w="1213591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LFW benchmark, pairs.txt protocol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13,233 images; 6,000 pairs (3,000 + 3,000); 7,701 unique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LFW stills, random sample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photos; 157 identities with 10+ photos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 and attack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accounts, 2 sessions; LFW photos as stand-ins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Screens, smoke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photos / camera trials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collected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None: models are pre-trained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train/test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and preparation</a:t>
            </a:r>
            <a:endParaRPr lang="en-US" sz="3200" dirty="0"/>
          </a:p>
        </p:txBody>
      </p:sp>
      <p:sp>
        <p:nvSpPr>
          <p:cNvPr id="4" name="Text card"/>
          <p:cNvSpPr/>
          <p:nvPr/>
        </p:nvSpPr>
        <p:spPr>
          <a:xfrm>
            <a:off x="54864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6" name="Image 0" descr="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Photos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JPEG or PNG from the camera or an upload; decoded with OpenCV and shrunk so the longest side is at most 1280 px. Exactly one face is required in each frame; the first (neutral) frame must be frontal (|yaw| &lt;= 0.10) with the mouth closed.</a:t>
            </a:r>
            <a:endParaRPr lang="en-US" sz="1600" dirty="0"/>
          </a:p>
        </p:txBody>
      </p:sp>
      <p:sp>
        <p:nvSpPr>
          <p:cNvPr id="9" name="Images and video card"/>
          <p:cNvSpPr/>
          <p:nvPr/>
        </p:nvSpPr>
        <p:spPr>
          <a:xfrm>
            <a:off x="429768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1" name="Image 1" descr="Images and vi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Location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Browser GPS latitude, longitude and accuracy (or a manual coordinate in test mode). A fix worse than 150 m is rejected; the distance is a haversine on a 6,371 km sphere.</a:t>
            </a:r>
            <a:endParaRPr lang="en-US" sz="1600" dirty="0"/>
          </a:p>
        </p:txBody>
      </p:sp>
      <p:sp>
        <p:nvSpPr>
          <p:cNvPr id="14" name="AI-media data card"/>
          <p:cNvSpPr/>
          <p:nvPr/>
        </p:nvSpPr>
        <p:spPr>
          <a:xfrm>
            <a:off x="804672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6" name="Image 2" descr="AI-media da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Identity and roll data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Each student enrols one reference photo, stored as a 512-dimensional ArcFace embedding. Roll numbers are matched with wildcard patterns (for example 23K91A67*) and an explicit list also gives the absentees.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components (pre-trained, not trained here)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463040"/>
          <a:ext cx="38679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56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 Face Mesh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468 landmarks; yaw, pitch, roll, MAR, 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InsightFace buffalo_l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SCRFD detector + ArcFace R50, 512-d, 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0.45, identity 0.40, duplicate 0.45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random challenges, 3 tries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772400" y="39319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No network is trained: thresholds on landmarks and cosine similarity decide.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Face verification data flow" descr="Face verification data fl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" y="1621722"/>
            <a:ext cx="7096125" cy="39574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and threshold analysis (nothing is trained)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Geo-fence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radius 60 m + 15 m tolerance; GPS accuracy &lt;= 150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yaw 0.12, pitch 0.08, roll 12 deg, MAR 0.35, EAR 0.18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|yaw| &lt;= 0.10, MAR &lt;= 0.25, one 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thresholds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0.45, identity 0.40, duplicate 0.45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/ 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120 min, device-bound; 1 device per student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 tries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then the wizard locks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i5-12500, 15.7 GB, CPU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icture frame"/>
          <p:cNvSpPr/>
          <p:nvPr/>
        </p:nvSpPr>
        <p:spPr>
          <a:xfrm>
            <a:off x="6400800" y="2199059"/>
            <a:ext cx="5239512" cy="2414163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400800" y="553212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Error rates against threshold on LFW: 0.40 gives 1.3% false rejects and 0 false accepts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26" name="Threshold sweep chart" descr="Threshold sweep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242" y="2209800"/>
            <a:ext cx="5059865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5" name="Verdict card"/>
          <p:cNvSpPr/>
          <p:nvPr/>
        </p:nvSpPr>
        <p:spPr>
          <a:xfrm>
            <a:off x="4663440" y="1371600"/>
            <a:ext cx="6976872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892040" y="1554480"/>
            <a:ext cx="6565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Marked present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892040" y="2240280"/>
            <a:ext cx="65196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475569"/>
                </a:solidFill>
              </a:rPr>
              <a:t>Only when eligibility, geo-fence, challenge, frame consistency, identity and duplicate checks all pass is a record written (one per student per session).</a:t>
            </a:r>
            <a:endParaRPr lang="en-US" sz="1550" dirty="0"/>
          </a:p>
        </p:txBody>
      </p:sp>
      <p:sp>
        <p:nvSpPr>
          <p:cNvPr id="8" name="Partial input card"/>
          <p:cNvSpPr/>
          <p:nvPr/>
        </p:nvSpPr>
        <p:spPr>
          <a:xfrm>
            <a:off x="4663440" y="2880360"/>
            <a:ext cx="6976872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892040" y="3063240"/>
            <a:ext cx="6565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Blocked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892040" y="3749040"/>
            <a:ext cx="65196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475569"/>
                </a:solidFill>
              </a:rPr>
              <a:t>The first failing stage stops the check-in with a reason; three failed challenges lock the wizard until the student starts over.</a:t>
            </a:r>
            <a:endParaRPr lang="en-US" sz="1550" dirty="0"/>
          </a:p>
        </p:txBody>
      </p:sp>
      <p:sp>
        <p:nvSpPr>
          <p:cNvPr id="11" name="Saving card"/>
          <p:cNvSpPr/>
          <p:nvPr/>
        </p:nvSpPr>
        <p:spPr>
          <a:xfrm>
            <a:off x="4663440" y="4389120"/>
            <a:ext cx="6976872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892040" y="4572000"/>
            <a:ext cx="6565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Logged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5257800"/>
            <a:ext cx="65196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Every attempt is stored with stage, result, reason and device, and shown in the faculty verification log.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Decision flowchart" descr="Decision flow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827584"/>
            <a:ext cx="4000500" cy="36600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542925" y="43053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DFD level 1 (left) and use-case diagram (right)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9625"/>
          <a:ext cx="11094414" cy="914400"/>
        </p:xfrm>
        <a:graphic>
          <a:graphicData uri="http://schemas.openxmlformats.org/drawingml/2006/table">
            <a:tbl>
              <a:tblPr/>
              <a:tblGrid>
                <a:gridCol w="3106436"/>
                <a:gridCol w="7987978"/>
              </a:tblGrid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auth, 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PBKDF2 passwords, JWT bound to a SHA-256 device hash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geofence, liveness, face_match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haversine check, Face Mesh challenge metrics, ArcFace consistency / identity / duplicate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services, export,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eligibility, pipeline and records; 3-sheet Excel; 27 REST endpoints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DFD level 1" descr="DFD level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1123950"/>
            <a:ext cx="4953000" cy="3143250"/>
          </a:xfrm>
          <a:prstGeom prst="rect">
            <a:avLst/>
          </a:prstGeom>
        </p:spPr>
      </p:pic>
      <p:pic>
        <p:nvPicPr>
          <p:cNvPr id="27" name="Use-case diagram" descr="Use-case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841" y="1123950"/>
            <a:ext cx="4866967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2925" y="4686300"/>
          <a:ext cx="11087100" cy="914400"/>
        </p:xfrm>
        <a:graphic>
          <a:graphicData uri="http://schemas.openxmlformats.org/drawingml/2006/table">
            <a:tbl>
              <a:tblPr/>
              <a:tblGrid>
                <a:gridCol w="2217420"/>
                <a:gridCol w="5765292"/>
                <a:gridCol w="3104388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attendance_records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session, student, distance_m, challenge, liveness_score, identity_similarity, max_duplicate_similarity, face_embedding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UNIQUE(session_id, student_id)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device_bindings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user_id, device_hash, label, first/last seen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UNIQUE(user_id, device_hash)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verification_attempts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session, roll, stage, passed, reason, device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stage attempt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2925" y="4381500"/>
            <a:ext cx="11087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ER diagram, 5 tables (left) and UML class diagram (right)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ER diagram" descr="ER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87" y="1123949"/>
            <a:ext cx="3916325" cy="3238500"/>
          </a:xfrm>
          <a:prstGeom prst="rect">
            <a:avLst/>
          </a:prstGeom>
        </p:spPr>
      </p:pic>
      <p:pic>
        <p:nvPicPr>
          <p:cNvPr id="27" name="UML class diagram" descr="UML class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512" y="1123950"/>
            <a:ext cx="43180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Language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Langu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Language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Python 3.11, JavaScript (ES modules, JSX)</a:t>
            </a:r>
            <a:endParaRPr lang="en-US" sz="1500" dirty="0"/>
          </a:p>
        </p:txBody>
      </p:sp>
      <p:sp>
        <p:nvSpPr>
          <p:cNvPr id="9" name="Deep learning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1" name="Image 1" descr="Deep le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Computer vision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MediaPipe 0.10.21, InsightFace 2.0 (ONNX Runtime), OpenCV 4.10, NumPy</a:t>
            </a:r>
            <a:endParaRPr lang="en-US" sz="1500" dirty="0"/>
          </a:p>
        </p:txBody>
      </p:sp>
      <p:sp>
        <p:nvSpPr>
          <p:cNvPr id="14" name="Data / NLP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6" name="Image 2" descr="Data / NL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Frontend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React 19, Vite 8, React Router, Leaflet, Recharts, Framer Motion, GSAP</a:t>
            </a:r>
            <a:endParaRPr lang="en-US" sz="1500" dirty="0"/>
          </a:p>
        </p:txBody>
      </p:sp>
      <p:sp>
        <p:nvSpPr>
          <p:cNvPr id="19" name="Backend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1" name="Image 3" descr="Backe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Backend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FastAPI, Pydantic, SQLAlchemy 2, PyJWT, Streamlit (original UI)</a:t>
            </a:r>
            <a:endParaRPr lang="en-US" sz="1500" dirty="0"/>
          </a:p>
        </p:txBody>
      </p:sp>
      <p:sp>
        <p:nvSpPr>
          <p:cNvPr id="24" name="Frontend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26" name="Image 4" descr="Fronte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Storage and reports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SQLite, pandas + openpyxl (Excel), qrcode</a:t>
            </a:r>
            <a:endParaRPr lang="en-US" sz="1500" dirty="0"/>
          </a:p>
        </p:txBody>
      </p:sp>
      <p:sp>
        <p:nvSpPr>
          <p:cNvPr id="29" name="Storage / reports / tests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31" name="Image 5" descr="Storage / reports / tes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Testing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pytest (23 tests), 41-check API smoke test, Playwright captures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79" cy="914400"/>
        </p:xfrm>
        <a:graphic>
          <a:graphicData uri="http://schemas.openxmlformats.org/drawingml/2006/table">
            <a:tbl>
              <a:tblPr/>
              <a:tblGrid>
                <a:gridCol w="5848502"/>
                <a:gridCol w="1649577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with geo-fence, window, roll patterns, link and QR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sign-in bound to device; device bindings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geo-fence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live challenge (8 actions)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consistency, identity and duplicate checks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records, map, log, analytics, Excel export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tests (23 + 41 checks) and LFW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trials with volunteers, HTTPS phone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rained networks tile"/>
          <p:cNvSpPr/>
          <p:nvPr/>
        </p:nvSpPr>
        <p:spPr>
          <a:xfrm>
            <a:off x="8321040" y="13716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03920" y="15087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22503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REST endpoints</a:t>
            </a:r>
            <a:endParaRPr lang="en-US" sz="1300" dirty="0"/>
          </a:p>
        </p:txBody>
      </p:sp>
      <p:sp>
        <p:nvSpPr>
          <p:cNvPr id="8" name="served model profiles tile"/>
          <p:cNvSpPr/>
          <p:nvPr/>
        </p:nvSpPr>
        <p:spPr>
          <a:xfrm>
            <a:off x="8321040" y="29718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03920" y="31089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38505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database tables</a:t>
            </a:r>
            <a:endParaRPr lang="en-US" sz="1300" dirty="0"/>
          </a:p>
        </p:txBody>
      </p:sp>
      <p:sp>
        <p:nvSpPr>
          <p:cNvPr id="11" name="automated tests passing tile"/>
          <p:cNvSpPr/>
          <p:nvPr/>
        </p:nvSpPr>
        <p:spPr>
          <a:xfrm>
            <a:off x="8321040" y="45720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47091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+ 41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54507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pytest tests + smoke checks, all passing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threshold behaviour on LFW pairs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usion F1 (text only 0.644) tile"/>
          <p:cNvSpPr/>
          <p:nvPr/>
        </p:nvSpPr>
        <p:spPr>
          <a:xfrm>
            <a:off x="8412480" y="13716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95360" y="15087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98.7%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8595360" y="22503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same-person pairs accepted at 0.40</a:t>
            </a:r>
            <a:endParaRPr lang="en-US" sz="1300" dirty="0"/>
          </a:p>
        </p:txBody>
      </p:sp>
      <p:sp>
        <p:nvSpPr>
          <p:cNvPr id="8" name="fusion ROC-AUC (text 0.771) tile"/>
          <p:cNvSpPr/>
          <p:nvPr/>
        </p:nvSpPr>
        <p:spPr>
          <a:xfrm>
            <a:off x="8412480" y="29718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95360" y="31089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2,166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38505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different-person pairs accepted (max 0.246)</a:t>
            </a:r>
            <a:endParaRPr lang="en-US" sz="1300" dirty="0"/>
          </a:p>
        </p:txBody>
      </p:sp>
      <p:sp>
        <p:nvSpPr>
          <p:cNvPr id="11" name="fusion accuracy tile"/>
          <p:cNvSpPr/>
          <p:nvPr/>
        </p:nvSpPr>
        <p:spPr>
          <a:xfrm>
            <a:off x="8412480" y="45720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95360" y="47091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54507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ROC AUC; equal error rate 0.30%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5" name="picture frame"/>
          <p:cNvSpPr/>
          <p:nvPr/>
        </p:nvSpPr>
        <p:spPr>
          <a:xfrm>
            <a:off x="873834" y="1188720"/>
            <a:ext cx="4836012" cy="4617720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Student result: marked present, 7.7 m, liveness 1.00, identity 0.86</a:t>
            </a:r>
            <a:endParaRPr lang="en-US" sz="1100" dirty="0"/>
          </a:p>
        </p:txBody>
      </p:sp>
      <p:sp>
        <p:nvSpPr>
          <p:cNvPr id="8" name="picture frame"/>
          <p:cNvSpPr/>
          <p:nvPr/>
        </p:nvSpPr>
        <p:spPr>
          <a:xfrm>
            <a:off x="6476106" y="1188720"/>
            <a:ext cx="4878589" cy="4617720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1722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Faculty view: live session, 3 present, 7 blocked attempts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Check-in result screenshot" descr="Check-in result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4" y="1603107"/>
            <a:ext cx="4829175" cy="3766085"/>
          </a:xfrm>
          <a:prstGeom prst="rect">
            <a:avLst/>
          </a:prstGeom>
        </p:spPr>
      </p:pic>
      <p:pic>
        <p:nvPicPr>
          <p:cNvPr id="27" name="Session records screenshot" descr="Session records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6577" y="1219200"/>
            <a:ext cx="4198595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observations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120639" cy="914400"/>
        </p:xfrm>
        <a:graphic>
          <a:graphicData uri="http://schemas.openxmlformats.org/drawingml/2006/table">
            <a:tbl>
              <a:tblPr/>
              <a:tblGrid>
                <a:gridCol w="2969971"/>
                <a:gridCol w="716889"/>
                <a:gridCol w="1433779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Passwords, JWT bound to 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Haversine and geo-fence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 maths, 11 challenge cases, neutral 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logic, roll patterns, services, model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end-to-end flows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smoke test (real models)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/ 41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035040" y="141732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 forwarded link, an outside position, a static photo, another person's face and a duplicate face were each blocked at their stage.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 rotated still photo passes the tilt challenges and several photos of the victim can pass all challenges: a limitation to address.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One check-in takes about 0.56 s of server time on a CPU (median).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15.7% of LFW photos fail the single-face rule, so retakes are expected.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4" name="Small multimodal dataset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Small multimodal data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No trained model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Both AI models are pre-trained; evaluation uses a public benchmark and attack experiments.</a:t>
            </a:r>
            <a:endParaRPr lang="en-US" sz="1400" dirty="0"/>
          </a:p>
        </p:txBody>
      </p:sp>
      <p:sp>
        <p:nvSpPr>
          <p:cNvPr id="9" name="Hyperparameters unreadable in the paper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1" name="Image 1" descr="Hyperparameters unreadable in the pap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Photo spoofing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A random challenge defeats a single photo (0% pass for 7 of 8 actions) but not rotated or multiple photos.</a:t>
            </a:r>
            <a:endParaRPr lang="en-US" sz="1400" dirty="0"/>
          </a:p>
        </p:txBody>
      </p:sp>
      <p:sp>
        <p:nvSpPr>
          <p:cNvPr id="14" name="Format shortcut in GenImage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6" name="Image 2" descr="Format shortcut in Gen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Two-photo capture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Two still photos replace a video stream; simple, but weaker than continuous liveness.</a:t>
            </a:r>
            <a:endParaRPr lang="en-US" sz="1400" dirty="0"/>
          </a:p>
        </p:txBody>
      </p:sp>
      <p:sp>
        <p:nvSpPr>
          <p:cNvPr id="19" name="Unsafe links (SSRF risk)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1" name="Image 3" descr="Unsafe links (SSRF risk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Camera and GPS need HTTPS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On phones they work only over HTTPS; localhost is fine on a laptop.</a:t>
            </a:r>
            <a:endParaRPr lang="en-US" sz="1400" dirty="0"/>
          </a:p>
        </p:txBody>
      </p:sp>
      <p:sp>
        <p:nvSpPr>
          <p:cNvPr id="24" name="Webcam privacy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26" name="Image 4" descr="Webcam privac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Single-face rule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A second face above 50% of the main face width rejects the photo; 15.7% of LFW photos failed.</a:t>
            </a:r>
            <a:endParaRPr lang="en-US" sz="1400" dirty="0"/>
          </a:p>
        </p:txBody>
      </p:sp>
      <p:sp>
        <p:nvSpPr>
          <p:cNvPr id="29" name="TensorFlow start-up time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31" name="Image 5" descr="TensorFlow start-up tim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Duplicate enrolment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A proxy enrolled with the same face passes identity, and is caught by the duplicate check.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Camera trials with volunteers</a:t>
            </a:r>
            <a:endParaRPr lang="en-US" sz="1600" dirty="0"/>
          </a:p>
        </p:txBody>
      </p:sp>
      <p:sp>
        <p:nvSpPr>
          <p:cNvPr id="6" name="arrow"/>
          <p:cNvSpPr/>
          <p:nvPr/>
        </p:nvSpPr>
        <p:spPr>
          <a:xfrm>
            <a:off x="3127934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3402254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5406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Phone test over HTTPS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5981548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flow step 3"/>
          <p:cNvSpPr/>
          <p:nvPr/>
        </p:nvSpPr>
        <p:spPr>
          <a:xfrm>
            <a:off x="6255868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29020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report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8835161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flow step 4"/>
          <p:cNvSpPr/>
          <p:nvPr/>
        </p:nvSpPr>
        <p:spPr>
          <a:xfrm>
            <a:off x="9109481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82633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presentation and demo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56616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Collect real selfie captures to measure the genuine pass rate of each challenge and the retake rate.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Test on phones over HTTPS with real GPS and measure drift indoors.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Strengthen liveness: reject rotated photos, add texture or depth cues, time-limit the two photos.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Document every diagram, test and result in the report.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dden Risk">
  <a:themeElements>
    <a:clrScheme name="Hidden Risk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Hidden 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Attendance Magic: Review 2</dc:title>
  <dc:subject>A Smart Geo-Fenced Attendance System with Live Challenge Verification</dc:subject>
  <dc:creator>Batch A2</dc:creator>
  <cp:lastModifiedBy>Batch A2</cp:lastModifiedBy>
  <cp:revision>1</cp:revision>
  <dcterms:created xsi:type="dcterms:W3CDTF">2026-10-13T12:40:05Z</dcterms:created>
  <dcterms:modified xsi:type="dcterms:W3CDTF">2026-10-13T12:40:05Z</dcterms:modified>
  <cp:keywords>geo-fencing, liveness, face verification, attendance</cp:keywords>
  <cp:category/>
  <dc:description/>
  <cp:contentStatus/>
</cp:coreProperties>
</file>