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Acceptance of a still photo of the victim, by check (%)</a:t>
            </a:r>
          </a:p>
        </c:rich>
      </c:tx>
      <c:layout/>
      <c:overlay val="0"/>
    </c:title>
    <c:autoTitleDeleted val="0"/>
    <c:plotArea>
      <c:layout/>
      <c:barChart>
        <c:barDir val="col"/>
        <c:grouping val="clustered"/>
        <c:varyColors val="0"/>
        <c:ser>
          <c:idx val="0"/>
          <c:order val="0"/>
          <c:tx>
            <c:strRef>
              <c:f>Sheet1!$B$1</c:f>
              <c:strCache>
                <c:ptCount val="1"/>
                <c:pt idx="0">
                  <c:v>A photo of the right person, face match only (%)</c:v>
                </c:pt>
              </c:strCache>
            </c:strRef>
          </c:tx>
          <c:spPr>
            <a:solidFill>
              <a:srgbClr val="E4572E"/>
            </a:solidFill>
            <a:effectLst/>
          </c:spPr>
          <c:invertIfNegative val="0"/>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cat>
            <c:strRef>
              <c:f>Sheet1!$A$2:$A$9</c:f>
              <c:strCache>
                <c:ptCount val="8"/>
                <c:pt idx="0">
                  <c:v>Turn left</c:v>
                </c:pt>
                <c:pt idx="1">
                  <c:v>Turn right</c:v>
                </c:pt>
                <c:pt idx="2">
                  <c:v>Look up</c:v>
                </c:pt>
                <c:pt idx="3">
                  <c:v>Look down</c:v>
                </c:pt>
                <c:pt idx="4">
                  <c:v>Tilt left</c:v>
                </c:pt>
                <c:pt idx="5">
                  <c:v>Tilt right</c:v>
                </c:pt>
                <c:pt idx="6">
                  <c:v>Open mouth</c:v>
                </c:pt>
                <c:pt idx="7">
                  <c:v>Close eyes</c:v>
                </c:pt>
              </c:strCache>
            </c:strRef>
          </c:cat>
          <c:val>
            <c:numRef>
              <c:f>Sheet1!$B$2:$B$9</c:f>
              <c:numCache>
                <c:formatCode>0.0</c:formatCode>
                <c:ptCount val="8"/>
                <c:pt idx="0">
                  <c:v>98.7</c:v>
                </c:pt>
                <c:pt idx="1">
                  <c:v>98.7</c:v>
                </c:pt>
                <c:pt idx="2">
                  <c:v>98.7</c:v>
                </c:pt>
                <c:pt idx="3">
                  <c:v>98.7</c:v>
                </c:pt>
                <c:pt idx="4">
                  <c:v>98.7</c:v>
                </c:pt>
                <c:pt idx="5">
                  <c:v>98.7</c:v>
                </c:pt>
                <c:pt idx="6">
                  <c:v>98.7</c:v>
                </c:pt>
                <c:pt idx="7">
                  <c:v>98.7</c:v>
                </c:pt>
              </c:numCache>
            </c:numRef>
          </c:val>
        </c:ser>
        <c:ser>
          <c:idx val="1"/>
          <c:order val="1"/>
          <c:tx>
            <c:strRef>
              <c:f>Sheet1!$C$1</c:f>
              <c:strCache>
                <c:ptCount val="1"/>
                <c:pt idx="0">
                  <c:v>Same photo, with a live challenge (%)</c:v>
                </c:pt>
              </c:strCache>
            </c:strRef>
          </c:tx>
          <c:spPr>
            <a:solidFill>
              <a:srgbClr val="2F9E6D"/>
            </a:solidFill>
            <a:effectLst/>
          </c:spPr>
          <c:invertIfNegative val="0"/>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cat>
            <c:strRef>
              <c:f>Sheet1!$A$2:$A$9</c:f>
              <c:strCache>
                <c:ptCount val="8"/>
                <c:pt idx="0">
                  <c:v>Turn left</c:v>
                </c:pt>
                <c:pt idx="1">
                  <c:v>Turn right</c:v>
                </c:pt>
                <c:pt idx="2">
                  <c:v>Look up</c:v>
                </c:pt>
                <c:pt idx="3">
                  <c:v>Look down</c:v>
                </c:pt>
                <c:pt idx="4">
                  <c:v>Tilt left</c:v>
                </c:pt>
                <c:pt idx="5">
                  <c:v>Tilt right</c:v>
                </c:pt>
                <c:pt idx="6">
                  <c:v>Open mouth</c:v>
                </c:pt>
                <c:pt idx="7">
                  <c:v>Close eyes</c:v>
                </c:pt>
              </c:strCache>
            </c:strRef>
          </c:cat>
          <c:val>
            <c:numRef>
              <c:f>Sheet1!$C$2:$C$9</c:f>
              <c:numCache>
                <c:formatCode>0.0</c:formatCode>
                <c:ptCount val="8"/>
                <c:pt idx="0">
                  <c:v>0.0</c:v>
                </c:pt>
                <c:pt idx="1">
                  <c:v>0.0</c:v>
                </c:pt>
                <c:pt idx="2">
                  <c:v>0.0</c:v>
                </c:pt>
                <c:pt idx="3">
                  <c:v>0.0</c:v>
                </c:pt>
                <c:pt idx="4">
                  <c:v>0.0</c:v>
                </c:pt>
                <c:pt idx="5">
                  <c:v>0.0</c:v>
                </c:pt>
                <c:pt idx="6">
                  <c:v>0.0</c:v>
                </c:pt>
                <c:pt idx="7">
                  <c:v>8.2</c:v>
                </c:pt>
              </c:numCache>
            </c:numRef>
          </c:val>
        </c:ser>
        <c:dLbls>
          <c:numFmt formatCode="0" sourceLinked="0"/>
          <c:txPr>
            <a:bodyPr/>
            <a:lstStyle/>
            <a:p>
              <a:pPr>
                <a:defRPr b="0" i="0" strike="noStrike" sz="7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in val="0.0"/>
        </c:scaling>
        <c:delete val="0"/>
        <c:axPos val="l"/>
        <c:majorGridlines>
          <c:spPr>
            <a:ln w="9525" cap="flat">
              <a:solidFill>
                <a:srgbClr val="E2E8F0"/>
              </a:solidFill>
              <a:prstDash val="solid"/>
              <a:round/>
            </a:ln>
          </c:spPr>
        </c:majorGridlines>
        <c:title>
          <c:tx>
            <c:rich>
              <a:bodyPr/>
              <a:lstStyle/>
              <a:p>
                <a:r>
                  <a:rPr sz="1000" b="0"/>
                  <a:t>% accepted</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pPr>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1 covers problem identification and research for Attendance Magic, a geo-fenced attendance system with live challenge verification.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parts: abstract, base paper, literature, existing approaches, the gap, problem statement and objectives, the approach, expected outcomes and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in one slide: the weakness of existing attendance, the three combined checks, and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automates attendance with Haar plus LBPH face recognition. It is a useful baseline for identity, and silent about spoofing and location.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the abstracts of [3] and [5] could be read, and [2] and [4] could not be retrieved, so we do not claim their methods or results beyond what is shown.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own measurement: face matching alone would admit a stolen photo; a random challenge changes that for a single photo.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attendance is done today, and where each method breaks.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taken from the project's literature survey.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is the combination of location, liveness and duplicate-identity checks within one time-bound session.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statement: inputs, outputs and the extra properties.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objectives from the project definition plus a seventh on verification.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approach: four verification stages in sequence, inside a web application.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Browser to React to FastAPI. The verification logic sits in the service layer; the AI models run locally on CPU.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are stated as targets here and are measured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[1] to [8]; the full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Attendance Magic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Attendance Magic</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 Smart Geo-Fenced Attendance System with Live Challenge Verification</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A.GREESHMA  23K91A6706</a:t>
            </a:r>
            <a:endParaRPr lang="en-US" sz="1500" dirty="0"/>
          </a:p>
          <a:p>
            <a:pPr indent="0" marL="0">
              <a:buNone/>
            </a:pPr>
            <a:r>
              <a:rPr lang="en-US" sz="1500" dirty="0">
                <a:solidFill>
                  <a:srgbClr val="FFFFFF"/>
                </a:solidFill>
              </a:rPr>
              <a:t>B.VINAY  23K91A6740</a:t>
            </a:r>
            <a:endParaRPr lang="en-US" sz="1500" dirty="0"/>
          </a:p>
          <a:p>
            <a:pPr indent="0" marL="0">
              <a:buNone/>
            </a:pPr>
            <a:r>
              <a:rPr lang="en-US" sz="1500" dirty="0">
                <a:solidFill>
                  <a:srgbClr val="FFFFFF"/>
                </a:solidFill>
              </a:rPr>
              <a:t>G.SRIRAM  23K91A6757</a:t>
            </a:r>
            <a:endParaRPr lang="en-US" sz="1500" dirty="0"/>
          </a:p>
          <a:p>
            <a:pPr indent="0" marL="0">
              <a:buNone/>
            </a:pPr>
            <a:r>
              <a:rPr lang="en-US" sz="1500" dirty="0">
                <a:solidFill>
                  <a:srgbClr val="FFFFFF"/>
                </a:solidFill>
              </a:rPr>
              <a:t>B.SAI KUMAR  24K95A6704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TKR College of Engineering and Technology  ·  Batch A2 (CSE-DS,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417320"/>
            <a:ext cx="3566160" cy="1325880"/>
          </a:xfrm>
          <a:prstGeom prst="roundRect">
            <a:avLst>
              <a:gd name="adj" fmla="val 5517"/>
            </a:avLst>
          </a:prstGeom>
          <a:solidFill>
            <a:srgbClr val="F6F8FB"/>
          </a:solidFill>
          <a:ln w="9525">
            <a:solidFill>
              <a:srgbClr val="D5DCE6"/>
            </a:solidFill>
            <a:prstDash val="solid"/>
          </a:ln>
        </p:spPr>
      </p:sp>
      <p:sp>
        <p:nvSpPr>
          <p:cNvPr id="5" name="Text 2"/>
          <p:cNvSpPr txBox="1"/>
          <p:nvPr/>
        </p:nvSpPr>
        <p:spPr>
          <a:xfrm>
            <a:off x="77724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01</a:t>
            </a:r>
            <a:endParaRPr lang="en-US" sz="2400" dirty="0"/>
          </a:p>
        </p:txBody>
      </p:sp>
      <p:sp>
        <p:nvSpPr>
          <p:cNvPr id="6" name="Text 3"/>
          <p:cNvSpPr txBox="1"/>
          <p:nvPr/>
        </p:nvSpPr>
        <p:spPr>
          <a:xfrm>
            <a:off x="77724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Abstract and overview</a:t>
            </a:r>
            <a:endParaRPr lang="en-US" sz="1600" dirty="0"/>
          </a:p>
        </p:txBody>
      </p:sp>
      <p:sp>
        <p:nvSpPr>
          <p:cNvPr id="7" name="agenda 2"/>
          <p:cNvSpPr/>
          <p:nvPr/>
        </p:nvSpPr>
        <p:spPr>
          <a:xfrm>
            <a:off x="4297680" y="1417320"/>
            <a:ext cx="3566160" cy="1325880"/>
          </a:xfrm>
          <a:prstGeom prst="roundRect">
            <a:avLst>
              <a:gd name="adj" fmla="val 5517"/>
            </a:avLst>
          </a:prstGeom>
          <a:solidFill>
            <a:srgbClr val="F6F8FB"/>
          </a:solidFill>
          <a:ln w="9525">
            <a:solidFill>
              <a:srgbClr val="D5DCE6"/>
            </a:solidFill>
            <a:prstDash val="solid"/>
          </a:ln>
        </p:spPr>
      </p:sp>
      <p:sp>
        <p:nvSpPr>
          <p:cNvPr id="8" name="Text 5"/>
          <p:cNvSpPr txBox="1"/>
          <p:nvPr/>
        </p:nvSpPr>
        <p:spPr>
          <a:xfrm>
            <a:off x="452628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02</a:t>
            </a:r>
            <a:endParaRPr lang="en-US" sz="2400" dirty="0"/>
          </a:p>
        </p:txBody>
      </p:sp>
      <p:sp>
        <p:nvSpPr>
          <p:cNvPr id="9" name="Text 6"/>
          <p:cNvSpPr txBox="1"/>
          <p:nvPr/>
        </p:nvSpPr>
        <p:spPr>
          <a:xfrm>
            <a:off x="452628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Base paper</a:t>
            </a:r>
            <a:endParaRPr lang="en-US" sz="1600" dirty="0"/>
          </a:p>
        </p:txBody>
      </p:sp>
      <p:sp>
        <p:nvSpPr>
          <p:cNvPr id="10" name="agenda 3"/>
          <p:cNvSpPr/>
          <p:nvPr/>
        </p:nvSpPr>
        <p:spPr>
          <a:xfrm>
            <a:off x="8046720" y="1417320"/>
            <a:ext cx="3566160" cy="1325880"/>
          </a:xfrm>
          <a:prstGeom prst="roundRect">
            <a:avLst>
              <a:gd name="adj" fmla="val 5517"/>
            </a:avLst>
          </a:prstGeom>
          <a:solidFill>
            <a:srgbClr val="F6F8FB"/>
          </a:solidFill>
          <a:ln w="9525">
            <a:solidFill>
              <a:srgbClr val="D5DCE6"/>
            </a:solidFill>
            <a:prstDash val="solid"/>
          </a:ln>
        </p:spPr>
      </p:sp>
      <p:sp>
        <p:nvSpPr>
          <p:cNvPr id="11" name="Text 8"/>
          <p:cNvSpPr txBox="1"/>
          <p:nvPr/>
        </p:nvSpPr>
        <p:spPr>
          <a:xfrm>
            <a:off x="827532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03</a:t>
            </a:r>
            <a:endParaRPr lang="en-US" sz="2400" dirty="0"/>
          </a:p>
        </p:txBody>
      </p:sp>
      <p:sp>
        <p:nvSpPr>
          <p:cNvPr id="12" name="Text 9"/>
          <p:cNvSpPr txBox="1"/>
          <p:nvPr/>
        </p:nvSpPr>
        <p:spPr>
          <a:xfrm>
            <a:off x="827532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Literature survey</a:t>
            </a:r>
            <a:endParaRPr lang="en-US" sz="1600" dirty="0"/>
          </a:p>
        </p:txBody>
      </p:sp>
      <p:sp>
        <p:nvSpPr>
          <p:cNvPr id="13" name="agenda 4"/>
          <p:cNvSpPr/>
          <p:nvPr/>
        </p:nvSpPr>
        <p:spPr>
          <a:xfrm>
            <a:off x="548640" y="2971800"/>
            <a:ext cx="3566160" cy="1325880"/>
          </a:xfrm>
          <a:prstGeom prst="roundRect">
            <a:avLst>
              <a:gd name="adj" fmla="val 5517"/>
            </a:avLst>
          </a:prstGeom>
          <a:solidFill>
            <a:srgbClr val="F6F8FB"/>
          </a:solidFill>
          <a:ln w="9525">
            <a:solidFill>
              <a:srgbClr val="D5DCE6"/>
            </a:solidFill>
            <a:prstDash val="solid"/>
          </a:ln>
        </p:spPr>
      </p:sp>
      <p:sp>
        <p:nvSpPr>
          <p:cNvPr id="14" name="Text 11"/>
          <p:cNvSpPr txBox="1"/>
          <p:nvPr/>
        </p:nvSpPr>
        <p:spPr>
          <a:xfrm>
            <a:off x="77724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04</a:t>
            </a:r>
            <a:endParaRPr lang="en-US" sz="2400" dirty="0"/>
          </a:p>
        </p:txBody>
      </p:sp>
      <p:sp>
        <p:nvSpPr>
          <p:cNvPr id="15" name="Text 12"/>
          <p:cNvSpPr txBox="1"/>
          <p:nvPr/>
        </p:nvSpPr>
        <p:spPr>
          <a:xfrm>
            <a:off x="77724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Existing approaches and limitations</a:t>
            </a:r>
            <a:endParaRPr lang="en-US" sz="1600" dirty="0"/>
          </a:p>
        </p:txBody>
      </p:sp>
      <p:sp>
        <p:nvSpPr>
          <p:cNvPr id="16" name="agenda 5"/>
          <p:cNvSpPr/>
          <p:nvPr/>
        </p:nvSpPr>
        <p:spPr>
          <a:xfrm>
            <a:off x="4297680" y="2971800"/>
            <a:ext cx="3566160" cy="1325880"/>
          </a:xfrm>
          <a:prstGeom prst="roundRect">
            <a:avLst>
              <a:gd name="adj" fmla="val 5517"/>
            </a:avLst>
          </a:prstGeom>
          <a:solidFill>
            <a:srgbClr val="F6F8FB"/>
          </a:solidFill>
          <a:ln w="9525">
            <a:solidFill>
              <a:srgbClr val="D5DCE6"/>
            </a:solidFill>
            <a:prstDash val="solid"/>
          </a:ln>
        </p:spPr>
      </p:sp>
      <p:sp>
        <p:nvSpPr>
          <p:cNvPr id="17" name="Text 14"/>
          <p:cNvSpPr txBox="1"/>
          <p:nvPr/>
        </p:nvSpPr>
        <p:spPr>
          <a:xfrm>
            <a:off x="452628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05</a:t>
            </a:r>
            <a:endParaRPr lang="en-US" sz="2400" dirty="0"/>
          </a:p>
        </p:txBody>
      </p:sp>
      <p:sp>
        <p:nvSpPr>
          <p:cNvPr id="18" name="Text 15"/>
          <p:cNvSpPr txBox="1"/>
          <p:nvPr/>
        </p:nvSpPr>
        <p:spPr>
          <a:xfrm>
            <a:off x="452628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Research gap</a:t>
            </a:r>
            <a:endParaRPr lang="en-US" sz="1600" dirty="0"/>
          </a:p>
        </p:txBody>
      </p:sp>
      <p:sp>
        <p:nvSpPr>
          <p:cNvPr id="19" name="agenda 6"/>
          <p:cNvSpPr/>
          <p:nvPr/>
        </p:nvSpPr>
        <p:spPr>
          <a:xfrm>
            <a:off x="8046720" y="2971800"/>
            <a:ext cx="3566160" cy="1325880"/>
          </a:xfrm>
          <a:prstGeom prst="roundRect">
            <a:avLst>
              <a:gd name="adj" fmla="val 5517"/>
            </a:avLst>
          </a:prstGeom>
          <a:solidFill>
            <a:srgbClr val="F6F8FB"/>
          </a:solidFill>
          <a:ln w="9525">
            <a:solidFill>
              <a:srgbClr val="D5DCE6"/>
            </a:solidFill>
            <a:prstDash val="solid"/>
          </a:ln>
        </p:spPr>
      </p:sp>
      <p:sp>
        <p:nvSpPr>
          <p:cNvPr id="20" name="Text 17"/>
          <p:cNvSpPr txBox="1"/>
          <p:nvPr/>
        </p:nvSpPr>
        <p:spPr>
          <a:xfrm>
            <a:off x="827532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06</a:t>
            </a:r>
            <a:endParaRPr lang="en-US" sz="2400" dirty="0"/>
          </a:p>
        </p:txBody>
      </p:sp>
      <p:sp>
        <p:nvSpPr>
          <p:cNvPr id="21" name="Text 18"/>
          <p:cNvSpPr txBox="1"/>
          <p:nvPr/>
        </p:nvSpPr>
        <p:spPr>
          <a:xfrm>
            <a:off x="827532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Problem statement and objectives</a:t>
            </a:r>
            <a:endParaRPr lang="en-US" sz="1600" dirty="0"/>
          </a:p>
        </p:txBody>
      </p:sp>
      <p:sp>
        <p:nvSpPr>
          <p:cNvPr id="22" name="agenda 7"/>
          <p:cNvSpPr/>
          <p:nvPr/>
        </p:nvSpPr>
        <p:spPr>
          <a:xfrm>
            <a:off x="548640" y="4526280"/>
            <a:ext cx="3566160" cy="1325880"/>
          </a:xfrm>
          <a:prstGeom prst="roundRect">
            <a:avLst>
              <a:gd name="adj" fmla="val 5517"/>
            </a:avLst>
          </a:prstGeom>
          <a:solidFill>
            <a:srgbClr val="F6F8FB"/>
          </a:solidFill>
          <a:ln w="9525">
            <a:solidFill>
              <a:srgbClr val="D5DCE6"/>
            </a:solidFill>
            <a:prstDash val="solid"/>
          </a:ln>
        </p:spPr>
      </p:sp>
      <p:sp>
        <p:nvSpPr>
          <p:cNvPr id="23" name="Text 20"/>
          <p:cNvSpPr txBox="1"/>
          <p:nvPr/>
        </p:nvSpPr>
        <p:spPr>
          <a:xfrm>
            <a:off x="77724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07</a:t>
            </a:r>
            <a:endParaRPr lang="en-US" sz="2400" dirty="0"/>
          </a:p>
        </p:txBody>
      </p:sp>
      <p:sp>
        <p:nvSpPr>
          <p:cNvPr id="24" name="Text 21"/>
          <p:cNvSpPr txBox="1"/>
          <p:nvPr/>
        </p:nvSpPr>
        <p:spPr>
          <a:xfrm>
            <a:off x="77724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Proposed approach and architecture</a:t>
            </a:r>
            <a:endParaRPr lang="en-US" sz="1600" dirty="0"/>
          </a:p>
        </p:txBody>
      </p:sp>
      <p:sp>
        <p:nvSpPr>
          <p:cNvPr id="25" name="agenda 8"/>
          <p:cNvSpPr/>
          <p:nvPr/>
        </p:nvSpPr>
        <p:spPr>
          <a:xfrm>
            <a:off x="4297680" y="4526280"/>
            <a:ext cx="3566160" cy="1325880"/>
          </a:xfrm>
          <a:prstGeom prst="roundRect">
            <a:avLst>
              <a:gd name="adj" fmla="val 5517"/>
            </a:avLst>
          </a:prstGeom>
          <a:solidFill>
            <a:srgbClr val="F6F8FB"/>
          </a:solidFill>
          <a:ln w="9525">
            <a:solidFill>
              <a:srgbClr val="D5DCE6"/>
            </a:solidFill>
            <a:prstDash val="solid"/>
          </a:ln>
        </p:spPr>
      </p:sp>
      <p:sp>
        <p:nvSpPr>
          <p:cNvPr id="26" name="Text 23"/>
          <p:cNvSpPr txBox="1"/>
          <p:nvPr/>
        </p:nvSpPr>
        <p:spPr>
          <a:xfrm>
            <a:off x="452628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08</a:t>
            </a:r>
            <a:endParaRPr lang="en-US" sz="2400" dirty="0"/>
          </a:p>
        </p:txBody>
      </p:sp>
      <p:sp>
        <p:nvSpPr>
          <p:cNvPr id="27" name="Text 24"/>
          <p:cNvSpPr txBox="1"/>
          <p:nvPr/>
        </p:nvSpPr>
        <p:spPr>
          <a:xfrm>
            <a:off x="452628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Expected outcomes</a:t>
            </a:r>
            <a:endParaRPr lang="en-US" sz="1600" dirty="0"/>
          </a:p>
        </p:txBody>
      </p:sp>
      <p:sp>
        <p:nvSpPr>
          <p:cNvPr id="28" name="agenda 9"/>
          <p:cNvSpPr/>
          <p:nvPr/>
        </p:nvSpPr>
        <p:spPr>
          <a:xfrm>
            <a:off x="8046720" y="4526280"/>
            <a:ext cx="3566160" cy="1325880"/>
          </a:xfrm>
          <a:prstGeom prst="roundRect">
            <a:avLst>
              <a:gd name="adj" fmla="val 5517"/>
            </a:avLst>
          </a:prstGeom>
          <a:solidFill>
            <a:srgbClr val="F6F8FB"/>
          </a:solidFill>
          <a:ln w="9525">
            <a:solidFill>
              <a:srgbClr val="D5DCE6"/>
            </a:solidFill>
            <a:prstDash val="solid"/>
          </a:ln>
        </p:spPr>
      </p:sp>
      <p:sp>
        <p:nvSpPr>
          <p:cNvPr id="29" name="Text 26"/>
          <p:cNvSpPr txBox="1"/>
          <p:nvPr/>
        </p:nvSpPr>
        <p:spPr>
          <a:xfrm>
            <a:off x="827532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09</a:t>
            </a:r>
            <a:endParaRPr lang="en-US" sz="2400" dirty="0"/>
          </a:p>
        </p:txBody>
      </p:sp>
      <p:sp>
        <p:nvSpPr>
          <p:cNvPr id="30" name="Text 27"/>
          <p:cNvSpPr txBox="1"/>
          <p:nvPr/>
        </p:nvSpPr>
        <p:spPr>
          <a:xfrm>
            <a:off x="827532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References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proving presence, not just identity</a:t>
            </a:r>
            <a:endParaRPr lang="en-US" sz="3200" dirty="0"/>
          </a:p>
        </p:txBody>
      </p:sp>
      <p:sp>
        <p:nvSpPr>
          <p:cNvPr id="4" name="The problem card"/>
          <p:cNvSpPr/>
          <p:nvPr/>
        </p:nvSpPr>
        <p:spPr>
          <a:xfrm>
            <a:off x="548640" y="1371600"/>
            <a:ext cx="3566160" cy="4206240"/>
          </a:xfrm>
          <a:prstGeom prst="roundRect">
            <a:avLst>
              <a:gd name="adj" fmla="val 2051"/>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The problem">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problem</a:t>
            </a:r>
            <a:endParaRPr lang="en-US" sz="1600" dirty="0"/>
          </a:p>
        </p:txBody>
      </p:sp>
      <p:sp>
        <p:nvSpPr>
          <p:cNvPr id="8" name="Text 4"/>
          <p:cNvSpPr txBox="1"/>
          <p:nvPr/>
        </p:nvSpPr>
        <p:spPr>
          <a:xfrm>
            <a:off x="77724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Attendance is recorded every class, yet roll calls cost class time and are error-prone, and shared QR codes or links can be forwarded to students who are absent. Face recognition confirms who a person is, but a photo of that person can still be shown to the camera.</a:t>
            </a:r>
            <a:endParaRPr lang="en-US" sz="1600" dirty="0"/>
          </a:p>
        </p:txBody>
      </p:sp>
      <p:sp>
        <p:nvSpPr>
          <p:cNvPr id="9" name="Our idea card"/>
          <p:cNvSpPr/>
          <p:nvPr/>
        </p:nvSpPr>
        <p:spPr>
          <a:xfrm>
            <a:off x="4297680" y="1371600"/>
            <a:ext cx="3566160" cy="4206240"/>
          </a:xfrm>
          <a:prstGeom prst="roundRect">
            <a:avLst>
              <a:gd name="adj" fmla="val 2051"/>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Our idea">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Our idea</a:t>
            </a:r>
            <a:endParaRPr lang="en-US" sz="1600" dirty="0"/>
          </a:p>
        </p:txBody>
      </p:sp>
      <p:sp>
        <p:nvSpPr>
          <p:cNvPr id="13" name="Text 8"/>
          <p:cNvSpPr txBox="1"/>
          <p:nvPr/>
        </p:nvSpPr>
        <p:spPr>
          <a:xfrm>
            <a:off x="452628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Check three things inside one time-bound session: the student is inside a geo-fence (GPS), answers a random live facial challenge (MediaPipe landmarks), and the face matches the enrolled one and no other record in the session (InsightFace embeddings).</a:t>
            </a:r>
            <a:endParaRPr lang="en-US" sz="1600" dirty="0"/>
          </a:p>
        </p:txBody>
      </p:sp>
      <p:sp>
        <p:nvSpPr>
          <p:cNvPr id="14" name="The deliverable card"/>
          <p:cNvSpPr/>
          <p:nvPr/>
        </p:nvSpPr>
        <p:spPr>
          <a:xfrm>
            <a:off x="8046720" y="1371600"/>
            <a:ext cx="3566160" cy="4206240"/>
          </a:xfrm>
          <a:prstGeom prst="roundRect">
            <a:avLst>
              <a:gd name="adj" fmla="val 2051"/>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sp>
      <p:pic>
        <p:nvPicPr>
          <p:cNvPr id="16" name="Image 2" descr="The deliverable">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deliverable</a:t>
            </a:r>
            <a:endParaRPr lang="en-US" sz="1600" dirty="0"/>
          </a:p>
        </p:txBody>
      </p:sp>
      <p:sp>
        <p:nvSpPr>
          <p:cNvPr id="18" name="Text 12"/>
          <p:cNvSpPr txBox="1"/>
          <p:nvPr/>
        </p:nvSpPr>
        <p:spPr>
          <a:xfrm>
            <a:off x="827532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web application: faculty create sessions and share a link or QR code; students sign in with a device-bound JWT and check in from a phone; faculty see records, a map and a verification log, and export to Excel.</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4" name="citation box"/>
          <p:cNvSpPr/>
          <p:nvPr/>
        </p:nvSpPr>
        <p:spPr>
          <a:xfrm>
            <a:off x="548640" y="1325880"/>
            <a:ext cx="11094415" cy="960120"/>
          </a:xfrm>
          <a:prstGeom prst="roundRect">
            <a:avLst>
              <a:gd name="adj" fmla="val 5714"/>
            </a:avLst>
          </a:prstGeom>
          <a:solidFill>
            <a:srgbClr val="EEF2F7"/>
          </a:solidFill>
          <a:ln w="12700">
            <a:solidFill>
              <a:srgbClr val="EEF2F7"/>
            </a:solidFill>
            <a:prstDash val="solid"/>
          </a:ln>
        </p:spPr>
      </p:sp>
      <p:sp>
        <p:nvSpPr>
          <p:cNvPr id="5" name="Text 2"/>
          <p:cNvSpPr txBox="1"/>
          <p:nvPr/>
        </p:nvSpPr>
        <p:spPr>
          <a:xfrm>
            <a:off x="777240" y="1371600"/>
            <a:ext cx="10637215" cy="868680"/>
          </a:xfrm>
          <a:prstGeom prst="rect">
            <a:avLst/>
          </a:prstGeom>
          <a:noFill/>
          <a:ln/>
        </p:spPr>
        <p:txBody>
          <a:bodyPr wrap="square" lIns="0" tIns="0" rIns="0" bIns="0" rtlCol="0" anchor="ctr"/>
          <a:lstStyle/>
          <a:p>
            <a:pPr indent="0" marL="0">
              <a:buNone/>
            </a:pPr>
            <a:r>
              <a:rPr lang="en-US" sz="1300" i="1" dirty="0">
                <a:solidFill>
                  <a:srgbClr val="0F172A"/>
                </a:solidFill>
              </a:rPr>
              <a:t>K. B. Dharmaraj, C. N. Dhanushree, H. V. Revanth, N. Shashank and P. M. Tejaswini, "Real-Time Student Face Recognition Attendance System Using AI," International Advanced Research Journal in Science, Engineering and Technology (IARJSET), vol. 12, no. 5, pp. 1067-1072, May 2025, doi: 10.17148/IARJSET.2025.125183.</a:t>
            </a:r>
            <a:endParaRPr lang="en-US" sz="1300" dirty="0"/>
          </a:p>
        </p:txBody>
      </p:sp>
      <p:sp>
        <p:nvSpPr>
          <p:cNvPr id="6" name="Method card"/>
          <p:cNvSpPr/>
          <p:nvPr/>
        </p:nvSpPr>
        <p:spPr>
          <a:xfrm>
            <a:off x="548640" y="2514600"/>
            <a:ext cx="3566160" cy="3246120"/>
          </a:xfrm>
          <a:prstGeom prst="roundRect">
            <a:avLst>
              <a:gd name="adj" fmla="val 2254"/>
            </a:avLst>
          </a:prstGeom>
          <a:solidFill>
            <a:srgbClr val="F6F8FB"/>
          </a:solidFill>
          <a:ln w="9525">
            <a:solidFill>
              <a:srgbClr val="D5DCE6"/>
            </a:solidFill>
            <a:prstDash val="solid"/>
          </a:ln>
        </p:spPr>
      </p:sp>
      <p:sp>
        <p:nvSpPr>
          <p:cNvPr id="7" name="Text 4"/>
          <p:cNvSpPr txBox="1"/>
          <p:nvPr/>
        </p:nvSpPr>
        <p:spPr>
          <a:xfrm>
            <a:off x="77724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Method</a:t>
            </a:r>
            <a:endParaRPr lang="en-US" sz="1600" dirty="0"/>
          </a:p>
        </p:txBody>
      </p:sp>
      <p:sp>
        <p:nvSpPr>
          <p:cNvPr id="8" name="Text 5"/>
          <p:cNvSpPr txBox="1"/>
          <p:nvPr/>
        </p:nvSpPr>
        <p:spPr>
          <a:xfrm>
            <a:off x="77724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A Python desktop application with a Tkinter interface. A webcam captures about 25 to 30 images per student; a Haar cascade detects faces and an LBPH recogniser matches them. Attendance goes to subject-wise CSV files, with manual entry and spoken feedback.</a:t>
            </a:r>
            <a:endParaRPr lang="en-US" sz="1500" dirty="0"/>
          </a:p>
        </p:txBody>
      </p:sp>
      <p:sp>
        <p:nvSpPr>
          <p:cNvPr id="9" name="Data and reported results card"/>
          <p:cNvSpPr/>
          <p:nvPr/>
        </p:nvSpPr>
        <p:spPr>
          <a:xfrm>
            <a:off x="4297680" y="2514600"/>
            <a:ext cx="3566160" cy="3246120"/>
          </a:xfrm>
          <a:prstGeom prst="roundRect">
            <a:avLst>
              <a:gd name="adj" fmla="val 2254"/>
            </a:avLst>
          </a:prstGeom>
          <a:solidFill>
            <a:srgbClr val="F6F8FB"/>
          </a:solidFill>
          <a:ln w="9525">
            <a:solidFill>
              <a:srgbClr val="D5DCE6"/>
            </a:solidFill>
            <a:prstDash val="solid"/>
          </a:ln>
        </p:spPr>
      </p:sp>
      <p:sp>
        <p:nvSpPr>
          <p:cNvPr id="10" name="Text 7"/>
          <p:cNvSpPr txBox="1"/>
          <p:nvPr/>
        </p:nvSpPr>
        <p:spPr>
          <a:xfrm>
            <a:off x="452628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Data and reported results</a:t>
            </a:r>
            <a:endParaRPr lang="en-US" sz="1600" dirty="0"/>
          </a:p>
        </p:txBody>
      </p:sp>
      <p:sp>
        <p:nvSpPr>
          <p:cNvPr id="11" name="Text 8"/>
          <p:cNvSpPr txBox="1"/>
          <p:nvPr/>
        </p:nvSpPr>
        <p:spPr>
          <a:xfrm>
            <a:off x="452628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Tested in classroom simulations with a small group. Reported: about 92 to 95% recognition under good frontal light, 5 to 8% false negatives, 0% false positives, under 2 s per face. No dataset size or protocol is given.</a:t>
            </a:r>
            <a:endParaRPr lang="en-US" sz="1500" dirty="0"/>
          </a:p>
        </p:txBody>
      </p:sp>
      <p:sp>
        <p:nvSpPr>
          <p:cNvPr id="12" name="Limitations stated by the authors card"/>
          <p:cNvSpPr/>
          <p:nvPr/>
        </p:nvSpPr>
        <p:spPr>
          <a:xfrm>
            <a:off x="8046720" y="2514600"/>
            <a:ext cx="3566160" cy="3246120"/>
          </a:xfrm>
          <a:prstGeom prst="roundRect">
            <a:avLst>
              <a:gd name="adj" fmla="val 2254"/>
            </a:avLst>
          </a:prstGeom>
          <a:solidFill>
            <a:srgbClr val="FDF1EC"/>
          </a:solidFill>
          <a:ln w="9525">
            <a:solidFill>
              <a:srgbClr val="D5DCE6"/>
            </a:solidFill>
            <a:prstDash val="solid"/>
          </a:ln>
        </p:spPr>
      </p:sp>
      <p:sp>
        <p:nvSpPr>
          <p:cNvPr id="13" name="Text 10"/>
          <p:cNvSpPr txBox="1"/>
          <p:nvPr/>
        </p:nvSpPr>
        <p:spPr>
          <a:xfrm>
            <a:off x="827532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Limits and future work</a:t>
            </a:r>
            <a:endParaRPr lang="en-US" sz="1600" dirty="0"/>
          </a:p>
        </p:txBody>
      </p:sp>
      <p:sp>
        <p:nvSpPr>
          <p:cNvPr id="14" name="Text 11"/>
          <p:cNvSpPr txBox="1"/>
          <p:nvPr/>
        </p:nvSpPr>
        <p:spPr>
          <a:xfrm>
            <a:off x="827532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Our reading: identity only, in a classroom where the camera is. No liveness, no location, no duplicate-identity check, no session window, and accuracy falls with poor light or angled faces. Future work is not stated in the paper.</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3566160"/>
                <a:gridCol w="2194560"/>
                <a:gridCol w="2407615"/>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Dharmaraj et al., 2025 (base) [1]</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Haar cascade + LBPH face recognition, Tkinter GUI, CSV logs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Classroom simulations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About 92-95% recognition; 0% false positives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Shandilya and Shah, 2026 [3]</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ArcFace (DeepFace), LBP texture, EAR blink, HSV dress-code check; FastAPI + Streamlit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read beyond abstract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96.2% recognition; 97.1% liveness; 92.4% dress code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Salam et al., 2025 [5]</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Silent-face anti-spoofing: CNN + Fourier transform; Raspberry Pi 4</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Different light and distance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Figures not read (abstract only)</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Classroom system, 2026 [4]</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ResNet101 anti-spoofing + ArcFace (title)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Review, 2026 [2]</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Review of recognition, liveness and dress-code techniques (title)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Works surveyed in [1]</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LBPH, CNN+SVM/KNN, VGG16/ResNet transfer, FaceNet+MTCNN</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Various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Over 99% (controlled light); falls with poor light, masks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a matching photo passes face recognition alone</a:t>
            </a:r>
            <a:endParaRPr lang="en-US" sz="3200" dirty="0"/>
          </a:p>
        </p:txBody>
      </p:sp>
      <p:graphicFrame>
        <p:nvGraphicFramePr>
          <p:cNvPr id="4" name="Chart 0"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Takeaway card"/>
          <p:cNvSpPr/>
          <p:nvPr/>
        </p:nvSpPr>
        <p:spPr>
          <a:xfrm>
            <a:off x="7589520" y="1371600"/>
            <a:ext cx="4050792" cy="2103120"/>
          </a:xfrm>
          <a:prstGeom prst="roundRect">
            <a:avLst>
              <a:gd name="adj" fmla="val 3478"/>
            </a:avLst>
          </a:prstGeom>
          <a:solidFill>
            <a:srgbClr val="F6F8FB"/>
          </a:solidFill>
          <a:ln w="9525">
            <a:solidFill>
              <a:srgbClr val="D5DCE6"/>
            </a:solidFill>
            <a:prstDash val="solid"/>
          </a:ln>
        </p:spPr>
      </p:sp>
      <p:sp>
        <p:nvSpPr>
          <p:cNvPr id="6" name="icon circle"/>
          <p:cNvSpPr/>
          <p:nvPr/>
        </p:nvSpPr>
        <p:spPr>
          <a:xfrm>
            <a:off x="7818120" y="1600200"/>
            <a:ext cx="548640" cy="548640"/>
          </a:xfrm>
          <a:prstGeom prst="ellipse">
            <a:avLst/>
          </a:prstGeom>
          <a:solidFill>
            <a:srgbClr val="1BAF7A"/>
          </a:solidFill>
          <a:ln w="12700">
            <a:solidFill>
              <a:srgbClr val="1BAF7A"/>
            </a:solidFill>
            <a:prstDash val="solid"/>
          </a:ln>
        </p:spPr>
      </p:sp>
      <p:pic>
        <p:nvPicPr>
          <p:cNvPr id="7" name="Image 0" descr="Takeaway">    </p:cNvPr>
          <p:cNvPicPr>
            <a:picLocks noChangeAspect="1"/>
          </p:cNvPicPr>
          <p:nvPr/>
        </p:nvPicPr>
        <p:blipFill>
          <a:blip r:embed="rId2"/>
          <a:stretch>
            <a:fillRect/>
          </a:stretch>
        </p:blipFill>
        <p:spPr>
          <a:xfrm>
            <a:off x="7927848" y="1709928"/>
            <a:ext cx="329184" cy="329184"/>
          </a:xfrm>
          <a:prstGeom prst="rect">
            <a:avLst/>
          </a:prstGeom>
        </p:spPr>
      </p:pic>
      <p:sp>
        <p:nvSpPr>
          <p:cNvPr id="8" name="Text 3"/>
          <p:cNvSpPr txBox="1"/>
          <p:nvPr/>
        </p:nvSpPr>
        <p:spPr>
          <a:xfrm>
            <a:off x="8503920" y="1554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Takeaway</a:t>
            </a:r>
            <a:endParaRPr lang="en-US" sz="1600" dirty="0"/>
          </a:p>
        </p:txBody>
      </p:sp>
      <p:sp>
        <p:nvSpPr>
          <p:cNvPr id="9" name="Text 4"/>
          <p:cNvSpPr txBox="1"/>
          <p:nvPr/>
        </p:nvSpPr>
        <p:spPr>
          <a:xfrm>
            <a:off x="7818120" y="2240280"/>
            <a:ext cx="3593592" cy="1097280"/>
          </a:xfrm>
          <a:prstGeom prst="rect">
            <a:avLst/>
          </a:prstGeom>
          <a:noFill/>
          <a:ln/>
        </p:spPr>
        <p:txBody>
          <a:bodyPr wrap="square" lIns="0" tIns="0" rIns="0" bIns="0" rtlCol="0" anchor="t"/>
          <a:lstStyle/>
          <a:p>
            <a:pPr indent="0" marL="0">
              <a:spcAft>
                <a:spcPts val="400"/>
              </a:spcAft>
              <a:buNone/>
            </a:pPr>
            <a:r>
              <a:rPr lang="en-US" sz="1200" dirty="0">
                <a:solidFill>
                  <a:srgbClr val="475569"/>
                </a:solidFill>
              </a:rPr>
              <a:t>At the deployed threshold (0.40) a different photo of the same person is accepted 98.7% of the time (LFW pairs). A live challenge rejects a single still photo for seven of eight actions; only 'close eyes' lets 8.2% through.</a:t>
            </a:r>
            <a:endParaRPr lang="en-US" sz="1200" dirty="0"/>
          </a:p>
        </p:txBody>
      </p:sp>
      <p:sp>
        <p:nvSpPr>
          <p:cNvPr id="10" name="Caveat card"/>
          <p:cNvSpPr/>
          <p:nvPr/>
        </p:nvSpPr>
        <p:spPr>
          <a:xfrm>
            <a:off x="7589520" y="3657600"/>
            <a:ext cx="4050792" cy="2103120"/>
          </a:xfrm>
          <a:prstGeom prst="roundRect">
            <a:avLst>
              <a:gd name="adj" fmla="val 3478"/>
            </a:avLst>
          </a:prstGeom>
          <a:solidFill>
            <a:srgbClr val="F6F8FB"/>
          </a:solidFill>
          <a:ln w="9525">
            <a:solidFill>
              <a:srgbClr val="D5DCE6"/>
            </a:solidFill>
            <a:prstDash val="solid"/>
          </a:ln>
        </p:spPr>
      </p:sp>
      <p:sp>
        <p:nvSpPr>
          <p:cNvPr id="11" name="icon circle"/>
          <p:cNvSpPr/>
          <p:nvPr/>
        </p:nvSpPr>
        <p:spPr>
          <a:xfrm>
            <a:off x="7818120" y="3886200"/>
            <a:ext cx="548640" cy="548640"/>
          </a:xfrm>
          <a:prstGeom prst="ellipse">
            <a:avLst/>
          </a:prstGeom>
          <a:solidFill>
            <a:srgbClr val="EDA100"/>
          </a:solidFill>
          <a:ln w="12700">
            <a:solidFill>
              <a:srgbClr val="EDA100"/>
            </a:solidFill>
            <a:prstDash val="solid"/>
          </a:ln>
        </p:spPr>
      </p:sp>
      <p:pic>
        <p:nvPicPr>
          <p:cNvPr id="12" name="Image 1" descr="Caveat">    </p:cNvPr>
          <p:cNvPicPr>
            <a:picLocks noChangeAspect="1"/>
          </p:cNvPicPr>
          <p:nvPr/>
        </p:nvPicPr>
        <p:blipFill>
          <a:blip r:embed="rId3"/>
          <a:stretch>
            <a:fillRect/>
          </a:stretch>
        </p:blipFill>
        <p:spPr>
          <a:xfrm>
            <a:off x="7927848" y="3995928"/>
            <a:ext cx="329184" cy="329184"/>
          </a:xfrm>
          <a:prstGeom prst="rect">
            <a:avLst/>
          </a:prstGeom>
        </p:spPr>
      </p:pic>
      <p:sp>
        <p:nvSpPr>
          <p:cNvPr id="13" name="Text 7"/>
          <p:cNvSpPr txBox="1"/>
          <p:nvPr/>
        </p:nvSpPr>
        <p:spPr>
          <a:xfrm>
            <a:off x="8503920" y="3840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Caveat</a:t>
            </a:r>
            <a:endParaRPr lang="en-US" sz="1600" dirty="0"/>
          </a:p>
        </p:txBody>
      </p:sp>
      <p:sp>
        <p:nvSpPr>
          <p:cNvPr id="14" name="Text 8"/>
          <p:cNvSpPr txBox="1"/>
          <p:nvPr/>
        </p:nvSpPr>
        <p:spPr>
          <a:xfrm>
            <a:off x="7818120" y="4526280"/>
            <a:ext cx="3593592" cy="1097280"/>
          </a:xfrm>
          <a:prstGeom prst="rect">
            <a:avLst/>
          </a:prstGeom>
          <a:noFill/>
          <a:ln/>
        </p:spPr>
        <p:txBody>
          <a:bodyPr wrap="square" lIns="0" tIns="0" rIns="0" bIns="0" rtlCol="0" anchor="t"/>
          <a:lstStyle/>
          <a:p>
            <a:pPr indent="0" marL="0">
              <a:spcAft>
                <a:spcPts val="400"/>
              </a:spcAft>
              <a:buNone/>
            </a:pPr>
            <a:r>
              <a:rPr lang="en-US" sz="1350" dirty="0">
                <a:solidFill>
                  <a:srgbClr val="475569"/>
                </a:solidFill>
              </a:rPr>
              <a:t>Measured by us on public LFW still images with our own pipeline, not on the base paper's system; no live volunteers. A rotated photo or several photos can still pass (see the later reviews).</a:t>
            </a:r>
            <a:endParaRPr lang="en-US" sz="13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4" name="flow step 1"/>
          <p:cNvSpPr/>
          <p:nvPr/>
        </p:nvSpPr>
        <p:spPr>
          <a:xfrm>
            <a:off x="548640" y="1645920"/>
            <a:ext cx="1582369" cy="1143000"/>
          </a:xfrm>
          <a:prstGeom prst="roundRect">
            <a:avLst>
              <a:gd name="adj" fmla="val 6400"/>
            </a:avLst>
          </a:prstGeom>
          <a:solidFill>
            <a:srgbClr val="1B2A41"/>
          </a:solidFill>
          <a:ln w="12700">
            <a:solidFill>
              <a:srgbClr val="1B2A41"/>
            </a:solidFill>
            <a:prstDash val="solid"/>
          </a:ln>
        </p:spPr>
      </p:sp>
      <p:sp>
        <p:nvSpPr>
          <p:cNvPr id="5" name="Text 2"/>
          <p:cNvSpPr txBox="1"/>
          <p:nvPr/>
        </p:nvSpPr>
        <p:spPr>
          <a:xfrm>
            <a:off x="621792"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Call roll / pass sheet</a:t>
            </a:r>
            <a:endParaRPr lang="en-US" sz="1400" dirty="0"/>
          </a:p>
        </p:txBody>
      </p:sp>
      <p:sp>
        <p:nvSpPr>
          <p:cNvPr id="6" name="arrow"/>
          <p:cNvSpPr/>
          <p:nvPr/>
        </p:nvSpPr>
        <p:spPr>
          <a:xfrm>
            <a:off x="2176729" y="2098548"/>
            <a:ext cx="228600" cy="237744"/>
          </a:xfrm>
          <a:prstGeom prst="rightArrow">
            <a:avLst/>
          </a:prstGeom>
          <a:solidFill>
            <a:srgbClr val="64748B"/>
          </a:solidFill>
          <a:ln w="12700">
            <a:solidFill>
              <a:srgbClr val="64748B"/>
            </a:solidFill>
            <a:prstDash val="solid"/>
          </a:ln>
        </p:spPr>
      </p:sp>
      <p:sp>
        <p:nvSpPr>
          <p:cNvPr id="7" name="flow step 2"/>
          <p:cNvSpPr/>
          <p:nvPr/>
        </p:nvSpPr>
        <p:spPr>
          <a:xfrm>
            <a:off x="2451049" y="1645920"/>
            <a:ext cx="1582369" cy="1143000"/>
          </a:xfrm>
          <a:prstGeom prst="roundRect">
            <a:avLst>
              <a:gd name="adj" fmla="val 6400"/>
            </a:avLst>
          </a:prstGeom>
          <a:solidFill>
            <a:srgbClr val="1B2A41"/>
          </a:solidFill>
          <a:ln w="12700">
            <a:solidFill>
              <a:srgbClr val="1B2A41"/>
            </a:solidFill>
            <a:prstDash val="solid"/>
          </a:ln>
        </p:spPr>
      </p:sp>
      <p:sp>
        <p:nvSpPr>
          <p:cNvPr id="8" name="Text 5"/>
          <p:cNvSpPr txBox="1"/>
          <p:nvPr/>
        </p:nvSpPr>
        <p:spPr>
          <a:xfrm>
            <a:off x="2524201"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Mark on paper</a:t>
            </a:r>
            <a:endParaRPr lang="en-US" sz="1400" dirty="0"/>
          </a:p>
        </p:txBody>
      </p:sp>
      <p:sp>
        <p:nvSpPr>
          <p:cNvPr id="9" name="arrow"/>
          <p:cNvSpPr/>
          <p:nvPr/>
        </p:nvSpPr>
        <p:spPr>
          <a:xfrm>
            <a:off x="4079138" y="209854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4353458" y="1645920"/>
            <a:ext cx="1582369" cy="1143000"/>
          </a:xfrm>
          <a:prstGeom prst="roundRect">
            <a:avLst>
              <a:gd name="adj" fmla="val 6400"/>
            </a:avLst>
          </a:prstGeom>
          <a:solidFill>
            <a:srgbClr val="1B2A41"/>
          </a:solidFill>
          <a:ln w="12700">
            <a:solidFill>
              <a:srgbClr val="1B2A41"/>
            </a:solidFill>
            <a:prstDash val="solid"/>
          </a:ln>
        </p:spPr>
      </p:sp>
      <p:sp>
        <p:nvSpPr>
          <p:cNvPr id="11" name="Text 8"/>
          <p:cNvSpPr txBox="1"/>
          <p:nvPr/>
        </p:nvSpPr>
        <p:spPr>
          <a:xfrm>
            <a:off x="442661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Type into register</a:t>
            </a:r>
            <a:endParaRPr lang="en-US" sz="1400" dirty="0"/>
          </a:p>
        </p:txBody>
      </p:sp>
      <p:sp>
        <p:nvSpPr>
          <p:cNvPr id="12" name="arrow"/>
          <p:cNvSpPr/>
          <p:nvPr/>
        </p:nvSpPr>
        <p:spPr>
          <a:xfrm>
            <a:off x="5981548" y="209854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6255868" y="1645920"/>
            <a:ext cx="1582369" cy="1143000"/>
          </a:xfrm>
          <a:prstGeom prst="roundRect">
            <a:avLst>
              <a:gd name="adj" fmla="val 6400"/>
            </a:avLst>
          </a:prstGeom>
          <a:solidFill>
            <a:srgbClr val="1B2A41"/>
          </a:solidFill>
          <a:ln w="12700">
            <a:solidFill>
              <a:srgbClr val="1B2A41"/>
            </a:solidFill>
            <a:prstDash val="solid"/>
          </a:ln>
        </p:spPr>
      </p:sp>
      <p:sp>
        <p:nvSpPr>
          <p:cNvPr id="14" name="Text 11"/>
          <p:cNvSpPr txBox="1"/>
          <p:nvPr/>
        </p:nvSpPr>
        <p:spPr>
          <a:xfrm>
            <a:off x="632902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Share QR code or link</a:t>
            </a:r>
            <a:endParaRPr lang="en-US" sz="1400" dirty="0"/>
          </a:p>
        </p:txBody>
      </p:sp>
      <p:sp>
        <p:nvSpPr>
          <p:cNvPr id="15" name="arrow"/>
          <p:cNvSpPr/>
          <p:nvPr/>
        </p:nvSpPr>
        <p:spPr>
          <a:xfrm>
            <a:off x="7883957" y="2098548"/>
            <a:ext cx="228600" cy="237744"/>
          </a:xfrm>
          <a:prstGeom prst="rightArrow">
            <a:avLst/>
          </a:prstGeom>
          <a:solidFill>
            <a:srgbClr val="64748B"/>
          </a:solidFill>
          <a:ln w="12700">
            <a:solidFill>
              <a:srgbClr val="64748B"/>
            </a:solidFill>
            <a:prstDash val="solid"/>
          </a:ln>
        </p:spPr>
      </p:sp>
      <p:sp>
        <p:nvSpPr>
          <p:cNvPr id="16" name="flow step 5"/>
          <p:cNvSpPr/>
          <p:nvPr/>
        </p:nvSpPr>
        <p:spPr>
          <a:xfrm>
            <a:off x="8158277" y="1645920"/>
            <a:ext cx="1582369" cy="1143000"/>
          </a:xfrm>
          <a:prstGeom prst="roundRect">
            <a:avLst>
              <a:gd name="adj" fmla="val 6400"/>
            </a:avLst>
          </a:prstGeom>
          <a:solidFill>
            <a:srgbClr val="1B2A41"/>
          </a:solidFill>
          <a:ln w="12700">
            <a:solidFill>
              <a:srgbClr val="1B2A41"/>
            </a:solidFill>
            <a:prstDash val="solid"/>
          </a:ln>
        </p:spPr>
      </p:sp>
      <p:sp>
        <p:nvSpPr>
          <p:cNvPr id="17" name="Text 14"/>
          <p:cNvSpPr txBox="1"/>
          <p:nvPr/>
        </p:nvSpPr>
        <p:spPr>
          <a:xfrm>
            <a:off x="8231429"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Friend marks for absentee</a:t>
            </a:r>
            <a:endParaRPr lang="en-US" sz="1400" dirty="0"/>
          </a:p>
        </p:txBody>
      </p:sp>
      <p:sp>
        <p:nvSpPr>
          <p:cNvPr id="18" name="arrow"/>
          <p:cNvSpPr/>
          <p:nvPr/>
        </p:nvSpPr>
        <p:spPr>
          <a:xfrm>
            <a:off x="9786366" y="2098548"/>
            <a:ext cx="228600" cy="237744"/>
          </a:xfrm>
          <a:prstGeom prst="rightArrow">
            <a:avLst/>
          </a:prstGeom>
          <a:solidFill>
            <a:srgbClr val="64748B"/>
          </a:solidFill>
          <a:ln w="12700">
            <a:solidFill>
              <a:srgbClr val="64748B"/>
            </a:solidFill>
            <a:prstDash val="solid"/>
          </a:ln>
        </p:spPr>
      </p:sp>
      <p:sp>
        <p:nvSpPr>
          <p:cNvPr id="19" name="flow step 6"/>
          <p:cNvSpPr/>
          <p:nvPr/>
        </p:nvSpPr>
        <p:spPr>
          <a:xfrm>
            <a:off x="10060686" y="1645920"/>
            <a:ext cx="1582369" cy="1143000"/>
          </a:xfrm>
          <a:prstGeom prst="roundRect">
            <a:avLst>
              <a:gd name="adj" fmla="val 6400"/>
            </a:avLst>
          </a:prstGeom>
          <a:solidFill>
            <a:srgbClr val="1B2A41"/>
          </a:solidFill>
          <a:ln w="12700">
            <a:solidFill>
              <a:srgbClr val="1B2A41"/>
            </a:solidFill>
            <a:prstDash val="solid"/>
          </a:ln>
        </p:spPr>
      </p:sp>
      <p:sp>
        <p:nvSpPr>
          <p:cNvPr id="20" name="Text 17"/>
          <p:cNvSpPr txBox="1"/>
          <p:nvPr/>
        </p:nvSpPr>
        <p:spPr>
          <a:xfrm>
            <a:off x="10133838"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Reconcile by hand</a:t>
            </a:r>
            <a:endParaRPr lang="en-US" sz="1400" dirty="0"/>
          </a:p>
        </p:txBody>
      </p:sp>
      <p:sp>
        <p:nvSpPr>
          <p:cNvPr id="21" name="Automatic, text-only card"/>
          <p:cNvSpPr/>
          <p:nvPr/>
        </p:nvSpPr>
        <p:spPr>
          <a:xfrm>
            <a:off x="548640" y="3291840"/>
            <a:ext cx="5440680" cy="2468880"/>
          </a:xfrm>
          <a:prstGeom prst="roundRect">
            <a:avLst>
              <a:gd name="adj" fmla="val 2963"/>
            </a:avLst>
          </a:prstGeom>
          <a:solidFill>
            <a:srgbClr val="F6F8FB"/>
          </a:solidFill>
          <a:ln w="9525">
            <a:solidFill>
              <a:srgbClr val="D5DCE6"/>
            </a:solidFill>
            <a:prstDash val="solid"/>
          </a:ln>
        </p:spPr>
      </p:sp>
      <p:sp>
        <p:nvSpPr>
          <p:cNvPr id="22" name="icon circle"/>
          <p:cNvSpPr/>
          <p:nvPr/>
        </p:nvSpPr>
        <p:spPr>
          <a:xfrm>
            <a:off x="777240" y="3520440"/>
            <a:ext cx="548640" cy="548640"/>
          </a:xfrm>
          <a:prstGeom prst="ellipse">
            <a:avLst/>
          </a:prstGeom>
          <a:solidFill>
            <a:srgbClr val="1B2A41"/>
          </a:solidFill>
          <a:ln w="12700">
            <a:solidFill>
              <a:srgbClr val="1B2A41"/>
            </a:solidFill>
            <a:prstDash val="solid"/>
          </a:ln>
        </p:spPr>
      </p:sp>
      <p:pic>
        <p:nvPicPr>
          <p:cNvPr id="23" name="Image 0" descr="Automatic, text-only">    </p:cNvPr>
          <p:cNvPicPr>
            <a:picLocks noChangeAspect="1"/>
          </p:cNvPicPr>
          <p:nvPr/>
        </p:nvPicPr>
        <p:blipFill>
          <a:blip r:embed="rId1"/>
          <a:stretch>
            <a:fillRect/>
          </a:stretch>
        </p:blipFill>
        <p:spPr>
          <a:xfrm>
            <a:off x="886968" y="3630168"/>
            <a:ext cx="329184" cy="329184"/>
          </a:xfrm>
          <a:prstGeom prst="rect">
            <a:avLst/>
          </a:prstGeom>
        </p:spPr>
      </p:pic>
      <p:sp>
        <p:nvSpPr>
          <p:cNvPr id="24" name="Text 20"/>
          <p:cNvSpPr txBox="1"/>
          <p:nvPr/>
        </p:nvSpPr>
        <p:spPr>
          <a:xfrm>
            <a:off x="146304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Manual and shared-link methods</a:t>
            </a:r>
            <a:endParaRPr lang="en-US" sz="1600" dirty="0"/>
          </a:p>
        </p:txBody>
      </p:sp>
      <p:sp>
        <p:nvSpPr>
          <p:cNvPr id="25" name="Text 21"/>
          <p:cNvSpPr txBox="1"/>
          <p:nvPr/>
        </p:nvSpPr>
        <p:spPr>
          <a:xfrm>
            <a:off x="77724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Roll calls and paper registers use class time and invite errors and proxy marking. QR codes and attendance links are quick, but anyone who receives the link can use it from anywhere.</a:t>
            </a:r>
            <a:endParaRPr lang="en-US" sz="1600" dirty="0"/>
          </a:p>
        </p:txBody>
      </p:sp>
      <p:sp>
        <p:nvSpPr>
          <p:cNvPr id="26" name="Manual fact-checking card"/>
          <p:cNvSpPr/>
          <p:nvPr/>
        </p:nvSpPr>
        <p:spPr>
          <a:xfrm>
            <a:off x="6172200" y="3291840"/>
            <a:ext cx="5440680" cy="2468880"/>
          </a:xfrm>
          <a:prstGeom prst="roundRect">
            <a:avLst>
              <a:gd name="adj" fmla="val 2963"/>
            </a:avLst>
          </a:prstGeom>
          <a:solidFill>
            <a:srgbClr val="F6F8FB"/>
          </a:solidFill>
          <a:ln w="9525">
            <a:solidFill>
              <a:srgbClr val="D5DCE6"/>
            </a:solidFill>
            <a:prstDash val="solid"/>
          </a:ln>
        </p:spPr>
      </p:sp>
      <p:sp>
        <p:nvSpPr>
          <p:cNvPr id="27" name="icon circle"/>
          <p:cNvSpPr/>
          <p:nvPr/>
        </p:nvSpPr>
        <p:spPr>
          <a:xfrm>
            <a:off x="6400800" y="3520440"/>
            <a:ext cx="548640" cy="548640"/>
          </a:xfrm>
          <a:prstGeom prst="ellipse">
            <a:avLst/>
          </a:prstGeom>
          <a:solidFill>
            <a:srgbClr val="1B2A41"/>
          </a:solidFill>
          <a:ln w="12700">
            <a:solidFill>
              <a:srgbClr val="1B2A41"/>
            </a:solidFill>
            <a:prstDash val="solid"/>
          </a:ln>
        </p:spPr>
      </p:sp>
      <p:pic>
        <p:nvPicPr>
          <p:cNvPr id="28" name="Image 1" descr="Manual fact-checking">    </p:cNvPr>
          <p:cNvPicPr>
            <a:picLocks noChangeAspect="1"/>
          </p:cNvPicPr>
          <p:nvPr/>
        </p:nvPicPr>
        <p:blipFill>
          <a:blip r:embed="rId2"/>
          <a:stretch>
            <a:fillRect/>
          </a:stretch>
        </p:blipFill>
        <p:spPr>
          <a:xfrm>
            <a:off x="6510528" y="3630168"/>
            <a:ext cx="329184" cy="329184"/>
          </a:xfrm>
          <a:prstGeom prst="rect">
            <a:avLst/>
          </a:prstGeom>
        </p:spPr>
      </p:pic>
      <p:sp>
        <p:nvSpPr>
          <p:cNvPr id="29" name="Text 24"/>
          <p:cNvSpPr txBox="1"/>
          <p:nvPr/>
        </p:nvSpPr>
        <p:spPr>
          <a:xfrm>
            <a:off x="708660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Biometric and face-recognition methods</a:t>
            </a:r>
            <a:endParaRPr lang="en-US" sz="1600" dirty="0"/>
          </a:p>
        </p:txBody>
      </p:sp>
      <p:sp>
        <p:nvSpPr>
          <p:cNvPr id="30" name="Text 25"/>
          <p:cNvSpPr txBox="1"/>
          <p:nvPr/>
        </p:nvSpPr>
        <p:spPr>
          <a:xfrm>
            <a:off x="640080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Fingerprint devices need hardware and queues. Camera-based face recognition confirms identity, but without a liveness check a photo or video can still be shown.</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4" name="Ignore the picture card"/>
          <p:cNvSpPr/>
          <p:nvPr/>
        </p:nvSpPr>
        <p:spPr>
          <a:xfrm>
            <a:off x="548640" y="1371600"/>
            <a:ext cx="544068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Ignore the picture">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Slow and error-prone</a:t>
            </a:r>
            <a:endParaRPr lang="en-US" sz="1600" dirty="0"/>
          </a:p>
        </p:txBody>
      </p:sp>
      <p:sp>
        <p:nvSpPr>
          <p:cNvPr id="8" name="Text 4"/>
          <p:cNvSpPr txBox="1"/>
          <p:nvPr/>
        </p:nvSpPr>
        <p:spPr>
          <a:xfrm>
            <a:off x="77724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Manual roll calls waste class time and allow proxy marking and typing errors.</a:t>
            </a:r>
            <a:endParaRPr lang="en-US" sz="1600" dirty="0"/>
          </a:p>
        </p:txBody>
      </p:sp>
      <p:sp>
        <p:nvSpPr>
          <p:cNvPr id="9" name="Label only card"/>
          <p:cNvSpPr/>
          <p:nvPr/>
        </p:nvSpPr>
        <p:spPr>
          <a:xfrm>
            <a:off x="6172200" y="1371600"/>
            <a:ext cx="544068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sp>
      <p:pic>
        <p:nvPicPr>
          <p:cNvPr id="11" name="Image 1" descr="Label only">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Shareable</a:t>
            </a:r>
            <a:endParaRPr lang="en-US" sz="1600" dirty="0"/>
          </a:p>
        </p:txBody>
      </p:sp>
      <p:sp>
        <p:nvSpPr>
          <p:cNvPr id="13" name="Text 8"/>
          <p:cNvSpPr txBox="1"/>
          <p:nvPr/>
        </p:nvSpPr>
        <p:spPr>
          <a:xfrm>
            <a:off x="640080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QR codes and links can be forwarded to students who are not in the room.</a:t>
            </a:r>
            <a:endParaRPr lang="en-US" sz="1600" dirty="0"/>
          </a:p>
        </p:txBody>
      </p:sp>
      <p:sp>
        <p:nvSpPr>
          <p:cNvPr id="14" name="One split only card"/>
          <p:cNvSpPr/>
          <p:nvPr/>
        </p:nvSpPr>
        <p:spPr>
          <a:xfrm>
            <a:off x="548640" y="3611880"/>
            <a:ext cx="544068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777240" y="3840480"/>
            <a:ext cx="548640" cy="548640"/>
          </a:xfrm>
          <a:prstGeom prst="ellipse">
            <a:avLst/>
          </a:prstGeom>
          <a:solidFill>
            <a:srgbClr val="6250D6"/>
          </a:solidFill>
          <a:ln w="12700">
            <a:solidFill>
              <a:srgbClr val="6250D6"/>
            </a:solidFill>
            <a:prstDash val="solid"/>
          </a:ln>
        </p:spPr>
      </p:sp>
      <p:pic>
        <p:nvPicPr>
          <p:cNvPr id="16" name="Image 2" descr="One split only">    </p:cNvPr>
          <p:cNvPicPr>
            <a:picLocks noChangeAspect="1"/>
          </p:cNvPicPr>
          <p:nvPr/>
        </p:nvPicPr>
        <p:blipFill>
          <a:blip r:embed="rId3"/>
          <a:stretch>
            <a:fillRect/>
          </a:stretch>
        </p:blipFill>
        <p:spPr>
          <a:xfrm>
            <a:off x="886968" y="3950208"/>
            <a:ext cx="329184" cy="329184"/>
          </a:xfrm>
          <a:prstGeom prst="rect">
            <a:avLst/>
          </a:prstGeom>
        </p:spPr>
      </p:pic>
      <p:sp>
        <p:nvSpPr>
          <p:cNvPr id="17" name="Text 11"/>
          <p:cNvSpPr txBox="1"/>
          <p:nvPr/>
        </p:nvSpPr>
        <p:spPr>
          <a:xfrm>
            <a:off x="146304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Spoofable</a:t>
            </a:r>
            <a:endParaRPr lang="en-US" sz="1600" dirty="0"/>
          </a:p>
        </p:txBody>
      </p:sp>
      <p:sp>
        <p:nvSpPr>
          <p:cNvPr id="18" name="Text 12"/>
          <p:cNvSpPr txBox="1"/>
          <p:nvPr/>
        </p:nvSpPr>
        <p:spPr>
          <a:xfrm>
            <a:off x="77724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Face recognition without liveness accepts a photo; one person can mark several identities if duplicates are not checked.</a:t>
            </a:r>
            <a:endParaRPr lang="en-US" sz="1600" dirty="0"/>
          </a:p>
        </p:txBody>
      </p:sp>
      <p:sp>
        <p:nvSpPr>
          <p:cNvPr id="19" name="Not usable card"/>
          <p:cNvSpPr/>
          <p:nvPr/>
        </p:nvSpPr>
        <p:spPr>
          <a:xfrm>
            <a:off x="6172200" y="3611880"/>
            <a:ext cx="544068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6400800" y="3840480"/>
            <a:ext cx="548640" cy="548640"/>
          </a:xfrm>
          <a:prstGeom prst="ellipse">
            <a:avLst/>
          </a:prstGeom>
          <a:solidFill>
            <a:srgbClr val="1BAF7A"/>
          </a:solidFill>
          <a:ln w="12700">
            <a:solidFill>
              <a:srgbClr val="1BAF7A"/>
            </a:solidFill>
            <a:prstDash val="solid"/>
          </a:ln>
        </p:spPr>
      </p:sp>
      <p:pic>
        <p:nvPicPr>
          <p:cNvPr id="21" name="Image 3" descr="Not usable">    </p:cNvPr>
          <p:cNvPicPr>
            <a:picLocks noChangeAspect="1"/>
          </p:cNvPicPr>
          <p:nvPr/>
        </p:nvPicPr>
        <p:blipFill>
          <a:blip r:embed="rId4"/>
          <a:stretch>
            <a:fillRect/>
          </a:stretch>
        </p:blipFill>
        <p:spPr>
          <a:xfrm>
            <a:off x="6510528" y="3950208"/>
            <a:ext cx="329184" cy="329184"/>
          </a:xfrm>
          <a:prstGeom prst="rect">
            <a:avLst/>
          </a:prstGeom>
        </p:spPr>
      </p:pic>
      <p:sp>
        <p:nvSpPr>
          <p:cNvPr id="22" name="Text 15"/>
          <p:cNvSpPr txBox="1"/>
          <p:nvPr/>
        </p:nvSpPr>
        <p:spPr>
          <a:xfrm>
            <a:off x="708660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No presence proof</a:t>
            </a:r>
            <a:endParaRPr lang="en-US" sz="1600" dirty="0"/>
          </a:p>
        </p:txBody>
      </p:sp>
      <p:sp>
        <p:nvSpPr>
          <p:cNvPr id="23" name="Text 16"/>
          <p:cNvSpPr txBox="1"/>
          <p:nvPr/>
        </p:nvSpPr>
        <p:spPr>
          <a:xfrm>
            <a:off x="640080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Existing systems do not check that the student is physically inside the classroom area.</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4" name="gap Modality"/>
          <p:cNvSpPr/>
          <p:nvPr/>
        </p:nvSpPr>
        <p:spPr>
          <a:xfrm>
            <a:off x="548640" y="1325880"/>
            <a:ext cx="2377440" cy="749808"/>
          </a:xfrm>
          <a:prstGeom prst="roundRect">
            <a:avLst>
              <a:gd name="adj" fmla="val 7317"/>
            </a:avLst>
          </a:prstGeom>
          <a:solidFill>
            <a:srgbClr val="1B2A41"/>
          </a:solidFill>
          <a:ln w="12700">
            <a:solidFill>
              <a:srgbClr val="1B2A41"/>
            </a:solidFill>
            <a:prstDash val="solid"/>
          </a:ln>
        </p:spPr>
      </p:sp>
      <p:sp>
        <p:nvSpPr>
          <p:cNvPr id="5" name="Text 2"/>
          <p:cNvSpPr txBox="1"/>
          <p:nvPr/>
        </p:nvSpPr>
        <p:spPr>
          <a:xfrm>
            <a:off x="548640" y="13258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Presence</a:t>
            </a:r>
            <a:endParaRPr lang="en-US" sz="1600" dirty="0"/>
          </a:p>
        </p:txBody>
      </p:sp>
      <p:sp>
        <p:nvSpPr>
          <p:cNvPr id="6" name="Text 3"/>
          <p:cNvSpPr txBox="1"/>
          <p:nvPr/>
        </p:nvSpPr>
        <p:spPr>
          <a:xfrm>
            <a:off x="3154680" y="13258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Face-recognition attendance systems verify identity but rarely check that the student is inside the classroom area [1], [3].</a:t>
            </a:r>
            <a:endParaRPr lang="en-US" sz="1700" dirty="0"/>
          </a:p>
        </p:txBody>
      </p:sp>
      <p:sp>
        <p:nvSpPr>
          <p:cNvPr id="7" name="gap Transparency"/>
          <p:cNvSpPr/>
          <p:nvPr/>
        </p:nvSpPr>
        <p:spPr>
          <a:xfrm>
            <a:off x="548640" y="2240280"/>
            <a:ext cx="2377440" cy="749808"/>
          </a:xfrm>
          <a:prstGeom prst="roundRect">
            <a:avLst>
              <a:gd name="adj" fmla="val 7317"/>
            </a:avLst>
          </a:prstGeom>
          <a:solidFill>
            <a:srgbClr val="1B2A41"/>
          </a:solidFill>
          <a:ln w="12700">
            <a:solidFill>
              <a:srgbClr val="1B2A41"/>
            </a:solidFill>
            <a:prstDash val="solid"/>
          </a:ln>
        </p:spPr>
      </p:sp>
      <p:sp>
        <p:nvSpPr>
          <p:cNvPr id="8" name="Text 5"/>
          <p:cNvSpPr txBox="1"/>
          <p:nvPr/>
        </p:nvSpPr>
        <p:spPr>
          <a:xfrm>
            <a:off x="548640" y="22402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Liveness</a:t>
            </a:r>
            <a:endParaRPr lang="en-US" sz="1600" dirty="0"/>
          </a:p>
        </p:txBody>
      </p:sp>
      <p:sp>
        <p:nvSpPr>
          <p:cNvPr id="9" name="Text 6"/>
          <p:cNvSpPr txBox="1"/>
          <p:nvPr/>
        </p:nvSpPr>
        <p:spPr>
          <a:xfrm>
            <a:off x="3154680" y="22402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A random facial challenge before the face match is uncommon in classroom attendance; photos can otherwise pass.</a:t>
            </a:r>
            <a:endParaRPr lang="en-US" sz="1700" dirty="0"/>
          </a:p>
        </p:txBody>
      </p:sp>
      <p:sp>
        <p:nvSpPr>
          <p:cNvPr id="10" name="gap Generalisation"/>
          <p:cNvSpPr/>
          <p:nvPr/>
        </p:nvSpPr>
        <p:spPr>
          <a:xfrm>
            <a:off x="548640" y="3154680"/>
            <a:ext cx="2377440" cy="749808"/>
          </a:xfrm>
          <a:prstGeom prst="roundRect">
            <a:avLst>
              <a:gd name="adj" fmla="val 7317"/>
            </a:avLst>
          </a:prstGeom>
          <a:solidFill>
            <a:srgbClr val="1B2A41"/>
          </a:solidFill>
          <a:ln w="12700">
            <a:solidFill>
              <a:srgbClr val="1B2A41"/>
            </a:solidFill>
            <a:prstDash val="solid"/>
          </a:ln>
        </p:spPr>
      </p:sp>
      <p:sp>
        <p:nvSpPr>
          <p:cNvPr id="11" name="Text 8"/>
          <p:cNvSpPr txBox="1"/>
          <p:nvPr/>
        </p:nvSpPr>
        <p:spPr>
          <a:xfrm>
            <a:off x="548640" y="31546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Duplicates</a:t>
            </a:r>
            <a:endParaRPr lang="en-US" sz="1600" dirty="0"/>
          </a:p>
        </p:txBody>
      </p:sp>
      <p:sp>
        <p:nvSpPr>
          <p:cNvPr id="12" name="Text 9"/>
          <p:cNvSpPr txBox="1"/>
          <p:nvPr/>
        </p:nvSpPr>
        <p:spPr>
          <a:xfrm>
            <a:off x="3154680" y="31546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Few systems compare each new face with the faces already recorded in the same session.</a:t>
            </a:r>
            <a:endParaRPr lang="en-US" sz="1700" dirty="0"/>
          </a:p>
        </p:txBody>
      </p:sp>
      <p:sp>
        <p:nvSpPr>
          <p:cNvPr id="13" name="gap Generated media"/>
          <p:cNvSpPr/>
          <p:nvPr/>
        </p:nvSpPr>
        <p:spPr>
          <a:xfrm>
            <a:off x="548640" y="4069080"/>
            <a:ext cx="2377440" cy="749808"/>
          </a:xfrm>
          <a:prstGeom prst="roundRect">
            <a:avLst>
              <a:gd name="adj" fmla="val 7317"/>
            </a:avLst>
          </a:prstGeom>
          <a:solidFill>
            <a:srgbClr val="1B2A41"/>
          </a:solidFill>
          <a:ln w="12700">
            <a:solidFill>
              <a:srgbClr val="1B2A41"/>
            </a:solidFill>
            <a:prstDash val="solid"/>
          </a:ln>
        </p:spPr>
      </p:sp>
      <p:sp>
        <p:nvSpPr>
          <p:cNvPr id="14" name="Text 11"/>
          <p:cNvSpPr txBox="1"/>
          <p:nvPr/>
        </p:nvSpPr>
        <p:spPr>
          <a:xfrm>
            <a:off x="548640" y="40690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Evidence</a:t>
            </a:r>
            <a:endParaRPr lang="en-US" sz="1600" dirty="0"/>
          </a:p>
        </p:txBody>
      </p:sp>
      <p:sp>
        <p:nvSpPr>
          <p:cNvPr id="15" name="Text 12"/>
          <p:cNvSpPr txBox="1"/>
          <p:nvPr/>
        </p:nvSpPr>
        <p:spPr>
          <a:xfrm>
            <a:off x="3154680" y="40690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The base paper reports small, informal tests; reviewed work gives few measurements of spoof resistance.</a:t>
            </a:r>
            <a:endParaRPr lang="en-US" sz="1700" dirty="0"/>
          </a:p>
        </p:txBody>
      </p:sp>
      <p:sp>
        <p:nvSpPr>
          <p:cNvPr id="16" name="gap Application"/>
          <p:cNvSpPr/>
          <p:nvPr/>
        </p:nvSpPr>
        <p:spPr>
          <a:xfrm>
            <a:off x="548640" y="4983480"/>
            <a:ext cx="2377440" cy="749808"/>
          </a:xfrm>
          <a:prstGeom prst="roundRect">
            <a:avLst>
              <a:gd name="adj" fmla="val 7317"/>
            </a:avLst>
          </a:prstGeom>
          <a:solidFill>
            <a:srgbClr val="1B2A41"/>
          </a:solidFill>
          <a:ln w="12700">
            <a:solidFill>
              <a:srgbClr val="1B2A41"/>
            </a:solidFill>
            <a:prstDash val="solid"/>
          </a:ln>
        </p:spPr>
      </p:sp>
      <p:sp>
        <p:nvSpPr>
          <p:cNvPr id="17" name="Text 14"/>
          <p:cNvSpPr txBox="1"/>
          <p:nvPr/>
        </p:nvSpPr>
        <p:spPr>
          <a:xfrm>
            <a:off x="548640" y="49834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Application</a:t>
            </a:r>
            <a:endParaRPr lang="en-US" sz="1600" dirty="0"/>
          </a:p>
        </p:txBody>
      </p:sp>
      <p:sp>
        <p:nvSpPr>
          <p:cNvPr id="18" name="Text 15"/>
          <p:cNvSpPr txBox="1"/>
          <p:nvPr/>
        </p:nvSpPr>
        <p:spPr>
          <a:xfrm>
            <a:off x="3154680" y="49834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No single tool joins time-bound sessions, geo-fence, device binding, liveness, duplicate check and Excel reports.</a:t>
            </a:r>
            <a:endParaRPr lang="en-US" sz="17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4" name="statement box"/>
          <p:cNvSpPr/>
          <p:nvPr/>
        </p:nvSpPr>
        <p:spPr>
          <a:xfrm>
            <a:off x="548640" y="1463040"/>
            <a:ext cx="11094415" cy="2743200"/>
          </a:xfrm>
          <a:prstGeom prst="roundRect">
            <a:avLst>
              <a:gd name="adj" fmla="val 2667"/>
            </a:avLst>
          </a:prstGeom>
          <a:solidFill>
            <a:srgbClr val="EEF2F7"/>
          </a:solidFill>
          <a:ln w="12700">
            <a:solidFill>
              <a:srgbClr val="EEF2F7"/>
            </a:solidFill>
            <a:prstDash val="solid"/>
          </a:ln>
        </p:spPr>
      </p:sp>
      <p:sp>
        <p:nvSpPr>
          <p:cNvPr id="5" name="Text 2"/>
          <p:cNvSpPr txBox="1"/>
          <p:nvPr/>
        </p:nvSpPr>
        <p:spPr>
          <a:xfrm>
            <a:off x="914400" y="1600200"/>
            <a:ext cx="10362895" cy="2468880"/>
          </a:xfrm>
          <a:prstGeom prst="rect">
            <a:avLst/>
          </a:prstGeom>
          <a:noFill/>
          <a:ln/>
        </p:spPr>
        <p:txBody>
          <a:bodyPr wrap="square" lIns="0" tIns="0" rIns="0" bIns="0" rtlCol="0" anchor="ctr"/>
          <a:lstStyle/>
          <a:p>
            <a:pPr indent="0" marL="0">
              <a:buNone/>
            </a:pPr>
            <a:r>
              <a:rPr lang="en-US" sz="2100" dirty="0">
                <a:solidFill>
                  <a:srgbClr val="1B2A41"/>
                </a:solidFill>
                <a:latin typeface="Cambria" pitchFamily="34" charset="0"/>
                <a:ea typeface="Cambria" pitchFamily="34" charset="-122"/>
                <a:cs typeface="Cambria" pitchFamily="34" charset="-120"/>
              </a:rPr>
              <a:t>Given a faculty-defined session (course, time window, geo-fence and roll-number patterns) and students who enrolled a reference face, accept a student's attendance only if the session is live, the student and device are eligible, the GPS position is inside the fence, a random live challenge is performed, and the face matches the enrolled face and no other face already recorded in the session; and give faculty the records, a verification log and an Excel export.</a:t>
            </a:r>
            <a:endParaRPr lang="en-US" sz="2100" dirty="0"/>
          </a:p>
        </p:txBody>
      </p:sp>
      <p:sp>
        <p:nvSpPr>
          <p:cNvPr id="6" name="Input card"/>
          <p:cNvSpPr/>
          <p:nvPr/>
        </p:nvSpPr>
        <p:spPr>
          <a:xfrm>
            <a:off x="548640" y="4480560"/>
            <a:ext cx="3566160" cy="1325880"/>
          </a:xfrm>
          <a:prstGeom prst="roundRect">
            <a:avLst>
              <a:gd name="adj" fmla="val 5517"/>
            </a:avLst>
          </a:prstGeom>
          <a:solidFill>
            <a:srgbClr val="F6F8FB"/>
          </a:solidFill>
          <a:ln w="9525">
            <a:solidFill>
              <a:srgbClr val="D5DCE6"/>
            </a:solidFill>
            <a:prstDash val="solid"/>
          </a:ln>
        </p:spPr>
      </p:sp>
      <p:sp>
        <p:nvSpPr>
          <p:cNvPr id="7" name="Text 4"/>
          <p:cNvSpPr txBox="1"/>
          <p:nvPr/>
        </p:nvSpPr>
        <p:spPr>
          <a:xfrm>
            <a:off x="77724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Input</a:t>
            </a:r>
            <a:endParaRPr lang="en-US" sz="1500" dirty="0"/>
          </a:p>
        </p:txBody>
      </p:sp>
      <p:sp>
        <p:nvSpPr>
          <p:cNvPr id="8" name="Text 5"/>
          <p:cNvSpPr txBox="1"/>
          <p:nvPr/>
        </p:nvSpPr>
        <p:spPr>
          <a:xfrm>
            <a:off x="77724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Session, GPS fix, two photos, credentials</a:t>
            </a:r>
            <a:endParaRPr lang="en-US" sz="1400" dirty="0"/>
          </a:p>
        </p:txBody>
      </p:sp>
      <p:sp>
        <p:nvSpPr>
          <p:cNvPr id="9" name="Output card"/>
          <p:cNvSpPr/>
          <p:nvPr/>
        </p:nvSpPr>
        <p:spPr>
          <a:xfrm>
            <a:off x="4297680" y="4480560"/>
            <a:ext cx="3566160" cy="1325880"/>
          </a:xfrm>
          <a:prstGeom prst="roundRect">
            <a:avLst>
              <a:gd name="adj" fmla="val 5517"/>
            </a:avLst>
          </a:prstGeom>
          <a:solidFill>
            <a:srgbClr val="F6F8FB"/>
          </a:solidFill>
          <a:ln w="9525">
            <a:solidFill>
              <a:srgbClr val="D5DCE6"/>
            </a:solidFill>
            <a:prstDash val="solid"/>
          </a:ln>
        </p:spPr>
      </p:sp>
      <p:sp>
        <p:nvSpPr>
          <p:cNvPr id="10" name="Text 7"/>
          <p:cNvSpPr txBox="1"/>
          <p:nvPr/>
        </p:nvSpPr>
        <p:spPr>
          <a:xfrm>
            <a:off x="452628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Output</a:t>
            </a:r>
            <a:endParaRPr lang="en-US" sz="1500" dirty="0"/>
          </a:p>
        </p:txBody>
      </p:sp>
      <p:sp>
        <p:nvSpPr>
          <p:cNvPr id="11" name="Text 8"/>
          <p:cNvSpPr txBox="1"/>
          <p:nvPr/>
        </p:nvSpPr>
        <p:spPr>
          <a:xfrm>
            <a:off x="452628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Attendance record, reason for every block, Excel</a:t>
            </a:r>
            <a:endParaRPr lang="en-US" sz="1400" dirty="0"/>
          </a:p>
        </p:txBody>
      </p:sp>
      <p:sp>
        <p:nvSpPr>
          <p:cNvPr id="12" name="Extra card"/>
          <p:cNvSpPr/>
          <p:nvPr/>
        </p:nvSpPr>
        <p:spPr>
          <a:xfrm>
            <a:off x="8046720" y="4480560"/>
            <a:ext cx="3566160" cy="1325880"/>
          </a:xfrm>
          <a:prstGeom prst="roundRect">
            <a:avLst>
              <a:gd name="adj" fmla="val 5517"/>
            </a:avLst>
          </a:prstGeom>
          <a:solidFill>
            <a:srgbClr val="F6F8FB"/>
          </a:solidFill>
          <a:ln w="9525">
            <a:solidFill>
              <a:srgbClr val="D5DCE6"/>
            </a:solidFill>
            <a:prstDash val="solid"/>
          </a:ln>
        </p:spPr>
      </p:sp>
      <p:sp>
        <p:nvSpPr>
          <p:cNvPr id="13" name="Text 10"/>
          <p:cNvSpPr txBox="1"/>
          <p:nvPr/>
        </p:nvSpPr>
        <p:spPr>
          <a:xfrm>
            <a:off x="827532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Extra</a:t>
            </a:r>
            <a:endParaRPr lang="en-US" sz="1500" dirty="0"/>
          </a:p>
        </p:txBody>
      </p:sp>
      <p:sp>
        <p:nvSpPr>
          <p:cNvPr id="14" name="Text 11"/>
          <p:cNvSpPr txBox="1"/>
          <p:nvPr/>
        </p:nvSpPr>
        <p:spPr>
          <a:xfrm>
            <a:off x="827532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Time-bound, device-bound, fully logged</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0F172A"/>
                </a:solidFill>
              </a:rPr>
              <a:t>Enable faculty to create time-bound attendance sessions with configurable geo-fences.</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Authenticate students securely with JWT, device identification and roll-number restrictions.</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Verify physical presence by checking GPS location against the session boundary.</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Detect liveness through a random live facial challenge using MediaPipe.</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Prevent duplicate identities by matching InsightFace embeddings within each session.</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Provide attendance summaries and Excel export for faculty.</a:t>
            </a:r>
            <a:pPr indent="0" marL="0">
              <a:spcAft>
                <a:spcPts val="1000"/>
              </a:spcAft>
              <a:buNone/>
            </a:pPr>
            <a:pPr indent="0" marL="0">
              <a:spcAft>
                <a:spcPts val="1000"/>
              </a:spcAft>
              <a:buNone/>
            </a:pPr>
            <a:endParaRPr lang="en-US" sz="1800" dirty="0"/>
          </a:p>
          <a:p>
            <a:pPr marL="228600" indent="-228600">
              <a:spcAft>
                <a:spcPts val="1000"/>
              </a:spcAft>
              <a:buSzPct val="100000"/>
              <a:buChar char="•"/>
            </a:pPr>
            <a:r>
              <a:rPr lang="en-US" sz="1800" dirty="0">
                <a:solidFill>
                  <a:srgbClr val="0F172A"/>
                </a:solidFill>
              </a:rPr>
              <a:t>Verify the system with automated tests and measure its checks on a public benchmark.</a:t>
            </a:r>
            <a:pPr indent="0" marL="0">
              <a:spcAft>
                <a:spcPts val="1000"/>
              </a:spcAft>
              <a:buNone/>
            </a:pPr>
            <a:pPr indent="0" marL="0">
              <a:spcAft>
                <a:spcPts val="1000"/>
              </a:spcAft>
              <a:buNone/>
            </a:pPr>
            <a:endParaRPr lang="en-US" sz="18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4" name="Text track card"/>
          <p:cNvSpPr/>
          <p:nvPr/>
        </p:nvSpPr>
        <p:spPr>
          <a:xfrm>
            <a:off x="548640" y="1371600"/>
            <a:ext cx="2670048" cy="3017520"/>
          </a:xfrm>
          <a:prstGeom prst="roundRect">
            <a:avLst>
              <a:gd name="adj" fmla="val 2740"/>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sp>
      <p:pic>
        <p:nvPicPr>
          <p:cNvPr id="6" name="Image 0" descr="Text track">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Session and link</a:t>
            </a:r>
            <a:endParaRPr lang="en-US" sz="1600" dirty="0"/>
          </a:p>
        </p:txBody>
      </p:sp>
      <p:sp>
        <p:nvSpPr>
          <p:cNvPr id="8" name="Text 4"/>
          <p:cNvSpPr txBox="1"/>
          <p:nvPr/>
        </p:nvSpPr>
        <p:spPr>
          <a:xfrm>
            <a:off x="777240"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Faculty set course, window, centre, radius and allowed rolls; a unique link and QR code are shared.</a:t>
            </a:r>
            <a:endParaRPr lang="en-US" sz="1400" dirty="0"/>
          </a:p>
        </p:txBody>
      </p:sp>
      <p:sp>
        <p:nvSpPr>
          <p:cNvPr id="9" name="Visual track card"/>
          <p:cNvSpPr/>
          <p:nvPr/>
        </p:nvSpPr>
        <p:spPr>
          <a:xfrm>
            <a:off x="3364992" y="1371600"/>
            <a:ext cx="2670048" cy="3017520"/>
          </a:xfrm>
          <a:prstGeom prst="roundRect">
            <a:avLst>
              <a:gd name="adj" fmla="val 2740"/>
            </a:avLst>
          </a:prstGeom>
          <a:solidFill>
            <a:srgbClr val="F6F8FB"/>
          </a:solidFill>
          <a:ln w="9525">
            <a:solidFill>
              <a:srgbClr val="D5DCE6"/>
            </a:solidFill>
            <a:prstDash val="solid"/>
          </a:ln>
        </p:spPr>
      </p:sp>
      <p:sp>
        <p:nvSpPr>
          <p:cNvPr id="10" name="icon circle"/>
          <p:cNvSpPr/>
          <p:nvPr/>
        </p:nvSpPr>
        <p:spPr>
          <a:xfrm>
            <a:off x="3593592" y="1600200"/>
            <a:ext cx="548640" cy="548640"/>
          </a:xfrm>
          <a:prstGeom prst="ellipse">
            <a:avLst/>
          </a:prstGeom>
          <a:solidFill>
            <a:srgbClr val="1BAF7A"/>
          </a:solidFill>
          <a:ln w="12700">
            <a:solidFill>
              <a:srgbClr val="1BAF7A"/>
            </a:solidFill>
            <a:prstDash val="solid"/>
          </a:ln>
        </p:spPr>
      </p:sp>
      <p:pic>
        <p:nvPicPr>
          <p:cNvPr id="11" name="Image 1" descr="Visual track">    </p:cNvPr>
          <p:cNvPicPr>
            <a:picLocks noChangeAspect="1"/>
          </p:cNvPicPr>
          <p:nvPr/>
        </p:nvPicPr>
        <p:blipFill>
          <a:blip r:embed="rId2"/>
          <a:stretch>
            <a:fillRect/>
          </a:stretch>
        </p:blipFill>
        <p:spPr>
          <a:xfrm>
            <a:off x="3703320" y="1709928"/>
            <a:ext cx="329184" cy="329184"/>
          </a:xfrm>
          <a:prstGeom prst="rect">
            <a:avLst/>
          </a:prstGeom>
        </p:spPr>
      </p:pic>
      <p:sp>
        <p:nvSpPr>
          <p:cNvPr id="12" name="Text 7"/>
          <p:cNvSpPr txBox="1"/>
          <p:nvPr/>
        </p:nvSpPr>
        <p:spPr>
          <a:xfrm>
            <a:off x="4279392"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Eligibility and location</a:t>
            </a:r>
            <a:endParaRPr lang="en-US" sz="1600" dirty="0"/>
          </a:p>
        </p:txBody>
      </p:sp>
      <p:sp>
        <p:nvSpPr>
          <p:cNvPr id="13" name="Text 8"/>
          <p:cNvSpPr txBox="1"/>
          <p:nvPr/>
        </p:nvSpPr>
        <p:spPr>
          <a:xfrm>
            <a:off x="3593592"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Session live, roll allowed, not already marked, device bound; then GPS inside radius + 15 m.</a:t>
            </a:r>
            <a:endParaRPr lang="en-US" sz="1400" dirty="0"/>
          </a:p>
        </p:txBody>
      </p:sp>
      <p:sp>
        <p:nvSpPr>
          <p:cNvPr id="14" name="Fusion card"/>
          <p:cNvSpPr/>
          <p:nvPr/>
        </p:nvSpPr>
        <p:spPr>
          <a:xfrm>
            <a:off x="6181344" y="1371600"/>
            <a:ext cx="2670048" cy="3017520"/>
          </a:xfrm>
          <a:prstGeom prst="roundRect">
            <a:avLst>
              <a:gd name="adj" fmla="val 2740"/>
            </a:avLst>
          </a:prstGeom>
          <a:solidFill>
            <a:srgbClr val="F6F8FB"/>
          </a:solidFill>
          <a:ln w="9525">
            <a:solidFill>
              <a:srgbClr val="D5DCE6"/>
            </a:solidFill>
            <a:prstDash val="solid"/>
          </a:ln>
        </p:spPr>
      </p:sp>
      <p:sp>
        <p:nvSpPr>
          <p:cNvPr id="15" name="icon circle"/>
          <p:cNvSpPr/>
          <p:nvPr/>
        </p:nvSpPr>
        <p:spPr>
          <a:xfrm>
            <a:off x="6409944" y="1600200"/>
            <a:ext cx="548640" cy="548640"/>
          </a:xfrm>
          <a:prstGeom prst="ellipse">
            <a:avLst/>
          </a:prstGeom>
          <a:solidFill>
            <a:srgbClr val="EB6834"/>
          </a:solidFill>
          <a:ln w="12700">
            <a:solidFill>
              <a:srgbClr val="EB6834"/>
            </a:solidFill>
            <a:prstDash val="solid"/>
          </a:ln>
        </p:spPr>
      </p:sp>
      <p:pic>
        <p:nvPicPr>
          <p:cNvPr id="16" name="Image 2" descr="Fusion">    </p:cNvPr>
          <p:cNvPicPr>
            <a:picLocks noChangeAspect="1"/>
          </p:cNvPicPr>
          <p:nvPr/>
        </p:nvPicPr>
        <p:blipFill>
          <a:blip r:embed="rId3"/>
          <a:stretch>
            <a:fillRect/>
          </a:stretch>
        </p:blipFill>
        <p:spPr>
          <a:xfrm>
            <a:off x="6519672" y="1709928"/>
            <a:ext cx="329184" cy="329184"/>
          </a:xfrm>
          <a:prstGeom prst="rect">
            <a:avLst/>
          </a:prstGeom>
        </p:spPr>
      </p:pic>
      <p:sp>
        <p:nvSpPr>
          <p:cNvPr id="17" name="Text 11"/>
          <p:cNvSpPr txBox="1"/>
          <p:nvPr/>
        </p:nvSpPr>
        <p:spPr>
          <a:xfrm>
            <a:off x="7095744"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Live challenge</a:t>
            </a:r>
            <a:endParaRPr lang="en-US" sz="1600" dirty="0"/>
          </a:p>
        </p:txBody>
      </p:sp>
      <p:sp>
        <p:nvSpPr>
          <p:cNvPr id="18" name="Text 12"/>
          <p:cNvSpPr txBox="1"/>
          <p:nvPr/>
        </p:nvSpPr>
        <p:spPr>
          <a:xfrm>
            <a:off x="6409944"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 random head, mouth or eye action checked on two photos with Face Mesh landmark metrics.</a:t>
            </a:r>
            <a:endParaRPr lang="en-US" sz="1400" dirty="0"/>
          </a:p>
        </p:txBody>
      </p:sp>
      <p:sp>
        <p:nvSpPr>
          <p:cNvPr id="19" name="AI-media check card"/>
          <p:cNvSpPr/>
          <p:nvPr/>
        </p:nvSpPr>
        <p:spPr>
          <a:xfrm>
            <a:off x="8997696" y="1371600"/>
            <a:ext cx="2670048" cy="3017520"/>
          </a:xfrm>
          <a:prstGeom prst="roundRect">
            <a:avLst>
              <a:gd name="adj" fmla="val 2740"/>
            </a:avLst>
          </a:prstGeom>
          <a:solidFill>
            <a:srgbClr val="F6F8FB"/>
          </a:solidFill>
          <a:ln w="9525">
            <a:solidFill>
              <a:srgbClr val="D5DCE6"/>
            </a:solidFill>
            <a:prstDash val="solid"/>
          </a:ln>
        </p:spPr>
      </p:sp>
      <p:sp>
        <p:nvSpPr>
          <p:cNvPr id="20" name="icon circle"/>
          <p:cNvSpPr/>
          <p:nvPr/>
        </p:nvSpPr>
        <p:spPr>
          <a:xfrm>
            <a:off x="9226296" y="1600200"/>
            <a:ext cx="548640" cy="548640"/>
          </a:xfrm>
          <a:prstGeom prst="ellipse">
            <a:avLst/>
          </a:prstGeom>
          <a:solidFill>
            <a:srgbClr val="EDA100"/>
          </a:solidFill>
          <a:ln w="12700">
            <a:solidFill>
              <a:srgbClr val="EDA100"/>
            </a:solidFill>
            <a:prstDash val="solid"/>
          </a:ln>
        </p:spPr>
      </p:sp>
      <p:pic>
        <p:nvPicPr>
          <p:cNvPr id="21" name="Image 3" descr="AI-media check">    </p:cNvPr>
          <p:cNvPicPr>
            <a:picLocks noChangeAspect="1"/>
          </p:cNvPicPr>
          <p:nvPr/>
        </p:nvPicPr>
        <p:blipFill>
          <a:blip r:embed="rId4"/>
          <a:stretch>
            <a:fillRect/>
          </a:stretch>
        </p:blipFill>
        <p:spPr>
          <a:xfrm>
            <a:off x="9336024" y="1709928"/>
            <a:ext cx="329184" cy="329184"/>
          </a:xfrm>
          <a:prstGeom prst="rect">
            <a:avLst/>
          </a:prstGeom>
        </p:spPr>
      </p:pic>
      <p:sp>
        <p:nvSpPr>
          <p:cNvPr id="22" name="Text 15"/>
          <p:cNvSpPr txBox="1"/>
          <p:nvPr/>
        </p:nvSpPr>
        <p:spPr>
          <a:xfrm>
            <a:off x="9912096"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Face verification</a:t>
            </a:r>
            <a:endParaRPr lang="en-US" sz="1600" dirty="0"/>
          </a:p>
        </p:txBody>
      </p:sp>
      <p:sp>
        <p:nvSpPr>
          <p:cNvPr id="23" name="Text 16"/>
          <p:cNvSpPr txBox="1"/>
          <p:nvPr/>
        </p:nvSpPr>
        <p:spPr>
          <a:xfrm>
            <a:off x="9226296"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ArcFace embeddings: same person in both photos, matches enrolment, not a duplicate in the session.</a:t>
            </a:r>
            <a:endParaRPr lang="en-US" sz="1400" dirty="0"/>
          </a:p>
        </p:txBody>
      </p:sp>
      <p:sp>
        <p:nvSpPr>
          <p:cNvPr id="24" name="Web application card"/>
          <p:cNvSpPr/>
          <p:nvPr/>
        </p:nvSpPr>
        <p:spPr>
          <a:xfrm>
            <a:off x="548640" y="4572000"/>
            <a:ext cx="11094415" cy="1234440"/>
          </a:xfrm>
          <a:prstGeom prst="roundRect">
            <a:avLst>
              <a:gd name="adj" fmla="val 5926"/>
            </a:avLst>
          </a:prstGeom>
          <a:solidFill>
            <a:srgbClr val="F6F8FB"/>
          </a:solidFill>
          <a:ln w="9525">
            <a:solidFill>
              <a:srgbClr val="D5DCE6"/>
            </a:solidFill>
            <a:prstDash val="solid"/>
          </a:ln>
        </p:spPr>
      </p:sp>
      <p:sp>
        <p:nvSpPr>
          <p:cNvPr id="25" name="icon circle"/>
          <p:cNvSpPr/>
          <p:nvPr/>
        </p:nvSpPr>
        <p:spPr>
          <a:xfrm>
            <a:off x="777240" y="4800600"/>
            <a:ext cx="548640" cy="548640"/>
          </a:xfrm>
          <a:prstGeom prst="ellipse">
            <a:avLst/>
          </a:prstGeom>
          <a:solidFill>
            <a:srgbClr val="1B2A41"/>
          </a:solidFill>
          <a:ln w="12700">
            <a:solidFill>
              <a:srgbClr val="1B2A41"/>
            </a:solidFill>
            <a:prstDash val="solid"/>
          </a:ln>
        </p:spPr>
      </p:sp>
      <p:pic>
        <p:nvPicPr>
          <p:cNvPr id="26" name="Image 4" descr="Web application">    </p:cNvPr>
          <p:cNvPicPr>
            <a:picLocks noChangeAspect="1"/>
          </p:cNvPicPr>
          <p:nvPr/>
        </p:nvPicPr>
        <p:blipFill>
          <a:blip r:embed="rId5"/>
          <a:stretch>
            <a:fillRect/>
          </a:stretch>
        </p:blipFill>
        <p:spPr>
          <a:xfrm>
            <a:off x="886968" y="4910328"/>
            <a:ext cx="329184" cy="329184"/>
          </a:xfrm>
          <a:prstGeom prst="rect">
            <a:avLst/>
          </a:prstGeom>
        </p:spPr>
      </p:pic>
      <p:sp>
        <p:nvSpPr>
          <p:cNvPr id="27" name="Text 19"/>
          <p:cNvSpPr txBox="1"/>
          <p:nvPr/>
        </p:nvSpPr>
        <p:spPr>
          <a:xfrm>
            <a:off x="1463040" y="4754880"/>
            <a:ext cx="9997135"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Web application</a:t>
            </a:r>
            <a:endParaRPr lang="en-US" sz="1600" dirty="0"/>
          </a:p>
        </p:txBody>
      </p:sp>
      <p:sp>
        <p:nvSpPr>
          <p:cNvPr id="28" name="Text 20"/>
          <p:cNvSpPr txBox="1"/>
          <p:nvPr/>
        </p:nvSpPr>
        <p:spPr>
          <a:xfrm>
            <a:off x="777240" y="5440680"/>
            <a:ext cx="10637215" cy="228600"/>
          </a:xfrm>
          <a:prstGeom prst="rect">
            <a:avLst/>
          </a:prstGeom>
          <a:noFill/>
          <a:ln/>
        </p:spPr>
        <p:txBody>
          <a:bodyPr wrap="square" lIns="0" tIns="0" rIns="0" bIns="0" rtlCol="0" anchor="t"/>
          <a:lstStyle/>
          <a:p>
            <a:pPr indent="0" marL="0">
              <a:spcAft>
                <a:spcPts val="400"/>
              </a:spcAft>
              <a:buNone/>
            </a:pPr>
            <a:r>
              <a:rPr lang="en-US" sz="1150" dirty="0">
                <a:solidFill>
                  <a:srgbClr val="475569"/>
                </a:solidFill>
              </a:rPr>
              <a:t>React front end, FastAPI back end, SQLite; records, map, verification log, analytics and Excel export.</a:t>
            </a:r>
            <a:endParaRPr lang="en-US" sz="11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5" name="Text 1"/>
          <p:cNvSpPr txBox="1"/>
          <p:nvPr/>
        </p:nvSpPr>
        <p:spPr>
          <a:xfrm>
            <a:off x="548640" y="576072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Proposed architecture: React front end, FastAPI back end with verification services, SQLite and local AI models</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System architecture diagram" descr="System architecture diagram"/>
          <p:cNvPicPr>
            <a:picLocks noChangeAspect="1"/>
          </p:cNvPicPr>
          <p:nvPr/>
        </p:nvPicPr>
        <p:blipFill>
          <a:blip r:embed="rId4"/>
          <a:stretch>
            <a:fillRect/>
          </a:stretch>
        </p:blipFill>
        <p:spPr>
          <a:xfrm>
            <a:off x="2584106" y="1123950"/>
            <a:ext cx="6452286" cy="4591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4" name="Multimodal model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Multimodal model">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Proxy attendance blocked</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forwarded link, a photo or a second identity should fail a check (to be measured).</a:t>
            </a:r>
            <a:endParaRPr lang="en-US" sz="1600" dirty="0"/>
          </a:p>
        </p:txBody>
      </p:sp>
      <p:sp>
        <p:nvSpPr>
          <p:cNvPr id="9" name="Transparent output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Transparent output">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Presence proven</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Only students inside the geo-fence can complete a check-in.</a:t>
            </a:r>
            <a:endParaRPr lang="en-US" sz="1600" dirty="0"/>
          </a:p>
        </p:txBody>
      </p:sp>
      <p:sp>
        <p:nvSpPr>
          <p:cNvPr id="14" name="Honest evaluation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sp>
      <p:pic>
        <p:nvPicPr>
          <p:cNvPr id="16" name="Image 2" descr="Honest evaluati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Fast check-in</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student completes the checks in seconds on a phone.</a:t>
            </a:r>
            <a:endParaRPr lang="en-US" sz="1600" dirty="0"/>
          </a:p>
        </p:txBody>
      </p:sp>
      <p:sp>
        <p:nvSpPr>
          <p:cNvPr id="19" name="Generated-media signal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EDA100"/>
          </a:solidFill>
          <a:ln w="12700">
            <a:solidFill>
              <a:srgbClr val="EDA100"/>
            </a:solidFill>
            <a:prstDash val="solid"/>
          </a:ln>
        </p:spPr>
      </p:sp>
      <p:pic>
        <p:nvPicPr>
          <p:cNvPr id="21" name="Image 3" descr="Generated-media signal">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Faculty control</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Time window, allowed rolls, device reset, close session.</a:t>
            </a:r>
            <a:endParaRPr lang="en-US" sz="1600" dirty="0"/>
          </a:p>
        </p:txBody>
      </p:sp>
      <p:sp>
        <p:nvSpPr>
          <p:cNvPr id="24" name="Usable system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sp>
      <p:pic>
        <p:nvPicPr>
          <p:cNvPr id="26" name="Image 4" descr="Usable system">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Usable records</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Live list, map, verification log and Excel with absentees.</a:t>
            </a:r>
            <a:endParaRPr lang="en-US" sz="1600" dirty="0"/>
          </a:p>
        </p:txBody>
      </p:sp>
      <p:sp>
        <p:nvSpPr>
          <p:cNvPr id="29" name="Quality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1B2A41"/>
          </a:solidFill>
          <a:ln w="12700">
            <a:solidFill>
              <a:srgbClr val="1B2A41"/>
            </a:solidFill>
            <a:prstDash val="solid"/>
          </a:ln>
        </p:spPr>
      </p:sp>
      <p:pic>
        <p:nvPicPr>
          <p:cNvPr id="31" name="Image 5" descr="Quality">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Honest evaluation</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Thresholds measured on a public benchmark; limits reported plainly.</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0F172A"/>
                </a:solidFill>
              </a:rPr>
              <a:t>[1] K. B. Dharmaraj, C. N. Dhanushree, H. V. Revanth, N. Shashank and P. M. Tejaswini, "Real-Time Student Face Recognition Attendance System Using AI," International Advanced Research Journal in Science, Engineering and Technology (IARJSET), vol. 12, no. 5, pp. 1067-1072, May 2025, doi: 10.17148/IARJSET.2025.125183.</a:t>
            </a:r>
            <a:endParaRPr lang="en-US" sz="1300" dirty="0"/>
          </a:p>
          <a:p>
            <a:pPr marL="228600" indent="-228600">
              <a:spcAft>
                <a:spcPts val="400"/>
              </a:spcAft>
              <a:buSzPct val="100000"/>
              <a:buChar char="•"/>
            </a:pPr>
            <a:r>
              <a:rPr lang="en-US" sz="1300" dirty="0">
                <a:solidFill>
                  <a:srgbClr val="0F172A"/>
                </a:solidFill>
              </a:rPr>
              <a:t>[2] "A comprehensive review on face recognition, anti-spoofing liveness verification and automated dress code enforcement techniques for smart attendance framework," International Journal of Research Publication and Reviews, 2026.</a:t>
            </a:r>
            <a:endParaRPr lang="en-US" sz="1300" dirty="0"/>
          </a:p>
          <a:p>
            <a:pPr marL="228600" indent="-228600">
              <a:spcAft>
                <a:spcPts val="400"/>
              </a:spcAft>
              <a:buSzPct val="100000"/>
              <a:buChar char="•"/>
            </a:pPr>
            <a:r>
              <a:rPr lang="en-US" sz="1300" dirty="0">
                <a:solidFill>
                  <a:srgbClr val="0F172A"/>
                </a:solidFill>
              </a:rPr>
              <a:t>[3] A. Shandilya and H. R. Shah, "Smart attendance framework using face recognition, anti-spoofing liveness verification and automated dress code enforcement," International Journal of Innovative Science and Research Technology (IJISRT), vol. 11, no. 6, Jun. 2026, doi: 10.38124/ijisrt/26jun403.</a:t>
            </a:r>
            <a:endParaRPr lang="en-US" sz="1300" dirty="0"/>
          </a:p>
          <a:p>
            <a:pPr marL="228600" indent="-228600">
              <a:spcAft>
                <a:spcPts val="400"/>
              </a:spcAft>
              <a:buSzPct val="100000"/>
              <a:buChar char="•"/>
            </a:pPr>
            <a:r>
              <a:rPr lang="en-US" sz="1300" dirty="0">
                <a:solidFill>
                  <a:srgbClr val="0F172A"/>
                </a:solidFill>
              </a:rPr>
              <a:t>[4] "A classroom attendance system with anti-spoofing based on ResNet101 and ArcFace for face recognition," Journal of Intelligence and Knowledge Engineering, 2026.</a:t>
            </a:r>
            <a:endParaRPr lang="en-US" sz="1300" dirty="0"/>
          </a:p>
          <a:p>
            <a:pPr marL="228600" indent="-228600">
              <a:spcAft>
                <a:spcPts val="400"/>
              </a:spcAft>
              <a:buSzPct val="100000"/>
              <a:buChar char="•"/>
            </a:pPr>
            <a:r>
              <a:rPr lang="en-US" sz="1300" dirty="0">
                <a:solidFill>
                  <a:srgbClr val="0F172A"/>
                </a:solidFill>
              </a:rPr>
              <a:t>[5] A. E. U. Salam et al., "Automatic attendance system using silent face anti-spoofing to detect spoof on face recognition," in Proc. 2025 Int. Conf. Smart Computing, IoT and Machine Learning (SIML), 2025, doi: 10.1109/SIML65326.2025.11081084.</a:t>
            </a:r>
            <a:endParaRPr lang="en-US" sz="1300" dirty="0"/>
          </a:p>
          <a:p>
            <a:pPr marL="228600" indent="-228600">
              <a:spcAft>
                <a:spcPts val="400"/>
              </a:spcAft>
              <a:buSzPct val="100000"/>
              <a:buChar char="•"/>
            </a:pPr>
            <a:r>
              <a:rPr lang="en-US" sz="1300" dirty="0">
                <a:solidFill>
                  <a:srgbClr val="0F172A"/>
                </a:solidFill>
              </a:rPr>
              <a:t>[6] J. Deng, J. Guo, N. Xue and S. Zafeiriou, "ArcFace: Additive angular margin loss for deep face recognition," in Proc. IEEE/CVF Conf. Computer Vision and Pattern Recognition (CVPR), 2019, pp. 4690-4699.</a:t>
            </a:r>
            <a:endParaRPr lang="en-US" sz="1300" dirty="0"/>
          </a:p>
          <a:p>
            <a:pPr marL="228600" indent="-228600">
              <a:spcAft>
                <a:spcPts val="400"/>
              </a:spcAft>
              <a:buSzPct val="100000"/>
              <a:buChar char="•"/>
            </a:pPr>
            <a:r>
              <a:rPr lang="en-US" sz="1300" dirty="0">
                <a:solidFill>
                  <a:srgbClr val="0F172A"/>
                </a:solidFill>
              </a:rPr>
              <a:t>[7] J. Guo, J. Deng, A. Lattas and S. Zafeiriou, "Sample and computation redistribution for efficient face detection," in Proc. Int. Conf. Learning Representations (ICLR), 2022.</a:t>
            </a:r>
            <a:endParaRPr lang="en-US" sz="1300" dirty="0"/>
          </a:p>
          <a:p>
            <a:pPr marL="228600" indent="-228600">
              <a:spcAft>
                <a:spcPts val="400"/>
              </a:spcAft>
              <a:buSzPct val="100000"/>
              <a:buChar char="•"/>
            </a:pPr>
            <a:r>
              <a:rPr lang="en-US" sz="1300" dirty="0">
                <a:solidFill>
                  <a:srgbClr val="0F172A"/>
                </a:solidFill>
              </a:rPr>
              <a:t>[8] Y. Kartynnik, A. Ablavatski, I. Grishchenko and M. Grundmann, "Real-time facial surface geometry from monocular video on mobile GPUs," in Proc. CVPR Workshops, 2019, arXiv:1907.06724.</a:t>
            </a:r>
            <a:endParaRPr lang="en-US" sz="13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Hidden Risk">
  <a:themeElements>
    <a:clrScheme name="Hidden Risk">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Hidden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Attendance Magic: Review 1</dc:title>
  <dc:subject>Attendance Magic: A Smart Geo-Fenced Attendance System with Live Challenge Verification</dc:subject>
  <dc:creator>Batch A2</dc:creator>
  <cp:lastModifiedBy>Batch A2</cp:lastModifiedBy>
  <cp:revision>1</cp:revision>
  <dcterms:created xsi:type="dcterms:W3CDTF">2026-10-13T12:36:40Z</dcterms:created>
  <dcterms:modified xsi:type="dcterms:W3CDTF">2026-10-13T12:36:40Z</dcterms:modified>
  <cp:keywords>geo-fencing, liveness, face verification, attendance</cp:keywords>
  <cp:category/>
  <dc:description/>
  <cp:contentStatus/>
</cp:coreProperties>
</file>