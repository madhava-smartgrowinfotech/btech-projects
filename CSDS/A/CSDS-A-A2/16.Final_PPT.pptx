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Final review of Attendance Magic: geo-fenced attendance with live challenge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Abstract: problem, combined checks, application, and the measured headline with its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base paper is a classroom face-recognition attendance system with LBPH. It is silent about spoofing and 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Only the abstracts of [3] and [5] were read; [2] and [4] could not be retrieved, so we do not claim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gap is the combination of checks in one time-bound session, with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Nothing is trained, so the evaluation is of thresholds and attacks, not of accuracy curves.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There is no accuracy curve because nothing is trained. These are threshold measurements on 4,307 LFW pairs plus attack and timing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equivalent of a confusion matrix for a threshold decision: the two distributions barely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Our own attack experiments show where liveness is weak: rotated photos and photo banks.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Measured on an i5-12500 laptop-class desktop with other applications running; network time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Questions are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Magic: A Smart Geo-Fenced Attendance System with Live Challenge Verification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A2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23K91A6706   A.GREESHMA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23K91A6740   B.VINAY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23K91A6757   G.SRIRAM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24K95A6704   B.SAI KUMAR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[GUIDE NAME]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 (Data Science)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(DATA SCIENCE)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Problem Statement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Verification Chain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Implementation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Testing &amp; Comparison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by roll call or shared link is slow and easy to fake; face recognition confirms identity but a photo can still be shown.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Magic combines, in one time-bound session: JWT and device-bound sign-in, roll restrictions, a GPS geo-fence, a random live facial challenge (MediaPipe Face Mesh) and ArcFace face matching (InsightFace) with a duplicate-face check.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create sessions and share a link or QR code; students check in from a phone; records, a map, a verification log and an Excel export follow.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is trained. Measured on public LFW pairs: AUC 0.999; at the deployed threshold 98.7% of same-person pairs pass and 0 of 2,166 different-person pairs do.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stolen photo fails 7 of 8 challenges; a rotated photo or several photos of the victim can still pass, and this is reported as a limitation.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attendance, geo-fencing, liveness, face verification, ArcFace, MediaPipe.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B. Dharmaraj, C. N. Dhanushree, H. V. Revanth, N. Shashank and P. M. Tejaswini, "Real-Time Student Face Recognition Attendance System Using AI," International Advanced Research Journal in Science, Engineering and Technology (IARJSET), vol. 12, no. 5, pp. 1067-1072, May 2025, doi: 10.17148/IARJSET.2025.125183.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Python desktop application with a Tkinter GUI; webcam captures 25-30 images per student; Haar cascade face detection and LBPH recognition; subject-wise CSV logs; manual entry and text-to-speech feedback.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results: about 92-95% recognition under good frontal light, 5-8% false negatives, 0% false positives, under 2 s per face; basic hardware, no GPU.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(our reading): identity only; no liveness, location, session window or duplicate-identity check; accuracy depends on light and pose; no dataset size or protocol reported.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in the paper: Haar+LBPH, CNN+SVM/KNN, VGG16/ResNet transfer learning, FaceNet+MTCNN.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8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3149193"/>
                <a:gridCol w="1574596"/>
                <a:gridCol w="2249424"/>
                <a:gridCol w="2024481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Dharmaraj et al., 2025 (base) [1]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Haar cascade + LBPH; Tkinter; CSV logs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 simulations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~92-95% recognition; 0% false positives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liveness, location or duplicate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Shandilya and Shah, 2026 [3]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ArcFace (DeepFace), LBP, EAR blink, HSV dress code; FastAPI + Streamlit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read beyond abstract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 recognition; 97.1% liveness; 92.4% dress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geo-fence reported (abstract)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Salam et al., 2025 [5]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Silent-face anti-spoofing: CNN + Fourier transform; Raspberry Pi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Varied light and distance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Figures not 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Spoof detection only (abstract)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 system, 2026 [4]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ResNet101 anti-spoofing + ArcFace (title)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reviewed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Review, 2026 [2]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Review: recognition, liveness, dress code (title)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retrieved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reviewed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Face-recognition works in [1]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LBPH; CNN+SVM/KNN; VGG16/ResNet; FaceNet+MTCNN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&gt;99% in controlled light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light, occlusion, look-alikes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2924251"/>
                <a:gridCol w="8322868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Paper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Gap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[1]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only: no liveness, no location proof, no session window, no duplicate-identity check; small informal tests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Shandilya and Shah [3]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 by LBP and blink; no location or per-session duplicate check reported in the abstract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Salam et al. [5]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Anti-spoofing module for a low-cost device; no attendance-session, location or roll-restriction logic reported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/ QR systems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forward to absent students; no identity or presence check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reviewed work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 tool joins time-bound sessions, geo-fence, device binding, random challenge, duplicate check and Excel reports, with measured thresholds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and link-based attendance is slow, error-prone and shareable with absent students.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without liveness can be fooled by a photo, and does not prove the student is in the classroom.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can mark several identities if faces in a session are not compared.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given a faculty-defined session, accept a student's attendance only when the session is live, the student and device are eligible, the position is inside the geo-fence, a random live challenge is performed, and the face matches the enrolled face and no other face already recorded in the session.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faculty to create time-bound attendance sessions with configurable geo-fences.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students with JWT, device identification and roll-number restrictions.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physical presence by comparing GPS location with the session boundary.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liveness through a random live facial challenge using MediaPipe.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duplicate identities by matching InsightFace embeddings within each session.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attendance summaries and Excel export for faculty.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automated tests and measure the checks on a public benchmark.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Session - faculty set course, window, centre, radius (60 m default) and allowed roll patterns; a unique link and QR code are shared.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Sign-in - PBKDF2 password check; JWT valid 120 minutes and bound to a device hash.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Eligibility - session live, roll allowed, not already marked, one device per student.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Geo-fence - GPS inside radius + 15 m tolerance; accuracy worse than 150 m rejected.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Live challenge - random head, mouth or eye action on two photos; three tries.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Face match - same person in both photos, matches enrolment, not a duplicate in the session.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Record and report - verification log, map, analytics, Excel export.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architecture: browsers, React frontend, FastAPI backend with verification services, SQLite and local AI models</a:t>
            </a:r>
            <a:endParaRPr lang="en-US" sz="1200" dirty="0"/>
          </a:p>
        </p:txBody>
      </p:sp>
      <p:pic>
        <p:nvPicPr>
          <p:cNvPr id="9" name="System architecture" descr="System archite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8064" y="1695450"/>
            <a:ext cx="567587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workflow: create session, share, sign in, eligibility, geo-fence, challenge, face match, record, monitor, export</a:t>
            </a:r>
            <a:endParaRPr lang="en-US" sz="1200" dirty="0"/>
          </a:p>
        </p:txBody>
      </p:sp>
      <p:pic>
        <p:nvPicPr>
          <p:cNvPr id="9" name="High-level workflow" descr="High-level workfl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2058" y="1695450"/>
            <a:ext cx="7500257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Features &amp; Model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is trained: MediaPipe Face Mesh (468 landmarks) and InsightFace buffalo_l (SCRFD + ArcFace R50, 512-d) are used as published, on CPU.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yaw, pitch, roll, mouth aspect ratio and eye aspect ratio from landmarks; 512-d face embeddings; haversine distance.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thresholds: yaw 0.12, pitch 0.08, roll 12 deg, MAR 0.35, EAR 0.18; neutral frame |yaw| &lt;= 0.10, MAR &lt;= 0.25.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thresholds: frame consistency 0.45, identity 0.40, duplicate 0.45 (cosine similarity).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data: LFW protocol (6,000 pairs; 4,307 scored), 1,000 LFW photos for liveness, 157 identities with 10+ photos for attack tests. No train/test split of our own.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data: 5 accounts and 2 sessions; LFW photos stand in for student photographs.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 of one check-in: eligibility, location, liveness, consistency and identity, duplicate scan, record</a:t>
            </a:r>
            <a:endParaRPr lang="en-US" sz="1200" dirty="0"/>
          </a:p>
        </p:txBody>
      </p:sp>
      <p:pic>
        <p:nvPicPr>
          <p:cNvPr id="9" name="Algorithm flowchart" descr="Algorithm flow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858" y="1695450"/>
            <a:ext cx="4414283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of a student check-in through the React app, FastAPI, core services and SQLite</a:t>
            </a:r>
            <a:endParaRPr lang="en-US" sz="1200" dirty="0"/>
          </a:p>
        </p:txBody>
      </p:sp>
      <p:pic>
        <p:nvPicPr>
          <p:cNvPr id="9" name="Sequence diagram" descr="Sequence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9233" y="1695450"/>
            <a:ext cx="5833533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Entity–relationship diagram (5 SQLite tables)</a:t>
            </a:r>
            <a:endParaRPr lang="en-US" sz="1200" dirty="0"/>
          </a:p>
        </p:txBody>
      </p:sp>
      <p:pic>
        <p:nvPicPr>
          <p:cNvPr id="9" name="ER diagram" descr="ER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4055" y="1695450"/>
            <a:ext cx="4883888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2474366"/>
                <a:gridCol w="8772753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and roll patterns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secrets.token_urlsafe(24) link tokens; fnmatch roll patterns; explicit lists give absentees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PBKDF2-HMAC-SHA256 (200,000 iterations); JWT HS256 bound to a SHA-256 device hash; role guards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Geo-fence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haversine on a 6,371 km sphere (0.47% from WGS-84); radius + 15 m; accuracy gate 150 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Mesh landmarks to yaw, pitch, roll, MAR, EAR; 8 random challenges; 3 tries then lock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match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ArcFace embeddings, cosine similarity; one face per frame; duplicate scan against session records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and UI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FastAPI endpoints; React 19 wizard; Excel export (Summary, Attendance, Verification Log)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– Verification Chain on Public Pairs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8" cy="914400"/>
        </p:xfrm>
        <a:graphic>
          <a:graphicData uri="http://schemas.openxmlformats.org/drawingml/2006/table">
            <a:tbl>
              <a:tblPr/>
              <a:tblGrid>
                <a:gridCol w="4273905"/>
                <a:gridCol w="3824020"/>
                <a:gridCol w="3149193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Magic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[1]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person accepted (identity 0.40)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 (LFW, 2,141 pairs)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~92-95% (own classroom data)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person accepted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2,166 pairs (max 0.246)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false positives (reported)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face caught (0.45)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97.2% of same-person pairs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provided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stolen photo vs live challenge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pass for 7 of 8 actions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liveness check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Check-in server time (median)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 s on a CPU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s per face (reported)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proof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geo-fence 75 m limit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data: LFW press photos (ours) vs the base paper's own classroom data; not a head-to-head comparison.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Distributions &amp; Threshold Behaviour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Same-person and different-person similarity (LFW)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rates by threshold: 0.40 gives 1.3% false rejects, 0 false accepts</a:t>
            </a:r>
            <a:endParaRPr lang="en-US" sz="1200" dirty="0"/>
          </a:p>
        </p:txBody>
      </p:sp>
      <p:pic>
        <p:nvPicPr>
          <p:cNvPr id="11" name="Same-person and different-person similarity (LFW)" descr="Same-person and different-person similarity (LFW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1955222"/>
            <a:ext cx="5486400" cy="2909454"/>
          </a:xfrm>
          <a:prstGeom prst="rect">
            <a:avLst/>
          </a:prstGeom>
        </p:spPr>
      </p:pic>
      <p:pic>
        <p:nvPicPr>
          <p:cNvPr id="12" name="Error rates by threshold: 0.40 gives 1.3% false rejects, 0 false accepts" descr="Error rates by threshold: 0.40 gives 1.3% false rejects, 0 false accept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2529" y="1733550"/>
            <a:ext cx="539719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Attacks &amp; Parameter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by challenge (stills; no live person)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one photo by 15 deg or more passes both tilt challenges</a:t>
            </a:r>
            <a:endParaRPr lang="en-US" sz="1200" dirty="0"/>
          </a:p>
        </p:txBody>
      </p:sp>
      <p:pic>
        <p:nvPicPr>
          <p:cNvPr id="11" name="Attack success by challenge (stills; no live person)" descr="Attack success by challenge (stills; no live person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2000250"/>
            <a:ext cx="5486400" cy="2819400"/>
          </a:xfrm>
          <a:prstGeom prst="rect">
            <a:avLst/>
          </a:prstGeom>
        </p:spPr>
      </p:pic>
      <p:pic>
        <p:nvPicPr>
          <p:cNvPr id="12" name="Rotating one photo by 15 deg or more passes both tilt challenges" descr="Rotating one photo by 15 deg or more passes both tilt challeng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1996786"/>
            <a:ext cx="5486400" cy="282632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9" cy="914400"/>
        </p:xfrm>
        <a:graphic>
          <a:graphicData uri="http://schemas.openxmlformats.org/drawingml/2006/table">
            <a:tbl>
              <a:tblPr/>
              <a:tblGrid>
                <a:gridCol w="3149193"/>
                <a:gridCol w="809792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load (cold start)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MediaPipe 0.8 s; InsightFace 1.5 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image (CPU)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landmarks 6.8 ms; ArcFace embedding 176 ms (median)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check-in (HTTP, in-process)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564 ms; 95th percentile 806 ms (40 runs)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scan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ms for 1,000 faces; 41 ms for 5,000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tests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pytest tests and 41 API smoke checks pass; 8 attack scenarios blocked at the right stage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load, phone GPS error, camera trials with volunteers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– different datasets)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8937"/>
          <a:ext cx="11247118" cy="914400"/>
        </p:xfrm>
        <a:graphic>
          <a:graphicData uri="http://schemas.openxmlformats.org/drawingml/2006/table">
            <a:tbl>
              <a:tblPr/>
              <a:tblGrid>
                <a:gridCol w="1462125"/>
                <a:gridCol w="1687068"/>
                <a:gridCol w="1799539"/>
                <a:gridCol w="2249424"/>
                <a:gridCol w="2474366"/>
                <a:gridCol w="157459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enforced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/ measured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 [1]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classroom data; size not reported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Haar + LBPH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~92-95% recognition; 0% false positives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Tkinter GUI, CSV, speech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Shandilya and Shah [3]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ArcFace + LBP + blink + HSV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Identity, liveness, dress code (abstract)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 / 97.1% / 92.4% (abstract)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Streamlit, parent alerts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Magic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LFW pairs and stills (public)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ArcFace + Face Mesh challenge + haversine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Session, device, GPS, challenge, identity, duplicate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98.7% same-person pass at 0.40; 0 of 2,166 impostors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app, map, log, Excel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 and protocols: no numeric head-to-head is claimed. Reported figures for [1] and [3] are from their own papers (abstract only for [3]).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Check-in Challenge and Result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challenge with two photos loaded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present: 7.7 m, liveness 1.00, identity 0.86</a:t>
            </a:r>
            <a:endParaRPr lang="en-US" sz="1200" dirty="0"/>
          </a:p>
        </p:txBody>
      </p:sp>
      <p:pic>
        <p:nvPicPr>
          <p:cNvPr id="11" name="Random challenge with two photos loaded" descr="Random challenge with two photos load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234" y="1733550"/>
            <a:ext cx="5025081" cy="3352800"/>
          </a:xfrm>
          <a:prstGeom prst="rect">
            <a:avLst/>
          </a:prstGeom>
        </p:spPr>
      </p:pic>
      <p:pic>
        <p:nvPicPr>
          <p:cNvPr id="12" name="Marked present: 7.7 m, liveness 1.00, identity 0.86" descr="Marked present: 7.7 m, liveness 1.00, identity 0.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1752878"/>
            <a:ext cx="5486400" cy="331414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Blocked Attempts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at location: outside the geo-fence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at face check: duplicate face in the session</a:t>
            </a:r>
            <a:endParaRPr lang="en-US" sz="1200" dirty="0"/>
          </a:p>
        </p:txBody>
      </p:sp>
      <p:pic>
        <p:nvPicPr>
          <p:cNvPr id="11" name="Blocked at location: outside the geo-fence" descr="Blocked at location: outside the geo-fen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95" y="1733550"/>
            <a:ext cx="5440559" cy="3352800"/>
          </a:xfrm>
          <a:prstGeom prst="rect">
            <a:avLst/>
          </a:prstGeom>
        </p:spPr>
      </p:pic>
      <p:pic>
        <p:nvPicPr>
          <p:cNvPr id="12" name="Blocked at face check: duplicate face in the session" descr="Blocked at face check: duplicate face in the sess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925" y="1993745"/>
            <a:ext cx="5486400" cy="28324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– Faculty Records and Dashboard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1148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session: share link, QR and records (present, absent)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263640" y="527685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check-ins per session, checks by stage, latest attempts</a:t>
            </a:r>
            <a:endParaRPr lang="en-US" sz="1200" dirty="0"/>
          </a:p>
        </p:txBody>
      </p:sp>
      <p:pic>
        <p:nvPicPr>
          <p:cNvPr id="11" name="Live session: share link, QR and records (present, absent)" descr="Live session: share link, QR and records (present, absent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261" y="1733550"/>
            <a:ext cx="4807026" cy="3352800"/>
          </a:xfrm>
          <a:prstGeom prst="rect">
            <a:avLst/>
          </a:prstGeom>
        </p:spPr>
      </p:pic>
      <p:pic>
        <p:nvPicPr>
          <p:cNvPr id="12" name="Dashboard: check-ins per session, checks by stage, latest attempts" descr="Dashboard: check-ins per session, checks by stage, latest attempt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8849" y="1733550"/>
            <a:ext cx="4624551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Attendance Magic: a time-bound, geo-fenced attendance system with a random live challenge and duplicate-face check, with a React and FastAPI application.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4,307 LFW pairs the deployed thresholds accept 98.7% of same-person pairs and none of 2,166 different-person pairs (AUC 0.999).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photo is rejected by 7 of 8 challenges; rotated photos and photo banks still pass, so liveness is the weakest link.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pytest tests and 41 API checks pass; a check-in takes about 0.56 s of server time on a CPU.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no live-camera or phone trials, public-benchmark photos, GPS drift not measured, 15.7% of LFW photos rejected by the single-face rule.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with volunteers: genuine pass rate of each challenge, retake rate, usability.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liveness: reject rotated photos, passive texture or depth cues (for example silent-face anti-spoofing [5]), time-limited capture.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deployment over HTTPS with measured GPS error and indoor drift; optional mock-location detection.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database (PostgreSQL) and multi-faculty roles for institution-wide use.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LMS integration; privacy review for storing face embeddings.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K. B. Dharmaraj, C. N. Dhanushree, H. V. Revanth, N. Shashank and P. M. Tejaswini, "Real-Time Student Face Recognition Attendance System Using AI," International Advanced Research Journal in Science, Engineering and Technology (IARJSET), vol. 12, no. 5, pp. 1067-1072, May 2025, doi: 10.17148/IARJSET.2025.125183.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"A comprehensive review on face recognition, anti-spoofing liveness verification and automated dress code enforcement techniques for smart attendance framework," International Journal of Research Publication and Reviews, 2026.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A. Shandilya and H. R. Shah, "Smart attendance framework using face recognition, anti-spoofing liveness verification and automated dress code enforcement," International Journal of Innovative Science and Research Technology (IJISRT), vol. 11, no. 6, Jun. 2026, doi: 10.38124/ijisrt/26jun403.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"A classroom attendance system with anti-spoofing based on ResNet101 and ArcFace for face recognition," Journal of Intelligence and Knowledge Engineering, 2026.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A. E. U. Salam et al., "Automatic attendance system using silent face anti-spoofing to detect spoof on face recognition," in Proc. 2025 Int. Conf. Smart Computing, IoT and Machine Learning (SIML), 2025, doi: 10.1109/SIML65326.2025.11081084.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J. Deng, J. Guo, N. Xue and S. Zafeiriou, "ArcFace: Additive angular margin loss for deep face recognition," in Proc. IEEE/CVF Conf. Computer Vision and Pattern Recognition (CVPR), 2019, pp. 4690-4699.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J. Guo, J. Deng, A. Lattas and S. Zafeiriou, "Sample and computation redistribution for efficient face detection," in Proc. Int. Conf. Learning Representations (ICLR), 2022.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Y. Kartynnik, A. Ablavatski, I. Grishchenko and M. Grundmann, "Real-time facial surface geometry from monocular video on mobile GPUs," in Proc. CVPR Workshops, 2019, arXiv:1907.06724.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G. B. Huang, M. Ramesh, T. Berg and E. Learned-Miller, "Labeled Faces in the Wild: A database for studying face recognition in unconstrained environments," Univ. Massachusetts Amherst, Tech. Rep. 07-49, Oct. 2007.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T. Soukupova and J. Cech, "Real-time eye blink detection using facial landmarks," in Proc. 21st Computer Vision Winter Workshop, 2016.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G. Pan, L. Sun, Z. Wu and S. Lao, "Eyeblink-based anti-spoofing in face recognition from a generic webcamera," in Proc. IEEE Int. Conf. Computer Vision (ICCV), 2007.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Z. Yu, Y. Qin, X. Li, C. Zhao, Z. Lei and G. Zhao, "Deep learning for face anti-spoofing: A survey," IEEE Trans. Pattern Analysis and Machine Intelligence, vol. 45, no. 5, pp. 5609-5631, 2023.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F. Schroff, D. Kalenichenko and J. Philbin, "FaceNet: A unified embedding for face recognition and clustering," in Proc. IEEE CVPR, 2015, pp. 815-823.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R. W. Sinnott, "Virtues of the haversine," Sky and Telescope, vol. 68, no. 2, p. 159, 1984.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T. Vincenty, "Direct and inverse solutions of geodesics on the ellipsoid with application of nested equations," Survey Review, vol. 23, no. 176, pp. 88-93, 1975.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M. Jones, J. Bradley and N. Sakimura, "JSON Web Token (JWT)," RFC 7519, Internet Engineering Task Force, May 2015.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K. Moriarty, B. Kaliski and A. Rusch, "PKCS #5: Password-based cryptography specification version 2.1," RFC 8018, Internet Engineering Task Force, Jan. 2017.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S. Ramirez, "FastAPI documentation." [Online]. Available: https://fastapi.tiangolo.com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M. Bayer, "SQLAlchemy," in The Architecture of Open Source Applications, vol. 2, A. Brown and G. Wilson, Eds., 2012.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Meta Platforms, "React documentation." [Online]. Available: https://react.dev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(Data Science)  |  Batch A2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Attendance Magic: Final Review</dc:title>
  <dc:subject>Attendance Magic: A Smart Geo-Fenced Attendance System with Live Challenge Verification</dc:subject>
  <dc:creator>Batch A2</dc:creator>
  <cp:lastModifiedBy>Batch A2</cp:lastModifiedBy>
  <cp:revision>1</cp:revision>
  <dcterms:created xsi:type="dcterms:W3CDTF">2026-10-07T05:03:03Z</dcterms:created>
  <dcterms:modified xsi:type="dcterms:W3CDTF">2026-10-07T05:03:03Z</dcterms:modified>
  <cp:keywords>geo-fencing, liveness, face verification, attendance</cp:keywords>
  <cp:category/>
  <dc:description/>
  <cp:contentStatus/>
</cp:coreProperties>
</file>