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3623e47-5b1a-7aef-5476-75bff30165c3}">
          <p14:sldIdLst>
            <p14:sldId id="256"/>
            <p14:sldId id="257"/>
            <p14:sldId id="258"/>
          </p14:sldIdLst>
        </p14:section>
        <p14:section name="Design" id="{ee3f979a-aefa-c88f-8568-1021737ba133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rogress" id="{cf39a97a-7fb0-4c7a-0650-0fb3a5c44815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Injected fraud taxpayers (79 of 600)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Injected fraud taxpayers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Shell entity</c:v>
                </c:pt>
                <c:pt idx="1">
                  <c:v>Circular trading</c:v>
                </c:pt>
                <c:pt idx="2">
                  <c:v>Fake-invoice buyer</c:v>
                </c:pt>
                <c:pt idx="3">
                  <c:v>ITC spike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21</c:v>
                </c:pt>
                <c:pt idx="2">
                  <c:v>19</c:v>
                </c:pt>
                <c:pt idx="3">
                  <c:v>12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Precision@k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TaxSentinel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Sheet1!$A$2:$A$5</c:f>
              <c:strCache>
                <c:ptCount val="4"/>
                <c:pt idx="0">
                  <c:v>Top 10</c:v>
                </c:pt>
                <c:pt idx="1">
                  <c:v>Top 25</c:v>
                </c:pt>
                <c:pt idx="2">
                  <c:v>Top 50</c:v>
                </c:pt>
                <c:pt idx="3">
                  <c:v>Top 79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0.9494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 baseline</c:v>
                </c:pt>
              </c:strCache>
            </c:strRef>
          </c:tx>
          <c:spPr>
            <a:solidFill>
              <a:srgbClr val="64748B"/>
            </a:solidFill>
          </c:spPr>
          <c:cat>
            <c:strRef>
              <c:f>Sheet1!$A$2:$A$5</c:f>
              <c:strCache>
                <c:ptCount val="4"/>
                <c:pt idx="0">
                  <c:v>Top 10</c:v>
                </c:pt>
                <c:pt idx="1">
                  <c:v>Top 25</c:v>
                </c:pt>
                <c:pt idx="2">
                  <c:v>Top 50</c:v>
                </c:pt>
                <c:pt idx="3">
                  <c:v>Top 79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1.0</c:v>
                </c:pt>
                <c:pt idx="1">
                  <c:v>0.88</c:v>
                </c:pt>
                <c:pt idx="2">
                  <c:v>0.84</c:v>
                </c:pt>
                <c:pt idx="3">
                  <c:v>0.6203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"/>
          <c:min val="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TaxSentinel: GST ITC fraud detection  ·  Review 2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Self-Supervised, Explainable GST ITC Fraud Detection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JEPA-LLM Tuning Framework for Combating GST and Sales Tax Input Tax Credit Fraud Pattern Detection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2  ·  DESIGN, METHODOLOGY AND PROGRESS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B.ASHRITHA   23K91A6732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B.DIVYA   23K91A6739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A.KISHORE   23K91A6716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A.YAGNESH   23K91A6711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Dr. N. Ch. Ravi, Professor in CSE (Data Science)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 (Data Science)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and Technology (Autonomous)  ·  Batch A5 (CSE-DS)  ·  2026-2027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agenda 1"/>
          <p:cNvSpPr/>
          <p:nvPr/>
        </p:nvSpPr>
        <p:spPr>
          <a:xfrm>
            <a:off x="548640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9808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49808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Recap</a:t>
            </a:r>
            <a:endParaRPr lang="en-US" sz="1500" dirty="0"/>
          </a:p>
        </p:txBody>
      </p:sp>
      <p:sp>
        <p:nvSpPr>
          <p:cNvPr id="7" name="agenda 2"/>
          <p:cNvSpPr/>
          <p:nvPr/>
        </p:nvSpPr>
        <p:spPr>
          <a:xfrm>
            <a:off x="3364992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66160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566160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Architecture</a:t>
            </a:r>
            <a:endParaRPr lang="en-US" sz="1500" dirty="0"/>
          </a:p>
        </p:txBody>
      </p:sp>
      <p:sp>
        <p:nvSpPr>
          <p:cNvPr id="10" name="agenda 3"/>
          <p:cNvSpPr/>
          <p:nvPr/>
        </p:nvSpPr>
        <p:spPr>
          <a:xfrm>
            <a:off x="6181344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82512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382512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Methodology</a:t>
            </a:r>
            <a:endParaRPr lang="en-US" sz="1500" dirty="0"/>
          </a:p>
        </p:txBody>
      </p:sp>
      <p:sp>
        <p:nvSpPr>
          <p:cNvPr id="13" name="agenda 4"/>
          <p:cNvSpPr/>
          <p:nvPr/>
        </p:nvSpPr>
        <p:spPr>
          <a:xfrm>
            <a:off x="8997696" y="13716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98864" y="153619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9198864" y="20116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Dataset</a:t>
            </a:r>
            <a:endParaRPr lang="en-US" sz="1500" dirty="0"/>
          </a:p>
        </p:txBody>
      </p:sp>
      <p:sp>
        <p:nvSpPr>
          <p:cNvPr id="16" name="agenda 5"/>
          <p:cNvSpPr/>
          <p:nvPr/>
        </p:nvSpPr>
        <p:spPr>
          <a:xfrm>
            <a:off x="548640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9808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Preprocessing</a:t>
            </a:r>
            <a:endParaRPr lang="en-US" sz="1500" dirty="0"/>
          </a:p>
        </p:txBody>
      </p:sp>
      <p:sp>
        <p:nvSpPr>
          <p:cNvPr id="19" name="agenda 6"/>
          <p:cNvSpPr/>
          <p:nvPr/>
        </p:nvSpPr>
        <p:spPr>
          <a:xfrm>
            <a:off x="3364992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3566160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Model and training</a:t>
            </a:r>
            <a:endParaRPr lang="en-US" sz="1500" dirty="0"/>
          </a:p>
        </p:txBody>
      </p:sp>
      <p:sp>
        <p:nvSpPr>
          <p:cNvPr id="22" name="agenda 7"/>
          <p:cNvSpPr/>
          <p:nvPr/>
        </p:nvSpPr>
        <p:spPr>
          <a:xfrm>
            <a:off x="6181344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82512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Decision logic</a:t>
            </a:r>
            <a:endParaRPr lang="en-US" sz="1500" dirty="0"/>
          </a:p>
        </p:txBody>
      </p:sp>
      <p:sp>
        <p:nvSpPr>
          <p:cNvPr id="25" name="agenda 8"/>
          <p:cNvSpPr/>
          <p:nvPr/>
        </p:nvSpPr>
        <p:spPr>
          <a:xfrm>
            <a:off x="8997696" y="288036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198864" y="304495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3520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Data flow, modules, database</a:t>
            </a:r>
            <a:endParaRPr lang="en-US" sz="1500" dirty="0"/>
          </a:p>
        </p:txBody>
      </p:sp>
      <p:sp>
        <p:nvSpPr>
          <p:cNvPr id="28" name="agenda 9"/>
          <p:cNvSpPr/>
          <p:nvPr/>
        </p:nvSpPr>
        <p:spPr>
          <a:xfrm>
            <a:off x="548640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Technology stack</a:t>
            </a:r>
            <a:endParaRPr lang="en-US" sz="1500" dirty="0"/>
          </a:p>
        </p:txBody>
      </p:sp>
      <p:sp>
        <p:nvSpPr>
          <p:cNvPr id="31" name="agenda 10"/>
          <p:cNvSpPr/>
          <p:nvPr/>
        </p:nvSpPr>
        <p:spPr>
          <a:xfrm>
            <a:off x="3364992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66160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3566160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Progress</a:t>
            </a:r>
            <a:endParaRPr lang="en-US" sz="1500" dirty="0"/>
          </a:p>
        </p:txBody>
      </p:sp>
      <p:sp>
        <p:nvSpPr>
          <p:cNvPr id="34" name="agenda 11"/>
          <p:cNvSpPr/>
          <p:nvPr/>
        </p:nvSpPr>
        <p:spPr>
          <a:xfrm>
            <a:off x="6181344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382512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6382512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Preliminary results and screens</a:t>
            </a:r>
            <a:endParaRPr lang="en-US" sz="1500" dirty="0"/>
          </a:p>
        </p:txBody>
      </p:sp>
      <p:sp>
        <p:nvSpPr>
          <p:cNvPr id="37" name="agenda 12"/>
          <p:cNvSpPr/>
          <p:nvPr/>
        </p:nvSpPr>
        <p:spPr>
          <a:xfrm>
            <a:off x="8997696" y="43891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6F8FB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198864" y="45537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9198864" y="50292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Testing, challenges, next steps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problem and proposed 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ITC fraud (fake invoices, circular trading, shell companies) is hard to catch with audits and fixed rules; labels are scarce; flags are rarely explained.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55080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1481328"/>
            <a:ext cx="4480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Proposed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148840"/>
            <a:ext cx="5074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TaxSentinel: JEPA behaviour encoder + network and invoice analysis + noisy-OR risk + cited Gemini case notes, served by a secured FastAPI and React application.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023360"/>
            <a:ext cx="1956815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4078224"/>
            <a:ext cx="1810511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Returns, invoices, registrations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564891" y="45720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825496" y="4023360"/>
            <a:ext cx="1956815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98648" y="4078224"/>
            <a:ext cx="1810511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19 features in 3 layers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4841748" y="45720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102351" y="4023360"/>
            <a:ext cx="1956815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3" y="4078224"/>
            <a:ext cx="1810511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JEPA + network + invoice scores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7118603" y="45720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379207" y="4023360"/>
            <a:ext cx="1956815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2359" y="4078224"/>
            <a:ext cx="1810511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Risk, evidence, chains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9395459" y="457200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656063" y="4023360"/>
            <a:ext cx="1956815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29215" y="4078224"/>
            <a:ext cx="1810511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Cited case note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Data: seeded synthetic GST ecosystem with injected fraud labels (no real GST data was available).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02919" y="1235455"/>
            <a:ext cx="6858000" cy="4752848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1175"/>
            <a:ext cx="6766560" cy="46614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589520" y="1371600"/>
            <a:ext cx="4023360" cy="4663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Presentation: React 18, Vite, Tailwind; ten screens, route-level code splitting.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Application: FastAPI, JWT guard, five routers, background generation thread.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Analytics: ml/ package with features, JEPA, graph and pipeline.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Stores: SQLite (users, runs, notes), pickled pipeline state, CSV ecosystem, model weights.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External: Google Gemini for case notes.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1" i="0">
                <a:solidFill>
                  <a:srgbClr val="475569"/>
                </a:solidFill>
              </a:rPr>
              <a:t>Read endpoints are lookups of a state computed once per ecosystem.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end-to-end workflow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Generate ecosystem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930690" y="210312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168434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1586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Build 19 features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550484" y="210312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788228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61380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Train JEPA (no labels)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170278" y="210312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08022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1174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Network + invoice scores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790073" y="210312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27817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0969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Combine risk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409867" y="210312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47611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E8F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20763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Evidence + notes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029661" y="210312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267405" y="1463040"/>
            <a:ext cx="1345474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40557" y="1517904"/>
            <a:ext cx="1199170" cy="1444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Evaluate vs labels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3474720"/>
            <a:ext cx="3611880" cy="2468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3474720"/>
            <a:ext cx="82296" cy="2468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35844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Self-supervised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096511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Labels are never used for training; they are used only to score the result.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80" y="3474720"/>
            <a:ext cx="3611880" cy="2468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80" y="3474720"/>
            <a:ext cx="82296" cy="2468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26280" y="35844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Layer attribution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4096511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Four mask variants (whole month; invoice, behaviour or network layer hidden) show which layer deviates.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3474720"/>
            <a:ext cx="3611880" cy="2468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046720" y="3474720"/>
            <a:ext cx="82296" cy="24688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358444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Reproducible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4096511"/>
            <a:ext cx="32461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Seeded generator, torch and numpy seeds; seed 42 reproduces every reported figure.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input sources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5760720" cy="44805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83680" y="1371600"/>
          <a:ext cx="5029200" cy="4023359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</a:rPr>
                        <a:t>Bundled ecosystem (seed 42)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Period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Apr 2025 - Mar 2026 (12 months)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Taxpayers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600 (8 states, 5 sectors)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Invoices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64,474 (530 fraud)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Monthly returns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6,977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Fraud taxpayers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79 (13.2 %)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59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Hard negatives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Festival seasons, capital purchases, new firms, group companies, late filers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Transfer check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0F172A"/>
                          </a:solidFill>
                        </a:rPr>
                        <a:t>PaySim, 100k rows (CC BY-SA 4.0)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583680" y="56692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All GST data is synthetic sample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and feature layers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611880" cy="4389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Invoice layer (6)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32461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Purchase and sales invoice counts (log)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Share of purchases not reported by suppliers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Goods invoices of Rs 50,000+ without e-way bill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Round-value share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Share bought from suppliers under 6 months 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1371600"/>
            <a:ext cx="3611880" cy="4389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60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148132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Behaviour layer (7)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148840"/>
            <a:ext cx="32461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Outward turnover and ITC claimed (log)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ITC to output tax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ITC claimed above GSTR-2B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Share of tax paid in cash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Filing delay; registration 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1371600"/>
            <a:ext cx="3611880" cy="4389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0" y="1536192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1481328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Network layer (6)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148840"/>
            <a:ext cx="324612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Suppliers and buyers (log)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Share of new partners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Reciprocal sales share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Largest buyer's share</a:t>
            </a:r>
          </a:p>
          <a:p>
            <a:pPr marL="201168" indent="-201168">
              <a:spcAft>
                <a:spcPts val="400"/>
              </a:spcAft>
              <a:buChar char="•"/>
            </a:pPr>
            <a:r>
              <a:rPr sz="1800" b="0" i="0">
                <a:solidFill>
                  <a:srgbClr val="475569"/>
                </a:solidFill>
              </a:rPr>
              <a:t>Value added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Robust scaling (median / IQR, clipped at 10); months without a return are marked absent, not imputed.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and risk model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18849" y="1051560"/>
            <a:ext cx="4980221" cy="512064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10_core_algorithm_flow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569" y="1097280"/>
            <a:ext cx="4888781" cy="5029200"/>
          </a:xfrm>
          <a:prstGeom prst="rect">
            <a:avLst/>
          </a:prstGeom>
        </p:spPr>
      </p:pic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035040" y="1371600"/>
          <a:ext cx="5577840" cy="310896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Online 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19 &gt; 64 &gt; 64 &gt; 32 (LayerNorm, GELU)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Target encoder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EMA copy, momentum 0.99, no gradient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Predictor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135 &gt; 128 &gt; 128 &gt; 32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Mask variants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4 (month, invoice, behaviour, network)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Saved values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53,420 (45,696 trainable)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Risk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1 - (1-0.75J)(1-0.6B)(1-0.7N)(1-0.6I)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035040" y="4846320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J = JEPA deviation, B = behaviour-layer deviation, N = network score, I = invoice score. Weights were set on the seed-42 ecosystem.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566928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384048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Samples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6,977 taxpayer-months, no labels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Window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3 previous months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Optimiser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AdamW, lr 1e-3, weight decay 1e-4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Batch / epochs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256 / 100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MSE in embedding space + variance hinge (weight 1)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Hardware / time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CPU only, 11.7 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Final loss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0.1115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355080" y="1598663"/>
            <a:ext cx="5303520" cy="3020592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Loss per epoch: peaks at 0.261 (epoch 11) as the EMA target moves, then settles near 0.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44383"/>
            <a:ext cx="5212080" cy="29291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0" y="4664976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Loss per epoch: peaks at 0.261 (epoch 11) as the EMA target moves, then settles near 0.11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logic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02919" y="1778529"/>
            <a:ext cx="4937759" cy="2843741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isk score of legitimate (grey) and injected-fraud (red) taxpayers, seed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4249"/>
            <a:ext cx="4846320" cy="27523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466799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Risk score of legitimate (grey) and injected-fraud (red) taxpayers, seed 42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1371600"/>
            <a:ext cx="5943600" cy="1463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0" y="1371600"/>
            <a:ext cx="82296" cy="14630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148132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Flag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1993392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Risk R &gt;= 0.5 flags a taxpayer; an invoice with anomaly score &gt;= 0.5 is anomalous.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3017520"/>
            <a:ext cx="5943600" cy="1463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0" y="3017520"/>
            <a:ext cx="82296" cy="146304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312724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Pattern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7880" y="3639312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Named from the evidence: circular trading, shell entity, fake invoices, ITC spike or unusual behaviour.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4663440"/>
            <a:ext cx="594360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0" y="4663440"/>
            <a:ext cx="82296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4773168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Evidence and note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5285231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Evidence items E1..En are built per taxpayer; the note may restate only those, citing each.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and modules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02919" y="1391896"/>
            <a:ext cx="5852159" cy="4348527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FD level 1 (levels 0 and 2 are in the report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37616"/>
            <a:ext cx="5760720" cy="425708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786143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DFD level 1 (levels 0 and 2 are in the report)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583680" y="1371600"/>
          <a:ext cx="502920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2651760"/>
                <a:gridCol w="82296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Data 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scripts/generate_gst_data.py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483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Features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ml/features.py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169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JEPA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ml/jepa.py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149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Graph analysis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ml/graph.py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110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Pipeline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ml/pipeline.py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530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ml/eval.py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133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API and services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backend/app/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787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Web pages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frontend/src/pages/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1,415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and UML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548640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411480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Table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Columns (keys)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users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id PK, email unique, name, password_hash, created_at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pipeline_runs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id PK, seed, n_taxpayers, status, message, stats JSON, user_id FK, started_at, finished_at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explanations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id PK, run_key, gstin, model, text, evidence JSON, quality JSON, user_id FK, created_at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48640" y="457200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Analytical data (taxpayers, invoices, returns) stays in CSV files joined by GSTIN; the three SQL tables hold users, runs and stored notes.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1574116"/>
            <a:ext cx="5486400" cy="3984086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UML class 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19836"/>
            <a:ext cx="5394960" cy="389264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17920" y="5603923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UML class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Python 3.11.9, JavaScript (React 18)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59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19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Machine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PyTorch 2.14 (CPU), NumPy, NetworkX 3.4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1536192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59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Generative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Google Gemini through google-genai; prompt + grounding checks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3913631"/>
            <a:ext cx="457200" cy="45720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FastAPI 0.115, SQLAlchemy 2.0, PyJWT, bcrypt, SQLite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79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80559" y="3913631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19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Vite 6, Tailwind 4, recharts, react-force-graph-2d, framer-motion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599" y="3913631"/>
            <a:ext cx="457200" cy="457200"/>
          </a:xfrm>
          <a:prstGeom prst="ellipse">
            <a:avLst/>
          </a:prstGeom>
          <a:solidFill>
            <a:srgbClr val="0E8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59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Data and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9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kagglehub (PaySim), pytest-free smoke test, setup.bat / run.bat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progress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7498080" cy="420624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4297680"/>
              </a:tblGrid>
              <a:tr h="411480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Synthetic generator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600 taxpayers, 64,474 invoices, 4 patterns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Features and JEPA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19 features; 11.7 s CPU training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Graph, invoice and risk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9 rings, 7 suspicious clusters, 16 chains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Evidence and Gemini notes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Cited notes with grounding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API and web app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10 screens, JWT, background runs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Evaluation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Baseline, ablations, per-pattern, cross-seed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Not done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0F172A"/>
                          </a:solidFill>
                        </a:rPr>
                        <a:t>Smoke and black-box tests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321040" y="1371600"/>
            <a:ext cx="3291840" cy="1463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148132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AF7A"/>
                </a:solidFill>
              </a:rPr>
              <a:t>20/20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220163"/>
            <a:ext cx="3017520" cy="555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smoke-test checks passed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017520"/>
            <a:ext cx="3291840" cy="1463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312724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2A78D6"/>
                </a:solidFill>
              </a:rPr>
              <a:t>11.7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866083"/>
            <a:ext cx="3017520" cy="555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JEPA training on a CPU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4663440"/>
            <a:ext cx="3291840" cy="14630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4773168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EB6834"/>
                </a:solidFill>
              </a:rPr>
              <a:t>2,710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5512003"/>
            <a:ext cx="3017520" cy="555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lines of Python (ml, backend, scripts)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results: seed-42 ecosystem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7589520" cy="438912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8412480" y="1371600"/>
            <a:ext cx="320040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148132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1BAF7A"/>
                </a:solidFill>
              </a:rPr>
              <a:t>0.955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2167128"/>
            <a:ext cx="292608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F1 at threshold (rules 0.432)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2880360"/>
            <a:ext cx="320040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299008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2A78D6"/>
                </a:solidFill>
              </a:rPr>
              <a:t>0.997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675887"/>
            <a:ext cx="292608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ROC-AUC (rules 0.876)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389120"/>
            <a:ext cx="3200400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4498848"/>
            <a:ext cx="2926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 i="0">
                <a:solidFill>
                  <a:srgbClr val="EB6834"/>
                </a:solidFill>
              </a:rPr>
              <a:t>0.949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5184648"/>
            <a:ext cx="2926080" cy="521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precision@79 (rules 0.620)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475569"/>
                </a:solidFill>
              </a:rPr>
              <a:t>Synthetic data; weights tuned on this seed. Mean F1 on five other seeds: 0.888 (range 0.790 to 0.933).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02919" y="1623059"/>
            <a:ext cx="5577840" cy="352044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Overview after a run: 78 flagged taxpayers, ITC at risk, precision against ru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8779"/>
            <a:ext cx="5486400" cy="3429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189219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</a:rPr>
              <a:t>Overview after a run: 78 flagged taxpayers, ITC at risk, precision against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623059"/>
            <a:ext cx="5577840" cy="352044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op-ranked taxpayer: layer scores and monthly GSTR-2B vs GSTR-3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668779"/>
            <a:ext cx="5486400" cy="3429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217920" y="5189219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475569"/>
                </a:solidFill>
              </a:rPr>
              <a:t>Top-ranked taxpayer: layer scores and monthly GSTR-2B vs GSTR-3B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testing and observations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371600"/>
          <a:ext cx="5303520" cy="353568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</a:tblGrid>
              <a:tr h="4267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End-to-end smoke test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20 / 20 checks passed (39.4 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Edge and security checks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41 / 41 passed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Median API latency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1.7 to 12.1 ms (read endpoints)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Full generate + analyse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18.6 to 29.0 s typical (600 taxpayers)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Unit tests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0F172A"/>
                          </a:solidFill>
                        </a:rPr>
                        <a:t>None; stated as a gap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1792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A wrong password, an altered token, a missing token, bad input and a second concurrent run are all rejected with the expected status codes.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SQL-injection-style and script-tag search text is inert.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Timings were taken on a machine at times heavily loaded by other jobs.</a:t>
            </a:r>
          </a:p>
          <a:p>
            <a:pPr marL="201168" indent="-201168">
              <a:spcAft>
                <a:spcPts val="800"/>
              </a:spcAft>
              <a:buChar char="•"/>
            </a:pPr>
            <a:r>
              <a:rPr sz="1400" b="0" i="0">
                <a:solidFill>
                  <a:srgbClr val="475569"/>
                </a:solidFill>
              </a:rPr>
              <a:t>Gemini quota and overload errors (429, 503, 504) stopped 4 of 10 case notes in the evaluation.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corrective actions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No real GST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Seeded generator with hard negatives; every figure labelled synthetic.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59" y="1536192"/>
            <a:ext cx="457200" cy="45720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19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0F172A"/>
                </a:solidFill>
              </a:rPr>
              <a:t>JEPA misses shell firms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59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Similar shells form their own normal; the network layer catches them (JEPA-only recall 0.20).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1371600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1536192"/>
            <a:ext cx="457200" cy="457200"/>
          </a:xfrm>
          <a:prstGeom prst="ellipse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59" y="148132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Weights tuned on one seed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9" y="214884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Cross-seed study run; headline figures treated as a best case.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31520" y="3913631"/>
            <a:ext cx="457200" cy="457200"/>
          </a:xfrm>
          <a:prstGeom prst="ellipse">
            <a:avLst/>
          </a:prstGeom>
          <a:solidFill>
            <a:srgbClr val="7C5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Gemini quota and overload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Retries, fallback models, notes on demand; failures reported, not hidden.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7679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480559" y="3913631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74919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Legitimate loops look like fraud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59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2 of 9 detected rings are legitimate reciprocal trade; notes suggest the checks that clear them.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046719" y="3749039"/>
            <a:ext cx="356616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599" y="3913631"/>
            <a:ext cx="457200" cy="457200"/>
          </a:xfrm>
          <a:prstGeom prst="ellipse">
            <a:avLst/>
          </a:prstGeom>
          <a:solidFill>
            <a:srgbClr val="0E8F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59" y="3858768"/>
            <a:ext cx="260603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Loaded machine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599" y="4526279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Timings varied widely; typical and worst runs are both reported.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645920"/>
            <a:ext cx="249173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1700784"/>
            <a:ext cx="2345435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Final report and IEEE paper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122675" y="219456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06139" y="1645920"/>
            <a:ext cx="249173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9291" y="1700784"/>
            <a:ext cx="2345435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Head-to-head baselines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980175" y="219456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39" y="1645920"/>
            <a:ext cx="249173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1" y="1700784"/>
            <a:ext cx="2345435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Unit-test suite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837676" y="2194560"/>
            <a:ext cx="201168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21139" y="1645920"/>
            <a:ext cx="2491739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7C5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94291" y="1700784"/>
            <a:ext cx="2345435" cy="1261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Final presentation and demo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566160"/>
            <a:ext cx="1106424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01168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475569"/>
                </a:solidFill>
              </a:rPr>
              <a:t>Train an isolation forest and an autoencoder on the same features and compare them with the JEPA.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475569"/>
                </a:solidFill>
              </a:rPr>
              <a:t>Re-fit or learn the risk weights and threshold so that cross-seed F1 is more stable.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475569"/>
                </a:solidFill>
              </a:rPr>
              <a:t>Add unit tests and automated UI tests; run a user-acceptance session with analysts.</a:t>
            </a:r>
          </a:p>
          <a:p>
            <a:pPr marL="201168" indent="-201168">
              <a:spcAft>
                <a:spcPts val="1000"/>
              </a:spcAft>
              <a:buChar char="•"/>
            </a:pPr>
            <a:r>
              <a:rPr sz="1600" b="0" i="0">
                <a:solidFill>
                  <a:srgbClr val="475569"/>
                </a:solidFill>
              </a:rPr>
              <a:t>Evaluate the case notes on all ten planned cases (paid or retried Gemini quota).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idden Risk">
  <a:themeElements>
    <a:clrScheme name="Hidden Risk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Hidden Ri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JEPA-LLM Tuning Framework for Combating GST and Sales Tax Input Tax Credit Fraud Pattern Detection - Review 2</dc:title>
  <dc:subject>TaxSentinel</dc:subject>
  <dc:creator>Batch A5: B.ASHRITHA, B.DIVYA, A.KISHORE, A.YAGNESH</dc:creator>
  <cp:lastModifiedBy>Batch A5</cp:lastModifiedBy>
  <cp:revision>1</cp:revision>
  <dcterms:created xsi:type="dcterms:W3CDTF">2026-10-13T12:40:05Z</dcterms:created>
  <dcterms:modified xsi:type="dcterms:W3CDTF">2026-10-13T12:40:05Z</dcterms:modified>
  <dc:description/>
  <cp:keywords>GST, ITC fraud, JEPA, explainable AI</cp:keywords>
</cp:coreProperties>
</file>