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f0aec94-eb0f-294a-de05-1614c3997827}">
          <p14:sldIdLst>
            <p14:sldId id="256"/>
            <p14:sldId id="257"/>
            <p14:sldId id="258"/>
          </p14:sldIdLst>
        </p14:section>
        <p14:section name="Research" id="{c5b655bf-1c78-45d9-2d43-c8947840fc05}">
          <p14:sldIdLst>
            <p14:sldId id="259"/>
            <p14:sldId id="260"/>
            <p14:sldId id="261"/>
          </p14:sldIdLst>
        </p14:section>
        <p14:section name="Problem" id="{c83c02f1-f6cc-56f3-d67e-57d82ce85a28}">
          <p14:sldIdLst>
            <p14:sldId id="262"/>
            <p14:sldId id="263"/>
            <p14:sldId id="264"/>
            <p14:sldId id="265"/>
            <p14:sldId id="266"/>
          </p14:sldIdLst>
        </p14:section>
        <p14:section name="Proposed solution" id="{0d7ed7fb-f0c3-288f-402c-2a68d644f815}">
          <p14:sldIdLst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/>
              <a:t>DGGI: evasion detected (Rs lakh crore)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Evasion detected (Rs lakh crore)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Sheet1!$A$2:$A$3</c:f>
              <c:strCache>
                <c:ptCount val="2"/>
                <c:pt idx="0">
                  <c:v>FY 2022-23</c:v>
                </c:pt>
                <c:pt idx="1">
                  <c:v>FY 2023-24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1.01</c:v>
                </c:pt>
                <c:pt idx="1">
                  <c:v>2.01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5"/>
          <c:min val="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3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TaxSentinel: GST ITC fraud detection  ·  Review 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Self-Supervised, Explainable GST ITC Fraud Detection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JEPA-LLM Tuning Framework for Combating GST and Sales Tax Input Tax Credit Fraud Pattern Detection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1  ·  PROBLEM IDENTIFICATION AND RESEARCH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B.ASHRITHA   23K91A6732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B.DIVYA   23K91A6739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A.KISHORE   23K91A6716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A.YAGNESH   23K91A6711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Dr. N. Ch. Ravi, Professor in CSE (Data Science)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 (Data Science)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TKR College of Engineering and Technology (Autonomous)  ·  Batch A5 (CSE-DS)  ·  2026-2027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4" name="agenda 1"/>
          <p:cNvSpPr/>
          <p:nvPr/>
        </p:nvSpPr>
        <p:spPr>
          <a:xfrm>
            <a:off x="548640" y="141732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0756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Abstract and overview</a:t>
            </a:r>
            <a:endParaRPr lang="en-US" sz="1600" dirty="0"/>
          </a:p>
        </p:txBody>
      </p:sp>
      <p:sp>
        <p:nvSpPr>
          <p:cNvPr id="7" name="agenda 2"/>
          <p:cNvSpPr/>
          <p:nvPr/>
        </p:nvSpPr>
        <p:spPr>
          <a:xfrm>
            <a:off x="4297680" y="141732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2628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20756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Base paper</a:t>
            </a:r>
            <a:endParaRPr lang="en-US" sz="1600" dirty="0"/>
          </a:p>
        </p:txBody>
      </p:sp>
      <p:sp>
        <p:nvSpPr>
          <p:cNvPr id="10" name="agenda 3"/>
          <p:cNvSpPr/>
          <p:nvPr/>
        </p:nvSpPr>
        <p:spPr>
          <a:xfrm>
            <a:off x="8046720" y="141732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7532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0756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Literature survey</a:t>
            </a:r>
            <a:endParaRPr lang="en-US" sz="1600" dirty="0"/>
          </a:p>
        </p:txBody>
      </p:sp>
      <p:sp>
        <p:nvSpPr>
          <p:cNvPr id="13" name="agenda 4"/>
          <p:cNvSpPr/>
          <p:nvPr/>
        </p:nvSpPr>
        <p:spPr>
          <a:xfrm>
            <a:off x="548640" y="297180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6301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Existing approaches and limitations</a:t>
            </a:r>
            <a:endParaRPr lang="en-US" sz="1600" dirty="0"/>
          </a:p>
        </p:txBody>
      </p:sp>
      <p:sp>
        <p:nvSpPr>
          <p:cNvPr id="16" name="agenda 5"/>
          <p:cNvSpPr/>
          <p:nvPr/>
        </p:nvSpPr>
        <p:spPr>
          <a:xfrm>
            <a:off x="4297680" y="297180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2628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4526280" y="36301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Research gap</a:t>
            </a:r>
            <a:endParaRPr lang="en-US" sz="1600" dirty="0"/>
          </a:p>
        </p:txBody>
      </p:sp>
      <p:sp>
        <p:nvSpPr>
          <p:cNvPr id="19" name="agenda 6"/>
          <p:cNvSpPr/>
          <p:nvPr/>
        </p:nvSpPr>
        <p:spPr>
          <a:xfrm>
            <a:off x="8046720" y="297180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7532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8275320" y="36301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Problem statement and objectives</a:t>
            </a:r>
            <a:endParaRPr lang="en-US" sz="1600" dirty="0"/>
          </a:p>
        </p:txBody>
      </p:sp>
      <p:sp>
        <p:nvSpPr>
          <p:cNvPr id="22" name="agenda 7"/>
          <p:cNvSpPr/>
          <p:nvPr/>
        </p:nvSpPr>
        <p:spPr>
          <a:xfrm>
            <a:off x="548640" y="452628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4709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1846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Proposed approach and architecture</a:t>
            </a:r>
            <a:endParaRPr lang="en-US" sz="1600" dirty="0"/>
          </a:p>
        </p:txBody>
      </p:sp>
      <p:sp>
        <p:nvSpPr>
          <p:cNvPr id="25" name="agenda 8"/>
          <p:cNvSpPr/>
          <p:nvPr/>
        </p:nvSpPr>
        <p:spPr>
          <a:xfrm>
            <a:off x="4297680" y="452628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26280" y="4709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4526280" y="51846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Expected outcomes</a:t>
            </a:r>
            <a:endParaRPr lang="en-US" sz="1600" dirty="0"/>
          </a:p>
        </p:txBody>
      </p:sp>
      <p:sp>
        <p:nvSpPr>
          <p:cNvPr id="28" name="agenda 9"/>
          <p:cNvSpPr/>
          <p:nvPr/>
        </p:nvSpPr>
        <p:spPr>
          <a:xfrm>
            <a:off x="8046720" y="452628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75320" y="4709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8275320" y="51846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References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Abstract: learning what normal GST filing looks like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611880" cy="42976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1481328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The 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2148840"/>
            <a:ext cx="324612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Input Tax Credit (ITC) fraud through fake invoices, circular trading and shell companies causes large revenue losses.</a:t>
            </a:r>
          </a:p>
          <a:p>
            <a:pPr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Audits and fixed rules are slow and easy to evade, fraud labels are scarce, and flags rarely come with reasons.</a:t>
            </a:r>
          </a:p>
          <a:p>
            <a:pPr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DGGI detected evasion of Rs 2.01 lakh crore in FY 2023-24 [1].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1371600"/>
            <a:ext cx="3611880" cy="42976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80560" y="1536192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1481328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Our idea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2148840"/>
            <a:ext cx="324612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Learn normal GST behaviour without labels with a JEPA encoder.</a:t>
            </a:r>
          </a:p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Combine its deviation score with circular-trading, shell-cluster and invoice evidence into one risk.</a:t>
            </a:r>
          </a:p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Let Gemini write a case note in which every claim cites the evidence.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1371600"/>
            <a:ext cx="3611880" cy="42976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29600" y="1536192"/>
            <a:ext cx="457200" cy="457200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1481328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The deliverable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2148840"/>
            <a:ext cx="324612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TaxSentinel: a secured FastAPI + React web application.</a:t>
            </a:r>
          </a:p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Ranked taxpayers and invoice chains, an interactive fraud graph, numbered evidence and cited case notes.</a:t>
            </a:r>
          </a:p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An evaluation page against a rule baseline. Data: a seeded synthetic GST ecosystem.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paper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11064240" cy="1051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1371600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S. Datta, H. Thakkar and S. Dabhade, "Combating GST Input Tax Credit Fraud in India: Forensic Accounting, Data Analytics, and Legal Enforcement Strategies," Int. J. Management, Public Policy and Research, vol. 5, no. 1, Jan-Mar 2026, doi 10.55829/ykz3ea41.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560320"/>
            <a:ext cx="3611880" cy="3383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2560320"/>
            <a:ext cx="82296" cy="33832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2670048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Method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182112"/>
            <a:ext cx="32461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A qualitative synthesis of public DGGI and CBIC data and case studies. It explains how fake invoicing, circular trading and shell networks work and recommends data analytics, network analysis, AI-based risk modelling and forensic capacity.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2560320"/>
            <a:ext cx="3611880" cy="3383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2560320"/>
            <a:ext cx="82296" cy="33832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2670048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Data and reported results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3182112"/>
            <a:ext cx="32461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FY 2022-23 to FY 2023-24: detected evasion Rs 1.01 to Rs 2.01 lakh crore; cases booked 4,872 to 6,084; arrests 97 to 140. It reports no detection model and no accuracy figures.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2560320"/>
            <a:ext cx="3611880" cy="3383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46720" y="2560320"/>
            <a:ext cx="82296" cy="33832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2670048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</a:rPr>
              <a:t>Limitations stated by the authors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182112"/>
            <a:ext cx="32461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Public sources only, no primary or empirical data, qualitative. No detection model is implemented or evaluated; quantitative, AI-supported detection is left as future 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11064235" cy="4754880"/>
        </p:xfrm>
        <a:graphic>
          <a:graphicData uri="http://schemas.openxmlformats.org/drawingml/2006/table">
            <a:tbl>
              <a:tblPr/>
              <a:tblGrid>
                <a:gridCol w="2103119"/>
                <a:gridCol w="2285999"/>
                <a:gridCol w="2011679"/>
                <a:gridCol w="2194559"/>
                <a:gridCol w="2468879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</a:rPr>
                        <a:t>Approach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</a:rPr>
                        <a:t>Reported 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</a:rPr>
                        <a:t>Limitation for this problem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Datta et al. [1] (base paper)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Forensic accounting, analytics, legal strategy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DGGI and CBIC statistics, cases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Evasion Rs 1.01 to 2.01 lakh crore (FY23 to FY24)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Qualitative; no 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AI/ML in tax compliance [2]; income-tax fraud ML [3], [4]; boosting [5]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ML and AI for tax fraud (per titles; full texts not available to the team)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Not available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Not quoted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Supervised on labelled records; per-taxpayer; no network or explanation (per titles)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Mehta et al. [6]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node2vec + DBSCAN circular-trading communities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Telangana GST: 77.8 M invoices, 388 k taxpayers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Communities found; no accuracy metric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One pattern; no explanation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Xu et al. [7] (TED)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Heterogeneous graph neural network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Two real tax datasets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F1 76.35 to 94.96 %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Supervised; needs labels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Assran et al. [8] (I-JEPA)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Predict masked-block embeddings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Images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Strong transfer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Not applied to tax behaviour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evidence: the scale of GST evasion (base paper data)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548640" y="1280160"/>
          <a:ext cx="6766560" cy="4663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7589520" y="1371600"/>
            <a:ext cx="4023360" cy="2103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72400" y="1536192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1481328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Takeaway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2148840"/>
            <a:ext cx="365760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Evasion detected doubled in a year, while cases booked rose from 4,872 to 6,084 (about 25 %) [1].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0" y="3657600"/>
            <a:ext cx="402336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72400" y="3822191"/>
            <a:ext cx="457200" cy="45720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767328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Caveat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43484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These are government figures quoted in the base paper. They show the scale of the problem, not the accuracy of any method; our own results are on synthetic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and current approaches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645920"/>
            <a:ext cx="1956815" cy="1097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1700784"/>
            <a:ext cx="1810511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Returns filed (GSTR-1, 2B, 3B)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2564891" y="2057400"/>
            <a:ext cx="201168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825496" y="1645920"/>
            <a:ext cx="1956815" cy="1097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98648" y="1700784"/>
            <a:ext cx="1810511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Mismatch rules and notices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841748" y="2057400"/>
            <a:ext cx="201168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102351" y="1645920"/>
            <a:ext cx="1956815" cy="1097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75503" y="1700784"/>
            <a:ext cx="1810511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Manual scrutiny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118603" y="2057400"/>
            <a:ext cx="201168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79207" y="1645920"/>
            <a:ext cx="1956815" cy="1097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7C5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52359" y="1700784"/>
            <a:ext cx="1810511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Audit and investigation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395459" y="2057400"/>
            <a:ext cx="201168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656063" y="1645920"/>
            <a:ext cx="1956815" cy="1097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29215" y="1700784"/>
            <a:ext cx="1810511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Recovery and prosecution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3291840"/>
            <a:ext cx="5440680" cy="26517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3456432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5880" y="3401568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Rule-based checks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4069080"/>
            <a:ext cx="50749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Fixed thresholds such as ITC claimed above GSTR-2B. Transparent, but easy to stay under. In our baseline test (rules R1-R5) they flagged 236 taxpayers, 168 of them false alarms.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3291840"/>
            <a:ext cx="5440680" cy="26517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55080" y="3456432"/>
            <a:ext cx="457200" cy="45720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3401568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Manual audit and investigation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4069080"/>
            <a:ext cx="50749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Experts examine a taxpayer after suspicion arises: reliable, but slow, and it starts after revenue has been lost.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existing methods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5440680" cy="2103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1481328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Slow and reactive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2148840"/>
            <a:ext cx="507492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Audits detect fraud only after revenue is lost.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1371600"/>
            <a:ext cx="5440680" cy="2103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0" y="1536192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59" y="1481328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Easily evaded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148840"/>
            <a:ext cx="507492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Fixed rules can be avoided by staying under the thresholds.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657600"/>
            <a:ext cx="5440680" cy="2103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1520" y="3822191"/>
            <a:ext cx="457200" cy="457200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3767328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Scarce labels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434840"/>
            <a:ext cx="507492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Confirmed fraud cases are few and late, which limits supervised learning.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3657600"/>
            <a:ext cx="5440680" cy="2103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00800" y="3822191"/>
            <a:ext cx="457200" cy="457200"/>
          </a:xfrm>
          <a:prstGeom prst="ellipse">
            <a:avLst/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59" y="3767328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Blind to networks, silent on reasons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434840"/>
            <a:ext cx="507492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Per-entity checks miss loops and shell clusters, and scores rarely explain themselves.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2377440" cy="777240"/>
          </a:xfrm>
          <a:prstGeom prst="roundRect">
            <a:avLst>
              <a:gd name="adj" fmla="val 3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128016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</a:rPr>
              <a:t>Labels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1280160"/>
            <a:ext cx="8549640" cy="777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1307592"/>
            <a:ext cx="8321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Supervised work needs confirmed fraud; little learns normal GST behaviour without labels [2]-[5], [7].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240280"/>
            <a:ext cx="2377440" cy="777240"/>
          </a:xfrm>
          <a:prstGeom prst="roundRect">
            <a:avLst>
              <a:gd name="adj" fmla="val 3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224028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</a:rPr>
              <a:t>Combined evidence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63240" y="2240280"/>
            <a:ext cx="8549640" cy="777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0" y="2267712"/>
            <a:ext cx="8321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Invoice, return-behaviour and network evidence are rarely scored together.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200400"/>
            <a:ext cx="2377440" cy="777240"/>
          </a:xfrm>
          <a:prstGeom prst="roundRect">
            <a:avLst>
              <a:gd name="adj" fmla="val 3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20040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</a:rPr>
              <a:t>Group fraud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63240" y="3200400"/>
            <a:ext cx="8549640" cy="777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0" y="3227832"/>
            <a:ext cx="8321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Circular trading and shell clusters need graph analysis, not per-entity scores [6].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160520"/>
            <a:ext cx="2377440" cy="777240"/>
          </a:xfrm>
          <a:prstGeom prst="roundRect">
            <a:avLst>
              <a:gd name="adj" fmla="val 3000"/>
            </a:avLst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16052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</a:rPr>
              <a:t>Explanation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63240" y="4160520"/>
            <a:ext cx="8549640" cy="777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0" y="4187952"/>
            <a:ext cx="8321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Surveyed GST work returns scores or communities, not cited reasons an officer can check.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120640"/>
            <a:ext cx="2377440" cy="777240"/>
          </a:xfrm>
          <a:prstGeom prst="roundRect">
            <a:avLst>
              <a:gd name="adj" fmla="val 3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12064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</a:rPr>
              <a:t>Application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63240" y="5120640"/>
            <a:ext cx="8549640" cy="777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0" y="5148072"/>
            <a:ext cx="8321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The base paper calls for AI risk modelling [1] but proposes no working, evaluable system.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11064240" cy="27432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1508760"/>
            <a:ext cx="10332720" cy="2468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Input Tax Credit fraud through fake invoices, circular trading and shell companies causes large revenue losses. Manual audits and rule-based checks are slow and reactive, confirmed fraud labels are scarce, and existing systems rarely explain why a claim is flagged. The problem is to design a self-supervised, explainable framework that learns normal GST behaviour, ranks taxpayers and invoice chains by deviation from it, and explains each flagged claim in language an investigator can verify.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389120"/>
            <a:ext cx="3611880" cy="16002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389120"/>
            <a:ext cx="82296" cy="16002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498848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Input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010912"/>
            <a:ext cx="32461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Returns, invoices and registration data (a seeded synthetic ecosystem)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4389120"/>
            <a:ext cx="3611880" cy="16002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4389120"/>
            <a:ext cx="82296" cy="16002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4498848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5010912"/>
            <a:ext cx="32461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Risk ranking, rings, invoice chains and cited case notes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4389120"/>
            <a:ext cx="3611880" cy="16002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46720" y="4389120"/>
            <a:ext cx="82296" cy="16002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4498848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Boundary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5010912"/>
            <a:ext cx="32461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A risk indication for review, not a legal finding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80160"/>
            <a:ext cx="676656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 i="0">
                <a:solidFill>
                  <a:srgbClr val="475569"/>
                </a:solidFill>
              </a:rPr>
              <a:t>1.  Build a multi-layer GST dataset covering invoices, taxpayer behaviour and transaction networks.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475569"/>
                </a:solidFill>
              </a:rPr>
              <a:t>2.  Learn normal GST behaviour with a self-supervised JEPA encoder.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475569"/>
                </a:solidFill>
              </a:rPr>
              <a:t>3.  Detect fraud patterns such as fake invoices, circular trading and shell-entity activity.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475569"/>
                </a:solidFill>
              </a:rPr>
              <a:t>4.  Score and rank suspicious taxpayers and invoice chains by deviation from learned behaviour.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475569"/>
                </a:solidFill>
              </a:rPr>
              <a:t>5.  Generate natural-language explanations for flagged claims using an LLM (prompt-tuned and checked, not fine-tuned).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475569"/>
                </a:solidFill>
              </a:rPr>
              <a:t>6.  Evaluate detection accuracy and explanation quality.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59" y="1953313"/>
            <a:ext cx="4297679" cy="3042813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Use cases the system serves (analyst view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999033"/>
            <a:ext cx="4206240" cy="295137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498079" y="5041846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Use cases the system serves (analyst view)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approach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2651760" cy="30175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1481328"/>
            <a:ext cx="16916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JEPA encoder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2148840"/>
            <a:ext cx="22860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19 features per taxpayer-month; predicts embeddings from history and with one layer hidden; error = deviation.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1371600"/>
            <a:ext cx="2651760" cy="30175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520440" y="1536192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1481328"/>
            <a:ext cx="16916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Network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2148840"/>
            <a:ext cx="22860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Circular-trading loops (bounded cycles) and shared-address / contact shell clusters.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79" y="1371600"/>
            <a:ext cx="2651760" cy="30175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309359" y="1536192"/>
            <a:ext cx="457200" cy="457200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19" y="1481328"/>
            <a:ext cx="16916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Invoice and risk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59" y="2148840"/>
            <a:ext cx="22860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Eight-signal invoice score; noisy-OR of JEPA, behaviour, network and invoice scores; flag at 0.5.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15399" y="1371600"/>
            <a:ext cx="2651760" cy="30175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098279" y="1536192"/>
            <a:ext cx="457200" cy="457200"/>
          </a:xfrm>
          <a:prstGeom prst="ellipse">
            <a:avLst/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39" y="1481328"/>
            <a:ext cx="16916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Cited explanation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79" y="2148840"/>
            <a:ext cx="22860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Gemini restates numbered evidence only; citations and numbers are checked automatically.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526280"/>
            <a:ext cx="11064240" cy="16459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31520" y="4690872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5880" y="4636008"/>
            <a:ext cx="1010411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Web application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FastAPI with JWT, SQLite and background runs; React interface with ranking, profile, fraud graph, chains, case notes, performance page and run history.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proposed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02919" y="1430528"/>
            <a:ext cx="5760720" cy="3996943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Four-tier architecture; Gemini is the only external serv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76248"/>
            <a:ext cx="5669280" cy="390550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5473192"/>
            <a:ext cx="5669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Four-tier architecture; Gemini is the only external service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2006060"/>
            <a:ext cx="5303520" cy="2845879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Eight-step workflow from GST data to a cited case no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051780"/>
            <a:ext cx="5212080" cy="275443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400800" y="4897659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Eight-step workflow from GST data to a cited case note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and contributions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66160" cy="2194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1481328"/>
            <a:ext cx="26060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Label-free behaviour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214884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A small JEPA trained without labels in seconds on a CPU.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1371600"/>
            <a:ext cx="3566160" cy="2194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80559" y="1536192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19" y="1481328"/>
            <a:ext cx="26060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Multi-layer 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59" y="214884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Ablations to show each layer's role; JEPA is expected to complement, not replace, network evidence.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1371600"/>
            <a:ext cx="3566160" cy="2194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29599" y="1536192"/>
            <a:ext cx="457200" cy="457200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59" y="1481328"/>
            <a:ext cx="26060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Ring and cluster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9" y="214884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Scored loops and shell clusters drawn as an interactive graph.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749039"/>
            <a:ext cx="3566160" cy="2194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31520" y="3913631"/>
            <a:ext cx="457200" cy="457200"/>
          </a:xfrm>
          <a:prstGeom prst="ellipse">
            <a:avLst/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3858768"/>
            <a:ext cx="26060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Cited notes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526279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Case notes whose citations and numbers are checked.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97679" y="3749039"/>
            <a:ext cx="3566160" cy="2194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480559" y="3913631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74919" y="3858768"/>
            <a:ext cx="26060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Honest evaluation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59" y="4526279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Rule baseline, per-pattern recall, cross-seed study; synthetic data stated plainly.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19" y="3749039"/>
            <a:ext cx="3566160" cy="2194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229599" y="3913631"/>
            <a:ext cx="457200" cy="457200"/>
          </a:xfrm>
          <a:prstGeom prst="ellipse">
            <a:avLst/>
          </a:prstGeom>
          <a:solidFill>
            <a:srgbClr val="0E8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23959" y="3858768"/>
            <a:ext cx="26060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Usable system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599" y="4526279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Secured multi-user application tested end to end.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188720"/>
            <a:ext cx="1106424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475569"/>
                </a:solidFill>
              </a:rPr>
              <a:t>[1] S. Datta, H. Thakkar and S. Dabhade, Int. J. Management, Public Policy and Research, 5(1), 2026 (base paper).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475569"/>
                </a:solidFill>
              </a:rPr>
              <a:t>[2]-[5] Four tax-fraud papers listed in the batch survey: AI/ML in tax compliance in India (2025); income-tax fraud detection with ML (ICOEI 2025) and with AI and ML (COMPUTINGCON 2025); boosting for income-tax fraud (2026).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475569"/>
                </a:solidFill>
              </a:rPr>
              <a:t>[6] P. Mehta et al., "Representation learning on graphs to identifying circular trading in GST," arXiv:2208.07660, 2022.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475569"/>
                </a:solidFill>
              </a:rPr>
              <a:t>[7] Y. Xu et al., "TED: Related party transaction guided tax evasion detection on heterogeneous graph," arXiv:2605.26984, 2026.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475569"/>
                </a:solidFill>
              </a:rPr>
              <a:t>[8] M. Assran et al., "Self-supervised learning from images with a joint-embedding predictive architecture," CVPR 2023.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475569"/>
                </a:solidFill>
              </a:rPr>
              <a:t>[9] Y. LeCun, "A path towards autonomous machine intelligence," 2022.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475569"/>
                </a:solidFill>
              </a:rPr>
              <a:t>[10] J. Pearl, Probabilistic Reasoning in Intelligent Systems, 1988 (noisy-OR).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dden Risk">
  <a:themeElements>
    <a:clrScheme name="Hidden Risk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Hidden Ri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JEPA-LLM Tuning Framework for Combating GST and Sales Tax Input Tax Credit Fraud Pattern Detection - Review 1</dc:title>
  <dc:subject>TaxSentinel</dc:subject>
  <dc:creator>Batch A5: B.ASHRITHA, B.DIVYA, A.KISHORE, A.YAGNESH</dc:creator>
  <cp:lastModifiedBy>Batch A5</cp:lastModifiedBy>
  <cp:revision>1</cp:revision>
  <dcterms:created xsi:type="dcterms:W3CDTF">2026-10-13T12:36:40Z</dcterms:created>
  <dcterms:modified xsi:type="dcterms:W3CDTF">2026-10-13T12:36:40Z</dcterms:modified>
  <dc:description/>
  <cp:keywords>GST, ITC fraud, JEPA, explainable AI</cp:keywords>
</cp:coreProperties>
</file>