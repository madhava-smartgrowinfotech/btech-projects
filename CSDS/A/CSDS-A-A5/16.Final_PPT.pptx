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15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JEPA-LLM Tuning Framework for Combating GST and Sales Tax Input Tax Credit Fraud Pattern Detection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TaxSentinel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A5 (CSE-DS)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23K91A6732   B.ASHRITHA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23K91A6739   B.DIVYA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23K91A6716   A.KISHORE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23K91A6711   A.YAGNESH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N. Ch. Ravi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in CSE (Data Science)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(DATA SCIENCE)  ·  Academic Year 2026 – 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1. Abstract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2. Base paper and literature survey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3. Research gap and problem statement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4. Objectives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5. Proposed system and architecture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6. Methodology, dataset and model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7. Decision workflow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8. Implementation highlights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9. Results and threshold analysis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10. Performance and testing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11. Comparison with the base paper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12. Output screens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13. Conclusion and future scope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14.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ITC fraud under GST (fake invoices, circular trading, shell companies) causes large revenue losses; audits and fixed rules are slow and easy to evade, labels are scarce and flags are rarely explained. The base paper describes the problem but proposes no model.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TaxSentinel learns normal GST behaviour without labels with a JEPA encoder (53,420 values, 11.7 s on a CPU), combines its deviation with circular-trading, shell-cluster and invoice evidence in a noisy-OR risk, and has Gemini write case notes that cite numbered evidence.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On a synthetic ecosystem (600 taxpayers, 64,474 invoices, 79 injected fraud taxpayers) it reaches precision@79 0.949, F1 0.955 and ROC-AUC 0.997 against 0.620, 0.432 and 0.876 for rules; all 5 injected rings were recovered.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Limits: data is synthetic; the LLM is prompted, not fine-tuned; JEPA alone is the weakest layer; F1 on other generated ecosystems is lower.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12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</a:rPr>
              <a:t>S. Datta, H. Thakkar and S. Dabhade, "Combating GST Input Tax Credit Fraud in India: Forensic Accounting, Data Analytics, and Legal Enforcement Strategies," Int. J. Management, Public Policy and Research, vol. 5, no. 1, Jan-Mar 2026, doi 10.55829/ykz3ea41.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</a:rPr>
              <a:t>Qualitative synthesis of public DGGI and CBIC data: detected evasion Rs 1.01 to Rs 2.01 lakh crore (FY23 to FY24), cases 4,872 to 6,084, arrests 97 to 140.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</a:rPr>
              <a:t>Recommends analytics, network analysis, AI-based risk modelling at registration, forensic capacity and faster recovery.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100" b="0" i="0">
                <a:solidFill>
                  <a:srgbClr val="222222"/>
                </a:solidFill>
                <a:latin typeface="Calibri"/>
              </a:rPr>
              <a:t>Limitations: public sources only; no detection model and no accuracy figures. This project builds and evaluates the model it calls for.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20" cy="353568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377440"/>
                <a:gridCol w="2377440"/>
                <a:gridCol w="210312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Reported 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Datta et al.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Forensic analytics review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DGGI, CBIC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Evasion Rs 1.01 to 2.01 lakh crore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No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[2]-[5] (titles only)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ML / AI for tax fraud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Not available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Not quoted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Supervised; no network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Mehta et al.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node2vec + DBSCAN loops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Telangana GST, 77.8 M invoices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Communities found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One pattern; no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Xu et al. [7] (TED)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Heterogeneous GNN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Two real tax datasets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F1 76.35 to 94.96 %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Needs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Assran et al.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I-JEPA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Strong transfer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Not tax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18" cy="3291840"/>
        </p:xfrm>
        <a:graphic>
          <a:graphicData uri="http://schemas.openxmlformats.org/drawingml/2006/table">
            <a:tbl>
              <a:tblPr/>
              <a:tblGrid>
                <a:gridCol w="1592512"/>
                <a:gridCol w="4279877"/>
                <a:gridCol w="5374729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Existing 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TaxSentinel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Supervised models need confirmed fraud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Learns normal behaviour without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One view (returns or graph)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Invoice, behaviour and network layers in one risk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Group fraud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Per-entity scores miss loops and shell clusters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Scored loops (5 of 5 found) and clusters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Explanation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Scores or communities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Numbered evidence and cited notes, checked automatically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Rarely against a rule baseline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Baseline, ablations, per-pattern and cross-seed results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14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ITC fraud through fake invoices, circular trading and shell companies causes large revenue losses.</a:t>
            </a:r>
          </a:p>
          <a:p>
            <a:pPr marL="201168" indent="-201168">
              <a:spcAft>
                <a:spcPts val="14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Manual audits and rule-based checks are slow and reactive.</a:t>
            </a:r>
          </a:p>
          <a:p>
            <a:pPr marL="201168" indent="-201168">
              <a:spcAft>
                <a:spcPts val="14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Confirmed fraud labels are scarce, which limits supervised learning.</a:t>
            </a:r>
          </a:p>
          <a:p>
            <a:pPr marL="201168" indent="-201168">
              <a:spcAft>
                <a:spcPts val="14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Existing systems rarely explain why a claim is flagged.</a:t>
            </a:r>
          </a:p>
          <a:p>
            <a:pPr marL="201168" indent="-201168">
              <a:spcAft>
                <a:spcPts val="1400"/>
              </a:spcAft>
              <a:buChar char="•"/>
            </a:pPr>
            <a:r>
              <a:rPr sz="2200" b="1" i="0">
                <a:solidFill>
                  <a:srgbClr val="222222"/>
                </a:solidFill>
                <a:latin typeface="Calibri"/>
              </a:rPr>
              <a:t>Need: a self-supervised, explainable framework that learns normal GST behaviour and flags and explains suspicious ITC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Build a multi-layer GST dataset (invoices, behaviour, network).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Learn normal GST behaviour with a self-supervised JEPA encoder.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Detect fake invoices, circular trading and shell-entity activity.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Score and rank taxpayers and invoice chains by deviation.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Explain flagged claims with an LLM (prompt-tuned and checked, not fine-tuned).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Evaluate detection accuracy and explanation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1. Generate or load a GST ecosystem (taxpayers, invoices, GSTR returns).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2. Build 19 features per taxpayer-month in invoice, behaviour and network layers.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3. JEPA encoder scores deviation (4 mask variants).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4. Network analysis finds loops and shared-identity clusters.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5. Eight-signal invoice score; noisy-OR risk; flag at 0.5.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6. Evidence list, patterns and ranked invoice chains.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7. Gemini writes a cited note; grounding checks run; analyst reviews.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2849388" y="1691639"/>
            <a:ext cx="6462743" cy="448055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our-tier architecture: React, FastAPI, analytics layer, stores; Gemini extern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08" y="1737360"/>
            <a:ext cx="6371303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6217919"/>
            <a:ext cx="9235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Four-tier architecture: React, FastAPI, analytics layer, stores; Gemini external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1882390" y="1691639"/>
            <a:ext cx="8396739" cy="448055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nd-to-end processing f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110" y="1737360"/>
            <a:ext cx="8305299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6217919"/>
            <a:ext cx="9235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End-to-end processing 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Features &amp;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11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Synthetic seeded ecosystem (seed 42): 600 taxpayers, 64,474 invoices, 6,977 returns; 79 fraud taxpayers (27 shell, 21 circular, 19 fake-invoice buyers, 12 ITC spikes); hard negatives included.</a:t>
            </a:r>
          </a:p>
          <a:p>
            <a:pPr marL="201168" indent="-201168">
              <a:spcAft>
                <a:spcPts val="11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19 features per taxpayer-month: invoice (6), behaviour (7), network (6); robust-scaled.</a:t>
            </a:r>
          </a:p>
          <a:p>
            <a:pPr marL="201168" indent="-201168">
              <a:spcAft>
                <a:spcPts val="11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JEPA: encoder 19-64-64-32, EMA target, predictor 135-128-128-32, window 3, 4 mask variants; AdamW, 100 epochs, 53,420 values, 11.7 s on a CPU.</a:t>
            </a:r>
          </a:p>
          <a:p>
            <a:pPr marL="201168" indent="-201168">
              <a:spcAft>
                <a:spcPts val="11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Network: bounded cycles scored by balance, recurrence, concentration; address and contact clusters; Louvain communities.</a:t>
            </a:r>
          </a:p>
          <a:p>
            <a:pPr marL="201168" indent="-201168">
              <a:spcAft>
                <a:spcPts val="1100"/>
              </a:spcAft>
              <a:buChar char="•"/>
            </a:pPr>
            <a:r>
              <a:rPr sz="2000" b="0" i="0">
                <a:solidFill>
                  <a:srgbClr val="222222"/>
                </a:solidFill>
                <a:latin typeface="Calibri"/>
              </a:rPr>
              <a:t>Risk = noisy-OR(0.75 J, 0.6 B, 0.7 N, 0.6 I), flag at 0.5. LLM: Gemini, prompted and grounded.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3901753" y="1691639"/>
            <a:ext cx="4358012" cy="448055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isk scoring: combine layers, flag at 0.5, evidence, n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473" y="1737360"/>
            <a:ext cx="4266572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6217919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Risk scoring: combine layers, flag at 0.5, evidence, note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2670768" y="1691639"/>
            <a:ext cx="6819982" cy="448055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quence: sign in, generate and analyse (background thread), open taxpayer, write explan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488" y="1737360"/>
            <a:ext cx="6728542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94560" y="6217919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Sequence: sign in, generate and analyse (background thread), open taxpayer, write explanation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2469475" y="1691639"/>
            <a:ext cx="7222569" cy="448055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ntity-relationship diagram: 3 SQL tables and the CSV entities joined by GST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95" y="1737360"/>
            <a:ext cx="7131129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6217919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Entity-relationship diagram: 3 SQL tables and the CSV entities joined by GSTIN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19" cy="3962400"/>
        </p:xfrm>
        <a:graphic>
          <a:graphicData uri="http://schemas.openxmlformats.org/drawingml/2006/table">
            <a:tbl>
              <a:tblPr/>
              <a:tblGrid>
                <a:gridCol w="1554480"/>
                <a:gridCol w="4937759"/>
                <a:gridCol w="475488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Generator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Seeded; GSTIN checksum; 4 patterns; hard negatives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64,474 invoices, 79 fraud taxpayers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JEPA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PyTorch, EMA target, 4 mask variants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53,420 values; 11.7 s on a CPU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Graph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NetworkX bounded cycles; identity clusters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5 of 5 rings; 9 rings, 7 suspicious clusters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Explainer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Gemini; evidence-only prompt; grounding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 invalid citations in 6 notes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FastAPI, JWT, bcrypt, SQLite, background 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20/20 smoke-test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Web app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React, Vite, Tailwind, force graph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10 screens, dark mode, command palette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Model Performance (seed 42, threshold 0.5)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18" cy="3230880"/>
        </p:xfrm>
        <a:graphic>
          <a:graphicData uri="http://schemas.openxmlformats.org/drawingml/2006/table">
            <a:tbl>
              <a:tblPr/>
              <a:tblGrid>
                <a:gridCol w="3503201"/>
                <a:gridCol w="1382842"/>
                <a:gridCol w="1659411"/>
                <a:gridCol w="1475032"/>
                <a:gridCol w="1475032"/>
                <a:gridCol w="175160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P@79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TaxSentinel (all layers)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0.949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0.949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0.955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0.997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Rule baseline R1-R5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0.620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0.288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0.861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0.432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0.876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JEPA + behaviour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0.481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0.842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0.203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0.327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0.843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Graph + invoice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0.848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0.798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0.940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Five other seeds (mean), TaxSentinel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0.888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0.924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0.888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0.988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Five other seeds (mean), rules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0.625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0.457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0.877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05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1">
                <a:solidFill>
                  <a:srgbClr val="222222"/>
                </a:solidFill>
                <a:latin typeface="Calibri"/>
              </a:rPr>
              <a:t>Synthetic ecosystem with injected labels; weights and threshold were tuned on seed 42, so the first rows are a best case. JEPA alone is the weakest layer (F1 0.327); the layers are complementary. Invoice level: F1 0.924 vs 0.160 for the GSTR-1 mismatch check.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Recall by Pattern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411480" y="2060380"/>
            <a:ext cx="5943600" cy="3285878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st: TP 75, FN 4, FP 3, TN 518 (rules: TP 68, FP 16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6100"/>
            <a:ext cx="5852160" cy="31944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391979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Test: TP 75, FN 4, FP 3, TN 518 (rules: TP 68, FP 168)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075903"/>
            <a:ext cx="5394959" cy="3254833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all by pattern: ITC spikes 0.83, below the rule baseline's 1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21623"/>
            <a:ext cx="5303520" cy="31633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376456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Recall by pattern: ITC spikes 0.83, below the rule baseline's 1.00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Analysis &amp; Layer Scores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411480" y="1898186"/>
            <a:ext cx="5577840" cy="3518826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ag threshold sweep (seed 42): F1 is highest around 0.4 to 0.6; 0.5 chos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43906"/>
            <a:ext cx="5486400" cy="34273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462733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</a:rPr>
              <a:t>Flag threshold sweep (seed 42): F1 is highest around 0.4 to 0.6; 0.5 chosen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62778"/>
            <a:ext cx="5577840" cy="3189642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etwork and invoice layers separate fraud best; JEPA adds reca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08498"/>
            <a:ext cx="5486400" cy="30982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298141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Network and invoice layers separate fraud best; JEPA adds recall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19" cy="3718560"/>
        </p:xfrm>
        <a:graphic>
          <a:graphicData uri="http://schemas.openxmlformats.org/drawingml/2006/table">
            <a:tbl>
              <a:tblPr/>
              <a:tblGrid>
                <a:gridCol w="4114800"/>
                <a:gridCol w="7132319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JEPA training (CPU)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11.7 s, final loss 0.1115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Full generate + analyse, 600 taxpayers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18.6 to 29.0 s typical (analysis stage 16.0 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Read-endpoint latency (median of 20)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1.7 ms (health) to 12.1 ms (whole graph)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End-to-end 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20 / 20 checks passed (39.4 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Edge and security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41 / 41 passed (wrong password, forged token, bad input, concurrent run)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Unit tests / UI tests / load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Not done (stated as gaps); single-client timings on a loaded machine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1247120" cy="371856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84632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Base paper [1]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TaxSentinel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Qualitative review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Implemented and evaluated system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Detection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JEPA + network + invoice noisy-OR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Reported accuracy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F1 0.955 (seed 42, synthetic); lower on other seeds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Explanation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Not addressed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Cited, checked case notes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Registration-time scoring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Recommended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Not built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Context only: TED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222222"/>
                          </a:solidFill>
                          <a:latin typeface="Calibri"/>
                        </a:rPr>
                        <a:t>F1 76 to 95 % on real data, supervised: not comparable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A6A6A6"/>
                      </a:solidFill>
                    </a:lnL>
                    <a:lnR w="9525">
                      <a:solidFill>
                        <a:srgbClr val="A6A6A6"/>
                      </a:solidFill>
                    </a:lnR>
                    <a:lnT w="9525">
                      <a:solidFill>
                        <a:srgbClr val="A6A6A6"/>
                      </a:solidFill>
                    </a:lnT>
                    <a:lnB w="9525">
                      <a:solidFill>
                        <a:srgbClr val="A6A6A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1">
                <a:solidFill>
                  <a:srgbClr val="222222"/>
                </a:solidFill>
                <a:latin typeface="Calibri"/>
              </a:rPr>
              <a:t>The base paper reports no model metrics, so there is no like-for-like number; our comparison is with the recommendations and with a rule baseline.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Generate &amp; Analyse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411480" y="1914525"/>
            <a:ext cx="5669279" cy="357758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n in progress: JEPA training epoch 10/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0244"/>
            <a:ext cx="5577840" cy="34861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37834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Run in progress: JEPA training epoch 10/100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14525"/>
            <a:ext cx="5669279" cy="357758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Overview: 78 flagged taxpayers, ITC at risk, precision vs ru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60244"/>
            <a:ext cx="5577840" cy="34861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537834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Overview: 78 flagged taxpayers, ITC at risk, precision vs rules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Taxpayer Investigation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411480" y="1914525"/>
            <a:ext cx="5669279" cy="357758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file: four layer scores, GSTR-2B vs 3B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0244"/>
            <a:ext cx="5577840" cy="34861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37834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Profile: four layer scores, GSTR-2B vs 3B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14525"/>
            <a:ext cx="5669279" cy="357758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etwork tab: circular-trading loop in r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60244"/>
            <a:ext cx="5577840" cy="34861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537834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Network tab: circular-trading loop in 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Case Note &amp; Invoice Chain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411480" y="1914525"/>
            <a:ext cx="5669279" cy="357758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mini case note with [E#] citations beside evid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60244"/>
            <a:ext cx="5577840" cy="34861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37834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Gemini case note with [E#] citations beside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14525"/>
            <a:ext cx="5669279" cy="3577589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ain CH-R01: 5-party loop, 98 invoices, Rs 44.65 C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60244"/>
            <a:ext cx="5577840" cy="34861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537834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</a:rPr>
              <a:t>Chain CH-R01: 5-party loop, 98 invoices, Rs 44.65 Cr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Built TaxSentinel: label-free behaviour learning, network and invoice evidence and cited case notes in a secured web application.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Seed 42: precision@79 0.949, F1 0.955, ROC-AUC 0.997 vs 0.620 / 0.432 / 0.876 for rules; 5 of 5 rings; invoice F1 0.924.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Honest limits: mean F1 0.888 on five other seeds (range 0.790 to 0.933); data is synthetic; JEPA alone F1 0.327; LLM prompted, not fine-tuned; 6 of 10 notes evaluated; no unit-test suite.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Validate on real, anonymised returns; recalibrate or learn the risk weights and threshold.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Compare the JEPA with an isolation forest and an autoencoder on the same features.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Add e-invoice, e-way-bill and payment data; scale the graph analysis to state size.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Role-based access, case management and feedback loop; HTTPS, rate limiting, audit logging.</a:t>
            </a:r>
          </a:p>
          <a:p>
            <a:pPr marL="201168" indent="-201168">
              <a:spcAft>
                <a:spcPts val="1200"/>
              </a:spcAft>
              <a:buChar char="•"/>
            </a:pPr>
            <a:r>
              <a:rPr sz="2200" b="0" i="0">
                <a:solidFill>
                  <a:srgbClr val="222222"/>
                </a:solidFill>
                <a:latin typeface="Calibri"/>
              </a:rPr>
              <a:t>Fine-tune or self-host a language model and run a human evaluation of notes; add unit and UI tests.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[1] S. Datta, H. Thakkar, S. Dabhade, Int. J. Manage., Public Policy Res., 5(1), 2026.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[2]-[5] Tax-fraud ML and AI papers listed in the batch survey (2025-2026).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[6] P. Mehta et al., arXiv:2208.07660, 2022 (circular trading in GST).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[7] Y. Xu et al., TED, arXiv:2605.26984, 2026.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[8] M. Assran et al., I-JEPA, CVPR 2023.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[9] Y. LeCun, A path towards autonomous machine intelligence, 2022.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[10] J.-B. Grill et al., BYOL, NeurIPS 2020.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[11] A. Bardes et al., VICReg, ICLR 2022.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[12] J. Pearl, Probabilistic Reasoning in Intelligent Systems, 1988.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[13] Gemini Team, arXiv:2312.11805, 2023.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A5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JEPA-LLM Tuning Framework for Combating GST and Sales Tax Input Tax Credit Fraud Pattern Detection - Final Review</dc:title>
  <dc:subject>TaxSentinel</dc:subject>
  <dc:creator>Batch A5: B.ASHRITHA, B.DIVYA, A.KISHORE, A.YAGNESH</dc:creator>
  <cp:lastModifiedBy>Batch A5</cp:lastModifiedBy>
  <cp:revision>1</cp:revision>
  <dcterms:created xsi:type="dcterms:W3CDTF">2026-10-07T05:03:03Z</dcterms:created>
  <dcterms:modified xsi:type="dcterms:W3CDTF">2026-10-07T05:03:03Z</dcterms:modified>
  <dc:description/>
  <cp:keywords>GST, ITC fraud, JEPA, explainable AI</cp:keywords>
</cp:coreProperties>
</file>