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10-1.jpg" ContentType="image/jpg"/>
  <Override PartName="/ppt/media/image-11-1.jpg" ContentType="image/jpg"/>
  <Override PartName="/ppt/media/image-12-1.jpg" ContentType="image/jpg"/>
  <Override PartName="/ppt/media/image-13-1.jpg" ContentType="image/jpg"/>
  <Override PartName="/ppt/media/image-14-1.jpg" ContentType="image/jpg"/>
  <Override PartName="/ppt/media/image-15-1.jpg" ContentType="image/jpg"/>
  <Override PartName="/ppt/media/image-16-1.jpg" ContentType="image/jpg"/>
  <Override PartName="/ppt/media/image-17-1.jpg" ContentType="image/jpg"/>
  <Override PartName="/ppt/media/image-18-1.jpg" ContentType="image/jpg"/>
  <Override PartName="/ppt/media/image-19-1.jpg" ContentType="image/jpg"/>
  <Override PartName="/ppt/media/image-2-1.jpg" ContentType="image/jpg"/>
  <Override PartName="/ppt/media/image-20-1.jpg" ContentType="image/jpg"/>
  <Override PartName="/ppt/media/image-21-1.jpg" ContentType="image/jpg"/>
  <Override PartName="/ppt/media/image-22-1.jpg" ContentType="image/jpg"/>
  <Override PartName="/ppt/media/image-23-1.jpg" ContentType="image/jpg"/>
  <Override PartName="/ppt/media/image-24-1.jpg" ContentType="image/jpg"/>
  <Override PartName="/ppt/media/image-25-1.jpg" ContentType="image/jpg"/>
  <Override PartName="/ppt/media/image-26-1.jpg" ContentType="image/jpg"/>
  <Override PartName="/ppt/media/image-27-1.jpg" ContentType="image/jpg"/>
  <Override PartName="/ppt/media/image-28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media/image-7-1.jpg" ContentType="image/jpg"/>
  <Override PartName="/ppt/media/image-8-1.jpg" ContentType="image/jpg"/>
  <Override PartName="/ppt/media/image-9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Final review of ForgetSafe: a certified federated-unlearning demonstrator with a tamper-evident compliance ledger.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Abstract: problem, approach, headline measurements and findings. Everything is measured on synthetic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[1] is the base paper recorded in the batch files; [2] and [3] are the closest technical works, read from the PDFs in archived_base_papers.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[1]-[4] and [7] were read or verified; [5], [6] and [8] could not be found online, so nothing beyond their titles is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gap is the certified, auditable workflow. The prototype implements it and measures it at small scale on synthetic data; billion-parameter LLMs are outside its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synthetic data sources and two models. The findings describe the algorithm and the demonstrator at small scale; billion-parameter LLMs are outside the project's scope and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headline certificate result is an identity; the fresh-noise retrain comparison and the noise-free attack supply the real evidence, on three models. Automated checks (5 unit tests, 14 smoke checks, load, security probes, acceptance journeys) are on the performance and testing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There is no classifier here, so the equivalent of a confusion matrix is the before / after / fresh-retrain attack outcome (here for the neural study; the bigram per-client table is in the report) and the detected / not-detected matrix of tamper attacks.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Left: synthetic corpus, 100 sentences per client, C = median norm, 5 seeds per point. Right: neural study, 8 clients, 5 seeds. Product sweep (5 clients, 20 seeds x 5 clients per sigma): useful only at sigma &lt;= 0.1 (epsilon &gt;= 48); at sigma 3 perplexity is 145; epsilon &lt; 1 needs sigma &gt; 4.85, where perplexity is 198-305.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Machine: Intel Core i5-12500, 15.7 GB RAM, no GPU. Latencies are single-client medians; proxy retraining is itself cheap, so the bigram numbers say nothing about larger models; the neural row is the measured cost for 7 adapters of 14,272 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State plainly: no claim that ForgetSafe beats any of these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Thank you. Questions are welcome.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5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48640" y="1373177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Privacy-Preserving Machine Unlearning in Federated LLMs: A Certified Right-to-Be-Forgotten Framework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548640" y="2379017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Review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731520" y="3110537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Details : Batch A9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3522017"/>
            <a:ext cx="5486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23K91A6761   G.SHASHANK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23K91A6719   B.SATHISH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23K91A6759   G.RAKESH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23K91A6721   B.AKHIL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675120" y="3110537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Esteemed Guidance of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[GUIDE NAME]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[DESIGNATION], Department of CSE (Data Science)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AND ENGINEERING (DATA SCIENCE)  ·  Academic Year [ACADEMIC YEAR]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1738937"/>
            <a:ext cx="11064240" cy="4524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Paper &amp; Literature Survey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&amp; Problem Statement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System &amp; Architecture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Algorithm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Implementation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Results, Parameter Analysis, Testing &amp; Comparison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Screens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Scope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1738937"/>
            <a:ext cx="11064240" cy="4524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LLMs keep each client's data local, yet every client's influence stays in the shared parameters; GDPR Article 17 lets a user demand removal.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ForgetSafe is a runnable demonstrator: five simulated clients train a character-bigram model (1,089 parameters); a neural study applies the same method to LoRA-style adapters of a 137,151-parameter GRU (8 synthetic clients). All data is synthetic.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client is removed by subtracting its tracked clipped update, with no retraining; each request gets a certificate, a membership-inference check, a utility check and a SHA-256 hash-chained audit record.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250 bigram requests all CERTIFIED (retention 97.1 % ± 3.5); neural client-level attack 0.78 → 0.53, equal to a fresh retrain (0.53); subtraction 65x faster than retraining; 5 unit tests, 14 smoke checks, 58 security probes, 20/20 acceptance journeys.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at the default noise the product's model is worse than a uniform guess (perplexity 142 vs 32) and the attack is at chance; epsilon &lt; 1 and a useful model coexist only for large federations (about 1,000 clients); the certificate check is an identity.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Keywords: machine unlearning, federated learning, differential privacy, right to be forgotten, audit.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Paper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1738937"/>
            <a:ext cx="11064240" cy="4524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Khan, S. Jin, G.-H. Lee, G. E. Arzu, L. M. Dang, T. N. Nguyen, W. Choi, and H. Moon, "Deep learning approaches for continuous sign language recognition: A comprehensive review," IEEE Access, vol. 13, pp. 55524-55544, 2025, doi: 10.1109/ACCESS.2025.3554046.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is: a survey of deep-learning continuous sign language recognition; it organises the field into a taxonomy (spatial, temporal and alignment approaches), compares strengths and drawbacks and lists open gaps.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Relevance: its subject is unrelated to unlearning. The batch records adopt only its review method: taxonomy, comparison of strengths and limitations, research-gap identification. No numeric comparison with it is possible and none is made.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anchor: Wei et al., KDD 2026 [2] - Grouped Memorization Evaluation and FedMemPrune, a pruning-based federated unlearning that closely matches retraining baselines on CIFAR-10, CIFAR-100 and EMNIST.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Companion: Oblivionis [3], a federated LLM learning-and-unlearning framework motivated by GDPR.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8937"/>
          <a:ext cx="11247118" cy="914400"/>
        </p:xfrm>
        <a:graphic>
          <a:graphicData uri="http://schemas.openxmlformats.org/drawingml/2006/table">
            <a:tbl>
              <a:tblPr/>
              <a:tblGrid>
                <a:gridCol w="2024481"/>
                <a:gridCol w="2811780"/>
                <a:gridCol w="2136952"/>
                <a:gridCol w="2474366"/>
                <a:gridCol w="1799539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/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Methodology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Results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Khan et al., 2025 (base) [1]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Survey; taxonomy of sign-language recognition models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Sign-language video datasets (surveyed)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Taxonomy, challenges and gaps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Unrelated subject; review method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 et al., KDD 2026 [2]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Grouped Memorization Evaluation; FedMemPrune (prune memorising parameters)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CIFAR-10, CIFAR-100, EMNIST; ResNet, VGG-9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Closely matches retraining; removes memorisation better than federated-unlearning baselines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classifiers, not LLM pipelines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Zhang et al., 2025 (Oblivionis) [3]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Unified FL + unlearning; 6 FL and 5 unlearning algorithms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TOFU, MUSE; Llama-2-7B, Llama-3.1/3.2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Beats local training; balances forgetting and utility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Empirical comparison of algorithms; certification not its focus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Jiang et al., 2025 (FedORA) [4]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Primal-dual optimisation for sample/label unlearning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Income, MedMNIST, CIFAR-10/100, Tiny-ImageNet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Comparable to retraining at lower cost; bounded gap to train-from-scratch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Vertical FL; not LLMs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Zhang, 2024 [7]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review of FedEraser, FedCIO, FedRecovery, F2UL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 (no data)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 vs cost vs privacy-risk trade-offs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5-page review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 [5], [6], [8]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Titles in the batch survey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retrieved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retrieved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independently verified; no claims made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8937"/>
          <a:ext cx="11247119" cy="914400"/>
        </p:xfrm>
        <a:graphic>
          <a:graphicData uri="http://schemas.openxmlformats.org/drawingml/2006/table">
            <a:tbl>
              <a:tblPr/>
              <a:tblGrid>
                <a:gridCol w="3149193"/>
                <a:gridCol w="8097926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 Gap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paper [1]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Reviews an unrelated field; it supplies a method of organising work, not an unlearning technique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Memorization pruning, primal-dual [2], [4]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Empirical or vertical-FL unlearning on image and tabular benchmarks; not designed for federated LLM pipelines; no per-request compliance record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Federated LLM unlearning [3]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Compares unlearning algorithms on TOFU and MUSE; evaluation is empirical (ROUGE, truth ratio); the abstract describes no certificate or regulator-facing audit record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Reviews and audits [5]-[8]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challenges (efficiency, metrics, non-IID data) and robustness risks of certified unlearning (titles only for [5], [6], [8])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Existing practice (batch survey)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retraining is too costly; heuristic weight edits give no proof; SISA needs a sharded design; DP training limits influence but does not remove 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problem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Certified, auditable client-level unlearning for federated LLM pipelines. ForgetSafe builds the workflow and measures it on a bigram model and on neural LoRA-style adapters (synthetic data)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1738937"/>
            <a:ext cx="11064240" cy="4524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client's influence remains embedded in the shared parameters of a federated LLM after training.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Retraining a large federated model for every deletion request is impractical.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unlearning gives no formal proof that data was forgotten.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verifiable unlearning a model cannot demonstrate compliance with the Right to Be Forgotten.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Need: a certified unlearning framework that removes a client's influence efficiently and proves it to regulators and users - with an auditable record of every request.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1738937"/>
            <a:ext cx="11064240" cy="4524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 Federated fine-tuning across clients - met at small scale: 5 bigram clients and 8 neural-adapter clients (137,151-parameter GRU); billion-parameter LLMs are outside the project's scope and hardware.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 Parameter-level unlearning without retraining - met: exact subtraction; 24 microseconds against 5.9 s to retrain 7 adapters.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O3 Certify forgetting with DP guarantees - met as reported: epsilon 1.61 at sigma 3 is outside the classical range; epsilon &lt; 1 with a useful model needs about 1,000 clients; noise is reused.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O4 Verify by membership inference and retraining comparison - met on three models; the fresh-noise retrain comparison agrees everywhere; the attack is informative where leakage exists.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O5 Preserve utility - met: 97.1 % retention (bigram default), 99.9 % (neural, no noise), 98.5 % at sigma 0.03; 59 % at sigma 0.1 would be REVIEW_REQUIRED.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O6 Auditable record per request - met, with 8 measured defects: forgeable chain, empty ledger verifies, one bad line breaks the UI.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System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1738937"/>
            <a:ext cx="11064240" cy="4524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- each client's bigram update is L2-clipped (C = 25); the coordinator adds Gaussian noise (sigma = 3) to the sum and averages.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- the clipped update of every client is stored so it can be removed later.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- an operator selects a client for removal (POST /api/unlearn).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Unlearn - subtract the stored update, divide by n - 1: no retraining.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- retained-only recomputation (L2 &lt;= 1e-10), loss-based membership attack, perplexity, accuracy and a 70 % retention floor.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 - a certificate with epsilon, delta, hashes and metrics is issued and downloadable as JSON.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- training and unlearning events are appended to a SHA-256 hash-chained ledger that anyone can re-verify.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667500" y="1905000"/>
            <a:ext cx="5143500" cy="4191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React 19 + Vite UI on port 5109: dashboard, training, unlearning, explorer, audit; proxies /api</a:t>
            </a:r>
            <a:endParaRPr lang="en-US" sz="1700" dirty="0"/>
          </a:p>
          <a:p>
            <a:pPr algn="l" indent="0" marL="0">
              <a:buNone/>
            </a:pPr>
            <a:r>
              <a:rPr lang="en-US" sz="1700" i="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Python standard-library HTTP API on port 8109: 9 routes, JSON errors</a:t>
            </a:r>
            <a:endParaRPr lang="en-US" sz="1700" dirty="0"/>
          </a:p>
          <a:p>
            <a:pPr algn="l" indent="0" marL="0">
              <a:buNone/>
            </a:pPr>
            <a:r>
              <a:rPr lang="en-US" sz="1700" i="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Engine: clipping, noisy aggregation, unlearning, certification; bigram model; membership attack</a:t>
            </a:r>
            <a:endParaRPr lang="en-US" sz="1700" dirty="0"/>
          </a:p>
          <a:p>
            <a:pPr algn="l" indent="0" marL="0">
              <a:buNone/>
            </a:pPr>
            <a:r>
              <a:rPr lang="en-US" sz="1700" i="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Audit ledger: append-only JSONL, SHA-256 chain</a:t>
            </a:r>
            <a:endParaRPr lang="en-US" sz="1700" dirty="0"/>
          </a:p>
          <a:p>
            <a:pPr algn="l" indent="0" marL="0">
              <a:buNone/>
            </a:pPr>
            <a:r>
              <a:rPr lang="en-US" sz="1700" i="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SQL database and no login: state lives in memory and the ledger file</a:t>
            </a:r>
            <a:endParaRPr lang="en-US" sz="1700" dirty="0"/>
          </a:p>
        </p:txBody>
      </p:sp>
      <p:pic>
        <p:nvPicPr>
          <p:cNvPr id="9" name="01_system_architecture" descr="01_system_architectur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739" y="1695450"/>
            <a:ext cx="5825671" cy="47053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548640" y="57790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workflow: train, track updates, request, subtract, verify, certify, record</a:t>
            </a:r>
            <a:endParaRPr lang="en-US" sz="1400" dirty="0"/>
          </a:p>
        </p:txBody>
      </p:sp>
      <p:pic>
        <p:nvPicPr>
          <p:cNvPr id="9" name="High-level workflow" descr="High-level workflow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3846" y="1695450"/>
            <a:ext cx="6176682" cy="4038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Model &amp; Parameters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1738937"/>
            <a:ext cx="11064240" cy="4524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(all synthetic): the product's built-in corpus (5 clients x 5 sentences); a seeded 20-domain grammar corpus (200 train / 200 held-out sentences per client, 300 public); an 8-domain corpus for the neural study (150 train / 150 held-out per client).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Models: character-bigram LM (33 x 33 = 1,089 parameters, add-0.15 smoothing); neural GRU (137,151 parameters, frozen) with rank-64 LoRA-style adapters (14,272 parameters per client).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Clipping: the product's C = 25 clips all five raw norms (25.2-28.2); at 200 sentences per client raw norms are about 1,239 (C = 25 would scale them by 0.02), so the studies use C = median raw norm.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Noise: Gaussian, std sigma x C per coordinate; in the product 75 per coordinate, expected noise L2 = 2475 against a clipped client norm of 25.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Privacy: epsilon = sqrt(2 ln(1.25/delta)) / sigma = 1.6149 at sigma 3, delta = 1e-5; the classical bound needs epsilon &lt; 1, i.e. sigma &gt; 4.845.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Thresholds: reference tolerance 1e-10; retention floor 70 %; utility = 0.65 x accuracy + 0.35 / (1 + ln(1 + perplexity)).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Workflow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000750" y="2000250"/>
            <a:ext cx="5810250" cy="4000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Guards: trained, client exists, not already removed, at least one client remains</a:t>
            </a:r>
            <a:endParaRPr lang="en-US" sz="1700" dirty="0"/>
          </a:p>
          <a:p>
            <a:pPr algn="l" indent="0" marL="0">
              <a:buNone/>
            </a:pPr>
            <a:r>
              <a:rPr lang="en-US" sz="1700" i="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Subtract the stored clipped update from the noisy sum; rebuild the model over n - 1 clients</a:t>
            </a:r>
            <a:endParaRPr lang="en-US" sz="1700" dirty="0"/>
          </a:p>
          <a:p>
            <a:pPr algn="l" indent="0" marL="0">
              <a:buNone/>
            </a:pPr>
            <a:r>
              <a:rPr lang="en-US" sz="1700" i="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Recompute the retained-only aggregate from stored updates and the same noise; L2 &lt;= 1e-10 and retention &gt;= 70 % gives CERTIFIED, otherwise REVIEW_REQUIRED</a:t>
            </a:r>
            <a:endParaRPr lang="en-US" sz="1700" dirty="0"/>
          </a:p>
          <a:p>
            <a:pPr algn="l" indent="0" marL="0">
              <a:buNone/>
            </a:pPr>
            <a:r>
              <a:rPr lang="en-US" sz="1700" i="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Append the certificate to the hash-chained ledger</a:t>
            </a:r>
            <a:endParaRPr lang="en-US" sz="1700" dirty="0"/>
          </a:p>
        </p:txBody>
      </p:sp>
      <p:pic>
        <p:nvPicPr>
          <p:cNvPr id="9" name="10_algorithm_flowchart" descr="10_algorithm_flow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615" y="1695450"/>
            <a:ext cx="5205919" cy="47053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User–System Interaction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000750" y="2000250"/>
            <a:ext cx="5810250" cy="4000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UI calls POST /api/train; the engine clips, aggregates and logs a FEDERATED_TRAINING event</a:t>
            </a:r>
            <a:endParaRPr lang="en-US" sz="1700" dirty="0"/>
          </a:p>
          <a:p>
            <a:pPr algn="l" indent="0" marL="0">
              <a:buNone/>
            </a:pPr>
            <a:r>
              <a:rPr lang="en-US" sz="1700" i="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POST /api/unlearn runs unlearn(): subtract, rebuild, verify, issue the certificate and append the ledger record</a:t>
            </a:r>
            <a:endParaRPr lang="en-US" sz="1700" dirty="0"/>
          </a:p>
          <a:p>
            <a:pPr algn="l" indent="0" marL="0">
              <a:buNone/>
            </a:pPr>
            <a:r>
              <a:rPr lang="en-US" sz="1700" i="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GET /api/certificate/latest downloads the JSON; POST /api/audit/verify re-walks the hash chain</a:t>
            </a:r>
            <a:endParaRPr lang="en-US" sz="1700" dirty="0"/>
          </a:p>
        </p:txBody>
      </p:sp>
      <p:pic>
        <p:nvPicPr>
          <p:cNvPr id="9" name="09_sequence_diagram" descr="09_sequence_diagram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575" y="1842721"/>
            <a:ext cx="5334000" cy="441080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(no SQL database)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000750" y="2000250"/>
            <a:ext cx="5810250" cy="4000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Session / engine: seed, clip norm, noise multiplier, delta</a:t>
            </a:r>
            <a:endParaRPr lang="en-US" sz="1700" dirty="0"/>
          </a:p>
          <a:p>
            <a:pPr algn="l" indent="0" marL="0">
              <a:buNone/>
            </a:pPr>
            <a:r>
              <a:rPr lang="en-US" sz="1700" i="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ClientDataset and ClientUpdate: records, clipped vector, original norm, clip scale</a:t>
            </a:r>
            <a:endParaRPr lang="en-US" sz="1700" dirty="0"/>
          </a:p>
          <a:p>
            <a:pPr algn="l" indent="0" marL="0">
              <a:buNone/>
            </a:pPr>
            <a:r>
              <a:rPr lang="en-US" sz="1700" i="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GlobalModel: 1,089 parameters and a SHA-256 model hash</a:t>
            </a:r>
            <a:endParaRPr lang="en-US" sz="1700" dirty="0"/>
          </a:p>
          <a:p>
            <a:pPr algn="l" indent="0" marL="0">
              <a:buNone/>
            </a:pPr>
            <a:r>
              <a:rPr lang="en-US" sz="1700" i="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UnlearningCertificate: 25 fields incl. metrics and hashes; one AuditRecord per event, chained by previous_hash</a:t>
            </a:r>
            <a:endParaRPr lang="en-US" sz="1700" dirty="0"/>
          </a:p>
        </p:txBody>
      </p:sp>
      <p:pic>
        <p:nvPicPr>
          <p:cNvPr id="9" name="06_er_diagram" descr="06_er_diagram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575" y="2047875"/>
            <a:ext cx="53340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Highlights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8937"/>
          <a:ext cx="11247119" cy="914400"/>
        </p:xfrm>
        <a:graphic>
          <a:graphicData uri="http://schemas.openxmlformats.org/drawingml/2006/table">
            <a:tbl>
              <a:tblPr/>
              <a:tblGrid>
                <a:gridCol w="2024481"/>
                <a:gridCol w="922263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model.py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Bigram counts, L2 clipping, perplexity, next-character accuracy, loss-based membership AUC, sampling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engine.py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train(): clip, sum, add noise; unlearn(): subtract, rebuild, verify, certificate; epsilon formula; guards for repeat and last client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audit.py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Append-only JSONL; record_hash = SHA-256(previous_hash | canonical JSON); verify() re-walks the chain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web.py + app.py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Standard-library threaded HTTP server; 9 routes; 1 MB body limit; JSON errors; also --demo and --desktop modes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frontend/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19, Vite 8, Recharts; five pages plus landing; toasts, confirm dialogs, dark mode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tests/ + scripts/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unit tests, 14-check smoke test, and four measurement scripts: run_experiments.py, run_synthetic_corpus.py, run_neural_experiment.py, run_testing_experiments.py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– Measured Performance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8937"/>
          <a:ext cx="11247119" cy="914400"/>
        </p:xfrm>
        <a:graphic>
          <a:graphicData uri="http://schemas.openxmlformats.org/drawingml/2006/table">
            <a:tbl>
              <a:tblPr/>
              <a:tblGrid>
                <a:gridCol w="3374136"/>
                <a:gridCol w="4273905"/>
                <a:gridCol w="359907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run (seed 2026), 5 removals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/ 5 CERTIFIED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L2 &lt;= 2.8e-14; retention 93.6-98.8 %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 study, 250 requests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 / 250 CERTIFIED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retention 97.1 ± 3.5 % (min 79.9)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Perplexity at sigma =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130.2 (seed 2026); 142 ± 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model = 32; accuracy about 4-5 %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Membership AUC before / after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0.524 / 0.495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chance = 0.5; sd 0.22; change -0.029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Unlearned vs fresh retrain (L2)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bigram 875 vs 881; synthetic corpus 645 vs 650; neural 31.8 vs 31.8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unlearned vs retrain equals retrain vs retrain; both are just the noise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Noise-free attack AUC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bigram 0.99 → 0.54; neural client-level 0.78 → 0.53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retrain 0.53: the removal itself works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adapters, retention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99.9 % (no noise); 92 % (sigma 0.05)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useful only for sigma &lt;= 0.05; destroyed from sigma 0.3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Clients for epsilon &lt; 1 (synthetic corpus)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1,000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perplexity within 1.2x of noise-free at sigma 4.85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tamper cases detected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of 7 attacks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edit, flip, delete, swap caught; truncation and re-hash forgery not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 synthetic: 25-sentence bigram product, 20-domain corpus, 137k-parameter neural GRU. Results describe the method at this scale, not a billion-parameter LLM.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Outcomes &amp; Tamper-Detection Matrix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411480" y="5200650"/>
            <a:ext cx="5486400" cy="952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adapters: client-level attack AUC 0.78 → 0.53 after removal = fresh retrain (0.53); the sample-level AUC stays near 0.5 at every sigma</a:t>
            </a:r>
            <a:endParaRPr lang="en-US" sz="1300" dirty="0"/>
          </a:p>
        </p:txBody>
      </p:sp>
      <p:sp>
        <p:nvSpPr>
          <p:cNvPr id="10" name="Text 5"/>
          <p:cNvSpPr/>
          <p:nvPr/>
        </p:nvSpPr>
        <p:spPr>
          <a:xfrm>
            <a:off x="6263640" y="5200650"/>
            <a:ext cx="5486400" cy="952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tamper matrix: 4 of 7 attacks detected; truncation, re-hash forgery and forged append pass</a:t>
            </a:r>
            <a:endParaRPr lang="en-US" sz="1300" dirty="0"/>
          </a:p>
        </p:txBody>
      </p:sp>
      <p:pic>
        <p:nvPicPr>
          <p:cNvPr id="11" name="Neural adapters: client-level attack AUC 0.78 → 0.53 after removal = fresh retrain (0.53); the sample-level AUC stays near 0.5 at every sigma" descr="Neural adapters: client-level attack AUC 0.78 → 0.53 after removal = fresh retrain (0.53); the sample-level AUC stays near 0.5 at every sigm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702" y="1733550"/>
            <a:ext cx="4558145" cy="3352800"/>
          </a:xfrm>
          <a:prstGeom prst="rect">
            <a:avLst/>
          </a:prstGeom>
        </p:spPr>
      </p:pic>
      <p:pic>
        <p:nvPicPr>
          <p:cNvPr id="12" name="Ledger tamper matrix: 4 of 7 attacks detected; truncation, re-hash forgery and forged append pass" descr="Ledger tamper matrix: 4 of 7 attacks detected; truncation, re-hash forgery and forged append pas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7925" y="2131062"/>
            <a:ext cx="5486400" cy="255777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Analysis: Federation Size and Noise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411480" y="5200650"/>
            <a:ext cx="5486400" cy="952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corpus: epsilon &lt; 1 (sigma 4.85) needs about 1,000 clients to come within 1.2x of the noise-free perplexity; with 5 clients the ratio is 102x</a:t>
            </a:r>
            <a:endParaRPr lang="en-US" sz="1300" dirty="0"/>
          </a:p>
        </p:txBody>
      </p:sp>
      <p:sp>
        <p:nvSpPr>
          <p:cNvPr id="10" name="Text 5"/>
          <p:cNvSpPr/>
          <p:nvPr/>
        </p:nvSpPr>
        <p:spPr>
          <a:xfrm>
            <a:off x="6263640" y="5200650"/>
            <a:ext cx="5486400" cy="952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adapters: useful only for sigma &lt;= 0.05 (epsilon &gt;= 97); retention 98.5 % at 0.03, 59 % at 0.1; destroyed from 0.3</a:t>
            </a:r>
            <a:endParaRPr lang="en-US" sz="1300" dirty="0"/>
          </a:p>
        </p:txBody>
      </p:sp>
      <p:pic>
        <p:nvPicPr>
          <p:cNvPr id="11" name="Synthetic corpus: epsilon &lt; 1 (sigma 4.85) needs about 1,000 clients to come within 1.2x of the noise-free perplexity; with 5 clients the ratio is 102x" descr="Synthetic corpus: epsilon &lt; 1 (sigma 4.85) needs about 1,000 clients to come within 1.2x of the noise-free perplexity; with 5 clients the ratio is 102x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9575" y="1829402"/>
            <a:ext cx="5486400" cy="2951544"/>
          </a:xfrm>
          <a:prstGeom prst="rect">
            <a:avLst/>
          </a:prstGeom>
        </p:spPr>
      </p:pic>
      <p:pic>
        <p:nvPicPr>
          <p:cNvPr id="12" name="Neural adapters: useful only for sigma &lt;= 0.05 (epsilon &gt;= 97); retention 98.5 % at 0.03, 59 % at 0.1; destroyed from 0.3" descr="Neural adapters: useful only for sigma &lt;= 0.05 (epsilon &gt;= 97); retention 98.5 % at 0.03, 59 % at 0.1; destroyed from 0.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7224" y="1733550"/>
            <a:ext cx="4227801" cy="314325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&amp; Testing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8937"/>
          <a:ext cx="11247119" cy="914400"/>
        </p:xfrm>
        <a:graphic>
          <a:graphicData uri="http://schemas.openxmlformats.org/drawingml/2006/table">
            <a:tbl>
              <a:tblPr/>
              <a:tblGrid>
                <a:gridCol w="2474366"/>
                <a:gridCol w="8772753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response, median / p95 (ms, 127.0.0.1)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3.0 / 25.4; train 36.5 / 60.0; unlearn 57.9 / 82.4; generate 7.3 / 23.6; audit verify 5.8 / 25.2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Unlearn vs retrain (proxy)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clients: 45 vs 13 ms (unlearn slower); 100 clients 1.4x faster; 500 clients (50,000 records) 6.8x faster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adapters: unlearn vs retrain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subtraction 24 microseconds; with metrics and attack 91 ms; retraining the 7 retained adapters 5.9 s (65x)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and concurrency (1-64 clients)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/api/state saturates near 86 req/s (ledger re-read per call); 32 simultaneous removals of one client: 1 success, 31 refused; 16 simultaneous trainings: valid chain; 2,000-request soak: 0 errors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cost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append re-reads the file: 0.44 ms at 1 record, 19.6 ms at 2,000; verify 2,000 records 44 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 tests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unit tests and 14 smoke checks pass; 20/20 scripted synthetic-user journeys pass (49 certificates, 0 console errors)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probes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 probes: 35 handled, 15 noteworthy, 8 defects (no read timeout, cross-site POST accepted, Host unchecked, connection bursts refused, empty ledger verifies, bad ledger line breaks the UI, no authentication)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with Base Paper and Closest Work (context only)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8937"/>
          <a:ext cx="11247118" cy="914400"/>
        </p:xfrm>
        <a:graphic>
          <a:graphicData uri="http://schemas.openxmlformats.org/drawingml/2006/table">
            <a:tbl>
              <a:tblPr/>
              <a:tblGrid>
                <a:gridCol w="1349654"/>
                <a:gridCol w="2249424"/>
                <a:gridCol w="2249424"/>
                <a:gridCol w="2024481"/>
                <a:gridCol w="1912010"/>
                <a:gridCol w="146212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and data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/ measured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Guarantee and audit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Comparable?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paper [1]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 of continuous sign language recognition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Taxonomy of spatial, temporal, alignment models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unlearning results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No: unrelated subject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 et al. [2] (KDD 2026)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Federated unlearning on CIFAR-10/100, EMNIST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FedMemPrune: prune memorising parameters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Closely matches retraining baselines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Empirical memorisation 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No: images, not LLMs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Oblivionis [3]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Federated LLM unlearning on TOFU, MUSE (Llama models)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FL x 5 unlearning algorithms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Beats local training; forgetting/utility balance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Empirical metrics (ROUGE, truth ratio)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No: real LLMs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ForgetSafe (ours)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Bigram product (5 clients) and neural LoRA-style adapters (8 clients), synthetic text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Tracked-update subtraction, DP release bound, verification, hash ledger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250/250 certified; neural client AUC 0.78 → 0.53 = fresh retrain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Certificate + hash-chained ledger (forgeable)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tasks, data and metrics: no numeric head-to-head is possible. The comparison is of scope and approach, and ForgetSafe is a small demonstrator.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– Training and Dashboard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411480" y="5200650"/>
            <a:ext cx="5486400" cy="952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training: 5 clients, epsilon 1.6149, perplexity 130.22, accuracy 5.1 %, clipped norms 25.000</a:t>
            </a:r>
            <a:endParaRPr lang="en-US" sz="1300" dirty="0"/>
          </a:p>
        </p:txBody>
      </p:sp>
      <p:sp>
        <p:nvSpPr>
          <p:cNvPr id="10" name="Text 5"/>
          <p:cNvSpPr/>
          <p:nvPr/>
        </p:nvSpPr>
        <p:spPr>
          <a:xfrm>
            <a:off x="6263640" y="5200650"/>
            <a:ext cx="5486400" cy="952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after two removals: 3 of 5 clients active, latest certificate shown</a:t>
            </a:r>
            <a:endParaRPr lang="en-US" sz="1300" dirty="0"/>
          </a:p>
        </p:txBody>
      </p:sp>
      <p:pic>
        <p:nvPicPr>
          <p:cNvPr id="11" name="Federated training: 5 clients, epsilon 1.6149, perplexity 130.22, accuracy 5.1 %, clipped norms 25.000" descr="Federated training: 5 clients, epsilon 1.6149, perplexity 130.22, accuracy 5.1 %, clipped norms 25.00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534" y="1733550"/>
            <a:ext cx="5364480" cy="3352800"/>
          </a:xfrm>
          <a:prstGeom prst="rect">
            <a:avLst/>
          </a:prstGeom>
        </p:spPr>
      </p:pic>
      <p:pic>
        <p:nvPicPr>
          <p:cNvPr id="12" name="Dashboard after two removals: 3 of 5 clients active, latest certificate shown" descr="Dashboard after two removals: 3 of 5 clients active, latest certificate show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8885" y="1733550"/>
            <a:ext cx="5364480" cy="33528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– Certified Unlearning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411480" y="5200650"/>
            <a:ext cx="5486400" cy="952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dialog before removing Client 01 (Finance)</a:t>
            </a:r>
            <a:endParaRPr lang="en-US" sz="1300" dirty="0"/>
          </a:p>
        </p:txBody>
      </p:sp>
      <p:sp>
        <p:nvSpPr>
          <p:cNvPr id="10" name="Text 5"/>
          <p:cNvSpPr/>
          <p:nvPr/>
        </p:nvSpPr>
        <p:spPr>
          <a:xfrm>
            <a:off x="6263640" y="5200650"/>
            <a:ext cx="5486400" cy="952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CERT-C5427F948A72: epsilon 1.6149, retention 93.65 %, AUC 0.200 → 0.160</a:t>
            </a:r>
            <a:endParaRPr lang="en-US" sz="1300" dirty="0"/>
          </a:p>
        </p:txBody>
      </p:sp>
      <p:pic>
        <p:nvPicPr>
          <p:cNvPr id="11" name="Confirmation dialog before removing Client 01 (Finance)" descr="Confirmation dialog before removing Client 01 (Finance)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534" y="1733550"/>
            <a:ext cx="5364480" cy="3352800"/>
          </a:xfrm>
          <a:prstGeom prst="rect">
            <a:avLst/>
          </a:prstGeom>
        </p:spPr>
      </p:pic>
      <p:pic>
        <p:nvPicPr>
          <p:cNvPr id="12" name="Certificate CERT-C5427F948A72: epsilon 1.6149, retention 93.65 %, AUC 0.200 → 0.160" descr="Certificate CERT-C5427F948A72: epsilon 1.6149, retention 93.65 %, AUC 0.200 → 0.16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8885" y="1733550"/>
            <a:ext cx="5364480" cy="33528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– Model Explorer and Audit Ledger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411480" y="5200650"/>
            <a:ext cx="5486400" cy="952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text from the 4-client model: seed “privacy” continues as noise-like characters</a:t>
            </a:r>
            <a:endParaRPr lang="en-US" sz="1300" dirty="0"/>
          </a:p>
        </p:txBody>
      </p:sp>
      <p:sp>
        <p:nvSpPr>
          <p:cNvPr id="10" name="Text 5"/>
          <p:cNvSpPr/>
          <p:nvPr/>
        </p:nvSpPr>
        <p:spPr>
          <a:xfrm>
            <a:off x="6263640" y="5200650"/>
            <a:ext cx="5486400" cy="952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of 4 events (2 training, 2 unlearning); hash chain verified</a:t>
            </a:r>
            <a:endParaRPr lang="en-US" sz="1300" dirty="0"/>
          </a:p>
        </p:txBody>
      </p:sp>
      <p:pic>
        <p:nvPicPr>
          <p:cNvPr id="11" name="Sample text from the 4-client model: seed “privacy” continues as noise-like characters" descr="Sample text from the 4-client model: seed “privacy” continues as noise-like character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534" y="1733550"/>
            <a:ext cx="5364480" cy="3352800"/>
          </a:xfrm>
          <a:prstGeom prst="rect">
            <a:avLst/>
          </a:prstGeom>
        </p:spPr>
      </p:pic>
      <p:pic>
        <p:nvPicPr>
          <p:cNvPr id="12" name="Ledger of 4 events (2 training, 2 unlearning); hash chain verified" descr="Ledger of 4 events (2 training, 2 unlearning); hash chain verifie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8885" y="1733550"/>
            <a:ext cx="5364480" cy="33528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1738937"/>
            <a:ext cx="11064240" cy="4524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ForgetSafe: federated training, tracked-update subtraction, DP release bound, membership and utility checks, certificates and a hash-chained ledger, with a React UI and a JSON API.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synthetic data: 250 of 250 bigram requests certified; neural adapters: client-level attack 0.78 → 0.53 = fresh retrain, removal 65x faster than retraining; 5 unit tests, 14 smoke checks, 20/20 acceptance journeys.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findings: at the product's sigma = 3 the model is worse than uniform (perplexity 142 vs 32); the certificate check is an identity, so the fresh-noise retrain comparison is the real evidence; with no noise the attack falls from 0.99 to 0.54; epsilon &lt; 1 with a useful model needs about 1,000 clients.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defects to fix: forgeable ledger, empty ledger verifies, no read timeout, cross-site POST accepted, no authentication (8 of 58 probes).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objectives are met at the scale of the demonstrator (bigram product, 8-client neural adapter study); the batch's billion-parameter setting is outside the project's scope.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1738937"/>
            <a:ext cx="11064240" cy="4524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adapter study to LoRA on a small pretrained Hugging Face language model with Flower for transport.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privacy accountant, the exact analytic Gaussian bound [19] (epsilon 1.27 at sigma 3) and fresh noise per release; target federations of about 1,000 clients for epsilon &lt; 1.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ledger records and anchor the head hash externally; add authentication, CSRF protection, read timeouts and a check that rejects an emptied ledger.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attacks (shadow models, extraction tests [21]) and a fresh-noise retrain reference inside every certificate.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ledger append and a ledger index so state reads stay fast as the history grows.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1098857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1738937"/>
            <a:ext cx="11064240" cy="4524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A. Khan et al., “Deep learning approaches for continuous sign language recognition: A comprehensive review,” IEEE Access, vol. 13, pp. 55524-55544, 2025 (base paper).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J. Wei et al., “Rethinking federated unlearning via the lens of memorization,” KDD ’26, 2026, arXiv:2605.24545.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F. Zhang et al., “Oblivionis: A lightweight learning and unlearning framework for federated large language models,” arXiv:2508.08875, 2025.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Y. Jiang et al., “Certifying the right to be forgotten: Primal-dual optimization ... in vertical federated learning,” arXiv:2512.23171, 2025.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“Federated illusion: Multi-level geometric privacy audit for federated graph unlearning,” Information, 2026 (batch survey; not verified).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“Computationally efficient federated unlearning,” Proc. 26th Int. Middleware Conf., 2025 (batch survey; not verified).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W. Zhang, “A comprehensive investigation of federated unlearning ...,” Proc. DAML, SciTePress, 2024, pp. 569-573.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“Unlearning under siege: Robustness risks of certified machine unlearning,” Neurocomputing, 2026 (batch survey; not verified).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H. B. McMahan et al., “Communication-efficient learning of deep networks from decentralized data,” AISTATS, 2017.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C. Dwork and A. Roth, “The algorithmic foundations of differential privacy,” Found. Trends Theor. Comput. Sci., 2014.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M. Abadi et al., “Deep learning with differential privacy,” ACM CCS, 2016.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L. Bourtoule et al., “Machine unlearning,” IEEE S&amp;P, 2021.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C. Guo et al., “Certified data removal from machine learning models,” ICML, 2020.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A. Sekhari et al., “Remember what you want to forget: Algorithms for machine unlearning,” NeurIPS, 2021.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R. Shokri et al., “Membership inference attacks against machine learning models,” IEEE S&amp;P, 2017.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S. Yeom et al., “Privacy risk in machine learning: Analyzing the connection to overfitting,” IEEE CSF, 2018.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G. Liu et al., “FedEraser: Enabling efficient client-level data removal from federated learning models,” IWQoS, 2021.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[18] Y. Cao and J. Yang, “Towards making systems forget with machine unlearning,” IEEE S&amp;P, 2015.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[19] B. Balle and Y.-X. Wang, “Improving the Gaussian mechanism for differential privacy,” ICML, 2018.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[20] European Parliament and Council, Regulation (EU) 2016/679 (GDPR), OJ L 119, 2016, Art. 17.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[21] N. Carlini et al., “Extracting training data from large language models,” USENIX Security, 2021.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[22] E. J. Hu et al., “LoRA: Low-rank adaptation of large language models,” ICLR, 2022.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vaishanavi\CSE-D\CSE-D-D1\doc_generator\college_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73152"/>
            <a:ext cx="8412480" cy="87025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979985"/>
            <a:ext cx="1145743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274320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457200" y="3657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Suggestions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  |  Batch A9  |  Final Review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ForgetSafe: Final Review</dc:title>
  <dc:subject>Privacy-Preserving Machine Unlearning in Federated LLMs: A Certified Right-to-Be-Forgotten Framework</dc:subject>
  <dc:creator>Batch A9</dc:creator>
  <cp:lastModifiedBy>Batch A9</cp:lastModifiedBy>
  <cp:revision>1</cp:revision>
  <dcterms:created xsi:type="dcterms:W3CDTF">2026-10-07T05:03:03Z</dcterms:created>
  <dcterms:modified xsi:type="dcterms:W3CDTF">2026-10-07T05:03:03Z</dcterms:modified>
  <cp:keywords>machine unlearning, federated learning, differential privacy, right to be forgotten, audit</cp:keywords>
  <cp:category/>
  <dc:description/>
  <cp:contentStatus/>
</cp:coreProperties>
</file>