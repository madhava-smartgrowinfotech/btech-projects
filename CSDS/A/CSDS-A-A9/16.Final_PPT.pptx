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review of ForgetSafe: a certified federated-unlearning demonstrator with a tamper-evident compliance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Abstract: problem, approach, headline measurements and the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 is the base paper recorded in the batch files; [2] and [3] are the closest technical works, read from the PDFs in archived_base_papers.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[1]-[4] and [7] were read or verified; [5], [6] and [8] could not be found online, so nothing beyond their titles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is the certified, auditable workflow; the prototype does not close the evidence gap because it uses a proxy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synthetic and tiny by design; the findings describe the algorithm and the demonstrator, not an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headline certificate result is an identity; the gold-standard comparison and the noise-free attack supply the real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classifier here, so the equivalent of a confusion matrix is the per-client outcome table and the detected / not-detected matrix of tamper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seeds x 5 clients per sigma. epsilon &lt; 1 needs sigma &gt; 4.85, where perplexity is 198-305.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Machine: Intel Core i5-12500, 15.7 GB RAM, no GPU. Latencies are single-client medians; proxy retraining is itself cheap, so these say nothing about LLM-scale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plainly: no claim that ForgetSafe beats any of these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Machine Unlearning in Federated LLMs: A Certified Right-to-Be-Forgotten Framework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23K91A6761   G.SHASHANK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23K91A6719   B.SATHISH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23K91A6759   G.RAKESH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23K91A6721   B.AKHIL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 (Data Science)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(DATA SCIENCE)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Algorithm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Parameter Analysis, Testing &amp; Comparison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LLMs keep each client's data local, yet every client's influence stays in the shared parameters; GDPR Article 17 lets a user demand removal.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ForgetSafe is a runnable demonstrator: five simulated clients train a character-bigram model (1,089 parameters, standing in for an LLM adapter update) with L2 clipping and Gaussian noise.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is removed by subtracting its tracked clipped update, with no retraining; each request gets a certificate, a membership-inference check, a utility check and a SHA-256 hash-chained audit record.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certificate gap 1e-14 (an identity check); 250 requests all CERTIFIED; retention 97.1 % ± 3.5; 5 unit tests and 14 smoke checks pass.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findings: at the default noise the model is worse than a uniform guess (perplexity 142 vs 32) and the attack is at chance (AUC 0.52); epsilon 1.61 lies outside the classical bound's range.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machine unlearning, federated learning, differential privacy, right to be forgotten, audit.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Khan, S. Jin, G.-H. Lee, G. E. Arzu, L. M. Dang, T. N. Nguyen, W. Choi, and H. Moon, "Deep learning approaches for continuous sign language recognition: A comprehensive review," IEEE Access, vol. 13, pp. 55524-55544, 2025, doi: 10.1109/ACCESS.2025.3554046.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a survey of deep-learning continuous sign language recognition; it organises the field into a taxonomy (spatial, temporal and alignment approaches), compares strengths and drawbacks and lists open gaps.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its subject is unrelated to unlearning. The batch records adopt only its review method: taxonomy, comparison of strengths and limitations, research-gap identification. No numeric comparison with it is possible and none is made.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anchor: Wei et al., KDD 2026 [2] - Grouped Memorization Evaluation and FedMemPrune, a pruning-based federated unlearning that closely matches retraining baselines on CIFAR-10, CIFAR-100 and EMNIST.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Companion: Oblivionis [3], a federated LLM learning-and-unlearning framework motivated by GDPR.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2024481"/>
                <a:gridCol w="2811780"/>
                <a:gridCol w="2136952"/>
                <a:gridCol w="2474366"/>
                <a:gridCol w="1799539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 et al., 2025 (base) 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Survey; taxonomy of sign-language recognition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Sign-language video datasets (surveyed)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Taxonomy, challenges and gaps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Unrelated subject; review method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et al., KDD 2026 [2]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Memorization Evaluation; FedMemPrune (prune memorising parameters)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CIFAR-10, CIFAR-100, EMNIST; ResNet, VGG-9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Closely matches retraining; removes memorisation better than federated-unlearning baselines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classifiers, not LLM pipelines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2025 (Oblivionis) [3]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FL + unlearning; 6 FL and 5 unlearning algorithms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TOFU, MUSE; Llama-2-7B, Llama-3.1/3.2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local training; balances forgetting and utility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comparison of algorithms; certification not its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Jiang et al., 2025 (FedORA) [4]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Primal-dual optimisation for sample/label unlearning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Income, MedMNIST, CIFAR-10/100, Tiny-ImageNet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to retraining at lower cost; bounded gap to train-from-scratch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FL; not LLMs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Zhang, 2024 [7]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review of FedEraser, FedCIO, FedRecovery, F2UL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(no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vs cost vs privacy-risk trade-offs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5-page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[5], [6], [8]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Titles in the batch survey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independently verified; no claims made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149193"/>
                <a:gridCol w="809792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an unrelated field; it supplies a method of organising work, not an unlearning technique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Memorization pruning, primal-dual [2], [4]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or vertical-FL unlearning on image and tabular benchmarks; not designed for federated LLM pipelines; no per-request compliance 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LLM unlearning [3]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unlearning algorithms on TOFU and MUSE; evaluation is empirical (ROUGE, truth ratio); the abstract describes no certificate or regulator-facing audit 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and audits [5]-[8]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challenges (efficiency, metrics, non-IID data) and robustness risks of certified unlearning (titles only for [5], [6], [8])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practice (batch survey)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retraining is too costly; heuristic weight edits give no proof; SISA needs a sharded design; DP training limits influence but does not remove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problem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Certified, auditable client-level unlearning for federated LLM pipelines. ForgetSafe prototypes the workflow on a proxy model and tests it honestly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client's influence remains embedded in the shared parameters of a federated LLM after training.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 large federated model for every deletion request is impractical.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unlearning gives no formal proof that data was forgotten.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verifiable unlearning a model cannot demonstrate compliance with the Right to Be Forgotten.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certified unlearning framework that removes a client's influence efficiently and proves it to regulators and users - with an auditable record of every request.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Federated fine-tuning across clients - partly met: 5 simulated clients on a bigram proxy, no LLM.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Parameter-level unlearning without retraining - met on the proxy: exact subtraction of the tracked update.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Certify forgetting with DP guarantees - partly met: epsilon 1.61 reported, outside the classical range; noise reused; check is an identity.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Verify by membership inference and retraining comparison - met as implemented; attack uninformative at default noise (AUC 0.52).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Preserve utility - met by the metric (97.1 % retention) but the baseline model is weak at sigma = 3.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 Auditable record per request - met with limits: tamper-evident against edits, not against forgery.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- each client's bigram update is L2-clipped (C = 25); the coordinator adds Gaussian noise (sigma = 3) to the sum and averages.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- the clipped update of every client is stored so it can be removed later.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- an operator selects a client for removal (POST /api/unlearn).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 - subtract the stored update, divide by n - 1: no retraining.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- retained-only recomputation (L2 &lt;= 1e-10), loss-based membership attack, perplexity, accuracy and a 70 % retention floor.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- a certificate with epsilon, delta, hashes and metrics is issued and downloadable as JSON.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- training and unlearning events are appended to a SHA-256 hash-chained ledger that anyone can re-verify.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667500" y="1905000"/>
            <a:ext cx="5143500" cy="419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19 + Vite UI on port 5109: dashboard, training, unlearning, explorer, audit; proxies /api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standard-library HTTP API on port 8109: 9 routes, JSON errors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Engine: clipping, noisy aggregation, unlearning, certification; bigram model; membership attack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ledger: append-only JSONL, SHA-256 chain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SQL database and no login: state lives in memory and the ledger file</a:t>
            </a:r>
            <a:endParaRPr lang="en-US" sz="1700" dirty="0"/>
          </a:p>
        </p:txBody>
      </p:sp>
      <p:pic>
        <p:nvPicPr>
          <p:cNvPr id="9" name="01_system_architecture" descr="01_system_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39" y="1695450"/>
            <a:ext cx="5825671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train, track updates, request, subtract, verify, certify, record</a:t>
            </a:r>
            <a:endParaRPr lang="en-US" sz="1400" dirty="0"/>
          </a:p>
        </p:txBody>
      </p:sp>
      <p:pic>
        <p:nvPicPr>
          <p:cNvPr id="9" name="High-level workflow" descr="High-level work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846" y="1695450"/>
            <a:ext cx="6176682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 &amp; Parameters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built-in synthetic corpus, 5 clients (Finance, Healthcare, Education, Retail, Travel) x 5 sentences = 25 records; 5 public evaluation sentences; 5 non-member sentences. No external dataset and no train/test split beyond these fixed sets.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character-bigram language model over a 33-symbol alphabet; 33 x 33 = 1,089 parameters; add-0.15 smoothing. It stands in for a LoRA-style adapter update.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Clipping: C = 25; all five raw update norms (25.2-28.2) are clipped (scale 0.886-0.991).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 Gaussian, std sigma x C = 75 per coordinate; expected noise L2 = 2475 against a clipped client norm of 25.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epsilon = sqrt(2 ln(1.25/delta)) / sigma = 1.6149 at delta = 1e-5; the classical bound needs epsilon &lt; 1, i.e. sigma &gt; 4.845.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reference tolerance 1e-10; retention floor 70 %; utility = 0.65 x accuracy + 0.35 / (1 + ln(1 + perplexity)).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00750" y="2000250"/>
            <a:ext cx="581025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Guards: trained, client exists, not already removed, at least one client remains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Subtract the stored clipped update from the noisy sum; rebuild the model over n - 1 clients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Recompute the retained-only aggregate from stored updates and the same noise; L2 &lt;= 1e-10 and retention &gt;= 70 % gives CERTIFIED, otherwise REVIEW_REQUIRED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Append the certificate to the hash-chained ledger</a:t>
            </a:r>
            <a:endParaRPr lang="en-US" sz="1700" dirty="0"/>
          </a:p>
        </p:txBody>
      </p:sp>
      <p:pic>
        <p:nvPicPr>
          <p:cNvPr id="9" name="10_algorithm_flowchart" descr="10_algorithm_flow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15" y="1695450"/>
            <a:ext cx="5205919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00750" y="2000250"/>
            <a:ext cx="581025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UI calls POST /api/train; the engine clips, aggregates and logs a FEDERATED_TRAINING event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 /api/unlearn runs unlearn(): subtract, rebuild, verify, issue the certificate and append the ledger record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GET /api/certificate/latest downloads the JSON; POST /api/audit/verify re-walks the hash chain</a:t>
            </a:r>
            <a:endParaRPr lang="en-US" sz="1700" dirty="0"/>
          </a:p>
        </p:txBody>
      </p:sp>
      <p:pic>
        <p:nvPicPr>
          <p:cNvPr id="9" name="09_sequence_diagram" descr="09_sequence_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" y="1842721"/>
            <a:ext cx="5334000" cy="44108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(no SQL database)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00750" y="2000250"/>
            <a:ext cx="581025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 / engine: seed, clip norm, noise multiplier, delta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ClientDataset and ClientUpdate: records, clipped vector, original norm, clip scale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GlobalModel: 1,089 parameters and a SHA-256 model hash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UnlearningCertificate: 25 fields incl. metrics and hashes; one AuditRecord per event, chained by previous_hash</a:t>
            </a:r>
            <a:endParaRPr lang="en-US" sz="1700" dirty="0"/>
          </a:p>
        </p:txBody>
      </p:sp>
      <p:pic>
        <p:nvPicPr>
          <p:cNvPr id="9" name="06_er_diagram" descr="06_er_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" y="2047875"/>
            <a:ext cx="5334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024481"/>
                <a:gridCol w="922263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Bigram counts, L2 clipping, perplexity, next-character accuracy, loss-based membership AUC, sampling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engine.py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train(): clip, sum, add noise; unlearn(): subtract, rebuild, verify, certificate; epsilon formula; guards for repeat and last client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audit.py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JSONL; record_hash = SHA-256(previous_hash | canonical JSON); verify() re-walks the chain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web.py + app.py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Standard-library threaded HTTP server; 9 routes; 1 MB body limit; JSON errors; also --demo and --desktop modes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19, Vite 8, Recharts; five pages plus landing; toasts, confirm dialogs, dark mode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 + scripts/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unit tests, 14-check smoke test, and run_experiments.py (11 measurement experiments)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Measured Performance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824020"/>
                <a:gridCol w="2924251"/>
                <a:gridCol w="449884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run (seed 2026), 5 removals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 CERTIFIED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L2 &lt;= 2.8e-14; retention 93.6-98.8 %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study, 250 requests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/ 250 CERTIFIED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97.1 ± 3.5 % (min 79.9)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 at sigma = 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130.2 (seed 2026); 142 ± 28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model = 32; accuracy about 4-5 %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AUC before / after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 / 0.495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= 0.5; sd 0.22; change -0.029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Unlearned vs fresh retrain (L2, sigma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 vs 881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vs retrain; both are just the noise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Noise-free membership AUC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→ 0.54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sigma = 1e-6: the removal itself works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tamper cases detected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7 attacks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edit, flip, delete, swap caught; truncation and re-hash forgery not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checks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unit + 14 smoke pass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load, LLM or penetration tests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5-client, 25-sentence synthetic demonstrator with a bigram proxy; not an estimate of LLM-scale behaviour.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Outcomes &amp; Tamper-Detection Matrix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run: membership AUC before/after and utility retention (93.6-98.8 %) for each removed client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tamper matrix: 4 of 7 attacks detected; truncation, re-hash forgery and forged append pass</a:t>
            </a:r>
            <a:endParaRPr lang="en-US" sz="1300" dirty="0"/>
          </a:p>
        </p:txBody>
      </p:sp>
      <p:pic>
        <p:nvPicPr>
          <p:cNvPr id="11" name="Default run: membership AUC before/after and utility retention (93.6-98.8 %) for each removed client" descr="Default run: membership AUC before/after and utility retention (93.6-98.8 %) for each removed cli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2396811"/>
            <a:ext cx="5486400" cy="2026276"/>
          </a:xfrm>
          <a:prstGeom prst="rect">
            <a:avLst/>
          </a:prstGeom>
        </p:spPr>
      </p:pic>
      <p:pic>
        <p:nvPicPr>
          <p:cNvPr id="12" name="Ledger tamper matrix: 4 of 7 attacks detected; truncation, re-hash forgery and forged append pass" descr="Ledger tamper matrix: 4 of 7 attacks detected; truncation, re-hash forgery and forged append pas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2131062"/>
            <a:ext cx="5486400" cy="25577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Analysis: Noise Multiplier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vs sigma: useful only at sigma &lt;= 0.1 (epsilon &gt;= 48); sigma = 3 gives perplexity 145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AUC 0.99 → 0.54 at sigma = 0.001; near chance from sigma = 2</a:t>
            </a:r>
            <a:endParaRPr lang="en-US" sz="1300" dirty="0"/>
          </a:p>
        </p:txBody>
      </p:sp>
      <p:pic>
        <p:nvPicPr>
          <p:cNvPr id="11" name="Quality vs sigma: useful only at sigma &lt;= 0.1 (epsilon &gt;= 48); sigma = 3 gives perplexity 145" descr="Quality vs sigma: useful only at sigma &lt;= 0.1 (epsilon &gt;= 48); sigma = 3 gives perplexity 1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2274865"/>
            <a:ext cx="5486400" cy="2060619"/>
          </a:xfrm>
          <a:prstGeom prst="rect">
            <a:avLst/>
          </a:prstGeom>
        </p:spPr>
      </p:pic>
      <p:pic>
        <p:nvPicPr>
          <p:cNvPr id="12" name="Attack AUC 0.99 → 0.54 at sigma = 0.001; near chance from sigma = 2" descr="Attack AUC 0.99 → 0.54 at sigma = 0.001; near chance from sigma =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8298" y="1733550"/>
            <a:ext cx="5225653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474366"/>
                <a:gridCol w="8772753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response, median / p95 (ms, 127.0.0.1)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3.0 / 25.4; train 36.5 / 60.0; unlearn 57.9 / 82.4; generate 7.3 / 23.6; audit verify 5.8 / 25.2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Unlearn vs retrain (proxy)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clients: 45 vs 13 ms (unlearn slower); 100 clients 1.4x faster; 500 clients (50,000 records) 6.8x faster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cost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re-reads the file: 0.44 ms at 1 record, 19.6 ms at 2,000; verify 2,000 records 44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unit tests (workflow, repeat rejection, tamper, export, HTTP) and 14 smoke checks all 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malformed JSON, non-object body, unknown client, repeat and last-client removal -&gt; HTTP 400 with a message; 2 MB body aborts the connection; PUT returns an HTML 501 page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load, real LLM, GPU, authentication (none exists), penetration testing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and Closest Work (context only)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1349654"/>
                <a:gridCol w="2249424"/>
                <a:gridCol w="2249424"/>
                <a:gridCol w="2024481"/>
                <a:gridCol w="1912010"/>
                <a:gridCol w="146212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and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/ measured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 and audit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continuous sign language recognition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 of spatial, temporal, alignment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unlearning results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unrelated subject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et al. [2] (KDD 2026)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unlearning on CIFAR-10/100, EMNIST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FedMemPrune: prune memorising 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Closely matches retraining baselines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memorisation 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images, not LLMs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Oblivionis [3]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LLM unlearning on TOFU, MUSE (Llama models)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FL x 5 unlearning algorithms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local training; forgetting/utility balance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metrics (ROUGE, truth ratio)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real LLMs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ForgetSafe (ours)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bigram proxy, 5 clients, 25 synthetic sentences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Tracked-update subtraction, DP release bound, verification, hash ledger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250/250 certified; AUC 0.52; retention 97.1 %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+ hash-chained ledger (forgeable)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tasks, data and metrics: no numeric head-to-head is possible. The comparison is of scope and approach, and ForgetSafe is a small demonstrator.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Training and Dashboard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training: 5 clients, epsilon 1.6149, perplexity 130.22, accuracy 5.1 %, clipped norms 25.000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after two removals: 3 of 5 clients active, latest certificate shown</a:t>
            </a:r>
            <a:endParaRPr lang="en-US" sz="1300" dirty="0"/>
          </a:p>
        </p:txBody>
      </p:sp>
      <p:pic>
        <p:nvPicPr>
          <p:cNvPr id="11" name="Federated training: 5 clients, epsilon 1.6149, perplexity 130.22, accuracy 5.1 %, clipped norms 25.000" descr="Federated training: 5 clients, epsilon 1.6149, perplexity 130.22, accuracy 5.1 %, clipped norms 25.0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Dashboard after two removals: 3 of 5 clients active, latest certificate shown" descr="Dashboard after two removals: 3 of 5 clients active, latest certificate show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Certified Unlearning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dialog before removing Client 01 (Finance)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CERT-C5427F948A72: epsilon 1.6149, retention 93.65 %, AUC 0.200 → 0.160</a:t>
            </a:r>
            <a:endParaRPr lang="en-US" sz="1300" dirty="0"/>
          </a:p>
        </p:txBody>
      </p:sp>
      <p:pic>
        <p:nvPicPr>
          <p:cNvPr id="11" name="Confirmation dialog before removing Client 01 (Finance)" descr="Confirmation dialog before removing Client 01 (Financ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Certificate CERT-C5427F948A72: epsilon 1.6149, retention 93.65 %, AUC 0.200 → 0.160" descr="Certificate CERT-C5427F948A72: epsilon 1.6149, retention 93.65 %, AUC 0.200 → 0.1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Model Explorer and Audit Ledger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 from the 4-client model: seed “privacy” continues as noise-like characters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of 4 events (2 training, 2 unlearning); hash chain verified</a:t>
            </a:r>
            <a:endParaRPr lang="en-US" sz="1300" dirty="0"/>
          </a:p>
        </p:txBody>
      </p:sp>
      <p:pic>
        <p:nvPicPr>
          <p:cNvPr id="11" name="Sample text from the 4-client model: seed “privacy” continues as noise-like characters" descr="Sample text from the 4-client model: seed “privacy” continues as noise-like charact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Ledger of 4 events (2 training, 2 unlearning); hash chain verified" descr="Ledger of 4 events (2 training, 2 unlearning); hash chain verifi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ForgetSafe: federated training, tracked-update subtraction, DP release bound, membership and utility checks, certificates and a hash-chained ledger, with a React UI and a JSON API.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250 of 250 requests certified; retention 97.1 %; 5 unit tests and 14 smoke checks pass.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at sigma = 3 the model is worse than uniform (perplexity 142 vs 32) and the attack is at chance; the certificate is an identity; with no noise the attack falls from 0.99 to 0.54, so removal itself works.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bigram proxy, 25 sentences, epsilon 1.61 outside the classical range, noise reused, forgeable ledger, no authentication.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O2, O4 and O6 are met on the proxy; O1, O3 and O5 are only partly met.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proxy by LoRA adapters on a small Hugging Face model with Flower for transport; measure real forgetting and utility.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accounted DP-SGD (a privacy accountant, a valid epsilon for the sigma used) and fresh noise per release.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ledger records and anchor the head hash externally; add authentication and per-client authorisation.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attacks (more members, shadow models) and a retrain-from-scratch reference with fresh randomness for every certificate.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ledger append, load testing, and a user study with a compliance officer.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Khan et al., “Deep learning approaches for continuous sign language recognition: A comprehensive review,” IEEE Access, vol. 13, pp. 55524-55544, 2025 (base paper).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 Wei et al., “Rethinking federated unlearning via the lens of memorization,” KDD ’26, 2026, arXiv:2605.24545.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F. Zhang et al., “Oblivionis: A lightweight learning and unlearning framework for federated large language models,” arXiv:2508.08875, 2025.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Y. Jiang et al., “Certifying the right to be forgotten: Primal-dual optimization ... in vertical federated learning,” arXiv:2512.23171, 2025.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“Federated illusion: Multi-level geometric privacy audit for federated graph unlearning,” Information, 2026 (batch survey; not verified).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“Computationally efficient federated unlearning,” Proc. 26th Int. Middleware Conf., 2025 (batch survey; not verified).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W. Zhang, “A comprehensive investigation of federated unlearning ...,” Proc. DAML, SciTePress, 2024, pp. 569-573.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“Unlearning under siege: Robustness risks of certified machine unlearning,” Neurocomputing, 2026 (batch survey; not verified).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H. B. McMahan et al., “Communication-efficient learning of deep networks from decentralized data,” AISTATS, 2017.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C. Dwork and A. Roth, “The algorithmic foundations of differential privacy,” Found. Trends Theor. Comput. Sci., 2014.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M. Abadi et al., “Deep learning with differential privacy,” ACM CCS, 2016.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L. Bourtoule et al., “Machine unlearning,” IEEE S&amp;P, 2021.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C. Guo et al., “Certified data removal from machine learning models,” ICML, 2020.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A. Sekhari et al., “Remember what you want to forget: Algorithms for machine unlearning,” NeurIPS, 2021.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R. Shokri et al., “Membership inference attacks against machine learning models,” IEEE S&amp;P, 2017.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S. Yeom et al., “Privacy risk in machine learning: Analyzing the connection to overfitting,” IEEE CSF, 2018.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G. Liu et al., “FedEraser: Enabling efficient client-level data removal from federated learning models,” IWQoS, 2021.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Y. Cao and J. Yang, “Towards making systems forget with machine unlearning,” IEEE S&amp;P, 2015.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B. Balle and Y.-X. Wang, “Improving the Gaussian mechanism for differential privacy,” ICML, 2018.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European Parliament and Council, Regulation (EU) 2016/679 (GDPR), OJ L 119, 2016, Art. 17.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N. Carlini et al., “Extracting training data from large language models,” USENIX Security, 2021.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E. J. Hu et al., “LoRA: Low-rank adaptation of large language models,” ICLR, 2022.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ForgetSafe: Final Review</dc:title>
  <dc:subject>Privacy-Preserving Machine Unlearning in Federated LLMs: A Certified Right-to-Be-Forgotten Framework</dc:subject>
  <dc:creator>Batch A9</dc:creator>
  <cp:lastModifiedBy>Batch A9</cp:lastModifiedBy>
  <cp:revision>1</cp:revision>
  <dcterms:created xsi:type="dcterms:W3CDTF">2026-10-07T05:03:03Z</dcterms:created>
  <dcterms:modified xsi:type="dcterms:W3CDTF">2026-10-07T05:03:03Z</dcterms:modified>
  <cp:keywords>machine unlearning, federated learning, differential privacy, right to be forgotten, audit</cp:keywords>
  <cp:category/>
  <dc:description/>
  <cp:contentStatus/>
</cp:coreProperties>
</file>