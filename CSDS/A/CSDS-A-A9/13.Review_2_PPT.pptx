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Raw update norm of each client (clip norm C = 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update L2 norm</c:v>
                </c:pt>
              </c:strCache>
            </c:strRef>
          </c:tx>
          <c:spPr>
            <a:solidFill>
              <a:srgbClr val="5B5B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Finance</c:v>
                </c:pt>
                <c:pt idx="1">
                  <c:v>Healthcare</c:v>
                </c:pt>
                <c:pt idx="2">
                  <c:v>Education</c:v>
                </c:pt>
                <c:pt idx="3">
                  <c:v>Retail</c:v>
                </c:pt>
                <c:pt idx="4">
                  <c:v>Travel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26.59</c:v>
                </c:pt>
                <c:pt idx="1">
                  <c:v>28.23</c:v>
                </c:pt>
                <c:pt idx="2">
                  <c:v>26.4</c:v>
                </c:pt>
                <c:pt idx="3">
                  <c:v>25.22</c:v>
                </c:pt>
                <c:pt idx="4">
                  <c:v>26.55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.0"/>
          <c:min val="0.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L2 norm before clipping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Membership AUC before and after removal (20 seeds x 5 clients per sigma)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removal</c:v>
                </c:pt>
              </c:strCache>
            </c:strRef>
          </c:tx>
          <c:spPr>
            <a:solidFill>
              <a:srgbClr val="5B5B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sigma 0.01</c:v>
                </c:pt>
                <c:pt idx="1">
                  <c:v>sigma 0.1</c:v>
                </c:pt>
                <c:pt idx="2">
                  <c:v>sigma 0.5</c:v>
                </c:pt>
                <c:pt idx="3">
                  <c:v>sigma 1</c:v>
                </c:pt>
                <c:pt idx="4">
                  <c:v>sigma 3</c:v>
                </c:pt>
                <c:pt idx="5">
                  <c:v>sigma 10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0.983</c:v>
                </c:pt>
                <c:pt idx="1">
                  <c:v>0.856</c:v>
                </c:pt>
                <c:pt idx="2">
                  <c:v>0.653</c:v>
                </c:pt>
                <c:pt idx="3">
                  <c:v>0.597</c:v>
                </c:pt>
                <c:pt idx="4">
                  <c:v>0.552</c:v>
                </c:pt>
                <c:pt idx="5">
                  <c:v>0.53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removal</c:v>
                </c:pt>
              </c:strCache>
            </c:strRef>
          </c:tx>
          <c:spPr>
            <a:solidFill>
              <a:srgbClr val="2F9E7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sigma 0.01</c:v>
                </c:pt>
                <c:pt idx="1">
                  <c:v>sigma 0.1</c:v>
                </c:pt>
                <c:pt idx="2">
                  <c:v>sigma 0.5</c:v>
                </c:pt>
                <c:pt idx="3">
                  <c:v>sigma 1</c:v>
                </c:pt>
                <c:pt idx="4">
                  <c:v>sigma 3</c:v>
                </c:pt>
                <c:pt idx="5">
                  <c:v>sigma 10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0.543</c:v>
                </c:pt>
                <c:pt idx="1">
                  <c:v>0.55</c:v>
                </c:pt>
                <c:pt idx="2">
                  <c:v>0.534</c:v>
                </c:pt>
                <c:pt idx="3">
                  <c:v>0.52</c:v>
                </c:pt>
                <c:pt idx="4">
                  <c:v>0.522</c:v>
                </c:pt>
                <c:pt idx="5">
                  <c:v>0.524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AUC (0.5 = chance)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covers the design, methodology and progress of ForgetSafe.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Twelve parts: recap, architecture, methodology, dataset, preprocessing, model and training, decision logic, data flow and database, technology, progress, results and screens, testing, challenges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1. The base paper recorded in the batch files is a sign-language survey whose review method is adopted; the technical neighbours are [2] to [4].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runs on one machine with no third-party Python package. There is no SQL database: state is in memory plus the JSONL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Seven steps from the client corpora to the certificate. The recomputation re-uses the same stored noise, so it is exact by construction; an independent fresh-noise retrain comparison was added to the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synthetic data sources: the product's built-in corpus (certified_unlearning/dataset.py), a seeded 20-domain grammar corpus for the real engine, and a seeded 8-domain corpus for the neural study. In the product every raw update norm (25.2 to 28.2) exceeds C, so all five updates are clipped.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Preparation turns each client's sentences into one clipped update. In the product the noise standard deviation is 75 per coordinate while a clipped update has norm 25, so the noise dominates at the default setting. On 200-sentence clients the raw update norm is about 1,239 and the product's C = 25 scales every update by 0.02; the synthetic-corpus and neural studies therefore set C to the median raw norm.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product's model is a bigram language model whose parameter vector stands in for an adapter update. The neural study applies the same clip, noisy-sum and subtraction steps to the adapter parameters of a small GRU (137,151 parameters, rank-64 adapters of 14,272 parameters) trained on synthetic text; it ran in about four minutes on the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Epsilon = sqrt(2 ln(1.25/delta)) / sigma. The classical Gaussian bound is valid only for epsilon &lt; 1, which needs sigma above 4.845; the product's default sigma = 3 is outside that range. Because the noise is added once to the sum and divided by n, a larger federation dilutes it: on the synthetic corpus (100 sentences per client, C = median norm) the perplexity falls to within 1.2x of the noise-free model from about 1,000 clients at sigma 4.85.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flowchart follows FederatedUnlearningEngine.unlearn(). The retention threshold is a demonstration floor, not a legal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flow of the training and unlearning requests and the modules that implement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ForgetSafe has no SQL database. Engine state lives in memory; certificates and training events are appended to data/audit_log.jsonl, which survives restarts and new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Versions are the ones in frontend/package.json. There is no third-party Python dependency and no external AI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planned features and studies are done. The engineering items for the next stage are a privacy accountant, a signed ledger and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sigma 3 the attack is already near chance before removal (0.52 +/- 0.22), so there is little to remove. Without noise the attack is near-perfect and removal brings it to about 0.54. A fresh-noise retrain is as far from the unlearned model as two retrains are from each other: 875 versus 881 at sigma 3. At sigma 0.1 the useful model has AUC 0.86 before and 0.55 after. The neural adapter study (8 synthetic clients, GRU with 14,272-parameter adapters) shows the same: client-level AUC 0.78 before, 0.53 after removal, 0.53 for a fresh retrain; sigma 4.85 with 100-sentence clients needs about 1,000 clients for a useful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application (seed 2026, trained through the UI, Finance removed, then Healthcare). The ledger also holds two training events from earlier capture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Load: 1, 2, 4, 8, 16, 32 and 64 concurrent clients on 127.0.0.1 against health, state, generate and a mixed train/unlearn workload. Security: 58 synthetic malicious or malformed requests, classified as handled, noteworthy or defect. Acceptance: 20 randomised Playwright journeys (desktop and 390 px phone, light and dark, some cancelling the first dialog). Latency measured on an i5-12500; the numbers shift between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findings from the measurement suite and the testing studies, each backed by experiments/*/metrics.json and docs/REPORT_FACTS.md. The positive result that goes with them: epsilon below 1 and a useful model coexist once the federation is large (about 1,000 clients on the synthetic corpus).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Engineering items for the final stage; each follows from a measured finding in the challenges slide. The exact analytic Gaussian value was computed for the report with the Balle and Wang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ForgetSafe  ·  Review 2  ·  Batch A9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ForgetSafe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Machine Unlearning in Federated LLMs: A Certified Right-to-Be-Forgotten Framework</a:t>
            </a:r>
            <a:endParaRPr lang="en-US" sz="18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G.SHASHANK  23K91A6761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B.SATHISH  23K91A6719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G.RAKESH  23K91A6759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B.AKHIL  23K91A6721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[GUIDE NAME],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A9 (CSE-DS, Section 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749808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Recap</a:t>
            </a:r>
            <a:endParaRPr lang="en-US" sz="1500" dirty="0"/>
          </a:p>
        </p:txBody>
      </p:sp>
      <p:sp>
        <p:nvSpPr>
          <p:cNvPr id="7" name="agenda 2"/>
          <p:cNvSpPr/>
          <p:nvPr/>
        </p:nvSpPr>
        <p:spPr>
          <a:xfrm>
            <a:off x="3364992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3566160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10" name="agenda 3"/>
          <p:cNvSpPr/>
          <p:nvPr/>
        </p:nvSpPr>
        <p:spPr>
          <a:xfrm>
            <a:off x="6181344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38251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13" name="agenda 4"/>
          <p:cNvSpPr/>
          <p:nvPr/>
        </p:nvSpPr>
        <p:spPr>
          <a:xfrm>
            <a:off x="8997696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9198864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Dataset</a:t>
            </a:r>
            <a:endParaRPr lang="en-US" sz="1500" dirty="0"/>
          </a:p>
        </p:txBody>
      </p:sp>
      <p:sp>
        <p:nvSpPr>
          <p:cNvPr id="16" name="agenda 5"/>
          <p:cNvSpPr/>
          <p:nvPr/>
        </p:nvSpPr>
        <p:spPr>
          <a:xfrm>
            <a:off x="548640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49808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Preprocessing</a:t>
            </a:r>
            <a:endParaRPr lang="en-US" sz="1500" dirty="0"/>
          </a:p>
        </p:txBody>
      </p:sp>
      <p:sp>
        <p:nvSpPr>
          <p:cNvPr id="19" name="agenda 6"/>
          <p:cNvSpPr/>
          <p:nvPr/>
        </p:nvSpPr>
        <p:spPr>
          <a:xfrm>
            <a:off x="3364992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3566160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Model and training</a:t>
            </a:r>
            <a:endParaRPr lang="en-US" sz="1500" dirty="0"/>
          </a:p>
        </p:txBody>
      </p:sp>
      <p:sp>
        <p:nvSpPr>
          <p:cNvPr id="22" name="agenda 7"/>
          <p:cNvSpPr/>
          <p:nvPr/>
        </p:nvSpPr>
        <p:spPr>
          <a:xfrm>
            <a:off x="6181344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82512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Decision logic</a:t>
            </a:r>
            <a:endParaRPr lang="en-US" sz="1500" dirty="0"/>
          </a:p>
        </p:txBody>
      </p:sp>
      <p:sp>
        <p:nvSpPr>
          <p:cNvPr id="25" name="agenda 8"/>
          <p:cNvSpPr/>
          <p:nvPr/>
        </p:nvSpPr>
        <p:spPr>
          <a:xfrm>
            <a:off x="8997696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9198864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flow, modules, database</a:t>
            </a:r>
            <a:endParaRPr lang="en-US" sz="1500" dirty="0"/>
          </a:p>
        </p:txBody>
      </p:sp>
      <p:sp>
        <p:nvSpPr>
          <p:cNvPr id="28" name="agenda 9"/>
          <p:cNvSpPr/>
          <p:nvPr/>
        </p:nvSpPr>
        <p:spPr>
          <a:xfrm>
            <a:off x="548640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749808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31" name="agenda 10"/>
          <p:cNvSpPr/>
          <p:nvPr/>
        </p:nvSpPr>
        <p:spPr>
          <a:xfrm>
            <a:off x="3364992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3566160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Progress</a:t>
            </a:r>
            <a:endParaRPr lang="en-US" sz="1500" dirty="0"/>
          </a:p>
        </p:txBody>
      </p:sp>
      <p:sp>
        <p:nvSpPr>
          <p:cNvPr id="34" name="agenda 11"/>
          <p:cNvSpPr/>
          <p:nvPr/>
        </p:nvSpPr>
        <p:spPr>
          <a:xfrm>
            <a:off x="6181344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82512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6382512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Preliminary results and screens</a:t>
            </a:r>
            <a:endParaRPr lang="en-US" sz="1500" dirty="0"/>
          </a:p>
        </p:txBody>
      </p:sp>
      <p:sp>
        <p:nvSpPr>
          <p:cNvPr id="37" name="agenda 12"/>
          <p:cNvSpPr/>
          <p:nvPr/>
        </p:nvSpPr>
        <p:spPr>
          <a:xfrm>
            <a:off x="8997696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9198864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Testing, challenges,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client's influence stays in the federated model's parameters; retraining for every deletion request is impractical and heuristic unlearning gives no proof.</a:t>
            </a:r>
            <a:endParaRPr lang="en-US" sz="1600" dirty="0"/>
          </a:p>
        </p:txBody>
      </p:sp>
      <p:sp>
        <p:nvSpPr>
          <p:cNvPr id="9" name="Proposed system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oposed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Subtract the client's tracked update, bound the release with differential privacy, verify, and record the request in a SHA-256 ledger: Python API plus React UI.</a:t>
            </a:r>
            <a:endParaRPr lang="en-US" sz="1600" dirty="0"/>
          </a:p>
        </p:txBody>
      </p:sp>
      <p:sp>
        <p:nvSpPr>
          <p:cNvPr id="14" name="flow step 1"/>
          <p:cNvSpPr/>
          <p:nvPr/>
        </p:nvSpPr>
        <p:spPr>
          <a:xfrm>
            <a:off x="548640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621792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Training: 5 clients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557211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7" name="flow step 2"/>
          <p:cNvSpPr/>
          <p:nvPr/>
        </p:nvSpPr>
        <p:spPr>
          <a:xfrm>
            <a:off x="2831531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2904683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Clip + noise + aggregate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840102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0" name="flow step 3"/>
          <p:cNvSpPr/>
          <p:nvPr/>
        </p:nvSpPr>
        <p:spPr>
          <a:xfrm>
            <a:off x="5114422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5187574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Subtract client update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7122993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3" name="flow step 4"/>
          <p:cNvSpPr/>
          <p:nvPr/>
        </p:nvSpPr>
        <p:spPr>
          <a:xfrm>
            <a:off x="7397313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 txBox="1"/>
          <p:nvPr/>
        </p:nvSpPr>
        <p:spPr>
          <a:xfrm>
            <a:off x="7470465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Verify: attack, utility</a:t>
            </a:r>
            <a:endParaRPr lang="en-US" sz="1500" dirty="0"/>
          </a:p>
        </p:txBody>
      </p:sp>
      <p:sp>
        <p:nvSpPr>
          <p:cNvPr id="25" name="arrow"/>
          <p:cNvSpPr/>
          <p:nvPr/>
        </p:nvSpPr>
        <p:spPr>
          <a:xfrm>
            <a:off x="9405884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6" name="flow step 5"/>
          <p:cNvSpPr/>
          <p:nvPr/>
        </p:nvSpPr>
        <p:spPr>
          <a:xfrm>
            <a:off x="9680204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27" name="Text 22"/>
          <p:cNvSpPr txBox="1"/>
          <p:nvPr/>
        </p:nvSpPr>
        <p:spPr>
          <a:xfrm>
            <a:off x="9753356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Certificate + ledger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7543800" y="14630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Client: React 19 + Vite 8 (port 5109); the dev server proxies /api to the API.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API: Python standard-library http.server (port 8109), 9 routes (8 JSON endpoints and the legacy page); one shared engine behind a lock.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Engine: FederatedUnlearningEngine with train(), unlearn(), metrics() and generate().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Model: character-bigram LM (1,089 parameters) in the product; a 137,151-parameter GRU with LoRA-style adapters in the neural study.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Record: membership AUC, perplexity, reference recomputation and a SHA-256 hash-chained ledger (data/audit_log.jsonl).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575" y="1181100"/>
            <a:ext cx="6108699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21792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 5 client corpora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0495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" name="flow step 2"/>
          <p:cNvSpPr/>
          <p:nvPr/>
        </p:nvSpPr>
        <p:spPr>
          <a:xfrm>
            <a:off x="217927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25242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Bigram update per client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535593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0" name="flow step 3"/>
          <p:cNvSpPr/>
          <p:nvPr/>
        </p:nvSpPr>
        <p:spPr>
          <a:xfrm>
            <a:off x="3809913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883065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L2-clip to C = 25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16622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flow step 4"/>
          <p:cNvSpPr/>
          <p:nvPr/>
        </p:nvSpPr>
        <p:spPr>
          <a:xfrm>
            <a:off x="544054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51370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Sum + Gaussian noise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679686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6" name="flow step 5"/>
          <p:cNvSpPr/>
          <p:nvPr/>
        </p:nvSpPr>
        <p:spPr>
          <a:xfrm>
            <a:off x="707118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14433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Unlearn: subtract update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427502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9" name="flow step 6"/>
          <p:cNvSpPr/>
          <p:nvPr/>
        </p:nvSpPr>
        <p:spPr>
          <a:xfrm>
            <a:off x="8701822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774974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Verify: AUC, utility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1005813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2" name="flow step 7"/>
          <p:cNvSpPr/>
          <p:nvPr/>
        </p:nvSpPr>
        <p:spPr>
          <a:xfrm>
            <a:off x="1033245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1040561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Certificate + ledger</a:t>
            </a:r>
            <a:endParaRPr lang="en-US" sz="1400" dirty="0"/>
          </a:p>
        </p:txBody>
      </p:sp>
      <p:sp>
        <p:nvSpPr>
          <p:cNvPr id="24" name="Separate tracks card"/>
          <p:cNvSpPr/>
          <p:nvPr/>
        </p:nvSpPr>
        <p:spPr>
          <a:xfrm>
            <a:off x="54864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7724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Tracked updates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Clipped client updates are stored, so one can be subtracted later without touching raw records.</a:t>
            </a:r>
            <a:endParaRPr lang="en-US" sz="1500" dirty="0"/>
          </a:p>
        </p:txBody>
      </p:sp>
      <p:sp>
        <p:nvSpPr>
          <p:cNvPr id="27" name="Shared preprocessing card"/>
          <p:cNvSpPr/>
          <p:nvPr/>
        </p:nvSpPr>
        <p:spPr>
          <a:xfrm>
            <a:off x="429768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452628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Verification stack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Membership AUC, public-set perplexity and accuracy, a retention floor of 70 %, and a retained-only recomputation.</a:t>
            </a:r>
            <a:endParaRPr lang="en-US" sz="1500" dirty="0"/>
          </a:p>
        </p:txBody>
      </p:sp>
      <p:sp>
        <p:nvSpPr>
          <p:cNvPr id="30" name="Reproducible card"/>
          <p:cNvSpPr/>
          <p:nvPr/>
        </p:nvSpPr>
        <p:spPr>
          <a:xfrm>
            <a:off x="804672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827532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Reproducible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Fixed seeds; four run_*.py scripts regenerate every experiments/*/metrics.json (product, synthetic corpus, neural, testing).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input sources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6630" cy="914400"/>
        </p:xfrm>
        <a:graphic>
          <a:graphicData uri="http://schemas.openxmlformats.org/drawingml/2006/table">
            <a:tbl>
              <a:tblPr/>
              <a:tblGrid>
                <a:gridCol w="1314724"/>
                <a:gridCol w="2326050"/>
                <a:gridCol w="141585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(all synthetic)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corpus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clients x 5 sentences (25 records); 5 public + 5 non-member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app: training and removal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Synthetic-corpus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domains x 200 train / 200 held-out; 300 public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engine at realistic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Neural-study corpus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domains x 150 train / 150 held-out; 6,000 public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+ LoRA-style adapters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Bigram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symbols; 33 x 33 = 1,089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Bigram count 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seeded grammars, offline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licence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and features</a:t>
            </a:r>
            <a:endParaRPr lang="en-US" sz="3200" dirty="0"/>
          </a:p>
        </p:txBody>
      </p:sp>
      <p:sp>
        <p:nvSpPr>
          <p:cNvPr id="4" name="Text card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Text normalisation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normalize_text(): lower-case; characters outside the 33-symbol alphabet become spaces; whitespace collapsed; ^ and $ mark the start and end of each record.</a:t>
            </a:r>
            <a:endParaRPr lang="en-US" sz="1500" dirty="0"/>
          </a:p>
        </p:txBody>
      </p:sp>
      <p:sp>
        <p:nvSpPr>
          <p:cNvPr id="9" name="Images and video card"/>
          <p:cNvSpPr/>
          <p:nvPr/>
        </p:nvSpPr>
        <p:spPr>
          <a:xfrm>
            <a:off x="429768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Images and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Update vector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Counts of adjacent symbol pairs form a 1,089-dimensional vector per client. Raw L2 norms range 25.2 to 28.2.</a:t>
            </a:r>
            <a:endParaRPr lang="en-US" sz="1500" dirty="0"/>
          </a:p>
        </p:txBody>
      </p:sp>
      <p:sp>
        <p:nvSpPr>
          <p:cNvPr id="14" name="AI-media data card"/>
          <p:cNvSpPr/>
          <p:nvPr/>
        </p:nvSpPr>
        <p:spPr>
          <a:xfrm>
            <a:off x="804672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AI-media 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Clipping and noise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Each vector is scaled to norm at most C. Product: C = 25 (scales 0.886 to 0.991). At realistic size raw norms are about 1,239, so C = 25 would shrink updates 50x: the studies use C = median raw norm. Noise std = sigma x C per coordinate.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and aggregation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8679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Character-bigram LM, 1,089 parameters (33 x 33), pure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137,151 parameters, frozen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per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64, 14,272 parameters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(sum + noise) / n, same for both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Product: bigram parameter vector as the adapter update. Neural study: PyTorch GRU with LoRA-style adapters on synthetic text, CPU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High-level workflow" descr="High-level work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490112"/>
            <a:ext cx="6600825" cy="43159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in the product; 5-20 and 8 in the studies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norm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in the product; median raw norm in the studies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multiplier sigma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(std 75 per coordinate); sweeps 0 to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epsilon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1.6149 at sigma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(product); 5 to 50 seeds per study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 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&lt;= 1e-10 and retention &gt;= 70 %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icture frame"/>
          <p:cNvSpPr/>
          <p:nvPr/>
        </p:nvSpPr>
        <p:spPr>
          <a:xfrm>
            <a:off x="6400800" y="1924592"/>
            <a:ext cx="5238750" cy="2818314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7" name="Text 2"/>
          <p:cNvSpPr txBox="1"/>
          <p:nvPr/>
        </p:nvSpPr>
        <p:spPr>
          <a:xfrm>
            <a:off x="6400800" y="4838156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Synthetic corpus: perplexity relative to the noise-free model against federation size; sigma 4.85 (epsilon 1.00) needs about 1,000 clients to come within 1.2x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Federation-size chart" descr="Federation-size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24592"/>
            <a:ext cx="5238750" cy="28183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5" name="Verdict card"/>
          <p:cNvSpPr/>
          <p:nvPr/>
        </p:nvSpPr>
        <p:spPr>
          <a:xfrm>
            <a:off x="6572250" y="1371600"/>
            <a:ext cx="5057775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 txBox="1"/>
          <p:nvPr/>
        </p:nvSpPr>
        <p:spPr>
          <a:xfrm>
            <a:off x="6800850" y="146685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Certified or review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800850" y="1847850"/>
            <a:ext cx="4667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CERTIFIED if reference L2 is at most 1e-10 and retention is at least 70 %, else REVIEW_REQUIRED. In 250 requests all were CERTIFIED.</a:t>
            </a:r>
            <a:endParaRPr lang="en-US" sz="1500" dirty="0"/>
          </a:p>
        </p:txBody>
      </p:sp>
      <p:sp>
        <p:nvSpPr>
          <p:cNvPr id="8" name="Partial input card"/>
          <p:cNvSpPr/>
          <p:nvPr/>
        </p:nvSpPr>
        <p:spPr>
          <a:xfrm>
            <a:off x="6572250" y="2880360"/>
            <a:ext cx="5057775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6800850" y="297561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Refused requests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00850" y="3356610"/>
            <a:ext cx="4667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Before training, unknown client, repeat removal and removing the last client return HTTP 400 with a message.</a:t>
            </a:r>
            <a:endParaRPr lang="en-US" sz="1500" dirty="0"/>
          </a:p>
        </p:txBody>
      </p:sp>
      <p:sp>
        <p:nvSpPr>
          <p:cNvPr id="11" name="Saving card"/>
          <p:cNvSpPr/>
          <p:nvPr/>
        </p:nvSpPr>
        <p:spPr>
          <a:xfrm>
            <a:off x="6572250" y="4389120"/>
            <a:ext cx="5057775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6800850" y="448437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Utility score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800850" y="4865370"/>
            <a:ext cx="4667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0.65 x accuracy + 0.35 / (1 + ln(1 + perplexity)); retention = after / before x 100, capped at 100.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Decision flowchart" descr="Decision 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17" y="1181100"/>
            <a:ext cx="5479914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2925" y="5334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DFD level 1: six processes, five stores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7525" y="1809750"/>
          <a:ext cx="4762500" cy="914400"/>
        </p:xfrm>
        <a:graphic>
          <a:graphicData uri="http://schemas.openxmlformats.org/drawingml/2006/table">
            <a:tbl>
              <a:tblPr/>
              <a:tblGrid>
                <a:gridCol w="1428750"/>
                <a:gridCol w="333375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train(), unlearn(), certificate, metrics, reference recomputation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model.py, dataset.py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bigram update and clipping, perplexity, accuracy, membership AUC; corpora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audit.py, web.py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hash-chained ledger and verify(); JSON API and legacy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DFD level 1" descr="DFD lev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833" y="1066800"/>
            <a:ext cx="4704183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UML (no SQL database)</a:t>
            </a:r>
            <a:endParaRPr lang="en-US" sz="3200" dirty="0"/>
          </a:p>
        </p:txBody>
      </p:sp>
      <p:sp>
        <p:nvSpPr>
          <p:cNvPr id="6" name="Text 1"/>
          <p:cNvSpPr txBox="1"/>
          <p:nvPr/>
        </p:nvSpPr>
        <p:spPr>
          <a:xfrm>
            <a:off x="542925" y="5219700"/>
            <a:ext cx="11087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UML class diagram (left) and ER view of the data model (right); only the audit record is persisted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ER diagram" descr="ER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098946"/>
            <a:ext cx="5248275" cy="3936206"/>
          </a:xfrm>
          <a:prstGeom prst="rect">
            <a:avLst/>
          </a:prstGeom>
        </p:spPr>
      </p:pic>
      <p:pic>
        <p:nvPicPr>
          <p:cNvPr id="27" name="UML class diagram" descr="UML class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1066800"/>
            <a:ext cx="520065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Language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Language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Python 3.11 (standard library only), JavaScript</a:t>
            </a:r>
            <a:endParaRPr lang="en-US" sz="1500" dirty="0"/>
          </a:p>
        </p:txBody>
      </p:sp>
      <p:sp>
        <p:nvSpPr>
          <p:cNvPr id="9" name="Deep learning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Deep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Engine and maths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dataclasses, hashlib, json, math, random.gauss; no NumPy</a:t>
            </a:r>
            <a:endParaRPr lang="en-US" sz="1500" dirty="0"/>
          </a:p>
        </p:txBody>
      </p:sp>
      <p:sp>
        <p:nvSpPr>
          <p:cNvPr id="14" name="Data / NLP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Data / NL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http.server ThreadingHTTPServer, JSON API, RLock-guarded engine</a:t>
            </a:r>
            <a:endParaRPr lang="en-US" sz="1500" dirty="0"/>
          </a:p>
        </p:txBody>
      </p:sp>
      <p:sp>
        <p:nvSpPr>
          <p:cNvPr id="19" name="Backend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Back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React 19, Vite 8, react-router 7, Recharts 3, Framer Motion, GSAP</a:t>
            </a:r>
            <a:endParaRPr lang="en-US" sz="1500" dirty="0"/>
          </a:p>
        </p:txBody>
      </p:sp>
      <p:sp>
        <p:nvSpPr>
          <p:cNvPr id="24" name="Frontend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Front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Desktop and CLI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Tkinter GUI (--desktop) and terminal demo (--demo)</a:t>
            </a:r>
            <a:endParaRPr lang="en-US" sz="1500" dirty="0"/>
          </a:p>
        </p:txBody>
      </p:sp>
      <p:sp>
        <p:nvSpPr>
          <p:cNvPr id="29" name="Storage / reports / tests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Storage / reports / t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Storage and tests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JSONL ledger; unittest (5 tests), smoke test (14 checks), Playwright captures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79" cy="914400"/>
        </p:xfrm>
        <a:graphic>
          <a:graphicData uri="http://schemas.openxmlformats.org/drawingml/2006/table">
            <a:tbl>
              <a:tblPr/>
              <a:tblGrid>
                <a:gridCol w="5398617"/>
                <a:gridCol w="209946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training with clipping and noise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Tracked-update unlearning and certificate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attack and utility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ledger with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UI (landing + 5 screens), legacy UI, Tkinter,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measurements: 11 experiments, 12 charts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Synthetic-corpus and neural-adapter studies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Load, security-probe and acceptance studies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accountant, signed ledger, 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rained networks tile"/>
          <p:cNvSpPr/>
          <p:nvPr/>
        </p:nvSpPr>
        <p:spPr>
          <a:xfrm>
            <a:off x="8321040" y="13716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 txBox="1"/>
          <p:nvPr/>
        </p:nvSpPr>
        <p:spPr>
          <a:xfrm>
            <a:off x="8503920" y="15087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503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API routes (8 JSON + legacy page)</a:t>
            </a:r>
            <a:endParaRPr lang="en-US" sz="1300" dirty="0"/>
          </a:p>
        </p:txBody>
      </p:sp>
      <p:sp>
        <p:nvSpPr>
          <p:cNvPr id="8" name="served model profiles tile"/>
          <p:cNvSpPr/>
          <p:nvPr/>
        </p:nvSpPr>
        <p:spPr>
          <a:xfrm>
            <a:off x="8321040" y="29718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503920" y="31089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8505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unit tests pass</a:t>
            </a:r>
            <a:endParaRPr lang="en-US" sz="1300" dirty="0"/>
          </a:p>
        </p:txBody>
      </p:sp>
      <p:sp>
        <p:nvSpPr>
          <p:cNvPr id="11" name="automated tests passing tile"/>
          <p:cNvSpPr/>
          <p:nvPr/>
        </p:nvSpPr>
        <p:spPr>
          <a:xfrm>
            <a:off x="8321040" y="45720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8503920" y="47091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14/14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4507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smoke-test checks pass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attack AUC against noise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usion F1 (text only 0.644) tile"/>
          <p:cNvSpPr/>
          <p:nvPr/>
        </p:nvSpPr>
        <p:spPr>
          <a:xfrm>
            <a:off x="8412480" y="13716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 txBox="1"/>
          <p:nvPr/>
        </p:nvSpPr>
        <p:spPr>
          <a:xfrm>
            <a:off x="8595360" y="15087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 → 0.54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22503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bigram attack AUC with no noise, before → after removal</a:t>
            </a:r>
            <a:endParaRPr lang="en-US" sz="1300" dirty="0"/>
          </a:p>
        </p:txBody>
      </p:sp>
      <p:sp>
        <p:nvSpPr>
          <p:cNvPr id="8" name="fusion ROC-AUC (text 0.771) tile"/>
          <p:cNvSpPr/>
          <p:nvPr/>
        </p:nvSpPr>
        <p:spPr>
          <a:xfrm>
            <a:off x="8412480" y="29718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595360" y="31089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 → 0.53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8505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neural adapters, client-level AUC (fresh retrain 0.53)</a:t>
            </a:r>
            <a:endParaRPr lang="en-US" sz="1300" dirty="0"/>
          </a:p>
        </p:txBody>
      </p:sp>
      <p:sp>
        <p:nvSpPr>
          <p:cNvPr id="11" name="fusion accuracy tile"/>
          <p:cNvSpPr/>
          <p:nvPr/>
        </p:nvSpPr>
        <p:spPr>
          <a:xfrm>
            <a:off x="8412480" y="45720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8595360" y="47091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4507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clients for epsilon &lt; 1 with a useful model (synthetic corpus)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5" name="picture frame"/>
          <p:cNvSpPr/>
          <p:nvPr/>
        </p:nvSpPr>
        <p:spPr>
          <a:xfrm>
            <a:off x="428625" y="1729978"/>
            <a:ext cx="5619750" cy="3512343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 txBox="1"/>
          <p:nvPr/>
        </p:nvSpPr>
        <p:spPr>
          <a:xfrm>
            <a:off x="548640" y="535662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Certificate for Client 01 (Finance): certified, 93.65 % utility retained, AUC 0.200 → 0.160</a:t>
            </a:r>
            <a:endParaRPr lang="en-US" sz="1100" dirty="0"/>
          </a:p>
        </p:txBody>
      </p:sp>
      <p:sp>
        <p:nvSpPr>
          <p:cNvPr id="8" name="picture frame"/>
          <p:cNvSpPr/>
          <p:nvPr/>
        </p:nvSpPr>
        <p:spPr>
          <a:xfrm>
            <a:off x="6143625" y="1729978"/>
            <a:ext cx="5619750" cy="3512343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9" name="Text 4"/>
          <p:cNvSpPr txBox="1"/>
          <p:nvPr/>
        </p:nvSpPr>
        <p:spPr>
          <a:xfrm>
            <a:off x="6172200" y="535662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Compliance audit: 4 ledger records, hash chain verified valid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Certificate screenshot" descr="Certificate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729978"/>
            <a:ext cx="5619750" cy="3512343"/>
          </a:xfrm>
          <a:prstGeom prst="rect">
            <a:avLst/>
          </a:prstGeom>
        </p:spPr>
      </p:pic>
      <p:pic>
        <p:nvPicPr>
          <p:cNvPr id="27" name="Audit ledger screenshot" descr="Audit ledger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1729978"/>
            <a:ext cx="5619750" cy="35123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observations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39" cy="914400"/>
        </p:xfrm>
        <a:graphic>
          <a:graphicData uri="http://schemas.openxmlformats.org/drawingml/2006/table">
            <a:tbl>
              <a:tblPr/>
              <a:tblGrid>
                <a:gridCol w="2150668"/>
                <a:gridCol w="1024128"/>
                <a:gridCol w="1945843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 (unittest)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passed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 on the live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passed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Load, 1 to 64 concurrent clients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scenarios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only from 16 clients 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probes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handled, 15 noted, 8 defects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synthetic-user acceptance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journeys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passed all steps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tamper attacks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detected, 3 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35040" y="141732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Audit chain catches edits, deletions and re-ordering (4 of 7 attacks); tail truncation, a full re-hash forgery and an appended forged record pass, and an emptied ledger verifies as valid.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Races: 32 simultaneous removals of one client gave 1 success and 31 refusals; 16 simultaneous trainings left a valid 16-record chain; a 2,000-request soak had 0 errors.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/api/state saturates near 86 requests/s because it re-reads the ledger; medians: train 36 ms, unlearn 58 ms.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8 security defects (no read timeout, POST open to cross-site requests, Host unchecked, connection bursts refused, no authentication) are listed with their fixes under next steps.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Acceptance is scripted (49 certificates checked, 0 console errors), not a human study.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4" name="Challenge card 1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Noise swamps the model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At sigma 3 perplexity is 142 +/- 28 against 32 for a uniform model; accuracy about 4 %.</a:t>
            </a:r>
            <a:endParaRPr lang="en-US" sz="1400" dirty="0"/>
          </a:p>
        </p:txBody>
      </p:sp>
      <p:sp>
        <p:nvSpPr>
          <p:cNvPr id="9" name="Challenge card 2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Certificate is an identity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The reference re-uses the stored noise (L2 about 1e-14). A fresh-noise retrain study: 875 versus 881.</a:t>
            </a:r>
            <a:endParaRPr lang="en-US" sz="1400" dirty="0"/>
          </a:p>
        </p:txBody>
      </p:sp>
      <p:sp>
        <p:nvSpPr>
          <p:cNvPr id="14" name="Challenge card 3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Epsilon outside classical range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Reported epsilon 1.61 exceeds 1; the bound needs sigma above 4.845. With 5 clients a useful model needs sigma 0.1 or less; with about 1,000 clients sigma 4.85 works.</a:t>
            </a:r>
            <a:endParaRPr lang="en-US" sz="1300" dirty="0"/>
          </a:p>
        </p:txBody>
      </p:sp>
      <p:sp>
        <p:nvSpPr>
          <p:cNvPr id="19" name="Challenge card 4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Clip norm C = 25 is 50x too small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At 200 sentences per client raw norms are about 1,239; C = 25 scales them by 0.02. The studies set C to the median raw norm.</a:t>
            </a:r>
            <a:endParaRPr lang="en-US" sz="1400" dirty="0"/>
          </a:p>
        </p:txBody>
      </p:sp>
      <p:sp>
        <p:nvSpPr>
          <p:cNvPr id="24" name="Challenge card 5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Ledger is tamper-evident only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4 of 7 attacks detected; truncation, re-hash forgery and forged append are not; an emptied ledger verifies; one garbage line makes /api/state return 500.</a:t>
            </a:r>
            <a:endParaRPr lang="en-US" sz="1300" dirty="0"/>
          </a:p>
        </p:txBody>
      </p:sp>
      <p:sp>
        <p:nvSpPr>
          <p:cNvPr id="29" name="Challenge card 6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API hardening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8 defects in 58 probes: no read timeout, cross-site POST accepted, Host unchecked, connection bursts refused, no authentication.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21792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Honest certificate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127934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" name="flow step 2"/>
          <p:cNvSpPr/>
          <p:nvPr/>
        </p:nvSpPr>
        <p:spPr>
          <a:xfrm>
            <a:off x="3402254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3475406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Privacy accounting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5981548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0" name="flow step 3"/>
          <p:cNvSpPr/>
          <p:nvPr/>
        </p:nvSpPr>
        <p:spPr>
          <a:xfrm>
            <a:off x="6255868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329020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Harden ledger and API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8835161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flow step 4"/>
          <p:cNvSpPr/>
          <p:nvPr/>
        </p:nvSpPr>
        <p:spPr>
          <a:xfrm>
            <a:off x="9109481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9182633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Report and demo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56616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Put the fresh-noise retrain comparison in the certificate next to the same-noise recomputation, and re-draw the noise per release.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Add a privacy accountant and the exact analytic Gaussian bound [19] (it gives epsilon 1.27 at sigma 3, not 1.61); plan federations of about 1,000 clients for epsilon below 1.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Harden: sign or anchor ledger records, authenticate and CSRF-protect the API, add read timeouts, reject an emptied ledger and return a clean 400 for oversized bodies.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Complete the final report and demonstration; extend the adapter study to LoRA on a small pretrained language model with Flower.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getSafe">
  <a:themeElements>
    <a:clrScheme name="ForgetSafe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ForgetSaf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ForgetSafe: Review 2</dc:title>
  <dc:subject>Privacy-Preserving Machine Unlearning in Federated LLMs: A Certified Right-to-Be-Forgotten Framework</dc:subject>
  <dc:creator>Batch A9</dc:creator>
  <cp:lastModifiedBy>Batch A9</cp:lastModifiedBy>
  <cp:revision>1</cp:revision>
  <dcterms:created xsi:type="dcterms:W3CDTF">2026-10-13T12:40:05Z</dcterms:created>
  <dcterms:modified xsi:type="dcterms:W3CDTF">2026-10-13T12:40:05Z</dcterms:modified>
  <cp:keywords>federated unlearning, differential privacy, membership inference, audit ledger</cp:keywords>
  <cp:category/>
  <dc:description/>
  <cp:contentStatus/>
</cp:coreProperties>
</file>