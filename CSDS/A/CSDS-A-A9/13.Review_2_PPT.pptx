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c3623e47-5b1a-7aef-5476-75bff30165c3}">
          <p14:sldIdLst>
            <p14:sldId id="256"/>
            <p14:sldId id="257"/>
            <p14:sldId id="258"/>
          </p14:sldIdLst>
        </p14:section>
        <p14:section name="Design" id="{ee3f979a-aefa-c88f-8568-1021737ba133}">
          <p14:sldIdLst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</p14:sldIdLst>
        </p14:section>
        <p14:section name="Progress" id="{cf39a97a-7fb0-4c7a-0650-0fb3a5c44815}">
          <p14:sldIdLst>
            <p14:sldId id="269"/>
            <p14:sldId id="270"/>
            <p14:sldId id="271"/>
            <p14:sldId id="272"/>
            <p14:sldId id="273"/>
            <p14:sldId id="274"/>
            <p14:sldId id="27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r>
              <a:rPr sz="1300" b="1"/>
              <a:t>Raw update norm of each client (clip norm C = 25)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Raw update L2 norm</c:v>
                </c:pt>
              </c:strCache>
            </c:strRef>
          </c:tx>
          <c:spPr>
            <a:solidFill>
              <a:srgbClr val="5B5BD6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strRef>
              <c:f>Sheet1!$A$2:$A$6</c:f>
              <c:strCache>
                <c:ptCount val="5"/>
                <c:pt idx="0">
                  <c:v>Finance</c:v>
                </c:pt>
                <c:pt idx="1">
                  <c:v>Healthcare</c:v>
                </c:pt>
                <c:pt idx="2">
                  <c:v>Education</c:v>
                </c:pt>
                <c:pt idx="3">
                  <c:v>Retail</c:v>
                </c:pt>
                <c:pt idx="4">
                  <c:v>Travel</c:v>
                </c:pt>
              </c:strCache>
            </c:strRef>
          </c:cat>
          <c:val>
            <c:numRef>
              <c:f>Sheet1!$B$2:$B$6</c:f>
              <c:numCache>
                <c:formatCode>0.0</c:formatCode>
                <c:ptCount val="5"/>
                <c:pt idx="0">
                  <c:v>26.59</c:v>
                </c:pt>
                <c:pt idx="1">
                  <c:v>28.23</c:v>
                </c:pt>
                <c:pt idx="2">
                  <c:v>26.4</c:v>
                </c:pt>
                <c:pt idx="3">
                  <c:v>25.22</c:v>
                </c:pt>
                <c:pt idx="4">
                  <c:v>26.55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100" u="none">
                  <a:solidFill>
                    <a:srgbClr val="FFFFFF"/>
                  </a:solidFill>
                  <a:latin typeface="+mn-lt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475569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2.0"/>
          <c:min val="0.0"/>
        </c:scaling>
        <c:delete val="0"/>
        <c:axPos val="b"/>
        <c:majorGridlines>
          <c:spPr>
            <a:ln w="9525" cap="flat">
              <a:solidFill>
                <a:srgbClr val="E2E8F0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r>
                  <a:rPr sz="1000" b="0"/>
                  <a:t>L2 norm before clipping</a:t>
                </a:r>
              </a:p>
            </c:rich>
          </c:tx>
          <c:layout/>
          <c:overlay val="0"/>
        </c:title>
        <c:numFmt formatCode="0.0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4748B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r>
              <a:rPr sz="1300" b="1"/>
              <a:t>Membership AUC before and after removal (20 seeds x 5 clients per sigma)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Before removal</c:v>
                </c:pt>
              </c:strCache>
            </c:strRef>
          </c:tx>
          <c:spPr>
            <a:solidFill>
              <a:srgbClr val="5B5BD6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475569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strRef>
              <c:f>Sheet1!$A$2:$A$7</c:f>
              <c:strCache>
                <c:ptCount val="6"/>
                <c:pt idx="0">
                  <c:v>sigma 0.01</c:v>
                </c:pt>
                <c:pt idx="1">
                  <c:v>sigma 0.1</c:v>
                </c:pt>
                <c:pt idx="2">
                  <c:v>sigma 0.5</c:v>
                </c:pt>
                <c:pt idx="3">
                  <c:v>sigma 1</c:v>
                </c:pt>
                <c:pt idx="4">
                  <c:v>sigma 3</c:v>
                </c:pt>
                <c:pt idx="5">
                  <c:v>sigma 10</c:v>
                </c:pt>
              </c:strCache>
            </c:strRef>
          </c:cat>
          <c:val>
            <c:numRef>
              <c:f>Sheet1!$B$2:$B$7</c:f>
              <c:numCache>
                <c:formatCode>0.00</c:formatCode>
                <c:ptCount val="6"/>
                <c:pt idx="0">
                  <c:v>0.983</c:v>
                </c:pt>
                <c:pt idx="1">
                  <c:v>0.856</c:v>
                </c:pt>
                <c:pt idx="2">
                  <c:v>0.653</c:v>
                </c:pt>
                <c:pt idx="3">
                  <c:v>0.597</c:v>
                </c:pt>
                <c:pt idx="4">
                  <c:v>0.552</c:v>
                </c:pt>
                <c:pt idx="5">
                  <c:v>0.53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After removal</c:v>
                </c:pt>
              </c:strCache>
            </c:strRef>
          </c:tx>
          <c:spPr>
            <a:solidFill>
              <a:srgbClr val="2F9E77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475569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strRef>
              <c:f>Sheet1!$A$2:$A$7</c:f>
              <c:strCache>
                <c:ptCount val="6"/>
                <c:pt idx="0">
                  <c:v>sigma 0.01</c:v>
                </c:pt>
                <c:pt idx="1">
                  <c:v>sigma 0.1</c:v>
                </c:pt>
                <c:pt idx="2">
                  <c:v>sigma 0.5</c:v>
                </c:pt>
                <c:pt idx="3">
                  <c:v>sigma 1</c:v>
                </c:pt>
                <c:pt idx="4">
                  <c:v>sigma 3</c:v>
                </c:pt>
                <c:pt idx="5">
                  <c:v>sigma 10</c:v>
                </c:pt>
              </c:strCache>
            </c:strRef>
          </c:cat>
          <c:val>
            <c:numRef>
              <c:f>Sheet1!$C$2:$C$7</c:f>
              <c:numCache>
                <c:formatCode>0.00</c:formatCode>
                <c:ptCount val="6"/>
                <c:pt idx="0">
                  <c:v>0.543</c:v>
                </c:pt>
                <c:pt idx="1">
                  <c:v>0.55</c:v>
                </c:pt>
                <c:pt idx="2">
                  <c:v>0.534</c:v>
                </c:pt>
                <c:pt idx="3">
                  <c:v>0.52</c:v>
                </c:pt>
                <c:pt idx="4">
                  <c:v>0.522</c:v>
                </c:pt>
                <c:pt idx="5">
                  <c:v>0.524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000" u="none">
                  <a:solidFill>
                    <a:srgbClr val="475569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475569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1"/>
          <c:min val="0.0"/>
        </c:scaling>
        <c:delete val="0"/>
        <c:axPos val="l"/>
        <c:majorGridlines>
          <c:spPr>
            <a:ln w="9525" cap="flat">
              <a:solidFill>
                <a:srgbClr val="E2E8F0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r>
                  <a:rPr sz="1000" b="0"/>
                  <a:t>AUC (0.5 = chance)</a:t>
                </a:r>
              </a:p>
            </c:rich>
          </c:tx>
          <c:layout/>
          <c:overlay val="0"/>
        </c:title>
        <c:numFmt formatCode="0.0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4748B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475569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Review 2 covers the design, methodology and progress of ForgetSafe.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Twelve parts: recap, architecture, methodology, dataset, preprocessing, model and training, decision logic, data flow and database, technology, progress, results and screens, testing, challenges and next steps.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Recap of Review 1. The base paper recorded in the batch files is a sign-language survey whose review method is adopted; the technical neighbours are [2] to [4].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Everything runs on one machine with no third-party Python package. There is no SQL database: state is in memory plus the JSONL ledger.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Seven steps from the client corpora to the certificate. The recomputation re-uses the same stored noise, so it is exact by construction; an independent fresh-noise retrain comparison was added to the evaluation.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All data is the built-in synthetic corpus in certified_unlearning/dataset.py. Every raw update norm (25.2 to 28.2) exceeds C, so all five updates are clipped.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Preparation turns each client's sentences into one clipped 1,089-number update. The noise standard deviation is 75 per coordinate while a clipped update has norm 25, so the noise dominates at the default setting.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abstract speaks of federated LLMs; the implemented model is a bigram language model whose parameter vector stands in for an adapter update. Orchestration and verification are separated from the model so a real adapter can replace it later.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Epsilon = sqrt(2 ln(1.25/delta)) / sigma. The classical Gaussian bound is valid only for epsilon &lt; 1, which needs sigma above 4.845; the default sigma = 3 is outside that range.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flowchart follows FederatedUnlearningEngine.unlearn(). The retention threshold is a demonstration floor, not a legal criterion.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Data flow of the training and unlearning requests and the modules that implement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ForgetSafe has no SQL database. Engine state lives in memory; certificates and training events are appended to data/audit_log.jsonl, which survives restarts and new sessions.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Versions are the ones in frontend/package.json. There is no third-party Python dependency and no external AI service.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All planned features run. The open items are a real LLM, real data, a privacy accountant and a signed ledger.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At sigma 3 the attack is already near chance before removal (0.52 +/- 0.22), so there is little to remove. Without noise the attack is near-perfect and removal brings it to about 0.54. A fresh-noise retrain is as far from the unlearned model as two retrains are from each other: 875 versus 881 at sigma 3. At sigma 0.1 the useful model has AUC 0.86 before and 0.55 after.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Real captures of the running application (seed 2026, trained through the UI, Finance removed, then Healthcare). The ledger also holds two training events from earlier capture sessions.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Edge cases that returned the intended 400/404: unlearn before training, unknown client, malformed JSON, repeat removal, last client. Latency measured on an i5-12500 with a single client; the numbers shift between runs.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Six findings from the measurement suite, each backed by experiments/*/metrics.json and docs/REPORT_FACTS.md.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Planned work, not yet done.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Thank you. Questions are welcome.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rgbClr val="1B2A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417320"/>
            <a:ext cx="11094415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880360"/>
            <a:ext cx="11094415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ForgetSafe  ·  Review 2  ·  Batch A9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1B2A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rgbClr val="1B2A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194560"/>
            <a:ext cx="11094415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474720"/>
            <a:ext cx="11094415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ADCFC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Relationship Id="rId4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Relationship Id="rId4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Relationship Id="rId4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Relationship Id="rId4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1.xml"/><Relationship Id="rId4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2.xml"/><Relationship Id="rId4" Type="http://schemas.openxmlformats.org/officeDocument/2006/relationships/image" Target="../media/image6.png"/><Relationship Id="rId5" Type="http://schemas.openxmlformats.org/officeDocument/2006/relationships/image" Target="../media/image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image" Target="../media/image-13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chart" Target="../charts/chart2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6.xml"/><Relationship Id="rId5" Type="http://schemas.openxmlformats.org/officeDocument/2006/relationships/image" Target="../media/image8.png"/><Relationship Id="rId6" Type="http://schemas.openxmlformats.org/officeDocument/2006/relationships/image" Target="../media/image9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image" Target="../media/image-18-5.png"/><Relationship Id="rId6" Type="http://schemas.openxmlformats.org/officeDocument/2006/relationships/image" Target="../media/image-18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41732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ForgetSafe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8803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Privacy-Preserving Machine Unlearning in Federated LLMs: A Certified Right-to-Be-Forgotten Framework</a:t>
            </a:r>
            <a:endParaRPr lang="en-US" sz="1800" dirty="0"/>
          </a:p>
        </p:txBody>
      </p:sp>
      <p:sp>
        <p:nvSpPr>
          <p:cNvPr id="4" name="review label"/>
          <p:cNvSpPr txBox="1"/>
          <p:nvPr/>
        </p:nvSpPr>
        <p:spPr>
          <a:xfrm>
            <a:off x="548640" y="6400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EDA100"/>
                </a:solidFill>
              </a:rPr>
              <a:t>REVIEW 2  ·  DESIGN, METHODOLOGY AND PROGRESS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416052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</a:rPr>
              <a:t>Presented by</a:t>
            </a:r>
            <a:endParaRPr lang="en-US" sz="1400" dirty="0"/>
          </a:p>
        </p:txBody>
      </p:sp>
      <p:sp>
        <p:nvSpPr>
          <p:cNvPr id="6" name="team"/>
          <p:cNvSpPr txBox="1"/>
          <p:nvPr/>
        </p:nvSpPr>
        <p:spPr>
          <a:xfrm>
            <a:off x="548640" y="4480560"/>
            <a:ext cx="51206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G.SHASHANK  23K91A6761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B.SATHISH  23K91A6719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G.RAKESH  23K91A6759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B.AKHIL  23K91A6721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400800" y="4160520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</a:rPr>
              <a:t>Under the guidance of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400800" y="448056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[GUIDE NAME], [DESIGNATION]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6400800" y="4983480"/>
            <a:ext cx="5212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</a:rPr>
              <a:t>Department of Computer Science and Engineering (Data Science)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</a:rPr>
              <a:t>[COLLEGE NAME]  ·  Batch A9 (CSE-DS, Section A)  ·  [ACADEMIC YEAR]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A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Contents</a:t>
            </a:r>
            <a:endParaRPr lang="en-US" sz="3200" dirty="0"/>
          </a:p>
        </p:txBody>
      </p:sp>
      <p:sp>
        <p:nvSpPr>
          <p:cNvPr id="4" name="agenda 1"/>
          <p:cNvSpPr/>
          <p:nvPr/>
        </p:nvSpPr>
        <p:spPr>
          <a:xfrm>
            <a:off x="548640" y="1371600"/>
            <a:ext cx="2670048" cy="1325880"/>
          </a:xfrm>
          <a:prstGeom prst="roundRect">
            <a:avLst>
              <a:gd name="adj" fmla="val 5517"/>
            </a:avLst>
          </a:prstGeom>
          <a:solidFill>
            <a:srgbClr val="F6F8FB"/>
          </a:solidFill>
          <a:ln w="9525">
            <a:solidFill>
              <a:srgbClr val="D5DCE6"/>
            </a:solidFill>
            <a:prstDash val="solid"/>
          </a:ln>
        </p:spPr>
        <p:txBody>
          <a:bodyPr/>
          <a:p/>
        </p:txBody>
      </p:sp>
      <p:sp>
        <p:nvSpPr>
          <p:cNvPr id="5" name="Text 2"/>
          <p:cNvSpPr txBox="1"/>
          <p:nvPr/>
        </p:nvSpPr>
        <p:spPr>
          <a:xfrm>
            <a:off x="749808" y="1536192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2200" dirty="0"/>
          </a:p>
        </p:txBody>
      </p:sp>
      <p:sp>
        <p:nvSpPr>
          <p:cNvPr id="6" name="Text 3"/>
          <p:cNvSpPr txBox="1"/>
          <p:nvPr/>
        </p:nvSpPr>
        <p:spPr>
          <a:xfrm>
            <a:off x="749808" y="201168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</a:rPr>
              <a:t>Recap</a:t>
            </a:r>
            <a:endParaRPr lang="en-US" sz="1500" dirty="0"/>
          </a:p>
        </p:txBody>
      </p:sp>
      <p:sp>
        <p:nvSpPr>
          <p:cNvPr id="7" name="agenda 2"/>
          <p:cNvSpPr/>
          <p:nvPr/>
        </p:nvSpPr>
        <p:spPr>
          <a:xfrm>
            <a:off x="3364992" y="1371600"/>
            <a:ext cx="2670048" cy="1325880"/>
          </a:xfrm>
          <a:prstGeom prst="roundRect">
            <a:avLst>
              <a:gd name="adj" fmla="val 5517"/>
            </a:avLst>
          </a:prstGeom>
          <a:solidFill>
            <a:srgbClr val="F6F8FB"/>
          </a:solidFill>
          <a:ln w="9525">
            <a:solidFill>
              <a:srgbClr val="D5DCE6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 txBox="1"/>
          <p:nvPr/>
        </p:nvSpPr>
        <p:spPr>
          <a:xfrm>
            <a:off x="3566160" y="1536192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2200" dirty="0"/>
          </a:p>
        </p:txBody>
      </p:sp>
      <p:sp>
        <p:nvSpPr>
          <p:cNvPr id="9" name="Text 6"/>
          <p:cNvSpPr txBox="1"/>
          <p:nvPr/>
        </p:nvSpPr>
        <p:spPr>
          <a:xfrm>
            <a:off x="3566160" y="201168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</a:rPr>
              <a:t>Architecture</a:t>
            </a:r>
            <a:endParaRPr lang="en-US" sz="1500" dirty="0"/>
          </a:p>
        </p:txBody>
      </p:sp>
      <p:sp>
        <p:nvSpPr>
          <p:cNvPr id="10" name="agenda 3"/>
          <p:cNvSpPr/>
          <p:nvPr/>
        </p:nvSpPr>
        <p:spPr>
          <a:xfrm>
            <a:off x="6181344" y="1371600"/>
            <a:ext cx="2670048" cy="1325880"/>
          </a:xfrm>
          <a:prstGeom prst="roundRect">
            <a:avLst>
              <a:gd name="adj" fmla="val 5517"/>
            </a:avLst>
          </a:prstGeom>
          <a:solidFill>
            <a:srgbClr val="F6F8FB"/>
          </a:solidFill>
          <a:ln w="9525">
            <a:solidFill>
              <a:srgbClr val="D5DCE6"/>
            </a:solidFill>
            <a:prstDash val="solid"/>
          </a:ln>
        </p:spPr>
        <p:txBody>
          <a:bodyPr/>
          <a:p/>
        </p:txBody>
      </p:sp>
      <p:sp>
        <p:nvSpPr>
          <p:cNvPr id="11" name="Text 8"/>
          <p:cNvSpPr txBox="1"/>
          <p:nvPr/>
        </p:nvSpPr>
        <p:spPr>
          <a:xfrm>
            <a:off x="6382512" y="1536192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2200" dirty="0"/>
          </a:p>
        </p:txBody>
      </p:sp>
      <p:sp>
        <p:nvSpPr>
          <p:cNvPr id="12" name="Text 9"/>
          <p:cNvSpPr txBox="1"/>
          <p:nvPr/>
        </p:nvSpPr>
        <p:spPr>
          <a:xfrm>
            <a:off x="6382512" y="201168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</a:rPr>
              <a:t>Methodology</a:t>
            </a:r>
            <a:endParaRPr lang="en-US" sz="1500" dirty="0"/>
          </a:p>
        </p:txBody>
      </p:sp>
      <p:sp>
        <p:nvSpPr>
          <p:cNvPr id="13" name="agenda 4"/>
          <p:cNvSpPr/>
          <p:nvPr/>
        </p:nvSpPr>
        <p:spPr>
          <a:xfrm>
            <a:off x="8997696" y="1371600"/>
            <a:ext cx="2670048" cy="1325880"/>
          </a:xfrm>
          <a:prstGeom prst="roundRect">
            <a:avLst>
              <a:gd name="adj" fmla="val 5517"/>
            </a:avLst>
          </a:prstGeom>
          <a:solidFill>
            <a:srgbClr val="F6F8FB"/>
          </a:solidFill>
          <a:ln w="9525">
            <a:solidFill>
              <a:srgbClr val="D5DCE6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 txBox="1"/>
          <p:nvPr/>
        </p:nvSpPr>
        <p:spPr>
          <a:xfrm>
            <a:off x="9198864" y="1536192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2200" dirty="0"/>
          </a:p>
        </p:txBody>
      </p:sp>
      <p:sp>
        <p:nvSpPr>
          <p:cNvPr id="15" name="Text 12"/>
          <p:cNvSpPr txBox="1"/>
          <p:nvPr/>
        </p:nvSpPr>
        <p:spPr>
          <a:xfrm>
            <a:off x="9198864" y="201168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</a:rPr>
              <a:t>Dataset</a:t>
            </a:r>
            <a:endParaRPr lang="en-US" sz="1500" dirty="0"/>
          </a:p>
        </p:txBody>
      </p:sp>
      <p:sp>
        <p:nvSpPr>
          <p:cNvPr id="16" name="agenda 5"/>
          <p:cNvSpPr/>
          <p:nvPr/>
        </p:nvSpPr>
        <p:spPr>
          <a:xfrm>
            <a:off x="548640" y="2880360"/>
            <a:ext cx="2670048" cy="1325880"/>
          </a:xfrm>
          <a:prstGeom prst="roundRect">
            <a:avLst>
              <a:gd name="adj" fmla="val 5517"/>
            </a:avLst>
          </a:prstGeom>
          <a:solidFill>
            <a:srgbClr val="F6F8FB"/>
          </a:solidFill>
          <a:ln w="9525">
            <a:solidFill>
              <a:srgbClr val="D5DCE6"/>
            </a:solidFill>
            <a:prstDash val="solid"/>
          </a:ln>
        </p:spPr>
        <p:txBody>
          <a:bodyPr/>
          <a:p/>
        </p:txBody>
      </p:sp>
      <p:sp>
        <p:nvSpPr>
          <p:cNvPr id="17" name="Text 14"/>
          <p:cNvSpPr txBox="1"/>
          <p:nvPr/>
        </p:nvSpPr>
        <p:spPr>
          <a:xfrm>
            <a:off x="749808" y="3044952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2200" dirty="0"/>
          </a:p>
        </p:txBody>
      </p:sp>
      <p:sp>
        <p:nvSpPr>
          <p:cNvPr id="18" name="Text 15"/>
          <p:cNvSpPr txBox="1"/>
          <p:nvPr/>
        </p:nvSpPr>
        <p:spPr>
          <a:xfrm>
            <a:off x="749808" y="352044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</a:rPr>
              <a:t>Preprocessing</a:t>
            </a:r>
            <a:endParaRPr lang="en-US" sz="1500" dirty="0"/>
          </a:p>
        </p:txBody>
      </p:sp>
      <p:sp>
        <p:nvSpPr>
          <p:cNvPr id="19" name="agenda 6"/>
          <p:cNvSpPr/>
          <p:nvPr/>
        </p:nvSpPr>
        <p:spPr>
          <a:xfrm>
            <a:off x="3364992" y="2880360"/>
            <a:ext cx="2670048" cy="1325880"/>
          </a:xfrm>
          <a:prstGeom prst="roundRect">
            <a:avLst>
              <a:gd name="adj" fmla="val 5517"/>
            </a:avLst>
          </a:prstGeom>
          <a:solidFill>
            <a:srgbClr val="F6F8FB"/>
          </a:solidFill>
          <a:ln w="9525">
            <a:solidFill>
              <a:srgbClr val="D5DCE6"/>
            </a:solidFill>
            <a:prstDash val="solid"/>
          </a:ln>
        </p:spPr>
        <p:txBody>
          <a:bodyPr/>
          <a:p/>
        </p:txBody>
      </p:sp>
      <p:sp>
        <p:nvSpPr>
          <p:cNvPr id="20" name="Text 17"/>
          <p:cNvSpPr txBox="1"/>
          <p:nvPr/>
        </p:nvSpPr>
        <p:spPr>
          <a:xfrm>
            <a:off x="3566160" y="3044952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</a:t>
            </a:r>
            <a:endParaRPr lang="en-US" sz="2200" dirty="0"/>
          </a:p>
        </p:txBody>
      </p:sp>
      <p:sp>
        <p:nvSpPr>
          <p:cNvPr id="21" name="Text 18"/>
          <p:cNvSpPr txBox="1"/>
          <p:nvPr/>
        </p:nvSpPr>
        <p:spPr>
          <a:xfrm>
            <a:off x="3566160" y="352044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</a:rPr>
              <a:t>Model and training</a:t>
            </a:r>
            <a:endParaRPr lang="en-US" sz="1500" dirty="0"/>
          </a:p>
        </p:txBody>
      </p:sp>
      <p:sp>
        <p:nvSpPr>
          <p:cNvPr id="22" name="agenda 7"/>
          <p:cNvSpPr/>
          <p:nvPr/>
        </p:nvSpPr>
        <p:spPr>
          <a:xfrm>
            <a:off x="6181344" y="2880360"/>
            <a:ext cx="2670048" cy="1325880"/>
          </a:xfrm>
          <a:prstGeom prst="roundRect">
            <a:avLst>
              <a:gd name="adj" fmla="val 5517"/>
            </a:avLst>
          </a:prstGeom>
          <a:solidFill>
            <a:srgbClr val="F6F8FB"/>
          </a:solidFill>
          <a:ln w="9525">
            <a:solidFill>
              <a:srgbClr val="D5DCE6"/>
            </a:solidFill>
            <a:prstDash val="solid"/>
          </a:ln>
        </p:spPr>
        <p:txBody>
          <a:bodyPr/>
          <a:p/>
        </p:txBody>
      </p:sp>
      <p:sp>
        <p:nvSpPr>
          <p:cNvPr id="23" name="Text 20"/>
          <p:cNvSpPr txBox="1"/>
          <p:nvPr/>
        </p:nvSpPr>
        <p:spPr>
          <a:xfrm>
            <a:off x="6382512" y="3044952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07</a:t>
            </a:r>
            <a:endParaRPr lang="en-US" sz="2200" dirty="0"/>
          </a:p>
        </p:txBody>
      </p:sp>
      <p:sp>
        <p:nvSpPr>
          <p:cNvPr id="24" name="Text 21"/>
          <p:cNvSpPr txBox="1"/>
          <p:nvPr/>
        </p:nvSpPr>
        <p:spPr>
          <a:xfrm>
            <a:off x="6382512" y="352044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</a:rPr>
              <a:t>Decision logic</a:t>
            </a:r>
            <a:endParaRPr lang="en-US" sz="1500" dirty="0"/>
          </a:p>
        </p:txBody>
      </p:sp>
      <p:sp>
        <p:nvSpPr>
          <p:cNvPr id="25" name="agenda 8"/>
          <p:cNvSpPr/>
          <p:nvPr/>
        </p:nvSpPr>
        <p:spPr>
          <a:xfrm>
            <a:off x="8997696" y="2880360"/>
            <a:ext cx="2670048" cy="1325880"/>
          </a:xfrm>
          <a:prstGeom prst="roundRect">
            <a:avLst>
              <a:gd name="adj" fmla="val 5517"/>
            </a:avLst>
          </a:prstGeom>
          <a:solidFill>
            <a:srgbClr val="F6F8FB"/>
          </a:solidFill>
          <a:ln w="9525">
            <a:solidFill>
              <a:srgbClr val="D5DCE6"/>
            </a:solidFill>
            <a:prstDash val="solid"/>
          </a:ln>
        </p:spPr>
        <p:txBody>
          <a:bodyPr/>
          <a:p/>
        </p:txBody>
      </p:sp>
      <p:sp>
        <p:nvSpPr>
          <p:cNvPr id="26" name="Text 23"/>
          <p:cNvSpPr txBox="1"/>
          <p:nvPr/>
        </p:nvSpPr>
        <p:spPr>
          <a:xfrm>
            <a:off x="9198864" y="3044952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08</a:t>
            </a:r>
            <a:endParaRPr lang="en-US" sz="2200" dirty="0"/>
          </a:p>
        </p:txBody>
      </p:sp>
      <p:sp>
        <p:nvSpPr>
          <p:cNvPr id="27" name="Text 24"/>
          <p:cNvSpPr txBox="1"/>
          <p:nvPr/>
        </p:nvSpPr>
        <p:spPr>
          <a:xfrm>
            <a:off x="9198864" y="352044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</a:rPr>
              <a:t>Data flow, modules, database</a:t>
            </a:r>
            <a:endParaRPr lang="en-US" sz="1500" dirty="0"/>
          </a:p>
        </p:txBody>
      </p:sp>
      <p:sp>
        <p:nvSpPr>
          <p:cNvPr id="28" name="agenda 9"/>
          <p:cNvSpPr/>
          <p:nvPr/>
        </p:nvSpPr>
        <p:spPr>
          <a:xfrm>
            <a:off x="548640" y="4389120"/>
            <a:ext cx="2670048" cy="1325880"/>
          </a:xfrm>
          <a:prstGeom prst="roundRect">
            <a:avLst>
              <a:gd name="adj" fmla="val 5517"/>
            </a:avLst>
          </a:prstGeom>
          <a:solidFill>
            <a:srgbClr val="F6F8FB"/>
          </a:solidFill>
          <a:ln w="9525">
            <a:solidFill>
              <a:srgbClr val="D5DCE6"/>
            </a:solidFill>
            <a:prstDash val="solid"/>
          </a:ln>
        </p:spPr>
        <p:txBody>
          <a:bodyPr/>
          <a:p/>
        </p:txBody>
      </p:sp>
      <p:sp>
        <p:nvSpPr>
          <p:cNvPr id="29" name="Text 26"/>
          <p:cNvSpPr txBox="1"/>
          <p:nvPr/>
        </p:nvSpPr>
        <p:spPr>
          <a:xfrm>
            <a:off x="749808" y="4553712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09</a:t>
            </a:r>
            <a:endParaRPr lang="en-US" sz="2200" dirty="0"/>
          </a:p>
        </p:txBody>
      </p:sp>
      <p:sp>
        <p:nvSpPr>
          <p:cNvPr id="30" name="Text 27"/>
          <p:cNvSpPr txBox="1"/>
          <p:nvPr/>
        </p:nvSpPr>
        <p:spPr>
          <a:xfrm>
            <a:off x="749808" y="502920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</a:rPr>
              <a:t>Technology stack</a:t>
            </a:r>
            <a:endParaRPr lang="en-US" sz="1500" dirty="0"/>
          </a:p>
        </p:txBody>
      </p:sp>
      <p:sp>
        <p:nvSpPr>
          <p:cNvPr id="31" name="agenda 10"/>
          <p:cNvSpPr/>
          <p:nvPr/>
        </p:nvSpPr>
        <p:spPr>
          <a:xfrm>
            <a:off x="3364992" y="4389120"/>
            <a:ext cx="2670048" cy="1325880"/>
          </a:xfrm>
          <a:prstGeom prst="roundRect">
            <a:avLst>
              <a:gd name="adj" fmla="val 5517"/>
            </a:avLst>
          </a:prstGeom>
          <a:solidFill>
            <a:srgbClr val="F6F8FB"/>
          </a:solidFill>
          <a:ln w="9525">
            <a:solidFill>
              <a:srgbClr val="D5DCE6"/>
            </a:solidFill>
            <a:prstDash val="solid"/>
          </a:ln>
        </p:spPr>
        <p:txBody>
          <a:bodyPr/>
          <a:p/>
        </p:txBody>
      </p:sp>
      <p:sp>
        <p:nvSpPr>
          <p:cNvPr id="32" name="Text 29"/>
          <p:cNvSpPr txBox="1"/>
          <p:nvPr/>
        </p:nvSpPr>
        <p:spPr>
          <a:xfrm>
            <a:off x="3566160" y="4553712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2200" dirty="0"/>
          </a:p>
        </p:txBody>
      </p:sp>
      <p:sp>
        <p:nvSpPr>
          <p:cNvPr id="33" name="Text 30"/>
          <p:cNvSpPr txBox="1"/>
          <p:nvPr/>
        </p:nvSpPr>
        <p:spPr>
          <a:xfrm>
            <a:off x="3566160" y="502920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</a:rPr>
              <a:t>Progress</a:t>
            </a:r>
            <a:endParaRPr lang="en-US" sz="1500" dirty="0"/>
          </a:p>
        </p:txBody>
      </p:sp>
      <p:sp>
        <p:nvSpPr>
          <p:cNvPr id="34" name="agenda 11"/>
          <p:cNvSpPr/>
          <p:nvPr/>
        </p:nvSpPr>
        <p:spPr>
          <a:xfrm>
            <a:off x="6181344" y="4389120"/>
            <a:ext cx="2670048" cy="1325880"/>
          </a:xfrm>
          <a:prstGeom prst="roundRect">
            <a:avLst>
              <a:gd name="adj" fmla="val 5517"/>
            </a:avLst>
          </a:prstGeom>
          <a:solidFill>
            <a:srgbClr val="F6F8FB"/>
          </a:solidFill>
          <a:ln w="9525">
            <a:solidFill>
              <a:srgbClr val="D5DCE6"/>
            </a:solidFill>
            <a:prstDash val="solid"/>
          </a:ln>
        </p:spPr>
        <p:txBody>
          <a:bodyPr/>
          <a:p/>
        </p:txBody>
      </p:sp>
      <p:sp>
        <p:nvSpPr>
          <p:cNvPr id="35" name="Text 32"/>
          <p:cNvSpPr txBox="1"/>
          <p:nvPr/>
        </p:nvSpPr>
        <p:spPr>
          <a:xfrm>
            <a:off x="6382512" y="4553712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</a:t>
            </a:r>
            <a:endParaRPr lang="en-US" sz="2200" dirty="0"/>
          </a:p>
        </p:txBody>
      </p:sp>
      <p:sp>
        <p:nvSpPr>
          <p:cNvPr id="36" name="Text 33"/>
          <p:cNvSpPr txBox="1"/>
          <p:nvPr/>
        </p:nvSpPr>
        <p:spPr>
          <a:xfrm>
            <a:off x="6382512" y="502920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</a:rPr>
              <a:t>Preliminary results and screens</a:t>
            </a:r>
            <a:endParaRPr lang="en-US" sz="1500" dirty="0"/>
          </a:p>
        </p:txBody>
      </p:sp>
      <p:sp>
        <p:nvSpPr>
          <p:cNvPr id="37" name="agenda 12"/>
          <p:cNvSpPr/>
          <p:nvPr/>
        </p:nvSpPr>
        <p:spPr>
          <a:xfrm>
            <a:off x="8997696" y="4389120"/>
            <a:ext cx="2670048" cy="1325880"/>
          </a:xfrm>
          <a:prstGeom prst="roundRect">
            <a:avLst>
              <a:gd name="adj" fmla="val 5517"/>
            </a:avLst>
          </a:prstGeom>
          <a:solidFill>
            <a:srgbClr val="F6F8FB"/>
          </a:solidFill>
          <a:ln w="9525">
            <a:solidFill>
              <a:srgbClr val="D5DCE6"/>
            </a:solidFill>
            <a:prstDash val="solid"/>
          </a:ln>
        </p:spPr>
        <p:txBody>
          <a:bodyPr/>
          <a:p/>
        </p:txBody>
      </p:sp>
      <p:sp>
        <p:nvSpPr>
          <p:cNvPr id="38" name="Text 35"/>
          <p:cNvSpPr txBox="1"/>
          <p:nvPr/>
        </p:nvSpPr>
        <p:spPr>
          <a:xfrm>
            <a:off x="9198864" y="4553712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</a:t>
            </a:r>
            <a:endParaRPr lang="en-US" sz="2200" dirty="0"/>
          </a:p>
        </p:txBody>
      </p:sp>
      <p:sp>
        <p:nvSpPr>
          <p:cNvPr id="39" name="Text 36"/>
          <p:cNvSpPr txBox="1"/>
          <p:nvPr/>
        </p:nvSpPr>
        <p:spPr>
          <a:xfrm>
            <a:off x="9198864" y="502920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</a:rPr>
              <a:t>Testing, challenges, next steps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A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Recap: problem and proposed system</a:t>
            </a:r>
            <a:endParaRPr lang="en-US" sz="3200" dirty="0"/>
          </a:p>
        </p:txBody>
      </p:sp>
      <p:sp>
        <p:nvSpPr>
          <p:cNvPr id="4" name="Problem card"/>
          <p:cNvSpPr/>
          <p:nvPr/>
        </p:nvSpPr>
        <p:spPr>
          <a:xfrm>
            <a:off x="548640" y="1371600"/>
            <a:ext cx="5440680" cy="2103120"/>
          </a:xfrm>
          <a:prstGeom prst="roundRect">
            <a:avLst>
              <a:gd name="adj" fmla="val 3478"/>
            </a:avLst>
          </a:prstGeom>
          <a:solidFill>
            <a:srgbClr val="F6F8FB"/>
          </a:solidFill>
          <a:ln w="9525">
            <a:solidFill>
              <a:srgbClr val="D5DCE6"/>
            </a:solidFill>
            <a:prstDash val="solid"/>
          </a:ln>
        </p:spPr>
        <p:txBody>
          <a:bodyPr/>
          <a:p/>
        </p:txBody>
      </p:sp>
      <p:sp>
        <p:nvSpPr>
          <p:cNvPr id="5" name="icon circle"/>
          <p:cNvSpPr/>
          <p:nvPr/>
        </p:nvSpPr>
        <p:spPr>
          <a:xfrm>
            <a:off x="777240" y="1600200"/>
            <a:ext cx="548640" cy="548640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  <p:txBody>
          <a:bodyPr/>
          <a:p/>
        </p:txBody>
      </p:sp>
      <p:pic>
        <p:nvPicPr>
          <p:cNvPr id="6" name="Image 0" descr="Problem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6968" y="1709928"/>
            <a:ext cx="329184" cy="329184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463040" y="1554480"/>
            <a:ext cx="4343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</a:rPr>
              <a:t>Problem</a:t>
            </a:r>
            <a:endParaRPr lang="en-US" sz="1600" dirty="0"/>
          </a:p>
        </p:txBody>
      </p:sp>
      <p:sp>
        <p:nvSpPr>
          <p:cNvPr id="8" name="Text 4"/>
          <p:cNvSpPr txBox="1"/>
          <p:nvPr/>
        </p:nvSpPr>
        <p:spPr>
          <a:xfrm>
            <a:off x="777240" y="2240280"/>
            <a:ext cx="4983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475569"/>
                </a:solidFill>
              </a:rPr>
              <a:t>A client's influence stays in the federated model's parameters; retraining for every deletion request is impractical and heuristic unlearning gives no proof.</a:t>
            </a:r>
            <a:endParaRPr lang="en-US" sz="1600" dirty="0"/>
          </a:p>
        </p:txBody>
      </p:sp>
      <p:sp>
        <p:nvSpPr>
          <p:cNvPr id="9" name="Proposed system card"/>
          <p:cNvSpPr/>
          <p:nvPr/>
        </p:nvSpPr>
        <p:spPr>
          <a:xfrm>
            <a:off x="6172200" y="1371600"/>
            <a:ext cx="5440680" cy="2103120"/>
          </a:xfrm>
          <a:prstGeom prst="roundRect">
            <a:avLst>
              <a:gd name="adj" fmla="val 3478"/>
            </a:avLst>
          </a:prstGeom>
          <a:solidFill>
            <a:srgbClr val="F6F8FB"/>
          </a:solidFill>
          <a:ln w="9525">
            <a:solidFill>
              <a:srgbClr val="D5DCE6"/>
            </a:solidFill>
            <a:prstDash val="solid"/>
          </a:ln>
        </p:spPr>
        <p:txBody>
          <a:bodyPr/>
          <a:p/>
        </p:txBody>
      </p:sp>
      <p:sp>
        <p:nvSpPr>
          <p:cNvPr id="10" name="icon circle"/>
          <p:cNvSpPr/>
          <p:nvPr/>
        </p:nvSpPr>
        <p:spPr>
          <a:xfrm>
            <a:off x="6400800" y="1600200"/>
            <a:ext cx="548640" cy="54864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  <p:txBody>
          <a:bodyPr/>
          <a:p/>
        </p:txBody>
      </p:sp>
      <p:pic>
        <p:nvPicPr>
          <p:cNvPr id="11" name="Image 1" descr="Proposed system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10528" y="1709928"/>
            <a:ext cx="329184" cy="329184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7086600" y="1554480"/>
            <a:ext cx="4343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</a:rPr>
              <a:t>Proposed system</a:t>
            </a:r>
            <a:endParaRPr lang="en-US" sz="1600" dirty="0"/>
          </a:p>
        </p:txBody>
      </p:sp>
      <p:sp>
        <p:nvSpPr>
          <p:cNvPr id="13" name="Text 8"/>
          <p:cNvSpPr txBox="1"/>
          <p:nvPr/>
        </p:nvSpPr>
        <p:spPr>
          <a:xfrm>
            <a:off x="6400800" y="2240280"/>
            <a:ext cx="4983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475569"/>
                </a:solidFill>
              </a:rPr>
              <a:t>Subtract the client's tracked update, bound the release with differential privacy, verify, and record the request in a SHA-256 ledger: Python API plus React UI.</a:t>
            </a:r>
            <a:endParaRPr lang="en-US" sz="1600" dirty="0"/>
          </a:p>
        </p:txBody>
      </p:sp>
      <p:sp>
        <p:nvSpPr>
          <p:cNvPr id="14" name="flow step 1"/>
          <p:cNvSpPr/>
          <p:nvPr/>
        </p:nvSpPr>
        <p:spPr>
          <a:xfrm>
            <a:off x="548640" y="3931920"/>
            <a:ext cx="1962851" cy="1280160"/>
          </a:xfrm>
          <a:prstGeom prst="roundRect">
            <a:avLst>
              <a:gd name="adj" fmla="val 5714"/>
            </a:avLst>
          </a:prstGeom>
          <a:solidFill>
            <a:srgbClr val="1B2A41"/>
          </a:solidFill>
          <a:ln w="12700">
            <a:solidFill>
              <a:srgbClr val="1B2A41"/>
            </a:solidFill>
            <a:prstDash val="solid"/>
          </a:ln>
        </p:spPr>
        <p:txBody>
          <a:bodyPr/>
          <a:p/>
        </p:txBody>
      </p:sp>
      <p:sp>
        <p:nvSpPr>
          <p:cNvPr id="15" name="Text 10"/>
          <p:cNvSpPr txBox="1"/>
          <p:nvPr/>
        </p:nvSpPr>
        <p:spPr>
          <a:xfrm>
            <a:off x="621792" y="3931920"/>
            <a:ext cx="1816547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Training: 5 clients</a:t>
            </a:r>
            <a:endParaRPr lang="en-US" sz="1500" dirty="0"/>
          </a:p>
        </p:txBody>
      </p:sp>
      <p:sp>
        <p:nvSpPr>
          <p:cNvPr id="16" name="arrow"/>
          <p:cNvSpPr/>
          <p:nvPr/>
        </p:nvSpPr>
        <p:spPr>
          <a:xfrm>
            <a:off x="2557211" y="4453128"/>
            <a:ext cx="228600" cy="237744"/>
          </a:xfrm>
          <a:prstGeom prst="rightArrow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  <p:txBody>
          <a:bodyPr/>
          <a:p/>
        </p:txBody>
      </p:sp>
      <p:sp>
        <p:nvSpPr>
          <p:cNvPr id="17" name="flow step 2"/>
          <p:cNvSpPr/>
          <p:nvPr/>
        </p:nvSpPr>
        <p:spPr>
          <a:xfrm>
            <a:off x="2831531" y="3931920"/>
            <a:ext cx="1962851" cy="1280160"/>
          </a:xfrm>
          <a:prstGeom prst="roundRect">
            <a:avLst>
              <a:gd name="adj" fmla="val 5714"/>
            </a:avLst>
          </a:prstGeom>
          <a:solidFill>
            <a:srgbClr val="6250D6"/>
          </a:solidFill>
          <a:ln w="12700">
            <a:solidFill>
              <a:srgbClr val="6250D6"/>
            </a:solidFill>
            <a:prstDash val="solid"/>
          </a:ln>
        </p:spPr>
        <p:txBody>
          <a:bodyPr/>
          <a:p/>
        </p:txBody>
      </p:sp>
      <p:sp>
        <p:nvSpPr>
          <p:cNvPr id="18" name="Text 13"/>
          <p:cNvSpPr txBox="1"/>
          <p:nvPr/>
        </p:nvSpPr>
        <p:spPr>
          <a:xfrm>
            <a:off x="2904683" y="3931920"/>
            <a:ext cx="1816547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Clip + noise + aggregate</a:t>
            </a:r>
            <a:endParaRPr lang="en-US" sz="1500" dirty="0"/>
          </a:p>
        </p:txBody>
      </p:sp>
      <p:sp>
        <p:nvSpPr>
          <p:cNvPr id="19" name="arrow"/>
          <p:cNvSpPr/>
          <p:nvPr/>
        </p:nvSpPr>
        <p:spPr>
          <a:xfrm>
            <a:off x="4840102" y="4453128"/>
            <a:ext cx="228600" cy="237744"/>
          </a:xfrm>
          <a:prstGeom prst="rightArrow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  <p:txBody>
          <a:bodyPr/>
          <a:p/>
        </p:txBody>
      </p:sp>
      <p:sp>
        <p:nvSpPr>
          <p:cNvPr id="20" name="flow step 3"/>
          <p:cNvSpPr/>
          <p:nvPr/>
        </p:nvSpPr>
        <p:spPr>
          <a:xfrm>
            <a:off x="5114422" y="3931920"/>
            <a:ext cx="1962851" cy="1280160"/>
          </a:xfrm>
          <a:prstGeom prst="roundRect">
            <a:avLst>
              <a:gd name="adj" fmla="val 5714"/>
            </a:avLst>
          </a:prstGeom>
          <a:solidFill>
            <a:srgbClr val="1BAF7A"/>
          </a:solidFill>
          <a:ln w="12700">
            <a:solidFill>
              <a:srgbClr val="1BAF7A"/>
            </a:solidFill>
            <a:prstDash val="solid"/>
          </a:ln>
        </p:spPr>
        <p:txBody>
          <a:bodyPr/>
          <a:p/>
        </p:txBody>
      </p:sp>
      <p:sp>
        <p:nvSpPr>
          <p:cNvPr id="21" name="Text 16"/>
          <p:cNvSpPr txBox="1"/>
          <p:nvPr/>
        </p:nvSpPr>
        <p:spPr>
          <a:xfrm>
            <a:off x="5187574" y="3931920"/>
            <a:ext cx="1816547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Subtract client update</a:t>
            </a:r>
            <a:endParaRPr lang="en-US" sz="1500" dirty="0"/>
          </a:p>
        </p:txBody>
      </p:sp>
      <p:sp>
        <p:nvSpPr>
          <p:cNvPr id="22" name="arrow"/>
          <p:cNvSpPr/>
          <p:nvPr/>
        </p:nvSpPr>
        <p:spPr>
          <a:xfrm>
            <a:off x="7122993" y="4453128"/>
            <a:ext cx="228600" cy="237744"/>
          </a:xfrm>
          <a:prstGeom prst="rightArrow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  <p:txBody>
          <a:bodyPr/>
          <a:p/>
        </p:txBody>
      </p:sp>
      <p:sp>
        <p:nvSpPr>
          <p:cNvPr id="23" name="flow step 4"/>
          <p:cNvSpPr/>
          <p:nvPr/>
        </p:nvSpPr>
        <p:spPr>
          <a:xfrm>
            <a:off x="7397313" y="3931920"/>
            <a:ext cx="1962851" cy="1280160"/>
          </a:xfrm>
          <a:prstGeom prst="roundRect">
            <a:avLst>
              <a:gd name="adj" fmla="val 5714"/>
            </a:avLst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  <p:txBody>
          <a:bodyPr/>
          <a:p/>
        </p:txBody>
      </p:sp>
      <p:sp>
        <p:nvSpPr>
          <p:cNvPr id="24" name="Text 19"/>
          <p:cNvSpPr txBox="1"/>
          <p:nvPr/>
        </p:nvSpPr>
        <p:spPr>
          <a:xfrm>
            <a:off x="7470465" y="3931920"/>
            <a:ext cx="1816547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Verify: attack, utility</a:t>
            </a:r>
            <a:endParaRPr lang="en-US" sz="1500" dirty="0"/>
          </a:p>
        </p:txBody>
      </p:sp>
      <p:sp>
        <p:nvSpPr>
          <p:cNvPr id="25" name="arrow"/>
          <p:cNvSpPr/>
          <p:nvPr/>
        </p:nvSpPr>
        <p:spPr>
          <a:xfrm>
            <a:off x="9405884" y="4453128"/>
            <a:ext cx="228600" cy="237744"/>
          </a:xfrm>
          <a:prstGeom prst="rightArrow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  <p:txBody>
          <a:bodyPr/>
          <a:p/>
        </p:txBody>
      </p:sp>
      <p:sp>
        <p:nvSpPr>
          <p:cNvPr id="26" name="flow step 5"/>
          <p:cNvSpPr/>
          <p:nvPr/>
        </p:nvSpPr>
        <p:spPr>
          <a:xfrm>
            <a:off x="9680204" y="3931920"/>
            <a:ext cx="1962851" cy="1280160"/>
          </a:xfrm>
          <a:prstGeom prst="roundRect">
            <a:avLst>
              <a:gd name="adj" fmla="val 5714"/>
            </a:avLst>
          </a:prstGeom>
          <a:solidFill>
            <a:srgbClr val="1B2A41"/>
          </a:solidFill>
          <a:ln w="12700">
            <a:solidFill>
              <a:srgbClr val="1B2A41"/>
            </a:solidFill>
            <a:prstDash val="solid"/>
          </a:ln>
        </p:spPr>
        <p:txBody>
          <a:bodyPr/>
          <a:p/>
        </p:txBody>
      </p:sp>
      <p:sp>
        <p:nvSpPr>
          <p:cNvPr id="27" name="Text 22"/>
          <p:cNvSpPr txBox="1"/>
          <p:nvPr/>
        </p:nvSpPr>
        <p:spPr>
          <a:xfrm>
            <a:off x="9753356" y="3931920"/>
            <a:ext cx="1816547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Certificate + ledger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A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System architecture</a:t>
            </a:r>
            <a:endParaRPr lang="en-US" sz="3200" dirty="0"/>
          </a:p>
        </p:txBody>
      </p:sp>
      <p:sp>
        <p:nvSpPr>
          <p:cNvPr id="5" name="Text 1"/>
          <p:cNvSpPr txBox="1"/>
          <p:nvPr/>
        </p:nvSpPr>
        <p:spPr>
          <a:xfrm>
            <a:off x="7543800" y="1463040"/>
            <a:ext cx="411480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0F172A"/>
                </a:solidFill>
              </a:rPr>
              <a:t>Client: React 19 + Vite 8 (port 5109); the dev server proxies /api to the API.</a:t>
            </a:r>
            <a:endParaRPr lang="en-US" sz="1400" dirty="0"/>
          </a:p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0F172A"/>
                </a:solidFill>
              </a:rPr>
              <a:t>API: Python standard-library http.server (port 8109), 9 routes (8 JSON endpoints and the legacy page); one shared engine behind a lock.</a:t>
            </a:r>
            <a:endParaRPr lang="en-US" sz="1400" dirty="0"/>
          </a:p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0F172A"/>
                </a:solidFill>
              </a:rPr>
              <a:t>Engine: FederatedUnlearningEngine with train(), unlearn(), metrics() and generate().</a:t>
            </a:r>
            <a:endParaRPr lang="en-US" sz="1400" dirty="0"/>
          </a:p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0F172A"/>
                </a:solidFill>
              </a:rPr>
              <a:t>Model: character-bigram language model, 1,089 parameters, a proxy for an LLM adapter update.</a:t>
            </a:r>
            <a:endParaRPr lang="en-US" sz="1400" dirty="0"/>
          </a:p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0F172A"/>
                </a:solidFill>
              </a:rPr>
              <a:t>Record: membership AUC, perplexity, reference recomputation and a SHA-256 hash-chained ledger (data/audit_log.jsonl).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  <p:pic>
        <p:nvPicPr>
          <p:cNvPr id="26" name="System architecture diagram" descr="System architecture diagram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7575" y="1181100"/>
            <a:ext cx="6108699" cy="493395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A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Methodology: end-to-end workflow</a:t>
            </a:r>
            <a:endParaRPr lang="en-US" sz="3200" dirty="0"/>
          </a:p>
        </p:txBody>
      </p:sp>
      <p:sp>
        <p:nvSpPr>
          <p:cNvPr id="4" name="flow step 1"/>
          <p:cNvSpPr/>
          <p:nvPr/>
        </p:nvSpPr>
        <p:spPr>
          <a:xfrm>
            <a:off x="548640" y="1554480"/>
            <a:ext cx="1310596" cy="1463040"/>
          </a:xfrm>
          <a:prstGeom prst="roundRect">
            <a:avLst>
              <a:gd name="adj" fmla="val 5582"/>
            </a:avLst>
          </a:prstGeom>
          <a:solidFill>
            <a:srgbClr val="1B2A41"/>
          </a:solidFill>
          <a:ln w="12700">
            <a:solidFill>
              <a:srgbClr val="1B2A41"/>
            </a:solidFill>
            <a:prstDash val="solid"/>
          </a:ln>
        </p:spPr>
        <p:txBody>
          <a:bodyPr/>
          <a:p/>
        </p:txBody>
      </p:sp>
      <p:sp>
        <p:nvSpPr>
          <p:cNvPr id="5" name="Text 2"/>
          <p:cNvSpPr txBox="1"/>
          <p:nvPr/>
        </p:nvSpPr>
        <p:spPr>
          <a:xfrm>
            <a:off x="621792" y="1554480"/>
            <a:ext cx="116429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Load 5 client corpora</a:t>
            </a:r>
            <a:endParaRPr lang="en-US" sz="1400" dirty="0"/>
          </a:p>
        </p:txBody>
      </p:sp>
      <p:sp>
        <p:nvSpPr>
          <p:cNvPr id="6" name="arrow"/>
          <p:cNvSpPr/>
          <p:nvPr/>
        </p:nvSpPr>
        <p:spPr>
          <a:xfrm>
            <a:off x="1904956" y="2167128"/>
            <a:ext cx="228600" cy="237744"/>
          </a:xfrm>
          <a:prstGeom prst="rightArrow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  <p:txBody>
          <a:bodyPr/>
          <a:p/>
        </p:txBody>
      </p:sp>
      <p:sp>
        <p:nvSpPr>
          <p:cNvPr id="7" name="flow step 2"/>
          <p:cNvSpPr/>
          <p:nvPr/>
        </p:nvSpPr>
        <p:spPr>
          <a:xfrm>
            <a:off x="2179276" y="1554480"/>
            <a:ext cx="1310596" cy="1463040"/>
          </a:xfrm>
          <a:prstGeom prst="roundRect">
            <a:avLst>
              <a:gd name="adj" fmla="val 5582"/>
            </a:avLst>
          </a:prstGeom>
          <a:solidFill>
            <a:srgbClr val="1B2A41"/>
          </a:solidFill>
          <a:ln w="12700">
            <a:solidFill>
              <a:srgbClr val="1B2A41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 txBox="1"/>
          <p:nvPr/>
        </p:nvSpPr>
        <p:spPr>
          <a:xfrm>
            <a:off x="2252428" y="1554480"/>
            <a:ext cx="116429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Bigram update per client</a:t>
            </a:r>
            <a:endParaRPr lang="en-US" sz="1400" dirty="0"/>
          </a:p>
        </p:txBody>
      </p:sp>
      <p:sp>
        <p:nvSpPr>
          <p:cNvPr id="9" name="arrow"/>
          <p:cNvSpPr/>
          <p:nvPr/>
        </p:nvSpPr>
        <p:spPr>
          <a:xfrm>
            <a:off x="3535593" y="2167128"/>
            <a:ext cx="228600" cy="237744"/>
          </a:xfrm>
          <a:prstGeom prst="rightArrow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  <p:txBody>
          <a:bodyPr/>
          <a:p/>
        </p:txBody>
      </p:sp>
      <p:sp>
        <p:nvSpPr>
          <p:cNvPr id="10" name="flow step 3"/>
          <p:cNvSpPr/>
          <p:nvPr/>
        </p:nvSpPr>
        <p:spPr>
          <a:xfrm>
            <a:off x="3809913" y="1554480"/>
            <a:ext cx="1310596" cy="1463040"/>
          </a:xfrm>
          <a:prstGeom prst="roundRect">
            <a:avLst>
              <a:gd name="adj" fmla="val 5582"/>
            </a:avLst>
          </a:prstGeom>
          <a:solidFill>
            <a:srgbClr val="6250D6"/>
          </a:solidFill>
          <a:ln w="12700">
            <a:solidFill>
              <a:srgbClr val="6250D6"/>
            </a:solidFill>
            <a:prstDash val="solid"/>
          </a:ln>
        </p:spPr>
        <p:txBody>
          <a:bodyPr/>
          <a:p/>
        </p:txBody>
      </p:sp>
      <p:sp>
        <p:nvSpPr>
          <p:cNvPr id="11" name="Text 8"/>
          <p:cNvSpPr txBox="1"/>
          <p:nvPr/>
        </p:nvSpPr>
        <p:spPr>
          <a:xfrm>
            <a:off x="3883065" y="1554480"/>
            <a:ext cx="116429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L2-clip to C = 25</a:t>
            </a:r>
            <a:endParaRPr lang="en-US" sz="1400" dirty="0"/>
          </a:p>
        </p:txBody>
      </p:sp>
      <p:sp>
        <p:nvSpPr>
          <p:cNvPr id="12" name="arrow"/>
          <p:cNvSpPr/>
          <p:nvPr/>
        </p:nvSpPr>
        <p:spPr>
          <a:xfrm>
            <a:off x="5166229" y="2167128"/>
            <a:ext cx="228600" cy="237744"/>
          </a:xfrm>
          <a:prstGeom prst="rightArrow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  <p:txBody>
          <a:bodyPr/>
          <a:p/>
        </p:txBody>
      </p:sp>
      <p:sp>
        <p:nvSpPr>
          <p:cNvPr id="13" name="flow step 4"/>
          <p:cNvSpPr/>
          <p:nvPr/>
        </p:nvSpPr>
        <p:spPr>
          <a:xfrm>
            <a:off x="5440549" y="1554480"/>
            <a:ext cx="1310596" cy="1463040"/>
          </a:xfrm>
          <a:prstGeom prst="roundRect">
            <a:avLst>
              <a:gd name="adj" fmla="val 5582"/>
            </a:avLst>
          </a:prstGeom>
          <a:solidFill>
            <a:srgbClr val="1BAF7A"/>
          </a:solidFill>
          <a:ln w="12700">
            <a:solidFill>
              <a:srgbClr val="1BAF7A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 txBox="1"/>
          <p:nvPr/>
        </p:nvSpPr>
        <p:spPr>
          <a:xfrm>
            <a:off x="5513701" y="1554480"/>
            <a:ext cx="116429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Sum + Gaussian noise</a:t>
            </a:r>
            <a:endParaRPr lang="en-US" sz="1400" dirty="0"/>
          </a:p>
        </p:txBody>
      </p:sp>
      <p:sp>
        <p:nvSpPr>
          <p:cNvPr id="15" name="arrow"/>
          <p:cNvSpPr/>
          <p:nvPr/>
        </p:nvSpPr>
        <p:spPr>
          <a:xfrm>
            <a:off x="6796866" y="2167128"/>
            <a:ext cx="228600" cy="237744"/>
          </a:xfrm>
          <a:prstGeom prst="rightArrow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  <p:txBody>
          <a:bodyPr/>
          <a:p/>
        </p:txBody>
      </p:sp>
      <p:sp>
        <p:nvSpPr>
          <p:cNvPr id="16" name="flow step 5"/>
          <p:cNvSpPr/>
          <p:nvPr/>
        </p:nvSpPr>
        <p:spPr>
          <a:xfrm>
            <a:off x="7071186" y="1554480"/>
            <a:ext cx="1310596" cy="1463040"/>
          </a:xfrm>
          <a:prstGeom prst="roundRect">
            <a:avLst>
              <a:gd name="adj" fmla="val 5582"/>
            </a:avLst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  <p:txBody>
          <a:bodyPr/>
          <a:p/>
        </p:txBody>
      </p:sp>
      <p:sp>
        <p:nvSpPr>
          <p:cNvPr id="17" name="Text 14"/>
          <p:cNvSpPr txBox="1"/>
          <p:nvPr/>
        </p:nvSpPr>
        <p:spPr>
          <a:xfrm>
            <a:off x="7144338" y="1554480"/>
            <a:ext cx="116429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Unlearn: subtract update</a:t>
            </a:r>
            <a:endParaRPr lang="en-US" sz="1400" dirty="0"/>
          </a:p>
        </p:txBody>
      </p:sp>
      <p:sp>
        <p:nvSpPr>
          <p:cNvPr id="18" name="arrow"/>
          <p:cNvSpPr/>
          <p:nvPr/>
        </p:nvSpPr>
        <p:spPr>
          <a:xfrm>
            <a:off x="8427502" y="2167128"/>
            <a:ext cx="228600" cy="237744"/>
          </a:xfrm>
          <a:prstGeom prst="rightArrow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  <p:txBody>
          <a:bodyPr/>
          <a:p/>
        </p:txBody>
      </p:sp>
      <p:sp>
        <p:nvSpPr>
          <p:cNvPr id="19" name="flow step 6"/>
          <p:cNvSpPr/>
          <p:nvPr/>
        </p:nvSpPr>
        <p:spPr>
          <a:xfrm>
            <a:off x="8701822" y="1554480"/>
            <a:ext cx="1310596" cy="1463040"/>
          </a:xfrm>
          <a:prstGeom prst="roundRect">
            <a:avLst>
              <a:gd name="adj" fmla="val 5582"/>
            </a:avLst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  <p:txBody>
          <a:bodyPr/>
          <a:p/>
        </p:txBody>
      </p:sp>
      <p:sp>
        <p:nvSpPr>
          <p:cNvPr id="20" name="Text 17"/>
          <p:cNvSpPr txBox="1"/>
          <p:nvPr/>
        </p:nvSpPr>
        <p:spPr>
          <a:xfrm>
            <a:off x="8774974" y="1554480"/>
            <a:ext cx="116429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Verify: AUC, utility</a:t>
            </a:r>
            <a:endParaRPr lang="en-US" sz="1400" dirty="0"/>
          </a:p>
        </p:txBody>
      </p:sp>
      <p:sp>
        <p:nvSpPr>
          <p:cNvPr id="21" name="arrow"/>
          <p:cNvSpPr/>
          <p:nvPr/>
        </p:nvSpPr>
        <p:spPr>
          <a:xfrm>
            <a:off x="10058139" y="2167128"/>
            <a:ext cx="228600" cy="237744"/>
          </a:xfrm>
          <a:prstGeom prst="rightArrow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  <p:txBody>
          <a:bodyPr/>
          <a:p/>
        </p:txBody>
      </p:sp>
      <p:sp>
        <p:nvSpPr>
          <p:cNvPr id="22" name="flow step 7"/>
          <p:cNvSpPr/>
          <p:nvPr/>
        </p:nvSpPr>
        <p:spPr>
          <a:xfrm>
            <a:off x="10332459" y="1554480"/>
            <a:ext cx="1310596" cy="1463040"/>
          </a:xfrm>
          <a:prstGeom prst="roundRect">
            <a:avLst>
              <a:gd name="adj" fmla="val 5582"/>
            </a:avLst>
          </a:prstGeom>
          <a:solidFill>
            <a:srgbClr val="1B2A41"/>
          </a:solidFill>
          <a:ln w="12700">
            <a:solidFill>
              <a:srgbClr val="1B2A41"/>
            </a:solidFill>
            <a:prstDash val="solid"/>
          </a:ln>
        </p:spPr>
        <p:txBody>
          <a:bodyPr/>
          <a:p/>
        </p:txBody>
      </p:sp>
      <p:sp>
        <p:nvSpPr>
          <p:cNvPr id="23" name="Text 20"/>
          <p:cNvSpPr txBox="1"/>
          <p:nvPr/>
        </p:nvSpPr>
        <p:spPr>
          <a:xfrm>
            <a:off x="10405611" y="1554480"/>
            <a:ext cx="116429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Certificate + ledger</a:t>
            </a:r>
            <a:endParaRPr lang="en-US" sz="1400" dirty="0"/>
          </a:p>
        </p:txBody>
      </p:sp>
      <p:sp>
        <p:nvSpPr>
          <p:cNvPr id="24" name="Separate tracks card"/>
          <p:cNvSpPr/>
          <p:nvPr/>
        </p:nvSpPr>
        <p:spPr>
          <a:xfrm>
            <a:off x="548640" y="3429000"/>
            <a:ext cx="3566160" cy="2331720"/>
          </a:xfrm>
          <a:prstGeom prst="roundRect">
            <a:avLst>
              <a:gd name="adj" fmla="val 3137"/>
            </a:avLst>
          </a:prstGeom>
          <a:solidFill>
            <a:srgbClr val="F6F8FB"/>
          </a:solidFill>
          <a:ln w="9525">
            <a:solidFill>
              <a:srgbClr val="D5DCE6"/>
            </a:solidFill>
            <a:prstDash val="solid"/>
          </a:ln>
        </p:spPr>
        <p:txBody>
          <a:bodyPr/>
          <a:p/>
        </p:txBody>
      </p:sp>
      <p:sp>
        <p:nvSpPr>
          <p:cNvPr id="25" name="Text 22"/>
          <p:cNvSpPr txBox="1"/>
          <p:nvPr/>
        </p:nvSpPr>
        <p:spPr>
          <a:xfrm>
            <a:off x="777240" y="3611880"/>
            <a:ext cx="3154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</a:rPr>
              <a:t>Tracked updates</a:t>
            </a:r>
            <a:endParaRPr lang="en-US" sz="1600" dirty="0"/>
          </a:p>
        </p:txBody>
      </p:sp>
      <p:sp>
        <p:nvSpPr>
          <p:cNvPr id="26" name="Text 23"/>
          <p:cNvSpPr txBox="1"/>
          <p:nvPr/>
        </p:nvSpPr>
        <p:spPr>
          <a:xfrm>
            <a:off x="777240" y="4297680"/>
            <a:ext cx="31089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475569"/>
                </a:solidFill>
              </a:rPr>
              <a:t>Clipped client updates are stored, so one can be subtracted later without touching raw records.</a:t>
            </a:r>
            <a:endParaRPr lang="en-US" sz="1500" dirty="0"/>
          </a:p>
        </p:txBody>
      </p:sp>
      <p:sp>
        <p:nvSpPr>
          <p:cNvPr id="27" name="Shared preprocessing card"/>
          <p:cNvSpPr/>
          <p:nvPr/>
        </p:nvSpPr>
        <p:spPr>
          <a:xfrm>
            <a:off x="4297680" y="3429000"/>
            <a:ext cx="3566160" cy="2331720"/>
          </a:xfrm>
          <a:prstGeom prst="roundRect">
            <a:avLst>
              <a:gd name="adj" fmla="val 3137"/>
            </a:avLst>
          </a:prstGeom>
          <a:solidFill>
            <a:srgbClr val="F6F8FB"/>
          </a:solidFill>
          <a:ln w="9525">
            <a:solidFill>
              <a:srgbClr val="D5DCE6"/>
            </a:solidFill>
            <a:prstDash val="solid"/>
          </a:ln>
        </p:spPr>
        <p:txBody>
          <a:bodyPr/>
          <a:p/>
        </p:txBody>
      </p:sp>
      <p:sp>
        <p:nvSpPr>
          <p:cNvPr id="28" name="Text 25"/>
          <p:cNvSpPr txBox="1"/>
          <p:nvPr/>
        </p:nvSpPr>
        <p:spPr>
          <a:xfrm>
            <a:off x="4526280" y="3611880"/>
            <a:ext cx="3154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</a:rPr>
              <a:t>Verification stack</a:t>
            </a:r>
            <a:endParaRPr lang="en-US" sz="1600" dirty="0"/>
          </a:p>
        </p:txBody>
      </p:sp>
      <p:sp>
        <p:nvSpPr>
          <p:cNvPr id="29" name="Text 26"/>
          <p:cNvSpPr txBox="1"/>
          <p:nvPr/>
        </p:nvSpPr>
        <p:spPr>
          <a:xfrm>
            <a:off x="4526280" y="4297680"/>
            <a:ext cx="31089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475569"/>
                </a:solidFill>
              </a:rPr>
              <a:t>Membership AUC, public-set perplexity and accuracy, a retention floor of 70 %, and a retained-only recomputation.</a:t>
            </a:r>
            <a:endParaRPr lang="en-US" sz="1500" dirty="0"/>
          </a:p>
        </p:txBody>
      </p:sp>
      <p:sp>
        <p:nvSpPr>
          <p:cNvPr id="30" name="Reproducible card"/>
          <p:cNvSpPr/>
          <p:nvPr/>
        </p:nvSpPr>
        <p:spPr>
          <a:xfrm>
            <a:off x="8046720" y="3429000"/>
            <a:ext cx="3566160" cy="2331720"/>
          </a:xfrm>
          <a:prstGeom prst="roundRect">
            <a:avLst>
              <a:gd name="adj" fmla="val 3137"/>
            </a:avLst>
          </a:prstGeom>
          <a:solidFill>
            <a:srgbClr val="F6F8FB"/>
          </a:solidFill>
          <a:ln w="9525">
            <a:solidFill>
              <a:srgbClr val="D5DCE6"/>
            </a:solidFill>
            <a:prstDash val="solid"/>
          </a:ln>
        </p:spPr>
        <p:txBody>
          <a:bodyPr/>
          <a:p/>
        </p:txBody>
      </p:sp>
      <p:sp>
        <p:nvSpPr>
          <p:cNvPr id="31" name="Text 28"/>
          <p:cNvSpPr txBox="1"/>
          <p:nvPr/>
        </p:nvSpPr>
        <p:spPr>
          <a:xfrm>
            <a:off x="8275320" y="3611880"/>
            <a:ext cx="3154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</a:rPr>
              <a:t>Reproducible</a:t>
            </a:r>
            <a:endParaRPr lang="en-US" sz="1600" dirty="0"/>
          </a:p>
        </p:txBody>
      </p:sp>
      <p:sp>
        <p:nvSpPr>
          <p:cNvPr id="32" name="Text 29"/>
          <p:cNvSpPr txBox="1"/>
          <p:nvPr/>
        </p:nvSpPr>
        <p:spPr>
          <a:xfrm>
            <a:off x="8275320" y="4297680"/>
            <a:ext cx="31089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475569"/>
                </a:solidFill>
              </a:rPr>
              <a:t>Fixed seed 2026; scripts/run_experiments.py regenerates experiments/*/metrics.json.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A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Dataset and input sources</a:t>
            </a:r>
            <a:endParaRPr lang="en-US" sz="32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280160"/>
          <a:ext cx="5760720" cy="4480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0" y="1463040"/>
          <a:ext cx="5056630" cy="914400"/>
        </p:xfrm>
        <a:graphic>
          <a:graphicData uri="http://schemas.openxmlformats.org/drawingml/2006/table">
            <a:tbl>
              <a:tblPr/>
              <a:tblGrid>
                <a:gridCol w="1516989"/>
                <a:gridCol w="2123785"/>
                <a:gridCol w="1415856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Size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Client corpora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 clients x 5 sentences (25 records)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Federated training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Public evaluation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 sentences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Perplexity, accuracy, utility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Non-member texts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 sentences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Membership-attack baseline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Alphabet and parameters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 symbols; 33 x 33 = 1,089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Bigram count vector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External data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None; hand-written, offline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licence issue; no real corpus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A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 preparation and features</a:t>
            </a:r>
            <a:endParaRPr lang="en-US" sz="3200" dirty="0"/>
          </a:p>
        </p:txBody>
      </p:sp>
      <p:sp>
        <p:nvSpPr>
          <p:cNvPr id="4" name="Text card"/>
          <p:cNvSpPr/>
          <p:nvPr/>
        </p:nvSpPr>
        <p:spPr>
          <a:xfrm>
            <a:off x="548640" y="1371600"/>
            <a:ext cx="3566160" cy="4389120"/>
          </a:xfrm>
          <a:prstGeom prst="roundRect">
            <a:avLst>
              <a:gd name="adj" fmla="val 2051"/>
            </a:avLst>
          </a:prstGeom>
          <a:solidFill>
            <a:srgbClr val="F6F8FB"/>
          </a:solidFill>
          <a:ln w="9525">
            <a:solidFill>
              <a:srgbClr val="D5DCE6"/>
            </a:solidFill>
            <a:prstDash val="solid"/>
          </a:ln>
        </p:spPr>
        <p:txBody>
          <a:bodyPr/>
          <a:p/>
        </p:txBody>
      </p:sp>
      <p:sp>
        <p:nvSpPr>
          <p:cNvPr id="5" name="icon circle"/>
          <p:cNvSpPr/>
          <p:nvPr/>
        </p:nvSpPr>
        <p:spPr>
          <a:xfrm>
            <a:off x="777240" y="1600200"/>
            <a:ext cx="548640" cy="548640"/>
          </a:xfrm>
          <a:prstGeom prst="ellipse">
            <a:avLst/>
          </a:prstGeom>
          <a:solidFill>
            <a:srgbClr val="6250D6"/>
          </a:solidFill>
          <a:ln w="12700">
            <a:solidFill>
              <a:srgbClr val="6250D6"/>
            </a:solidFill>
            <a:prstDash val="solid"/>
          </a:ln>
        </p:spPr>
        <p:txBody>
          <a:bodyPr/>
          <a:p/>
        </p:txBody>
      </p:sp>
      <p:pic>
        <p:nvPicPr>
          <p:cNvPr id="6" name="Image 0" descr="Tex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6968" y="1709928"/>
            <a:ext cx="329184" cy="329184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463040" y="155448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</a:rPr>
              <a:t>Text normalisation</a:t>
            </a:r>
            <a:endParaRPr lang="en-US" sz="1600" dirty="0"/>
          </a:p>
        </p:txBody>
      </p:sp>
      <p:sp>
        <p:nvSpPr>
          <p:cNvPr id="8" name="Text 4"/>
          <p:cNvSpPr txBox="1"/>
          <p:nvPr/>
        </p:nvSpPr>
        <p:spPr>
          <a:xfrm>
            <a:off x="777240" y="2240280"/>
            <a:ext cx="310896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475569"/>
                </a:solidFill>
              </a:rPr>
              <a:t>normalize_text(): lower-case; characters outside the 33-symbol alphabet become spaces; whitespace collapsed; ^ and $ mark the start and end of each record.</a:t>
            </a:r>
            <a:endParaRPr lang="en-US" sz="1500" dirty="0"/>
          </a:p>
        </p:txBody>
      </p:sp>
      <p:sp>
        <p:nvSpPr>
          <p:cNvPr id="9" name="Images and video card"/>
          <p:cNvSpPr/>
          <p:nvPr/>
        </p:nvSpPr>
        <p:spPr>
          <a:xfrm>
            <a:off x="4297680" y="1371600"/>
            <a:ext cx="3566160" cy="4389120"/>
          </a:xfrm>
          <a:prstGeom prst="roundRect">
            <a:avLst>
              <a:gd name="adj" fmla="val 2051"/>
            </a:avLst>
          </a:prstGeom>
          <a:solidFill>
            <a:srgbClr val="F6F8FB"/>
          </a:solidFill>
          <a:ln w="9525">
            <a:solidFill>
              <a:srgbClr val="D5DCE6"/>
            </a:solidFill>
            <a:prstDash val="solid"/>
          </a:ln>
        </p:spPr>
        <p:txBody>
          <a:bodyPr/>
          <a:p/>
        </p:txBody>
      </p:sp>
      <p:sp>
        <p:nvSpPr>
          <p:cNvPr id="10" name="icon circle"/>
          <p:cNvSpPr/>
          <p:nvPr/>
        </p:nvSpPr>
        <p:spPr>
          <a:xfrm>
            <a:off x="4526280" y="1600200"/>
            <a:ext cx="548640" cy="54864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1BAF7A"/>
            </a:solidFill>
            <a:prstDash val="solid"/>
          </a:ln>
        </p:spPr>
        <p:txBody>
          <a:bodyPr/>
          <a:p/>
        </p:txBody>
      </p:sp>
      <p:pic>
        <p:nvPicPr>
          <p:cNvPr id="11" name="Image 1" descr="Images and vide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36008" y="1709928"/>
            <a:ext cx="329184" cy="329184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5212080" y="155448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</a:rPr>
              <a:t>Update vector</a:t>
            </a:r>
            <a:endParaRPr lang="en-US" sz="1600" dirty="0"/>
          </a:p>
        </p:txBody>
      </p:sp>
      <p:sp>
        <p:nvSpPr>
          <p:cNvPr id="13" name="Text 8"/>
          <p:cNvSpPr txBox="1"/>
          <p:nvPr/>
        </p:nvSpPr>
        <p:spPr>
          <a:xfrm>
            <a:off x="4526280" y="2240280"/>
            <a:ext cx="310896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475569"/>
                </a:solidFill>
              </a:rPr>
              <a:t>Counts of adjacent symbol pairs form a 1,089-dimensional vector per client. Raw L2 norms range 25.2 to 28.2.</a:t>
            </a:r>
            <a:endParaRPr lang="en-US" sz="1500" dirty="0"/>
          </a:p>
        </p:txBody>
      </p:sp>
      <p:sp>
        <p:nvSpPr>
          <p:cNvPr id="14" name="AI-media data card"/>
          <p:cNvSpPr/>
          <p:nvPr/>
        </p:nvSpPr>
        <p:spPr>
          <a:xfrm>
            <a:off x="8046720" y="1371600"/>
            <a:ext cx="3566160" cy="4389120"/>
          </a:xfrm>
          <a:prstGeom prst="roundRect">
            <a:avLst>
              <a:gd name="adj" fmla="val 2051"/>
            </a:avLst>
          </a:prstGeom>
          <a:solidFill>
            <a:srgbClr val="F6F8FB"/>
          </a:solidFill>
          <a:ln w="9525">
            <a:solidFill>
              <a:srgbClr val="D5DCE6"/>
            </a:solidFill>
            <a:prstDash val="solid"/>
          </a:ln>
        </p:spPr>
        <p:txBody>
          <a:bodyPr/>
          <a:p/>
        </p:txBody>
      </p:sp>
      <p:sp>
        <p:nvSpPr>
          <p:cNvPr id="15" name="icon circle"/>
          <p:cNvSpPr/>
          <p:nvPr/>
        </p:nvSpPr>
        <p:spPr>
          <a:xfrm>
            <a:off x="8275320" y="1600200"/>
            <a:ext cx="548640" cy="548640"/>
          </a:xfrm>
          <a:prstGeom prst="ellipse">
            <a:avLst/>
          </a:prstGeom>
          <a:solidFill>
            <a:srgbClr val="EDA100"/>
          </a:solidFill>
          <a:ln w="12700">
            <a:solidFill>
              <a:srgbClr val="EDA100"/>
            </a:solidFill>
            <a:prstDash val="solid"/>
          </a:ln>
        </p:spPr>
        <p:txBody>
          <a:bodyPr/>
          <a:p/>
        </p:txBody>
      </p:sp>
      <p:pic>
        <p:nvPicPr>
          <p:cNvPr id="16" name="Image 2" descr="AI-media data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5048" y="1709928"/>
            <a:ext cx="329184" cy="329184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8961120" y="155448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</a:rPr>
              <a:t>Clipping and noise</a:t>
            </a:r>
            <a:endParaRPr lang="en-US" sz="1600" dirty="0"/>
          </a:p>
        </p:txBody>
      </p:sp>
      <p:sp>
        <p:nvSpPr>
          <p:cNvPr id="18" name="Text 12"/>
          <p:cNvSpPr txBox="1"/>
          <p:nvPr/>
        </p:nvSpPr>
        <p:spPr>
          <a:xfrm>
            <a:off x="8275320" y="2240280"/>
            <a:ext cx="310896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475569"/>
                </a:solidFill>
              </a:rPr>
              <a:t>Each vector is scaled to norm at most C = 25 (scales 0.886 to 0.991). Gaussian noise with std sigma x C = 75 (sigma = 3) is added to every coordinate of the sum.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A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 and aggregation</a:t>
            </a:r>
            <a:endParaRPr lang="en-US" sz="3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0" y="1463040"/>
          <a:ext cx="3867912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856232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Component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Detail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Character-bigram LM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Parameters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1,089 (33 x 33)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Smoothing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 on non-negative values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Release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(sum + noise) / 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</a:tr>
            </a:tbl>
          </a:graphicData>
        </a:graphic>
      </p:graphicFrame>
      <p:sp>
        <p:nvSpPr>
          <p:cNvPr id="6" name="Text 1"/>
          <p:cNvSpPr txBox="1"/>
          <p:nvPr/>
        </p:nvSpPr>
        <p:spPr>
          <a:xfrm>
            <a:off x="7772400" y="3931920"/>
            <a:ext cx="38679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4748B"/>
                </a:solidFill>
              </a:rPr>
              <a:t>A proxy for an LLM adapter update; pure Python, no neural network, no GPU.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  <p:pic>
        <p:nvPicPr>
          <p:cNvPr id="26" name="High-level workflow" descr="High-level workflow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4375" y="1490112"/>
            <a:ext cx="6600825" cy="431592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A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Training configuration</a:t>
            </a:r>
            <a:endParaRPr lang="en-US" sz="3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566928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329184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Setting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Value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Clients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 (Finance, Healthcare, Education, Retail, Travel)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Clip norm C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Noise multiplier sigma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(std 75 per coordinate)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delta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1e-5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Reported epsilon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1.6149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Random seed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Certified if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L2 &lt;= 1e-10 and retention &gt;= 70 %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picture frame"/>
          <p:cNvSpPr/>
          <p:nvPr/>
        </p:nvSpPr>
        <p:spPr>
          <a:xfrm>
            <a:off x="6400800" y="1758186"/>
            <a:ext cx="5238750" cy="3151127"/>
          </a:xfrm>
          <a:prstGeom prst="rect">
            <a:avLst/>
          </a:prstGeom>
          <a:ln w="9525">
            <a:solidFill>
              <a:srgbClr val="D5DCE6"/>
            </a:solidFill>
            <a:prstDash val="solid"/>
          </a:ln>
        </p:spPr>
        <p:txBody>
          <a:bodyPr/>
          <a:p/>
        </p:txBody>
      </p:sp>
      <p:sp>
        <p:nvSpPr>
          <p:cNvPr id="7" name="Text 2"/>
          <p:cNvSpPr txBox="1"/>
          <p:nvPr/>
        </p:nvSpPr>
        <p:spPr>
          <a:xfrm>
            <a:off x="6400800" y="5004563"/>
            <a:ext cx="5239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4748B"/>
                </a:solidFill>
              </a:rPr>
              <a:t>Reported epsilon against perplexity for 12 noise settings (20 seeds each)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  <p:pic>
        <p:nvPicPr>
          <p:cNvPr id="26" name="Privacy-utility chart" descr="Privacy-utility chart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0" y="1758186"/>
            <a:ext cx="5238750" cy="3151127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A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Decision logic</a:t>
            </a:r>
            <a:endParaRPr lang="en-US" sz="3200" dirty="0"/>
          </a:p>
        </p:txBody>
      </p:sp>
      <p:sp>
        <p:nvSpPr>
          <p:cNvPr id="5" name="Verdict card"/>
          <p:cNvSpPr/>
          <p:nvPr/>
        </p:nvSpPr>
        <p:spPr>
          <a:xfrm>
            <a:off x="6572250" y="1371600"/>
            <a:ext cx="5057775" cy="1371600"/>
          </a:xfrm>
          <a:prstGeom prst="roundRect">
            <a:avLst>
              <a:gd name="adj" fmla="val 5333"/>
            </a:avLst>
          </a:prstGeom>
          <a:solidFill>
            <a:srgbClr val="F6F8FB"/>
          </a:solidFill>
          <a:ln w="9525">
            <a:solidFill>
              <a:srgbClr val="D5DCE6"/>
            </a:solidFill>
            <a:prstDash val="solid"/>
          </a:ln>
        </p:spPr>
        <p:txBody>
          <a:bodyPr/>
          <a:p/>
        </p:txBody>
      </p:sp>
      <p:sp>
        <p:nvSpPr>
          <p:cNvPr id="6" name="Text 2"/>
          <p:cNvSpPr txBox="1"/>
          <p:nvPr/>
        </p:nvSpPr>
        <p:spPr>
          <a:xfrm>
            <a:off x="6800850" y="1466850"/>
            <a:ext cx="46672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</a:rPr>
              <a:t>Certified or review</a:t>
            </a:r>
            <a:endParaRPr lang="en-US" sz="1600" dirty="0"/>
          </a:p>
        </p:txBody>
      </p:sp>
      <p:sp>
        <p:nvSpPr>
          <p:cNvPr id="7" name="Text 3"/>
          <p:cNvSpPr txBox="1"/>
          <p:nvPr/>
        </p:nvSpPr>
        <p:spPr>
          <a:xfrm>
            <a:off x="6800850" y="1847850"/>
            <a:ext cx="4667250" cy="876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475569"/>
                </a:solidFill>
              </a:rPr>
              <a:t>CERTIFIED if reference L2 is at most 1e-10 and retention is at least 70 %, else REVIEW_REQUIRED. In 250 requests all were CERTIFIED.</a:t>
            </a:r>
            <a:endParaRPr lang="en-US" sz="1500" dirty="0"/>
          </a:p>
        </p:txBody>
      </p:sp>
      <p:sp>
        <p:nvSpPr>
          <p:cNvPr id="8" name="Partial input card"/>
          <p:cNvSpPr/>
          <p:nvPr/>
        </p:nvSpPr>
        <p:spPr>
          <a:xfrm>
            <a:off x="6572250" y="2880360"/>
            <a:ext cx="5057775" cy="1371600"/>
          </a:xfrm>
          <a:prstGeom prst="roundRect">
            <a:avLst>
              <a:gd name="adj" fmla="val 5333"/>
            </a:avLst>
          </a:prstGeom>
          <a:solidFill>
            <a:srgbClr val="F6F8FB"/>
          </a:solidFill>
          <a:ln w="9525">
            <a:solidFill>
              <a:srgbClr val="D5DCE6"/>
            </a:solidFill>
            <a:prstDash val="solid"/>
          </a:ln>
        </p:spPr>
        <p:txBody>
          <a:bodyPr/>
          <a:p/>
        </p:txBody>
      </p:sp>
      <p:sp>
        <p:nvSpPr>
          <p:cNvPr id="9" name="Text 5"/>
          <p:cNvSpPr txBox="1"/>
          <p:nvPr/>
        </p:nvSpPr>
        <p:spPr>
          <a:xfrm>
            <a:off x="6800850" y="2975610"/>
            <a:ext cx="46672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</a:rPr>
              <a:t>Refused requests</a:t>
            </a:r>
            <a:endParaRPr lang="en-US" sz="1600" dirty="0"/>
          </a:p>
        </p:txBody>
      </p:sp>
      <p:sp>
        <p:nvSpPr>
          <p:cNvPr id="10" name="Text 6"/>
          <p:cNvSpPr txBox="1"/>
          <p:nvPr/>
        </p:nvSpPr>
        <p:spPr>
          <a:xfrm>
            <a:off x="6800850" y="3356610"/>
            <a:ext cx="4667250" cy="876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475569"/>
                </a:solidFill>
              </a:rPr>
              <a:t>Before training, unknown client, repeat removal and removing the last client return HTTP 400 with a message.</a:t>
            </a:r>
            <a:endParaRPr lang="en-US" sz="1500" dirty="0"/>
          </a:p>
        </p:txBody>
      </p:sp>
      <p:sp>
        <p:nvSpPr>
          <p:cNvPr id="11" name="Saving card"/>
          <p:cNvSpPr/>
          <p:nvPr/>
        </p:nvSpPr>
        <p:spPr>
          <a:xfrm>
            <a:off x="6572250" y="4389120"/>
            <a:ext cx="5057775" cy="1371600"/>
          </a:xfrm>
          <a:prstGeom prst="roundRect">
            <a:avLst>
              <a:gd name="adj" fmla="val 5333"/>
            </a:avLst>
          </a:prstGeom>
          <a:solidFill>
            <a:srgbClr val="F6F8FB"/>
          </a:solidFill>
          <a:ln w="9525">
            <a:solidFill>
              <a:srgbClr val="D5DCE6"/>
            </a:solidFill>
            <a:prstDash val="solid"/>
          </a:ln>
        </p:spPr>
        <p:txBody>
          <a:bodyPr/>
          <a:p/>
        </p:txBody>
      </p:sp>
      <p:sp>
        <p:nvSpPr>
          <p:cNvPr id="12" name="Text 8"/>
          <p:cNvSpPr txBox="1"/>
          <p:nvPr/>
        </p:nvSpPr>
        <p:spPr>
          <a:xfrm>
            <a:off x="6800850" y="4484370"/>
            <a:ext cx="46672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</a:rPr>
              <a:t>Utility score</a:t>
            </a:r>
            <a:endParaRPr lang="en-US" sz="1600" dirty="0"/>
          </a:p>
        </p:txBody>
      </p:sp>
      <p:sp>
        <p:nvSpPr>
          <p:cNvPr id="13" name="Text 9"/>
          <p:cNvSpPr txBox="1"/>
          <p:nvPr/>
        </p:nvSpPr>
        <p:spPr>
          <a:xfrm>
            <a:off x="6800850" y="4865370"/>
            <a:ext cx="4667250" cy="876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475569"/>
                </a:solidFill>
              </a:rPr>
              <a:t>0.65 x accuracy + 0.35 / (1 + ln(1 + perplexity)); retention = after / before x 100, capped at 100.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  <p:pic>
        <p:nvPicPr>
          <p:cNvPr id="26" name="Decision flowchart" descr="Decision flowchart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1417" y="1181100"/>
            <a:ext cx="5479914" cy="4953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A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 flow and modules</a:t>
            </a:r>
            <a:endParaRPr lang="en-US" sz="3200" dirty="0"/>
          </a:p>
        </p:txBody>
      </p:sp>
      <p:sp>
        <p:nvSpPr>
          <p:cNvPr id="5" name="Text 1"/>
          <p:cNvSpPr txBox="1"/>
          <p:nvPr/>
        </p:nvSpPr>
        <p:spPr>
          <a:xfrm>
            <a:off x="542925" y="533400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4748B"/>
                </a:solidFill>
              </a:rPr>
              <a:t>DFD level 1: six processes, five stores</a:t>
            </a:r>
            <a:endParaRPr lang="en-US" sz="11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67525" y="1809750"/>
          <a:ext cx="4762500" cy="914400"/>
        </p:xfrm>
        <a:graphic>
          <a:graphicData uri="http://schemas.openxmlformats.org/drawingml/2006/table">
            <a:tbl>
              <a:tblPr/>
              <a:tblGrid>
                <a:gridCol w="1428750"/>
                <a:gridCol w="3333750"/>
              </a:tblGrid>
              <a:tr h="5715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Responsibility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engine.py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train(), unlearn(), certificate, metrics, reference recomputation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model.py, dataset.py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bigram update and clipping, perplexity, accuracy, membership AUC; corpora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audit.py, web.py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hash-chained ledger and verify(); JSON API and legacy page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  <p:pic>
        <p:nvPicPr>
          <p:cNvPr id="26" name="DFD level 1" descr="DFD level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38833" y="1066800"/>
            <a:ext cx="4704183" cy="4191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A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 model and UML (no SQL database)</a:t>
            </a:r>
            <a:endParaRPr lang="en-US" sz="3200" dirty="0"/>
          </a:p>
        </p:txBody>
      </p:sp>
      <p:sp>
        <p:nvSpPr>
          <p:cNvPr id="6" name="Text 1"/>
          <p:cNvSpPr txBox="1"/>
          <p:nvPr/>
        </p:nvSpPr>
        <p:spPr>
          <a:xfrm>
            <a:off x="542925" y="5219700"/>
            <a:ext cx="110871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4748B"/>
                </a:solidFill>
              </a:rPr>
              <a:t>UML class diagram (left) and ER view of the data model (right); only the audit record is persisted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  <p:pic>
        <p:nvPicPr>
          <p:cNvPr id="26" name="ER diagram" descr="ER diagram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81750" y="1098946"/>
            <a:ext cx="5248275" cy="3936206"/>
          </a:xfrm>
          <a:prstGeom prst="rect">
            <a:avLst/>
          </a:prstGeom>
        </p:spPr>
      </p:pic>
      <p:pic>
        <p:nvPicPr>
          <p:cNvPr id="27" name="UML class diagram" descr="UML class diagram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0100" y="1066800"/>
            <a:ext cx="5200650" cy="40005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A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Technology stack</a:t>
            </a:r>
            <a:endParaRPr lang="en-US" sz="3200" dirty="0"/>
          </a:p>
        </p:txBody>
      </p:sp>
      <p:sp>
        <p:nvSpPr>
          <p:cNvPr id="4" name="Language card"/>
          <p:cNvSpPr/>
          <p:nvPr/>
        </p:nvSpPr>
        <p:spPr>
          <a:xfrm>
            <a:off x="548640" y="1371600"/>
            <a:ext cx="3566160" cy="2057400"/>
          </a:xfrm>
          <a:prstGeom prst="roundRect">
            <a:avLst>
              <a:gd name="adj" fmla="val 3556"/>
            </a:avLst>
          </a:prstGeom>
          <a:solidFill>
            <a:srgbClr val="F6F8FB"/>
          </a:solidFill>
          <a:ln w="9525">
            <a:solidFill>
              <a:srgbClr val="D5DCE6"/>
            </a:solidFill>
            <a:prstDash val="solid"/>
          </a:ln>
        </p:spPr>
        <p:txBody>
          <a:bodyPr/>
          <a:p/>
        </p:txBody>
      </p:sp>
      <p:sp>
        <p:nvSpPr>
          <p:cNvPr id="5" name="icon circle"/>
          <p:cNvSpPr/>
          <p:nvPr/>
        </p:nvSpPr>
        <p:spPr>
          <a:xfrm>
            <a:off x="777240" y="1600200"/>
            <a:ext cx="548640" cy="54864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  <p:txBody>
          <a:bodyPr/>
          <a:p/>
        </p:txBody>
      </p:sp>
      <p:pic>
        <p:nvPicPr>
          <p:cNvPr id="6" name="Image 0" descr="Languag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6968" y="1709928"/>
            <a:ext cx="329184" cy="329184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463040" y="155448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</a:rPr>
              <a:t>Language</a:t>
            </a:r>
            <a:endParaRPr lang="en-US" sz="1600" dirty="0"/>
          </a:p>
        </p:txBody>
      </p:sp>
      <p:sp>
        <p:nvSpPr>
          <p:cNvPr id="8" name="Text 4"/>
          <p:cNvSpPr txBox="1"/>
          <p:nvPr/>
        </p:nvSpPr>
        <p:spPr>
          <a:xfrm>
            <a:off x="777240" y="2240280"/>
            <a:ext cx="31089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475569"/>
                </a:solidFill>
              </a:rPr>
              <a:t>Python 3.11 (standard library only), JavaScript</a:t>
            </a:r>
            <a:endParaRPr lang="en-US" sz="1500" dirty="0"/>
          </a:p>
        </p:txBody>
      </p:sp>
      <p:sp>
        <p:nvSpPr>
          <p:cNvPr id="9" name="Deep learning card"/>
          <p:cNvSpPr/>
          <p:nvPr/>
        </p:nvSpPr>
        <p:spPr>
          <a:xfrm>
            <a:off x="4297680" y="1371600"/>
            <a:ext cx="3566160" cy="2057400"/>
          </a:xfrm>
          <a:prstGeom prst="roundRect">
            <a:avLst>
              <a:gd name="adj" fmla="val 3556"/>
            </a:avLst>
          </a:prstGeom>
          <a:solidFill>
            <a:srgbClr val="F6F8FB"/>
          </a:solidFill>
          <a:ln w="9525">
            <a:solidFill>
              <a:srgbClr val="D5DCE6"/>
            </a:solidFill>
            <a:prstDash val="solid"/>
          </a:ln>
        </p:spPr>
        <p:txBody>
          <a:bodyPr/>
          <a:p/>
        </p:txBody>
      </p:sp>
      <p:sp>
        <p:nvSpPr>
          <p:cNvPr id="10" name="icon circle"/>
          <p:cNvSpPr/>
          <p:nvPr/>
        </p:nvSpPr>
        <p:spPr>
          <a:xfrm>
            <a:off x="4526280" y="1600200"/>
            <a:ext cx="548640" cy="548640"/>
          </a:xfrm>
          <a:prstGeom prst="ellipse">
            <a:avLst/>
          </a:prstGeom>
          <a:solidFill>
            <a:srgbClr val="6250D6"/>
          </a:solidFill>
          <a:ln w="12700">
            <a:solidFill>
              <a:srgbClr val="6250D6"/>
            </a:solidFill>
            <a:prstDash val="solid"/>
          </a:ln>
        </p:spPr>
        <p:txBody>
          <a:bodyPr/>
          <a:p/>
        </p:txBody>
      </p:sp>
      <p:pic>
        <p:nvPicPr>
          <p:cNvPr id="11" name="Image 1" descr="Deep learni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36008" y="1709928"/>
            <a:ext cx="329184" cy="329184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5212080" y="155448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</a:rPr>
              <a:t>Engine and maths</a:t>
            </a:r>
            <a:endParaRPr lang="en-US" sz="1600" dirty="0"/>
          </a:p>
        </p:txBody>
      </p:sp>
      <p:sp>
        <p:nvSpPr>
          <p:cNvPr id="13" name="Text 8"/>
          <p:cNvSpPr txBox="1"/>
          <p:nvPr/>
        </p:nvSpPr>
        <p:spPr>
          <a:xfrm>
            <a:off x="4526280" y="2240280"/>
            <a:ext cx="31089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475569"/>
                </a:solidFill>
              </a:rPr>
              <a:t>dataclasses, hashlib, json, math, random.gauss; no NumPy</a:t>
            </a:r>
            <a:endParaRPr lang="en-US" sz="1500" dirty="0"/>
          </a:p>
        </p:txBody>
      </p:sp>
      <p:sp>
        <p:nvSpPr>
          <p:cNvPr id="14" name="Data / NLP card"/>
          <p:cNvSpPr/>
          <p:nvPr/>
        </p:nvSpPr>
        <p:spPr>
          <a:xfrm>
            <a:off x="8046720" y="1371600"/>
            <a:ext cx="3566160" cy="2057400"/>
          </a:xfrm>
          <a:prstGeom prst="roundRect">
            <a:avLst>
              <a:gd name="adj" fmla="val 3556"/>
            </a:avLst>
          </a:prstGeom>
          <a:solidFill>
            <a:srgbClr val="F6F8FB"/>
          </a:solidFill>
          <a:ln w="9525">
            <a:solidFill>
              <a:srgbClr val="D5DCE6"/>
            </a:solidFill>
            <a:prstDash val="solid"/>
          </a:ln>
        </p:spPr>
        <p:txBody>
          <a:bodyPr/>
          <a:p/>
        </p:txBody>
      </p:sp>
      <p:sp>
        <p:nvSpPr>
          <p:cNvPr id="15" name="icon circle"/>
          <p:cNvSpPr/>
          <p:nvPr/>
        </p:nvSpPr>
        <p:spPr>
          <a:xfrm>
            <a:off x="8275320" y="1600200"/>
            <a:ext cx="548640" cy="54864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1BAF7A"/>
            </a:solidFill>
            <a:prstDash val="solid"/>
          </a:ln>
        </p:spPr>
        <p:txBody>
          <a:bodyPr/>
          <a:p/>
        </p:txBody>
      </p:sp>
      <p:pic>
        <p:nvPicPr>
          <p:cNvPr id="16" name="Image 2" descr="Data / NLP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5048" y="1709928"/>
            <a:ext cx="329184" cy="329184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8961120" y="155448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</a:rPr>
              <a:t>Backend</a:t>
            </a:r>
            <a:endParaRPr lang="en-US" sz="1600" dirty="0"/>
          </a:p>
        </p:txBody>
      </p:sp>
      <p:sp>
        <p:nvSpPr>
          <p:cNvPr id="18" name="Text 12"/>
          <p:cNvSpPr txBox="1"/>
          <p:nvPr/>
        </p:nvSpPr>
        <p:spPr>
          <a:xfrm>
            <a:off x="8275320" y="2240280"/>
            <a:ext cx="31089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475569"/>
                </a:solidFill>
              </a:rPr>
              <a:t>http.server ThreadingHTTPServer, JSON API, RLock-guarded engine</a:t>
            </a:r>
            <a:endParaRPr lang="en-US" sz="1500" dirty="0"/>
          </a:p>
        </p:txBody>
      </p:sp>
      <p:sp>
        <p:nvSpPr>
          <p:cNvPr id="19" name="Backend card"/>
          <p:cNvSpPr/>
          <p:nvPr/>
        </p:nvSpPr>
        <p:spPr>
          <a:xfrm>
            <a:off x="548640" y="3611880"/>
            <a:ext cx="3566160" cy="2057400"/>
          </a:xfrm>
          <a:prstGeom prst="roundRect">
            <a:avLst>
              <a:gd name="adj" fmla="val 3556"/>
            </a:avLst>
          </a:prstGeom>
          <a:solidFill>
            <a:srgbClr val="F6F8FB"/>
          </a:solidFill>
          <a:ln w="9525">
            <a:solidFill>
              <a:srgbClr val="D5DCE6"/>
            </a:solidFill>
            <a:prstDash val="solid"/>
          </a:ln>
        </p:spPr>
        <p:txBody>
          <a:bodyPr/>
          <a:p/>
        </p:txBody>
      </p:sp>
      <p:sp>
        <p:nvSpPr>
          <p:cNvPr id="20" name="icon circle"/>
          <p:cNvSpPr/>
          <p:nvPr/>
        </p:nvSpPr>
        <p:spPr>
          <a:xfrm>
            <a:off x="777240" y="3840480"/>
            <a:ext cx="548640" cy="548640"/>
          </a:xfrm>
          <a:prstGeom prst="ellipse">
            <a:avLst/>
          </a:prstGeom>
          <a:solidFill>
            <a:srgbClr val="1B2A41"/>
          </a:solidFill>
          <a:ln w="12700">
            <a:solidFill>
              <a:srgbClr val="1B2A41"/>
            </a:solidFill>
            <a:prstDash val="solid"/>
          </a:ln>
        </p:spPr>
        <p:txBody>
          <a:bodyPr/>
          <a:p/>
        </p:txBody>
      </p:sp>
      <p:pic>
        <p:nvPicPr>
          <p:cNvPr id="21" name="Image 3" descr="Backend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6968" y="3950208"/>
            <a:ext cx="329184" cy="329184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1463040" y="379476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</a:rPr>
              <a:t>Frontend</a:t>
            </a:r>
            <a:endParaRPr lang="en-US" sz="1600" dirty="0"/>
          </a:p>
        </p:txBody>
      </p:sp>
      <p:sp>
        <p:nvSpPr>
          <p:cNvPr id="23" name="Text 16"/>
          <p:cNvSpPr txBox="1"/>
          <p:nvPr/>
        </p:nvSpPr>
        <p:spPr>
          <a:xfrm>
            <a:off x="777240" y="4480560"/>
            <a:ext cx="31089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475569"/>
                </a:solidFill>
              </a:rPr>
              <a:t>React 19, Vite 8, react-router 7, Recharts 3, Framer Motion, GSAP</a:t>
            </a:r>
            <a:endParaRPr lang="en-US" sz="1500" dirty="0"/>
          </a:p>
        </p:txBody>
      </p:sp>
      <p:sp>
        <p:nvSpPr>
          <p:cNvPr id="24" name="Frontend card"/>
          <p:cNvSpPr/>
          <p:nvPr/>
        </p:nvSpPr>
        <p:spPr>
          <a:xfrm>
            <a:off x="4297680" y="3611880"/>
            <a:ext cx="3566160" cy="2057400"/>
          </a:xfrm>
          <a:prstGeom prst="roundRect">
            <a:avLst>
              <a:gd name="adj" fmla="val 3556"/>
            </a:avLst>
          </a:prstGeom>
          <a:solidFill>
            <a:srgbClr val="F6F8FB"/>
          </a:solidFill>
          <a:ln w="9525">
            <a:solidFill>
              <a:srgbClr val="D5DCE6"/>
            </a:solidFill>
            <a:prstDash val="solid"/>
          </a:ln>
        </p:spPr>
        <p:txBody>
          <a:bodyPr/>
          <a:p/>
        </p:txBody>
      </p:sp>
      <p:sp>
        <p:nvSpPr>
          <p:cNvPr id="25" name="icon circle"/>
          <p:cNvSpPr/>
          <p:nvPr/>
        </p:nvSpPr>
        <p:spPr>
          <a:xfrm>
            <a:off x="4526280" y="3840480"/>
            <a:ext cx="548640" cy="548640"/>
          </a:xfrm>
          <a:prstGeom prst="ellipse">
            <a:avLst/>
          </a:prstGeom>
          <a:solidFill>
            <a:srgbClr val="EDA100"/>
          </a:solidFill>
          <a:ln w="12700">
            <a:solidFill>
              <a:srgbClr val="EDA100"/>
            </a:solidFill>
            <a:prstDash val="solid"/>
          </a:ln>
        </p:spPr>
        <p:txBody>
          <a:bodyPr/>
          <a:p/>
        </p:txBody>
      </p:sp>
      <p:pic>
        <p:nvPicPr>
          <p:cNvPr id="26" name="Image 4" descr="Frontend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36008" y="3950208"/>
            <a:ext cx="329184" cy="329184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5212080" y="379476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</a:rPr>
              <a:t>Desktop and CLI</a:t>
            </a:r>
            <a:endParaRPr lang="en-US" sz="1600" dirty="0"/>
          </a:p>
        </p:txBody>
      </p:sp>
      <p:sp>
        <p:nvSpPr>
          <p:cNvPr id="28" name="Text 20"/>
          <p:cNvSpPr txBox="1"/>
          <p:nvPr/>
        </p:nvSpPr>
        <p:spPr>
          <a:xfrm>
            <a:off x="4526280" y="4480560"/>
            <a:ext cx="31089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475569"/>
                </a:solidFill>
              </a:rPr>
              <a:t>Tkinter GUI (--desktop) and terminal demo (--demo)</a:t>
            </a:r>
            <a:endParaRPr lang="en-US" sz="1500" dirty="0"/>
          </a:p>
        </p:txBody>
      </p:sp>
      <p:sp>
        <p:nvSpPr>
          <p:cNvPr id="29" name="Storage / reports / tests card"/>
          <p:cNvSpPr/>
          <p:nvPr/>
        </p:nvSpPr>
        <p:spPr>
          <a:xfrm>
            <a:off x="8046720" y="3611880"/>
            <a:ext cx="3566160" cy="2057400"/>
          </a:xfrm>
          <a:prstGeom prst="roundRect">
            <a:avLst>
              <a:gd name="adj" fmla="val 3556"/>
            </a:avLst>
          </a:prstGeom>
          <a:solidFill>
            <a:srgbClr val="F6F8FB"/>
          </a:solidFill>
          <a:ln w="9525">
            <a:solidFill>
              <a:srgbClr val="D5DCE6"/>
            </a:solidFill>
            <a:prstDash val="solid"/>
          </a:ln>
        </p:spPr>
        <p:txBody>
          <a:bodyPr/>
          <a:p/>
        </p:txBody>
      </p:sp>
      <p:sp>
        <p:nvSpPr>
          <p:cNvPr id="30" name="icon circle"/>
          <p:cNvSpPr/>
          <p:nvPr/>
        </p:nvSpPr>
        <p:spPr>
          <a:xfrm>
            <a:off x="8275320" y="3840480"/>
            <a:ext cx="548640" cy="548640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  <p:txBody>
          <a:bodyPr/>
          <a:p/>
        </p:txBody>
      </p:sp>
      <p:pic>
        <p:nvPicPr>
          <p:cNvPr id="31" name="Image 5" descr="Storage / reports / tests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85048" y="3950208"/>
            <a:ext cx="329184" cy="329184"/>
          </a:xfrm>
          <a:prstGeom prst="rect">
            <a:avLst/>
          </a:prstGeom>
        </p:spPr>
      </p:pic>
      <p:sp>
        <p:nvSpPr>
          <p:cNvPr id="32" name="Text 23"/>
          <p:cNvSpPr txBox="1"/>
          <p:nvPr/>
        </p:nvSpPr>
        <p:spPr>
          <a:xfrm>
            <a:off x="8961120" y="379476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</a:rPr>
              <a:t>Storage and tests</a:t>
            </a:r>
            <a:endParaRPr lang="en-US" sz="1600" dirty="0"/>
          </a:p>
        </p:txBody>
      </p:sp>
      <p:sp>
        <p:nvSpPr>
          <p:cNvPr id="33" name="Text 24"/>
          <p:cNvSpPr txBox="1"/>
          <p:nvPr/>
        </p:nvSpPr>
        <p:spPr>
          <a:xfrm>
            <a:off x="8275320" y="4480560"/>
            <a:ext cx="31089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475569"/>
                </a:solidFill>
              </a:rPr>
              <a:t>JSONL ledger; unittest (5 tests), smoke test (14 checks), Playwright captures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A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Implementation progress</a:t>
            </a:r>
            <a:endParaRPr lang="en-US" sz="32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7498079" cy="914400"/>
        </p:xfrm>
        <a:graphic>
          <a:graphicData uri="http://schemas.openxmlformats.org/drawingml/2006/table">
            <a:tbl>
              <a:tblPr/>
              <a:tblGrid>
                <a:gridCol w="5398617"/>
                <a:gridCol w="2099462"/>
              </a:tblGrid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Component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Status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Federated training with clipping and noise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Completed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Tracked-update unlearning and certificate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Completed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Membership attack and utility metrics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Completed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SHA-256 ledger with verification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Completed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React UI (landing + 5 screens), legacy UI, Tkinter, CLI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Completed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Measurement suite: 11 experiments, 12 charts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Completed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Real LLM adapter, real datasets, privacy accountant, signed ledger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done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rained networks tile"/>
          <p:cNvSpPr/>
          <p:nvPr/>
        </p:nvSpPr>
        <p:spPr>
          <a:xfrm>
            <a:off x="8321040" y="1371600"/>
            <a:ext cx="3319272" cy="1417320"/>
          </a:xfrm>
          <a:prstGeom prst="roundRect">
            <a:avLst>
              <a:gd name="adj" fmla="val 5161"/>
            </a:avLst>
          </a:prstGeom>
          <a:solidFill>
            <a:srgbClr val="F6F8FB"/>
          </a:solidFill>
          <a:ln w="9525">
            <a:solidFill>
              <a:srgbClr val="D5DCE6"/>
            </a:solidFill>
            <a:prstDash val="solid"/>
          </a:ln>
        </p:spPr>
        <p:txBody>
          <a:bodyPr/>
          <a:p/>
        </p:txBody>
      </p:sp>
      <p:sp>
        <p:nvSpPr>
          <p:cNvPr id="6" name="Text 2"/>
          <p:cNvSpPr txBox="1"/>
          <p:nvPr/>
        </p:nvSpPr>
        <p:spPr>
          <a:xfrm>
            <a:off x="8503920" y="1508760"/>
            <a:ext cx="2953512" cy="77952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600" b="1" dirty="0">
                <a:solidFill>
                  <a:srgbClr val="2A78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3600" dirty="0"/>
          </a:p>
        </p:txBody>
      </p:sp>
      <p:sp>
        <p:nvSpPr>
          <p:cNvPr id="7" name="Text 3"/>
          <p:cNvSpPr txBox="1"/>
          <p:nvPr/>
        </p:nvSpPr>
        <p:spPr>
          <a:xfrm>
            <a:off x="8503920" y="2250338"/>
            <a:ext cx="2953512" cy="4677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</a:rPr>
              <a:t>API routes (8 JSON + legacy page)</a:t>
            </a:r>
            <a:endParaRPr lang="en-US" sz="1300" dirty="0"/>
          </a:p>
        </p:txBody>
      </p:sp>
      <p:sp>
        <p:nvSpPr>
          <p:cNvPr id="8" name="served model profiles tile"/>
          <p:cNvSpPr/>
          <p:nvPr/>
        </p:nvSpPr>
        <p:spPr>
          <a:xfrm>
            <a:off x="8321040" y="2971800"/>
            <a:ext cx="3319272" cy="1417320"/>
          </a:xfrm>
          <a:prstGeom prst="roundRect">
            <a:avLst>
              <a:gd name="adj" fmla="val 5161"/>
            </a:avLst>
          </a:prstGeom>
          <a:solidFill>
            <a:srgbClr val="F6F8FB"/>
          </a:solidFill>
          <a:ln w="9525">
            <a:solidFill>
              <a:srgbClr val="D5DCE6"/>
            </a:solidFill>
            <a:prstDash val="solid"/>
          </a:ln>
        </p:spPr>
        <p:txBody>
          <a:bodyPr/>
          <a:p/>
        </p:txBody>
      </p:sp>
      <p:sp>
        <p:nvSpPr>
          <p:cNvPr id="9" name="Text 5"/>
          <p:cNvSpPr txBox="1"/>
          <p:nvPr/>
        </p:nvSpPr>
        <p:spPr>
          <a:xfrm>
            <a:off x="8503920" y="3108960"/>
            <a:ext cx="2953512" cy="77952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600" b="1" dirty="0">
                <a:solidFill>
                  <a:srgbClr val="1BAF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3600" dirty="0"/>
          </a:p>
        </p:txBody>
      </p:sp>
      <p:sp>
        <p:nvSpPr>
          <p:cNvPr id="10" name="Text 6"/>
          <p:cNvSpPr txBox="1"/>
          <p:nvPr/>
        </p:nvSpPr>
        <p:spPr>
          <a:xfrm>
            <a:off x="8503920" y="3850538"/>
            <a:ext cx="2953512" cy="4677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</a:rPr>
              <a:t>unit tests pass</a:t>
            </a:r>
            <a:endParaRPr lang="en-US" sz="1300" dirty="0"/>
          </a:p>
        </p:txBody>
      </p:sp>
      <p:sp>
        <p:nvSpPr>
          <p:cNvPr id="11" name="automated tests passing tile"/>
          <p:cNvSpPr/>
          <p:nvPr/>
        </p:nvSpPr>
        <p:spPr>
          <a:xfrm>
            <a:off x="8321040" y="4572000"/>
            <a:ext cx="3319272" cy="1417320"/>
          </a:xfrm>
          <a:prstGeom prst="roundRect">
            <a:avLst>
              <a:gd name="adj" fmla="val 5161"/>
            </a:avLst>
          </a:prstGeom>
          <a:solidFill>
            <a:srgbClr val="F6F8FB"/>
          </a:solidFill>
          <a:ln w="9525">
            <a:solidFill>
              <a:srgbClr val="D5DCE6"/>
            </a:solidFill>
            <a:prstDash val="solid"/>
          </a:ln>
        </p:spPr>
        <p:txBody>
          <a:bodyPr/>
          <a:p/>
        </p:txBody>
      </p:sp>
      <p:sp>
        <p:nvSpPr>
          <p:cNvPr id="12" name="Text 8"/>
          <p:cNvSpPr txBox="1"/>
          <p:nvPr/>
        </p:nvSpPr>
        <p:spPr>
          <a:xfrm>
            <a:off x="8503920" y="4709160"/>
            <a:ext cx="2953512" cy="77952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6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14/14</a:t>
            </a:r>
            <a:endParaRPr lang="en-US" sz="3600" dirty="0"/>
          </a:p>
        </p:txBody>
      </p:sp>
      <p:sp>
        <p:nvSpPr>
          <p:cNvPr id="13" name="Text 9"/>
          <p:cNvSpPr txBox="1"/>
          <p:nvPr/>
        </p:nvSpPr>
        <p:spPr>
          <a:xfrm>
            <a:off x="8503920" y="5450738"/>
            <a:ext cx="2953512" cy="4677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</a:rPr>
              <a:t>smoke-test checks pass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A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Preliminary results: attack AUC against noise</a:t>
            </a:r>
            <a:endParaRPr lang="en-US" sz="32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234440"/>
          <a:ext cx="7589520" cy="4754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fusion F1 (text only 0.644) tile"/>
          <p:cNvSpPr/>
          <p:nvPr/>
        </p:nvSpPr>
        <p:spPr>
          <a:xfrm>
            <a:off x="8412480" y="1371600"/>
            <a:ext cx="3227832" cy="1417320"/>
          </a:xfrm>
          <a:prstGeom prst="roundRect">
            <a:avLst>
              <a:gd name="adj" fmla="val 5161"/>
            </a:avLst>
          </a:prstGeom>
          <a:solidFill>
            <a:srgbClr val="F6F8FB"/>
          </a:solidFill>
          <a:ln w="9525">
            <a:solidFill>
              <a:srgbClr val="D5DCE6"/>
            </a:solidFill>
            <a:prstDash val="solid"/>
          </a:ln>
        </p:spPr>
        <p:txBody>
          <a:bodyPr/>
          <a:p/>
        </p:txBody>
      </p:sp>
      <p:sp>
        <p:nvSpPr>
          <p:cNvPr id="6" name="Text 2"/>
          <p:cNvSpPr txBox="1"/>
          <p:nvPr/>
        </p:nvSpPr>
        <p:spPr>
          <a:xfrm>
            <a:off x="8595360" y="1508760"/>
            <a:ext cx="2862072" cy="77952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600" b="1" dirty="0">
                <a:solidFill>
                  <a:srgbClr val="1BAF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0.99 → 0.54</a:t>
            </a:r>
            <a:endParaRPr lang="en-US" sz="3600" dirty="0"/>
          </a:p>
        </p:txBody>
      </p:sp>
      <p:sp>
        <p:nvSpPr>
          <p:cNvPr id="7" name="Text 3"/>
          <p:cNvSpPr txBox="1"/>
          <p:nvPr/>
        </p:nvSpPr>
        <p:spPr>
          <a:xfrm>
            <a:off x="8595360" y="2250338"/>
            <a:ext cx="2862072" cy="4677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</a:rPr>
              <a:t>attack AUC with no noise, before → after removal</a:t>
            </a:r>
            <a:endParaRPr lang="en-US" sz="1300" dirty="0"/>
          </a:p>
        </p:txBody>
      </p:sp>
      <p:sp>
        <p:nvSpPr>
          <p:cNvPr id="8" name="fusion ROC-AUC (text 0.771) tile"/>
          <p:cNvSpPr/>
          <p:nvPr/>
        </p:nvSpPr>
        <p:spPr>
          <a:xfrm>
            <a:off x="8412480" y="2971800"/>
            <a:ext cx="3227832" cy="1417320"/>
          </a:xfrm>
          <a:prstGeom prst="roundRect">
            <a:avLst>
              <a:gd name="adj" fmla="val 5161"/>
            </a:avLst>
          </a:prstGeom>
          <a:solidFill>
            <a:srgbClr val="F6F8FB"/>
          </a:solidFill>
          <a:ln w="9525">
            <a:solidFill>
              <a:srgbClr val="D5DCE6"/>
            </a:solidFill>
            <a:prstDash val="solid"/>
          </a:ln>
        </p:spPr>
        <p:txBody>
          <a:bodyPr/>
          <a:p/>
        </p:txBody>
      </p:sp>
      <p:sp>
        <p:nvSpPr>
          <p:cNvPr id="9" name="Text 5"/>
          <p:cNvSpPr txBox="1"/>
          <p:nvPr/>
        </p:nvSpPr>
        <p:spPr>
          <a:xfrm>
            <a:off x="8595360" y="3108960"/>
            <a:ext cx="2862072" cy="77952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600" b="1" dirty="0">
                <a:solidFill>
                  <a:srgbClr val="2A78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142</a:t>
            </a:r>
            <a:endParaRPr lang="en-US" sz="3600" dirty="0"/>
          </a:p>
        </p:txBody>
      </p:sp>
      <p:sp>
        <p:nvSpPr>
          <p:cNvPr id="10" name="Text 6"/>
          <p:cNvSpPr txBox="1"/>
          <p:nvPr/>
        </p:nvSpPr>
        <p:spPr>
          <a:xfrm>
            <a:off x="8595360" y="3850538"/>
            <a:ext cx="2862072" cy="4677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</a:rPr>
              <a:t>perplexity at sigma 3 (uniform model = 32)</a:t>
            </a:r>
            <a:endParaRPr lang="en-US" sz="1300" dirty="0"/>
          </a:p>
        </p:txBody>
      </p:sp>
      <p:sp>
        <p:nvSpPr>
          <p:cNvPr id="11" name="fusion accuracy tile"/>
          <p:cNvSpPr/>
          <p:nvPr/>
        </p:nvSpPr>
        <p:spPr>
          <a:xfrm>
            <a:off x="8412480" y="4572000"/>
            <a:ext cx="3227832" cy="1417320"/>
          </a:xfrm>
          <a:prstGeom prst="roundRect">
            <a:avLst>
              <a:gd name="adj" fmla="val 5161"/>
            </a:avLst>
          </a:prstGeom>
          <a:solidFill>
            <a:srgbClr val="F6F8FB"/>
          </a:solidFill>
          <a:ln w="9525">
            <a:solidFill>
              <a:srgbClr val="D5DCE6"/>
            </a:solidFill>
            <a:prstDash val="solid"/>
          </a:ln>
        </p:spPr>
        <p:txBody>
          <a:bodyPr/>
          <a:p/>
        </p:txBody>
      </p:sp>
      <p:sp>
        <p:nvSpPr>
          <p:cNvPr id="12" name="Text 8"/>
          <p:cNvSpPr txBox="1"/>
          <p:nvPr/>
        </p:nvSpPr>
        <p:spPr>
          <a:xfrm>
            <a:off x="8595360" y="4709160"/>
            <a:ext cx="2862072" cy="77952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6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250/250</a:t>
            </a:r>
            <a:endParaRPr lang="en-US" sz="3600" dirty="0"/>
          </a:p>
        </p:txBody>
      </p:sp>
      <p:sp>
        <p:nvSpPr>
          <p:cNvPr id="13" name="Text 9"/>
          <p:cNvSpPr txBox="1"/>
          <p:nvPr/>
        </p:nvSpPr>
        <p:spPr>
          <a:xfrm>
            <a:off x="8595360" y="5450738"/>
            <a:ext cx="2862072" cy="4677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</a:rPr>
              <a:t>requests certified (50 seeds x 5 clients)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A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Output screens</a:t>
            </a:r>
            <a:endParaRPr lang="en-US" sz="3200" dirty="0"/>
          </a:p>
        </p:txBody>
      </p:sp>
      <p:sp>
        <p:nvSpPr>
          <p:cNvPr id="5" name="picture frame"/>
          <p:cNvSpPr/>
          <p:nvPr/>
        </p:nvSpPr>
        <p:spPr>
          <a:xfrm>
            <a:off x="428625" y="1729978"/>
            <a:ext cx="5619750" cy="3512343"/>
          </a:xfrm>
          <a:prstGeom prst="rect">
            <a:avLst/>
          </a:prstGeom>
          <a:ln w="9525">
            <a:solidFill>
              <a:srgbClr val="D5DCE6"/>
            </a:solidFill>
            <a:prstDash val="solid"/>
          </a:ln>
        </p:spPr>
        <p:txBody>
          <a:bodyPr/>
          <a:p/>
        </p:txBody>
      </p:sp>
      <p:sp>
        <p:nvSpPr>
          <p:cNvPr id="6" name="Text 2"/>
          <p:cNvSpPr txBox="1"/>
          <p:nvPr/>
        </p:nvSpPr>
        <p:spPr>
          <a:xfrm>
            <a:off x="548640" y="5356621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4748B"/>
                </a:solidFill>
              </a:rPr>
              <a:t>Certificate for Client 01 (Finance): certified, 93.65 % utility retained, AUC 0.200 → 0.160</a:t>
            </a:r>
            <a:endParaRPr lang="en-US" sz="1100" dirty="0"/>
          </a:p>
        </p:txBody>
      </p:sp>
      <p:sp>
        <p:nvSpPr>
          <p:cNvPr id="8" name="picture frame"/>
          <p:cNvSpPr/>
          <p:nvPr/>
        </p:nvSpPr>
        <p:spPr>
          <a:xfrm>
            <a:off x="6143625" y="1729978"/>
            <a:ext cx="5619750" cy="3512343"/>
          </a:xfrm>
          <a:prstGeom prst="rect">
            <a:avLst/>
          </a:prstGeom>
          <a:ln w="9525">
            <a:solidFill>
              <a:srgbClr val="D5DCE6"/>
            </a:solidFill>
            <a:prstDash val="solid"/>
          </a:ln>
        </p:spPr>
        <p:txBody>
          <a:bodyPr/>
          <a:p/>
        </p:txBody>
      </p:sp>
      <p:sp>
        <p:nvSpPr>
          <p:cNvPr id="9" name="Text 4"/>
          <p:cNvSpPr txBox="1"/>
          <p:nvPr/>
        </p:nvSpPr>
        <p:spPr>
          <a:xfrm>
            <a:off x="6172200" y="5356621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4748B"/>
                </a:solidFill>
              </a:rPr>
              <a:t>Compliance audit: 4 ledger records, hash chain verified valid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  <p:pic>
        <p:nvPicPr>
          <p:cNvPr id="26" name="Certificate screenshot" descr="Certificate screenshot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8625" y="1729978"/>
            <a:ext cx="5619750" cy="3512343"/>
          </a:xfrm>
          <a:prstGeom prst="rect">
            <a:avLst/>
          </a:prstGeom>
        </p:spPr>
      </p:pic>
      <p:pic>
        <p:nvPicPr>
          <p:cNvPr id="27" name="Audit ledger screenshot" descr="Audit ledger screenshot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43625" y="1729978"/>
            <a:ext cx="5619750" cy="3512343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A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Testing and observations</a:t>
            </a:r>
            <a:endParaRPr lang="en-US" sz="32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5120639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614476"/>
                <a:gridCol w="1945843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 group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Result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Unit tests (unittest)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 passed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Smoke test on the live API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 passed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Seed study, unlearning requests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250 certified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Audit tamper attacks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detected, 3 not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API edge cases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 as intended, 2 not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1"/>
          <p:cNvSpPr txBox="1"/>
          <p:nvPr/>
        </p:nvSpPr>
        <p:spPr>
          <a:xfrm>
            <a:off x="6035040" y="1417320"/>
            <a:ext cx="5605272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0F172A"/>
                </a:solidFill>
              </a:rPr>
              <a:t>Audit chain catches edits, deletions and re-ordering (4 of 7 attacks); tail truncation, a full re-hash forgery and an appended forged record pass.</a:t>
            </a:r>
            <a:endParaRPr lang="en-US" sz="1600" dirty="0"/>
          </a:p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0F172A"/>
                </a:solidFill>
              </a:rPr>
              <a:t>API medians on 127.0.0.1: train 36 ms, unlearn 58 ms, state 21 ms.</a:t>
            </a:r>
            <a:endParaRPr lang="en-US" sz="1600" dirty="0"/>
          </a:p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0F172A"/>
                </a:solidFill>
              </a:rPr>
              <a:t>A 2 MB body aborts the connection instead of a clean 400; PUT returns the stdlib HTML 501 page.</a:t>
            </a:r>
            <a:endParaRPr lang="en-US" sz="1600" dirty="0"/>
          </a:p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0F172A"/>
                </a:solidFill>
              </a:rPr>
              <a:t>No authentication; one shared engine for all callers.</a:t>
            </a:r>
            <a:endParaRPr lang="en-US" sz="1600" dirty="0"/>
          </a:p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0F172A"/>
                </a:solidFill>
              </a:rPr>
              <a:t>Not done: load, security and user-acceptance testing.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A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Challenges and corrective actions</a:t>
            </a:r>
            <a:endParaRPr lang="en-US" sz="3200" dirty="0"/>
          </a:p>
        </p:txBody>
      </p:sp>
      <p:sp>
        <p:nvSpPr>
          <p:cNvPr id="4" name="Challenge card 1"/>
          <p:cNvSpPr/>
          <p:nvPr/>
        </p:nvSpPr>
        <p:spPr>
          <a:xfrm>
            <a:off x="548640" y="1371600"/>
            <a:ext cx="3566160" cy="2057400"/>
          </a:xfrm>
          <a:prstGeom prst="roundRect">
            <a:avLst>
              <a:gd name="adj" fmla="val 3556"/>
            </a:avLst>
          </a:prstGeom>
          <a:solidFill>
            <a:srgbClr val="F6F8FB"/>
          </a:solidFill>
          <a:ln w="9525">
            <a:solidFill>
              <a:srgbClr val="D5DCE6"/>
            </a:solidFill>
            <a:prstDash val="solid"/>
          </a:ln>
        </p:spPr>
        <p:txBody>
          <a:bodyPr/>
          <a:p/>
        </p:txBody>
      </p:sp>
      <p:sp>
        <p:nvSpPr>
          <p:cNvPr id="5" name="icon circle"/>
          <p:cNvSpPr/>
          <p:nvPr/>
        </p:nvSpPr>
        <p:spPr>
          <a:xfrm>
            <a:off x="777240" y="1600200"/>
            <a:ext cx="548640" cy="548640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  <p:txBody>
          <a:bodyPr/>
          <a:p/>
        </p:txBody>
      </p:sp>
      <p:pic>
        <p:nvPicPr>
          <p:cNvPr id="6" name="Image 0" descr="ic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6968" y="1709928"/>
            <a:ext cx="329184" cy="329184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463040" y="155448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</a:rPr>
              <a:t>Noise swamps the model</a:t>
            </a:r>
            <a:endParaRPr lang="en-US" sz="1500" dirty="0"/>
          </a:p>
        </p:txBody>
      </p:sp>
      <p:sp>
        <p:nvSpPr>
          <p:cNvPr id="8" name="Text 4"/>
          <p:cNvSpPr txBox="1"/>
          <p:nvPr/>
        </p:nvSpPr>
        <p:spPr>
          <a:xfrm>
            <a:off x="777240" y="2240280"/>
            <a:ext cx="31089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475569"/>
                </a:solidFill>
              </a:rPr>
              <a:t>At sigma 3 perplexity is 142 +/- 28 against 32 for a uniform model; accuracy about 4 %.</a:t>
            </a:r>
            <a:endParaRPr lang="en-US" sz="1400" dirty="0"/>
          </a:p>
        </p:txBody>
      </p:sp>
      <p:sp>
        <p:nvSpPr>
          <p:cNvPr id="9" name="Challenge card 2"/>
          <p:cNvSpPr/>
          <p:nvPr/>
        </p:nvSpPr>
        <p:spPr>
          <a:xfrm>
            <a:off x="4297680" y="1371600"/>
            <a:ext cx="3566160" cy="2057400"/>
          </a:xfrm>
          <a:prstGeom prst="roundRect">
            <a:avLst>
              <a:gd name="adj" fmla="val 3556"/>
            </a:avLst>
          </a:prstGeom>
          <a:solidFill>
            <a:srgbClr val="F6F8FB"/>
          </a:solidFill>
          <a:ln w="9525">
            <a:solidFill>
              <a:srgbClr val="D5DCE6"/>
            </a:solidFill>
            <a:prstDash val="solid"/>
          </a:ln>
        </p:spPr>
        <p:txBody>
          <a:bodyPr/>
          <a:p/>
        </p:txBody>
      </p:sp>
      <p:sp>
        <p:nvSpPr>
          <p:cNvPr id="10" name="icon circle"/>
          <p:cNvSpPr/>
          <p:nvPr/>
        </p:nvSpPr>
        <p:spPr>
          <a:xfrm>
            <a:off x="4526280" y="1600200"/>
            <a:ext cx="548640" cy="548640"/>
          </a:xfrm>
          <a:prstGeom prst="ellipse">
            <a:avLst/>
          </a:prstGeom>
          <a:solidFill>
            <a:srgbClr val="EDA100"/>
          </a:solidFill>
          <a:ln w="12700">
            <a:solidFill>
              <a:srgbClr val="EDA100"/>
            </a:solidFill>
            <a:prstDash val="solid"/>
          </a:ln>
        </p:spPr>
        <p:txBody>
          <a:bodyPr/>
          <a:p/>
        </p:txBody>
      </p:sp>
      <p:pic>
        <p:nvPicPr>
          <p:cNvPr id="11" name="Image 1" descr="ic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36008" y="1709928"/>
            <a:ext cx="329184" cy="329184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5212080" y="155448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</a:rPr>
              <a:t>Certificate is an identity</a:t>
            </a:r>
            <a:endParaRPr lang="en-US" sz="1500" dirty="0"/>
          </a:p>
        </p:txBody>
      </p:sp>
      <p:sp>
        <p:nvSpPr>
          <p:cNvPr id="13" name="Text 8"/>
          <p:cNvSpPr txBox="1"/>
          <p:nvPr/>
        </p:nvSpPr>
        <p:spPr>
          <a:xfrm>
            <a:off x="4526280" y="2240280"/>
            <a:ext cx="31089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475569"/>
                </a:solidFill>
              </a:rPr>
              <a:t>The reference re-uses the stored noise (L2 about 1e-14). A fresh-noise retrain study: 875 versus 881.</a:t>
            </a:r>
            <a:endParaRPr lang="en-US" sz="1400" dirty="0"/>
          </a:p>
        </p:txBody>
      </p:sp>
      <p:sp>
        <p:nvSpPr>
          <p:cNvPr id="14" name="Challenge card 3"/>
          <p:cNvSpPr/>
          <p:nvPr/>
        </p:nvSpPr>
        <p:spPr>
          <a:xfrm>
            <a:off x="8046720" y="1371600"/>
            <a:ext cx="3566160" cy="2057400"/>
          </a:xfrm>
          <a:prstGeom prst="roundRect">
            <a:avLst>
              <a:gd name="adj" fmla="val 3556"/>
            </a:avLst>
          </a:prstGeom>
          <a:solidFill>
            <a:srgbClr val="F6F8FB"/>
          </a:solidFill>
          <a:ln w="9525">
            <a:solidFill>
              <a:srgbClr val="D5DCE6"/>
            </a:solidFill>
            <a:prstDash val="solid"/>
          </a:ln>
        </p:spPr>
        <p:txBody>
          <a:bodyPr/>
          <a:p/>
        </p:txBody>
      </p:sp>
      <p:sp>
        <p:nvSpPr>
          <p:cNvPr id="15" name="icon circle"/>
          <p:cNvSpPr/>
          <p:nvPr/>
        </p:nvSpPr>
        <p:spPr>
          <a:xfrm>
            <a:off x="8275320" y="1600200"/>
            <a:ext cx="548640" cy="548640"/>
          </a:xfrm>
          <a:prstGeom prst="ellipse">
            <a:avLst/>
          </a:prstGeom>
          <a:solidFill>
            <a:srgbClr val="6250D6"/>
          </a:solidFill>
          <a:ln w="12700">
            <a:solidFill>
              <a:srgbClr val="6250D6"/>
            </a:solidFill>
            <a:prstDash val="solid"/>
          </a:ln>
        </p:spPr>
        <p:txBody>
          <a:bodyPr/>
          <a:p/>
        </p:txBody>
      </p:sp>
      <p:pic>
        <p:nvPicPr>
          <p:cNvPr id="16" name="Image 2" descr="ico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5048" y="1709928"/>
            <a:ext cx="329184" cy="329184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8961120" y="155448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</a:rPr>
              <a:t>Epsilon outside classical range</a:t>
            </a:r>
            <a:endParaRPr lang="en-US" sz="1500" dirty="0"/>
          </a:p>
        </p:txBody>
      </p:sp>
      <p:sp>
        <p:nvSpPr>
          <p:cNvPr id="18" name="Text 12"/>
          <p:cNvSpPr txBox="1"/>
          <p:nvPr/>
        </p:nvSpPr>
        <p:spPr>
          <a:xfrm>
            <a:off x="8275320" y="2240280"/>
            <a:ext cx="31089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475569"/>
                </a:solidFill>
              </a:rPr>
              <a:t>Reported epsilon 1.61 exceeds 1; the bound needs sigma above 4.845. Useful models need sigma 0.1 or less (epsilon 48 or more).</a:t>
            </a:r>
            <a:endParaRPr lang="en-US" sz="1400" dirty="0"/>
          </a:p>
        </p:txBody>
      </p:sp>
      <p:sp>
        <p:nvSpPr>
          <p:cNvPr id="19" name="Challenge card 4"/>
          <p:cNvSpPr/>
          <p:nvPr/>
        </p:nvSpPr>
        <p:spPr>
          <a:xfrm>
            <a:off x="548640" y="3611880"/>
            <a:ext cx="3566160" cy="2057400"/>
          </a:xfrm>
          <a:prstGeom prst="roundRect">
            <a:avLst>
              <a:gd name="adj" fmla="val 3556"/>
            </a:avLst>
          </a:prstGeom>
          <a:solidFill>
            <a:srgbClr val="F6F8FB"/>
          </a:solidFill>
          <a:ln w="9525">
            <a:solidFill>
              <a:srgbClr val="D5DCE6"/>
            </a:solidFill>
            <a:prstDash val="solid"/>
          </a:ln>
        </p:spPr>
        <p:txBody>
          <a:bodyPr/>
          <a:p/>
        </p:txBody>
      </p:sp>
      <p:sp>
        <p:nvSpPr>
          <p:cNvPr id="20" name="icon circle"/>
          <p:cNvSpPr/>
          <p:nvPr/>
        </p:nvSpPr>
        <p:spPr>
          <a:xfrm>
            <a:off x="777240" y="3840480"/>
            <a:ext cx="548640" cy="548640"/>
          </a:xfrm>
          <a:prstGeom prst="ellipse">
            <a:avLst/>
          </a:prstGeom>
          <a:solidFill>
            <a:srgbClr val="1B2A41"/>
          </a:solidFill>
          <a:ln w="12700">
            <a:solidFill>
              <a:srgbClr val="1B2A41"/>
            </a:solidFill>
            <a:prstDash val="solid"/>
          </a:ln>
        </p:spPr>
        <p:txBody>
          <a:bodyPr/>
          <a:p/>
        </p:txBody>
      </p:sp>
      <p:pic>
        <p:nvPicPr>
          <p:cNvPr id="21" name="Image 3" descr="ico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6968" y="3950208"/>
            <a:ext cx="329184" cy="329184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1463040" y="379476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</a:rPr>
              <a:t>Attack has no signal</a:t>
            </a:r>
            <a:endParaRPr lang="en-US" sz="1500" dirty="0"/>
          </a:p>
        </p:txBody>
      </p:sp>
      <p:sp>
        <p:nvSpPr>
          <p:cNvPr id="23" name="Text 16"/>
          <p:cNvSpPr txBox="1"/>
          <p:nvPr/>
        </p:nvSpPr>
        <p:spPr>
          <a:xfrm>
            <a:off x="777240" y="4480560"/>
            <a:ext cx="31089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475569"/>
                </a:solidFill>
              </a:rPr>
              <a:t>AUC 0.52 +/- 0.22 before removal at the default noise; 0.99 to 0.54 without noise.</a:t>
            </a:r>
            <a:endParaRPr lang="en-US" sz="1400" dirty="0"/>
          </a:p>
        </p:txBody>
      </p:sp>
      <p:sp>
        <p:nvSpPr>
          <p:cNvPr id="24" name="Challenge card 5"/>
          <p:cNvSpPr/>
          <p:nvPr/>
        </p:nvSpPr>
        <p:spPr>
          <a:xfrm>
            <a:off x="4297680" y="3611880"/>
            <a:ext cx="3566160" cy="2057400"/>
          </a:xfrm>
          <a:prstGeom prst="roundRect">
            <a:avLst>
              <a:gd name="adj" fmla="val 3556"/>
            </a:avLst>
          </a:prstGeom>
          <a:solidFill>
            <a:srgbClr val="F6F8FB"/>
          </a:solidFill>
          <a:ln w="9525">
            <a:solidFill>
              <a:srgbClr val="D5DCE6"/>
            </a:solidFill>
            <a:prstDash val="solid"/>
          </a:ln>
        </p:spPr>
        <p:txBody>
          <a:bodyPr/>
          <a:p/>
        </p:txBody>
      </p:sp>
      <p:sp>
        <p:nvSpPr>
          <p:cNvPr id="25" name="icon circle"/>
          <p:cNvSpPr/>
          <p:nvPr/>
        </p:nvSpPr>
        <p:spPr>
          <a:xfrm>
            <a:off x="4526280" y="3840480"/>
            <a:ext cx="548640" cy="54864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1BAF7A"/>
            </a:solidFill>
            <a:prstDash val="solid"/>
          </a:ln>
        </p:spPr>
        <p:txBody>
          <a:bodyPr/>
          <a:p/>
        </p:txBody>
      </p:sp>
      <p:pic>
        <p:nvPicPr>
          <p:cNvPr id="26" name="Image 4" descr="ic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36008" y="3950208"/>
            <a:ext cx="329184" cy="329184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5212080" y="379476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</a:rPr>
              <a:t>Ledger is tamper-evident only</a:t>
            </a:r>
            <a:endParaRPr lang="en-US" sz="1500" dirty="0"/>
          </a:p>
        </p:txBody>
      </p:sp>
      <p:sp>
        <p:nvSpPr>
          <p:cNvPr id="28" name="Text 20"/>
          <p:cNvSpPr txBox="1"/>
          <p:nvPr/>
        </p:nvSpPr>
        <p:spPr>
          <a:xfrm>
            <a:off x="4526280" y="4480560"/>
            <a:ext cx="31089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475569"/>
                </a:solidFill>
              </a:rPr>
              <a:t>4 of 7 attacks detected; truncation, re-hash forgery and forged append are not (no signature).</a:t>
            </a:r>
            <a:endParaRPr lang="en-US" sz="1400" dirty="0"/>
          </a:p>
        </p:txBody>
      </p:sp>
      <p:sp>
        <p:nvSpPr>
          <p:cNvPr id="29" name="Challenge card 6"/>
          <p:cNvSpPr/>
          <p:nvPr/>
        </p:nvSpPr>
        <p:spPr>
          <a:xfrm>
            <a:off x="8046720" y="3611880"/>
            <a:ext cx="3566160" cy="2057400"/>
          </a:xfrm>
          <a:prstGeom prst="roundRect">
            <a:avLst>
              <a:gd name="adj" fmla="val 3556"/>
            </a:avLst>
          </a:prstGeom>
          <a:solidFill>
            <a:srgbClr val="F6F8FB"/>
          </a:solidFill>
          <a:ln w="9525">
            <a:solidFill>
              <a:srgbClr val="D5DCE6"/>
            </a:solidFill>
            <a:prstDash val="solid"/>
          </a:ln>
        </p:spPr>
        <p:txBody>
          <a:bodyPr/>
          <a:p/>
        </p:txBody>
      </p:sp>
      <p:sp>
        <p:nvSpPr>
          <p:cNvPr id="30" name="icon circle"/>
          <p:cNvSpPr/>
          <p:nvPr/>
        </p:nvSpPr>
        <p:spPr>
          <a:xfrm>
            <a:off x="8275320" y="3840480"/>
            <a:ext cx="548640" cy="54864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  <p:txBody>
          <a:bodyPr/>
          <a:p/>
        </p:txBody>
      </p:sp>
      <p:pic>
        <p:nvPicPr>
          <p:cNvPr id="31" name="Image 5" descr="icon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85048" y="3950208"/>
            <a:ext cx="329184" cy="329184"/>
          </a:xfrm>
          <a:prstGeom prst="rect">
            <a:avLst/>
          </a:prstGeom>
        </p:spPr>
      </p:pic>
      <p:sp>
        <p:nvSpPr>
          <p:cNvPr id="32" name="Text 23"/>
          <p:cNvSpPr txBox="1"/>
          <p:nvPr/>
        </p:nvSpPr>
        <p:spPr>
          <a:xfrm>
            <a:off x="8961120" y="379476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</a:rPr>
              <a:t>API robustness</a:t>
            </a:r>
            <a:endParaRPr lang="en-US" sz="1500" dirty="0"/>
          </a:p>
        </p:txBody>
      </p:sp>
      <p:sp>
        <p:nvSpPr>
          <p:cNvPr id="33" name="Text 24"/>
          <p:cNvSpPr txBox="1"/>
          <p:nvPr/>
        </p:nvSpPr>
        <p:spPr>
          <a:xfrm>
            <a:off x="8275320" y="4480560"/>
            <a:ext cx="31089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475569"/>
                </a:solidFill>
              </a:rPr>
              <a:t>Oversized body aborts the connection; PUT gives an HTML 501 page; no authentication on any route.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A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Next steps</a:t>
            </a:r>
            <a:endParaRPr lang="en-US" sz="3200" dirty="0"/>
          </a:p>
        </p:txBody>
      </p:sp>
      <p:sp>
        <p:nvSpPr>
          <p:cNvPr id="4" name="flow step 1"/>
          <p:cNvSpPr/>
          <p:nvPr/>
        </p:nvSpPr>
        <p:spPr>
          <a:xfrm>
            <a:off x="548640" y="1645920"/>
            <a:ext cx="2533574" cy="1371600"/>
          </a:xfrm>
          <a:prstGeom prst="roundRect">
            <a:avLst>
              <a:gd name="adj" fmla="val 5333"/>
            </a:avLst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  <p:txBody>
          <a:bodyPr/>
          <a:p/>
        </p:txBody>
      </p:sp>
      <p:sp>
        <p:nvSpPr>
          <p:cNvPr id="5" name="Text 2"/>
          <p:cNvSpPr txBox="1"/>
          <p:nvPr/>
        </p:nvSpPr>
        <p:spPr>
          <a:xfrm>
            <a:off x="621792" y="1645920"/>
            <a:ext cx="238727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Honest certificate</a:t>
            </a:r>
            <a:endParaRPr lang="en-US" sz="1600" dirty="0"/>
          </a:p>
        </p:txBody>
      </p:sp>
      <p:sp>
        <p:nvSpPr>
          <p:cNvPr id="6" name="arrow"/>
          <p:cNvSpPr/>
          <p:nvPr/>
        </p:nvSpPr>
        <p:spPr>
          <a:xfrm>
            <a:off x="3127934" y="2212848"/>
            <a:ext cx="228600" cy="237744"/>
          </a:xfrm>
          <a:prstGeom prst="rightArrow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  <p:txBody>
          <a:bodyPr/>
          <a:p/>
        </p:txBody>
      </p:sp>
      <p:sp>
        <p:nvSpPr>
          <p:cNvPr id="7" name="flow step 2"/>
          <p:cNvSpPr/>
          <p:nvPr/>
        </p:nvSpPr>
        <p:spPr>
          <a:xfrm>
            <a:off x="3402254" y="1645920"/>
            <a:ext cx="2533574" cy="1371600"/>
          </a:xfrm>
          <a:prstGeom prst="roundRect">
            <a:avLst>
              <a:gd name="adj" fmla="val 5333"/>
            </a:avLst>
          </a:prstGeom>
          <a:solidFill>
            <a:srgbClr val="6250D6"/>
          </a:solidFill>
          <a:ln w="12700">
            <a:solidFill>
              <a:srgbClr val="6250D6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 txBox="1"/>
          <p:nvPr/>
        </p:nvSpPr>
        <p:spPr>
          <a:xfrm>
            <a:off x="3475406" y="1645920"/>
            <a:ext cx="238727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Privacy accounting</a:t>
            </a:r>
            <a:endParaRPr lang="en-US" sz="1600" dirty="0"/>
          </a:p>
        </p:txBody>
      </p:sp>
      <p:sp>
        <p:nvSpPr>
          <p:cNvPr id="9" name="arrow"/>
          <p:cNvSpPr/>
          <p:nvPr/>
        </p:nvSpPr>
        <p:spPr>
          <a:xfrm>
            <a:off x="5981548" y="2212848"/>
            <a:ext cx="228600" cy="237744"/>
          </a:xfrm>
          <a:prstGeom prst="rightArrow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  <p:txBody>
          <a:bodyPr/>
          <a:p/>
        </p:txBody>
      </p:sp>
      <p:sp>
        <p:nvSpPr>
          <p:cNvPr id="10" name="flow step 3"/>
          <p:cNvSpPr/>
          <p:nvPr/>
        </p:nvSpPr>
        <p:spPr>
          <a:xfrm>
            <a:off x="6255868" y="1645920"/>
            <a:ext cx="2533574" cy="1371600"/>
          </a:xfrm>
          <a:prstGeom prst="roundRect">
            <a:avLst>
              <a:gd name="adj" fmla="val 5333"/>
            </a:avLst>
          </a:prstGeom>
          <a:solidFill>
            <a:srgbClr val="1BAF7A"/>
          </a:solidFill>
          <a:ln w="12700">
            <a:solidFill>
              <a:srgbClr val="1BAF7A"/>
            </a:solidFill>
            <a:prstDash val="solid"/>
          </a:ln>
        </p:spPr>
        <p:txBody>
          <a:bodyPr/>
          <a:p/>
        </p:txBody>
      </p:sp>
      <p:sp>
        <p:nvSpPr>
          <p:cNvPr id="11" name="Text 8"/>
          <p:cNvSpPr txBox="1"/>
          <p:nvPr/>
        </p:nvSpPr>
        <p:spPr>
          <a:xfrm>
            <a:off x="6329020" y="1645920"/>
            <a:ext cx="238727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Harden ledger and API</a:t>
            </a:r>
            <a:endParaRPr lang="en-US" sz="1600" dirty="0"/>
          </a:p>
        </p:txBody>
      </p:sp>
      <p:sp>
        <p:nvSpPr>
          <p:cNvPr id="12" name="arrow"/>
          <p:cNvSpPr/>
          <p:nvPr/>
        </p:nvSpPr>
        <p:spPr>
          <a:xfrm>
            <a:off x="8835161" y="2212848"/>
            <a:ext cx="228600" cy="237744"/>
          </a:xfrm>
          <a:prstGeom prst="rightArrow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  <p:txBody>
          <a:bodyPr/>
          <a:p/>
        </p:txBody>
      </p:sp>
      <p:sp>
        <p:nvSpPr>
          <p:cNvPr id="13" name="flow step 4"/>
          <p:cNvSpPr/>
          <p:nvPr/>
        </p:nvSpPr>
        <p:spPr>
          <a:xfrm>
            <a:off x="9109481" y="1645920"/>
            <a:ext cx="2533574" cy="1371600"/>
          </a:xfrm>
          <a:prstGeom prst="roundRect">
            <a:avLst>
              <a:gd name="adj" fmla="val 5333"/>
            </a:avLst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 txBox="1"/>
          <p:nvPr/>
        </p:nvSpPr>
        <p:spPr>
          <a:xfrm>
            <a:off x="9182633" y="1645920"/>
            <a:ext cx="238727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Report and demo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548640" y="3566160"/>
            <a:ext cx="11094415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0F172A"/>
                </a:solidFill>
              </a:rPr>
              <a:t>Report an independent fresh-noise retrain comparison in the certificate next to the same-noise recomputation.</a:t>
            </a:r>
            <a:endParaRPr lang="en-US" sz="1600" dirty="0"/>
          </a:p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0F172A"/>
                </a:solidFill>
              </a:rPr>
              <a:t>Add a privacy accountant, account for or re-draw the noise after unlearning, and use a calibrated Gaussian bound that is valid for epsilon above 1 [19].</a:t>
            </a:r>
            <a:endParaRPr lang="en-US" sz="1600" dirty="0"/>
          </a:p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0F172A"/>
                </a:solidFill>
              </a:rPr>
              <a:t>Sign or anchor ledger records, authenticate requests and return a clean 400 for oversized bodies.</a:t>
            </a:r>
            <a:endParaRPr lang="en-US" sz="1600" dirty="0"/>
          </a:p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0F172A"/>
                </a:solidFill>
              </a:rPr>
              <a:t>Complete the final report and demonstration; a LoRA adapter on a small LLM remains future work.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194560"/>
            <a:ext cx="110944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474720"/>
            <a:ext cx="1109441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and suggestions are welcome.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ADCFC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ForgetSafe">
  <a:themeElements>
    <a:clrScheme name="ForgetSafe">
      <a:dk1>
        <a:srgbClr val="0F172A"/>
      </a:dk1>
      <a:lt1>
        <a:srgbClr val="FFFFFF"/>
      </a:lt1>
      <a:dk2>
        <a:srgbClr val="1B2A41"/>
      </a:dk2>
      <a:lt2>
        <a:srgbClr val="EEF2F7"/>
      </a:lt2>
      <a:accent1>
        <a:srgbClr val="2A78D6"/>
      </a:accent1>
      <a:accent2>
        <a:srgbClr val="EB6834"/>
      </a:accent2>
      <a:accent3>
        <a:srgbClr val="1BAF7A"/>
      </a:accent3>
      <a:accent4>
        <a:srgbClr val="EDA100"/>
      </a:accent4>
      <a:accent5>
        <a:srgbClr val="6250D6"/>
      </a:accent5>
      <a:accent6>
        <a:srgbClr val="E34948"/>
      </a:accent6>
      <a:hlink>
        <a:srgbClr val="2A78D6"/>
      </a:hlink>
      <a:folHlink>
        <a:srgbClr val="6250D6"/>
      </a:folHlink>
    </a:clrScheme>
    <a:fontScheme name="ForgetSaf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ForgetSafe: Review 2</dc:title>
  <dc:subject>Privacy-Preserving Machine Unlearning in Federated LLMs: A Certified Right-to-Be-Forgotten Framework</dc:subject>
  <dc:creator>Batch A9</dc:creator>
  <cp:lastModifiedBy>Batch A9</cp:lastModifiedBy>
  <cp:revision>1</cp:revision>
  <dcterms:created xsi:type="dcterms:W3CDTF">2026-10-13T12:40:05Z</dcterms:created>
  <dcterms:modified xsi:type="dcterms:W3CDTF">2026-10-13T12:40:05Z</dcterms:modified>
  <cp:keywords>federated unlearning, differential privacy, membership inference, audit ledger</cp:keywords>
  <cp:category/>
  <dc:description/>
  <cp:contentStatus/>
</cp:coreProperties>
</file>