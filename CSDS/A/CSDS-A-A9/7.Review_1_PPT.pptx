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f0aec94-eb0f-294a-de05-1614c3997827}">
          <p14:sldIdLst>
            <p14:sldId id="256"/>
            <p14:sldId id="257"/>
            <p14:sldId id="258"/>
          </p14:sldIdLst>
        </p14:section>
        <p14:section name="Research" id="{c5b655bf-1c78-45d9-2d43-c8947840fc05}">
          <p14:sldIdLst>
            <p14:sldId id="259"/>
            <p14:sldId id="260"/>
            <p14:sldId id="261"/>
          </p14:sldIdLst>
        </p14:section>
        <p14:section name="Problem" id="{c83c02f1-f6cc-56f3-d67e-57d82ce85a28}">
          <p14:sldIdLst>
            <p14:sldId id="262"/>
            <p14:sldId id="263"/>
            <p14:sldId id="264"/>
            <p14:sldId id="265"/>
            <p14:sldId id="266"/>
          </p14:sldIdLst>
        </p14:section>
        <p14:section name="Proposed solution" id="{0d7ed7fb-f0c3-288f-402c-2a68d644f815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r>
              <a:rPr sz="1300" b="1"/>
              <a:t>Loss-based membership attack AUC on a client's own sentences (0.5 = chance)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Membership AUC</c:v>
                </c:pt>
              </c:strCache>
            </c:strRef>
          </c:tx>
          <c:spPr>
            <a:solidFill>
              <a:srgbClr val="5B5BD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56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No noise, before removal</c:v>
                </c:pt>
                <c:pt idx="1">
                  <c:v>No noise, after removal</c:v>
                </c:pt>
                <c:pt idx="2">
                  <c:v>Default noise, before removal</c:v>
                </c:pt>
                <c:pt idx="3">
                  <c:v>Default noise, after removal</c:v>
                </c:pt>
              </c:strCache>
            </c:strRef>
          </c:cat>
          <c:val>
            <c:numRef>
              <c:f>Sheet1!$B$2:$B$5</c:f>
              <c:numCache>
                <c:formatCode>0.000</c:formatCode>
                <c:ptCount val="4"/>
                <c:pt idx="0">
                  <c:v>0.992</c:v>
                </c:pt>
                <c:pt idx="1">
                  <c:v>0.544</c:v>
                </c:pt>
                <c:pt idx="2">
                  <c:v>0.524</c:v>
                </c:pt>
                <c:pt idx="3">
                  <c:v>0.495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47556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.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r>
                  <a:rPr sz="1000" b="0"/>
                  <a:t>AUC</a:t>
                </a:r>
              </a:p>
            </c:rich>
          </c:tx>
          <c:layout/>
          <c:overlay val="0"/>
        </c:title>
        <c:numFmt formatCode="0.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Review 1 covers problem identification and research for ForgetSafe, a demonstrator of certified client-level unlearning for federated language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Nine parts: abstract, base paper, literature survey, existing approaches and limitations, research gap, problem statement and objectives, proposed approach and architecture, expected outcomes and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problem, the idea and the deliverable. The prototype is a demonstrator on a small proxy model; the later reviews report what it does and does not 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base paper recorded in the batch files is a sign-language survey. Its subject is unrelated, so only its review method is adopted. The technical comparison in the later reviews is qualitative against [2] to [4].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Entries [1] to [4] and [7] were read or verified online. Entries [5], [6] and [8] come from the batch literature survey and could not be found, so only their titles are used. The results shown for [2] to [4] are taken from their abstracts and are on other tasks, so they are not comparable with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No-noise = noise multiplier 1e-6, five clients, one removal each. Default noise = sigma 3, mean over 50 seeds x 5 clients (250 requests). Both come from experiments/noise_free_leakage and experiments/seeds.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four existing approaches listed in the batch literature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Limitations as stated in the batch literature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gap is the one stated in the batch survey: certified, auditable unlearning designed for federated LLM pipelines remains an open problem. The audit and utility rows restate the survey's limitation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Inputs, outputs and the extra property: every request is recorded in a tamper-evident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six objectives of the batch file. Each is measured against the outcome in the later reviews and the final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approach in five blocks. The proxy model can later be replaced by a LoRA adapter tensor without changing the verification and audit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Browser to React to the Python API; the engine trains, unlearns and verifies; every event is appended to the JSONL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Expected outcomes are targets at this stage; what was actually achieved, including the shortfalls, is reported in the later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References [1] to [10] in short form; the full IEEE list is in the report. [5], [6] and [8] are listed in the batch survey but could not be retrieved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you. Questions are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ForgetSafe  ·  Review 1  ·  Batch A9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ForgetSafe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Machine Unlearning in Federated LLMs: A Certified Right-to-Be-Forgotten Framework</a:t>
            </a:r>
            <a:endParaRPr lang="en-US" sz="1800" dirty="0"/>
          </a:p>
        </p:txBody>
      </p:sp>
      <p:sp>
        <p:nvSpPr>
          <p:cNvPr id="4" name="review label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DA100"/>
                </a:solidFill>
              </a:rPr>
              <a:t>REVIEW 1  ·  PROBLEM IDENTIFICATION AND RESEARCH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60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Presented by</a:t>
            </a:r>
            <a:endParaRPr lang="en-US" sz="1400" dirty="0"/>
          </a:p>
        </p:txBody>
      </p:sp>
      <p:sp>
        <p:nvSpPr>
          <p:cNvPr id="6" name="team"/>
          <p:cNvSpPr txBox="1"/>
          <p:nvPr/>
        </p:nvSpPr>
        <p:spPr>
          <a:xfrm>
            <a:off x="548640" y="4480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G.SHASHANK  23K91A6761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B.SATHISH  23K91A6719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G.RAKESH  23K91A6759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B.AKHIL  23K91A6721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4160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Under the guidance of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4480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[GUIDE NAME], [DESIGNATION]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49834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Department of Computer Science and Engineering (Data Science)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[COLLEGE NAME]  ·  Batch A9 (CSE-DS, Section A)  ·  [ACADEMIC YEAR]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3200" dirty="0"/>
          </a:p>
        </p:txBody>
      </p:sp>
      <p:sp>
        <p:nvSpPr>
          <p:cNvPr id="4" name="agenda 1"/>
          <p:cNvSpPr/>
          <p:nvPr/>
        </p:nvSpPr>
        <p:spPr>
          <a:xfrm>
            <a:off x="548640" y="141732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77724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75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Abstract and overview</a:t>
            </a:r>
            <a:endParaRPr lang="en-US" sz="1600" dirty="0"/>
          </a:p>
        </p:txBody>
      </p:sp>
      <p:sp>
        <p:nvSpPr>
          <p:cNvPr id="7" name="agenda 2"/>
          <p:cNvSpPr/>
          <p:nvPr/>
        </p:nvSpPr>
        <p:spPr>
          <a:xfrm>
            <a:off x="4297680" y="141732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5262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075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Base paper</a:t>
            </a:r>
            <a:endParaRPr lang="en-US" sz="1600" dirty="0"/>
          </a:p>
        </p:txBody>
      </p:sp>
      <p:sp>
        <p:nvSpPr>
          <p:cNvPr id="10" name="agenda 3"/>
          <p:cNvSpPr/>
          <p:nvPr/>
        </p:nvSpPr>
        <p:spPr>
          <a:xfrm>
            <a:off x="8046720" y="141732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827532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075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Literature survey</a:t>
            </a:r>
            <a:endParaRPr lang="en-US" sz="1600" dirty="0"/>
          </a:p>
        </p:txBody>
      </p:sp>
      <p:sp>
        <p:nvSpPr>
          <p:cNvPr id="13" name="agenda 4"/>
          <p:cNvSpPr/>
          <p:nvPr/>
        </p:nvSpPr>
        <p:spPr>
          <a:xfrm>
            <a:off x="548640" y="297180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777240" y="3154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6301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Existing approaches and limitations</a:t>
            </a:r>
            <a:endParaRPr lang="en-US" sz="1600" dirty="0"/>
          </a:p>
        </p:txBody>
      </p:sp>
      <p:sp>
        <p:nvSpPr>
          <p:cNvPr id="16" name="agenda 5"/>
          <p:cNvSpPr/>
          <p:nvPr/>
        </p:nvSpPr>
        <p:spPr>
          <a:xfrm>
            <a:off x="4297680" y="297180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4526280" y="3154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526280" y="36301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Research gap</a:t>
            </a:r>
            <a:endParaRPr lang="en-US" sz="1600" dirty="0"/>
          </a:p>
        </p:txBody>
      </p:sp>
      <p:sp>
        <p:nvSpPr>
          <p:cNvPr id="19" name="agenda 6"/>
          <p:cNvSpPr/>
          <p:nvPr/>
        </p:nvSpPr>
        <p:spPr>
          <a:xfrm>
            <a:off x="8046720" y="297180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8275320" y="3154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36301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Problem statement and objectives</a:t>
            </a:r>
            <a:endParaRPr lang="en-US" sz="1600" dirty="0"/>
          </a:p>
        </p:txBody>
      </p:sp>
      <p:sp>
        <p:nvSpPr>
          <p:cNvPr id="22" name="agenda 7"/>
          <p:cNvSpPr/>
          <p:nvPr/>
        </p:nvSpPr>
        <p:spPr>
          <a:xfrm>
            <a:off x="548640" y="452628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5184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Proposed approach and architecture</a:t>
            </a:r>
            <a:endParaRPr lang="en-US" sz="1600" dirty="0"/>
          </a:p>
        </p:txBody>
      </p:sp>
      <p:sp>
        <p:nvSpPr>
          <p:cNvPr id="25" name="agenda 8"/>
          <p:cNvSpPr/>
          <p:nvPr/>
        </p:nvSpPr>
        <p:spPr>
          <a:xfrm>
            <a:off x="4297680" y="452628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4526280" y="4709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4526280" y="5184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Expected outcomes</a:t>
            </a:r>
            <a:endParaRPr lang="en-US" sz="1600" dirty="0"/>
          </a:p>
        </p:txBody>
      </p:sp>
      <p:sp>
        <p:nvSpPr>
          <p:cNvPr id="28" name="agenda 9"/>
          <p:cNvSpPr/>
          <p:nvPr/>
        </p:nvSpPr>
        <p:spPr>
          <a:xfrm>
            <a:off x="8046720" y="452628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8275320" y="4709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5184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References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Abstract: removing a client without retraining</a:t>
            </a:r>
            <a:endParaRPr lang="en-US" sz="3200" dirty="0"/>
          </a:p>
        </p:txBody>
      </p:sp>
      <p:sp>
        <p:nvSpPr>
          <p:cNvPr id="4" name="The problem card"/>
          <p:cNvSpPr/>
          <p:nvPr/>
        </p:nvSpPr>
        <p:spPr>
          <a:xfrm>
            <a:off x="548640" y="137160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icon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pic>
        <p:nvPicPr>
          <p:cNvPr id="6" name="Image 0" descr="The probl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24028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A federated LLM keeps every client's influence in its shared parameters. The GDPR lets a user demand erasure, but retraining a large model for each request is impractical and heuristic unlearning gives no proof of forgetting.</a:t>
            </a:r>
            <a:endParaRPr lang="en-US" sz="1500" dirty="0"/>
          </a:p>
        </p:txBody>
      </p:sp>
      <p:sp>
        <p:nvSpPr>
          <p:cNvPr id="9" name="Our idea card"/>
          <p:cNvSpPr/>
          <p:nvPr/>
        </p:nvSpPr>
        <p:spPr>
          <a:xfrm>
            <a:off x="4297680" y="137160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icon circle"/>
          <p:cNvSpPr/>
          <p:nvPr/>
        </p:nvSpPr>
        <p:spPr>
          <a:xfrm>
            <a:off x="4526280" y="16002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Our id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70992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Our idea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526280" y="224028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Track each client's clipped update, subtract it on request, bound the noisy release with differential privacy, verify with a membership-inference test and a retained-only recomputation, and chain every request in a SHA-256 audit ledger.</a:t>
            </a:r>
            <a:endParaRPr lang="en-US" sz="1500" dirty="0"/>
          </a:p>
        </p:txBody>
      </p:sp>
      <p:sp>
        <p:nvSpPr>
          <p:cNvPr id="14" name="The deliverable card"/>
          <p:cNvSpPr/>
          <p:nvPr/>
        </p:nvSpPr>
        <p:spPr>
          <a:xfrm>
            <a:off x="8046720" y="137160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5" name="icon circle"/>
          <p:cNvSpPr/>
          <p:nvPr/>
        </p:nvSpPr>
        <p:spPr>
          <a:xfrm>
            <a:off x="8275320" y="1600200"/>
            <a:ext cx="548640" cy="5486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The deliver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709928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The deliverable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8275320" y="224028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ForgetSafe: a Python API (port 8109) and React UI (port 5109) that issue a certificate per request. It runs on a character-level proxy for an LLM adapter update, not on a real LLM.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paper</a:t>
            </a:r>
            <a:endParaRPr lang="en-US" sz="3200" dirty="0"/>
          </a:p>
        </p:txBody>
      </p:sp>
      <p:sp>
        <p:nvSpPr>
          <p:cNvPr id="4" name="citation box"/>
          <p:cNvSpPr/>
          <p:nvPr/>
        </p:nvSpPr>
        <p:spPr>
          <a:xfrm>
            <a:off x="548640" y="1325880"/>
            <a:ext cx="11094415" cy="960120"/>
          </a:xfrm>
          <a:prstGeom prst="roundRect">
            <a:avLst>
              <a:gd name="adj" fmla="val 571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777240" y="13716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</a:rPr>
              <a:t>A. Khan, S. Jin, G.-H. Lee, G. E. Arzu, L. M. Dang, T. N. Nguyen, W. Choi, and H. Moon, "Deep learning approaches for continuous sign language recognition: A comprehensive review," IEEE Access, vol. 13, pp. 55524-55544, 2025, doi: 10.1109/ACCESS.2025.3554046.</a:t>
            </a:r>
            <a:endParaRPr lang="en-US" sz="1400" dirty="0"/>
          </a:p>
        </p:txBody>
      </p:sp>
      <p:sp>
        <p:nvSpPr>
          <p:cNvPr id="6" name="Method card"/>
          <p:cNvSpPr/>
          <p:nvPr/>
        </p:nvSpPr>
        <p:spPr>
          <a:xfrm>
            <a:off x="548640" y="251460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26974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Method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8328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A review of deep-learning approaches to continuous sign-language recognition. It builds a taxonomy (sign language, data collection, input method, gesture signals, identification methods, datasets) and groups models by spatial, temporal and alignment approach.</a:t>
            </a:r>
            <a:endParaRPr lang="en-US" sz="1500" dirty="0"/>
          </a:p>
        </p:txBody>
      </p:sp>
      <p:sp>
        <p:nvSpPr>
          <p:cNvPr id="9" name="Data and reported results card"/>
          <p:cNvSpPr/>
          <p:nvPr/>
        </p:nvSpPr>
        <p:spPr>
          <a:xfrm>
            <a:off x="4297680" y="251460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526280" y="26974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Scope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338328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Compares the strengths and drawbacks of the approaches and names open gaps: real-time processing, diverse datasets and signer variability. It is a literature review; its subject differs from this project, so no result is compared with ours.</a:t>
            </a:r>
            <a:endParaRPr lang="en-US" sz="1500" dirty="0"/>
          </a:p>
        </p:txBody>
      </p:sp>
      <p:sp>
        <p:nvSpPr>
          <p:cNvPr id="12" name="Limitations stated by the authors card"/>
          <p:cNvSpPr/>
          <p:nvPr/>
        </p:nvSpPr>
        <p:spPr>
          <a:xfrm>
            <a:off x="8046720" y="251460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FDF1EC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8275320" y="26974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What this project adopts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38328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Only its review method: organise approaches into a taxonomy, compare strengths and limitations, state the gap. It is applied here to federated unlearning. Closest technical works: Wei et al., KDD 2026 [2] and Oblivionis [3].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566160"/>
                <a:gridCol w="2194560"/>
                <a:gridCol w="240761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Khan et al., 2025 (base paper) [1]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and taxonomy of deep-learning CSLR models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Sign-language 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Review; no unlearning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 et al., KDD 2026 [2]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FedMemPrune: prune parameters responsible for memorised data (Grouped Memorization Evaluation)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Federated benchmarks (see paper)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Closely matches retraining baselines; removes memorisation better than other FU methods (abstract)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Zhang et al., Oblivionis, 2025 [3]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Federated LLM learning and unlearning framework; 6 FL and 5 unlearning algorithms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fine-tuning tasks (see paper)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Balances forgetting and utility; outperforms local training (abstract)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Jiang et al., FedORA, 2025 [4]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Primal-dual unlearning for vertical FL with a bound to train-from-scratch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Tabular and image datasets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Effectiveness and utility comparable to retraining with less computation (abstract)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W. Zhang, DAML 2024 [7]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of FedEraser, FedCIO, FedRecovery, F2UL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versus cost trade-off; future work: metrics, efficiency, Non-IID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[5], [6], [8] in the batch survey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Federated graph audit; efficient FU; robustness of certified unlearning (titles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retrieved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independently verified; no claim made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evidence: influence stays in the parameters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keaway card"/>
          <p:cNvSpPr/>
          <p:nvPr/>
        </p:nvSpPr>
        <p:spPr>
          <a:xfrm>
            <a:off x="7589520" y="1371600"/>
            <a:ext cx="4050792" cy="2103120"/>
          </a:xfrm>
          <a:prstGeom prst="roundRect">
            <a:avLst>
              <a:gd name="adj" fmla="val 3478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6" name="icon circle"/>
          <p:cNvSpPr/>
          <p:nvPr/>
        </p:nvSpPr>
        <p:spPr>
          <a:xfrm>
            <a:off x="7818120" y="1600200"/>
            <a:ext cx="548640" cy="5486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pic>
        <p:nvPicPr>
          <p:cNvPr id="7" name="Image 0" descr="Takea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709928"/>
            <a:ext cx="329184" cy="32918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155448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Takeaway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7818120" y="2240280"/>
            <a:ext cx="3593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75569"/>
                </a:solidFill>
              </a:rPr>
              <a:t>With no DP noise, an attacker recognises a client's own sentences almost perfectly (AUC 0.99). Subtracting the tracked update brings it to 0.54. At the default noise the attack is already near chance (0.52).</a:t>
            </a:r>
            <a:endParaRPr lang="en-US" sz="1300" dirty="0"/>
          </a:p>
        </p:txBody>
      </p:sp>
      <p:sp>
        <p:nvSpPr>
          <p:cNvPr id="10" name="Caveat card"/>
          <p:cNvSpPr/>
          <p:nvPr/>
        </p:nvSpPr>
        <p:spPr>
          <a:xfrm>
            <a:off x="7589520" y="3657600"/>
            <a:ext cx="4050792" cy="2103120"/>
          </a:xfrm>
          <a:prstGeom prst="roundRect">
            <a:avLst>
              <a:gd name="adj" fmla="val 3478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1" name="icon circle"/>
          <p:cNvSpPr/>
          <p:nvPr/>
        </p:nvSpPr>
        <p:spPr>
          <a:xfrm>
            <a:off x="7818120" y="388620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Cav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3995928"/>
            <a:ext cx="329184" cy="32918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03920" y="384048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Caveat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7818120" y="4526280"/>
            <a:ext cx="3593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</a:rPr>
              <a:t>Our own early measurement on a 25-sentence proxy model. It shows that training leaves a measurable trace and that removal can erase it; it is not a field result. The literature [2]-[4], [7] motivates the problem.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system and current approaches</a:t>
            </a:r>
            <a:endParaRPr lang="en-US" sz="3200" dirty="0"/>
          </a:p>
        </p:txBody>
      </p:sp>
      <p:sp>
        <p:nvSpPr>
          <p:cNvPr id="4" name="flow step 1"/>
          <p:cNvSpPr/>
          <p:nvPr/>
        </p:nvSpPr>
        <p:spPr>
          <a:xfrm>
            <a:off x="548640" y="1645920"/>
            <a:ext cx="1582369" cy="1143000"/>
          </a:xfrm>
          <a:prstGeom prst="roundRect">
            <a:avLst>
              <a:gd name="adj" fmla="val 64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621792" y="1645920"/>
            <a:ext cx="143606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Client data joins federated training</a:t>
            </a:r>
            <a:endParaRPr lang="en-US" sz="1400" dirty="0"/>
          </a:p>
        </p:txBody>
      </p:sp>
      <p:sp>
        <p:nvSpPr>
          <p:cNvPr id="6" name="arrow"/>
          <p:cNvSpPr/>
          <p:nvPr/>
        </p:nvSpPr>
        <p:spPr>
          <a:xfrm>
            <a:off x="2176729" y="209854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7" name="flow step 2"/>
          <p:cNvSpPr/>
          <p:nvPr/>
        </p:nvSpPr>
        <p:spPr>
          <a:xfrm>
            <a:off x="2451049" y="1645920"/>
            <a:ext cx="1582369" cy="1143000"/>
          </a:xfrm>
          <a:prstGeom prst="roundRect">
            <a:avLst>
              <a:gd name="adj" fmla="val 64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524201" y="1645920"/>
            <a:ext cx="143606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Deletion request arrives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4079138" y="209854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0" name="flow step 3"/>
          <p:cNvSpPr/>
          <p:nvPr/>
        </p:nvSpPr>
        <p:spPr>
          <a:xfrm>
            <a:off x="4353458" y="1645920"/>
            <a:ext cx="1582369" cy="1143000"/>
          </a:xfrm>
          <a:prstGeom prst="roundRect">
            <a:avLst>
              <a:gd name="adj" fmla="val 64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4426610" y="1645920"/>
            <a:ext cx="143606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Retrain without the client</a:t>
            </a:r>
            <a:endParaRPr lang="en-US" sz="1400" dirty="0"/>
          </a:p>
        </p:txBody>
      </p:sp>
      <p:sp>
        <p:nvSpPr>
          <p:cNvPr id="12" name="arrow"/>
          <p:cNvSpPr/>
          <p:nvPr/>
        </p:nvSpPr>
        <p:spPr>
          <a:xfrm>
            <a:off x="5981548" y="209854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3" name="flow step 4"/>
          <p:cNvSpPr/>
          <p:nvPr/>
        </p:nvSpPr>
        <p:spPr>
          <a:xfrm>
            <a:off x="6255868" y="1645920"/>
            <a:ext cx="1582369" cy="1143000"/>
          </a:xfrm>
          <a:prstGeom prst="roundRect">
            <a:avLst>
              <a:gd name="adj" fmla="val 64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29020" y="1645920"/>
            <a:ext cx="143606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Or edit weights heuristically</a:t>
            </a:r>
            <a:endParaRPr lang="en-US" sz="1400" dirty="0"/>
          </a:p>
        </p:txBody>
      </p:sp>
      <p:sp>
        <p:nvSpPr>
          <p:cNvPr id="15" name="arrow"/>
          <p:cNvSpPr/>
          <p:nvPr/>
        </p:nvSpPr>
        <p:spPr>
          <a:xfrm>
            <a:off x="7883957" y="209854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6" name="flow step 5"/>
          <p:cNvSpPr/>
          <p:nvPr/>
        </p:nvSpPr>
        <p:spPr>
          <a:xfrm>
            <a:off x="8158277" y="1645920"/>
            <a:ext cx="1582369" cy="1143000"/>
          </a:xfrm>
          <a:prstGeom prst="roundRect">
            <a:avLst>
              <a:gd name="adj" fmla="val 64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231429" y="1645920"/>
            <a:ext cx="143606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Or retrain only a shard (SISA)</a:t>
            </a:r>
            <a:endParaRPr lang="en-US" sz="1400" dirty="0"/>
          </a:p>
        </p:txBody>
      </p:sp>
      <p:sp>
        <p:nvSpPr>
          <p:cNvPr id="18" name="arrow"/>
          <p:cNvSpPr/>
          <p:nvPr/>
        </p:nvSpPr>
        <p:spPr>
          <a:xfrm>
            <a:off x="9786366" y="209854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9" name="flow step 6"/>
          <p:cNvSpPr/>
          <p:nvPr/>
        </p:nvSpPr>
        <p:spPr>
          <a:xfrm>
            <a:off x="10060686" y="1645920"/>
            <a:ext cx="1582369" cy="1143000"/>
          </a:xfrm>
          <a:prstGeom prst="roundRect">
            <a:avLst>
              <a:gd name="adj" fmla="val 64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10133838" y="1645920"/>
            <a:ext cx="143606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 proof for the regulator</a:t>
            </a:r>
            <a:endParaRPr lang="en-US" sz="1400" dirty="0"/>
          </a:p>
        </p:txBody>
      </p:sp>
      <p:sp>
        <p:nvSpPr>
          <p:cNvPr id="21" name="Automatic, text-only card"/>
          <p:cNvSpPr/>
          <p:nvPr/>
        </p:nvSpPr>
        <p:spPr>
          <a:xfrm>
            <a:off x="548640" y="329184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2" name="icon circle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pic>
        <p:nvPicPr>
          <p:cNvPr id="23" name="Image 0" descr="Automatic, text-on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3630168"/>
            <a:ext cx="329184" cy="3291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463040" y="34747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Retraining and approximate unlearning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777240" y="4160520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Full retraining without the deleted client, or approximate unlearning by gradient ascent or heuristic weight adjustment.</a:t>
            </a:r>
            <a:endParaRPr lang="en-US" sz="1600" dirty="0"/>
          </a:p>
        </p:txBody>
      </p:sp>
      <p:sp>
        <p:nvSpPr>
          <p:cNvPr id="26" name="Manual fact-checking card"/>
          <p:cNvSpPr/>
          <p:nvPr/>
        </p:nvSpPr>
        <p:spPr>
          <a:xfrm>
            <a:off x="6172200" y="329184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7" name="icon circle"/>
          <p:cNvSpPr/>
          <p:nvPr/>
        </p:nvSpPr>
        <p:spPr>
          <a:xfrm>
            <a:off x="6400800" y="3520440"/>
            <a:ext cx="548640" cy="54864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pic>
        <p:nvPicPr>
          <p:cNvPr id="28" name="Image 1" descr="Manual fact-chec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3630168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86600" y="34747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Shards and training-time DP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6400800" y="4160520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SISA-style sharded training retrains only the affected shards; differential privacy during training limits any one person's influence.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of existing methods</a:t>
            </a:r>
            <a:endParaRPr lang="en-US" sz="3200" dirty="0"/>
          </a:p>
        </p:txBody>
      </p:sp>
      <p:sp>
        <p:nvSpPr>
          <p:cNvPr id="4" name="Ignore the picture card"/>
          <p:cNvSpPr/>
          <p:nvPr/>
        </p:nvSpPr>
        <p:spPr>
          <a:xfrm>
            <a:off x="548640" y="1371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icon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pic>
        <p:nvPicPr>
          <p:cNvPr id="6" name="Image 0" descr="Ignore the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Too expensive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24028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Full retraining is too costly for large federated LLMs.</a:t>
            </a:r>
            <a:endParaRPr lang="en-US" sz="1600" dirty="0"/>
          </a:p>
        </p:txBody>
      </p:sp>
      <p:sp>
        <p:nvSpPr>
          <p:cNvPr id="9" name="Label only card"/>
          <p:cNvSpPr/>
          <p:nvPr/>
        </p:nvSpPr>
        <p:spPr>
          <a:xfrm>
            <a:off x="6172200" y="1371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icon circle"/>
          <p:cNvSpPr/>
          <p:nvPr/>
        </p:nvSpPr>
        <p:spPr>
          <a:xfrm>
            <a:off x="6400800" y="16002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Label on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170992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86600" y="15544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No formal guarantee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400800" y="224028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Heuristic methods give no formal guarantee that data is forgotten.</a:t>
            </a:r>
            <a:endParaRPr lang="en-US" sz="1600" dirty="0"/>
          </a:p>
        </p:txBody>
      </p:sp>
      <p:sp>
        <p:nvSpPr>
          <p:cNvPr id="14" name="One split only card"/>
          <p:cNvSpPr/>
          <p:nvPr/>
        </p:nvSpPr>
        <p:spPr>
          <a:xfrm>
            <a:off x="548640" y="361188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5" name="icon circle"/>
          <p:cNvSpPr/>
          <p:nvPr/>
        </p:nvSpPr>
        <p:spPr>
          <a:xfrm>
            <a:off x="777240" y="3840480"/>
            <a:ext cx="548640" cy="548640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One split on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950208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3794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Not auditable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77724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Unlearning is not verifiable or auditable for regulators.</a:t>
            </a:r>
            <a:endParaRPr lang="en-US" sz="1600" dirty="0"/>
          </a:p>
        </p:txBody>
      </p:sp>
      <p:sp>
        <p:nvSpPr>
          <p:cNvPr id="19" name="Not usable card"/>
          <p:cNvSpPr/>
          <p:nvPr/>
        </p:nvSpPr>
        <p:spPr>
          <a:xfrm>
            <a:off x="6172200" y="361188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0" name="icon circle"/>
          <p:cNvSpPr/>
          <p:nvPr/>
        </p:nvSpPr>
        <p:spPr>
          <a:xfrm>
            <a:off x="6400800" y="3840480"/>
            <a:ext cx="548640" cy="5486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pic>
        <p:nvPicPr>
          <p:cNvPr id="21" name="Image 3" descr="Not usa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395020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86600" y="3794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Utility and scope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40080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Aggressive unlearning degrades utility; most methods target centralised models, not federated LLM pipelines.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gap Modality"/>
          <p:cNvSpPr/>
          <p:nvPr/>
        </p:nvSpPr>
        <p:spPr>
          <a:xfrm>
            <a:off x="548640" y="1325880"/>
            <a:ext cx="2377440" cy="749808"/>
          </a:xfrm>
          <a:prstGeom prst="roundRect">
            <a:avLst>
              <a:gd name="adj" fmla="val 731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548640" y="13258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Guarantee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3154680" y="1325880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</a:rPr>
              <a:t>Federated unlearning mostly removes client influence heuristically; certified unlearning for federated LLM pipelines is open.</a:t>
            </a:r>
            <a:endParaRPr lang="en-US" sz="1600" dirty="0"/>
          </a:p>
        </p:txBody>
      </p:sp>
      <p:sp>
        <p:nvSpPr>
          <p:cNvPr id="7" name="gap Transparency"/>
          <p:cNvSpPr/>
          <p:nvPr/>
        </p:nvSpPr>
        <p:spPr>
          <a:xfrm>
            <a:off x="548640" y="2240280"/>
            <a:ext cx="2377440" cy="749808"/>
          </a:xfrm>
          <a:prstGeom prst="roundRect">
            <a:avLst>
              <a:gd name="adj" fmla="val 731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22402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Verification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54680" y="2240280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</a:rPr>
              <a:t>Membership-inference tests and comparison with retraining are not built into one removal workflow.</a:t>
            </a:r>
            <a:endParaRPr lang="en-US" sz="1600" dirty="0"/>
          </a:p>
        </p:txBody>
      </p:sp>
      <p:sp>
        <p:nvSpPr>
          <p:cNvPr id="10" name="gap Generalisation"/>
          <p:cNvSpPr/>
          <p:nvPr/>
        </p:nvSpPr>
        <p:spPr>
          <a:xfrm>
            <a:off x="548640" y="3154680"/>
            <a:ext cx="2377440" cy="749808"/>
          </a:xfrm>
          <a:prstGeom prst="roundRect">
            <a:avLst>
              <a:gd name="adj" fmla="val 731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548640" y="31546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Audit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154680" y="3154680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</a:rPr>
              <a:t>The survey finds unlearning neither verifiable nor auditable for regulators; each request needs its own record.</a:t>
            </a:r>
            <a:endParaRPr lang="en-US" sz="1600" dirty="0"/>
          </a:p>
        </p:txBody>
      </p:sp>
      <p:sp>
        <p:nvSpPr>
          <p:cNvPr id="13" name="gap Generated media"/>
          <p:cNvSpPr/>
          <p:nvPr/>
        </p:nvSpPr>
        <p:spPr>
          <a:xfrm>
            <a:off x="548640" y="4069080"/>
            <a:ext cx="2377440" cy="749808"/>
          </a:xfrm>
          <a:prstGeom prst="roundRect">
            <a:avLst>
              <a:gd name="adj" fmla="val 731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48640" y="40690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Utility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3154680" y="4069080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</a:rPr>
              <a:t>Aggressive unlearning degrades utility, so retained quality must be checked after every removal.</a:t>
            </a:r>
            <a:endParaRPr lang="en-US" sz="1600" dirty="0"/>
          </a:p>
        </p:txBody>
      </p:sp>
      <p:sp>
        <p:nvSpPr>
          <p:cNvPr id="16" name="gap Application"/>
          <p:cNvSpPr/>
          <p:nvPr/>
        </p:nvSpPr>
        <p:spPr>
          <a:xfrm>
            <a:off x="548640" y="4983480"/>
            <a:ext cx="2377440" cy="749808"/>
          </a:xfrm>
          <a:prstGeom prst="roundRect">
            <a:avLst>
              <a:gd name="adj" fmla="val 731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49834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Setting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154680" y="4983480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</a:rPr>
              <a:t>Most methods target centralised models rather than federated LLMs [3].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4" name="statement box"/>
          <p:cNvSpPr/>
          <p:nvPr/>
        </p:nvSpPr>
        <p:spPr>
          <a:xfrm>
            <a:off x="548640" y="14630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" y="1600200"/>
            <a:ext cx="1036289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a trained federated model and a client's deletion request, remove that client's influence without retraining from scratch, bound the privacy of the released model, verify the removal with a membership-inference test and a retained-only recomputation, keep the model useful for the remaining clients, and leave an auditable record that can be shown to a regulator.</a:t>
            </a:r>
            <a:endParaRPr lang="en-US" sz="2100" dirty="0"/>
          </a:p>
        </p:txBody>
      </p:sp>
      <p:sp>
        <p:nvSpPr>
          <p:cNvPr id="6" name="Input card"/>
          <p:cNvSpPr/>
          <p:nvPr/>
        </p:nvSpPr>
        <p:spPr>
          <a:xfrm>
            <a:off x="548640" y="448056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46634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Input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349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</a:rPr>
              <a:t>Trained federated model + a client's deletion request</a:t>
            </a:r>
            <a:endParaRPr lang="en-US" sz="1400" dirty="0"/>
          </a:p>
        </p:txBody>
      </p:sp>
      <p:sp>
        <p:nvSpPr>
          <p:cNvPr id="9" name="Output card"/>
          <p:cNvSpPr/>
          <p:nvPr/>
        </p:nvSpPr>
        <p:spPr>
          <a:xfrm>
            <a:off x="4297680" y="448056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526280" y="46634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Output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5349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</a:rPr>
              <a:t>Updated model + certificate (DP bound, attack, utility)</a:t>
            </a:r>
            <a:endParaRPr lang="en-US" sz="1400" dirty="0"/>
          </a:p>
        </p:txBody>
      </p:sp>
      <p:sp>
        <p:nvSpPr>
          <p:cNvPr id="12" name="Extra card"/>
          <p:cNvSpPr/>
          <p:nvPr/>
        </p:nvSpPr>
        <p:spPr>
          <a:xfrm>
            <a:off x="8046720" y="448056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8275320" y="46634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Extra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5349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</a:rPr>
              <a:t>Hash-chained audit record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600" dirty="0">
                <a:solidFill>
                  <a:srgbClr val="0F172A"/>
                </a:solidFill>
              </a:rPr>
              <a:t>Set up federated fine-tuning of an LLM across multiple clients.</a:t>
            </a:r>
            <a:pPr indent="0" marL="0">
              <a:spcAft>
                <a:spcPts val="1000"/>
              </a:spcAft>
              <a:buNone/>
            </a:pPr>
            <a:pPr indent="0" marL="0">
              <a:spcAft>
                <a:spcPts val="1000"/>
              </a:spcAft>
              <a:buNone/>
            </a:pPr>
            <a:endParaRPr lang="en-US" sz="2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600" dirty="0">
                <a:solidFill>
                  <a:srgbClr val="0F172A"/>
                </a:solidFill>
              </a:rPr>
              <a:t>Remove a client's influence by parameter-level unlearning without full retraining.</a:t>
            </a:r>
            <a:pPr indent="0" marL="0">
              <a:spcAft>
                <a:spcPts val="1000"/>
              </a:spcAft>
              <a:buNone/>
            </a:pPr>
            <a:pPr indent="0" marL="0">
              <a:spcAft>
                <a:spcPts val="1000"/>
              </a:spcAft>
              <a:buNone/>
            </a:pPr>
            <a:endParaRPr lang="en-US" sz="2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600" dirty="0">
                <a:solidFill>
                  <a:srgbClr val="0F172A"/>
                </a:solidFill>
              </a:rPr>
              <a:t>Certify forgetting with differential-privacy based guarantees.</a:t>
            </a:r>
            <a:pPr indent="0" marL="0">
              <a:spcAft>
                <a:spcPts val="1000"/>
              </a:spcAft>
              <a:buNone/>
            </a:pPr>
            <a:pPr indent="0" marL="0">
              <a:spcAft>
                <a:spcPts val="1000"/>
              </a:spcAft>
              <a:buNone/>
            </a:pPr>
            <a:endParaRPr lang="en-US" sz="2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600" dirty="0">
                <a:solidFill>
                  <a:srgbClr val="0F172A"/>
                </a:solidFill>
              </a:rPr>
              <a:t>Verify unlearning with membership-inference tests and comparison with retraining.</a:t>
            </a:r>
            <a:pPr indent="0" marL="0">
              <a:spcAft>
                <a:spcPts val="1000"/>
              </a:spcAft>
              <a:buNone/>
            </a:pPr>
            <a:pPr indent="0" marL="0">
              <a:spcAft>
                <a:spcPts val="1000"/>
              </a:spcAft>
              <a:buNone/>
            </a:pPr>
            <a:endParaRPr lang="en-US" sz="2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600" dirty="0">
                <a:solidFill>
                  <a:srgbClr val="0F172A"/>
                </a:solidFill>
              </a:rPr>
              <a:t>Preserve model utility on the remaining data.</a:t>
            </a:r>
            <a:pPr indent="0" marL="0">
              <a:spcAft>
                <a:spcPts val="1000"/>
              </a:spcAft>
              <a:buNone/>
            </a:pPr>
            <a:pPr indent="0" marL="0">
              <a:spcAft>
                <a:spcPts val="1000"/>
              </a:spcAft>
              <a:buNone/>
            </a:pPr>
            <a:endParaRPr lang="en-US" sz="2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600" dirty="0">
                <a:solidFill>
                  <a:srgbClr val="0F172A"/>
                </a:solidFill>
              </a:rPr>
              <a:t>Provide auditable compliance records for each unlearning request.</a:t>
            </a:r>
            <a:pPr indent="0" marL="0">
              <a:spcAft>
                <a:spcPts val="1000"/>
              </a:spcAft>
              <a:buNone/>
            </a:pPr>
            <a:pPr indent="0" marL="0">
              <a:spcAft>
                <a:spcPts val="1000"/>
              </a:spcAft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approach</a:t>
            </a:r>
            <a:endParaRPr lang="en-US" sz="3200" dirty="0"/>
          </a:p>
        </p:txBody>
      </p:sp>
      <p:sp>
        <p:nvSpPr>
          <p:cNvPr id="4" name="Text track card"/>
          <p:cNvSpPr/>
          <p:nvPr/>
        </p:nvSpPr>
        <p:spPr>
          <a:xfrm>
            <a:off x="548640" y="13716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icon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Text tr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Federated training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240280"/>
            <a:ext cx="22128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</a:rPr>
              <a:t>Five simulated clients; each update is L2-clipped (C = 25) and stored; Gaussian noise is added to the sum.</a:t>
            </a:r>
            <a:endParaRPr lang="en-US" sz="1200" dirty="0"/>
          </a:p>
        </p:txBody>
      </p:sp>
      <p:sp>
        <p:nvSpPr>
          <p:cNvPr id="9" name="Visual track card"/>
          <p:cNvSpPr/>
          <p:nvPr/>
        </p:nvSpPr>
        <p:spPr>
          <a:xfrm>
            <a:off x="3364992" y="13716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icon circle"/>
          <p:cNvSpPr/>
          <p:nvPr/>
        </p:nvSpPr>
        <p:spPr>
          <a:xfrm>
            <a:off x="3593592" y="1600200"/>
            <a:ext cx="548640" cy="5486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Visual tr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79392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Parameter-level unlearning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593592" y="2240280"/>
            <a:ext cx="22128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</a:rPr>
              <a:t>Subtract the tracked update, renormalise over the retained clients; no retraining and no raw data.</a:t>
            </a:r>
            <a:endParaRPr lang="en-US" sz="1200" dirty="0"/>
          </a:p>
        </p:txBody>
      </p:sp>
      <p:sp>
        <p:nvSpPr>
          <p:cNvPr id="14" name="Fusion card"/>
          <p:cNvSpPr/>
          <p:nvPr/>
        </p:nvSpPr>
        <p:spPr>
          <a:xfrm>
            <a:off x="6181344" y="13716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5" name="icon circle"/>
          <p:cNvSpPr/>
          <p:nvPr/>
        </p:nvSpPr>
        <p:spPr>
          <a:xfrm>
            <a:off x="6409944" y="1600200"/>
            <a:ext cx="548640" cy="54864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Fus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709928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95744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DP certificate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6409944" y="2240280"/>
            <a:ext cx="22128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</a:rPr>
              <a:t>Epsilon and delta from the Gaussian-mechanism bound, plus a recomputation from the retained updates.</a:t>
            </a:r>
            <a:endParaRPr lang="en-US" sz="1200" dirty="0"/>
          </a:p>
        </p:txBody>
      </p:sp>
      <p:sp>
        <p:nvSpPr>
          <p:cNvPr id="19" name="AI-media check card"/>
          <p:cNvSpPr/>
          <p:nvPr/>
        </p:nvSpPr>
        <p:spPr>
          <a:xfrm>
            <a:off x="8997696" y="13716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0" name="icon circle"/>
          <p:cNvSpPr/>
          <p:nvPr/>
        </p:nvSpPr>
        <p:spPr>
          <a:xfrm>
            <a:off x="9226296" y="160020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  <p:txBody>
          <a:bodyPr/>
          <a:p/>
        </p:txBody>
      </p:sp>
      <p:pic>
        <p:nvPicPr>
          <p:cNvPr id="21" name="Image 3" descr="AI-media 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170992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12096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Verification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9226296" y="2240280"/>
            <a:ext cx="22128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</a:rPr>
              <a:t>Loss-based membership AUC, perplexity, next-character accuracy and utility retention per request.</a:t>
            </a:r>
            <a:endParaRPr lang="en-US" sz="1200" dirty="0"/>
          </a:p>
        </p:txBody>
      </p:sp>
      <p:sp>
        <p:nvSpPr>
          <p:cNvPr id="24" name="Web application card"/>
          <p:cNvSpPr/>
          <p:nvPr/>
        </p:nvSpPr>
        <p:spPr>
          <a:xfrm>
            <a:off x="548640" y="45720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5" name="icon circle"/>
          <p:cNvSpPr/>
          <p:nvPr/>
        </p:nvSpPr>
        <p:spPr>
          <a:xfrm>
            <a:off x="777240" y="4800600"/>
            <a:ext cx="548640" cy="54864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pic>
        <p:nvPicPr>
          <p:cNvPr id="26" name="Image 4" descr="Web applic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4910328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463040" y="47548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Audit and application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777240" y="5440680"/>
            <a:ext cx="106372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</a:rPr>
              <a:t>SHA-256 hash-chained ledger; Python API and React UI. The model is a character-level proxy for an LLM adapter.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proposed architecture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5760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Proposed architecture: React UI, Python API, federated unlearning engine, bigram proxy model and hash-chained ledger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  <p:pic>
        <p:nvPicPr>
          <p:cNvPr id="26" name="System architecture diagram" descr="System architecture 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8171" y="1123950"/>
            <a:ext cx="5684157" cy="459104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outcomes and contributions</a:t>
            </a:r>
            <a:endParaRPr lang="en-US" sz="3200" dirty="0"/>
          </a:p>
        </p:txBody>
      </p:sp>
      <p:sp>
        <p:nvSpPr>
          <p:cNvPr id="4" name="Multimodal model card"/>
          <p:cNvSpPr/>
          <p:nvPr/>
        </p:nvSpPr>
        <p:spPr>
          <a:xfrm>
            <a:off x="548640" y="13716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icon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pic>
        <p:nvPicPr>
          <p:cNvPr id="6" name="Image 0" descr="Multimodal mod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Removal without retraining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A client's update is subtracted from the global model in one step.</a:t>
            </a:r>
            <a:endParaRPr lang="en-US" sz="1600" dirty="0"/>
          </a:p>
        </p:txBody>
      </p:sp>
      <p:sp>
        <p:nvSpPr>
          <p:cNvPr id="9" name="Transparent output card"/>
          <p:cNvSpPr/>
          <p:nvPr/>
        </p:nvSpPr>
        <p:spPr>
          <a:xfrm>
            <a:off x="4297680" y="13716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icon circle"/>
          <p:cNvSpPr/>
          <p:nvPr/>
        </p:nvSpPr>
        <p:spPr>
          <a:xfrm>
            <a:off x="4526280" y="16002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Transparent outpu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70992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 certificate per request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52628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Epsilon, delta, clipping norm, noise and model hashes in one JSON record.</a:t>
            </a:r>
            <a:endParaRPr lang="en-US" sz="1600" dirty="0"/>
          </a:p>
        </p:txBody>
      </p:sp>
      <p:sp>
        <p:nvSpPr>
          <p:cNvPr id="14" name="Honest evaluation card"/>
          <p:cNvSpPr/>
          <p:nvPr/>
        </p:nvSpPr>
        <p:spPr>
          <a:xfrm>
            <a:off x="8046720" y="13716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5" name="icon circle"/>
          <p:cNvSpPr/>
          <p:nvPr/>
        </p:nvSpPr>
        <p:spPr>
          <a:xfrm>
            <a:off x="8275320" y="1600200"/>
            <a:ext cx="548640" cy="548640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Honest evalu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709928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Attack evidence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827532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Membership AUC before and after each removal.</a:t>
            </a:r>
            <a:endParaRPr lang="en-US" sz="1600" dirty="0"/>
          </a:p>
        </p:txBody>
      </p:sp>
      <p:sp>
        <p:nvSpPr>
          <p:cNvPr id="19" name="Generated-media signal card"/>
          <p:cNvSpPr/>
          <p:nvPr/>
        </p:nvSpPr>
        <p:spPr>
          <a:xfrm>
            <a:off x="548640" y="36118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0" name="icon circle"/>
          <p:cNvSpPr/>
          <p:nvPr/>
        </p:nvSpPr>
        <p:spPr>
          <a:xfrm>
            <a:off x="777240" y="384048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  <p:txBody>
          <a:bodyPr/>
          <a:p/>
        </p:txBody>
      </p:sp>
      <p:pic>
        <p:nvPicPr>
          <p:cNvPr id="21" name="Image 3" descr="Generated-media sign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5020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46304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Utility check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4805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Perplexity, accuracy and a retention score for the retained model.</a:t>
            </a:r>
            <a:endParaRPr lang="en-US" sz="1600" dirty="0"/>
          </a:p>
        </p:txBody>
      </p:sp>
      <p:sp>
        <p:nvSpPr>
          <p:cNvPr id="24" name="Usable system card"/>
          <p:cNvSpPr/>
          <p:nvPr/>
        </p:nvSpPr>
        <p:spPr>
          <a:xfrm>
            <a:off x="4297680" y="36118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5" name="icon circle"/>
          <p:cNvSpPr/>
          <p:nvPr/>
        </p:nvSpPr>
        <p:spPr>
          <a:xfrm>
            <a:off x="4526280" y="3840480"/>
            <a:ext cx="548640" cy="5486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pic>
        <p:nvPicPr>
          <p:cNvPr id="26" name="Image 4" descr="Usable syste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008" y="3950208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1208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Tamper-evident record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4526280" y="44805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Every training and unlearning event chained with SHA-256.</a:t>
            </a:r>
            <a:endParaRPr lang="en-US" sz="1600" dirty="0"/>
          </a:p>
        </p:txBody>
      </p:sp>
      <p:sp>
        <p:nvSpPr>
          <p:cNvPr id="29" name="Quality card"/>
          <p:cNvSpPr/>
          <p:nvPr/>
        </p:nvSpPr>
        <p:spPr>
          <a:xfrm>
            <a:off x="8046720" y="36118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30" name="icon circle"/>
          <p:cNvSpPr/>
          <p:nvPr/>
        </p:nvSpPr>
        <p:spPr>
          <a:xfrm>
            <a:off x="8275320" y="3840480"/>
            <a:ext cx="548640" cy="54864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pic>
        <p:nvPicPr>
          <p:cNvPr id="31" name="Image 5" descr="Qualit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3950208"/>
            <a:ext cx="329184" cy="32918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896112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Working demonstrator</a:t>
            </a:r>
            <a:endParaRPr lang="en-US" sz="1600" dirty="0"/>
          </a:p>
        </p:txBody>
      </p:sp>
      <p:sp>
        <p:nvSpPr>
          <p:cNvPr id="33" name="Text 24"/>
          <p:cNvSpPr txBox="1"/>
          <p:nvPr/>
        </p:nvSpPr>
        <p:spPr>
          <a:xfrm>
            <a:off x="8275320" y="44805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Python API and React UI that run offline on one PC.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[1] A. Khan et al., Deep learning approaches for continuous sign language recognition: a comprehensive review, IEEE Access 13, 2025.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[2] J. Wei et al., Rethinking federated unlearning via the lens of memorization, KDD 2026.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[3] F. Zhang et al., Oblivionis: a lightweight learning and unlearning framework for federated LLMs, arXiv:2508.08875, 2025.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[4] Y. Jiang et al., Certifying the right to be forgotten: primal-dual optimization (VFL), arXiv:2512.23171, 2025.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[5] Federated illusion: multi-level geometric privacy audit for federated graph unlearning, Information, 2026 (not verified).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[6] Computationally efficient federated unlearning, Middleware 2025 (not verified).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[7] W. Zhang, A comprehensive investigation of federated unlearning, DAML 2024, pp. 569-573.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[8] Unlearning under siege: robustness risks of certified machine unlearning, Neurocomputing, 2026 (not verified).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[9] B. McMahan et al., Communication-efficient learning of deep networks from decentralized data, AISTATS 2017.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[10] C. Dwork and A. Roth, The algorithmic foundations of differential privacy, 2014.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suggestions are welcome.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rgetSafe">
  <a:themeElements>
    <a:clrScheme name="ForgetSafe">
      <a:dk1>
        <a:srgbClr val="0F172A"/>
      </a:dk1>
      <a:lt1>
        <a:srgbClr val="FFFFFF"/>
      </a:lt1>
      <a:dk2>
        <a:srgbClr val="1B2A41"/>
      </a:dk2>
      <a:lt2>
        <a:srgbClr val="EEF2F7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6250D6"/>
      </a:accent5>
      <a:accent6>
        <a:srgbClr val="E34948"/>
      </a:accent6>
      <a:hlink>
        <a:srgbClr val="2A78D6"/>
      </a:hlink>
      <a:folHlink>
        <a:srgbClr val="6250D6"/>
      </a:folHlink>
    </a:clrScheme>
    <a:fontScheme name="ForgetSaf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ForgetSafe: Review 1</dc:title>
  <dc:subject>Privacy-Preserving Machine Unlearning in Federated LLMs: A Certified Right-to-Be-Forgotten Framework</dc:subject>
  <dc:creator>Batch A9</dc:creator>
  <cp:lastModifiedBy>Batch A9</cp:lastModifiedBy>
  <cp:revision>1</cp:revision>
  <dcterms:created xsi:type="dcterms:W3CDTF">2026-10-13T12:36:40Z</dcterms:created>
  <dcterms:modified xsi:type="dcterms:W3CDTF">2026-10-13T12:36:40Z</dcterms:modified>
  <cp:keywords>federated unlearning, differential privacy, right to be forgotten, membership inference, audit ledger</cp:keywords>
  <cp:category/>
  <dc:description/>
  <cp:contentStatus/>
</cp:coreProperties>
</file>