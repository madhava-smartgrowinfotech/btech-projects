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Loss-based membership attack AUC on a client's own sentences (0.5 = chance)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Membership AUC</c:v>
                </c:pt>
              </c:strCache>
            </c:strRef>
          </c:tx>
          <c:spPr>
            <a:solidFill>
              <a:srgbClr val="5B5B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 noise, before removal</c:v>
                </c:pt>
                <c:pt idx="1">
                  <c:v>No noise, after removal</c:v>
                </c:pt>
                <c:pt idx="2">
                  <c:v>Default noise, before removal</c:v>
                </c:pt>
                <c:pt idx="3">
                  <c:v>Default noise, after removal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0.992</c:v>
                </c:pt>
                <c:pt idx="1">
                  <c:v>0.544</c:v>
                </c:pt>
                <c:pt idx="2">
                  <c:v>0.524</c:v>
                </c:pt>
                <c:pt idx="3">
                  <c:v>0.495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AUC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1 covers problem identification and research for ForgetSafe, a demonstrator of certified client-level unlearning for federated language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parts: abstract, base paper, literature survey, existing approaches and limitations, research gap, problem statement and objectives, proposed approach and architecture, expected outcomes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problem, the idea and the deliverable. The prototype is a demonstrator on small models and synthetic data; the later reviews report what it proves and what it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recorded in the batch files is a sign-language survey. Its subject is unrelated, so only its review method is adopted. The technical comparison in the later reviews is qualitative against [2] to 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Entries [1] to [4] and [7] were read or verified online. Entries [5], [6] and [8] come from the batch literature survey and could not be found, so only their titles are used. The results shown for [2] to [4] are taken from their abstracts and are on other tasks, so they are not comparable with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No-noise = noise multiplier 1e-6, five clients, one removal each. Default noise = sigma 3, mean over 50 seeds x 5 clients (250 requests). Both come from experiments/noise_free_leakage and experiments/seeds. The neural figures come from experiments/neural_adapter (sigma 0, 5 seeds x 8 clients).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existing approaches listed in the batch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as stated in the batch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the one stated in the batch survey: certified, auditable unlearning designed for federated LLM pipelines remains an open problem. The audit and utility rows restate the survey's limitation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Inputs, outputs and the extra property: every request is recorded in a tamper-evident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batch file. Each is measured against the outcome in the later reviews and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approach in five blocks. The same clip, noisy-sum, subtraction, verification and audit workflow runs on the bigram model and on LoRA-style adapters of a small GRU (neural study, synthetic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to React to the Python API; the engine trains, unlearns and verifies; every event is appended to the JSONL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are targets at this stage; what was actually achieved, including the shortfalls, is reported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[1] to [10] in short form; the full IEEE list is in the report. [5], [6] and [8] are listed in the batch survey but could not be retrieved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ForgetSafe  ·  Review 1  ·  Batch A9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ForgetSafe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Machine Unlearning in Federated LLMs: A Certified Right-to-Be-Forgotten Framework</a:t>
            </a:r>
            <a:endParaRPr lang="en-US" sz="18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G.SHASHANK  23K91A6761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B.SATHISH  23K91A6719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G.RAKESH  23K91A6759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B.AKHIL  23K91A6721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A9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and overview</a:t>
            </a:r>
            <a:endParaRPr lang="en-US" sz="1600" dirty="0"/>
          </a:p>
        </p:txBody>
      </p:sp>
      <p:sp>
        <p:nvSpPr>
          <p:cNvPr id="7" name="agenda 2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paper</a:t>
            </a:r>
            <a:endParaRPr lang="en-US" sz="1600" dirty="0"/>
          </a:p>
        </p:txBody>
      </p:sp>
      <p:sp>
        <p:nvSpPr>
          <p:cNvPr id="10" name="agenda 3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753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Literature survey</a:t>
            </a:r>
            <a:endParaRPr lang="en-US" sz="1600" dirty="0"/>
          </a:p>
        </p:txBody>
      </p:sp>
      <p:sp>
        <p:nvSpPr>
          <p:cNvPr id="13" name="agenda 4"/>
          <p:cNvSpPr/>
          <p:nvPr/>
        </p:nvSpPr>
        <p:spPr>
          <a:xfrm>
            <a:off x="54864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Existing approaches and limitations</a:t>
            </a:r>
            <a:endParaRPr lang="en-US" sz="1600" dirty="0"/>
          </a:p>
        </p:txBody>
      </p:sp>
      <p:sp>
        <p:nvSpPr>
          <p:cNvPr id="16" name="agenda 5"/>
          <p:cNvSpPr/>
          <p:nvPr/>
        </p:nvSpPr>
        <p:spPr>
          <a:xfrm>
            <a:off x="429768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5262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9" name="agenda 6"/>
          <p:cNvSpPr/>
          <p:nvPr/>
        </p:nvSpPr>
        <p:spPr>
          <a:xfrm>
            <a:off x="804672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75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statement and objectives</a:t>
            </a:r>
            <a:endParaRPr lang="en-US" sz="1600" dirty="0"/>
          </a:p>
        </p:txBody>
      </p:sp>
      <p:sp>
        <p:nvSpPr>
          <p:cNvPr id="22" name="agenda 7"/>
          <p:cNvSpPr/>
          <p:nvPr/>
        </p:nvSpPr>
        <p:spPr>
          <a:xfrm>
            <a:off x="54864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approach and architecture</a:t>
            </a:r>
            <a:endParaRPr lang="en-US" sz="1600" dirty="0"/>
          </a:p>
        </p:txBody>
      </p:sp>
      <p:sp>
        <p:nvSpPr>
          <p:cNvPr id="25" name="agenda 8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262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Expected outcomes</a:t>
            </a:r>
            <a:endParaRPr lang="en-US" sz="1600" dirty="0"/>
          </a:p>
        </p:txBody>
      </p:sp>
      <p:sp>
        <p:nvSpPr>
          <p:cNvPr id="28" name="agenda 9"/>
          <p:cNvSpPr/>
          <p:nvPr/>
        </p:nvSpPr>
        <p:spPr>
          <a:xfrm>
            <a:off x="804672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82753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removing a client without retraining</a:t>
            </a:r>
            <a:endParaRPr lang="en-US" sz="3200" dirty="0"/>
          </a:p>
        </p:txBody>
      </p:sp>
      <p:sp>
        <p:nvSpPr>
          <p:cNvPr id="4" name="The problem card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federated LLM keeps every client's influence in its shared parameters. The GDPR lets a user demand erasure, but retraining a large model for each request is impractical and heuristic unlearning gives no proof of forgetting.</a:t>
            </a:r>
            <a:endParaRPr lang="en-US" sz="1500" dirty="0"/>
          </a:p>
        </p:txBody>
      </p:sp>
      <p:sp>
        <p:nvSpPr>
          <p:cNvPr id="9" name="Our idea card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Our 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Our idea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Track each client's clipped update, subtract it on request, bound the noisy release with differential privacy, verify with a membership-inference test and a retained-only recomputation, and chain every request in a SHA-256 audit ledger.</a:t>
            </a:r>
            <a:endParaRPr lang="en-US" sz="1500" dirty="0"/>
          </a:p>
        </p:txBody>
      </p:sp>
      <p:sp>
        <p:nvSpPr>
          <p:cNvPr id="14" name="The deliverable card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The deliver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deliverable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ForgetSafe: a Python API (port 8109) and React UI (port 5109) that issue a certificate per request. The engine runs on a character-bigram model and, in a second study, on a neural GRU with LoRA-style adapters, both on synthetic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4" name="citation box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77240" y="13716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</a:rPr>
              <a:t>A. Khan, S. Jin, G.-H. Lee, G. E. Arzu, L. M. Dang, T. N. Nguyen, W. Choi, and H. Moon, "Deep learning approaches for continuous sign language recognition: A comprehensive review," IEEE Access, vol. 13, pp. 55524-55544, 2025, doi: 10.1109/ACCESS.2025.3554046.</a:t>
            </a:r>
            <a:endParaRPr lang="en-US" sz="1400" dirty="0"/>
          </a:p>
        </p:txBody>
      </p:sp>
      <p:sp>
        <p:nvSpPr>
          <p:cNvPr id="6" name="Method card"/>
          <p:cNvSpPr/>
          <p:nvPr/>
        </p:nvSpPr>
        <p:spPr>
          <a:xfrm>
            <a:off x="54864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Method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review of deep-learning approaches to continuous sign-language recognition. It builds a taxonomy (sign language, data collection, input method, gesture signals, identification methods, datasets) and groups models by spatial, temporal and alignment approach.</a:t>
            </a:r>
            <a:endParaRPr lang="en-US" sz="1500" dirty="0"/>
          </a:p>
        </p:txBody>
      </p:sp>
      <p:sp>
        <p:nvSpPr>
          <p:cNvPr id="9" name="Data and reported results card"/>
          <p:cNvSpPr/>
          <p:nvPr/>
        </p:nvSpPr>
        <p:spPr>
          <a:xfrm>
            <a:off x="429768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2628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Compares the strengths and drawbacks of the approaches and names open gaps: real-time processing, diverse datasets and signer variability. It is a literature review; its subject differs from this project, so no result is compared with ours.</a:t>
            </a:r>
            <a:endParaRPr lang="en-US" sz="1500" dirty="0"/>
          </a:p>
        </p:txBody>
      </p:sp>
      <p:sp>
        <p:nvSpPr>
          <p:cNvPr id="12" name="Limitations stated by the authors card"/>
          <p:cNvSpPr/>
          <p:nvPr/>
        </p:nvSpPr>
        <p:spPr>
          <a:xfrm>
            <a:off x="804672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DF1EC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7532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this project adopts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Only its review method: organise approaches into a taxonomy, compare strengths and limitations, state the gap. It is applied here to federated unlearning. Closest technical works: Wei et al., KDD 2026 [2] and Oblivionis [3].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4076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 et al., 2025 (base paper) 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and taxonomy of deep-learning CSLR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Sign-language 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Review; no unlearning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al., KDD 2026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FedMemPrune: prune parameters responsible for memorised data (Grouped Memorization Evaluation)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benchmarks (see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Closely matches retraining baselines; removes memorisation better than other FU methods (abstract)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Oblivionis, 2025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LLM learning and unlearning framework; 6 FL and 5 unlearning algorithms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fine-tuning tasks (see paper)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Balances forgetting and utility; outperforms local training (abstract)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Jiang et al., FedORA, 2025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Primal-dual unlearning for vertical FL with a bound to train-from-scratch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and image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Effectiveness and utility comparable to retraining with less computation (abstract)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 Zhang, DAML 2024 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FedEraser, FedCIO, FedRecovery, F2UL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(review)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versus cost trade-off; future work: metrics, efficiency, Non-IID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[5], [6], [8] in the batch survey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graph audit; efficient FU; robustness of certified unlearning (titles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independently verified; no claim made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influence stays in the parameters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589520" y="1371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6" name="icon circle"/>
          <p:cNvSpPr/>
          <p:nvPr/>
        </p:nvSpPr>
        <p:spPr>
          <a:xfrm>
            <a:off x="78181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7" name="Image 0" descr="Takea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709928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1554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Takeaway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818120" y="2240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</a:rPr>
              <a:t>With no DP noise, an attacker recognises a client's own sentences almost perfectly (AUC 0.99). Subtracting the tracked update brings it to 0.54. At the default noise the attack is already near chance (0.52).</a:t>
            </a:r>
            <a:endParaRPr lang="en-US" sz="1300" dirty="0"/>
          </a:p>
        </p:txBody>
      </p:sp>
      <p:sp>
        <p:nvSpPr>
          <p:cNvPr id="10" name="Caveat card"/>
          <p:cNvSpPr/>
          <p:nvPr/>
        </p:nvSpPr>
        <p:spPr>
          <a:xfrm>
            <a:off x="7589520" y="3657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1" name="icon circle"/>
          <p:cNvSpPr/>
          <p:nvPr/>
        </p:nvSpPr>
        <p:spPr>
          <a:xfrm>
            <a:off x="7818120" y="3886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Cav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995928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3840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Caveat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4526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</a:rPr>
              <a:t>Synthetic-data measurements: the 25-sentence bigram model above, and a 137,151-parameter neural GRU with LoRA-style adapters (8 clients), where the client-level attack falls from 0.78 to 0.53, the same as a fresh retrain (0.53). Literature [2]-[4], [7] motivates the problem.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1792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 data joins federated training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76729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flow step 2"/>
          <p:cNvSpPr/>
          <p:nvPr/>
        </p:nvSpPr>
        <p:spPr>
          <a:xfrm>
            <a:off x="2451049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524201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Deletion request arrives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07913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flow step 3"/>
          <p:cNvSpPr/>
          <p:nvPr/>
        </p:nvSpPr>
        <p:spPr>
          <a:xfrm>
            <a:off x="435345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42661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Retrain without the client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flow step 4"/>
          <p:cNvSpPr/>
          <p:nvPr/>
        </p:nvSpPr>
        <p:spPr>
          <a:xfrm>
            <a:off x="625586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2902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 edit weights heuristically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883957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flow step 5"/>
          <p:cNvSpPr/>
          <p:nvPr/>
        </p:nvSpPr>
        <p:spPr>
          <a:xfrm>
            <a:off x="8158277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31429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 retrain only a shard (SISA)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9786366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flow step 6"/>
          <p:cNvSpPr/>
          <p:nvPr/>
        </p:nvSpPr>
        <p:spPr>
          <a:xfrm>
            <a:off x="10060686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10133838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proof for the regulator</a:t>
            </a:r>
            <a:endParaRPr lang="en-US" sz="1400" dirty="0"/>
          </a:p>
        </p:txBody>
      </p:sp>
      <p:sp>
        <p:nvSpPr>
          <p:cNvPr id="21" name="Automatic, text-only card"/>
          <p:cNvSpPr/>
          <p:nvPr/>
        </p:nvSpPr>
        <p:spPr>
          <a:xfrm>
            <a:off x="54864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2" name="icon circle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Automatic, text-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301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6304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Retraining and approximate unlearning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Full retraining without the deleted client, or approximate unlearning by gradient ascent or heuristic weight adjustment.</a:t>
            </a:r>
            <a:endParaRPr lang="en-US" sz="1600" dirty="0"/>
          </a:p>
        </p:txBody>
      </p:sp>
      <p:sp>
        <p:nvSpPr>
          <p:cNvPr id="26" name="Manual fact-checking card"/>
          <p:cNvSpPr/>
          <p:nvPr/>
        </p:nvSpPr>
        <p:spPr>
          <a:xfrm>
            <a:off x="617220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7" name="icon circle"/>
          <p:cNvSpPr/>
          <p:nvPr/>
        </p:nvSpPr>
        <p:spPr>
          <a:xfrm>
            <a:off x="640080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Manual fact-che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3016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8660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Shards and training-time DP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SISA-style sharded training retrains only the affected shards; differential privacy during training limits any one person's influence.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4" name="Ignore the picture card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Ignore the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Too expensive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Full retraining is too costly for large federated LLMs.</a:t>
            </a:r>
            <a:endParaRPr lang="en-US" sz="1600" dirty="0"/>
          </a:p>
        </p:txBody>
      </p:sp>
      <p:sp>
        <p:nvSpPr>
          <p:cNvPr id="9" name="Label only card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Label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formal guarantee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Heuristic methods give no formal guarantee that data is forgotten.</a:t>
            </a:r>
            <a:endParaRPr lang="en-US" sz="1600" dirty="0"/>
          </a:p>
        </p:txBody>
      </p:sp>
      <p:sp>
        <p:nvSpPr>
          <p:cNvPr id="14" name="One split only card"/>
          <p:cNvSpPr/>
          <p:nvPr/>
        </p:nvSpPr>
        <p:spPr>
          <a:xfrm>
            <a:off x="54864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One split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Not auditable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Unlearning is not verifiable or auditable for regulators.</a:t>
            </a:r>
            <a:endParaRPr lang="en-US" sz="1600" dirty="0"/>
          </a:p>
        </p:txBody>
      </p:sp>
      <p:sp>
        <p:nvSpPr>
          <p:cNvPr id="19" name="Not usable card"/>
          <p:cNvSpPr/>
          <p:nvPr/>
        </p:nvSpPr>
        <p:spPr>
          <a:xfrm>
            <a:off x="617220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Not us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Utility and scope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Aggressive unlearning degrades utility; most methods target centralised models, not federated LLM pipelines.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gap Modality"/>
          <p:cNvSpPr/>
          <p:nvPr/>
        </p:nvSpPr>
        <p:spPr>
          <a:xfrm>
            <a:off x="548640" y="13258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Guarantee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3258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Federated unlearning mostly removes client influence heuristically; certified unlearning for federated LLM pipelines is open.</a:t>
            </a:r>
            <a:endParaRPr lang="en-US" sz="1600" dirty="0"/>
          </a:p>
        </p:txBody>
      </p:sp>
      <p:sp>
        <p:nvSpPr>
          <p:cNvPr id="7" name="gap Transparency"/>
          <p:cNvSpPr/>
          <p:nvPr/>
        </p:nvSpPr>
        <p:spPr>
          <a:xfrm>
            <a:off x="548640" y="22402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48640" y="2240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2402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Membership-inference tests and comparison with retraining are not built into one removal workflow.</a:t>
            </a:r>
            <a:endParaRPr lang="en-US" sz="1600" dirty="0"/>
          </a:p>
        </p:txBody>
      </p:sp>
      <p:sp>
        <p:nvSpPr>
          <p:cNvPr id="10" name="gap Generalisation"/>
          <p:cNvSpPr/>
          <p:nvPr/>
        </p:nvSpPr>
        <p:spPr>
          <a:xfrm>
            <a:off x="548640" y="31546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1546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The survey finds unlearning neither verifiable nor auditable for regulators; each request needs its own record.</a:t>
            </a:r>
            <a:endParaRPr lang="en-US" sz="1600" dirty="0"/>
          </a:p>
        </p:txBody>
      </p:sp>
      <p:sp>
        <p:nvSpPr>
          <p:cNvPr id="13" name="gap Generated media"/>
          <p:cNvSpPr/>
          <p:nvPr/>
        </p:nvSpPr>
        <p:spPr>
          <a:xfrm>
            <a:off x="548640" y="40690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Utility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069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Aggressive unlearning degrades utility, so retained quality must be checked after every removal.</a:t>
            </a:r>
            <a:endParaRPr lang="en-US" sz="1600" dirty="0"/>
          </a:p>
        </p:txBody>
      </p:sp>
      <p:sp>
        <p:nvSpPr>
          <p:cNvPr id="16" name="gap Application"/>
          <p:cNvSpPr/>
          <p:nvPr/>
        </p:nvSpPr>
        <p:spPr>
          <a:xfrm>
            <a:off x="548640" y="49834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" y="49834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Setting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49834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Most methods target centralised models rather than federated LLMs [3].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tatement box"/>
          <p:cNvSpPr/>
          <p:nvPr/>
        </p:nvSpPr>
        <p:spPr>
          <a:xfrm>
            <a:off x="548640" y="14630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914400" y="160020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trained federated model and a client's deletion request, remove that client's influence without retraining from scratch, bound the privacy of the released model, verify the removal with a membership-inference test and a retained-only recomputation, keep the model useful for the remaining clients, and leave an auditable record that can be shown to a regulator.</a:t>
            </a:r>
            <a:endParaRPr lang="en-US" sz="2100" dirty="0"/>
          </a:p>
        </p:txBody>
      </p:sp>
      <p:sp>
        <p:nvSpPr>
          <p:cNvPr id="6" name="Input card"/>
          <p:cNvSpPr/>
          <p:nvPr/>
        </p:nvSpPr>
        <p:spPr>
          <a:xfrm>
            <a:off x="54864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724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Trained federated model + a client's deletion request</a:t>
            </a:r>
            <a:endParaRPr lang="en-US" sz="1400" dirty="0"/>
          </a:p>
        </p:txBody>
      </p:sp>
      <p:sp>
        <p:nvSpPr>
          <p:cNvPr id="9" name="Output card"/>
          <p:cNvSpPr/>
          <p:nvPr/>
        </p:nvSpPr>
        <p:spPr>
          <a:xfrm>
            <a:off x="429768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2628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Updated model + certificate (DP bound, attack, utility)</a:t>
            </a:r>
            <a:endParaRPr lang="en-US" sz="1400" dirty="0"/>
          </a:p>
        </p:txBody>
      </p:sp>
      <p:sp>
        <p:nvSpPr>
          <p:cNvPr id="12" name="Extra card"/>
          <p:cNvSpPr/>
          <p:nvPr/>
        </p:nvSpPr>
        <p:spPr>
          <a:xfrm>
            <a:off x="804672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7532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Hash-chained audit record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Set up federated fine-tuning of an LLM across multiple clients.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Remove a client's influence by parameter-level unlearning without full retraining.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Certify forgetting with differential-privacy based guarantees.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Verify unlearning with membership-inference tests and comparison with retraining.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Preserve model utility on the remaining data.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0F172A"/>
                </a:solidFill>
              </a:rPr>
              <a:t>Provide auditable compliance records for each unlearning request.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4" name="Text track card"/>
          <p:cNvSpPr/>
          <p:nvPr/>
        </p:nvSpPr>
        <p:spPr>
          <a:xfrm>
            <a:off x="54864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6" name="Image 0" descr="Text 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Federated training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Five simulated clients; each update is L2-clipped (C = 25) and stored; Gaussian noise is added to the sum.</a:t>
            </a:r>
            <a:endParaRPr lang="en-US" sz="1200" dirty="0"/>
          </a:p>
        </p:txBody>
      </p:sp>
      <p:sp>
        <p:nvSpPr>
          <p:cNvPr id="9" name="Visual track card"/>
          <p:cNvSpPr/>
          <p:nvPr/>
        </p:nvSpPr>
        <p:spPr>
          <a:xfrm>
            <a:off x="3364992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3593592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Visual 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9392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Parameter-level unlearning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Subtract the tracked update, renormalise over the retained clients; no retraining and no raw data.</a:t>
            </a:r>
            <a:endParaRPr lang="en-US" sz="1200" dirty="0"/>
          </a:p>
        </p:txBody>
      </p:sp>
      <p:sp>
        <p:nvSpPr>
          <p:cNvPr id="14" name="Fusion card"/>
          <p:cNvSpPr/>
          <p:nvPr/>
        </p:nvSpPr>
        <p:spPr>
          <a:xfrm>
            <a:off x="6181344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6409944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Fu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95744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DP certificate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9944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Epsilon and delta from the Gaussian-mechanism bound, plus a recomputation from the retained updates.</a:t>
            </a:r>
            <a:endParaRPr lang="en-US" sz="1200" dirty="0"/>
          </a:p>
        </p:txBody>
      </p:sp>
      <p:sp>
        <p:nvSpPr>
          <p:cNvPr id="19" name="AI-media check card"/>
          <p:cNvSpPr/>
          <p:nvPr/>
        </p:nvSpPr>
        <p:spPr>
          <a:xfrm>
            <a:off x="8997696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9226296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AI-media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099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2096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26296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Loss-based membership AUC, perplexity, next-character accuracy and utility retention per request.</a:t>
            </a:r>
            <a:endParaRPr lang="en-US" sz="1200" dirty="0"/>
          </a:p>
        </p:txBody>
      </p:sp>
      <p:sp>
        <p:nvSpPr>
          <p:cNvPr id="24" name="Web application card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Web applic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1032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47548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Audit and application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440680"/>
            <a:ext cx="10637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SHA-256 hash-chained ledger; Python API and React UI. Shown on a bigram model and on neural LoRA-style adapters (synthetic data).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Proposed architecture: React UI, Python API, federated unlearning engine, bigram model and hash-chained ledger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171" y="1123950"/>
            <a:ext cx="5684157" cy="45910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4" name="Multimodal model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Multimoda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Removal without retraining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client's update is subtracted from the global model in one step.</a:t>
            </a:r>
            <a:endParaRPr lang="en-US" sz="1600" dirty="0"/>
          </a:p>
        </p:txBody>
      </p:sp>
      <p:sp>
        <p:nvSpPr>
          <p:cNvPr id="9" name="Transparent output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Transparent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 certificate per request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Epsilon, delta, clipping norm, noise and model hashes in one JSON record.</a:t>
            </a:r>
            <a:endParaRPr lang="en-US" sz="1600" dirty="0"/>
          </a:p>
        </p:txBody>
      </p:sp>
      <p:sp>
        <p:nvSpPr>
          <p:cNvPr id="14" name="Honest evaluation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Honest evalu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Attack evidence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Membership AUC before and after each removal.</a:t>
            </a:r>
            <a:endParaRPr lang="en-US" sz="1600" dirty="0"/>
          </a:p>
        </p:txBody>
      </p:sp>
      <p:sp>
        <p:nvSpPr>
          <p:cNvPr id="19" name="Generated-media signal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Generated-media sig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Utility check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Perplexity, accuracy and a retention score for the retained model.</a:t>
            </a:r>
            <a:endParaRPr lang="en-US" sz="1600" dirty="0"/>
          </a:p>
        </p:txBody>
      </p:sp>
      <p:sp>
        <p:nvSpPr>
          <p:cNvPr id="24" name="Usable system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Usable syst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Tamper-evident record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Every training and unlearning event chained with SHA-256.</a:t>
            </a:r>
            <a:endParaRPr lang="en-US" sz="1600" dirty="0"/>
          </a:p>
        </p:txBody>
      </p:sp>
      <p:sp>
        <p:nvSpPr>
          <p:cNvPr id="29" name="Quality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p/>
        </p:txBody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Working demonstrator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Python API and React UI that run offline on one PC, plus the same method on a small neural adapter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[1] A. Khan et al., Deep learning approaches for continuous sign language recognition: a comprehensive review, IEEE Access 13, 2025.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[2] J. Wei et al., Rethinking federated unlearning via the lens of memorization, KDD 2026.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[3] F. Zhang et al., Oblivionis: a lightweight learning and unlearning framework for federated LLMs, arXiv:2508.08875, 2025.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[4] Y. Jiang et al., Certifying the right to be forgotten: primal-dual optimization (VFL), arXiv:2512.23171, 2025.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[5] Federated illusion: multi-level geometric privacy audit for federated graph unlearning, Information, 2026 (not verified).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[6] Computationally efficient federated unlearning, Middleware 2025 (not verified).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[7] W. Zhang, A comprehensive investigation of federated unlearning, DAML 2024, pp. 569-573.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[8] Unlearning under siege: robustness risks of certified machine unlearning, Neurocomputing, 2026 (not verified).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[9] B. McMahan et al., Communication-efficient learning of deep networks from decentralized data, AISTATS 2017.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[10] C. Dwork and A. Roth, The algorithmic foundations of differential privacy, 2014.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getSafe">
  <a:themeElements>
    <a:clrScheme name="ForgetSafe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ForgetSaf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ForgetSafe: Review 1</dc:title>
  <dc:subject>Privacy-Preserving Machine Unlearning in Federated LLMs: A Certified Right-to-Be-Forgotten Framework</dc:subject>
  <dc:creator>Batch A9</dc:creator>
  <cp:lastModifiedBy>Batch A9</cp:lastModifiedBy>
  <cp:revision>1</cp:revision>
  <dcterms:created xsi:type="dcterms:W3CDTF">2026-10-13T12:36:40Z</dcterms:created>
  <dcterms:modified xsi:type="dcterms:W3CDTF">2026-10-13T12:36:40Z</dcterms:modified>
  <cp:keywords>federated unlearning, differential privacy, right to be forgotten, membership inference, audit ledger</cp:keywords>
  <cp:category/>
  <dc:description/>
  <cp:contentStatus/>
</cp:coreProperties>
</file>