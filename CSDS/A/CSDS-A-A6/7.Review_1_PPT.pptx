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800" b="1" dirty="0">
                <a:solidFill>
                  <a:schemeClr val="accent2"/>
                </a:solidFill>
                <a:latin typeface="Copperplate Gothic Bold" pitchFamily="34" charset="0"/>
              </a:rPr>
              <a:t>LEGAL CONTRACT COMPLEXITY &amp; PREDATORY CLAUSE DETECTOR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506940" algn="l"/>
              </a:tabLst>
            </a:pPr>
            <a:r>
              <a:rPr lang="en-US" sz="155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55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506940" algn="l"/>
              </a:tabLst>
            </a:pPr>
            <a:r>
              <a:rPr lang="en-US" sz="1550" b="1" dirty="0">
                <a:solidFill>
                  <a:srgbClr val="92D050"/>
                </a:solidFill>
                <a:latin typeface="Copperplate Gothic Bold" pitchFamily="34" charset="0"/>
              </a:rPr>
              <a:t>1 CH.PRANATHI</a:t>
            </a:r>
            <a:r>
              <a:rPr lang="en-US" sz="1550" b="1" dirty="0">
                <a:solidFill>
                  <a:srgbClr val="92D050"/>
                </a:solidFill>
                <a:latin typeface="Copperplate Gothic Bold" pitchFamily="34" charset="0"/>
              </a:rPr>
              <a:t>	23K91A6744</a:t>
            </a:r>
          </a:p>
          <a:p>
            <a:pPr algn="l">
              <a:tabLst>
                <a:tab pos="2506940" algn="l"/>
              </a:tabLst>
            </a:pPr>
            <a:r>
              <a:rPr lang="en-US" sz="1550" b="1" dirty="0">
                <a:solidFill>
                  <a:srgbClr val="92D050"/>
                </a:solidFill>
                <a:latin typeface="Copperplate Gothic Bold" pitchFamily="34" charset="0"/>
              </a:rPr>
              <a:t>2 G.PRANAVI</a:t>
            </a:r>
            <a:r>
              <a:rPr lang="en-US" sz="1550" b="1" dirty="0">
                <a:solidFill>
                  <a:srgbClr val="92D050"/>
                </a:solidFill>
                <a:latin typeface="Copperplate Gothic Bold" pitchFamily="34" charset="0"/>
              </a:rPr>
              <a:t>	23K91A6762</a:t>
            </a:r>
          </a:p>
          <a:p>
            <a:pPr algn="l">
              <a:tabLst>
                <a:tab pos="2506940" algn="l"/>
              </a:tabLst>
            </a:pPr>
            <a:r>
              <a:rPr lang="en-US" sz="1550" b="1" dirty="0">
                <a:solidFill>
                  <a:srgbClr val="92D050"/>
                </a:solidFill>
                <a:latin typeface="Copperplate Gothic Bold" pitchFamily="34" charset="0"/>
              </a:rPr>
              <a:t>3 G.CHARAN JOSEPH</a:t>
            </a:r>
            <a:r>
              <a:rPr lang="en-US" sz="1550" b="1" dirty="0">
                <a:solidFill>
                  <a:srgbClr val="92D050"/>
                </a:solidFill>
                <a:latin typeface="Copperplate Gothic Bold" pitchFamily="34" charset="0"/>
              </a:rPr>
              <a:t>	23K91A6753</a:t>
            </a:r>
          </a:p>
          <a:p>
            <a:pPr algn="l">
              <a:tabLst>
                <a:tab pos="2506940" algn="l"/>
              </a:tabLst>
            </a:pPr>
            <a:r>
              <a:rPr lang="en-US" sz="1550" b="1" dirty="0">
                <a:solidFill>
                  <a:srgbClr val="92D050"/>
                </a:solidFill>
                <a:latin typeface="Copperplate Gothic Bold" pitchFamily="34" charset="0"/>
              </a:rPr>
              <a:t>4 G.BHAGWATH</a:t>
            </a:r>
            <a:r>
              <a:rPr lang="en-US" sz="1550" b="1" dirty="0">
                <a:solidFill>
                  <a:srgbClr val="92D050"/>
                </a:solidFill>
                <a:latin typeface="Copperplate Gothic Bold" pitchFamily="34" charset="0"/>
              </a:rPr>
              <a:t>	23K91A6760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Individuals, freelancers, gig workers and small businesses increasingly sign digital contracts without legal support.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Contracts can contain unfair termination terms, hidden liabilities or one-sided arbitration clauses.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Non-experts struggle to recognise such clauses, which creates information asymmetry against the weaker party.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Professional legal review is expensive and not always accessible.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Large Language Models with retrieval can read contracts and explain risks in plain language.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builds a jurisdiction-aware contract complexity and predatory clause detector for Indian contracts.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Contracts signed by individuals, freelancers and small businesses often contain complex, ambiguous or predatory clauses.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project automatically assesses contract complexity and flags predatory clauses, with a focus on Indian law.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RAG architecture combines the Claude API with pgvector semantic search over clause embeddings.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Neo4j graph models relationships between clause types, legal concepts and precedents to detect risky clause combinations.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system is evaluated on the CUAD dataset, measuring clause classification and predatory-flag detection separately.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Contracts are reviewed manually by lawyers or read by signatories without expert help.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Commercial contract analysis tools target enterprise use and US or EU law.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Research systems classify clause types using datasets such as CUAD.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General chatbots can summarise contracts but are not grounded in legal context.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Professional legal review is costly and slow for individuals and small businesses.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Existing tools rarely consider Indian contract law.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Clauses are analysed in isolation, missing risky combinations of clauses.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Clause classification and predatory-clause detection are often conflated in evaluation.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General LLM summaries may be inaccurate and lack clause-level references.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Users upload contracts and receive clause-level annotations, a complexity score and a plain-language risk summary.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Clauses are embedded and stored in PostgreSQL with pgvector for semantic similarity search.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RAG pipeline with the Claude API reasons over retrieved clauses and legal context.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Neo4j graph models clause types, legal concepts and precedent patterns to detect risky clause combinations.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FastAPI backend and Next.js frontend deliver fast, API-based inference without a local GPU.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Dataset Preparation: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Use the CUAD dataset of expert-annotated contracts and curate Indian-law risk criteria.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Clause Segmentation: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Extract text from contracts and split it into individual clauses.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Embedding &amp; Storage: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Embed clauses and store them in PostgreSQL with pgvector.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Knowledge Graph: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Model clause types, legal concepts and precedent patterns in Neo4j.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RAG Reasoning: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Retrieve similar clauses and legal context and analyse them with the Claude API.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Risk Scoring: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Flag predatory clauses and compute an overall contract complexity score.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Evaluation: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Evaluate clause-type classification on CUAD labels and predatory flags on curated criteria, separately.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Interface: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Provide contract upload, clause annotations and a plain-language summary in Next.js.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i5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8 GB or higher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20 GB free space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GPU: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Not required (CPU-only, API-based inference)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Network: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Internet access for the Claude API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Backend: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FastAPI (Python)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Frontend: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Next.js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LLM: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Claude API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Vector Search: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PostgreSQL with pgvector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Graph Database: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Neo4j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Dataset: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CUAD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system makes contract risks visible to individuals and small businesses before they sign.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RAG with pgvector grounds the analysis in relevant clauses, while Neo4j exposes risky clause combinations.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Evaluating classification and predatory detection separately gives honest, task-specific metrics.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project contributes a jurisdiction-aware approach for Indian contracts that is underrepresented in current research.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