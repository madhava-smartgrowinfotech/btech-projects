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r>
              <a:rPr sz="1300" b="1"/>
              <a:t>Accuracy on 150 Saudi legal questions, baseline models, from the base paper [1] (%)</a:t>
            </a:r>
          </a:p>
        </c:rich>
      </c:tx>
      <c:layout/>
      <c:overlay val="0"/>
    </c:title>
    <c:autoTitleDeleted val="0"/>
    <c:plotArea>
      <c:layout/>
      <c:barChart>
        <c:barDir val="col"/>
        <c:grouping val="clustered"/>
        <c:varyColors val="0"/>
        <c:ser>
          <c:idx val="0"/>
          <c:order val="0"/>
          <c:tx>
            <c:strRef>
              <c:f>Sheet1!$B$1</c:f>
              <c:strCache>
                <c:ptCount val="1"/>
                <c:pt idx="0">
                  <c:v>Accuracy (%)</c:v>
                </c:pt>
              </c:strCache>
            </c:strRef>
          </c:tx>
          <c:spPr>
            <a:solidFill>
              <a:srgbClr val="3F3FBF"/>
            </a:solidFill>
            <a:effectLst/>
          </c:spPr>
          <c:invertIfNegative val="0"/>
          <c:dLbls>
            <c:numFmt formatCode="0.00" sourceLinked="0"/>
            <c:txPr>
              <a:bodyPr/>
              <a:lstStyle/>
              <a:p>
                <a:pPr>
                  <a:defRPr b="0" i="0" strike="noStrike" sz="1200" u="none">
                    <a:solidFill>
                      <a:srgbClr val="475569"/>
                    </a:solidFill>
                    <a:latin typeface="+mn-lt"/>
                  </a:defRPr>
                </a:pPr>
              </a:p>
            </c:txPr>
            <c:showLegendKey val="0"/>
            <c:showVal val="1"/>
            <c:showCatName val="0"/>
            <c:showSerName val="0"/>
            <c:showPercent val="0"/>
            <c:showBubbleSize val="0"/>
            <c:showLeaderLines val="0"/>
          </c:dLbls>
          <c:cat>
            <c:strRef>
              <c:f>Sheet1!$A$2:$A$5</c:f>
              <c:strCache>
                <c:ptCount val="4"/>
                <c:pt idx="0">
                  <c:v>Gemini 1.5 Flash</c:v>
                </c:pt>
                <c:pt idx="1">
                  <c:v>GPT-3.5</c:v>
                </c:pt>
                <c:pt idx="2">
                  <c:v>GPT-4</c:v>
                </c:pt>
                <c:pt idx="3">
                  <c:v>ALLaM</c:v>
                </c:pt>
              </c:strCache>
            </c:strRef>
          </c:cat>
          <c:val>
            <c:numRef>
              <c:f>Sheet1!$B$2:$B$5</c:f>
              <c:numCache>
                <c:formatCode>0.00</c:formatCode>
                <c:ptCount val="4"/>
                <c:pt idx="0">
                  <c:v>98.67</c:v>
                </c:pt>
                <c:pt idx="1">
                  <c:v>98.0</c:v>
                </c:pt>
                <c:pt idx="2">
                  <c:v>97.33</c:v>
                </c:pt>
                <c:pt idx="3">
                  <c:v>96.0</c:v>
                </c:pt>
              </c:numCache>
            </c:numRef>
          </c:val>
        </c:ser>
        <c:dLbls>
          <c:numFmt formatCode="0.00" sourceLinked="0"/>
          <c:txPr>
            <a:bodyPr/>
            <a:lstStyle/>
            <a:p>
              <a:pPr>
                <a:defRPr b="0" i="0" strike="noStrike" sz="1200" u="none">
                  <a:solidFill>
                    <a:srgbClr val="47556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ax val="100.0"/>
          <c:min val="0.0"/>
        </c:scaling>
        <c:delete val="0"/>
        <c:axPos val="l"/>
        <c:majorGridlines>
          <c:spPr>
            <a:ln w="9525" cap="flat">
              <a:solidFill>
                <a:srgbClr val="E2E8F0"/>
              </a:solidFill>
              <a:prstDash val="solid"/>
              <a:round/>
            </a:ln>
          </c:spPr>
        </c:majorGridlines>
        <c:title>
          <c:tx>
            <c:rich>
              <a:bodyPr/>
              <a:lstStyle/>
              <a:p>
                <a:r>
                  <a:rPr sz="1000" b="0"/>
                  <a:t>accuracy (%)</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Review 1 covers problem identification and research for ClauseGuard, a tool that scores the complexity of a contract and flags predatory clauses, with a focus on Indian contract law.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Nine parts: the abstract, the base paper and related work, the existing systems and their limits, the research gap, our problem statement and objectives, the approach and architecture, expected outcomes and references.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abstract in one slide: the problem for non-experts, the idea of jurisdiction-aware clause analysis, and the web application that is the deliverable.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base paper is SmartLaw Advisor (IEEE Access, 2026). We adopt its jurisdiction-aware RAG design and its contract-analysis idea, and extend it to Indian contracts with clause combinations and a complexity score.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to [4] were read in full. [5] to [7] are in the batch literature survey but could not be retrieved, so only their titles are used and no results are claimed for them.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chart shows the base paper's baseline accuracy for four models on its own 150-question set. ContractEval and the Onit study are cited in words because their metrics differ.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How a freelancer or small business handles a contract today, and what tools exist.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limitations taken from the literature survey: cost, jurisdiction, isolated clauses and ungrounded summaries.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Jurisdiction-aware detection of predatory clause combinations in Indian contracts is under-represented in the literature we surveyed.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Input is a contract file; outputs are clause types, flags with reasons, combinations and a complexity grade; the extra property is a plain-language explanation tied to each clause.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of the project, from the batch objectives document.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approach as built: Gemini embeddings and text generation, a NumPy similarity search and a NetworkX graph in place of the planned Claude API, pgvector and Neo4j, to keep the prototype simple to run locally.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Browser to React to FastAPI. The services run in the backend; embeddings and explanations come from the Gemini API; data stay in SQLite and local files.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Expected outcomes are targets at this stage; they are measured and reported honestly in the later reviews.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References [1] to [10]; [5] to [7] are listed in the batch survey but were not retrieved. The full list is in the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Questions are welcome.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ClauseGuard  ·  Review 1  ·  Batch A6</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ClauseGuard</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Legal Contract Complexity and Predatory Clause Detector</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CH.PRANATHI  23K91A6744</a:t>
            </a:r>
            <a:endParaRPr lang="en-US" sz="1500" dirty="0"/>
          </a:p>
          <a:p>
            <a:pPr indent="0" marL="0">
              <a:buNone/>
            </a:pPr>
            <a:r>
              <a:rPr lang="en-US" sz="1500" dirty="0">
                <a:solidFill>
                  <a:srgbClr val="FFFFFF"/>
                </a:solidFill>
              </a:rPr>
              <a:t>G.PRANAVI  23K91A6762</a:t>
            </a:r>
            <a:endParaRPr lang="en-US" sz="1500" dirty="0"/>
          </a:p>
          <a:p>
            <a:pPr indent="0" marL="0">
              <a:buNone/>
            </a:pPr>
            <a:r>
              <a:rPr lang="en-US" sz="1500" dirty="0">
                <a:solidFill>
                  <a:srgbClr val="FFFFFF"/>
                </a:solidFill>
              </a:rPr>
              <a:t>G.CHARAN JOSEPH  23K91A6753</a:t>
            </a:r>
            <a:endParaRPr lang="en-US" sz="1500" dirty="0"/>
          </a:p>
          <a:p>
            <a:pPr indent="0" marL="0">
              <a:buNone/>
            </a:pPr>
            <a:r>
              <a:rPr lang="en-US" sz="1500" dirty="0">
                <a:solidFill>
                  <a:srgbClr val="FFFFFF"/>
                </a:solidFill>
              </a:rPr>
              <a:t>G.BHAGWATH  23K91A6760</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[GUIDE NAME],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 (Data Science)</a:t>
            </a:r>
            <a:endParaRPr lang="en-US" sz="1300" dirty="0"/>
          </a:p>
          <a:p>
            <a:pPr indent="0" marL="0">
              <a:buNone/>
            </a:pPr>
            <a:r>
              <a:rPr lang="en-US" sz="1300" dirty="0">
                <a:solidFill>
                  <a:srgbClr val="CADCFC"/>
                </a:solidFill>
              </a:rPr>
              <a:t>[COLLEGE NAME]  ·  Batch A6 (CSE - Data Science, Section 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4" name="agenda 1"/>
          <p:cNvSpPr/>
          <p:nvPr/>
        </p:nvSpPr>
        <p:spPr>
          <a:xfrm>
            <a:off x="548640" y="1417320"/>
            <a:ext cx="3566160" cy="1325880"/>
          </a:xfrm>
          <a:prstGeom prst="roundRect">
            <a:avLst>
              <a:gd name="adj" fmla="val 5517"/>
            </a:avLst>
          </a:prstGeom>
          <a:solidFill>
            <a:srgbClr val="F6F8FB"/>
          </a:solidFill>
          <a:ln w="9525">
            <a:solidFill>
              <a:srgbClr val="D5DCE6"/>
            </a:solidFill>
            <a:prstDash val="solid"/>
          </a:ln>
        </p:spPr>
        <p:txBody>
          <a:bodyPr/>
          <a:p/>
        </p:txBody>
      </p:sp>
      <p:sp>
        <p:nvSpPr>
          <p:cNvPr id="5" name="Text 2"/>
          <p:cNvSpPr txBox="1"/>
          <p:nvPr/>
        </p:nvSpPr>
        <p:spPr>
          <a:xfrm>
            <a:off x="777240" y="160020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01</a:t>
            </a:r>
            <a:endParaRPr lang="en-US" sz="2400" dirty="0"/>
          </a:p>
        </p:txBody>
      </p:sp>
      <p:sp>
        <p:nvSpPr>
          <p:cNvPr id="6" name="Text 3"/>
          <p:cNvSpPr txBox="1"/>
          <p:nvPr/>
        </p:nvSpPr>
        <p:spPr>
          <a:xfrm>
            <a:off x="777240" y="207568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Abstract and overview</a:t>
            </a:r>
            <a:endParaRPr lang="en-US" sz="1600" dirty="0"/>
          </a:p>
        </p:txBody>
      </p:sp>
      <p:sp>
        <p:nvSpPr>
          <p:cNvPr id="7" name="agenda 2"/>
          <p:cNvSpPr/>
          <p:nvPr/>
        </p:nvSpPr>
        <p:spPr>
          <a:xfrm>
            <a:off x="4297680" y="1417320"/>
            <a:ext cx="3566160" cy="1325880"/>
          </a:xfrm>
          <a:prstGeom prst="roundRect">
            <a:avLst>
              <a:gd name="adj" fmla="val 5517"/>
            </a:avLst>
          </a:prstGeom>
          <a:solidFill>
            <a:srgbClr val="F6F8FB"/>
          </a:solidFill>
          <a:ln w="9525">
            <a:solidFill>
              <a:srgbClr val="D5DCE6"/>
            </a:solidFill>
            <a:prstDash val="solid"/>
          </a:ln>
        </p:spPr>
        <p:txBody>
          <a:bodyPr/>
          <a:p/>
        </p:txBody>
      </p:sp>
      <p:sp>
        <p:nvSpPr>
          <p:cNvPr id="8" name="Text 5"/>
          <p:cNvSpPr txBox="1"/>
          <p:nvPr/>
        </p:nvSpPr>
        <p:spPr>
          <a:xfrm>
            <a:off x="4526280" y="160020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02</a:t>
            </a:r>
            <a:endParaRPr lang="en-US" sz="2400" dirty="0"/>
          </a:p>
        </p:txBody>
      </p:sp>
      <p:sp>
        <p:nvSpPr>
          <p:cNvPr id="9" name="Text 6"/>
          <p:cNvSpPr txBox="1"/>
          <p:nvPr/>
        </p:nvSpPr>
        <p:spPr>
          <a:xfrm>
            <a:off x="4526280" y="207568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Base paper</a:t>
            </a:r>
            <a:endParaRPr lang="en-US" sz="1600" dirty="0"/>
          </a:p>
        </p:txBody>
      </p:sp>
      <p:sp>
        <p:nvSpPr>
          <p:cNvPr id="10" name="agenda 3"/>
          <p:cNvSpPr/>
          <p:nvPr/>
        </p:nvSpPr>
        <p:spPr>
          <a:xfrm>
            <a:off x="8046720" y="1417320"/>
            <a:ext cx="3566160" cy="1325880"/>
          </a:xfrm>
          <a:prstGeom prst="roundRect">
            <a:avLst>
              <a:gd name="adj" fmla="val 5517"/>
            </a:avLst>
          </a:prstGeom>
          <a:solidFill>
            <a:srgbClr val="F6F8FB"/>
          </a:solidFill>
          <a:ln w="9525">
            <a:solidFill>
              <a:srgbClr val="D5DCE6"/>
            </a:solidFill>
            <a:prstDash val="solid"/>
          </a:ln>
        </p:spPr>
        <p:txBody>
          <a:bodyPr/>
          <a:p/>
        </p:txBody>
      </p:sp>
      <p:sp>
        <p:nvSpPr>
          <p:cNvPr id="11" name="Text 8"/>
          <p:cNvSpPr txBox="1"/>
          <p:nvPr/>
        </p:nvSpPr>
        <p:spPr>
          <a:xfrm>
            <a:off x="8275320" y="160020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03</a:t>
            </a:r>
            <a:endParaRPr lang="en-US" sz="2400" dirty="0"/>
          </a:p>
        </p:txBody>
      </p:sp>
      <p:sp>
        <p:nvSpPr>
          <p:cNvPr id="12" name="Text 9"/>
          <p:cNvSpPr txBox="1"/>
          <p:nvPr/>
        </p:nvSpPr>
        <p:spPr>
          <a:xfrm>
            <a:off x="8275320" y="207568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Literature survey</a:t>
            </a:r>
            <a:endParaRPr lang="en-US" sz="1600" dirty="0"/>
          </a:p>
        </p:txBody>
      </p:sp>
      <p:sp>
        <p:nvSpPr>
          <p:cNvPr id="13" name="agenda 4"/>
          <p:cNvSpPr/>
          <p:nvPr/>
        </p:nvSpPr>
        <p:spPr>
          <a:xfrm>
            <a:off x="548640" y="2971800"/>
            <a:ext cx="3566160" cy="1325880"/>
          </a:xfrm>
          <a:prstGeom prst="roundRect">
            <a:avLst>
              <a:gd name="adj" fmla="val 5517"/>
            </a:avLst>
          </a:prstGeom>
          <a:solidFill>
            <a:srgbClr val="F6F8FB"/>
          </a:solidFill>
          <a:ln w="9525">
            <a:solidFill>
              <a:srgbClr val="D5DCE6"/>
            </a:solidFill>
            <a:prstDash val="solid"/>
          </a:ln>
        </p:spPr>
        <p:txBody>
          <a:bodyPr/>
          <a:p/>
        </p:txBody>
      </p:sp>
      <p:sp>
        <p:nvSpPr>
          <p:cNvPr id="14" name="Text 11"/>
          <p:cNvSpPr txBox="1"/>
          <p:nvPr/>
        </p:nvSpPr>
        <p:spPr>
          <a:xfrm>
            <a:off x="777240" y="315468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04</a:t>
            </a:r>
            <a:endParaRPr lang="en-US" sz="2400" dirty="0"/>
          </a:p>
        </p:txBody>
      </p:sp>
      <p:sp>
        <p:nvSpPr>
          <p:cNvPr id="15" name="Text 12"/>
          <p:cNvSpPr txBox="1"/>
          <p:nvPr/>
        </p:nvSpPr>
        <p:spPr>
          <a:xfrm>
            <a:off x="777240" y="363016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Existing approaches and limitations</a:t>
            </a:r>
            <a:endParaRPr lang="en-US" sz="1600" dirty="0"/>
          </a:p>
        </p:txBody>
      </p:sp>
      <p:sp>
        <p:nvSpPr>
          <p:cNvPr id="16" name="agenda 5"/>
          <p:cNvSpPr/>
          <p:nvPr/>
        </p:nvSpPr>
        <p:spPr>
          <a:xfrm>
            <a:off x="4297680" y="2971800"/>
            <a:ext cx="3566160" cy="1325880"/>
          </a:xfrm>
          <a:prstGeom prst="roundRect">
            <a:avLst>
              <a:gd name="adj" fmla="val 5517"/>
            </a:avLst>
          </a:prstGeom>
          <a:solidFill>
            <a:srgbClr val="F6F8FB"/>
          </a:solidFill>
          <a:ln w="9525">
            <a:solidFill>
              <a:srgbClr val="D5DCE6"/>
            </a:solidFill>
            <a:prstDash val="solid"/>
          </a:ln>
        </p:spPr>
        <p:txBody>
          <a:bodyPr/>
          <a:p/>
        </p:txBody>
      </p:sp>
      <p:sp>
        <p:nvSpPr>
          <p:cNvPr id="17" name="Text 14"/>
          <p:cNvSpPr txBox="1"/>
          <p:nvPr/>
        </p:nvSpPr>
        <p:spPr>
          <a:xfrm>
            <a:off x="4526280" y="315468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05</a:t>
            </a:r>
            <a:endParaRPr lang="en-US" sz="2400" dirty="0"/>
          </a:p>
        </p:txBody>
      </p:sp>
      <p:sp>
        <p:nvSpPr>
          <p:cNvPr id="18" name="Text 15"/>
          <p:cNvSpPr txBox="1"/>
          <p:nvPr/>
        </p:nvSpPr>
        <p:spPr>
          <a:xfrm>
            <a:off x="4526280" y="363016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Research gap</a:t>
            </a:r>
            <a:endParaRPr lang="en-US" sz="1600" dirty="0"/>
          </a:p>
        </p:txBody>
      </p:sp>
      <p:sp>
        <p:nvSpPr>
          <p:cNvPr id="19" name="agenda 6"/>
          <p:cNvSpPr/>
          <p:nvPr/>
        </p:nvSpPr>
        <p:spPr>
          <a:xfrm>
            <a:off x="8046720" y="2971800"/>
            <a:ext cx="3566160" cy="1325880"/>
          </a:xfrm>
          <a:prstGeom prst="roundRect">
            <a:avLst>
              <a:gd name="adj" fmla="val 5517"/>
            </a:avLst>
          </a:prstGeom>
          <a:solidFill>
            <a:srgbClr val="F6F8FB"/>
          </a:solidFill>
          <a:ln w="9525">
            <a:solidFill>
              <a:srgbClr val="D5DCE6"/>
            </a:solidFill>
            <a:prstDash val="solid"/>
          </a:ln>
        </p:spPr>
        <p:txBody>
          <a:bodyPr/>
          <a:p/>
        </p:txBody>
      </p:sp>
      <p:sp>
        <p:nvSpPr>
          <p:cNvPr id="20" name="Text 17"/>
          <p:cNvSpPr txBox="1"/>
          <p:nvPr/>
        </p:nvSpPr>
        <p:spPr>
          <a:xfrm>
            <a:off x="8275320" y="315468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06</a:t>
            </a:r>
            <a:endParaRPr lang="en-US" sz="2400" dirty="0"/>
          </a:p>
        </p:txBody>
      </p:sp>
      <p:sp>
        <p:nvSpPr>
          <p:cNvPr id="21" name="Text 18"/>
          <p:cNvSpPr txBox="1"/>
          <p:nvPr/>
        </p:nvSpPr>
        <p:spPr>
          <a:xfrm>
            <a:off x="8275320" y="363016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Problem statement and objectives</a:t>
            </a:r>
            <a:endParaRPr lang="en-US" sz="1600" dirty="0"/>
          </a:p>
        </p:txBody>
      </p:sp>
      <p:sp>
        <p:nvSpPr>
          <p:cNvPr id="22" name="agenda 7"/>
          <p:cNvSpPr/>
          <p:nvPr/>
        </p:nvSpPr>
        <p:spPr>
          <a:xfrm>
            <a:off x="548640" y="4526280"/>
            <a:ext cx="3566160" cy="1325880"/>
          </a:xfrm>
          <a:prstGeom prst="roundRect">
            <a:avLst>
              <a:gd name="adj" fmla="val 5517"/>
            </a:avLst>
          </a:prstGeom>
          <a:solidFill>
            <a:srgbClr val="F6F8FB"/>
          </a:solidFill>
          <a:ln w="9525">
            <a:solidFill>
              <a:srgbClr val="D5DCE6"/>
            </a:solidFill>
            <a:prstDash val="solid"/>
          </a:ln>
        </p:spPr>
        <p:txBody>
          <a:bodyPr/>
          <a:p/>
        </p:txBody>
      </p:sp>
      <p:sp>
        <p:nvSpPr>
          <p:cNvPr id="23" name="Text 20"/>
          <p:cNvSpPr txBox="1"/>
          <p:nvPr/>
        </p:nvSpPr>
        <p:spPr>
          <a:xfrm>
            <a:off x="777240" y="470916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07</a:t>
            </a:r>
            <a:endParaRPr lang="en-US" sz="2400" dirty="0"/>
          </a:p>
        </p:txBody>
      </p:sp>
      <p:sp>
        <p:nvSpPr>
          <p:cNvPr id="24" name="Text 21"/>
          <p:cNvSpPr txBox="1"/>
          <p:nvPr/>
        </p:nvSpPr>
        <p:spPr>
          <a:xfrm>
            <a:off x="777240" y="518464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Proposed approach and architecture</a:t>
            </a:r>
            <a:endParaRPr lang="en-US" sz="1600" dirty="0"/>
          </a:p>
        </p:txBody>
      </p:sp>
      <p:sp>
        <p:nvSpPr>
          <p:cNvPr id="25" name="agenda 8"/>
          <p:cNvSpPr/>
          <p:nvPr/>
        </p:nvSpPr>
        <p:spPr>
          <a:xfrm>
            <a:off x="4297680" y="4526280"/>
            <a:ext cx="3566160" cy="1325880"/>
          </a:xfrm>
          <a:prstGeom prst="roundRect">
            <a:avLst>
              <a:gd name="adj" fmla="val 5517"/>
            </a:avLst>
          </a:prstGeom>
          <a:solidFill>
            <a:srgbClr val="F6F8FB"/>
          </a:solidFill>
          <a:ln w="9525">
            <a:solidFill>
              <a:srgbClr val="D5DCE6"/>
            </a:solidFill>
            <a:prstDash val="solid"/>
          </a:ln>
        </p:spPr>
        <p:txBody>
          <a:bodyPr/>
          <a:p/>
        </p:txBody>
      </p:sp>
      <p:sp>
        <p:nvSpPr>
          <p:cNvPr id="26" name="Text 23"/>
          <p:cNvSpPr txBox="1"/>
          <p:nvPr/>
        </p:nvSpPr>
        <p:spPr>
          <a:xfrm>
            <a:off x="4526280" y="470916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08</a:t>
            </a:r>
            <a:endParaRPr lang="en-US" sz="2400" dirty="0"/>
          </a:p>
        </p:txBody>
      </p:sp>
      <p:sp>
        <p:nvSpPr>
          <p:cNvPr id="27" name="Text 24"/>
          <p:cNvSpPr txBox="1"/>
          <p:nvPr/>
        </p:nvSpPr>
        <p:spPr>
          <a:xfrm>
            <a:off x="4526280" y="518464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Expected outcomes</a:t>
            </a:r>
            <a:endParaRPr lang="en-US" sz="1600" dirty="0"/>
          </a:p>
        </p:txBody>
      </p:sp>
      <p:sp>
        <p:nvSpPr>
          <p:cNvPr id="28" name="agenda 9"/>
          <p:cNvSpPr/>
          <p:nvPr/>
        </p:nvSpPr>
        <p:spPr>
          <a:xfrm>
            <a:off x="8046720" y="4526280"/>
            <a:ext cx="3566160" cy="1325880"/>
          </a:xfrm>
          <a:prstGeom prst="roundRect">
            <a:avLst>
              <a:gd name="adj" fmla="val 5517"/>
            </a:avLst>
          </a:prstGeom>
          <a:solidFill>
            <a:srgbClr val="F6F8FB"/>
          </a:solidFill>
          <a:ln w="9525">
            <a:solidFill>
              <a:srgbClr val="D5DCE6"/>
            </a:solidFill>
            <a:prstDash val="solid"/>
          </a:ln>
        </p:spPr>
        <p:txBody>
          <a:bodyPr/>
          <a:p/>
        </p:txBody>
      </p:sp>
      <p:sp>
        <p:nvSpPr>
          <p:cNvPr id="29" name="Text 26"/>
          <p:cNvSpPr txBox="1"/>
          <p:nvPr/>
        </p:nvSpPr>
        <p:spPr>
          <a:xfrm>
            <a:off x="8275320" y="470916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09</a:t>
            </a:r>
            <a:endParaRPr lang="en-US" sz="2400" dirty="0"/>
          </a:p>
        </p:txBody>
      </p:sp>
      <p:sp>
        <p:nvSpPr>
          <p:cNvPr id="30" name="Text 27"/>
          <p:cNvSpPr txBox="1"/>
          <p:nvPr/>
        </p:nvSpPr>
        <p:spPr>
          <a:xfrm>
            <a:off x="8275320" y="518464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References</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reading a contract before signing it</a:t>
            </a:r>
            <a:endParaRPr lang="en-US" sz="3200" dirty="0"/>
          </a:p>
        </p:txBody>
      </p:sp>
      <p:sp>
        <p:nvSpPr>
          <p:cNvPr id="4" name="The problem card"/>
          <p:cNvSpPr/>
          <p:nvPr/>
        </p:nvSpPr>
        <p:spPr>
          <a:xfrm>
            <a:off x="548640" y="1371600"/>
            <a:ext cx="3566160" cy="4206240"/>
          </a:xfrm>
          <a:prstGeom prst="roundRect">
            <a:avLst>
              <a:gd name="adj" fmla="val 2051"/>
            </a:avLst>
          </a:prstGeom>
          <a:solidFill>
            <a:srgbClr val="F6F8FB"/>
          </a:solidFill>
          <a:ln w="9525">
            <a:solidFill>
              <a:srgbClr val="D5DCE6"/>
            </a:solidFill>
            <a:prstDash val="solid"/>
          </a:ln>
        </p:spPr>
        <p:txBody>
          <a:bodyPr/>
          <a:p/>
        </p:txBody>
      </p:sp>
      <p:sp>
        <p:nvSpPr>
          <p:cNvPr id="5" name="icon circle"/>
          <p:cNvSpPr/>
          <p:nvPr/>
        </p:nvSpPr>
        <p:spPr>
          <a:xfrm>
            <a:off x="777240" y="1600200"/>
            <a:ext cx="548640" cy="548640"/>
          </a:xfrm>
          <a:prstGeom prst="ellipse">
            <a:avLst/>
          </a:prstGeom>
          <a:solidFill>
            <a:srgbClr val="EB6834"/>
          </a:solidFill>
          <a:ln w="12700">
            <a:solidFill>
              <a:srgbClr val="EB6834"/>
            </a:solidFill>
            <a:prstDash val="solid"/>
          </a:ln>
        </p:spPr>
        <p:txBody>
          <a:bodyPr/>
          <a:p/>
        </p:txBody>
      </p:sp>
      <p:pic>
        <p:nvPicPr>
          <p:cNvPr id="6" name="Image 0" descr="The problem">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The problem</a:t>
            </a:r>
            <a:endParaRPr lang="en-US" sz="1600" dirty="0"/>
          </a:p>
        </p:txBody>
      </p:sp>
      <p:sp>
        <p:nvSpPr>
          <p:cNvPr id="8" name="Text 4"/>
          <p:cNvSpPr txBox="1"/>
          <p:nvPr/>
        </p:nvSpPr>
        <p:spPr>
          <a:xfrm>
            <a:off x="777240" y="2240280"/>
            <a:ext cx="3108960" cy="320040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Freelancers, individuals and small businesses sign contracts with complex, ambiguous or predatory clauses and have no affordable legal review. The weaker party faces information asymmetry.</a:t>
            </a:r>
            <a:endParaRPr lang="en-US" sz="1600" dirty="0"/>
          </a:p>
        </p:txBody>
      </p:sp>
      <p:sp>
        <p:nvSpPr>
          <p:cNvPr id="9" name="Our idea card"/>
          <p:cNvSpPr/>
          <p:nvPr/>
        </p:nvSpPr>
        <p:spPr>
          <a:xfrm>
            <a:off x="4297680" y="1371600"/>
            <a:ext cx="3566160" cy="4206240"/>
          </a:xfrm>
          <a:prstGeom prst="roundRect">
            <a:avLst>
              <a:gd name="adj" fmla="val 2051"/>
            </a:avLst>
          </a:prstGeom>
          <a:solidFill>
            <a:srgbClr val="F6F8FB"/>
          </a:solidFill>
          <a:ln w="9525">
            <a:solidFill>
              <a:srgbClr val="D5DCE6"/>
            </a:solidFill>
            <a:prstDash val="solid"/>
          </a:ln>
        </p:spPr>
        <p:txBody>
          <a:bodyPr/>
          <a:p/>
        </p:txBody>
      </p:sp>
      <p:sp>
        <p:nvSpPr>
          <p:cNvPr id="10" name="icon circle"/>
          <p:cNvSpPr/>
          <p:nvPr/>
        </p:nvSpPr>
        <p:spPr>
          <a:xfrm>
            <a:off x="4526280" y="1600200"/>
            <a:ext cx="548640" cy="548640"/>
          </a:xfrm>
          <a:prstGeom prst="ellipse">
            <a:avLst/>
          </a:prstGeom>
          <a:solidFill>
            <a:srgbClr val="2A78D6"/>
          </a:solidFill>
          <a:ln w="12700">
            <a:solidFill>
              <a:srgbClr val="2A78D6"/>
            </a:solidFill>
            <a:prstDash val="solid"/>
          </a:ln>
        </p:spPr>
        <p:txBody>
          <a:bodyPr/>
          <a:p/>
        </p:txBody>
      </p:sp>
      <p:pic>
        <p:nvPicPr>
          <p:cNvPr id="11" name="Image 1" descr="Our idea">    </p:cNvPr>
          <p:cNvPicPr>
            <a:picLocks noChangeAspect="1"/>
          </p:cNvPicPr>
          <p:nvPr/>
        </p:nvPicPr>
        <p:blipFill>
          <a:blip r:embed="rId2"/>
          <a:stretch>
            <a:fillRect/>
          </a:stretch>
        </p:blipFill>
        <p:spPr>
          <a:xfrm>
            <a:off x="4636008" y="1709928"/>
            <a:ext cx="329184" cy="329184"/>
          </a:xfrm>
          <a:prstGeom prst="rect">
            <a:avLst/>
          </a:prstGeom>
        </p:spPr>
      </p:pic>
      <p:sp>
        <p:nvSpPr>
          <p:cNvPr id="12" name="Text 7"/>
          <p:cNvSpPr txBox="1"/>
          <p:nvPr/>
        </p:nvSpPr>
        <p:spPr>
          <a:xfrm>
            <a:off x="521208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Our idea</a:t>
            </a:r>
            <a:endParaRPr lang="en-US" sz="1600" dirty="0"/>
          </a:p>
        </p:txBody>
      </p:sp>
      <p:sp>
        <p:nvSpPr>
          <p:cNvPr id="13" name="Text 8"/>
          <p:cNvSpPr txBox="1"/>
          <p:nvPr/>
        </p:nvSpPr>
        <p:spPr>
          <a:xfrm>
            <a:off x="4526280" y="2240280"/>
            <a:ext cx="3108960" cy="320040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Split a contract into clauses, classify each clause type, flag predatory clauses against Indian contract-law criteria, find clause combinations that are risky together, and score overall complexity. A retrieval and LLM pipeline writes the plain-language explanation.</a:t>
            </a:r>
            <a:endParaRPr lang="en-US" sz="1500" dirty="0"/>
          </a:p>
        </p:txBody>
      </p:sp>
      <p:sp>
        <p:nvSpPr>
          <p:cNvPr id="14" name="The deliverable card"/>
          <p:cNvSpPr/>
          <p:nvPr/>
        </p:nvSpPr>
        <p:spPr>
          <a:xfrm>
            <a:off x="8046720" y="1371600"/>
            <a:ext cx="3566160" cy="4206240"/>
          </a:xfrm>
          <a:prstGeom prst="roundRect">
            <a:avLst>
              <a:gd name="adj" fmla="val 2051"/>
            </a:avLst>
          </a:prstGeom>
          <a:solidFill>
            <a:srgbClr val="F6F8FB"/>
          </a:solidFill>
          <a:ln w="9525">
            <a:solidFill>
              <a:srgbClr val="D5DCE6"/>
            </a:solidFill>
            <a:prstDash val="solid"/>
          </a:ln>
        </p:spPr>
        <p:txBody>
          <a:bodyPr/>
          <a:p/>
        </p:txBody>
      </p:sp>
      <p:sp>
        <p:nvSpPr>
          <p:cNvPr id="15" name="icon circle"/>
          <p:cNvSpPr/>
          <p:nvPr/>
        </p:nvSpPr>
        <p:spPr>
          <a:xfrm>
            <a:off x="8275320" y="1600200"/>
            <a:ext cx="548640" cy="548640"/>
          </a:xfrm>
          <a:prstGeom prst="ellipse">
            <a:avLst/>
          </a:prstGeom>
          <a:solidFill>
            <a:srgbClr val="1BAF7A"/>
          </a:solidFill>
          <a:ln w="12700">
            <a:solidFill>
              <a:srgbClr val="1BAF7A"/>
            </a:solidFill>
            <a:prstDash val="solid"/>
          </a:ln>
        </p:spPr>
        <p:txBody>
          <a:bodyPr/>
          <a:p/>
        </p:txBody>
      </p:sp>
      <p:pic>
        <p:nvPicPr>
          <p:cNvPr id="16" name="Image 2" descr="The deliverable">    </p:cNvPr>
          <p:cNvPicPr>
            <a:picLocks noChangeAspect="1"/>
          </p:cNvPicPr>
          <p:nvPr/>
        </p:nvPicPr>
        <p:blipFill>
          <a:blip r:embed="rId3"/>
          <a:stretch>
            <a:fillRect/>
          </a:stretch>
        </p:blipFill>
        <p:spPr>
          <a:xfrm>
            <a:off x="8385048" y="1709928"/>
            <a:ext cx="329184" cy="329184"/>
          </a:xfrm>
          <a:prstGeom prst="rect">
            <a:avLst/>
          </a:prstGeom>
        </p:spPr>
      </p:pic>
      <p:sp>
        <p:nvSpPr>
          <p:cNvPr id="17" name="Text 11"/>
          <p:cNvSpPr txBox="1"/>
          <p:nvPr/>
        </p:nvSpPr>
        <p:spPr>
          <a:xfrm>
            <a:off x="896112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The deliverable</a:t>
            </a:r>
            <a:endParaRPr lang="en-US" sz="1600" dirty="0"/>
          </a:p>
        </p:txBody>
      </p:sp>
      <p:sp>
        <p:nvSpPr>
          <p:cNvPr id="18" name="Text 12"/>
          <p:cNvSpPr txBox="1"/>
          <p:nvPr/>
        </p:nvSpPr>
        <p:spPr>
          <a:xfrm>
            <a:off x="8275320" y="2240280"/>
            <a:ext cx="3108960" cy="320040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A web application: upload a PDF or DOCX, get a complexity grade, a clause-by-clause risk breakdown with the quoted provision and safer wording, and a clause graph. Classification and predatory detection are evaluated separately.</a:t>
            </a:r>
            <a:endParaRPr lang="en-US" sz="15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4" name="citation box"/>
          <p:cNvSpPr/>
          <p:nvPr/>
        </p:nvSpPr>
        <p:spPr>
          <a:xfrm>
            <a:off x="548640" y="1325880"/>
            <a:ext cx="11094415" cy="960120"/>
          </a:xfrm>
          <a:prstGeom prst="roundRect">
            <a:avLst>
              <a:gd name="adj" fmla="val 5714"/>
            </a:avLst>
          </a:prstGeom>
          <a:solidFill>
            <a:srgbClr val="EEF2F7"/>
          </a:solidFill>
          <a:ln w="12700">
            <a:solidFill>
              <a:srgbClr val="EEF2F7"/>
            </a:solidFill>
            <a:prstDash val="solid"/>
          </a:ln>
        </p:spPr>
        <p:txBody>
          <a:bodyPr/>
          <a:p/>
        </p:txBody>
      </p:sp>
      <p:sp>
        <p:nvSpPr>
          <p:cNvPr id="5" name="Text 2"/>
          <p:cNvSpPr txBox="1"/>
          <p:nvPr/>
        </p:nvSpPr>
        <p:spPr>
          <a:xfrm>
            <a:off x="777240" y="1371600"/>
            <a:ext cx="10637215" cy="868680"/>
          </a:xfrm>
          <a:prstGeom prst="rect">
            <a:avLst/>
          </a:prstGeom>
          <a:noFill/>
          <a:ln/>
        </p:spPr>
        <p:txBody>
          <a:bodyPr wrap="square" lIns="0" tIns="0" rIns="0" bIns="0" rtlCol="0" anchor="ctr"/>
          <a:lstStyle/>
          <a:p>
            <a:pPr indent="0" marL="0">
              <a:buNone/>
            </a:pPr>
            <a:r>
              <a:rPr lang="en-US" sz="1400" i="1" dirty="0">
                <a:solidFill>
                  <a:srgbClr val="0F172A"/>
                </a:solidFill>
              </a:rPr>
              <a:t>F. Almutairy, S. Almutairi, M. Abdullah, and S. Salman, "SmartLaw Advisor: AI-powered legal consultation and contract analysis for Saudi Arabia," IEEE Access, vol. 14, pp. 32638 ff., 2026, doi: 10.1109/ACCESS.2026.3665420.</a:t>
            </a:r>
            <a:endParaRPr lang="en-US" sz="1400" dirty="0"/>
          </a:p>
        </p:txBody>
      </p:sp>
      <p:sp>
        <p:nvSpPr>
          <p:cNvPr id="6" name="Method card"/>
          <p:cNvSpPr/>
          <p:nvPr/>
        </p:nvSpPr>
        <p:spPr>
          <a:xfrm>
            <a:off x="548640" y="2514600"/>
            <a:ext cx="3566160" cy="3246120"/>
          </a:xfrm>
          <a:prstGeom prst="roundRect">
            <a:avLst>
              <a:gd name="adj" fmla="val 2254"/>
            </a:avLst>
          </a:prstGeom>
          <a:solidFill>
            <a:srgbClr val="F6F8FB"/>
          </a:solidFill>
          <a:ln w="9525">
            <a:solidFill>
              <a:srgbClr val="D5DCE6"/>
            </a:solidFill>
            <a:prstDash val="solid"/>
          </a:ln>
        </p:spPr>
        <p:txBody>
          <a:bodyPr/>
          <a:p/>
        </p:txBody>
      </p:sp>
      <p:sp>
        <p:nvSpPr>
          <p:cNvPr id="7" name="Text 4"/>
          <p:cNvSpPr txBox="1"/>
          <p:nvPr/>
        </p:nvSpPr>
        <p:spPr>
          <a:xfrm>
            <a:off x="777240" y="2697480"/>
            <a:ext cx="31546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Method</a:t>
            </a:r>
            <a:endParaRPr lang="en-US" sz="1600" dirty="0"/>
          </a:p>
        </p:txBody>
      </p:sp>
      <p:sp>
        <p:nvSpPr>
          <p:cNvPr id="8" name="Text 5"/>
          <p:cNvSpPr txBox="1"/>
          <p:nvPr/>
        </p:nvSpPr>
        <p:spPr>
          <a:xfrm>
            <a:off x="777240" y="3383280"/>
            <a:ext cx="3108960" cy="224028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A legal chatbot and a contract-analysis module for Saudi law. Gemini 1.5 Flash with retrieval-augmented generation over an Arabic legal corpus (GATE-AraBERT-v1 embeddings, a Chroma vector store, cross-encoder reranking). Contracts are checked against a practitioner-validated clause checklist plus LLM semantic analysis.</a:t>
            </a:r>
            <a:endParaRPr lang="en-US" sz="1400" dirty="0"/>
          </a:p>
        </p:txBody>
      </p:sp>
      <p:sp>
        <p:nvSpPr>
          <p:cNvPr id="9" name="Data and reported results card"/>
          <p:cNvSpPr/>
          <p:nvPr/>
        </p:nvSpPr>
        <p:spPr>
          <a:xfrm>
            <a:off x="4297680" y="2514600"/>
            <a:ext cx="3566160" cy="3246120"/>
          </a:xfrm>
          <a:prstGeom prst="roundRect">
            <a:avLst>
              <a:gd name="adj" fmla="val 2254"/>
            </a:avLst>
          </a:prstGeom>
          <a:solidFill>
            <a:srgbClr val="F6F8FB"/>
          </a:solidFill>
          <a:ln w="9525">
            <a:solidFill>
              <a:srgbClr val="D5DCE6"/>
            </a:solidFill>
            <a:prstDash val="solid"/>
          </a:ln>
        </p:spPr>
        <p:txBody>
          <a:bodyPr/>
          <a:p/>
        </p:txBody>
      </p:sp>
      <p:sp>
        <p:nvSpPr>
          <p:cNvPr id="10" name="Text 7"/>
          <p:cNvSpPr txBox="1"/>
          <p:nvPr/>
        </p:nvSpPr>
        <p:spPr>
          <a:xfrm>
            <a:off x="4526280" y="2697480"/>
            <a:ext cx="31546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Data and reported results</a:t>
            </a:r>
            <a:endParaRPr lang="en-US" sz="1600" dirty="0"/>
          </a:p>
        </p:txBody>
      </p:sp>
      <p:sp>
        <p:nvSpPr>
          <p:cNvPr id="11" name="Text 8"/>
          <p:cNvSpPr txBox="1"/>
          <p:nvPr/>
        </p:nvSpPr>
        <p:spPr>
          <a:xfrm>
            <a:off x="4526280" y="3383280"/>
            <a:ext cx="3108960" cy="224028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150 legal questions over ten domains and 50 real contract drafts. Gemini 1.5 Flash answered 148 of 150 questions correctly (98.67 %), ahead of GPT-3.5 (98.00 %), GPT-4 (97.33 %) and ALLaM (96.00 %). Contract-analysis results are shown clause by clause, not as a score.</a:t>
            </a:r>
            <a:endParaRPr lang="en-US" sz="1400" dirty="0"/>
          </a:p>
        </p:txBody>
      </p:sp>
      <p:sp>
        <p:nvSpPr>
          <p:cNvPr id="12" name="Limitations stated by the authors card"/>
          <p:cNvSpPr/>
          <p:nvPr/>
        </p:nvSpPr>
        <p:spPr>
          <a:xfrm>
            <a:off x="8046720" y="2514600"/>
            <a:ext cx="3566160" cy="3246120"/>
          </a:xfrm>
          <a:prstGeom prst="roundRect">
            <a:avLst>
              <a:gd name="adj" fmla="val 2254"/>
            </a:avLst>
          </a:prstGeom>
          <a:solidFill>
            <a:srgbClr val="FDF1EC"/>
          </a:solidFill>
          <a:ln w="9525">
            <a:solidFill>
              <a:srgbClr val="D5DCE6"/>
            </a:solidFill>
            <a:prstDash val="solid"/>
          </a:ln>
        </p:spPr>
        <p:txBody>
          <a:bodyPr/>
          <a:p/>
        </p:txBody>
      </p:sp>
      <p:sp>
        <p:nvSpPr>
          <p:cNvPr id="13" name="Text 10"/>
          <p:cNvSpPr txBox="1"/>
          <p:nvPr/>
        </p:nvSpPr>
        <p:spPr>
          <a:xfrm>
            <a:off x="8275320" y="2697480"/>
            <a:ext cx="31546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Limits and our adaptation</a:t>
            </a:r>
            <a:endParaRPr lang="en-US" sz="1600" dirty="0"/>
          </a:p>
        </p:txBody>
      </p:sp>
      <p:sp>
        <p:nvSpPr>
          <p:cNvPr id="14" name="Text 11"/>
          <p:cNvSpPr txBox="1"/>
          <p:nvPr/>
        </p:nvSpPr>
        <p:spPr>
          <a:xfrm>
            <a:off x="8275320" y="3383280"/>
            <a:ext cx="3108960" cy="224028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Arabic and Saudi law only, a small expert-reviewed dataset, no clause-combination reasoning and no complexity score. We keep its retrieval-first, jurisdiction-aware design for Indian contracts and add combination detection and a complexity grade.</a:t>
            </a:r>
            <a:endParaRPr lang="en-US" sz="14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926080"/>
                <a:gridCol w="3566160"/>
                <a:gridCol w="2194560"/>
                <a:gridCol w="2407615"/>
              </a:tblGrid>
              <a:tr h="47548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Work</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Approach</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Data</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Reported result</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r>
              <a:tr h="475488">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Almutairy et al., 2026 (base) [1]</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Gemini 1.5 Flash + RAG over a Saudi corpus; clause checklist + LLM analysis</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150 questions, 50 contract drafts (Arabic)</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98.67 % (148 of 150) on questions; contract analysis shown qualitatively</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Liu et al., ContractEval, 2025 [2]</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Benchmark of 19 LLMs on clause-level legal risk identification</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CUAD test data, 41 categories</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Proprietary models beat open-source; top two F2 = 0.672 and 0.678</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Lincoln et al., 2026 [3]</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Domain-trained small model vs five frontier LLMs for structured extraction</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24 held-out contracts, 508 field instances</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Macro F1 0.812, micro F1 0.842; cost down 78-97 %</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Charan R et al., 2026 [4]</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Serverless GenAI clause extraction with a weighted 0-100 risk score</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20 synthetic contracts; 30 rated contracts</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94.2 % extraction accuracy; r = 0.87 with expert ratings</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ClauseMiner, 2026 [5]</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Prompt-engineered LLM clause extraction (from the title)</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Listed in survey, not retrieved</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Not retrieved</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Legal-BERT clause risk detection, 2025 [6]</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Clause risk detection with Legal-BERT (from the title)</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Listed in survey, not retrieved</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Not retrieved</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LLM construction-contract risk detection, 2024 [7]</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LLM-based risk detection (from the title)</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Listed in survey, not retrieved</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50" dirty="0">
                          <a:solidFill>
                            <a:srgbClr val="0F172A"/>
                          </a:solidFill>
                          <a:latin typeface="Calibri" pitchFamily="34" charset="0"/>
                          <a:ea typeface="Calibri" pitchFamily="34" charset="-122"/>
                          <a:cs typeface="Calibri" pitchFamily="34" charset="-120"/>
                        </a:rPr>
                        <a:t>Not retrieved</a:t>
                      </a:r>
                      <a:endParaRPr lang="en-US" sz="135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LLMs on legal tasks</a:t>
            </a:r>
            <a:endParaRPr lang="en-US" sz="3200" dirty="0"/>
          </a:p>
        </p:txBody>
      </p:sp>
      <p:graphicFrame>
        <p:nvGraphicFramePr>
          <p:cNvPr id="4" name="Chart 0" descr=""/>
          <p:cNvGraphicFramePr/>
          <p:nvPr/>
        </p:nvGraphicFramePr>
        <p:xfrm>
          <a:off x="548640" y="1280160"/>
          <a:ext cx="6766560" cy="4663440"/>
        </p:xfrm>
        <a:graphic xmlns:a="http://schemas.openxmlformats.org/drawingml/2006/main">
          <a:graphicData uri="http://schemas.openxmlformats.org/drawingml/2006/chart">
            <c:chart xmlns:c="http://schemas.openxmlformats.org/drawingml/2006/chart" r:id="rId1"/>
          </a:graphicData>
        </a:graphic>
      </p:graphicFrame>
      <p:sp>
        <p:nvSpPr>
          <p:cNvPr id="5" name="Takeaway card"/>
          <p:cNvSpPr/>
          <p:nvPr/>
        </p:nvSpPr>
        <p:spPr>
          <a:xfrm>
            <a:off x="7589520" y="1371600"/>
            <a:ext cx="4050792" cy="2103120"/>
          </a:xfrm>
          <a:prstGeom prst="roundRect">
            <a:avLst>
              <a:gd name="adj" fmla="val 3478"/>
            </a:avLst>
          </a:prstGeom>
          <a:solidFill>
            <a:srgbClr val="F6F8FB"/>
          </a:solidFill>
          <a:ln w="9525">
            <a:solidFill>
              <a:srgbClr val="D5DCE6"/>
            </a:solidFill>
            <a:prstDash val="solid"/>
          </a:ln>
        </p:spPr>
        <p:txBody>
          <a:bodyPr/>
          <a:p/>
        </p:txBody>
      </p:sp>
      <p:sp>
        <p:nvSpPr>
          <p:cNvPr id="6" name="icon circle"/>
          <p:cNvSpPr/>
          <p:nvPr/>
        </p:nvSpPr>
        <p:spPr>
          <a:xfrm>
            <a:off x="7818120" y="1600200"/>
            <a:ext cx="548640" cy="548640"/>
          </a:xfrm>
          <a:prstGeom prst="ellipse">
            <a:avLst/>
          </a:prstGeom>
          <a:solidFill>
            <a:srgbClr val="1BAF7A"/>
          </a:solidFill>
          <a:ln w="12700">
            <a:solidFill>
              <a:srgbClr val="1BAF7A"/>
            </a:solidFill>
            <a:prstDash val="solid"/>
          </a:ln>
        </p:spPr>
        <p:txBody>
          <a:bodyPr/>
          <a:p/>
        </p:txBody>
      </p:sp>
      <p:pic>
        <p:nvPicPr>
          <p:cNvPr id="7" name="Image 0" descr="Takeaway">    </p:cNvPr>
          <p:cNvPicPr>
            <a:picLocks noChangeAspect="1"/>
          </p:cNvPicPr>
          <p:nvPr/>
        </p:nvPicPr>
        <p:blipFill>
          <a:blip r:embed="rId2"/>
          <a:stretch>
            <a:fillRect/>
          </a:stretch>
        </p:blipFill>
        <p:spPr>
          <a:xfrm>
            <a:off x="7927848" y="1709928"/>
            <a:ext cx="329184" cy="329184"/>
          </a:xfrm>
          <a:prstGeom prst="rect">
            <a:avLst/>
          </a:prstGeom>
        </p:spPr>
      </p:pic>
      <p:sp>
        <p:nvSpPr>
          <p:cNvPr id="8" name="Text 3"/>
          <p:cNvSpPr txBox="1"/>
          <p:nvPr/>
        </p:nvSpPr>
        <p:spPr>
          <a:xfrm>
            <a:off x="8503920" y="1554480"/>
            <a:ext cx="2953512"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Takeaway</a:t>
            </a:r>
            <a:endParaRPr lang="en-US" sz="1600" dirty="0"/>
          </a:p>
        </p:txBody>
      </p:sp>
      <p:sp>
        <p:nvSpPr>
          <p:cNvPr id="9" name="Text 4"/>
          <p:cNvSpPr txBox="1"/>
          <p:nvPr/>
        </p:nvSpPr>
        <p:spPr>
          <a:xfrm>
            <a:off x="7818120" y="2240280"/>
            <a:ext cx="3593592" cy="1097280"/>
          </a:xfrm>
          <a:prstGeom prst="rect">
            <a:avLst/>
          </a:prstGeom>
          <a:noFill/>
          <a:ln/>
        </p:spPr>
        <p:txBody>
          <a:bodyPr wrap="square" lIns="0" tIns="0" rIns="0" bIns="0" rtlCol="0" anchor="t"/>
          <a:lstStyle/>
          <a:p>
            <a:pPr indent="0" marL="0">
              <a:spcAft>
                <a:spcPts val="400"/>
              </a:spcAft>
              <a:buNone/>
            </a:pPr>
            <a:r>
              <a:rPr lang="en-US" sz="1250" dirty="0">
                <a:solidFill>
                  <a:srgbClr val="475569"/>
                </a:solidFill>
              </a:rPr>
              <a:t>LLMs answer legal questions accurately [1], but finding the risky clause is harder: on CUAD the best models reach an F2 of about 0.67 [2], and a small domain-trained model can match frontier models on extraction [3].</a:t>
            </a:r>
            <a:endParaRPr lang="en-US" sz="1250" dirty="0"/>
          </a:p>
        </p:txBody>
      </p:sp>
      <p:sp>
        <p:nvSpPr>
          <p:cNvPr id="10" name="Caveat card"/>
          <p:cNvSpPr/>
          <p:nvPr/>
        </p:nvSpPr>
        <p:spPr>
          <a:xfrm>
            <a:off x="7589520" y="3657600"/>
            <a:ext cx="4050792" cy="2103120"/>
          </a:xfrm>
          <a:prstGeom prst="roundRect">
            <a:avLst>
              <a:gd name="adj" fmla="val 3478"/>
            </a:avLst>
          </a:prstGeom>
          <a:solidFill>
            <a:srgbClr val="F6F8FB"/>
          </a:solidFill>
          <a:ln w="9525">
            <a:solidFill>
              <a:srgbClr val="D5DCE6"/>
            </a:solidFill>
            <a:prstDash val="solid"/>
          </a:ln>
        </p:spPr>
        <p:txBody>
          <a:bodyPr/>
          <a:p/>
        </p:txBody>
      </p:sp>
      <p:sp>
        <p:nvSpPr>
          <p:cNvPr id="11" name="icon circle"/>
          <p:cNvSpPr/>
          <p:nvPr/>
        </p:nvSpPr>
        <p:spPr>
          <a:xfrm>
            <a:off x="7818120" y="3886200"/>
            <a:ext cx="548640" cy="548640"/>
          </a:xfrm>
          <a:prstGeom prst="ellipse">
            <a:avLst/>
          </a:prstGeom>
          <a:solidFill>
            <a:srgbClr val="EDA100"/>
          </a:solidFill>
          <a:ln w="12700">
            <a:solidFill>
              <a:srgbClr val="EDA100"/>
            </a:solidFill>
            <a:prstDash val="solid"/>
          </a:ln>
        </p:spPr>
        <p:txBody>
          <a:bodyPr/>
          <a:p/>
        </p:txBody>
      </p:sp>
      <p:pic>
        <p:nvPicPr>
          <p:cNvPr id="12" name="Image 1" descr="Caveat">    </p:cNvPr>
          <p:cNvPicPr>
            <a:picLocks noChangeAspect="1"/>
          </p:cNvPicPr>
          <p:nvPr/>
        </p:nvPicPr>
        <p:blipFill>
          <a:blip r:embed="rId3"/>
          <a:stretch>
            <a:fillRect/>
          </a:stretch>
        </p:blipFill>
        <p:spPr>
          <a:xfrm>
            <a:off x="7927848" y="3995928"/>
            <a:ext cx="329184" cy="329184"/>
          </a:xfrm>
          <a:prstGeom prst="rect">
            <a:avLst/>
          </a:prstGeom>
        </p:spPr>
      </p:pic>
      <p:sp>
        <p:nvSpPr>
          <p:cNvPr id="13" name="Text 7"/>
          <p:cNvSpPr txBox="1"/>
          <p:nvPr/>
        </p:nvSpPr>
        <p:spPr>
          <a:xfrm>
            <a:off x="8503920" y="3840480"/>
            <a:ext cx="2953512"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Caveat</a:t>
            </a:r>
            <a:endParaRPr lang="en-US" sz="1600" dirty="0"/>
          </a:p>
        </p:txBody>
      </p:sp>
      <p:sp>
        <p:nvSpPr>
          <p:cNvPr id="14" name="Text 8"/>
          <p:cNvSpPr txBox="1"/>
          <p:nvPr/>
        </p:nvSpPr>
        <p:spPr>
          <a:xfrm>
            <a:off x="7818120" y="4526280"/>
            <a:ext cx="3593592" cy="1097280"/>
          </a:xfrm>
          <a:prstGeom prst="rect">
            <a:avLst/>
          </a:prstGeom>
          <a:noFill/>
          <a:ln/>
        </p:spPr>
        <p:txBody>
          <a:bodyPr wrap="square" lIns="0" tIns="0" rIns="0" bIns="0" rtlCol="0" anchor="t"/>
          <a:lstStyle/>
          <a:p>
            <a:pPr indent="0" marL="0">
              <a:spcAft>
                <a:spcPts val="400"/>
              </a:spcAft>
              <a:buNone/>
            </a:pPr>
            <a:r>
              <a:rPr lang="en-US" sz="1350" dirty="0">
                <a:solidFill>
                  <a:srgbClr val="475569"/>
                </a:solidFill>
              </a:rPr>
              <a:t>These are published results on other tasks and data (Arabic law, US contracts). They motivate our design; they are not our results. Our own measurements come in the later reviews.</a:t>
            </a:r>
            <a:endParaRPr lang="en-US" sz="13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4" name="flow step 1"/>
          <p:cNvSpPr/>
          <p:nvPr/>
        </p:nvSpPr>
        <p:spPr>
          <a:xfrm>
            <a:off x="548640" y="1645920"/>
            <a:ext cx="1582369" cy="1143000"/>
          </a:xfrm>
          <a:prstGeom prst="roundRect">
            <a:avLst>
              <a:gd name="adj" fmla="val 6400"/>
            </a:avLst>
          </a:prstGeom>
          <a:solidFill>
            <a:srgbClr val="1B2A41"/>
          </a:solidFill>
          <a:ln w="12700">
            <a:solidFill>
              <a:srgbClr val="1B2A41"/>
            </a:solidFill>
            <a:prstDash val="solid"/>
          </a:ln>
        </p:spPr>
        <p:txBody>
          <a:bodyPr/>
          <a:p/>
        </p:txBody>
      </p:sp>
      <p:sp>
        <p:nvSpPr>
          <p:cNvPr id="5" name="Text 2"/>
          <p:cNvSpPr txBox="1"/>
          <p:nvPr/>
        </p:nvSpPr>
        <p:spPr>
          <a:xfrm>
            <a:off x="621792"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Receive the contract</a:t>
            </a:r>
            <a:endParaRPr lang="en-US" sz="1400" dirty="0"/>
          </a:p>
        </p:txBody>
      </p:sp>
      <p:sp>
        <p:nvSpPr>
          <p:cNvPr id="6" name="arrow"/>
          <p:cNvSpPr/>
          <p:nvPr/>
        </p:nvSpPr>
        <p:spPr>
          <a:xfrm>
            <a:off x="2176729" y="2098548"/>
            <a:ext cx="228600" cy="237744"/>
          </a:xfrm>
          <a:prstGeom prst="rightArrow">
            <a:avLst/>
          </a:prstGeom>
          <a:solidFill>
            <a:srgbClr val="64748B"/>
          </a:solidFill>
          <a:ln w="12700">
            <a:solidFill>
              <a:srgbClr val="64748B"/>
            </a:solidFill>
            <a:prstDash val="solid"/>
          </a:ln>
        </p:spPr>
        <p:txBody>
          <a:bodyPr/>
          <a:p/>
        </p:txBody>
      </p:sp>
      <p:sp>
        <p:nvSpPr>
          <p:cNvPr id="7" name="flow step 2"/>
          <p:cNvSpPr/>
          <p:nvPr/>
        </p:nvSpPr>
        <p:spPr>
          <a:xfrm>
            <a:off x="2451049" y="1645920"/>
            <a:ext cx="1582369" cy="1143000"/>
          </a:xfrm>
          <a:prstGeom prst="roundRect">
            <a:avLst>
              <a:gd name="adj" fmla="val 6400"/>
            </a:avLst>
          </a:prstGeom>
          <a:solidFill>
            <a:srgbClr val="1B2A41"/>
          </a:solidFill>
          <a:ln w="12700">
            <a:solidFill>
              <a:srgbClr val="1B2A41"/>
            </a:solidFill>
            <a:prstDash val="solid"/>
          </a:ln>
        </p:spPr>
        <p:txBody>
          <a:bodyPr/>
          <a:p/>
        </p:txBody>
      </p:sp>
      <p:sp>
        <p:nvSpPr>
          <p:cNvPr id="8" name="Text 5"/>
          <p:cNvSpPr txBox="1"/>
          <p:nvPr/>
        </p:nvSpPr>
        <p:spPr>
          <a:xfrm>
            <a:off x="2524201"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Read alone, or pay a lawyer</a:t>
            </a:r>
            <a:endParaRPr lang="en-US" sz="1400" dirty="0"/>
          </a:p>
        </p:txBody>
      </p:sp>
      <p:sp>
        <p:nvSpPr>
          <p:cNvPr id="9" name="arrow"/>
          <p:cNvSpPr/>
          <p:nvPr/>
        </p:nvSpPr>
        <p:spPr>
          <a:xfrm>
            <a:off x="4079138" y="2098548"/>
            <a:ext cx="228600" cy="237744"/>
          </a:xfrm>
          <a:prstGeom prst="rightArrow">
            <a:avLst/>
          </a:prstGeom>
          <a:solidFill>
            <a:srgbClr val="64748B"/>
          </a:solidFill>
          <a:ln w="12700">
            <a:solidFill>
              <a:srgbClr val="64748B"/>
            </a:solidFill>
            <a:prstDash val="solid"/>
          </a:ln>
        </p:spPr>
        <p:txBody>
          <a:bodyPr/>
          <a:p/>
        </p:txBody>
      </p:sp>
      <p:sp>
        <p:nvSpPr>
          <p:cNvPr id="10" name="flow step 3"/>
          <p:cNvSpPr/>
          <p:nvPr/>
        </p:nvSpPr>
        <p:spPr>
          <a:xfrm>
            <a:off x="4353458" y="1645920"/>
            <a:ext cx="1582369" cy="1143000"/>
          </a:xfrm>
          <a:prstGeom prst="roundRect">
            <a:avLst>
              <a:gd name="adj" fmla="val 6400"/>
            </a:avLst>
          </a:prstGeom>
          <a:solidFill>
            <a:srgbClr val="1B2A41"/>
          </a:solidFill>
          <a:ln w="12700">
            <a:solidFill>
              <a:srgbClr val="1B2A41"/>
            </a:solidFill>
            <a:prstDash val="solid"/>
          </a:ln>
        </p:spPr>
        <p:txBody>
          <a:bodyPr/>
          <a:p/>
        </p:txBody>
      </p:sp>
      <p:sp>
        <p:nvSpPr>
          <p:cNvPr id="11" name="Text 8"/>
          <p:cNvSpPr txBox="1"/>
          <p:nvPr/>
        </p:nvSpPr>
        <p:spPr>
          <a:xfrm>
            <a:off x="4426610"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Review is slow and costly</a:t>
            </a:r>
            <a:endParaRPr lang="en-US" sz="1400" dirty="0"/>
          </a:p>
        </p:txBody>
      </p:sp>
      <p:sp>
        <p:nvSpPr>
          <p:cNvPr id="12" name="arrow"/>
          <p:cNvSpPr/>
          <p:nvPr/>
        </p:nvSpPr>
        <p:spPr>
          <a:xfrm>
            <a:off x="5981548" y="2098548"/>
            <a:ext cx="228600" cy="237744"/>
          </a:xfrm>
          <a:prstGeom prst="rightArrow">
            <a:avLst/>
          </a:prstGeom>
          <a:solidFill>
            <a:srgbClr val="64748B"/>
          </a:solidFill>
          <a:ln w="12700">
            <a:solidFill>
              <a:srgbClr val="64748B"/>
            </a:solidFill>
            <a:prstDash val="solid"/>
          </a:ln>
        </p:spPr>
        <p:txBody>
          <a:bodyPr/>
          <a:p/>
        </p:txBody>
      </p:sp>
      <p:sp>
        <p:nvSpPr>
          <p:cNvPr id="13" name="flow step 4"/>
          <p:cNvSpPr/>
          <p:nvPr/>
        </p:nvSpPr>
        <p:spPr>
          <a:xfrm>
            <a:off x="6255868" y="1645920"/>
            <a:ext cx="1582369" cy="1143000"/>
          </a:xfrm>
          <a:prstGeom prst="roundRect">
            <a:avLst>
              <a:gd name="adj" fmla="val 6400"/>
            </a:avLst>
          </a:prstGeom>
          <a:solidFill>
            <a:srgbClr val="1B2A41"/>
          </a:solidFill>
          <a:ln w="12700">
            <a:solidFill>
              <a:srgbClr val="1B2A41"/>
            </a:solidFill>
            <a:prstDash val="solid"/>
          </a:ln>
        </p:spPr>
        <p:txBody>
          <a:bodyPr/>
          <a:p/>
        </p:txBody>
      </p:sp>
      <p:sp>
        <p:nvSpPr>
          <p:cNvPr id="14" name="Text 11"/>
          <p:cNvSpPr txBox="1"/>
          <p:nvPr/>
        </p:nvSpPr>
        <p:spPr>
          <a:xfrm>
            <a:off x="6329020"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Clauses read one by one</a:t>
            </a:r>
            <a:endParaRPr lang="en-US" sz="1400" dirty="0"/>
          </a:p>
        </p:txBody>
      </p:sp>
      <p:sp>
        <p:nvSpPr>
          <p:cNvPr id="15" name="arrow"/>
          <p:cNvSpPr/>
          <p:nvPr/>
        </p:nvSpPr>
        <p:spPr>
          <a:xfrm>
            <a:off x="7883957" y="2098548"/>
            <a:ext cx="228600" cy="237744"/>
          </a:xfrm>
          <a:prstGeom prst="rightArrow">
            <a:avLst/>
          </a:prstGeom>
          <a:solidFill>
            <a:srgbClr val="64748B"/>
          </a:solidFill>
          <a:ln w="12700">
            <a:solidFill>
              <a:srgbClr val="64748B"/>
            </a:solidFill>
            <a:prstDash val="solid"/>
          </a:ln>
        </p:spPr>
        <p:txBody>
          <a:bodyPr/>
          <a:p/>
        </p:txBody>
      </p:sp>
      <p:sp>
        <p:nvSpPr>
          <p:cNvPr id="16" name="flow step 5"/>
          <p:cNvSpPr/>
          <p:nvPr/>
        </p:nvSpPr>
        <p:spPr>
          <a:xfrm>
            <a:off x="8158277" y="1645920"/>
            <a:ext cx="1582369" cy="1143000"/>
          </a:xfrm>
          <a:prstGeom prst="roundRect">
            <a:avLst>
              <a:gd name="adj" fmla="val 6400"/>
            </a:avLst>
          </a:prstGeom>
          <a:solidFill>
            <a:srgbClr val="1B2A41"/>
          </a:solidFill>
          <a:ln w="12700">
            <a:solidFill>
              <a:srgbClr val="1B2A41"/>
            </a:solidFill>
            <a:prstDash val="solid"/>
          </a:ln>
        </p:spPr>
        <p:txBody>
          <a:bodyPr/>
          <a:p/>
        </p:txBody>
      </p:sp>
      <p:sp>
        <p:nvSpPr>
          <p:cNvPr id="17" name="Text 14"/>
          <p:cNvSpPr txBox="1"/>
          <p:nvPr/>
        </p:nvSpPr>
        <p:spPr>
          <a:xfrm>
            <a:off x="8231429"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Sign without full understanding</a:t>
            </a:r>
            <a:endParaRPr lang="en-US" sz="1400" dirty="0"/>
          </a:p>
        </p:txBody>
      </p:sp>
      <p:sp>
        <p:nvSpPr>
          <p:cNvPr id="18" name="arrow"/>
          <p:cNvSpPr/>
          <p:nvPr/>
        </p:nvSpPr>
        <p:spPr>
          <a:xfrm>
            <a:off x="9786366" y="2098548"/>
            <a:ext cx="228600" cy="237744"/>
          </a:xfrm>
          <a:prstGeom prst="rightArrow">
            <a:avLst/>
          </a:prstGeom>
          <a:solidFill>
            <a:srgbClr val="64748B"/>
          </a:solidFill>
          <a:ln w="12700">
            <a:solidFill>
              <a:srgbClr val="64748B"/>
            </a:solidFill>
            <a:prstDash val="solid"/>
          </a:ln>
        </p:spPr>
        <p:txBody>
          <a:bodyPr/>
          <a:p/>
        </p:txBody>
      </p:sp>
      <p:sp>
        <p:nvSpPr>
          <p:cNvPr id="19" name="flow step 6"/>
          <p:cNvSpPr/>
          <p:nvPr/>
        </p:nvSpPr>
        <p:spPr>
          <a:xfrm>
            <a:off x="10060686" y="1645920"/>
            <a:ext cx="1582369" cy="1143000"/>
          </a:xfrm>
          <a:prstGeom prst="roundRect">
            <a:avLst>
              <a:gd name="adj" fmla="val 6400"/>
            </a:avLst>
          </a:prstGeom>
          <a:solidFill>
            <a:srgbClr val="1B2A41"/>
          </a:solidFill>
          <a:ln w="12700">
            <a:solidFill>
              <a:srgbClr val="1B2A41"/>
            </a:solidFill>
            <a:prstDash val="solid"/>
          </a:ln>
        </p:spPr>
        <p:txBody>
          <a:bodyPr/>
          <a:p/>
        </p:txBody>
      </p:sp>
      <p:sp>
        <p:nvSpPr>
          <p:cNvPr id="20" name="Text 17"/>
          <p:cNvSpPr txBox="1"/>
          <p:nvPr/>
        </p:nvSpPr>
        <p:spPr>
          <a:xfrm>
            <a:off x="10133838"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Hidden liability found late</a:t>
            </a:r>
            <a:endParaRPr lang="en-US" sz="1400" dirty="0"/>
          </a:p>
        </p:txBody>
      </p:sp>
      <p:sp>
        <p:nvSpPr>
          <p:cNvPr id="21" name="Automatic, text-only card"/>
          <p:cNvSpPr/>
          <p:nvPr/>
        </p:nvSpPr>
        <p:spPr>
          <a:xfrm>
            <a:off x="548640" y="3291840"/>
            <a:ext cx="5440680" cy="2468880"/>
          </a:xfrm>
          <a:prstGeom prst="roundRect">
            <a:avLst>
              <a:gd name="adj" fmla="val 2963"/>
            </a:avLst>
          </a:prstGeom>
          <a:solidFill>
            <a:srgbClr val="F6F8FB"/>
          </a:solidFill>
          <a:ln w="9525">
            <a:solidFill>
              <a:srgbClr val="D5DCE6"/>
            </a:solidFill>
            <a:prstDash val="solid"/>
          </a:ln>
        </p:spPr>
        <p:txBody>
          <a:bodyPr/>
          <a:p/>
        </p:txBody>
      </p:sp>
      <p:sp>
        <p:nvSpPr>
          <p:cNvPr id="22" name="icon circle"/>
          <p:cNvSpPr/>
          <p:nvPr/>
        </p:nvSpPr>
        <p:spPr>
          <a:xfrm>
            <a:off x="777240" y="3520440"/>
            <a:ext cx="548640" cy="548640"/>
          </a:xfrm>
          <a:prstGeom prst="ellipse">
            <a:avLst/>
          </a:prstGeom>
          <a:solidFill>
            <a:srgbClr val="1B2A41"/>
          </a:solidFill>
          <a:ln w="12700">
            <a:solidFill>
              <a:srgbClr val="1B2A41"/>
            </a:solidFill>
            <a:prstDash val="solid"/>
          </a:ln>
        </p:spPr>
        <p:txBody>
          <a:bodyPr/>
          <a:p/>
        </p:txBody>
      </p:sp>
      <p:pic>
        <p:nvPicPr>
          <p:cNvPr id="23" name="Image 0" descr="Automatic, text-only">    </p:cNvPr>
          <p:cNvPicPr>
            <a:picLocks noChangeAspect="1"/>
          </p:cNvPicPr>
          <p:nvPr/>
        </p:nvPicPr>
        <p:blipFill>
          <a:blip r:embed="rId1"/>
          <a:stretch>
            <a:fillRect/>
          </a:stretch>
        </p:blipFill>
        <p:spPr>
          <a:xfrm>
            <a:off x="886968" y="3630168"/>
            <a:ext cx="329184" cy="329184"/>
          </a:xfrm>
          <a:prstGeom prst="rect">
            <a:avLst/>
          </a:prstGeom>
        </p:spPr>
      </p:pic>
      <p:sp>
        <p:nvSpPr>
          <p:cNvPr id="24" name="Text 20"/>
          <p:cNvSpPr txBox="1"/>
          <p:nvPr/>
        </p:nvSpPr>
        <p:spPr>
          <a:xfrm>
            <a:off x="1463040" y="347472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Manual and enterprise review</a:t>
            </a:r>
            <a:endParaRPr lang="en-US" sz="1600" dirty="0"/>
          </a:p>
        </p:txBody>
      </p:sp>
      <p:sp>
        <p:nvSpPr>
          <p:cNvPr id="25" name="Text 21"/>
          <p:cNvSpPr txBox="1"/>
          <p:nvPr/>
        </p:nvSpPr>
        <p:spPr>
          <a:xfrm>
            <a:off x="777240" y="4160520"/>
            <a:ext cx="4983480" cy="146304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Contracts are reviewed by lawyers or signed with no expert help. Commercial analysis tools target enterprises and US or EU law.</a:t>
            </a:r>
            <a:endParaRPr lang="en-US" sz="1600" dirty="0"/>
          </a:p>
        </p:txBody>
      </p:sp>
      <p:sp>
        <p:nvSpPr>
          <p:cNvPr id="26" name="Manual fact-checking card"/>
          <p:cNvSpPr/>
          <p:nvPr/>
        </p:nvSpPr>
        <p:spPr>
          <a:xfrm>
            <a:off x="6172200" y="3291840"/>
            <a:ext cx="5440680" cy="2468880"/>
          </a:xfrm>
          <a:prstGeom prst="roundRect">
            <a:avLst>
              <a:gd name="adj" fmla="val 2963"/>
            </a:avLst>
          </a:prstGeom>
          <a:solidFill>
            <a:srgbClr val="F6F8FB"/>
          </a:solidFill>
          <a:ln w="9525">
            <a:solidFill>
              <a:srgbClr val="D5DCE6"/>
            </a:solidFill>
            <a:prstDash val="solid"/>
          </a:ln>
        </p:spPr>
        <p:txBody>
          <a:bodyPr/>
          <a:p/>
        </p:txBody>
      </p:sp>
      <p:sp>
        <p:nvSpPr>
          <p:cNvPr id="27" name="icon circle"/>
          <p:cNvSpPr/>
          <p:nvPr/>
        </p:nvSpPr>
        <p:spPr>
          <a:xfrm>
            <a:off x="6400800" y="3520440"/>
            <a:ext cx="548640" cy="548640"/>
          </a:xfrm>
          <a:prstGeom prst="ellipse">
            <a:avLst/>
          </a:prstGeom>
          <a:solidFill>
            <a:srgbClr val="1B2A41"/>
          </a:solidFill>
          <a:ln w="12700">
            <a:solidFill>
              <a:srgbClr val="1B2A41"/>
            </a:solidFill>
            <a:prstDash val="solid"/>
          </a:ln>
        </p:spPr>
        <p:txBody>
          <a:bodyPr/>
          <a:p/>
        </p:txBody>
      </p:sp>
      <p:pic>
        <p:nvPicPr>
          <p:cNvPr id="28" name="Image 1" descr="Manual fact-checking">    </p:cNvPr>
          <p:cNvPicPr>
            <a:picLocks noChangeAspect="1"/>
          </p:cNvPicPr>
          <p:nvPr/>
        </p:nvPicPr>
        <p:blipFill>
          <a:blip r:embed="rId2"/>
          <a:stretch>
            <a:fillRect/>
          </a:stretch>
        </p:blipFill>
        <p:spPr>
          <a:xfrm>
            <a:off x="6510528" y="3630168"/>
            <a:ext cx="329184" cy="329184"/>
          </a:xfrm>
          <a:prstGeom prst="rect">
            <a:avLst/>
          </a:prstGeom>
        </p:spPr>
      </p:pic>
      <p:sp>
        <p:nvSpPr>
          <p:cNvPr id="29" name="Text 24"/>
          <p:cNvSpPr txBox="1"/>
          <p:nvPr/>
        </p:nvSpPr>
        <p:spPr>
          <a:xfrm>
            <a:off x="7086600" y="347472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Research systems and chatbots</a:t>
            </a:r>
            <a:endParaRPr lang="en-US" sz="1600" dirty="0"/>
          </a:p>
        </p:txBody>
      </p:sp>
      <p:sp>
        <p:nvSpPr>
          <p:cNvPr id="30" name="Text 25"/>
          <p:cNvSpPr txBox="1"/>
          <p:nvPr/>
        </p:nvSpPr>
        <p:spPr>
          <a:xfrm>
            <a:off x="6400800" y="4160520"/>
            <a:ext cx="4983480" cy="146304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Research systems classify clause types on datasets such as CUAD. General chatbots can summarise a contract but are not grounded in legal context.</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4" name="Ignore the picture card"/>
          <p:cNvSpPr/>
          <p:nvPr/>
        </p:nvSpPr>
        <p:spPr>
          <a:xfrm>
            <a:off x="548640" y="1371600"/>
            <a:ext cx="5440680" cy="2057400"/>
          </a:xfrm>
          <a:prstGeom prst="roundRect">
            <a:avLst>
              <a:gd name="adj" fmla="val 3556"/>
            </a:avLst>
          </a:prstGeom>
          <a:solidFill>
            <a:srgbClr val="F6F8FB"/>
          </a:solidFill>
          <a:ln w="9525">
            <a:solidFill>
              <a:srgbClr val="D5DCE6"/>
            </a:solidFill>
            <a:prstDash val="solid"/>
          </a:ln>
        </p:spPr>
        <p:txBody>
          <a:bodyPr/>
          <a:p/>
        </p:txBody>
      </p:sp>
      <p:sp>
        <p:nvSpPr>
          <p:cNvPr id="5" name="icon circle"/>
          <p:cNvSpPr/>
          <p:nvPr/>
        </p:nvSpPr>
        <p:spPr>
          <a:xfrm>
            <a:off x="777240" y="1600200"/>
            <a:ext cx="548640" cy="548640"/>
          </a:xfrm>
          <a:prstGeom prst="ellipse">
            <a:avLst/>
          </a:prstGeom>
          <a:solidFill>
            <a:srgbClr val="EB6834"/>
          </a:solidFill>
          <a:ln w="12700">
            <a:solidFill>
              <a:srgbClr val="EB6834"/>
            </a:solidFill>
            <a:prstDash val="solid"/>
          </a:ln>
        </p:spPr>
        <p:txBody>
          <a:bodyPr/>
          <a:p/>
        </p:txBody>
      </p:sp>
      <p:pic>
        <p:nvPicPr>
          <p:cNvPr id="6" name="Image 0" descr="Ignore the picture">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Costly and slow</a:t>
            </a:r>
            <a:endParaRPr lang="en-US" sz="1600" dirty="0"/>
          </a:p>
        </p:txBody>
      </p:sp>
      <p:sp>
        <p:nvSpPr>
          <p:cNvPr id="8" name="Text 4"/>
          <p:cNvSpPr txBox="1"/>
          <p:nvPr/>
        </p:nvSpPr>
        <p:spPr>
          <a:xfrm>
            <a:off x="777240" y="2240280"/>
            <a:ext cx="498348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Professional legal review is expensive and slow for individuals and small businesses.</a:t>
            </a:r>
            <a:endParaRPr lang="en-US" sz="1600" dirty="0"/>
          </a:p>
        </p:txBody>
      </p:sp>
      <p:sp>
        <p:nvSpPr>
          <p:cNvPr id="9" name="Label only card"/>
          <p:cNvSpPr/>
          <p:nvPr/>
        </p:nvSpPr>
        <p:spPr>
          <a:xfrm>
            <a:off x="6172200" y="1371600"/>
            <a:ext cx="5440680" cy="2057400"/>
          </a:xfrm>
          <a:prstGeom prst="roundRect">
            <a:avLst>
              <a:gd name="adj" fmla="val 3556"/>
            </a:avLst>
          </a:prstGeom>
          <a:solidFill>
            <a:srgbClr val="F6F8FB"/>
          </a:solidFill>
          <a:ln w="9525">
            <a:solidFill>
              <a:srgbClr val="D5DCE6"/>
            </a:solidFill>
            <a:prstDash val="solid"/>
          </a:ln>
        </p:spPr>
        <p:txBody>
          <a:bodyPr/>
          <a:p/>
        </p:txBody>
      </p:sp>
      <p:sp>
        <p:nvSpPr>
          <p:cNvPr id="10" name="icon circle"/>
          <p:cNvSpPr/>
          <p:nvPr/>
        </p:nvSpPr>
        <p:spPr>
          <a:xfrm>
            <a:off x="6400800" y="1600200"/>
            <a:ext cx="548640" cy="548640"/>
          </a:xfrm>
          <a:prstGeom prst="ellipse">
            <a:avLst/>
          </a:prstGeom>
          <a:solidFill>
            <a:srgbClr val="2A78D6"/>
          </a:solidFill>
          <a:ln w="12700">
            <a:solidFill>
              <a:srgbClr val="2A78D6"/>
            </a:solidFill>
            <a:prstDash val="solid"/>
          </a:ln>
        </p:spPr>
        <p:txBody>
          <a:bodyPr/>
          <a:p/>
        </p:txBody>
      </p:sp>
      <p:pic>
        <p:nvPicPr>
          <p:cNvPr id="11" name="Image 1" descr="Label only">    </p:cNvPr>
          <p:cNvPicPr>
            <a:picLocks noChangeAspect="1"/>
          </p:cNvPicPr>
          <p:nvPr/>
        </p:nvPicPr>
        <p:blipFill>
          <a:blip r:embed="rId2"/>
          <a:stretch>
            <a:fillRect/>
          </a:stretch>
        </p:blipFill>
        <p:spPr>
          <a:xfrm>
            <a:off x="6510528" y="1709928"/>
            <a:ext cx="329184" cy="329184"/>
          </a:xfrm>
          <a:prstGeom prst="rect">
            <a:avLst/>
          </a:prstGeom>
        </p:spPr>
      </p:pic>
      <p:sp>
        <p:nvSpPr>
          <p:cNvPr id="12" name="Text 7"/>
          <p:cNvSpPr txBox="1"/>
          <p:nvPr/>
        </p:nvSpPr>
        <p:spPr>
          <a:xfrm>
            <a:off x="7086600" y="155448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Indian law ignored</a:t>
            </a:r>
            <a:endParaRPr lang="en-US" sz="1600" dirty="0"/>
          </a:p>
        </p:txBody>
      </p:sp>
      <p:sp>
        <p:nvSpPr>
          <p:cNvPr id="13" name="Text 8"/>
          <p:cNvSpPr txBox="1"/>
          <p:nvPr/>
        </p:nvSpPr>
        <p:spPr>
          <a:xfrm>
            <a:off x="6400800" y="2240280"/>
            <a:ext cx="498348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Existing tools rarely consider Indian contract law.</a:t>
            </a:r>
            <a:endParaRPr lang="en-US" sz="1600" dirty="0"/>
          </a:p>
        </p:txBody>
      </p:sp>
      <p:sp>
        <p:nvSpPr>
          <p:cNvPr id="14" name="One split only card"/>
          <p:cNvSpPr/>
          <p:nvPr/>
        </p:nvSpPr>
        <p:spPr>
          <a:xfrm>
            <a:off x="548640" y="3611880"/>
            <a:ext cx="5440680" cy="2057400"/>
          </a:xfrm>
          <a:prstGeom prst="roundRect">
            <a:avLst>
              <a:gd name="adj" fmla="val 3556"/>
            </a:avLst>
          </a:prstGeom>
          <a:solidFill>
            <a:srgbClr val="F6F8FB"/>
          </a:solidFill>
          <a:ln w="9525">
            <a:solidFill>
              <a:srgbClr val="D5DCE6"/>
            </a:solidFill>
            <a:prstDash val="solid"/>
          </a:ln>
        </p:spPr>
        <p:txBody>
          <a:bodyPr/>
          <a:p/>
        </p:txBody>
      </p:sp>
      <p:sp>
        <p:nvSpPr>
          <p:cNvPr id="15" name="icon circle"/>
          <p:cNvSpPr/>
          <p:nvPr/>
        </p:nvSpPr>
        <p:spPr>
          <a:xfrm>
            <a:off x="777240" y="3840480"/>
            <a:ext cx="548640" cy="548640"/>
          </a:xfrm>
          <a:prstGeom prst="ellipse">
            <a:avLst/>
          </a:prstGeom>
          <a:solidFill>
            <a:srgbClr val="6250D6"/>
          </a:solidFill>
          <a:ln w="12700">
            <a:solidFill>
              <a:srgbClr val="6250D6"/>
            </a:solidFill>
            <a:prstDash val="solid"/>
          </a:ln>
        </p:spPr>
        <p:txBody>
          <a:bodyPr/>
          <a:p/>
        </p:txBody>
      </p:sp>
      <p:pic>
        <p:nvPicPr>
          <p:cNvPr id="16" name="Image 2" descr="One split only">    </p:cNvPr>
          <p:cNvPicPr>
            <a:picLocks noChangeAspect="1"/>
          </p:cNvPicPr>
          <p:nvPr/>
        </p:nvPicPr>
        <p:blipFill>
          <a:blip r:embed="rId3"/>
          <a:stretch>
            <a:fillRect/>
          </a:stretch>
        </p:blipFill>
        <p:spPr>
          <a:xfrm>
            <a:off x="886968" y="3950208"/>
            <a:ext cx="329184" cy="329184"/>
          </a:xfrm>
          <a:prstGeom prst="rect">
            <a:avLst/>
          </a:prstGeom>
        </p:spPr>
      </p:pic>
      <p:sp>
        <p:nvSpPr>
          <p:cNvPr id="17" name="Text 11"/>
          <p:cNvSpPr txBox="1"/>
          <p:nvPr/>
        </p:nvSpPr>
        <p:spPr>
          <a:xfrm>
            <a:off x="1463040" y="379476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Clauses in isolation</a:t>
            </a:r>
            <a:endParaRPr lang="en-US" sz="1600" dirty="0"/>
          </a:p>
        </p:txBody>
      </p:sp>
      <p:sp>
        <p:nvSpPr>
          <p:cNvPr id="18" name="Text 12"/>
          <p:cNvSpPr txBox="1"/>
          <p:nvPr/>
        </p:nvSpPr>
        <p:spPr>
          <a:xfrm>
            <a:off x="777240" y="4480560"/>
            <a:ext cx="498348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Risky combinations are missed, and classification and predatory detection are often mixed in one score.</a:t>
            </a:r>
            <a:endParaRPr lang="en-US" sz="1600" dirty="0"/>
          </a:p>
        </p:txBody>
      </p:sp>
      <p:sp>
        <p:nvSpPr>
          <p:cNvPr id="19" name="Not usable card"/>
          <p:cNvSpPr/>
          <p:nvPr/>
        </p:nvSpPr>
        <p:spPr>
          <a:xfrm>
            <a:off x="6172200" y="3611880"/>
            <a:ext cx="5440680" cy="2057400"/>
          </a:xfrm>
          <a:prstGeom prst="roundRect">
            <a:avLst>
              <a:gd name="adj" fmla="val 3556"/>
            </a:avLst>
          </a:prstGeom>
          <a:solidFill>
            <a:srgbClr val="F6F8FB"/>
          </a:solidFill>
          <a:ln w="9525">
            <a:solidFill>
              <a:srgbClr val="D5DCE6"/>
            </a:solidFill>
            <a:prstDash val="solid"/>
          </a:ln>
        </p:spPr>
        <p:txBody>
          <a:bodyPr/>
          <a:p/>
        </p:txBody>
      </p:sp>
      <p:sp>
        <p:nvSpPr>
          <p:cNvPr id="20" name="icon circle"/>
          <p:cNvSpPr/>
          <p:nvPr/>
        </p:nvSpPr>
        <p:spPr>
          <a:xfrm>
            <a:off x="6400800" y="3840480"/>
            <a:ext cx="548640" cy="548640"/>
          </a:xfrm>
          <a:prstGeom prst="ellipse">
            <a:avLst/>
          </a:prstGeom>
          <a:solidFill>
            <a:srgbClr val="1BAF7A"/>
          </a:solidFill>
          <a:ln w="12700">
            <a:solidFill>
              <a:srgbClr val="1BAF7A"/>
            </a:solidFill>
            <a:prstDash val="solid"/>
          </a:ln>
        </p:spPr>
        <p:txBody>
          <a:bodyPr/>
          <a:p/>
        </p:txBody>
      </p:sp>
      <p:pic>
        <p:nvPicPr>
          <p:cNvPr id="21" name="Image 3" descr="Not usable">    </p:cNvPr>
          <p:cNvPicPr>
            <a:picLocks noChangeAspect="1"/>
          </p:cNvPicPr>
          <p:nvPr/>
        </p:nvPicPr>
        <p:blipFill>
          <a:blip r:embed="rId4"/>
          <a:stretch>
            <a:fillRect/>
          </a:stretch>
        </p:blipFill>
        <p:spPr>
          <a:xfrm>
            <a:off x="6510528" y="3950208"/>
            <a:ext cx="329184" cy="329184"/>
          </a:xfrm>
          <a:prstGeom prst="rect">
            <a:avLst/>
          </a:prstGeom>
        </p:spPr>
      </p:pic>
      <p:sp>
        <p:nvSpPr>
          <p:cNvPr id="22" name="Text 15"/>
          <p:cNvSpPr txBox="1"/>
          <p:nvPr/>
        </p:nvSpPr>
        <p:spPr>
          <a:xfrm>
            <a:off x="7086600" y="379476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Ungrounded summaries</a:t>
            </a:r>
            <a:endParaRPr lang="en-US" sz="1600" dirty="0"/>
          </a:p>
        </p:txBody>
      </p:sp>
      <p:sp>
        <p:nvSpPr>
          <p:cNvPr id="23" name="Text 16"/>
          <p:cNvSpPr txBox="1"/>
          <p:nvPr/>
        </p:nvSpPr>
        <p:spPr>
          <a:xfrm>
            <a:off x="6400800" y="4480560"/>
            <a:ext cx="498348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General LLM summaries may be inaccurate and lack clause-level references.</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4" name="gap Modality"/>
          <p:cNvSpPr/>
          <p:nvPr/>
        </p:nvSpPr>
        <p:spPr>
          <a:xfrm>
            <a:off x="548640" y="1325880"/>
            <a:ext cx="2377440" cy="749808"/>
          </a:xfrm>
          <a:prstGeom prst="roundRect">
            <a:avLst>
              <a:gd name="adj" fmla="val 7317"/>
            </a:avLst>
          </a:prstGeom>
          <a:solidFill>
            <a:srgbClr val="1B2A41"/>
          </a:solidFill>
          <a:ln w="12700">
            <a:solidFill>
              <a:srgbClr val="1B2A41"/>
            </a:solidFill>
            <a:prstDash val="solid"/>
          </a:ln>
        </p:spPr>
        <p:txBody>
          <a:bodyPr/>
          <a:p/>
        </p:txBody>
      </p:sp>
      <p:sp>
        <p:nvSpPr>
          <p:cNvPr id="5" name="Text 2"/>
          <p:cNvSpPr txBox="1"/>
          <p:nvPr/>
        </p:nvSpPr>
        <p:spPr>
          <a:xfrm>
            <a:off x="548640" y="13258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Jurisdiction</a:t>
            </a:r>
            <a:endParaRPr lang="en-US" sz="1600" dirty="0"/>
          </a:p>
        </p:txBody>
      </p:sp>
      <p:sp>
        <p:nvSpPr>
          <p:cNvPr id="6" name="Text 3"/>
          <p:cNvSpPr txBox="1"/>
          <p:nvPr/>
        </p:nvSpPr>
        <p:spPr>
          <a:xfrm>
            <a:off x="3154680" y="1325880"/>
            <a:ext cx="8503920" cy="749808"/>
          </a:xfrm>
          <a:prstGeom prst="rect">
            <a:avLst/>
          </a:prstGeom>
          <a:noFill/>
          <a:ln/>
        </p:spPr>
        <p:txBody>
          <a:bodyPr wrap="square" lIns="0" tIns="0" rIns="0" bIns="0" rtlCol="0" anchor="ctr"/>
          <a:lstStyle/>
          <a:p>
            <a:pPr indent="0" marL="0">
              <a:buNone/>
            </a:pPr>
            <a:r>
              <a:rPr lang="en-US" sz="1600" dirty="0">
                <a:solidFill>
                  <a:srgbClr val="0F172A"/>
                </a:solidFill>
              </a:rPr>
              <a:t>Analysis tools mostly target US and EU law; Indian contracts are under-represented. The base paper is Saudi-specific [1].</a:t>
            </a:r>
            <a:endParaRPr lang="en-US" sz="1600" dirty="0"/>
          </a:p>
        </p:txBody>
      </p:sp>
      <p:sp>
        <p:nvSpPr>
          <p:cNvPr id="7" name="gap Transparency"/>
          <p:cNvSpPr/>
          <p:nvPr/>
        </p:nvSpPr>
        <p:spPr>
          <a:xfrm>
            <a:off x="548640" y="2240280"/>
            <a:ext cx="2377440" cy="749808"/>
          </a:xfrm>
          <a:prstGeom prst="roundRect">
            <a:avLst>
              <a:gd name="adj" fmla="val 7317"/>
            </a:avLst>
          </a:prstGeom>
          <a:solidFill>
            <a:srgbClr val="1B2A41"/>
          </a:solidFill>
          <a:ln w="12700">
            <a:solidFill>
              <a:srgbClr val="1B2A41"/>
            </a:solidFill>
            <a:prstDash val="solid"/>
          </a:ln>
        </p:spPr>
        <p:txBody>
          <a:bodyPr/>
          <a:p/>
        </p:txBody>
      </p:sp>
      <p:sp>
        <p:nvSpPr>
          <p:cNvPr id="8" name="Text 5"/>
          <p:cNvSpPr txBox="1"/>
          <p:nvPr/>
        </p:nvSpPr>
        <p:spPr>
          <a:xfrm>
            <a:off x="548640" y="22402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Combinations</a:t>
            </a:r>
            <a:endParaRPr lang="en-US" sz="1600" dirty="0"/>
          </a:p>
        </p:txBody>
      </p:sp>
      <p:sp>
        <p:nvSpPr>
          <p:cNvPr id="9" name="Text 6"/>
          <p:cNvSpPr txBox="1"/>
          <p:nvPr/>
        </p:nvSpPr>
        <p:spPr>
          <a:xfrm>
            <a:off x="3154680" y="2240280"/>
            <a:ext cx="8503920" cy="749808"/>
          </a:xfrm>
          <a:prstGeom prst="rect">
            <a:avLst/>
          </a:prstGeom>
          <a:noFill/>
          <a:ln/>
        </p:spPr>
        <p:txBody>
          <a:bodyPr wrap="square" lIns="0" tIns="0" rIns="0" bIns="0" rtlCol="0" anchor="ctr"/>
          <a:lstStyle/>
          <a:p>
            <a:pPr indent="0" marL="0">
              <a:buNone/>
            </a:pPr>
            <a:r>
              <a:rPr lang="en-US" sz="1600" dirty="0">
                <a:solidFill>
                  <a:srgbClr val="0F172A"/>
                </a:solidFill>
              </a:rPr>
              <a:t>Clauses are analysed one at a time; clause pairs that are harmless alone but dangerous together are missed.</a:t>
            </a:r>
            <a:endParaRPr lang="en-US" sz="1600" dirty="0"/>
          </a:p>
        </p:txBody>
      </p:sp>
      <p:sp>
        <p:nvSpPr>
          <p:cNvPr id="10" name="gap Generalisation"/>
          <p:cNvSpPr/>
          <p:nvPr/>
        </p:nvSpPr>
        <p:spPr>
          <a:xfrm>
            <a:off x="548640" y="3154680"/>
            <a:ext cx="2377440" cy="749808"/>
          </a:xfrm>
          <a:prstGeom prst="roundRect">
            <a:avLst>
              <a:gd name="adj" fmla="val 7317"/>
            </a:avLst>
          </a:prstGeom>
          <a:solidFill>
            <a:srgbClr val="1B2A41"/>
          </a:solidFill>
          <a:ln w="12700">
            <a:solidFill>
              <a:srgbClr val="1B2A41"/>
            </a:solidFill>
            <a:prstDash val="solid"/>
          </a:ln>
        </p:spPr>
        <p:txBody>
          <a:bodyPr/>
          <a:p/>
        </p:txBody>
      </p:sp>
      <p:sp>
        <p:nvSpPr>
          <p:cNvPr id="11" name="Text 8"/>
          <p:cNvSpPr txBox="1"/>
          <p:nvPr/>
        </p:nvSpPr>
        <p:spPr>
          <a:xfrm>
            <a:off x="548640" y="31546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Evaluation</a:t>
            </a:r>
            <a:endParaRPr lang="en-US" sz="1600" dirty="0"/>
          </a:p>
        </p:txBody>
      </p:sp>
      <p:sp>
        <p:nvSpPr>
          <p:cNvPr id="12" name="Text 9"/>
          <p:cNvSpPr txBox="1"/>
          <p:nvPr/>
        </p:nvSpPr>
        <p:spPr>
          <a:xfrm>
            <a:off x="3154680" y="3154680"/>
            <a:ext cx="8503920" cy="749808"/>
          </a:xfrm>
          <a:prstGeom prst="rect">
            <a:avLst/>
          </a:prstGeom>
          <a:noFill/>
          <a:ln/>
        </p:spPr>
        <p:txBody>
          <a:bodyPr wrap="square" lIns="0" tIns="0" rIns="0" bIns="0" rtlCol="0" anchor="ctr"/>
          <a:lstStyle/>
          <a:p>
            <a:pPr indent="0" marL="0">
              <a:buNone/>
            </a:pPr>
            <a:r>
              <a:rPr lang="en-US" sz="1600" dirty="0">
                <a:solidFill>
                  <a:srgbClr val="0F172A"/>
                </a:solidFill>
              </a:rPr>
              <a:t>Clause classification and predatory-clause detection are often reported as one number.</a:t>
            </a:r>
            <a:endParaRPr lang="en-US" sz="1600" dirty="0"/>
          </a:p>
        </p:txBody>
      </p:sp>
      <p:sp>
        <p:nvSpPr>
          <p:cNvPr id="13" name="gap Generated media"/>
          <p:cNvSpPr/>
          <p:nvPr/>
        </p:nvSpPr>
        <p:spPr>
          <a:xfrm>
            <a:off x="548640" y="4069080"/>
            <a:ext cx="2377440" cy="749808"/>
          </a:xfrm>
          <a:prstGeom prst="roundRect">
            <a:avLst>
              <a:gd name="adj" fmla="val 7317"/>
            </a:avLst>
          </a:prstGeom>
          <a:solidFill>
            <a:srgbClr val="1B2A41"/>
          </a:solidFill>
          <a:ln w="12700">
            <a:solidFill>
              <a:srgbClr val="1B2A41"/>
            </a:solidFill>
            <a:prstDash val="solid"/>
          </a:ln>
        </p:spPr>
        <p:txBody>
          <a:bodyPr/>
          <a:p/>
        </p:txBody>
      </p:sp>
      <p:sp>
        <p:nvSpPr>
          <p:cNvPr id="14" name="Text 11"/>
          <p:cNvSpPr txBox="1"/>
          <p:nvPr/>
        </p:nvSpPr>
        <p:spPr>
          <a:xfrm>
            <a:off x="548640" y="40690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Explanation</a:t>
            </a:r>
            <a:endParaRPr lang="en-US" sz="1600" dirty="0"/>
          </a:p>
        </p:txBody>
      </p:sp>
      <p:sp>
        <p:nvSpPr>
          <p:cNvPr id="15" name="Text 12"/>
          <p:cNvSpPr txBox="1"/>
          <p:nvPr/>
        </p:nvSpPr>
        <p:spPr>
          <a:xfrm>
            <a:off x="3154680" y="4069080"/>
            <a:ext cx="8503920" cy="749808"/>
          </a:xfrm>
          <a:prstGeom prst="rect">
            <a:avLst/>
          </a:prstGeom>
          <a:noFill/>
          <a:ln/>
        </p:spPr>
        <p:txBody>
          <a:bodyPr wrap="square" lIns="0" tIns="0" rIns="0" bIns="0" rtlCol="0" anchor="ctr"/>
          <a:lstStyle/>
          <a:p>
            <a:pPr indent="0" marL="0">
              <a:buNone/>
            </a:pPr>
            <a:r>
              <a:rPr lang="en-US" sz="1600" dirty="0">
                <a:solidFill>
                  <a:srgbClr val="0F172A"/>
                </a:solidFill>
              </a:rPr>
              <a:t>Users need the quoted provision, the reason in plain language and a safer wording.</a:t>
            </a:r>
            <a:endParaRPr lang="en-US" sz="1600" dirty="0"/>
          </a:p>
        </p:txBody>
      </p:sp>
      <p:sp>
        <p:nvSpPr>
          <p:cNvPr id="16" name="gap Application"/>
          <p:cNvSpPr/>
          <p:nvPr/>
        </p:nvSpPr>
        <p:spPr>
          <a:xfrm>
            <a:off x="548640" y="4983480"/>
            <a:ext cx="2377440" cy="749808"/>
          </a:xfrm>
          <a:prstGeom prst="roundRect">
            <a:avLst>
              <a:gd name="adj" fmla="val 7317"/>
            </a:avLst>
          </a:prstGeom>
          <a:solidFill>
            <a:srgbClr val="1B2A41"/>
          </a:solidFill>
          <a:ln w="12700">
            <a:solidFill>
              <a:srgbClr val="1B2A41"/>
            </a:solidFill>
            <a:prstDash val="solid"/>
          </a:ln>
        </p:spPr>
        <p:txBody>
          <a:bodyPr/>
          <a:p/>
        </p:txBody>
      </p:sp>
      <p:sp>
        <p:nvSpPr>
          <p:cNvPr id="17" name="Text 14"/>
          <p:cNvSpPr txBox="1"/>
          <p:nvPr/>
        </p:nvSpPr>
        <p:spPr>
          <a:xfrm>
            <a:off x="548640" y="49834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Access</a:t>
            </a:r>
            <a:endParaRPr lang="en-US" sz="1600" dirty="0"/>
          </a:p>
        </p:txBody>
      </p:sp>
      <p:sp>
        <p:nvSpPr>
          <p:cNvPr id="18" name="Text 15"/>
          <p:cNvSpPr txBox="1"/>
          <p:nvPr/>
        </p:nvSpPr>
        <p:spPr>
          <a:xfrm>
            <a:off x="3154680" y="4983480"/>
            <a:ext cx="8503920" cy="749808"/>
          </a:xfrm>
          <a:prstGeom prst="rect">
            <a:avLst/>
          </a:prstGeom>
          <a:noFill/>
          <a:ln/>
        </p:spPr>
        <p:txBody>
          <a:bodyPr wrap="square" lIns="0" tIns="0" rIns="0" bIns="0" rtlCol="0" anchor="ctr"/>
          <a:lstStyle/>
          <a:p>
            <a:pPr indent="0" marL="0">
              <a:buNone/>
            </a:pPr>
            <a:r>
              <a:rPr lang="en-US" sz="1600" dirty="0">
                <a:solidFill>
                  <a:srgbClr val="0F172A"/>
                </a:solidFill>
              </a:rPr>
              <a:t>Freelancers and small businesses need an affordable first-pass review before signing.</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4" name="statement box"/>
          <p:cNvSpPr/>
          <p:nvPr/>
        </p:nvSpPr>
        <p:spPr>
          <a:xfrm>
            <a:off x="548640" y="1463040"/>
            <a:ext cx="11094415" cy="2743200"/>
          </a:xfrm>
          <a:prstGeom prst="roundRect">
            <a:avLst>
              <a:gd name="adj" fmla="val 2667"/>
            </a:avLst>
          </a:prstGeom>
          <a:solidFill>
            <a:srgbClr val="EEF2F7"/>
          </a:solidFill>
          <a:ln w="12700">
            <a:solidFill>
              <a:srgbClr val="EEF2F7"/>
            </a:solidFill>
            <a:prstDash val="solid"/>
          </a:ln>
        </p:spPr>
        <p:txBody>
          <a:bodyPr/>
          <a:p/>
        </p:txBody>
      </p:sp>
      <p:sp>
        <p:nvSpPr>
          <p:cNvPr id="5" name="Text 2"/>
          <p:cNvSpPr txBox="1"/>
          <p:nvPr/>
        </p:nvSpPr>
        <p:spPr>
          <a:xfrm>
            <a:off x="914400" y="1600200"/>
            <a:ext cx="10362895" cy="2468880"/>
          </a:xfrm>
          <a:prstGeom prst="rect">
            <a:avLst/>
          </a:prstGeom>
          <a:noFill/>
          <a:ln/>
        </p:spPr>
        <p:txBody>
          <a:bodyPr wrap="square" lIns="0" tIns="0" rIns="0" bIns="0" rtlCol="0" anchor="ctr"/>
          <a:lstStyle/>
          <a:p>
            <a:pPr indent="0" marL="0">
              <a:buNone/>
            </a:pPr>
            <a:r>
              <a:rPr lang="en-US" sz="2200" dirty="0">
                <a:solidFill>
                  <a:srgbClr val="1B2A41"/>
                </a:solidFill>
                <a:latin typeface="Cambria" pitchFamily="34" charset="0"/>
                <a:ea typeface="Cambria" pitchFamily="34" charset="-122"/>
                <a:cs typeface="Cambria" pitchFamily="34" charset="-120"/>
              </a:rPr>
              <a:t>Non-experts cannot easily spot predatory or ambiguous clauses, and legal review is out of reach for freelancers and small businesses. We need an affordable, jurisdiction-aware tool that flags predatory clauses and combinations in an Indian contract and explains the risk in plain language before signing.</a:t>
            </a:r>
            <a:endParaRPr lang="en-US" sz="2200" dirty="0"/>
          </a:p>
        </p:txBody>
      </p:sp>
      <p:sp>
        <p:nvSpPr>
          <p:cNvPr id="6" name="Input card"/>
          <p:cNvSpPr/>
          <p:nvPr/>
        </p:nvSpPr>
        <p:spPr>
          <a:xfrm>
            <a:off x="548640" y="4480560"/>
            <a:ext cx="3566160" cy="1325880"/>
          </a:xfrm>
          <a:prstGeom prst="roundRect">
            <a:avLst>
              <a:gd name="adj" fmla="val 5517"/>
            </a:avLst>
          </a:prstGeom>
          <a:solidFill>
            <a:srgbClr val="F6F8FB"/>
          </a:solidFill>
          <a:ln w="9525">
            <a:solidFill>
              <a:srgbClr val="D5DCE6"/>
            </a:solidFill>
            <a:prstDash val="solid"/>
          </a:ln>
        </p:spPr>
        <p:txBody>
          <a:bodyPr/>
          <a:p/>
        </p:txBody>
      </p:sp>
      <p:sp>
        <p:nvSpPr>
          <p:cNvPr id="7" name="Text 4"/>
          <p:cNvSpPr txBox="1"/>
          <p:nvPr/>
        </p:nvSpPr>
        <p:spPr>
          <a:xfrm>
            <a:off x="777240" y="4663440"/>
            <a:ext cx="31546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Input</a:t>
            </a:r>
            <a:endParaRPr lang="en-US" sz="1500" dirty="0"/>
          </a:p>
        </p:txBody>
      </p:sp>
      <p:sp>
        <p:nvSpPr>
          <p:cNvPr id="8" name="Text 5"/>
          <p:cNvSpPr txBox="1"/>
          <p:nvPr/>
        </p:nvSpPr>
        <p:spPr>
          <a:xfrm>
            <a:off x="777240" y="5349240"/>
            <a:ext cx="3108960" cy="32004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A contract file (PDF or DOCX)</a:t>
            </a:r>
            <a:endParaRPr lang="en-US" sz="1400" dirty="0"/>
          </a:p>
        </p:txBody>
      </p:sp>
      <p:sp>
        <p:nvSpPr>
          <p:cNvPr id="9" name="Output card"/>
          <p:cNvSpPr/>
          <p:nvPr/>
        </p:nvSpPr>
        <p:spPr>
          <a:xfrm>
            <a:off x="4297680" y="4480560"/>
            <a:ext cx="3566160" cy="1325880"/>
          </a:xfrm>
          <a:prstGeom prst="roundRect">
            <a:avLst>
              <a:gd name="adj" fmla="val 5517"/>
            </a:avLst>
          </a:prstGeom>
          <a:solidFill>
            <a:srgbClr val="F6F8FB"/>
          </a:solidFill>
          <a:ln w="9525">
            <a:solidFill>
              <a:srgbClr val="D5DCE6"/>
            </a:solidFill>
            <a:prstDash val="solid"/>
          </a:ln>
        </p:spPr>
        <p:txBody>
          <a:bodyPr/>
          <a:p/>
        </p:txBody>
      </p:sp>
      <p:sp>
        <p:nvSpPr>
          <p:cNvPr id="10" name="Text 7"/>
          <p:cNvSpPr txBox="1"/>
          <p:nvPr/>
        </p:nvSpPr>
        <p:spPr>
          <a:xfrm>
            <a:off x="4526280" y="4663440"/>
            <a:ext cx="31546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Output</a:t>
            </a:r>
            <a:endParaRPr lang="en-US" sz="1500" dirty="0"/>
          </a:p>
        </p:txBody>
      </p:sp>
      <p:sp>
        <p:nvSpPr>
          <p:cNvPr id="11" name="Text 8"/>
          <p:cNvSpPr txBox="1"/>
          <p:nvPr/>
        </p:nvSpPr>
        <p:spPr>
          <a:xfrm>
            <a:off x="4526280" y="5349240"/>
            <a:ext cx="3108960" cy="32004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Clause types, flagged clauses, risky combinations</a:t>
            </a:r>
            <a:endParaRPr lang="en-US" sz="1400" dirty="0"/>
          </a:p>
        </p:txBody>
      </p:sp>
      <p:sp>
        <p:nvSpPr>
          <p:cNvPr id="12" name="Extra card"/>
          <p:cNvSpPr/>
          <p:nvPr/>
        </p:nvSpPr>
        <p:spPr>
          <a:xfrm>
            <a:off x="8046720" y="4480560"/>
            <a:ext cx="3566160" cy="1325880"/>
          </a:xfrm>
          <a:prstGeom prst="roundRect">
            <a:avLst>
              <a:gd name="adj" fmla="val 5517"/>
            </a:avLst>
          </a:prstGeom>
          <a:solidFill>
            <a:srgbClr val="F6F8FB"/>
          </a:solidFill>
          <a:ln w="9525">
            <a:solidFill>
              <a:srgbClr val="D5DCE6"/>
            </a:solidFill>
            <a:prstDash val="solid"/>
          </a:ln>
        </p:spPr>
        <p:txBody>
          <a:bodyPr/>
          <a:p/>
        </p:txBody>
      </p:sp>
      <p:sp>
        <p:nvSpPr>
          <p:cNvPr id="13" name="Text 10"/>
          <p:cNvSpPr txBox="1"/>
          <p:nvPr/>
        </p:nvSpPr>
        <p:spPr>
          <a:xfrm>
            <a:off x="8275320" y="4663440"/>
            <a:ext cx="31546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Extra</a:t>
            </a:r>
            <a:endParaRPr lang="en-US" sz="1500" dirty="0"/>
          </a:p>
        </p:txBody>
      </p:sp>
      <p:sp>
        <p:nvSpPr>
          <p:cNvPr id="14" name="Text 11"/>
          <p:cNvSpPr txBox="1"/>
          <p:nvPr/>
        </p:nvSpPr>
        <p:spPr>
          <a:xfrm>
            <a:off x="8275320" y="5349240"/>
            <a:ext cx="3108960" cy="32004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Complexity grade + plain-language summary</a:t>
            </a:r>
            <a:endParaRPr lang="en-US" sz="14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4" name="Text 1"/>
          <p:cNvSpPr txBox="1"/>
          <p:nvPr/>
        </p:nvSpPr>
        <p:spPr>
          <a:xfrm>
            <a:off x="548640" y="1325880"/>
            <a:ext cx="11094415" cy="4754880"/>
          </a:xfrm>
          <a:prstGeom prst="rect">
            <a:avLst/>
          </a:prstGeom>
          <a:noFill/>
          <a:ln/>
        </p:spPr>
        <p:txBody>
          <a:bodyPr wrap="square" lIns="0" tIns="0" rIns="0" bIns="0" rtlCol="0" anchor="t"/>
          <a:lstStyle/>
          <a:p>
            <a:pPr marL="228600" indent="-228600">
              <a:spcAft>
                <a:spcPts val="1000"/>
              </a:spcAft>
              <a:buSzPct val="100000"/>
              <a:buChar char="•"/>
            </a:pPr>
            <a:r>
              <a:rPr lang="en-US" sz="2200" dirty="0">
                <a:solidFill>
                  <a:srgbClr val="0F172A"/>
                </a:solidFill>
              </a:rPr>
              <a:t>Segment uploaded contracts into clauses and classify clause types.</a:t>
            </a:r>
            <a:pPr indent="0" marL="0">
              <a:spcAft>
                <a:spcPts val="1000"/>
              </a:spcAft>
              <a:buNone/>
            </a:pPr>
            <a:pPr indent="0" marL="0">
              <a:spcAft>
                <a:spcPts val="1000"/>
              </a:spcAft>
              <a:buNone/>
            </a:pPr>
            <a:endParaRPr lang="en-US" sz="2200" dirty="0"/>
          </a:p>
          <a:p>
            <a:pPr marL="228600" indent="-228600">
              <a:spcAft>
                <a:spcPts val="1000"/>
              </a:spcAft>
              <a:buSzPct val="100000"/>
              <a:buChar char="•"/>
            </a:pPr>
            <a:r>
              <a:rPr lang="en-US" sz="2200" dirty="0">
                <a:solidFill>
                  <a:srgbClr val="0F172A"/>
                </a:solidFill>
              </a:rPr>
              <a:t>Build a retrieval-augmented pipeline: an LLM API plus semantic search over clause embeddings.</a:t>
            </a:r>
            <a:pPr indent="0" marL="0">
              <a:spcAft>
                <a:spcPts val="1000"/>
              </a:spcAft>
              <a:buNone/>
            </a:pPr>
            <a:pPr indent="0" marL="0">
              <a:spcAft>
                <a:spcPts val="1000"/>
              </a:spcAft>
              <a:buNone/>
            </a:pPr>
            <a:endParaRPr lang="en-US" sz="2200" dirty="0"/>
          </a:p>
          <a:p>
            <a:pPr marL="228600" indent="-228600">
              <a:spcAft>
                <a:spcPts val="1000"/>
              </a:spcAft>
              <a:buSzPct val="100000"/>
              <a:buChar char="•"/>
            </a:pPr>
            <a:r>
              <a:rPr lang="en-US" sz="2200" dirty="0">
                <a:solidFill>
                  <a:srgbClr val="0F172A"/>
                </a:solidFill>
              </a:rPr>
              <a:t>Model clause relationships in a graph to find risky combinations.</a:t>
            </a:r>
            <a:pPr indent="0" marL="0">
              <a:spcAft>
                <a:spcPts val="1000"/>
              </a:spcAft>
              <a:buNone/>
            </a:pPr>
            <a:pPr indent="0" marL="0">
              <a:spcAft>
                <a:spcPts val="1000"/>
              </a:spcAft>
              <a:buNone/>
            </a:pPr>
            <a:endParaRPr lang="en-US" sz="2200" dirty="0"/>
          </a:p>
          <a:p>
            <a:pPr marL="228600" indent="-228600">
              <a:spcAft>
                <a:spcPts val="1000"/>
              </a:spcAft>
              <a:buSzPct val="100000"/>
              <a:buChar char="•"/>
            </a:pPr>
            <a:r>
              <a:rPr lang="en-US" sz="2200" dirty="0">
                <a:solidFill>
                  <a:srgbClr val="0F172A"/>
                </a:solidFill>
              </a:rPr>
              <a:t>Flag predatory clauses and combinations using Indian contract-law criteria.</a:t>
            </a:r>
            <a:pPr indent="0" marL="0">
              <a:spcAft>
                <a:spcPts val="1000"/>
              </a:spcAft>
              <a:buNone/>
            </a:pPr>
            <a:pPr indent="0" marL="0">
              <a:spcAft>
                <a:spcPts val="1000"/>
              </a:spcAft>
              <a:buNone/>
            </a:pPr>
            <a:endParaRPr lang="en-US" sz="2200" dirty="0"/>
          </a:p>
          <a:p>
            <a:pPr marL="228600" indent="-228600">
              <a:spcAft>
                <a:spcPts val="1000"/>
              </a:spcAft>
              <a:buSzPct val="100000"/>
              <a:buChar char="•"/>
            </a:pPr>
            <a:r>
              <a:rPr lang="en-US" sz="2200" dirty="0">
                <a:solidFill>
                  <a:srgbClr val="0F172A"/>
                </a:solidFill>
              </a:rPr>
              <a:t>Compute an overall complexity score and a plain-language risk summary.</a:t>
            </a:r>
            <a:pPr indent="0" marL="0">
              <a:spcAft>
                <a:spcPts val="1000"/>
              </a:spcAft>
              <a:buNone/>
            </a:pPr>
            <a:pPr indent="0" marL="0">
              <a:spcAft>
                <a:spcPts val="1000"/>
              </a:spcAft>
              <a:buNone/>
            </a:pPr>
            <a:endParaRPr lang="en-US" sz="2200" dirty="0"/>
          </a:p>
          <a:p>
            <a:pPr marL="228600" indent="-228600">
              <a:spcAft>
                <a:spcPts val="1000"/>
              </a:spcAft>
              <a:buSzPct val="100000"/>
              <a:buChar char="•"/>
            </a:pPr>
            <a:r>
              <a:rPr lang="en-US" sz="2200" dirty="0">
                <a:solidFill>
                  <a:srgbClr val="0F172A"/>
                </a:solidFill>
              </a:rPr>
              <a:t>Evaluate clause classification and predatory detection separately (CUAD and curated criteria).</a:t>
            </a:r>
            <a:pPr indent="0" marL="0">
              <a:spcAft>
                <a:spcPts val="1000"/>
              </a:spcAft>
              <a:buNone/>
            </a:pPr>
            <a:pPr indent="0" marL="0">
              <a:spcAft>
                <a:spcPts val="1000"/>
              </a:spcAft>
              <a:buNone/>
            </a:pPr>
            <a:endParaRPr lang="en-US" sz="2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4" name="Text track card"/>
          <p:cNvSpPr/>
          <p:nvPr/>
        </p:nvSpPr>
        <p:spPr>
          <a:xfrm>
            <a:off x="548640" y="1371600"/>
            <a:ext cx="2670048" cy="3017520"/>
          </a:xfrm>
          <a:prstGeom prst="roundRect">
            <a:avLst>
              <a:gd name="adj" fmla="val 2740"/>
            </a:avLst>
          </a:prstGeom>
          <a:solidFill>
            <a:srgbClr val="F6F8FB"/>
          </a:solidFill>
          <a:ln w="9525">
            <a:solidFill>
              <a:srgbClr val="D5DCE6"/>
            </a:solidFill>
            <a:prstDash val="solid"/>
          </a:ln>
        </p:spPr>
        <p:txBody>
          <a:bodyPr/>
          <a:p/>
        </p:txBody>
      </p:sp>
      <p:sp>
        <p:nvSpPr>
          <p:cNvPr id="5" name="icon circle"/>
          <p:cNvSpPr/>
          <p:nvPr/>
        </p:nvSpPr>
        <p:spPr>
          <a:xfrm>
            <a:off x="777240" y="1600200"/>
            <a:ext cx="548640" cy="548640"/>
          </a:xfrm>
          <a:prstGeom prst="ellipse">
            <a:avLst/>
          </a:prstGeom>
          <a:solidFill>
            <a:srgbClr val="6250D6"/>
          </a:solidFill>
          <a:ln w="12700">
            <a:solidFill>
              <a:srgbClr val="6250D6"/>
            </a:solidFill>
            <a:prstDash val="solid"/>
          </a:ln>
        </p:spPr>
        <p:txBody>
          <a:bodyPr/>
          <a:p/>
        </p:txBody>
      </p:sp>
      <p:pic>
        <p:nvPicPr>
          <p:cNvPr id="6" name="Image 0" descr="Text track">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1572768"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Segment and classify</a:t>
            </a:r>
            <a:endParaRPr lang="en-US" sz="1600" dirty="0"/>
          </a:p>
        </p:txBody>
      </p:sp>
      <p:sp>
        <p:nvSpPr>
          <p:cNvPr id="8" name="Text 4"/>
          <p:cNvSpPr txBox="1"/>
          <p:nvPr/>
        </p:nvSpPr>
        <p:spPr>
          <a:xfrm>
            <a:off x="777240" y="2240280"/>
            <a:ext cx="2212848" cy="2011680"/>
          </a:xfrm>
          <a:prstGeom prst="rect">
            <a:avLst/>
          </a:prstGeom>
          <a:noFill/>
          <a:ln/>
        </p:spPr>
        <p:txBody>
          <a:bodyPr wrap="square" lIns="0" tIns="0" rIns="0" bIns="0" rtlCol="0" anchor="t"/>
          <a:lstStyle/>
          <a:p>
            <a:pPr indent="0" marL="0">
              <a:spcAft>
                <a:spcPts val="400"/>
              </a:spcAft>
              <a:buNone/>
            </a:pPr>
            <a:r>
              <a:rPr lang="en-US" sz="1300" dirty="0">
                <a:solidFill>
                  <a:srgbClr val="475569"/>
                </a:solidFill>
              </a:rPr>
              <a:t>PDF or DOCX split into clauses with page numbers; each clause matched to one of 20 CUAD categories by embedding similarity.</a:t>
            </a:r>
            <a:endParaRPr lang="en-US" sz="1300" dirty="0"/>
          </a:p>
        </p:txBody>
      </p:sp>
      <p:sp>
        <p:nvSpPr>
          <p:cNvPr id="9" name="Visual track card"/>
          <p:cNvSpPr/>
          <p:nvPr/>
        </p:nvSpPr>
        <p:spPr>
          <a:xfrm>
            <a:off x="3364992" y="1371600"/>
            <a:ext cx="2670048" cy="3017520"/>
          </a:xfrm>
          <a:prstGeom prst="roundRect">
            <a:avLst>
              <a:gd name="adj" fmla="val 2740"/>
            </a:avLst>
          </a:prstGeom>
          <a:solidFill>
            <a:srgbClr val="F6F8FB"/>
          </a:solidFill>
          <a:ln w="9525">
            <a:solidFill>
              <a:srgbClr val="D5DCE6"/>
            </a:solidFill>
            <a:prstDash val="solid"/>
          </a:ln>
        </p:spPr>
        <p:txBody>
          <a:bodyPr/>
          <a:p/>
        </p:txBody>
      </p:sp>
      <p:sp>
        <p:nvSpPr>
          <p:cNvPr id="10" name="icon circle"/>
          <p:cNvSpPr/>
          <p:nvPr/>
        </p:nvSpPr>
        <p:spPr>
          <a:xfrm>
            <a:off x="3593592" y="1600200"/>
            <a:ext cx="548640" cy="548640"/>
          </a:xfrm>
          <a:prstGeom prst="ellipse">
            <a:avLst/>
          </a:prstGeom>
          <a:solidFill>
            <a:srgbClr val="1BAF7A"/>
          </a:solidFill>
          <a:ln w="12700">
            <a:solidFill>
              <a:srgbClr val="1BAF7A"/>
            </a:solidFill>
            <a:prstDash val="solid"/>
          </a:ln>
        </p:spPr>
        <p:txBody>
          <a:bodyPr/>
          <a:p/>
        </p:txBody>
      </p:sp>
      <p:pic>
        <p:nvPicPr>
          <p:cNvPr id="11" name="Image 1" descr="Visual track">    </p:cNvPr>
          <p:cNvPicPr>
            <a:picLocks noChangeAspect="1"/>
          </p:cNvPicPr>
          <p:nvPr/>
        </p:nvPicPr>
        <p:blipFill>
          <a:blip r:embed="rId2"/>
          <a:stretch>
            <a:fillRect/>
          </a:stretch>
        </p:blipFill>
        <p:spPr>
          <a:xfrm>
            <a:off x="3703320" y="1709928"/>
            <a:ext cx="329184" cy="329184"/>
          </a:xfrm>
          <a:prstGeom prst="rect">
            <a:avLst/>
          </a:prstGeom>
        </p:spPr>
      </p:pic>
      <p:sp>
        <p:nvSpPr>
          <p:cNvPr id="12" name="Text 7"/>
          <p:cNvSpPr txBox="1"/>
          <p:nvPr/>
        </p:nvSpPr>
        <p:spPr>
          <a:xfrm>
            <a:off x="4279392" y="1554480"/>
            <a:ext cx="1572768"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Predatory-clause rules</a:t>
            </a:r>
            <a:endParaRPr lang="en-US" sz="1600" dirty="0"/>
          </a:p>
        </p:txBody>
      </p:sp>
      <p:sp>
        <p:nvSpPr>
          <p:cNvPr id="13" name="Text 8"/>
          <p:cNvSpPr txBox="1"/>
          <p:nvPr/>
        </p:nvSpPr>
        <p:spPr>
          <a:xfrm>
            <a:off x="3593592" y="2240280"/>
            <a:ext cx="2212848" cy="2011680"/>
          </a:xfrm>
          <a:prstGeom prst="rect">
            <a:avLst/>
          </a:prstGeom>
          <a:noFill/>
          <a:ln/>
        </p:spPr>
        <p:txBody>
          <a:bodyPr wrap="square" lIns="0" tIns="0" rIns="0" bIns="0" rtlCol="0" anchor="t"/>
          <a:lstStyle/>
          <a:p>
            <a:pPr indent="0" marL="0">
              <a:spcAft>
                <a:spcPts val="400"/>
              </a:spcAft>
              <a:buNone/>
            </a:pPr>
            <a:r>
              <a:rPr lang="en-US" sz="1300" dirty="0">
                <a:solidFill>
                  <a:srgbClr val="475569"/>
                </a:solidFill>
              </a:rPr>
              <a:t>Eight Indian-law rules (restraint of trade, penalty, unilateral termination and more); the LLM writes the reason, quote and safer wording.</a:t>
            </a:r>
            <a:endParaRPr lang="en-US" sz="1300" dirty="0"/>
          </a:p>
        </p:txBody>
      </p:sp>
      <p:sp>
        <p:nvSpPr>
          <p:cNvPr id="14" name="Fusion card"/>
          <p:cNvSpPr/>
          <p:nvPr/>
        </p:nvSpPr>
        <p:spPr>
          <a:xfrm>
            <a:off x="6181344" y="1371600"/>
            <a:ext cx="2670048" cy="3017520"/>
          </a:xfrm>
          <a:prstGeom prst="roundRect">
            <a:avLst>
              <a:gd name="adj" fmla="val 2740"/>
            </a:avLst>
          </a:prstGeom>
          <a:solidFill>
            <a:srgbClr val="F6F8FB"/>
          </a:solidFill>
          <a:ln w="9525">
            <a:solidFill>
              <a:srgbClr val="D5DCE6"/>
            </a:solidFill>
            <a:prstDash val="solid"/>
          </a:ln>
        </p:spPr>
        <p:txBody>
          <a:bodyPr/>
          <a:p/>
        </p:txBody>
      </p:sp>
      <p:sp>
        <p:nvSpPr>
          <p:cNvPr id="15" name="icon circle"/>
          <p:cNvSpPr/>
          <p:nvPr/>
        </p:nvSpPr>
        <p:spPr>
          <a:xfrm>
            <a:off x="6409944" y="1600200"/>
            <a:ext cx="548640" cy="548640"/>
          </a:xfrm>
          <a:prstGeom prst="ellipse">
            <a:avLst/>
          </a:prstGeom>
          <a:solidFill>
            <a:srgbClr val="EB6834"/>
          </a:solidFill>
          <a:ln w="12700">
            <a:solidFill>
              <a:srgbClr val="EB6834"/>
            </a:solidFill>
            <a:prstDash val="solid"/>
          </a:ln>
        </p:spPr>
        <p:txBody>
          <a:bodyPr/>
          <a:p/>
        </p:txBody>
      </p:sp>
      <p:pic>
        <p:nvPicPr>
          <p:cNvPr id="16" name="Image 2" descr="Fusion">    </p:cNvPr>
          <p:cNvPicPr>
            <a:picLocks noChangeAspect="1"/>
          </p:cNvPicPr>
          <p:nvPr/>
        </p:nvPicPr>
        <p:blipFill>
          <a:blip r:embed="rId3"/>
          <a:stretch>
            <a:fillRect/>
          </a:stretch>
        </p:blipFill>
        <p:spPr>
          <a:xfrm>
            <a:off x="6519672" y="1709928"/>
            <a:ext cx="329184" cy="329184"/>
          </a:xfrm>
          <a:prstGeom prst="rect">
            <a:avLst/>
          </a:prstGeom>
        </p:spPr>
      </p:pic>
      <p:sp>
        <p:nvSpPr>
          <p:cNvPr id="17" name="Text 11"/>
          <p:cNvSpPr txBox="1"/>
          <p:nvPr/>
        </p:nvSpPr>
        <p:spPr>
          <a:xfrm>
            <a:off x="7095744" y="1554480"/>
            <a:ext cx="1572768"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Clause graph</a:t>
            </a:r>
            <a:endParaRPr lang="en-US" sz="1600" dirty="0"/>
          </a:p>
        </p:txBody>
      </p:sp>
      <p:sp>
        <p:nvSpPr>
          <p:cNvPr id="18" name="Text 12"/>
          <p:cNvSpPr txBox="1"/>
          <p:nvPr/>
        </p:nvSpPr>
        <p:spPr>
          <a:xfrm>
            <a:off x="6409944" y="2240280"/>
            <a:ext cx="2212848" cy="2011680"/>
          </a:xfrm>
          <a:prstGeom prst="rect">
            <a:avLst/>
          </a:prstGeom>
          <a:noFill/>
          <a:ln/>
        </p:spPr>
        <p:txBody>
          <a:bodyPr wrap="square" lIns="0" tIns="0" rIns="0" bIns="0" rtlCol="0" anchor="t"/>
          <a:lstStyle/>
          <a:p>
            <a:pPr indent="0" marL="0">
              <a:spcAft>
                <a:spcPts val="400"/>
              </a:spcAft>
              <a:buNone/>
            </a:pPr>
            <a:r>
              <a:rPr lang="en-US" sz="1300" dirty="0">
                <a:solidFill>
                  <a:srgbClr val="475569"/>
                </a:solidFill>
              </a:rPr>
              <a:t>A graph of clauses flags three combinations that are risky together, such as termination + no refund + penalty.</a:t>
            </a:r>
            <a:endParaRPr lang="en-US" sz="1300" dirty="0"/>
          </a:p>
        </p:txBody>
      </p:sp>
      <p:sp>
        <p:nvSpPr>
          <p:cNvPr id="19" name="AI-media check card"/>
          <p:cNvSpPr/>
          <p:nvPr/>
        </p:nvSpPr>
        <p:spPr>
          <a:xfrm>
            <a:off x="8997696" y="1371600"/>
            <a:ext cx="2670048" cy="3017520"/>
          </a:xfrm>
          <a:prstGeom prst="roundRect">
            <a:avLst>
              <a:gd name="adj" fmla="val 2740"/>
            </a:avLst>
          </a:prstGeom>
          <a:solidFill>
            <a:srgbClr val="F6F8FB"/>
          </a:solidFill>
          <a:ln w="9525">
            <a:solidFill>
              <a:srgbClr val="D5DCE6"/>
            </a:solidFill>
            <a:prstDash val="solid"/>
          </a:ln>
        </p:spPr>
        <p:txBody>
          <a:bodyPr/>
          <a:p/>
        </p:txBody>
      </p:sp>
      <p:sp>
        <p:nvSpPr>
          <p:cNvPr id="20" name="icon circle"/>
          <p:cNvSpPr/>
          <p:nvPr/>
        </p:nvSpPr>
        <p:spPr>
          <a:xfrm>
            <a:off x="9226296" y="1600200"/>
            <a:ext cx="548640" cy="548640"/>
          </a:xfrm>
          <a:prstGeom prst="ellipse">
            <a:avLst/>
          </a:prstGeom>
          <a:solidFill>
            <a:srgbClr val="EDA100"/>
          </a:solidFill>
          <a:ln w="12700">
            <a:solidFill>
              <a:srgbClr val="EDA100"/>
            </a:solidFill>
            <a:prstDash val="solid"/>
          </a:ln>
        </p:spPr>
        <p:txBody>
          <a:bodyPr/>
          <a:p/>
        </p:txBody>
      </p:sp>
      <p:pic>
        <p:nvPicPr>
          <p:cNvPr id="21" name="Image 3" descr="AI-media check">    </p:cNvPr>
          <p:cNvPicPr>
            <a:picLocks noChangeAspect="1"/>
          </p:cNvPicPr>
          <p:nvPr/>
        </p:nvPicPr>
        <p:blipFill>
          <a:blip r:embed="rId4"/>
          <a:stretch>
            <a:fillRect/>
          </a:stretch>
        </p:blipFill>
        <p:spPr>
          <a:xfrm>
            <a:off x="9336024" y="1709928"/>
            <a:ext cx="329184" cy="329184"/>
          </a:xfrm>
          <a:prstGeom prst="rect">
            <a:avLst/>
          </a:prstGeom>
        </p:spPr>
      </p:pic>
      <p:sp>
        <p:nvSpPr>
          <p:cNvPr id="22" name="Text 15"/>
          <p:cNvSpPr txBox="1"/>
          <p:nvPr/>
        </p:nvSpPr>
        <p:spPr>
          <a:xfrm>
            <a:off x="9912096" y="1554480"/>
            <a:ext cx="1572768"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Complexity grade</a:t>
            </a:r>
            <a:endParaRPr lang="en-US" sz="1600" dirty="0"/>
          </a:p>
        </p:txBody>
      </p:sp>
      <p:sp>
        <p:nvSpPr>
          <p:cNvPr id="23" name="Text 16"/>
          <p:cNvSpPr txBox="1"/>
          <p:nvPr/>
        </p:nvSpPr>
        <p:spPr>
          <a:xfrm>
            <a:off x="9226296" y="2240280"/>
            <a:ext cx="2212848" cy="2011680"/>
          </a:xfrm>
          <a:prstGeom prst="rect">
            <a:avLst/>
          </a:prstGeom>
          <a:noFill/>
          <a:ln/>
        </p:spPr>
        <p:txBody>
          <a:bodyPr wrap="square" lIns="0" tIns="0" rIns="0" bIns="0" rtlCol="0" anchor="t"/>
          <a:lstStyle/>
          <a:p>
            <a:pPr indent="0" marL="0">
              <a:spcAft>
                <a:spcPts val="400"/>
              </a:spcAft>
              <a:buNone/>
            </a:pPr>
            <a:r>
              <a:rPr lang="en-US" sz="1300" dirty="0">
                <a:solidFill>
                  <a:srgbClr val="475569"/>
                </a:solidFill>
              </a:rPr>
              <a:t>Readability, legal jargon, cross-references and sentence length combine into a score and an A-F grade, with a plain summary.</a:t>
            </a:r>
            <a:endParaRPr lang="en-US" sz="1300" dirty="0"/>
          </a:p>
        </p:txBody>
      </p:sp>
      <p:sp>
        <p:nvSpPr>
          <p:cNvPr id="24" name="Web application card"/>
          <p:cNvSpPr/>
          <p:nvPr/>
        </p:nvSpPr>
        <p:spPr>
          <a:xfrm>
            <a:off x="548640" y="4572000"/>
            <a:ext cx="11094415" cy="1234440"/>
          </a:xfrm>
          <a:prstGeom prst="roundRect">
            <a:avLst>
              <a:gd name="adj" fmla="val 5926"/>
            </a:avLst>
          </a:prstGeom>
          <a:solidFill>
            <a:srgbClr val="F6F8FB"/>
          </a:solidFill>
          <a:ln w="9525">
            <a:solidFill>
              <a:srgbClr val="D5DCE6"/>
            </a:solidFill>
            <a:prstDash val="solid"/>
          </a:ln>
        </p:spPr>
        <p:txBody>
          <a:bodyPr/>
          <a:p/>
        </p:txBody>
      </p:sp>
      <p:sp>
        <p:nvSpPr>
          <p:cNvPr id="25" name="icon circle"/>
          <p:cNvSpPr/>
          <p:nvPr/>
        </p:nvSpPr>
        <p:spPr>
          <a:xfrm>
            <a:off x="777240" y="4800600"/>
            <a:ext cx="548640" cy="548640"/>
          </a:xfrm>
          <a:prstGeom prst="ellipse">
            <a:avLst/>
          </a:prstGeom>
          <a:solidFill>
            <a:srgbClr val="1B2A41"/>
          </a:solidFill>
          <a:ln w="12700">
            <a:solidFill>
              <a:srgbClr val="1B2A41"/>
            </a:solidFill>
            <a:prstDash val="solid"/>
          </a:ln>
        </p:spPr>
        <p:txBody>
          <a:bodyPr/>
          <a:p/>
        </p:txBody>
      </p:sp>
      <p:pic>
        <p:nvPicPr>
          <p:cNvPr id="26" name="Image 4" descr="Web application">    </p:cNvPr>
          <p:cNvPicPr>
            <a:picLocks noChangeAspect="1"/>
          </p:cNvPicPr>
          <p:nvPr/>
        </p:nvPicPr>
        <p:blipFill>
          <a:blip r:embed="rId5"/>
          <a:stretch>
            <a:fillRect/>
          </a:stretch>
        </p:blipFill>
        <p:spPr>
          <a:xfrm>
            <a:off x="886968" y="4910328"/>
            <a:ext cx="329184" cy="329184"/>
          </a:xfrm>
          <a:prstGeom prst="rect">
            <a:avLst/>
          </a:prstGeom>
        </p:spPr>
      </p:pic>
      <p:sp>
        <p:nvSpPr>
          <p:cNvPr id="27" name="Text 19"/>
          <p:cNvSpPr txBox="1"/>
          <p:nvPr/>
        </p:nvSpPr>
        <p:spPr>
          <a:xfrm>
            <a:off x="1463040" y="4754880"/>
            <a:ext cx="9997135"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Web app and evaluation</a:t>
            </a:r>
            <a:endParaRPr lang="en-US" sz="1600" dirty="0"/>
          </a:p>
        </p:txBody>
      </p:sp>
      <p:sp>
        <p:nvSpPr>
          <p:cNvPr id="28" name="Text 20"/>
          <p:cNvSpPr txBox="1"/>
          <p:nvPr/>
        </p:nvSpPr>
        <p:spPr>
          <a:xfrm>
            <a:off x="777240" y="5440680"/>
            <a:ext cx="10637215" cy="228600"/>
          </a:xfrm>
          <a:prstGeom prst="rect">
            <a:avLst/>
          </a:prstGeom>
          <a:noFill/>
          <a:ln/>
        </p:spPr>
        <p:txBody>
          <a:bodyPr wrap="square" lIns="0" tIns="0" rIns="0" bIns="0" rtlCol="0" anchor="t"/>
          <a:lstStyle/>
          <a:p>
            <a:pPr indent="0" marL="0">
              <a:spcAft>
                <a:spcPts val="400"/>
              </a:spcAft>
              <a:buNone/>
            </a:pPr>
            <a:r>
              <a:rPr lang="en-US" sz="1150" dirty="0">
                <a:solidFill>
                  <a:srgbClr val="475569"/>
                </a:solidFill>
              </a:rPr>
              <a:t>React + FastAPI + SQLite. Classification is scored on CUAD and predatory detection on a curated Indian-law set, separately.</a:t>
            </a:r>
            <a:endParaRPr lang="en-US" sz="11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5" name="Text 1"/>
          <p:cNvSpPr txBox="1"/>
          <p:nvPr/>
        </p:nvSpPr>
        <p:spPr>
          <a:xfrm>
            <a:off x="548640" y="5760720"/>
            <a:ext cx="11094415" cy="274320"/>
          </a:xfrm>
          <a:prstGeom prst="rect">
            <a:avLst/>
          </a:prstGeom>
          <a:noFill/>
          <a:ln/>
        </p:spPr>
        <p:txBody>
          <a:bodyPr wrap="square" lIns="0" tIns="0" rIns="0" bIns="0" rtlCol="0" anchor="ctr"/>
          <a:lstStyle/>
          <a:p>
            <a:pPr algn="ctr" indent="0" marL="0">
              <a:buNone/>
            </a:pPr>
            <a:r>
              <a:rPr lang="en-US" sz="1100" i="1" dirty="0">
                <a:solidFill>
                  <a:srgbClr val="64748B"/>
                </a:solidFill>
              </a:rPr>
              <a:t>Proposed architecture: React web app, FastAPI backend with parsing, classification, rule, graph and complexity services, SQLite, and the Gemini API</a:t>
            </a:r>
            <a:endParaRPr lang="en-US" sz="11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System architecture diagram" descr="System architecture diagram"/>
          <p:cNvPicPr>
            <a:picLocks noChangeAspect="1"/>
          </p:cNvPicPr>
          <p:nvPr/>
        </p:nvPicPr>
        <p:blipFill>
          <a:blip r:embed="rId4"/>
          <a:stretch>
            <a:fillRect/>
          </a:stretch>
        </p:blipFill>
        <p:spPr>
          <a:xfrm>
            <a:off x="2902618" y="1000125"/>
            <a:ext cx="6386763" cy="46672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4" name="Multimodal model card"/>
          <p:cNvSpPr/>
          <p:nvPr/>
        </p:nvSpPr>
        <p:spPr>
          <a:xfrm>
            <a:off x="548640" y="1371600"/>
            <a:ext cx="3566160" cy="2057400"/>
          </a:xfrm>
          <a:prstGeom prst="roundRect">
            <a:avLst>
              <a:gd name="adj" fmla="val 3556"/>
            </a:avLst>
          </a:prstGeom>
          <a:solidFill>
            <a:srgbClr val="F6F8FB"/>
          </a:solidFill>
          <a:ln w="9525">
            <a:solidFill>
              <a:srgbClr val="D5DCE6"/>
            </a:solidFill>
            <a:prstDash val="solid"/>
          </a:ln>
        </p:spPr>
        <p:txBody>
          <a:bodyPr/>
          <a:p/>
        </p:txBody>
      </p:sp>
      <p:sp>
        <p:nvSpPr>
          <p:cNvPr id="5" name="icon circle"/>
          <p:cNvSpPr/>
          <p:nvPr/>
        </p:nvSpPr>
        <p:spPr>
          <a:xfrm>
            <a:off x="777240" y="1600200"/>
            <a:ext cx="548640" cy="548640"/>
          </a:xfrm>
          <a:prstGeom prst="ellipse">
            <a:avLst/>
          </a:prstGeom>
          <a:solidFill>
            <a:srgbClr val="EB6834"/>
          </a:solidFill>
          <a:ln w="12700">
            <a:solidFill>
              <a:srgbClr val="EB6834"/>
            </a:solidFill>
            <a:prstDash val="solid"/>
          </a:ln>
        </p:spPr>
        <p:txBody>
          <a:bodyPr/>
          <a:p/>
        </p:txBody>
      </p:sp>
      <p:pic>
        <p:nvPicPr>
          <p:cNvPr id="6" name="Image 0" descr="Multimodal model">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Clause map</a:t>
            </a:r>
            <a:endParaRPr lang="en-US" sz="1600" dirty="0"/>
          </a:p>
        </p:txBody>
      </p:sp>
      <p:sp>
        <p:nvSpPr>
          <p:cNvPr id="8" name="Text 4"/>
          <p:cNvSpPr txBox="1"/>
          <p:nvPr/>
        </p:nvSpPr>
        <p:spPr>
          <a:xfrm>
            <a:off x="777240" y="224028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Every clause with its page, type and confidence.</a:t>
            </a:r>
            <a:endParaRPr lang="en-US" sz="1600" dirty="0"/>
          </a:p>
        </p:txBody>
      </p:sp>
      <p:sp>
        <p:nvSpPr>
          <p:cNvPr id="9" name="Transparent output card"/>
          <p:cNvSpPr/>
          <p:nvPr/>
        </p:nvSpPr>
        <p:spPr>
          <a:xfrm>
            <a:off x="4297680" y="1371600"/>
            <a:ext cx="3566160" cy="2057400"/>
          </a:xfrm>
          <a:prstGeom prst="roundRect">
            <a:avLst>
              <a:gd name="adj" fmla="val 3556"/>
            </a:avLst>
          </a:prstGeom>
          <a:solidFill>
            <a:srgbClr val="F6F8FB"/>
          </a:solidFill>
          <a:ln w="9525">
            <a:solidFill>
              <a:srgbClr val="D5DCE6"/>
            </a:solidFill>
            <a:prstDash val="solid"/>
          </a:ln>
        </p:spPr>
        <p:txBody>
          <a:bodyPr/>
          <a:p/>
        </p:txBody>
      </p:sp>
      <p:sp>
        <p:nvSpPr>
          <p:cNvPr id="10" name="icon circle"/>
          <p:cNvSpPr/>
          <p:nvPr/>
        </p:nvSpPr>
        <p:spPr>
          <a:xfrm>
            <a:off x="4526280" y="1600200"/>
            <a:ext cx="548640" cy="548640"/>
          </a:xfrm>
          <a:prstGeom prst="ellipse">
            <a:avLst/>
          </a:prstGeom>
          <a:solidFill>
            <a:srgbClr val="2A78D6"/>
          </a:solidFill>
          <a:ln w="12700">
            <a:solidFill>
              <a:srgbClr val="2A78D6"/>
            </a:solidFill>
            <a:prstDash val="solid"/>
          </a:ln>
        </p:spPr>
        <p:txBody>
          <a:bodyPr/>
          <a:p/>
        </p:txBody>
      </p:sp>
      <p:pic>
        <p:nvPicPr>
          <p:cNvPr id="11" name="Image 1" descr="Transparent output">    </p:cNvPr>
          <p:cNvPicPr>
            <a:picLocks noChangeAspect="1"/>
          </p:cNvPicPr>
          <p:nvPr/>
        </p:nvPicPr>
        <p:blipFill>
          <a:blip r:embed="rId2"/>
          <a:stretch>
            <a:fillRect/>
          </a:stretch>
        </p:blipFill>
        <p:spPr>
          <a:xfrm>
            <a:off x="4636008" y="1709928"/>
            <a:ext cx="329184" cy="329184"/>
          </a:xfrm>
          <a:prstGeom prst="rect">
            <a:avLst/>
          </a:prstGeom>
        </p:spPr>
      </p:pic>
      <p:sp>
        <p:nvSpPr>
          <p:cNvPr id="12" name="Text 7"/>
          <p:cNvSpPr txBox="1"/>
          <p:nvPr/>
        </p:nvSpPr>
        <p:spPr>
          <a:xfrm>
            <a:off x="521208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Predatory flags</a:t>
            </a:r>
            <a:endParaRPr lang="en-US" sz="1600" dirty="0"/>
          </a:p>
        </p:txBody>
      </p:sp>
      <p:sp>
        <p:nvSpPr>
          <p:cNvPr id="13" name="Text 8"/>
          <p:cNvSpPr txBox="1"/>
          <p:nvPr/>
        </p:nvSpPr>
        <p:spPr>
          <a:xfrm>
            <a:off x="4526280" y="224028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Flags with the quoted provision and the Indian-law reason.</a:t>
            </a:r>
            <a:endParaRPr lang="en-US" sz="1600" dirty="0"/>
          </a:p>
        </p:txBody>
      </p:sp>
      <p:sp>
        <p:nvSpPr>
          <p:cNvPr id="14" name="Honest evaluation card"/>
          <p:cNvSpPr/>
          <p:nvPr/>
        </p:nvSpPr>
        <p:spPr>
          <a:xfrm>
            <a:off x="8046720" y="1371600"/>
            <a:ext cx="3566160" cy="2057400"/>
          </a:xfrm>
          <a:prstGeom prst="roundRect">
            <a:avLst>
              <a:gd name="adj" fmla="val 3556"/>
            </a:avLst>
          </a:prstGeom>
          <a:solidFill>
            <a:srgbClr val="F6F8FB"/>
          </a:solidFill>
          <a:ln w="9525">
            <a:solidFill>
              <a:srgbClr val="D5DCE6"/>
            </a:solidFill>
            <a:prstDash val="solid"/>
          </a:ln>
        </p:spPr>
        <p:txBody>
          <a:bodyPr/>
          <a:p/>
        </p:txBody>
      </p:sp>
      <p:sp>
        <p:nvSpPr>
          <p:cNvPr id="15" name="icon circle"/>
          <p:cNvSpPr/>
          <p:nvPr/>
        </p:nvSpPr>
        <p:spPr>
          <a:xfrm>
            <a:off x="8275320" y="1600200"/>
            <a:ext cx="548640" cy="548640"/>
          </a:xfrm>
          <a:prstGeom prst="ellipse">
            <a:avLst/>
          </a:prstGeom>
          <a:solidFill>
            <a:srgbClr val="6250D6"/>
          </a:solidFill>
          <a:ln w="12700">
            <a:solidFill>
              <a:srgbClr val="6250D6"/>
            </a:solidFill>
            <a:prstDash val="solid"/>
          </a:ln>
        </p:spPr>
        <p:txBody>
          <a:bodyPr/>
          <a:p/>
        </p:txBody>
      </p:sp>
      <p:pic>
        <p:nvPicPr>
          <p:cNvPr id="16" name="Image 2" descr="Honest evaluation">    </p:cNvPr>
          <p:cNvPicPr>
            <a:picLocks noChangeAspect="1"/>
          </p:cNvPicPr>
          <p:nvPr/>
        </p:nvPicPr>
        <p:blipFill>
          <a:blip r:embed="rId3"/>
          <a:stretch>
            <a:fillRect/>
          </a:stretch>
        </p:blipFill>
        <p:spPr>
          <a:xfrm>
            <a:off x="8385048" y="1709928"/>
            <a:ext cx="329184" cy="329184"/>
          </a:xfrm>
          <a:prstGeom prst="rect">
            <a:avLst/>
          </a:prstGeom>
        </p:spPr>
      </p:pic>
      <p:sp>
        <p:nvSpPr>
          <p:cNvPr id="17" name="Text 11"/>
          <p:cNvSpPr txBox="1"/>
          <p:nvPr/>
        </p:nvSpPr>
        <p:spPr>
          <a:xfrm>
            <a:off x="896112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Safer wording</a:t>
            </a:r>
            <a:endParaRPr lang="en-US" sz="1600" dirty="0"/>
          </a:p>
        </p:txBody>
      </p:sp>
      <p:sp>
        <p:nvSpPr>
          <p:cNvPr id="18" name="Text 12"/>
          <p:cNvSpPr txBox="1"/>
          <p:nvPr/>
        </p:nvSpPr>
        <p:spPr>
          <a:xfrm>
            <a:off x="8275320" y="224028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A fairer rewrite for each flagged clause.</a:t>
            </a:r>
            <a:endParaRPr lang="en-US" sz="1600" dirty="0"/>
          </a:p>
        </p:txBody>
      </p:sp>
      <p:sp>
        <p:nvSpPr>
          <p:cNvPr id="19" name="Generated-media signal card"/>
          <p:cNvSpPr/>
          <p:nvPr/>
        </p:nvSpPr>
        <p:spPr>
          <a:xfrm>
            <a:off x="548640" y="3611880"/>
            <a:ext cx="3566160" cy="2057400"/>
          </a:xfrm>
          <a:prstGeom prst="roundRect">
            <a:avLst>
              <a:gd name="adj" fmla="val 3556"/>
            </a:avLst>
          </a:prstGeom>
          <a:solidFill>
            <a:srgbClr val="F6F8FB"/>
          </a:solidFill>
          <a:ln w="9525">
            <a:solidFill>
              <a:srgbClr val="D5DCE6"/>
            </a:solidFill>
            <a:prstDash val="solid"/>
          </a:ln>
        </p:spPr>
        <p:txBody>
          <a:bodyPr/>
          <a:p/>
        </p:txBody>
      </p:sp>
      <p:sp>
        <p:nvSpPr>
          <p:cNvPr id="20" name="icon circle"/>
          <p:cNvSpPr/>
          <p:nvPr/>
        </p:nvSpPr>
        <p:spPr>
          <a:xfrm>
            <a:off x="777240" y="3840480"/>
            <a:ext cx="548640" cy="548640"/>
          </a:xfrm>
          <a:prstGeom prst="ellipse">
            <a:avLst/>
          </a:prstGeom>
          <a:solidFill>
            <a:srgbClr val="EDA100"/>
          </a:solidFill>
          <a:ln w="12700">
            <a:solidFill>
              <a:srgbClr val="EDA100"/>
            </a:solidFill>
            <a:prstDash val="solid"/>
          </a:ln>
        </p:spPr>
        <p:txBody>
          <a:bodyPr/>
          <a:p/>
        </p:txBody>
      </p:sp>
      <p:pic>
        <p:nvPicPr>
          <p:cNvPr id="21" name="Image 3" descr="Generated-media signal">    </p:cNvPr>
          <p:cNvPicPr>
            <a:picLocks noChangeAspect="1"/>
          </p:cNvPicPr>
          <p:nvPr/>
        </p:nvPicPr>
        <p:blipFill>
          <a:blip r:embed="rId4"/>
          <a:stretch>
            <a:fillRect/>
          </a:stretch>
        </p:blipFill>
        <p:spPr>
          <a:xfrm>
            <a:off x="886968" y="3950208"/>
            <a:ext cx="329184" cy="329184"/>
          </a:xfrm>
          <a:prstGeom prst="rect">
            <a:avLst/>
          </a:prstGeom>
        </p:spPr>
      </p:pic>
      <p:sp>
        <p:nvSpPr>
          <p:cNvPr id="22" name="Text 15"/>
          <p:cNvSpPr txBox="1"/>
          <p:nvPr/>
        </p:nvSpPr>
        <p:spPr>
          <a:xfrm>
            <a:off x="1463040" y="379476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Risky combinations</a:t>
            </a:r>
            <a:endParaRPr lang="en-US" sz="1600" dirty="0"/>
          </a:p>
        </p:txBody>
      </p:sp>
      <p:sp>
        <p:nvSpPr>
          <p:cNvPr id="23" name="Text 16"/>
          <p:cNvSpPr txBox="1"/>
          <p:nvPr/>
        </p:nvSpPr>
        <p:spPr>
          <a:xfrm>
            <a:off x="777240" y="448056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A clause graph that links clauses risky together.</a:t>
            </a:r>
            <a:endParaRPr lang="en-US" sz="1600" dirty="0"/>
          </a:p>
        </p:txBody>
      </p:sp>
      <p:sp>
        <p:nvSpPr>
          <p:cNvPr id="24" name="Usable system card"/>
          <p:cNvSpPr/>
          <p:nvPr/>
        </p:nvSpPr>
        <p:spPr>
          <a:xfrm>
            <a:off x="4297680" y="3611880"/>
            <a:ext cx="3566160" cy="2057400"/>
          </a:xfrm>
          <a:prstGeom prst="roundRect">
            <a:avLst>
              <a:gd name="adj" fmla="val 3556"/>
            </a:avLst>
          </a:prstGeom>
          <a:solidFill>
            <a:srgbClr val="F6F8FB"/>
          </a:solidFill>
          <a:ln w="9525">
            <a:solidFill>
              <a:srgbClr val="D5DCE6"/>
            </a:solidFill>
            <a:prstDash val="solid"/>
          </a:ln>
        </p:spPr>
        <p:txBody>
          <a:bodyPr/>
          <a:p/>
        </p:txBody>
      </p:sp>
      <p:sp>
        <p:nvSpPr>
          <p:cNvPr id="25" name="icon circle"/>
          <p:cNvSpPr/>
          <p:nvPr/>
        </p:nvSpPr>
        <p:spPr>
          <a:xfrm>
            <a:off x="4526280" y="3840480"/>
            <a:ext cx="548640" cy="548640"/>
          </a:xfrm>
          <a:prstGeom prst="ellipse">
            <a:avLst/>
          </a:prstGeom>
          <a:solidFill>
            <a:srgbClr val="1BAF7A"/>
          </a:solidFill>
          <a:ln w="12700">
            <a:solidFill>
              <a:srgbClr val="1BAF7A"/>
            </a:solidFill>
            <a:prstDash val="solid"/>
          </a:ln>
        </p:spPr>
        <p:txBody>
          <a:bodyPr/>
          <a:p/>
        </p:txBody>
      </p:sp>
      <p:pic>
        <p:nvPicPr>
          <p:cNvPr id="26" name="Image 4" descr="Usable system">    </p:cNvPr>
          <p:cNvPicPr>
            <a:picLocks noChangeAspect="1"/>
          </p:cNvPicPr>
          <p:nvPr/>
        </p:nvPicPr>
        <p:blipFill>
          <a:blip r:embed="rId5"/>
          <a:stretch>
            <a:fillRect/>
          </a:stretch>
        </p:blipFill>
        <p:spPr>
          <a:xfrm>
            <a:off x="4636008" y="3950208"/>
            <a:ext cx="329184" cy="329184"/>
          </a:xfrm>
          <a:prstGeom prst="rect">
            <a:avLst/>
          </a:prstGeom>
        </p:spPr>
      </p:pic>
      <p:sp>
        <p:nvSpPr>
          <p:cNvPr id="27" name="Text 19"/>
          <p:cNvSpPr txBox="1"/>
          <p:nvPr/>
        </p:nvSpPr>
        <p:spPr>
          <a:xfrm>
            <a:off x="5212080" y="379476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Complexity grade</a:t>
            </a:r>
            <a:endParaRPr lang="en-US" sz="1600" dirty="0"/>
          </a:p>
        </p:txBody>
      </p:sp>
      <p:sp>
        <p:nvSpPr>
          <p:cNvPr id="28" name="Text 20"/>
          <p:cNvSpPr txBox="1"/>
          <p:nvPr/>
        </p:nvSpPr>
        <p:spPr>
          <a:xfrm>
            <a:off x="4526280" y="448056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An A-F grade and a plain-language summary.</a:t>
            </a:r>
            <a:endParaRPr lang="en-US" sz="1600" dirty="0"/>
          </a:p>
        </p:txBody>
      </p:sp>
      <p:sp>
        <p:nvSpPr>
          <p:cNvPr id="29" name="Quality card"/>
          <p:cNvSpPr/>
          <p:nvPr/>
        </p:nvSpPr>
        <p:spPr>
          <a:xfrm>
            <a:off x="8046720" y="3611880"/>
            <a:ext cx="3566160" cy="2057400"/>
          </a:xfrm>
          <a:prstGeom prst="roundRect">
            <a:avLst>
              <a:gd name="adj" fmla="val 3556"/>
            </a:avLst>
          </a:prstGeom>
          <a:solidFill>
            <a:srgbClr val="F6F8FB"/>
          </a:solidFill>
          <a:ln w="9525">
            <a:solidFill>
              <a:srgbClr val="D5DCE6"/>
            </a:solidFill>
            <a:prstDash val="solid"/>
          </a:ln>
        </p:spPr>
        <p:txBody>
          <a:bodyPr/>
          <a:p/>
        </p:txBody>
      </p:sp>
      <p:sp>
        <p:nvSpPr>
          <p:cNvPr id="30" name="icon circle"/>
          <p:cNvSpPr/>
          <p:nvPr/>
        </p:nvSpPr>
        <p:spPr>
          <a:xfrm>
            <a:off x="8275320" y="3840480"/>
            <a:ext cx="548640" cy="548640"/>
          </a:xfrm>
          <a:prstGeom prst="ellipse">
            <a:avLst/>
          </a:prstGeom>
          <a:solidFill>
            <a:srgbClr val="1B2A41"/>
          </a:solidFill>
          <a:ln w="12700">
            <a:solidFill>
              <a:srgbClr val="1B2A41"/>
            </a:solidFill>
            <a:prstDash val="solid"/>
          </a:ln>
        </p:spPr>
        <p:txBody>
          <a:bodyPr/>
          <a:p/>
        </p:txBody>
      </p:sp>
      <p:pic>
        <p:nvPicPr>
          <p:cNvPr id="31" name="Image 5" descr="Quality">    </p:cNvPr>
          <p:cNvPicPr>
            <a:picLocks noChangeAspect="1"/>
          </p:cNvPicPr>
          <p:nvPr/>
        </p:nvPicPr>
        <p:blipFill>
          <a:blip r:embed="rId6"/>
          <a:stretch>
            <a:fillRect/>
          </a:stretch>
        </p:blipFill>
        <p:spPr>
          <a:xfrm>
            <a:off x="8385048" y="3950208"/>
            <a:ext cx="329184" cy="329184"/>
          </a:xfrm>
          <a:prstGeom prst="rect">
            <a:avLst/>
          </a:prstGeom>
        </p:spPr>
      </p:pic>
      <p:sp>
        <p:nvSpPr>
          <p:cNvPr id="32" name="Text 23"/>
          <p:cNvSpPr txBox="1"/>
          <p:nvPr/>
        </p:nvSpPr>
        <p:spPr>
          <a:xfrm>
            <a:off x="8961120" y="379476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Honest evaluation</a:t>
            </a:r>
            <a:endParaRPr lang="en-US" sz="1600" dirty="0"/>
          </a:p>
        </p:txBody>
      </p:sp>
      <p:sp>
        <p:nvSpPr>
          <p:cNvPr id="33" name="Text 24"/>
          <p:cNvSpPr txBox="1"/>
          <p:nvPr/>
        </p:nvSpPr>
        <p:spPr>
          <a:xfrm>
            <a:off x="8275320" y="448056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Two separate scores, with limits stated plainly.</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4" name="Text 1"/>
          <p:cNvSpPr txBox="1"/>
          <p:nvPr/>
        </p:nvSpPr>
        <p:spPr>
          <a:xfrm>
            <a:off x="548640" y="1325880"/>
            <a:ext cx="11094415" cy="4754880"/>
          </a:xfrm>
          <a:prstGeom prst="rect">
            <a:avLst/>
          </a:prstGeom>
          <a:noFill/>
          <a:ln/>
        </p:spPr>
        <p:txBody>
          <a:bodyPr wrap="square" lIns="0" tIns="0" rIns="0" bIns="0" rtlCol="0" anchor="t"/>
          <a:lstStyle/>
          <a:p>
            <a:pPr marL="228600" indent="-228600">
              <a:spcAft>
                <a:spcPts val="300"/>
              </a:spcAft>
              <a:buSzPct val="100000"/>
              <a:buChar char="•"/>
            </a:pPr>
            <a:r>
              <a:rPr lang="en-US" sz="1350" dirty="0">
                <a:solidFill>
                  <a:srgbClr val="0F172A"/>
                </a:solidFill>
              </a:rPr>
              <a:t>[1] F. Almutairy, S. Almutairi, M. Abdullah, and S. Salman, "SmartLaw Advisor: AI-powered legal consultation and contract analysis for Saudi Arabia," IEEE Access, vol. 14, pp. 32638 ff., 2026, doi: 10.1109/ACCESS.2026.3665420.</a:t>
            </a:r>
            <a:endParaRPr lang="en-US" sz="1350" dirty="0"/>
          </a:p>
          <a:p>
            <a:pPr marL="228600" indent="-228600">
              <a:spcAft>
                <a:spcPts val="300"/>
              </a:spcAft>
              <a:buSzPct val="100000"/>
              <a:buChar char="•"/>
            </a:pPr>
            <a:r>
              <a:rPr lang="en-US" sz="1350" dirty="0">
                <a:solidFill>
                  <a:srgbClr val="0F172A"/>
                </a:solidFill>
              </a:rPr>
              <a:t>[2] S. Liu, Z. Li, R. Ma, H. Zhao, and M. Du, "ContractEval: Benchmarking LLMs for clause-level legal risk identification in commercial contracts," arXiv:2508.03080, Aug. 2025.</a:t>
            </a:r>
            <a:endParaRPr lang="en-US" sz="1350" dirty="0"/>
          </a:p>
          <a:p>
            <a:pPr marL="228600" indent="-228600">
              <a:spcAft>
                <a:spcPts val="300"/>
              </a:spcAft>
              <a:buSzPct val="100000"/>
              <a:buChar char="•"/>
            </a:pPr>
            <a:r>
              <a:rPr lang="en-US" sz="1350" dirty="0">
                <a:solidFill>
                  <a:srgbClr val="0F172A"/>
                </a:solidFill>
              </a:rPr>
              <a:t>[3] N. Lincoln, N. Whitehouse, J. Mar, and R. Perera, "A few good clauses: Comparing LLMs vs domain-trained small language models on structured contract extraction," arXiv:2605.05532, May 2026.</a:t>
            </a:r>
            <a:endParaRPr lang="en-US" sz="1350" dirty="0"/>
          </a:p>
          <a:p>
            <a:pPr marL="228600" indent="-228600">
              <a:spcAft>
                <a:spcPts val="300"/>
              </a:spcAft>
              <a:buSzPct val="100000"/>
              <a:buChar char="•"/>
            </a:pPr>
            <a:r>
              <a:rPr lang="en-US" sz="1350" dirty="0">
                <a:solidFill>
                  <a:srgbClr val="0F172A"/>
                </a:solidFill>
              </a:rPr>
              <a:t>[4] D. Charan R, S. Siddarth, and M. Jeevitha, "Automated legal clause extraction and risk scoring using NLP and generative AI," Int. J. Res. Appl. Sci. Eng. Technol. (IJRASET), vol. 14, no. IV, Apr. 2026, doi: 10.22214/ijraset.2026.79369.</a:t>
            </a:r>
            <a:endParaRPr lang="en-US" sz="1350" dirty="0"/>
          </a:p>
          <a:p>
            <a:pPr marL="228600" indent="-228600">
              <a:spcAft>
                <a:spcPts val="300"/>
              </a:spcAft>
              <a:buSzPct val="100000"/>
              <a:buChar char="•"/>
            </a:pPr>
            <a:r>
              <a:rPr lang="en-US" sz="1350" dirty="0">
                <a:solidFill>
                  <a:srgbClr val="0F172A"/>
                </a:solidFill>
              </a:rPr>
              <a:t>[5] "ClauseMiner: Prompt-engineered large language model for accurate, scalable legal clause extraction," Eng. Appl. Artif. Intell., 2026 (listed in the batch literature survey; not retrieved).</a:t>
            </a:r>
            <a:endParaRPr lang="en-US" sz="1350" dirty="0"/>
          </a:p>
          <a:p>
            <a:pPr marL="228600" indent="-228600">
              <a:spcAft>
                <a:spcPts val="300"/>
              </a:spcAft>
              <a:buSzPct val="100000"/>
              <a:buChar char="•"/>
            </a:pPr>
            <a:r>
              <a:rPr lang="en-US" sz="1350" dirty="0">
                <a:solidFill>
                  <a:srgbClr val="0F172A"/>
                </a:solidFill>
              </a:rPr>
              <a:t>[6] "Autonomous contract analysis and clause risk detection using Legal-BERT," in Proc. 2025 Int. Conf. Sustainable Communication Networks and Application (ICSCN), 2025 (listed in the batch literature survey; not retrieved).</a:t>
            </a:r>
            <a:endParaRPr lang="en-US" sz="1350" dirty="0"/>
          </a:p>
          <a:p>
            <a:pPr marL="228600" indent="-228600">
              <a:spcAft>
                <a:spcPts val="300"/>
              </a:spcAft>
              <a:buSzPct val="100000"/>
              <a:buChar char="•"/>
            </a:pPr>
            <a:r>
              <a:rPr lang="en-US" sz="1350" dirty="0">
                <a:solidFill>
                  <a:srgbClr val="0F172A"/>
                </a:solidFill>
              </a:rPr>
              <a:t>[7] "A study on large language model-based approach for construction contract risk detection," in Proc. 2024 Int. Conf. Big Data and Digital Management, 2024 (listed in the batch literature survey; not retrieved).</a:t>
            </a:r>
            <a:endParaRPr lang="en-US" sz="1350" dirty="0"/>
          </a:p>
          <a:p>
            <a:pPr marL="228600" indent="-228600">
              <a:spcAft>
                <a:spcPts val="300"/>
              </a:spcAft>
              <a:buSzPct val="100000"/>
              <a:buChar char="•"/>
            </a:pPr>
            <a:r>
              <a:rPr lang="en-US" sz="1350" dirty="0">
                <a:solidFill>
                  <a:srgbClr val="0F172A"/>
                </a:solidFill>
              </a:rPr>
              <a:t>[8] D. Hendrycks, C. Burns, A. Chen, and S. Ball, "CUAD: An expert-annotated NLP dataset for legal contract review," in Proc. NeurIPS Datasets and Benchmarks Track, 2021, arXiv:2103.06268.</a:t>
            </a:r>
            <a:endParaRPr lang="en-US" sz="1350" dirty="0"/>
          </a:p>
          <a:p>
            <a:pPr marL="228600" indent="-228600">
              <a:spcAft>
                <a:spcPts val="300"/>
              </a:spcAft>
              <a:buSzPct val="100000"/>
              <a:buChar char="•"/>
            </a:pPr>
            <a:r>
              <a:rPr lang="en-US" sz="1350" dirty="0">
                <a:solidFill>
                  <a:srgbClr val="0F172A"/>
                </a:solidFill>
              </a:rPr>
              <a:t>[9] I. Chalkidis, M. Fergadiotis, P. Malakasiotis, N. Aletras, and I. Androutsopoulos, "LEGAL-BERT: The muppets straight out of law school," in Findings of the Assoc. Computational Linguistics: EMNLP 2020, 2020, pp. 2898-2904.</a:t>
            </a:r>
            <a:endParaRPr lang="en-US" sz="1350" dirty="0"/>
          </a:p>
          <a:p>
            <a:pPr marL="228600" indent="-228600">
              <a:spcAft>
                <a:spcPts val="300"/>
              </a:spcAft>
              <a:buSzPct val="100000"/>
              <a:buChar char="•"/>
            </a:pPr>
            <a:r>
              <a:rPr lang="en-US" sz="1350" dirty="0">
                <a:solidFill>
                  <a:srgbClr val="0F172A"/>
                </a:solidFill>
              </a:rPr>
              <a:t>[10] J. Devlin, M.-W. Chang, K. Lee, and K. Toutanova, "BERT: Pre-training of deep bidirectional transformers for language understanding," in Proc. NAACL-HLT, 2019, pp. 4171-4186.</a:t>
            </a:r>
            <a:endParaRPr lang="en-US" sz="13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ClauseGuard">
  <a:themeElements>
    <a:clrScheme name="ClauseGuard">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ClauseGuar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ClauseGuard: Review 1</dc:title>
  <dc:subject>Legal Contract Complexity and Predatory Clause Detector</dc:subject>
  <dc:creator>Batch A6</dc:creator>
  <cp:lastModifiedBy>Batch A6</cp:lastModifiedBy>
  <cp:revision>1</cp:revision>
  <dcterms:created xsi:type="dcterms:W3CDTF">2026-10-13T12:36:40Z</dcterms:created>
  <dcterms:modified xsi:type="dcterms:W3CDTF">2026-10-13T12:36:40Z</dcterms:modified>
  <cp:keywords>legal NLP, contract analysis, predatory clauses, CUAD, Indian contract law</cp:keywords>
  <cp:category/>
  <dc:description/>
  <cp:contentStatus/>
</cp:coreProperties>
</file>