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Items per dataset</a:t>
            </a:r>
          </a:p>
        </c:rich>
      </c:tx>
      <c:layout/>
      <c:overlay val="0"/>
    </c:title>
    <c:autoTitleDeleted val="0"/>
    <c:plotArea>
      <c:layout/>
      <c:barChart>
        <c:barDir val="bar"/>
        <c:grouping val="stacked"/>
        <c:varyColors val="0"/>
        <c:ser>
          <c:idx val="0"/>
          <c:order val="0"/>
          <c:tx>
            <c:strRef>
              <c:f>Sheet1!$B$1</c:f>
              <c:strCache>
                <c:ptCount val="1"/>
                <c:pt idx="0">
                  <c:v>Items</c:v>
                </c:pt>
              </c:strCache>
            </c:strRef>
          </c:tx>
          <c:spPr>
            <a:solidFill>
              <a:srgbClr val="3F3FBF"/>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strRef>
              <c:f>Sheet1!$A$2:$A$6</c:f>
              <c:strCache>
                <c:ptCount val="5"/>
                <c:pt idx="0">
                  <c:v>CUAD contracts</c:v>
                </c:pt>
                <c:pt idx="1">
                  <c:v>Training spans</c:v>
                </c:pt>
                <c:pt idx="2">
                  <c:v>Held-out spans</c:v>
                </c:pt>
                <c:pt idx="3">
                  <c:v>Shipped test clauses</c:v>
                </c:pt>
                <c:pt idx="4">
                  <c:v>Probe clauses</c:v>
                </c:pt>
              </c:strCache>
            </c:strRef>
          </c:cat>
          <c:val>
            <c:numRef>
              <c:f>Sheet1!$B$2:$B$6</c:f>
              <c:numCache>
                <c:formatCode>#,##0</c:formatCode>
                <c:ptCount val="5"/>
                <c:pt idx="0">
                  <c:v>510</c:v>
                </c:pt>
                <c:pt idx="1">
                  <c:v>500</c:v>
                </c:pt>
                <c:pt idx="2">
                  <c:v>240</c:v>
                </c:pt>
                <c:pt idx="3">
                  <c:v>40</c:v>
                </c:pt>
                <c:pt idx="4">
                  <c:v>40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in val="0.0"/>
        </c:scaling>
        <c:delete val="0"/>
        <c:axPos val="b"/>
        <c:majorGridlines>
          <c:spPr>
            <a:ln w="9525" cap="flat">
              <a:solidFill>
                <a:srgbClr val="E2E8F0"/>
              </a:solidFill>
              <a:prstDash val="solid"/>
              <a:round/>
            </a:ln>
          </c:spPr>
        </c:majorGridlines>
        <c:title>
          <c:tx>
            <c:rich>
              <a:bodyPr/>
              <a:lstStyle/>
              <a:p>
                <a:r>
                  <a:rPr sz="1000" b="0"/>
                  <a:t>contracts / spans / clauses</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ClauseGuard scores: 240 held-out CUAD spans and two sets of rule test clauses</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3F3FBF"/>
            </a:solidFill>
            <a:effectLst/>
          </c:spPr>
          <c:invertIfNegative val="0"/>
          <c:dLbls>
            <c:numFmt formatCode="0.000" sourceLinked="0"/>
            <c:txPr>
              <a:bodyPr/>
              <a:lstStyle/>
              <a:p>
                <a:pPr>
                  <a:defRPr b="0" i="0" strike="noStrike" sz="1100" u="none">
                    <a:solidFill>
                      <a:srgbClr val="475569"/>
                    </a:solidFill>
                    <a:latin typeface="+mn-lt"/>
                  </a:defRPr>
                </a:pPr>
              </a:p>
            </c:txPr>
            <c:showLegendKey val="0"/>
            <c:showVal val="1"/>
            <c:showCatName val="0"/>
            <c:showSerName val="0"/>
            <c:showPercent val="0"/>
            <c:showBubbleSize val="0"/>
            <c:showLeaderLines val="0"/>
          </c:dLbls>
          <c:cat>
            <c:strRef>
              <c:f>Sheet1!$A$2:$A$7</c:f>
              <c:strCache>
                <c:ptCount val="6"/>
                <c:pt idx="0">
                  <c:v>CUAD top-1</c:v>
                </c:pt>
                <c:pt idx="1">
                  <c:v>CUAD top-3</c:v>
                </c:pt>
                <c:pt idx="2">
                  <c:v>Rules precision (shipped)</c:v>
                </c:pt>
                <c:pt idx="3">
                  <c:v>Rules recall (shipped)</c:v>
                </c:pt>
                <c:pt idx="4">
                  <c:v>Rules precision (probe)</c:v>
                </c:pt>
                <c:pt idx="5">
                  <c:v>Rules recall (probe)</c:v>
                </c:pt>
              </c:strCache>
            </c:strRef>
          </c:cat>
          <c:val>
            <c:numRef>
              <c:f>Sheet1!$B$2:$B$7</c:f>
              <c:numCache>
                <c:formatCode>0.000</c:formatCode>
                <c:ptCount val="6"/>
                <c:pt idx="0">
                  <c:v>0.792</c:v>
                </c:pt>
                <c:pt idx="1">
                  <c:v>0.979</c:v>
                </c:pt>
                <c:pt idx="2">
                  <c:v>1.0</c:v>
                </c:pt>
                <c:pt idx="3">
                  <c:v>0.941</c:v>
                </c:pt>
                <c:pt idx="4">
                  <c:v>0.786</c:v>
                </c:pt>
                <c:pt idx="5">
                  <c:v>0.458</c:v>
                </c:pt>
              </c:numCache>
            </c:numRef>
          </c:val>
        </c:ser>
        <c:dLbls>
          <c:numFmt formatCode="0.000" sourceLinked="0"/>
          <c:txPr>
            <a:bodyPr/>
            <a:lstStyle/>
            <a:p>
              <a:pPr>
                <a:defRPr b="0" i="0" strike="noStrike" sz="11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1"/>
          <c:min val="0.0"/>
        </c:scaling>
        <c:delete val="0"/>
        <c:axPos val="l"/>
        <c:majorGridlines>
          <c:spPr>
            <a:ln w="9525" cap="flat">
              <a:solidFill>
                <a:srgbClr val="E2E8F0"/>
              </a:solidFill>
              <a:prstDash val="solid"/>
              <a:round/>
            </a:ln>
          </c:spPr>
        </c:majorGridlines>
        <c:title>
          <c:tx>
            <c:rich>
              <a:bodyPr/>
              <a:lstStyle/>
              <a:p>
                <a:r>
                  <a:rPr sz="1000" b="0"/>
                  <a:t>score</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2 covers the design, methodology and progress of ClauseGuard, a contract complexity and predatory-clause detector for Indian agreements.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Twelve parts: recap, architecture, methodology, data, preparation, model and configuration, decision logic, data flow and database, technology, progress, results and screens, testing and next steps.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base paper [1], SmartLaw Advisor, is a Gemini RAG legal chatbot and contract checker for Saudi law; ClauseGuard keeps the Gemini-based idea for Indian contracts and adds clause-level rules, combinations and a complexity score. Note: the abstract mentions the Claude API, pgvector and Neo4j; the build uses Gemini, SQLite with NumPy, and an in-memory NetworkX graph.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runs on one machine. The browser talks only to the Vite server, which proxies to FastAPI. Gemini supplies embeddings, tie-break answers, explanations and summaries; there is no vector or graph database.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Seven-step workflow from upload to report. The two evaluations are separate by design; an extra independent probe set was added because the shipped test set was written together with the rules.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CUAD contracts are US SEC filings; there is no public Indian contract corpus, so the rules (Indian statutes) are tested only on clauses written by us. The train and held-out spans are split by text, not by contract: 192 of 240 held-out spans share a contract with a training span (accuracy is 0.800 when that is removed).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Preparation = turning a file into clauses and each clause into a vector. Measured on all 510 CUAD contracts: 444 split on headings and 84 give fewer than 5 clauses because their headings are in other styles.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speaks of a RAG pipeline with the Claude API and pgvector. The implemented pipeline classifies by cosine distance to 20 centroids and prompts Gemini with the matched rule's legal basis; there is no retrieval from a legal corpus.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Embedding logistic regression scores 0.800 and 5-NN 0.746; TF-IDF with logistic regression 0.675; chance is 0.05. The shipped centroid method is simple and nearly as good as the best baseline. The text model was changed for the demo run only, because the default model hit its free-tier limit of 20 requests per 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Algorithm 1 (process_upload) and Algorithm 2 (classify_clause). Right: the three decisions. Complexity measures wording, not fairness: the one-sided freelance sample scored B (23.3) and the fair one A (13.7).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has seven processes and five data stores; level 2 opens the classification process and shows where the 0.60 and 0.35 tests sit.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SQLite tables created by SQLAlchemy. The clause graph is not stored: it is rebuilt from clauses and flags on each request. contract_type_guess is never set by the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the ones pinned in backend/requirements.txt and frontend/package.json. scikit-learn was used only for the baseline experiments.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feature of the build is implemented and tested. The open items are the technologies named in the abstract that were replaced (Claude, pgvector, Neo4j), an Indian contract corpus, and expert review of the explanations.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Classification: top-1 0.792 (190 of 240), top-3 0.979; weakest categories Non-Compete and Cap On Liability (recall 0.50). Rules: the shipped 40 clauses were written with the rules (P 1.000, R 0.941, F1 0.970). On the independent probe set (24 predatory paraphrases, 16 benign look-alikes) precision is 0.786, recall 0.458, F1 0.579: the regexes miss paraphrases and flag some fair clauses. These are measured values from experiments/*/metrics.json.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captures of the running application. The contract is an invented sample written for this review; the explanation text is produced by the Gemini text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Expected-fail tests are reported as such rather than hidden. Latencies were measured on 127.0.0.1 on an i5-12500 with other jobs running; upload time is dominated by about 12 s per Gemini text call.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challenges and findings, each backed by a measurement in docs/REPORT_FACTS.md.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remains: repair the weaknesses found in testing, collect Indian-law data and expert review, then the report and the final demonstration.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ClauseGuard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 Id="rId4" Type="http://schemas.openxmlformats.org/officeDocument/2006/relationships/image" Target="../media/image5.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9.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ClauseGuard</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Legal Contract Complexity and Predatory Clause Detector</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CH.PRANATHI  23K91A6744</a:t>
            </a:r>
            <a:endParaRPr lang="en-US" sz="1500" dirty="0"/>
          </a:p>
          <a:p>
            <a:pPr indent="0" marL="0">
              <a:buNone/>
            </a:pPr>
            <a:r>
              <a:rPr lang="en-US" sz="1500" dirty="0">
                <a:solidFill>
                  <a:srgbClr val="FFFFFF"/>
                </a:solidFill>
              </a:rPr>
              <a:t>G.PRANAVI  23K91A6762</a:t>
            </a:r>
            <a:endParaRPr lang="en-US" sz="1500" dirty="0"/>
          </a:p>
          <a:p>
            <a:pPr indent="0" marL="0">
              <a:buNone/>
            </a:pPr>
            <a:r>
              <a:rPr lang="en-US" sz="1500" dirty="0">
                <a:solidFill>
                  <a:srgbClr val="FFFFFF"/>
                </a:solidFill>
              </a:rPr>
              <a:t>G.CHARAN JOSEPH  23K91A6753</a:t>
            </a:r>
            <a:endParaRPr lang="en-US" sz="1500" dirty="0"/>
          </a:p>
          <a:p>
            <a:pPr indent="0" marL="0">
              <a:buNone/>
            </a:pPr>
            <a:r>
              <a:rPr lang="en-US" sz="1500" dirty="0">
                <a:solidFill>
                  <a:srgbClr val="FFFFFF"/>
                </a:solidFill>
              </a:rPr>
              <a:t>G.BHAGWATH  23K91A6760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A6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371600"/>
            <a:ext cx="2670048" cy="1325880"/>
          </a:xfrm>
          <a:prstGeom prst="roundRect">
            <a:avLst>
              <a:gd name="adj" fmla="val 5517"/>
            </a:avLst>
          </a:prstGeom>
          <a:solidFill>
            <a:srgbClr val="F6F8FB"/>
          </a:solidFill>
          <a:ln w="9525">
            <a:solidFill>
              <a:srgbClr val="D5DCE6"/>
            </a:solidFill>
            <a:prstDash val="solid"/>
          </a:ln>
        </p:spPr>
      </p:sp>
      <p:sp>
        <p:nvSpPr>
          <p:cNvPr id="5" name="Text 2"/>
          <p:cNvSpPr txBox="1"/>
          <p:nvPr/>
        </p:nvSpPr>
        <p:spPr>
          <a:xfrm>
            <a:off x="749808"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01</a:t>
            </a:r>
            <a:endParaRPr lang="en-US" sz="2200" dirty="0"/>
          </a:p>
        </p:txBody>
      </p:sp>
      <p:sp>
        <p:nvSpPr>
          <p:cNvPr id="6" name="Text 3"/>
          <p:cNvSpPr txBox="1"/>
          <p:nvPr/>
        </p:nvSpPr>
        <p:spPr>
          <a:xfrm>
            <a:off x="749808"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Recap</a:t>
            </a:r>
            <a:endParaRPr lang="en-US" sz="1500" dirty="0"/>
          </a:p>
        </p:txBody>
      </p:sp>
      <p:sp>
        <p:nvSpPr>
          <p:cNvPr id="7" name="agenda 2"/>
          <p:cNvSpPr/>
          <p:nvPr/>
        </p:nvSpPr>
        <p:spPr>
          <a:xfrm>
            <a:off x="3364992" y="1371600"/>
            <a:ext cx="2670048" cy="1325880"/>
          </a:xfrm>
          <a:prstGeom prst="roundRect">
            <a:avLst>
              <a:gd name="adj" fmla="val 5517"/>
            </a:avLst>
          </a:prstGeom>
          <a:solidFill>
            <a:srgbClr val="F6F8FB"/>
          </a:solidFill>
          <a:ln w="9525">
            <a:solidFill>
              <a:srgbClr val="D5DCE6"/>
            </a:solidFill>
            <a:prstDash val="solid"/>
          </a:ln>
        </p:spPr>
      </p:sp>
      <p:sp>
        <p:nvSpPr>
          <p:cNvPr id="8" name="Text 5"/>
          <p:cNvSpPr txBox="1"/>
          <p:nvPr/>
        </p:nvSpPr>
        <p:spPr>
          <a:xfrm>
            <a:off x="3566160"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02</a:t>
            </a:r>
            <a:endParaRPr lang="en-US" sz="2200" dirty="0"/>
          </a:p>
        </p:txBody>
      </p:sp>
      <p:sp>
        <p:nvSpPr>
          <p:cNvPr id="9" name="Text 6"/>
          <p:cNvSpPr txBox="1"/>
          <p:nvPr/>
        </p:nvSpPr>
        <p:spPr>
          <a:xfrm>
            <a:off x="3566160"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Architecture</a:t>
            </a:r>
            <a:endParaRPr lang="en-US" sz="1500" dirty="0"/>
          </a:p>
        </p:txBody>
      </p:sp>
      <p:sp>
        <p:nvSpPr>
          <p:cNvPr id="10" name="agenda 3"/>
          <p:cNvSpPr/>
          <p:nvPr/>
        </p:nvSpPr>
        <p:spPr>
          <a:xfrm>
            <a:off x="6181344" y="1371600"/>
            <a:ext cx="2670048" cy="1325880"/>
          </a:xfrm>
          <a:prstGeom prst="roundRect">
            <a:avLst>
              <a:gd name="adj" fmla="val 5517"/>
            </a:avLst>
          </a:prstGeom>
          <a:solidFill>
            <a:srgbClr val="F6F8FB"/>
          </a:solidFill>
          <a:ln w="9525">
            <a:solidFill>
              <a:srgbClr val="D5DCE6"/>
            </a:solidFill>
            <a:prstDash val="solid"/>
          </a:ln>
        </p:spPr>
      </p:sp>
      <p:sp>
        <p:nvSpPr>
          <p:cNvPr id="11" name="Text 8"/>
          <p:cNvSpPr txBox="1"/>
          <p:nvPr/>
        </p:nvSpPr>
        <p:spPr>
          <a:xfrm>
            <a:off x="6382512"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03</a:t>
            </a:r>
            <a:endParaRPr lang="en-US" sz="2200" dirty="0"/>
          </a:p>
        </p:txBody>
      </p:sp>
      <p:sp>
        <p:nvSpPr>
          <p:cNvPr id="12" name="Text 9"/>
          <p:cNvSpPr txBox="1"/>
          <p:nvPr/>
        </p:nvSpPr>
        <p:spPr>
          <a:xfrm>
            <a:off x="6382512"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Methodology</a:t>
            </a:r>
            <a:endParaRPr lang="en-US" sz="1500" dirty="0"/>
          </a:p>
        </p:txBody>
      </p:sp>
      <p:sp>
        <p:nvSpPr>
          <p:cNvPr id="13" name="agenda 4"/>
          <p:cNvSpPr/>
          <p:nvPr/>
        </p:nvSpPr>
        <p:spPr>
          <a:xfrm>
            <a:off x="8997696" y="1371600"/>
            <a:ext cx="2670048" cy="1325880"/>
          </a:xfrm>
          <a:prstGeom prst="roundRect">
            <a:avLst>
              <a:gd name="adj" fmla="val 5517"/>
            </a:avLst>
          </a:prstGeom>
          <a:solidFill>
            <a:srgbClr val="F6F8FB"/>
          </a:solidFill>
          <a:ln w="9525">
            <a:solidFill>
              <a:srgbClr val="D5DCE6"/>
            </a:solidFill>
            <a:prstDash val="solid"/>
          </a:ln>
        </p:spPr>
      </p:sp>
      <p:sp>
        <p:nvSpPr>
          <p:cNvPr id="14" name="Text 11"/>
          <p:cNvSpPr txBox="1"/>
          <p:nvPr/>
        </p:nvSpPr>
        <p:spPr>
          <a:xfrm>
            <a:off x="9198864"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04</a:t>
            </a:r>
            <a:endParaRPr lang="en-US" sz="2200" dirty="0"/>
          </a:p>
        </p:txBody>
      </p:sp>
      <p:sp>
        <p:nvSpPr>
          <p:cNvPr id="15" name="Text 12"/>
          <p:cNvSpPr txBox="1"/>
          <p:nvPr/>
        </p:nvSpPr>
        <p:spPr>
          <a:xfrm>
            <a:off x="9198864"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Dataset</a:t>
            </a:r>
            <a:endParaRPr lang="en-US" sz="1500" dirty="0"/>
          </a:p>
        </p:txBody>
      </p:sp>
      <p:sp>
        <p:nvSpPr>
          <p:cNvPr id="16" name="agenda 5"/>
          <p:cNvSpPr/>
          <p:nvPr/>
        </p:nvSpPr>
        <p:spPr>
          <a:xfrm>
            <a:off x="548640" y="2880360"/>
            <a:ext cx="2670048" cy="1325880"/>
          </a:xfrm>
          <a:prstGeom prst="roundRect">
            <a:avLst>
              <a:gd name="adj" fmla="val 5517"/>
            </a:avLst>
          </a:prstGeom>
          <a:solidFill>
            <a:srgbClr val="F6F8FB"/>
          </a:solidFill>
          <a:ln w="9525">
            <a:solidFill>
              <a:srgbClr val="D5DCE6"/>
            </a:solidFill>
            <a:prstDash val="solid"/>
          </a:ln>
        </p:spPr>
      </p:sp>
      <p:sp>
        <p:nvSpPr>
          <p:cNvPr id="17" name="Text 14"/>
          <p:cNvSpPr txBox="1"/>
          <p:nvPr/>
        </p:nvSpPr>
        <p:spPr>
          <a:xfrm>
            <a:off x="749808"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05</a:t>
            </a:r>
            <a:endParaRPr lang="en-US" sz="2200" dirty="0"/>
          </a:p>
        </p:txBody>
      </p:sp>
      <p:sp>
        <p:nvSpPr>
          <p:cNvPr id="18" name="Text 15"/>
          <p:cNvSpPr txBox="1"/>
          <p:nvPr/>
        </p:nvSpPr>
        <p:spPr>
          <a:xfrm>
            <a:off x="749808"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Preprocessing</a:t>
            </a:r>
            <a:endParaRPr lang="en-US" sz="1500" dirty="0"/>
          </a:p>
        </p:txBody>
      </p:sp>
      <p:sp>
        <p:nvSpPr>
          <p:cNvPr id="19" name="agenda 6"/>
          <p:cNvSpPr/>
          <p:nvPr/>
        </p:nvSpPr>
        <p:spPr>
          <a:xfrm>
            <a:off x="3364992" y="2880360"/>
            <a:ext cx="2670048" cy="1325880"/>
          </a:xfrm>
          <a:prstGeom prst="roundRect">
            <a:avLst>
              <a:gd name="adj" fmla="val 5517"/>
            </a:avLst>
          </a:prstGeom>
          <a:solidFill>
            <a:srgbClr val="F6F8FB"/>
          </a:solidFill>
          <a:ln w="9525">
            <a:solidFill>
              <a:srgbClr val="D5DCE6"/>
            </a:solidFill>
            <a:prstDash val="solid"/>
          </a:ln>
        </p:spPr>
      </p:sp>
      <p:sp>
        <p:nvSpPr>
          <p:cNvPr id="20" name="Text 17"/>
          <p:cNvSpPr txBox="1"/>
          <p:nvPr/>
        </p:nvSpPr>
        <p:spPr>
          <a:xfrm>
            <a:off x="3566160"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06</a:t>
            </a:r>
            <a:endParaRPr lang="en-US" sz="2200" dirty="0"/>
          </a:p>
        </p:txBody>
      </p:sp>
      <p:sp>
        <p:nvSpPr>
          <p:cNvPr id="21" name="Text 18"/>
          <p:cNvSpPr txBox="1"/>
          <p:nvPr/>
        </p:nvSpPr>
        <p:spPr>
          <a:xfrm>
            <a:off x="3566160"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Model and configuration</a:t>
            </a:r>
            <a:endParaRPr lang="en-US" sz="1500" dirty="0"/>
          </a:p>
        </p:txBody>
      </p:sp>
      <p:sp>
        <p:nvSpPr>
          <p:cNvPr id="22" name="agenda 7"/>
          <p:cNvSpPr/>
          <p:nvPr/>
        </p:nvSpPr>
        <p:spPr>
          <a:xfrm>
            <a:off x="6181344" y="2880360"/>
            <a:ext cx="2670048" cy="1325880"/>
          </a:xfrm>
          <a:prstGeom prst="roundRect">
            <a:avLst>
              <a:gd name="adj" fmla="val 5517"/>
            </a:avLst>
          </a:prstGeom>
          <a:solidFill>
            <a:srgbClr val="F6F8FB"/>
          </a:solidFill>
          <a:ln w="9525">
            <a:solidFill>
              <a:srgbClr val="D5DCE6"/>
            </a:solidFill>
            <a:prstDash val="solid"/>
          </a:ln>
        </p:spPr>
      </p:sp>
      <p:sp>
        <p:nvSpPr>
          <p:cNvPr id="23" name="Text 20"/>
          <p:cNvSpPr txBox="1"/>
          <p:nvPr/>
        </p:nvSpPr>
        <p:spPr>
          <a:xfrm>
            <a:off x="6382512"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07</a:t>
            </a:r>
            <a:endParaRPr lang="en-US" sz="2200" dirty="0"/>
          </a:p>
        </p:txBody>
      </p:sp>
      <p:sp>
        <p:nvSpPr>
          <p:cNvPr id="24" name="Text 21"/>
          <p:cNvSpPr txBox="1"/>
          <p:nvPr/>
        </p:nvSpPr>
        <p:spPr>
          <a:xfrm>
            <a:off x="6382512"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Decision logic</a:t>
            </a:r>
            <a:endParaRPr lang="en-US" sz="1500" dirty="0"/>
          </a:p>
        </p:txBody>
      </p:sp>
      <p:sp>
        <p:nvSpPr>
          <p:cNvPr id="25" name="agenda 8"/>
          <p:cNvSpPr/>
          <p:nvPr/>
        </p:nvSpPr>
        <p:spPr>
          <a:xfrm>
            <a:off x="8997696" y="2880360"/>
            <a:ext cx="2670048" cy="1325880"/>
          </a:xfrm>
          <a:prstGeom prst="roundRect">
            <a:avLst>
              <a:gd name="adj" fmla="val 5517"/>
            </a:avLst>
          </a:prstGeom>
          <a:solidFill>
            <a:srgbClr val="F6F8FB"/>
          </a:solidFill>
          <a:ln w="9525">
            <a:solidFill>
              <a:srgbClr val="D5DCE6"/>
            </a:solidFill>
            <a:prstDash val="solid"/>
          </a:ln>
        </p:spPr>
      </p:sp>
      <p:sp>
        <p:nvSpPr>
          <p:cNvPr id="26" name="Text 23"/>
          <p:cNvSpPr txBox="1"/>
          <p:nvPr/>
        </p:nvSpPr>
        <p:spPr>
          <a:xfrm>
            <a:off x="9198864"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08</a:t>
            </a:r>
            <a:endParaRPr lang="en-US" sz="2200" dirty="0"/>
          </a:p>
        </p:txBody>
      </p:sp>
      <p:sp>
        <p:nvSpPr>
          <p:cNvPr id="27" name="Text 24"/>
          <p:cNvSpPr txBox="1"/>
          <p:nvPr/>
        </p:nvSpPr>
        <p:spPr>
          <a:xfrm>
            <a:off x="9198864"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Data flow, modules, database</a:t>
            </a:r>
            <a:endParaRPr lang="en-US" sz="1500" dirty="0"/>
          </a:p>
        </p:txBody>
      </p:sp>
      <p:sp>
        <p:nvSpPr>
          <p:cNvPr id="28" name="agenda 9"/>
          <p:cNvSpPr/>
          <p:nvPr/>
        </p:nvSpPr>
        <p:spPr>
          <a:xfrm>
            <a:off x="548640" y="4389120"/>
            <a:ext cx="2670048" cy="1325880"/>
          </a:xfrm>
          <a:prstGeom prst="roundRect">
            <a:avLst>
              <a:gd name="adj" fmla="val 5517"/>
            </a:avLst>
          </a:prstGeom>
          <a:solidFill>
            <a:srgbClr val="F6F8FB"/>
          </a:solidFill>
          <a:ln w="9525">
            <a:solidFill>
              <a:srgbClr val="D5DCE6"/>
            </a:solidFill>
            <a:prstDash val="solid"/>
          </a:ln>
        </p:spPr>
      </p:sp>
      <p:sp>
        <p:nvSpPr>
          <p:cNvPr id="29" name="Text 26"/>
          <p:cNvSpPr txBox="1"/>
          <p:nvPr/>
        </p:nvSpPr>
        <p:spPr>
          <a:xfrm>
            <a:off x="749808"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09</a:t>
            </a:r>
            <a:endParaRPr lang="en-US" sz="2200" dirty="0"/>
          </a:p>
        </p:txBody>
      </p:sp>
      <p:sp>
        <p:nvSpPr>
          <p:cNvPr id="30" name="Text 27"/>
          <p:cNvSpPr txBox="1"/>
          <p:nvPr/>
        </p:nvSpPr>
        <p:spPr>
          <a:xfrm>
            <a:off x="749808"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Technology stack</a:t>
            </a:r>
            <a:endParaRPr lang="en-US" sz="1500" dirty="0"/>
          </a:p>
        </p:txBody>
      </p:sp>
      <p:sp>
        <p:nvSpPr>
          <p:cNvPr id="31" name="agenda 10"/>
          <p:cNvSpPr/>
          <p:nvPr/>
        </p:nvSpPr>
        <p:spPr>
          <a:xfrm>
            <a:off x="3364992" y="4389120"/>
            <a:ext cx="2670048" cy="1325880"/>
          </a:xfrm>
          <a:prstGeom prst="roundRect">
            <a:avLst>
              <a:gd name="adj" fmla="val 5517"/>
            </a:avLst>
          </a:prstGeom>
          <a:solidFill>
            <a:srgbClr val="F6F8FB"/>
          </a:solidFill>
          <a:ln w="9525">
            <a:solidFill>
              <a:srgbClr val="D5DCE6"/>
            </a:solidFill>
            <a:prstDash val="solid"/>
          </a:ln>
        </p:spPr>
      </p:sp>
      <p:sp>
        <p:nvSpPr>
          <p:cNvPr id="32" name="Text 29"/>
          <p:cNvSpPr txBox="1"/>
          <p:nvPr/>
        </p:nvSpPr>
        <p:spPr>
          <a:xfrm>
            <a:off x="3566160"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10</a:t>
            </a:r>
            <a:endParaRPr lang="en-US" sz="2200" dirty="0"/>
          </a:p>
        </p:txBody>
      </p:sp>
      <p:sp>
        <p:nvSpPr>
          <p:cNvPr id="33" name="Text 30"/>
          <p:cNvSpPr txBox="1"/>
          <p:nvPr/>
        </p:nvSpPr>
        <p:spPr>
          <a:xfrm>
            <a:off x="3566160"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Progress</a:t>
            </a:r>
            <a:endParaRPr lang="en-US" sz="1500" dirty="0"/>
          </a:p>
        </p:txBody>
      </p:sp>
      <p:sp>
        <p:nvSpPr>
          <p:cNvPr id="34" name="agenda 11"/>
          <p:cNvSpPr/>
          <p:nvPr/>
        </p:nvSpPr>
        <p:spPr>
          <a:xfrm>
            <a:off x="6181344" y="4389120"/>
            <a:ext cx="2670048" cy="1325880"/>
          </a:xfrm>
          <a:prstGeom prst="roundRect">
            <a:avLst>
              <a:gd name="adj" fmla="val 5517"/>
            </a:avLst>
          </a:prstGeom>
          <a:solidFill>
            <a:srgbClr val="F6F8FB"/>
          </a:solidFill>
          <a:ln w="9525">
            <a:solidFill>
              <a:srgbClr val="D5DCE6"/>
            </a:solidFill>
            <a:prstDash val="solid"/>
          </a:ln>
        </p:spPr>
      </p:sp>
      <p:sp>
        <p:nvSpPr>
          <p:cNvPr id="35" name="Text 32"/>
          <p:cNvSpPr txBox="1"/>
          <p:nvPr/>
        </p:nvSpPr>
        <p:spPr>
          <a:xfrm>
            <a:off x="6382512"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11</a:t>
            </a:r>
            <a:endParaRPr lang="en-US" sz="2200" dirty="0"/>
          </a:p>
        </p:txBody>
      </p:sp>
      <p:sp>
        <p:nvSpPr>
          <p:cNvPr id="36" name="Text 33"/>
          <p:cNvSpPr txBox="1"/>
          <p:nvPr/>
        </p:nvSpPr>
        <p:spPr>
          <a:xfrm>
            <a:off x="6382512"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Preliminary results and screens</a:t>
            </a:r>
            <a:endParaRPr lang="en-US" sz="1500" dirty="0"/>
          </a:p>
        </p:txBody>
      </p:sp>
      <p:sp>
        <p:nvSpPr>
          <p:cNvPr id="37" name="agenda 12"/>
          <p:cNvSpPr/>
          <p:nvPr/>
        </p:nvSpPr>
        <p:spPr>
          <a:xfrm>
            <a:off x="8997696" y="4389120"/>
            <a:ext cx="2670048" cy="1325880"/>
          </a:xfrm>
          <a:prstGeom prst="roundRect">
            <a:avLst>
              <a:gd name="adj" fmla="val 5517"/>
            </a:avLst>
          </a:prstGeom>
          <a:solidFill>
            <a:srgbClr val="F6F8FB"/>
          </a:solidFill>
          <a:ln w="9525">
            <a:solidFill>
              <a:srgbClr val="D5DCE6"/>
            </a:solidFill>
            <a:prstDash val="solid"/>
          </a:ln>
        </p:spPr>
      </p:sp>
      <p:sp>
        <p:nvSpPr>
          <p:cNvPr id="38" name="Text 35"/>
          <p:cNvSpPr txBox="1"/>
          <p:nvPr/>
        </p:nvSpPr>
        <p:spPr>
          <a:xfrm>
            <a:off x="9198864"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12</a:t>
            </a:r>
            <a:endParaRPr lang="en-US" sz="2200" dirty="0"/>
          </a:p>
        </p:txBody>
      </p:sp>
      <p:sp>
        <p:nvSpPr>
          <p:cNvPr id="39" name="Text 36"/>
          <p:cNvSpPr txBox="1"/>
          <p:nvPr/>
        </p:nvSpPr>
        <p:spPr>
          <a:xfrm>
            <a:off x="9198864"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Testing, challenges, next steps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4" name="Problem card"/>
          <p:cNvSpPr/>
          <p:nvPr/>
        </p:nvSpPr>
        <p:spPr>
          <a:xfrm>
            <a:off x="548640" y="1371600"/>
            <a:ext cx="5440680" cy="2103120"/>
          </a:xfrm>
          <a:prstGeom prst="roundRect">
            <a:avLst>
              <a:gd name="adj" fmla="val 3478"/>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con">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Problem</a:t>
            </a:r>
            <a:endParaRPr lang="en-US" sz="1600" dirty="0"/>
          </a:p>
        </p:txBody>
      </p:sp>
      <p:sp>
        <p:nvSpPr>
          <p:cNvPr id="8" name="Text 4"/>
          <p:cNvSpPr txBox="1"/>
          <p:nvPr/>
        </p:nvSpPr>
        <p:spPr>
          <a:xfrm>
            <a:off x="777240" y="2240280"/>
            <a:ext cx="4983480" cy="109728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Freelancers and small businesses sign contracts they cannot assess. Legal review is costly, and existing tools target US or EU law and read each clause alone.</a:t>
            </a:r>
            <a:endParaRPr lang="en-US" sz="1600" dirty="0"/>
          </a:p>
        </p:txBody>
      </p:sp>
      <p:sp>
        <p:nvSpPr>
          <p:cNvPr id="9" name="Proposed system card"/>
          <p:cNvSpPr/>
          <p:nvPr/>
        </p:nvSpPr>
        <p:spPr>
          <a:xfrm>
            <a:off x="6172200" y="1371600"/>
            <a:ext cx="5440680" cy="2103120"/>
          </a:xfrm>
          <a:prstGeom prst="roundRect">
            <a:avLst>
              <a:gd name="adj" fmla="val 3478"/>
            </a:avLst>
          </a:prstGeom>
          <a:solidFill>
            <a:srgbClr val="F6F8FB"/>
          </a:solidFill>
          <a:ln w="9525">
            <a:solidFill>
              <a:srgbClr val="D5DCE6"/>
            </a:solidFill>
            <a:prstDash val="solid"/>
          </a:ln>
        </p:spPr>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sp>
      <p:pic>
        <p:nvPicPr>
          <p:cNvPr id="11" name="Image 1" descr="icon">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Proposed system</a:t>
            </a:r>
            <a:endParaRPr lang="en-US" sz="1600" dirty="0"/>
          </a:p>
        </p:txBody>
      </p:sp>
      <p:sp>
        <p:nvSpPr>
          <p:cNvPr id="13" name="Text 8"/>
          <p:cNvSpPr txBox="1"/>
          <p:nvPr/>
        </p:nvSpPr>
        <p:spPr>
          <a:xfrm>
            <a:off x="6400800" y="2240280"/>
            <a:ext cx="4983480" cy="109728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Upload a PDF or DOCX: clauses are classified, 8 Indian-law rules flag predatory terms, 3 combinations are checked, and a complexity grade A-F comes with a plain-language report.</a:t>
            </a:r>
            <a:endParaRPr lang="en-US" sz="1600" dirty="0"/>
          </a:p>
        </p:txBody>
      </p:sp>
      <p:sp>
        <p:nvSpPr>
          <p:cNvPr id="14" name="flow step 1"/>
          <p:cNvSpPr/>
          <p:nvPr/>
        </p:nvSpPr>
        <p:spPr>
          <a:xfrm>
            <a:off x="548640" y="3931920"/>
            <a:ext cx="1962851" cy="1280160"/>
          </a:xfrm>
          <a:prstGeom prst="roundRect">
            <a:avLst>
              <a:gd name="adj" fmla="val 5714"/>
            </a:avLst>
          </a:prstGeom>
          <a:solidFill>
            <a:srgbClr val="1B2A41"/>
          </a:solidFill>
          <a:ln w="12700">
            <a:solidFill>
              <a:srgbClr val="1B2A41"/>
            </a:solidFill>
            <a:prstDash val="solid"/>
          </a:ln>
        </p:spPr>
      </p:sp>
      <p:sp>
        <p:nvSpPr>
          <p:cNvPr id="15" name="Text 10"/>
          <p:cNvSpPr txBox="1"/>
          <p:nvPr/>
        </p:nvSpPr>
        <p:spPr>
          <a:xfrm>
            <a:off x="621792"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Upload PDF or DOCX</a:t>
            </a:r>
            <a:endParaRPr lang="en-US" sz="1500" dirty="0"/>
          </a:p>
        </p:txBody>
      </p:sp>
      <p:sp>
        <p:nvSpPr>
          <p:cNvPr id="16" name="arrow"/>
          <p:cNvSpPr/>
          <p:nvPr/>
        </p:nvSpPr>
        <p:spPr>
          <a:xfrm>
            <a:off x="2557211" y="4453128"/>
            <a:ext cx="228600" cy="237744"/>
          </a:xfrm>
          <a:prstGeom prst="rightArrow">
            <a:avLst/>
          </a:prstGeom>
          <a:solidFill>
            <a:srgbClr val="64748B"/>
          </a:solidFill>
          <a:ln w="12700">
            <a:solidFill>
              <a:srgbClr val="64748B"/>
            </a:solidFill>
            <a:prstDash val="solid"/>
          </a:ln>
        </p:spPr>
      </p:sp>
      <p:sp>
        <p:nvSpPr>
          <p:cNvPr id="17" name="flow step 2"/>
          <p:cNvSpPr/>
          <p:nvPr/>
        </p:nvSpPr>
        <p:spPr>
          <a:xfrm>
            <a:off x="2831531" y="3931920"/>
            <a:ext cx="1962851" cy="1280160"/>
          </a:xfrm>
          <a:prstGeom prst="roundRect">
            <a:avLst>
              <a:gd name="adj" fmla="val 5714"/>
            </a:avLst>
          </a:prstGeom>
          <a:solidFill>
            <a:srgbClr val="6250D6"/>
          </a:solidFill>
          <a:ln w="12700">
            <a:solidFill>
              <a:srgbClr val="6250D6"/>
            </a:solidFill>
            <a:prstDash val="solid"/>
          </a:ln>
        </p:spPr>
      </p:sp>
      <p:sp>
        <p:nvSpPr>
          <p:cNvPr id="18" name="Text 13"/>
          <p:cNvSpPr txBox="1"/>
          <p:nvPr/>
        </p:nvSpPr>
        <p:spPr>
          <a:xfrm>
            <a:off x="2904683"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Segment, embed, classify into 20 CUAD types</a:t>
            </a:r>
            <a:endParaRPr lang="en-US" sz="1500" dirty="0"/>
          </a:p>
        </p:txBody>
      </p:sp>
      <p:sp>
        <p:nvSpPr>
          <p:cNvPr id="19" name="arrow"/>
          <p:cNvSpPr/>
          <p:nvPr/>
        </p:nvSpPr>
        <p:spPr>
          <a:xfrm>
            <a:off x="4840102" y="4453128"/>
            <a:ext cx="228600" cy="237744"/>
          </a:xfrm>
          <a:prstGeom prst="rightArrow">
            <a:avLst/>
          </a:prstGeom>
          <a:solidFill>
            <a:srgbClr val="64748B"/>
          </a:solidFill>
          <a:ln w="12700">
            <a:solidFill>
              <a:srgbClr val="64748B"/>
            </a:solidFill>
            <a:prstDash val="solid"/>
          </a:ln>
        </p:spPr>
      </p:sp>
      <p:sp>
        <p:nvSpPr>
          <p:cNvPr id="20" name="flow step 3"/>
          <p:cNvSpPr/>
          <p:nvPr/>
        </p:nvSpPr>
        <p:spPr>
          <a:xfrm>
            <a:off x="5114422" y="3931920"/>
            <a:ext cx="1962851" cy="1280160"/>
          </a:xfrm>
          <a:prstGeom prst="roundRect">
            <a:avLst>
              <a:gd name="adj" fmla="val 5714"/>
            </a:avLst>
          </a:prstGeom>
          <a:solidFill>
            <a:srgbClr val="1BAF7A"/>
          </a:solidFill>
          <a:ln w="12700">
            <a:solidFill>
              <a:srgbClr val="1BAF7A"/>
            </a:solidFill>
            <a:prstDash val="solid"/>
          </a:ln>
        </p:spPr>
      </p:sp>
      <p:sp>
        <p:nvSpPr>
          <p:cNvPr id="21" name="Text 16"/>
          <p:cNvSpPr txBox="1"/>
          <p:nvPr/>
        </p:nvSpPr>
        <p:spPr>
          <a:xfrm>
            <a:off x="5187574"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8 rules + 3 risky combinations</a:t>
            </a:r>
            <a:endParaRPr lang="en-US" sz="1500" dirty="0"/>
          </a:p>
        </p:txBody>
      </p:sp>
      <p:sp>
        <p:nvSpPr>
          <p:cNvPr id="22" name="arrow"/>
          <p:cNvSpPr/>
          <p:nvPr/>
        </p:nvSpPr>
        <p:spPr>
          <a:xfrm>
            <a:off x="7122993" y="4453128"/>
            <a:ext cx="228600" cy="237744"/>
          </a:xfrm>
          <a:prstGeom prst="rightArrow">
            <a:avLst/>
          </a:prstGeom>
          <a:solidFill>
            <a:srgbClr val="64748B"/>
          </a:solidFill>
          <a:ln w="12700">
            <a:solidFill>
              <a:srgbClr val="64748B"/>
            </a:solidFill>
            <a:prstDash val="solid"/>
          </a:ln>
        </p:spPr>
      </p:sp>
      <p:sp>
        <p:nvSpPr>
          <p:cNvPr id="23" name="flow step 4"/>
          <p:cNvSpPr/>
          <p:nvPr/>
        </p:nvSpPr>
        <p:spPr>
          <a:xfrm>
            <a:off x="7397313" y="3931920"/>
            <a:ext cx="1962851" cy="1280160"/>
          </a:xfrm>
          <a:prstGeom prst="roundRect">
            <a:avLst>
              <a:gd name="adj" fmla="val 5714"/>
            </a:avLst>
          </a:prstGeom>
          <a:solidFill>
            <a:srgbClr val="EB6834"/>
          </a:solidFill>
          <a:ln w="12700">
            <a:solidFill>
              <a:srgbClr val="EB6834"/>
            </a:solidFill>
            <a:prstDash val="solid"/>
          </a:ln>
        </p:spPr>
      </p:sp>
      <p:sp>
        <p:nvSpPr>
          <p:cNvPr id="24" name="Text 19"/>
          <p:cNvSpPr txBox="1"/>
          <p:nvPr/>
        </p:nvSpPr>
        <p:spPr>
          <a:xfrm>
            <a:off x="7470465"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Gemini: reason and safer wording</a:t>
            </a:r>
            <a:endParaRPr lang="en-US" sz="1500" dirty="0"/>
          </a:p>
        </p:txBody>
      </p:sp>
      <p:sp>
        <p:nvSpPr>
          <p:cNvPr id="25" name="arrow"/>
          <p:cNvSpPr/>
          <p:nvPr/>
        </p:nvSpPr>
        <p:spPr>
          <a:xfrm>
            <a:off x="9405884" y="4453128"/>
            <a:ext cx="228600" cy="237744"/>
          </a:xfrm>
          <a:prstGeom prst="rightArrow">
            <a:avLst/>
          </a:prstGeom>
          <a:solidFill>
            <a:srgbClr val="64748B"/>
          </a:solidFill>
          <a:ln w="12700">
            <a:solidFill>
              <a:srgbClr val="64748B"/>
            </a:solidFill>
            <a:prstDash val="solid"/>
          </a:ln>
        </p:spPr>
      </p:sp>
      <p:sp>
        <p:nvSpPr>
          <p:cNvPr id="26" name="flow step 5"/>
          <p:cNvSpPr/>
          <p:nvPr/>
        </p:nvSpPr>
        <p:spPr>
          <a:xfrm>
            <a:off x="9680204" y="3931920"/>
            <a:ext cx="1962851" cy="1280160"/>
          </a:xfrm>
          <a:prstGeom prst="roundRect">
            <a:avLst>
              <a:gd name="adj" fmla="val 5714"/>
            </a:avLst>
          </a:prstGeom>
          <a:solidFill>
            <a:srgbClr val="1B2A41"/>
          </a:solidFill>
          <a:ln w="12700">
            <a:solidFill>
              <a:srgbClr val="1B2A41"/>
            </a:solidFill>
            <a:prstDash val="solid"/>
          </a:ln>
        </p:spPr>
      </p:sp>
      <p:sp>
        <p:nvSpPr>
          <p:cNvPr id="27" name="Text 22"/>
          <p:cNvSpPr txBox="1"/>
          <p:nvPr/>
        </p:nvSpPr>
        <p:spPr>
          <a:xfrm>
            <a:off x="9753356"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Grade A-F, report, clause graph</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5" name="Text 1"/>
          <p:cNvSpPr txBox="1"/>
          <p:nvPr/>
        </p:nvSpPr>
        <p:spPr>
          <a:xfrm>
            <a:off x="7543800" y="1463040"/>
            <a:ext cx="4114800" cy="457200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0F172A"/>
                </a:solidFill>
              </a:rPr>
              <a:t>Client: React 19 + Vite (port 5106); the dev server proxies /api to the backend.</a:t>
            </a:r>
            <a:endParaRPr lang="en-US" sz="1600" dirty="0"/>
          </a:p>
          <a:p>
            <a:pPr marL="228600" indent="-228600">
              <a:spcAft>
                <a:spcPts val="1200"/>
              </a:spcAft>
              <a:buSzPct val="100000"/>
              <a:buChar char="•"/>
            </a:pPr>
            <a:r>
              <a:rPr lang="en-US" sz="1600" dirty="0">
                <a:solidFill>
                  <a:srgbClr val="0F172A"/>
                </a:solidFill>
              </a:rPr>
              <a:t>API: FastAPI (port 8106), 9 REST endpoints; JWT sign-in, bcrypt, owner check on every contract route.</a:t>
            </a:r>
            <a:endParaRPr lang="en-US" sz="1600" dirty="0"/>
          </a:p>
          <a:p>
            <a:pPr marL="228600" indent="-228600">
              <a:spcAft>
                <a:spcPts val="1200"/>
              </a:spcAft>
              <a:buSzPct val="100000"/>
              <a:buChar char="•"/>
            </a:pPr>
            <a:r>
              <a:rPr lang="en-US" sz="1600" dirty="0">
                <a:solidFill>
                  <a:srgbClr val="0F172A"/>
                </a:solidFill>
              </a:rPr>
              <a:t>Services: PyMuPDF / python-docx parsing, clause classifier, 8 rules, NetworkX combinations, complexity score.</a:t>
            </a:r>
            <a:endParaRPr lang="en-US" sz="1600" dirty="0"/>
          </a:p>
          <a:p>
            <a:pPr marL="228600" indent="-228600">
              <a:spcAft>
                <a:spcPts val="1200"/>
              </a:spcAft>
              <a:buSzPct val="100000"/>
              <a:buChar char="•"/>
            </a:pPr>
            <a:r>
              <a:rPr lang="en-US" sz="1600" dirty="0">
                <a:solidFill>
                  <a:srgbClr val="0F172A"/>
                </a:solidFill>
              </a:rPr>
              <a:t>Data: SQLite (4 tables), cached centroid file, evaluation metrics file.</a:t>
            </a:r>
            <a:endParaRPr lang="en-US" sz="1600" dirty="0"/>
          </a:p>
          <a:p>
            <a:pPr marL="228600" indent="-228600">
              <a:spcAft>
                <a:spcPts val="1200"/>
              </a:spcAft>
              <a:buSzPct val="100000"/>
              <a:buChar char="•"/>
            </a:pPr>
            <a:r>
              <a:rPr lang="en-US" sz="1600" dirty="0">
                <a:solidFill>
                  <a:srgbClr val="0F172A"/>
                </a:solidFill>
              </a:rPr>
              <a:t>Only external dependency: the Google Gemini API.</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System architecture diagram" descr="System architecture diagram"/>
          <p:cNvPicPr>
            <a:picLocks noChangeAspect="1"/>
          </p:cNvPicPr>
          <p:nvPr/>
        </p:nvPicPr>
        <p:blipFill>
          <a:blip r:embed="rId4"/>
          <a:stretch>
            <a:fillRect/>
          </a:stretch>
        </p:blipFill>
        <p:spPr>
          <a:xfrm>
            <a:off x="596064" y="1181100"/>
            <a:ext cx="6751721" cy="4933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4" name="flow step 1"/>
          <p:cNvSpPr/>
          <p:nvPr/>
        </p:nvSpPr>
        <p:spPr>
          <a:xfrm>
            <a:off x="548640" y="1554480"/>
            <a:ext cx="1310596" cy="1463040"/>
          </a:xfrm>
          <a:prstGeom prst="roundRect">
            <a:avLst>
              <a:gd name="adj" fmla="val 5582"/>
            </a:avLst>
          </a:prstGeom>
          <a:solidFill>
            <a:srgbClr val="1B2A41"/>
          </a:solidFill>
          <a:ln w="12700">
            <a:solidFill>
              <a:srgbClr val="1B2A41"/>
            </a:solidFill>
            <a:prstDash val="solid"/>
          </a:ln>
        </p:spPr>
      </p:sp>
      <p:sp>
        <p:nvSpPr>
          <p:cNvPr id="5" name="Text 2"/>
          <p:cNvSpPr txBox="1"/>
          <p:nvPr/>
        </p:nvSpPr>
        <p:spPr>
          <a:xfrm>
            <a:off x="621792"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Parse PDF / DOCX</a:t>
            </a:r>
            <a:endParaRPr lang="en-US" sz="1400" dirty="0"/>
          </a:p>
        </p:txBody>
      </p:sp>
      <p:sp>
        <p:nvSpPr>
          <p:cNvPr id="6" name="arrow"/>
          <p:cNvSpPr/>
          <p:nvPr/>
        </p:nvSpPr>
        <p:spPr>
          <a:xfrm>
            <a:off x="1904956" y="2167128"/>
            <a:ext cx="228600" cy="237744"/>
          </a:xfrm>
          <a:prstGeom prst="rightArrow">
            <a:avLst/>
          </a:prstGeom>
          <a:solidFill>
            <a:srgbClr val="64748B"/>
          </a:solidFill>
          <a:ln w="12700">
            <a:solidFill>
              <a:srgbClr val="64748B"/>
            </a:solidFill>
            <a:prstDash val="solid"/>
          </a:ln>
        </p:spPr>
      </p:sp>
      <p:sp>
        <p:nvSpPr>
          <p:cNvPr id="7" name="flow step 2"/>
          <p:cNvSpPr/>
          <p:nvPr/>
        </p:nvSpPr>
        <p:spPr>
          <a:xfrm>
            <a:off x="2179276" y="1554480"/>
            <a:ext cx="1310596" cy="1463040"/>
          </a:xfrm>
          <a:prstGeom prst="roundRect">
            <a:avLst>
              <a:gd name="adj" fmla="val 5582"/>
            </a:avLst>
          </a:prstGeom>
          <a:solidFill>
            <a:srgbClr val="1B2A41"/>
          </a:solidFill>
          <a:ln w="12700">
            <a:solidFill>
              <a:srgbClr val="1B2A41"/>
            </a:solidFill>
            <a:prstDash val="solid"/>
          </a:ln>
        </p:spPr>
      </p:sp>
      <p:sp>
        <p:nvSpPr>
          <p:cNvPr id="8" name="Text 5"/>
          <p:cNvSpPr txBox="1"/>
          <p:nvPr/>
        </p:nvSpPr>
        <p:spPr>
          <a:xfrm>
            <a:off x="2252428"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Split into clauses</a:t>
            </a:r>
            <a:endParaRPr lang="en-US" sz="1400" dirty="0"/>
          </a:p>
        </p:txBody>
      </p:sp>
      <p:sp>
        <p:nvSpPr>
          <p:cNvPr id="9" name="arrow"/>
          <p:cNvSpPr/>
          <p:nvPr/>
        </p:nvSpPr>
        <p:spPr>
          <a:xfrm>
            <a:off x="3535593" y="216712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3809913" y="1554480"/>
            <a:ext cx="1310596" cy="1463040"/>
          </a:xfrm>
          <a:prstGeom prst="roundRect">
            <a:avLst>
              <a:gd name="adj" fmla="val 5582"/>
            </a:avLst>
          </a:prstGeom>
          <a:solidFill>
            <a:srgbClr val="6250D6"/>
          </a:solidFill>
          <a:ln w="12700">
            <a:solidFill>
              <a:srgbClr val="6250D6"/>
            </a:solidFill>
            <a:prstDash val="solid"/>
          </a:ln>
        </p:spPr>
      </p:sp>
      <p:sp>
        <p:nvSpPr>
          <p:cNvPr id="11" name="Text 8"/>
          <p:cNvSpPr txBox="1"/>
          <p:nvPr/>
        </p:nvSpPr>
        <p:spPr>
          <a:xfrm>
            <a:off x="3883065"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Embed + classify</a:t>
            </a:r>
            <a:endParaRPr lang="en-US" sz="1400" dirty="0"/>
          </a:p>
        </p:txBody>
      </p:sp>
      <p:sp>
        <p:nvSpPr>
          <p:cNvPr id="12" name="arrow"/>
          <p:cNvSpPr/>
          <p:nvPr/>
        </p:nvSpPr>
        <p:spPr>
          <a:xfrm>
            <a:off x="5166229" y="216712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5440549" y="1554480"/>
            <a:ext cx="1310596" cy="1463040"/>
          </a:xfrm>
          <a:prstGeom prst="roundRect">
            <a:avLst>
              <a:gd name="adj" fmla="val 5582"/>
            </a:avLst>
          </a:prstGeom>
          <a:solidFill>
            <a:srgbClr val="1BAF7A"/>
          </a:solidFill>
          <a:ln w="12700">
            <a:solidFill>
              <a:srgbClr val="1BAF7A"/>
            </a:solidFill>
            <a:prstDash val="solid"/>
          </a:ln>
        </p:spPr>
      </p:sp>
      <p:sp>
        <p:nvSpPr>
          <p:cNvPr id="14" name="Text 11"/>
          <p:cNvSpPr txBox="1"/>
          <p:nvPr/>
        </p:nvSpPr>
        <p:spPr>
          <a:xfrm>
            <a:off x="5513701"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Apply 8 rules, 3 combos</a:t>
            </a:r>
            <a:endParaRPr lang="en-US" sz="1400" dirty="0"/>
          </a:p>
        </p:txBody>
      </p:sp>
      <p:sp>
        <p:nvSpPr>
          <p:cNvPr id="15" name="arrow"/>
          <p:cNvSpPr/>
          <p:nvPr/>
        </p:nvSpPr>
        <p:spPr>
          <a:xfrm>
            <a:off x="6796866" y="2167128"/>
            <a:ext cx="228600" cy="237744"/>
          </a:xfrm>
          <a:prstGeom prst="rightArrow">
            <a:avLst/>
          </a:prstGeom>
          <a:solidFill>
            <a:srgbClr val="64748B"/>
          </a:solidFill>
          <a:ln w="12700">
            <a:solidFill>
              <a:srgbClr val="64748B"/>
            </a:solidFill>
            <a:prstDash val="solid"/>
          </a:ln>
        </p:spPr>
      </p:sp>
      <p:sp>
        <p:nvSpPr>
          <p:cNvPr id="16" name="flow step 5"/>
          <p:cNvSpPr/>
          <p:nvPr/>
        </p:nvSpPr>
        <p:spPr>
          <a:xfrm>
            <a:off x="7071186" y="1554480"/>
            <a:ext cx="1310596" cy="1463040"/>
          </a:xfrm>
          <a:prstGeom prst="roundRect">
            <a:avLst>
              <a:gd name="adj" fmla="val 5582"/>
            </a:avLst>
          </a:prstGeom>
          <a:solidFill>
            <a:srgbClr val="EB6834"/>
          </a:solidFill>
          <a:ln w="12700">
            <a:solidFill>
              <a:srgbClr val="EB6834"/>
            </a:solidFill>
            <a:prstDash val="solid"/>
          </a:ln>
        </p:spPr>
      </p:sp>
      <p:sp>
        <p:nvSpPr>
          <p:cNvPr id="17" name="Text 14"/>
          <p:cNvSpPr txBox="1"/>
          <p:nvPr/>
        </p:nvSpPr>
        <p:spPr>
          <a:xfrm>
            <a:off x="7144338"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Gemini explains flags</a:t>
            </a:r>
            <a:endParaRPr lang="en-US" sz="1400" dirty="0"/>
          </a:p>
        </p:txBody>
      </p:sp>
      <p:sp>
        <p:nvSpPr>
          <p:cNvPr id="18" name="arrow"/>
          <p:cNvSpPr/>
          <p:nvPr/>
        </p:nvSpPr>
        <p:spPr>
          <a:xfrm>
            <a:off x="8427502" y="2167128"/>
            <a:ext cx="228600" cy="237744"/>
          </a:xfrm>
          <a:prstGeom prst="rightArrow">
            <a:avLst/>
          </a:prstGeom>
          <a:solidFill>
            <a:srgbClr val="64748B"/>
          </a:solidFill>
          <a:ln w="12700">
            <a:solidFill>
              <a:srgbClr val="64748B"/>
            </a:solidFill>
            <a:prstDash val="solid"/>
          </a:ln>
        </p:spPr>
      </p:sp>
      <p:sp>
        <p:nvSpPr>
          <p:cNvPr id="19" name="flow step 6"/>
          <p:cNvSpPr/>
          <p:nvPr/>
        </p:nvSpPr>
        <p:spPr>
          <a:xfrm>
            <a:off x="8701822" y="1554480"/>
            <a:ext cx="1310596" cy="1463040"/>
          </a:xfrm>
          <a:prstGeom prst="roundRect">
            <a:avLst>
              <a:gd name="adj" fmla="val 5582"/>
            </a:avLst>
          </a:prstGeom>
          <a:solidFill>
            <a:srgbClr val="2A78D6"/>
          </a:solidFill>
          <a:ln w="12700">
            <a:solidFill>
              <a:srgbClr val="2A78D6"/>
            </a:solidFill>
            <a:prstDash val="solid"/>
          </a:ln>
        </p:spPr>
      </p:sp>
      <p:sp>
        <p:nvSpPr>
          <p:cNvPr id="20" name="Text 17"/>
          <p:cNvSpPr txBox="1"/>
          <p:nvPr/>
        </p:nvSpPr>
        <p:spPr>
          <a:xfrm>
            <a:off x="8774974"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Score complexity A-F</a:t>
            </a:r>
            <a:endParaRPr lang="en-US" sz="1400" dirty="0"/>
          </a:p>
        </p:txBody>
      </p:sp>
      <p:sp>
        <p:nvSpPr>
          <p:cNvPr id="21" name="arrow"/>
          <p:cNvSpPr/>
          <p:nvPr/>
        </p:nvSpPr>
        <p:spPr>
          <a:xfrm>
            <a:off x="10058139" y="2167128"/>
            <a:ext cx="228600" cy="237744"/>
          </a:xfrm>
          <a:prstGeom prst="rightArrow">
            <a:avLst/>
          </a:prstGeom>
          <a:solidFill>
            <a:srgbClr val="64748B"/>
          </a:solidFill>
          <a:ln w="12700">
            <a:solidFill>
              <a:srgbClr val="64748B"/>
            </a:solidFill>
            <a:prstDash val="solid"/>
          </a:ln>
        </p:spPr>
      </p:sp>
      <p:sp>
        <p:nvSpPr>
          <p:cNvPr id="22" name="flow step 7"/>
          <p:cNvSpPr/>
          <p:nvPr/>
        </p:nvSpPr>
        <p:spPr>
          <a:xfrm>
            <a:off x="10332459" y="1554480"/>
            <a:ext cx="1310596" cy="1463040"/>
          </a:xfrm>
          <a:prstGeom prst="roundRect">
            <a:avLst>
              <a:gd name="adj" fmla="val 5582"/>
            </a:avLst>
          </a:prstGeom>
          <a:solidFill>
            <a:srgbClr val="1B2A41"/>
          </a:solidFill>
          <a:ln w="12700">
            <a:solidFill>
              <a:srgbClr val="1B2A41"/>
            </a:solidFill>
            <a:prstDash val="solid"/>
          </a:ln>
        </p:spPr>
      </p:sp>
      <p:sp>
        <p:nvSpPr>
          <p:cNvPr id="23" name="Text 20"/>
          <p:cNvSpPr txBox="1"/>
          <p:nvPr/>
        </p:nvSpPr>
        <p:spPr>
          <a:xfrm>
            <a:off x="10405611"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Store + show report</a:t>
            </a:r>
            <a:endParaRPr lang="en-US" sz="1400" dirty="0"/>
          </a:p>
        </p:txBody>
      </p:sp>
      <p:sp>
        <p:nvSpPr>
          <p:cNvPr id="24" name="Separate tracks card"/>
          <p:cNvSpPr/>
          <p:nvPr/>
        </p:nvSpPr>
        <p:spPr>
          <a:xfrm>
            <a:off x="548640" y="3429000"/>
            <a:ext cx="3566160" cy="2331720"/>
          </a:xfrm>
          <a:prstGeom prst="roundRect">
            <a:avLst>
              <a:gd name="adj" fmla="val 3137"/>
            </a:avLst>
          </a:prstGeom>
          <a:solidFill>
            <a:srgbClr val="F6F8FB"/>
          </a:solidFill>
          <a:ln w="9525">
            <a:solidFill>
              <a:srgbClr val="D5DCE6"/>
            </a:solidFill>
            <a:prstDash val="solid"/>
          </a:ln>
        </p:spPr>
      </p:sp>
      <p:sp>
        <p:nvSpPr>
          <p:cNvPr id="25" name="Text 22"/>
          <p:cNvSpPr txBox="1"/>
          <p:nvPr/>
        </p:nvSpPr>
        <p:spPr>
          <a:xfrm>
            <a:off x="777240" y="36118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Rules decide, Gemini explains</a:t>
            </a:r>
            <a:endParaRPr lang="en-US" sz="1600" dirty="0"/>
          </a:p>
        </p:txBody>
      </p:sp>
      <p:sp>
        <p:nvSpPr>
          <p:cNvPr id="26" name="Text 23"/>
          <p:cNvSpPr txBox="1"/>
          <p:nvPr/>
        </p:nvSpPr>
        <p:spPr>
          <a:xfrm>
            <a:off x="777240" y="4297680"/>
            <a:ext cx="3108960" cy="13258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Whether a clause is flagged is decided by auditable regex rules; Gemini only writes the reason, the quote and the safer wording.</a:t>
            </a:r>
            <a:endParaRPr lang="en-US" sz="1500" dirty="0"/>
          </a:p>
        </p:txBody>
      </p:sp>
      <p:sp>
        <p:nvSpPr>
          <p:cNvPr id="27" name="Shared preprocessing card"/>
          <p:cNvSpPr/>
          <p:nvPr/>
        </p:nvSpPr>
        <p:spPr>
          <a:xfrm>
            <a:off x="4297680" y="3429000"/>
            <a:ext cx="3566160" cy="2331720"/>
          </a:xfrm>
          <a:prstGeom prst="roundRect">
            <a:avLst>
              <a:gd name="adj" fmla="val 3137"/>
            </a:avLst>
          </a:prstGeom>
          <a:solidFill>
            <a:srgbClr val="F6F8FB"/>
          </a:solidFill>
          <a:ln w="9525">
            <a:solidFill>
              <a:srgbClr val="D5DCE6"/>
            </a:solidFill>
            <a:prstDash val="solid"/>
          </a:ln>
        </p:spPr>
      </p:sp>
      <p:sp>
        <p:nvSpPr>
          <p:cNvPr id="28" name="Text 25"/>
          <p:cNvSpPr txBox="1"/>
          <p:nvPr/>
        </p:nvSpPr>
        <p:spPr>
          <a:xfrm>
            <a:off x="4526280" y="36118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Two scores, kept apart</a:t>
            </a:r>
            <a:endParaRPr lang="en-US" sz="1600" dirty="0"/>
          </a:p>
        </p:txBody>
      </p:sp>
      <p:sp>
        <p:nvSpPr>
          <p:cNvPr id="29" name="Text 26"/>
          <p:cNvSpPr txBox="1"/>
          <p:nvPr/>
        </p:nvSpPr>
        <p:spPr>
          <a:xfrm>
            <a:off x="4526280" y="4297680"/>
            <a:ext cx="3108960" cy="13258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Clause classification (CUAD) and predatory detection (curated clauses) are evaluated separately, as objective 6 requires.</a:t>
            </a:r>
            <a:endParaRPr lang="en-US" sz="1500" dirty="0"/>
          </a:p>
        </p:txBody>
      </p:sp>
      <p:sp>
        <p:nvSpPr>
          <p:cNvPr id="30" name="Reproducible card"/>
          <p:cNvSpPr/>
          <p:nvPr/>
        </p:nvSpPr>
        <p:spPr>
          <a:xfrm>
            <a:off x="8046720" y="3429000"/>
            <a:ext cx="3566160" cy="2331720"/>
          </a:xfrm>
          <a:prstGeom prst="roundRect">
            <a:avLst>
              <a:gd name="adj" fmla="val 3137"/>
            </a:avLst>
          </a:prstGeom>
          <a:solidFill>
            <a:srgbClr val="F6F8FB"/>
          </a:solidFill>
          <a:ln w="9525">
            <a:solidFill>
              <a:srgbClr val="D5DCE6"/>
            </a:solidFill>
            <a:prstDash val="solid"/>
          </a:ln>
        </p:spPr>
      </p:sp>
      <p:sp>
        <p:nvSpPr>
          <p:cNvPr id="31" name="Text 28"/>
          <p:cNvSpPr txBox="1"/>
          <p:nvPr/>
        </p:nvSpPr>
        <p:spPr>
          <a:xfrm>
            <a:off x="8275320" y="36118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Reproducible</a:t>
            </a:r>
            <a:endParaRPr lang="en-US" sz="1600" dirty="0"/>
          </a:p>
        </p:txBody>
      </p:sp>
      <p:sp>
        <p:nvSpPr>
          <p:cNvPr id="32" name="Text 29"/>
          <p:cNvSpPr txBox="1"/>
          <p:nvPr/>
        </p:nvSpPr>
        <p:spPr>
          <a:xfrm>
            <a:off x="8275320" y="4297680"/>
            <a:ext cx="3108960" cy="13258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Scripts scripts/exp_*.py regenerate every figure into experiments/*/metrics.json.</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and input sources</a:t>
            </a:r>
            <a:endParaRPr lang="en-US" sz="3200" dirty="0"/>
          </a:p>
        </p:txBody>
      </p:sp>
      <p:graphicFrame>
        <p:nvGraphicFramePr>
          <p:cNvPr id="4" name="Chart 0" descr=""/>
          <p:cNvGraphicFramePr/>
          <p:nvPr/>
        </p:nvGraphicFramePr>
        <p:xfrm>
          <a:off x="548640" y="1280160"/>
          <a:ext cx="576072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056630" cy="914400"/>
        </p:xfrm>
        <a:graphic>
          <a:graphicData uri="http://schemas.openxmlformats.org/drawingml/2006/table">
            <a:tbl>
              <a:tblPr/>
              <a:tblGrid>
                <a:gridCol w="1719254"/>
                <a:gridCol w="1921520"/>
                <a:gridCol w="1415856"/>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CUAD v1 [8] (CC BY 4.0)</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510 contracts, 41 categories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Corpus run, centroids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Training spans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500 (20 categories x 25)</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Build 20 centroids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Held-out spans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240 (12 per category)</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Classification test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Predatory test set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40 clauses, written by the team</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Rule test (shipped)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Probe set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24 predatory + 16 benign</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Independent rule test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preparation</a:t>
            </a:r>
            <a:endParaRPr lang="en-US" sz="3200" dirty="0"/>
          </a:p>
        </p:txBody>
      </p:sp>
      <p:sp>
        <p:nvSpPr>
          <p:cNvPr id="4" name="Text card"/>
          <p:cNvSpPr/>
          <p:nvPr/>
        </p:nvSpPr>
        <p:spPr>
          <a:xfrm>
            <a:off x="548640" y="1371600"/>
            <a:ext cx="3566160" cy="4389120"/>
          </a:xfrm>
          <a:prstGeom prst="roundRect">
            <a:avLst>
              <a:gd name="adj" fmla="val 2051"/>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sp>
      <p:pic>
        <p:nvPicPr>
          <p:cNvPr id="6" name="Image 0" descr="icon">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Parsing</a:t>
            </a:r>
            <a:endParaRPr lang="en-US" sz="1600" dirty="0"/>
          </a:p>
        </p:txBody>
      </p:sp>
      <p:sp>
        <p:nvSpPr>
          <p:cNvPr id="8" name="Text 4"/>
          <p:cNvSpPr txBox="1"/>
          <p:nvPr/>
        </p:nvSpPr>
        <p:spPr>
          <a:xfrm>
            <a:off x="777240" y="2240280"/>
            <a:ext cx="3108960" cy="3383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PDF text is read page by page with PyMuPDF (real page numbers); a DOCX is read as one page. Scanned images cannot be read.</a:t>
            </a:r>
            <a:endParaRPr lang="en-US" sz="1500" dirty="0"/>
          </a:p>
        </p:txBody>
      </p:sp>
      <p:sp>
        <p:nvSpPr>
          <p:cNvPr id="9" name="Images and video card"/>
          <p:cNvSpPr/>
          <p:nvPr/>
        </p:nvSpPr>
        <p:spPr>
          <a:xfrm>
            <a:off x="4297680" y="1371600"/>
            <a:ext cx="3566160" cy="4389120"/>
          </a:xfrm>
          <a:prstGeom prst="roundRect">
            <a:avLst>
              <a:gd name="adj" fmla="val 2051"/>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1BAF7A"/>
          </a:solidFill>
          <a:ln w="12700">
            <a:solidFill>
              <a:srgbClr val="1BAF7A"/>
            </a:solidFill>
            <a:prstDash val="solid"/>
          </a:ln>
        </p:spPr>
      </p:sp>
      <p:pic>
        <p:nvPicPr>
          <p:cNvPr id="11" name="Image 1" descr="icon">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Segmentation</a:t>
            </a:r>
            <a:endParaRPr lang="en-US" sz="1600" dirty="0"/>
          </a:p>
        </p:txBody>
      </p:sp>
      <p:sp>
        <p:nvSpPr>
          <p:cNvPr id="13" name="Text 8"/>
          <p:cNvSpPr txBox="1"/>
          <p:nvPr/>
        </p:nvSpPr>
        <p:spPr>
          <a:xfrm>
            <a:off x="4526280" y="2240280"/>
            <a:ext cx="3108960" cy="3383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 page with 2 or more numbered headings (1., 2.1, Section 3) is split at them; otherwise paragraphs are merged to about 400 characters. Fragments under 25 characters are dropped; text before the first heading is lost.</a:t>
            </a:r>
            <a:endParaRPr lang="en-US" sz="1400" dirty="0"/>
          </a:p>
        </p:txBody>
      </p:sp>
      <p:sp>
        <p:nvSpPr>
          <p:cNvPr id="14" name="AI-media data card"/>
          <p:cNvSpPr/>
          <p:nvPr/>
        </p:nvSpPr>
        <p:spPr>
          <a:xfrm>
            <a:off x="8046720" y="1371600"/>
            <a:ext cx="3566160" cy="4389120"/>
          </a:xfrm>
          <a:prstGeom prst="roundRect">
            <a:avLst>
              <a:gd name="adj" fmla="val 2051"/>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EDA100"/>
          </a:solidFill>
          <a:ln w="12700">
            <a:solidFill>
              <a:srgbClr val="EDA100"/>
            </a:solidFill>
            <a:prstDash val="solid"/>
          </a:ln>
        </p:spPr>
      </p:sp>
      <p:pic>
        <p:nvPicPr>
          <p:cNvPr id="16" name="Image 2" descr="ic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Features</a:t>
            </a:r>
            <a:endParaRPr lang="en-US" sz="1600" dirty="0"/>
          </a:p>
        </p:txBody>
      </p:sp>
      <p:sp>
        <p:nvSpPr>
          <p:cNvPr id="18" name="Text 12"/>
          <p:cNvSpPr txBox="1"/>
          <p:nvPr/>
        </p:nvSpPr>
        <p:spPr>
          <a:xfrm>
            <a:off x="8275320" y="2240280"/>
            <a:ext cx="3108960" cy="3383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Each clause becomes a 3,072-number Gemini embedding. The complexity score uses Flesch reading ease, legal-jargon density, cross-references and average sentence length.</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 and components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0" y="1463040"/>
          <a:ext cx="3867912" cy="914400"/>
        </p:xfrm>
        <a:graphic>
          <a:graphicData uri="http://schemas.openxmlformats.org/drawingml/2006/table">
            <a:tbl>
              <a:tblPr/>
              <a:tblGrid>
                <a:gridCol w="2011680"/>
                <a:gridCol w="1856232"/>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Embedding</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gemini-embedding-001, 3,072-d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Classifier</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nearest of 20 centroids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Tie-break</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Gemini text model, top 3</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Rules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8 regex rules, Indian statutes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6" name="Text 1"/>
          <p:cNvSpPr txBox="1"/>
          <p:nvPr/>
        </p:nvSpPr>
        <p:spPr>
          <a:xfrm>
            <a:off x="7772400" y="3931920"/>
            <a:ext cx="3867912" cy="365760"/>
          </a:xfrm>
          <a:prstGeom prst="rect">
            <a:avLst/>
          </a:prstGeom>
          <a:noFill/>
          <a:ln/>
        </p:spPr>
        <p:txBody>
          <a:bodyPr wrap="square" lIns="0" tIns="0" rIns="0" bIns="0" rtlCol="0" anchor="ctr"/>
          <a:lstStyle/>
          <a:p>
            <a:pPr indent="0" marL="0">
              <a:buNone/>
            </a:pPr>
            <a:r>
              <a:rPr lang="en-US" sz="1100" i="1" dirty="0">
                <a:solidFill>
                  <a:srgbClr val="64748B"/>
                </a:solidFill>
              </a:rPr>
              <a:t>No model is trained: the centroids are averages and the text model is called through the API.</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High-level workflow" descr="High-level workflow"/>
          <p:cNvPicPr>
            <a:picLocks noChangeAspect="1"/>
          </p:cNvPicPr>
          <p:nvPr/>
        </p:nvPicPr>
        <p:blipFill>
          <a:blip r:embed="rId4"/>
          <a:stretch>
            <a:fillRect/>
          </a:stretch>
        </p:blipFill>
        <p:spPr>
          <a:xfrm>
            <a:off x="714375" y="1997868"/>
            <a:ext cx="6600825" cy="33004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Configuration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377440"/>
                <a:gridCol w="329184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Training spans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500 = 20 categories x 25, seed 42</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Centroid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mean of 25 embeddings per category</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Held-out set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240 spans, 12 per category</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Tie-break trigger</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top-1 minus top-2 &lt; 0.03 and top-1 &lt; 0.60</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Unclassified floor</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confidence &lt; 0.35</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Complexity weights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0.35 / 0.30 / 0.20 / 0.15</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Text model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gemini-flash-latest (demo: 3.1-flash-lite)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6" name="picture frame"/>
          <p:cNvSpPr/>
          <p:nvPr/>
        </p:nvSpPr>
        <p:spPr>
          <a:xfrm>
            <a:off x="6400800" y="2199059"/>
            <a:ext cx="5239512" cy="2414163"/>
          </a:xfrm>
          <a:prstGeom prst="rect">
            <a:avLst/>
          </a:prstGeom>
          <a:ln w="9525">
            <a:solidFill>
              <a:srgbClr val="D5DCE6"/>
            </a:solidFill>
            <a:prstDash val="solid"/>
          </a:ln>
        </p:spPr>
      </p:sp>
      <p:sp>
        <p:nvSpPr>
          <p:cNvPr id="7" name="Text 2"/>
          <p:cNvSpPr txBox="1"/>
          <p:nvPr/>
        </p:nvSpPr>
        <p:spPr>
          <a:xfrm>
            <a:off x="6400800" y="5267325"/>
            <a:ext cx="5239512" cy="274320"/>
          </a:xfrm>
          <a:prstGeom prst="rect">
            <a:avLst/>
          </a:prstGeom>
          <a:noFill/>
          <a:ln/>
        </p:spPr>
        <p:txBody>
          <a:bodyPr wrap="square" lIns="0" tIns="0" rIns="0" bIns="0" rtlCol="0" anchor="ctr"/>
          <a:lstStyle/>
          <a:p>
            <a:pPr algn="ctr" indent="0" marL="0">
              <a:buNone/>
            </a:pPr>
            <a:r>
              <a:rPr lang="en-US" sz="1100" i="1" dirty="0">
                <a:solidFill>
                  <a:srgbClr val="64748B"/>
                </a:solidFill>
              </a:rPr>
              <a:t>Top-1 accuracy of the shipped centroid classifier (0.792) against simple baselines on the same 240 spans</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pic>
        <p:nvPicPr>
          <p:cNvPr id="26" name="Baselines chart" descr="Baselines chart"/>
          <p:cNvPicPr>
            <a:picLocks noChangeAspect="1"/>
          </p:cNvPicPr>
          <p:nvPr/>
        </p:nvPicPr>
        <p:blipFill>
          <a:blip r:embed="rId4"/>
          <a:stretch>
            <a:fillRect/>
          </a:stretch>
        </p:blipFill>
        <p:spPr>
          <a:xfrm>
            <a:off x="6627632" y="2047875"/>
            <a:ext cx="4785085" cy="3143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a:t>
            </a:r>
            <a:endParaRPr lang="en-US" sz="3200" dirty="0"/>
          </a:p>
        </p:txBody>
      </p:sp>
      <p:sp>
        <p:nvSpPr>
          <p:cNvPr id="5" name="Verdict card"/>
          <p:cNvSpPr/>
          <p:nvPr/>
        </p:nvSpPr>
        <p:spPr>
          <a:xfrm>
            <a:off x="6572250" y="1371600"/>
            <a:ext cx="5057775" cy="1371600"/>
          </a:xfrm>
          <a:prstGeom prst="roundRect">
            <a:avLst>
              <a:gd name="adj" fmla="val 5333"/>
            </a:avLst>
          </a:prstGeom>
          <a:solidFill>
            <a:srgbClr val="F6F8FB"/>
          </a:solidFill>
          <a:ln w="9525">
            <a:solidFill>
              <a:srgbClr val="D5DCE6"/>
            </a:solidFill>
            <a:prstDash val="solid"/>
          </a:ln>
        </p:spPr>
      </p:sp>
      <p:sp>
        <p:nvSpPr>
          <p:cNvPr id="6" name="Text 2"/>
          <p:cNvSpPr txBox="1"/>
          <p:nvPr/>
        </p:nvSpPr>
        <p:spPr>
          <a:xfrm>
            <a:off x="6800850" y="1466850"/>
            <a:ext cx="4667250" cy="38100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Classification</a:t>
            </a:r>
            <a:endParaRPr lang="en-US" sz="1600" dirty="0"/>
          </a:p>
        </p:txBody>
      </p:sp>
      <p:sp>
        <p:nvSpPr>
          <p:cNvPr id="7" name="Text 3"/>
          <p:cNvSpPr txBox="1"/>
          <p:nvPr/>
        </p:nvSpPr>
        <p:spPr>
          <a:xfrm>
            <a:off x="6800850" y="1847850"/>
            <a:ext cx="4667250" cy="87630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Nearest of 20 centroids by cosine. The tie-break needs top-1 &lt; 0.60, but similarities range 0.657-0.849, so it never fires: every clause gets a label.</a:t>
            </a:r>
            <a:endParaRPr lang="en-US" sz="1400" dirty="0"/>
          </a:p>
        </p:txBody>
      </p:sp>
      <p:sp>
        <p:nvSpPr>
          <p:cNvPr id="8" name="Partial input card"/>
          <p:cNvSpPr/>
          <p:nvPr/>
        </p:nvSpPr>
        <p:spPr>
          <a:xfrm>
            <a:off x="6572250" y="2880360"/>
            <a:ext cx="5057775" cy="1371600"/>
          </a:xfrm>
          <a:prstGeom prst="roundRect">
            <a:avLst>
              <a:gd name="adj" fmla="val 5333"/>
            </a:avLst>
          </a:prstGeom>
          <a:solidFill>
            <a:srgbClr val="F6F8FB"/>
          </a:solidFill>
          <a:ln w="9525">
            <a:solidFill>
              <a:srgbClr val="D5DCE6"/>
            </a:solidFill>
            <a:prstDash val="solid"/>
          </a:ln>
        </p:spPr>
      </p:sp>
      <p:sp>
        <p:nvSpPr>
          <p:cNvPr id="9" name="Text 5"/>
          <p:cNvSpPr txBox="1"/>
          <p:nvPr/>
        </p:nvSpPr>
        <p:spPr>
          <a:xfrm>
            <a:off x="6800850" y="2975610"/>
            <a:ext cx="4667250" cy="38100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Predatory flag</a:t>
            </a:r>
            <a:endParaRPr lang="en-US" sz="1600" dirty="0"/>
          </a:p>
        </p:txBody>
      </p:sp>
      <p:sp>
        <p:nvSpPr>
          <p:cNvPr id="10" name="Text 6"/>
          <p:cNvSpPr txBox="1"/>
          <p:nvPr/>
        </p:nvSpPr>
        <p:spPr>
          <a:xfrm>
            <a:off x="6800850" y="3356610"/>
            <a:ext cx="4667250" cy="87630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 regex rule decides (8 rules). Gemini then writes the reason, quotes the provision and drafts safer wording.</a:t>
            </a:r>
            <a:endParaRPr lang="en-US" sz="1400" dirty="0"/>
          </a:p>
        </p:txBody>
      </p:sp>
      <p:sp>
        <p:nvSpPr>
          <p:cNvPr id="11" name="Saving card"/>
          <p:cNvSpPr/>
          <p:nvPr/>
        </p:nvSpPr>
        <p:spPr>
          <a:xfrm>
            <a:off x="6572250" y="4389120"/>
            <a:ext cx="5057775" cy="1371600"/>
          </a:xfrm>
          <a:prstGeom prst="roundRect">
            <a:avLst>
              <a:gd name="adj" fmla="val 5333"/>
            </a:avLst>
          </a:prstGeom>
          <a:solidFill>
            <a:srgbClr val="F6F8FB"/>
          </a:solidFill>
          <a:ln w="9525">
            <a:solidFill>
              <a:srgbClr val="D5DCE6"/>
            </a:solidFill>
            <a:prstDash val="solid"/>
          </a:ln>
        </p:spPr>
      </p:sp>
      <p:sp>
        <p:nvSpPr>
          <p:cNvPr id="12" name="Text 8"/>
          <p:cNvSpPr txBox="1"/>
          <p:nvPr/>
        </p:nvSpPr>
        <p:spPr>
          <a:xfrm>
            <a:off x="6800850" y="4484370"/>
            <a:ext cx="4667250" cy="38100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Risk and grade</a:t>
            </a:r>
            <a:endParaRPr lang="en-US" sz="1600" dirty="0"/>
          </a:p>
        </p:txBody>
      </p:sp>
      <p:sp>
        <p:nvSpPr>
          <p:cNvPr id="13" name="Text 9"/>
          <p:cNvSpPr txBox="1"/>
          <p:nvPr/>
        </p:nvSpPr>
        <p:spPr>
          <a:xfrm>
            <a:off x="6800850" y="4865370"/>
            <a:ext cx="4667250" cy="876300"/>
          </a:xfrm>
          <a:prstGeom prst="rect">
            <a:avLst/>
          </a:prstGeom>
          <a:noFill/>
          <a:ln/>
        </p:spPr>
        <p:txBody>
          <a:bodyPr wrap="square" lIns="0" tIns="0" rIns="0" bIns="0" rtlCol="0" anchor="t"/>
          <a:lstStyle/>
          <a:p>
            <a:pPr indent="0" marL="0">
              <a:spcAft>
                <a:spcPts val="400"/>
              </a:spcAft>
              <a:buNone/>
            </a:pPr>
            <a:r>
              <a:rPr lang="en-US" sz="1350" dirty="0">
                <a:solidFill>
                  <a:srgbClr val="475569"/>
                </a:solidFill>
              </a:rPr>
              <a:t>A combination fires when all its rule ids appear anywhere in the contract (3 patterns). Score = 0.35 readability + 0.30 jargon + 0.20 references + 0.15 sentence length; grade cut-offs 20 / 40 / 60 / 80.</a:t>
            </a:r>
            <a:endParaRPr lang="en-US" sz="13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Decision flowchart" descr="Decision flowchart"/>
          <p:cNvPicPr>
            <a:picLocks noChangeAspect="1"/>
          </p:cNvPicPr>
          <p:nvPr/>
        </p:nvPicPr>
        <p:blipFill>
          <a:blip r:embed="rId4"/>
          <a:stretch>
            <a:fillRect/>
          </a:stretch>
        </p:blipFill>
        <p:spPr>
          <a:xfrm>
            <a:off x="519641" y="1181100"/>
            <a:ext cx="5723466" cy="4953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5" name="Text 1"/>
          <p:cNvSpPr txBox="1"/>
          <p:nvPr/>
        </p:nvSpPr>
        <p:spPr>
          <a:xfrm>
            <a:off x="542925" y="440055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DFD level 1 (left) and level 2 expansion of 'Classify clauses' (right)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686300"/>
          <a:ext cx="11094414" cy="914400"/>
        </p:xfrm>
        <a:graphic>
          <a:graphicData uri="http://schemas.openxmlformats.org/drawingml/2006/table">
            <a:tbl>
              <a:tblPr/>
              <a:tblGrid>
                <a:gridCol w="2773603"/>
                <a:gridCol w="8320811"/>
              </a:tblGrid>
              <a:tr h="32385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Responsibility</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32385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Parsing and segmentation</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PDF / DOCX text, page numbers, numbered-heading split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385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Classification and rules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Gemini embedding, 20 centroids, 8 regex rules, 3 combinations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2385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Explanation and report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Gemini reasons, safer wording, summary; complexity grade; JSON report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DFD level 1" descr="DFD level 1"/>
          <p:cNvPicPr>
            <a:picLocks noChangeAspect="1"/>
          </p:cNvPicPr>
          <p:nvPr/>
        </p:nvPicPr>
        <p:blipFill>
          <a:blip r:embed="rId4"/>
          <a:stretch>
            <a:fillRect/>
          </a:stretch>
        </p:blipFill>
        <p:spPr>
          <a:xfrm>
            <a:off x="542925" y="1193555"/>
            <a:ext cx="4476750" cy="3099288"/>
          </a:xfrm>
          <a:prstGeom prst="rect">
            <a:avLst/>
          </a:prstGeom>
        </p:spPr>
      </p:pic>
      <p:pic>
        <p:nvPicPr>
          <p:cNvPr id="27" name="DFD level 2" descr="DFD level 2"/>
          <p:cNvPicPr>
            <a:picLocks noChangeAspect="1"/>
          </p:cNvPicPr>
          <p:nvPr/>
        </p:nvPicPr>
        <p:blipFill>
          <a:blip r:embed="rId5"/>
          <a:stretch>
            <a:fillRect/>
          </a:stretch>
        </p:blipFill>
        <p:spPr>
          <a:xfrm>
            <a:off x="5859029" y="1123950"/>
            <a:ext cx="5103090" cy="3238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925" y="4400550"/>
          <a:ext cx="4572000" cy="914400"/>
        </p:xfrm>
        <a:graphic>
          <a:graphicData uri="http://schemas.openxmlformats.org/drawingml/2006/table">
            <a:tbl>
              <a:tblPr/>
              <a:tblGrid>
                <a:gridCol w="914400"/>
                <a:gridCol w="2286000"/>
                <a:gridCol w="1371600"/>
              </a:tblGrid>
              <a:tr h="28575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Table</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fields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Relations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28575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users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email, password hash</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1:N contracts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8575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contracts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grade, score, summary, combos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1:N clauses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8575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clauses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text, page, type, embedding</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1:N flags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85750">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flags</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rule, severity, reason, wording</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N:1 clause</a:t>
                      </a:r>
                      <a:endParaRPr lang="en-US" sz="11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6" name="Text 1"/>
          <p:cNvSpPr txBox="1"/>
          <p:nvPr/>
        </p:nvSpPr>
        <p:spPr>
          <a:xfrm>
            <a:off x="542925" y="5924550"/>
            <a:ext cx="11087100" cy="274320"/>
          </a:xfrm>
          <a:prstGeom prst="rect">
            <a:avLst/>
          </a:prstGeom>
          <a:noFill/>
          <a:ln/>
        </p:spPr>
        <p:txBody>
          <a:bodyPr wrap="square" lIns="0" tIns="0" rIns="0" bIns="0" rtlCol="0" anchor="ctr"/>
          <a:lstStyle/>
          <a:p>
            <a:pPr algn="ctr" indent="0" marL="0">
              <a:buNone/>
            </a:pPr>
            <a:r>
              <a:rPr lang="en-US" sz="1100" i="1" dirty="0">
                <a:solidFill>
                  <a:srgbClr val="64748B"/>
                </a:solidFill>
              </a:rPr>
              <a:t>ER diagram, 4 tables (left) and UML class diagram (right)</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ER diagram" descr="ER diagram"/>
          <p:cNvPicPr>
            <a:picLocks noChangeAspect="1"/>
          </p:cNvPicPr>
          <p:nvPr/>
        </p:nvPicPr>
        <p:blipFill>
          <a:blip r:embed="rId4"/>
          <a:stretch>
            <a:fillRect/>
          </a:stretch>
        </p:blipFill>
        <p:spPr>
          <a:xfrm>
            <a:off x="620154" y="1123950"/>
            <a:ext cx="4417540" cy="3143250"/>
          </a:xfrm>
          <a:prstGeom prst="rect">
            <a:avLst/>
          </a:prstGeom>
        </p:spPr>
      </p:pic>
      <p:pic>
        <p:nvPicPr>
          <p:cNvPr id="27" name="UML class diagram" descr="UML class diagram"/>
          <p:cNvPicPr>
            <a:picLocks noChangeAspect="1"/>
          </p:cNvPicPr>
          <p:nvPr/>
        </p:nvPicPr>
        <p:blipFill>
          <a:blip r:embed="rId5"/>
          <a:stretch>
            <a:fillRect/>
          </a:stretch>
        </p:blipFill>
        <p:spPr>
          <a:xfrm>
            <a:off x="6230648" y="1123950"/>
            <a:ext cx="4502727" cy="4762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4" name="Language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2A78D6"/>
          </a:solidFill>
          <a:ln w="12700">
            <a:solidFill>
              <a:srgbClr val="2A78D6"/>
            </a:solidFill>
            <a:prstDash val="solid"/>
          </a:ln>
        </p:spPr>
      </p:sp>
      <p:pic>
        <p:nvPicPr>
          <p:cNvPr id="6" name="Image 0" descr="icon">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Language</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Python 3.11, JavaScript and TypeScript</a:t>
            </a:r>
            <a:endParaRPr lang="en-US" sz="1500" dirty="0"/>
          </a:p>
        </p:txBody>
      </p:sp>
      <p:sp>
        <p:nvSpPr>
          <p:cNvPr id="9" name="Deep learning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6250D6"/>
          </a:solidFill>
          <a:ln w="12700">
            <a:solidFill>
              <a:srgbClr val="6250D6"/>
            </a:solidFill>
            <a:prstDash val="solid"/>
          </a:ln>
        </p:spPr>
      </p:sp>
      <p:pic>
        <p:nvPicPr>
          <p:cNvPr id="11" name="Image 1" descr="icon">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AI services</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Google Gemini API (embedding-001 and a flash text model), NumPy cosine search</a:t>
            </a:r>
            <a:endParaRPr lang="en-US" sz="1500" dirty="0"/>
          </a:p>
        </p:txBody>
      </p:sp>
      <p:sp>
        <p:nvSpPr>
          <p:cNvPr id="14" name="Data / NLP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sp>
      <p:pic>
        <p:nvPicPr>
          <p:cNvPr id="16" name="Image 2" descr="ic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Documents and graph</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PyMuPDF 1.24, python-docx 1.1, NetworkX 3.3</a:t>
            </a:r>
            <a:endParaRPr lang="en-US" sz="1500" dirty="0"/>
          </a:p>
        </p:txBody>
      </p:sp>
      <p:sp>
        <p:nvSpPr>
          <p:cNvPr id="19" name="Backend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1B2A41"/>
          </a:solidFill>
          <a:ln w="12700">
            <a:solidFill>
              <a:srgbClr val="1B2A41"/>
            </a:solidFill>
            <a:prstDash val="solid"/>
          </a:ln>
        </p:spPr>
      </p:sp>
      <p:pic>
        <p:nvPicPr>
          <p:cNvPr id="21" name="Image 3" descr="icon">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Backend</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FastAPI 0.115, SQLAlchemy 2.0, Pydantic, PyJWT 2.9, bcrypt 4.2</a:t>
            </a:r>
            <a:endParaRPr lang="en-US" sz="1500" dirty="0"/>
          </a:p>
        </p:txBody>
      </p:sp>
      <p:sp>
        <p:nvSpPr>
          <p:cNvPr id="24" name="Frontend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EDA100"/>
          </a:solidFill>
          <a:ln w="12700">
            <a:solidFill>
              <a:srgbClr val="EDA100"/>
            </a:solidFill>
            <a:prstDash val="solid"/>
          </a:ln>
        </p:spPr>
      </p:sp>
      <p:pic>
        <p:nvPicPr>
          <p:cNvPr id="26" name="Image 4" descr="icon">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Frontend</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React 19, Vite, Tailwind CSS 4, TanStack Query, Recharts, axios</a:t>
            </a:r>
            <a:endParaRPr lang="en-US" sz="1500" dirty="0"/>
          </a:p>
        </p:txBody>
      </p:sp>
      <p:sp>
        <p:nvSpPr>
          <p:cNvPr id="29" name="Storage / reports / tests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EB6834"/>
          </a:solidFill>
          <a:ln w="12700">
            <a:solidFill>
              <a:srgbClr val="EB6834"/>
            </a:solidFill>
            <a:prstDash val="solid"/>
          </a:ln>
        </p:spPr>
      </p:sp>
      <p:pic>
        <p:nvPicPr>
          <p:cNvPr id="31" name="Image 5" descr="icon">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Storage and tests</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SQLite, npz centroid cache, pytest (68 pass, 5 expected fail), Playwright captures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5248656"/>
                <a:gridCol w="2249424"/>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Upload, parsing, clause segmentation</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Classification into 20 CUAD types (79.2 % top-1)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8 Indian-law rules and 3 risky combinations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Gemini reasons, safer wording, summary</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Complexity score and A-F grade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Report, clause, graph, evaluation screens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Experiments, 73 tests, latency measurements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Claude / pgvector / Neo4j, Indian corpus, lawyer review</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done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trained networks tile"/>
          <p:cNvSpPr/>
          <p:nvPr/>
        </p:nvSpPr>
        <p:spPr>
          <a:xfrm>
            <a:off x="8321040" y="1371600"/>
            <a:ext cx="3319272" cy="1417320"/>
          </a:xfrm>
          <a:prstGeom prst="roundRect">
            <a:avLst>
              <a:gd name="adj" fmla="val 5161"/>
            </a:avLst>
          </a:prstGeom>
          <a:solidFill>
            <a:srgbClr val="F6F8FB"/>
          </a:solidFill>
          <a:ln w="9525">
            <a:solidFill>
              <a:srgbClr val="D5DCE6"/>
            </a:solidFill>
            <a:prstDash val="solid"/>
          </a:ln>
        </p:spPr>
      </p:sp>
      <p:sp>
        <p:nvSpPr>
          <p:cNvPr id="6" name="Text 2"/>
          <p:cNvSpPr txBox="1"/>
          <p:nvPr/>
        </p:nvSpPr>
        <p:spPr>
          <a:xfrm>
            <a:off x="8503920" y="1508760"/>
            <a:ext cx="2953512" cy="779526"/>
          </a:xfrm>
          <a:prstGeom prst="rect">
            <a:avLst/>
          </a:prstGeom>
          <a:noFill/>
          <a:ln/>
        </p:spPr>
        <p:txBody>
          <a:bodyPr wrap="square" lIns="0" tIns="0" rIns="0" bIns="0" rtlCol="0" anchor="b"/>
          <a:lstStyle/>
          <a:p>
            <a:pPr indent="0" marL="0">
              <a:buNone/>
            </a:pPr>
            <a:r>
              <a:rPr lang="en-US" sz="3600" b="1" dirty="0">
                <a:solidFill>
                  <a:srgbClr val="2A78D6"/>
                </a:solidFill>
                <a:latin typeface="Cambria" pitchFamily="34" charset="0"/>
                <a:ea typeface="Cambria" pitchFamily="34" charset="-122"/>
                <a:cs typeface="Cambria" pitchFamily="34" charset="-120"/>
              </a:rPr>
              <a:t>9</a:t>
            </a:r>
            <a:endParaRPr lang="en-US" sz="3600" dirty="0"/>
          </a:p>
        </p:txBody>
      </p:sp>
      <p:sp>
        <p:nvSpPr>
          <p:cNvPr id="7" name="Text 3"/>
          <p:cNvSpPr txBox="1"/>
          <p:nvPr/>
        </p:nvSpPr>
        <p:spPr>
          <a:xfrm>
            <a:off x="8503920" y="2250338"/>
            <a:ext cx="2953512" cy="467716"/>
          </a:xfrm>
          <a:prstGeom prst="rect">
            <a:avLst/>
          </a:prstGeom>
          <a:noFill/>
          <a:ln/>
        </p:spPr>
        <p:txBody>
          <a:bodyPr wrap="square" lIns="0" tIns="0" rIns="0" bIns="0" rtlCol="0" anchor="t"/>
          <a:lstStyle/>
          <a:p>
            <a:pPr indent="0" marL="0">
              <a:buNone/>
            </a:pPr>
            <a:r>
              <a:rPr lang="en-US" sz="1300" dirty="0">
                <a:solidFill>
                  <a:srgbClr val="475569"/>
                </a:solidFill>
              </a:rPr>
              <a:t>REST endpoints</a:t>
            </a:r>
            <a:endParaRPr lang="en-US" sz="1300" dirty="0"/>
          </a:p>
        </p:txBody>
      </p:sp>
      <p:sp>
        <p:nvSpPr>
          <p:cNvPr id="8" name="served model profiles tile"/>
          <p:cNvSpPr/>
          <p:nvPr/>
        </p:nvSpPr>
        <p:spPr>
          <a:xfrm>
            <a:off x="8321040" y="2971800"/>
            <a:ext cx="3319272" cy="1417320"/>
          </a:xfrm>
          <a:prstGeom prst="roundRect">
            <a:avLst>
              <a:gd name="adj" fmla="val 5161"/>
            </a:avLst>
          </a:prstGeom>
          <a:solidFill>
            <a:srgbClr val="F6F8FB"/>
          </a:solidFill>
          <a:ln w="9525">
            <a:solidFill>
              <a:srgbClr val="D5DCE6"/>
            </a:solidFill>
            <a:prstDash val="solid"/>
          </a:ln>
        </p:spPr>
      </p:sp>
      <p:sp>
        <p:nvSpPr>
          <p:cNvPr id="9" name="Text 5"/>
          <p:cNvSpPr txBox="1"/>
          <p:nvPr/>
        </p:nvSpPr>
        <p:spPr>
          <a:xfrm>
            <a:off x="8503920" y="3108960"/>
            <a:ext cx="2953512" cy="779526"/>
          </a:xfrm>
          <a:prstGeom prst="rect">
            <a:avLst/>
          </a:prstGeom>
          <a:noFill/>
          <a:ln/>
        </p:spPr>
        <p:txBody>
          <a:bodyPr wrap="square" lIns="0" tIns="0" rIns="0" bIns="0" rtlCol="0" anchor="b"/>
          <a:lstStyle/>
          <a:p>
            <a:pPr indent="0" marL="0">
              <a:buNone/>
            </a:pPr>
            <a:r>
              <a:rPr lang="en-US" sz="3600" b="1" dirty="0">
                <a:solidFill>
                  <a:srgbClr val="1BAF7A"/>
                </a:solidFill>
                <a:latin typeface="Cambria" pitchFamily="34" charset="0"/>
                <a:ea typeface="Cambria" pitchFamily="34" charset="-122"/>
                <a:cs typeface="Cambria" pitchFamily="34" charset="-120"/>
              </a:rPr>
              <a:t>4</a:t>
            </a:r>
            <a:endParaRPr lang="en-US" sz="3600" dirty="0"/>
          </a:p>
        </p:txBody>
      </p:sp>
      <p:sp>
        <p:nvSpPr>
          <p:cNvPr id="10" name="Text 6"/>
          <p:cNvSpPr txBox="1"/>
          <p:nvPr/>
        </p:nvSpPr>
        <p:spPr>
          <a:xfrm>
            <a:off x="8503920" y="3850538"/>
            <a:ext cx="2953512" cy="467716"/>
          </a:xfrm>
          <a:prstGeom prst="rect">
            <a:avLst/>
          </a:prstGeom>
          <a:noFill/>
          <a:ln/>
        </p:spPr>
        <p:txBody>
          <a:bodyPr wrap="square" lIns="0" tIns="0" rIns="0" bIns="0" rtlCol="0" anchor="t"/>
          <a:lstStyle/>
          <a:p>
            <a:pPr indent="0" marL="0">
              <a:buNone/>
            </a:pPr>
            <a:r>
              <a:rPr lang="en-US" sz="1300" dirty="0">
                <a:solidFill>
                  <a:srgbClr val="475569"/>
                </a:solidFill>
              </a:rPr>
              <a:t>database tables</a:t>
            </a:r>
            <a:endParaRPr lang="en-US" sz="1300" dirty="0"/>
          </a:p>
        </p:txBody>
      </p:sp>
      <p:sp>
        <p:nvSpPr>
          <p:cNvPr id="11" name="automated tests passing tile"/>
          <p:cNvSpPr/>
          <p:nvPr/>
        </p:nvSpPr>
        <p:spPr>
          <a:xfrm>
            <a:off x="8321040" y="4572000"/>
            <a:ext cx="3319272" cy="1417320"/>
          </a:xfrm>
          <a:prstGeom prst="roundRect">
            <a:avLst>
              <a:gd name="adj" fmla="val 5161"/>
            </a:avLst>
          </a:prstGeom>
          <a:solidFill>
            <a:srgbClr val="F6F8FB"/>
          </a:solidFill>
          <a:ln w="9525">
            <a:solidFill>
              <a:srgbClr val="D5DCE6"/>
            </a:solidFill>
            <a:prstDash val="solid"/>
          </a:ln>
        </p:spPr>
      </p:sp>
      <p:sp>
        <p:nvSpPr>
          <p:cNvPr id="12" name="Text 8"/>
          <p:cNvSpPr txBox="1"/>
          <p:nvPr/>
        </p:nvSpPr>
        <p:spPr>
          <a:xfrm>
            <a:off x="8503920" y="4709160"/>
            <a:ext cx="2953512" cy="779526"/>
          </a:xfrm>
          <a:prstGeom prst="rect">
            <a:avLst/>
          </a:prstGeom>
          <a:noFill/>
          <a:ln/>
        </p:spPr>
        <p:txBody>
          <a:bodyPr wrap="square" lIns="0" tIns="0" rIns="0" bIns="0" rtlCol="0" anchor="b"/>
          <a:lstStyle/>
          <a:p>
            <a:pPr indent="0" marL="0">
              <a:buNone/>
            </a:pPr>
            <a:r>
              <a:rPr lang="en-US" sz="3600" b="1" dirty="0">
                <a:solidFill>
                  <a:srgbClr val="EB6834"/>
                </a:solidFill>
                <a:latin typeface="Cambria" pitchFamily="34" charset="0"/>
                <a:ea typeface="Cambria" pitchFamily="34" charset="-122"/>
                <a:cs typeface="Cambria" pitchFamily="34" charset="-120"/>
              </a:rPr>
              <a:t>68</a:t>
            </a:r>
            <a:endParaRPr lang="en-US" sz="3600" dirty="0"/>
          </a:p>
        </p:txBody>
      </p:sp>
      <p:sp>
        <p:nvSpPr>
          <p:cNvPr id="13" name="Text 9"/>
          <p:cNvSpPr txBox="1"/>
          <p:nvPr/>
        </p:nvSpPr>
        <p:spPr>
          <a:xfrm>
            <a:off x="8503920" y="5450738"/>
            <a:ext cx="2953512" cy="467716"/>
          </a:xfrm>
          <a:prstGeom prst="rect">
            <a:avLst/>
          </a:prstGeom>
          <a:noFill/>
          <a:ln/>
        </p:spPr>
        <p:txBody>
          <a:bodyPr wrap="square" lIns="0" tIns="0" rIns="0" bIns="0" rtlCol="0" anchor="t"/>
          <a:lstStyle/>
          <a:p>
            <a:pPr indent="0" marL="0">
              <a:buNone/>
            </a:pPr>
            <a:r>
              <a:rPr lang="en-US" sz="1300" dirty="0">
                <a:solidFill>
                  <a:srgbClr val="475569"/>
                </a:solidFill>
              </a:rPr>
              <a:t>tests pass; 5 expected failures</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classification and rules</a:t>
            </a:r>
            <a:endParaRPr lang="en-US" sz="3200" dirty="0"/>
          </a:p>
        </p:txBody>
      </p:sp>
      <p:graphicFrame>
        <p:nvGraphicFramePr>
          <p:cNvPr id="4" name="Chart 0" descr=""/>
          <p:cNvGraphicFramePr/>
          <p:nvPr/>
        </p:nvGraphicFramePr>
        <p:xfrm>
          <a:off x="548640" y="1234440"/>
          <a:ext cx="7589520" cy="4754880"/>
        </p:xfrm>
        <a:graphic xmlns:a="http://schemas.openxmlformats.org/drawingml/2006/main">
          <a:graphicData uri="http://schemas.openxmlformats.org/drawingml/2006/chart">
            <c:chart xmlns:c="http://schemas.openxmlformats.org/drawingml/2006/chart" r:id="rId1"/>
          </a:graphicData>
        </a:graphic>
      </p:graphicFrame>
      <p:sp>
        <p:nvSpPr>
          <p:cNvPr id="5" name="fusion F1 (text only 0.644) tile"/>
          <p:cNvSpPr/>
          <p:nvPr/>
        </p:nvSpPr>
        <p:spPr>
          <a:xfrm>
            <a:off x="8412480" y="1371600"/>
            <a:ext cx="3227832" cy="1417320"/>
          </a:xfrm>
          <a:prstGeom prst="roundRect">
            <a:avLst>
              <a:gd name="adj" fmla="val 5161"/>
            </a:avLst>
          </a:prstGeom>
          <a:solidFill>
            <a:srgbClr val="F6F8FB"/>
          </a:solidFill>
          <a:ln w="9525">
            <a:solidFill>
              <a:srgbClr val="D5DCE6"/>
            </a:solidFill>
            <a:prstDash val="solid"/>
          </a:ln>
        </p:spPr>
      </p:sp>
      <p:sp>
        <p:nvSpPr>
          <p:cNvPr id="6" name="Text 2"/>
          <p:cNvSpPr txBox="1"/>
          <p:nvPr/>
        </p:nvSpPr>
        <p:spPr>
          <a:xfrm>
            <a:off x="8595360" y="1508760"/>
            <a:ext cx="2862072" cy="779526"/>
          </a:xfrm>
          <a:prstGeom prst="rect">
            <a:avLst/>
          </a:prstGeom>
          <a:noFill/>
          <a:ln/>
        </p:spPr>
        <p:txBody>
          <a:bodyPr wrap="square" lIns="0" tIns="0" rIns="0" bIns="0" rtlCol="0" anchor="b"/>
          <a:lstStyle/>
          <a:p>
            <a:pPr indent="0" marL="0">
              <a:buNone/>
            </a:pPr>
            <a:r>
              <a:rPr lang="en-US" sz="3600" b="1" dirty="0">
                <a:solidFill>
                  <a:srgbClr val="1BAF7A"/>
                </a:solidFill>
                <a:latin typeface="Cambria" pitchFamily="34" charset="0"/>
                <a:ea typeface="Cambria" pitchFamily="34" charset="-122"/>
                <a:cs typeface="Cambria" pitchFamily="34" charset="-120"/>
              </a:rPr>
              <a:t>79.2 %</a:t>
            </a:r>
            <a:endParaRPr lang="en-US" sz="3600" dirty="0"/>
          </a:p>
        </p:txBody>
      </p:sp>
      <p:sp>
        <p:nvSpPr>
          <p:cNvPr id="7" name="Text 3"/>
          <p:cNvSpPr txBox="1"/>
          <p:nvPr/>
        </p:nvSpPr>
        <p:spPr>
          <a:xfrm>
            <a:off x="8595360" y="2250338"/>
            <a:ext cx="2862072" cy="467716"/>
          </a:xfrm>
          <a:prstGeom prst="rect">
            <a:avLst/>
          </a:prstGeom>
          <a:noFill/>
          <a:ln/>
        </p:spPr>
        <p:txBody>
          <a:bodyPr wrap="square" lIns="0" tIns="0" rIns="0" bIns="0" rtlCol="0" anchor="t"/>
          <a:lstStyle/>
          <a:p>
            <a:pPr indent="0" marL="0">
              <a:buNone/>
            </a:pPr>
            <a:r>
              <a:rPr lang="en-US" sz="1300" dirty="0">
                <a:solidFill>
                  <a:srgbClr val="475569"/>
                </a:solidFill>
              </a:rPr>
              <a:t>CUAD top-1 (top-3 97.9 %), 240 spans</a:t>
            </a:r>
            <a:endParaRPr lang="en-US" sz="1300" dirty="0"/>
          </a:p>
        </p:txBody>
      </p:sp>
      <p:sp>
        <p:nvSpPr>
          <p:cNvPr id="8" name="fusion ROC-AUC (text 0.771) tile"/>
          <p:cNvSpPr/>
          <p:nvPr/>
        </p:nvSpPr>
        <p:spPr>
          <a:xfrm>
            <a:off x="8412480" y="2971800"/>
            <a:ext cx="3227832" cy="1417320"/>
          </a:xfrm>
          <a:prstGeom prst="roundRect">
            <a:avLst>
              <a:gd name="adj" fmla="val 5161"/>
            </a:avLst>
          </a:prstGeom>
          <a:solidFill>
            <a:srgbClr val="F6F8FB"/>
          </a:solidFill>
          <a:ln w="9525">
            <a:solidFill>
              <a:srgbClr val="D5DCE6"/>
            </a:solidFill>
            <a:prstDash val="solid"/>
          </a:ln>
        </p:spPr>
      </p:sp>
      <p:sp>
        <p:nvSpPr>
          <p:cNvPr id="9" name="Text 5"/>
          <p:cNvSpPr txBox="1"/>
          <p:nvPr/>
        </p:nvSpPr>
        <p:spPr>
          <a:xfrm>
            <a:off x="8595360" y="3108960"/>
            <a:ext cx="2862072" cy="779526"/>
          </a:xfrm>
          <a:prstGeom prst="rect">
            <a:avLst/>
          </a:prstGeom>
          <a:noFill/>
          <a:ln/>
        </p:spPr>
        <p:txBody>
          <a:bodyPr wrap="square" lIns="0" tIns="0" rIns="0" bIns="0" rtlCol="0" anchor="b"/>
          <a:lstStyle/>
          <a:p>
            <a:pPr indent="0" marL="0">
              <a:buNone/>
            </a:pPr>
            <a:r>
              <a:rPr lang="en-US" sz="3600" b="1" dirty="0">
                <a:solidFill>
                  <a:srgbClr val="2A78D6"/>
                </a:solidFill>
                <a:latin typeface="Cambria" pitchFamily="34" charset="0"/>
                <a:ea typeface="Cambria" pitchFamily="34" charset="-122"/>
                <a:cs typeface="Cambria" pitchFamily="34" charset="-120"/>
              </a:rPr>
              <a:t>1.00 / 0.94</a:t>
            </a:r>
            <a:endParaRPr lang="en-US" sz="3600" dirty="0"/>
          </a:p>
        </p:txBody>
      </p:sp>
      <p:sp>
        <p:nvSpPr>
          <p:cNvPr id="10" name="Text 6"/>
          <p:cNvSpPr txBox="1"/>
          <p:nvPr/>
        </p:nvSpPr>
        <p:spPr>
          <a:xfrm>
            <a:off x="8595360" y="3850538"/>
            <a:ext cx="2862072" cy="467716"/>
          </a:xfrm>
          <a:prstGeom prst="rect">
            <a:avLst/>
          </a:prstGeom>
          <a:noFill/>
          <a:ln/>
        </p:spPr>
        <p:txBody>
          <a:bodyPr wrap="square" lIns="0" tIns="0" rIns="0" bIns="0" rtlCol="0" anchor="t"/>
          <a:lstStyle/>
          <a:p>
            <a:pPr indent="0" marL="0">
              <a:buNone/>
            </a:pPr>
            <a:r>
              <a:rPr lang="en-US" sz="1300" dirty="0">
                <a:solidFill>
                  <a:srgbClr val="475569"/>
                </a:solidFill>
              </a:rPr>
              <a:t>rule precision / recall, shipped 40 clauses</a:t>
            </a:r>
            <a:endParaRPr lang="en-US" sz="1300" dirty="0"/>
          </a:p>
        </p:txBody>
      </p:sp>
      <p:sp>
        <p:nvSpPr>
          <p:cNvPr id="11" name="fusion accuracy tile"/>
          <p:cNvSpPr/>
          <p:nvPr/>
        </p:nvSpPr>
        <p:spPr>
          <a:xfrm>
            <a:off x="8412480" y="4572000"/>
            <a:ext cx="3227832" cy="1417320"/>
          </a:xfrm>
          <a:prstGeom prst="roundRect">
            <a:avLst>
              <a:gd name="adj" fmla="val 5161"/>
            </a:avLst>
          </a:prstGeom>
          <a:solidFill>
            <a:srgbClr val="F6F8FB"/>
          </a:solidFill>
          <a:ln w="9525">
            <a:solidFill>
              <a:srgbClr val="D5DCE6"/>
            </a:solidFill>
            <a:prstDash val="solid"/>
          </a:ln>
        </p:spPr>
      </p:sp>
      <p:sp>
        <p:nvSpPr>
          <p:cNvPr id="12" name="Text 8"/>
          <p:cNvSpPr txBox="1"/>
          <p:nvPr/>
        </p:nvSpPr>
        <p:spPr>
          <a:xfrm>
            <a:off x="8595360" y="4709160"/>
            <a:ext cx="2862072" cy="779526"/>
          </a:xfrm>
          <a:prstGeom prst="rect">
            <a:avLst/>
          </a:prstGeom>
          <a:noFill/>
          <a:ln/>
        </p:spPr>
        <p:txBody>
          <a:bodyPr wrap="square" lIns="0" tIns="0" rIns="0" bIns="0" rtlCol="0" anchor="b"/>
          <a:lstStyle/>
          <a:p>
            <a:pPr indent="0" marL="0">
              <a:buNone/>
            </a:pPr>
            <a:r>
              <a:rPr lang="en-US" sz="3600" b="1" dirty="0">
                <a:solidFill>
                  <a:srgbClr val="EB6834"/>
                </a:solidFill>
                <a:latin typeface="Cambria" pitchFamily="34" charset="0"/>
                <a:ea typeface="Cambria" pitchFamily="34" charset="-122"/>
                <a:cs typeface="Cambria" pitchFamily="34" charset="-120"/>
              </a:rPr>
              <a:t>0.79 / 0.46</a:t>
            </a:r>
            <a:endParaRPr lang="en-US" sz="3600" dirty="0"/>
          </a:p>
        </p:txBody>
      </p:sp>
      <p:sp>
        <p:nvSpPr>
          <p:cNvPr id="13" name="Text 9"/>
          <p:cNvSpPr txBox="1"/>
          <p:nvPr/>
        </p:nvSpPr>
        <p:spPr>
          <a:xfrm>
            <a:off x="8595360" y="5450738"/>
            <a:ext cx="2862072" cy="467716"/>
          </a:xfrm>
          <a:prstGeom prst="rect">
            <a:avLst/>
          </a:prstGeom>
          <a:noFill/>
          <a:ln/>
        </p:spPr>
        <p:txBody>
          <a:bodyPr wrap="square" lIns="0" tIns="0" rIns="0" bIns="0" rtlCol="0" anchor="t"/>
          <a:lstStyle/>
          <a:p>
            <a:pPr indent="0" marL="0">
              <a:buNone/>
            </a:pPr>
            <a:r>
              <a:rPr lang="en-US" sz="1300" dirty="0">
                <a:solidFill>
                  <a:srgbClr val="475569"/>
                </a:solidFill>
              </a:rPr>
              <a:t>rule precision / recall, independent probe</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5" name="picture frame"/>
          <p:cNvSpPr/>
          <p:nvPr/>
        </p:nvSpPr>
        <p:spPr>
          <a:xfrm>
            <a:off x="428625" y="1729978"/>
            <a:ext cx="5619750" cy="3512343"/>
          </a:xfrm>
          <a:prstGeom prst="rect">
            <a:avLst/>
          </a:prstGeom>
          <a:ln w="9525">
            <a:solidFill>
              <a:srgbClr val="D5DCE6"/>
            </a:solidFill>
            <a:prstDash val="solid"/>
          </a:ln>
        </p:spPr>
      </p:sp>
      <p:sp>
        <p:nvSpPr>
          <p:cNvPr id="6" name="Text 2"/>
          <p:cNvSpPr txBox="1"/>
          <p:nvPr/>
        </p:nvSpPr>
        <p:spPr>
          <a:xfrm>
            <a:off x="548640" y="5356621"/>
            <a:ext cx="5486400" cy="274320"/>
          </a:xfrm>
          <a:prstGeom prst="rect">
            <a:avLst/>
          </a:prstGeom>
          <a:noFill/>
          <a:ln/>
        </p:spPr>
        <p:txBody>
          <a:bodyPr wrap="square" lIns="0" tIns="0" rIns="0" bIns="0" rtlCol="0" anchor="ctr"/>
          <a:lstStyle/>
          <a:p>
            <a:pPr algn="ctr" indent="0" marL="0">
              <a:buNone/>
            </a:pPr>
            <a:r>
              <a:rPr lang="en-US" sz="1100" i="1" dirty="0">
                <a:solidFill>
                  <a:srgbClr val="64748B"/>
                </a:solidFill>
              </a:rPr>
              <a:t>Report of the one-sided freelance contract: grade B (23.3), 8 flagged clauses, 3 combinations</a:t>
            </a:r>
            <a:endParaRPr lang="en-US" sz="1100" dirty="0"/>
          </a:p>
        </p:txBody>
      </p:sp>
      <p:sp>
        <p:nvSpPr>
          <p:cNvPr id="8" name="picture frame"/>
          <p:cNvSpPr/>
          <p:nvPr/>
        </p:nvSpPr>
        <p:spPr>
          <a:xfrm>
            <a:off x="6143625" y="1729978"/>
            <a:ext cx="5619750" cy="3512343"/>
          </a:xfrm>
          <a:prstGeom prst="rect">
            <a:avLst/>
          </a:prstGeom>
          <a:ln w="9525">
            <a:solidFill>
              <a:srgbClr val="D5DCE6"/>
            </a:solidFill>
            <a:prstDash val="solid"/>
          </a:ln>
        </p:spPr>
      </p:sp>
      <p:sp>
        <p:nvSpPr>
          <p:cNvPr id="9" name="Text 4"/>
          <p:cNvSpPr txBox="1"/>
          <p:nvPr/>
        </p:nvSpPr>
        <p:spPr>
          <a:xfrm>
            <a:off x="6172200" y="5356621"/>
            <a:ext cx="5486400" cy="274320"/>
          </a:xfrm>
          <a:prstGeom prst="rect">
            <a:avLst/>
          </a:prstGeom>
          <a:noFill/>
          <a:ln/>
        </p:spPr>
        <p:txBody>
          <a:bodyPr wrap="square" lIns="0" tIns="0" rIns="0" bIns="0" rtlCol="0" anchor="ctr"/>
          <a:lstStyle/>
          <a:p>
            <a:pPr algn="ctr" indent="0" marL="0">
              <a:buNone/>
            </a:pPr>
            <a:r>
              <a:rPr lang="en-US" sz="1100" i="1" dirty="0">
                <a:solidFill>
                  <a:srgbClr val="64748B"/>
                </a:solidFill>
              </a:rPr>
              <a:t>Clause 2: Unilateral Termination, reason, quoted provision, safer wording</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Contract report screenshot" descr="Contract report screenshot"/>
          <p:cNvPicPr>
            <a:picLocks noChangeAspect="1"/>
          </p:cNvPicPr>
          <p:nvPr/>
        </p:nvPicPr>
        <p:blipFill>
          <a:blip r:embed="rId5"/>
          <a:stretch>
            <a:fillRect/>
          </a:stretch>
        </p:blipFill>
        <p:spPr>
          <a:xfrm>
            <a:off x="428625" y="1729978"/>
            <a:ext cx="5619750" cy="3512343"/>
          </a:xfrm>
          <a:prstGeom prst="rect">
            <a:avLst/>
          </a:prstGeom>
        </p:spPr>
      </p:pic>
      <p:pic>
        <p:nvPicPr>
          <p:cNvPr id="27" name="Clause detail screenshot" descr="Clause detail screenshot"/>
          <p:cNvPicPr>
            <a:picLocks noChangeAspect="1"/>
          </p:cNvPicPr>
          <p:nvPr/>
        </p:nvPicPr>
        <p:blipFill>
          <a:blip r:embed="rId6"/>
          <a:stretch>
            <a:fillRect/>
          </a:stretch>
        </p:blipFill>
        <p:spPr>
          <a:xfrm>
            <a:off x="6143625" y="1729978"/>
            <a:ext cx="5619750" cy="35123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Testing and observations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120639" cy="914400"/>
        </p:xfrm>
        <a:graphic>
          <a:graphicData uri="http://schemas.openxmlformats.org/drawingml/2006/table">
            <a:tbl>
              <a:tblPr/>
              <a:tblGrid>
                <a:gridCol w="2560320"/>
                <a:gridCol w="614476"/>
                <a:gridCol w="1945843"/>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group</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Rules, combinations, graph</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22 passed, 4 expected fail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Complexity, parsing, vector store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21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Classification (Gemini stubbed)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API: auth, upload, ownership, errors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19 passed, 1 expected fail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68 passed, 5 expected fail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035040" y="1417320"/>
            <a:ext cx="5605272" cy="4389120"/>
          </a:xfrm>
          <a:prstGeom prst="rect">
            <a:avLst/>
          </a:prstGeom>
          <a:noFill/>
          <a:ln/>
        </p:spPr>
        <p:txBody>
          <a:bodyPr wrap="square" lIns="0" tIns="0" rIns="0" bIns="0" rtlCol="0" anchor="t"/>
          <a:lstStyle/>
          <a:p>
            <a:pPr marL="228600" indent="-228600">
              <a:spcAft>
                <a:spcPts val="1200"/>
              </a:spcAft>
              <a:buSzPct val="100000"/>
              <a:buChar char="•"/>
            </a:pPr>
            <a:r>
              <a:rPr lang="en-US" sz="1400" dirty="0">
                <a:solidFill>
                  <a:srgbClr val="0F172A"/>
                </a:solidFill>
              </a:rPr>
              <a:t>68 tests pass in about 10 s; the 5 expected failures record known limits (paraphrases the rules miss, a fair clause that is flagged, malformed Gemini JSON answered 400).</a:t>
            </a:r>
            <a:endParaRPr lang="en-US" sz="1400" dirty="0"/>
          </a:p>
          <a:p>
            <a:pPr marL="228600" indent="-228600">
              <a:spcAft>
                <a:spcPts val="1200"/>
              </a:spcAft>
              <a:buSzPct val="100000"/>
              <a:buChar char="•"/>
            </a:pPr>
            <a:r>
              <a:rPr lang="en-US" sz="1400" dirty="0">
                <a:solidFill>
                  <a:srgbClr val="0F172A"/>
                </a:solidFill>
              </a:rPr>
              <a:t>Independent probe set: rule precision 0.79, recall 0.46, against 1.00 / 0.94 on the set written with the rules.</a:t>
            </a:r>
            <a:endParaRPr lang="en-US" sz="1400" dirty="0"/>
          </a:p>
          <a:p>
            <a:pPr marL="228600" indent="-228600">
              <a:spcAft>
                <a:spcPts val="1200"/>
              </a:spcAft>
              <a:buSzPct val="100000"/>
              <a:buChar char="•"/>
            </a:pPr>
            <a:r>
              <a:rPr lang="en-US" sz="1400" dirty="0">
                <a:solidFill>
                  <a:srgbClr val="0F172A"/>
                </a:solidFill>
              </a:rPr>
              <a:t>The same contract as DOCX fires 8 of 8 rules, as PDF 6 of 8: line breaks defeat the patterns.</a:t>
            </a:r>
            <a:endParaRPr lang="en-US" sz="1400" dirty="0"/>
          </a:p>
          <a:p>
            <a:pPr marL="228600" indent="-228600">
              <a:spcAft>
                <a:spcPts val="1200"/>
              </a:spcAft>
              <a:buSzPct val="100000"/>
              <a:buChar char="•"/>
            </a:pPr>
            <a:r>
              <a:rPr lang="en-US" sz="1400" dirty="0">
                <a:solidFill>
                  <a:srgbClr val="0F172A"/>
                </a:solidFill>
              </a:rPr>
              <a:t>API medians: report 9.3 ms, clause 5.0 ms, login 254.7 ms; upload to report 15.5 s (0 flags) to 113.6 s (8 flags).</a:t>
            </a:r>
            <a:endParaRPr lang="en-US" sz="1400" dirty="0"/>
          </a:p>
          <a:p>
            <a:pPr marL="228600" indent="-228600">
              <a:spcAft>
                <a:spcPts val="1200"/>
              </a:spcAft>
              <a:buSzPct val="100000"/>
              <a:buChar char="•"/>
            </a:pPr>
            <a:r>
              <a:rPr lang="en-US" sz="1400" dirty="0">
                <a:solidFill>
                  <a:srgbClr val="0F172A"/>
                </a:solidFill>
              </a:rPr>
              <a:t>Not done: UI automation, load and security tests, lawyer review.</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pic>
        <p:nvPicPr>
          <p:cNvPr id="26" name="Rules on two test sets" descr="Rules on two test sets"/>
          <p:cNvPicPr>
            <a:picLocks noChangeAspect="1"/>
          </p:cNvPicPr>
          <p:nvPr/>
        </p:nvPicPr>
        <p:blipFill>
          <a:blip r:embed="rId3"/>
          <a:stretch>
            <a:fillRect/>
          </a:stretch>
        </p:blipFill>
        <p:spPr>
          <a:xfrm>
            <a:off x="646353" y="4572000"/>
            <a:ext cx="2650643" cy="1809750"/>
          </a:xfrm>
          <a:prstGeom prst="rect">
            <a:avLst/>
          </a:prstGeom>
        </p:spPr>
      </p:pic>
      <p:pic>
        <p:nvPicPr>
          <p:cNvPr id="27" name="DOCX versus PDF parity" descr="DOCX versus PDF parity"/>
          <p:cNvPicPr>
            <a:picLocks noChangeAspect="1"/>
          </p:cNvPicPr>
          <p:nvPr/>
        </p:nvPicPr>
        <p:blipFill>
          <a:blip r:embed="rId4"/>
          <a:stretch>
            <a:fillRect/>
          </a:stretch>
        </p:blipFill>
        <p:spPr>
          <a:xfrm>
            <a:off x="3744614" y="4572000"/>
            <a:ext cx="2416770" cy="1809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4" name="Small multimodal dataset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con">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Abstract versus build</a:t>
            </a:r>
            <a:endParaRPr lang="en-US" sz="15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Claude, pgvector and Neo4j became Gemini, SQLite with NumPy and in-memory NetworkX; no legal-corpus retrieval.</a:t>
            </a:r>
            <a:endParaRPr lang="en-US" sz="1400" dirty="0"/>
          </a:p>
        </p:txBody>
      </p:sp>
      <p:sp>
        <p:nvSpPr>
          <p:cNvPr id="9" name="Hyperparameters unreadable in the paper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EDA100"/>
          </a:solidFill>
          <a:ln w="12700">
            <a:solidFill>
              <a:srgbClr val="EDA100"/>
            </a:solidFill>
            <a:prstDash val="solid"/>
          </a:ln>
        </p:spPr>
      </p:sp>
      <p:pic>
        <p:nvPicPr>
          <p:cNvPr id="11" name="Image 1" descr="icon">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Rules miss paraphrases</a:t>
            </a:r>
            <a:endParaRPr lang="en-US" sz="15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Independent recall 0.46 and precision 0.79, against 1.00 / 0.94 on our own set.</a:t>
            </a:r>
            <a:endParaRPr lang="en-US" sz="1400" dirty="0"/>
          </a:p>
        </p:txBody>
      </p:sp>
      <p:sp>
        <p:nvSpPr>
          <p:cNvPr id="14" name="Format shortcut in GenImage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sp>
      <p:pic>
        <p:nvPicPr>
          <p:cNvPr id="16" name="Image 2" descr="ic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Thresholds never fire</a:t>
            </a:r>
            <a:endParaRPr lang="en-US" sz="15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Similarities run 0.657-0.849, so tie-break (&lt; 0.60) and 'Unclassified' (&lt; 0.35) never act.</a:t>
            </a:r>
            <a:endParaRPr lang="en-US" sz="1400" dirty="0"/>
          </a:p>
        </p:txBody>
      </p:sp>
      <p:sp>
        <p:nvSpPr>
          <p:cNvPr id="19" name="Unsafe links (SSRF risk)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1B2A41"/>
          </a:solidFill>
          <a:ln w="12700">
            <a:solidFill>
              <a:srgbClr val="1B2A41"/>
            </a:solidFill>
            <a:prstDash val="solid"/>
          </a:ln>
        </p:spPr>
      </p:sp>
      <p:pic>
        <p:nvPicPr>
          <p:cNvPr id="21" name="Image 3" descr="icon">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PDF line breaks</a:t>
            </a:r>
            <a:endParaRPr lang="en-US" sz="15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8 of 8 rules on DOCX, 6 of 8 on the same PDF; text before the first heading is dropped.</a:t>
            </a:r>
            <a:endParaRPr lang="en-US" sz="1400" dirty="0"/>
          </a:p>
        </p:txBody>
      </p:sp>
      <p:sp>
        <p:nvSpPr>
          <p:cNvPr id="24" name="Webcam privacy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sp>
      <p:pic>
        <p:nvPicPr>
          <p:cNvPr id="26" name="Image 4" descr="icon">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Gemini quota and speed</a:t>
            </a:r>
            <a:endParaRPr lang="en-US" sz="15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Default model allows 20 requests a day; 113.6 s for 8 flags; the UI times out at 180 s.</a:t>
            </a:r>
            <a:endParaRPr lang="en-US" sz="1400" dirty="0"/>
          </a:p>
        </p:txBody>
      </p:sp>
      <p:sp>
        <p:nvSpPr>
          <p:cNvPr id="29" name="TensorFlow start-up time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2A78D6"/>
          </a:solidFill>
          <a:ln w="12700">
            <a:solidFill>
              <a:srgbClr val="2A78D6"/>
            </a:solidFill>
            <a:prstDash val="solid"/>
          </a:ln>
        </p:spPr>
      </p:sp>
      <p:pic>
        <p:nvPicPr>
          <p:cNvPr id="31" name="Image 5" descr="icon">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No Indian contracts</a:t>
            </a:r>
            <a:endParaRPr lang="en-US" sz="15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CUAD holds US filings; Indian-law rules are tested on our clauses only; no lawyer review.</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4" name="flow step 1"/>
          <p:cNvSpPr/>
          <p:nvPr/>
        </p:nvSpPr>
        <p:spPr>
          <a:xfrm>
            <a:off x="548640" y="1645920"/>
            <a:ext cx="2533574" cy="1371600"/>
          </a:xfrm>
          <a:prstGeom prst="roundRect">
            <a:avLst>
              <a:gd name="adj" fmla="val 5333"/>
            </a:avLst>
          </a:prstGeom>
          <a:solidFill>
            <a:srgbClr val="2A78D6"/>
          </a:solidFill>
          <a:ln w="12700">
            <a:solidFill>
              <a:srgbClr val="2A78D6"/>
            </a:solidFill>
            <a:prstDash val="solid"/>
          </a:ln>
        </p:spPr>
      </p:sp>
      <p:sp>
        <p:nvSpPr>
          <p:cNvPr id="5" name="Text 2"/>
          <p:cNvSpPr txBox="1"/>
          <p:nvPr/>
        </p:nvSpPr>
        <p:spPr>
          <a:xfrm>
            <a:off x="621792"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Fix rules and parsing</a:t>
            </a:r>
            <a:endParaRPr lang="en-US" sz="1600" dirty="0"/>
          </a:p>
        </p:txBody>
      </p:sp>
      <p:sp>
        <p:nvSpPr>
          <p:cNvPr id="6" name="arrow"/>
          <p:cNvSpPr/>
          <p:nvPr/>
        </p:nvSpPr>
        <p:spPr>
          <a:xfrm>
            <a:off x="3127934" y="2212848"/>
            <a:ext cx="228600" cy="237744"/>
          </a:xfrm>
          <a:prstGeom prst="rightArrow">
            <a:avLst/>
          </a:prstGeom>
          <a:solidFill>
            <a:srgbClr val="64748B"/>
          </a:solidFill>
          <a:ln w="12700">
            <a:solidFill>
              <a:srgbClr val="64748B"/>
            </a:solidFill>
            <a:prstDash val="solid"/>
          </a:ln>
        </p:spPr>
      </p:sp>
      <p:sp>
        <p:nvSpPr>
          <p:cNvPr id="7" name="flow step 2"/>
          <p:cNvSpPr/>
          <p:nvPr/>
        </p:nvSpPr>
        <p:spPr>
          <a:xfrm>
            <a:off x="3402254" y="1645920"/>
            <a:ext cx="2533574" cy="1371600"/>
          </a:xfrm>
          <a:prstGeom prst="roundRect">
            <a:avLst>
              <a:gd name="adj" fmla="val 5333"/>
            </a:avLst>
          </a:prstGeom>
          <a:solidFill>
            <a:srgbClr val="6250D6"/>
          </a:solidFill>
          <a:ln w="12700">
            <a:solidFill>
              <a:srgbClr val="6250D6"/>
            </a:solidFill>
            <a:prstDash val="solid"/>
          </a:ln>
        </p:spPr>
      </p:sp>
      <p:sp>
        <p:nvSpPr>
          <p:cNvPr id="8" name="Text 5"/>
          <p:cNvSpPr txBox="1"/>
          <p:nvPr/>
        </p:nvSpPr>
        <p:spPr>
          <a:xfrm>
            <a:off x="3475406"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Recalibrate classifier</a:t>
            </a:r>
            <a:endParaRPr lang="en-US" sz="1600" dirty="0"/>
          </a:p>
        </p:txBody>
      </p:sp>
      <p:sp>
        <p:nvSpPr>
          <p:cNvPr id="9" name="arrow"/>
          <p:cNvSpPr/>
          <p:nvPr/>
        </p:nvSpPr>
        <p:spPr>
          <a:xfrm>
            <a:off x="5981548" y="221284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6255868" y="1645920"/>
            <a:ext cx="2533574" cy="1371600"/>
          </a:xfrm>
          <a:prstGeom prst="roundRect">
            <a:avLst>
              <a:gd name="adj" fmla="val 5333"/>
            </a:avLst>
          </a:prstGeom>
          <a:solidFill>
            <a:srgbClr val="1BAF7A"/>
          </a:solidFill>
          <a:ln w="12700">
            <a:solidFill>
              <a:srgbClr val="1BAF7A"/>
            </a:solidFill>
            <a:prstDash val="solid"/>
          </a:ln>
        </p:spPr>
      </p:sp>
      <p:sp>
        <p:nvSpPr>
          <p:cNvPr id="11" name="Text 8"/>
          <p:cNvSpPr txBox="1"/>
          <p:nvPr/>
        </p:nvSpPr>
        <p:spPr>
          <a:xfrm>
            <a:off x="6329020"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Indian data and review</a:t>
            </a:r>
            <a:endParaRPr lang="en-US" sz="1600" dirty="0"/>
          </a:p>
        </p:txBody>
      </p:sp>
      <p:sp>
        <p:nvSpPr>
          <p:cNvPr id="12" name="arrow"/>
          <p:cNvSpPr/>
          <p:nvPr/>
        </p:nvSpPr>
        <p:spPr>
          <a:xfrm>
            <a:off x="8835161" y="221284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9109481" y="1645920"/>
            <a:ext cx="2533574" cy="1371600"/>
          </a:xfrm>
          <a:prstGeom prst="roundRect">
            <a:avLst>
              <a:gd name="adj" fmla="val 5333"/>
            </a:avLst>
          </a:prstGeom>
          <a:solidFill>
            <a:srgbClr val="EB6834"/>
          </a:solidFill>
          <a:ln w="12700">
            <a:solidFill>
              <a:srgbClr val="EB6834"/>
            </a:solidFill>
            <a:prstDash val="solid"/>
          </a:ln>
        </p:spPr>
      </p:sp>
      <p:sp>
        <p:nvSpPr>
          <p:cNvPr id="14" name="Text 11"/>
          <p:cNvSpPr txBox="1"/>
          <p:nvPr/>
        </p:nvSpPr>
        <p:spPr>
          <a:xfrm>
            <a:off x="9182633"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Final report and demo</a:t>
            </a:r>
            <a:endParaRPr lang="en-US" sz="1600" dirty="0"/>
          </a:p>
        </p:txBody>
      </p:sp>
      <p:sp>
        <p:nvSpPr>
          <p:cNvPr id="15" name="Text 12"/>
          <p:cNvSpPr txBox="1"/>
          <p:nvPr/>
        </p:nvSpPr>
        <p:spPr>
          <a:xfrm>
            <a:off x="548640" y="3566160"/>
            <a:ext cx="11094415" cy="228600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0F172A"/>
                </a:solidFill>
              </a:rPr>
              <a:t>Normalise whitespace before matching, keep text before the first heading, widen the rules, and test them on clauses written by someone other than the rule author.</a:t>
            </a:r>
            <a:endParaRPr lang="en-US" sz="1600" dirty="0"/>
          </a:p>
          <a:p>
            <a:pPr marL="228600" indent="-228600">
              <a:spcAft>
                <a:spcPts val="1200"/>
              </a:spcAft>
              <a:buSzPct val="100000"/>
              <a:buChar char="•"/>
            </a:pPr>
            <a:r>
              <a:rPr lang="en-US" sz="1600" dirty="0">
                <a:solidFill>
                  <a:srgbClr val="0F172A"/>
                </a:solidFill>
              </a:rPr>
              <a:t>Set the tie-break and 'Unclassified' thresholds for the embedding model's similarity range; split train and test by contract.</a:t>
            </a:r>
            <a:endParaRPr lang="en-US" sz="1600" dirty="0"/>
          </a:p>
          <a:p>
            <a:pPr marL="228600" indent="-228600">
              <a:spcAft>
                <a:spcPts val="1200"/>
              </a:spcAft>
              <a:buSzPct val="100000"/>
              <a:buChar char="•"/>
            </a:pPr>
            <a:r>
              <a:rPr lang="en-US" sz="1600" dirty="0">
                <a:solidFill>
                  <a:srgbClr val="0F172A"/>
                </a:solidFill>
              </a:rPr>
              <a:t>Collect Indian contracts with lawyer-reviewed labels; show the honest scores on the Evaluation screen.</a:t>
            </a:r>
            <a:endParaRPr lang="en-US" sz="1600" dirty="0"/>
          </a:p>
          <a:p>
            <a:pPr marL="228600" indent="-228600">
              <a:spcAft>
                <a:spcPts val="1200"/>
              </a:spcAft>
              <a:buSzPct val="100000"/>
              <a:buChar char="•"/>
            </a:pPr>
            <a:r>
              <a:rPr lang="en-US" sz="1600" dirty="0">
                <a:solidFill>
                  <a:srgbClr val="0F172A"/>
                </a:solidFill>
              </a:rPr>
              <a:t>Run user testing with signatories (not yet done); complete the report and final demo.</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lauseGuard">
  <a:themeElements>
    <a:clrScheme name="ClauseGuard">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lause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ClauseGuard: Review 2</dc:title>
  <dc:subject>ClauseGuard: Legal Contract Complexity and Predatory Clause Detector</dc:subject>
  <dc:creator>Batch A6</dc:creator>
  <cp:lastModifiedBy>Batch A6</cp:lastModifiedBy>
  <cp:revision>1</cp:revision>
  <dcterms:created xsi:type="dcterms:W3CDTF">2026-10-13T12:40:05Z</dcterms:created>
  <dcterms:modified xsi:type="dcterms:W3CDTF">2026-10-13T12:40:05Z</dcterms:modified>
  <cp:keywords>contract analysis, predatory clauses, CUAD, Gemini embeddings, Indian contract law</cp:keywords>
  <cp:category/>
  <dc:description/>
  <cp:contentStatus/>
</cp:coreProperties>
</file>