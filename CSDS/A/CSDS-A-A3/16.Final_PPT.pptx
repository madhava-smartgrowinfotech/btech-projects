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review of PhishGuard: a dynamic phishing URL detection system with machine learning and crowdsourced threat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Abstract: problem, approach, system and the headline results, with the limits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base paper is a framework paper with a strong benchmark number; its crowd loop is evaluated by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Rows [6] to [14] are as summarised in the base paper. Works [2] to [5] from the batch survey were recorded by title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gap: a live, explainable loop that joins ML with community verdicts and measured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is computed from the URL string, so training and real-time checking use identical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XGBoost is best by F1. The 5-fold cross-validation result is slightly lower and very stable (std 0.18 points).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error is balanced: 6.4 % of legitimate URLs are flagged and 7.8 % of phishing URLs are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threshold sweep justifies 0.35 / 0.60; the ablation shows lexical features carry most of the signal and the model does not depend on its two strongest features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 measured: concurrent-user load, memory use, other hardware, user acceptance, authentication.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Questions are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 Phishing URL Detection System Integrating Advanced Machine Learning and Crowdsourced Threat Intelligence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A3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23K91A6750   D.ANISH MEGHAN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23K91A6737   B.AKSHAYA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23K91A6736   B.TANUJA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23K91A6742   CH.SAI CHETHAN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G. Ravi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 (Data Science)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(DATA SCIENCE)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Problem Statement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Decision Logic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Testing &amp; Comparison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sites steal credentials by imitating trusted pages; new domains appear daily and live only hours. Blacklists miss zero-day URLs, fixed rules are easy to evade and models trained once go stale.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implements the base paper's three stages: 47 offline URL features (23 lexical, 9 structural, 15 domain), classification with Random Forest, XGBoost and Logistic Regression, and refinement through crowdsourced threat intelligence.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community verdict, phishing or safe, overrides the model at once; otherwise the best model scores the URL with thresholds 0.35 / 0.60. Two net votes or a trusted feed confirm a URL; confirmed URLs retrain the model, which is hot-reloaded.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reaches accuracy 92.9 %, F1 92.9 % and ROC-AUC 0.981 on 8,000 held-out URLs (5-fold CV F1 92.6 %); a check takes 8.0 ms through the API.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API, CLI and a seven-page React interface; 95 automated checks pass. Limits: one 40,000-URL dataset, URL-only features, anonymous votes.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phishing detection, URL classification, crowdsourced threat intelligence, XGBoost, adaptive security.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Aldhuwayhi and A. Alromih, "A dynamic phishing URL detection system integrating advanced machine learning and crowdsourced threat intelligence," IEEE Access, vol. 14, pp. 88393-88404, 2026, doi: 10.1109/ACCESS.2026.3700833.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Extractor, Detection, Updating by crowdsourcing. Novel URLs are verified by a human, added to the training set, and the model is retrained.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model: PhiUSIIL, 235,804 URLs, 54 features (34 kept); LSTM with attention plus a dense branch.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Reported: accuracy 99.8 %, F1 0.9988, 5-fold cross-validation, learning-curve simulation of crowd data growth, about 0.20 ms per URL.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one dataset, crowd loop simulated, real-world validation, scalability, adversarial misuse and privacy left as future work.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8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2699308"/>
                <a:gridCol w="1799539"/>
                <a:gridCol w="1912010"/>
                <a:gridCol w="2586837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Aldhuwayhi and Alromih, 2026 (base) [1]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LSTM-attention + dense; crowd feedback loop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PhiUSIIL, 235,804 URLs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 99.8 %, F1 0.9988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 loop simulated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Vajrobol et al., 2024 [6]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information + 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PhiUSIIL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99.97 % with 5 features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real-time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Etem and Teke, 2024 [7]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t-SNE reduction + decision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51-feature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Alnemari and Alshammari, 2023 [8]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classifiers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 phishing domains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97.3 % (RF)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et al., 2024 [11]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/ LR browser extension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11,055 URLs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not discussed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Assefa and Katarya, 2022 [14]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Autoencoder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URL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91.24 %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supervised models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3149193"/>
                <a:gridCol w="809792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Paper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Gap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[1]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 loop only simulated; no live validation; no explanation of verdicts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detectors [6], [7], [8]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accuracy on static datasets; no continuous retraining from new threat data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Deployed tools [11], [12]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Latency, load and retraining not discussed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 detectors [14]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 novel sites but score lower and use small datasets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Blacklists and manual reports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 zero-day URLs; slow, manual updates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websites keep stealing credentials and financial data at scale.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Blacklists cannot detect newly created, zero-day phishing URLs.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 and one-time-trained models fail as attack patterns evolve; false positives block legitimate sites.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given a URL, give a verdict (phishing, suspicious, safe) with probability and explanation, using a trained classifier and community-confirmed verdicts that override it and feed its retraining, in real time through a web interface.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preprocess a dataset of phishing and legitimate URLs.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lexical, structural and domain-based URL features.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Random Forest, XGBoost and Logistic Regression.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crowdsourced threat intelligence for newly reported phishing URLs.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the model continuously as new threat data arrives.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real-time URL classification through a simple web interface.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Extract - 47 offline features from the URL string; red flags explain them.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Classify - Random Forest, XGBoost and Logistic Regression on one split; best F1 is deployed.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Decide - a confirmed community verdict wins; else model score, reputation x0.4, pending votes +-0.15, thresholds 0.35 / 0.60.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Report - users vote phishing or safe; net 2 confirms; OpenPhish and URLhaus confirm at once.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Refine - confirmed URLs join the training data (x3); retrain; the detector hot-reloads.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Use - Flask API, CLI and React interface with batch check, activity log and model comparison.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architecture: users, React interface, Flask API with detection modules, local storage</a:t>
            </a:r>
            <a:endParaRPr lang="en-US" sz="1200" dirty="0"/>
          </a:p>
        </p:txBody>
      </p:sp>
      <p:pic>
        <p:nvPicPr>
          <p:cNvPr id="9" name="System architecture" descr="System archite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8064" y="1695450"/>
            <a:ext cx="567587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workflow: prepare the models once, then check, collect community reports, retrain and reload</a:t>
            </a:r>
            <a:endParaRPr lang="en-US" sz="1200" dirty="0"/>
          </a:p>
        </p:txBody>
      </p:sp>
      <p:pic>
        <p:nvPicPr>
          <p:cNvPr id="9" name="High-level workflow" descr="High-level workflo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373" y="1695450"/>
            <a:ext cx="7241627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Features &amp; Models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40,000 URLs from a public set (20,000 phishing, 20,000 legitimate), cleaned and split 80/20 (32,000 / 8,000), stratified, seed 42.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offline features: 23 lexical, 9 structural, 15 domain; no DNS, WHOIS or page download.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300 trees. XGBoost: 400 trees, depth 8, learning rate 0.08. Logistic Regression: scaled, C 1.0.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best F1 on the test set (ROC-AUC breaks ties) saved as best_model.joblib.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store: SQLite (reports, intel, checks); consensus = 2 net votes; trusted feeds confirm at once.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Retraining: base data + confirmed URLs x3, same split; training takes 15.1 s for the three models on this PC.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order: community verdict first, then model score with adjustments and thresholds</a:t>
            </a:r>
            <a:endParaRPr lang="en-US" sz="1200" dirty="0"/>
          </a:p>
        </p:txBody>
      </p:sp>
      <p:pic>
        <p:nvPicPr>
          <p:cNvPr id="9" name="Algorithm flowchart" descr="Algorithm flow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5482" y="1695450"/>
            <a:ext cx="3801035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User–System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check a URL, report it, and refine the model</a:t>
            </a:r>
            <a:endParaRPr lang="en-US" sz="1200" dirty="0"/>
          </a:p>
        </p:txBody>
      </p:sp>
      <p:pic>
        <p:nvPicPr>
          <p:cNvPr id="9" name="Sequence diagram" descr="Sequence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4685" y="1695450"/>
            <a:ext cx="3582629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Entity–relationship diagram: 3 SQLite tables and 3 file stores</a:t>
            </a:r>
            <a:endParaRPr lang="en-US" sz="1200" dirty="0"/>
          </a:p>
        </p:txBody>
      </p:sp>
      <p:pic>
        <p:nvPicPr>
          <p:cNvPr id="9" name="ER diagram" descr="ER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5328" y="1695450"/>
            <a:ext cx="6941343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20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899769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offline features, red flags; robust to malformed ports and brackets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models on one split; metrics, confusion matrix, importances in metrics.json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intelligence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reports and intel; consensus 2; trusted feeds; host-level lookup; check log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first; model; reputation x0.4; pending votes; thresholds; hot reload under a lock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and UI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JSON API (16 routes), CLI, React interface with 7 pages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+ 20 + 72 = 95 automated checks; Playwright captures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Model Comparison (8,000 test URLs)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2924251"/>
                <a:gridCol w="5173675"/>
                <a:gridCol w="3149193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 |  Precision  |  Recall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 |  ROC-AUC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(selected)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92.93 %  |  93.53 %  |  92.23 %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92.88 %  |  0.9809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92.49 %  |  92.69 %  |  92.25 %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92.47 %  |  0.9776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82.81 %  |  86.94 %  |  77.22 %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81.80 %  |  0.9218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XGBoost, 5-fold CV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92.59 %  |  92.91 %  |  92.21 %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92.56 %  |  0.9792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20 % of a 40,000-URL sample; the shipped numbers were re-checked from the saved models. Not comparable with the base paper's dataset.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&amp; ROC Curves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3,745 TN, 255 FP, 311 FN, 3,689 TP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XGBoost 0.981, Random Forest 0.978, LR 0.922</a:t>
            </a:r>
            <a:endParaRPr lang="en-US" sz="1200" dirty="0"/>
          </a:p>
        </p:txBody>
      </p:sp>
      <p:pic>
        <p:nvPicPr>
          <p:cNvPr id="11" name="XGBoost: 3,745 TN, 255 FP, 311 FN, 3,689 TP" descr="XGBoost: 3,745 TN, 255 FP, 311 FN, 3,689 T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" y="2462892"/>
            <a:ext cx="5486400" cy="1894114"/>
          </a:xfrm>
          <a:prstGeom prst="rect">
            <a:avLst/>
          </a:prstGeom>
        </p:spPr>
      </p:pic>
      <p:pic>
        <p:nvPicPr>
          <p:cNvPr id="12" name="ROC-AUC: XGBoost 0.981, Random Forest 0.978, LR 0.922" descr="ROC-AUC: XGBoost 0.981, Random Forest 0.978, LR 0.9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3265" y="1733550"/>
            <a:ext cx="385572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&amp; Feature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is flat between thresholds 0.40 and 0.60; 0.35 marks 'suspicious'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features give F1 89.2 %; all 47 give 92.8 %</a:t>
            </a:r>
            <a:endParaRPr lang="en-US" sz="1200" dirty="0"/>
          </a:p>
        </p:txBody>
      </p:sp>
      <p:pic>
        <p:nvPicPr>
          <p:cNvPr id="11" name="F1 is flat between thresholds 0.40 and 0.60; 0.35 marks 'suspicious'" descr="F1 is flat between thresholds 0.40 and 0.60; 0.35 marks 'suspicious'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" y="1866900"/>
            <a:ext cx="5486400" cy="3086100"/>
          </a:xfrm>
          <a:prstGeom prst="rect">
            <a:avLst/>
          </a:prstGeom>
        </p:spPr>
      </p:pic>
      <p:pic>
        <p:nvPicPr>
          <p:cNvPr id="12" name="Lexical features give F1 89.2 %; all 47 give 92.8 %" descr="Lexical features give F1 89.2 %; all 47 give 92.8 %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925" y="1830531"/>
            <a:ext cx="5486400" cy="31588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2474366"/>
                <a:gridCol w="8772753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time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/api/check mean 8.0 ms, p95 9.7 ms; feature extraction 0.077 ms per URL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time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12.2 s, XGBoost 2.7 s, LR 0.2 s on 32,000 URLs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tests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passed, 0 failed (3 original, 20 smoke, 72 extended: unit 23, integration 8, functional 14, validation 17, security 8, performance 2)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 loop (live run)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Zero-day page 9.5 % -&gt; phishing 97 % after 2 reports; feed sync +800 URLs; retrain v1 -&gt; v2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Retraining effect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Adding 250 to 2,000 confirmed URLs changes F1 by under 0.1 point on unseen URLs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(context only – different datasets)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8" cy="914400"/>
        </p:xfrm>
        <a:graphic>
          <a:graphicData uri="http://schemas.openxmlformats.org/drawingml/2006/table">
            <a:tbl>
              <a:tblPr/>
              <a:tblGrid>
                <a:gridCol w="1124712"/>
                <a:gridCol w="1687068"/>
                <a:gridCol w="2249424"/>
                <a:gridCol w="2474366"/>
                <a:gridCol w="2136952"/>
                <a:gridCol w="157459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/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[1]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PhiUSIIL, 235,804 URLs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LSTM-attention + dense, 34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Human-verified, retrained periodically; simulated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99.8 %, F1 0.9988; 0.20 ms per URL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PhishGuard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40,000-URL sample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on 47 offline features (RF, LR compared)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Vote consensus + trusted feeds; applied at once; retrain + hot reload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92.9 %, F1 92.9 %; 8.0 ms per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flags, React UI, CLI, activity 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data, features and models: the numbers are not a head-to-head benchmark. The gap of 6.9 points is not explained experimentally.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Check URL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verdict with gauge and risk scale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overrides the model: 9.5 % -&gt; 97.0 %</a:t>
            </a:r>
            <a:endParaRPr lang="en-US" sz="1200" dirty="0"/>
          </a:p>
        </p:txBody>
      </p:sp>
      <p:pic>
        <p:nvPicPr>
          <p:cNvPr id="11" name="Phishing verdict with gauge and risk scale" descr="Phishing verdict with gauge and risk sca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4" y="1733550"/>
            <a:ext cx="5364480" cy="3352800"/>
          </a:xfrm>
          <a:prstGeom prst="rect">
            <a:avLst/>
          </a:prstGeom>
        </p:spPr>
      </p:pic>
      <p:pic>
        <p:nvPicPr>
          <p:cNvPr id="12" name="Community overrides the model: 9.5 % -&gt; 97.0 %" descr="Community overrides the model: 9.5 % -&gt; 97.0 %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885" y="1733550"/>
            <a:ext cx="536448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Report and Threat Intelligence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form with live vote tally and consensus rules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Threat-intelligence board: statuses and votes</a:t>
            </a:r>
            <a:endParaRPr lang="en-US" sz="1200" dirty="0"/>
          </a:p>
        </p:txBody>
      </p:sp>
      <p:pic>
        <p:nvPicPr>
          <p:cNvPr id="11" name="Report form with live vote tally and consensus rules" descr="Report form with live vote tally and consensus rul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4" y="1733550"/>
            <a:ext cx="5364480" cy="3352800"/>
          </a:xfrm>
          <a:prstGeom prst="rect">
            <a:avLst/>
          </a:prstGeom>
        </p:spPr>
      </p:pic>
      <p:pic>
        <p:nvPicPr>
          <p:cNvPr id="12" name="Threat-intelligence board: statuses and votes" descr="Threat-intelligence board: statuses and vot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885" y="1733550"/>
            <a:ext cx="536448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Models and Retraining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comparison, version 1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retraining on 807 confirmed URLs: version 2</a:t>
            </a:r>
            <a:endParaRPr lang="en-US" sz="1200" dirty="0"/>
          </a:p>
        </p:txBody>
      </p:sp>
      <p:pic>
        <p:nvPicPr>
          <p:cNvPr id="11" name="Model comparison, version 1" descr="Model comparison, version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4" y="1733550"/>
            <a:ext cx="5364480" cy="3352800"/>
          </a:xfrm>
          <a:prstGeom prst="rect">
            <a:avLst/>
          </a:prstGeom>
        </p:spPr>
      </p:pic>
      <p:pic>
        <p:nvPicPr>
          <p:cNvPr id="12" name="After retraining on 807 confirmed URLs: version 2" descr="After retraining on 807 confirmed URLs: version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885" y="1733550"/>
            <a:ext cx="536448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PhishGuard: a working, explainable implementation of the base paper's three-stage design.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reaches F1 92.9 % and ROC-AUC 0.981 on held-out URLs; 5-fold CV F1 92.6 %; 8 ms per check.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community verdict acts at once in both directions; the retraining loop with hot reload runs end to end on real feed data.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on random in-distribution URLs does not change the average F1; the loop's value is the override.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one 40,000-URL dataset (not comparable with 99.8 %), URL-only features, anonymous votes, no sign-in, no user-acceptance test.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a larger, more recent dataset and on URLs collected after training.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sign-in, rate limiting, reporter reputation and an administrator review queue.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reputation data than a hand-written list; smarter host-level override.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sandboxed page features for uncertain URLs; browser extension and mail plug-in.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crowd loop under noisy reports and new campaigns; reproduce the base paper's network for a like-for-like comparison.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L. Aldhuwayhi and A. Alromih, "A dynamic phishing URL detection system integrating advanced machine learning and crowdsourced threat intelligence," IEEE Access, vol. 14, pp. 88393-88404, 2026, doi: 10.1109/ACCESS.2026.3700833.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"Phishing URL detection using machine learning," Journal of Advanced Research in Production and Industrial Engineering, 2023.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"Real-time phishing URL detection using reinforcement learning," International Journal of Science and Research (IJSR), 2025.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"Phishing URL detection using machine learning and deep learning," in Proc. 2024 IEEE World AI IoT Congress (AIIoT), 2024.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"Automated phishing detection through URL analysis and machine learning," Communications on Applied Nonlinear Analysis, 2025.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V. Vajrobol, B. B. Gupta and A. Gaurav, "Mutual information based logistic regression for phishing URL detection," Cyber Security and Applications, vol. 2, p. 100044, Jan. 2024, doi: 10.1016/j.csa.2024.100044.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T. Etem and M. Teke, "Advanced phishing detection: Leveraging t-SNE feature extraction and machine learning on a comprehensive URL dataset," Acta Infologica, vol. 231, no. 221, pp. 213-221, 2024, doi: 10.26650/acin.1521835.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S. Alnemari and M. Alshammari, "Detecting phishing domains using machine learning," Applied Sciences, vol. 13, no. 8, p. 4649, Apr. 2023, doi: 10.3390/app13084649.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U. A. Butt, R. Amin, H. Aldabbas, S. Mohan, B. Alouffi and A. Ahmadian, "Cloud-based email phishing attack using machine and deep learning algorithm," Complex &amp; Intelligent Systems, vol. 9, no. 3, pp. 3043-3070, Jun. 2023, doi: 10.1007/s40747-022-00760-3.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D. Rathee and S. Mann, "Detection of e-mail phishing attacks - using machine learning and deep learning," International Journal of Computer Applications, vol. 183, no. 47, pp. 1-7, Jan. 2022, doi: 10.5120/ijca2022921868.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K. S. Priya, J. Chandrika and M. P. Lakshmi, "Machine learning-based phishing website detection: a comprehensive approach for cyber security," in Proc. 5th Int. Conf. Recent Trends in Computer Science and Technology (ICRTCST), Apr. 2024, pp. 344-349, doi: 10.1109/ICRTCST61793.2024.10578472.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S. Sawant, R. Savakhande, O. Sankhe and S. Tamboli, "Phishing detection by integrating machine learning and deep learning," in Proc. 11th Int. Conf. Computing for Sustainable Global Development (INDIACom), Feb. 2024, pp. 1078-1083, doi: 10.23919/INDIACom61295.2024.10499100.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Z. Fan, "Detecting and classifying phishing websites by machine learning," in Proc. 3rd Int. Conf. Applied Machine Learning (ICAML), Jul. 2021, pp. 48-51, doi: 10.1109/ICAML54311.2021.00018.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A. Assefa and R. Katarya, "Intelligent phishing website detection using deep learning," in Proc. 8th Int. Conf. Advanced Computing and Communication Systems (ICACCS), vol. 1, Mar. 2022, pp. 1741-1745, doi: 10.1109/ICACCS54159.2022.9785003.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A3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PhishGuard: Final Review</dc:title>
  <dc:subject>A Dynamic Phishing URL Detection System Integrating Advanced Machine Learning and Crowdsourced Threat Intelligence</dc:subject>
  <dc:creator>Batch A3</dc:creator>
  <cp:lastModifiedBy>Batch A3</cp:lastModifiedBy>
  <cp:revision>1</cp:revision>
  <dcterms:created xsi:type="dcterms:W3CDTF">2026-10-07T05:03:03Z</dcterms:created>
  <dcterms:modified xsi:type="dcterms:W3CDTF">2026-10-07T05:03:03Z</dcterms:modified>
  <cp:keywords>phishing detection, URL classification, crowdsourced threat intelligence</cp:keywords>
  <cp:category/>
  <dc:description/>
  <cp:contentStatus/>
</cp:coreProperties>
</file>