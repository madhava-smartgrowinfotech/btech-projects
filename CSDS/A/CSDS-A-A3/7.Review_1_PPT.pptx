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Reported accuracy of related work on static datasets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accuracy (%)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Vajrobol [6]</c:v>
                </c:pt>
                <c:pt idx="1">
                  <c:v>Rathee [10]</c:v>
                </c:pt>
                <c:pt idx="2">
                  <c:v>Base paper [1]</c:v>
                </c:pt>
                <c:pt idx="3">
                  <c:v>Etem [7]</c:v>
                </c:pt>
                <c:pt idx="4">
                  <c:v>Fan [13]</c:v>
                </c:pt>
                <c:pt idx="5">
                  <c:v>Alnemari [8]</c:v>
                </c:pt>
                <c:pt idx="6">
                  <c:v>Priya [11]</c:v>
                </c:pt>
                <c:pt idx="7">
                  <c:v>Assefa [14]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99.97</c:v>
                </c:pt>
                <c:pt idx="1">
                  <c:v>99.87</c:v>
                </c:pt>
                <c:pt idx="2">
                  <c:v>99.8</c:v>
                </c:pt>
                <c:pt idx="3">
                  <c:v>99.7</c:v>
                </c:pt>
                <c:pt idx="4">
                  <c:v>99.16</c:v>
                </c:pt>
                <c:pt idx="5">
                  <c:v>97.3</c:v>
                </c:pt>
                <c:pt idx="6">
                  <c:v>97.0</c:v>
                </c:pt>
                <c:pt idx="7">
                  <c:v>91.24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0"/>
          <c:min val="85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accuracy (%)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1 covers problem identification and research for PhishGuard, a phishing URL detection system that combines machine learning with crowdsourced threat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Nine parts: the abstract, the base paper and related work, existing approaches, the gap, the problem statement and objectives, the approach, expected outcomes and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abstract in one slide: the problem of static detection, the three-stage idea of the base paper, and the system we deliver.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is a framework paper: its headline number is 99.8 % on one benchmark, and its crowd loop is evaluated by simulation. Our implementation is smaller and URL-only.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Rows [6] to [14] are described as summarised in the base paper. Works [2] to [5] come from the batch survey; their abstracts were not retrieved, so no results are claimed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accuracies are those quoted in the base paper for each work. They support the choice of ML but also show the gap: every number comes from a fixed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links are checked today: lists, fixed rules and models that are trained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limitations from the batch survey: zero-day blindness, slow updates, easy evasion and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 gap: static blacklist-based detection fails on zero-day URLs, and few systems combine lexical, structural and domain features with continuously updated crowdsourced threat feeds.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Input is a URL; output is a verdict with reasons; the community channel supplies fresh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approach follows the three phases of the base paper and adds an explanation and a web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Browser to React to Flask. The detector, features, threat-intelligence store and retraining modules sit behind the API; storage is SQLite plus model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 are stated as targets at this stage and are measured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[1] to [14]; the full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PhishGuard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Phishing URL Detection System Integrating Advanced Machine Learning and Crowdsourced Threat Intelligence</a:t>
            </a:r>
            <a:endParaRPr lang="en-US" sz="26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D.ANISH MEGHAN  23K91A6750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B.AKSHAYA  23K91A6737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B.TANUJA  23K91A6736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CH.SAI CHETHAN  23K91A6742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Mr. G. Ravi,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A3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Abstract and overview</a:t>
            </a:r>
            <a:endParaRPr lang="en-US" sz="1600" dirty="0"/>
          </a:p>
        </p:txBody>
      </p:sp>
      <p:sp>
        <p:nvSpPr>
          <p:cNvPr id="7" name="agenda 2"/>
          <p:cNvSpPr/>
          <p:nvPr/>
        </p:nvSpPr>
        <p:spPr>
          <a:xfrm>
            <a:off x="429768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Base paper</a:t>
            </a:r>
            <a:endParaRPr lang="en-US" sz="1600" dirty="0"/>
          </a:p>
        </p:txBody>
      </p:sp>
      <p:sp>
        <p:nvSpPr>
          <p:cNvPr id="10" name="agenda 3"/>
          <p:cNvSpPr/>
          <p:nvPr/>
        </p:nvSpPr>
        <p:spPr>
          <a:xfrm>
            <a:off x="8046720" y="14173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75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Literature survey</a:t>
            </a:r>
            <a:endParaRPr lang="en-US" sz="1600" dirty="0"/>
          </a:p>
        </p:txBody>
      </p:sp>
      <p:sp>
        <p:nvSpPr>
          <p:cNvPr id="13" name="agenda 4"/>
          <p:cNvSpPr/>
          <p:nvPr/>
        </p:nvSpPr>
        <p:spPr>
          <a:xfrm>
            <a:off x="54864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Existing approaches and limitations</a:t>
            </a:r>
            <a:endParaRPr lang="en-US" sz="1600" dirty="0"/>
          </a:p>
        </p:txBody>
      </p:sp>
      <p:sp>
        <p:nvSpPr>
          <p:cNvPr id="16" name="agenda 5"/>
          <p:cNvSpPr/>
          <p:nvPr/>
        </p:nvSpPr>
        <p:spPr>
          <a:xfrm>
            <a:off x="429768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2628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19" name="agenda 6"/>
          <p:cNvSpPr/>
          <p:nvPr/>
        </p:nvSpPr>
        <p:spPr>
          <a:xfrm>
            <a:off x="8046720" y="297180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5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3630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 statement and objectives</a:t>
            </a:r>
            <a:endParaRPr lang="en-US" sz="1600" dirty="0"/>
          </a:p>
        </p:txBody>
      </p:sp>
      <p:sp>
        <p:nvSpPr>
          <p:cNvPr id="22" name="agenda 7"/>
          <p:cNvSpPr/>
          <p:nvPr/>
        </p:nvSpPr>
        <p:spPr>
          <a:xfrm>
            <a:off x="54864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approach and architecture</a:t>
            </a:r>
            <a:endParaRPr lang="en-US" sz="1600" dirty="0"/>
          </a:p>
        </p:txBody>
      </p:sp>
      <p:sp>
        <p:nvSpPr>
          <p:cNvPr id="25" name="agenda 8"/>
          <p:cNvSpPr/>
          <p:nvPr/>
        </p:nvSpPr>
        <p:spPr>
          <a:xfrm>
            <a:off x="429768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Expected outcomes</a:t>
            </a:r>
            <a:endParaRPr lang="en-US" sz="1600" dirty="0"/>
          </a:p>
        </p:txBody>
      </p:sp>
      <p:sp>
        <p:nvSpPr>
          <p:cNvPr id="28" name="agenda 9"/>
          <p:cNvSpPr/>
          <p:nvPr/>
        </p:nvSpPr>
        <p:spPr>
          <a:xfrm>
            <a:off x="804672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75320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a detector that keeps learning</a:t>
            </a:r>
            <a:endParaRPr lang="en-US" sz="3200" dirty="0"/>
          </a:p>
        </p:txBody>
      </p:sp>
      <p:sp>
        <p:nvSpPr>
          <p:cNvPr id="4" name="The problem card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The 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Phishing sites steal credentials by imitating trusted pages, and new domains appear daily and live only hours. Blacklists miss zero-day URLs, fixed rules are easy to evade, and models trained once go stale.</a:t>
            </a:r>
            <a:endParaRPr lang="en-US" sz="1600" dirty="0"/>
          </a:p>
        </p:txBody>
      </p:sp>
      <p:sp>
        <p:nvSpPr>
          <p:cNvPr id="9" name="Our idea card"/>
          <p:cNvSpPr/>
          <p:nvPr/>
        </p:nvSpPr>
        <p:spPr>
          <a:xfrm>
            <a:off x="429768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Our id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Our idea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Follow the base paper's three stages: extract lexical, structural and domain features from the URL, classify with machine learning (Random Forest, XGBoost, Logistic Regression), and refine the system with crowdsourced threat intelligence.</a:t>
            </a:r>
            <a:endParaRPr lang="en-US" sz="1600" dirty="0"/>
          </a:p>
        </p:txBody>
      </p:sp>
      <p:sp>
        <p:nvSpPr>
          <p:cNvPr id="14" name="The deliverable card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The deliver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deliverable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web application that checks a URL in real time, explains the verdict, accepts community reports, imports public feeds and retrains itself, with the best model reloaded without a restart.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4" name="citation box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</a:rPr>
              <a:t>L. Aldhuwayhi and A. Alromih, "A dynamic phishing URL detection system integrating advanced machine learning and crowdsourced threat intelligence," IEEE Access, vol. 14, pp. 88393-88404, 2026, doi: 10.1109/ACCESS.2026.3700833.</a:t>
            </a:r>
            <a:endParaRPr lang="en-US" sz="1400" dirty="0"/>
          </a:p>
        </p:txBody>
      </p:sp>
      <p:sp>
        <p:nvSpPr>
          <p:cNvPr id="6" name="Method card"/>
          <p:cNvSpPr/>
          <p:nvPr/>
        </p:nvSpPr>
        <p:spPr>
          <a:xfrm>
            <a:off x="54864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Method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Three phases: Extractor (URL features; known patterns answered directly), Detection (ML classifier; unknown inputs flagged as novel) and Updating by crowdsourcing (novel URLs verified by a human, added to the training set, model retrained). Model: LSTM with attention plus a dense branch.</a:t>
            </a:r>
            <a:endParaRPr lang="en-US" sz="1400" dirty="0"/>
          </a:p>
        </p:txBody>
      </p:sp>
      <p:sp>
        <p:nvSpPr>
          <p:cNvPr id="9" name="Data and reported results card"/>
          <p:cNvSpPr/>
          <p:nvPr/>
        </p:nvSpPr>
        <p:spPr>
          <a:xfrm>
            <a:off x="429768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and reported results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PhiUSIIL dataset, 235,804 URLs, 54 features (34 kept). Reported accuracy 99.8 %, F1 0.9988; 5-fold cross-validation; learning-curve simulation of crowd data growth; about 0.20 ms per URL.</a:t>
            </a:r>
            <a:endParaRPr lang="en-US" sz="1400" dirty="0"/>
          </a:p>
        </p:txBody>
      </p:sp>
      <p:sp>
        <p:nvSpPr>
          <p:cNvPr id="12" name="Limitations stated by the authors card"/>
          <p:cNvSpPr/>
          <p:nvPr/>
        </p:nvSpPr>
        <p:spPr>
          <a:xfrm>
            <a:off x="8046720" y="25146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DF1EC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6974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Limits and future work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38328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One dataset; crowd loop only simulated; real-world validation needed. Future work: scalability, defences against adversarial misuse of the crowd channel, multimodal and multilingual input, privacy and explainability.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2194560"/>
                <a:gridCol w="24076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Aldhuwayhi and Alromih, 2026 (base) 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LSTM-attention + dense network; crowd feedback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PhiUSIIL, 235,804 URLs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99.8 %, F1 0.9988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Vajrobol et al., 2024 [6]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information + 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PhiUSIIL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99.97 % with 5 features (per [1])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Etem and Teke, 2024 [7]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 reduction + 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51-feature URL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99.7 % (per [1])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Alnemari and Alshammari, 2023 [8]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classifiers; Random Forest 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phishing domains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97.3 % (per [1])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et al., 2024 [11]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/ LR browser extension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11,055 URLs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 (per [1])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Assefa and Katarya, 2022 [14]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Autoencoder, 16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URL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91.24 % (per [1])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survey [2]-[5]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URL detection with ML, DL and RL, 2023-2025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by title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ML works on static benchmarks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 card"/>
          <p:cNvSpPr/>
          <p:nvPr/>
        </p:nvSpPr>
        <p:spPr>
          <a:xfrm>
            <a:off x="7589520" y="1371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78181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Image 0" descr="Takea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709928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03920" y="1554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Takeaway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7818120" y="2240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475569"/>
                </a:solidFill>
              </a:rPr>
              <a:t>Machine learning on URL and related features reaches 91 % to 99.97 % on public benchmarks, so classifiers can recognise phishing without a blacklist.</a:t>
            </a:r>
            <a:endParaRPr lang="en-US" sz="1450" dirty="0"/>
          </a:p>
        </p:txBody>
      </p:sp>
      <p:sp>
        <p:nvSpPr>
          <p:cNvPr id="10" name="Caveat card"/>
          <p:cNvSpPr/>
          <p:nvPr/>
        </p:nvSpPr>
        <p:spPr>
          <a:xfrm>
            <a:off x="7589520" y="3657600"/>
            <a:ext cx="4050792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7818120" y="3886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2" name="Image 1" descr="Cave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3995928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03920" y="3840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Caveat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7818120" y="4526280"/>
            <a:ext cx="3593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All figures are reported by the authors on different, static datasets and were taken from the base paper's survey; they are not a common benchmark and say little about new attacks.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Link received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176729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451049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24201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Check blacklist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07913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435345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2661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Apply fixed rules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981548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6255868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9020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Block or allow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7883957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8158277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31429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reports site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9786366" y="20985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10060686" y="1645920"/>
            <a:ext cx="1582369" cy="1143000"/>
          </a:xfrm>
          <a:prstGeom prst="roundRect">
            <a:avLst>
              <a:gd name="adj" fmla="val 64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133838" y="1645920"/>
            <a:ext cx="143606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Staff update list</a:t>
            </a:r>
            <a:endParaRPr lang="en-US" sz="1400" dirty="0"/>
          </a:p>
        </p:txBody>
      </p:sp>
      <p:sp>
        <p:nvSpPr>
          <p:cNvPr id="21" name="Automatic, text-only card"/>
          <p:cNvSpPr/>
          <p:nvPr/>
        </p:nvSpPr>
        <p:spPr>
          <a:xfrm>
            <a:off x="54864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icon circle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3" name="Image 0" descr="Automatic, text-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63016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46304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Blacklists and manual reports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Browsers and mail filters check a URL against lists such as Google Safe Browsing and PhishTank. A site is blocked only after someone reports it and the list is updated by hand.</a:t>
            </a:r>
            <a:endParaRPr lang="en-US" sz="1600" dirty="0"/>
          </a:p>
        </p:txBody>
      </p:sp>
      <p:sp>
        <p:nvSpPr>
          <p:cNvPr id="26" name="Manual fact-checking card"/>
          <p:cNvSpPr/>
          <p:nvPr/>
        </p:nvSpPr>
        <p:spPr>
          <a:xfrm>
            <a:off x="6172200" y="329184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icon circle"/>
          <p:cNvSpPr/>
          <p:nvPr/>
        </p:nvSpPr>
        <p:spPr>
          <a:xfrm>
            <a:off x="6400800" y="352044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8" name="Image 1" descr="Manual fact-chec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30168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86600" y="34747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Rules and one-time models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0" y="41605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Rule-based filters flag fixed patterns such as IP hosts or keywords. Some systems use a classifier trained once on a fixed dataset and never updated.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4" name="Ignore the picture card"/>
          <p:cNvSpPr/>
          <p:nvPr/>
        </p:nvSpPr>
        <p:spPr>
          <a:xfrm>
            <a:off x="54864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Ignore the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Zero-day blind spot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blacklist cannot detect a URL that has not been reported yet.</a:t>
            </a:r>
            <a:endParaRPr lang="en-US" sz="1600" dirty="0"/>
          </a:p>
        </p:txBody>
      </p:sp>
      <p:sp>
        <p:nvSpPr>
          <p:cNvPr id="9" name="Label only card"/>
          <p:cNvSpPr/>
          <p:nvPr/>
        </p:nvSpPr>
        <p:spPr>
          <a:xfrm>
            <a:off x="6172200" y="1371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Label on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Slow updates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Manually updated databases lag behind campaigns whose domains live only hours.</a:t>
            </a:r>
            <a:endParaRPr lang="en-US" sz="1600" dirty="0"/>
          </a:p>
        </p:txBody>
      </p:sp>
      <p:sp>
        <p:nvSpPr>
          <p:cNvPr id="14" name="One split only card"/>
          <p:cNvSpPr/>
          <p:nvPr/>
        </p:nvSpPr>
        <p:spPr>
          <a:xfrm>
            <a:off x="54864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One split on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Easy to evade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Fixed rules break with small changes to the URL; models trained once degrade as patterns evolve.</a:t>
            </a:r>
            <a:endParaRPr lang="en-US" sz="1600" dirty="0"/>
          </a:p>
        </p:txBody>
      </p:sp>
      <p:sp>
        <p:nvSpPr>
          <p:cNvPr id="19" name="Not usable card"/>
          <p:cNvSpPr/>
          <p:nvPr/>
        </p:nvSpPr>
        <p:spPr>
          <a:xfrm>
            <a:off x="6172200" y="361188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1" name="Image 3" descr="Not us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86600" y="3794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False positives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0" y="44805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Legitimate sites get blocked, which reduces user trust.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gap Modality"/>
          <p:cNvSpPr/>
          <p:nvPr/>
        </p:nvSpPr>
        <p:spPr>
          <a:xfrm>
            <a:off x="548640" y="13258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258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Static data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13258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Most detectors train once on historical datasets, so they are obsolete on arrival [1].</a:t>
            </a:r>
            <a:endParaRPr lang="en-US" sz="1700" dirty="0"/>
          </a:p>
        </p:txBody>
      </p:sp>
      <p:sp>
        <p:nvSpPr>
          <p:cNvPr id="7" name="gap Transparency"/>
          <p:cNvSpPr/>
          <p:nvPr/>
        </p:nvSpPr>
        <p:spPr>
          <a:xfrm>
            <a:off x="548640" y="22402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402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adaptation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22402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Few systems retrain automatically from new threat data.</a:t>
            </a:r>
            <a:endParaRPr lang="en-US" sz="1700" dirty="0"/>
          </a:p>
        </p:txBody>
      </p:sp>
      <p:sp>
        <p:nvSpPr>
          <p:cNvPr id="10" name="gap Generalisation"/>
          <p:cNvSpPr/>
          <p:nvPr/>
        </p:nvSpPr>
        <p:spPr>
          <a:xfrm>
            <a:off x="548640" y="31546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1546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Crowd unused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1546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Collective user reports are rarely a live, structured input to the model [1].</a:t>
            </a:r>
            <a:endParaRPr lang="en-US" sz="1700" dirty="0"/>
          </a:p>
        </p:txBody>
      </p:sp>
      <p:sp>
        <p:nvSpPr>
          <p:cNvPr id="13" name="gap Generated media"/>
          <p:cNvSpPr/>
          <p:nvPr/>
        </p:nvSpPr>
        <p:spPr>
          <a:xfrm>
            <a:off x="548640" y="40690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069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Evidence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40690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Reported accuracy comes from fixed benchmarks; real-world validation is still missing.</a:t>
            </a:r>
            <a:endParaRPr lang="en-US" sz="1700" dirty="0"/>
          </a:p>
        </p:txBody>
      </p:sp>
      <p:sp>
        <p:nvSpPr>
          <p:cNvPr id="16" name="gap Application"/>
          <p:cNvSpPr/>
          <p:nvPr/>
        </p:nvSpPr>
        <p:spPr>
          <a:xfrm>
            <a:off x="548640" y="4983480"/>
            <a:ext cx="2377440" cy="749808"/>
          </a:xfrm>
          <a:prstGeom prst="roundRect">
            <a:avLst>
              <a:gd name="adj" fmla="val 73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9834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Explanation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154680" y="498348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Systems that give a bare label do not tell the user why a link is suspicious.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tatement box"/>
          <p:cNvSpPr/>
          <p:nvPr/>
        </p:nvSpPr>
        <p:spPr>
          <a:xfrm>
            <a:off x="548640" y="1463040"/>
            <a:ext cx="11094415" cy="2743200"/>
          </a:xfrm>
          <a:prstGeom prst="roundRect">
            <a:avLst>
              <a:gd name="adj" fmla="val 2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00200"/>
            <a:ext cx="103628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URL, produce a verdict (phishing, suspicious or safe) with a probability and an explanation, using a classifier trained on labelled URLs and a store of community-confirmed verdicts that can override the classifier and feed its retraining; and serve it in real time through a web interface.</a:t>
            </a:r>
            <a:endParaRPr lang="en-US" sz="2200" dirty="0"/>
          </a:p>
        </p:txBody>
      </p:sp>
      <p:sp>
        <p:nvSpPr>
          <p:cNvPr id="6" name="Input card"/>
          <p:cNvSpPr/>
          <p:nvPr/>
        </p:nvSpPr>
        <p:spPr>
          <a:xfrm>
            <a:off x="54864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 URL string</a:t>
            </a:r>
            <a:endParaRPr lang="en-US" sz="1400" dirty="0"/>
          </a:p>
        </p:txBody>
      </p:sp>
      <p:sp>
        <p:nvSpPr>
          <p:cNvPr id="9" name="Output card"/>
          <p:cNvSpPr/>
          <p:nvPr/>
        </p:nvSpPr>
        <p:spPr>
          <a:xfrm>
            <a:off x="429768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Verdict, probability, red flags</a:t>
            </a:r>
            <a:endParaRPr lang="en-US" sz="1400" dirty="0"/>
          </a:p>
        </p:txBody>
      </p:sp>
      <p:sp>
        <p:nvSpPr>
          <p:cNvPr id="12" name="Extra card"/>
          <p:cNvSpPr/>
          <p:nvPr/>
        </p:nvSpPr>
        <p:spPr>
          <a:xfrm>
            <a:off x="8046720" y="44805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Extra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Community reports, public feeds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Collect and preprocess a dataset of phishing and legitimate URLs.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Extract lexical, structural and domain-based URL features.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Train and compare Random Forest, XGBoost and Logistic Regression classifiers.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Integrate crowdsourced threat intelligence for newly reported phishing URLs.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Refine the model continuously as new threat data arrives.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</a:rPr>
              <a:t>Provide real-time URL classification through a simple web interface.</a:t>
            </a:r>
            <a:pPr indent="0" marL="0">
              <a:spcAft>
                <a:spcPts val="1000"/>
              </a:spcAft>
              <a:buNone/>
            </a:pPr>
            <a:pPr indent="0" marL="0">
              <a:spcAft>
                <a:spcPts val="1000"/>
              </a:spcAft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4" name="Text track card"/>
          <p:cNvSpPr/>
          <p:nvPr/>
        </p:nvSpPr>
        <p:spPr>
          <a:xfrm>
            <a:off x="54864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 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1. Extract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47 offline features from the URL: lexical, structural and domain; plus red flags.</a:t>
            </a:r>
            <a:endParaRPr lang="en-US" sz="1400" dirty="0"/>
          </a:p>
        </p:txBody>
      </p:sp>
      <p:sp>
        <p:nvSpPr>
          <p:cNvPr id="9" name="Visual track card"/>
          <p:cNvSpPr/>
          <p:nvPr/>
        </p:nvSpPr>
        <p:spPr>
          <a:xfrm>
            <a:off x="3364992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593592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Visual tr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79392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2. Classify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Random Forest, XGBoost and Logistic Regression on one split; best F1 is deployed.</a:t>
            </a:r>
            <a:endParaRPr lang="en-US" sz="1400" dirty="0"/>
          </a:p>
        </p:txBody>
      </p:sp>
      <p:sp>
        <p:nvSpPr>
          <p:cNvPr id="14" name="Fusion card"/>
          <p:cNvSpPr/>
          <p:nvPr/>
        </p:nvSpPr>
        <p:spPr>
          <a:xfrm>
            <a:off x="6181344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409944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6" name="Image 2" descr="Fu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95744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3. Community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9944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Reports are voted; two net votes or a trusted feed confirm a URL, which overrides the model.</a:t>
            </a:r>
            <a:endParaRPr lang="en-US" sz="1400" dirty="0"/>
          </a:p>
        </p:txBody>
      </p:sp>
      <p:sp>
        <p:nvSpPr>
          <p:cNvPr id="19" name="AI-media check card"/>
          <p:cNvSpPr/>
          <p:nvPr/>
        </p:nvSpPr>
        <p:spPr>
          <a:xfrm>
            <a:off x="8997696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9226296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1" name="Image 3" descr="AI-media 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099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12096" y="15544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4. Refine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226296" y="2240280"/>
            <a:ext cx="22128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Confirmed URLs join the training data; models are retrained and hot-reloaded.</a:t>
            </a:r>
            <a:endParaRPr lang="en-US" sz="1400" dirty="0"/>
          </a:p>
        </p:txBody>
      </p:sp>
      <p:sp>
        <p:nvSpPr>
          <p:cNvPr id="24" name="Web application card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6" name="Image 4" descr="Web applic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1032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63040" y="47548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Web application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5440680"/>
            <a:ext cx="1063721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Flask API (port 8103) and React interface (port 5103): check, batch, report, threat intelligence, models, activity.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5760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Proposed architecture: React interface, Flask API with the detection modules, local storage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106" y="1123950"/>
            <a:ext cx="6452286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4" name="Multimodal model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Multimodal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Catches unseen URLs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trained model scores URLs that no list contains (target: F1 above 90 %).</a:t>
            </a:r>
            <a:endParaRPr lang="en-US" sz="1600" dirty="0"/>
          </a:p>
        </p:txBody>
      </p:sp>
      <p:sp>
        <p:nvSpPr>
          <p:cNvPr id="9" name="Transparent output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Transparent out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Real time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verdict in well under a second.</a:t>
            </a:r>
            <a:endParaRPr lang="en-US" sz="1600" dirty="0"/>
          </a:p>
        </p:txBody>
      </p:sp>
      <p:sp>
        <p:nvSpPr>
          <p:cNvPr id="14" name="Honest evaluation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Honest evalu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Zero-day response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confirmed community verdict acts on the next check.</a:t>
            </a:r>
            <a:endParaRPr lang="en-US" sz="1600" dirty="0"/>
          </a:p>
        </p:txBody>
      </p:sp>
      <p:sp>
        <p:nvSpPr>
          <p:cNvPr id="19" name="Generated-media signal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1" name="Image 3" descr="Generated-media sign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Self-improving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Confirmed URLs retrain the model and it reloads without a restart.</a:t>
            </a:r>
            <a:endParaRPr lang="en-US" sz="1600" dirty="0"/>
          </a:p>
        </p:txBody>
      </p:sp>
      <p:sp>
        <p:nvSpPr>
          <p:cNvPr id="24" name="Usable system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Usable syst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Explainable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Every verdict shows red flags and a reason.</a:t>
            </a:r>
            <a:endParaRPr lang="en-US" sz="1600" dirty="0"/>
          </a:p>
        </p:txBody>
      </p:sp>
      <p:sp>
        <p:nvSpPr>
          <p:cNvPr id="29" name="Quality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31" name="Image 5" descr="Qual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Honest evaluation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Three models compared fairly; limits reported plainly.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[1] L. Aldhuwayhi and A. Alromih, "A dynamic phishing URL detection system integrating advanced machine learning and crowdsourced threat intelligence," IEEE Access, vol. 14, pp. 88393-88404, 2026, doi: 10.1109/ACCESS.2026.3700833.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[2] "Phishing URL detection using machine learning," Journal of Advanced Research in Production and Industrial Engineering, 2023.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[3] "Real-time phishing URL detection using reinforcement learning," International Journal of Science and Research (IJSR), 2025.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[4] "Phishing URL detection using machine learning and deep learning," in Proc. 2024 IEEE World AI IoT Congress (AIIoT), 2024.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[5] "Automated phishing detection through URL analysis and machine learning," Communications on Applied Nonlinear Analysis, 2025.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[6] V. Vajrobol, B. B. Gupta and A. Gaurav, "Mutual information based logistic regression for phishing URL detection," Cyber Security and Applications, vol. 2, p. 100044, Jan. 2024, doi: 10.1016/j.csa.2024.100044.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[7] T. Etem and M. Teke, "Advanced phishing detection: Leveraging t-SNE feature extraction and machine learning on a comprehensive URL dataset," Acta Infologica, vol. 231, no. 221, pp. 213-221, 2024, doi: 10.26650/acin.1521835.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[8] S. Alnemari and M. Alshammari, "Detecting phishing domains using machine learning," Applied Sciences, vol. 13, no. 8, p. 4649, Apr. 2023, doi: 10.3390/app13084649.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[9] U. A. Butt, R. Amin, H. Aldabbas, S. Mohan, B. Alouffi and A. Ahmadian, "Cloud-based email phishing attack using machine and deep learning algorithm," Complex &amp; Intelligent Systems, vol. 9, no. 3, pp. 3043-3070, Jun. 2023, doi: 10.1007/s40747-022-00760-3.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[10] D. Rathee and S. Mann, "Detection of e-mail phishing attacks - using machine learning and deep learning," International Journal of Computer Applications, vol. 183, no. 47, pp. 1-7, Jan. 2022, doi: 10.5120/ijca2022921868.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[11] K. S. Priya, J. Chandrika and M. P. Lakshmi, "Machine learning-based phishing website detection: a comprehensive approach for cyber security," in Proc. 5th Int. Conf. Recent Trends in Computer Science and Technology (ICRTCST), Apr. 2024, pp. 344-349, doi: 10.1109/ICRTCST61793.2024.10578472.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[12] S. Sawant, R. Savakhande, O. Sankhe and S. Tamboli, "Phishing detection by integrating machine learning and deep learning," in Proc. 11th Int. Conf. Computing for Sustainable Global Development (INDIACom), Feb. 2024, pp. 1078-1083, doi: 10.23919/INDIACom61295.2024.10499100.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[13] Z. Fan, "Detecting and classifying phishing websites by machine learning," in Proc. 3rd Int. Conf. Applied Machine Learning (ICAML), Jul. 2021, pp. 48-51, doi: 10.1109/ICAML54311.2021.00018.</a:t>
            </a:r>
            <a:endParaRPr lang="en-US" sz="11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</a:rPr>
              <a:t>[14] A. Assefa and R. Katarya, "Intelligent phishing website detection using deep learning," in Proc. 8th Int. Conf. Advanced Computing and Communication Systems (ICACCS), vol. 1, Mar. 2022, pp. 1741-1745, doi: 10.1109/ICACCS54159.2022.9785003.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PhishGuard: Review 1</dc:title>
  <dc:subject>A Dynamic Phishing URL Detection System Integrating Advanced Machine Learning and Crowdsourced Threat Intelligence</dc:subject>
  <dc:creator>Batch A3</dc:creator>
  <cp:lastModifiedBy>Batch A3</cp:lastModifiedBy>
  <cp:revision>1</cp:revision>
  <dcterms:created xsi:type="dcterms:W3CDTF">2026-10-13T12:36:40Z</dcterms:created>
  <dcterms:modified xsi:type="dcterms:W3CDTF">2026-10-13T12:36:40Z</dcterms:modified>
  <cp:keywords>phishing detection, URL classification, crowdsourced threat intelligence</cp:keywords>
  <cp:category/>
  <dc:description/>
  <cp:contentStatus/>
</cp:coreProperties>
</file>