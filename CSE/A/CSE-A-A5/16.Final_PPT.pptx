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Stacked</c:v>
                </c:pt>
                <c:pt idx="1">
                  <c:v>XGBoost</c:v>
                </c:pt>
                <c:pt idx="2">
                  <c:v>1D CNN</c:v>
                </c:pt>
                <c:pt idx="3">
                  <c:v>Mean XGB+CNN</c:v>
                </c:pt>
                <c:pt idx="4">
                  <c:v>Random forest</c:v>
                </c:pt>
                <c:pt idx="5">
                  <c:v>Decision tree</c:v>
                </c:pt>
                <c:pt idx="6">
                  <c:v>Logistic reg.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0.889688092114852</c:v>
                </c:pt>
                <c:pt idx="1">
                  <c:v>0.909947529514648</c:v>
                </c:pt>
                <c:pt idx="2">
                  <c:v>0.8409585580333285</c:v>
                </c:pt>
                <c:pt idx="3">
                  <c:v>0.8880726813389691</c:v>
                </c:pt>
                <c:pt idx="4">
                  <c:v>0.8588106689986883</c:v>
                </c:pt>
                <c:pt idx="5">
                  <c:v>0.8534275858718361</c:v>
                </c:pt>
                <c:pt idx="6">
                  <c:v>0.8056187144731088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Sheet1!$A$2:$A$8</c:f>
              <c:strCache>
                <c:ptCount val="7"/>
                <c:pt idx="0">
                  <c:v>Stacked</c:v>
                </c:pt>
                <c:pt idx="1">
                  <c:v>XGBoost</c:v>
                </c:pt>
                <c:pt idx="2">
                  <c:v>1D CNN</c:v>
                </c:pt>
                <c:pt idx="3">
                  <c:v>Mean XGB+CNN</c:v>
                </c:pt>
                <c:pt idx="4">
                  <c:v>Random forest</c:v>
                </c:pt>
                <c:pt idx="5">
                  <c:v>Decision tree</c:v>
                </c:pt>
                <c:pt idx="6">
                  <c:v>Logistic reg.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0.9073103021708933</c:v>
                </c:pt>
                <c:pt idx="1">
                  <c:v>0.9218057803476206</c:v>
                </c:pt>
                <c:pt idx="2">
                  <c:v>0.8727652719321426</c:v>
                </c:pt>
                <c:pt idx="3">
                  <c:v>0.9059458472026914</c:v>
                </c:pt>
                <c:pt idx="4">
                  <c:v>0.8854455313677466</c:v>
                </c:pt>
                <c:pt idx="5">
                  <c:v>0.879665605521585</c:v>
                </c:pt>
                <c:pt idx="6">
                  <c:v>0.8464424533285317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False-positive rate (lower is better)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Stacked</c:v>
                </c:pt>
                <c:pt idx="1">
                  <c:v>XGBoost</c:v>
                </c:pt>
                <c:pt idx="2">
                  <c:v>1D CNN</c:v>
                </c:pt>
                <c:pt idx="3">
                  <c:v>Mean XGB+CNN</c:v>
                </c:pt>
                <c:pt idx="4">
                  <c:v>Random forest</c:v>
                </c:pt>
                <c:pt idx="5">
                  <c:v>Decision tree</c:v>
                </c:pt>
                <c:pt idx="6">
                  <c:v>Logistic reg.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0.2216486486486487</c:v>
                </c:pt>
                <c:pt idx="1">
                  <c:v>0.15632432432432433</c:v>
                </c:pt>
                <c:pt idx="2">
                  <c:v>0.3423945945945946</c:v>
                </c:pt>
                <c:pt idx="3">
                  <c:v>0.22319459459459462</c:v>
                </c:pt>
                <c:pt idx="4">
                  <c:v>0.303172972972973</c:v>
                </c:pt>
                <c:pt idx="5">
                  <c:v>0.2926594594594595</c:v>
                </c:pt>
                <c:pt idx="6">
                  <c:v>0.3994594594594595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Sheet1!$A$2:$A$6</c:f>
              <c:strCache>
                <c:ptCount val="5"/>
                <c:pt idx="0">
                  <c:v>Shipped,
its synthetic
test</c:v>
                </c:pt>
                <c:pt idx="1">
                  <c:v>Shipped,
fresh
synthetic</c:v>
                </c:pt>
                <c:pt idx="2">
                  <c:v>Shipped,
REAL test</c:v>
                </c:pt>
                <c:pt idx="3">
                  <c:v>Real-trained,
REAL test</c:v>
                </c:pt>
                <c:pt idx="4">
                  <c:v>Real-trained,
synthetic CSV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0.9733333333333334</c:v>
                </c:pt>
                <c:pt idx="1">
                  <c:v>0.975</c:v>
                </c:pt>
                <c:pt idx="2">
                  <c:v>0.6602900451829179</c:v>
                </c:pt>
                <c:pt idx="3">
                  <c:v>0.889688092114852</c:v>
                </c:pt>
                <c:pt idx="4">
                  <c:v>0.37325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CipherGuard Shield: authenticated encryption plus machine-learning intrusion detection around one cloud data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the problem, the two protections, then the numbers with their protocol. Say clearly that 97.33% is on synthetic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Kalyanasundaram et al., IEEE Access 2026. We keep its idea of detection plus encryption on one path, but use standard, analysed primitives and a classical ensemble; neither the quantum-inspired network nor EECC is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 found in the batch survey and in the base paper's related-work section. Rows described as 'as cited in [1]' are second-hand; rows for [2]-[5] are title-level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gaps. We address the first, second, third and fifth directly; the fourth we test with the official partition.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problem points from the batch statement, then input, output and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from the batch document. The conclusion slide gives the real status of each, including that ECDH replaced 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proposed system as two lanes. Be explicit that detection is not wired to block transfers.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tiers. No database: alerts are an in-memory list capped at 500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model pipeline. The CNN loss is unweighted BCE in the PyTorch path that ran, although the README mentions balanced weighting.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Official train and test are separated in time, so the test is harder than a random split. The synthetic CSV is only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core algorithm of cipherguard/ids/inference.py as a flowchart.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 of score, encrypt and decrypt requests, and the use cases of the operator, the developer and the mock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CipherGuard Shield has no database. The ER diagram shows logical entities.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Highlights and honest absences.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CNN lifts recall but doubles the false-alarm rate; XGBoost alone is the best single model on the temporally shifted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Rows are the actual class. Most errors are normal traffic flagged as attack; the threshold trades missed attacks for fewer false alarms.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most important finding: where the training data comes from decides everything. Synthetic accuracy says nothing about real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Medians on a shared i5-12500 (indicative). SecureChannel costs more than raw AES-GCM on large payloads because of base64 and ephemeral key work; RSA-OAEP decrypt costs 0.45 ms (2048-bit) versus 0.10 ms at 1 KB.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 that datasets differ. No superiority over the base paper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captures of the running console. Note the XGBoost and CNN disagree on this record; the stack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Encrypt, decrypt-and-verify, and the tamper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failure case and the fix side by side. The real-trained bundle is served with CIPHERGUARD_MODELS_DIR; it is not the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about which objectives were met, partly met or not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Limitations first, then concrete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8.pn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5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17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 Transmission in Cloud Computing using Encryption and Machine Learning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·  CipherGuard Shield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A5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23K91A0520   AVUTI SANDHYA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23K91A0530   BANOTHU INDU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23K91A0559   DASARI SRITEJA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23K91A0533   BEJUGAM VAISHNAVI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Prabhakar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TKR College of Engineering &amp; Technology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Gap, Problem Statement &amp; 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Dataset &amp; Models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Workflow, Interaction &amp; Data Design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Detection, Confusion Matrix, Real vs Synthetic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Limitations,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5568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Data sent to a public cloud can be read, altered or attacked on the way. CipherGuard Shield puts two protections around one data path: authenticated encryption and a machine-learning intrusion detector.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SecureChannel: a fresh P-256 key pair per message, ECDH + HKDF-SHA256 to a 256-bit key, AES-256-GCM. All 6,000 tamper trials behaved as expected; 100 KB is encrypted in 0.54 ms.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ThreatSense Engine: XGBoost + 1D CNN stacked by logistic regression, with severity-graded alerts and a live React console.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Real UNSW-NB15: stacked ensemble 0.890 accuracy on the official 82,332-flow test set; XGBoost alone is better at 0.910. Base-paper protocol: 0.938.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shipped default model is trained on synthetic data: its 97.33% is a property of the generator and drops to 0.660 on real flows.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One protected 100 KB transfer costs 5.7 ms; detection, not encryption, is 81% of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V. Kalyanasundaram, S. Raja and S. Kanthimathi, "Intrusion detection model using fused quantum NN-LeNet with improved elliptic curve cryptography based data security," IEEE Access, vol. 14, pp. 63767-63779, 2026, doi: 10.1109/ACCESS.2026.3686106.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468880"/>
          <a:ext cx="11155680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932688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paper: intrusion detection with fused quantum-inspired NN-LeNet and improved ECC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Detector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FLPF with EVD-QNN (quantum-inspired, simulated on classical hardware) + LeNet; scores fused by DSMMN score-level fusion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Encryption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Enhanced Elliptic Curve Cryptography (EECC): non-intrusive data encrypted before transfer; the paper states no ECDLP-based security proof is given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UNSW-NB15, 9,000 balanced samples (4,500 per class), stratified 70/15/15, 10 runs averaged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Mean accuracy 0.9487 (0.9564 in the ablation), precision 0.97, FPR 0.03; EECC encrypts in 0.39 s and decrypts in 0.26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Balanced subset only (imbalanced data left to future work); no formal security proof for EECC; baselines re-implemented by the authors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44439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640080"/>
                <a:gridCol w="4206240"/>
                <a:gridCol w="3566160"/>
              </a:tblGrid>
              <a:tr h="49377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Finding / 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Kalyanasundaram et al. [1] (base)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Quantum-inspired NN + LeNet, DSMMN fusion, EECC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UNSW-NB15, 9,000 flows; mean accuracy 0.9487; no EECC security proof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Kadry et al. [20]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Optimised QNN (WOA features) + ECC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98.5% accuracy for real-time detection, as cited in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Mbaya et al. [23]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SecFedIDM-V1: blockchain + BiLSTM-RNN on CIDDS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Web app that labels packets normal or attack, as cited in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Rahman et al. [24]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SYN-GAN: GAN-made synthetic data to train NIDS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100% scores on BoT-IoT with synthetic training data, as cited in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Batch survey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Encryption + anomaly detection for cloud storage and transmission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Title-level only; full text not reviewed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Batch survey [3]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Automated data deletion for multi-cloud with an IDS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Title-level only; full text not reviewed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Batch survey [4]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Federated attack detection + improved Blowfish in cloud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Title-level only; full text not reviewed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Batch survey [5]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Hybrid-encryption privacy framework for cloud transmission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Title-level only; full text not reviewed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5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surveyed work treats cryptography and intrusion detection as separate concerns (batch literature survey).</a:t>
            </a:r>
          </a:p>
          <a:p>
            <a:pPr algn="l" marL="256032" indent="-201168">
              <a:spcAft>
                <a:spcPts val="15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Where both appear, the combined cost of encrypting and detecting on the same path is not reported.</a:t>
            </a:r>
          </a:p>
          <a:p>
            <a:pPr algn="l" marL="256032" indent="-201168">
              <a:spcAft>
                <a:spcPts val="15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base paper's EECC has no formal security proof; standard ECDH + AES-GCM is analysed, standardised and available in common libraries.</a:t>
            </a:r>
          </a:p>
          <a:p>
            <a:pPr algn="l" marL="256032" indent="-201168">
              <a:spcAft>
                <a:spcPts val="15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Base-paper results use a 9,000-flow balanced subset; the temporally separated official partition and class imbalance are left to future work.</a:t>
            </a:r>
          </a:p>
          <a:p>
            <a:pPr algn="l" marL="256032" indent="-201168">
              <a:spcAft>
                <a:spcPts val="15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Synthetic or balanced evaluations hide domain shift: how a model trained on one data source behaves on another is rarely shown.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155680" cy="237744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Data placed in a public cloud is readable by the provider unless it is encrypted before upload.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Symmetric encryption alone leaves the key exchange vulnerable to interception.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Encryption cannot detect an attacker who already holds valid credentials.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Most academic systems address either cryptography or intrusion detection, rarely both together.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Need: encrypt with a hybrid scheme and monitor for intrusion with machine learning on the same path.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9768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463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Text (&lt;= 1 MB), a file (&lt;= 5 MB), one flow record or a CSV (&lt;= 10,000 rows)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429768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484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8463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Authenticated envelope, verified plaintext or a rejection, attack verdicts with severity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29768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8463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Alert log, measured model metrics and benchmarks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 Design a hybrid encryption scheme using AES for the payload and RSA for key exchange.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 Implement secure key generation, distribution and storage between sender and receiver.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 Build a transmission module that encrypts before upload and decrypts after download.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 Train a machine-learning classifier on a benchmark intrusion dataset to detect anomalous access.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 Integrate the detection layer so suspicious sessions are flagged and logged during transfer.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 Evaluate encryption and decryption time, throughput overhead and intrusion-detection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Lane A - SecureChannel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Payload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7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0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Ephemeral P-256 key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75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12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ECDH + HKDF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8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AES-256-GCM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85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2920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Envelope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9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2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Cloud 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9260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Lane B - ThreatSense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Flow record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17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0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Preprocess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075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12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XGBoost + 1D CNN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8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LR stacking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85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22920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Verdict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79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2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Alert 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389120"/>
            <a:ext cx="111556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new key for every message gives forward separation between messages; GCM authenticates ciphertext, nonce and tag, so any change is rejected.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Detection scores flow records (one row or a CSV) and keeps an alert list with severity low / medium / high / critical.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two lanes run side by side in one console; the API does not block a transfer on a verdict - the operator decides.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017" y="1645920"/>
            <a:ext cx="5422604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1783080"/>
            <a:ext cx="457200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Console: React 19 + Vite on port 5305; legacy HTML dashboard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API: FastAPI + Uvicorn on port 8305, 9 JSON routes plus /docs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Core: cipherguard/crypto (SecureChannel) and cipherguard/ids (ThreatSense Engine)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State: alert list and session-key cache in memory; no database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Files: models/, reports/metrics.json, data/raw/synthetic_demo.csv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Picture 6" descr="12_mod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83410"/>
            <a:ext cx="6675120" cy="44055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737360"/>
            <a:ext cx="4297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Preprocess: MinMax on 39 numeric features, one-hot on proto, service, state.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XGBoost: 200 trees, depth 6, learning rate 0.08.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1D CNN: two conv + pool blocks, dense 64, dropout 0.3 (PyTorch, Adam, early stopping).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Stacking: logistic regression on the two probabilities, fitted on the validation split; threshold 0.5.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 on the official split (5 seeds), the base-paper protocol (10 runs) and a domain-shift test.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9748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42316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175,341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8509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official training flows (56,000 normal)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88920"/>
            <a:ext cx="269748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02920" y="2788920"/>
            <a:ext cx="73152" cy="9601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843784"/>
            <a:ext cx="242316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82,332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45789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official test flows (55.1% attack)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269748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73152" cy="9601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3941063"/>
            <a:ext cx="242316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43069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flow features -&gt; 192 encoded inputs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429000" y="1691640"/>
          <a:ext cx="8275320" cy="2514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914400"/>
                <a:gridCol w="425196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Used for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Synthetic demo CSV (generated)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12,000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shipped model; 70/15/15 split; 2.5% label noise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UNSW-NB15 official training 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175,341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fit 149,039 + validation 26,302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UNSW-NB15 official testing 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82,332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held-out test, later capture period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9,000 balanced flows (paper protocol)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9,000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6,300 / 1,350 / 1,350, ten repetitions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429000" y="4343400"/>
            <a:ext cx="82296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UNSW-NB15 (Moustafa &amp; Slay, UNSW Canberra, 2015): ten classes - Normal, Generic, Exploits, Fuzzers, DoS, Reconnaissance, Analysis, Backdoor, Shellcode, Worms.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shipped model never saw real traffic: its data is a generator with the UNSW-NB15 schema.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7492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Licence: free for academic use; cite the original authors.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10_flowchart_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06" y="1645920"/>
            <a:ext cx="4961106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1783080"/>
            <a:ext cx="576072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Missing features get defaults; column names are matched case-insensitively.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Unknown protocols, services or states are ignored by the one-hot encoder, not crashed on.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 = sigmoid(w1 * p_xgb + w2 * p_cnn + b); attack when p &gt;= 0.5.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Severity: p &gt;= 0.85 critical, &gt;= 0.70 high, otherwise medium; normal is low.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Shipped meta weights: 3.77 for XGBoost and 3.59 for the CNN.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– 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7_sequenc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2" y="1645920"/>
            <a:ext cx="5551714" cy="4663440"/>
          </a:xfrm>
          <a:prstGeom prst="rect">
            <a:avLst/>
          </a:prstGeom>
        </p:spPr>
      </p:pic>
      <p:pic>
        <p:nvPicPr>
          <p:cNvPr id="8" name="Picture 7" descr="08_use_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205532"/>
            <a:ext cx="5212080" cy="35442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 (no database)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Picture 6" descr="09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79" y="1645920"/>
            <a:ext cx="5129560" cy="42062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737360"/>
          <a:ext cx="484632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283464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Store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Content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alerts_log (memory)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last 500 attack alerts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_last_session_keys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ephemeral key -&gt; AES key (demo cache)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cloud key pair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one P-256 pair per process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models/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xgb, cnn, meta, preprocessor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reports/metrics.json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held-out test metrics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data/raw/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synthetic demo CSV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 foreign keys and no persistence: alerts and keys are lost when the server restarts.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JSON routes (+ /docs)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26 + 15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pytest tests + smoke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React screens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93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fixed envelope overhead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971800"/>
            <a:ext cx="111556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Input limits: text 1 MB, file 5 MB, CSV 10 MB and 10,000 rows; empty, non-CSV and malformed base64 return 400; engine not ready returns 503.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Envelope = ciphertext + 12-byte random nonce + 16-byte tag + 65-byte ephemeral public key; HKDF-SHA256 with a fixed context string.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cloud derives the key by real ECDH with its private key when the demo cache misses (tested).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Console: live scoring with CSV batch, secure transfer with tamper button, alerts, model performance; one command (run.bat) starts both servers.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present: authentication, TLS, rate limiting, persistent keys.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Detection on Real UNSW-NB15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0.890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stacked accuracy, official test (5 seeds)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0.907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stacked F1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0.984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stacked ROC-AUC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4592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0.910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XGBoost alone: better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502920" y="2743200"/>
          <a:ext cx="11155680" cy="2926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2920" y="571500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Five seeds, stacked accuracy std 0.0016; stacking beats the plain mean by only 0.002 and loses to XGBoost. Base-paper protocol (9,000 balanced flows, 10 runs): stacked 0.938, XGBoost 0.939, random forest 0.939: no gain from stacking. The test set is a later capture period than training.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Threshold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Stacked, official test (82,332), seed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574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pred 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574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pred attack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actual normal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4752" y="2404872"/>
            <a:ext cx="1271016" cy="722376"/>
          </a:xfrm>
          <a:prstGeom prst="roundRect">
            <a:avLst>
              <a:gd name="adj" fmla="val 5000"/>
            </a:avLst>
          </a:prstGeom>
          <a:solidFill>
            <a:srgbClr val="C6E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17320" y="237744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28,646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77.4% of row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2404872"/>
            <a:ext cx="1271016" cy="722376"/>
          </a:xfrm>
          <a:prstGeom prst="roundRect">
            <a:avLst>
              <a:gd name="adj" fmla="val 5000"/>
            </a:avLst>
          </a:prstGeom>
          <a:solidFill>
            <a:srgbClr val="FB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743200" y="237744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8,354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22.6% of 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5468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actual attack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44752" y="3182112"/>
            <a:ext cx="1271016" cy="722376"/>
          </a:xfrm>
          <a:prstGeom prst="roundRect">
            <a:avLst>
              <a:gd name="adj" fmla="val 5000"/>
            </a:avLst>
          </a:prstGeom>
          <a:solidFill>
            <a:srgbClr val="FB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417320" y="315468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877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1.9% of row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70632" y="3182112"/>
            <a:ext cx="1271016" cy="722376"/>
          </a:xfrm>
          <a:prstGeom prst="roundRect">
            <a:avLst>
              <a:gd name="adj" fmla="val 5000"/>
            </a:avLst>
          </a:prstGeom>
          <a:solidFill>
            <a:srgbClr val="C6E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743200" y="315468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44,455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98.1% of row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16002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XGBoost alone, same test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0574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pred normal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0574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pred attack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37744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actual normal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39512" y="2404872"/>
            <a:ext cx="1271016" cy="722376"/>
          </a:xfrm>
          <a:prstGeom prst="roundRect">
            <a:avLst>
              <a:gd name="adj" fmla="val 5000"/>
            </a:avLst>
          </a:prstGeom>
          <a:solidFill>
            <a:srgbClr val="C6E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212080" y="237744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31,244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84.4% of row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65392" y="2404872"/>
            <a:ext cx="1271016" cy="722376"/>
          </a:xfrm>
          <a:prstGeom prst="roundRect">
            <a:avLst>
              <a:gd name="adj" fmla="val 5000"/>
            </a:avLst>
          </a:prstGeom>
          <a:solidFill>
            <a:srgbClr val="FB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37960" y="237744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5,756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15.6% of row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15468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actual attack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39512" y="3182112"/>
            <a:ext cx="1271016" cy="722376"/>
          </a:xfrm>
          <a:prstGeom prst="roundRect">
            <a:avLst>
              <a:gd name="adj" fmla="val 5000"/>
            </a:avLst>
          </a:prstGeom>
          <a:solidFill>
            <a:srgbClr val="FB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212080" y="315468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1,644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3.6% of row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65392" y="3182112"/>
            <a:ext cx="1271016" cy="722376"/>
          </a:xfrm>
          <a:prstGeom prst="roundRect">
            <a:avLst>
              <a:gd name="adj" fmla="val 5000"/>
            </a:avLst>
          </a:prstGeom>
          <a:solidFill>
            <a:srgbClr val="C6E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37960" y="315468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43,688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96.4% of row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16002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Shipped model, its synthetic split (1,800)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20574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pred normal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19" y="20574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pred attack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237744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actual normal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34272" y="2404872"/>
            <a:ext cx="1271016" cy="722376"/>
          </a:xfrm>
          <a:prstGeom prst="roundRect">
            <a:avLst>
              <a:gd name="adj" fmla="val 5000"/>
            </a:avLst>
          </a:prstGeom>
          <a:solidFill>
            <a:srgbClr val="C6E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06840" y="237744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877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97.7% of row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60151" y="2404872"/>
            <a:ext cx="1271016" cy="722376"/>
          </a:xfrm>
          <a:prstGeom prst="roundRect">
            <a:avLst>
              <a:gd name="adj" fmla="val 5000"/>
            </a:avLst>
          </a:prstGeom>
          <a:solidFill>
            <a:srgbClr val="FB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332719" y="237744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21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2.3% of row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315468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actual attack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34272" y="3182112"/>
            <a:ext cx="1271016" cy="722376"/>
          </a:xfrm>
          <a:prstGeom prst="roundRect">
            <a:avLst>
              <a:gd name="adj" fmla="val 5000"/>
            </a:avLst>
          </a:prstGeom>
          <a:solidFill>
            <a:srgbClr val="FB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006840" y="315468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27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3.0% of row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60151" y="3182112"/>
            <a:ext cx="1271016" cy="722376"/>
          </a:xfrm>
          <a:prstGeom prst="roundRect">
            <a:avLst>
              <a:gd name="adj" fmla="val 5000"/>
            </a:avLst>
          </a:prstGeom>
          <a:solidFill>
            <a:srgbClr val="C6E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332719" y="315468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875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97.0% of row</a:t>
            </a:r>
          </a:p>
        </p:txBody>
      </p:sp>
      <p:pic>
        <p:nvPicPr>
          <p:cNvPr id="46" name="Picture 45" descr="f04_threshold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62" y="4069080"/>
            <a:ext cx="3206435" cy="228599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754880" y="416052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Stacked at 0.5: recall 98.1%, FPR 22.6% (8,354 of 37,000 normal flows raise a false alarm).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Raising the threshold to 0.9: accuracy 0.921, precision 0.922, recall 0.936, FPR 9.6%.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Best-F1 point of the sweep is 0.95; the sweep was run on the test set, so it shows the trade-off rather than a tuned result.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shipped threshold stays 0.5.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Real vs Synthetic Data, by Category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600200"/>
          <a:ext cx="585216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8" name="Picture 7" descr="f05_per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204" y="1645920"/>
            <a:ext cx="5156150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663440"/>
            <a:ext cx="11155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shipped 97.33% is on synthetic data; 2.5% injected label noise caps accuracy near 97.5% and XGBoost, CNN and stack all score the same. On the 82,332 real flows the same model scores 0.660 (AUC 0.657); real-trained models on the synthetic CSV score 0.373.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Detected: Generic 100.0%, DoS 99.9%, Exploits 99.6%; Fuzzers only 86.7%; normal traffic correctly passed 77.4%. sttl dominates feature importance (a known dataset artefact).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3.92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score one flow (in process)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0.54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encrypt 100 KB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0.38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decrypt 100 KB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45920"/>
            <a:ext cx="73152" cy="9144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5.67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protected transfer; IDS 81%</a:t>
            </a:r>
          </a:p>
        </p:txBody>
      </p:sp>
      <p:pic>
        <p:nvPicPr>
          <p:cNvPr id="23" name="Picture 22" descr="f09_crypto_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81" y="2651760"/>
            <a:ext cx="4964316" cy="2148840"/>
          </a:xfrm>
          <a:prstGeom prst="rect">
            <a:avLst/>
          </a:prstGeom>
        </p:spPr>
      </p:pic>
      <p:pic>
        <p:nvPicPr>
          <p:cNvPr id="24" name="Picture 23" descr="f10_pipeline_laten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2526" y="2651760"/>
            <a:ext cx="4277186" cy="2148840"/>
          </a:xfrm>
          <a:prstGeom prst="rect">
            <a:avLst/>
          </a:prstGeom>
        </p:spPr>
      </p:pic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02920" y="4892040"/>
          <a:ext cx="11155680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97680"/>
                <a:gridCol w="68580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Check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pytest (crypto 10, IDS engine 6, API 10)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26 of 26 passed in 2.9 s; smoke test 15 of 15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Tamper tests: ciphertext, tag, nonce, truncation, wrong key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 cases x 1,000 trials: 6,000 of 6,000 as expected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Nonce uniqueness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20,000 encryptions of one text: 20,000 distinct nonces and ciphertexts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tested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load, concurrency, Docker, other browsers, adversarial evasion of the IDS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6675120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2651760"/>
                <a:gridCol w="265176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This project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Detector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Quantum-inspired NN + LeNet, DSMMN fusion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XGBoost + 1D CNN, LR stacking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Encryption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Enhanced ECC, no formal proof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ECDH P-256 + HKDF + AES-256-GCM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 / protocol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9,000 balanced UNSW-NB15 flows, 70/15/15, 10 runs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same style of protocol, 10 runs; plus official 175,341 -&gt; 82,332 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0.9487 mean (0.9564 ablation)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0.938 ± 0.007 (paper protocol); 0.890 ± 0.002 (official)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Precision / FPR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0.97 / 0.03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0.934 / 0.067 (paper protocol)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Encrypt / decrypt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0.39 s / 0.26 s (payload not stated)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0.12 / 0.10 ms (1 KB); 0.51 / 0.30 ms (100 KB)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08_base_paper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1195" y="1691640"/>
            <a:ext cx="4274288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3749039"/>
            <a:ext cx="4343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About one point below the paper's proposed model (0.949) and slightly above its best baseline (SqueezeNet 0.935).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Subsets, hyper-parameters and test fraction are not published: indicative only.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EECC and the quantum-inspired network are not reproduced; the shipped 97.33% (synthetic) is excluded.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Live Scoring and Alerts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03_live-scoring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8_alerts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the attack preset scored as ATTACK, severity HIGH, ensemble 0.84 (XGBoost 0.45, CNN 1.00). Right: alerts raised by the 120-row sample batch. The bundled sample is synthetic, drawn from the demo CSV.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Secure Transfer and Tamper Test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06_secure-transfer-verified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7_secure-transfer-tampere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text encrypted with a fresh ephemeral key, then decrypted and verified at the mock cloud (real ciphertext, nonce, tag, ephemeral public key). Right: one ciphertext byte flipped - the GCM tag check fails and the API answers 400.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Real UNSW-NB15 Flows: Shipped vs Real-Trained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10_real-flows-shipped-model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2_real-flows-real-mode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The same 120 real flows (60 normal, 60 attack, official test set). Left: shipped synthetic-trained model agrees with the labels on 78 of 120 (65.0%). Right: real-trained bundle agrees on 101 of 120 (84.2%); its Model-performance page shows 88.79% on 82,332 flows.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Objectives vs Outcomes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working platform: standard authenticated encryption (6,000 of 6,000 tamper trials as expected) and a detector reaching 0.890 stacked / 0.910 XGBoost on real UNSW-NB15; 26 tests and 15 smoke checks pass.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Findings: detection, not encryption, is the overhead (81% of a protected transfer); stacking adds nothing over XGBoost; synthetic accuracy does not transfer.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108960"/>
          <a:ext cx="1115568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"/>
                <a:gridCol w="3840480"/>
                <a:gridCol w="68580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Objective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Outcome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Hybrid AES + RSA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Partly: ECDH + AES-256-GCM implemented; RSA-OAEP only benchmarked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Key generation, distribution, storage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Generation and distribution met; storage not (keys in memory)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Encrypt before upload, decrypt after download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 against a mock cloud; no real provider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Classifier on benchmark dataset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 in experiments (real UNSW-NB15); shipped default is synthetic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Flag and log suspicious sessions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Partly: alert log in memory, not coupled to transfers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Evaluate time, overhead, 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Met: crypto latency, per-transfer overhead, detection metrics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86400" cy="46634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Known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Default model trained on synthetic data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22.6% false alarms on normal traffic at 0.5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live packet capture; flows are records or CSV rows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Mock in-process cloud, no auth or TLS, keys in memory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adversarial or load testing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EECC and quantum-inspired network not implemented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Timings from one shared machine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486400" cy="466344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Ship the real-trained bundle as default; retrain on newer data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Calibrate the threshold on validation data; cut false alarms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Capture live traffic and gate transfers on the verdict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Real cloud storage, persistent key management, TLS, login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Evaluate evasion attacks and the CICIDS / multi-class setting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Explore standard post-quantum key exchange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V. Kalyanasundaram, S. Raja and S. Kanthimathi, "Intrusion detection model using fused quantum NN-LeNet with improved elliptic curve cryptography based data security," IEEE Access, vol. 14, pp. 63767-63779, 2026, doi: 10.1109/ACCESS.2026.3686106.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[2] H. Boye, "Strengthening cloud security through advanced encryption and anomaly detection techniques for secure data storage and transmission," FMDB Trans. Sustain. Comput. Lett., vol. 2, no. 3, pp. 153-163, 2024, doi: 10.69888/FTSCL.2024.000241.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[3] J. Singh and G. S. Bhathal, "An automated data deletion: a secure method for multi-cloud security with intrusion detection system," Int. J. Sci. Res. (IJSR), vol. 13, no. 8, pp. 213-217, Aug. 2024, doi: 10.21275/SR24730194843.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[4] M. B. Shinde and P. P. Ghadekar, "Federated learning-based attack detection and secure data transmission in cloud using improved Blowfish encryption," Eng. Appl. Artif. Intell., vol. 182, Art. no. 115975, 2026, doi: 10.1016/j.engappai.2026.115975.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[5] N. Pamarthi and N. Rao N, "A cloud-based data privacy framework using hybrid encryption algorithms for secure data transmission," Genet. Mol. Res., 2026, doi: 10.4238/mq5a9v31.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[7] N. Moustafa and J. Slay, "UNSW-NB15: a comprehensive data set for network intrusion detection systems (UNSW-NB15 network data set)," in Proc. Mil. Commun. Inf. Syst. Conf. (MilCIS), Canberra, Australia, 2015, pp. 1-6, doi: 10.1109/MilCIS.2015.7348942.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[9] T. Chen and C. Guestrin, "XGBoost: a scalable tree boosting system," in Proc. 22nd ACM SIGKDD Int. Conf. Knowl. Discovery Data Mining, San Francisco, CA, USA, 2016, pp. 785-794, doi: 10.1145/2939672.2939785.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[10] Y. LeCun, L. Bottou, Y. Bengio and P. Haffner, "Gradient-based learning applied to document recognition," Proc. IEEE, vol. 86, no. 11, pp. 2278-2324, Nov. 1998, doi: 10.1109/5.726791.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[11] D. H. Wolpert, "Stacked generalization," Neural Netw., vol. 5, no. 2, pp. 241-259, 1992, doi: 10.1016/S0893-6080(05)80023-1.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[12] M. Dworkin, "Recommendation for block cipher modes of operation: Galois/Counter Mode (GCM) and GMAC," NIST Special Publication 800-38D, Nov. 2007, doi: 10.6028/NIST.SP.800-38D.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[13] E. Barker, L. Chen, A. Roginsky, A. Vassilev and R. Davis, "Recommendation for pair-wise key-establishment schemes using discrete logarithm cryptography," NIST Special Publication 800-56A, Rev. 3, Apr. 2018, doi: 10.6028/NIST.SP.800-56Ar3.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[14] H. Krawczyk and P. Eronen, "HMAC-based extract-and-expand key derivation function (HKDF)," IETF RFC 5869, May 2010, doi: 10.17487/RFC5869.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[20] H. Kadry, A. Farouk, E. A. Zanaty and O. Reyad, "Intrusion detection model using optimized quantum neural network and elliptical curve cryptography for data security," Alexandria Eng. J., vol. 71, pp. 491-500, May 2023, doi: 10.1016/j.aej.2023.03.072.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[24] S. Rahman, S. Pal, S. Mittal, T. Chawla and C. Karmakar, "SYN-GAN: a robust intrusion detection system using GAN-based synthetic data for IoT security," Internet Things, vol. 26, Art. no. 101212, Jul. 2024, doi: 10.1016/j.iot.2024.101212.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A5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pherGuard">
  <a:themeElements>
    <a:clrScheme name="CipherGu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pherGuard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ipherGuar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Data Transmission in Cloud Computing using Encryption and Machine Learning - Final Review</dc:title>
  <dc:subject>CipherGuard Shield</dc:subject>
  <dc:creator>Batch A5, Dept. of CSE, TKRCET</dc:creator>
  <cp:lastModifiedBy>Batch A5, Dept. of CSE, TKRCET</cp:lastModifiedBy>
  <cp:revision>1</cp:revision>
  <dcterms:created xsi:type="dcterms:W3CDTF">2026-10-07T05:03:03Z</dcterms:created>
  <dcterms:modified xsi:type="dcterms:W3CDTF">2026-10-07T05:03:03Z</dcterms:modified>
  <dc:description/>
  <cp:keywords>cloud security, AES-256-GCM, ECDH, intrusion detection, XGBoost, 1D CNN, UNSW-NB15</cp:keywords>
</cp:coreProperties>
</file>