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CipherGuard Shield is designed and built, what is implemented, the first measured results on the real UNSW-NB15 dataset, and the open items. Introduce the four team members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batch survey gap was that cryptography and intrusion detection are treated separately and the combined overhead is never measured. We kept the joint idea, replaced the paper's quantum-inspired network and EECC by standard components, and measured the overhead.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routes live in cipherguard/api/main.py. The cloud is a mock endpoint in the same process with its own long-term P-256 key pair; a real deployment would run it elsewhere.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two lanes are independent code paths that the console runs side by side. Making the detector gate a transfer is future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frank: the shipped 97.33 percent is accuracy on synthetic rows. We fetched the official UNSW-NB15 training and testing sets (175,341 and 82,332 flows) from a public repackaging and ran the same pipeline on them. The UNSW-NB15 data is free for academic use with citation.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Preprocessing is a scikit-learn ColumnTransformer: MinMaxScaler for numerics and OneHotEncoder with handle_unknown=ignore for the three categorical fields.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components with separate jobs. The CNN reshapes the encoded vector to a one-channel sequence; it is a small network, trained on a CPU.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Hyper-parameters are those in cipherguard/ids/train.py; the experiment script reuses the shipped training functions. Seeds change the fit/validation split and the CNN initialisation.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flowchart mirrors ThreatSenseEngine.score_single and the /api/ids/score route. A deployment would choose the threshold on a validation set according to how many false alarms an operator can tolerate.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splits the system into validation, scoring, alert reporting, encryption, decryption, metrics serving and offline training.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persistence of alerts and of the cloud key is future work. SecureChannel is a class of static methods, drawn as such in the UML.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pinned in requirements.txt and package.json. On the measurement PC PyTorch 2.14 (CPU) was used; the pinned 2.2.0 is installed by run.bat.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honest gaps are on the last two rows: detection is not coupled to transfers, nothing persists, and the base paper's own components are not reproduced.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findings. 1) The shipped 97.33 percent is a property of the synthetic generator (label noise caps it at 97.5). 2) On real UNSW-NB15 the stacked ensemble gets 0.890; XGBoost alone gets 0.910 so stacking does not help here. 3) Under the base paper's style of protocol the stacked model reaches 0.938 against the paper's 0.949, on different subsets. 4) Cryptography is sub-millisecond for small payloads; detection dominates the per-transfer overhead.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Screens 10 and 12 use the same 120 real UNSW-NB15 test flows: the shipped synthetic-trained model agrees with the labels on 78 of 120 (65.0 percent), the real-trained bundle on 101 of 120 (84.2 percent).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cover crypto (10), the engine (6) and the API (10); the smoke script runs against the live server. The observations came from running the code, and each is recorded rather than hidden.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concrete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The first two items address the largest honest gaps: synthetic default model and the missing coupling between detection and transfer.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ECDH instead of RSA (objective deviation, benchmarked); why stacking does not beat XGBoost; how the shipped 97 percent relates to real traffic.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CipherGuard Shield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200" b="1" dirty="0">
                <a:solidFill>
                  <a:srgbClr val="FFFFFF"/>
                </a:solidFill>
                <a:latin typeface="Cambria" pitchFamily="34" charset="0"/>
                <a:ea typeface="Cambria" pitchFamily="34" charset="-122"/>
                <a:cs typeface="Cambria" pitchFamily="34" charset="-120"/>
              </a:rPr>
              <a:t>Secure Data Transmission in Cloud Computing using Encryption and Machine Learning</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Design, methodology and progress: an ECDH + AES-256-GCM secure channel and a stacked XGBoost + 1D-CNN intrusion detector</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Avuti Sandhya  23K91A0520</a:t>
            </a:r>
            <a:endParaRPr lang="en-US" sz="1500" dirty="0"/>
          </a:p>
          <a:p>
            <a:pPr indent="0" marL="0">
              <a:buNone/>
            </a:pPr>
            <a:r>
              <a:rPr lang="en-US" sz="1500" dirty="0">
                <a:solidFill>
                  <a:srgbClr val="FFFFFF"/>
                </a:solidFill>
              </a:rPr>
              <a:t>Banothu Indu  23K91A0530</a:t>
            </a:r>
            <a:endParaRPr lang="en-US" sz="1500" dirty="0"/>
          </a:p>
          <a:p>
            <a:pPr indent="0" marL="0">
              <a:buNone/>
            </a:pPr>
            <a:r>
              <a:rPr lang="en-US" sz="1500" dirty="0">
                <a:solidFill>
                  <a:srgbClr val="FFFFFF"/>
                </a:solidFill>
              </a:rPr>
              <a:t>Dasari Sriteja  23K91A0559</a:t>
            </a:r>
            <a:endParaRPr lang="en-US" sz="1500" dirty="0"/>
          </a:p>
          <a:p>
            <a:pPr indent="0" marL="0">
              <a:buNone/>
            </a:pPr>
            <a:r>
              <a:rPr lang="en-US" sz="1500" dirty="0">
                <a:solidFill>
                  <a:srgbClr val="FFFFFF"/>
                </a:solidFill>
              </a:rPr>
              <a:t>Bejugam Vaishnavi  23K91A0533</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CH. Prabhakar,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A5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datasets</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models</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entities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Progress and preliminary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108960"/>
          </a:xfrm>
          <a:prstGeom prst="rect">
            <a:avLst/>
          </a:prstGeom>
          <a:noFill/>
        </p:spPr>
        <p:txBody>
          <a:bodyPr wrap="square" lIns="0" rIns="0" tIns="0" bIns="0" anchor="t">
            <a:spAutoFit/>
          </a:bodyPr>
          <a:lstStyle/>
          <a:p>
            <a:pPr algn="l">
              <a:spcAft>
                <a:spcPts val="400"/>
              </a:spcAft>
            </a:pPr>
            <a:r>
              <a:rPr sz="1900" b="0" i="0">
                <a:solidFill>
                  <a:srgbClr val="475569"/>
                </a:solidFill>
              </a:rPr>
              <a:t>Data in a public cloud is readable by the provider unless it is encrypted first, symmetric keys need a safe exchange, and encryption cannot spot an attacker who already holds valid credentials. Most academic systems treat cryptography and intrusion detection separately.</a:t>
            </a:r>
          </a:p>
        </p:txBody>
      </p:sp>
      <p:sp>
        <p:nvSpPr>
          <p:cNvPr id="30" name="Rounded Rectangle 29"/>
          <p:cNvSpPr/>
          <p:nvPr/>
        </p:nvSpPr>
        <p:spPr>
          <a:xfrm>
            <a:off x="4334255"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108960"/>
          </a:xfrm>
          <a:prstGeom prst="rect">
            <a:avLst/>
          </a:prstGeom>
          <a:noFill/>
        </p:spPr>
        <p:txBody>
          <a:bodyPr wrap="square" lIns="0" rIns="0" tIns="0" bIns="0" anchor="t">
            <a:spAutoFit/>
          </a:bodyPr>
          <a:lstStyle/>
          <a:p>
            <a:pPr algn="l">
              <a:spcAft>
                <a:spcPts val="400"/>
              </a:spcAft>
            </a:pPr>
            <a:r>
              <a:rPr sz="1900" b="0" i="0">
                <a:solidFill>
                  <a:srgbClr val="475569"/>
                </a:solidFill>
              </a:rPr>
              <a:t>CipherGuard Shield puts two protections around one data path: SecureChannel (ECDH P-256 + HKDF + AES-256-GCM) and the ThreatSense Engine (XGBoost + 1D CNN + logistic-regression stacking), with an alert log and a live console.</a:t>
            </a:r>
          </a:p>
        </p:txBody>
      </p:sp>
      <p:sp>
        <p:nvSpPr>
          <p:cNvPr id="34" name="Rounded Rectangle 33"/>
          <p:cNvSpPr/>
          <p:nvPr/>
        </p:nvSpPr>
        <p:spPr>
          <a:xfrm>
            <a:off x="8119871"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 [1]</a:t>
            </a:r>
          </a:p>
        </p:txBody>
      </p:sp>
      <p:sp>
        <p:nvSpPr>
          <p:cNvPr id="37" name="TextBox 36"/>
          <p:cNvSpPr txBox="1"/>
          <p:nvPr/>
        </p:nvSpPr>
        <p:spPr>
          <a:xfrm>
            <a:off x="8321040" y="2331720"/>
            <a:ext cx="3118104" cy="3108960"/>
          </a:xfrm>
          <a:prstGeom prst="rect">
            <a:avLst/>
          </a:prstGeom>
          <a:noFill/>
        </p:spPr>
        <p:txBody>
          <a:bodyPr wrap="square" lIns="0" rIns="0" tIns="0" bIns="0" anchor="t">
            <a:spAutoFit/>
          </a:bodyPr>
          <a:lstStyle/>
          <a:p>
            <a:pPr algn="l">
              <a:spcAft>
                <a:spcPts val="400"/>
              </a:spcAft>
            </a:pPr>
            <a:r>
              <a:rPr sz="1900" b="0" i="0">
                <a:solidFill>
                  <a:srgbClr val="475569"/>
                </a:solidFill>
              </a:rPr>
              <a:t>Kalyanasundaram et al. combine a quantum-inspired network with LeNet and a custom elliptic-curve scheme (EECC). We keep their idea of joint detection and encryption but use standard, audited primitives and a classical ensemble. Results are not directly comparable.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a5_r2_01.png"/>
          <p:cNvPicPr>
            <a:picLocks noChangeAspect="1"/>
          </p:cNvPicPr>
          <p:nvPr/>
        </p:nvPicPr>
        <p:blipFill>
          <a:blip r:embed="rId1"/>
          <a:stretch>
            <a:fillRect/>
          </a:stretch>
        </p:blipFill>
        <p:spPr>
          <a:xfrm>
            <a:off x="762995" y="1188720"/>
            <a:ext cx="5972088" cy="5212080"/>
          </a:xfrm>
          <a:prstGeom prst="rect">
            <a:avLst/>
          </a:prstGeom>
        </p:spPr>
      </p:pic>
      <p:sp>
        <p:nvSpPr>
          <p:cNvPr id="27" name="TextBox 26"/>
          <p:cNvSpPr txBox="1"/>
          <p:nvPr/>
        </p:nvSpPr>
        <p:spPr>
          <a:xfrm>
            <a:off x="7223760" y="1325880"/>
            <a:ext cx="4434840" cy="4937760"/>
          </a:xfrm>
          <a:prstGeom prst="rect">
            <a:avLst/>
          </a:prstGeom>
          <a:noFill/>
        </p:spPr>
        <p:txBody>
          <a:bodyPr wrap="square" lIns="0" rIns="0" tIns="0" bIns="0" anchor="t">
            <a:spAutoFit/>
          </a:bodyPr>
          <a:lstStyle/>
          <a:p>
            <a:pPr algn="l">
              <a:spcAft>
                <a:spcPts val="800"/>
              </a:spcAft>
            </a:pPr>
            <a:r>
              <a:rPr sz="1500" b="1" i="0">
                <a:solidFill>
                  <a:srgbClr val="0F172A"/>
                </a:solidFill>
              </a:rPr>
              <a:t>Four tiers, no database</a:t>
            </a:r>
          </a:p>
          <a:p>
            <a:pPr algn="l" marL="256032" indent="-201168">
              <a:spcAft>
                <a:spcPts val="400"/>
              </a:spcAft>
              <a:buChar char="•"/>
            </a:pPr>
            <a:r>
              <a:rPr sz="1500" b="0" i="0">
                <a:solidFill>
                  <a:srgbClr val="0F172A"/>
                </a:solidFill>
              </a:rPr>
              <a:t>Presentation: React 19 console (port 5305, 5 routes) plus the original HTML dashboard served by the API.</a:t>
            </a:r>
          </a:p>
          <a:p>
            <a:pPr algn="l" marL="256032" indent="-201168">
              <a:spcAft>
                <a:spcPts val="400"/>
              </a:spcAft>
              <a:buChar char="•"/>
            </a:pPr>
            <a:r>
              <a:rPr sz="1500" b="0" i="0">
                <a:solidFill>
                  <a:srgbClr val="0F172A"/>
                </a:solidFill>
              </a:rPr>
              <a:t>Application: FastAPI (port 8305), 9 routes under /api, limits of 1 MB text, 5 MB file, 10 MB or 10,000-row CSV.</a:t>
            </a:r>
          </a:p>
          <a:p>
            <a:pPr algn="l" marL="256032" indent="-201168">
              <a:spcAft>
                <a:spcPts val="400"/>
              </a:spcAft>
              <a:buChar char="•"/>
            </a:pPr>
            <a:r>
              <a:rPr sz="1500" b="0" i="0">
                <a:solidFill>
                  <a:srgbClr val="0F172A"/>
                </a:solidFill>
              </a:rPr>
              <a:t>Core: cipherguard/crypto (SecureChannel, KeyPair) and cipherguard/ids (preprocessing, XGBoost, CNN, stacking).</a:t>
            </a:r>
          </a:p>
          <a:p>
            <a:pPr algn="l" marL="256032" indent="-201168">
              <a:spcAft>
                <a:spcPts val="400"/>
              </a:spcAft>
              <a:buChar char="•"/>
            </a:pPr>
            <a:r>
              <a:rPr sz="1500" b="0" i="0">
                <a:solidFill>
                  <a:srgbClr val="0F172A"/>
                </a:solidFill>
              </a:rPr>
              <a:t>State: alerts (max 500), session-key cache and a mock cloud key pair live in process memory.</a:t>
            </a:r>
          </a:p>
          <a:p>
            <a:pPr algn="l" marL="256032" indent="-201168">
              <a:spcAft>
                <a:spcPts val="400"/>
              </a:spcAft>
              <a:buChar char="•"/>
            </a:pPr>
            <a:r>
              <a:rPr sz="1500" b="0" i="0">
                <a:solidFill>
                  <a:srgbClr val="0F172A"/>
                </a:solidFill>
              </a:rPr>
              <a:t>Files: models/, reports/metrics.json, data/raw/synthetic_demo.csv.</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two lanes around one transfer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a5_r2_02.png"/>
          <p:cNvPicPr>
            <a:picLocks noChangeAspect="1"/>
          </p:cNvPicPr>
          <p:nvPr/>
        </p:nvPicPr>
        <p:blipFill>
          <a:blip r:embed="rId3"/>
          <a:stretch>
            <a:fillRect/>
          </a:stretch>
        </p:blipFill>
        <p:spPr>
          <a:xfrm>
            <a:off x="548640" y="1585932"/>
            <a:ext cx="6766560" cy="3960455"/>
          </a:xfrm>
          <a:prstGeom prst="rect">
            <a:avLst/>
          </a:prstGeom>
        </p:spPr>
      </p:pic>
      <p:sp>
        <p:nvSpPr>
          <p:cNvPr id="27" name="Rounded Rectangle 26"/>
          <p:cNvSpPr/>
          <p:nvPr/>
        </p:nvSpPr>
        <p:spPr>
          <a:xfrm>
            <a:off x="7589520" y="1280160"/>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26679" y="1344168"/>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Lane A: SecureChannel</a:t>
            </a:r>
          </a:p>
        </p:txBody>
      </p:sp>
      <p:sp>
        <p:nvSpPr>
          <p:cNvPr id="29" name="TextBox 28"/>
          <p:cNvSpPr txBox="1"/>
          <p:nvPr/>
        </p:nvSpPr>
        <p:spPr>
          <a:xfrm>
            <a:off x="7726679" y="1664207"/>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A fresh ephemeral P-256 key per message, ECDH with the cloud's public key, HKDF-SHA256 to a 32-byte key, AES-256-GCM with a random 12-byte nonce. The envelope carries ciphertext, nonce, tag and ephemeral public key.</a:t>
            </a:r>
          </a:p>
        </p:txBody>
      </p:sp>
      <p:sp>
        <p:nvSpPr>
          <p:cNvPr id="30" name="Rounded Rectangle 29"/>
          <p:cNvSpPr/>
          <p:nvPr/>
        </p:nvSpPr>
        <p:spPr>
          <a:xfrm>
            <a:off x="7589520" y="2907791"/>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26679" y="2971799"/>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Lane B: ThreatSense</a:t>
            </a:r>
          </a:p>
        </p:txBody>
      </p:sp>
      <p:sp>
        <p:nvSpPr>
          <p:cNvPr id="32" name="TextBox 31"/>
          <p:cNvSpPr txBox="1"/>
          <p:nvPr/>
        </p:nvSpPr>
        <p:spPr>
          <a:xfrm>
            <a:off x="7726679" y="3291839"/>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A 42-feature flow record is scaled and encoded, scored by XGBoost and a 1D CNN, fused by logistic regression, and flagged at 0.5 with a severity band.</a:t>
            </a:r>
          </a:p>
        </p:txBody>
      </p:sp>
      <p:sp>
        <p:nvSpPr>
          <p:cNvPr id="33" name="Rounded Rectangle 32"/>
          <p:cNvSpPr/>
          <p:nvPr/>
        </p:nvSpPr>
        <p:spPr>
          <a:xfrm>
            <a:off x="7589520" y="4535424"/>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26679" y="4599432"/>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Not gated</a:t>
            </a:r>
          </a:p>
        </p:txBody>
      </p:sp>
      <p:sp>
        <p:nvSpPr>
          <p:cNvPr id="35" name="TextBox 34"/>
          <p:cNvSpPr txBox="1"/>
          <p:nvPr/>
        </p:nvSpPr>
        <p:spPr>
          <a:xfrm>
            <a:off x="7726679" y="4919472"/>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The API does not block a transfer on the verdict; the operator decides. Overhead is measured for both lanes together.</a:t>
            </a:r>
          </a:p>
        </p:txBody>
      </p:sp>
      <p:sp>
        <p:nvSpPr>
          <p:cNvPr id="36" name="TextBox 35"/>
          <p:cNvSpPr txBox="1"/>
          <p:nvPr/>
        </p:nvSpPr>
        <p:spPr>
          <a:xfrm>
            <a:off x="548640" y="5943600"/>
            <a:ext cx="6766560" cy="411480"/>
          </a:xfrm>
          <a:prstGeom prst="rect">
            <a:avLst/>
          </a:prstGeom>
          <a:noFill/>
        </p:spPr>
        <p:txBody>
          <a:bodyPr wrap="square" lIns="0" rIns="0" tIns="0" bIns="0" anchor="t">
            <a:spAutoFit/>
          </a:bodyPr>
          <a:lstStyle/>
          <a:p>
            <a:pPr algn="ctr">
              <a:spcAft>
                <a:spcPts val="400"/>
              </a:spcAft>
            </a:pPr>
            <a:r>
              <a:rPr sz="1200" b="0" i="1">
                <a:solidFill>
                  <a:srgbClr val="475569"/>
                </a:solidFill>
              </a:rPr>
              <a:t>Workflow of one protected transfer, as implemented in the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Datasets: shipped synthetic set and real UNSW-NB15</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12,000</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synthetic rows in the shipped bundle</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175,341</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official UNSW-NB15 training flows</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82,332</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official UNSW-NB15 testing flows</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42</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flow features (3 categorical, 39 numeric)</a:t>
            </a:r>
          </a:p>
        </p:txBody>
      </p:sp>
      <p:graphicFrame>
        <p:nvGraphicFramePr>
          <p:cNvPr id="42" name="Table 41"/>
          <p:cNvGraphicFramePr>
            <a:graphicFrameLocks noGrp="1"/>
          </p:cNvGraphicFramePr>
          <p:nvPr/>
        </p:nvGraphicFramePr>
        <p:xfrm>
          <a:off x="548640" y="2697480"/>
          <a:ext cx="11091672" cy="3401568"/>
        </p:xfrm>
        <a:graphic>
          <a:graphicData uri="http://schemas.openxmlformats.org/drawingml/2006/table">
            <a:tbl>
              <a:tblPr firstRow="0" bandRow="0">
                <a:tableStyleId>{5C22544A-7EE6-4342-B048-85BDC9FD1C3A}</a:tableStyleId>
              </a:tblPr>
              <a:tblGrid>
                <a:gridCol w="1371600"/>
                <a:gridCol w="4846320"/>
                <a:gridCol w="4873752"/>
              </a:tblGrid>
              <a:tr h="566928">
                <a:tc>
                  <a:txBody>
                    <a:bodyPr wrap="square"/>
                    <a:lstStyle/>
                    <a:p>
                      <a:pPr algn="ctr"/>
                      <a:r>
                        <a:rPr sz="1300" b="1">
                          <a:solidFill>
                            <a:srgbClr val="FFFFFF"/>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Shipped bundle (synthetic)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Real UNSW-NB15 (experiments)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300" b="1">
                          <a:solidFill>
                            <a:srgbClr val="0F172A"/>
                          </a:solidFill>
                        </a:rPr>
                        <a:t>Source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cipherguard/ids/synthetic.py, seed 42, UNSW-NB15 schema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UNSW Canberra Cyber Range Lab, Moustafa and Slay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0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stratified 70/15/15 = 8,400 / 1,800 / 1,800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official train (149,039 fit + 26,302 validation) -&gt; official test 82,332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00" b="1">
                          <a:solidFill>
                            <a:srgbClr val="0F172A"/>
                          </a:solidFill>
                        </a:rPr>
                        <a:t>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normal / attack; 2.5% label noise injected (300 rows)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normal / attack (55.1% attack in test); 9 attack categories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00" b="1">
                          <a:solidFill>
                            <a:srgbClr val="0F172A"/>
                          </a:solidFill>
                        </a:rPr>
                        <a:t>Ceiling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accuracy cannot exceed about 0.975 by construction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train and test are temporally separated: harder than a random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00" b="1">
                          <a:solidFill>
                            <a:srgbClr val="0F172A"/>
                          </a:solidFill>
                        </a:rPr>
                        <a:t>Used for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the app out of the box and its Model performance page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all accuracy claims in the reports; base-paper-style runs (9,000 balanced flows)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548640" y="6172200"/>
            <a:ext cx="11091672" cy="320040"/>
          </a:xfrm>
          <a:prstGeom prst="rect">
            <a:avLst/>
          </a:prstGeom>
          <a:noFill/>
        </p:spPr>
        <p:txBody>
          <a:bodyPr wrap="square" lIns="0" rIns="0" tIns="0" bIns="0" anchor="t">
            <a:spAutoFit/>
          </a:bodyPr>
          <a:lstStyle/>
          <a:p>
            <a:pPr algn="l">
              <a:spcAft>
                <a:spcPts val="400"/>
              </a:spcAft>
            </a:pPr>
            <a:r>
              <a:rPr sz="1200" b="0" i="1">
                <a:solidFill>
                  <a:srgbClr val="475569"/>
                </a:solidFill>
              </a:rPr>
              <a:t>The default model never saw real traffic; see the synthetic-versus-real result on slide 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preprocessing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Flow record (42 fields)</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Fill defaults, match names</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Cast proto, service, state to text</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MinMax scale 39 numerics</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One-hot 3 categoricals</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Vector for the models</a:t>
            </a:r>
          </a:p>
        </p:txBody>
      </p:sp>
      <p:sp>
        <p:nvSpPr>
          <p:cNvPr id="37" name="Rounded Rectangle 36"/>
          <p:cNvSpPr/>
          <p:nvPr/>
        </p:nvSpPr>
        <p:spPr>
          <a:xfrm>
            <a:off x="548640" y="2560320"/>
            <a:ext cx="365760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3383280" cy="628650"/>
          </a:xfrm>
          <a:prstGeom prst="rect">
            <a:avLst/>
          </a:prstGeom>
          <a:noFill/>
        </p:spPr>
        <p:txBody>
          <a:bodyPr wrap="square" lIns="0" rIns="0" tIns="0" bIns="0" anchor="ctr">
            <a:spAutoFit/>
          </a:bodyPr>
          <a:lstStyle/>
          <a:p>
            <a:pPr algn="l">
              <a:spcAft>
                <a:spcPts val="400"/>
              </a:spcAft>
            </a:pPr>
            <a:r>
              <a:rPr sz="2800" b="1" i="0">
                <a:solidFill>
                  <a:srgbClr val="0F172A"/>
                </a:solidFill>
              </a:rPr>
              <a:t>70</a:t>
            </a:r>
          </a:p>
        </p:txBody>
      </p:sp>
      <p:sp>
        <p:nvSpPr>
          <p:cNvPr id="40" name="TextBox 39"/>
          <p:cNvSpPr txBox="1"/>
          <p:nvPr/>
        </p:nvSpPr>
        <p:spPr>
          <a:xfrm>
            <a:off x="749808" y="3223260"/>
            <a:ext cx="3383280" cy="434340"/>
          </a:xfrm>
          <a:prstGeom prst="rect">
            <a:avLst/>
          </a:prstGeom>
          <a:noFill/>
        </p:spPr>
        <p:txBody>
          <a:bodyPr wrap="square" lIns="0" rIns="0" tIns="0" bIns="0" anchor="t">
            <a:spAutoFit/>
          </a:bodyPr>
          <a:lstStyle/>
          <a:p>
            <a:pPr algn="l">
              <a:spcAft>
                <a:spcPts val="400"/>
              </a:spcAft>
            </a:pPr>
            <a:r>
              <a:rPr sz="1200" b="0" i="0">
                <a:solidFill>
                  <a:srgbClr val="475569"/>
                </a:solidFill>
              </a:rPr>
              <a:t>encoded dimensions, synthetic bundle (39 numeric + 31 one-hot)</a:t>
            </a:r>
          </a:p>
        </p:txBody>
      </p:sp>
      <p:sp>
        <p:nvSpPr>
          <p:cNvPr id="41" name="Rounded Rectangle 40"/>
          <p:cNvSpPr/>
          <p:nvPr/>
        </p:nvSpPr>
        <p:spPr>
          <a:xfrm>
            <a:off x="4389120" y="2560320"/>
            <a:ext cx="365760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389120" y="256032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590288" y="2651760"/>
            <a:ext cx="3383280" cy="628650"/>
          </a:xfrm>
          <a:prstGeom prst="rect">
            <a:avLst/>
          </a:prstGeom>
          <a:noFill/>
        </p:spPr>
        <p:txBody>
          <a:bodyPr wrap="square" lIns="0" rIns="0" tIns="0" bIns="0" anchor="ctr">
            <a:spAutoFit/>
          </a:bodyPr>
          <a:lstStyle/>
          <a:p>
            <a:pPr algn="l">
              <a:spcAft>
                <a:spcPts val="400"/>
              </a:spcAft>
            </a:pPr>
            <a:r>
              <a:rPr sz="2800" b="1" i="0">
                <a:solidFill>
                  <a:srgbClr val="0F172A"/>
                </a:solidFill>
              </a:rPr>
              <a:t>192</a:t>
            </a:r>
          </a:p>
        </p:txBody>
      </p:sp>
      <p:sp>
        <p:nvSpPr>
          <p:cNvPr id="44" name="TextBox 43"/>
          <p:cNvSpPr txBox="1"/>
          <p:nvPr/>
        </p:nvSpPr>
        <p:spPr>
          <a:xfrm>
            <a:off x="4590288" y="3223260"/>
            <a:ext cx="3383280" cy="434340"/>
          </a:xfrm>
          <a:prstGeom prst="rect">
            <a:avLst/>
          </a:prstGeom>
          <a:noFill/>
        </p:spPr>
        <p:txBody>
          <a:bodyPr wrap="square" lIns="0" rIns="0" tIns="0" bIns="0" anchor="t">
            <a:spAutoFit/>
          </a:bodyPr>
          <a:lstStyle/>
          <a:p>
            <a:pPr algn="l">
              <a:spcAft>
                <a:spcPts val="400"/>
              </a:spcAft>
            </a:pPr>
            <a:r>
              <a:rPr sz="1200" b="0" i="0">
                <a:solidFill>
                  <a:srgbClr val="475569"/>
                </a:solidFill>
              </a:rPr>
              <a:t>encoded dimensions on real UNSW-NB15 (more proto/service/state values)</a:t>
            </a:r>
          </a:p>
        </p:txBody>
      </p:sp>
      <p:sp>
        <p:nvSpPr>
          <p:cNvPr id="45" name="TextBox 44"/>
          <p:cNvSpPr txBox="1"/>
          <p:nvPr/>
        </p:nvSpPr>
        <p:spPr>
          <a:xfrm>
            <a:off x="8321040" y="2560320"/>
            <a:ext cx="3319272" cy="1188720"/>
          </a:xfrm>
          <a:prstGeom prst="rect">
            <a:avLst/>
          </a:prstGeom>
          <a:noFill/>
        </p:spPr>
        <p:txBody>
          <a:bodyPr wrap="square" lIns="0" rIns="0" tIns="0" bIns="0" anchor="t">
            <a:spAutoFit/>
          </a:bodyPr>
          <a:lstStyle/>
          <a:p>
            <a:pPr algn="l">
              <a:spcAft>
                <a:spcPts val="400"/>
              </a:spcAft>
            </a:pPr>
            <a:r>
              <a:rPr sz="1400" b="0" i="0">
                <a:solidFill>
                  <a:srgbClr val="475569"/>
                </a:solidFill>
              </a:rPr>
              <a:t>Unknown categories are ignored by the encoder, so a new protocol name cannot crash scoring.</a:t>
            </a:r>
          </a:p>
        </p:txBody>
      </p:sp>
      <p:sp>
        <p:nvSpPr>
          <p:cNvPr id="46" name="TextBox 45"/>
          <p:cNvSpPr txBox="1"/>
          <p:nvPr/>
        </p:nvSpPr>
        <p:spPr>
          <a:xfrm>
            <a:off x="548640" y="3977639"/>
            <a:ext cx="11091672" cy="2377440"/>
          </a:xfrm>
          <a:prstGeom prst="rect">
            <a:avLst/>
          </a:prstGeom>
          <a:noFill/>
        </p:spPr>
        <p:txBody>
          <a:bodyPr wrap="square" lIns="0" rIns="0" tIns="0" bIns="0" anchor="t">
            <a:spAutoFit/>
          </a:bodyPr>
          <a:lstStyle/>
          <a:p>
            <a:pPr algn="l" marL="256032" indent="-201168">
              <a:spcAft>
                <a:spcPts val="900"/>
              </a:spcAft>
              <a:buChar char="•"/>
            </a:pPr>
            <a:r>
              <a:rPr sz="1600" b="0" i="0">
                <a:solidFill>
                  <a:srgbClr val="0F172A"/>
                </a:solidFill>
              </a:rPr>
              <a:t>Missing features in a request default to typical values (for example sttl 62, rate 10,000); a CSV with absent columns is filled the same way.</a:t>
            </a:r>
          </a:p>
          <a:p>
            <a:pPr algn="l" marL="256032" indent="-201168">
              <a:spcAft>
                <a:spcPts val="900"/>
              </a:spcAft>
              <a:buChar char="•"/>
            </a:pPr>
            <a:r>
              <a:rPr sz="1600" b="0" i="0">
                <a:solidFill>
                  <a:srgbClr val="0F172A"/>
                </a:solidFill>
              </a:rPr>
              <a:t>Class imbalance (real training set: 56,000 normal / 119,341 attack): XGBoost uses scale_pos_weight = normal / attack; the PyTorch CNN uses plain binary cross-entropy.</a:t>
            </a:r>
          </a:p>
          <a:p>
            <a:pPr algn="l" marL="256032" indent="-201168">
              <a:spcAft>
                <a:spcPts val="900"/>
              </a:spcAft>
              <a:buChar char="•"/>
            </a:pPr>
            <a:r>
              <a:rPr sz="1600" b="0" i="0">
                <a:solidFill>
                  <a:srgbClr val="0F172A"/>
                </a:solidFill>
              </a:rPr>
              <a:t>One preprocessor object is fitted on the fit split only and saved with the models, so training and serving transform data identically.</a:t>
            </a:r>
          </a:p>
          <a:p>
            <a:pPr algn="l" marL="256032" indent="-201168">
              <a:spcAft>
                <a:spcPts val="900"/>
              </a:spcAft>
              <a:buChar char="•"/>
            </a:pPr>
            <a:r>
              <a:rPr sz="1600" b="0" i="0">
                <a:solidFill>
                  <a:srgbClr val="0F172A"/>
                </a:solidFill>
              </a:rPr>
              <a:t>Known limit: only 42 of the 49 original UNSW-NB15 features are used, and identifiers such as addresses and ports are not part of the schema.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architecture: XGBoost + 1D CNN + stacking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a5_r2_12.png"/>
          <p:cNvPicPr>
            <a:picLocks noChangeAspect="1"/>
          </p:cNvPicPr>
          <p:nvPr/>
        </p:nvPicPr>
        <p:blipFill>
          <a:blip r:embed="rId1"/>
          <a:stretch>
            <a:fillRect/>
          </a:stretch>
        </p:blipFill>
        <p:spPr>
          <a:xfrm>
            <a:off x="548640" y="1447206"/>
            <a:ext cx="6949440" cy="4146466"/>
          </a:xfrm>
          <a:prstGeom prst="rect">
            <a:avLst/>
          </a:prstGeom>
        </p:spPr>
      </p:pic>
      <p:sp>
        <p:nvSpPr>
          <p:cNvPr id="27" name="TextBox 26"/>
          <p:cNvSpPr txBox="1"/>
          <p:nvPr/>
        </p:nvSpPr>
        <p:spPr>
          <a:xfrm>
            <a:off x="7772400" y="1325880"/>
            <a:ext cx="3886200" cy="4937760"/>
          </a:xfrm>
          <a:prstGeom prst="rect">
            <a:avLst/>
          </a:prstGeom>
          <a:noFill/>
        </p:spPr>
        <p:txBody>
          <a:bodyPr wrap="square" lIns="0" rIns="0" tIns="0" bIns="0" anchor="t">
            <a:spAutoFit/>
          </a:bodyPr>
          <a:lstStyle/>
          <a:p>
            <a:pPr algn="l" marL="256032" indent="-201168">
              <a:spcAft>
                <a:spcPts val="800"/>
              </a:spcAft>
              <a:buChar char="•"/>
            </a:pPr>
            <a:r>
              <a:rPr sz="1400" b="1" i="0">
                <a:solidFill>
                  <a:srgbClr val="0F172A"/>
                </a:solidFill>
              </a:rPr>
              <a:t>XGBoost</a:t>
            </a:r>
            <a:r>
              <a:rPr sz="1400" b="0" i="0">
                <a:solidFill>
                  <a:srgbClr val="0F172A"/>
                </a:solidFill>
              </a:rPr>
              <a:t>: 200 trees, depth 6, learning rate 0.08, subsample and column sample 0.85.</a:t>
            </a:r>
          </a:p>
          <a:p>
            <a:pPr algn="l" marL="256032" indent="-201168">
              <a:spcAft>
                <a:spcPts val="800"/>
              </a:spcAft>
              <a:buChar char="•"/>
            </a:pPr>
            <a:r>
              <a:rPr sz="1400" b="1" i="0">
                <a:solidFill>
                  <a:srgbClr val="0F172A"/>
                </a:solidFill>
              </a:rPr>
              <a:t>1D CNN</a:t>
            </a:r>
            <a:r>
              <a:rPr sz="1400" b="0" i="0">
                <a:solidFill>
                  <a:srgbClr val="0F172A"/>
                </a:solidFill>
              </a:rPr>
              <a:t> (PyTorch): two Conv1d + MaxPool blocks, Dense 64, dropout 0.3, sigmoid; 76,097 parameters at 70 inputs.</a:t>
            </a:r>
          </a:p>
          <a:p>
            <a:pPr algn="l" marL="256032" indent="-201168">
              <a:spcAft>
                <a:spcPts val="800"/>
              </a:spcAft>
              <a:buChar char="•"/>
            </a:pPr>
            <a:r>
              <a:rPr sz="1400" b="1" i="0">
                <a:solidFill>
                  <a:srgbClr val="0F172A"/>
                </a:solidFill>
              </a:rPr>
              <a:t>Stacking</a:t>
            </a:r>
            <a:r>
              <a:rPr sz="1400" b="0" i="0">
                <a:solidFill>
                  <a:srgbClr val="0F172A"/>
                </a:solidFill>
              </a:rPr>
              <a:t>: logistic regression on [p_xgb, p_cnn], fitted on the validation split; decision threshold 0.5.</a:t>
            </a:r>
          </a:p>
          <a:p>
            <a:pPr algn="l" marL="256032" indent="-201168">
              <a:spcAft>
                <a:spcPts val="400"/>
              </a:spcAft>
              <a:buChar char="•"/>
            </a:pPr>
            <a:r>
              <a:rPr sz="1400" b="0" i="1">
                <a:solidFill>
                  <a:srgbClr val="475569"/>
                </a:solidFill>
              </a:rPr>
              <a:t>The base paper's score-level fusion (DSMMN-SLF) and quantum-inspired network are not reproduced.</a:t>
            </a:r>
          </a:p>
        </p:txBody>
      </p:sp>
      <p:sp>
        <p:nvSpPr>
          <p:cNvPr id="28" name="TextBox 27"/>
          <p:cNvSpPr txBox="1"/>
          <p:nvPr/>
        </p:nvSpPr>
        <p:spPr>
          <a:xfrm>
            <a:off x="548640" y="5897880"/>
            <a:ext cx="6949440" cy="411480"/>
          </a:xfrm>
          <a:prstGeom prst="rect">
            <a:avLst/>
          </a:prstGeom>
          <a:noFill/>
        </p:spPr>
        <p:txBody>
          <a:bodyPr wrap="square" lIns="0" rIns="0" tIns="0" bIns="0" anchor="t">
            <a:spAutoFit/>
          </a:bodyPr>
          <a:lstStyle/>
          <a:p>
            <a:pPr algn="ctr">
              <a:spcAft>
                <a:spcPts val="400"/>
              </a:spcAft>
            </a:pPr>
            <a:r>
              <a:rPr sz="1200" b="0" i="1">
                <a:solidFill>
                  <a:srgbClr val="475569"/>
                </a:solidFill>
              </a:rPr>
              <a:t>Layer stack taken from cipherguard/ids/train.py.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25880"/>
          <a:ext cx="11091672" cy="4608576"/>
        </p:xfrm>
        <a:graphic>
          <a:graphicData uri="http://schemas.openxmlformats.org/drawingml/2006/table">
            <a:tbl>
              <a:tblPr firstRow="0" bandRow="0">
                <a:tableStyleId>{5C22544A-7EE6-4342-B048-85BDC9FD1C3A}</a:tableStyleId>
              </a:tblPr>
              <a:tblGrid>
                <a:gridCol w="2103120"/>
                <a:gridCol w="8988552"/>
              </a:tblGrid>
              <a:tr h="658368">
                <a:tc>
                  <a:txBody>
                    <a:bodyPr wrap="square"/>
                    <a:lstStyle/>
                    <a:p>
                      <a:pPr algn="ctr"/>
                      <a:r>
                        <a:rPr sz="14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400" b="1">
                          <a:solidFill>
                            <a:srgbClr val="0F172A"/>
                          </a:solidFill>
                        </a:rPr>
                        <a:t>Shipped bundle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12,000 synthetic rows, stratified 70/15/15, seed 42; test accuracy 0.9733 on 1,800 rows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XGBoost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n_estimators 200, max_depth 6, learning rate 0.08, subsample 0.85, colsample 0.85, scale_pos_weight = neg / pos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CNN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Adam, learning rate 0.001, batch 256, up to 15 epochs, early stopping (patience 5), BCE loss, CPU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Stacking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LogisticRegression fitted on validation-split probabilities; threshold 0.5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Real-data runs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official train split 85/15 into 149,039 fit / 26,302 validation; 5 seeds (42-46); 10 repetitions for the 9,000-flow protocol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Cost on this PC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Core i5-12500, 15.7 GB RAM, no GPU: XGBoost 4.4 s, CNN 246 s (149,039 rows, machine shared with other jobs)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6035040"/>
            <a:ext cx="11091672" cy="365760"/>
          </a:xfrm>
          <a:prstGeom prst="rect">
            <a:avLst/>
          </a:prstGeom>
          <a:noFill/>
        </p:spPr>
        <p:txBody>
          <a:bodyPr wrap="square" lIns="0" rIns="0" tIns="0" bIns="0" anchor="t">
            <a:spAutoFit/>
          </a:bodyPr>
          <a:lstStyle/>
          <a:p>
            <a:pPr algn="l">
              <a:spcAft>
                <a:spcPts val="400"/>
              </a:spcAft>
            </a:pPr>
            <a:r>
              <a:rPr sz="1200" b="0" i="1">
                <a:solidFill>
                  <a:srgbClr val="475569"/>
                </a:solidFill>
              </a:rPr>
              <a:t>Same hyper-parameters as the shipped code in every experiment; nothing was tuned on the test 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verdict, severity and threshold</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a5_r2_10.png"/>
          <p:cNvPicPr>
            <a:picLocks noChangeAspect="1"/>
          </p:cNvPicPr>
          <p:nvPr/>
        </p:nvPicPr>
        <p:blipFill>
          <a:blip r:embed="rId1"/>
          <a:stretch>
            <a:fillRect/>
          </a:stretch>
        </p:blipFill>
        <p:spPr>
          <a:xfrm>
            <a:off x="548640" y="1234078"/>
            <a:ext cx="5394960" cy="5075643"/>
          </a:xfrm>
          <a:prstGeom prst="rect">
            <a:avLst/>
          </a:prstGeom>
        </p:spPr>
      </p:pic>
      <p:sp>
        <p:nvSpPr>
          <p:cNvPr id="27" name="TextBox 26"/>
          <p:cNvSpPr txBox="1"/>
          <p:nvPr/>
        </p:nvSpPr>
        <p:spPr>
          <a:xfrm>
            <a:off x="6217920" y="1325880"/>
            <a:ext cx="5440680" cy="1920240"/>
          </a:xfrm>
          <a:prstGeom prst="rect">
            <a:avLst/>
          </a:prstGeom>
          <a:noFill/>
        </p:spPr>
        <p:txBody>
          <a:bodyPr wrap="square" lIns="0" rIns="0" tIns="0" bIns="0" anchor="t">
            <a:spAutoFit/>
          </a:bodyPr>
          <a:lstStyle/>
          <a:p>
            <a:pPr algn="l" marL="256032" indent="-201168">
              <a:spcAft>
                <a:spcPts val="600"/>
              </a:spcAft>
              <a:buChar char="•"/>
            </a:pPr>
            <a:r>
              <a:rPr sz="1400" b="1" i="0">
                <a:solidFill>
                  <a:srgbClr val="0F172A"/>
                </a:solidFill>
              </a:rPr>
              <a:t>Verdict.</a:t>
            </a:r>
            <a:r>
              <a:rPr sz="1400" b="0" i="0">
                <a:solidFill>
                  <a:srgbClr val="0F172A"/>
                </a:solidFill>
              </a:rPr>
              <a:t> Attack when the stacked probability is at least 0.5.</a:t>
            </a:r>
          </a:p>
          <a:p>
            <a:pPr algn="l" marL="256032" indent="-201168">
              <a:spcAft>
                <a:spcPts val="600"/>
              </a:spcAft>
              <a:buChar char="•"/>
            </a:pPr>
            <a:r>
              <a:rPr sz="1400" b="1" i="0">
                <a:solidFill>
                  <a:srgbClr val="0F172A"/>
                </a:solidFill>
              </a:rPr>
              <a:t>Severity.</a:t>
            </a:r>
            <a:r>
              <a:rPr sz="1400" b="0" i="0">
                <a:solidFill>
                  <a:srgbClr val="0F172A"/>
                </a:solidFill>
              </a:rPr>
              <a:t> Critical from 0.85, high from 0.70, otherwise medium; normal is low and raises no alert.</a:t>
            </a:r>
          </a:p>
          <a:p>
            <a:pPr algn="l" marL="256032" indent="-201168">
              <a:spcAft>
                <a:spcPts val="400"/>
              </a:spcAft>
              <a:buChar char="•"/>
            </a:pPr>
            <a:r>
              <a:rPr sz="1400" b="1" i="0">
                <a:solidFill>
                  <a:srgbClr val="0F172A"/>
                </a:solidFill>
              </a:rPr>
              <a:t>Alert log.</a:t>
            </a:r>
            <a:r>
              <a:rPr sz="1400" b="0" i="0">
                <a:solidFill>
                  <a:srgbClr val="0F172A"/>
                </a:solidFill>
              </a:rPr>
              <a:t> Attacks are appended, newest first, capped at 500 entries in memory.</a:t>
            </a:r>
          </a:p>
        </p:txBody>
      </p:sp>
      <p:graphicFrame>
        <p:nvGraphicFramePr>
          <p:cNvPr id="28" name="Table 27"/>
          <p:cNvGraphicFramePr>
            <a:graphicFrameLocks noGrp="1"/>
          </p:cNvGraphicFramePr>
          <p:nvPr/>
        </p:nvGraphicFramePr>
        <p:xfrm>
          <a:off x="6217920" y="3429000"/>
          <a:ext cx="5440680" cy="1682496"/>
        </p:xfrm>
        <a:graphic>
          <a:graphicData uri="http://schemas.openxmlformats.org/drawingml/2006/table">
            <a:tbl>
              <a:tblPr firstRow="0" bandRow="0">
                <a:tableStyleId>{5C22544A-7EE6-4342-B048-85BDC9FD1C3A}</a:tableStyleId>
              </a:tblPr>
              <a:tblGrid>
                <a:gridCol w="1600200"/>
                <a:gridCol w="914400"/>
                <a:gridCol w="1005840"/>
                <a:gridCol w="868680"/>
                <a:gridCol w="1051560"/>
              </a:tblGrid>
              <a:tr h="420624">
                <a:tc>
                  <a:txBody>
                    <a:bodyPr wrap="square"/>
                    <a:lstStyle/>
                    <a:p>
                      <a:pPr algn="ctr"/>
                      <a:r>
                        <a:rPr sz="1300" b="1">
                          <a:solidFill>
                            <a:srgbClr val="FFFFFF"/>
                          </a:solidFill>
                        </a:rPr>
                        <a:t>Threshold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Accuracy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Precision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Recall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False alarms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20624">
                <a:tc>
                  <a:txBody>
                    <a:bodyPr wrap="square"/>
                    <a:lstStyle/>
                    <a:p>
                      <a:pPr algn="l"/>
                      <a:r>
                        <a:rPr sz="1300" b="0">
                          <a:solidFill>
                            <a:srgbClr val="0F172A"/>
                          </a:solidFill>
                        </a:rPr>
                        <a:t>0.5  (shipped)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0.888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0.842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0.981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22.6%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300" b="0">
                          <a:solidFill>
                            <a:srgbClr val="0F172A"/>
                          </a:solidFill>
                        </a:rPr>
                        <a:t>0.7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0.906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0.876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0.965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16.7%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300" b="0">
                          <a:solidFill>
                            <a:srgbClr val="0F172A"/>
                          </a:solidFill>
                        </a:rPr>
                        <a:t>0.9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0.921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0.922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0.936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9.6%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9" name="TextBox 28"/>
          <p:cNvSpPr txBox="1"/>
          <p:nvPr/>
        </p:nvSpPr>
        <p:spPr>
          <a:xfrm>
            <a:off x="6217920" y="5257800"/>
            <a:ext cx="5440680" cy="1097280"/>
          </a:xfrm>
          <a:prstGeom prst="rect">
            <a:avLst/>
          </a:prstGeom>
          <a:noFill/>
        </p:spPr>
        <p:txBody>
          <a:bodyPr wrap="square" lIns="0" rIns="0" tIns="0" bIns="0" anchor="t">
            <a:spAutoFit/>
          </a:bodyPr>
          <a:lstStyle/>
          <a:p>
            <a:pPr algn="l">
              <a:spcAft>
                <a:spcPts val="400"/>
              </a:spcAft>
            </a:pPr>
            <a:r>
              <a:rPr sz="1250" b="0" i="0">
                <a:solidFill>
                  <a:srgbClr val="475569"/>
                </a:solidFill>
              </a:rPr>
              <a:t>Official test set, seed 42. Raising the threshold to 0.9 cuts false alarms from 22.6% to 9.6% and lifts accuracy to 0.921, at the cost of missed attacks. 0.5 is kept as the default; the sweep was run on the test set, so it shows the trade-off rather than a tuned result.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a5_r2_04.png"/>
          <p:cNvPicPr>
            <a:picLocks noChangeAspect="1"/>
          </p:cNvPicPr>
          <p:nvPr/>
        </p:nvPicPr>
        <p:blipFill>
          <a:blip r:embed="rId1"/>
          <a:stretch>
            <a:fillRect/>
          </a:stretch>
        </p:blipFill>
        <p:spPr>
          <a:xfrm>
            <a:off x="548640" y="1343258"/>
            <a:ext cx="6400800" cy="4857282"/>
          </a:xfrm>
          <a:prstGeom prst="rect">
            <a:avLst/>
          </a:prstGeom>
        </p:spPr>
      </p:pic>
      <p:graphicFrame>
        <p:nvGraphicFramePr>
          <p:cNvPr id="27" name="Table 26"/>
          <p:cNvGraphicFramePr>
            <a:graphicFrameLocks noGrp="1"/>
          </p:cNvGraphicFramePr>
          <p:nvPr/>
        </p:nvGraphicFramePr>
        <p:xfrm>
          <a:off x="7223760" y="1325880"/>
          <a:ext cx="4416552" cy="4526280"/>
        </p:xfrm>
        <a:graphic>
          <a:graphicData uri="http://schemas.openxmlformats.org/drawingml/2006/table">
            <a:tbl>
              <a:tblPr firstRow="0" bandRow="0">
                <a:tableStyleId>{5C22544A-7EE6-4342-B048-85BDC9FD1C3A}</a:tableStyleId>
              </a:tblPr>
              <a:tblGrid>
                <a:gridCol w="2148840"/>
                <a:gridCol w="2267712"/>
              </a:tblGrid>
              <a:tr h="502920">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200" b="1">
                          <a:solidFill>
                            <a:srgbClr val="0F172A"/>
                          </a:solidFill>
                        </a:rPr>
                        <a:t>crypto/secure_channel.py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ECDH, HKDF, AES-GCM envelope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ids/preprocessing.py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MinMax + one-hot transformer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ids/train.py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XGBoost, CNN, stacking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ids/inference.py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load models, score records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ids/synthetic.py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synthetic flow generator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api/main.py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9 routes, alert log, limits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frontend/ and web/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React console, legacy page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scripts/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experiments, benchmarks, capture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8" name="TextBox 27"/>
          <p:cNvSpPr txBox="1"/>
          <p:nvPr/>
        </p:nvSpPr>
        <p:spPr>
          <a:xfrm>
            <a:off x="7223760" y="5943600"/>
            <a:ext cx="4416552" cy="457200"/>
          </a:xfrm>
          <a:prstGeom prst="rect">
            <a:avLst/>
          </a:prstGeom>
          <a:noFill/>
        </p:spPr>
        <p:txBody>
          <a:bodyPr wrap="square" lIns="0" rIns="0" tIns="0" bIns="0" anchor="t">
            <a:spAutoFit/>
          </a:bodyPr>
          <a:lstStyle/>
          <a:p>
            <a:pPr algn="l">
              <a:spcAft>
                <a:spcPts val="400"/>
              </a:spcAft>
            </a:pPr>
            <a:r>
              <a:rPr sz="1150" b="0" i="1">
                <a:solidFill>
                  <a:srgbClr val="475569"/>
                </a:solidFill>
              </a:rPr>
              <a:t>Level-1 data-flow diagram: seven processes, five stores.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Entities and UML (no database)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a5_r2_09.png"/>
          <p:cNvPicPr>
            <a:picLocks noChangeAspect="1"/>
          </p:cNvPicPr>
          <p:nvPr/>
        </p:nvPicPr>
        <p:blipFill>
          <a:blip r:embed="rId1"/>
          <a:stretch>
            <a:fillRect/>
          </a:stretch>
        </p:blipFill>
        <p:spPr>
          <a:xfrm>
            <a:off x="548640" y="1242060"/>
            <a:ext cx="5486400" cy="4419600"/>
          </a:xfrm>
          <a:prstGeom prst="rect">
            <a:avLst/>
          </a:prstGeom>
        </p:spPr>
      </p:pic>
      <p:pic>
        <p:nvPicPr>
          <p:cNvPr id="27" name="Picture 26" descr="a5_r2_06.png"/>
          <p:cNvPicPr>
            <a:picLocks noChangeAspect="1"/>
          </p:cNvPicPr>
          <p:nvPr/>
        </p:nvPicPr>
        <p:blipFill>
          <a:blip r:embed="rId4"/>
          <a:stretch>
            <a:fillRect/>
          </a:stretch>
        </p:blipFill>
        <p:spPr>
          <a:xfrm>
            <a:off x="6172200" y="1226820"/>
            <a:ext cx="5486400" cy="4678680"/>
          </a:xfrm>
          <a:prstGeom prst="rect">
            <a:avLst/>
          </a:prstGeom>
        </p:spPr>
      </p:pic>
      <p:sp>
        <p:nvSpPr>
          <p:cNvPr id="28" name="TextBox 27"/>
          <p:cNvSpPr txBox="1"/>
          <p:nvPr/>
        </p:nvSpPr>
        <p:spPr>
          <a:xfrm>
            <a:off x="548640" y="5806440"/>
            <a:ext cx="5486400" cy="640080"/>
          </a:xfrm>
          <a:prstGeom prst="rect">
            <a:avLst/>
          </a:prstGeom>
          <a:noFill/>
        </p:spPr>
        <p:txBody>
          <a:bodyPr wrap="square" lIns="0" rIns="0" tIns="0" bIns="0" anchor="t">
            <a:spAutoFit/>
          </a:bodyPr>
          <a:lstStyle/>
          <a:p>
            <a:pPr algn="l">
              <a:spcAft>
                <a:spcPts val="400"/>
              </a:spcAft>
            </a:pPr>
            <a:r>
              <a:rPr sz="1150" b="0" i="1">
                <a:solidFill>
                  <a:srgbClr val="475569"/>
                </a:solidFill>
              </a:rPr>
              <a:t>CipherGuard Shield keeps no database. Alerts and keys live in process memory; models and reports are files. The ER diagram shows logical entities and call-time relations.</a:t>
            </a:r>
          </a:p>
        </p:txBody>
      </p:sp>
      <p:sp>
        <p:nvSpPr>
          <p:cNvPr id="29" name="TextBox 28"/>
          <p:cNvSpPr txBox="1"/>
          <p:nvPr/>
        </p:nvSpPr>
        <p:spPr>
          <a:xfrm>
            <a:off x="6172200" y="5989320"/>
            <a:ext cx="5486400" cy="457200"/>
          </a:xfrm>
          <a:prstGeom prst="rect">
            <a:avLst/>
          </a:prstGeom>
          <a:noFill/>
        </p:spPr>
        <p:txBody>
          <a:bodyPr wrap="square" lIns="0" rIns="0" tIns="0" bIns="0" anchor="t">
            <a:spAutoFit/>
          </a:bodyPr>
          <a:lstStyle/>
          <a:p>
            <a:pPr algn="l">
              <a:spcAft>
                <a:spcPts val="400"/>
              </a:spcAft>
            </a:pPr>
            <a:r>
              <a:rPr sz="1150" b="0" i="1">
                <a:solidFill>
                  <a:srgbClr val="475569"/>
                </a:solidFill>
              </a:rPr>
              <a:t>Core classes: KeyPair, SecureChannel, ThreatSenseEngine, CNN1D_Torch, FastAPI app.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754880"/>
        </p:xfrm>
        <a:graphic>
          <a:graphicData uri="http://schemas.openxmlformats.org/drawingml/2006/table">
            <a:tbl>
              <a:tblPr firstRow="0" bandRow="0">
                <a:tableStyleId>{5C22544A-7EE6-4342-B048-85BDC9FD1C3A}</a:tableStyleId>
              </a:tblPr>
              <a:tblGrid>
                <a:gridCol w="2377440"/>
                <a:gridCol w="8714232"/>
              </a:tblGrid>
              <a:tr h="594360">
                <a:tc>
                  <a:txBody>
                    <a:bodyPr wrap="square"/>
                    <a:lstStyle/>
                    <a:p>
                      <a:pPr algn="ctr"/>
                      <a:r>
                        <a:rPr sz="14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94360">
                <a:tc>
                  <a:txBody>
                    <a:bodyPr wrap="square"/>
                    <a:lstStyle/>
                    <a:p>
                      <a:pPr algn="l"/>
                      <a:r>
                        <a:rPr sz="1400" b="1">
                          <a:solidFill>
                            <a:srgbClr val="0F172A"/>
                          </a:solidFill>
                        </a:rPr>
                        <a:t>Language and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Python 3.11, FastAPI 0.110, Uvicorn 0.29, Pydantic 2.6, python-multipart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Cryptography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cryptography 42 (OpenSSL): ECDH on NIST P-256, HKDF-SHA256, AES-256-GCM with 12-byte nonce and 16-byte tag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XGBoost 2.0.3, scikit-learn 1.5.0 (ColumnTransformer, logistic regression), PyTorch (CPU) for the 1D CNN, pandas, NumPy, joblib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UNSW-NB15 official training and testing sets (Hugging Face repackaging, parquet via pyarrow) and a built-in synthetic generator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React 19, Vite 8, Tailwind 4, Recharts, Framer Motion, GSAP, three.js; original HTML/JS dashboard in web/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Testing and capture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pytest, FastAPI TestClient, httpx smoke script, Playwright browser walk at 1440 x 900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run.bat (virtual environment, training if needed, both servers) or Docker; ports 8305 and 5305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4937760"/>
        </p:xfrm>
        <a:graphic>
          <a:graphicData uri="http://schemas.openxmlformats.org/drawingml/2006/table">
            <a:tbl>
              <a:tblPr firstRow="0" bandRow="0">
                <a:tableStyleId>{5C22544A-7EE6-4342-B048-85BDC9FD1C3A}</a:tableStyleId>
              </a:tblPr>
              <a:tblGrid>
                <a:gridCol w="4754880"/>
                <a:gridCol w="1417320"/>
                <a:gridCol w="4919472"/>
              </a:tblGrid>
              <a:tr h="548640">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250" b="0">
                          <a:solidFill>
                            <a:srgbClr val="0F172A"/>
                          </a:solidFill>
                        </a:rPr>
                        <a:t>SecureChannel: ECDH + HKDF + AES-256-GCM, text and file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6 tamper cases x 1,000 trials all as expected; 10 unit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ThreatSense: XGBoost + CNN + stacking, batch CSV, alerts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6 engine tests; 120-row batch scored in 5.7 ms in process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API (9 routes) and React console (5 routes)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15/15 smoke checks; 26/26 pytest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Real-data evaluation (official split, base-paper protocol)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5 seeds + 10 repetitions; threshold, per-category, ROC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RSA-OAEP + AES-GCM baseline benchmark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RSA-2048 and RSA-3072 against SecureChannel, 1 KB to 5 MB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Real-trained model bundle served by the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 (optional)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CIPHERGUARD_MODELS_DIR switch; default stays synthetic-trained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Live packet capture, alert persistence, TLS and login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records and CSV only; alerts lost on restart; demo cloud in process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Base paper's EECC and quantum-inspired network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standard primitives and a classical ensemble used instead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real data versus synthetic</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34440"/>
            <a:ext cx="73152" cy="10972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0.890 ± 0.002</a:t>
            </a:r>
          </a:p>
        </p:txBody>
      </p:sp>
      <p:sp>
        <p:nvSpPr>
          <p:cNvPr id="29" name="TextBox 28"/>
          <p:cNvSpPr txBox="1"/>
          <p:nvPr/>
        </p:nvSpPr>
        <p:spPr>
          <a:xfrm>
            <a:off x="749808" y="1870862"/>
            <a:ext cx="2331720" cy="416966"/>
          </a:xfrm>
          <a:prstGeom prst="rect">
            <a:avLst/>
          </a:prstGeom>
          <a:noFill/>
        </p:spPr>
        <p:txBody>
          <a:bodyPr wrap="square" lIns="0" rIns="0" tIns="0" bIns="0" anchor="t">
            <a:spAutoFit/>
          </a:bodyPr>
          <a:lstStyle/>
          <a:p>
            <a:pPr algn="l">
              <a:spcAft>
                <a:spcPts val="400"/>
              </a:spcAft>
            </a:pPr>
            <a:r>
              <a:rPr sz="1150" b="0" i="0">
                <a:solidFill>
                  <a:srgbClr val="475569"/>
                </a:solidFill>
              </a:rPr>
              <a:t>stacked, official test set (5 seeds)</a:t>
            </a:r>
          </a:p>
        </p:txBody>
      </p:sp>
      <p:sp>
        <p:nvSpPr>
          <p:cNvPr id="30" name="Rounded Rectangle 29"/>
          <p:cNvSpPr/>
          <p:nvPr/>
        </p:nvSpPr>
        <p:spPr>
          <a:xfrm>
            <a:off x="3374136"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34440"/>
            <a:ext cx="73152" cy="10972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0.910</a:t>
            </a:r>
          </a:p>
        </p:txBody>
      </p:sp>
      <p:sp>
        <p:nvSpPr>
          <p:cNvPr id="33" name="TextBox 32"/>
          <p:cNvSpPr txBox="1"/>
          <p:nvPr/>
        </p:nvSpPr>
        <p:spPr>
          <a:xfrm>
            <a:off x="3575304" y="1870862"/>
            <a:ext cx="2331720" cy="416966"/>
          </a:xfrm>
          <a:prstGeom prst="rect">
            <a:avLst/>
          </a:prstGeom>
          <a:noFill/>
        </p:spPr>
        <p:txBody>
          <a:bodyPr wrap="square" lIns="0" rIns="0" tIns="0" bIns="0" anchor="t">
            <a:spAutoFit/>
          </a:bodyPr>
          <a:lstStyle/>
          <a:p>
            <a:pPr algn="l">
              <a:spcAft>
                <a:spcPts val="400"/>
              </a:spcAft>
            </a:pPr>
            <a:r>
              <a:rPr sz="1150" b="0" i="0">
                <a:solidFill>
                  <a:srgbClr val="475569"/>
                </a:solidFill>
              </a:rPr>
              <a:t>XGBoost alone, same test set</a:t>
            </a:r>
          </a:p>
        </p:txBody>
      </p:sp>
      <p:sp>
        <p:nvSpPr>
          <p:cNvPr id="34" name="Rounded Rectangle 33"/>
          <p:cNvSpPr/>
          <p:nvPr/>
        </p:nvSpPr>
        <p:spPr>
          <a:xfrm>
            <a:off x="6199631"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34440"/>
            <a:ext cx="73152" cy="10972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0.938 ± 0.007</a:t>
            </a:r>
          </a:p>
        </p:txBody>
      </p:sp>
      <p:sp>
        <p:nvSpPr>
          <p:cNvPr id="37" name="TextBox 36"/>
          <p:cNvSpPr txBox="1"/>
          <p:nvPr/>
        </p:nvSpPr>
        <p:spPr>
          <a:xfrm>
            <a:off x="6400799" y="1870862"/>
            <a:ext cx="2331720" cy="416966"/>
          </a:xfrm>
          <a:prstGeom prst="rect">
            <a:avLst/>
          </a:prstGeom>
          <a:noFill/>
        </p:spPr>
        <p:txBody>
          <a:bodyPr wrap="square" lIns="0" rIns="0" tIns="0" bIns="0" anchor="t">
            <a:spAutoFit/>
          </a:bodyPr>
          <a:lstStyle/>
          <a:p>
            <a:pPr algn="l">
              <a:spcAft>
                <a:spcPts val="400"/>
              </a:spcAft>
            </a:pPr>
            <a:r>
              <a:rPr sz="1150" b="0" i="0">
                <a:solidFill>
                  <a:srgbClr val="475569"/>
                </a:solidFill>
              </a:rPr>
              <a:t>stacked, 9,000-flow paper protocol (10 runs)</a:t>
            </a:r>
          </a:p>
        </p:txBody>
      </p:sp>
      <p:sp>
        <p:nvSpPr>
          <p:cNvPr id="38" name="Rounded Rectangle 37"/>
          <p:cNvSpPr/>
          <p:nvPr/>
        </p:nvSpPr>
        <p:spPr>
          <a:xfrm>
            <a:off x="9025128"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34440"/>
            <a:ext cx="73152" cy="109728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0.660</a:t>
            </a:r>
          </a:p>
        </p:txBody>
      </p:sp>
      <p:sp>
        <p:nvSpPr>
          <p:cNvPr id="41" name="TextBox 40"/>
          <p:cNvSpPr txBox="1"/>
          <p:nvPr/>
        </p:nvSpPr>
        <p:spPr>
          <a:xfrm>
            <a:off x="9226296" y="1870862"/>
            <a:ext cx="2331720" cy="416966"/>
          </a:xfrm>
          <a:prstGeom prst="rect">
            <a:avLst/>
          </a:prstGeom>
          <a:noFill/>
        </p:spPr>
        <p:txBody>
          <a:bodyPr wrap="square" lIns="0" rIns="0" tIns="0" bIns="0" anchor="t">
            <a:spAutoFit/>
          </a:bodyPr>
          <a:lstStyle/>
          <a:p>
            <a:pPr algn="l">
              <a:spcAft>
                <a:spcPts val="400"/>
              </a:spcAft>
            </a:pPr>
            <a:r>
              <a:rPr sz="1150" b="0" i="0">
                <a:solidFill>
                  <a:srgbClr val="475569"/>
                </a:solidFill>
              </a:rPr>
              <a:t>shipped synthetic model on real test flows</a:t>
            </a:r>
          </a:p>
        </p:txBody>
      </p:sp>
      <p:pic>
        <p:nvPicPr>
          <p:cNvPr id="42" name="Picture 41" descr="a5_r2_f07.png"/>
          <p:cNvPicPr>
            <a:picLocks noChangeAspect="1"/>
          </p:cNvPicPr>
          <p:nvPr/>
        </p:nvPicPr>
        <p:blipFill>
          <a:blip r:embed="rId1"/>
          <a:stretch>
            <a:fillRect/>
          </a:stretch>
        </p:blipFill>
        <p:spPr>
          <a:xfrm>
            <a:off x="548640" y="2506468"/>
            <a:ext cx="5486400" cy="2942343"/>
          </a:xfrm>
          <a:prstGeom prst="rect">
            <a:avLst/>
          </a:prstGeom>
        </p:spPr>
      </p:pic>
      <p:pic>
        <p:nvPicPr>
          <p:cNvPr id="43" name="Picture 42" descr="a5_r2_f09.png"/>
          <p:cNvPicPr>
            <a:picLocks noChangeAspect="1"/>
          </p:cNvPicPr>
          <p:nvPr/>
        </p:nvPicPr>
        <p:blipFill>
          <a:blip r:embed="rId4"/>
          <a:stretch>
            <a:fillRect/>
          </a:stretch>
        </p:blipFill>
        <p:spPr>
          <a:xfrm>
            <a:off x="6172200" y="2797494"/>
            <a:ext cx="5486400" cy="2360290"/>
          </a:xfrm>
          <a:prstGeom prst="rect">
            <a:avLst/>
          </a:prstGeom>
        </p:spPr>
      </p:pic>
      <p:sp>
        <p:nvSpPr>
          <p:cNvPr id="44" name="TextBox 43"/>
          <p:cNvSpPr txBox="1"/>
          <p:nvPr/>
        </p:nvSpPr>
        <p:spPr>
          <a:xfrm>
            <a:off x="548640" y="5577840"/>
            <a:ext cx="11091672" cy="868680"/>
          </a:xfrm>
          <a:prstGeom prst="rect">
            <a:avLst/>
          </a:prstGeom>
          <a:noFill/>
        </p:spPr>
        <p:txBody>
          <a:bodyPr wrap="square" lIns="0" rIns="0" tIns="0" bIns="0" anchor="t">
            <a:spAutoFit/>
          </a:bodyPr>
          <a:lstStyle/>
          <a:p>
            <a:pPr algn="l">
              <a:spcAft>
                <a:spcPts val="400"/>
              </a:spcAft>
            </a:pPr>
            <a:r>
              <a:rPr sz="1250" b="0" i="0">
                <a:solidFill>
                  <a:srgbClr val="475569"/>
                </a:solidFill>
              </a:rPr>
              <a:t>Shipped accuracy 97.33% is on synthetic rows; the same model scores 0.660 on 82,332 real flows. Real-trained: stacked 0.890, F1 0.907, ROC-AUC 0.984, but XGBoost alone is better (0.910); CNN 0.841. Encryption of 100 KB takes 0.51 ms; one protected transfer 5.67 ms, 81% of it detection.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3_live-scoring.png"/>
          <p:cNvPicPr>
            <a:picLocks noChangeAspect="1"/>
          </p:cNvPicPr>
          <p:nvPr/>
        </p:nvPicPr>
        <p:blipFill>
          <a:blip r:embed="rId2"/>
          <a:stretch>
            <a:fillRect/>
          </a:stretch>
        </p:blipFill>
        <p:spPr>
          <a:xfrm>
            <a:off x="686714" y="1188720"/>
            <a:ext cx="3335731" cy="2084832"/>
          </a:xfrm>
          <a:prstGeom prst="rect">
            <a:avLst/>
          </a:prstGeom>
          <a:ln w="9525">
            <a:solidFill>
              <a:srgbClr val="D5DCE6"/>
            </a:solidFill>
          </a:ln>
        </p:spPr>
      </p:pic>
      <p:sp>
        <p:nvSpPr>
          <p:cNvPr id="27" name="TextBox 26"/>
          <p:cNvSpPr txBox="1"/>
          <p:nvPr/>
        </p:nvSpPr>
        <p:spPr>
          <a:xfrm>
            <a:off x="548640"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Live scoring: attack verdict, severity, XGB and CNN scores</a:t>
            </a:r>
          </a:p>
        </p:txBody>
      </p:sp>
      <p:pic>
        <p:nvPicPr>
          <p:cNvPr id="28" name="Picture 27" descr="06_secure-transfer-verified.png"/>
          <p:cNvPicPr>
            <a:picLocks noChangeAspect="1"/>
          </p:cNvPicPr>
          <p:nvPr/>
        </p:nvPicPr>
        <p:blipFill>
          <a:blip r:embed="rId1"/>
          <a:stretch>
            <a:fillRect/>
          </a:stretch>
        </p:blipFill>
        <p:spPr>
          <a:xfrm>
            <a:off x="4472330" y="1188720"/>
            <a:ext cx="3335731" cy="2084832"/>
          </a:xfrm>
          <a:prstGeom prst="rect">
            <a:avLst/>
          </a:prstGeom>
          <a:ln w="9525">
            <a:solidFill>
              <a:srgbClr val="D5DCE6"/>
            </a:solidFill>
          </a:ln>
        </p:spPr>
      </p:pic>
      <p:sp>
        <p:nvSpPr>
          <p:cNvPr id="29" name="TextBox 28"/>
          <p:cNvSpPr txBox="1"/>
          <p:nvPr/>
        </p:nvSpPr>
        <p:spPr>
          <a:xfrm>
            <a:off x="4334256"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Secure transfer: decrypted and verified at the cloud</a:t>
            </a:r>
          </a:p>
        </p:txBody>
      </p:sp>
      <p:pic>
        <p:nvPicPr>
          <p:cNvPr id="30" name="Picture 29" descr="07_secure-transfer-tampered.png"/>
          <p:cNvPicPr>
            <a:picLocks noChangeAspect="1"/>
          </p:cNvPicPr>
          <p:nvPr/>
        </p:nvPicPr>
        <p:blipFill>
          <a:blip r:embed="rId5"/>
          <a:stretch>
            <a:fillRect/>
          </a:stretch>
        </p:blipFill>
        <p:spPr>
          <a:xfrm>
            <a:off x="8257946" y="1188720"/>
            <a:ext cx="3335731" cy="2084832"/>
          </a:xfrm>
          <a:prstGeom prst="rect">
            <a:avLst/>
          </a:prstGeom>
          <a:ln w="9525">
            <a:solidFill>
              <a:srgbClr val="D5DCE6"/>
            </a:solidFill>
          </a:ln>
        </p:spPr>
      </p:pic>
      <p:sp>
        <p:nvSpPr>
          <p:cNvPr id="31" name="TextBox 30"/>
          <p:cNvSpPr txBox="1"/>
          <p:nvPr/>
        </p:nvSpPr>
        <p:spPr>
          <a:xfrm>
            <a:off x="8119872"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Tampered ciphertext rejected (tag failure)</a:t>
            </a:r>
          </a:p>
        </p:txBody>
      </p:sp>
      <p:pic>
        <p:nvPicPr>
          <p:cNvPr id="32" name="Picture 31" descr="10_real-flows-shipped-model.png"/>
          <p:cNvPicPr>
            <a:picLocks noChangeAspect="1"/>
          </p:cNvPicPr>
          <p:nvPr/>
        </p:nvPicPr>
        <p:blipFill>
          <a:blip r:embed="rId6"/>
          <a:stretch>
            <a:fillRect/>
          </a:stretch>
        </p:blipFill>
        <p:spPr>
          <a:xfrm>
            <a:off x="686714" y="3712464"/>
            <a:ext cx="3335731" cy="2084832"/>
          </a:xfrm>
          <a:prstGeom prst="rect">
            <a:avLst/>
          </a:prstGeom>
          <a:ln w="9525">
            <a:solidFill>
              <a:srgbClr val="D5DCE6"/>
            </a:solidFill>
          </a:ln>
        </p:spPr>
      </p:pic>
      <p:sp>
        <p:nvSpPr>
          <p:cNvPr id="33" name="TextBox 32"/>
          <p:cNvSpPr txBox="1"/>
          <p:nvPr/>
        </p:nvSpPr>
        <p:spPr>
          <a:xfrm>
            <a:off x="548640"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120 real flows, shipped model: 78/120 agree with labels</a:t>
            </a:r>
          </a:p>
        </p:txBody>
      </p:sp>
      <p:pic>
        <p:nvPicPr>
          <p:cNvPr id="34" name="Picture 33" descr="11_real-model-performance.png"/>
          <p:cNvPicPr>
            <a:picLocks noChangeAspect="1"/>
          </p:cNvPicPr>
          <p:nvPr/>
        </p:nvPicPr>
        <p:blipFill>
          <a:blip r:embed="rId7"/>
          <a:stretch>
            <a:fillRect/>
          </a:stretch>
        </p:blipFill>
        <p:spPr>
          <a:xfrm>
            <a:off x="4472330" y="3712464"/>
            <a:ext cx="3335731" cy="2084832"/>
          </a:xfrm>
          <a:prstGeom prst="rect">
            <a:avLst/>
          </a:prstGeom>
          <a:ln w="9525">
            <a:solidFill>
              <a:srgbClr val="D5DCE6"/>
            </a:solidFill>
          </a:ln>
        </p:spPr>
      </p:pic>
      <p:sp>
        <p:nvSpPr>
          <p:cNvPr id="35" name="TextBox 34"/>
          <p:cNvSpPr txBox="1"/>
          <p:nvPr/>
        </p:nvSpPr>
        <p:spPr>
          <a:xfrm>
            <a:off x="4334256"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Real-trained bundle: 88.79% on 82,332 test flows</a:t>
            </a:r>
          </a:p>
        </p:txBody>
      </p:sp>
      <p:pic>
        <p:nvPicPr>
          <p:cNvPr id="36" name="Picture 35" descr="12_real-flows-real-model.png"/>
          <p:cNvPicPr>
            <a:picLocks noChangeAspect="1"/>
          </p:cNvPicPr>
          <p:nvPr/>
        </p:nvPicPr>
        <p:blipFill>
          <a:blip r:embed="rId8"/>
          <a:stretch>
            <a:fillRect/>
          </a:stretch>
        </p:blipFill>
        <p:spPr>
          <a:xfrm>
            <a:off x="8257946" y="3712464"/>
            <a:ext cx="3335731" cy="2084832"/>
          </a:xfrm>
          <a:prstGeom prst="rect">
            <a:avLst/>
          </a:prstGeom>
          <a:ln w="9525">
            <a:solidFill>
              <a:srgbClr val="D5DCE6"/>
            </a:solidFill>
          </a:ln>
        </p:spPr>
      </p:pic>
      <p:sp>
        <p:nvSpPr>
          <p:cNvPr id="37" name="TextBox 36"/>
          <p:cNvSpPr txBox="1"/>
          <p:nvPr/>
        </p:nvSpPr>
        <p:spPr>
          <a:xfrm>
            <a:off x="8119872"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Same 120 real flows, real-trained bundle: 101/120</a:t>
            </a:r>
          </a:p>
        </p:txBody>
      </p:sp>
      <p:sp>
        <p:nvSpPr>
          <p:cNvPr id="38" name="TextBox 37"/>
          <p:cNvSpPr txBox="1"/>
          <p:nvPr/>
        </p:nvSpPr>
        <p:spPr>
          <a:xfrm>
            <a:off x="548640" y="6144768"/>
            <a:ext cx="11091672" cy="274320"/>
          </a:xfrm>
          <a:prstGeom prst="rect">
            <a:avLst/>
          </a:prstGeom>
          <a:noFill/>
        </p:spPr>
        <p:txBody>
          <a:bodyPr wrap="square" lIns="0" rIns="0" tIns="0" bIns="0" anchor="t">
            <a:spAutoFit/>
          </a:bodyPr>
          <a:lstStyle/>
          <a:p>
            <a:pPr algn="l">
              <a:spcAft>
                <a:spcPts val="400"/>
              </a:spcAft>
            </a:pPr>
            <a:r>
              <a:rPr sz="1100" b="0" i="1">
                <a:solidFill>
                  <a:srgbClr val="475569"/>
                </a:solidFill>
              </a:rPr>
              <a:t>Real captures of the running application at 1440 x 900. The 120 real flows are a seeded sample of the official test set.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26 / 26</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15 / 15</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smoke-test checks passed</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6,000</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tamper trials in 6 cases, every one as expected</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20,000</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distinct nonces in 20,000 encryptions</a:t>
            </a:r>
          </a:p>
        </p:txBody>
      </p:sp>
      <p:graphicFrame>
        <p:nvGraphicFramePr>
          <p:cNvPr id="42" name="Table 41"/>
          <p:cNvGraphicFramePr>
            <a:graphicFrameLocks noGrp="1"/>
          </p:cNvGraphicFramePr>
          <p:nvPr/>
        </p:nvGraphicFramePr>
        <p:xfrm>
          <a:off x="548640" y="2697480"/>
          <a:ext cx="11091672" cy="3566160"/>
        </p:xfrm>
        <a:graphic>
          <a:graphicData uri="http://schemas.openxmlformats.org/drawingml/2006/table">
            <a:tbl>
              <a:tblPr firstRow="0" bandRow="0">
                <a:tableStyleId>{5C22544A-7EE6-4342-B048-85BDC9FD1C3A}</a:tableStyleId>
              </a:tblPr>
              <a:tblGrid>
                <a:gridCol w="5852160"/>
                <a:gridCol w="5239512"/>
              </a:tblGrid>
              <a:tr h="713232">
                <a:tc>
                  <a:txBody>
                    <a:bodyPr wrap="square"/>
                    <a:lstStyle/>
                    <a:p>
                      <a:pPr algn="ctr"/>
                      <a:r>
                        <a:rPr sz="14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13232">
                <a:tc>
                  <a:txBody>
                    <a:bodyPr wrap="square"/>
                    <a:lstStyle/>
                    <a:p>
                      <a:pPr algn="l"/>
                      <a:r>
                        <a:rPr sz="1400" b="0">
                          <a:solidFill>
                            <a:srgbClr val="0F172A"/>
                          </a:solidFill>
                        </a:rPr>
                        <a:t>Shipped model scores 0.660 on real flows (AUC 0.657)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Stated in every result; real-trained bundle built and servable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400" b="0">
                          <a:solidFill>
                            <a:srgbClr val="0F172A"/>
                          </a:solidFill>
                        </a:rPr>
                        <a:t>torch fails to load (WinError 1114) if numpy/pandas are imported first on this host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torch-first launcher, test conftest and experiment scripts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400" b="0">
                          <a:solidFill>
                            <a:srgbClr val="0F172A"/>
                          </a:solidFill>
                        </a:rPr>
                        <a:t>README says the CNN uses balanced loss; the PyTorch path uses plain BCE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Documented; CNN class weighting left as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400" b="0">
                          <a:solidFill>
                            <a:srgbClr val="0F172A"/>
                          </a:solidFill>
                        </a:rPr>
                        <a:t>The console sample button says real flows; the 120-row sample is synthetic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Documented; real sample added under data/samples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828032"/>
        </p:xfrm>
        <a:graphic>
          <a:graphicData uri="http://schemas.openxmlformats.org/drawingml/2006/table">
            <a:tbl>
              <a:tblPr firstRow="0" bandRow="0">
                <a:tableStyleId>{5C22544A-7EE6-4342-B048-85BDC9FD1C3A}</a:tableStyleId>
              </a:tblPr>
              <a:tblGrid>
                <a:gridCol w="5212080"/>
                <a:gridCol w="5879592"/>
              </a:tblGrid>
              <a:tr h="804672">
                <a:tc>
                  <a:txBody>
                    <a:bodyPr wrap="square"/>
                    <a:lstStyle/>
                    <a:p>
                      <a:pPr algn="ctr"/>
                      <a:r>
                        <a:rPr sz="145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5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04672">
                <a:tc>
                  <a:txBody>
                    <a:bodyPr wrap="square"/>
                    <a:lstStyle/>
                    <a:p>
                      <a:pPr algn="l"/>
                      <a:r>
                        <a:rPr sz="1450" b="0">
                          <a:solidFill>
                            <a:srgbClr val="0F172A"/>
                          </a:solidFill>
                        </a:rPr>
                        <a:t>No real dataset shipped with the project; the demo ran on synthetic flows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50" b="0">
                          <a:solidFill>
                            <a:srgbClr val="0F172A"/>
                          </a:solidFill>
                        </a:rPr>
                        <a:t>Fetched the official UNSW-NB15 split, re-ran the same pipeline, kept the shipped files unchanged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50" b="0">
                          <a:solidFill>
                            <a:srgbClr val="0F172A"/>
                          </a:solidFill>
                        </a:rPr>
                        <a:t>Temporal shift: stacking (0.890) trails XGBoost (0.910) on the official test 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50" b="0">
                          <a:solidFill>
                            <a:srgbClr val="0F172A"/>
                          </a:solidFill>
                        </a:rPr>
                        <a:t>Reported per seed, with baselines; threshold analysis; no claim of an ensemble gain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50" b="0">
                          <a:solidFill>
                            <a:srgbClr val="0F172A"/>
                          </a:solidFill>
                        </a:rPr>
                        <a:t>False alarms: 22.6% of normal test flows at threshold 0.5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50" b="0">
                          <a:solidFill>
                            <a:srgbClr val="0F172A"/>
                          </a:solidFill>
                        </a:rPr>
                        <a:t>Threshold sweep (0.9 gives 9.6%); operator-tunable threshold listed as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50" b="0">
                          <a:solidFill>
                            <a:srgbClr val="0F172A"/>
                          </a:solidFill>
                        </a:rPr>
                        <a:t>The base paper's EECC and quantum-inspired network cannot be reproduced from the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50" b="0">
                          <a:solidFill>
                            <a:srgbClr val="0F172A"/>
                          </a:solidFill>
                        </a:rPr>
                        <a:t>Standard primitives (ECDH, AES-GCM) and a classical ensemble; comparison marked indicative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50" b="0">
                          <a:solidFill>
                            <a:srgbClr val="0F172A"/>
                          </a:solidFill>
                        </a:rPr>
                        <a:t>CPU-only training and a shared, memory-limited PC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50" b="0">
                          <a:solidFill>
                            <a:srgbClr val="0F172A"/>
                          </a:solidFill>
                        </a:rPr>
                        <a:t>Small CNN (246 s); torch-first imports; timings reported as indicative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Adopt real data</a:t>
            </a:r>
          </a:p>
        </p:txBody>
      </p:sp>
      <p:sp>
        <p:nvSpPr>
          <p:cNvPr id="29" name="TextBox 28"/>
          <p:cNvSpPr txBox="1"/>
          <p:nvPr/>
        </p:nvSpPr>
        <p:spPr>
          <a:xfrm>
            <a:off x="749808" y="2331720"/>
            <a:ext cx="2203704" cy="2560320"/>
          </a:xfrm>
          <a:prstGeom prst="rect">
            <a:avLst/>
          </a:prstGeom>
          <a:noFill/>
        </p:spPr>
        <p:txBody>
          <a:bodyPr wrap="square" lIns="0" rIns="0" tIns="0" bIns="0" anchor="t">
            <a:spAutoFit/>
          </a:bodyPr>
          <a:lstStyle/>
          <a:p>
            <a:pPr algn="l">
              <a:spcAft>
                <a:spcPts val="400"/>
              </a:spcAft>
            </a:pPr>
            <a:r>
              <a:rPr sz="1900" b="0" i="0">
                <a:solidFill>
                  <a:srgbClr val="475569"/>
                </a:solidFill>
              </a:rPr>
              <a:t>Make the real-trained bundle the default, add class weighting to the CNN, and choose the threshold on a validation set.</a:t>
            </a:r>
          </a:p>
        </p:txBody>
      </p:sp>
      <p:sp>
        <p:nvSpPr>
          <p:cNvPr id="30" name="Rounded Rectangle 29"/>
          <p:cNvSpPr/>
          <p:nvPr/>
        </p:nvSpPr>
        <p:spPr>
          <a:xfrm>
            <a:off x="3374136"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Couple the lanes</a:t>
            </a:r>
          </a:p>
        </p:txBody>
      </p:sp>
      <p:sp>
        <p:nvSpPr>
          <p:cNvPr id="33" name="TextBox 32"/>
          <p:cNvSpPr txBox="1"/>
          <p:nvPr/>
        </p:nvSpPr>
        <p:spPr>
          <a:xfrm>
            <a:off x="3575304" y="2331720"/>
            <a:ext cx="2203704" cy="2560320"/>
          </a:xfrm>
          <a:prstGeom prst="rect">
            <a:avLst/>
          </a:prstGeom>
          <a:noFill/>
        </p:spPr>
        <p:txBody>
          <a:bodyPr wrap="square" lIns="0" rIns="0" tIns="0" bIns="0" anchor="t">
            <a:spAutoFit/>
          </a:bodyPr>
          <a:lstStyle/>
          <a:p>
            <a:pPr algn="l">
              <a:spcAft>
                <a:spcPts val="400"/>
              </a:spcAft>
            </a:pPr>
            <a:r>
              <a:rPr sz="1900" b="0" i="0">
                <a:solidFill>
                  <a:srgbClr val="475569"/>
                </a:solidFill>
              </a:rPr>
              <a:t>Score the traffic of a transfer session and quarantine or alert before decryption, instead of side-by-side lanes.</a:t>
            </a:r>
          </a:p>
        </p:txBody>
      </p:sp>
      <p:sp>
        <p:nvSpPr>
          <p:cNvPr id="34" name="Rounded Rectangle 33"/>
          <p:cNvSpPr/>
          <p:nvPr/>
        </p:nvSpPr>
        <p:spPr>
          <a:xfrm>
            <a:off x="6199631"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Harden</a:t>
            </a:r>
          </a:p>
        </p:txBody>
      </p:sp>
      <p:sp>
        <p:nvSpPr>
          <p:cNvPr id="37" name="TextBox 36"/>
          <p:cNvSpPr txBox="1"/>
          <p:nvPr/>
        </p:nvSpPr>
        <p:spPr>
          <a:xfrm>
            <a:off x="6400799" y="2331720"/>
            <a:ext cx="2203704" cy="2560320"/>
          </a:xfrm>
          <a:prstGeom prst="rect">
            <a:avLst/>
          </a:prstGeom>
          <a:noFill/>
        </p:spPr>
        <p:txBody>
          <a:bodyPr wrap="square" lIns="0" rIns="0" tIns="0" bIns="0" anchor="t">
            <a:spAutoFit/>
          </a:bodyPr>
          <a:lstStyle/>
          <a:p>
            <a:pPr algn="l">
              <a:spcAft>
                <a:spcPts val="400"/>
              </a:spcAft>
            </a:pPr>
            <a:r>
              <a:rPr sz="1900" b="0" i="0">
                <a:solidFill>
                  <a:srgbClr val="475569"/>
                </a:solidFill>
              </a:rPr>
              <a:t>Persist alerts, keep the cloud key in a store, add TLS, login and rate limiting, and replace the demo cache by real key distribution.</a:t>
            </a:r>
          </a:p>
        </p:txBody>
      </p:sp>
      <p:sp>
        <p:nvSpPr>
          <p:cNvPr id="38" name="Rounded Rectangle 37"/>
          <p:cNvSpPr/>
          <p:nvPr/>
        </p:nvSpPr>
        <p:spPr>
          <a:xfrm>
            <a:off x="9025128"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 more</a:t>
            </a:r>
          </a:p>
        </p:txBody>
      </p:sp>
      <p:sp>
        <p:nvSpPr>
          <p:cNvPr id="41" name="TextBox 40"/>
          <p:cNvSpPr txBox="1"/>
          <p:nvPr/>
        </p:nvSpPr>
        <p:spPr>
          <a:xfrm>
            <a:off x="9226296" y="2331720"/>
            <a:ext cx="2203704" cy="2560320"/>
          </a:xfrm>
          <a:prstGeom prst="rect">
            <a:avLst/>
          </a:prstGeom>
          <a:noFill/>
        </p:spPr>
        <p:txBody>
          <a:bodyPr wrap="square" lIns="0" rIns="0" tIns="0" bIns="0" anchor="t">
            <a:spAutoFit/>
          </a:bodyPr>
          <a:lstStyle/>
          <a:p>
            <a:pPr algn="l">
              <a:spcAft>
                <a:spcPts val="400"/>
              </a:spcAft>
            </a:pPr>
            <a:r>
              <a:rPr sz="1900" b="0" i="0">
                <a:solidFill>
                  <a:srgbClr val="475569"/>
                </a:solidFill>
              </a:rPr>
              <a:t>Cross-dataset tests, adversarial evasion checks, load tests, and an RSA-hybrid option in the product.</a:t>
            </a:r>
          </a:p>
        </p:txBody>
      </p:sp>
      <p:sp>
        <p:nvSpPr>
          <p:cNvPr id="42" name="Rounded Rectangle 41"/>
          <p:cNvSpPr/>
          <p:nvPr/>
        </p:nvSpPr>
        <p:spPr>
          <a:xfrm>
            <a:off x="548640" y="5257800"/>
            <a:ext cx="11091672" cy="86868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394960"/>
            <a:ext cx="10607040" cy="640080"/>
          </a:xfrm>
          <a:prstGeom prst="rect">
            <a:avLst/>
          </a:prstGeom>
          <a:noFill/>
        </p:spPr>
        <p:txBody>
          <a:bodyPr wrap="square" lIns="0" rIns="0" tIns="0" bIns="0" anchor="ctr">
            <a:spAutoFit/>
          </a:bodyPr>
          <a:lstStyle/>
          <a:p>
            <a:pPr algn="l">
              <a:spcAft>
                <a:spcPts val="400"/>
              </a:spcAft>
            </a:pPr>
            <a:r>
              <a:rPr sz="1600" b="0" i="0">
                <a:solidFill>
                  <a:srgbClr val="0F172A"/>
                </a:solidFill>
              </a:rPr>
              <a:t>Priority: items 1 and 2 close the largest honest gaps, the synthetic-trained default model and the missing link between detection and a transfer session.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ipherGuard Shield">
  <a:themeElements>
    <a:clrScheme name="CipherGuard Shield">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ipherGuard 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ipherGuard Shield">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Data Transmission in Cloud Computing using Encryption and Machine Learning: Review 2</dc:title>
  <dc:subject>Batch A5 (CSE-A)</dc:subject>
  <dc:creator>Avuti Sandhya, Banothu Indu, Dasari Sriteja, Bejugam Vaishnavi</dc:creator>
  <cp:lastModifiedBy/>
  <cp:revision>1</cp:revision>
  <dcterms:created xsi:type="dcterms:W3CDTF">2026-10-13T12:40:05Z</dcterms:created>
  <dcterms:modified xsi:type="dcterms:W3CDTF">2026-10-13T12:40:05Z</dcterms:modified>
  <cp:keywords>cloud security, AES-256-GCM, ECDH, intrusion detection, XGBoost, UNSW-NB15</cp:keywords>
  <dc:description/>
</cp:coreProperties>
</file>