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Accuracy</c:v>
                </c:pt>
              </c:strCache>
            </c:strRef>
          </c:tx>
          <c:spPr>
            <a:solidFill>
              <a:srgbClr val="2A78D6"/>
            </a:solidFill>
          </c:spPr>
          <c:dPt>
            <c:idx val="0"/>
            <c:spPr>
              <a:solidFill>
                <a:srgbClr val="EB6834"/>
              </a:solidFill>
            </c:spPr>
          </c:dPt>
          <c:dPt>
            <c:idx val="3"/>
            <c:spPr>
              <a:solidFill>
                <a:srgbClr val="EB6834"/>
              </a:solidFill>
            </c:spPr>
          </c:dPt>
          <c:cat>
            <c:strRef>
              <c:f>Sheet1!$A$2:$A$5</c:f>
              <c:strCache>
                <c:ptCount val="4"/>
                <c:pt idx="0">
                  <c:v>Synthetic data
(shipped model)</c:v>
                </c:pt>
                <c:pt idx="1">
                  <c:v>Real flows,
balanced 9,000
(paper-style)</c:v>
                </c:pt>
                <c:pt idx="2">
                  <c:v>Real flows,
official
train/test split</c:v>
                </c:pt>
                <c:pt idx="3">
                  <c:v>Shipped model
scored on
real flows</c:v>
                </c:pt>
              </c:strCache>
            </c:strRef>
          </c:cat>
          <c:val>
            <c:numRef>
              <c:f>Sheet1!$B$2:$B$5</c:f>
              <c:numCache>
                <c:formatCode>General</c:formatCode>
                <c:ptCount val="4"/>
                <c:pt idx="0">
                  <c:v>0.9733333333333334</c:v>
                </c:pt>
                <c:pt idx="1">
                  <c:v>0.9382962962962964</c:v>
                </c:pt>
                <c:pt idx="2">
                  <c:v>0.889688092114852</c:v>
                </c:pt>
                <c:pt idx="3">
                  <c:v>0.6602900451829179</c:v>
                </c:pt>
              </c:numCache>
            </c:numRef>
          </c:val>
        </c:ser>
        <c:dLbls>
          <c:numFmt formatCode="0.0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0"/>
          <c:min val="0.0"/>
        </c:scaling>
        <c:delete val="0"/>
        <c:axPos val="l"/>
        <c:majorGridlines>
          <c:spPr>
            <a:ln>
              <a:solidFill>
                <a:srgbClr val="D5DCE6"/>
              </a:solidFill>
            </a:ln>
          </c:spPr>
        </c:majorGridlines>
        <c:numFmt formatCode="0.000" sourceLinked="0"/>
        <c:majorTickMark val="out"/>
        <c:minorTickMark val="none"/>
        <c:tickLblPos val="nextTo"/>
        <c:spPr>
          <a:ln>
            <a:noFill/>
          </a:ln>
        </c:spPr>
        <c:crossAx val="-2068027336"/>
        <c:crosses val="autoZero"/>
      </c:valAx>
    </c:plotArea>
    <c:dispBlanksAs val="gap"/>
  </c:chart>
  <c:txPr>
    <a:bodyPr/>
    <a:lstStyle/>
    <a:p>
      <a:pPr>
        <a:defRPr sz="11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CipherGuard Shield puts two protections on one cloud data path - authenticated encryption for confidentiality and integrity, and a machine-learning detector that flags attack traffic - and measures what both cost together.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design details and measured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the weakness of encryption-only and detection-only systems, the idea of putting both on one path, and what is delivered. Everything is local and runs without a GPU.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paper improves both halves - a fused detector and a new elliptic-curve cipher - and reports its numbers on a 9,000-sample balanced subset. We keep the idea of one framework but replace the novel cipher by standard, analysed primitives; our numbers are never compared directly without stating the protocol.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(base paper plus four recent works) shows hybrid encryption, anomaly detection and federated detection, mostly studied separately. Figures are quoted only where they were read from the paper or its record; the complete verified reference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early evidence from our own pilot runs, shown because it frames the problem: a detector's headline accuracy depends on where the data comes from and how it is split. The shipped demo model is trained on synthetic data and must not be read as a real-traffic result.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the two protections are separate products or separate chapters of a paper: crypto protects the bytes, an IDS watches the traffic, and nobody measures the pair.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limitations from the survey and the batch problem statement. Each maps to a design choice: standard primitives, a detector on the same path, and an explicit evaluation protocol.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states the gap as: both operate together on a single transmission path and the combined overhead is measured. Gaps 4 and 5 come from our own reading of the base paper and from the pilot runs on real and synthetic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need is a framework that encrypts the data and, on the same path, watches the traffic with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Later reviews report which were met. Objective 1 is met by substitution: ECDH P-256 gives a fresh key per message and a smaller key exchange than RSA; the RSA hybrid is measured as the comparison. Key storage (objective 2) and automatic blocking (objective 5) will be only partly met.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Encryption uses only standard, reviewed primitives from the cryptography library. The detector reuses a proven tabular pipeline. The two lanes run side by side in the console; the API does not block a transfer on the verdict, which is stated as a scope limit.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top to bottom: the console calls the API, the API calls the two core modules, and the modules read model files from disk. There is no database.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outcomes we commit to; they are targets at this stage. Review 2 and the final review report what was actually measured, including what could not be.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ECDH instead of RSA (fresh key per message, smaller key exchange; RSA measured as baseline); why standard AES-GCM instead of a new cipher (analysed, authenticated, no proof gap); why synthetic data in the demo model (portable out of the box; real-data results are reported separately).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CipherGuard Shield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200" b="1" dirty="0">
                <a:solidFill>
                  <a:srgbClr val="FFFFFF"/>
                </a:solidFill>
                <a:latin typeface="Cambria" pitchFamily="34" charset="0"/>
                <a:ea typeface="Cambria" pitchFamily="34" charset="-122"/>
                <a:cs typeface="Cambria" pitchFamily="34" charset="-120"/>
              </a:rPr>
              <a:t>Secure Data Transmission in Cloud Computing using Encryption and Machine Learning</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AES-256-GCM with ECDH key exchange, and an XGBoost + 1D-CNN intrusion detector</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Avuti Sandhya  23K91A0520</a:t>
            </a:r>
            <a:endParaRPr lang="en-US" sz="1500" dirty="0"/>
          </a:p>
          <a:p>
            <a:pPr indent="0" marL="0">
              <a:buNone/>
            </a:pPr>
            <a:r>
              <a:rPr lang="en-US" sz="1500" dirty="0">
                <a:solidFill>
                  <a:srgbClr val="FFFFFF"/>
                </a:solidFill>
              </a:rPr>
              <a:t>Banothu Indu  23K91A0530</a:t>
            </a:r>
            <a:endParaRPr lang="en-US" sz="1500" dirty="0"/>
          </a:p>
          <a:p>
            <a:pPr indent="0" marL="0">
              <a:buNone/>
            </a:pPr>
            <a:r>
              <a:rPr lang="en-US" sz="1500" dirty="0">
                <a:solidFill>
                  <a:srgbClr val="FFFFFF"/>
                </a:solidFill>
              </a:rPr>
              <a:t>Dasari Sriteja  23K91A0559</a:t>
            </a:r>
            <a:endParaRPr lang="en-US" sz="1500" dirty="0"/>
          </a:p>
          <a:p>
            <a:pPr indent="0" marL="0">
              <a:buNone/>
            </a:pPr>
            <a:r>
              <a:rPr lang="en-US" sz="1500" dirty="0">
                <a:solidFill>
                  <a:srgbClr val="FFFFFF"/>
                </a:solidFill>
              </a:rPr>
              <a:t>Bejugam Vaishnavi  23K91A0533</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CH. Prabhakar,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A5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system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protect the data and watch the traffic</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566160"/>
          </a:xfrm>
          <a:prstGeom prst="rect">
            <a:avLst/>
          </a:prstGeom>
          <a:noFill/>
        </p:spPr>
        <p:txBody>
          <a:bodyPr wrap="square" lIns="0" rIns="0" tIns="0" bIns="0" anchor="t">
            <a:spAutoFit/>
          </a:bodyPr>
          <a:lstStyle/>
          <a:p>
            <a:pPr algn="l">
              <a:spcAft>
                <a:spcPts val="400"/>
              </a:spcAft>
            </a:pPr>
            <a:r>
              <a:rPr sz="2000" b="0" i="0">
                <a:solidFill>
                  <a:srgbClr val="475569"/>
                </a:solidFill>
              </a:rPr>
              <a:t>Data sent to a public cloud can be intercepted, altered or read by the provider. Encryption protects the content but cannot notice an attacker who already has valid access, and most academic systems treat encryption and intrusion detection separately.</a:t>
            </a:r>
          </a:p>
        </p:txBody>
      </p:sp>
      <p:sp>
        <p:nvSpPr>
          <p:cNvPr id="30" name="Rounded Rectangle 29"/>
          <p:cNvSpPr/>
          <p:nvPr/>
        </p:nvSpPr>
        <p:spPr>
          <a:xfrm>
            <a:off x="4334255"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566160"/>
          </a:xfrm>
          <a:prstGeom prst="rect">
            <a:avLst/>
          </a:prstGeom>
          <a:noFill/>
        </p:spPr>
        <p:txBody>
          <a:bodyPr wrap="square" lIns="0" rIns="0" tIns="0" bIns="0" anchor="t">
            <a:spAutoFit/>
          </a:bodyPr>
          <a:lstStyle/>
          <a:p>
            <a:pPr algn="l">
              <a:spcAft>
                <a:spcPts val="400"/>
              </a:spcAft>
            </a:pPr>
            <a:r>
              <a:rPr sz="2000" b="0" i="0">
                <a:solidFill>
                  <a:srgbClr val="475569"/>
                </a:solidFill>
              </a:rPr>
              <a:t>Put both protections on one data path: authenticated encryption (ECDH P-256, HKDF-SHA256, AES-256-GCM) for confidentiality and integrity, and a machine-learning detector (XGBoost and a 1D CNN, stacked) that flags attack traffic and raises alerts.</a:t>
            </a:r>
          </a:p>
        </p:txBody>
      </p:sp>
      <p:sp>
        <p:nvSpPr>
          <p:cNvPr id="34" name="Rounded Rectangle 33"/>
          <p:cNvSpPr/>
          <p:nvPr/>
        </p:nvSpPr>
        <p:spPr>
          <a:xfrm>
            <a:off x="8119871"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566160"/>
          </a:xfrm>
          <a:prstGeom prst="rect">
            <a:avLst/>
          </a:prstGeom>
          <a:noFill/>
        </p:spPr>
        <p:txBody>
          <a:bodyPr wrap="square" lIns="0" rIns="0" tIns="0" bIns="0" anchor="t">
            <a:spAutoFit/>
          </a:bodyPr>
          <a:lstStyle/>
          <a:p>
            <a:pPr algn="l">
              <a:spcAft>
                <a:spcPts val="400"/>
              </a:spcAft>
            </a:pPr>
            <a:r>
              <a:rPr sz="2000" b="0" i="0">
                <a:solidFill>
                  <a:srgbClr val="475569"/>
                </a:solidFill>
              </a:rPr>
              <a:t>CipherGuard Shield: a FastAPI service and a React console to encrypt text and files, verify at a mock cloud, test tampering, score flows and CSV batches, review alerts and see model performance, with the combined overhead measured.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V. Kalyanasundaram, S. Raja and S. Kanthimathi, "Intrusion detection model using fused quantum NN-LeNet with improved elliptic curve cryptography based data security," IEEE Access, vol. 14, pp. 63767-63779, 2026, doi: 10.1109/ACCESS.2026.3686106.</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600" b="0" i="0">
                <a:solidFill>
                  <a:srgbClr val="475569"/>
                </a:solidFill>
              </a:rPr>
              <a:t>A quantum-inspired network (FLPF with EVD-QNN) and LeNet classify UNSW-NB15 flows; their scores are fused (DSMMN-SLF). Data judged safe is then encrypted with an enhanced ECC scheme (EECC). The quantum part runs on classical hardware.</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and 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600" b="0" i="0">
                <a:solidFill>
                  <a:srgbClr val="475569"/>
                </a:solidFill>
              </a:rPr>
              <a:t>9,000 balanced samples, 70/15/15 split, 10 runs. Mean accuracy 0.9487; best baseline SqueezeNet 0.9354; precision 0.97 at 90% training data; FPR 0.03. EECC: 0.39 s to encrypt, 0.26 s to decrypt.</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Relevance to this project</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600" b="0" i="0">
                <a:solidFill>
                  <a:srgbClr val="475569"/>
                </a:solidFill>
              </a:rPr>
              <a:t>Same principle: detection and encryption in one framework. Different means: we use standard, vetted primitives (AES-GCM, ECDH, HKDF) and an XGBoost + CNN stack. The paper itself notes that EECC has no formal security proof.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188720"/>
          <a:ext cx="11091672" cy="5029200"/>
        </p:xfrm>
        <a:graphic>
          <a:graphicData uri="http://schemas.openxmlformats.org/drawingml/2006/table">
            <a:tbl>
              <a:tblPr firstRow="0" bandRow="0">
                <a:tableStyleId>{5C22544A-7EE6-4342-B048-85BDC9FD1C3A}</a:tableStyleId>
              </a:tblPr>
              <a:tblGrid>
                <a:gridCol w="2377440"/>
                <a:gridCol w="594360"/>
                <a:gridCol w="4206240"/>
                <a:gridCol w="3913632"/>
              </a:tblGrid>
              <a:tr h="457200">
                <a:tc>
                  <a:txBody>
                    <a:bodyPr wrap="square"/>
                    <a:lstStyle/>
                    <a:p>
                      <a:pPr algn="ctr"/>
                      <a:r>
                        <a:rPr sz="12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Reported result /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57200">
                <a:tc>
                  <a:txBody>
                    <a:bodyPr wrap="square"/>
                    <a:lstStyle/>
                    <a:p>
                      <a:pPr algn="l"/>
                      <a:r>
                        <a:rPr sz="1100" b="0">
                          <a:solidFill>
                            <a:srgbClr val="0F172A"/>
                          </a:solidFill>
                        </a:rPr>
                        <a:t>Kalyanasundaram et al. [1]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Quantum-inspired NN + LeNet fused by DSMMN-SLF; EECC encrypts non-intrusive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UNSW-NB15, 9,000 balanced rows: mean acc. 0.949; no ECDLP security proof</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100" b="0">
                          <a:solidFill>
                            <a:srgbClr val="0F172A"/>
                          </a:solidFill>
                        </a:rPr>
                        <a:t>Kadry et al. [20]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WOA-selected features, quantum NN for attacks, optimised ECC for stored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Accuracy 98.5% (abstract); wireless-mesh setting; overhead not in abstract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100" b="0">
                          <a:solidFill>
                            <a:srgbClr val="0F172A"/>
                          </a:solidFill>
                        </a:rPr>
                        <a:t>Boye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Homomorphic + quantum-resistant encryption with CNN / LSTM anomaly detection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Simulated cloud logs; abstract gives no numbers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100" b="0">
                          <a:solidFill>
                            <a:srgbClr val="0F172A"/>
                          </a:solidFill>
                        </a:rPr>
                        <a:t>Singh &amp; Bhathal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Delete cloud data automatically when an intrusion is detected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Idea paper: no implementation or evaluation reported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100" b="0">
                          <a:solidFill>
                            <a:srgbClr val="0F172A"/>
                          </a:solidFill>
                        </a:rPr>
                        <a:t>Shinde &amp; Ghadekar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Federated attack detection with improved Blowfish encryption in the cloud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Title only verified: no abstract retrievable, so no result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100" b="0">
                          <a:solidFill>
                            <a:srgbClr val="0F172A"/>
                          </a:solidFill>
                        </a:rPr>
                        <a:t>Pamarthi &amp; Rao [5]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AES + RSA/MECC with XOR key masking for cloud transmission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2-12 KB inputs; 2.09 s enc / 2.45 s dec; no attack detection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100" b="0">
                          <a:solidFill>
                            <a:srgbClr val="0F172A"/>
                          </a:solidFill>
                        </a:rPr>
                        <a:t>Mbaya et al. [23]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Federated BiLSTM IDS with a Hyperledger signature store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CIDDS data; precision 0.996, FPR 0.0009; no payload encryption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100" b="0">
                          <a:solidFill>
                            <a:srgbClr val="0F172A"/>
                          </a:solidFill>
                        </a:rPr>
                        <a:t>Bakro et al. [22]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SMOTE + IG/CS/PSO feature selection + random forest for cloud IDS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&gt;98% on UNSW-NB15 (multi-class); split protocol not in abstract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100" b="0">
                          <a:solidFill>
                            <a:srgbClr val="0F172A"/>
                          </a:solidFill>
                        </a:rPr>
                        <a:t>Kasongo &amp; Sun [31]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XGBoost feature reduction on UNSW-NB15 with SVM, kNN, LR, ANN, DT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Decision tree binary accuracy 88.13% -&gt; 90.85%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100" b="0">
                          <a:solidFill>
                            <a:srgbClr val="0F172A"/>
                          </a:solidFill>
                        </a:rPr>
                        <a:t>Rao &amp; Sujatha [38]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Edwards-curve ECC + Diffie-Hellman keys speed up AES for public cloud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Key gen 0.000025 s, enc 0.00349 s, 693 KB/s; crypto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data and protocol decide the number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5577840" cy="4754880"/>
        </p:xfrm>
        <a:graphic>
          <a:graphicData uri="http://schemas.openxmlformats.org/drawingml/2006/chart">
            <c:chart xmlns:c="http://schemas.openxmlformats.org/drawingml/2006/chart" r:id="rId3"/>
          </a:graphicData>
        </a:graphic>
      </p:graphicFrame>
      <p:sp>
        <p:nvSpPr>
          <p:cNvPr id="27" name="TextBox 26"/>
          <p:cNvSpPr txBox="1"/>
          <p:nvPr/>
        </p:nvSpPr>
        <p:spPr>
          <a:xfrm>
            <a:off x="6400800" y="1325880"/>
            <a:ext cx="5257800" cy="4480560"/>
          </a:xfrm>
          <a:prstGeom prst="rect">
            <a:avLst/>
          </a:prstGeom>
          <a:noFill/>
        </p:spPr>
        <p:txBody>
          <a:bodyPr wrap="square" lIns="0" rIns="0" tIns="0" bIns="0" anchor="t">
            <a:spAutoFit/>
          </a:bodyPr>
          <a:lstStyle/>
          <a:p>
            <a:pPr algn="l">
              <a:spcAft>
                <a:spcPts val="800"/>
              </a:spcAft>
            </a:pPr>
            <a:r>
              <a:rPr sz="1600" b="1" i="0">
                <a:solidFill>
                  <a:srgbClr val="0F172A"/>
                </a:solidFill>
              </a:rPr>
              <a:t>Pilot measurements of this project</a:t>
            </a:r>
            <a:r>
              <a:rPr sz="1600" b="0" i="0">
                <a:solidFill>
                  <a:srgbClr val="0F172A"/>
                </a:solidFill>
              </a:rPr>
              <a:t> (same stacked detector, accuracy):</a:t>
            </a:r>
          </a:p>
          <a:p>
            <a:pPr algn="l" marL="256032" indent="-201168">
              <a:spcAft>
                <a:spcPts val="800"/>
              </a:spcAft>
              <a:buChar char="•"/>
            </a:pPr>
            <a:r>
              <a:rPr sz="1600" b="0" i="0">
                <a:solidFill>
                  <a:srgbClr val="0F172A"/>
                </a:solidFill>
              </a:rPr>
              <a:t>Synthetic data flatters the model: 0.973, but only 0.660 on real UNSW-NB15 flows.</a:t>
            </a:r>
          </a:p>
          <a:p>
            <a:pPr algn="l" marL="256032" indent="-201168">
              <a:spcAft>
                <a:spcPts val="800"/>
              </a:spcAft>
              <a:buChar char="•"/>
            </a:pPr>
            <a:r>
              <a:rPr sz="1600" b="0" i="0">
                <a:solidFill>
                  <a:srgbClr val="0F172A"/>
                </a:solidFill>
              </a:rPr>
              <a:t>A random balanced subset gives 0.938; the official, time-separated split gives 0.890.</a:t>
            </a:r>
          </a:p>
          <a:p>
            <a:pPr algn="l" marL="256032" indent="-201168">
              <a:spcAft>
                <a:spcPts val="800"/>
              </a:spcAft>
              <a:buChar char="•"/>
            </a:pPr>
            <a:r>
              <a:rPr sz="1600" b="0" i="0">
                <a:solidFill>
                  <a:srgbClr val="0F172A"/>
                </a:solidFill>
              </a:rPr>
              <a:t>The base paper's own baselines span 0.899 to 0.935 on UNSW-NB15 [1].</a:t>
            </a:r>
          </a:p>
          <a:p>
            <a:pPr algn="l" marL="256032" indent="-201168">
              <a:spcAft>
                <a:spcPts val="400"/>
              </a:spcAft>
              <a:buChar char="•"/>
            </a:pPr>
            <a:r>
              <a:rPr sz="1600" b="0" i="0">
                <a:solidFill>
                  <a:srgbClr val="0F172A"/>
                </a:solidFill>
              </a:rPr>
              <a:t>UNSW-NB15 offers 175,341 training and 82,332 testing flows in nine attack families [7].</a:t>
            </a:r>
          </a:p>
        </p:txBody>
      </p:sp>
      <p:sp>
        <p:nvSpPr>
          <p:cNvPr id="28" name="TextBox 27"/>
          <p:cNvSpPr txBox="1"/>
          <p:nvPr/>
        </p:nvSpPr>
        <p:spPr>
          <a:xfrm>
            <a:off x="6400800" y="5852160"/>
            <a:ext cx="5257800" cy="457200"/>
          </a:xfrm>
          <a:prstGeom prst="rect">
            <a:avLst/>
          </a:prstGeom>
          <a:noFill/>
        </p:spPr>
        <p:txBody>
          <a:bodyPr wrap="square" lIns="0" rIns="0" tIns="0" bIns="0" anchor="t">
            <a:spAutoFit/>
          </a:bodyPr>
          <a:lstStyle/>
          <a:p>
            <a:pPr algn="l">
              <a:spcAft>
                <a:spcPts val="400"/>
              </a:spcAft>
            </a:pPr>
            <a:r>
              <a:rPr sz="1200" b="0" i="1">
                <a:solidFill>
                  <a:srgbClr val="475569"/>
                </a:solidFill>
              </a:rPr>
              <a:t>Context for the problem, not final results; full protocol in Review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User data</a:t>
            </a:r>
          </a:p>
        </p:txBody>
      </p:sp>
      <p:sp>
        <p:nvSpPr>
          <p:cNvPr id="27" name="Right Arrow 26"/>
          <p:cNvSpPr/>
          <p:nvPr/>
        </p:nvSpPr>
        <p:spPr>
          <a:xfrm>
            <a:off x="3106674"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Encrypt (AES, RSA, hybrid)</a:t>
            </a:r>
          </a:p>
        </p:txBody>
      </p:sp>
      <p:sp>
        <p:nvSpPr>
          <p:cNvPr id="29" name="Right Arrow 28"/>
          <p:cNvSpPr/>
          <p:nvPr/>
        </p:nvSpPr>
        <p:spPr>
          <a:xfrm>
            <a:off x="5993892"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Upload to cloud</a:t>
            </a:r>
          </a:p>
        </p:txBody>
      </p:sp>
      <p:sp>
        <p:nvSpPr>
          <p:cNvPr id="31" name="Right Arrow 30"/>
          <p:cNvSpPr/>
          <p:nvPr/>
        </p:nvSpPr>
        <p:spPr>
          <a:xfrm>
            <a:off x="8881110"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Separate IDS / firewall</a:t>
            </a:r>
          </a:p>
        </p:txBody>
      </p:sp>
      <p:sp>
        <p:nvSpPr>
          <p:cNvPr id="33" name="Rounded Rectangle 32"/>
          <p:cNvSpPr/>
          <p:nvPr/>
        </p:nvSpPr>
        <p:spPr>
          <a:xfrm>
            <a:off x="548640"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Encryption-only protection</a:t>
            </a:r>
          </a:p>
        </p:txBody>
      </p:sp>
      <p:sp>
        <p:nvSpPr>
          <p:cNvPr id="36" name="TextBox 35"/>
          <p:cNvSpPr txBox="1"/>
          <p:nvPr/>
        </p:nvSpPr>
        <p:spPr>
          <a:xfrm>
            <a:off x="749808" y="3566160"/>
            <a:ext cx="5038344" cy="2468879"/>
          </a:xfrm>
          <a:prstGeom prst="rect">
            <a:avLst/>
          </a:prstGeom>
          <a:noFill/>
        </p:spPr>
        <p:txBody>
          <a:bodyPr wrap="square" lIns="0" rIns="0" tIns="0" bIns="0" anchor="t">
            <a:spAutoFit/>
          </a:bodyPr>
          <a:lstStyle/>
          <a:p>
            <a:pPr algn="l">
              <a:spcAft>
                <a:spcPts val="400"/>
              </a:spcAft>
            </a:pPr>
            <a:r>
              <a:rPr sz="1900" b="0" i="0">
                <a:solidFill>
                  <a:srgbClr val="475569"/>
                </a:solidFill>
              </a:rPr>
              <a:t>Symmetric ciphers such as AES are fast but need a secure channel for the key.
RSA solves key exchange but is too slow for bulk data.
Hybrid schemes wrap an AES key with RSA, yet cannot see an attack that uses valid credentials.</a:t>
            </a:r>
          </a:p>
        </p:txBody>
      </p:sp>
      <p:sp>
        <p:nvSpPr>
          <p:cNvPr id="37" name="Rounded Rectangle 36"/>
          <p:cNvSpPr/>
          <p:nvPr/>
        </p:nvSpPr>
        <p:spPr>
          <a:xfrm>
            <a:off x="6199632"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2880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Detection-only protection</a:t>
            </a:r>
          </a:p>
        </p:txBody>
      </p:sp>
      <p:sp>
        <p:nvSpPr>
          <p:cNvPr id="40" name="TextBox 39"/>
          <p:cNvSpPr txBox="1"/>
          <p:nvPr/>
        </p:nvSpPr>
        <p:spPr>
          <a:xfrm>
            <a:off x="6400800" y="3566160"/>
            <a:ext cx="5038344" cy="2468879"/>
          </a:xfrm>
          <a:prstGeom prst="rect">
            <a:avLst/>
          </a:prstGeom>
          <a:noFill/>
        </p:spPr>
        <p:txBody>
          <a:bodyPr wrap="square" lIns="0" rIns="0" tIns="0" bIns="0" anchor="t">
            <a:spAutoFit/>
          </a:bodyPr>
          <a:lstStyle/>
          <a:p>
            <a:pPr algn="l">
              <a:spcAft>
                <a:spcPts val="400"/>
              </a:spcAft>
            </a:pPr>
            <a:r>
              <a:rPr sz="1900" b="0" i="0">
                <a:solidFill>
                  <a:srgbClr val="475569"/>
                </a:solidFill>
              </a:rPr>
              <a:t>Machine-learning intrusion detection reacts to attacks that encryption cannot prevent.
It is normally evaluated alone, on benchmark datasets, without the cost of the encryption layer on the same path.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Key distribution</a:t>
            </a:r>
          </a:p>
        </p:txBody>
      </p:sp>
      <p:sp>
        <p:nvSpPr>
          <p:cNvPr id="29" name="TextBox 28"/>
          <p:cNvSpPr txBox="1"/>
          <p:nvPr/>
        </p:nvSpPr>
        <p:spPr>
          <a:xfrm>
            <a:off x="749808" y="2194560"/>
            <a:ext cx="5038344" cy="960119"/>
          </a:xfrm>
          <a:prstGeom prst="rect">
            <a:avLst/>
          </a:prstGeom>
          <a:noFill/>
        </p:spPr>
        <p:txBody>
          <a:bodyPr wrap="square" lIns="0" rIns="0" tIns="0" bIns="0" anchor="t">
            <a:spAutoFit/>
          </a:bodyPr>
          <a:lstStyle/>
          <a:p>
            <a:pPr algn="l">
              <a:spcAft>
                <a:spcPts val="400"/>
              </a:spcAft>
            </a:pPr>
            <a:r>
              <a:rPr sz="1700" b="0" i="0">
                <a:solidFill>
                  <a:srgbClr val="475569"/>
                </a:solidFill>
              </a:rPr>
              <a:t>Symmetric encryption alone leaves the key exchange open to interception; RSA alone is too slow for bulk data.</a:t>
            </a:r>
          </a:p>
        </p:txBody>
      </p:sp>
      <p:sp>
        <p:nvSpPr>
          <p:cNvPr id="30" name="Rounded Rectangle 29"/>
          <p:cNvSpPr/>
          <p:nvPr/>
        </p:nvSpPr>
        <p:spPr>
          <a:xfrm>
            <a:off x="6199631"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Blind to valid access</a:t>
            </a:r>
          </a:p>
        </p:txBody>
      </p:sp>
      <p:sp>
        <p:nvSpPr>
          <p:cNvPr id="33" name="TextBox 32"/>
          <p:cNvSpPr txBox="1"/>
          <p:nvPr/>
        </p:nvSpPr>
        <p:spPr>
          <a:xfrm>
            <a:off x="6400799" y="2194560"/>
            <a:ext cx="5038344" cy="960119"/>
          </a:xfrm>
          <a:prstGeom prst="rect">
            <a:avLst/>
          </a:prstGeom>
          <a:noFill/>
        </p:spPr>
        <p:txBody>
          <a:bodyPr wrap="square" lIns="0" rIns="0" tIns="0" bIns="0" anchor="t">
            <a:spAutoFit/>
          </a:bodyPr>
          <a:lstStyle/>
          <a:p>
            <a:pPr algn="l">
              <a:spcAft>
                <a:spcPts val="400"/>
              </a:spcAft>
            </a:pPr>
            <a:r>
              <a:rPr sz="1700" b="0" i="0">
                <a:solidFill>
                  <a:srgbClr val="475569"/>
                </a:solidFill>
              </a:rPr>
              <a:t>Encryption cannot detect an attacker who already holds valid credentials; a detector is needed as a second layer.</a:t>
            </a:r>
          </a:p>
        </p:txBody>
      </p:sp>
      <p:sp>
        <p:nvSpPr>
          <p:cNvPr id="34" name="Rounded Rectangle 33"/>
          <p:cNvSpPr/>
          <p:nvPr/>
        </p:nvSpPr>
        <p:spPr>
          <a:xfrm>
            <a:off x="548640"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36576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Separate concerns</a:t>
            </a:r>
          </a:p>
        </p:txBody>
      </p:sp>
      <p:sp>
        <p:nvSpPr>
          <p:cNvPr id="37" name="TextBox 36"/>
          <p:cNvSpPr txBox="1"/>
          <p:nvPr/>
        </p:nvSpPr>
        <p:spPr>
          <a:xfrm>
            <a:off x="749808" y="4343400"/>
            <a:ext cx="5038344" cy="960119"/>
          </a:xfrm>
          <a:prstGeom prst="rect">
            <a:avLst/>
          </a:prstGeom>
          <a:noFill/>
        </p:spPr>
        <p:txBody>
          <a:bodyPr wrap="square" lIns="0" rIns="0" tIns="0" bIns="0" anchor="t">
            <a:spAutoFit/>
          </a:bodyPr>
          <a:lstStyle/>
          <a:p>
            <a:pPr algn="l">
              <a:spcAft>
                <a:spcPts val="400"/>
              </a:spcAft>
            </a:pPr>
            <a:r>
              <a:rPr sz="1700" b="0" i="0">
                <a:solidFill>
                  <a:srgbClr val="475569"/>
                </a:solidFill>
              </a:rPr>
              <a:t>Cryptography and intrusion detection are rarely built or measured together, so the combined overhead is unknown.</a:t>
            </a:r>
          </a:p>
        </p:txBody>
      </p:sp>
      <p:sp>
        <p:nvSpPr>
          <p:cNvPr id="38" name="Rounded Rectangle 37"/>
          <p:cNvSpPr/>
          <p:nvPr/>
        </p:nvSpPr>
        <p:spPr>
          <a:xfrm>
            <a:off x="6199631"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36576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Hard to compare</a:t>
            </a:r>
          </a:p>
        </p:txBody>
      </p:sp>
      <p:sp>
        <p:nvSpPr>
          <p:cNvPr id="41" name="TextBox 40"/>
          <p:cNvSpPr txBox="1"/>
          <p:nvPr/>
        </p:nvSpPr>
        <p:spPr>
          <a:xfrm>
            <a:off x="6400799" y="4343400"/>
            <a:ext cx="5038344" cy="960119"/>
          </a:xfrm>
          <a:prstGeom prst="rect">
            <a:avLst/>
          </a:prstGeom>
          <a:noFill/>
        </p:spPr>
        <p:txBody>
          <a:bodyPr wrap="square" lIns="0" rIns="0" tIns="0" bIns="0" anchor="t">
            <a:spAutoFit/>
          </a:bodyPr>
          <a:lstStyle/>
          <a:p>
            <a:pPr algn="l">
              <a:spcAft>
                <a:spcPts val="400"/>
              </a:spcAft>
            </a:pPr>
            <a:r>
              <a:rPr sz="1700" b="0" i="0">
                <a:solidFill>
                  <a:srgbClr val="475569"/>
                </a:solidFill>
              </a:rPr>
              <a:t>Accuracy on UNSW-NB15 depends on the subset, balance and split, so published numbers cannot be lined up directly.</a:t>
            </a:r>
          </a:p>
        </p:txBody>
      </p:sp>
      <p:sp>
        <p:nvSpPr>
          <p:cNvPr id="42" name="Rounded Rectangle 41"/>
          <p:cNvSpPr/>
          <p:nvPr/>
        </p:nvSpPr>
        <p:spPr>
          <a:xfrm>
            <a:off x="548640" y="5715000"/>
            <a:ext cx="11091672" cy="685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715000"/>
            <a:ext cx="10698480" cy="685800"/>
          </a:xfrm>
          <a:prstGeom prst="rect">
            <a:avLst/>
          </a:prstGeom>
          <a:noFill/>
        </p:spPr>
        <p:txBody>
          <a:bodyPr wrap="square" lIns="0" rIns="0" tIns="0" bIns="0" anchor="ctr">
            <a:spAutoFit/>
          </a:bodyPr>
          <a:lstStyle/>
          <a:p>
            <a:pPr algn="l">
              <a:spcAft>
                <a:spcPts val="400"/>
              </a:spcAft>
            </a:pPr>
            <a:r>
              <a:rPr sz="1500" b="0" i="0">
                <a:solidFill>
                  <a:srgbClr val="0F172A"/>
                </a:solidFill>
              </a:rPr>
              <a:t>Also: new ciphers such as the base paper's EECC come without a formal security proof, so they are harder to trust than AES-GCM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Oval 25"/>
          <p:cNvSpPr/>
          <p:nvPr/>
        </p:nvSpPr>
        <p:spPr>
          <a:xfrm>
            <a:off x="548640" y="1325880"/>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27" name="TextBox 26"/>
          <p:cNvSpPr txBox="1"/>
          <p:nvPr/>
        </p:nvSpPr>
        <p:spPr>
          <a:xfrm>
            <a:off x="1417320" y="1234440"/>
            <a:ext cx="10195560" cy="914400"/>
          </a:xfrm>
          <a:prstGeom prst="rect">
            <a:avLst/>
          </a:prstGeom>
          <a:noFill/>
        </p:spPr>
        <p:txBody>
          <a:bodyPr wrap="square" lIns="0" rIns="0" tIns="0" bIns="0" anchor="ctr">
            <a:spAutoFit/>
          </a:bodyPr>
          <a:lstStyle/>
          <a:p>
            <a:pPr algn="l">
              <a:spcAft>
                <a:spcPts val="400"/>
              </a:spcAft>
            </a:pPr>
            <a:r>
              <a:rPr sz="1800" b="0" i="0">
                <a:solidFill>
                  <a:srgbClr val="0F172A"/>
                </a:solidFill>
              </a:rPr>
              <a:t>The surveyed work treats cryptography and intrusion detection as separate concerns: no single transmission path where both operate and the combined overhead is measured</a:t>
            </a:r>
          </a:p>
        </p:txBody>
      </p:sp>
      <p:sp>
        <p:nvSpPr>
          <p:cNvPr id="28" name="Oval 27"/>
          <p:cNvSpPr/>
          <p:nvPr/>
        </p:nvSpPr>
        <p:spPr>
          <a:xfrm>
            <a:off x="548640" y="2350008"/>
            <a:ext cx="566928" cy="566928"/>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29" name="TextBox 28"/>
          <p:cNvSpPr txBox="1"/>
          <p:nvPr/>
        </p:nvSpPr>
        <p:spPr>
          <a:xfrm>
            <a:off x="1417320" y="2258568"/>
            <a:ext cx="10195560" cy="914400"/>
          </a:xfrm>
          <a:prstGeom prst="rect">
            <a:avLst/>
          </a:prstGeom>
          <a:noFill/>
        </p:spPr>
        <p:txBody>
          <a:bodyPr wrap="square" lIns="0" rIns="0" tIns="0" bIns="0" anchor="ctr">
            <a:spAutoFit/>
          </a:bodyPr>
          <a:lstStyle/>
          <a:p>
            <a:pPr algn="l">
              <a:spcAft>
                <a:spcPts val="400"/>
              </a:spcAft>
            </a:pPr>
            <a:r>
              <a:rPr sz="1800" b="0" i="0">
                <a:solidFill>
                  <a:srgbClr val="0F172A"/>
                </a:solidFill>
              </a:rPr>
              <a:t>Reported intrusion-detection accuracy depends on the split protocol; the official UNSW-NB15 partition is harder than balanced random subsets [7], [31]</a:t>
            </a:r>
          </a:p>
        </p:txBody>
      </p:sp>
      <p:sp>
        <p:nvSpPr>
          <p:cNvPr id="30" name="Oval 29"/>
          <p:cNvSpPr/>
          <p:nvPr/>
        </p:nvSpPr>
        <p:spPr>
          <a:xfrm>
            <a:off x="548640" y="3374136"/>
            <a:ext cx="566928" cy="566928"/>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31" name="TextBox 30"/>
          <p:cNvSpPr txBox="1"/>
          <p:nvPr/>
        </p:nvSpPr>
        <p:spPr>
          <a:xfrm>
            <a:off x="1417320" y="3282696"/>
            <a:ext cx="10195560" cy="914400"/>
          </a:xfrm>
          <a:prstGeom prst="rect">
            <a:avLst/>
          </a:prstGeom>
          <a:noFill/>
        </p:spPr>
        <p:txBody>
          <a:bodyPr wrap="square" lIns="0" rIns="0" tIns="0" bIns="0" anchor="ctr">
            <a:spAutoFit/>
          </a:bodyPr>
          <a:lstStyle/>
          <a:p>
            <a:pPr algn="l">
              <a:spcAft>
                <a:spcPts val="400"/>
              </a:spcAft>
            </a:pPr>
            <a:r>
              <a:rPr sz="1800" b="0" i="0">
                <a:solidFill>
                  <a:srgbClr val="0F172A"/>
                </a:solidFill>
              </a:rPr>
              <a:t>The base paper's EECC and quantum-inspired network are not accompanied by a standard-library implementation or a security proof [1]</a:t>
            </a:r>
          </a:p>
        </p:txBody>
      </p:sp>
      <p:sp>
        <p:nvSpPr>
          <p:cNvPr id="32" name="Oval 31"/>
          <p:cNvSpPr/>
          <p:nvPr/>
        </p:nvSpPr>
        <p:spPr>
          <a:xfrm>
            <a:off x="548640" y="4398264"/>
            <a:ext cx="566928" cy="566928"/>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33" name="TextBox 32"/>
          <p:cNvSpPr txBox="1"/>
          <p:nvPr/>
        </p:nvSpPr>
        <p:spPr>
          <a:xfrm>
            <a:off x="1417320" y="4306824"/>
            <a:ext cx="10195560" cy="914400"/>
          </a:xfrm>
          <a:prstGeom prst="rect">
            <a:avLst/>
          </a:prstGeom>
          <a:noFill/>
        </p:spPr>
        <p:txBody>
          <a:bodyPr wrap="square" lIns="0" rIns="0" tIns="0" bIns="0" anchor="ctr">
            <a:spAutoFit/>
          </a:bodyPr>
          <a:lstStyle/>
          <a:p>
            <a:pPr algn="l">
              <a:spcAft>
                <a:spcPts val="400"/>
              </a:spcAft>
            </a:pPr>
            <a:r>
              <a:rPr sz="1800" b="0" i="0">
                <a:solidFill>
                  <a:srgbClr val="0F172A"/>
                </a:solidFill>
              </a:rPr>
              <a:t>Standardised primitives (ECDH P-256, HKDF, AES-256-GCM) are rarely benchmarked against the RSA hybrid that cloud tutorials still recommend [37], [40]</a:t>
            </a:r>
          </a:p>
        </p:txBody>
      </p:sp>
      <p:sp>
        <p:nvSpPr>
          <p:cNvPr id="34" name="Oval 33"/>
          <p:cNvSpPr/>
          <p:nvPr/>
        </p:nvSpPr>
        <p:spPr>
          <a:xfrm>
            <a:off x="548640" y="5422392"/>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5</a:t>
            </a:r>
          </a:p>
        </p:txBody>
      </p:sp>
      <p:sp>
        <p:nvSpPr>
          <p:cNvPr id="35" name="TextBox 34"/>
          <p:cNvSpPr txBox="1"/>
          <p:nvPr/>
        </p:nvSpPr>
        <p:spPr>
          <a:xfrm>
            <a:off x="1417320" y="5330952"/>
            <a:ext cx="10195560" cy="914400"/>
          </a:xfrm>
          <a:prstGeom prst="rect">
            <a:avLst/>
          </a:prstGeom>
          <a:noFill/>
        </p:spPr>
        <p:txBody>
          <a:bodyPr wrap="square" lIns="0" rIns="0" tIns="0" bIns="0" anchor="ctr">
            <a:spAutoFit/>
          </a:bodyPr>
          <a:lstStyle/>
          <a:p>
            <a:pPr algn="l">
              <a:spcAft>
                <a:spcPts val="400"/>
              </a:spcAft>
            </a:pPr>
            <a:r>
              <a:rPr sz="1800" b="0" i="0">
                <a:solidFill>
                  <a:srgbClr val="0F172A"/>
                </a:solidFill>
              </a:rPr>
              <a:t>Demo systems often ship synthetic training data without testing that the model transfers to real traffic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8346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606040"/>
          </a:xfrm>
          <a:prstGeom prst="rect">
            <a:avLst/>
          </a:prstGeom>
          <a:noFill/>
        </p:spPr>
        <p:txBody>
          <a:bodyPr wrap="square" lIns="0" rIns="0" tIns="0" bIns="0" anchor="ctr">
            <a:spAutoFit/>
          </a:bodyPr>
          <a:lstStyle/>
          <a:p>
            <a:pPr algn="l" marL="256032" indent="-201168">
              <a:spcAft>
                <a:spcPts val="800"/>
              </a:spcAft>
              <a:buChar char="•"/>
            </a:pPr>
            <a:r>
              <a:rPr sz="1900" b="0" i="0">
                <a:solidFill>
                  <a:srgbClr val="0F172A"/>
                </a:solidFill>
              </a:rPr>
              <a:t>Data placed in a public cloud is readable by the provider unless it is encrypted before upload</a:t>
            </a:r>
          </a:p>
          <a:p>
            <a:pPr algn="l" marL="256032" indent="-201168">
              <a:spcAft>
                <a:spcPts val="800"/>
              </a:spcAft>
              <a:buChar char="•"/>
            </a:pPr>
            <a:r>
              <a:rPr sz="1900" b="0" i="0">
                <a:solidFill>
                  <a:srgbClr val="0F172A"/>
                </a:solidFill>
              </a:rPr>
              <a:t>Symmetric encryption alone leaves the key exchange itself open to interception</a:t>
            </a:r>
          </a:p>
          <a:p>
            <a:pPr algn="l" marL="256032" indent="-201168">
              <a:spcAft>
                <a:spcPts val="800"/>
              </a:spcAft>
              <a:buChar char="•"/>
            </a:pPr>
            <a:r>
              <a:rPr sz="1900" b="0" i="0">
                <a:solidFill>
                  <a:srgbClr val="0F172A"/>
                </a:solidFill>
              </a:rPr>
              <a:t>Encryption cannot detect an attacker who already holds valid credentials</a:t>
            </a:r>
          </a:p>
          <a:p>
            <a:pPr algn="l" marL="256032" indent="-201168">
              <a:spcAft>
                <a:spcPts val="800"/>
              </a:spcAft>
              <a:buChar char="•"/>
            </a:pPr>
            <a:r>
              <a:rPr sz="1900" b="0" i="0">
                <a:solidFill>
                  <a:srgbClr val="0F172A"/>
                </a:solidFill>
              </a:rPr>
              <a:t>Most academic systems address either cryptography or intrusion detection, rarely both together</a:t>
            </a:r>
          </a:p>
          <a:p>
            <a:pPr algn="l" marL="256032" indent="-201168">
              <a:spcAft>
                <a:spcPts val="800"/>
              </a:spcAft>
              <a:buChar char="•"/>
            </a:pPr>
            <a:r>
              <a:rPr sz="1900" b="0" i="0">
                <a:solidFill>
                  <a:srgbClr val="0F172A"/>
                </a:solidFill>
              </a:rPr>
              <a:t>Need: a transmission framework that encrypts data and, on the same path, monitors traffic for intrusion with machine learning</a:t>
            </a:r>
          </a:p>
        </p:txBody>
      </p:sp>
      <p:sp>
        <p:nvSpPr>
          <p:cNvPr id="28" name="Rounded Rectangle 27"/>
          <p:cNvSpPr/>
          <p:nvPr/>
        </p:nvSpPr>
        <p:spPr>
          <a:xfrm>
            <a:off x="548640"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892040"/>
            <a:ext cx="3108960" cy="1234440"/>
          </a:xfrm>
          <a:prstGeom prst="rect">
            <a:avLst/>
          </a:prstGeom>
          <a:noFill/>
        </p:spPr>
        <p:txBody>
          <a:bodyPr wrap="square" lIns="0" rIns="0" tIns="0" bIns="0" anchor="t">
            <a:spAutoFit/>
          </a:bodyPr>
          <a:lstStyle/>
          <a:p>
            <a:pPr algn="l">
              <a:spcAft>
                <a:spcPts val="400"/>
              </a:spcAft>
            </a:pPr>
            <a:r>
              <a:rPr sz="1400" b="0" i="0">
                <a:solidFill>
                  <a:srgbClr val="475569"/>
                </a:solidFill>
              </a:rPr>
              <a:t>Text or a file (up to 5 MB) to send; network-flow records, one at a time or as a CSV (up to 10,000 rows, 42 features)</a:t>
            </a:r>
          </a:p>
        </p:txBody>
      </p:sp>
      <p:sp>
        <p:nvSpPr>
          <p:cNvPr id="31" name="Rounded Rectangle 30"/>
          <p:cNvSpPr/>
          <p:nvPr/>
        </p:nvSpPr>
        <p:spPr>
          <a:xfrm>
            <a:off x="4334255"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892040"/>
            <a:ext cx="3108960" cy="1234440"/>
          </a:xfrm>
          <a:prstGeom prst="rect">
            <a:avLst/>
          </a:prstGeom>
          <a:noFill/>
        </p:spPr>
        <p:txBody>
          <a:bodyPr wrap="square" lIns="0" rIns="0" tIns="0" bIns="0" anchor="t">
            <a:spAutoFit/>
          </a:bodyPr>
          <a:lstStyle/>
          <a:p>
            <a:pPr algn="l">
              <a:spcAft>
                <a:spcPts val="400"/>
              </a:spcAft>
            </a:pPr>
            <a:r>
              <a:rPr sz="1400" b="0" i="0">
                <a:solidFill>
                  <a:srgbClr val="475569"/>
                </a:solidFill>
              </a:rPr>
              <a:t>Authenticated ciphertext envelope, verified plaintext or a rejection; an attack or normal verdict with confidence and severity</a:t>
            </a:r>
          </a:p>
        </p:txBody>
      </p:sp>
      <p:sp>
        <p:nvSpPr>
          <p:cNvPr id="34" name="Rounded Rectangle 33"/>
          <p:cNvSpPr/>
          <p:nvPr/>
        </p:nvSpPr>
        <p:spPr>
          <a:xfrm>
            <a:off x="8119871"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Record</a:t>
            </a:r>
          </a:p>
        </p:txBody>
      </p:sp>
      <p:sp>
        <p:nvSpPr>
          <p:cNvPr id="36" name="TextBox 35"/>
          <p:cNvSpPr txBox="1"/>
          <p:nvPr/>
        </p:nvSpPr>
        <p:spPr>
          <a:xfrm>
            <a:off x="8348471" y="4892040"/>
            <a:ext cx="3108960" cy="1234440"/>
          </a:xfrm>
          <a:prstGeom prst="rect">
            <a:avLst/>
          </a:prstGeom>
          <a:noFill/>
        </p:spPr>
        <p:txBody>
          <a:bodyPr wrap="square" lIns="0" rIns="0" tIns="0" bIns="0" anchor="t">
            <a:spAutoFit/>
          </a:bodyPr>
          <a:lstStyle/>
          <a:p>
            <a:pPr algn="l">
              <a:spcAft>
                <a:spcPts val="400"/>
              </a:spcAft>
            </a:pPr>
            <a:r>
              <a:rPr sz="1400" b="0" i="0">
                <a:solidFill>
                  <a:srgbClr val="475569"/>
                </a:solidFill>
              </a:rPr>
              <a:t>Alert log of the latest 500 attacks, a model-performance report and measured timings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480560"/>
          </a:xfrm>
          <a:prstGeom prst="rect">
            <a:avLst/>
          </a:prstGeom>
          <a:noFill/>
        </p:spPr>
        <p:txBody>
          <a:bodyPr wrap="square" lIns="0" rIns="0" tIns="0" bIns="0" anchor="t">
            <a:spAutoFit/>
          </a:bodyPr>
          <a:lstStyle/>
          <a:p>
            <a:pPr algn="l">
              <a:spcAft>
                <a:spcPts val="1400"/>
              </a:spcAft>
            </a:pPr>
            <a:r>
              <a:rPr sz="2200" b="0" i="0">
                <a:solidFill>
                  <a:srgbClr val="0F172A"/>
                </a:solidFill>
              </a:rPr>
              <a:t>1.  Design a hybrid encryption scheme: a symmetric cipher for the payload and asymmetric key exchange</a:t>
            </a:r>
          </a:p>
          <a:p>
            <a:pPr algn="l">
              <a:spcAft>
                <a:spcPts val="1400"/>
              </a:spcAft>
            </a:pPr>
            <a:r>
              <a:rPr sz="2200" b="0" i="0">
                <a:solidFill>
                  <a:srgbClr val="0F172A"/>
                </a:solidFill>
              </a:rPr>
              <a:t>2.  Implement secure key generation, distribution and storage between sender and receiver</a:t>
            </a:r>
          </a:p>
          <a:p>
            <a:pPr algn="l">
              <a:spcAft>
                <a:spcPts val="1400"/>
              </a:spcAft>
            </a:pPr>
            <a:r>
              <a:rPr sz="2200" b="0" i="0">
                <a:solidFill>
                  <a:srgbClr val="0F172A"/>
                </a:solidFill>
              </a:rPr>
              <a:t>3.  Build a transmission module that encrypts before upload and decrypts after download</a:t>
            </a:r>
          </a:p>
          <a:p>
            <a:pPr algn="l">
              <a:spcAft>
                <a:spcPts val="1400"/>
              </a:spcAft>
            </a:pPr>
            <a:r>
              <a:rPr sz="2200" b="0" i="0">
                <a:solidFill>
                  <a:srgbClr val="0F172A"/>
                </a:solidFill>
              </a:rPr>
              <a:t>4.  Train a machine-learning classifier on a benchmark intrusion dataset to detect anomalous access</a:t>
            </a:r>
          </a:p>
          <a:p>
            <a:pPr algn="l">
              <a:spcAft>
                <a:spcPts val="1400"/>
              </a:spcAft>
            </a:pPr>
            <a:r>
              <a:rPr sz="2200" b="0" i="0">
                <a:solidFill>
                  <a:srgbClr val="0F172A"/>
                </a:solidFill>
              </a:rPr>
              <a:t>5.  Integrate the detection layer so suspicious sessions are flagged and logged during transfer</a:t>
            </a:r>
          </a:p>
          <a:p>
            <a:pPr algn="l">
              <a:spcAft>
                <a:spcPts val="1400"/>
              </a:spcAft>
            </a:pPr>
            <a:r>
              <a:rPr sz="2200" b="0" i="0">
                <a:solidFill>
                  <a:srgbClr val="0F172A"/>
                </a:solidFill>
              </a:rPr>
              <a:t>6.  Evaluate encryption and decryption time, throughput overhead and intrusion detection accuracy</a:t>
            </a:r>
          </a:p>
        </p:txBody>
      </p:sp>
      <p:sp>
        <p:nvSpPr>
          <p:cNvPr id="27" name="TextBox 26"/>
          <p:cNvSpPr txBox="1"/>
          <p:nvPr/>
        </p:nvSpPr>
        <p:spPr>
          <a:xfrm>
            <a:off x="548640" y="5806440"/>
            <a:ext cx="11091672" cy="640080"/>
          </a:xfrm>
          <a:prstGeom prst="rect">
            <a:avLst/>
          </a:prstGeom>
          <a:noFill/>
        </p:spPr>
        <p:txBody>
          <a:bodyPr wrap="square" lIns="0" rIns="0" tIns="0" bIns="0" anchor="t">
            <a:spAutoFit/>
          </a:bodyPr>
          <a:lstStyle/>
          <a:p>
            <a:pPr algn="l">
              <a:spcAft>
                <a:spcPts val="400"/>
              </a:spcAft>
            </a:pPr>
            <a:r>
              <a:rPr sz="1400" b="0" i="1">
                <a:solidFill>
                  <a:srgbClr val="475569"/>
                </a:solidFill>
              </a:rPr>
              <a:t>Implementation note: key exchange uses ECDH P-256 instead of RSA; an RSA-OAEP + AES-GCM hybrid is built only as a benchmark baseline.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Encrypt</a:t>
            </a:r>
          </a:p>
        </p:txBody>
      </p:sp>
      <p:sp>
        <p:nvSpPr>
          <p:cNvPr id="29" name="TextBox 28"/>
          <p:cNvSpPr txBox="1"/>
          <p:nvPr/>
        </p:nvSpPr>
        <p:spPr>
          <a:xfrm>
            <a:off x="749808" y="2194560"/>
            <a:ext cx="2231136" cy="2377440"/>
          </a:xfrm>
          <a:prstGeom prst="rect">
            <a:avLst/>
          </a:prstGeom>
          <a:noFill/>
        </p:spPr>
        <p:txBody>
          <a:bodyPr wrap="square" lIns="0" rIns="0" tIns="0" bIns="0" anchor="t">
            <a:spAutoFit/>
          </a:bodyPr>
          <a:lstStyle/>
          <a:p>
            <a:pPr algn="l">
              <a:spcAft>
                <a:spcPts val="400"/>
              </a:spcAft>
            </a:pPr>
            <a:r>
              <a:rPr sz="1600" b="0" i="0">
                <a:solidFill>
                  <a:srgbClr val="475569"/>
                </a:solidFill>
              </a:rPr>
              <a:t>A fresh P-256 key pair per message; ECDH with the cloud's public key; HKDF-SHA256 gives a 256-bit key; AES-256-GCM adds a 12-byte nonce and a 16-byte tag.</a:t>
            </a:r>
          </a:p>
        </p:txBody>
      </p:sp>
      <p:sp>
        <p:nvSpPr>
          <p:cNvPr id="30" name="Rounded Rectangle 29"/>
          <p:cNvSpPr/>
          <p:nvPr/>
        </p:nvSpPr>
        <p:spPr>
          <a:xfrm>
            <a:off x="3364992"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Detect</a:t>
            </a:r>
          </a:p>
        </p:txBody>
      </p:sp>
      <p:sp>
        <p:nvSpPr>
          <p:cNvPr id="33" name="TextBox 32"/>
          <p:cNvSpPr txBox="1"/>
          <p:nvPr/>
        </p:nvSpPr>
        <p:spPr>
          <a:xfrm>
            <a:off x="3566160" y="2194560"/>
            <a:ext cx="2231136" cy="2377440"/>
          </a:xfrm>
          <a:prstGeom prst="rect">
            <a:avLst/>
          </a:prstGeom>
          <a:noFill/>
        </p:spPr>
        <p:txBody>
          <a:bodyPr wrap="square" lIns="0" rIns="0" tIns="0" bIns="0" anchor="t">
            <a:spAutoFit/>
          </a:bodyPr>
          <a:lstStyle/>
          <a:p>
            <a:pPr algn="l">
              <a:spcAft>
                <a:spcPts val="400"/>
              </a:spcAft>
            </a:pPr>
            <a:r>
              <a:rPr sz="1600" b="0" i="0">
                <a:solidFill>
                  <a:srgbClr val="475569"/>
                </a:solidFill>
              </a:rPr>
              <a:t>Flows are scaled and one-hot encoded; XGBoost and a 1D CNN each give an attack probability; a logistic-regression meta-model fuses them.</a:t>
            </a:r>
          </a:p>
        </p:txBody>
      </p:sp>
      <p:sp>
        <p:nvSpPr>
          <p:cNvPr id="34" name="Rounded Rectangle 33"/>
          <p:cNvSpPr/>
          <p:nvPr/>
        </p:nvSpPr>
        <p:spPr>
          <a:xfrm>
            <a:off x="6181344"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Alert</a:t>
            </a:r>
          </a:p>
        </p:txBody>
      </p:sp>
      <p:sp>
        <p:nvSpPr>
          <p:cNvPr id="37" name="TextBox 36"/>
          <p:cNvSpPr txBox="1"/>
          <p:nvPr/>
        </p:nvSpPr>
        <p:spPr>
          <a:xfrm>
            <a:off x="6382512" y="2194560"/>
            <a:ext cx="2231136" cy="2377440"/>
          </a:xfrm>
          <a:prstGeom prst="rect">
            <a:avLst/>
          </a:prstGeom>
          <a:noFill/>
        </p:spPr>
        <p:txBody>
          <a:bodyPr wrap="square" lIns="0" rIns="0" tIns="0" bIns="0" anchor="t">
            <a:spAutoFit/>
          </a:bodyPr>
          <a:lstStyle/>
          <a:p>
            <a:pPr algn="l">
              <a:spcAft>
                <a:spcPts val="400"/>
              </a:spcAft>
            </a:pPr>
            <a:r>
              <a:rPr sz="1600" b="0" i="0">
                <a:solidFill>
                  <a:srgbClr val="475569"/>
                </a:solidFill>
              </a:rPr>
              <a:t>Attacks above 0.5 are labelled with a severity band and appended to a 500-entry alert log shown in the console.</a:t>
            </a:r>
          </a:p>
        </p:txBody>
      </p:sp>
      <p:sp>
        <p:nvSpPr>
          <p:cNvPr id="38" name="Rounded Rectangle 37"/>
          <p:cNvSpPr/>
          <p:nvPr/>
        </p:nvSpPr>
        <p:spPr>
          <a:xfrm>
            <a:off x="8997696"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Evaluate</a:t>
            </a:r>
          </a:p>
        </p:txBody>
      </p:sp>
      <p:sp>
        <p:nvSpPr>
          <p:cNvPr id="41" name="TextBox 40"/>
          <p:cNvSpPr txBox="1"/>
          <p:nvPr/>
        </p:nvSpPr>
        <p:spPr>
          <a:xfrm>
            <a:off x="9198864" y="2194560"/>
            <a:ext cx="2231136" cy="2377440"/>
          </a:xfrm>
          <a:prstGeom prst="rect">
            <a:avLst/>
          </a:prstGeom>
          <a:noFill/>
        </p:spPr>
        <p:txBody>
          <a:bodyPr wrap="square" lIns="0" rIns="0" tIns="0" bIns="0" anchor="t">
            <a:spAutoFit/>
          </a:bodyPr>
          <a:lstStyle/>
          <a:p>
            <a:pPr algn="l">
              <a:spcAft>
                <a:spcPts val="400"/>
              </a:spcAft>
            </a:pPr>
            <a:r>
              <a:rPr sz="1600" b="0" i="0">
                <a:solidFill>
                  <a:srgbClr val="475569"/>
                </a:solidFill>
              </a:rPr>
              <a:t>Encryption time by payload size against an RSA hybrid, detection on real UNSW-NB15, and the combined cost of one protected transfer.</a:t>
            </a:r>
          </a:p>
        </p:txBody>
      </p:sp>
      <p:sp>
        <p:nvSpPr>
          <p:cNvPr id="42" name="Rounded Rectangle 41"/>
          <p:cNvSpPr/>
          <p:nvPr/>
        </p:nvSpPr>
        <p:spPr>
          <a:xfrm>
            <a:off x="548640" y="4892040"/>
            <a:ext cx="11091672" cy="1280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1663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E</a:t>
            </a:r>
          </a:p>
        </p:txBody>
      </p:sp>
      <p:sp>
        <p:nvSpPr>
          <p:cNvPr id="44" name="TextBox 43"/>
          <p:cNvSpPr txBox="1"/>
          <p:nvPr/>
        </p:nvSpPr>
        <p:spPr>
          <a:xfrm>
            <a:off x="1645920" y="5029200"/>
            <a:ext cx="9784080" cy="411480"/>
          </a:xfrm>
          <a:prstGeom prst="rect">
            <a:avLst/>
          </a:prstGeom>
          <a:noFill/>
        </p:spPr>
        <p:txBody>
          <a:bodyPr wrap="square" lIns="0" rIns="0" tIns="0" bIns="0" anchor="t">
            <a:spAutoFit/>
          </a:bodyPr>
          <a:lstStyle/>
          <a:p>
            <a:pPr algn="l">
              <a:spcAft>
                <a:spcPts val="400"/>
              </a:spcAft>
            </a:pPr>
            <a:r>
              <a:rPr sz="1600" b="1" i="0">
                <a:solidFill>
                  <a:srgbClr val="0F172A"/>
                </a:solidFill>
              </a:rPr>
              <a:t>Envelope = ciphertext + nonce (12 B) + tag (16 B) + ephemeral public key (65 B)</a:t>
            </a:r>
          </a:p>
        </p:txBody>
      </p:sp>
      <p:sp>
        <p:nvSpPr>
          <p:cNvPr id="45" name="TextBox 44"/>
          <p:cNvSpPr txBox="1"/>
          <p:nvPr/>
        </p:nvSpPr>
        <p:spPr>
          <a:xfrm>
            <a:off x="1645920" y="5440680"/>
            <a:ext cx="9784080" cy="685800"/>
          </a:xfrm>
          <a:prstGeom prst="rect">
            <a:avLst/>
          </a:prstGeom>
          <a:noFill/>
        </p:spPr>
        <p:txBody>
          <a:bodyPr wrap="square" lIns="0" rIns="0" tIns="0" bIns="0" anchor="t">
            <a:spAutoFit/>
          </a:bodyPr>
          <a:lstStyle/>
          <a:p>
            <a:pPr algn="l">
              <a:spcAft>
                <a:spcPts val="400"/>
              </a:spcAft>
            </a:pPr>
            <a:r>
              <a:rPr sz="1400" b="0" i="0">
                <a:solidFill>
                  <a:srgbClr val="475569"/>
                </a:solidFill>
              </a:rPr>
              <a:t>Delivered as a FastAPI service and a React console with no database and no GPU. A tampered ciphertext fails tag verification and is rejected.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841035" y="1097280"/>
            <a:ext cx="6273209" cy="5394960"/>
          </a:xfrm>
          <a:prstGeom prst="rect">
            <a:avLst/>
          </a:prstGeom>
        </p:spPr>
      </p:pic>
      <p:sp>
        <p:nvSpPr>
          <p:cNvPr id="27" name="TextBox 26"/>
          <p:cNvSpPr txBox="1"/>
          <p:nvPr/>
        </p:nvSpPr>
        <p:spPr>
          <a:xfrm>
            <a:off x="7589520" y="1371600"/>
            <a:ext cx="4023360" cy="4754880"/>
          </a:xfrm>
          <a:prstGeom prst="rect">
            <a:avLst/>
          </a:prstGeom>
          <a:noFill/>
        </p:spPr>
        <p:txBody>
          <a:bodyPr wrap="square" lIns="0" rIns="0" tIns="0" bIns="0" anchor="t">
            <a:spAutoFit/>
          </a:bodyPr>
          <a:lstStyle/>
          <a:p>
            <a:pPr algn="l">
              <a:spcAft>
                <a:spcPts val="800"/>
              </a:spcAft>
            </a:pPr>
            <a:r>
              <a:rPr sz="1600" b="1" i="0">
                <a:solidFill>
                  <a:srgbClr val="0F172A"/>
                </a:solidFill>
              </a:rPr>
              <a:t>Four tiers</a:t>
            </a:r>
          </a:p>
          <a:p>
            <a:pPr algn="l" marL="256032" indent="-201168">
              <a:spcAft>
                <a:spcPts val="400"/>
              </a:spcAft>
              <a:buChar char="•"/>
            </a:pPr>
            <a:r>
              <a:rPr sz="1600" b="0" i="0">
                <a:solidFill>
                  <a:srgbClr val="0F172A"/>
                </a:solidFill>
              </a:rPr>
              <a:t>Presentation: React and Vite console (port 5305) and the original HTML dashboard.</a:t>
            </a:r>
          </a:p>
          <a:p>
            <a:pPr algn="l" marL="256032" indent="-201168">
              <a:spcAft>
                <a:spcPts val="400"/>
              </a:spcAft>
              <a:buChar char="•"/>
            </a:pPr>
            <a:r>
              <a:rPr sz="1600" b="0" i="0">
                <a:solidFill>
                  <a:srgbClr val="0F172A"/>
                </a:solidFill>
              </a:rPr>
              <a:t>Application: FastAPI service (port 8305) with size and format guards on every upload.</a:t>
            </a:r>
          </a:p>
          <a:p>
            <a:pPr algn="l" marL="256032" indent="-201168">
              <a:spcAft>
                <a:spcPts val="400"/>
              </a:spcAft>
              <a:buChar char="•"/>
            </a:pPr>
            <a:r>
              <a:rPr sz="1600" b="0" i="0">
                <a:solidFill>
                  <a:srgbClr val="0F172A"/>
                </a:solidFill>
              </a:rPr>
              <a:t>Core: SecureChannel (ECDH, HKDF, AES-GCM) and the ThreatSense Engine (XGBoost, CNN, stacking).</a:t>
            </a:r>
          </a:p>
          <a:p>
            <a:pPr algn="l" marL="256032" indent="-201168">
              <a:spcAft>
                <a:spcPts val="400"/>
              </a:spcAft>
              <a:buChar char="•"/>
            </a:pPr>
            <a:r>
              <a:rPr sz="1600" b="0" i="0">
                <a:solidFill>
                  <a:srgbClr val="0F172A"/>
                </a:solidFill>
              </a:rPr>
              <a:t>Data: model files, a metrics report and CSVs on local disk; alerts and keys stay in memory.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platform</a:t>
            </a:r>
          </a:p>
        </p:txBody>
      </p:sp>
      <p:sp>
        <p:nvSpPr>
          <p:cNvPr id="29" name="TextBox 28"/>
          <p:cNvSpPr txBox="1"/>
          <p:nvPr/>
        </p:nvSpPr>
        <p:spPr>
          <a:xfrm>
            <a:off x="749808" y="2240280"/>
            <a:ext cx="3118104" cy="1417319"/>
          </a:xfrm>
          <a:prstGeom prst="rect">
            <a:avLst/>
          </a:prstGeom>
          <a:noFill/>
        </p:spPr>
        <p:txBody>
          <a:bodyPr wrap="square" lIns="0" rIns="0" tIns="0" bIns="0" anchor="t">
            <a:spAutoFit/>
          </a:bodyPr>
          <a:lstStyle/>
          <a:p>
            <a:pPr algn="l">
              <a:spcAft>
                <a:spcPts val="400"/>
              </a:spcAft>
            </a:pPr>
            <a:r>
              <a:rPr sz="1700" b="0" i="0">
                <a:solidFill>
                  <a:srgbClr val="475569"/>
                </a:solidFill>
              </a:rPr>
              <a:t>Encrypt, decrypt and verify text and files, reject tampering, score single flows and CSVs, keep alerts, show model performance.</a:t>
            </a:r>
          </a:p>
        </p:txBody>
      </p:sp>
      <p:sp>
        <p:nvSpPr>
          <p:cNvPr id="30" name="Rounded Rectangle 29"/>
          <p:cNvSpPr/>
          <p:nvPr/>
        </p:nvSpPr>
        <p:spPr>
          <a:xfrm>
            <a:off x="4334255"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Measured overhead</a:t>
            </a:r>
          </a:p>
        </p:txBody>
      </p:sp>
      <p:sp>
        <p:nvSpPr>
          <p:cNvPr id="33" name="TextBox 32"/>
          <p:cNvSpPr txBox="1"/>
          <p:nvPr/>
        </p:nvSpPr>
        <p:spPr>
          <a:xfrm>
            <a:off x="4535423" y="2240280"/>
            <a:ext cx="3118104" cy="1417319"/>
          </a:xfrm>
          <a:prstGeom prst="rect">
            <a:avLst/>
          </a:prstGeom>
          <a:noFill/>
        </p:spPr>
        <p:txBody>
          <a:bodyPr wrap="square" lIns="0" rIns="0" tIns="0" bIns="0" anchor="t">
            <a:spAutoFit/>
          </a:bodyPr>
          <a:lstStyle/>
          <a:p>
            <a:pPr algn="l">
              <a:spcAft>
                <a:spcPts val="400"/>
              </a:spcAft>
            </a:pPr>
            <a:r>
              <a:rPr sz="1700" b="0" i="0">
                <a:solidFill>
                  <a:srgbClr val="475569"/>
                </a:solidFill>
              </a:rPr>
              <a:t>Encryption and decryption time by payload size against an RSA-OAEP hybrid, and the cost of detection plus encryption together.</a:t>
            </a:r>
          </a:p>
        </p:txBody>
      </p:sp>
      <p:sp>
        <p:nvSpPr>
          <p:cNvPr id="34" name="Rounded Rectangle 33"/>
          <p:cNvSpPr/>
          <p:nvPr/>
        </p:nvSpPr>
        <p:spPr>
          <a:xfrm>
            <a:off x="8119871"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Real-data detector</a:t>
            </a:r>
          </a:p>
        </p:txBody>
      </p:sp>
      <p:sp>
        <p:nvSpPr>
          <p:cNvPr id="37" name="TextBox 36"/>
          <p:cNvSpPr txBox="1"/>
          <p:nvPr/>
        </p:nvSpPr>
        <p:spPr>
          <a:xfrm>
            <a:off x="8321040" y="2240280"/>
            <a:ext cx="3118104" cy="1417319"/>
          </a:xfrm>
          <a:prstGeom prst="rect">
            <a:avLst/>
          </a:prstGeom>
          <a:noFill/>
        </p:spPr>
        <p:txBody>
          <a:bodyPr wrap="square" lIns="0" rIns="0" tIns="0" bIns="0" anchor="t">
            <a:spAutoFit/>
          </a:bodyPr>
          <a:lstStyle/>
          <a:p>
            <a:pPr algn="l">
              <a:spcAft>
                <a:spcPts val="400"/>
              </a:spcAft>
            </a:pPr>
            <a:r>
              <a:rPr sz="1700" b="0" i="0">
                <a:solidFill>
                  <a:srgbClr val="475569"/>
                </a:solidFill>
              </a:rPr>
              <a:t>Detector trained and evaluated on real UNSW-NB15, with baselines, per-category and threshold analysis and repeated runs.</a:t>
            </a:r>
          </a:p>
        </p:txBody>
      </p:sp>
      <p:sp>
        <p:nvSpPr>
          <p:cNvPr id="38" name="Rounded Rectangle 37"/>
          <p:cNvSpPr/>
          <p:nvPr/>
        </p:nvSpPr>
        <p:spPr>
          <a:xfrm>
            <a:off x="548640"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1605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comparison</a:t>
            </a:r>
          </a:p>
        </p:txBody>
      </p:sp>
      <p:sp>
        <p:nvSpPr>
          <p:cNvPr id="41" name="TextBox 40"/>
          <p:cNvSpPr txBox="1"/>
          <p:nvPr/>
        </p:nvSpPr>
        <p:spPr>
          <a:xfrm>
            <a:off x="749808" y="4846320"/>
            <a:ext cx="5038344" cy="1188719"/>
          </a:xfrm>
          <a:prstGeom prst="rect">
            <a:avLst/>
          </a:prstGeom>
          <a:noFill/>
        </p:spPr>
        <p:txBody>
          <a:bodyPr wrap="square" lIns="0" rIns="0" tIns="0" bIns="0" anchor="t">
            <a:spAutoFit/>
          </a:bodyPr>
          <a:lstStyle/>
          <a:p>
            <a:pPr algn="l">
              <a:spcAft>
                <a:spcPts val="400"/>
              </a:spcAft>
            </a:pPr>
            <a:r>
              <a:rPr sz="1800" b="0" i="0">
                <a:solidFill>
                  <a:srgbClr val="475569"/>
                </a:solidFill>
              </a:rPr>
              <a:t>Comparison with the base paper under a similar protocol, with every difference in data and method stated.</a:t>
            </a:r>
          </a:p>
        </p:txBody>
      </p:sp>
      <p:sp>
        <p:nvSpPr>
          <p:cNvPr id="42" name="Rounded Rectangle 41"/>
          <p:cNvSpPr/>
          <p:nvPr/>
        </p:nvSpPr>
        <p:spPr>
          <a:xfrm>
            <a:off x="6199631"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00799" y="4160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040879"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Stated limits</a:t>
            </a:r>
          </a:p>
        </p:txBody>
      </p:sp>
      <p:sp>
        <p:nvSpPr>
          <p:cNvPr id="45" name="TextBox 44"/>
          <p:cNvSpPr txBox="1"/>
          <p:nvPr/>
        </p:nvSpPr>
        <p:spPr>
          <a:xfrm>
            <a:off x="6400799" y="4846320"/>
            <a:ext cx="5038344" cy="1188719"/>
          </a:xfrm>
          <a:prstGeom prst="rect">
            <a:avLst/>
          </a:prstGeom>
          <a:noFill/>
        </p:spPr>
        <p:txBody>
          <a:bodyPr wrap="square" lIns="0" rIns="0" tIns="0" bIns="0" anchor="t">
            <a:spAutoFit/>
          </a:bodyPr>
          <a:lstStyle/>
          <a:p>
            <a:pPr algn="l">
              <a:spcAft>
                <a:spcPts val="400"/>
              </a:spcAft>
            </a:pPr>
            <a:r>
              <a:rPr sz="1800" b="0" i="0">
                <a:solidFill>
                  <a:srgbClr val="475569"/>
                </a:solidFill>
              </a:rPr>
              <a:t>Mock cloud, no live packet capture, synthetic-trained demo model: each limit documented, not hidden.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88720"/>
            <a:ext cx="11091672" cy="5212080"/>
          </a:xfrm>
          <a:prstGeom prst="rect">
            <a:avLst/>
          </a:prstGeom>
          <a:noFill/>
        </p:spPr>
        <p:txBody>
          <a:bodyPr wrap="square" lIns="0" rIns="0" tIns="0" bIns="0" anchor="t">
            <a:spAutoFit/>
          </a:bodyPr>
          <a:lstStyle/>
          <a:p>
            <a:pPr algn="l">
              <a:spcAft>
                <a:spcPts val="400"/>
              </a:spcAft>
            </a:pPr>
            <a:r>
              <a:rPr sz="1300" b="0" i="0">
                <a:solidFill>
                  <a:srgbClr val="0F172A"/>
                </a:solidFill>
              </a:rPr>
              <a:t>[1] V. Kalyanasundaram, S. Raja and S. Kanthimathi, "Intrusion detection model using fused quantum NN-LeNet with improved elliptic curve cryptography based data security," IEEE Access, vol. 14, pp. 63767-63779, 2026, doi: 10.1109/ACCESS.2026.3686106.</a:t>
            </a:r>
          </a:p>
          <a:p>
            <a:pPr algn="l">
              <a:spcAft>
                <a:spcPts val="400"/>
              </a:spcAft>
            </a:pPr>
            <a:r>
              <a:rPr sz="1300" b="0" i="0">
                <a:solidFill>
                  <a:srgbClr val="0F172A"/>
                </a:solidFill>
              </a:rPr>
              <a:t>[2] H. Boye, "Strengthening cloud security through advanced encryption and anomaly detection techniques for secure data storage and transmission," FMDB Trans. Sustain. Comput. Lett., vol. 2, no. 3, pp. 153-163, 2024, doi: 10.69888/FTSCL.2024.000241.</a:t>
            </a:r>
          </a:p>
          <a:p>
            <a:pPr algn="l">
              <a:spcAft>
                <a:spcPts val="400"/>
              </a:spcAft>
            </a:pPr>
            <a:r>
              <a:rPr sz="1300" b="0" i="0">
                <a:solidFill>
                  <a:srgbClr val="0F172A"/>
                </a:solidFill>
              </a:rPr>
              <a:t>[3] J. Singh and G. S. Bhathal, "An automated data deletion: a secure method for multi-cloud security with intrusion detection system," Int. J. Sci. Res. (IJSR), vol. 13, no. 8, pp. 213-217, Aug. 2024, doi: 10.21275/SR24730194843.</a:t>
            </a:r>
          </a:p>
          <a:p>
            <a:pPr algn="l">
              <a:spcAft>
                <a:spcPts val="400"/>
              </a:spcAft>
            </a:pPr>
            <a:r>
              <a:rPr sz="1300" b="0" i="0">
                <a:solidFill>
                  <a:srgbClr val="0F172A"/>
                </a:solidFill>
              </a:rPr>
              <a:t>[4] M. B. Shinde and P. P. Ghadekar, "Federated learning-based attack detection and secure data transmission in cloud using improved Blowfish encryption," Eng. Appl. Artif. Intell., vol. 182, Art. no. 115975, 2026, doi: 10.1016/j.engappai.2026.115975.</a:t>
            </a:r>
          </a:p>
          <a:p>
            <a:pPr algn="l">
              <a:spcAft>
                <a:spcPts val="400"/>
              </a:spcAft>
            </a:pPr>
            <a:r>
              <a:rPr sz="1300" b="0" i="0">
                <a:solidFill>
                  <a:srgbClr val="0F172A"/>
                </a:solidFill>
              </a:rPr>
              <a:t>[5] N. Pamarthi and N. Rao N, "A cloud-based data privacy framework using hybrid encryption algorithms for secure data transmission," Genet. Mol. Res., 2026, doi: 10.4238/mq5a9v31.</a:t>
            </a:r>
          </a:p>
          <a:p>
            <a:pPr algn="l">
              <a:spcAft>
                <a:spcPts val="400"/>
              </a:spcAft>
            </a:pPr>
            <a:r>
              <a:rPr sz="1300" b="0" i="0">
                <a:solidFill>
                  <a:srgbClr val="0F172A"/>
                </a:solidFill>
              </a:rPr>
              <a:t>[6] M. M. Alhusseini, A. Rouhi and M.-R. Feizi-Derakhshi, "AI-powered hybrid intrusion detection framework for cloud security using novel metaheuristic optimization," arXiv:2601.01134, Jan. 2026.</a:t>
            </a:r>
          </a:p>
          <a:p>
            <a:pPr algn="l">
              <a:spcAft>
                <a:spcPts val="400"/>
              </a:spcAft>
            </a:pPr>
            <a:r>
              <a:rPr sz="1300" b="0" i="0">
                <a:solidFill>
                  <a:srgbClr val="0F172A"/>
                </a:solidFill>
              </a:rPr>
              <a:t>[7] N. Moustafa and J. Slay, "UNSW-NB15: a comprehensive data set for network intrusion detection systems (UNSW-NB15 network data set)," in Proc. Mil. Commun. Inf. Syst. Conf. (MilCIS), Canberra, Australia, 2015, pp. 1-6, doi: 10.1109/MilCIS.2015.7348942.</a:t>
            </a:r>
          </a:p>
          <a:p>
            <a:pPr algn="l">
              <a:spcAft>
                <a:spcPts val="400"/>
              </a:spcAft>
            </a:pPr>
            <a:r>
              <a:rPr sz="1300" b="0" i="0">
                <a:solidFill>
                  <a:srgbClr val="0F172A"/>
                </a:solidFill>
              </a:rPr>
              <a:t>[9] T. Chen and C. Guestrin, "XGBoost: a scalable tree boosting system," in Proc. 22nd ACM SIGKDD Int. Conf. Knowl. Discovery Data Mining, San Francisco, CA, USA, 2016, pp. 785-794, doi: 10.1145/2939672.2939785.</a:t>
            </a:r>
          </a:p>
          <a:p>
            <a:pPr algn="l">
              <a:spcAft>
                <a:spcPts val="400"/>
              </a:spcAft>
            </a:pPr>
            <a:r>
              <a:rPr sz="1300" b="0" i="0">
                <a:solidFill>
                  <a:srgbClr val="0F172A"/>
                </a:solidFill>
              </a:rPr>
              <a:t>[12] M. Dworkin, "Recommendation for block cipher modes of operation: Galois/Counter Mode (GCM) and GMAC," NIST Special Publication 800-38D, Nov. 2007, doi: 10.6028/NIST.SP.800-38D.</a:t>
            </a:r>
          </a:p>
          <a:p>
            <a:pPr algn="l">
              <a:spcAft>
                <a:spcPts val="400"/>
              </a:spcAft>
            </a:pPr>
            <a:r>
              <a:rPr sz="1300" b="0" i="0">
                <a:solidFill>
                  <a:srgbClr val="0F172A"/>
                </a:solidFill>
              </a:rPr>
              <a:t>[14] H. Krawczyk and P. Eronen, "HMAC-based extract-and-expand key derivation function (HKDF)," IETF RFC 5869, May 2010, doi: 10.17487/RFC5869.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ipherGuard Shield">
  <a:themeElements>
    <a:clrScheme name="CipherGuard Shield">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CipherGuard Sh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ipherGuard Shield">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Data Transmission in Cloud Computing using Encryption and Machine Learning: Review 1</dc:title>
  <dc:subject>Batch A5 (CSE-A)</dc:subject>
  <dc:creator>Avuti Sandhya, Banothu Indu, Dasari Sriteja, Bejugam Vaishnavi</dc:creator>
  <cp:lastModifiedBy/>
  <cp:revision>1</cp:revision>
  <dcterms:created xsi:type="dcterms:W3CDTF">2026-10-13T12:36:40Z</dcterms:created>
  <dcterms:modified xsi:type="dcterms:W3CDTF">2026-10-13T12:36:40Z</dcterms:modified>
  <cp:keywords>cloud security, authenticated encryption, AES-256-GCM, ECDH, intrusion detection, XGBoost, UNSW-NB15</cp:keywords>
  <dc:description/>
</cp:coreProperties>
</file>