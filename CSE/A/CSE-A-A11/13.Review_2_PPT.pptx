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Vulnerable functions per type (501 of 6,000)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Vulnerable functions</c:v>
                </c:pt>
              </c:strCache>
            </c:strRef>
          </c:tx>
          <c:spPr>
            <a:solidFill>
              <a:srgbClr val="3F3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xss</c:v>
                </c:pt>
                <c:pt idx="1">
                  <c:v>weak crypto</c:v>
                </c:pt>
                <c:pt idx="2">
                  <c:v>sql injection</c:v>
                </c:pt>
                <c:pt idx="3">
                  <c:v>hardcoded secret</c:v>
                </c:pt>
                <c:pt idx="4">
                  <c:v>deserialization</c:v>
                </c:pt>
                <c:pt idx="5">
                  <c:v>code execution</c:v>
                </c:pt>
                <c:pt idx="6">
                  <c:v>path traversal</c:v>
                </c:pt>
                <c:pt idx="7">
                  <c:v>command injection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75</c:v>
                </c:pt>
                <c:pt idx="1">
                  <c:v>65</c:v>
                </c:pt>
                <c:pt idx="2">
                  <c:v>64</c:v>
                </c:pt>
                <c:pt idx="3">
                  <c:v>63</c:v>
                </c:pt>
                <c:pt idx="4">
                  <c:v>61</c:v>
                </c:pt>
                <c:pt idx="5">
                  <c:v>60</c:v>
                </c:pt>
                <c:pt idx="6">
                  <c:v>59</c:v>
                </c:pt>
                <c:pt idx="7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functions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F1 and recall of nine models on the generated corpus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3F3FB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Random Forest</c:v>
                </c:pt>
                <c:pt idx="1">
                  <c:v>Decision Tree</c:v>
                </c:pt>
                <c:pt idx="2">
                  <c:v>Log. Reg.</c:v>
                </c:pt>
                <c:pt idx="3">
                  <c:v>SVM</c:v>
                </c:pt>
                <c:pt idx="4">
                  <c:v>KNN</c:v>
                </c:pt>
                <c:pt idx="5">
                  <c:v>Naive Bayes</c:v>
                </c:pt>
                <c:pt idx="6">
                  <c:v>Grad. Boost</c:v>
                </c:pt>
                <c:pt idx="7">
                  <c:v>XGBoost</c:v>
                </c:pt>
                <c:pt idx="8">
                  <c:v>Voting</c:v>
                </c:pt>
              </c:strCache>
            </c:strRef>
          </c:cat>
          <c:val>
            <c:numRef>
              <c:f>Sheet1!$B$2:$B$10</c:f>
              <c:numCache>
                <c:formatCode>0.00</c:formatCode>
                <c:ptCount val="9"/>
                <c:pt idx="0">
                  <c:v>0.826</c:v>
                </c:pt>
                <c:pt idx="1">
                  <c:v>0.746</c:v>
                </c:pt>
                <c:pt idx="2">
                  <c:v>0.558</c:v>
                </c:pt>
                <c:pt idx="3">
                  <c:v>0.679</c:v>
                </c:pt>
                <c:pt idx="4">
                  <c:v>0.583</c:v>
                </c:pt>
                <c:pt idx="5">
                  <c:v>0.554</c:v>
                </c:pt>
                <c:pt idx="6">
                  <c:v>0.73</c:v>
                </c:pt>
                <c:pt idx="7">
                  <c:v>0.851</c:v>
                </c:pt>
                <c:pt idx="8">
                  <c:v>0.793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2F9E6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Random Forest</c:v>
                </c:pt>
                <c:pt idx="1">
                  <c:v>Decision Tree</c:v>
                </c:pt>
                <c:pt idx="2">
                  <c:v>Log. Reg.</c:v>
                </c:pt>
                <c:pt idx="3">
                  <c:v>SVM</c:v>
                </c:pt>
                <c:pt idx="4">
                  <c:v>KNN</c:v>
                </c:pt>
                <c:pt idx="5">
                  <c:v>Naive Bayes</c:v>
                </c:pt>
                <c:pt idx="6">
                  <c:v>Grad. Boost</c:v>
                </c:pt>
                <c:pt idx="7">
                  <c:v>XGBoost</c:v>
                </c:pt>
                <c:pt idx="8">
                  <c:v>Voting</c:v>
                </c:pt>
              </c:strCache>
            </c:strRef>
          </c:cat>
          <c:val>
            <c:numRef>
              <c:f>Sheet1!$C$2:$C$10</c:f>
              <c:numCache>
                <c:formatCode>0.00</c:formatCode>
                <c:ptCount val="9"/>
                <c:pt idx="0">
                  <c:v>0.776</c:v>
                </c:pt>
                <c:pt idx="1">
                  <c:v>0.824</c:v>
                </c:pt>
                <c:pt idx="2">
                  <c:v>0.92</c:v>
                </c:pt>
                <c:pt idx="3">
                  <c:v>0.856</c:v>
                </c:pt>
                <c:pt idx="4">
                  <c:v>0.832</c:v>
                </c:pt>
                <c:pt idx="5">
                  <c:v>0.92</c:v>
                </c:pt>
                <c:pt idx="6">
                  <c:v>0.832</c:v>
                </c:pt>
                <c:pt idx="7">
                  <c:v>0.776</c:v>
                </c:pt>
                <c:pt idx="8">
                  <c:v>0.856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47556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score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2 covers design, methodology and progress of AutoSecAI.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Twelve parts, from a recap of Review 1 through the design and the pipeline to progress, results, testing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of Review 1: the problem and the proposed system as a five-step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browser talks only to the Vite server, which proxies /api to FastAPI. The engine runs locally; GitHub and an optional Anthropic key are the only external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End-to-end workflow in seven steps. The central idea: static rules and a metric model look at the same changed functions, and every agent leaves an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corpus is generated, not collected: random benign logic plus injected vulnerable patterns of eight types, look-alike safe patterns and 1 percent label noise. It stands in for the base paper's C/C++ data, which is not available, so scores differ from the paper's.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Preprocessing here means turning source code into metrics, choosing the useful ones and balancing the rare vulnerable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Nine classifiers were trained as in the base paper. XGBoost has the best F1 (0.851); Random Forest, the paper's winner, scores 0.826 on this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paper keeps the top five metrics. On this corpus validation F1 is 0.566 at k = 5 and 0.786 at k = 13 (test F1 0.645 against 0.826 for Random Forest), because the extra taint metrics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Decision logic of the judge agent: how findings become a score and a verdict, and when a patch is trusted.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 1 shows six processes and six data stores; level 2 opens the review process into the seven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small SQLite databases. A review is stored as one JSON document, so there are no foreign keys; reviews are not linked to a user in this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runs on one laptop with no GPU; an Anthropic key is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planned feature is implemented. The open item is measuring precision against manually reviewed real pull requests: no labelled set exists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Scores are on a generated Python corpus, so they are not comparable with the base paper's. The rule engine and ML model were scored on the same 1,500 held-out functions; the rule engine and the corpus generator were written by the same team, so the rule scores are optimistic.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of the running application with the built-in demo pull request and demo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counts come from runs made on 18 October 2026. The LLM text mode and a real GitHub PR fetch were not exercised.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challenges and how each was handled.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remains: a labelled real-pull-request evaluation and user feedback, then the report and the final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AutoSecAI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AutoSecAI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Pull Request Analysis for Security, Vulnerability Detection, and Code Quality using Multi-Agent LLMs</a:t>
            </a:r>
            <a:endParaRPr lang="en-US" sz="25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CHEPURI RISHIVARDHAN  23K91A0553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BODA SANDEEP  23K91A0539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DHARAVATH SEETHARAM  23K91A0562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NARISIMHA REDDY  24K95A0501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P. KISHORE,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Department of Computer Science and Engineering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TKR College of Engineering &amp; Technology (Autonomous)  ·  Batch A11 (CSE, Section A)  · 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agenda 1"/>
          <p:cNvSpPr/>
          <p:nvPr/>
        </p:nvSpPr>
        <p:spPr>
          <a:xfrm>
            <a:off x="548640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Recap</a:t>
            </a:r>
            <a:endParaRPr lang="en-US" sz="1500" dirty="0"/>
          </a:p>
        </p:txBody>
      </p:sp>
      <p:sp>
        <p:nvSpPr>
          <p:cNvPr id="7" name="agenda 2"/>
          <p:cNvSpPr/>
          <p:nvPr/>
        </p:nvSpPr>
        <p:spPr>
          <a:xfrm>
            <a:off x="3364992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Architecture</a:t>
            </a:r>
            <a:endParaRPr lang="en-US" sz="1500" dirty="0"/>
          </a:p>
        </p:txBody>
      </p:sp>
      <p:sp>
        <p:nvSpPr>
          <p:cNvPr id="10" name="agenda 3"/>
          <p:cNvSpPr/>
          <p:nvPr/>
        </p:nvSpPr>
        <p:spPr>
          <a:xfrm>
            <a:off x="6181344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82512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3825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Methodology</a:t>
            </a:r>
            <a:endParaRPr lang="en-US" sz="1500" dirty="0"/>
          </a:p>
        </p:txBody>
      </p:sp>
      <p:sp>
        <p:nvSpPr>
          <p:cNvPr id="13" name="agenda 4"/>
          <p:cNvSpPr/>
          <p:nvPr/>
        </p:nvSpPr>
        <p:spPr>
          <a:xfrm>
            <a:off x="8997696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98864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919886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Corpus and dataset</a:t>
            </a:r>
            <a:endParaRPr lang="en-US" sz="1500" dirty="0"/>
          </a:p>
        </p:txBody>
      </p:sp>
      <p:sp>
        <p:nvSpPr>
          <p:cNvPr id="16" name="agenda 5"/>
          <p:cNvSpPr/>
          <p:nvPr/>
        </p:nvSpPr>
        <p:spPr>
          <a:xfrm>
            <a:off x="548640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Metrics and balancing</a:t>
            </a:r>
            <a:endParaRPr lang="en-US" sz="1500" dirty="0"/>
          </a:p>
        </p:txBody>
      </p:sp>
      <p:sp>
        <p:nvSpPr>
          <p:cNvPr id="19" name="agenda 6"/>
          <p:cNvSpPr/>
          <p:nvPr/>
        </p:nvSpPr>
        <p:spPr>
          <a:xfrm>
            <a:off x="3364992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66160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Models and training</a:t>
            </a:r>
            <a:endParaRPr lang="en-US" sz="1500" dirty="0"/>
          </a:p>
        </p:txBody>
      </p:sp>
      <p:sp>
        <p:nvSpPr>
          <p:cNvPr id="22" name="agenda 7"/>
          <p:cNvSpPr/>
          <p:nvPr/>
        </p:nvSpPr>
        <p:spPr>
          <a:xfrm>
            <a:off x="6181344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82512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382512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Verdict logic</a:t>
            </a:r>
            <a:endParaRPr lang="en-US" sz="1500" dirty="0"/>
          </a:p>
        </p:txBody>
      </p:sp>
      <p:sp>
        <p:nvSpPr>
          <p:cNvPr id="25" name="agenda 8"/>
          <p:cNvSpPr/>
          <p:nvPr/>
        </p:nvSpPr>
        <p:spPr>
          <a:xfrm>
            <a:off x="8997696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98864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9198864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 flow, modules, database</a:t>
            </a:r>
            <a:endParaRPr lang="en-US" sz="1500" dirty="0"/>
          </a:p>
        </p:txBody>
      </p:sp>
      <p:sp>
        <p:nvSpPr>
          <p:cNvPr id="28" name="agenda 9"/>
          <p:cNvSpPr/>
          <p:nvPr/>
        </p:nvSpPr>
        <p:spPr>
          <a:xfrm>
            <a:off x="548640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Technology stack</a:t>
            </a:r>
            <a:endParaRPr lang="en-US" sz="1500" dirty="0"/>
          </a:p>
        </p:txBody>
      </p:sp>
      <p:sp>
        <p:nvSpPr>
          <p:cNvPr id="31" name="agenda 10"/>
          <p:cNvSpPr/>
          <p:nvPr/>
        </p:nvSpPr>
        <p:spPr>
          <a:xfrm>
            <a:off x="3364992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66160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3566160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Progress</a:t>
            </a:r>
            <a:endParaRPr lang="en-US" sz="1500" dirty="0"/>
          </a:p>
        </p:txBody>
      </p:sp>
      <p:sp>
        <p:nvSpPr>
          <p:cNvPr id="34" name="agenda 11"/>
          <p:cNvSpPr/>
          <p:nvPr/>
        </p:nvSpPr>
        <p:spPr>
          <a:xfrm>
            <a:off x="6181344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382512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6382512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Preliminary results and screens</a:t>
            </a:r>
            <a:endParaRPr lang="en-US" sz="1500" dirty="0"/>
          </a:p>
        </p:txBody>
      </p:sp>
      <p:sp>
        <p:nvSpPr>
          <p:cNvPr id="37" name="agenda 12"/>
          <p:cNvSpPr/>
          <p:nvPr/>
        </p:nvSpPr>
        <p:spPr>
          <a:xfrm>
            <a:off x="8997696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98864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39" name="Text 36"/>
          <p:cNvSpPr txBox="1"/>
          <p:nvPr/>
        </p:nvSpPr>
        <p:spPr>
          <a:xfrm>
            <a:off x="9198864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Testing, challenges, next steps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4" name="Problem card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Problem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Pull requests arrive faster than they can be reviewed; manual review is uneven on security, static analysers drown reviewers in warnings, and a small diff is judged without the context of the codebase.</a:t>
            </a:r>
            <a:endParaRPr lang="en-US" sz="1500" dirty="0"/>
          </a:p>
        </p:txBody>
      </p:sp>
      <p:sp>
        <p:nvSpPr>
          <p:cNvPr id="9" name="Proposed system card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Proposed sys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8660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Proposed system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475569"/>
                </a:solidFill>
              </a:rPr>
              <a:t>Seven cooperating agents: AST + taint static analysis, a metric-based ML risk score, explanation, verified patches, quality review and a judge; plus a retrieval assistant for the repository.</a:t>
            </a:r>
            <a:endParaRPr lang="en-US" sz="1550" dirty="0"/>
          </a:p>
        </p:txBody>
      </p:sp>
      <p:sp>
        <p:nvSpPr>
          <p:cNvPr id="14" name="flow step 1"/>
          <p:cNvSpPr/>
          <p:nvPr/>
        </p:nvSpPr>
        <p:spPr>
          <a:xfrm>
            <a:off x="548640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1792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 diff, files or GitHub link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2557211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flow step 2"/>
          <p:cNvSpPr/>
          <p:nvPr/>
        </p:nvSpPr>
        <p:spPr>
          <a:xfrm>
            <a:off x="2831531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904683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Static analysis + metric risk</a:t>
            </a:r>
            <a:endParaRPr lang="en-US" sz="1500" dirty="0"/>
          </a:p>
        </p:txBody>
      </p:sp>
      <p:sp>
        <p:nvSpPr>
          <p:cNvPr id="19" name="arrow"/>
          <p:cNvSpPr/>
          <p:nvPr/>
        </p:nvSpPr>
        <p:spPr>
          <a:xfrm>
            <a:off x="4840102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flow step 3"/>
          <p:cNvSpPr/>
          <p:nvPr/>
        </p:nvSpPr>
        <p:spPr>
          <a:xfrm>
            <a:off x="5114422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87574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Explain + patch + verify</a:t>
            </a:r>
            <a:endParaRPr lang="en-US" sz="1500" dirty="0"/>
          </a:p>
        </p:txBody>
      </p:sp>
      <p:sp>
        <p:nvSpPr>
          <p:cNvPr id="22" name="arrow"/>
          <p:cNvSpPr/>
          <p:nvPr/>
        </p:nvSpPr>
        <p:spPr>
          <a:xfrm>
            <a:off x="7122993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flow step 4"/>
          <p:cNvSpPr/>
          <p:nvPr/>
        </p:nvSpPr>
        <p:spPr>
          <a:xfrm>
            <a:off x="7397313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470465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Score + verdict</a:t>
            </a:r>
            <a:endParaRPr lang="en-US" sz="1500" dirty="0"/>
          </a:p>
        </p:txBody>
      </p:sp>
      <p:sp>
        <p:nvSpPr>
          <p:cNvPr id="25" name="arrow"/>
          <p:cNvSpPr/>
          <p:nvPr/>
        </p:nvSpPr>
        <p:spPr>
          <a:xfrm>
            <a:off x="9405884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flow step 5"/>
          <p:cNvSpPr/>
          <p:nvPr/>
        </p:nvSpPr>
        <p:spPr>
          <a:xfrm>
            <a:off x="9680204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753356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Export, history, ask the repo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7543800" y="146304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Client: React 19 + TypeScript + Vite (port 5311), TanStack Query, recharts, dark mode.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API: FastAPI (port 8311): JWT sign-in, 25 route handlers, background jobs with live agent messages.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Engine: autosecai package: diff parsing, AST/taint rules, 14-metric model, 7 agents, exports.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Assistant: TF-IDF + concept scores + call graph retrieval over the repository.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Data: SQLite (users, reviews as JSON), model artefacts; GitHub and an LLM key are optional.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System architecture diagram" descr="System architecture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5" y="1181100"/>
            <a:ext cx="6578600" cy="4933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Sign in + choose input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1904956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2179276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52428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Ingest: diff, hunks, lines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535593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flow step 3"/>
          <p:cNvSpPr/>
          <p:nvPr/>
        </p:nvSpPr>
        <p:spPr>
          <a:xfrm>
            <a:off x="3809913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83065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Static analysis: AST + taint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5166229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flow step 4"/>
          <p:cNvSpPr/>
          <p:nvPr/>
        </p:nvSpPr>
        <p:spPr>
          <a:xfrm>
            <a:off x="5440549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13701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ML risk: 14 metrics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6796866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flow step 5"/>
          <p:cNvSpPr/>
          <p:nvPr/>
        </p:nvSpPr>
        <p:spPr>
          <a:xfrm>
            <a:off x="7071186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44338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Reason + remediate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8427502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flow step 6"/>
          <p:cNvSpPr/>
          <p:nvPr/>
        </p:nvSpPr>
        <p:spPr>
          <a:xfrm>
            <a:off x="8701822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74974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Quality + judge: verdict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10058139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flow step 7"/>
          <p:cNvSpPr/>
          <p:nvPr/>
        </p:nvSpPr>
        <p:spPr>
          <a:xfrm>
            <a:off x="10332459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405611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Export + history</a:t>
            </a:r>
            <a:endParaRPr lang="en-US" sz="1400" dirty="0"/>
          </a:p>
        </p:txBody>
      </p:sp>
      <p:sp>
        <p:nvSpPr>
          <p:cNvPr id="24" name="Separate tracks card"/>
          <p:cNvSpPr/>
          <p:nvPr/>
        </p:nvSpPr>
        <p:spPr>
          <a:xfrm>
            <a:off x="54864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Changed code first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Findings are marked in or out of the diff, so the verdict is driven by what the pull request changes.</a:t>
            </a:r>
            <a:endParaRPr lang="en-US" sz="1500" dirty="0"/>
          </a:p>
        </p:txBody>
      </p:sp>
      <p:sp>
        <p:nvSpPr>
          <p:cNvPr id="27" name="Shared preprocessing card"/>
          <p:cNvSpPr/>
          <p:nvPr/>
        </p:nvSpPr>
        <p:spPr>
          <a:xfrm>
            <a:off x="429768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2628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Fixes are checked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A patch is shown only if re-scanning the patched code no longer reports the finding.</a:t>
            </a:r>
            <a:endParaRPr lang="en-US" sz="1500" dirty="0"/>
          </a:p>
        </p:txBody>
      </p:sp>
      <p:sp>
        <p:nvSpPr>
          <p:cNvPr id="30" name="Reproducible card"/>
          <p:cNvSpPr/>
          <p:nvPr/>
        </p:nvSpPr>
        <p:spPr>
          <a:xfrm>
            <a:off x="804672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Evidence kept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27532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Every agent writes a trace entry; exports include Markdown, SARIF 2.1.0, JSON and CSV.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a generated Python corpus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63040"/>
          <a:ext cx="5056631" cy="914400"/>
        </p:xfrm>
        <a:graphic>
          <a:graphicData uri="http://schemas.openxmlformats.org/drawingml/2006/table">
            <a:tbl>
              <a:tblPr/>
              <a:tblGrid>
                <a:gridCol w="1921520"/>
                <a:gridCol w="1921520"/>
                <a:gridCol w="1213591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Python corpus (seed 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 functions, 501 vulnerable (8.35%)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and test the metric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(stratified, seed 42)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 train / 1,500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scores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SMOTE + Tomek (train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8,232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demo pull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file, +67 / -1 lines, 7 functions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and measurement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repository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files, 24 code 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Codebase assistant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data (not used)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21,759 C/C++ functions, 275 vulnerable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distributable 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preparation: metrics, selection, balancing</a:t>
            </a:r>
            <a:endParaRPr lang="en-US" sz="3200" dirty="0"/>
          </a:p>
        </p:txBody>
      </p:sp>
      <p:sp>
        <p:nvSpPr>
          <p:cNvPr id="4" name="Text card"/>
          <p:cNvSpPr/>
          <p:nvPr/>
        </p:nvSpPr>
        <p:spPr>
          <a:xfrm>
            <a:off x="54864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6" name="Image 0" descr="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Metric extraction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Python's ast gives 14 metrics per function: M1 cyclomatic complexity ... M11 control dependency from the base paper, plus M12 risky API calls, M13 string-built sinks and M14 untrusted sources for taint-style flaws.</a:t>
            </a:r>
            <a:endParaRPr lang="en-US" sz="1600" dirty="0"/>
          </a:p>
        </p:txBody>
      </p:sp>
      <p:sp>
        <p:nvSpPr>
          <p:cNvPr id="9" name="Images and video card"/>
          <p:cNvSpPr/>
          <p:nvPr/>
        </p:nvSpPr>
        <p:spPr>
          <a:xfrm>
            <a:off x="429768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1" name="Image 1" descr="Images and vi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Selection and scaling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Seven selectors (Pearson, SVM, Lasso, chi-squared, two RFE variants, variance) vote; k is swept from 5 to 14 and k = 13 is chosen (validation F1 0.786). Min-Max scaling.</a:t>
            </a:r>
            <a:endParaRPr lang="en-US" sz="1600" dirty="0"/>
          </a:p>
        </p:txBody>
      </p:sp>
      <p:sp>
        <p:nvSpPr>
          <p:cNvPr id="14" name="AI-media data card"/>
          <p:cNvSpPr/>
          <p:nvPr/>
        </p:nvSpPr>
        <p:spPr>
          <a:xfrm>
            <a:off x="804672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6" name="Image 2" descr="AI-media da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Class balancing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SMOTE (k = 5) then Tomek-link removal, implemented in-house: 4,500 training rows become 8,232 (16 Tomek removals). The test set is never touched.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and pipeline components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463040"/>
          <a:ext cx="38679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56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(200 trees, depth 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other models, incl. 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classifier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Forest, 400 trees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security + 12 quality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43-entry CWE / OWASP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71500" y="5334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scikit-learn / XGBoost models trained here on the generated corpus; no deep network is used.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Nine classifiers" descr="Nine classifi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65587"/>
            <a:ext cx="6858000" cy="33363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 / split seeds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/ 25 stratified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metrics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13 of 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k = 5 + Tomek links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trees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trees, depth 5, rate 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 s, CPU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icture frame"/>
          <p:cNvSpPr/>
          <p:nvPr/>
        </p:nvSpPr>
        <p:spPr>
          <a:xfrm>
            <a:off x="6400800" y="2199059"/>
            <a:ext cx="5239512" cy="2414163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400800" y="553212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Feature-count sweep: validation F1 rises from 0.566 at k = 5 to 0.786 at k = 13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26" name="k sweep chart" descr="k sweep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229202"/>
            <a:ext cx="5238750" cy="31044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5" name="Verdict card"/>
          <p:cNvSpPr/>
          <p:nvPr/>
        </p:nvSpPr>
        <p:spPr>
          <a:xfrm>
            <a:off x="6711315" y="1371600"/>
            <a:ext cx="4928997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939915" y="1554480"/>
            <a:ext cx="451751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Verdict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939915" y="2240280"/>
            <a:ext cx="44717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75569"/>
                </a:solidFill>
              </a:rPr>
              <a:t>BLOCK if a high or critical security finding in the changed lines is likely real, or the risk score is 70 or more; REQUEST_CHANGES at a medium finding or 30 or more; otherwise APPROVE.</a:t>
            </a:r>
            <a:endParaRPr lang="en-US" sz="900" dirty="0"/>
          </a:p>
        </p:txBody>
      </p:sp>
      <p:sp>
        <p:nvSpPr>
          <p:cNvPr id="8" name="Partial input card"/>
          <p:cNvSpPr/>
          <p:nvPr/>
        </p:nvSpPr>
        <p:spPr>
          <a:xfrm>
            <a:off x="6711315" y="2880360"/>
            <a:ext cx="4928997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939915" y="3063240"/>
            <a:ext cx="451751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Score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939915" y="3749040"/>
            <a:ext cx="44717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</a:rPr>
              <a:t>Risk = 100 x (1 - exp(-W / 18)), W = sum of severity x confidence weights; findings outside the diff count 15%.</a:t>
            </a:r>
            <a:endParaRPr lang="en-US" sz="1000" dirty="0"/>
          </a:p>
        </p:txBody>
      </p:sp>
      <p:sp>
        <p:nvSpPr>
          <p:cNvPr id="11" name="Saving card"/>
          <p:cNvSpPr/>
          <p:nvPr/>
        </p:nvSpPr>
        <p:spPr>
          <a:xfrm>
            <a:off x="6711315" y="4389120"/>
            <a:ext cx="4928997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39915" y="4572000"/>
            <a:ext cx="451751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Verified patches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939915" y="5257800"/>
            <a:ext cx="44717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</a:rPr>
              <a:t>Each fix is applied to a copy and re-scanned; it is kept only when the same rule no longer fires near that line.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Decision flowchart" descr="Decision flow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240997"/>
            <a:ext cx="5810250" cy="48046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542925" y="443865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DFD level 1 (left) and level 2 expansion of the 7-agent review (right)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62500"/>
          <a:ext cx="11094414" cy="914400"/>
        </p:xfrm>
        <a:graphic>
          <a:graphicData uri="http://schemas.openxmlformats.org/drawingml/2006/table">
            <a:tbl>
              <a:tblPr/>
              <a:tblGrid>
                <a:gridCol w="2662659"/>
                <a:gridCol w="8431755"/>
              </a:tblGrid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diffutil +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diffs, zips, GitHub PRs; AST and taint rules; regex rules for JS, PHP, 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 + mlmodel + agents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metrics, risk model, seven agents, scoring and 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codeintel + report +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 retrieval, exports, SQLite 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DFD level 1" descr="DFD level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14" y="1066800"/>
            <a:ext cx="4228170" cy="3333750"/>
          </a:xfrm>
          <a:prstGeom prst="rect">
            <a:avLst/>
          </a:prstGeom>
        </p:spPr>
      </p:pic>
      <p:pic>
        <p:nvPicPr>
          <p:cNvPr id="27" name="DFD level 2" descr="DFD level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3984" y="1066800"/>
            <a:ext cx="5253181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2925" y="4686300"/>
          <a:ext cx="11087100" cy="914400"/>
        </p:xfrm>
        <a:graphic>
          <a:graphicData uri="http://schemas.openxmlformats.org/drawingml/2006/table">
            <a:tbl>
              <a:tblPr/>
              <a:tblGrid>
                <a:gridCol w="2217420"/>
                <a:gridCol w="5100066"/>
                <a:gridCol w="3769614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(app.db)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email UNIQUE, name, password_hash (bcrypt), created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account seeded at start-up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(history.db)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created, title, source, score, verdict, n_findings, n_security, payload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 holds findings, ML rows, trace, files as 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2925" y="4381500"/>
            <a:ext cx="11087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ER diagram, 2 SQLite tables (left) and UML class diagram (right)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ER diagram" descr="ER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79" y="1123950"/>
            <a:ext cx="5103090" cy="3238500"/>
          </a:xfrm>
          <a:prstGeom prst="rect">
            <a:avLst/>
          </a:prstGeom>
        </p:spPr>
      </p:pic>
      <p:pic>
        <p:nvPicPr>
          <p:cNvPr id="27" name="UML class diagram" descr="UML class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1253" y="1123950"/>
            <a:ext cx="3827318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Language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Langu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Language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Python 3.11, TypeScript</a:t>
            </a:r>
            <a:endParaRPr lang="en-US" sz="1500" dirty="0"/>
          </a:p>
        </p:txBody>
      </p:sp>
      <p:sp>
        <p:nvSpPr>
          <p:cNvPr id="9" name="Deep learning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1" name="Image 1" descr="Deep le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Analysis and ML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ast, scikit-learn, XGBoost, networkx, TF-IDF</a:t>
            </a:r>
            <a:endParaRPr lang="en-US" sz="1500" dirty="0"/>
          </a:p>
        </p:txBody>
      </p:sp>
      <p:sp>
        <p:nvSpPr>
          <p:cNvPr id="14" name="Data / NLP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6" name="Image 2" descr="Data / NL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Frontend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React 19, Vite 8, Tailwind 4, TanStack Query, recharts, framer-motion</a:t>
            </a:r>
            <a:endParaRPr lang="en-US" sz="1500" dirty="0"/>
          </a:p>
        </p:txBody>
      </p:sp>
      <p:sp>
        <p:nvSpPr>
          <p:cNvPr id="19" name="Backend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1" name="Image 3" descr="Backe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Backend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FastAPI, Pydantic, PyJWT, bcrypt, uvicorn, SQLite</a:t>
            </a:r>
            <a:endParaRPr lang="en-US" sz="1500" dirty="0"/>
          </a:p>
        </p:txBody>
      </p:sp>
      <p:sp>
        <p:nvSpPr>
          <p:cNvPr id="24" name="Frontend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26" name="Image 4" descr="Fronte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Exports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Markdown, SARIF 2.1.0, JSON, CSV, patched files</a:t>
            </a:r>
            <a:endParaRPr lang="en-US" sz="1500" dirty="0"/>
          </a:p>
        </p:txBody>
      </p:sp>
      <p:sp>
        <p:nvSpPr>
          <p:cNvPr id="29" name="Storage / reports / tests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31" name="Image 5" descr="Storage / reports / tes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Testing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pytest (17 tests), API smoke test, Playwright UI flows, strict TypeScript build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79" cy="914400"/>
        </p:xfrm>
        <a:graphic>
          <a:graphicData uri="http://schemas.openxmlformats.org/drawingml/2006/table">
            <a:tbl>
              <a:tblPr/>
              <a:tblGrid>
                <a:gridCol w="5848502"/>
                <a:gridCol w="1649577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Diff, zip, folder and GitHub PR ingestion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 + taint rule engine, 43 rule entries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14-metric model, 9 classifiers, type classifier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Seven agents, verified patches, verdict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Exports: Markdown, SARIF, JSON, 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Codebase assistant and Model 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web app with sign-in, history, dark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on real reviewed pull requests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rained networks tile"/>
          <p:cNvSpPr/>
          <p:nvPr/>
        </p:nvSpPr>
        <p:spPr>
          <a:xfrm>
            <a:off x="8321040" y="13716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03920" y="15087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22503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API route handlers</a:t>
            </a:r>
            <a:endParaRPr lang="en-US" sz="1300" dirty="0"/>
          </a:p>
        </p:txBody>
      </p:sp>
      <p:sp>
        <p:nvSpPr>
          <p:cNvPr id="8" name="served model profiles tile"/>
          <p:cNvSpPr/>
          <p:nvPr/>
        </p:nvSpPr>
        <p:spPr>
          <a:xfrm>
            <a:off x="8321040" y="29718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03920" y="31089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38505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rule knowledge-base entries</a:t>
            </a:r>
            <a:endParaRPr lang="en-US" sz="1300" dirty="0"/>
          </a:p>
        </p:txBody>
      </p:sp>
      <p:sp>
        <p:nvSpPr>
          <p:cNvPr id="11" name="automated tests passing tile"/>
          <p:cNvSpPr/>
          <p:nvPr/>
        </p:nvSpPr>
        <p:spPr>
          <a:xfrm>
            <a:off x="8321040" y="45720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47091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17/17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54507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automated tests passing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held-out 1,500 functions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usion F1 (text only 0.644) tile"/>
          <p:cNvSpPr/>
          <p:nvPr/>
        </p:nvSpPr>
        <p:spPr>
          <a:xfrm>
            <a:off x="8412480" y="13716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95360" y="15087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0.851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8595360" y="22503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XGBoost F1 (Random Forest 0.826)</a:t>
            </a:r>
            <a:endParaRPr lang="en-US" sz="1300" dirty="0"/>
          </a:p>
        </p:txBody>
      </p:sp>
      <p:sp>
        <p:nvSpPr>
          <p:cNvPr id="8" name="fusion ROC-AUC (text 0.771) tile"/>
          <p:cNvSpPr/>
          <p:nvPr/>
        </p:nvSpPr>
        <p:spPr>
          <a:xfrm>
            <a:off x="8412480" y="29718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95360" y="31089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0.891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38505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F1 when rules or ML flag (rules 0.800, ML 0.851)</a:t>
            </a:r>
            <a:endParaRPr lang="en-US" sz="1300" dirty="0"/>
          </a:p>
        </p:txBody>
      </p:sp>
      <p:sp>
        <p:nvSpPr>
          <p:cNvPr id="11" name="fusion accuracy tile"/>
          <p:cNvSpPr/>
          <p:nvPr/>
        </p:nvSpPr>
        <p:spPr>
          <a:xfrm>
            <a:off x="8412480" y="45720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95360" y="47091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0.375 s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54507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median full review of the demo PR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52959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Review result: BLOCK, risk 99, 15 security findings, 7 verified fixes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6172200" y="52959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Codebase assistant: where is authentication implemented?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Review verdict screenshot" descr="Review verdict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712" y="1219200"/>
            <a:ext cx="5076825" cy="3905250"/>
          </a:xfrm>
          <a:prstGeom prst="rect">
            <a:avLst/>
          </a:prstGeom>
        </p:spPr>
      </p:pic>
      <p:pic>
        <p:nvPicPr>
          <p:cNvPr id="27" name="Codebase assistant screenshot" descr="Codebase assistant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2675" y="1319578"/>
            <a:ext cx="5486400" cy="37044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observations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768096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Engine: rules, taint, autofix, metrics, diff, ML, SMOTE-Tomek, codebase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API: auth, validation, review job, SARIF, codebase, 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API smoke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UI flows (Playwright)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build (tsc + vite)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035040" y="141732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17 pytest tests pass in about 10 s; 16 of 16 API checks and 22 of 22 browser flows pass with zero console errors.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The demo pull request gets risk 99 and BLOCK with 17 findings; 7 of 7 patches verified by re-scan.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Rule engine F1 0.800, ML model 0.851, either 0.891 on 1,500 held-out functions.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Across five corpus seeds XGBoost F1 averages 0.842 (sd 0.006): the headline 0.851 is the best seed.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Not done: real-PR precision, comparison with other scanners, load and user testing.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4" name="Small multimodal dataset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Small multimodal data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No labelled real data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The base paper's C/C++ data is not available; a generated Python corpus with hard negatives and label noise is used and stated plainly.</a:t>
            </a:r>
            <a:endParaRPr lang="en-US" sz="1350" dirty="0"/>
          </a:p>
        </p:txBody>
      </p:sp>
      <p:sp>
        <p:nvSpPr>
          <p:cNvPr id="9" name="Hyperparameters unreadable in the paper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1" name="Image 1" descr="Hyperparameters unreadable in the pap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Rare vulnerable class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Only 8.4% of functions are vulnerable; SMOTE-Tomek and a feature sweep were applied, and the ablation shows what each step buys.</a:t>
            </a:r>
            <a:endParaRPr lang="en-US" sz="1400" dirty="0"/>
          </a:p>
        </p:txBody>
      </p:sp>
      <p:sp>
        <p:nvSpPr>
          <p:cNvPr id="14" name="Format shortcut in GenImage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6" name="Image 2" descr="Format shortcut in GenI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Partial code in a diff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Hunks are padded to their line offsets; whole-file fixes exist only when the full file is given.</a:t>
            </a:r>
            <a:endParaRPr lang="en-US" sz="1400" dirty="0"/>
          </a:p>
        </p:txBody>
      </p:sp>
      <p:sp>
        <p:nvSpPr>
          <p:cNvPr id="19" name="Unsafe links (SSRF risk)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1" name="Image 3" descr="Unsafe links (SSRF risk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Fixes that do not fix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Each patch is applied to a copy and re-scanned before it is shown.</a:t>
            </a:r>
            <a:endParaRPr lang="en-US" sz="1400" dirty="0"/>
          </a:p>
        </p:txBody>
      </p:sp>
      <p:sp>
        <p:nvSpPr>
          <p:cNvPr id="24" name="Webcam privacy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26" name="Image 4" descr="Webcam privac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Warning overload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Findings carry confidence, severity and an in-diff flag so changed lines drive the verdict.</a:t>
            </a:r>
            <a:endParaRPr lang="en-US" sz="1400" dirty="0"/>
          </a:p>
        </p:txBody>
      </p:sp>
      <p:sp>
        <p:nvSpPr>
          <p:cNvPr id="29" name="TensorFlow start-up time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31" name="Image 5" descr="TensorFlow start-up tim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Long reviews in a web page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Reviews run as background jobs; the UI polls and shows each agent's message as it finishes.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Real-PR evaluation</a:t>
            </a:r>
            <a:endParaRPr lang="en-US" sz="1600" dirty="0"/>
          </a:p>
        </p:txBody>
      </p:sp>
      <p:sp>
        <p:nvSpPr>
          <p:cNvPr id="6" name="arrow"/>
          <p:cNvSpPr/>
          <p:nvPr/>
        </p:nvSpPr>
        <p:spPr>
          <a:xfrm>
            <a:off x="3127934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3402254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5406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 acceptance testing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5981548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flow step 3"/>
          <p:cNvSpPr/>
          <p:nvPr/>
        </p:nvSpPr>
        <p:spPr>
          <a:xfrm>
            <a:off x="6255868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29020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report</a:t>
            </a:r>
            <a:endParaRPr lang="en-US" sz="1600" dirty="0"/>
          </a:p>
        </p:txBody>
      </p:sp>
      <p:sp>
        <p:nvSpPr>
          <p:cNvPr id="12" name="arrow"/>
          <p:cNvSpPr/>
          <p:nvPr/>
        </p:nvSpPr>
        <p:spPr>
          <a:xfrm>
            <a:off x="8835161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flow step 4"/>
          <p:cNvSpPr/>
          <p:nvPr/>
        </p:nvSpPr>
        <p:spPr>
          <a:xfrm>
            <a:off x="9109481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82633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presentation and demo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56616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Collect manually reviewed pull requests and measure the precision of each agent against them (objective 6, not yet measured).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Try the optional LLM explanation mode with a key and compare it with the offline text.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Compare the findings with another open-source scanner on the same code.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Document every diagram, test and result in the report.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dden Risk">
  <a:themeElements>
    <a:clrScheme name="Hidden Risk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Hidden 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AutoSecAI: Review 2</dc:title>
  <dc:subject>AutoSecAI: Autonomous Pull Request Analysis for Security, Vulnerability Detection, and Code Quality using Multi-Agent LLMs</dc:subject>
  <dc:creator>Batch A11</dc:creator>
  <cp:lastModifiedBy>Batch A11</cp:lastModifiedBy>
  <cp:revision>1</cp:revision>
  <dcterms:created xsi:type="dcterms:W3CDTF">2026-10-13T12:40:05Z</dcterms:created>
  <dcterms:modified xsi:type="dcterms:W3CDTF">2026-10-13T12:40:05Z</dcterms:modified>
  <cp:keywords>pull request review, vulnerability detection, source-code metrics, multi-agent, code quality</cp:keywords>
  <cp:category/>
  <dc:description/>
  <cp:contentStatus/>
</cp:coreProperties>
</file>