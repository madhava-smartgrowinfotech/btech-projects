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media/image-1-1.jpg" ContentType="image/jpg"/>
  <Override PartName="/ppt/media/image-10-1.jpg" ContentType="image/jpg"/>
  <Override PartName="/ppt/media/image-11-1.jpg" ContentType="image/jpg"/>
  <Override PartName="/ppt/media/image-12-1.jpg" ContentType="image/jpg"/>
  <Override PartName="/ppt/media/image-13-1.jpg" ContentType="image/jpg"/>
  <Override PartName="/ppt/media/image-14-1.jpg" ContentType="image/jpg"/>
  <Override PartName="/ppt/media/image-15-1.jpg" ContentType="image/jpg"/>
  <Override PartName="/ppt/media/image-16-1.jpg" ContentType="image/jpg"/>
  <Override PartName="/ppt/media/image-17-1.jpg" ContentType="image/jpg"/>
  <Override PartName="/ppt/media/image-18-1.jpg" ContentType="image/jpg"/>
  <Override PartName="/ppt/media/image-19-1.jpg" ContentType="image/jpg"/>
  <Override PartName="/ppt/media/image-2-1.jpg" ContentType="image/jpg"/>
  <Override PartName="/ppt/media/image-20-1.jpg" ContentType="image/jpg"/>
  <Override PartName="/ppt/media/image-21-1.jpg" ContentType="image/jpg"/>
  <Override PartName="/ppt/media/image-22-1.jpg" ContentType="image/jpg"/>
  <Override PartName="/ppt/media/image-23-1.jpg" ContentType="image/jpg"/>
  <Override PartName="/ppt/media/image-24-1.jpg" ContentType="image/jpg"/>
  <Override PartName="/ppt/media/image-25-1.jpg" ContentType="image/jpg"/>
  <Override PartName="/ppt/media/image-26-1.jpg" ContentType="image/jpg"/>
  <Override PartName="/ppt/media/image-27-1.jpg" ContentType="image/jpg"/>
  <Override PartName="/ppt/media/image-28-1.jpg" ContentType="image/jpg"/>
  <Override PartName="/ppt/media/image-3-1.jpg" ContentType="image/jpg"/>
  <Override PartName="/ppt/media/image-4-1.jpg" ContentType="image/jpg"/>
  <Override PartName="/ppt/media/image-5-1.jpg" ContentType="image/jpg"/>
  <Override PartName="/ppt/media/image-6-1.jpg" ContentType="image/jpg"/>
  <Override PartName="/ppt/media/image-7-1.jpg" ContentType="image/jpg"/>
  <Override PartName="/ppt/media/image-8-1.jpg" ContentType="image/jpg"/>
  <Override PartName="/ppt/media/image-9-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Chunks per subject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Sheet1!$A$2:$A$7</c:f>
              <c:strCache>
                <c:ptCount val="6"/>
                <c:pt idx="0">
                  <c:v>Data Structures</c:v>
                </c:pt>
                <c:pt idx="1">
                  <c:v>Operating</c:v>
                </c:pt>
                <c:pt idx="2">
                  <c:v>Database</c:v>
                </c:pt>
                <c:pt idx="3">
                  <c:v>Networks</c:v>
                </c:pt>
                <c:pt idx="4">
                  <c:v>Machine Learning</c:v>
                </c:pt>
                <c:pt idx="5">
                  <c:v>Algorithms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101</c:v>
                </c:pt>
                <c:pt idx="1">
                  <c:v>112</c:v>
                </c:pt>
                <c:pt idx="2">
                  <c:v>104</c:v>
                </c:pt>
                <c:pt idx="3">
                  <c:v>118</c:v>
                </c:pt>
                <c:pt idx="4">
                  <c:v>123</c:v>
                </c:pt>
                <c:pt idx="5">
                  <c:v>114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CE6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40.0"/>
          <c:min val="0.0"/>
        </c:scaling>
        <c:delete val="0"/>
        <c:axPos val="l"/>
        <c:majorGridlines>
          <c:spPr>
            <a:ln>
              <a:solidFill>
                <a:srgbClr val="D5DCE6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Introduce the team and the project: a platform that analyses a student's own study documents, answers questions from them with sources, and adapts a study roadmap to quiz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agenda follows the report: problem, design, method, measured results, comparison, screens, conclusion.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Read the first two bullets, then the headline numbers with their protocol, then the honest gaps.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base paper is SAC-RAG. We adopt its pipeline idea (retrieve, compress, answer) and its question taxonomy for analysis; the adaptive routing and LLM compression are not implemented, which the report states.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Representative work. Only facts read from the PDFs we hold are stated; entries 4 to 6 are described as the base paper cites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batch gap is the first bullet. The last bullet is what this report adds: measurement.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statement comes from the batch problem document; input, output and need summarise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six objectives of the batch proposal. The conclusion states for each whether it was met; objectives 2 and 4 were only partly met.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proposed system in one row of boxes, then four properties that matter.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Interfaces on the left, one shared core in the middle, storage on the right; the Anthropic API is optional.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workflow, and the way it was measured. The reference retrievers exist only in the experiments; the product ships TF-IDF.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Dataset and parameters in one view. The platform has no training set; the corpus exists to measure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core algorithm of utils/rag_engine.py. The missing threshold is analysed on slide 19.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Sequence of one Ask request, and the use cases of the single user role.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Five tables; users own documents, queries and quiz results; documents own chunks.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Highlights: reuse of the original code, security measures that tests check, and the size of the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headline retrieval table. Stress that the shipped retriever is TF-IDF, that BM25 and the hybrid are better, and that the interval is wide.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equivalent of a confusion matrix for retrieval: where the first correct chunk lands. Five questions of 72 have no hit in the top 10 for the shipped retriever.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Three parameter sweeps. Larger chunks score higher because there are fewer of them and each carries more words, so compare with care; 180/30 is the shipped setting.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84 pytest tests plus the 24-check smoke test. Latencies are medians of 30 calls. The limits of the testing are stated on the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State plainly that the datasets and conditions differ. No superiority is claimed.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Real screenshots of the running application with the demo corpus uploaded.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answer is extractive, so it quotes sentences; the sources panel shows where each came from.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Quiz answers for these screens were scripted to simulate different mastery per subject; the application, documents and numbers are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 explicit about which objectives were met and which were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Concrete next steps, ordered by the gaps measured in this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Selected references; the complete numbered list, including the batch-survey titles, is in the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Relationship Id="rId4" Type="http://schemas.openxmlformats.org/officeDocument/2006/relationships/chart" Target="../charts/char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Relationship Id="rId5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jp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image" Target="../media/image9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image" Target="../media/image11.png"/><Relationship Id="rId3" Type="http://schemas.openxmlformats.org/officeDocument/2006/relationships/image" Target="../media/image10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image" Target="../media/image13.png"/><Relationship Id="rId3" Type="http://schemas.openxmlformats.org/officeDocument/2006/relationships/image" Target="../media/image1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image" Target="../media/image15.png"/><Relationship Id="rId3" Type="http://schemas.openxmlformats.org/officeDocument/2006/relationships/image" Target="../media/image14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48640" y="1373177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Learning Intelligence Platform Using Educational Document Analysis and Personalized Learning Analytics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48640" y="2379017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  ·  Adaptive Learning Intelligence Platform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31520" y="3110537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Details : Batch A1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1520" y="3522017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23K91A0501   A DHANUSH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23K91A0508   ALE VIJAYALAXMI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23K91A0549   BURRI MALLIKARJUN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23K91A0517   ATRAGADA NAGATRIMURTHULU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675120" y="3110537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Esteemed Guidance of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Raghavendra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[DESIGNATION], Department of CSE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  ·  TKR College of Engineering &amp; Technology  ·  Academic Year [ACADEMIC YEAR]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738937"/>
            <a:ext cx="11064240" cy="4524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Paper &amp; Literature Survey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Gap, Problem Statement &amp; Objectives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 &amp; Architecture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Methodology, Dataset &amp; Parameters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Workflow, Interaction &amp; Database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Highlights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Results, Question Types &amp; Parameter Analysis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Testing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the Base Paper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Screens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Conclusion, Future Scope &amp; References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11155680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900"/>
              </a:spcAft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Students keep syllabi, notes and question banks in scattered files; portals store them but do not read them, and general chatbots answer from the internet, not from the student's own curriculum.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The Adaptive Learning Intelligence Platform ingests PDF, DOCX and TXT material, detects subjects, units and topics, answers questions from the uploaded text with cited source passages (TF-IDF retrieval, extractive answer, optional Claude), generates fill-in-the-blank quizzes and ranks topics by quiz accuracy in a study roadmap.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Measured on a 672-chunk, six-subject notes corpus with 72 questions: the shipped retriever finds the evidence in the top 4 chunks for </a:t>
            </a:r>
            <a:r>
              <a:rPr sz="17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79.2%</a:t>
            </a: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of questions (Hit@4); BM25 + dense retrieval reaches 88.9%. Sentence selection removes 87.5% of the words but lowers answer-key recall from 0.861 to 0.667.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84 automated tests pass; an ask request takes 30 ms (median) on the local machine.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Gaps stated plainly: no learned embeddings, no SAC-RAG question-type routing or LLM compression, no relevance threshold, Claude mode not measured.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Paper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D. Zhang, H. Yu, J. Huo and M. Su, "SAC-RAG: Semantic adaptive context compression for retrieval-augmented generation," IEEE Access, vol. 14, pp. 117406-117418, 2026, doi: 10.1109/ACCESS.2026.3718025. [1]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2423160"/>
          <a:ext cx="11155680" cy="395020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554480"/>
                <a:gridCol w="4937760"/>
                <a:gridCol w="4663440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Aspect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SAC-RAG [1] (base paper)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This project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Problem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Standard RAG uses one retrieval strategy for all questions and feeds redundant chunks to the generator (high token cost) [1]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Students cannot search or be tutored from their own notes; answers must come from the uploaded files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Method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LLM classifies the question (fact / definition / reasoning), type-specific retrieval (BM25 + dense + rerank, dense only, or sub-question decomposition), LLM context compression, generation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TF-IDF retrieval over the user's chunks, top 4; extractive sentence selection; optional Claude generation; quiz and roadmap layers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Evaluation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HotpotQA, 2WikiMultiHopQA, MuSiQue, 1,000 questions each; EM, F1, Recall@10, tokens; gpt-5-mini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72 questions over 672 chunks; Hit@k, MRR, answer-key recall, words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Headline result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Tokens reduced 38-58% for a 1-2 point EM drop; HotpotQA Recall@10 0.787 to 0.880 with adaptive retrieval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Words reduced 87.5%; Hit@4 0.792 (shipped), 0.889 (BM25 + dense)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Adopted / not adopted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Idea of retrieve, compress, then answer; question types used only to analyse results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Question-type routing, LLM compression and reranking are not implemented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91640"/>
          <a:ext cx="11155680" cy="405993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920240"/>
                <a:gridCol w="2926080"/>
                <a:gridCol w="1828800"/>
                <a:gridCol w="2560320"/>
                <a:gridCol w="1920240"/>
              </a:tblGrid>
              <a:tr h="676656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Author / Year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Methodology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Data / Setting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Key Results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Limitations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Zhang et al. 2026 [1]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SAC-RAG: question-type-adaptive retrieval + LLM compression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HotpotQA, 2Wiki, MuSiQue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-38 to -58% tokens for 1-2 pt EM; question classifier 92.0% accurate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Extra LLM calls: about 27.8 s vs 9.6 s per question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Li et al. 2025 [2] TutorLLM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Knowledge tracing (MLFBK) + RAG + scraper with an LLM for personalised recommendations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Learner interaction data, user study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+10% user satisfaction, +5% quiz scores vs general LLMs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Needs interaction logs; not grounded on a student's own files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Vatankhah Barenji et al. 2026 [3]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Agentic assessment RAG over rubrics, exemplar essays and feedback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701 student essays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94-99% agreement with human evaluators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Grading focus; originality and dialogue limits noted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Jeong et al. 2024 [11] Adaptive-RAG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Routes questions by complexity: no, single or multi-step retrieval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Open-domain QA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Better accuracy-cost balance (as cited in [1])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No context compression [1]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Jiang et al. 2023 [10] LLMLingua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Small-model prompt compression of retrieved context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Long-prompt benchmarks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Fewer tokens at fixed task quality (as cited in [1])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Fixed retrieval pipeline [1]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98932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Rows 4-5 are described as reported in [1]; their own result tables were not re-read. Lost in the middle [12] motivates compression. Four further batch-survey titles could not be verified and are listed as unverified in the report.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1115568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1200"/>
              </a:spcAft>
              <a:buChar char="•"/>
            </a:pPr>
            <a:r>
              <a:rPr sz="19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Own curriculum:</a:t>
            </a:r>
            <a:r>
              <a:rPr sz="1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RAG work targets general question answering and context compression; none of the surveyed systems combines document ingestion, syllabus-grounded tutoring and progress analytics for a student's own files [1]-[3].</a:t>
            </a:r>
          </a:p>
          <a:p>
            <a:pPr algn="l" marL="256032" indent="-201168">
              <a:spcAft>
                <a:spcPts val="1200"/>
              </a:spcAft>
              <a:buChar char="•"/>
            </a:pPr>
            <a:r>
              <a:rPr sz="19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Structure:</a:t>
            </a:r>
            <a:r>
              <a:rPr sz="1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documents are stored but their subjects, units and topics are not extracted.</a:t>
            </a:r>
          </a:p>
          <a:p>
            <a:pPr algn="l" marL="256032" indent="-201168">
              <a:spcAft>
                <a:spcPts val="1200"/>
              </a:spcAft>
              <a:buChar char="•"/>
            </a:pPr>
            <a:r>
              <a:rPr sz="19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Adaptation:</a:t>
            </a:r>
            <a:r>
              <a:rPr sz="1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recommendations ignore the individual learner's measured performance.</a:t>
            </a:r>
          </a:p>
          <a:p>
            <a:pPr algn="l" marL="256032" indent="-201168">
              <a:spcAft>
                <a:spcPts val="1200"/>
              </a:spcAft>
              <a:buChar char="•"/>
            </a:pPr>
            <a:r>
              <a:rPr sz="19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Grounding:</a:t>
            </a:r>
            <a:r>
              <a:rPr sz="1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chatbots answer from public data and do not show which passage supports an answer.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9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Evidence:</a:t>
            </a:r>
            <a:r>
              <a:rPr sz="1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educational RAG systems are rarely measured for retrieval accuracy, abstention and compression loss on notes; we measure them.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11155680" cy="1828800"/>
          </a:xfrm>
          <a:prstGeom prst="roundRect">
            <a:avLst>
              <a:gd name="adj" fmla="val 4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10607040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Learning platforms store academic files but never extract the units, topics or objectives inside them; recommendations are identical for every learner; chatbots answer from public data rather than the prescribed syllabus; and students have no single view of what is studied, what remains and how well each topic is understood.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931920"/>
            <a:ext cx="3566160" cy="19202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40233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480560"/>
            <a:ext cx="3200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Syllabi, notes, question banks (PDF, DOCX, TXT), questions in plain language, quiz answers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59" y="3931920"/>
            <a:ext cx="3566160" cy="19202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34840" y="40233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4480560"/>
            <a:ext cx="3200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Detected topics, cited answers, quizzes, a priority-ranked roadmap and a dashboard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3931920"/>
            <a:ext cx="3566160" cy="19202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183879" y="40233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Need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4480560"/>
            <a:ext cx="3200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 platform that ingests the student's own documents, answers strictly from them, and adapts the plan to measured topic mastery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11155680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1.  Build a document ingestion module that parses syllabi, lecture notes and question banks and extracts subjects, units and topics.</a:t>
            </a:r>
          </a:p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2.  Store the extracted content as vector embeddings so the material can be searched semantically rather than by keyword.</a:t>
            </a:r>
          </a:p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3.  Implement a RAG question-answering engine that answers strictly from the uploaded material and cites the source.</a:t>
            </a:r>
          </a:p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4.  Apply semantic context compression so retrieval stays accurate without exceeding the model context window.</a:t>
            </a:r>
          </a:p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5.  Generate personalised study roadmaps and revision schedules from topic coverage and performance.</a:t>
            </a:r>
          </a:p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6.  Present curriculum coverage, study velocity and engagement metrics on an interactive dashboard.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1975103" cy="100584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Upload PDF / DOCX / TXT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537460" y="221284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798063" y="1828800"/>
            <a:ext cx="1975103" cy="1005840"/>
          </a:xfrm>
          <a:prstGeom prst="roundRect">
            <a:avLst>
              <a:gd name="adj" fmla="val 8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Chunks + topics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832603" y="221284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93207" y="1828800"/>
            <a:ext cx="1975103" cy="1005840"/>
          </a:xfrm>
          <a:prstGeom prst="roundRect">
            <a:avLst>
              <a:gd name="adj" fmla="val 8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TF-IDF index per user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127747" y="221284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88352" y="1828800"/>
            <a:ext cx="1975103" cy="1005840"/>
          </a:xfrm>
          <a:prstGeom prst="roundRect">
            <a:avLst>
              <a:gd name="adj" fmla="val 8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Cited answer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422892" y="221284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683496" y="1828800"/>
            <a:ext cx="1975103" cy="1005840"/>
          </a:xfrm>
          <a:prstGeom prst="roundRect">
            <a:avLst>
              <a:gd name="adj" fmla="val 8000"/>
            </a:avLst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Quiz, roadmap, 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200400"/>
            <a:ext cx="1115568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1000"/>
              </a:spcAft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Text is extracted, cleaned and cut into 180-word chunks with 30 words of overlap; subject and unit headings and TF-IDF keywords become the topics (at most 12).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 question is matched to the user's chunks by cosine similarity; the top 4 passages are shown as sources and the most relevant sentences form the answer. With an API key Claude can write the answer from the same context.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Quizzes are fill-in-the-blank questions made from the document's key terms; each answer updates a per-topic accuracy that drives High / Medium / Low priorities.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 FastAPI service (14 endpoints) and a React interface sit over the original Flask project code.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pic>
        <p:nvPicPr>
          <p:cNvPr id="7" name="Picture 6" descr="01_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264" y="1691640"/>
            <a:ext cx="6478831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321040" y="1828800"/>
            <a:ext cx="3383280" cy="429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8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Browser: React 19 app (port 5301); original Flask pages (5000)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Service: FastAPI (8301), 14 JSON endpoints, signed session cookie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Core: text extraction, per-user TF-IDF engine, quiz generator, roadmap rules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Storage: SQLite (5 tables) and the uploaded files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pic>
        <p:nvPicPr>
          <p:cNvPr id="7" name="Picture 6" descr="02_high_level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642" y="1691640"/>
            <a:ext cx="6923434" cy="4480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0" y="1783080"/>
            <a:ext cx="393192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9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One chunking and indexing path for every upload; the index of a user is rebuilt after each upload or delete.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Evaluation corpus: 6 subject files built from 36 Wikipedia articles [18], 100,444 words.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72 hand-written questions (fact, definition, reasoning [1]); a hit means a retrieved chunk contains the gold evidence sentence.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Reference retrievers: BM25 [6], LSA [8], dense BGE-small [9] and hybrids, measured on the same chunks.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Dataset, Parameters &amp; Model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02920" y="1737360"/>
            <a:ext cx="73152" cy="10058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179222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100,444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2074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words in 6 subject files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88036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502920" y="2880360"/>
            <a:ext cx="73152" cy="100584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85800" y="293522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672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46374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chunks of about 180 words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02336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02920" y="4023360"/>
            <a:ext cx="73152" cy="100584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85800" y="407822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72 + 12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60674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in-scope + off-topic questions</a:t>
            </a:r>
          </a:p>
        </p:txBody>
      </p:sp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3383280" y="1691640"/>
          <a:ext cx="4389120" cy="301752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7955279" y="1737360"/>
          <a:ext cx="3749040" cy="28803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371600"/>
                <a:gridCol w="2377440"/>
              </a:tblGrid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Component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Setting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Chunking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180 words, overlap 30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Retriever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TF-IDF 1-2 grams, cosine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Top 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4 chunks (score &gt; 0)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Answer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top 4 sentences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Quiz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5 cloze questions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Roadmap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&lt;50 High, &lt;80 Medium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502920" y="5212080"/>
            <a:ext cx="11155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There is no model training: the platform uses TF-IDF vectors fitted on each user's chunks [7], scikit-learn 1.5.1 [16]. Corpus: 36 English Wikipedia articles at pinned revisions (CC BY-SA 4.0) [18], 6 per subject; all 72 questions are test questions; every gold evidence sentence lies inside one chunk (72/72).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Workflow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pic>
        <p:nvPicPr>
          <p:cNvPr id="7" name="Picture 6" descr="12_flowchart_r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498" y="1645920"/>
            <a:ext cx="3836842" cy="4663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94960" y="1828800"/>
            <a:ext cx="630936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11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Empty question: rejected (HTTP 400); otherwise the user's cached index is used, or built from SQLite.</a:t>
            </a:r>
          </a:p>
          <a:p>
            <a:pPr algn="l" marL="256032" indent="-201168">
              <a:spcAft>
                <a:spcPts val="11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Retrieve: cosine similarity with every chunk; keep the top 4 with a score above 0.</a:t>
            </a:r>
          </a:p>
          <a:p>
            <a:pPr algn="l" marL="256032" indent="-201168">
              <a:spcAft>
                <a:spcPts val="11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Answer: if an API key is set, Claude answers from the chunks only; any failure falls back to the extractive answer.</a:t>
            </a:r>
          </a:p>
          <a:p>
            <a:pPr algn="l" marL="256032" indent="-201168">
              <a:spcAft>
                <a:spcPts val="11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Extractive answer: rank the sentences of the retrieved chunks against the question and join the top 4.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No chunk with a positive score: 'No relevant content was found'. There is no relevance threshold above zero.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– System Interaction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pic>
        <p:nvPicPr>
          <p:cNvPr id="7" name="Picture 6" descr="09_sequence_a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645920"/>
            <a:ext cx="4663440" cy="4663440"/>
          </a:xfrm>
          <a:prstGeom prst="rect">
            <a:avLst/>
          </a:prstGeom>
        </p:spPr>
      </p:pic>
      <p:pic>
        <p:nvPicPr>
          <p:cNvPr id="8" name="Picture 7" descr="10_use_case_diagra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1797883"/>
            <a:ext cx="5212080" cy="435951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pic>
        <p:nvPicPr>
          <p:cNvPr id="7" name="Picture 6" descr="11_e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870" y="1645920"/>
            <a:ext cx="5344899" cy="429768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132320" y="1737360"/>
          <a:ext cx="4572000" cy="27432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554480"/>
                <a:gridCol w="301752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Table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Holds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users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name, password hash, interests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documents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file, subject, topics (JSON)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chunks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180-word passages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queries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question, answer, sources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quiz_results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subject, topic, correct 0/1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132320" y="4663440"/>
            <a:ext cx="45720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SQLite with foreign keys and ON DELETE CASCADE; uploaded originals stay on disk under uploads/&lt;user id&gt;/.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Highlights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02920" y="1737360"/>
            <a:ext cx="73152" cy="10058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179222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2074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REST endpoints (+ /api/docs)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73736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337560" y="1737360"/>
            <a:ext cx="73152" cy="100584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520440" y="179222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84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32074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pytest tests, all pass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3736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1737360"/>
            <a:ext cx="73152" cy="100584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355080" y="179222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32074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React pages (light and dark)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173736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9006840" y="1737360"/>
            <a:ext cx="73152" cy="1005840"/>
          </a:xfrm>
          <a:prstGeom prst="rect">
            <a:avLst/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189720" y="179222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1,252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232074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lines of Python application code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017520"/>
            <a:ext cx="1115568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9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FastAPI layer reuses the original db.py and utils modules unchanged, so the Flask and React interfaces give the same answers; the per-user index is cached in memory.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Passwords are hashed (scrypt/pbkdf2); session cookie is HttpOnly and SameSite=Lax; file names pass secure_filename; only PDF, DOCX and TXT up to 16 MB are accepted; CORS allows only the front-end origin.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Quiz answers stay on the server until grading; every query is filtered by the logged-in user id, so users never see each other's documents.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React app: TanStack Query, Recharts, 53 TypeScript files (4,867 lines); the production build and type check succeed.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– Retrieval Quality (672 chunks, 72 questions)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91640"/>
          <a:ext cx="7178040" cy="336499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43200"/>
                <a:gridCol w="868680"/>
                <a:gridCol w="868680"/>
                <a:gridCol w="868680"/>
                <a:gridCol w="868680"/>
                <a:gridCol w="960120"/>
              </a:tblGrid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Retriever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Hit@1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Hit@3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Hit@4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Hit@10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MRR@10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TF-IDF 1-2 gram (shipped)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0.403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0.736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0.792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0.931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0.588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TF-IDF unigram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0.389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0.694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0.778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0.944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0.577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BM25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0.500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0.792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0.833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0.944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0.659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TF-IDF + LSA (200)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0.431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0.681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0.764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0.958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0.585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BM25 + LSA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0.500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0.819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0.833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0.944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0.658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Dense BGE-small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0.431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0.750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0.778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0.917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0.588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BM25 + dense BGE-small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0.556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0.833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0.889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0.958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0.709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212080"/>
            <a:ext cx="7772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Hit@k: a retrieved chunk among the top k contains the gold evidence sentence. 95% bootstrap interval of the shipped retriever: Hit@1 0.29-0.51, Hit@4 0.69-0.88. With 72 questions, gaps of a few points are within noise. Dense model: BGE-small, quantised ONNX [9], reference only.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20" y="1691640"/>
            <a:ext cx="3200400" cy="35661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8705088" y="1874520"/>
            <a:ext cx="502920" cy="502920"/>
          </a:xfrm>
          <a:prstGeom prst="ellipse">
            <a:avLst/>
          </a:prstGeom>
          <a:solidFill>
            <a:srgbClr val="2E75B6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45168" y="1847088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Reading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05088" y="2560320"/>
            <a:ext cx="2798064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475569"/>
                </a:solidFill>
              </a:rPr>
              <a:t>BM25 beats the shipped TF-IDF at Hit@1 (0.500 vs 0.403). BM25 + dense is best on every column (Hit@4 0.889). The shipped retriever is lexical, so the 'semantic search' objective is not met by the product itself.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Evidence Is Found, by Question Type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91640"/>
          <a:ext cx="8961120" cy="153619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926080"/>
                <a:gridCol w="1463040"/>
                <a:gridCol w="1463040"/>
                <a:gridCol w="1463040"/>
                <a:gridCol w="164592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Retriever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Rank 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Rank 2-4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Rank 5-10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Not in top 10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TF-IDF 1-2 gram (shipped)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29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28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BM25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36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8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BM25 + dense BGE-small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40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692640" y="1691640"/>
            <a:ext cx="210312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Rank of the first chunk that contains the evidence (counts of 72 questions).</a:t>
            </a:r>
          </a:p>
        </p:txBody>
      </p:sp>
      <p:pic>
        <p:nvPicPr>
          <p:cNvPr id="9" name="Picture 8" descr="fig_by_ty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96" y="3383280"/>
            <a:ext cx="5992407" cy="29260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98079" y="3429000"/>
            <a:ext cx="420624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700"/>
              </a:spcAft>
              <a:buChar char="•"/>
            </a:pPr>
            <a:r>
              <a:rPr sz="125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Shipped Hit@4: fact 0.833, definition 0.833, reasoning 0.708 (24 questions each).</a:t>
            </a:r>
          </a:p>
          <a:p>
            <a:pPr algn="l" marL="256032" indent="-201168">
              <a:spcAft>
                <a:spcPts val="700"/>
              </a:spcAft>
              <a:buChar char="•"/>
            </a:pPr>
            <a:r>
              <a:rPr sz="125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Hit@1 is low for definitions (0.292): many chunks mention the term, the defining one is not first.</a:t>
            </a:r>
          </a:p>
          <a:p>
            <a:pPr algn="l" marL="256032" indent="-201168">
              <a:spcAft>
                <a:spcPts val="700"/>
              </a:spcAft>
              <a:buChar char="•"/>
            </a:pPr>
            <a:r>
              <a:rPr sz="125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BM25 + dense lifts definition Hit@4 to 0.875; BM25 gives fact Hit@4 0.958.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25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Question types are the three of the base paper [1], assigned from the wording.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Analysis: Refusal Threshold, Compression, Chunk Size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pic>
        <p:nvPicPr>
          <p:cNvPr id="7" name="Picture 6" descr="fig_absten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10578"/>
            <a:ext cx="5577840" cy="2613883"/>
          </a:xfrm>
          <a:prstGeom prst="rect">
            <a:avLst/>
          </a:prstGeom>
        </p:spPr>
      </p:pic>
      <p:pic>
        <p:nvPicPr>
          <p:cNvPr id="8" name="Picture 7" descr="fig_comp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3670" y="1645920"/>
            <a:ext cx="5006340" cy="2743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4434840"/>
            <a:ext cx="5577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Shipped engine answered 9 of 12 off-topic questions. A threshold of 0.15 on the top-1 score would answer 96% of in-scope and refuse 83% of off-topic questions (not implemented).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4434840"/>
            <a:ext cx="5394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At k = 4: 87.5% fewer words, answer-key recall 0.861 in the chunks vs 0.667 in the extractive answer.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4983480"/>
          <a:ext cx="11064240" cy="12344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77440"/>
                <a:gridCol w="1737360"/>
                <a:gridCol w="1737360"/>
                <a:gridCol w="1737360"/>
                <a:gridCol w="1737360"/>
                <a:gridCol w="1737360"/>
              </a:tblGrid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Chunk size / overlap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60/15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100/20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180/30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300/50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450/75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Chunks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2,233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1,257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672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404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269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Hit@1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0.306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0.417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0.403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0.556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0.486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Hit@4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0.611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0.708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0.792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0.847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0.944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MRR@10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0.446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0.568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0.588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0.688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0.676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Testing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2651760" cy="105156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02920" y="1737360"/>
            <a:ext cx="73152" cy="10515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1792224"/>
            <a:ext cx="2377440" cy="5783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30 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47264"/>
            <a:ext cx="2377440" cy="420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POST /api/ask, median (p95 35)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737360"/>
            <a:ext cx="2651760" cy="105156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337560" y="1737360"/>
            <a:ext cx="73152" cy="105156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520440" y="1792224"/>
            <a:ext cx="2377440" cy="5783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23 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347264"/>
            <a:ext cx="2377440" cy="420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quiz generate, median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37360"/>
            <a:ext cx="2651760" cy="105156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1737360"/>
            <a:ext cx="73152" cy="105156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355080" y="1792224"/>
            <a:ext cx="2377440" cy="5783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128 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347264"/>
            <a:ext cx="2377440" cy="420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login (password hashing), median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1737360"/>
            <a:ext cx="2651760" cy="105156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9006840" y="1737360"/>
            <a:ext cx="73152" cy="1051560"/>
          </a:xfrm>
          <a:prstGeom prst="rect">
            <a:avLst/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189720" y="1792224"/>
            <a:ext cx="2377440" cy="5783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4.8 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2347264"/>
            <a:ext cx="2377440" cy="420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retrieve + answer, 672 chunks, in process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502920" y="3017520"/>
          <a:ext cx="11155680" cy="263347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77440"/>
                <a:gridCol w="6583680"/>
                <a:gridCol w="2194560"/>
              </a:tblGrid>
              <a:tr h="438912"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Test layer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What it covers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Result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API and roadmap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registration, login, uploads, delete, ask, quiz, roadmap thresholds, dashboard, isolation between users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45 / 45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Text extraction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TXT, DOCX, PDF, scans, corrupt files, chunking, hints, topics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15 / 15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Security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401s, hashing, injection strings, path traversal, cookie flags, CORS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11 / 11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Engine and quiz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retrieval, extractive answer, LLM fallback, quiz structure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13 / 13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Smoke test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running server, every endpoint the React app uses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24 / 24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502920" y="5760720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Total 84 tests, 0 failures, 15 s. 127.0.0.1, one user, CPU only. quiz submit showed 1-2 s outliers on 1-2 of 30 calls (SQLite commit, cause not isolated). Not tested: Claude mode (no API key), concurrent users, OCR, real syllabi, a user study.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the Base Paper (context only – data differ)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91640"/>
          <a:ext cx="11155680" cy="409651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828800"/>
                <a:gridCol w="4572000"/>
                <a:gridCol w="4754880"/>
              </a:tblGrid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Aspect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SAC-RAG [1]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This project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Task and data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Multi-hop QA: HotpotQA, 2Wiki, MuSiQue, 1,000 questions each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Notes QA: 36 Wikipedia articles, 672 chunks, 72 questions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Retrieval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Type-adaptive: BM25 + dense (1,536-d) + BGE rerank; dense only; decomposition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TF-IDF cosine, no routing; BM25 + dense measured as reference (Hit@4 0.889)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Compression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LLM extracts evidence snippets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Extractive sentence selection (top 4 sentences)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Generator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gpt-5-mini, temperature 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None by default; optional Claude (not measured)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Compression result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Tokens -38 to -58%, EM -1 to -2 points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Words -87.5%, answer-key recall 0.861 to 0.667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Retrieval result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HotpotQA Recall@10 0.787 to 0.880 (adaptive)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Hit@10 0.931 (shipped), 0.958 (BM25 + dense)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Latency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About 27.8 s vs 9.6 s per question (extra LLM calls)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30 ms median per ask (no LLM calls)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89788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Different datasets, models and metrics: the numbers are not comparable. Only the pattern is: compression saves most words but loses evidence, and dense plus lexical retrieval beats lexical alone.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– Upload and Documents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pic>
        <p:nvPicPr>
          <p:cNvPr id="7" name="Picture 6" descr="06_upload-d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91640"/>
            <a:ext cx="5486400" cy="342900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pic>
        <p:nvPicPr>
          <p:cNvPr id="8" name="Picture 7" descr="08_docu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91640"/>
            <a:ext cx="5486400" cy="342900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5212080"/>
            <a:ext cx="54864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Upload: 'sample_notes_data_structures.txt' processed, 12 topics detected (Subject and Unit headings first, then TF-IDF keywords), 4 chunks indexed.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5212080"/>
            <a:ext cx="54864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Documents: five uploaded files with subject, detected topics (Unit titles such as 'Deadlock (computer science)'), chunk counts 101, 104, 112, 114 and 4, quiz and delete buttons.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– Ask Your Notes and Quiz Result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pic>
        <p:nvPicPr>
          <p:cNvPr id="7" name="Picture 6" descr="09_a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91640"/>
            <a:ext cx="5486400" cy="342900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pic>
        <p:nvPicPr>
          <p:cNvPr id="8" name="Picture 7" descr="12_quiz-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91640"/>
            <a:ext cx="5486400" cy="342900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5212080"/>
            <a:ext cx="54864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Ask: 'What is a deadlock?' is answered from 02_Operating_Systems.txt passage 8 (match 0.46) with the 'Offline mode: key sentences from your notes' badge; recent questions at right.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5212080"/>
            <a:ext cx="54864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Quiz result: 80% (4 of 5) on the sample notes, with the correct term and topic for each question.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– Dashboard and Study Roadmap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pic>
        <p:nvPicPr>
          <p:cNvPr id="7" name="Picture 6" descr="07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91640"/>
            <a:ext cx="5486400" cy="342900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pic>
        <p:nvPicPr>
          <p:cNvPr id="8" name="Picture 7" descr="13_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91640"/>
            <a:ext cx="5486400" cy="342900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5212080"/>
            <a:ext cx="54864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Dashboard: 5 documents, 4 questions, 40 quiz questions; subject accuracy Data Structures 85%, Algorithms 80%, Operating Systems 60%, Database Systems 30%.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5212080"/>
            <a:ext cx="54864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Roadmap: 30 topics ranked, High 9, Medium 2, Low 19. Topics are single TF-IDF keywords, some generic ('using', 'used', 'normal').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11155680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1000"/>
              </a:spcAft>
              <a:buChar char="•"/>
            </a:pPr>
            <a:r>
              <a:rPr sz="21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Delivered:</a:t>
            </a:r>
            <a:r>
              <a:rPr sz="2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a working platform: document ingestion with topic detection, cited question answering over the user's own files, quizzes, a priority roadmap and dashboard, a FastAPI service and a React interface, with 84 passing tests.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21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Measured:</a:t>
            </a:r>
            <a:r>
              <a:rPr sz="2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the shipped TF-IDF retriever finds the evidence in the top 4 chunks for 79.2% of questions; BM25 + dense reaches 88.9%. Extractive compression removes 87.5% of the words at the cost of answer-key recall (0.861 to 0.667).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21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Objectives:</a:t>
            </a:r>
            <a:r>
              <a:rPr sz="2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3 met in extractive mode; 1, 4, 5 and 6 partly met; 2 (embeddings) not met by the shipped code.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21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Limits:</a:t>
            </a:r>
            <a:r>
              <a:rPr sz="2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no relevance threshold (9 of 12 off-topic questions still answered), only 17 of 30 reviewed quiz questions acceptable, no question-type routing, Claude mode and real-student use not measured.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11155680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1100"/>
              </a:spcAft>
              <a:buChar char="•"/>
            </a:pPr>
            <a:r>
              <a:rPr sz="2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Replace or combine the retriever with BM25 and a dense model [6], [9]; add a relevance threshold near 0.15 so off-topic questions are refused.</a:t>
            </a:r>
          </a:p>
          <a:p>
            <a:pPr algn="l" marL="256032" indent="-201168">
              <a:spcAft>
                <a:spcPts val="1100"/>
              </a:spcAft>
              <a:buChar char="•"/>
            </a:pPr>
            <a:r>
              <a:rPr sz="2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Add SAC-RAG-style question-type routing and LLM context compression [1], and measure the Claude answer mode on the same questions.</a:t>
            </a:r>
          </a:p>
          <a:p>
            <a:pPr algn="l" marL="256032" indent="-201168">
              <a:spcAft>
                <a:spcPts val="1100"/>
              </a:spcAft>
              <a:buChar char="•"/>
            </a:pPr>
            <a:r>
              <a:rPr sz="2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Recognise Roman-numeral and 'Module' headings, read DOCX tables, add OCR for scanned PDFs.</a:t>
            </a:r>
          </a:p>
          <a:p>
            <a:pPr algn="l" marL="256032" indent="-201168">
              <a:spcAft>
                <a:spcPts val="1100"/>
              </a:spcAft>
              <a:buChar char="•"/>
            </a:pPr>
            <a:r>
              <a:rPr sz="2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Better quizzes: whole-sentence questions, no leaked answers, concept-level topics instead of single keywords.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2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Knowledge tracing and spaced-repetition schedules [2], [17]; coverage and study-velocity metrics; unique file names per upload; multi-process deployment.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645920"/>
            <a:ext cx="5577840" cy="4663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[1] D. Zhang, H. Yu, J. Huo and M. Su, "SAC-RAG: Semantic adaptive context compression for retrieval-augmented generation," IEEE Access, vol. 14, pp. 117406-117418, 2026, doi: 10.1109/ACCESS.2026.3718025.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[2] Z. Li et al., "TutorLLM: Customizing learning recommendations with knowledge tracing and retrieval-augmented generation," arXiv:2502.15709, 2025.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[3] R. Vatankhah Barenji, N. Salimi and S. Khoshgoftar, "An LLM-powered assessment retrieval-augmented generation (RAG) for higher education," arXiv:2601.06141, 2026.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[4] P. Lewis et al., "Retrieval-augmented generation for knowledge-intensive NLP tasks," in Proc. NeurIPS, vol. 33, 2020, pp. 9459-9474.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[5] V. Karpukhin et al., "Dense passage retrieval for open-domain question answering," in Proc. EMNLP, 2020, pp. 6769-6781.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[6] S. Robertson and H. Zaragoza, "The probabilistic relevance framework: BM25 and beyond," Found. Trends Inf. Retr., vol. 3, no. 4, pp. 333-389, 2009.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[7] G. Salton and C. Buckley, "Term-weighting approaches in automatic text retrieval," Inf. Process. Manage., vol. 24, no. 5, pp. 513-523, 1988.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[8] S. Deerwester et al., "Indexing by latent semantic analysis," J. Amer. Soc. Inf. Sci., vol. 41, no. 6, pp. 391-407, 1990.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[9] S. Xiao et al., "C-Pack: Packaged resources to advance general Chinese embedding," arXiv:2309.07597, 2023 (BGE models).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663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[10] H. Jiang et al., "LLMLingua: Compressing prompts for accelerated inference of large language models," in Proc. EMNLP, 2023, pp. 13358-13376.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[11] S. Jeong et al., "Adaptive-RAG: Learning to adapt retrieval-augmented large language models through question complexity," in Proc. NAACL, 2024, pp. 7036-7050.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[12] N. F. Liu et al., "Lost in the middle: How language models use long contexts," Trans. Assoc. Comput. Linguistics, vol. 12, pp. 157-173, 2024.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[13] Z. Yang et al., "HotpotQA: A dataset for diverse, explainable multi-hop question answering," in Proc. EMNLP, 2018, pp. 2369-2380.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[14] A. Asai et al., "Self-RAG: Learning to retrieve, generate, and critique through self-reflection," arXiv:2310.11511, 2023.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[15] F. Xu, W. Shi and E. Choi, "RECOMP: Improving retrieval-augmented LMs with compression and selective augmentation," arXiv:2310.04408, 2023.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[16] F. Pedregosa et al., "Scikit-learn: Machine learning in Python," J. Mach. Learn. Res., vol. 12, pp. 2825-2830, 2011.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[17] A. T. Corbett and J. R. Anderson, "Knowledge tracing: Modeling the acquisition of procedural knowledge," User Model. User-Adapt. Interact., vol. 4, no. 4, pp. 253-278, 1994.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[18] Wikipedia contributors, English Wikipedia (articles pinned by revision id), text under CC BY-SA 4.0, 2026.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274320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457200" y="36576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Suggestions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  |  Final Review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daptive">
  <a:themeElements>
    <a:clrScheme name="Adaptiv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daptiv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Adaptiv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Adaptive Learning Intelligence Platform Using Educational Document Analysis and Personalized Learning Analytics - Final Review</dc:title>
  <dc:subject>Adaptive Learning Intelligence Platform</dc:subject>
  <dc:creator>Batch A1, Dept. of CSE</dc:creator>
  <cp:lastModifiedBy/>
  <cp:revision>1</cp:revision>
  <dcterms:created xsi:type="dcterms:W3CDTF">2026-10-07T05:03:03Z</dcterms:created>
  <dcterms:modified xsi:type="dcterms:W3CDTF">2026-10-07T05:03:03Z</dcterms:modified>
  <dc:description/>
  <cp:keywords>adaptive learning, retrieval-augmented generation, learning analytics, TF-IDF</cp:keywords>
</cp:coreProperties>
</file>