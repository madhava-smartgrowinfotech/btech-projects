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f0aec94-eb0f-294a-de05-1614c3997827}">
          <p14:sldIdLst>
            <p14:sldId id="256"/>
            <p14:sldId id="257"/>
            <p14:sldId id="258"/>
          </p14:sldIdLst>
        </p14:section>
        <p14:section name="Research" id="{c5b655bf-1c78-45d9-2d43-c8947840fc05}">
          <p14:sldIdLst>
            <p14:sldId id="259"/>
            <p14:sldId id="260"/>
            <p14:sldId id="261"/>
          </p14:sldIdLst>
        </p14:section>
        <p14:section name="Problem" id="{c83c02f1-f6cc-56f3-d67e-57d82ce85a28}">
          <p14:sldIdLst>
            <p14:sldId id="262"/>
            <p14:sldId id="263"/>
            <p14:sldId id="264"/>
            <p14:sldId id="265"/>
            <p14:sldId id="266"/>
          </p14:sldIdLst>
        </p14:section>
        <p14:section name="Proposed solution" id="{0d7ed7fb-f0c3-288f-402c-2a68d644f815}">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Naive RAG</c:v>
                </c:pt>
              </c:strCache>
            </c:strRef>
          </c:tx>
          <c:spPr>
            <a:solidFill>
              <a:srgbClr val="2A78D6"/>
            </a:solidFill>
          </c:spPr>
          <c:cat>
            <c:strRef>
              <c:f>Sheet1!$A$2:$A$3</c:f>
              <c:strCache>
                <c:ptCount val="2"/>
                <c:pt idx="0">
                  <c:v>Exact match
(HotpotQA)</c:v>
                </c:pt>
                <c:pt idx="1">
                  <c:v>Recall@10
(HotpotQA)</c:v>
                </c:pt>
              </c:strCache>
            </c:strRef>
          </c:cat>
          <c:val>
            <c:numRef>
              <c:f>Sheet1!$B$2:$B$3</c:f>
              <c:numCache>
                <c:formatCode>General</c:formatCode>
                <c:ptCount val="2"/>
                <c:pt idx="0">
                  <c:v>0.56</c:v>
                </c:pt>
                <c:pt idx="1">
                  <c:v>0.787</c:v>
                </c:pt>
              </c:numCache>
            </c:numRef>
          </c:val>
        </c:ser>
        <c:ser>
          <c:idx val="1"/>
          <c:order val="1"/>
          <c:tx>
            <c:strRef>
              <c:f>Sheet1!$C$1</c:f>
              <c:strCache>
                <c:ptCount val="1"/>
                <c:pt idx="0">
                  <c:v>Adaptive RAG</c:v>
                </c:pt>
              </c:strCache>
            </c:strRef>
          </c:tx>
          <c:spPr>
            <a:solidFill>
              <a:srgbClr val="EB6834"/>
            </a:solidFill>
          </c:spPr>
          <c:cat>
            <c:strRef>
              <c:f>Sheet1!$A$2:$A$3</c:f>
              <c:strCache>
                <c:ptCount val="2"/>
                <c:pt idx="0">
                  <c:v>Exact match
(HotpotQA)</c:v>
                </c:pt>
                <c:pt idx="1">
                  <c:v>Recall@10
(HotpotQA)</c:v>
                </c:pt>
              </c:strCache>
            </c:strRef>
          </c:cat>
          <c:val>
            <c:numRef>
              <c:f>Sheet1!$C$2:$C$3</c:f>
              <c:numCache>
                <c:formatCode>General</c:formatCode>
                <c:ptCount val="2"/>
                <c:pt idx="0">
                  <c:v>0.611</c:v>
                </c:pt>
                <c:pt idx="1">
                  <c:v>0.88</c:v>
                </c:pt>
              </c:numCache>
            </c:numRef>
          </c:val>
        </c:ser>
        <c:dLbls>
          <c:numFmt formatCode="0.000" sourceLinked="0"/>
          <c:txPr>
            <a:bodyPr/>
            <a:lstStyle/>
            <a:p>
              <a:pPr>
                <a:defRPr sz="12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CE6"/>
            </a:solidFill>
          </a:ln>
        </c:spPr>
        <c:crossAx val="-2113994440"/>
        <c:crosses val="autoZero"/>
        <c:auto val="1"/>
        <c:lblAlgn val="ctr"/>
        <c:lblOffset val="100"/>
        <c:noMultiLvlLbl val="0"/>
      </c:catAx>
      <c:valAx>
        <c:axId val="-2113994440"/>
        <c:scaling>
          <c:max val="1.1"/>
          <c:min val="0.0"/>
        </c:scaling>
        <c:delete val="0"/>
        <c:axPos val="l"/>
        <c:majorGridlines>
          <c:spPr>
            <a:ln>
              <a:solidFill>
                <a:srgbClr val="D5DCE6"/>
              </a:solidFill>
            </a:ln>
          </c:spPr>
        </c:majorGridlines>
        <c:numFmt formatCode="0.000" sourceLinked="0"/>
        <c:majorTickMark val="out"/>
        <c:minorTickMark val="none"/>
        <c:tickLblPos val="nextTo"/>
        <c:spPr>
          <a:ln>
            <a:noFill/>
          </a:ln>
        </c:spPr>
        <c:crossAx val="-2068027336"/>
        <c:crosses val="autoZero"/>
      </c:valAx>
    </c:plotArea>
    <c:legend>
      <c:legendPos val="b"/>
      <c:overlay val="0"/>
    </c:legend>
    <c:dispBlanksAs val="gap"/>
  </c:chart>
  <c:txPr>
    <a:bodyPr/>
    <a:lstStyle/>
    <a:p>
      <a:pPr>
        <a:defRPr sz="13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title. One sentence: the platform reads the student's own syllabi and notes, answers questions only from them with the source shown, and turns quiz results into a priority-ranked study roadmap.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This review is about why the problem matters and what is missing in current work; design and results come in the later reviews.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points: the study-material problem, the grounded-answer idea taken from retrieval-augmented generation, and a complete application that runs offline.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 paper from the batch file: SAC-RAG, IEEE Access 2026. Figures are from its abstract and Section V. Its setting is general multi-hop question answering with an LLM; our setting is a student's own documents, so only the retrieve-and-compress idea carries over.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batch survey lists five papers; the base paper is first. TutorLLM and the assessment-RAG paper were read in full from the archived PDFs. For the four other batch items only title, year and venue are known, so no results are quoted.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Chart values are from the SAC-RAG paper's text (HotpotQA, 1,000 questions, gpt-5-mini). They are the paper's results, not ours; our own measurements come in later reviews on a different, smaller notes corpus.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Today's path: files in folders, a portal that stores them, and a chatbot that does not know the syllabus.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four problem points come from the batch problem statement. Each maps to a module: document analysis, roadmap, cited question answering, dashboard.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first two rows restate the gap in the batch survey. The last three are our reading of the surveyed papers; they are why the project measures its own retrieval quality instead of quoting results.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statement slowly: the input is the student's own files, the output is a cited answer plus an adaptive plan, and each student's data is private.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objectives from the proposal. Later reviews report which were met and which only partly (for example embeddings and compression).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stages from files to an adaptive plan, and the application around them. The compression idea from [1] is approximated by extractive sentence selection.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the diagram: the browser on the left, the API with the retrieval and quiz modules in the middle, storage on the right, and the optional LLM below.</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Expected outcomes. The baseline already measured for the shipped retriever is Hit@4 0.792 on 672 chunks; we report whatever the experiments show, including where objectives are only partly met.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Selected references; the complete numbered list, including the four batch-survey items, is in the project report.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TF-IDF and not embeddings; what 'compression' means here; what happens without an LLM key; how the roadmap decides priority.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Adaptive Learning Intelligence Platform  ·  Review 1</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2800" b="1" dirty="0">
                <a:solidFill>
                  <a:srgbClr val="FFFFFF"/>
                </a:solidFill>
                <a:latin typeface="Cambria" pitchFamily="34" charset="0"/>
                <a:ea typeface="Cambria" pitchFamily="34" charset="-122"/>
                <a:cs typeface="Cambria" pitchFamily="34" charset="-120"/>
              </a:rPr>
              <a:t>Adaptive Learning Intelligence Platform Using Educational Document Analysis and Personalized Learning Analytics</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1800" dirty="0">
                <a:solidFill>
                  <a:srgbClr val="CADCFC"/>
                </a:solidFill>
                <a:latin typeface="Calibri" pitchFamily="34" charset="0"/>
                <a:ea typeface="Calibri" pitchFamily="34" charset="-122"/>
                <a:cs typeface="Calibri" pitchFamily="34" charset="-120"/>
              </a:rPr>
              <a:t>Document-grounded question answering, adaptive quizzes and a personal study roadmap</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1  ·  PROBLEM IDENTIFICATION AND RESEARCH</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A Dhanush  23K91A0501</a:t>
            </a:r>
            <a:endParaRPr lang="en-US" sz="1500" dirty="0"/>
          </a:p>
          <a:p>
            <a:pPr indent="0" marL="0">
              <a:buNone/>
            </a:pPr>
            <a:r>
              <a:rPr lang="en-US" sz="1500" dirty="0">
                <a:solidFill>
                  <a:srgbClr val="FFFFFF"/>
                </a:solidFill>
              </a:rPr>
              <a:t>Ale Vijayalaxmi  23K91A0508</a:t>
            </a:r>
            <a:endParaRPr lang="en-US" sz="1500" dirty="0"/>
          </a:p>
          <a:p>
            <a:pPr indent="0" marL="0">
              <a:buNone/>
            </a:pPr>
            <a:r>
              <a:rPr lang="en-US" sz="1500" dirty="0">
                <a:solidFill>
                  <a:srgbClr val="FFFFFF"/>
                </a:solidFill>
              </a:rPr>
              <a:t>Burri Mallikarjun  23K91A0549</a:t>
            </a:r>
            <a:endParaRPr lang="en-US" sz="1500" dirty="0"/>
          </a:p>
          <a:p>
            <a:pPr indent="0" marL="0">
              <a:buNone/>
            </a:pPr>
            <a:r>
              <a:rPr lang="en-US" sz="1500" dirty="0">
                <a:solidFill>
                  <a:srgbClr val="FFFFFF"/>
                </a:solidFill>
              </a:rPr>
              <a:t>Atragada Nagatrimurthulu  23K91A0517</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Raghavendra,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TKR College of Engineering &amp; Technology  ·  Batch A1 (CSE-A)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Abstract and overview</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Base paper</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Literature survey</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Existing system and limitations</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Research gap</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Problem statement and objectives</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Proposed approach and architecture</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Expected outcomes</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Abstract: from scattered study files to a personal tutor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problem</a:t>
            </a:r>
          </a:p>
        </p:txBody>
      </p:sp>
      <p:sp>
        <p:nvSpPr>
          <p:cNvPr id="29" name="TextBox 28"/>
          <p:cNvSpPr txBox="1"/>
          <p:nvPr/>
        </p:nvSpPr>
        <p:spPr>
          <a:xfrm>
            <a:off x="749808" y="2240280"/>
            <a:ext cx="3118104" cy="3474720"/>
          </a:xfrm>
          <a:prstGeom prst="rect">
            <a:avLst/>
          </a:prstGeom>
          <a:noFill/>
        </p:spPr>
        <p:txBody>
          <a:bodyPr wrap="square" lIns="0" rIns="0" tIns="0" bIns="0" anchor="t">
            <a:spAutoFit/>
          </a:bodyPr>
          <a:lstStyle/>
          <a:p>
            <a:pPr algn="l">
              <a:spcAft>
                <a:spcPts val="400"/>
              </a:spcAft>
            </a:pPr>
            <a:r>
              <a:rPr sz="1600" b="0" i="0">
                <a:solidFill>
                  <a:srgbClr val="475569"/>
                </a:solidFill>
              </a:rPr>
              <a:t>Students keep syllabi, notes and question banks as scattered files across six to eight subjects. Portals store them without understanding them, and general chatbots answer from the internet, not from the prescribed syllabus.</a:t>
            </a:r>
          </a:p>
        </p:txBody>
      </p:sp>
      <p:sp>
        <p:nvSpPr>
          <p:cNvPr id="30" name="Rounded Rectangle 29"/>
          <p:cNvSpPr/>
          <p:nvPr/>
        </p:nvSpPr>
        <p:spPr>
          <a:xfrm>
            <a:off x="4334255"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Our idea</a:t>
            </a:r>
          </a:p>
        </p:txBody>
      </p:sp>
      <p:sp>
        <p:nvSpPr>
          <p:cNvPr id="33" name="TextBox 32"/>
          <p:cNvSpPr txBox="1"/>
          <p:nvPr/>
        </p:nvSpPr>
        <p:spPr>
          <a:xfrm>
            <a:off x="4535423" y="2240280"/>
            <a:ext cx="3118104" cy="3474720"/>
          </a:xfrm>
          <a:prstGeom prst="rect">
            <a:avLst/>
          </a:prstGeom>
          <a:noFill/>
        </p:spPr>
        <p:txBody>
          <a:bodyPr wrap="square" lIns="0" rIns="0" tIns="0" bIns="0" anchor="t">
            <a:spAutoFit/>
          </a:bodyPr>
          <a:lstStyle/>
          <a:p>
            <a:pPr algn="l">
              <a:spcAft>
                <a:spcPts val="400"/>
              </a:spcAft>
            </a:pPr>
            <a:r>
              <a:rPr sz="1600" b="0" i="0">
                <a:solidFill>
                  <a:srgbClr val="475569"/>
                </a:solidFill>
              </a:rPr>
              <a:t>Extract subjects, units and topics from uploaded documents, retrieve the passages that match a question, and answer only from them with the source cited (RAG). Turn quiz results into a priority-ranked roadmap.</a:t>
            </a:r>
          </a:p>
        </p:txBody>
      </p:sp>
      <p:sp>
        <p:nvSpPr>
          <p:cNvPr id="34" name="Rounded Rectangle 33"/>
          <p:cNvSpPr/>
          <p:nvPr/>
        </p:nvSpPr>
        <p:spPr>
          <a:xfrm>
            <a:off x="8119871"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deliverable</a:t>
            </a:r>
          </a:p>
        </p:txBody>
      </p:sp>
      <p:sp>
        <p:nvSpPr>
          <p:cNvPr id="37" name="TextBox 36"/>
          <p:cNvSpPr txBox="1"/>
          <p:nvPr/>
        </p:nvSpPr>
        <p:spPr>
          <a:xfrm>
            <a:off x="8321040" y="2240280"/>
            <a:ext cx="3118104" cy="3474720"/>
          </a:xfrm>
          <a:prstGeom prst="rect">
            <a:avLst/>
          </a:prstGeom>
          <a:noFill/>
        </p:spPr>
        <p:txBody>
          <a:bodyPr wrap="square" lIns="0" rIns="0" tIns="0" bIns="0" anchor="t">
            <a:spAutoFit/>
          </a:bodyPr>
          <a:lstStyle/>
          <a:p>
            <a:pPr algn="l">
              <a:spcAft>
                <a:spcPts val="400"/>
              </a:spcAft>
            </a:pPr>
            <a:r>
              <a:rPr sz="1600" b="0" i="0">
                <a:solidFill>
                  <a:srgbClr val="475569"/>
                </a:solidFill>
              </a:rPr>
              <a:t>A web application: upload, document repository with detected topics, cited question answering, auto-generated quizzes, a study roadmap and a dashboard, running offline on a laptop with an optional LLM.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Base paper: SAC-RAG</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
        <p:nvSpPr>
          <p:cNvPr id="26" name="Rounded Rectangle 25"/>
          <p:cNvSpPr/>
          <p:nvPr/>
        </p:nvSpPr>
        <p:spPr>
          <a:xfrm>
            <a:off x="548640" y="1280160"/>
            <a:ext cx="11091672" cy="1005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9808" y="1353312"/>
            <a:ext cx="10698480" cy="868680"/>
          </a:xfrm>
          <a:prstGeom prst="rect">
            <a:avLst/>
          </a:prstGeom>
          <a:noFill/>
        </p:spPr>
        <p:txBody>
          <a:bodyPr wrap="square" lIns="0" rIns="0" tIns="0" bIns="0" anchor="ctr">
            <a:spAutoFit/>
          </a:bodyPr>
          <a:lstStyle/>
          <a:p>
            <a:pPr algn="l">
              <a:spcAft>
                <a:spcPts val="400"/>
              </a:spcAft>
            </a:pPr>
            <a:r>
              <a:rPr sz="1200" b="0" i="0">
                <a:solidFill>
                  <a:srgbClr val="0F172A"/>
                </a:solidFill>
              </a:rPr>
              <a:t>D. Zhang, H. Yu, J. Huo and M. Su, "SAC-RAG: Semantic Adaptive Context Compression for Retrieval-Augmented Generation," IEEE Access, vol. 14, pp. 117406-117418, 2026, doi: 10.1109/ACCESS.2026.3718025.  [1]</a:t>
            </a:r>
          </a:p>
        </p:txBody>
      </p:sp>
      <p:sp>
        <p:nvSpPr>
          <p:cNvPr id="28" name="Rounded Rectangle 27"/>
          <p:cNvSpPr/>
          <p:nvPr/>
        </p:nvSpPr>
        <p:spPr>
          <a:xfrm>
            <a:off x="548640"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49808" y="2697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30" name="TextBox 29"/>
          <p:cNvSpPr txBox="1"/>
          <p:nvPr/>
        </p:nvSpPr>
        <p:spPr>
          <a:xfrm>
            <a:off x="1389888"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What it proposes [1]</a:t>
            </a:r>
          </a:p>
        </p:txBody>
      </p:sp>
      <p:sp>
        <p:nvSpPr>
          <p:cNvPr id="31" name="TextBox 30"/>
          <p:cNvSpPr txBox="1"/>
          <p:nvPr/>
        </p:nvSpPr>
        <p:spPr>
          <a:xfrm>
            <a:off x="749808" y="3383280"/>
            <a:ext cx="3118104" cy="2651760"/>
          </a:xfrm>
          <a:prstGeom prst="rect">
            <a:avLst/>
          </a:prstGeom>
          <a:noFill/>
        </p:spPr>
        <p:txBody>
          <a:bodyPr wrap="square" lIns="0" rIns="0" tIns="0" bIns="0" anchor="t">
            <a:spAutoFit/>
          </a:bodyPr>
          <a:lstStyle/>
          <a:p>
            <a:pPr algn="l">
              <a:spcAft>
                <a:spcPts val="400"/>
              </a:spcAft>
            </a:pPr>
            <a:r>
              <a:rPr sz="1400" b="0" i="0">
                <a:solidFill>
                  <a:srgbClr val="475569"/>
                </a:solidFill>
              </a:rPr>
              <a:t>Semantic Adaptive Compress RAG: an LLM classifies a question as fact, definition or reasoning, a type-specific retrieval strategy fetches passages, and an LLM compression step keeps only evidence snippets before answering.</a:t>
            </a:r>
          </a:p>
        </p:txBody>
      </p:sp>
      <p:sp>
        <p:nvSpPr>
          <p:cNvPr id="32" name="Rounded Rectangle 31"/>
          <p:cNvSpPr/>
          <p:nvPr/>
        </p:nvSpPr>
        <p:spPr>
          <a:xfrm>
            <a:off x="4334255"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4535423" y="2697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4" name="TextBox 33"/>
          <p:cNvSpPr txBox="1"/>
          <p:nvPr/>
        </p:nvSpPr>
        <p:spPr>
          <a:xfrm>
            <a:off x="5175503"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What it reports [1]</a:t>
            </a:r>
          </a:p>
        </p:txBody>
      </p:sp>
      <p:sp>
        <p:nvSpPr>
          <p:cNvPr id="35" name="TextBox 34"/>
          <p:cNvSpPr txBox="1"/>
          <p:nvPr/>
        </p:nvSpPr>
        <p:spPr>
          <a:xfrm>
            <a:off x="4535423" y="3383280"/>
            <a:ext cx="3118104" cy="2651760"/>
          </a:xfrm>
          <a:prstGeom prst="rect">
            <a:avLst/>
          </a:prstGeom>
          <a:noFill/>
        </p:spPr>
        <p:txBody>
          <a:bodyPr wrap="square" lIns="0" rIns="0" tIns="0" bIns="0" anchor="t">
            <a:spAutoFit/>
          </a:bodyPr>
          <a:lstStyle/>
          <a:p>
            <a:pPr algn="l">
              <a:spcAft>
                <a:spcPts val="400"/>
              </a:spcAft>
            </a:pPr>
            <a:r>
              <a:rPr sz="1400" b="0" i="0">
                <a:solidFill>
                  <a:srgbClr val="475569"/>
                </a:solidFill>
              </a:rPr>
              <a:t>On HotpotQA, 2WikiMultiHopQA and MuSiQue (1,000 questions each): token use cut by 38-58% for a 1-2 point drop in exact match; adaptive retrieval lifts HotpotQA EM from 0.560 to 0.611.</a:t>
            </a:r>
          </a:p>
        </p:txBody>
      </p:sp>
      <p:sp>
        <p:nvSpPr>
          <p:cNvPr id="36" name="Rounded Rectangle 35"/>
          <p:cNvSpPr/>
          <p:nvPr/>
        </p:nvSpPr>
        <p:spPr>
          <a:xfrm>
            <a:off x="8119871"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8321040" y="2697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8" name="TextBox 37"/>
          <p:cNvSpPr txBox="1"/>
          <p:nvPr/>
        </p:nvSpPr>
        <p:spPr>
          <a:xfrm>
            <a:off x="8961119"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What we adopt</a:t>
            </a:r>
          </a:p>
        </p:txBody>
      </p:sp>
      <p:sp>
        <p:nvSpPr>
          <p:cNvPr id="39" name="TextBox 38"/>
          <p:cNvSpPr txBox="1"/>
          <p:nvPr/>
        </p:nvSpPr>
        <p:spPr>
          <a:xfrm>
            <a:off x="8321040" y="3383280"/>
            <a:ext cx="3118104" cy="2651760"/>
          </a:xfrm>
          <a:prstGeom prst="rect">
            <a:avLst/>
          </a:prstGeom>
          <a:noFill/>
        </p:spPr>
        <p:txBody>
          <a:bodyPr wrap="square" lIns="0" rIns="0" tIns="0" bIns="0" anchor="t">
            <a:spAutoFit/>
          </a:bodyPr>
          <a:lstStyle/>
          <a:p>
            <a:pPr algn="l">
              <a:spcAft>
                <a:spcPts val="400"/>
              </a:spcAft>
            </a:pPr>
            <a:r>
              <a:rPr sz="1400" b="0" i="0">
                <a:solidFill>
                  <a:srgbClr val="475569"/>
                </a:solidFill>
              </a:rPr>
              <a:t>Retrieve-then-answer from the student's own material, a compact context instead of whole chunks, and the question-type view. The paper targets open-domain multi-hop QA, not a student's curriculum or progress analytics.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Literature survey</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graphicFrame>
        <p:nvGraphicFramePr>
          <p:cNvPr id="26" name="Table 25"/>
          <p:cNvGraphicFramePr>
            <a:graphicFrameLocks noGrp="1"/>
          </p:cNvGraphicFramePr>
          <p:nvPr/>
        </p:nvGraphicFramePr>
        <p:xfrm>
          <a:off x="548640" y="1234440"/>
          <a:ext cx="11091672" cy="4828032"/>
        </p:xfrm>
        <a:graphic>
          <a:graphicData uri="http://schemas.openxmlformats.org/drawingml/2006/table">
            <a:tbl>
              <a:tblPr firstRow="0" bandRow="0">
                <a:tableStyleId>{5C22544A-7EE6-4342-B048-85BDC9FD1C3A}</a:tableStyleId>
              </a:tblPr>
              <a:tblGrid>
                <a:gridCol w="2743200"/>
                <a:gridCol w="3931920"/>
                <a:gridCol w="1828800"/>
                <a:gridCol w="2587752"/>
              </a:tblGrid>
              <a:tr h="603504">
                <a:tc>
                  <a:txBody>
                    <a:bodyPr wrap="square"/>
                    <a:lstStyle/>
                    <a:p>
                      <a:pPr algn="ctr"/>
                      <a:r>
                        <a:rPr sz="1300" b="1">
                          <a:solidFill>
                            <a:srgbClr val="FFFFFF"/>
                          </a:solidFill>
                        </a:rPr>
                        <a:t>Work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Approach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Venue, year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What is known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603504">
                <a:tc>
                  <a:txBody>
                    <a:bodyPr wrap="square"/>
                    <a:lstStyle/>
                    <a:p>
                      <a:pPr algn="l"/>
                      <a:r>
                        <a:rPr sz="1200" b="0">
                          <a:solidFill>
                            <a:srgbClr val="0F172A"/>
                          </a:solidFill>
                        </a:rPr>
                        <a:t>SAC-RAG [1] (base)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Question-type-adaptive retrieval + LLM context compression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IEEE Access, 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Tokens -38 to -58% for -1 to -2 points EM (multi-hop QA)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03504">
                <a:tc>
                  <a:txBody>
                    <a:bodyPr wrap="square"/>
                    <a:lstStyle/>
                    <a:p>
                      <a:pPr algn="l"/>
                      <a:r>
                        <a:rPr sz="1200" b="0">
                          <a:solidFill>
                            <a:srgbClr val="0F172A"/>
                          </a:solidFill>
                        </a:rPr>
                        <a:t>TutorLLM [2]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Knowledge tracing + RAG with an LLM for personalised recommendations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arXiv / RecSys 2024 format, 2025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+10% user satisfaction, +5% quiz score vs a general LLM</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03504">
                <a:tc>
                  <a:txBody>
                    <a:bodyPr wrap="square"/>
                    <a:lstStyle/>
                    <a:p>
                      <a:pPr algn="l"/>
                      <a:r>
                        <a:rPr sz="1200" b="0">
                          <a:solidFill>
                            <a:srgbClr val="0F172A"/>
                          </a:solidFill>
                        </a:rPr>
                        <a:t>LLM assessment RAG [3]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Rubric-grounded RAG grading and feedback for essays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arXiv, 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701 essays; 94-99% agreement with human markers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03504">
                <a:tc>
                  <a:txBody>
                    <a:bodyPr wrap="square"/>
                    <a:lstStyle/>
                    <a:p>
                      <a:pPr algn="l"/>
                      <a:r>
                        <a:rPr sz="1200" b="0">
                          <a:solidFill>
                            <a:srgbClr val="0F172A"/>
                          </a:solidFill>
                        </a:rPr>
                        <a:t>RAG for medical spaced repetition [19]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RAG-generated medical content for spaced-repetition study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CSEDU, 2025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Title and venue only (full text not read)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03504">
                <a:tc>
                  <a:txBody>
                    <a:bodyPr wrap="square"/>
                    <a:lstStyle/>
                    <a:p>
                      <a:pPr algn="l"/>
                      <a:r>
                        <a:rPr sz="1200" b="0">
                          <a:solidFill>
                            <a:srgbClr val="0F172A"/>
                          </a:solidFill>
                        </a:rPr>
                        <a:t>Vision-language RAG teaching platform [20]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Automatic teaching platform on vision-language RAG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IEEE ISEC, 2025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Title and venue only (full text not read)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03504">
                <a:tc>
                  <a:txBody>
                    <a:bodyPr wrap="square"/>
                    <a:lstStyle/>
                    <a:p>
                      <a:pPr algn="l"/>
                      <a:r>
                        <a:rPr sz="1200" b="0">
                          <a:solidFill>
                            <a:srgbClr val="0F172A"/>
                          </a:solidFill>
                        </a:rPr>
                        <a:t>API-driven RAG for financial education [21]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RAG platform for financial education through an API</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ICETC, 2025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Title and venue only (full text not read)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03504">
                <a:tc>
                  <a:txBody>
                    <a:bodyPr wrap="square"/>
                    <a:lstStyle/>
                    <a:p>
                      <a:pPr algn="l"/>
                      <a:r>
                        <a:rPr sz="1200" b="0">
                          <a:solidFill>
                            <a:srgbClr val="0F172A"/>
                          </a:solidFill>
                        </a:rPr>
                        <a:t>Lean learning resources with RAG [22]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Student-designed Lean resources using ChatGPT and RAG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ZDM Math. Education, 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Title and venue only (full text not read)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Supporting evidence from the base paper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graphicFrame>
        <p:nvGraphicFramePr>
          <p:cNvPr id="26" name="Chart 25"/>
          <p:cNvGraphicFramePr>
            <a:graphicFrameLocks noGrp="1"/>
          </p:cNvGraphicFramePr>
          <p:nvPr/>
        </p:nvGraphicFramePr>
        <p:xfrm>
          <a:off x="548640" y="1280160"/>
          <a:ext cx="6949440" cy="4846320"/>
        </p:xfrm>
        <a:graphic>
          <a:graphicData uri="http://schemas.openxmlformats.org/drawingml/2006/chart">
            <c:chart xmlns:c="http://schemas.openxmlformats.org/drawingml/2006/chart" r:id="rId3"/>
          </a:graphicData>
        </a:graphic>
      </p:graphicFrame>
      <p:sp>
        <p:nvSpPr>
          <p:cNvPr id="27" name="Rounded Rectangle 26"/>
          <p:cNvSpPr/>
          <p:nvPr/>
        </p:nvSpPr>
        <p:spPr>
          <a:xfrm>
            <a:off x="7772400" y="1325880"/>
            <a:ext cx="3867912" cy="23774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973568" y="15087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9" name="TextBox 28"/>
          <p:cNvSpPr txBox="1"/>
          <p:nvPr/>
        </p:nvSpPr>
        <p:spPr>
          <a:xfrm>
            <a:off x="8613648" y="1481328"/>
            <a:ext cx="2862072" cy="548640"/>
          </a:xfrm>
          <a:prstGeom prst="rect">
            <a:avLst/>
          </a:prstGeom>
          <a:noFill/>
        </p:spPr>
        <p:txBody>
          <a:bodyPr wrap="square" lIns="0" rIns="0" tIns="0" bIns="0" anchor="ctr">
            <a:spAutoFit/>
          </a:bodyPr>
          <a:lstStyle/>
          <a:p>
            <a:pPr algn="l">
              <a:spcAft>
                <a:spcPts val="400"/>
              </a:spcAft>
            </a:pPr>
            <a:r>
              <a:rPr sz="1600" b="1" i="0">
                <a:solidFill>
                  <a:srgbClr val="0F172A"/>
                </a:solidFill>
              </a:rPr>
              <a:t>Retrieval matters [1]</a:t>
            </a:r>
          </a:p>
        </p:txBody>
      </p:sp>
      <p:sp>
        <p:nvSpPr>
          <p:cNvPr id="30" name="TextBox 29"/>
          <p:cNvSpPr txBox="1"/>
          <p:nvPr/>
        </p:nvSpPr>
        <p:spPr>
          <a:xfrm>
            <a:off x="7973568" y="2194560"/>
            <a:ext cx="3465576" cy="1371600"/>
          </a:xfrm>
          <a:prstGeom prst="rect">
            <a:avLst/>
          </a:prstGeom>
          <a:noFill/>
        </p:spPr>
        <p:txBody>
          <a:bodyPr wrap="square" lIns="0" rIns="0" tIns="0" bIns="0" anchor="t">
            <a:spAutoFit/>
          </a:bodyPr>
          <a:lstStyle/>
          <a:p>
            <a:pPr algn="l">
              <a:spcAft>
                <a:spcPts val="400"/>
              </a:spcAft>
            </a:pPr>
            <a:r>
              <a:rPr sz="1400" b="0" i="0">
                <a:solidFill>
                  <a:srgbClr val="475569"/>
                </a:solidFill>
              </a:rPr>
              <a:t>Choosing the retrieval strategy by question type raised EM from 0.560 to 0.611 and Recall@10 from 0.787 to 0.880 on HotpotQA.</a:t>
            </a:r>
          </a:p>
        </p:txBody>
      </p:sp>
      <p:sp>
        <p:nvSpPr>
          <p:cNvPr id="31" name="Rounded Rectangle 30"/>
          <p:cNvSpPr/>
          <p:nvPr/>
        </p:nvSpPr>
        <p:spPr>
          <a:xfrm>
            <a:off x="7772400" y="3840480"/>
            <a:ext cx="3867912"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7973568" y="40233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3" name="TextBox 32"/>
          <p:cNvSpPr txBox="1"/>
          <p:nvPr/>
        </p:nvSpPr>
        <p:spPr>
          <a:xfrm>
            <a:off x="8613648" y="3995928"/>
            <a:ext cx="2862072" cy="548640"/>
          </a:xfrm>
          <a:prstGeom prst="rect">
            <a:avLst/>
          </a:prstGeom>
          <a:noFill/>
        </p:spPr>
        <p:txBody>
          <a:bodyPr wrap="square" lIns="0" rIns="0" tIns="0" bIns="0" anchor="ctr">
            <a:spAutoFit/>
          </a:bodyPr>
          <a:lstStyle/>
          <a:p>
            <a:pPr algn="l">
              <a:spcAft>
                <a:spcPts val="400"/>
              </a:spcAft>
            </a:pPr>
            <a:r>
              <a:rPr sz="1600" b="1" i="0">
                <a:solidFill>
                  <a:srgbClr val="0F172A"/>
                </a:solidFill>
              </a:rPr>
              <a:t>Education evidence [2][3]</a:t>
            </a:r>
          </a:p>
        </p:txBody>
      </p:sp>
      <p:sp>
        <p:nvSpPr>
          <p:cNvPr id="34" name="TextBox 33"/>
          <p:cNvSpPr txBox="1"/>
          <p:nvPr/>
        </p:nvSpPr>
        <p:spPr>
          <a:xfrm>
            <a:off x="7973568" y="4709160"/>
            <a:ext cx="3465576" cy="1280160"/>
          </a:xfrm>
          <a:prstGeom prst="rect">
            <a:avLst/>
          </a:prstGeom>
          <a:noFill/>
        </p:spPr>
        <p:txBody>
          <a:bodyPr wrap="square" lIns="0" rIns="0" tIns="0" bIns="0" anchor="t">
            <a:spAutoFit/>
          </a:bodyPr>
          <a:lstStyle/>
          <a:p>
            <a:pPr algn="l">
              <a:spcAft>
                <a:spcPts val="400"/>
              </a:spcAft>
            </a:pPr>
            <a:r>
              <a:rPr sz="1400" b="0" i="0">
                <a:solidFill>
                  <a:srgbClr val="475569"/>
                </a:solidFill>
              </a:rPr>
              <a:t>TutorLLM: +10% satisfaction, +5% quiz score. Assessment RAG: 94-99% agreement with humans on 701 essays.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Existing system and current approaches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
        <p:nvSpPr>
          <p:cNvPr id="26" name="Rounded Rectangle 25"/>
          <p:cNvSpPr/>
          <p:nvPr/>
        </p:nvSpPr>
        <p:spPr>
          <a:xfrm>
            <a:off x="548640"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rPr>
              <a:t>PDFs, notes, timetables on disk</a:t>
            </a:r>
          </a:p>
        </p:txBody>
      </p:sp>
      <p:sp>
        <p:nvSpPr>
          <p:cNvPr id="27" name="Right Arrow 26"/>
          <p:cNvSpPr/>
          <p:nvPr/>
        </p:nvSpPr>
        <p:spPr>
          <a:xfrm>
            <a:off x="3106674"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435858"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rPr>
              <a:t>Portal stores the files</a:t>
            </a:r>
          </a:p>
        </p:txBody>
      </p:sp>
      <p:sp>
        <p:nvSpPr>
          <p:cNvPr id="29" name="Right Arrow 28"/>
          <p:cNvSpPr/>
          <p:nvPr/>
        </p:nvSpPr>
        <p:spPr>
          <a:xfrm>
            <a:off x="5993892"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23076"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rPr>
              <a:t>Keyword search or a general chatbot</a:t>
            </a:r>
          </a:p>
        </p:txBody>
      </p:sp>
      <p:sp>
        <p:nvSpPr>
          <p:cNvPr id="31" name="Right Arrow 30"/>
          <p:cNvSpPr/>
          <p:nvPr/>
        </p:nvSpPr>
        <p:spPr>
          <a:xfrm>
            <a:off x="8881110"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10294"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rPr>
              <a:t>Student studies without feedback</a:t>
            </a:r>
          </a:p>
        </p:txBody>
      </p:sp>
      <p:sp>
        <p:nvSpPr>
          <p:cNvPr id="33" name="Rounded Rectangle 32"/>
          <p:cNvSpPr/>
          <p:nvPr/>
        </p:nvSpPr>
        <p:spPr>
          <a:xfrm>
            <a:off x="548640" y="2834640"/>
            <a:ext cx="5440680" cy="32461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749808" y="301752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35" name="TextBox 34"/>
          <p:cNvSpPr txBox="1"/>
          <p:nvPr/>
        </p:nvSpPr>
        <p:spPr>
          <a:xfrm>
            <a:off x="1389888" y="299008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Learning portals</a:t>
            </a:r>
          </a:p>
        </p:txBody>
      </p:sp>
      <p:sp>
        <p:nvSpPr>
          <p:cNvPr id="36" name="TextBox 35"/>
          <p:cNvSpPr txBox="1"/>
          <p:nvPr/>
        </p:nvSpPr>
        <p:spPr>
          <a:xfrm>
            <a:off x="749808" y="3703320"/>
            <a:ext cx="5038344" cy="2240279"/>
          </a:xfrm>
          <a:prstGeom prst="rect">
            <a:avLst/>
          </a:prstGeom>
          <a:noFill/>
        </p:spPr>
        <p:txBody>
          <a:bodyPr wrap="square" lIns="0" rIns="0" tIns="0" bIns="0" anchor="t">
            <a:spAutoFit/>
          </a:bodyPr>
          <a:lstStyle/>
          <a:p>
            <a:pPr algn="l">
              <a:spcAft>
                <a:spcPts val="400"/>
              </a:spcAft>
            </a:pPr>
            <a:r>
              <a:rPr sz="1600" b="0" i="0">
                <a:solidFill>
                  <a:srgbClr val="475569"/>
                </a:solidFill>
              </a:rPr>
              <a:t>Hold content and track completion but do not read what is inside the files: units, topics and learning objectives stay invisible, and recommendations are identical for every learner.</a:t>
            </a:r>
          </a:p>
        </p:txBody>
      </p:sp>
      <p:sp>
        <p:nvSpPr>
          <p:cNvPr id="37" name="Rounded Rectangle 36"/>
          <p:cNvSpPr/>
          <p:nvPr/>
        </p:nvSpPr>
        <p:spPr>
          <a:xfrm>
            <a:off x="6199632" y="2834640"/>
            <a:ext cx="5440680" cy="32461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6400800" y="30175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9" name="TextBox 38"/>
          <p:cNvSpPr txBox="1"/>
          <p:nvPr/>
        </p:nvSpPr>
        <p:spPr>
          <a:xfrm>
            <a:off x="7040880" y="299008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General chatbots</a:t>
            </a:r>
          </a:p>
        </p:txBody>
      </p:sp>
      <p:sp>
        <p:nvSpPr>
          <p:cNvPr id="40" name="TextBox 39"/>
          <p:cNvSpPr txBox="1"/>
          <p:nvPr/>
        </p:nvSpPr>
        <p:spPr>
          <a:xfrm>
            <a:off x="6400800" y="3703320"/>
            <a:ext cx="5038344" cy="2240279"/>
          </a:xfrm>
          <a:prstGeom prst="rect">
            <a:avLst/>
          </a:prstGeom>
          <a:noFill/>
        </p:spPr>
        <p:txBody>
          <a:bodyPr wrap="square" lIns="0" rIns="0" tIns="0" bIns="0" anchor="t">
            <a:spAutoFit/>
          </a:bodyPr>
          <a:lstStyle/>
          <a:p>
            <a:pPr algn="l">
              <a:spcAft>
                <a:spcPts val="400"/>
              </a:spcAft>
            </a:pPr>
            <a:r>
              <a:rPr sz="1600" b="0" i="0">
                <a:solidFill>
                  <a:srgbClr val="475569"/>
                </a:solidFill>
              </a:rPr>
              <a:t>Explain concepts well but answer from public data, may hallucinate when not grounded in a trusted source, and know nothing about the student's syllabus or progress.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Limitations of existing methods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
        <p:nvSpPr>
          <p:cNvPr id="26" name="Rounded Rectangle 25"/>
          <p:cNvSpPr/>
          <p:nvPr/>
        </p:nvSpPr>
        <p:spPr>
          <a:xfrm>
            <a:off x="548640" y="137160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52704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Files are not understood</a:t>
            </a:r>
          </a:p>
        </p:txBody>
      </p:sp>
      <p:sp>
        <p:nvSpPr>
          <p:cNvPr id="29" name="TextBox 28"/>
          <p:cNvSpPr txBox="1"/>
          <p:nvPr/>
        </p:nvSpPr>
        <p:spPr>
          <a:xfrm>
            <a:off x="749808" y="2240280"/>
            <a:ext cx="5038344" cy="1280160"/>
          </a:xfrm>
          <a:prstGeom prst="rect">
            <a:avLst/>
          </a:prstGeom>
          <a:noFill/>
        </p:spPr>
        <p:txBody>
          <a:bodyPr wrap="square" lIns="0" rIns="0" tIns="0" bIns="0" anchor="t">
            <a:spAutoFit/>
          </a:bodyPr>
          <a:lstStyle/>
          <a:p>
            <a:pPr algn="l">
              <a:spcAft>
                <a:spcPts val="400"/>
              </a:spcAft>
            </a:pPr>
            <a:r>
              <a:rPr sz="1700" b="0" i="0">
                <a:solidFill>
                  <a:srgbClr val="475569"/>
                </a:solidFill>
              </a:rPr>
              <a:t>Learning platforms store academic files but never extract the units, topics or learning objectives inside them.</a:t>
            </a:r>
          </a:p>
        </p:txBody>
      </p:sp>
      <p:sp>
        <p:nvSpPr>
          <p:cNvPr id="30" name="Rounded Rectangle 29"/>
          <p:cNvSpPr/>
          <p:nvPr/>
        </p:nvSpPr>
        <p:spPr>
          <a:xfrm>
            <a:off x="6199631" y="137160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400799"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7040879" y="152704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One size for everyone</a:t>
            </a:r>
          </a:p>
        </p:txBody>
      </p:sp>
      <p:sp>
        <p:nvSpPr>
          <p:cNvPr id="33" name="TextBox 32"/>
          <p:cNvSpPr txBox="1"/>
          <p:nvPr/>
        </p:nvSpPr>
        <p:spPr>
          <a:xfrm>
            <a:off x="6400799" y="2240280"/>
            <a:ext cx="5038344" cy="1280160"/>
          </a:xfrm>
          <a:prstGeom prst="rect">
            <a:avLst/>
          </a:prstGeom>
          <a:noFill/>
        </p:spPr>
        <p:txBody>
          <a:bodyPr wrap="square" lIns="0" rIns="0" tIns="0" bIns="0" anchor="t">
            <a:spAutoFit/>
          </a:bodyPr>
          <a:lstStyle/>
          <a:p>
            <a:pPr algn="l">
              <a:spcAft>
                <a:spcPts val="400"/>
              </a:spcAft>
            </a:pPr>
            <a:r>
              <a:rPr sz="1700" b="0" i="0">
                <a:solidFill>
                  <a:srgbClr val="475569"/>
                </a:solidFill>
              </a:rPr>
              <a:t>Recommendations are identical for every learner and ignore prior performance and study behaviour.</a:t>
            </a:r>
          </a:p>
        </p:txBody>
      </p:sp>
      <p:sp>
        <p:nvSpPr>
          <p:cNvPr id="34" name="Rounded Rectangle 33"/>
          <p:cNvSpPr/>
          <p:nvPr/>
        </p:nvSpPr>
        <p:spPr>
          <a:xfrm>
            <a:off x="548640" y="384048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749808" y="40233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1389888" y="3995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Answers off the syllabus</a:t>
            </a:r>
          </a:p>
        </p:txBody>
      </p:sp>
      <p:sp>
        <p:nvSpPr>
          <p:cNvPr id="37" name="TextBox 36"/>
          <p:cNvSpPr txBox="1"/>
          <p:nvPr/>
        </p:nvSpPr>
        <p:spPr>
          <a:xfrm>
            <a:off x="749808" y="4709160"/>
            <a:ext cx="5038344" cy="1280160"/>
          </a:xfrm>
          <a:prstGeom prst="rect">
            <a:avLst/>
          </a:prstGeom>
          <a:noFill/>
        </p:spPr>
        <p:txBody>
          <a:bodyPr wrap="square" lIns="0" rIns="0" tIns="0" bIns="0" anchor="t">
            <a:spAutoFit/>
          </a:bodyPr>
          <a:lstStyle/>
          <a:p>
            <a:pPr algn="l">
              <a:spcAft>
                <a:spcPts val="400"/>
              </a:spcAft>
            </a:pPr>
            <a:r>
              <a:rPr sz="1700" b="0" i="0">
                <a:solidFill>
                  <a:srgbClr val="475569"/>
                </a:solidFill>
              </a:rPr>
              <a:t>General-purpose chatbots answer from public internet data rather than the student's prescribed syllabus.</a:t>
            </a:r>
          </a:p>
        </p:txBody>
      </p:sp>
      <p:sp>
        <p:nvSpPr>
          <p:cNvPr id="38" name="Rounded Rectangle 37"/>
          <p:cNvSpPr/>
          <p:nvPr/>
        </p:nvSpPr>
        <p:spPr>
          <a:xfrm>
            <a:off x="6199631" y="384048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6400799" y="40233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7040879" y="3995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No single progress view</a:t>
            </a:r>
          </a:p>
        </p:txBody>
      </p:sp>
      <p:sp>
        <p:nvSpPr>
          <p:cNvPr id="41" name="TextBox 40"/>
          <p:cNvSpPr txBox="1"/>
          <p:nvPr/>
        </p:nvSpPr>
        <p:spPr>
          <a:xfrm>
            <a:off x="6400799" y="4709160"/>
            <a:ext cx="5038344" cy="1280160"/>
          </a:xfrm>
          <a:prstGeom prst="rect">
            <a:avLst/>
          </a:prstGeom>
          <a:noFill/>
        </p:spPr>
        <p:txBody>
          <a:bodyPr wrap="square" lIns="0" rIns="0" tIns="0" bIns="0" anchor="t">
            <a:spAutoFit/>
          </a:bodyPr>
          <a:lstStyle/>
          <a:p>
            <a:pPr algn="l">
              <a:spcAft>
                <a:spcPts val="400"/>
              </a:spcAft>
            </a:pPr>
            <a:r>
              <a:rPr sz="1700" b="0" i="0">
                <a:solidFill>
                  <a:srgbClr val="475569"/>
                </a:solidFill>
              </a:rPr>
              <a:t>Students cannot see what has been studied, what remains and how well each topic is understood.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Research gap</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
        <p:nvSpPr>
          <p:cNvPr id="26" name="Rounded Rectangle 25"/>
          <p:cNvSpPr/>
          <p:nvPr/>
        </p:nvSpPr>
        <p:spPr>
          <a:xfrm>
            <a:off x="548640" y="1325880"/>
            <a:ext cx="237744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8640" y="1325880"/>
            <a:ext cx="2377440" cy="822960"/>
          </a:xfrm>
          <a:prstGeom prst="rect">
            <a:avLst/>
          </a:prstGeom>
          <a:noFill/>
        </p:spPr>
        <p:txBody>
          <a:bodyPr wrap="square" lIns="0" rIns="0" tIns="0" bIns="0" anchor="ctr">
            <a:spAutoFit/>
          </a:bodyPr>
          <a:lstStyle/>
          <a:p>
            <a:pPr algn="ctr">
              <a:spcAft>
                <a:spcPts val="400"/>
              </a:spcAft>
            </a:pPr>
            <a:r>
              <a:rPr sz="1600" b="1" i="0">
                <a:solidFill>
                  <a:srgbClr val="FFFFFF"/>
                </a:solidFill>
              </a:rPr>
              <a:t>RAG for QA only</a:t>
            </a:r>
          </a:p>
        </p:txBody>
      </p:sp>
      <p:sp>
        <p:nvSpPr>
          <p:cNvPr id="28" name="TextBox 27"/>
          <p:cNvSpPr txBox="1"/>
          <p:nvPr/>
        </p:nvSpPr>
        <p:spPr>
          <a:xfrm>
            <a:off x="3200400" y="1325880"/>
            <a:ext cx="8412480" cy="822960"/>
          </a:xfrm>
          <a:prstGeom prst="rect">
            <a:avLst/>
          </a:prstGeom>
          <a:noFill/>
        </p:spPr>
        <p:txBody>
          <a:bodyPr wrap="square" lIns="0" rIns="0" tIns="0" bIns="0" anchor="ctr">
            <a:spAutoFit/>
          </a:bodyPr>
          <a:lstStyle/>
          <a:p>
            <a:pPr algn="l">
              <a:spcAft>
                <a:spcPts val="400"/>
              </a:spcAft>
            </a:pPr>
            <a:r>
              <a:rPr sz="1700" b="0" i="0">
                <a:solidFill>
                  <a:srgbClr val="0F172A"/>
                </a:solidFill>
              </a:rPr>
              <a:t>Existing RAG work targets general question answering and context compression, not a student's own curriculum.</a:t>
            </a:r>
          </a:p>
        </p:txBody>
      </p:sp>
      <p:sp>
        <p:nvSpPr>
          <p:cNvPr id="29" name="Rounded Rectangle 28"/>
          <p:cNvSpPr/>
          <p:nvPr/>
        </p:nvSpPr>
        <p:spPr>
          <a:xfrm>
            <a:off x="548640" y="2313432"/>
            <a:ext cx="237744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48640" y="2313432"/>
            <a:ext cx="2377440" cy="822960"/>
          </a:xfrm>
          <a:prstGeom prst="rect">
            <a:avLst/>
          </a:prstGeom>
          <a:noFill/>
        </p:spPr>
        <p:txBody>
          <a:bodyPr wrap="square" lIns="0" rIns="0" tIns="0" bIns="0" anchor="ctr">
            <a:spAutoFit/>
          </a:bodyPr>
          <a:lstStyle/>
          <a:p>
            <a:pPr algn="ctr">
              <a:spcAft>
                <a:spcPts val="400"/>
              </a:spcAft>
            </a:pPr>
            <a:r>
              <a:rPr sz="1600" b="1" i="0">
                <a:solidFill>
                  <a:srgbClr val="FFFFFF"/>
                </a:solidFill>
              </a:rPr>
              <a:t>Ingestion missing</a:t>
            </a:r>
          </a:p>
        </p:txBody>
      </p:sp>
      <p:sp>
        <p:nvSpPr>
          <p:cNvPr id="31" name="TextBox 30"/>
          <p:cNvSpPr txBox="1"/>
          <p:nvPr/>
        </p:nvSpPr>
        <p:spPr>
          <a:xfrm>
            <a:off x="3200400" y="2313432"/>
            <a:ext cx="8412480" cy="822960"/>
          </a:xfrm>
          <a:prstGeom prst="rect">
            <a:avLst/>
          </a:prstGeom>
          <a:noFill/>
        </p:spPr>
        <p:txBody>
          <a:bodyPr wrap="square" lIns="0" rIns="0" tIns="0" bIns="0" anchor="ctr">
            <a:spAutoFit/>
          </a:bodyPr>
          <a:lstStyle/>
          <a:p>
            <a:pPr algn="l">
              <a:spcAft>
                <a:spcPts val="400"/>
              </a:spcAft>
            </a:pPr>
            <a:r>
              <a:rPr sz="1700" b="0" i="0">
                <a:solidFill>
                  <a:srgbClr val="0F172A"/>
                </a:solidFill>
              </a:rPr>
              <a:t>None of the surveyed systems combines document ingestion with tutoring grounded in the student's syllabus.</a:t>
            </a:r>
          </a:p>
        </p:txBody>
      </p:sp>
      <p:sp>
        <p:nvSpPr>
          <p:cNvPr id="32" name="Rounded Rectangle 31"/>
          <p:cNvSpPr/>
          <p:nvPr/>
        </p:nvSpPr>
        <p:spPr>
          <a:xfrm>
            <a:off x="548640" y="3300984"/>
            <a:ext cx="237744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48640" y="3300984"/>
            <a:ext cx="2377440" cy="822960"/>
          </a:xfrm>
          <a:prstGeom prst="rect">
            <a:avLst/>
          </a:prstGeom>
          <a:noFill/>
        </p:spPr>
        <p:txBody>
          <a:bodyPr wrap="square" lIns="0" rIns="0" tIns="0" bIns="0" anchor="ctr">
            <a:spAutoFit/>
          </a:bodyPr>
          <a:lstStyle/>
          <a:p>
            <a:pPr algn="ctr">
              <a:spcAft>
                <a:spcPts val="400"/>
              </a:spcAft>
            </a:pPr>
            <a:r>
              <a:rPr sz="1600" b="1" i="0">
                <a:solidFill>
                  <a:srgbClr val="FFFFFF"/>
                </a:solidFill>
              </a:rPr>
              <a:t>Analytics missing</a:t>
            </a:r>
          </a:p>
        </p:txBody>
      </p:sp>
      <p:sp>
        <p:nvSpPr>
          <p:cNvPr id="34" name="TextBox 33"/>
          <p:cNvSpPr txBox="1"/>
          <p:nvPr/>
        </p:nvSpPr>
        <p:spPr>
          <a:xfrm>
            <a:off x="3200400" y="3300984"/>
            <a:ext cx="8412480" cy="822960"/>
          </a:xfrm>
          <a:prstGeom prst="rect">
            <a:avLst/>
          </a:prstGeom>
          <a:noFill/>
        </p:spPr>
        <p:txBody>
          <a:bodyPr wrap="square" lIns="0" rIns="0" tIns="0" bIns="0" anchor="ctr">
            <a:spAutoFit/>
          </a:bodyPr>
          <a:lstStyle/>
          <a:p>
            <a:pPr algn="l">
              <a:spcAft>
                <a:spcPts val="400"/>
              </a:spcAft>
            </a:pPr>
            <a:r>
              <a:rPr sz="1700" b="0" i="0">
                <a:solidFill>
                  <a:srgbClr val="0F172A"/>
                </a:solidFill>
              </a:rPr>
              <a:t>Progress analytics (topic mastery, priorities) is not joined to retrieval-based tutoring.</a:t>
            </a:r>
          </a:p>
        </p:txBody>
      </p:sp>
      <p:sp>
        <p:nvSpPr>
          <p:cNvPr id="35" name="Rounded Rectangle 34"/>
          <p:cNvSpPr/>
          <p:nvPr/>
        </p:nvSpPr>
        <p:spPr>
          <a:xfrm>
            <a:off x="548640" y="4288536"/>
            <a:ext cx="237744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548640" y="4288536"/>
            <a:ext cx="2377440" cy="822960"/>
          </a:xfrm>
          <a:prstGeom prst="rect">
            <a:avLst/>
          </a:prstGeom>
          <a:noFill/>
        </p:spPr>
        <p:txBody>
          <a:bodyPr wrap="square" lIns="0" rIns="0" tIns="0" bIns="0" anchor="ctr">
            <a:spAutoFit/>
          </a:bodyPr>
          <a:lstStyle/>
          <a:p>
            <a:pPr algn="ctr">
              <a:spcAft>
                <a:spcPts val="400"/>
              </a:spcAft>
            </a:pPr>
            <a:r>
              <a:rPr sz="1600" b="1" i="0">
                <a:solidFill>
                  <a:srgbClr val="FFFFFF"/>
                </a:solidFill>
              </a:rPr>
              <a:t>Honest evaluation</a:t>
            </a:r>
          </a:p>
        </p:txBody>
      </p:sp>
      <p:sp>
        <p:nvSpPr>
          <p:cNvPr id="37" name="TextBox 36"/>
          <p:cNvSpPr txBox="1"/>
          <p:nvPr/>
        </p:nvSpPr>
        <p:spPr>
          <a:xfrm>
            <a:off x="3200400" y="4288536"/>
            <a:ext cx="8412480" cy="822960"/>
          </a:xfrm>
          <a:prstGeom prst="rect">
            <a:avLst/>
          </a:prstGeom>
          <a:noFill/>
        </p:spPr>
        <p:txBody>
          <a:bodyPr wrap="square" lIns="0" rIns="0" tIns="0" bIns="0" anchor="ctr">
            <a:spAutoFit/>
          </a:bodyPr>
          <a:lstStyle/>
          <a:p>
            <a:pPr algn="l">
              <a:spcAft>
                <a:spcPts val="400"/>
              </a:spcAft>
            </a:pPr>
            <a:r>
              <a:rPr sz="1700" b="0" i="0">
                <a:solidFill>
                  <a:srgbClr val="0F172A"/>
                </a:solidFill>
              </a:rPr>
              <a:t>Educational RAG papers report satisfaction or agreement; retrieval hit rate, context size and abstention on a notes corpus are rarely measured.</a:t>
            </a:r>
          </a:p>
        </p:txBody>
      </p:sp>
      <p:sp>
        <p:nvSpPr>
          <p:cNvPr id="38" name="Rounded Rectangle 37"/>
          <p:cNvSpPr/>
          <p:nvPr/>
        </p:nvSpPr>
        <p:spPr>
          <a:xfrm>
            <a:off x="548640" y="5276088"/>
            <a:ext cx="237744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48640" y="5276088"/>
            <a:ext cx="2377440" cy="822960"/>
          </a:xfrm>
          <a:prstGeom prst="rect">
            <a:avLst/>
          </a:prstGeom>
          <a:noFill/>
        </p:spPr>
        <p:txBody>
          <a:bodyPr wrap="square" lIns="0" rIns="0" tIns="0" bIns="0" anchor="ctr">
            <a:spAutoFit/>
          </a:bodyPr>
          <a:lstStyle/>
          <a:p>
            <a:pPr algn="ctr">
              <a:spcAft>
                <a:spcPts val="400"/>
              </a:spcAft>
            </a:pPr>
            <a:r>
              <a:rPr sz="1600" b="1" i="0">
                <a:solidFill>
                  <a:srgbClr val="FFFFFF"/>
                </a:solidFill>
              </a:rPr>
              <a:t>Small-scale use</a:t>
            </a:r>
          </a:p>
        </p:txBody>
      </p:sp>
      <p:sp>
        <p:nvSpPr>
          <p:cNvPr id="40" name="TextBox 39"/>
          <p:cNvSpPr txBox="1"/>
          <p:nvPr/>
        </p:nvSpPr>
        <p:spPr>
          <a:xfrm>
            <a:off x="3200400" y="5276088"/>
            <a:ext cx="8412480" cy="822960"/>
          </a:xfrm>
          <a:prstGeom prst="rect">
            <a:avLst/>
          </a:prstGeom>
          <a:noFill/>
        </p:spPr>
        <p:txBody>
          <a:bodyPr wrap="square" lIns="0" rIns="0" tIns="0" bIns="0" anchor="ctr">
            <a:spAutoFit/>
          </a:bodyPr>
          <a:lstStyle/>
          <a:p>
            <a:pPr algn="l">
              <a:spcAft>
                <a:spcPts val="400"/>
              </a:spcAft>
            </a:pPr>
            <a:r>
              <a:rPr sz="1700" b="0" i="0">
                <a:solidFill>
                  <a:srgbClr val="0F172A"/>
                </a:solidFill>
              </a:rPr>
              <a:t>Published systems assume LLM services or GPUs; a laptop-only, offline platform for one student is not covered.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Problem statement</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
        <p:nvSpPr>
          <p:cNvPr id="26" name="Rounded Rectangle 25"/>
          <p:cNvSpPr/>
          <p:nvPr/>
        </p:nvSpPr>
        <p:spPr>
          <a:xfrm>
            <a:off x="548640" y="1325880"/>
            <a:ext cx="11091672" cy="2514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68680" y="1463040"/>
            <a:ext cx="10469880" cy="2286000"/>
          </a:xfrm>
          <a:prstGeom prst="rect">
            <a:avLst/>
          </a:prstGeom>
          <a:noFill/>
        </p:spPr>
        <p:txBody>
          <a:bodyPr wrap="square" lIns="0" rIns="0" tIns="0" bIns="0" anchor="ctr">
            <a:spAutoFit/>
          </a:bodyPr>
          <a:lstStyle/>
          <a:p>
            <a:pPr algn="l">
              <a:spcAft>
                <a:spcPts val="400"/>
              </a:spcAft>
            </a:pPr>
            <a:r>
              <a:rPr sz="1900" b="0" i="0">
                <a:solidFill>
                  <a:srgbClr val="0F172A"/>
                </a:solidFill>
              </a:rPr>
              <a:t>Build a platform that ingests a student's own academic documents (syllabi, notes, question banks), organises them by subject, unit and topic, answers questions strictly from those documents with the source passage cited, and adapts the study plan to measured topic mastery - running on an ordinary laptop and reporting its accuracy honestly.</a:t>
            </a:r>
          </a:p>
        </p:txBody>
      </p:sp>
      <p:sp>
        <p:nvSpPr>
          <p:cNvPr id="28" name="Rounded Rectangle 27"/>
          <p:cNvSpPr/>
          <p:nvPr/>
        </p:nvSpPr>
        <p:spPr>
          <a:xfrm>
            <a:off x="548640" y="4114800"/>
            <a:ext cx="3520440" cy="18288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7240" y="4224528"/>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Input</a:t>
            </a:r>
          </a:p>
        </p:txBody>
      </p:sp>
      <p:sp>
        <p:nvSpPr>
          <p:cNvPr id="30" name="TextBox 29"/>
          <p:cNvSpPr txBox="1"/>
          <p:nvPr/>
        </p:nvSpPr>
        <p:spPr>
          <a:xfrm>
            <a:off x="777240" y="4617720"/>
            <a:ext cx="3108960" cy="1005840"/>
          </a:xfrm>
          <a:prstGeom prst="rect">
            <a:avLst/>
          </a:prstGeom>
          <a:noFill/>
        </p:spPr>
        <p:txBody>
          <a:bodyPr wrap="square" lIns="0" rIns="0" tIns="0" bIns="0" anchor="t">
            <a:spAutoFit/>
          </a:bodyPr>
          <a:lstStyle/>
          <a:p>
            <a:pPr algn="l">
              <a:spcAft>
                <a:spcPts val="400"/>
              </a:spcAft>
            </a:pPr>
            <a:r>
              <a:rPr sz="1400" b="0" i="0">
                <a:solidFill>
                  <a:srgbClr val="475569"/>
                </a:solidFill>
              </a:rPr>
              <a:t>Syllabi, lecture notes, timetables and question banks as PDF, DOCX or TXT; free-text questions; quiz answers</a:t>
            </a:r>
          </a:p>
        </p:txBody>
      </p:sp>
      <p:sp>
        <p:nvSpPr>
          <p:cNvPr id="31" name="Rounded Rectangle 30"/>
          <p:cNvSpPr/>
          <p:nvPr/>
        </p:nvSpPr>
        <p:spPr>
          <a:xfrm>
            <a:off x="4334255" y="4114800"/>
            <a:ext cx="3520440" cy="18288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562855" y="4224528"/>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Output</a:t>
            </a:r>
          </a:p>
        </p:txBody>
      </p:sp>
      <p:sp>
        <p:nvSpPr>
          <p:cNvPr id="33" name="TextBox 32"/>
          <p:cNvSpPr txBox="1"/>
          <p:nvPr/>
        </p:nvSpPr>
        <p:spPr>
          <a:xfrm>
            <a:off x="4562855" y="4617720"/>
            <a:ext cx="3108960" cy="1005840"/>
          </a:xfrm>
          <a:prstGeom prst="rect">
            <a:avLst/>
          </a:prstGeom>
          <a:noFill/>
        </p:spPr>
        <p:txBody>
          <a:bodyPr wrap="square" lIns="0" rIns="0" tIns="0" bIns="0" anchor="t">
            <a:spAutoFit/>
          </a:bodyPr>
          <a:lstStyle/>
          <a:p>
            <a:pPr algn="l">
              <a:spcAft>
                <a:spcPts val="400"/>
              </a:spcAft>
            </a:pPr>
            <a:r>
              <a:rPr sz="1400" b="0" i="0">
                <a:solidFill>
                  <a:srgbClr val="475569"/>
                </a:solidFill>
              </a:rPr>
              <a:t>Detected subjects and topics, answers with cited source passages, quizzes, a ranked roadmap, a dashboard</a:t>
            </a:r>
          </a:p>
        </p:txBody>
      </p:sp>
      <p:sp>
        <p:nvSpPr>
          <p:cNvPr id="34" name="Rounded Rectangle 33"/>
          <p:cNvSpPr/>
          <p:nvPr/>
        </p:nvSpPr>
        <p:spPr>
          <a:xfrm>
            <a:off x="8119871" y="4114800"/>
            <a:ext cx="3520440" cy="18288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348471" y="4224528"/>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Users</a:t>
            </a:r>
          </a:p>
        </p:txBody>
      </p:sp>
      <p:sp>
        <p:nvSpPr>
          <p:cNvPr id="36" name="TextBox 35"/>
          <p:cNvSpPr txBox="1"/>
          <p:nvPr/>
        </p:nvSpPr>
        <p:spPr>
          <a:xfrm>
            <a:off x="8348471" y="4617720"/>
            <a:ext cx="3108960" cy="1005840"/>
          </a:xfrm>
          <a:prstGeom prst="rect">
            <a:avLst/>
          </a:prstGeom>
          <a:noFill/>
        </p:spPr>
        <p:txBody>
          <a:bodyPr wrap="square" lIns="0" rIns="0" tIns="0" bIns="0" anchor="t">
            <a:spAutoFit/>
          </a:bodyPr>
          <a:lstStyle/>
          <a:p>
            <a:pPr algn="l">
              <a:spcAft>
                <a:spcPts val="400"/>
              </a:spcAft>
            </a:pPr>
            <a:r>
              <a:rPr sz="1400" b="0" i="0">
                <a:solidFill>
                  <a:srgbClr val="475569"/>
                </a:solidFill>
              </a:rPr>
              <a:t>Students (the platform keeps each student's documents and results separate)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Objectives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sp>
        <p:nvSpPr>
          <p:cNvPr id="26" name="TextBox 25"/>
          <p:cNvSpPr txBox="1"/>
          <p:nvPr/>
        </p:nvSpPr>
        <p:spPr>
          <a:xfrm>
            <a:off x="548640" y="1280160"/>
            <a:ext cx="11091672" cy="4937760"/>
          </a:xfrm>
          <a:prstGeom prst="rect">
            <a:avLst/>
          </a:prstGeom>
          <a:noFill/>
        </p:spPr>
        <p:txBody>
          <a:bodyPr wrap="square" lIns="0" rIns="0" tIns="0" bIns="0" anchor="t">
            <a:spAutoFit/>
          </a:bodyPr>
          <a:lstStyle/>
          <a:p>
            <a:pPr algn="l">
              <a:spcAft>
                <a:spcPts val="1000"/>
              </a:spcAft>
            </a:pPr>
            <a:r>
              <a:rPr sz="2200" b="0" i="0">
                <a:solidFill>
                  <a:srgbClr val="0F172A"/>
                </a:solidFill>
              </a:rPr>
              <a:t>1.  Build a document ingestion module that parses syllabi, lecture notes and question banks and extracts subjects, units and topics.</a:t>
            </a:r>
          </a:p>
          <a:p>
            <a:pPr algn="l">
              <a:spcAft>
                <a:spcPts val="1000"/>
              </a:spcAft>
            </a:pPr>
            <a:r>
              <a:rPr sz="2200" b="0" i="0">
                <a:solidFill>
                  <a:srgbClr val="0F172A"/>
                </a:solidFill>
              </a:rPr>
              <a:t>2.  Store the extracted content as vector embeddings so the material can be searched semantically rather than by keyword.</a:t>
            </a:r>
          </a:p>
          <a:p>
            <a:pPr algn="l">
              <a:spcAft>
                <a:spcPts val="1000"/>
              </a:spcAft>
            </a:pPr>
            <a:r>
              <a:rPr sz="2200" b="0" i="0">
                <a:solidFill>
                  <a:srgbClr val="0F172A"/>
                </a:solidFill>
              </a:rPr>
              <a:t>3.  Implement a RAG question-answering engine that answers strictly from the uploaded material and cites the source.</a:t>
            </a:r>
          </a:p>
          <a:p>
            <a:pPr algn="l">
              <a:spcAft>
                <a:spcPts val="1000"/>
              </a:spcAft>
            </a:pPr>
            <a:r>
              <a:rPr sz="2200" b="0" i="0">
                <a:solidFill>
                  <a:srgbClr val="0F172A"/>
                </a:solidFill>
              </a:rPr>
              <a:t>4.  Apply semantic context compression so retrieval stays accurate without exceeding the model context window.</a:t>
            </a:r>
          </a:p>
          <a:p>
            <a:pPr algn="l">
              <a:spcAft>
                <a:spcPts val="1000"/>
              </a:spcAft>
            </a:pPr>
            <a:r>
              <a:rPr sz="2200" b="0" i="0">
                <a:solidFill>
                  <a:srgbClr val="0F172A"/>
                </a:solidFill>
              </a:rPr>
              <a:t>5.  Generate personalised study roadmaps and revision schedules from topic coverage and performance.</a:t>
            </a:r>
          </a:p>
          <a:p>
            <a:pPr algn="l">
              <a:spcAft>
                <a:spcPts val="1000"/>
              </a:spcAft>
            </a:pPr>
            <a:r>
              <a:rPr sz="2200" b="0" i="0">
                <a:solidFill>
                  <a:srgbClr val="0F172A"/>
                </a:solidFill>
              </a:rPr>
              <a:t>6.  Present curriculum coverage, study velocity and engagement metrics on an interactive dashboard.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Proposed approach</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sp>
        <p:nvSpPr>
          <p:cNvPr id="26" name="Rounded Rectangle 25"/>
          <p:cNvSpPr/>
          <p:nvPr/>
        </p:nvSpPr>
        <p:spPr>
          <a:xfrm>
            <a:off x="548640" y="1325880"/>
            <a:ext cx="2633472" cy="3108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Ingest</a:t>
            </a:r>
          </a:p>
        </p:txBody>
      </p:sp>
      <p:sp>
        <p:nvSpPr>
          <p:cNvPr id="29" name="TextBox 28"/>
          <p:cNvSpPr txBox="1"/>
          <p:nvPr/>
        </p:nvSpPr>
        <p:spPr>
          <a:xfrm>
            <a:off x="749808" y="2194560"/>
            <a:ext cx="2231136" cy="2103120"/>
          </a:xfrm>
          <a:prstGeom prst="rect">
            <a:avLst/>
          </a:prstGeom>
          <a:noFill/>
        </p:spPr>
        <p:txBody>
          <a:bodyPr wrap="square" lIns="0" rIns="0" tIns="0" bIns="0" anchor="t">
            <a:spAutoFit/>
          </a:bodyPr>
          <a:lstStyle/>
          <a:p>
            <a:pPr algn="l">
              <a:spcAft>
                <a:spcPts val="400"/>
              </a:spcAft>
            </a:pPr>
            <a:r>
              <a:rPr sz="1400" b="0" i="0">
                <a:solidFill>
                  <a:srgbClr val="475569"/>
                </a:solidFill>
              </a:rPr>
              <a:t>Extract text from PDF, DOCX and TXT, clean it, cut it into 180-word chunks, detect subject and unit headings and TF-IDF keywords as topics.</a:t>
            </a:r>
          </a:p>
        </p:txBody>
      </p:sp>
      <p:sp>
        <p:nvSpPr>
          <p:cNvPr id="30" name="Rounded Rectangle 29"/>
          <p:cNvSpPr/>
          <p:nvPr/>
        </p:nvSpPr>
        <p:spPr>
          <a:xfrm>
            <a:off x="3364992" y="1325880"/>
            <a:ext cx="2633472" cy="3108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66160" y="15087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06240"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Retrieve</a:t>
            </a:r>
          </a:p>
        </p:txBody>
      </p:sp>
      <p:sp>
        <p:nvSpPr>
          <p:cNvPr id="33" name="TextBox 32"/>
          <p:cNvSpPr txBox="1"/>
          <p:nvPr/>
        </p:nvSpPr>
        <p:spPr>
          <a:xfrm>
            <a:off x="3566160" y="2194560"/>
            <a:ext cx="2231136" cy="2103120"/>
          </a:xfrm>
          <a:prstGeom prst="rect">
            <a:avLst/>
          </a:prstGeom>
          <a:noFill/>
        </p:spPr>
        <p:txBody>
          <a:bodyPr wrap="square" lIns="0" rIns="0" tIns="0" bIns="0" anchor="t">
            <a:spAutoFit/>
          </a:bodyPr>
          <a:lstStyle/>
          <a:p>
            <a:pPr algn="l">
              <a:spcAft>
                <a:spcPts val="400"/>
              </a:spcAft>
            </a:pPr>
            <a:r>
              <a:rPr sz="1400" b="0" i="0">
                <a:solidFill>
                  <a:srgbClr val="475569"/>
                </a:solidFill>
              </a:rPr>
              <a:t>Index each student's chunks (TF-IDF, cosine similarity) and fetch the top passages for a question; baselines BM25 and dense embeddings are compared.</a:t>
            </a:r>
          </a:p>
        </p:txBody>
      </p:sp>
      <p:sp>
        <p:nvSpPr>
          <p:cNvPr id="34" name="Rounded Rectangle 33"/>
          <p:cNvSpPr/>
          <p:nvPr/>
        </p:nvSpPr>
        <p:spPr>
          <a:xfrm>
            <a:off x="6181344" y="1325880"/>
            <a:ext cx="2633472" cy="3108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382512"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22592"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Answer</a:t>
            </a:r>
          </a:p>
        </p:txBody>
      </p:sp>
      <p:sp>
        <p:nvSpPr>
          <p:cNvPr id="37" name="TextBox 36"/>
          <p:cNvSpPr txBox="1"/>
          <p:nvPr/>
        </p:nvSpPr>
        <p:spPr>
          <a:xfrm>
            <a:off x="6382512" y="2194560"/>
            <a:ext cx="2231136" cy="2103120"/>
          </a:xfrm>
          <a:prstGeom prst="rect">
            <a:avLst/>
          </a:prstGeom>
          <a:noFill/>
        </p:spPr>
        <p:txBody>
          <a:bodyPr wrap="square" lIns="0" rIns="0" tIns="0" bIns="0" anchor="t">
            <a:spAutoFit/>
          </a:bodyPr>
          <a:lstStyle/>
          <a:p>
            <a:pPr algn="l">
              <a:spcAft>
                <a:spcPts val="400"/>
              </a:spcAft>
            </a:pPr>
            <a:r>
              <a:rPr sz="1400" b="0" i="0">
                <a:solidFill>
                  <a:srgbClr val="475569"/>
                </a:solidFill>
              </a:rPr>
              <a:t>Select the key sentences of the retrieved passages (offline) or send them to an optional LLM; always show the source file and passage.</a:t>
            </a:r>
          </a:p>
        </p:txBody>
      </p:sp>
      <p:sp>
        <p:nvSpPr>
          <p:cNvPr id="38" name="Rounded Rectangle 37"/>
          <p:cNvSpPr/>
          <p:nvPr/>
        </p:nvSpPr>
        <p:spPr>
          <a:xfrm>
            <a:off x="8997696" y="1325880"/>
            <a:ext cx="2633472" cy="3108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198864" y="15087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38944"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Adapt</a:t>
            </a:r>
          </a:p>
        </p:txBody>
      </p:sp>
      <p:sp>
        <p:nvSpPr>
          <p:cNvPr id="41" name="TextBox 40"/>
          <p:cNvSpPr txBox="1"/>
          <p:nvPr/>
        </p:nvSpPr>
        <p:spPr>
          <a:xfrm>
            <a:off x="9198864" y="2194560"/>
            <a:ext cx="2231136" cy="2103120"/>
          </a:xfrm>
          <a:prstGeom prst="rect">
            <a:avLst/>
          </a:prstGeom>
          <a:noFill/>
        </p:spPr>
        <p:txBody>
          <a:bodyPr wrap="square" lIns="0" rIns="0" tIns="0" bIns="0" anchor="t">
            <a:spAutoFit/>
          </a:bodyPr>
          <a:lstStyle/>
          <a:p>
            <a:pPr algn="l">
              <a:spcAft>
                <a:spcPts val="400"/>
              </a:spcAft>
            </a:pPr>
            <a:r>
              <a:rPr sz="1400" b="0" i="0">
                <a:solidFill>
                  <a:srgbClr val="475569"/>
                </a:solidFill>
              </a:rPr>
              <a:t>Generate fill-in-the-blank quizzes from the notes, grade them, and rank topics High, Medium or Low by accuracy for the roadmap and dashboard.</a:t>
            </a:r>
          </a:p>
        </p:txBody>
      </p:sp>
      <p:sp>
        <p:nvSpPr>
          <p:cNvPr id="42" name="Rounded Rectangle 41"/>
          <p:cNvSpPr/>
          <p:nvPr/>
        </p:nvSpPr>
        <p:spPr>
          <a:xfrm>
            <a:off x="548640" y="4663440"/>
            <a:ext cx="11091672" cy="1371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777240" y="4937760"/>
            <a:ext cx="640080" cy="640080"/>
          </a:xfrm>
          <a:prstGeom prst="ellipse">
            <a:avLst/>
          </a:prstGeom>
          <a:solidFill>
            <a:srgbClr val="1B2A41"/>
          </a:solidFill>
          <a:ln w="9525">
            <a:solidFill>
              <a:srgbClr val="1B2A4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W</a:t>
            </a:r>
          </a:p>
        </p:txBody>
      </p:sp>
      <p:sp>
        <p:nvSpPr>
          <p:cNvPr id="44" name="TextBox 43"/>
          <p:cNvSpPr txBox="1"/>
          <p:nvPr/>
        </p:nvSpPr>
        <p:spPr>
          <a:xfrm>
            <a:off x="1645920" y="4846320"/>
            <a:ext cx="9784080" cy="457200"/>
          </a:xfrm>
          <a:prstGeom prst="rect">
            <a:avLst/>
          </a:prstGeom>
          <a:noFill/>
        </p:spPr>
        <p:txBody>
          <a:bodyPr wrap="square" lIns="0" rIns="0" tIns="0" bIns="0" anchor="t">
            <a:spAutoFit/>
          </a:bodyPr>
          <a:lstStyle/>
          <a:p>
            <a:pPr algn="l">
              <a:spcAft>
                <a:spcPts val="400"/>
              </a:spcAft>
            </a:pPr>
            <a:r>
              <a:rPr sz="1700" b="1" i="0">
                <a:solidFill>
                  <a:srgbClr val="0F172A"/>
                </a:solidFill>
              </a:rPr>
              <a:t>Application</a:t>
            </a:r>
          </a:p>
        </p:txBody>
      </p:sp>
      <p:sp>
        <p:nvSpPr>
          <p:cNvPr id="45" name="TextBox 44"/>
          <p:cNvSpPr txBox="1"/>
          <p:nvPr/>
        </p:nvSpPr>
        <p:spPr>
          <a:xfrm>
            <a:off x="1645920" y="5303520"/>
            <a:ext cx="9784080" cy="685800"/>
          </a:xfrm>
          <a:prstGeom prst="rect">
            <a:avLst/>
          </a:prstGeom>
          <a:noFill/>
        </p:spPr>
        <p:txBody>
          <a:bodyPr wrap="square" lIns="0" rIns="0" tIns="0" bIns="0" anchor="t">
            <a:spAutoFit/>
          </a:bodyPr>
          <a:lstStyle/>
          <a:p>
            <a:pPr algn="l">
              <a:spcAft>
                <a:spcPts val="400"/>
              </a:spcAft>
            </a:pPr>
            <a:r>
              <a:rPr sz="1500" b="0" i="0">
                <a:solidFill>
                  <a:srgbClr val="475569"/>
                </a:solidFill>
              </a:rPr>
              <a:t>FastAPI service (14 endpoints) with a signed-cookie login and SQLite storage, a React interface (upload, documents, ask, quiz, roadmap, dashboard) and the original Flask pages.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High-level proposed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pic>
        <p:nvPicPr>
          <p:cNvPr id="26" name="Picture 25" descr="01_system_architecture.png"/>
          <p:cNvPicPr>
            <a:picLocks noChangeAspect="1"/>
          </p:cNvPicPr>
          <p:nvPr/>
        </p:nvPicPr>
        <p:blipFill>
          <a:blip r:embed="rId1"/>
          <a:stretch>
            <a:fillRect/>
          </a:stretch>
        </p:blipFill>
        <p:spPr>
          <a:xfrm>
            <a:off x="2646979" y="1188720"/>
            <a:ext cx="6867561" cy="4846320"/>
          </a:xfrm>
          <a:prstGeom prst="rect">
            <a:avLst/>
          </a:prstGeom>
        </p:spPr>
      </p:pic>
      <p:sp>
        <p:nvSpPr>
          <p:cNvPr id="27" name="TextBox 26"/>
          <p:cNvSpPr txBox="1"/>
          <p:nvPr/>
        </p:nvSpPr>
        <p:spPr>
          <a:xfrm>
            <a:off x="548640" y="6053328"/>
            <a:ext cx="11091672" cy="274320"/>
          </a:xfrm>
          <a:prstGeom prst="rect">
            <a:avLst/>
          </a:prstGeom>
          <a:noFill/>
        </p:spPr>
        <p:txBody>
          <a:bodyPr wrap="square" lIns="0" rIns="0" tIns="0" bIns="0" anchor="t">
            <a:spAutoFit/>
          </a:bodyPr>
          <a:lstStyle/>
          <a:p>
            <a:pPr algn="ctr">
              <a:spcAft>
                <a:spcPts val="400"/>
              </a:spcAft>
            </a:pPr>
            <a:r>
              <a:rPr sz="1200" b="0" i="1">
                <a:solidFill>
                  <a:srgbClr val="475569"/>
                </a:solidFill>
              </a:rPr>
              <a:t>The React interface calls the FastAPI service; retrieval, document analysis and quiz modules share one SQLite database and an uploads folder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Expected outcomes and contributions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
        <p:nvSpPr>
          <p:cNvPr id="26" name="Rounded Rectangle 25"/>
          <p:cNvSpPr/>
          <p:nvPr/>
        </p:nvSpPr>
        <p:spPr>
          <a:xfrm>
            <a:off x="548640" y="137160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Document repository</a:t>
            </a:r>
          </a:p>
        </p:txBody>
      </p:sp>
      <p:sp>
        <p:nvSpPr>
          <p:cNvPr id="29" name="TextBox 28"/>
          <p:cNvSpPr txBox="1"/>
          <p:nvPr/>
        </p:nvSpPr>
        <p:spPr>
          <a:xfrm>
            <a:off x="749808" y="2240280"/>
            <a:ext cx="3118104" cy="1280160"/>
          </a:xfrm>
          <a:prstGeom prst="rect">
            <a:avLst/>
          </a:prstGeom>
          <a:noFill/>
        </p:spPr>
        <p:txBody>
          <a:bodyPr wrap="square" lIns="0" rIns="0" tIns="0" bIns="0" anchor="t">
            <a:spAutoFit/>
          </a:bodyPr>
          <a:lstStyle/>
          <a:p>
            <a:pPr algn="l">
              <a:spcAft>
                <a:spcPts val="400"/>
              </a:spcAft>
            </a:pPr>
            <a:r>
              <a:rPr sz="1500" b="0" i="0">
                <a:solidFill>
                  <a:srgbClr val="475569"/>
                </a:solidFill>
              </a:rPr>
              <a:t>Subjects, units and topics detected per upload; chunks stored per student.</a:t>
            </a:r>
          </a:p>
        </p:txBody>
      </p:sp>
      <p:sp>
        <p:nvSpPr>
          <p:cNvPr id="30" name="Rounded Rectangle 29"/>
          <p:cNvSpPr/>
          <p:nvPr/>
        </p:nvSpPr>
        <p:spPr>
          <a:xfrm>
            <a:off x="4334255" y="137160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Cited answers</a:t>
            </a:r>
          </a:p>
        </p:txBody>
      </p:sp>
      <p:sp>
        <p:nvSpPr>
          <p:cNvPr id="33" name="TextBox 32"/>
          <p:cNvSpPr txBox="1"/>
          <p:nvPr/>
        </p:nvSpPr>
        <p:spPr>
          <a:xfrm>
            <a:off x="4535423" y="2240280"/>
            <a:ext cx="3118104" cy="1280160"/>
          </a:xfrm>
          <a:prstGeom prst="rect">
            <a:avLst/>
          </a:prstGeom>
          <a:noFill/>
        </p:spPr>
        <p:txBody>
          <a:bodyPr wrap="square" lIns="0" rIns="0" tIns="0" bIns="0" anchor="t">
            <a:spAutoFit/>
          </a:bodyPr>
          <a:lstStyle/>
          <a:p>
            <a:pPr algn="l">
              <a:spcAft>
                <a:spcPts val="400"/>
              </a:spcAft>
            </a:pPr>
            <a:r>
              <a:rPr sz="1500" b="0" i="0">
                <a:solidFill>
                  <a:srgbClr val="475569"/>
                </a:solidFill>
              </a:rPr>
              <a:t>Every answer lists the source file, passage number and match score.</a:t>
            </a:r>
          </a:p>
        </p:txBody>
      </p:sp>
      <p:sp>
        <p:nvSpPr>
          <p:cNvPr id="34" name="Rounded Rectangle 33"/>
          <p:cNvSpPr/>
          <p:nvPr/>
        </p:nvSpPr>
        <p:spPr>
          <a:xfrm>
            <a:off x="8119871" y="137160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Context compression</a:t>
            </a:r>
          </a:p>
        </p:txBody>
      </p:sp>
      <p:sp>
        <p:nvSpPr>
          <p:cNvPr id="37" name="TextBox 36"/>
          <p:cNvSpPr txBox="1"/>
          <p:nvPr/>
        </p:nvSpPr>
        <p:spPr>
          <a:xfrm>
            <a:off x="8321040" y="2240280"/>
            <a:ext cx="3118104" cy="1280160"/>
          </a:xfrm>
          <a:prstGeom prst="rect">
            <a:avLst/>
          </a:prstGeom>
          <a:noFill/>
        </p:spPr>
        <p:txBody>
          <a:bodyPr wrap="square" lIns="0" rIns="0" tIns="0" bIns="0" anchor="t">
            <a:spAutoFit/>
          </a:bodyPr>
          <a:lstStyle/>
          <a:p>
            <a:pPr algn="l">
              <a:spcAft>
                <a:spcPts val="400"/>
              </a:spcAft>
            </a:pPr>
            <a:r>
              <a:rPr sz="1500" b="0" i="0">
                <a:solidFill>
                  <a:srgbClr val="475569"/>
                </a:solidFill>
              </a:rPr>
              <a:t>A short answer from a long retrieved context; we measure what it costs in recall.</a:t>
            </a:r>
          </a:p>
        </p:txBody>
      </p:sp>
      <p:sp>
        <p:nvSpPr>
          <p:cNvPr id="38" name="Rounded Rectangle 37"/>
          <p:cNvSpPr/>
          <p:nvPr/>
        </p:nvSpPr>
        <p:spPr>
          <a:xfrm>
            <a:off x="548640" y="384048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749808" y="40233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1389888" y="399592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Adaptive roadmap</a:t>
            </a:r>
          </a:p>
        </p:txBody>
      </p:sp>
      <p:sp>
        <p:nvSpPr>
          <p:cNvPr id="41" name="TextBox 40"/>
          <p:cNvSpPr txBox="1"/>
          <p:nvPr/>
        </p:nvSpPr>
        <p:spPr>
          <a:xfrm>
            <a:off x="749808" y="4709160"/>
            <a:ext cx="3118104" cy="1280160"/>
          </a:xfrm>
          <a:prstGeom prst="rect">
            <a:avLst/>
          </a:prstGeom>
          <a:noFill/>
        </p:spPr>
        <p:txBody>
          <a:bodyPr wrap="square" lIns="0" rIns="0" tIns="0" bIns="0" anchor="t">
            <a:spAutoFit/>
          </a:bodyPr>
          <a:lstStyle/>
          <a:p>
            <a:pPr algn="l">
              <a:spcAft>
                <a:spcPts val="400"/>
              </a:spcAft>
            </a:pPr>
            <a:r>
              <a:rPr sz="1500" b="0" i="0">
                <a:solidFill>
                  <a:srgbClr val="475569"/>
                </a:solidFill>
              </a:rPr>
              <a:t>Topics ranked High, Medium or Low from quiz accuracy.</a:t>
            </a:r>
          </a:p>
        </p:txBody>
      </p:sp>
      <p:sp>
        <p:nvSpPr>
          <p:cNvPr id="42" name="Rounded Rectangle 41"/>
          <p:cNvSpPr/>
          <p:nvPr/>
        </p:nvSpPr>
        <p:spPr>
          <a:xfrm>
            <a:off x="4334255" y="384048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4535423" y="40233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5</a:t>
            </a:r>
          </a:p>
        </p:txBody>
      </p:sp>
      <p:sp>
        <p:nvSpPr>
          <p:cNvPr id="44" name="TextBox 43"/>
          <p:cNvSpPr txBox="1"/>
          <p:nvPr/>
        </p:nvSpPr>
        <p:spPr>
          <a:xfrm>
            <a:off x="5175503" y="399592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Honest evaluation</a:t>
            </a:r>
          </a:p>
        </p:txBody>
      </p:sp>
      <p:sp>
        <p:nvSpPr>
          <p:cNvPr id="45" name="TextBox 44"/>
          <p:cNvSpPr txBox="1"/>
          <p:nvPr/>
        </p:nvSpPr>
        <p:spPr>
          <a:xfrm>
            <a:off x="4535423" y="4709160"/>
            <a:ext cx="3118104" cy="1280160"/>
          </a:xfrm>
          <a:prstGeom prst="rect">
            <a:avLst/>
          </a:prstGeom>
          <a:noFill/>
        </p:spPr>
        <p:txBody>
          <a:bodyPr wrap="square" lIns="0" rIns="0" tIns="0" bIns="0" anchor="t">
            <a:spAutoFit/>
          </a:bodyPr>
          <a:lstStyle/>
          <a:p>
            <a:pPr algn="l">
              <a:spcAft>
                <a:spcPts val="400"/>
              </a:spcAft>
            </a:pPr>
            <a:r>
              <a:rPr sz="1500" b="0" i="0">
                <a:solidFill>
                  <a:srgbClr val="475569"/>
                </a:solidFill>
              </a:rPr>
              <a:t>Hit@k and MRR on 72 questions over a 672-chunk corpus, abstention, quiz quality, latency and an 84-test suite.</a:t>
            </a:r>
          </a:p>
        </p:txBody>
      </p:sp>
      <p:sp>
        <p:nvSpPr>
          <p:cNvPr id="46" name="Rounded Rectangle 45"/>
          <p:cNvSpPr/>
          <p:nvPr/>
        </p:nvSpPr>
        <p:spPr>
          <a:xfrm>
            <a:off x="8119871" y="384048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8321040" y="40233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6</a:t>
            </a:r>
          </a:p>
        </p:txBody>
      </p:sp>
      <p:sp>
        <p:nvSpPr>
          <p:cNvPr id="48" name="TextBox 47"/>
          <p:cNvSpPr txBox="1"/>
          <p:nvPr/>
        </p:nvSpPr>
        <p:spPr>
          <a:xfrm>
            <a:off x="8961119" y="399592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Reproducibility</a:t>
            </a:r>
          </a:p>
        </p:txBody>
      </p:sp>
      <p:sp>
        <p:nvSpPr>
          <p:cNvPr id="49" name="TextBox 48"/>
          <p:cNvSpPr txBox="1"/>
          <p:nvPr/>
        </p:nvSpPr>
        <p:spPr>
          <a:xfrm>
            <a:off x="8321040" y="4709160"/>
            <a:ext cx="3118104" cy="1280160"/>
          </a:xfrm>
          <a:prstGeom prst="rect">
            <a:avLst/>
          </a:prstGeom>
          <a:noFill/>
        </p:spPr>
        <p:txBody>
          <a:bodyPr wrap="square" lIns="0" rIns="0" tIns="0" bIns="0" anchor="t">
            <a:spAutoFit/>
          </a:bodyPr>
          <a:lstStyle/>
          <a:p>
            <a:pPr algn="l">
              <a:spcAft>
                <a:spcPts val="400"/>
              </a:spcAft>
            </a:pPr>
            <a:r>
              <a:rPr sz="1500" b="0" i="0">
                <a:solidFill>
                  <a:srgbClr val="475569"/>
                </a:solidFill>
              </a:rPr>
              <a:t>Scripts rebuild the corpus, metrics, figures, screenshots and tests.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References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TextBox 25"/>
          <p:cNvSpPr txBox="1"/>
          <p:nvPr/>
        </p:nvSpPr>
        <p:spPr>
          <a:xfrm>
            <a:off x="548640" y="1234440"/>
            <a:ext cx="5440680" cy="5029200"/>
          </a:xfrm>
          <a:prstGeom prst="rect">
            <a:avLst/>
          </a:prstGeom>
          <a:noFill/>
        </p:spPr>
        <p:txBody>
          <a:bodyPr wrap="square" lIns="0" rIns="0" tIns="0" bIns="0" anchor="t">
            <a:spAutoFit/>
          </a:bodyPr>
          <a:lstStyle/>
          <a:p>
            <a:pPr algn="l">
              <a:spcAft>
                <a:spcPts val="800"/>
              </a:spcAft>
            </a:pPr>
            <a:r>
              <a:rPr sz="1400" b="0" i="0">
                <a:solidFill>
                  <a:srgbClr val="0F172A"/>
                </a:solidFill>
              </a:rPr>
              <a:t>[1] D. Zhang, H. Yu, J. Huo and M. Su, "SAC-RAG: Semantic Adaptive Context Compression for Retrieval-Augmented Generation," IEEE Access, vol. 14, pp. 117406-117418, 2026, doi: 10.1109/ACCESS.2026.3718025.</a:t>
            </a:r>
          </a:p>
          <a:p>
            <a:pPr algn="l">
              <a:spcAft>
                <a:spcPts val="800"/>
              </a:spcAft>
            </a:pPr>
            <a:r>
              <a:rPr sz="1400" b="0" i="0">
                <a:solidFill>
                  <a:srgbClr val="0F172A"/>
                </a:solidFill>
              </a:rPr>
              <a:t>[2] Z. Li, V. Yazdanpanah, J. Wang, W. Gu, L. Shi, A. I. Cristea, S. Kiden and S. Stein, "TutorLLM: Customizing learning recommendations with knowledge tracing and retrieval-augmented generation," in Proc. 18th ACM Conf. Recommender Syst. (RecSys 2024), Bari, Italy, Oct. 2024; arXiv:2502.15709.</a:t>
            </a:r>
          </a:p>
          <a:p>
            <a:pPr algn="l">
              <a:spcAft>
                <a:spcPts val="800"/>
              </a:spcAft>
            </a:pPr>
            <a:r>
              <a:rPr sz="1400" b="0" i="0">
                <a:solidFill>
                  <a:srgbClr val="0F172A"/>
                </a:solidFill>
              </a:rPr>
              <a:t>[3] R. Vatankhah Barenji, N. Salimi and S. Khoshgoftar, "An LLM-powered assessment retrieval-augmented generation (RAG) for higher education," arXiv:2601.06141, Jan. 2026.</a:t>
            </a:r>
          </a:p>
          <a:p>
            <a:pPr algn="l">
              <a:spcAft>
                <a:spcPts val="800"/>
              </a:spcAft>
            </a:pPr>
            <a:r>
              <a:rPr sz="1400" b="0" i="0">
                <a:solidFill>
                  <a:srgbClr val="0F172A"/>
                </a:solidFill>
              </a:rPr>
              <a:t>[4] P. Lewis et al., "Retrieval-augmented generation for knowledge-intensive NLP tasks," in Advances in Neural Information Processing Systems, vol. 33, 2020, pp. 9459-9474.</a:t>
            </a:r>
          </a:p>
        </p:txBody>
      </p:sp>
      <p:sp>
        <p:nvSpPr>
          <p:cNvPr id="27" name="TextBox 26"/>
          <p:cNvSpPr txBox="1"/>
          <p:nvPr/>
        </p:nvSpPr>
        <p:spPr>
          <a:xfrm>
            <a:off x="6199632" y="1234440"/>
            <a:ext cx="5440680" cy="5029200"/>
          </a:xfrm>
          <a:prstGeom prst="rect">
            <a:avLst/>
          </a:prstGeom>
          <a:noFill/>
        </p:spPr>
        <p:txBody>
          <a:bodyPr wrap="square" lIns="0" rIns="0" tIns="0" bIns="0" anchor="t">
            <a:spAutoFit/>
          </a:bodyPr>
          <a:lstStyle/>
          <a:p>
            <a:pPr algn="l">
              <a:spcAft>
                <a:spcPts val="800"/>
              </a:spcAft>
            </a:pPr>
            <a:r>
              <a:rPr sz="1400" b="0" i="0">
                <a:solidFill>
                  <a:srgbClr val="0F172A"/>
                </a:solidFill>
              </a:rPr>
              <a:t>[5] V. Karpukhin, B. Oguz, S. Min, P. Lewis, L. Wu, S. Edunov, D. Chen and W.-T. Yih, "Dense passage retrieval for open-domain question answering," in Proc. Conf. Empirical Methods Natural Lang. Process. (EMNLP), 2020, pp. 6769-6781.</a:t>
            </a:r>
          </a:p>
          <a:p>
            <a:pPr algn="l">
              <a:spcAft>
                <a:spcPts val="800"/>
              </a:spcAft>
            </a:pPr>
            <a:r>
              <a:rPr sz="1400" b="0" i="0">
                <a:solidFill>
                  <a:srgbClr val="0F172A"/>
                </a:solidFill>
              </a:rPr>
              <a:t>[6] S. Robertson and H. Zaragoza, "The probabilistic relevance framework: BM25 and beyond," Found. Trends Inf. Retr., vol. 3, no. 4, pp. 333-389, 2009.</a:t>
            </a:r>
          </a:p>
          <a:p>
            <a:pPr algn="l">
              <a:spcAft>
                <a:spcPts val="800"/>
              </a:spcAft>
            </a:pPr>
            <a:r>
              <a:rPr sz="1400" b="0" i="0">
                <a:solidFill>
                  <a:srgbClr val="0F172A"/>
                </a:solidFill>
              </a:rPr>
              <a:t>[7] G. Salton and C. Buckley, "Term-weighting approaches in automatic text retrieval," Inf. Process. Manage., vol. 24, no. 5, pp. 513-523, 1988.</a:t>
            </a:r>
          </a:p>
          <a:p>
            <a:pPr algn="l">
              <a:spcAft>
                <a:spcPts val="800"/>
              </a:spcAft>
            </a:pPr>
            <a:r>
              <a:rPr sz="1400" b="0" i="0">
                <a:solidFill>
                  <a:srgbClr val="0F172A"/>
                </a:solidFill>
              </a:rPr>
              <a:t>[8] S. Deerwester, S. T. Dumais, G. W. Furnas, T. K. Landauer and R. Harshman, "Indexing by latent semantic analysis," J. Amer. Soc. Inf. Sci., vol. 41, no. 6, pp. 391-407, 1990.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Adaptive Learning">
  <a:themeElements>
    <a:clrScheme name="Adaptive Learning">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Adaptive Learn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Adaptive Learning">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 Learning Intelligence Platform Using Educational Document Analysis and Personalized Learning Analytics: Review 1</dc:title>
  <dc:subject>Batch A1 (CSE-A)</dc:subject>
  <dc:creator>A Dhanush, Ale Vijayalaxmi, Burri Mallikarjun, Atragada Nagatrimurthulu</dc:creator>
  <cp:lastModifiedBy/>
  <cp:revision>1</cp:revision>
  <dcterms:created xsi:type="dcterms:W3CDTF">2026-10-13T12:36:40Z</dcterms:created>
  <dcterms:modified xsi:type="dcterms:W3CDTF">2026-10-13T12:36:40Z</dcterms:modified>
  <cp:keywords>adaptive learning, retrieval-augmented generation, educational document analysis, learning analytics</cp:keywords>
  <dc:description/>
</cp:coreProperties>
</file>