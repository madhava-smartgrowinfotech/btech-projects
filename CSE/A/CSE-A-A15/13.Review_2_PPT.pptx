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CipherVeil is designed and built, what is implemented, the first measured results from our own evaluation,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surveyed work advances steganography and encryption independently. The gap is a practical hybrid AES-RSA plus LSB pipeline evaluated end to end on capacity, imperceptibility and speed. ProSt reports no PSNR, SSIM or capacity, so we cannot compare numbers with it directly.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Routes live in backend/app/routes; the services hold all cryptographic and image logic and are shared by the API, the benchmark and ml/eval.py, so the numbers in this deck come from the same code the user runs.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fresh AES key and nonce are generated for every message, so two messages to the same receiver share nothing except the RSA key.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CipherVeil needs no external dataset: it is a deterministic scheme, so we evaluate it on a fixed grid of covers and payload sizes. The limit is that these are only six images and four small files; camera photographs were not tested.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Overhead is the wrapped key, magic, lengths, nonce, header JSON and the 16-byte GCM tag. The cover keeps its geometry; only the lowest bit of the first bits-needed values changes.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primitives are standard; the contribution is the way they are combined, the bundle format and the measurement. Sequential embedding is a deliberate simplification and is the reason steganalysis can find the payload.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model to train, so configuration means the cryptographic parameters and the experiment grid. Timings vary by 10 to 30 percent between runs because other jobs share the PC; accuracy-type numbers such as PSNR do not.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lsb.embed, lsb.extract, crypto.decrypt_bundle and the receive route. Failures are logged as failed operations with the error text only.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follows data from the user through authentication, key management, the send and receive pipelines, analysis and the log. The stores are the database and the output folder.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private keys are stored unencrypted in the local database, so data/app.db must be treated as sensitive. A public-only entry has a NULL private_pem. The log table never receives keys, passwords or file contents; a test checks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on the measurement PC. The front end build succeeds in about 17 seconds; the landing page ships a 747 kB three.js chunk.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last three rows are the honest gaps. The KeyRound defect was found while capturing screens with a fresh account; the product code was not changed during documentation, and the fix is one import 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22 of 22 round trips byte-exact, PSNR between 52.5 and 74.6 dB depending on how full the cover is, SSIM above 0.996. PSNR depends only on how many bits are embedded, because each embedded bit flips its value half the time. ProSt reports no PSNR or SSIM, so we compare only with the supporting SCReedSolo paper in the final review, and there the covers and payloads differ.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one session. The memo is hidden in the astronaut photo (PSNR 57.64 dB, 22.4 percent of the capacity); the second receive uses a different 3072-bit key and is refused.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cover the cryptography, the LSB layer, the metrics, the pipeline and the API through FastAPI's TestClient; the smoke script drives the live server. No browser assertion suite and no load test were run.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Item 1 addresses the main weakness shown by the steganalysis results; item 3 addresses the security gaps listed on the progress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AES-GCM and not CBC; why RSA-OAEP; why PSNR does not depend on the cover; why the payload dies under JPEG; how ProSt differs; whether the scheme can be detected (yes, by chi-square and weighted-stego at medium and high fill).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CipherVeil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200" b="1" dirty="0">
                <a:solidFill>
                  <a:srgbClr val="FFFFFF"/>
                </a:solidFill>
                <a:latin typeface="Cambria" pitchFamily="34" charset="0"/>
                <a:ea typeface="Cambria" pitchFamily="34" charset="-122"/>
                <a:cs typeface="Cambria" pitchFamily="34" charset="-120"/>
              </a:rPr>
              <a:t>Data Protection Using Hybrid Encryption and Steganography</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AES-256-GCM and RSA-OAEP encryption, hidden by LSB steganography in a PNG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Allam Rakesh  23K91A0509</a:t>
            </a:r>
            <a:endParaRPr lang="en-US" sz="1500" dirty="0"/>
          </a:p>
          <a:p>
            <a:pPr indent="0" marL="0">
              <a:buNone/>
            </a:pPr>
            <a:r>
              <a:rPr lang="en-US" sz="1500" dirty="0">
                <a:solidFill>
                  <a:srgbClr val="FFFFFF"/>
                </a:solidFill>
              </a:rPr>
              <a:t>Bolleddu Shanker  23K91A0543</a:t>
            </a:r>
            <a:endParaRPr lang="en-US" sz="1500" dirty="0"/>
          </a:p>
          <a:p>
            <a:pPr indent="0" marL="0">
              <a:buNone/>
            </a:pPr>
            <a:r>
              <a:rPr lang="en-US" sz="1500" dirty="0">
                <a:solidFill>
                  <a:srgbClr val="FFFFFF"/>
                </a:solidFill>
              </a:rPr>
              <a:t>Agaram Sri Sarvagna  23K91A0506</a:t>
            </a:r>
            <a:endParaRPr lang="en-US" sz="1500" dirty="0"/>
          </a:p>
          <a:p>
            <a:pPr indent="0" marL="0">
              <a:buNone/>
            </a:pPr>
            <a:r>
              <a:rPr lang="en-US" sz="1500" dirty="0">
                <a:solidFill>
                  <a:srgbClr val="FFFFFF"/>
                </a:solidFill>
              </a:rPr>
              <a:t>B Akshay  24K915A0504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Rajalakshmi,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A15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data and preprocessing</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The pipeline and its configuration</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Decision logic and data flow</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Entities, UML and technology stack</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Preliminary results and output screens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Testing and challenges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Encryption alone shows that something secret is moving. Hiding alone protects nothing once found. Symmetric keys are fast but sharing them is the weak point, and naive LSB embedding can degrade the picture.</a:t>
            </a:r>
          </a:p>
        </p:txBody>
      </p:sp>
      <p:sp>
        <p:nvSpPr>
          <p:cNvPr id="30" name="Rounded Rectangle 29"/>
          <p:cNvSpPr/>
          <p:nvPr/>
        </p:nvSpPr>
        <p:spPr>
          <a:xfrm>
            <a:off x="4334255"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CipherVeil encrypts a file with a fresh AES-256-GCM key, wraps that key with the receiver's RSA public key, and hides the bundle in the least significant bits of a PNG. The receiver extracts, unwraps, verifies the tag and gets the file back byte for byte.</a:t>
            </a:r>
          </a:p>
        </p:txBody>
      </p:sp>
      <p:sp>
        <p:nvSpPr>
          <p:cNvPr id="34" name="Rounded Rectangle 33"/>
          <p:cNvSpPr/>
          <p:nvPr/>
        </p:nvSpPr>
        <p:spPr>
          <a:xfrm>
            <a:off x="8119871"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Ahmad and Rass (ProSt) hide secret bits among random decoy LSBs so an untrusted cloud can compute on them. We keep the LSB carrier and key-exchange framing, but move a whole file from sender to receiver and measure it. We do not implement homomorphic computation or its security proof.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a15_r2_01.png"/>
          <p:cNvPicPr>
            <a:picLocks noChangeAspect="1"/>
          </p:cNvPicPr>
          <p:nvPr/>
        </p:nvPicPr>
        <p:blipFill>
          <a:blip r:embed="rId1"/>
          <a:stretch>
            <a:fillRect/>
          </a:stretch>
        </p:blipFill>
        <p:spPr>
          <a:xfrm>
            <a:off x="548640" y="1257008"/>
            <a:ext cx="6583679" cy="5075503"/>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500" b="1" i="0">
                <a:solidFill>
                  <a:srgbClr val="0F172A"/>
                </a:solidFill>
              </a:rPr>
              <a:t>Three tiers, one small database</a:t>
            </a:r>
          </a:p>
          <a:p>
            <a:pPr algn="l" marL="256032" indent="-201168">
              <a:spcAft>
                <a:spcPts val="400"/>
              </a:spcAft>
              <a:buChar char="•"/>
            </a:pPr>
            <a:r>
              <a:rPr sz="1500" b="0" i="0">
                <a:solidFill>
                  <a:srgbClr val="0F172A"/>
                </a:solidFill>
              </a:rPr>
              <a:t>Console: React 18 + Vite on port 5315, 8 pages: landing, sign-in, keys, send, receive, analysis, robustness, log.</a:t>
            </a:r>
          </a:p>
          <a:p>
            <a:pPr algn="l" marL="256032" indent="-201168">
              <a:spcAft>
                <a:spcPts val="400"/>
              </a:spcAft>
              <a:buChar char="•"/>
            </a:pPr>
            <a:r>
              <a:rPr sz="1500" b="0" i="0">
                <a:solidFill>
                  <a:srgbClr val="0F172A"/>
                </a:solidFill>
              </a:rPr>
              <a:t>API: FastAPI on port 8315, 24 endpoints under /api, JWT sign-in (12 h), bcrypt password hashes.</a:t>
            </a:r>
          </a:p>
          <a:p>
            <a:pPr algn="l" marL="256032" indent="-201168">
              <a:spcAft>
                <a:spcPts val="400"/>
              </a:spcAft>
              <a:buChar char="•"/>
            </a:pPr>
            <a:r>
              <a:rPr sz="1500" b="0" i="0">
                <a:solidFill>
                  <a:srgbClr val="0F172A"/>
                </a:solidFill>
              </a:rPr>
              <a:t>Services: crypto, lsb, metrics, pipeline, plots, robustness, benchmark (about 1,040 lines of backend Python).</a:t>
            </a:r>
          </a:p>
          <a:p>
            <a:pPr algn="l" marL="256032" indent="-201168">
              <a:spcAft>
                <a:spcPts val="400"/>
              </a:spcAft>
              <a:buChar char="•"/>
            </a:pPr>
            <a:r>
              <a:rPr sz="1500" b="0" i="0">
                <a:solidFill>
                  <a:srgbClr val="0F172A"/>
                </a:solidFill>
              </a:rPr>
              <a:t>Storage: SQLite with users, keypairs and oplog; cover, stego and restored files under data/outputs.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encrypt, wrap, hide, recover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a15_r2_02.png"/>
          <p:cNvPicPr>
            <a:picLocks noChangeAspect="1"/>
          </p:cNvPicPr>
          <p:nvPr/>
        </p:nvPicPr>
        <p:blipFill>
          <a:blip r:embed="rId3"/>
          <a:stretch>
            <a:fillRect/>
          </a:stretch>
        </p:blipFill>
        <p:spPr>
          <a:xfrm>
            <a:off x="832258" y="1280160"/>
            <a:ext cx="6199322" cy="4572000"/>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Send</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Header {name, size, SHA-256} plus the file is encrypted with AES-256-GCM; the session key is wrapped with RSA-OAEP; a capacity check precedes embedding.</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Hide</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The 32-bit length and the bundle go into the lowest bit of each R, G, B value, row by row; the result is saved as a PNG and measured (PSNR, SSIM).</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Recover</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Extract, unwrap with the private key, verify the GCM tag, then compare the stored SHA-256 with the hash of the restored file.</a:t>
            </a:r>
          </a:p>
        </p:txBody>
      </p:sp>
      <p:sp>
        <p:nvSpPr>
          <p:cNvPr id="36" name="TextBox 35"/>
          <p:cNvSpPr txBox="1"/>
          <p:nvPr/>
        </p:nvSpPr>
        <p:spPr>
          <a:xfrm>
            <a:off x="548640" y="594360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as implemented in the backend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no dataset, six covers and four payloads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cover images, 200 x 200 to 1280 x 720</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synthetic payloads, 99 B to 21.5 KiB</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22 + 8</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evaluation runs that fit + runs blocked by the capacity check</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random payload seeds per fill level in the fill study</a:t>
            </a:r>
          </a:p>
        </p:txBody>
      </p:sp>
      <p:graphicFrame>
        <p:nvGraphicFramePr>
          <p:cNvPr id="42" name="Table 41"/>
          <p:cNvGraphicFramePr>
            <a:graphicFrameLocks noGrp="1"/>
          </p:cNvGraphicFramePr>
          <p:nvPr/>
        </p:nvGraphicFramePr>
        <p:xfrm>
          <a:off x="548640" y="2697480"/>
          <a:ext cx="11091672" cy="2944368"/>
        </p:xfrm>
        <a:graphic>
          <a:graphicData uri="http://schemas.openxmlformats.org/drawingml/2006/table">
            <a:tbl>
              <a:tblPr firstRow="0" bandRow="0">
                <a:tableStyleId>{5C22544A-7EE6-4342-B048-85BDC9FD1C3A}</a:tableStyleId>
              </a:tblPr>
              <a:tblGrid>
                <a:gridCol w="3291840"/>
                <a:gridCol w="1554480"/>
                <a:gridCol w="1463040"/>
                <a:gridCol w="4782312"/>
              </a:tblGrid>
              <a:tr h="420624">
                <a:tc>
                  <a:txBody>
                    <a:bodyPr wrap="square"/>
                    <a:lstStyle/>
                    <a:p>
                      <a:pPr algn="ctr"/>
                      <a:r>
                        <a:rPr sz="1250" b="1">
                          <a:solidFill>
                            <a:srgbClr val="FFFFFF"/>
                          </a:solidFill>
                        </a:rPr>
                        <a:t>Cover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Pixels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Max hidden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Source and licence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0624">
                <a:tc>
                  <a:txBody>
                    <a:bodyPr wrap="square"/>
                    <a:lstStyle/>
                    <a:p>
                      <a:pPr algn="l"/>
                      <a:r>
                        <a:rPr sz="1250" b="1">
                          <a:solidFill>
                            <a:srgbClr val="0F172A"/>
                          </a:solidFill>
                        </a:rPr>
                        <a:t>astronaut_512x512.png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512 x 512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96.0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scikit-image astronaut, NASA photo, public domain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50" b="1">
                          <a:solidFill>
                            <a:srgbClr val="0F172A"/>
                          </a:solidFill>
                        </a:rPr>
                        <a:t>cat_451x300.png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451 x 300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49.5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scikit-image chelsea, CC0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250" b="1">
                          <a:solidFill>
                            <a:srgbClr val="0F172A"/>
                          </a:solidFill>
                        </a:rPr>
                        <a:t>coffee_600x400.png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600 x 400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87.9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scikit-image coffee, CC0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50" b="1">
                          <a:solidFill>
                            <a:srgbClr val="0F172A"/>
                          </a:solidFill>
                        </a:rPr>
                        <a:t>coffee_small_200x200.png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200 x 200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14.6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crop of coffee, resized, CC0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250" b="1">
                          <a:solidFill>
                            <a:srgbClr val="0F172A"/>
                          </a:solidFill>
                        </a:rPr>
                        <a:t>generated_landscape_1280x720.png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1280 x 720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337.5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procedural, seed 11, generated here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50" b="1">
                          <a:solidFill>
                            <a:srgbClr val="0F172A"/>
                          </a:solidFill>
                        </a:rPr>
                        <a:t>rocket_640x427.png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640 x 427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100.1 KiB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scikit-image rocket, public domain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43" name="TextBox 42"/>
          <p:cNvSpPr txBox="1"/>
          <p:nvPr/>
        </p:nvSpPr>
        <p:spPr>
          <a:xfrm>
            <a:off x="548640" y="5760720"/>
            <a:ext cx="11091672" cy="640080"/>
          </a:xfrm>
          <a:prstGeom prst="rect">
            <a:avLst/>
          </a:prstGeom>
          <a:noFill/>
        </p:spPr>
        <p:txBody>
          <a:bodyPr wrap="square" lIns="0" rIns="0" tIns="0" bIns="0" anchor="t">
            <a:spAutoFit/>
          </a:bodyPr>
          <a:lstStyle/>
          <a:p>
            <a:pPr algn="l">
              <a:spcAft>
                <a:spcPts val="400"/>
              </a:spcAft>
            </a:pPr>
            <a:r>
              <a:rPr sz="1200" b="0" i="1">
                <a:solidFill>
                  <a:srgbClr val="475569"/>
                </a:solidFill>
              </a:rPr>
              <a:t>Payloads: accounts.csv 2,774 B, confidential_memo.pdf 21,517 B, meeting_notes.txt 169 B, settings.json 99 B, all synthetic. Nothing is learned, so there is no train/test split; the committed files are regenerated by a seeded script. Any image up to 25 MB can be uploaded instead.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 preparing payload and cover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File bytes</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Header: name, size, SHA-256</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header_len + header + file</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Cover to RGB uint8</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Capacity check</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Bit stream</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3.0</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bits per pixel capacity: (W x H x 3 - 32) / 8 bytes per cover</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32 bit</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big-endian length prefix written before the bundle</a:t>
            </a:r>
          </a:p>
        </p:txBody>
      </p:sp>
      <p:sp>
        <p:nvSpPr>
          <p:cNvPr id="45" name="TextBox 44"/>
          <p:cNvSpPr txBox="1"/>
          <p:nvPr/>
        </p:nvSpPr>
        <p:spPr>
          <a:xfrm>
            <a:off x="548640" y="3977639"/>
            <a:ext cx="11091672" cy="237744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The stored file name is stripped to its base name; the header travels inside the encrypted layer, so name, size and hash are not visible.</a:t>
            </a:r>
          </a:p>
          <a:p>
            <a:pPr algn="l" marL="256032" indent="-201168">
              <a:spcAft>
                <a:spcPts val="900"/>
              </a:spcAft>
              <a:buChar char="•"/>
            </a:pPr>
            <a:r>
              <a:rPr sz="1600" b="0" i="0">
                <a:solidFill>
                  <a:srgbClr val="0F172A"/>
                </a:solidFill>
              </a:rPr>
              <a:t>Covers are converted to 8-bit RGB; an alpha channel is dropped; output is always PNG, the one common format that stores every pixel value exactly.</a:t>
            </a:r>
          </a:p>
          <a:p>
            <a:pPr algn="l" marL="256032" indent="-201168">
              <a:spcAft>
                <a:spcPts val="900"/>
              </a:spcAft>
              <a:buChar char="•"/>
            </a:pPr>
            <a:r>
              <a:rPr sz="1600" b="0" i="0">
                <a:solidFill>
                  <a:srgbClr val="0F172A"/>
                </a:solidFill>
              </a:rPr>
              <a:t>Uploads are capped at 25 MB; an empty file, a non-image cover or an oversized payload is rejected with a message before any bit is written.</a:t>
            </a:r>
          </a:p>
          <a:p>
            <a:pPr algn="l" marL="256032" indent="-201168">
              <a:spcAft>
                <a:spcPts val="900"/>
              </a:spcAft>
              <a:buChar char="•"/>
            </a:pPr>
            <a:r>
              <a:rPr sz="1600" b="0" i="0">
                <a:solidFill>
                  <a:srgbClr val="0F172A"/>
                </a:solidFill>
              </a:rPr>
              <a:t>Overhead added to the file: 401 B (RSA-2048), 529 B (RSA-3072), 657 B (RSA-4096).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The pipeline: AES-256-GCM, RSA-OAEP and LSB</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a15_r2_11.png"/>
          <p:cNvPicPr>
            <a:picLocks noChangeAspect="1"/>
          </p:cNvPicPr>
          <p:nvPr/>
        </p:nvPicPr>
        <p:blipFill>
          <a:blip r:embed="rId1"/>
          <a:stretch>
            <a:fillRect/>
          </a:stretch>
        </p:blipFill>
        <p:spPr>
          <a:xfrm>
            <a:off x="981657" y="1234440"/>
            <a:ext cx="6083404" cy="4572000"/>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AES-256-GCM</a:t>
            </a:r>
            <a:r>
              <a:rPr sz="1400" b="0" i="0">
                <a:solidFill>
                  <a:srgbClr val="0F172A"/>
                </a:solidFill>
              </a:rPr>
              <a:t>: fresh 256-bit key and 96-bit nonce per message; associated data is the magic CVL1; the 16-byte tag authenticates everything.</a:t>
            </a:r>
          </a:p>
          <a:p>
            <a:pPr algn="l" marL="256032" indent="-201168">
              <a:spcAft>
                <a:spcPts val="800"/>
              </a:spcAft>
              <a:buChar char="•"/>
            </a:pPr>
            <a:r>
              <a:rPr sz="1400" b="1" i="0">
                <a:solidFill>
                  <a:srgbClr val="0F172A"/>
                </a:solidFill>
              </a:rPr>
              <a:t>RSA-OAEP</a:t>
            </a:r>
            <a:r>
              <a:rPr sz="1400" b="0" i="0">
                <a:solidFill>
                  <a:srgbClr val="0F172A"/>
                </a:solidFill>
              </a:rPr>
              <a:t> (SHA-256, MGF1-SHA-256) wraps the session key; RSA keys below 2048 bits are rejected.</a:t>
            </a:r>
          </a:p>
          <a:p>
            <a:pPr algn="l" marL="256032" indent="-201168">
              <a:spcAft>
                <a:spcPts val="800"/>
              </a:spcAft>
              <a:buChar char="•"/>
            </a:pPr>
            <a:r>
              <a:rPr sz="1400" b="1" i="0">
                <a:solidFill>
                  <a:srgbClr val="0F172A"/>
                </a:solidFill>
              </a:rPr>
              <a:t>LSB substitution</a:t>
            </a:r>
            <a:r>
              <a:rPr sz="1400" b="0" i="0">
                <a:solidFill>
                  <a:srgbClr val="0F172A"/>
                </a:solidFill>
              </a:rPr>
              <a:t>: 1 bit per R, G, B value, sequential from the top-left pixel; no key-dependent permutation.</a:t>
            </a:r>
          </a:p>
        </p:txBody>
      </p:sp>
      <p:sp>
        <p:nvSpPr>
          <p:cNvPr id="28" name="TextBox 27"/>
          <p:cNvSpPr txBox="1"/>
          <p:nvPr/>
        </p:nvSpPr>
        <p:spPr>
          <a:xfrm>
            <a:off x="548640" y="5897880"/>
            <a:ext cx="6949440" cy="411480"/>
          </a:xfrm>
          <a:prstGeom prst="rect">
            <a:avLst/>
          </a:prstGeom>
          <a:noFill/>
        </p:spPr>
        <p:txBody>
          <a:bodyPr wrap="square" lIns="0" rIns="0" tIns="0" bIns="0" anchor="t">
            <a:spAutoFit/>
          </a:bodyPr>
          <a:lstStyle/>
          <a:p>
            <a:pPr algn="ctr">
              <a:spcAft>
                <a:spcPts val="400"/>
              </a:spcAft>
            </a:pPr>
            <a:r>
              <a:rPr sz="1200" b="0" i="1">
                <a:solidFill>
                  <a:srgbClr val="475569"/>
                </a:solidFill>
              </a:rPr>
              <a:t>CVL1 bundle layout and the way its bits are laid into the image.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Configuration and evaluation set-up (no training)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234440"/>
          <a:ext cx="11091672" cy="4535424"/>
        </p:xfrm>
        <a:graphic>
          <a:graphicData uri="http://schemas.openxmlformats.org/drawingml/2006/table">
            <a:tbl>
              <a:tblPr firstRow="0" bandRow="0">
                <a:tableStyleId>{5C22544A-7EE6-4342-B048-85BDC9FD1C3A}</a:tableStyleId>
              </a:tblPr>
              <a:tblGrid>
                <a:gridCol w="2103120"/>
                <a:gridCol w="8988552"/>
              </a:tblGrid>
              <a:tr h="566928">
                <a:tc>
                  <a:txBody>
                    <a:bodyPr wrap="square"/>
                    <a:lstStyle/>
                    <a:p>
                      <a:pPr algn="ctr"/>
                      <a:r>
                        <a:rPr sz="13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300" b="1">
                          <a:solidFill>
                            <a:srgbClr val="0F172A"/>
                          </a:solidFill>
                        </a:rPr>
                        <a:t>Cipher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AES-256-GCM, 96-bit random nonce, associated data CVL1, 128-bit tag; OAEP padding with SHA-256 and MGF1-SHA-256, public exponent 65537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1">
                          <a:solidFill>
                            <a:srgbClr val="0F172A"/>
                          </a:solidFill>
                        </a:rPr>
                        <a:t>Key sizes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RSA 2048 / 3072 (default) / 4096; key generation median 32 / 191 / 354 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1">
                          <a:solidFill>
                            <a:srgbClr val="0F172A"/>
                          </a:solidFill>
                        </a:rPr>
                        <a:t>Embedding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1 LSB per colour value, row-major, 32-bit length prefix; stego saved as PNG compression level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1">
                          <a:solidFill>
                            <a:srgbClr val="0F172A"/>
                          </a:solidFill>
                        </a:rPr>
                        <a:t>Core evaluation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ml/eval.py: 6 covers x payloads 1, 4, 16, 64, 128 KiB, RSA-3072, 3 repeats, median; 22 runs fit, 8 blocked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1">
                          <a:solidFill>
                            <a:srgbClr val="0F172A"/>
                          </a:solidFill>
                        </a:rPr>
                        <a:t>Extra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fill study (6 covers x 7 fill levels x 5 payload seeds), 9 extra attacks, chi-square and weighted-stego tests, 240 tamper flips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1">
                          <a:solidFill>
                            <a:srgbClr val="0F172A"/>
                          </a:solidFill>
                        </a:rPr>
                        <a:t>Reproducibility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fixed seeds (payloads 1000-1004, 2024, 77, 9); the covers are regenerated by scripts/make_samples.py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Core i5-12500 (6 cores), 15.7 GB RAM, Windows 11, Python 3.11.9, cryptography 44.0.0, scikit-image 0.24.0; CPU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548640" y="617220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Parameters are those in the shipped code; the system has nothing to train or tune.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embedding, extraction and checks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a15_r2_10.png"/>
          <p:cNvPicPr>
            <a:picLocks noChangeAspect="1"/>
          </p:cNvPicPr>
          <p:nvPr/>
        </p:nvPicPr>
        <p:blipFill>
          <a:blip r:embed="rId1"/>
          <a:stretch>
            <a:fillRect/>
          </a:stretch>
        </p:blipFill>
        <p:spPr>
          <a:xfrm>
            <a:off x="1074340" y="1188720"/>
            <a:ext cx="4343558" cy="5166360"/>
          </a:xfrm>
          <a:prstGeom prst="rect">
            <a:avLst/>
          </a:prstGeom>
        </p:spPr>
      </p:pic>
      <p:graphicFrame>
        <p:nvGraphicFramePr>
          <p:cNvPr id="27" name="Table 26"/>
          <p:cNvGraphicFramePr>
            <a:graphicFrameLocks noGrp="1"/>
          </p:cNvGraphicFramePr>
          <p:nvPr/>
        </p:nvGraphicFramePr>
        <p:xfrm>
          <a:off x="6217920" y="1280160"/>
          <a:ext cx="5440680" cy="3803904"/>
        </p:xfrm>
        <a:graphic>
          <a:graphicData uri="http://schemas.openxmlformats.org/drawingml/2006/table">
            <a:tbl>
              <a:tblPr firstRow="0" bandRow="0">
                <a:tableStyleId>{5C22544A-7EE6-4342-B048-85BDC9FD1C3A}</a:tableStyleId>
              </a:tblPr>
              <a:tblGrid>
                <a:gridCol w="3337560"/>
                <a:gridCol w="2103120"/>
              </a:tblGrid>
              <a:tr h="475488">
                <a:tc>
                  <a:txBody>
                    <a:bodyPr wrap="square"/>
                    <a:lstStyle/>
                    <a:p>
                      <a:pPr algn="ctr"/>
                      <a:r>
                        <a:rPr sz="1200" b="1">
                          <a:solidFill>
                            <a:srgbClr val="FFFFFF"/>
                          </a:solidFill>
                        </a:rPr>
                        <a:t>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Outcome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200" b="0">
                          <a:solidFill>
                            <a:srgbClr val="0F172A"/>
                          </a:solidFill>
                        </a:rPr>
                        <a:t>Bundle larger than (W x H x 3 - 32) / 8 bytes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Send refused, nothing embedded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Length header zero or above capacity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Receive: no payload found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Magic is not CVL1 or bundle too short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Rejected before RSA is used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Wrapped-key length differs from key size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Wrong private key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RSA unwrap fails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Not the key the message was sent to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GCM tag check fails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Data modified; nothing released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SHA-256 in header differs from restored 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Hash mismatch flagged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8" name="TextBox 27"/>
          <p:cNvSpPr txBox="1"/>
          <p:nvPr/>
        </p:nvSpPr>
        <p:spPr>
          <a:xfrm>
            <a:off x="6217920" y="5257800"/>
            <a:ext cx="5440680" cy="1097280"/>
          </a:xfrm>
          <a:prstGeom prst="rect">
            <a:avLst/>
          </a:prstGeom>
          <a:noFill/>
        </p:spPr>
        <p:txBody>
          <a:bodyPr wrap="square" lIns="0" rIns="0" tIns="0" bIns="0" anchor="t">
            <a:spAutoFit/>
          </a:bodyPr>
          <a:lstStyle/>
          <a:p>
            <a:pPr algn="l" marL="256032" indent="-201168">
              <a:spcAft>
                <a:spcPts val="400"/>
              </a:spcAft>
              <a:buChar char="•"/>
            </a:pPr>
            <a:r>
              <a:rPr sz="1250" b="0" i="0">
                <a:solidFill>
                  <a:srgbClr val="0F172A"/>
                </a:solidFill>
              </a:rPr>
              <a:t>Order matters: cheap structural checks run first, the RSA operation second, the authenticated decryption last; every failure ends in an explicit message and a log entry without secrets.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a15_r2_04.png"/>
          <p:cNvPicPr>
            <a:picLocks noChangeAspect="1"/>
          </p:cNvPicPr>
          <p:nvPr/>
        </p:nvPicPr>
        <p:blipFill>
          <a:blip r:embed="rId1"/>
          <a:stretch>
            <a:fillRect/>
          </a:stretch>
        </p:blipFill>
        <p:spPr>
          <a:xfrm>
            <a:off x="1079817" y="1188720"/>
            <a:ext cx="5338444" cy="5166359"/>
          </a:xfrm>
          <a:prstGeom prst="rect">
            <a:avLst/>
          </a:prstGeom>
        </p:spPr>
      </p:pic>
      <p:graphicFrame>
        <p:nvGraphicFramePr>
          <p:cNvPr id="27" name="Table 26"/>
          <p:cNvGraphicFramePr>
            <a:graphicFrameLocks noGrp="1"/>
          </p:cNvGraphicFramePr>
          <p:nvPr/>
        </p:nvGraphicFramePr>
        <p:xfrm>
          <a:off x="7223760" y="1325880"/>
          <a:ext cx="4416552" cy="4526280"/>
        </p:xfrm>
        <a:graphic>
          <a:graphicData uri="http://schemas.openxmlformats.org/drawingml/2006/table">
            <a:tbl>
              <a:tblPr firstRow="0" bandRow="0">
                <a:tableStyleId>{5C22544A-7EE6-4342-B048-85BDC9FD1C3A}</a:tableStyleId>
              </a:tblPr>
              <a:tblGrid>
                <a:gridCol w="2148840"/>
                <a:gridCol w="2267712"/>
              </a:tblGrid>
              <a:tr h="50292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200" b="1">
                          <a:solidFill>
                            <a:srgbClr val="0F172A"/>
                          </a:solidFill>
                        </a:rPr>
                        <a:t>services/crypto.py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keys, bundle encrypt and decrypt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services/lsb.py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embed, extract, capacity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services/metrics.py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PSNR, SSIM, MSE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services/robustness.py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nine attacks, hash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services/pipeline.py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hide and reveal with timings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routes/ (5 files)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24 endpoints, ownership checks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db.py, auth.py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3 tables, JWT, bcrypt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tests/, 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39 tests, smoke,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943600"/>
            <a:ext cx="4416552" cy="457200"/>
          </a:xfrm>
          <a:prstGeom prst="rect">
            <a:avLst/>
          </a:prstGeom>
          <a:noFill/>
        </p:spPr>
        <p:txBody>
          <a:bodyPr wrap="square" lIns="0" rIns="0" tIns="0" bIns="0" anchor="t">
            <a:spAutoFit/>
          </a:bodyPr>
          <a:lstStyle/>
          <a:p>
            <a:pPr algn="l">
              <a:spcAft>
                <a:spcPts val="400"/>
              </a:spcAft>
            </a:pPr>
            <a:r>
              <a:rPr sz="1150" b="0" i="1">
                <a:solidFill>
                  <a:srgbClr val="475569"/>
                </a:solidFill>
              </a:rPr>
              <a:t>Level-1 data-flow diagram of the 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entities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a15_r2_09.png"/>
          <p:cNvPicPr>
            <a:picLocks noChangeAspect="1"/>
          </p:cNvPicPr>
          <p:nvPr/>
        </p:nvPicPr>
        <p:blipFill>
          <a:blip r:embed="rId1"/>
          <a:stretch>
            <a:fillRect/>
          </a:stretch>
        </p:blipFill>
        <p:spPr>
          <a:xfrm>
            <a:off x="548640" y="1871454"/>
            <a:ext cx="5486400" cy="3160810"/>
          </a:xfrm>
          <a:prstGeom prst="rect">
            <a:avLst/>
          </a:prstGeom>
        </p:spPr>
      </p:pic>
      <p:pic>
        <p:nvPicPr>
          <p:cNvPr id="27" name="Picture 26" descr="a15_r2_06.png"/>
          <p:cNvPicPr>
            <a:picLocks noChangeAspect="1"/>
          </p:cNvPicPr>
          <p:nvPr/>
        </p:nvPicPr>
        <p:blipFill>
          <a:blip r:embed="rId4"/>
          <a:stretch>
            <a:fillRect/>
          </a:stretch>
        </p:blipFill>
        <p:spPr>
          <a:xfrm>
            <a:off x="6172200" y="1333876"/>
            <a:ext cx="5486400" cy="4464567"/>
          </a:xfrm>
          <a:prstGeom prst="rect">
            <a:avLst/>
          </a:prstGeom>
        </p:spPr>
      </p:pic>
      <p:sp>
        <p:nvSpPr>
          <p:cNvPr id="28" name="TextBox 27"/>
          <p:cNvSpPr txBox="1"/>
          <p:nvPr/>
        </p:nvSpPr>
        <p:spPr>
          <a:xfrm>
            <a:off x="548640" y="5806440"/>
            <a:ext cx="5486400" cy="640080"/>
          </a:xfrm>
          <a:prstGeom prst="rect">
            <a:avLst/>
          </a:prstGeom>
          <a:noFill/>
        </p:spPr>
        <p:txBody>
          <a:bodyPr wrap="square" lIns="0" rIns="0" tIns="0" bIns="0" anchor="t">
            <a:spAutoFit/>
          </a:bodyPr>
          <a:lstStyle/>
          <a:p>
            <a:pPr algn="l">
              <a:spcAft>
                <a:spcPts val="400"/>
              </a:spcAft>
            </a:pPr>
            <a:r>
              <a:rPr sz="1150" b="0" i="1">
                <a:solidFill>
                  <a:srgbClr val="475569"/>
                </a:solidFill>
              </a:rPr>
              <a:t>SQLite: users(id, username, pw_hash), keypairs(user_id, bits, fingerprint, public_pem, private_pem or NULL) and oplog(user_id, op, ok, details JSON).</a:t>
            </a:r>
          </a:p>
        </p:txBody>
      </p:sp>
      <p:sp>
        <p:nvSpPr>
          <p:cNvPr id="29" name="TextBox 28"/>
          <p:cNvSpPr txBox="1"/>
          <p:nvPr/>
        </p:nvSpPr>
        <p:spPr>
          <a:xfrm>
            <a:off x="6172200" y="5989320"/>
            <a:ext cx="5486400" cy="457200"/>
          </a:xfrm>
          <a:prstGeom prst="rect">
            <a:avLst/>
          </a:prstGeom>
          <a:noFill/>
        </p:spPr>
        <p:txBody>
          <a:bodyPr wrap="square" lIns="0" rIns="0" tIns="0" bIns="0" anchor="t">
            <a:spAutoFit/>
          </a:bodyPr>
          <a:lstStyle/>
          <a:p>
            <a:pPr algn="l">
              <a:spcAft>
                <a:spcPts val="400"/>
              </a:spcAft>
            </a:pPr>
            <a:r>
              <a:rPr sz="1150" b="0" i="1">
                <a:solidFill>
                  <a:srgbClr val="475569"/>
                </a:solidFill>
              </a:rPr>
              <a:t>Services and routes as classes and modules used by the API.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608576"/>
        </p:xfrm>
        <a:graphic>
          <a:graphicData uri="http://schemas.openxmlformats.org/drawingml/2006/table">
            <a:tbl>
              <a:tblPr firstRow="0" bandRow="0">
                <a:tableStyleId>{5C22544A-7EE6-4342-B048-85BDC9FD1C3A}</a:tableStyleId>
              </a:tblPr>
              <a:tblGrid>
                <a:gridCol w="2377440"/>
                <a:gridCol w="8714232"/>
              </a:tblGrid>
              <a:tr h="658368">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3.11.9, FastAPI 0.115.6, Uvicorn 0.34.0, SQLAlchemy 2.0.36 on SQLite, PyJWT 2.10.1 (HS256), bcrypt 4.2.1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Cryptography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cryptography 44.0.0: AESGCM, RSA key generation, OAEP; hashlib SHA-256; os.urandom for nonces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Image and metrics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Pillow 11.0.0, NumPy 2.1.3 (bit operations on uint8 arrays), scikit-image 0.24.0 (PSNR, SSIM), matplotlib 3.9.3 (histograms, bit planes)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React 18.3.1, Vite 6.0.3, Tailwind CSS 4, React Router 6, Axios, Recharts 3; three.js backdrop on the landing 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Testing and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pytest with FastAPI TestClient, urllib smoke script, Playwright with Chrome for 1440 x 900 captures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setup.bat creates the virtual environment and installs packages; run.bat starts both servers on ports 8315 and 5315; runs offline, no API keys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937760"/>
        </p:xfrm>
        <a:graphic>
          <a:graphicData uri="http://schemas.openxmlformats.org/drawingml/2006/table">
            <a:tbl>
              <a:tblPr firstRow="0" bandRow="0">
                <a:tableStyleId>{5C22544A-7EE6-4342-B048-85BDC9FD1C3A}</a:tableStyleId>
              </a:tblPr>
              <a:tblGrid>
                <a:gridCol w="5394960"/>
                <a:gridCol w="1188720"/>
                <a:gridCol w="4507992"/>
              </a:tblGrid>
              <a:tr h="548640">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250" b="0">
                          <a:solidFill>
                            <a:srgbClr val="0F172A"/>
                          </a:solidFill>
                        </a:rPr>
                        <a:t>Crypto layer: AES-256-GCM, RSA-OAEP, CVL1 bundle, key import and export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13 crypto tests; 240/240 tampered bundles rejected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LSB embedder and extractor with capacity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9 tests; 22/22 byte-exact round trips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Quality measures and plots: PSNR, SSIM, histograms, bit planes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PSNR never below 51.14 dB at any fill (6 covers)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Robustness (9 attacks) and benchmark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payload survives 2 of 9; lossy steps destroy 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API (24 endpoints), React console (8 pages), secret-free log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21/21 smoke checks; 10 API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Key-dependent embedding, error correction, steganalysis resistance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sequential LSB; chi-square flags 30 of 30 cases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Encrypted key store, sender signatures, login rate limit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private keys stored unencrypted; placeholder JWT secret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Defect: Send page crashes for an account with no keys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Open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KeyRound icon is used but not imported in Send.jsx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imperceptibility and capacity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52.5 dB</a:t>
            </a:r>
          </a:p>
        </p:txBody>
      </p:sp>
      <p:sp>
        <p:nvSpPr>
          <p:cNvPr id="29" name="TextBox 28"/>
          <p:cNvSpPr txBox="1"/>
          <p:nvPr/>
        </p:nvSpPr>
        <p:spPr>
          <a:xfrm>
            <a:off x="749808"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minimum PSNR in 22 runs (mean 61.7 dB, up to 73% fill)</a:t>
            </a:r>
          </a:p>
        </p:txBody>
      </p:sp>
      <p:sp>
        <p:nvSpPr>
          <p:cNvPr id="30" name="Rounded Rectangle 29"/>
          <p:cNvSpPr/>
          <p:nvPr/>
        </p:nvSpPr>
        <p:spPr>
          <a:xfrm>
            <a:off x="3374136"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0.9958</a:t>
            </a:r>
          </a:p>
        </p:txBody>
      </p:sp>
      <p:sp>
        <p:nvSpPr>
          <p:cNvPr id="33" name="TextBox 32"/>
          <p:cNvSpPr txBox="1"/>
          <p:nvPr/>
        </p:nvSpPr>
        <p:spPr>
          <a:xfrm>
            <a:off x="3575304"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minimum SSIM (mean 0.9990)</a:t>
            </a:r>
          </a:p>
        </p:txBody>
      </p:sp>
      <p:sp>
        <p:nvSpPr>
          <p:cNvPr id="34" name="Rounded Rectangle 33"/>
          <p:cNvSpPr/>
          <p:nvPr/>
        </p:nvSpPr>
        <p:spPr>
          <a:xfrm>
            <a:off x="6199631"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3.0 bpp</a:t>
            </a:r>
          </a:p>
        </p:txBody>
      </p:sp>
      <p:sp>
        <p:nvSpPr>
          <p:cNvPr id="37" name="TextBox 36"/>
          <p:cNvSpPr txBox="1"/>
          <p:nvPr/>
        </p:nvSpPr>
        <p:spPr>
          <a:xfrm>
            <a:off x="6400799"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capacity: 14.6 KiB (200 x 200) to 337.5 KiB (1280 x 720)</a:t>
            </a:r>
          </a:p>
        </p:txBody>
      </p:sp>
      <p:sp>
        <p:nvSpPr>
          <p:cNvPr id="38" name="Rounded Rectangle 37"/>
          <p:cNvSpPr/>
          <p:nvPr/>
        </p:nvSpPr>
        <p:spPr>
          <a:xfrm>
            <a:off x="9025128"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09728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86 ms</a:t>
            </a:r>
          </a:p>
        </p:txBody>
      </p:sp>
      <p:sp>
        <p:nvSpPr>
          <p:cNvPr id="41" name="TextBox 40"/>
          <p:cNvSpPr txBox="1"/>
          <p:nvPr/>
        </p:nvSpPr>
        <p:spPr>
          <a:xfrm>
            <a:off x="9226296"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median RSA-3072 unwrap + decrypt; encrypt 0.15 ms, embed 0.25 ms</a:t>
            </a:r>
          </a:p>
        </p:txBody>
      </p:sp>
      <p:pic>
        <p:nvPicPr>
          <p:cNvPr id="42" name="Picture 41" descr="a15_r2_f01.png"/>
          <p:cNvPicPr>
            <a:picLocks noChangeAspect="1"/>
          </p:cNvPicPr>
          <p:nvPr/>
        </p:nvPicPr>
        <p:blipFill>
          <a:blip r:embed="rId1"/>
          <a:stretch>
            <a:fillRect/>
          </a:stretch>
        </p:blipFill>
        <p:spPr>
          <a:xfrm>
            <a:off x="929015" y="2468880"/>
            <a:ext cx="4725649" cy="2971800"/>
          </a:xfrm>
          <a:prstGeom prst="rect">
            <a:avLst/>
          </a:prstGeom>
        </p:spPr>
      </p:pic>
      <p:pic>
        <p:nvPicPr>
          <p:cNvPr id="43" name="Picture 42" descr="a15_r2_f13.png"/>
          <p:cNvPicPr>
            <a:picLocks noChangeAspect="1"/>
          </p:cNvPicPr>
          <p:nvPr/>
        </p:nvPicPr>
        <p:blipFill>
          <a:blip r:embed="rId4"/>
          <a:stretch>
            <a:fillRect/>
          </a:stretch>
        </p:blipFill>
        <p:spPr>
          <a:xfrm>
            <a:off x="6553836" y="2468880"/>
            <a:ext cx="4723127" cy="2971800"/>
          </a:xfrm>
          <a:prstGeom prst="rect">
            <a:avLst/>
          </a:prstGeom>
        </p:spPr>
      </p:pic>
      <p:sp>
        <p:nvSpPr>
          <p:cNvPr id="44" name="TextBox 43"/>
          <p:cNvSpPr txBox="1"/>
          <p:nvPr/>
        </p:nvSpPr>
        <p:spPr>
          <a:xfrm>
            <a:off x="548640" y="5532120"/>
            <a:ext cx="11091672" cy="914400"/>
          </a:xfrm>
          <a:prstGeom prst="rect">
            <a:avLst/>
          </a:prstGeom>
          <a:noFill/>
        </p:spPr>
        <p:txBody>
          <a:bodyPr wrap="square" lIns="0" rIns="0" tIns="0" bIns="0" anchor="t">
            <a:spAutoFit/>
          </a:bodyPr>
          <a:lstStyle/>
          <a:p>
            <a:pPr algn="l">
              <a:spcAft>
                <a:spcPts val="400"/>
              </a:spcAft>
            </a:pPr>
            <a:r>
              <a:rPr sz="1250" b="0" i="0">
                <a:solidFill>
                  <a:srgbClr val="475569"/>
                </a:solidFill>
              </a:rPr>
              <a:t>Measured PSNR follows the closed form 10 log10(255^2 N / (0.5 bits)) within 0.053 dB; at 100% fill the floor is 51.14 dB. Robustness: only lossless re-save and bottom crop survive (2 of 9); JPEG even at quality 100 and lossy WebP lose the payload (0 of 6). Chi-square on the embedded prefix flags the stego image in 30 of 30 cases: hidden from the eye, not from statistics.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6_send_result.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Send: stego PNG, PSNR, SSIM, capacity, SHA-256</a:t>
            </a:r>
          </a:p>
        </p:txBody>
      </p:sp>
      <p:pic>
        <p:nvPicPr>
          <p:cNvPr id="28" name="Picture 27" descr="08_analysis.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Analysis: PSNR, SSIM, MSE and side-by-side images</a:t>
            </a:r>
          </a:p>
        </p:txBody>
      </p:sp>
      <p:pic>
        <p:nvPicPr>
          <p:cNvPr id="30" name="Picture 29" descr="11_receive_result.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Receive: restored byte for byte, tag verified</a:t>
            </a:r>
          </a:p>
        </p:txBody>
      </p:sp>
      <p:pic>
        <p:nvPicPr>
          <p:cNvPr id="32" name="Picture 31" descr="12_receive_wrong_key.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Receive with the wrong key: RSA unwrap fails</a:t>
            </a:r>
          </a:p>
        </p:txBody>
      </p:sp>
      <p:pic>
        <p:nvPicPr>
          <p:cNvPr id="34" name="Picture 33" descr="13_robustness_results.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Robustness: payload survives 2 of 9 attacks</a:t>
            </a:r>
          </a:p>
        </p:txBody>
      </p:sp>
      <p:pic>
        <p:nvPicPr>
          <p:cNvPr id="36" name="Picture 35" descr="17_log.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Operation log: successes and failures, no secrets</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from one session on a fresh database: keys generated, files encrypted and recovered, attacks run.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39 / 39</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 (13 crypto, 9 LSB, 7 metrics, 10 API)</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21 / 21</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 against the live API</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240 / 240</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single-bit flips of the stego image rejected, 0 accepted with wrong data</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438 ms</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API send call (receive 198 ms), measured on 127.0.0.1</a:t>
            </a:r>
          </a:p>
        </p:txBody>
      </p:sp>
      <p:graphicFrame>
        <p:nvGraphicFramePr>
          <p:cNvPr id="42" name="Table 41"/>
          <p:cNvGraphicFramePr>
            <a:graphicFrameLocks noGrp="1"/>
          </p:cNvGraphicFramePr>
          <p:nvPr/>
        </p:nvGraphicFramePr>
        <p:xfrm>
          <a:off x="548640" y="2697480"/>
          <a:ext cx="11091672" cy="3566160"/>
        </p:xfrm>
        <a:graphic>
          <a:graphicData uri="http://schemas.openxmlformats.org/drawingml/2006/table">
            <a:tbl>
              <a:tblPr firstRow="0" bandRow="0">
                <a:tableStyleId>{5C22544A-7EE6-4342-B048-85BDC9FD1C3A}</a:tableStyleId>
              </a:tblPr>
              <a:tblGrid>
                <a:gridCol w="5852160"/>
                <a:gridCol w="5239512"/>
              </a:tblGrid>
              <a:tr h="713232">
                <a:tc>
                  <a:txBody>
                    <a:bodyPr wrap="square"/>
                    <a:lstStyle/>
                    <a:p>
                      <a:pPr algn="ctr"/>
                      <a:r>
                        <a:rPr sz="13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300" b="0">
                          <a:solidFill>
                            <a:srgbClr val="0F172A"/>
                          </a:solidFill>
                        </a:rPr>
                        <a:t>Chi-square flags the embedded region in 30 of 30 cases; weighted-stego estimates the filled fraction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Stated in every result: invisible is not undetectable; low fill is safer, not safe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00" b="0">
                          <a:solidFill>
                            <a:srgbClr val="0F172A"/>
                          </a:solidFill>
                        </a:rPr>
                        <a:t>JPEG at quality 100, lossy WebP, noise, resize, rotate, flip and palette reduction all give 0 of 6 recovered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Send the stego image as a PNG file; no chat app or email client that re-encodes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300" b="0">
                          <a:solidFill>
                            <a:srgbClr val="0F172A"/>
                          </a:solidFill>
                        </a:rPr>
                        <a:t>Send dominated by PSNR/SSIM and PNG encoding, not by cryptography (AES-GCM 0.15 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Timing split reported per stage; API latency measured separately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00" b="0">
                          <a:solidFill>
                            <a:srgbClr val="0F172A"/>
                          </a:solidFill>
                        </a:rPr>
                        <a:t>Send page crashes for an account with no keys (KeyRound not imported)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Recorded as an open defect; one-line fix proposed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394960"/>
                <a:gridCol w="5696712"/>
              </a:tblGrid>
              <a:tr h="804672">
                <a:tc>
                  <a:txBody>
                    <a:bodyPr wrap="square"/>
                    <a:lstStyle/>
                    <a:p>
                      <a:pPr algn="ctr"/>
                      <a:r>
                        <a:rPr sz="135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350" b="0">
                          <a:solidFill>
                            <a:srgbClr val="0F172A"/>
                          </a:solidFill>
                        </a:rPr>
                        <a:t>Base paper reports no PSNR, SSIM or capacity, and solves a different problem (computing on hidden bits)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Compared only with the supporting SCReedSolo figures and said plainly where covers and payloads differ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350" b="0">
                          <a:solidFill>
                            <a:srgbClr val="0F172A"/>
                          </a:solidFill>
                        </a:rPr>
                        <a:t>LSB data is destroyed by any lossy step; no error correction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Robustness tests state exactly what survives; output is PNG-only; Reed-Solomon coding listed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350" b="0">
                          <a:solidFill>
                            <a:srgbClr val="0F172A"/>
                          </a:solidFill>
                        </a:rPr>
                        <a:t>Sequential embedding is statistically detectable (chi-square 30/30)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Reported honestly; key-dependent permutation and adaptive embedding are next steps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350" b="0">
                          <a:solidFill>
                            <a:srgbClr val="0F172A"/>
                          </a:solidFill>
                        </a:rPr>
                        <a:t>bcrypt reads only 72 bytes of a password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Password length capped at 72 characters in the API; the hash step also cuts at 72 bytes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350" b="0">
                          <a:solidFill>
                            <a:srgbClr val="0F172A"/>
                          </a:solidFill>
                        </a:rPr>
                        <a:t>Python clients to localhost add about 2 s per call on this PC (IPv6 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API latency measured on 127.0.0.1; timings otherwise vary 10 to 30% with other jobs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Harder to detect</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Key-dependent pixel permutation, LSB matching or adaptive embedding, and a test with stronger detectors (RS, sample-pair).</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Survive more</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Add Reed-Solomon error correction so mild damage can be repaired; keep PNG-only guidance for lossy channels.</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 the tool</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Encrypt stored private keys, sign messages (RSA-PSS or Ed25519), add login rate limiting, fix the Send page import.</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Test wider</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600" b="0" i="0">
                <a:solidFill>
                  <a:srgbClr val="475569"/>
                </a:solidFill>
              </a:rPr>
              <a:t>Camera photographs, large covers, browser end-to-end tests, a load test and a small usability study.</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3 close the largest honest gaps - statistical detectability and the unencrypted key store.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ipherVeil">
  <a:themeElements>
    <a:clrScheme name="CipherVeil">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ipherVe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pherVeil">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Protection Using Hybrid Encryption and Steganography: Review 2</dc:title>
  <dc:subject>Batch A15 (CSE-A)</dc:subject>
  <dc:creator>Allam Rakesh, Bolleddu Shanker, Agaram Sri Sarvagna, B Akshay</dc:creator>
  <cp:lastModifiedBy/>
  <cp:revision>1</cp:revision>
  <dcterms:created xsi:type="dcterms:W3CDTF">2026-10-13T12:40:05Z</dcterms:created>
  <dcterms:modified xsi:type="dcterms:W3CDTF">2026-10-13T12:40:05Z</dcterms:modified>
  <cp:keywords>hybrid encryption, AES-GCM, RSA-OAEP, LSB steganography, PSNR, SSIM</cp:keywords>
  <dc:description/>
</cp:coreProperties>
</file>