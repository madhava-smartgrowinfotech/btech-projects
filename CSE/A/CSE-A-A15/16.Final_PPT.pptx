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1.jpg" ContentType="image/jpg"/>
  <Override PartName="/ppt/media/image-10-1.jpg" ContentType="image/jpg"/>
  <Override PartName="/ppt/media/image-11-1.jpg" ContentType="image/jpg"/>
  <Override PartName="/ppt/media/image-12-1.jpg" ContentType="image/jpg"/>
  <Override PartName="/ppt/media/image-13-1.jpg" ContentType="image/jpg"/>
  <Override PartName="/ppt/media/image-14-1.jpg" ContentType="image/jpg"/>
  <Override PartName="/ppt/media/image-15-1.jpg" ContentType="image/jpg"/>
  <Override PartName="/ppt/media/image-16-1.jpg" ContentType="image/jpg"/>
  <Override PartName="/ppt/media/image-17-1.jpg" ContentType="image/jpg"/>
  <Override PartName="/ppt/media/image-18-1.jpg" ContentType="image/jpg"/>
  <Override PartName="/ppt/media/image-19-1.jpg" ContentType="image/jpg"/>
  <Override PartName="/ppt/media/image-2-1.jpg" ContentType="image/jpg"/>
  <Override PartName="/ppt/media/image-20-1.jpg" ContentType="image/jpg"/>
  <Override PartName="/ppt/media/image-21-1.jpg" ContentType="image/jpg"/>
  <Override PartName="/ppt/media/image-22-1.jpg" ContentType="image/jpg"/>
  <Override PartName="/ppt/media/image-23-1.jpg" ContentType="image/jpg"/>
  <Override PartName="/ppt/media/image-24-1.jpg" ContentType="image/jpg"/>
  <Override PartName="/ppt/media/image-25-1.jpg" ContentType="image/jpg"/>
  <Override PartName="/ppt/media/image-26-1.jpg" ContentType="image/jpg"/>
  <Override PartName="/ppt/media/image-27-1.jpg" ContentType="image/jpg"/>
  <Override PartName="/ppt/media/image-28-1.jpg" ContentType="image/jpg"/>
  <Override PartName="/ppt/media/image-3-1.jpg" ContentType="image/jpg"/>
  <Override PartName="/ppt/media/image-4-1.jpg" ContentType="image/jpg"/>
  <Override PartName="/ppt/media/image-5-1.jpg" ContentType="image/jpg"/>
  <Override PartName="/ppt/media/image-6-1.jpg" ContentType="image/jpg"/>
  <Override PartName="/ppt/media/image-7-1.jpg" ContentType="image/jpg"/>
  <Override PartName="/ppt/media/image-8-1.jpg" ContentType="image/jpg"/>
  <Override PartName="/ppt/media/image-9-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team and CipherVeil: a file is encrypted with AES-256-GCM, the AES key is wrapped with the receiver's RSA key, and the bundle is hidden in the least significant bits of a PNG.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agenda follows the report: problem, design, method, results, the steganalysis finding, comparison, screens,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the product, the headline numbers, then the honest limits: lossless only, and statistically detectable.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Ahmad and Rass, IEEE Access 2026. CipherVeil adopts the LSB carrier and the key-exchange framing. It does not implement homomorphic computation, decoy-bit location hiding or a provable-security argument; it moves a whole file instead.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four batch-survey papers could not be verified beyond title and year, so no result is quoted for them. Steganalysis work is why we test detectability.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gap is the third bullet; the fourth and fifth explain why we measure robustness and detectability and ship a working tool.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problem points from the batch statement, then the system's input, output and record.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six objectives from the batch document. The conclusion slide gives the status of each.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Two chains: send and receive. The chain is standard; the contribution is the authenticated bundle format, the measurement and the honest evaluation.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The same pipeline module is used by the API, the benchmark and ml/eval.py, so measured numbers are the numbers of the product.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Method in one picture, then the evaluation design. Everything is seeded and runs offline.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byte layout. Right: the embed and extract flow with the capacity check and the GCM tag check. A wrong key, a flipped bit or a truncated bundle fails the tag and releases nothing.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formulation is short on purpose: capacity, PSNR and the random-bit model. The model was validated over 6 covers x 7 fill levels x 5 payload seeds.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Class model of the services and routes, and the three tables. State the key-storage limitation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Highlights and honest gaps, including the Send-page defect found while documenting.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Headline numbers from ml/eval.py. Capacity is 3.0 bits per pixel on every cover. The PSNR range reflects fill ratio.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confusion-matrix equivalent: attack by outcome, counted over six covers. There is no error correction, so one flipped LSB region is fatal.</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parameters: how much of the cover is used (drives PSNR) and the RSA key size (drives time and overhead). Key generation times vary widely between runs.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key honest finding. PSNR above 50 dB means invisible to the eye; it does not mean undetectable. Low fill is safer, not safe. Stronger detectors were not run.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Latencies measured on 127.0.0.1 on an i5-12500, CPU only, on the same PC that ran other jobs, so milliseconds vary by roughly 10-30 % between runs.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plainly that the datasets and goals differ. SCReedSolo's figures are for much larger covers and payloads. ProSt reports no PSNR or SSIM, so no quality comparison with it exists.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captures of the running console. The change is invisible to the eye; the statistics tell the truth, as the steganalysis slide shows.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Success and failure of the receive path.</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Robustness page and operation log from the same session.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Five contributions, then the six objectives against outcomes. Objectives 1-5 are met; objective 6 is met as a measurement, and the measurement is unflattering on robustness and detectability.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Limitations first, then concrete next steps. The first future item answers the steganalysis finding directly.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Selected references; the complete numbered list is in the project report.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questions. Likely ones: why LSB, how detectable it is, what survives, how this differs from the base paper.</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 Id="rId4" Type="http://schemas.openxmlformats.org/officeDocument/2006/relationships/image" Target="../media/image3.png"/><Relationship Id="rId5"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14.xml"/><Relationship Id="rId5"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slideLayout" Target="../slideLayouts/slideLayout1.xml"/><Relationship Id="rId5" Type="http://schemas.openxmlformats.org/officeDocument/2006/relationships/notesSlide" Target="../notesSlides/notesSlide18.xml"/><Relationship Id="rId6"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3" Type="http://schemas.openxmlformats.org/officeDocument/2006/relationships/image" Target="../media/image12.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 Id="rId4" Type="http://schemas.openxmlformats.org/officeDocument/2006/relationships/image" Target="../media/image13.png"/><Relationship Id="rId5"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image" Target="../media/image20.png"/><Relationship Id="rId3" Type="http://schemas.openxmlformats.org/officeDocument/2006/relationships/image" Target="../media/image19.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548640" y="1373177"/>
            <a:ext cx="11064240" cy="1005840"/>
          </a:xfrm>
          <a:prstGeom prst="rect">
            <a:avLst/>
          </a:prstGeom>
          <a:noFill/>
          <a:ln/>
        </p:spPr>
        <p:txBody>
          <a:bodyPr wrap="square" rtlCol="0" anchor="ctr"/>
          <a:lstStyle/>
          <a:p>
            <a:pPr algn="ctr" indent="0" marL="0">
              <a:buNone/>
            </a:pPr>
            <a:r>
              <a:rPr lang="en-US" sz="3000" b="1" dirty="0">
                <a:solidFill>
                  <a:srgbClr val="1F3864"/>
                </a:solidFill>
                <a:latin typeface="Calibri" pitchFamily="34" charset="0"/>
                <a:ea typeface="Calibri" pitchFamily="34" charset="-122"/>
                <a:cs typeface="Calibri" pitchFamily="34" charset="-120"/>
              </a:rPr>
              <a:t>Data Protection Using Hybrid Encryption and Steganography</a:t>
            </a:r>
            <a:endParaRPr lang="en-US" sz="3200" dirty="0"/>
          </a:p>
        </p:txBody>
      </p:sp>
      <p:sp>
        <p:nvSpPr>
          <p:cNvPr id="5" name="Text 2"/>
          <p:cNvSpPr/>
          <p:nvPr/>
        </p:nvSpPr>
        <p:spPr>
          <a:xfrm>
            <a:off x="548640" y="2379017"/>
            <a:ext cx="11064240" cy="457200"/>
          </a:xfrm>
          <a:prstGeom prst="rect">
            <a:avLst/>
          </a:prstGeom>
          <a:noFill/>
          <a:ln/>
        </p:spPr>
        <p:txBody>
          <a:bodyPr wrap="square" rtlCol="0" anchor="ctr"/>
          <a:lstStyle/>
          <a:p>
            <a:pPr algn="ctr" indent="0" marL="0">
              <a:buNone/>
            </a:pPr>
            <a:r>
              <a:rPr lang="en-US" sz="2000" dirty="0">
                <a:solidFill>
                  <a:srgbClr val="2E75B6"/>
                </a:solidFill>
                <a:latin typeface="Calibri" pitchFamily="34" charset="0"/>
                <a:ea typeface="Calibri" pitchFamily="34" charset="-122"/>
                <a:cs typeface="Calibri" pitchFamily="34" charset="-120"/>
              </a:rPr>
              <a:t>Final Review  ·  CipherVeil</a:t>
            </a:r>
            <a:endParaRPr lang="en-US" sz="2000" dirty="0"/>
          </a:p>
        </p:txBody>
      </p:sp>
      <p:sp>
        <p:nvSpPr>
          <p:cNvPr id="6" name="Text 3"/>
          <p:cNvSpPr/>
          <p:nvPr/>
        </p:nvSpPr>
        <p:spPr>
          <a:xfrm>
            <a:off x="731520" y="3110537"/>
            <a:ext cx="5486400" cy="365760"/>
          </a:xfrm>
          <a:prstGeom prst="rect">
            <a:avLst/>
          </a:prstGeom>
          <a:noFill/>
          <a:ln/>
        </p:spPr>
        <p:txBody>
          <a:bodyPr wrap="square" rtlCol="0" anchor="ctr"/>
          <a:lstStyle/>
          <a:p>
            <a:pPr indent="0" marL="0">
              <a:buNone/>
            </a:pPr>
            <a:r>
              <a:rPr lang="en-US" sz="1800" b="1" dirty="0">
                <a:solidFill>
                  <a:srgbClr val="1F3864"/>
                </a:solidFill>
                <a:latin typeface="Calibri" pitchFamily="34" charset="0"/>
                <a:ea typeface="Calibri" pitchFamily="34" charset="-122"/>
                <a:cs typeface="Calibri" pitchFamily="34" charset="-120"/>
              </a:rPr>
              <a:t>Team Details : Batch A15</a:t>
            </a:r>
            <a:endParaRPr lang="en-US" sz="1800" dirty="0"/>
          </a:p>
        </p:txBody>
      </p:sp>
      <p:sp>
        <p:nvSpPr>
          <p:cNvPr id="7" name="Text 4"/>
          <p:cNvSpPr/>
          <p:nvPr/>
        </p:nvSpPr>
        <p:spPr>
          <a:xfrm>
            <a:off x="731520" y="3522017"/>
            <a:ext cx="5486400" cy="1645920"/>
          </a:xfrm>
          <a:prstGeom prst="rect">
            <a:avLst/>
          </a:prstGeom>
          <a:noFill/>
          <a:ln/>
        </p:spPr>
        <p:txBody>
          <a:bodyPr wrap="square" rtlCol="0" anchor="t"/>
          <a:lstStyle/>
          <a:p>
            <a:pPr indent="0" marL="0">
              <a:buNone/>
            </a:pPr>
            <a:r>
              <a:rPr lang="en-US" sz="1600" dirty="0">
                <a:solidFill>
                  <a:srgbClr val="222222"/>
                </a:solidFill>
                <a:latin typeface="Calibri" pitchFamily="34" charset="0"/>
                <a:ea typeface="Calibri" pitchFamily="34" charset="-122"/>
                <a:cs typeface="Calibri" pitchFamily="34" charset="-120"/>
              </a:rPr>
              <a:t>23K91A0509   ALLAM RAKESH</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23K91A0543   BOLLEDDU SHANKER</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23K91A0506   AGARAM SRI SARVAGNA</a:t>
            </a:r>
            <a:endParaRPr lang="en-US" sz="1600" dirty="0"/>
          </a:p>
          <a:p>
            <a:pPr indent="0" marL="0">
              <a:buNone/>
            </a:pPr>
            <a:r>
              <a:rPr lang="en-US" sz="1600" dirty="0">
                <a:solidFill>
                  <a:srgbClr val="222222"/>
                </a:solidFill>
                <a:latin typeface="Calibri" pitchFamily="34" charset="0"/>
                <a:ea typeface="Calibri" pitchFamily="34" charset="-122"/>
                <a:cs typeface="Calibri" pitchFamily="34" charset="-120"/>
              </a:rPr>
              <a:t>24K915A0504   B AKSHAY</a:t>
            </a:r>
            <a:endParaRPr lang="en-US" sz="1600" dirty="0"/>
          </a:p>
        </p:txBody>
      </p:sp>
      <p:sp>
        <p:nvSpPr>
          <p:cNvPr id="8" name="Text 5"/>
          <p:cNvSpPr/>
          <p:nvPr/>
        </p:nvSpPr>
        <p:spPr>
          <a:xfrm>
            <a:off x="6675120" y="3110537"/>
            <a:ext cx="4937760" cy="1371600"/>
          </a:xfrm>
          <a:prstGeom prst="rect">
            <a:avLst/>
          </a:prstGeom>
          <a:noFill/>
          <a:ln/>
        </p:spPr>
        <p:txBody>
          <a:bodyPr wrap="square" rtlCol="0" anchor="t"/>
          <a:lstStyle/>
          <a:p>
            <a:pPr indent="0" marL="0">
              <a:buNone/>
            </a:pPr>
            <a:r>
              <a:rPr lang="en-US" sz="1600" b="1" dirty="0">
                <a:solidFill>
                  <a:srgbClr val="1F3864"/>
                </a:solidFill>
                <a:latin typeface="Calibri" pitchFamily="34" charset="0"/>
                <a:ea typeface="Calibri" pitchFamily="34" charset="-122"/>
                <a:cs typeface="Calibri" pitchFamily="34" charset="-120"/>
              </a:rPr>
              <a:t>Under the Esteemed Guidance of</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Rajalakshmi</a:t>
            </a:r>
            <a:endParaRPr lang="en-US" sz="1600" dirty="0"/>
          </a:p>
          <a:p>
            <a:pPr indent="0" marL="0">
              <a:buNone/>
            </a:pPr>
            <a:r>
              <a:rPr lang="en-US" sz="1600" b="1" dirty="0">
                <a:solidFill>
                  <a:srgbClr val="1F3864"/>
                </a:solidFill>
                <a:latin typeface="Calibri" pitchFamily="34" charset="0"/>
                <a:ea typeface="Calibri" pitchFamily="34" charset="-122"/>
                <a:cs typeface="Calibri" pitchFamily="34" charset="-120"/>
              </a:rPr>
              <a:t>[DESIGNATION], Department of CSE</a:t>
            </a:r>
            <a:endParaRPr lang="en-US" sz="1600" dirty="0"/>
          </a:p>
        </p:txBody>
      </p:sp>
      <p:sp>
        <p:nvSpPr>
          <p:cNvPr id="9" name="Text 6"/>
          <p:cNvSpPr/>
          <p:nvPr/>
        </p:nvSpPr>
        <p:spPr>
          <a:xfrm>
            <a:off x="548640" y="6035040"/>
            <a:ext cx="11064240" cy="320040"/>
          </a:xfrm>
          <a:prstGeom prst="rect">
            <a:avLst/>
          </a:prstGeom>
          <a:noFill/>
          <a:ln/>
        </p:spPr>
        <p:txBody>
          <a:bodyPr wrap="square" rtlCol="0" anchor="ctr"/>
          <a:lstStyle/>
          <a:p>
            <a:pPr algn="ctr" indent="0" marL="0">
              <a:buNone/>
            </a:pPr>
            <a:r>
              <a:rPr lang="en-US" sz="1200" dirty="0">
                <a:solidFill>
                  <a:srgbClr val="595959"/>
                </a:solidFill>
                <a:latin typeface="Calibri" pitchFamily="34" charset="0"/>
                <a:ea typeface="Calibri" pitchFamily="34" charset="-122"/>
                <a:cs typeface="Calibri" pitchFamily="34" charset="-120"/>
              </a:rPr>
              <a:t>DEPARTMENT OF COMPUTER SCIENCE AND ENGINEERING  ·  TKR College of Engineering &amp; Technology  ·  Academic Year [ACADEMIC YEAR]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Table of Contents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a:t>
            </a:r>
            <a:endParaRPr lang="en-US" sz="1000" dirty="0"/>
          </a:p>
        </p:txBody>
      </p:sp>
      <p:sp>
        <p:nvSpPr>
          <p:cNvPr id="7" name="Text 4"/>
          <p:cNvSpPr/>
          <p:nvPr/>
        </p:nvSpPr>
        <p:spPr>
          <a:xfrm>
            <a:off x="548640" y="1738937"/>
            <a:ext cx="11064240" cy="4524703"/>
          </a:xfrm>
          <a:prstGeom prst="rect">
            <a:avLst/>
          </a:prstGeom>
          <a:noFill/>
          <a:ln/>
        </p:spPr>
        <p:txBody>
          <a:bodyPr wrap="square" rtlCol="0" anchor="t"/>
          <a:lstStyle/>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Abstract</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Base Paper &amp; Literature Survey</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Research Gap, Problem Statement &amp; Objectives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Proposed System, Architecture &amp; Methodology</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Bundle Format, Formulation &amp; Design</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Results: Quality, Robustness, Parameters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Steganalysis Finding &amp; Performance</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Comparison with Base Paper &amp; Output Screens</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Conclusion, Limitations &amp; Future Scope</a:t>
            </a:r>
            <a:endParaRPr lang="en-US" sz="1800" dirty="0"/>
          </a:p>
          <a:p>
            <a:pPr marL="342900" indent="-342900">
              <a:spcAft>
                <a:spcPts val="1000"/>
              </a:spcAft>
              <a:buSzPct val="100000"/>
              <a:buChar char="•"/>
            </a:pPr>
            <a:r>
              <a:rPr lang="en-US" sz="1800" dirty="0">
                <a:solidFill>
                  <a:srgbClr val="222222"/>
                </a:solidFill>
                <a:latin typeface="Calibri" pitchFamily="34" charset="0"/>
                <a:ea typeface="Calibri" pitchFamily="34" charset="-122"/>
                <a:cs typeface="Calibri" pitchFamily="34" charset="-120"/>
              </a:rPr>
              <a:t>References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Abstract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3</a:t>
            </a:r>
            <a:endParaRPr lang="en-US" sz="1000" dirty="0"/>
          </a:p>
        </p:txBody>
      </p:sp>
      <p:sp>
        <p:nvSpPr>
          <p:cNvPr id="7" name="TextBox 6"/>
          <p:cNvSpPr txBox="1"/>
          <p:nvPr/>
        </p:nvSpPr>
        <p:spPr>
          <a:xfrm>
            <a:off x="502920" y="1645920"/>
            <a:ext cx="11155680" cy="4663440"/>
          </a:xfrm>
          <a:prstGeom prst="rect">
            <a:avLst/>
          </a:prstGeom>
          <a:noFill/>
        </p:spPr>
        <p:txBody>
          <a:bodyPr wrap="square" lIns="0" rIns="0" tIns="0" bIns="0" anchor="t">
            <a:spAutoFit/>
          </a:bodyPr>
          <a:lstStyle/>
          <a:p>
            <a:pPr algn="l" marL="256032" indent="-201168">
              <a:spcAft>
                <a:spcPts val="800"/>
              </a:spcAft>
              <a:buChar char="•"/>
            </a:pPr>
            <a:r>
              <a:rPr sz="1700" b="0" i="0">
                <a:solidFill>
                  <a:srgbClr val="222222"/>
                </a:solidFill>
                <a:latin typeface="Calibri"/>
                <a:ea typeface="Calibri"/>
                <a:cs typeface="Calibri"/>
              </a:rPr>
              <a:t>Encryption alone shows that something secret is moving; hiding alone protects nothing once found. CipherVeil gives a file two layers: AES-256-GCM for the data, RSA-OAEP for the key, and LSB steganography to hide the result in an ordinary-looking PNG (FastAPI + React).</a:t>
            </a:r>
          </a:p>
          <a:p>
            <a:pPr algn="l" marL="256032" indent="-201168">
              <a:spcAft>
                <a:spcPts val="800"/>
              </a:spcAft>
              <a:buChar char="•"/>
            </a:pPr>
            <a:r>
              <a:rPr sz="1700" b="0" i="0">
                <a:solidFill>
                  <a:srgbClr val="222222"/>
                </a:solidFill>
                <a:latin typeface="Calibri"/>
                <a:ea typeface="Calibri"/>
                <a:cs typeface="Calibri"/>
              </a:rPr>
              <a:t>Measured on 6 covers and payloads of 1-128 KiB: 22 of 22 round trips byte-exact; PSNR 52.5-74.6 dB (mean 61.7); SSIM at least 0.9958; capacity 3.0 bits per pixel.</a:t>
            </a:r>
          </a:p>
          <a:p>
            <a:pPr algn="l" marL="256032" indent="-201168">
              <a:spcAft>
                <a:spcPts val="800"/>
              </a:spcAft>
              <a:buChar char="•"/>
            </a:pPr>
            <a:r>
              <a:rPr sz="1700" b="0" i="0">
                <a:solidFill>
                  <a:srgbClr val="222222"/>
                </a:solidFill>
                <a:latin typeface="Calibri"/>
                <a:ea typeface="Calibri"/>
                <a:cs typeface="Calibri"/>
              </a:rPr>
              <a:t>A closed-form PSNR model matches measurement within 0.053 dB; PSNR never drops below 51.1 dB, even with the cover full.</a:t>
            </a:r>
          </a:p>
          <a:p>
            <a:pPr algn="l" marL="256032" indent="-201168">
              <a:spcAft>
                <a:spcPts val="800"/>
              </a:spcAft>
              <a:buChar char="•"/>
            </a:pPr>
            <a:r>
              <a:rPr sz="1700" b="0" i="0">
                <a:solidFill>
                  <a:srgbClr val="222222"/>
                </a:solidFill>
                <a:latin typeface="Calibri"/>
                <a:ea typeface="Calibri"/>
                <a:cs typeface="Calibri"/>
              </a:rPr>
              <a:t>Tampering is detected: 240 of 240 single-bit flips were rejected, none released wrong data.</a:t>
            </a:r>
          </a:p>
          <a:p>
            <a:pPr algn="l" marL="256032" indent="-201168">
              <a:spcAft>
                <a:spcPts val="800"/>
              </a:spcAft>
              <a:buChar char="•"/>
            </a:pPr>
            <a:r>
              <a:rPr sz="1700" b="0" i="0">
                <a:solidFill>
                  <a:srgbClr val="222222"/>
                </a:solidFill>
                <a:latin typeface="Calibri"/>
                <a:ea typeface="Calibri"/>
                <a:cs typeface="Calibri"/>
              </a:rPr>
              <a:t>Honestly: the hidden data lives only in lossless PNGs (JPEG, noise, resize and rotation destroy it) and a chi-square test flags the embedded region in 30 of 30 cases, so it is hidden from the eye, not from statistics.</a:t>
            </a:r>
          </a:p>
          <a:p>
            <a:pPr algn="l" marL="256032" indent="-201168">
              <a:spcAft>
                <a:spcPts val="400"/>
              </a:spcAft>
              <a:buChar char="•"/>
            </a:pPr>
            <a:r>
              <a:rPr sz="1700" b="0" i="0">
                <a:solidFill>
                  <a:srgbClr val="222222"/>
                </a:solidFill>
                <a:latin typeface="Calibri"/>
                <a:ea typeface="Calibri"/>
                <a:cs typeface="Calibri"/>
              </a:rPr>
              <a:t>39 pytest tests and 21 smoke checks pass; no dataset is needed, and the six covers and four payloads are small.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Base Paper</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4</a:t>
            </a:r>
            <a:endParaRPr lang="en-US" sz="1000" dirty="0"/>
          </a:p>
        </p:txBody>
      </p:sp>
      <p:sp>
        <p:nvSpPr>
          <p:cNvPr id="7" name="TextBox 6"/>
          <p:cNvSpPr txBox="1"/>
          <p:nvPr/>
        </p:nvSpPr>
        <p:spPr>
          <a:xfrm>
            <a:off x="502920" y="1600200"/>
            <a:ext cx="11155680" cy="5486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S. Ahmad and S. Rass, "ProSt: Provably secure homomorphic steganography," IEEE Access, vol. 14, pp. 14393-14409, 2026, doi: 10.1109/ACCESS.2026.3656995.</a:t>
            </a:r>
          </a:p>
        </p:txBody>
      </p:sp>
      <p:graphicFrame>
        <p:nvGraphicFramePr>
          <p:cNvPr id="8" name="Table 7"/>
          <p:cNvGraphicFramePr>
            <a:graphicFrameLocks noGrp="1"/>
          </p:cNvGraphicFramePr>
          <p:nvPr/>
        </p:nvGraphicFramePr>
        <p:xfrm>
          <a:off x="502920" y="2240280"/>
          <a:ext cx="11155680" cy="3950208"/>
        </p:xfrm>
        <a:graphic>
          <a:graphicData uri="http://schemas.openxmlformats.org/drawingml/2006/table">
            <a:tbl>
              <a:tblPr firstRow="0" bandRow="0">
                <a:tableStyleId>{5C22544A-7EE6-4342-B048-85BDC9FD1C3A}</a:tableStyleId>
              </a:tblPr>
              <a:tblGrid>
                <a:gridCol w="1463040"/>
                <a:gridCol w="9692640"/>
              </a:tblGrid>
              <a:tr h="658368">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ProSt: Provably Secure Homomorphic Steganography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658368">
                <a:tc>
                  <a:txBody>
                    <a:bodyPr wrap="square"/>
                    <a:lstStyle/>
                    <a:p>
                      <a:pPr algn="l"/>
                      <a:r>
                        <a:rPr sz="1200" b="1">
                          <a:solidFill>
                            <a:srgbClr val="222222"/>
                          </a:solidFill>
                          <a:latin typeface="Calibri"/>
                          <a:ea typeface="Calibri"/>
                          <a:cs typeface="Calibri"/>
                        </a:rPr>
                        <a:t>Idea</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Secret bits are hidden at a secret position among random decoy LSBs of cover images; an untrusted cloud then evaluates a Boolean circuit of Fredkin gates on every pixel without learning where the secrets are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58368">
                <a:tc>
                  <a:txBody>
                    <a:bodyPr wrap="square"/>
                    <a:lstStyle/>
                    <a:p>
                      <a:pPr algn="l"/>
                      <a:r>
                        <a:rPr sz="1200" b="1">
                          <a:solidFill>
                            <a:srgbClr val="222222"/>
                          </a:solidFill>
                          <a:latin typeface="Calibri"/>
                          <a:ea typeface="Calibri"/>
                          <a:cs typeface="Calibri"/>
                        </a:rPr>
                        <a:t>Scheme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Four algorithms: LocGen (secret position), Emb (LSB substitution), Comp (gate evaluation on all pixels), Ext (extract the result at the secret position)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58368">
                <a:tc>
                  <a:txBody>
                    <a:bodyPr wrap="square"/>
                    <a:lstStyle/>
                    <a:p>
                      <a:pPr algn="l"/>
                      <a:r>
                        <a:rPr sz="1200" b="1">
                          <a:solidFill>
                            <a:srgbClr val="222222"/>
                          </a:solidFill>
                          <a:latin typeface="Calibri"/>
                          <a:ea typeface="Calibri"/>
                          <a:cs typeface="Calibri"/>
                        </a:rPr>
                        <a:t>Security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Honest-but-curious adversary; advantage of order 1/n in the number n of LSB positions (Theorem 1); n of about 10^6 or more is recommended for advantage below 10^-6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658368">
                <a:tc>
                  <a:txBody>
                    <a:bodyPr wrap="square"/>
                    <a:lstStyle/>
                    <a:p>
                      <a:pPr algn="l"/>
                      <a:r>
                        <a:rPr sz="1200" b="1">
                          <a:solidFill>
                            <a:srgbClr val="222222"/>
                          </a:solidFill>
                          <a:latin typeface="Calibri"/>
                          <a:ea typeface="Calibri"/>
                          <a:cs typeface="Calibri"/>
                        </a:rPr>
                        <a:t>Evaluation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Python/NumPy, 128x128x3 image, 17 gates, 61 wires: 8.38 s on an i5-1135G7 (the paper's own projection: about 33 s for 256x256). No PSNR, SSIM or capacity is reported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658368">
                <a:tc>
                  <a:txBody>
                    <a:bodyPr wrap="square"/>
                    <a:lstStyle/>
                    <a:p>
                      <a:pPr algn="l"/>
                      <a:r>
                        <a:rPr sz="1200" b="1">
                          <a:solidFill>
                            <a:srgbClr val="222222"/>
                          </a:solidFill>
                          <a:latin typeface="Calibri"/>
                          <a:ea typeface="Calibri"/>
                          <a:cs typeface="Calibri"/>
                        </a:rPr>
                        <a:t>Stated limits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Circuit privacy not proven; one image per wire is costly; scalability and GPU acceleration left as future 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Literature Survey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5</a:t>
            </a:r>
            <a:endParaRPr lang="en-US" sz="1000" dirty="0"/>
          </a:p>
        </p:txBody>
      </p:sp>
      <p:graphicFrame>
        <p:nvGraphicFramePr>
          <p:cNvPr id="7" name="Table 6"/>
          <p:cNvGraphicFramePr>
            <a:graphicFrameLocks noGrp="1"/>
          </p:cNvGraphicFramePr>
          <p:nvPr/>
        </p:nvGraphicFramePr>
        <p:xfrm>
          <a:off x="502920" y="1645920"/>
          <a:ext cx="11155680" cy="4389120"/>
        </p:xfrm>
        <a:graphic>
          <a:graphicData uri="http://schemas.openxmlformats.org/drawingml/2006/table">
            <a:tbl>
              <a:tblPr firstRow="0" bandRow="0">
                <a:tableStyleId>{5C22544A-7EE6-4342-B048-85BDC9FD1C3A}</a:tableStyleId>
              </a:tblPr>
              <a:tblGrid>
                <a:gridCol w="3017520"/>
                <a:gridCol w="822960"/>
                <a:gridCol w="3657600"/>
                <a:gridCol w="3657600"/>
              </a:tblGrid>
              <a:tr h="548640">
                <a:tc>
                  <a:txBody>
                    <a:bodyPr wrap="square"/>
                    <a:lstStyle/>
                    <a:p>
                      <a:pPr algn="ctr"/>
                      <a:r>
                        <a:rPr sz="1100" b="1">
                          <a:solidFill>
                            <a:srgbClr val="1F3864"/>
                          </a:solidFill>
                          <a:latin typeface="Calibri"/>
                          <a:ea typeface="Calibri"/>
                          <a:cs typeface="Calibri"/>
                        </a:rPr>
                        <a:t>Work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Year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Approach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Relevance / limitation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48640">
                <a:tc>
                  <a:txBody>
                    <a:bodyPr wrap="square"/>
                    <a:lstStyle/>
                    <a:p>
                      <a:pPr algn="l"/>
                      <a:r>
                        <a:rPr sz="1100" b="1">
                          <a:solidFill>
                            <a:srgbClr val="222222"/>
                          </a:solidFill>
                          <a:latin typeface="Calibri"/>
                          <a:ea typeface="Calibri"/>
                          <a:cs typeface="Calibri"/>
                        </a:rPr>
                        <a:t>Ahmad &amp; Rass [1]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Homomorphic computation on LSB-hidden bits with Fredkin gates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No PSNR, SSIM or capacity; hides location, not existence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100" b="1">
                          <a:solidFill>
                            <a:srgbClr val="222222"/>
                          </a:solidFill>
                          <a:latin typeface="Calibri"/>
                          <a:ea typeface="Calibri"/>
                          <a:cs typeface="Calibri"/>
                        </a:rPr>
                        <a:t>Raiyan &amp; Kabir, SCReedSolo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Shuffle + Fernet + Reed-Solomon + LSB, 3 bpp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PSNR 51.8-57.7 dB; closest to our pipeline; adds error correction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48640">
                <a:tc>
                  <a:txBody>
                    <a:bodyPr wrap="square"/>
                    <a:lstStyle/>
                    <a:p>
                      <a:pPr algn="l"/>
                      <a:r>
                        <a:rPr sz="1100" b="1">
                          <a:solidFill>
                            <a:srgbClr val="222222"/>
                          </a:solidFill>
                          <a:latin typeface="Calibri"/>
                          <a:ea typeface="Calibri"/>
                          <a:cs typeface="Calibri"/>
                        </a:rPr>
                        <a:t>Fatemieh et al. [2]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2026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Trivium / Grain-128a on memristive in-memory logic, steganography demo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Hardware-level; energy and steps down by up to 42 % / 44 %</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100" b="1">
                          <a:solidFill>
                            <a:srgbClr val="222222"/>
                          </a:solidFill>
                          <a:latin typeface="Calibri"/>
                          <a:ea typeface="Calibri"/>
                          <a:cs typeface="Calibri"/>
                        </a:rPr>
                        <a:t>Batch survey [4]-[7]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2024-25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Visual cryptography, image-object hiding, chaotic encryption + CNN, AES + DWT-DCT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Listed by title only; not verified, no result quoted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48640">
                <a:tc>
                  <a:txBody>
                    <a:bodyPr wrap="square"/>
                    <a:lstStyle/>
                    <a:p>
                      <a:pPr algn="l"/>
                      <a:r>
                        <a:rPr sz="1100" b="1">
                          <a:solidFill>
                            <a:srgbClr val="222222"/>
                          </a:solidFill>
                          <a:latin typeface="Calibri"/>
                          <a:ea typeface="Calibri"/>
                          <a:cs typeface="Calibri"/>
                        </a:rPr>
                        <a:t>Chan &amp; Cheng [11]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2004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Simple LSB substitution with pixel adjustment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Establishes LSB quality; no key protection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48640">
                <a:tc>
                  <a:txBody>
                    <a:bodyPr wrap="square"/>
                    <a:lstStyle/>
                    <a:p>
                      <a:pPr algn="l"/>
                      <a:r>
                        <a:rPr sz="1100" b="1">
                          <a:solidFill>
                            <a:srgbClr val="222222"/>
                          </a:solidFill>
                          <a:latin typeface="Calibri"/>
                          <a:ea typeface="Calibri"/>
                          <a:cs typeface="Calibri"/>
                        </a:rPr>
                        <a:t>Westfeld &amp; Pfitzmann [15]; Fridrich et al. [16]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1999-2001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Chi-square and RS attacks on LSB replacement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Show sequential LSB is statistically detectable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48640">
                <a:tc>
                  <a:txBody>
                    <a:bodyPr wrap="square"/>
                    <a:lstStyle/>
                    <a:p>
                      <a:pPr algn="l"/>
                      <a:r>
                        <a:rPr sz="1100" b="1">
                          <a:solidFill>
                            <a:srgbClr val="222222"/>
                          </a:solidFill>
                          <a:latin typeface="Calibri"/>
                          <a:ea typeface="Calibri"/>
                          <a:cs typeface="Calibri"/>
                        </a:rPr>
                        <a:t>Fridrich &amp; Goljan [18]; Ker &amp; Bohme [19]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2004-08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Weighted-stego payload estimation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Used here as a blind check of our stego images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Research Gap</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6</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marL="256032" indent="-201168">
              <a:spcAft>
                <a:spcPts val="1400"/>
              </a:spcAft>
              <a:buChar char="•"/>
            </a:pPr>
            <a:r>
              <a:rPr sz="1900" b="0" i="0">
                <a:solidFill>
                  <a:srgbClr val="222222"/>
                </a:solidFill>
                <a:latin typeface="Calibri"/>
                <a:ea typeface="Calibri"/>
                <a:cs typeface="Calibri"/>
              </a:rPr>
              <a:t>The surveyed work advances steganography and encryption independently, including provably secure constructions (batch survey).</a:t>
            </a:r>
          </a:p>
          <a:p>
            <a:pPr algn="l" marL="256032" indent="-201168">
              <a:spcAft>
                <a:spcPts val="1400"/>
              </a:spcAft>
              <a:buChar char="•"/>
            </a:pPr>
            <a:r>
              <a:rPr sz="1900" b="0" i="0">
                <a:solidFill>
                  <a:srgbClr val="222222"/>
                </a:solidFill>
                <a:latin typeface="Calibri"/>
                <a:ea typeface="Calibri"/>
                <a:cs typeface="Calibri"/>
              </a:rPr>
              <a:t>The base paper reports no PSNR, SSIM or capacity: it targets computation on hidden bits, not file transfer.</a:t>
            </a:r>
          </a:p>
          <a:p>
            <a:pPr algn="l" marL="256032" indent="-201168">
              <a:spcAft>
                <a:spcPts val="1400"/>
              </a:spcAft>
              <a:buChar char="•"/>
            </a:pPr>
            <a:r>
              <a:rPr sz="1900" b="0" i="0">
                <a:solidFill>
                  <a:srgbClr val="222222"/>
                </a:solidFill>
                <a:latin typeface="Calibri"/>
                <a:ea typeface="Calibri"/>
                <a:cs typeface="Calibri"/>
              </a:rPr>
              <a:t>What is missing is a practical hybrid AES-RSA plus LSB pipeline, evaluated end to end on capacity, imperceptibility and speed.</a:t>
            </a:r>
          </a:p>
          <a:p>
            <a:pPr algn="l" marL="256032" indent="-201168">
              <a:spcAft>
                <a:spcPts val="1400"/>
              </a:spcAft>
              <a:buChar char="•"/>
            </a:pPr>
            <a:r>
              <a:rPr sz="1900" b="0" i="0">
                <a:solidFill>
                  <a:srgbClr val="222222"/>
                </a:solidFill>
                <a:latin typeface="Calibri"/>
                <a:ea typeface="Calibri"/>
                <a:cs typeface="Calibri"/>
              </a:rPr>
              <a:t>Robustness and detectability of such a pipeline are rarely measured with real decryption and statistical tests, so claims of invisibility go untested.</a:t>
            </a:r>
          </a:p>
          <a:p>
            <a:pPr algn="l" marL="256032" indent="-201168">
              <a:spcAft>
                <a:spcPts val="1400"/>
              </a:spcAft>
              <a:buChar char="•"/>
            </a:pPr>
            <a:r>
              <a:rPr sz="1900" b="0" i="0">
                <a:solidFill>
                  <a:srgbClr val="222222"/>
                </a:solidFill>
                <a:latin typeface="Calibri"/>
                <a:ea typeface="Calibri"/>
                <a:cs typeface="Calibri"/>
              </a:rPr>
              <a:t>Usable tooling (key handling, capacity checks, analysis views) is seldom provided with the algorithm.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Problem Statement</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7</a:t>
            </a:r>
            <a:endParaRPr lang="en-US" sz="1000" dirty="0"/>
          </a:p>
        </p:txBody>
      </p:sp>
      <p:sp>
        <p:nvSpPr>
          <p:cNvPr id="7" name="Rounded Rectangle 6"/>
          <p:cNvSpPr/>
          <p:nvPr/>
        </p:nvSpPr>
        <p:spPr>
          <a:xfrm>
            <a:off x="502920" y="1691640"/>
            <a:ext cx="11155680" cy="23774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737360"/>
            <a:ext cx="10607040" cy="2286000"/>
          </a:xfrm>
          <a:prstGeom prst="rect">
            <a:avLst/>
          </a:prstGeom>
          <a:noFill/>
        </p:spPr>
        <p:txBody>
          <a:bodyPr wrap="square" lIns="0" rIns="0" tIns="0" bIns="0" anchor="ctr">
            <a:spAutoFit/>
          </a:bodyPr>
          <a:lstStyle/>
          <a:p>
            <a:pPr algn="l" marL="256032" indent="-201168">
              <a:spcAft>
                <a:spcPts val="400"/>
              </a:spcAft>
              <a:buChar char="•"/>
            </a:pPr>
            <a:r>
              <a:rPr sz="1600" b="0" i="0">
                <a:solidFill>
                  <a:srgbClr val="222222"/>
                </a:solidFill>
                <a:latin typeface="Calibri"/>
                <a:ea typeface="Calibri"/>
                <a:cs typeface="Calibri"/>
              </a:rPr>
              <a:t>Encryption alone signals that sensitive data is being transmitted, inviting attack.</a:t>
            </a:r>
          </a:p>
          <a:p>
            <a:pPr algn="l" marL="256032" indent="-201168">
              <a:spcAft>
                <a:spcPts val="400"/>
              </a:spcAft>
              <a:buChar char="•"/>
            </a:pPr>
            <a:r>
              <a:rPr sz="1600" b="0" i="0">
                <a:solidFill>
                  <a:srgbClr val="222222"/>
                </a:solidFill>
                <a:latin typeface="Calibri"/>
                <a:ea typeface="Calibri"/>
                <a:cs typeface="Calibri"/>
              </a:rPr>
              <a:t>Steganography alone offers no protection once the hidden payload is discovered.</a:t>
            </a:r>
          </a:p>
          <a:p>
            <a:pPr algn="l" marL="256032" indent="-201168">
              <a:spcAft>
                <a:spcPts val="400"/>
              </a:spcAft>
              <a:buChar char="•"/>
            </a:pPr>
            <a:r>
              <a:rPr sz="1600" b="0" i="0">
                <a:solidFill>
                  <a:srgbClr val="222222"/>
                </a:solidFill>
                <a:latin typeface="Calibri"/>
                <a:ea typeface="Calibri"/>
                <a:cs typeface="Calibri"/>
              </a:rPr>
              <a:t>Symmetric encryption is fast, but its key exchange remains the weak point.</a:t>
            </a:r>
          </a:p>
          <a:p>
            <a:pPr algn="l" marL="256032" indent="-201168">
              <a:spcAft>
                <a:spcPts val="400"/>
              </a:spcAft>
              <a:buChar char="•"/>
            </a:pPr>
            <a:r>
              <a:rPr sz="1600" b="0" i="0">
                <a:solidFill>
                  <a:srgbClr val="222222"/>
                </a:solidFill>
                <a:latin typeface="Calibri"/>
                <a:ea typeface="Calibri"/>
                <a:cs typeface="Calibri"/>
              </a:rPr>
              <a:t>Naive LSB embedding degrades the cover image and is detectable by steganalysis.</a:t>
            </a:r>
          </a:p>
          <a:p>
            <a:pPr algn="l" marL="256032" indent="-201168">
              <a:spcAft>
                <a:spcPts val="400"/>
              </a:spcAft>
              <a:buChar char="•"/>
            </a:pPr>
            <a:r>
              <a:rPr sz="1600" b="0" i="0">
                <a:solidFill>
                  <a:srgbClr val="222222"/>
                </a:solidFill>
                <a:latin typeface="Calibri"/>
                <a:ea typeface="Calibri"/>
                <a:cs typeface="Calibri"/>
              </a:rPr>
              <a:t>Need: a two-layer scheme that encrypts data with hybrid AES-RSA and hides the result imperceptibly inside a cover image.</a:t>
            </a:r>
          </a:p>
        </p:txBody>
      </p:sp>
      <p:sp>
        <p:nvSpPr>
          <p:cNvPr id="9" name="Rounded Rectangle 8"/>
          <p:cNvSpPr/>
          <p:nvPr/>
        </p:nvSpPr>
        <p:spPr>
          <a:xfrm>
            <a:off x="502920" y="429768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438912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Input</a:t>
            </a:r>
          </a:p>
        </p:txBody>
      </p:sp>
      <p:sp>
        <p:nvSpPr>
          <p:cNvPr id="11" name="TextBox 10"/>
          <p:cNvSpPr txBox="1"/>
          <p:nvPr/>
        </p:nvSpPr>
        <p:spPr>
          <a:xfrm>
            <a:off x="685800" y="484632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A file up to 25 MB, a receiver's RSA public key and a PNG/image cover</a:t>
            </a:r>
          </a:p>
        </p:txBody>
      </p:sp>
      <p:sp>
        <p:nvSpPr>
          <p:cNvPr id="12" name="Rounded Rectangle 11"/>
          <p:cNvSpPr/>
          <p:nvPr/>
        </p:nvSpPr>
        <p:spPr>
          <a:xfrm>
            <a:off x="4251959" y="429768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434840" y="438912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Output</a:t>
            </a:r>
          </a:p>
        </p:txBody>
      </p:sp>
      <p:sp>
        <p:nvSpPr>
          <p:cNvPr id="14" name="TextBox 13"/>
          <p:cNvSpPr txBox="1"/>
          <p:nvPr/>
        </p:nvSpPr>
        <p:spPr>
          <a:xfrm>
            <a:off x="4434840" y="484632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A stego PNG, PSNR/SSIM/capacity measures, and on receipt the original file with a hash check</a:t>
            </a:r>
          </a:p>
        </p:txBody>
      </p:sp>
      <p:sp>
        <p:nvSpPr>
          <p:cNvPr id="15" name="Rounded Rectangle 14"/>
          <p:cNvSpPr/>
          <p:nvPr/>
        </p:nvSpPr>
        <p:spPr>
          <a:xfrm>
            <a:off x="8001000" y="4297680"/>
            <a:ext cx="3566160" cy="155448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183879" y="4389120"/>
            <a:ext cx="320040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Record</a:t>
            </a:r>
          </a:p>
        </p:txBody>
      </p:sp>
      <p:sp>
        <p:nvSpPr>
          <p:cNvPr id="17" name="TextBox 16"/>
          <p:cNvSpPr txBox="1"/>
          <p:nvPr/>
        </p:nvSpPr>
        <p:spPr>
          <a:xfrm>
            <a:off x="8183879" y="4846320"/>
            <a:ext cx="3200400" cy="914400"/>
          </a:xfrm>
          <a:prstGeom prst="rect">
            <a:avLst/>
          </a:prstGeom>
          <a:noFill/>
        </p:spPr>
        <p:txBody>
          <a:bodyPr wrap="square" lIns="0" rIns="0" tIns="0" bIns="0" anchor="t">
            <a:spAutoFit/>
          </a:bodyPr>
          <a:lstStyle/>
          <a:p>
            <a:pPr algn="l">
              <a:spcAft>
                <a:spcPts val="400"/>
              </a:spcAft>
            </a:pPr>
            <a:r>
              <a:rPr sz="1400" b="0" i="0">
                <a:solidFill>
                  <a:srgbClr val="222222"/>
                </a:solidFill>
                <a:latin typeface="Calibri"/>
                <a:ea typeface="Calibri"/>
                <a:cs typeface="Calibri"/>
              </a:rPr>
              <a:t>Operation log with sizes and timings (no keys), metrics JSON, screenshots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8</a:t>
            </a:r>
            <a:endParaRPr lang="en-US" sz="1000" dirty="0"/>
          </a:p>
        </p:txBody>
      </p:sp>
      <p:sp>
        <p:nvSpPr>
          <p:cNvPr id="7" name="TextBox 6"/>
          <p:cNvSpPr txBox="1"/>
          <p:nvPr/>
        </p:nvSpPr>
        <p:spPr>
          <a:xfrm>
            <a:off x="502920" y="1737360"/>
            <a:ext cx="11155680" cy="4480560"/>
          </a:xfrm>
          <a:prstGeom prst="rect">
            <a:avLst/>
          </a:prstGeom>
          <a:noFill/>
        </p:spPr>
        <p:txBody>
          <a:bodyPr wrap="square" lIns="0" rIns="0" tIns="0" bIns="0" anchor="t">
            <a:spAutoFit/>
          </a:bodyPr>
          <a:lstStyle/>
          <a:p>
            <a:pPr algn="l">
              <a:spcAft>
                <a:spcPts val="1200"/>
              </a:spcAft>
            </a:pPr>
            <a:r>
              <a:rPr sz="2200" b="0" i="0">
                <a:solidFill>
                  <a:srgbClr val="222222"/>
                </a:solidFill>
                <a:latin typeface="Calibri"/>
                <a:ea typeface="Calibri"/>
                <a:cs typeface="Calibri"/>
              </a:rPr>
              <a:t>1.  Implement AES encryption for the secret payload and RSA encryption for the AES key.</a:t>
            </a:r>
          </a:p>
          <a:p>
            <a:pPr algn="l">
              <a:spcAft>
                <a:spcPts val="1200"/>
              </a:spcAft>
            </a:pPr>
            <a:r>
              <a:rPr sz="2200" b="0" i="0">
                <a:solidFill>
                  <a:srgbClr val="222222"/>
                </a:solidFill>
                <a:latin typeface="Calibri"/>
                <a:ea typeface="Calibri"/>
                <a:cs typeface="Calibri"/>
              </a:rPr>
              <a:t>2.  Build a secure key generation and exchange mechanism between sender and receiver.</a:t>
            </a:r>
          </a:p>
          <a:p>
            <a:pPr algn="l">
              <a:spcAft>
                <a:spcPts val="1200"/>
              </a:spcAft>
            </a:pPr>
            <a:r>
              <a:rPr sz="2200" b="0" i="0">
                <a:solidFill>
                  <a:srgbClr val="222222"/>
                </a:solidFill>
                <a:latin typeface="Calibri"/>
                <a:ea typeface="Calibri"/>
                <a:cs typeface="Calibri"/>
              </a:rPr>
              <a:t>3.  Embed the encrypted payload into a cover image using LSB steganography.</a:t>
            </a:r>
          </a:p>
          <a:p>
            <a:pPr algn="l">
              <a:spcAft>
                <a:spcPts val="1200"/>
              </a:spcAft>
            </a:pPr>
            <a:r>
              <a:rPr sz="2200" b="0" i="0">
                <a:solidFill>
                  <a:srgbClr val="222222"/>
                </a:solidFill>
                <a:latin typeface="Calibri"/>
                <a:ea typeface="Calibri"/>
                <a:cs typeface="Calibri"/>
              </a:rPr>
              <a:t>4.  Implement the extraction and decryption path to recover the original data.</a:t>
            </a:r>
          </a:p>
          <a:p>
            <a:pPr algn="l">
              <a:spcAft>
                <a:spcPts val="1200"/>
              </a:spcAft>
            </a:pPr>
            <a:r>
              <a:rPr sz="2200" b="0" i="0">
                <a:solidFill>
                  <a:srgbClr val="222222"/>
                </a:solidFill>
                <a:latin typeface="Calibri"/>
                <a:ea typeface="Calibri"/>
                <a:cs typeface="Calibri"/>
              </a:rPr>
              <a:t>5.  Measure imperceptibility using PSNR and SSIM against the original cover image.</a:t>
            </a:r>
          </a:p>
          <a:p>
            <a:pPr algn="l">
              <a:spcAft>
                <a:spcPts val="1200"/>
              </a:spcAft>
            </a:pPr>
            <a:r>
              <a:rPr sz="2200" b="0" i="0">
                <a:solidFill>
                  <a:srgbClr val="222222"/>
                </a:solidFill>
                <a:latin typeface="Calibri"/>
                <a:ea typeface="Calibri"/>
                <a:cs typeface="Calibri"/>
              </a:rPr>
              <a:t>6.  Evaluate embedding capacity, processing time and robustness of the combined scheme.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Proposed System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9</a:t>
            </a:r>
            <a:endParaRPr lang="en-US" sz="1000" dirty="0"/>
          </a:p>
        </p:txBody>
      </p:sp>
      <p:sp>
        <p:nvSpPr>
          <p:cNvPr id="7" name="TextBox 6"/>
          <p:cNvSpPr txBox="1"/>
          <p:nvPr/>
        </p:nvSpPr>
        <p:spPr>
          <a:xfrm>
            <a:off x="502920" y="1600200"/>
            <a:ext cx="11155680" cy="365760"/>
          </a:xfrm>
          <a:prstGeom prst="rect">
            <a:avLst/>
          </a:prstGeom>
          <a:noFill/>
        </p:spPr>
        <p:txBody>
          <a:bodyPr wrap="square" lIns="0" rIns="0" tIns="0" bIns="0" anchor="t">
            <a:spAutoFit/>
          </a:bodyPr>
          <a:lstStyle/>
          <a:p>
            <a:pPr algn="l">
              <a:spcAft>
                <a:spcPts val="400"/>
              </a:spcAft>
            </a:pPr>
            <a:r>
              <a:rPr sz="1500" b="1" i="0">
                <a:solidFill>
                  <a:srgbClr val="1F3864"/>
                </a:solidFill>
                <a:latin typeface="Calibri"/>
                <a:ea typeface="Calibri"/>
                <a:cs typeface="Calibri"/>
              </a:rPr>
              <a:t>Send</a:t>
            </a:r>
          </a:p>
        </p:txBody>
      </p:sp>
      <p:sp>
        <p:nvSpPr>
          <p:cNvPr id="8" name="Rounded Rectangle 7"/>
          <p:cNvSpPr/>
          <p:nvPr/>
        </p:nvSpPr>
        <p:spPr>
          <a:xfrm>
            <a:off x="502920" y="196596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File + SHA-256 header</a:t>
            </a:r>
          </a:p>
        </p:txBody>
      </p:sp>
      <p:sp>
        <p:nvSpPr>
          <p:cNvPr id="9" name="Right Arrow 8"/>
          <p:cNvSpPr/>
          <p:nvPr/>
        </p:nvSpPr>
        <p:spPr>
          <a:xfrm>
            <a:off x="2170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07919" y="1965960"/>
            <a:ext cx="1630680" cy="7772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AES-256-GCM (fresh key, nonce)</a:t>
            </a:r>
          </a:p>
        </p:txBody>
      </p:sp>
      <p:sp>
        <p:nvSpPr>
          <p:cNvPr id="11" name="Right Arrow 10"/>
          <p:cNvSpPr/>
          <p:nvPr/>
        </p:nvSpPr>
        <p:spPr>
          <a:xfrm>
            <a:off x="4075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12919" y="1965960"/>
            <a:ext cx="1630680" cy="7772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RSA-OAEP wraps the key</a:t>
            </a:r>
          </a:p>
        </p:txBody>
      </p:sp>
      <p:sp>
        <p:nvSpPr>
          <p:cNvPr id="13" name="Right Arrow 12"/>
          <p:cNvSpPr/>
          <p:nvPr/>
        </p:nvSpPr>
        <p:spPr>
          <a:xfrm>
            <a:off x="5980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19" y="1965960"/>
            <a:ext cx="1630680" cy="7772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CVL1 bundle</a:t>
            </a:r>
          </a:p>
        </p:txBody>
      </p:sp>
      <p:sp>
        <p:nvSpPr>
          <p:cNvPr id="15" name="Right Arrow 14"/>
          <p:cNvSpPr/>
          <p:nvPr/>
        </p:nvSpPr>
        <p:spPr>
          <a:xfrm>
            <a:off x="7885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22920" y="1965960"/>
            <a:ext cx="1630680" cy="7772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Capacity check</a:t>
            </a:r>
          </a:p>
        </p:txBody>
      </p:sp>
      <p:sp>
        <p:nvSpPr>
          <p:cNvPr id="17" name="Right Arrow 16"/>
          <p:cNvSpPr/>
          <p:nvPr/>
        </p:nvSpPr>
        <p:spPr>
          <a:xfrm>
            <a:off x="9790175" y="223570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27919" y="196596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LSB embed, save PNG</a:t>
            </a:r>
          </a:p>
        </p:txBody>
      </p:sp>
      <p:sp>
        <p:nvSpPr>
          <p:cNvPr id="19" name="TextBox 18"/>
          <p:cNvSpPr txBox="1"/>
          <p:nvPr/>
        </p:nvSpPr>
        <p:spPr>
          <a:xfrm>
            <a:off x="502920" y="2926080"/>
            <a:ext cx="11155680" cy="365760"/>
          </a:xfrm>
          <a:prstGeom prst="rect">
            <a:avLst/>
          </a:prstGeom>
          <a:noFill/>
        </p:spPr>
        <p:txBody>
          <a:bodyPr wrap="square" lIns="0" rIns="0" tIns="0" bIns="0" anchor="t">
            <a:spAutoFit/>
          </a:bodyPr>
          <a:lstStyle/>
          <a:p>
            <a:pPr algn="l">
              <a:spcAft>
                <a:spcPts val="400"/>
              </a:spcAft>
            </a:pPr>
            <a:r>
              <a:rPr sz="1500" b="1" i="0">
                <a:solidFill>
                  <a:srgbClr val="1F3864"/>
                </a:solidFill>
                <a:latin typeface="Calibri"/>
                <a:ea typeface="Calibri"/>
                <a:cs typeface="Calibri"/>
              </a:rPr>
              <a:t>Receive</a:t>
            </a:r>
          </a:p>
        </p:txBody>
      </p:sp>
      <p:sp>
        <p:nvSpPr>
          <p:cNvPr id="20" name="Rounded Rectangle 19"/>
          <p:cNvSpPr/>
          <p:nvPr/>
        </p:nvSpPr>
        <p:spPr>
          <a:xfrm>
            <a:off x="502920" y="329184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Stego PNG</a:t>
            </a:r>
          </a:p>
        </p:txBody>
      </p:sp>
      <p:sp>
        <p:nvSpPr>
          <p:cNvPr id="21" name="Right Arrow 20"/>
          <p:cNvSpPr/>
          <p:nvPr/>
        </p:nvSpPr>
        <p:spPr>
          <a:xfrm>
            <a:off x="2170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2407919" y="3291840"/>
            <a:ext cx="1630680" cy="777240"/>
          </a:xfrm>
          <a:prstGeom prst="roundRect">
            <a:avLst>
              <a:gd name="adj" fmla="val 8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Read length + bits</a:t>
            </a:r>
          </a:p>
        </p:txBody>
      </p:sp>
      <p:sp>
        <p:nvSpPr>
          <p:cNvPr id="23" name="Right Arrow 22"/>
          <p:cNvSpPr/>
          <p:nvPr/>
        </p:nvSpPr>
        <p:spPr>
          <a:xfrm>
            <a:off x="4075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4312919" y="3291840"/>
            <a:ext cx="1630680" cy="7772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RSA unwrap with private key</a:t>
            </a:r>
          </a:p>
        </p:txBody>
      </p:sp>
      <p:sp>
        <p:nvSpPr>
          <p:cNvPr id="25" name="Right Arrow 24"/>
          <p:cNvSpPr/>
          <p:nvPr/>
        </p:nvSpPr>
        <p:spPr>
          <a:xfrm>
            <a:off x="5980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17919" y="3291840"/>
            <a:ext cx="1630680" cy="7772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AES-GCM decrypt, tag check</a:t>
            </a:r>
          </a:p>
        </p:txBody>
      </p:sp>
      <p:sp>
        <p:nvSpPr>
          <p:cNvPr id="27" name="Right Arrow 26"/>
          <p:cNvSpPr/>
          <p:nvPr/>
        </p:nvSpPr>
        <p:spPr>
          <a:xfrm>
            <a:off x="7885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8122920" y="3291840"/>
            <a:ext cx="1630680" cy="7772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SHA-256 compare</a:t>
            </a:r>
          </a:p>
        </p:txBody>
      </p:sp>
      <p:sp>
        <p:nvSpPr>
          <p:cNvPr id="29" name="Right Arrow 28"/>
          <p:cNvSpPr/>
          <p:nvPr/>
        </p:nvSpPr>
        <p:spPr>
          <a:xfrm>
            <a:off x="9790175" y="356158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027919" y="3291840"/>
            <a:ext cx="1630680" cy="777240"/>
          </a:xfrm>
          <a:prstGeom prst="roundRect">
            <a:avLst>
              <a:gd name="adj" fmla="val 8000"/>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200" b="1">
                <a:solidFill>
                  <a:srgbClr val="FFFFFF"/>
                </a:solidFill>
                <a:latin typeface="Calibri"/>
                <a:ea typeface="Calibri"/>
                <a:cs typeface="Calibri"/>
              </a:rPr>
              <a:t>Original file</a:t>
            </a:r>
          </a:p>
        </p:txBody>
      </p:sp>
      <p:sp>
        <p:nvSpPr>
          <p:cNvPr id="31" name="TextBox 30"/>
          <p:cNvSpPr txBox="1"/>
          <p:nvPr/>
        </p:nvSpPr>
        <p:spPr>
          <a:xfrm>
            <a:off x="502920" y="4389120"/>
            <a:ext cx="11155680" cy="1920240"/>
          </a:xfrm>
          <a:prstGeom prst="rect">
            <a:avLst/>
          </a:prstGeom>
          <a:noFill/>
        </p:spPr>
        <p:txBody>
          <a:bodyPr wrap="square" lIns="0" rIns="0" tIns="0" bIns="0" anchor="t">
            <a:spAutoFit/>
          </a:bodyPr>
          <a:lstStyle/>
          <a:p>
            <a:pPr algn="l" marL="256032" indent="-201168">
              <a:spcAft>
                <a:spcPts val="700"/>
              </a:spcAft>
              <a:buChar char="•"/>
            </a:pPr>
            <a:r>
              <a:rPr sz="1600" b="0" i="0">
                <a:solidFill>
                  <a:srgbClr val="222222"/>
                </a:solidFill>
                <a:latin typeface="Calibri"/>
                <a:ea typeface="Calibri"/>
                <a:cs typeface="Calibri"/>
              </a:rPr>
              <a:t>A fresh 256-bit AES key and 96-bit nonce for every message; the magic CVL1 is bound in as associated data, so a modified bundle never decrypts.</a:t>
            </a:r>
          </a:p>
          <a:p>
            <a:pPr algn="l" marL="256032" indent="-201168">
              <a:spcAft>
                <a:spcPts val="700"/>
              </a:spcAft>
              <a:buChar char="•"/>
            </a:pPr>
            <a:r>
              <a:rPr sz="1600" b="0" i="0">
                <a:solidFill>
                  <a:srgbClr val="222222"/>
                </a:solidFill>
                <a:latin typeface="Calibri"/>
                <a:ea typeface="Calibri"/>
                <a:cs typeface="Calibri"/>
              </a:rPr>
              <a:t>Analysis, robustness and benchmark views measure how visible the hiding is and what survives: PSNR, SSIM, histograms, bit planes, nine attacks.</a:t>
            </a:r>
          </a:p>
          <a:p>
            <a:pPr algn="l" marL="256032" indent="-201168">
              <a:spcAft>
                <a:spcPts val="400"/>
              </a:spcAft>
              <a:buChar char="•"/>
            </a:pPr>
            <a:r>
              <a:rPr sz="1600" b="0" i="0">
                <a:solidFill>
                  <a:srgbClr val="222222"/>
                </a:solidFill>
                <a:latin typeface="Calibri"/>
                <a:ea typeface="Calibri"/>
                <a:cs typeface="Calibri"/>
              </a:rPr>
              <a:t>The operation log records sizes, timings and metrics, never keys or file contents.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System Architecture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10</a:t>
            </a:r>
            <a:endParaRPr lang="en-US" sz="1000" dirty="0"/>
          </a:p>
        </p:txBody>
      </p:sp>
      <p:pic>
        <p:nvPicPr>
          <p:cNvPr id="7" name="Picture 6" descr="01_system_architecture.png"/>
          <p:cNvPicPr>
            <a:picLocks noChangeAspect="1"/>
          </p:cNvPicPr>
          <p:nvPr/>
        </p:nvPicPr>
        <p:blipFill>
          <a:blip r:embed="rId2"/>
          <a:stretch>
            <a:fillRect/>
          </a:stretch>
        </p:blipFill>
        <p:spPr>
          <a:xfrm>
            <a:off x="728388" y="1645920"/>
            <a:ext cx="6132743" cy="4663440"/>
          </a:xfrm>
          <a:prstGeom prst="rect">
            <a:avLst/>
          </a:prstGeom>
        </p:spPr>
      </p:pic>
      <p:sp>
        <p:nvSpPr>
          <p:cNvPr id="8" name="TextBox 7"/>
          <p:cNvSpPr txBox="1"/>
          <p:nvPr/>
        </p:nvSpPr>
        <p:spPr>
          <a:xfrm>
            <a:off x="7269480" y="1783080"/>
            <a:ext cx="4480560" cy="4480560"/>
          </a:xfrm>
          <a:prstGeom prst="rect">
            <a:avLst/>
          </a:prstGeom>
          <a:noFill/>
        </p:spPr>
        <p:txBody>
          <a:bodyPr wrap="square" lIns="0" rIns="0" tIns="0" bIns="0" anchor="t">
            <a:spAutoFit/>
          </a:bodyPr>
          <a:lstStyle/>
          <a:p>
            <a:pPr algn="l" marL="256032" indent="-201168">
              <a:spcAft>
                <a:spcPts val="800"/>
              </a:spcAft>
              <a:buChar char="•"/>
            </a:pPr>
            <a:r>
              <a:rPr sz="1500" b="0" i="0">
                <a:solidFill>
                  <a:srgbClr val="222222"/>
                </a:solidFill>
                <a:latin typeface="Calibri"/>
                <a:ea typeface="Calibri"/>
                <a:cs typeface="Calibri"/>
              </a:rPr>
              <a:t>Console: React 18 + Vite + Tailwind, port 5315; 8 pages</a:t>
            </a:r>
          </a:p>
          <a:p>
            <a:pPr algn="l" marL="256032" indent="-201168">
              <a:spcAft>
                <a:spcPts val="800"/>
              </a:spcAft>
              <a:buChar char="•"/>
            </a:pPr>
            <a:r>
              <a:rPr sz="1500" b="0" i="0">
                <a:solidFill>
                  <a:srgbClr val="222222"/>
                </a:solidFill>
                <a:latin typeface="Calibri"/>
                <a:ea typeface="Calibri"/>
                <a:cs typeface="Calibri"/>
              </a:rPr>
              <a:t>API: FastAPI, port 8315; 24 endpoints, JWT (12 h), bcrypt</a:t>
            </a:r>
          </a:p>
          <a:p>
            <a:pPr algn="l" marL="256032" indent="-201168">
              <a:spcAft>
                <a:spcPts val="800"/>
              </a:spcAft>
              <a:buChar char="•"/>
            </a:pPr>
            <a:r>
              <a:rPr sz="1500" b="0" i="0">
                <a:solidFill>
                  <a:srgbClr val="222222"/>
                </a:solidFill>
                <a:latin typeface="Calibri"/>
                <a:ea typeface="Calibri"/>
                <a:cs typeface="Calibri"/>
              </a:rPr>
              <a:t>Services: crypto, lsb, metrics, pipeline, plots, robustness, benchmark - about 1,040 backend lines</a:t>
            </a:r>
          </a:p>
          <a:p>
            <a:pPr algn="l" marL="256032" indent="-201168">
              <a:spcAft>
                <a:spcPts val="800"/>
              </a:spcAft>
              <a:buChar char="•"/>
            </a:pPr>
            <a:r>
              <a:rPr sz="1500" b="0" i="0">
                <a:solidFill>
                  <a:srgbClr val="222222"/>
                </a:solidFill>
                <a:latin typeface="Calibri"/>
                <a:ea typeface="Calibri"/>
                <a:cs typeface="Calibri"/>
              </a:rPr>
              <a:t>Storage: SQLite with 3 tables (users, keypairs, oplog); covers, payloads and outputs as files</a:t>
            </a:r>
          </a:p>
          <a:p>
            <a:pPr algn="l" marL="256032" indent="-201168">
              <a:spcAft>
                <a:spcPts val="400"/>
              </a:spcAft>
              <a:buChar char="•"/>
            </a:pPr>
            <a:r>
              <a:rPr sz="1500" b="0" i="0">
                <a:solidFill>
                  <a:srgbClr val="222222"/>
                </a:solidFill>
                <a:latin typeface="Calibri"/>
                <a:ea typeface="Calibri"/>
                <a:cs typeface="Calibri"/>
              </a:rPr>
              <a:t>No external services; runs offline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Methodology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11</a:t>
            </a:r>
            <a:endParaRPr lang="en-US" sz="1000" dirty="0"/>
          </a:p>
        </p:txBody>
      </p:sp>
      <p:pic>
        <p:nvPicPr>
          <p:cNvPr id="7" name="Picture 6" descr="02_high_level_workflow.png"/>
          <p:cNvPicPr>
            <a:picLocks noChangeAspect="1"/>
          </p:cNvPicPr>
          <p:nvPr/>
        </p:nvPicPr>
        <p:blipFill>
          <a:blip r:embed="rId2"/>
          <a:stretch>
            <a:fillRect/>
          </a:stretch>
        </p:blipFill>
        <p:spPr>
          <a:xfrm>
            <a:off x="791209" y="1645920"/>
            <a:ext cx="6098540" cy="4480560"/>
          </a:xfrm>
          <a:prstGeom prst="rect">
            <a:avLst/>
          </a:prstGeom>
        </p:spPr>
      </p:pic>
      <p:sp>
        <p:nvSpPr>
          <p:cNvPr id="8" name="TextBox 7"/>
          <p:cNvSpPr txBox="1"/>
          <p:nvPr/>
        </p:nvSpPr>
        <p:spPr>
          <a:xfrm>
            <a:off x="7406640" y="1737360"/>
            <a:ext cx="4297680" cy="4572000"/>
          </a:xfrm>
          <a:prstGeom prst="rect">
            <a:avLst/>
          </a:prstGeom>
          <a:noFill/>
        </p:spPr>
        <p:txBody>
          <a:bodyPr wrap="square" lIns="0" rIns="0" tIns="0" bIns="0" anchor="t">
            <a:spAutoFit/>
          </a:bodyPr>
          <a:lstStyle/>
          <a:p>
            <a:pPr algn="l" marL="256032" indent="-201168">
              <a:spcAft>
                <a:spcPts val="800"/>
              </a:spcAft>
              <a:buChar char="•"/>
            </a:pPr>
            <a:r>
              <a:rPr sz="1400" b="0" i="0">
                <a:solidFill>
                  <a:srgbClr val="222222"/>
                </a:solidFill>
                <a:latin typeface="Calibri"/>
                <a:ea typeface="Calibri"/>
                <a:cs typeface="Calibri"/>
              </a:rPr>
              <a:t>No dataset: 6 committed cover images (200x200 to 1280x720) and 4 synthetic payloads (99 B to 21.5 KiB), regenerated by a seeded script.</a:t>
            </a:r>
          </a:p>
          <a:p>
            <a:pPr algn="l" marL="256032" indent="-201168">
              <a:spcAft>
                <a:spcPts val="800"/>
              </a:spcAft>
              <a:buChar char="•"/>
            </a:pPr>
            <a:r>
              <a:rPr sz="1400" b="0" i="0">
                <a:solidFill>
                  <a:srgbClr val="222222"/>
                </a:solidFill>
                <a:latin typeface="Calibri"/>
                <a:ea typeface="Calibri"/>
                <a:cs typeface="Calibri"/>
              </a:rPr>
              <a:t>Core evaluation: payloads of 1-128 KiB, RSA-3072, median of 3 repeats; 22 of 30 runs fit, 8 blocked by the capacity check.</a:t>
            </a:r>
          </a:p>
          <a:p>
            <a:pPr algn="l" marL="256032" indent="-201168">
              <a:spcAft>
                <a:spcPts val="800"/>
              </a:spcAft>
              <a:buChar char="•"/>
            </a:pPr>
            <a:r>
              <a:rPr sz="1400" b="0" i="0">
                <a:solidFill>
                  <a:srgbClr val="222222"/>
                </a:solidFill>
                <a:latin typeface="Calibri"/>
                <a:ea typeface="Calibri"/>
                <a:cs typeface="Calibri"/>
              </a:rPr>
              <a:t>Extra experiments: RSA key size, 6 covers x 7 fill levels x 5 seeds, plain vs encrypted, steganalysis, 240 tamper flips, extra attacks.</a:t>
            </a:r>
          </a:p>
          <a:p>
            <a:pPr algn="l" marL="256032" indent="-201168">
              <a:spcAft>
                <a:spcPts val="400"/>
              </a:spcAft>
              <a:buChar char="•"/>
            </a:pPr>
            <a:r>
              <a:rPr sz="1400" b="0" i="0">
                <a:solidFill>
                  <a:srgbClr val="222222"/>
                </a:solidFill>
                <a:latin typeface="Calibri"/>
                <a:ea typeface="Calibri"/>
                <a:cs typeface="Calibri"/>
              </a:rPr>
              <a:t>Robustness: every attack ends in a real decryption and a hash comparison.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Bundle Format &amp; Core Algorithm</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12</a:t>
            </a:r>
            <a:endParaRPr lang="en-US" sz="1000" dirty="0"/>
          </a:p>
        </p:txBody>
      </p:sp>
      <p:pic>
        <p:nvPicPr>
          <p:cNvPr id="7" name="Picture 6" descr="11_bundle_layout.png"/>
          <p:cNvPicPr>
            <a:picLocks noChangeAspect="1"/>
          </p:cNvPicPr>
          <p:nvPr/>
        </p:nvPicPr>
        <p:blipFill>
          <a:blip r:embed="rId4"/>
          <a:stretch>
            <a:fillRect/>
          </a:stretch>
        </p:blipFill>
        <p:spPr>
          <a:xfrm>
            <a:off x="663557" y="1600200"/>
            <a:ext cx="5622324" cy="4160520"/>
          </a:xfrm>
          <a:prstGeom prst="rect">
            <a:avLst/>
          </a:prstGeom>
        </p:spPr>
      </p:pic>
      <p:pic>
        <p:nvPicPr>
          <p:cNvPr id="8" name="Picture 7" descr="10_flowchart_algorithm.png"/>
          <p:cNvPicPr>
            <a:picLocks noChangeAspect="1"/>
          </p:cNvPicPr>
          <p:nvPr/>
        </p:nvPicPr>
        <p:blipFill>
          <a:blip r:embed="rId5"/>
          <a:stretch>
            <a:fillRect/>
          </a:stretch>
        </p:blipFill>
        <p:spPr>
          <a:xfrm>
            <a:off x="7174940" y="1600200"/>
            <a:ext cx="4029559" cy="4754880"/>
          </a:xfrm>
          <a:prstGeom prst="rect">
            <a:avLst/>
          </a:prstGeom>
        </p:spPr>
      </p:pic>
      <p:sp>
        <p:nvSpPr>
          <p:cNvPr id="9" name="TextBox 8"/>
          <p:cNvSpPr txBox="1"/>
          <p:nvPr/>
        </p:nvSpPr>
        <p:spPr>
          <a:xfrm>
            <a:off x="502920" y="5806440"/>
            <a:ext cx="5943600" cy="640080"/>
          </a:xfrm>
          <a:prstGeom prst="rect">
            <a:avLst/>
          </a:prstGeom>
          <a:noFill/>
        </p:spPr>
        <p:txBody>
          <a:bodyPr wrap="square" lIns="0" rIns="0" tIns="0" bIns="0" anchor="t">
            <a:spAutoFit/>
          </a:bodyPr>
          <a:lstStyle/>
          <a:p>
            <a:pPr algn="l">
              <a:spcAft>
                <a:spcPts val="400"/>
              </a:spcAft>
            </a:pPr>
            <a:r>
              <a:rPr sz="1150" b="0" i="1">
                <a:solidFill>
                  <a:srgbClr val="1F3864"/>
                </a:solidFill>
                <a:latin typeface="Calibri"/>
                <a:ea typeface="Calibri"/>
                <a:cs typeface="Calibri"/>
              </a:rPr>
              <a:t>Inside AES-GCM: header length | header JSON {name, size, sha256} | file. Hidden stream: 32-bit length, then the bundle, one bit per R, G, B value, row by row from the top-left pixel.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Formulation &amp; Test Material</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13</a:t>
            </a:r>
            <a:endParaRPr lang="en-US" sz="1000" dirty="0"/>
          </a:p>
        </p:txBody>
      </p:sp>
      <p:sp>
        <p:nvSpPr>
          <p:cNvPr id="7" name="Rounded Rectangle 6"/>
          <p:cNvSpPr/>
          <p:nvPr/>
        </p:nvSpPr>
        <p:spPr>
          <a:xfrm>
            <a:off x="502920" y="1645920"/>
            <a:ext cx="6675120" cy="365760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737360"/>
            <a:ext cx="6309360" cy="3566160"/>
          </a:xfrm>
          <a:prstGeom prst="rect">
            <a:avLst/>
          </a:prstGeom>
          <a:noFill/>
        </p:spPr>
        <p:txBody>
          <a:bodyPr wrap="square" lIns="0" rIns="0" tIns="0" bIns="0" anchor="t">
            <a:spAutoFit/>
          </a:bodyPr>
          <a:lstStyle/>
          <a:p>
            <a:pPr algn="l">
              <a:spcAft>
                <a:spcPts val="900"/>
              </a:spcAft>
            </a:pPr>
            <a:r>
              <a:rPr sz="1400" b="0" i="0">
                <a:solidFill>
                  <a:srgbClr val="222222"/>
                </a:solidFill>
                <a:latin typeface="Calibri"/>
                <a:ea typeface="Calibri"/>
                <a:cs typeface="Calibri"/>
              </a:rPr>
              <a:t>Capacity of a W x H cover:  C = (W*H*3 - 32) / 8 bytes  (3.0 bits per pixel)</a:t>
            </a:r>
          </a:p>
          <a:p>
            <a:pPr algn="l">
              <a:spcAft>
                <a:spcPts val="900"/>
              </a:spcAft>
            </a:pPr>
            <a:r>
              <a:rPr sz="1400" b="0" i="0">
                <a:solidFill>
                  <a:srgbClr val="222222"/>
                </a:solidFill>
                <a:latin typeface="Calibri"/>
                <a:ea typeface="Calibri"/>
                <a:cs typeface="Calibri"/>
              </a:rPr>
              <a:t>Imperceptibility:  MSE = mean (x - x')^2,   PSNR = 10 log10(255^2 / MSE),  SSIM per colour channel, averaged</a:t>
            </a:r>
          </a:p>
          <a:p>
            <a:pPr algn="l">
              <a:spcAft>
                <a:spcPts val="900"/>
              </a:spcAft>
            </a:pPr>
            <a:r>
              <a:rPr sz="1400" b="0" i="0">
                <a:solidFill>
                  <a:srgbClr val="222222"/>
                </a:solidFill>
                <a:latin typeface="Calibri"/>
                <a:ea typeface="Calibri"/>
                <a:cs typeface="Calibri"/>
              </a:rPr>
              <a:t>Random payload bits flip half of the touched values, so with b embedded bits in n values:  E[MSE] = 0.5 b / n</a:t>
            </a:r>
          </a:p>
          <a:p>
            <a:pPr algn="l">
              <a:spcAft>
                <a:spcPts val="900"/>
              </a:spcAft>
            </a:pPr>
            <a:r>
              <a:rPr sz="1400" b="0" i="0">
                <a:solidFill>
                  <a:srgbClr val="222222"/>
                </a:solidFill>
                <a:latin typeface="Calibri"/>
                <a:ea typeface="Calibri"/>
                <a:cs typeface="Calibri"/>
              </a:rPr>
              <a:t>Closed form:  PSNR = 10 log10(255^2 n / (0.5 b));  with the cover full (b = n) the floor is 51.14 dB</a:t>
            </a:r>
          </a:p>
          <a:p>
            <a:pPr algn="l">
              <a:spcAft>
                <a:spcPts val="0"/>
              </a:spcAft>
            </a:pPr>
            <a:r>
              <a:rPr sz="1400" b="0" i="0">
                <a:solidFill>
                  <a:srgbClr val="222222"/>
                </a:solidFill>
                <a:latin typeface="Calibri"/>
                <a:ea typeface="Calibri"/>
                <a:cs typeface="Calibri"/>
              </a:rPr>
              <a:t>Authenticity: GCM tag over header + file with CVL1 as associated data; RSA-OAEP with SHA-256 and MGF1-SHA-256 wraps the 256-bit key</a:t>
            </a:r>
          </a:p>
        </p:txBody>
      </p:sp>
      <p:sp>
        <p:nvSpPr>
          <p:cNvPr id="9" name="Rounded Rectangle 8"/>
          <p:cNvSpPr/>
          <p:nvPr/>
        </p:nvSpPr>
        <p:spPr>
          <a:xfrm>
            <a:off x="7406640" y="1645920"/>
            <a:ext cx="42519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7406640" y="1645920"/>
            <a:ext cx="73152" cy="96012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89519" y="1700784"/>
            <a:ext cx="39776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0.053 dB</a:t>
            </a:r>
          </a:p>
        </p:txBody>
      </p:sp>
      <p:sp>
        <p:nvSpPr>
          <p:cNvPr id="12" name="TextBox 11"/>
          <p:cNvSpPr txBox="1"/>
          <p:nvPr/>
        </p:nvSpPr>
        <p:spPr>
          <a:xfrm>
            <a:off x="7589519" y="2202789"/>
            <a:ext cx="39776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largest gap between measured PSNR and the closed form</a:t>
            </a:r>
          </a:p>
        </p:txBody>
      </p:sp>
      <p:sp>
        <p:nvSpPr>
          <p:cNvPr id="13" name="Rounded Rectangle 12"/>
          <p:cNvSpPr/>
          <p:nvPr/>
        </p:nvSpPr>
        <p:spPr>
          <a:xfrm>
            <a:off x="7406640" y="2743200"/>
            <a:ext cx="42519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7406640" y="2743200"/>
            <a:ext cx="73152" cy="96012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89519" y="2798064"/>
            <a:ext cx="39776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6 covers</a:t>
            </a:r>
          </a:p>
        </p:txBody>
      </p:sp>
      <p:sp>
        <p:nvSpPr>
          <p:cNvPr id="16" name="TextBox 15"/>
          <p:cNvSpPr txBox="1"/>
          <p:nvPr/>
        </p:nvSpPr>
        <p:spPr>
          <a:xfrm>
            <a:off x="7589519" y="3300069"/>
            <a:ext cx="39776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200x200 to 1280x720; public domain / CC0 / generated</a:t>
            </a:r>
          </a:p>
        </p:txBody>
      </p:sp>
      <p:sp>
        <p:nvSpPr>
          <p:cNvPr id="17" name="Rounded Rectangle 16"/>
          <p:cNvSpPr/>
          <p:nvPr/>
        </p:nvSpPr>
        <p:spPr>
          <a:xfrm>
            <a:off x="7406640" y="3840480"/>
            <a:ext cx="4251960" cy="96012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406640" y="3840480"/>
            <a:ext cx="73152" cy="9601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589519" y="3895344"/>
            <a:ext cx="3977640" cy="528066"/>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4 payloads</a:t>
            </a:r>
          </a:p>
        </p:txBody>
      </p:sp>
      <p:sp>
        <p:nvSpPr>
          <p:cNvPr id="20" name="TextBox 19"/>
          <p:cNvSpPr txBox="1"/>
          <p:nvPr/>
        </p:nvSpPr>
        <p:spPr>
          <a:xfrm>
            <a:off x="7589519" y="4397349"/>
            <a:ext cx="3977640" cy="384048"/>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memo PDF 21.5 KiB, CSV 2.7 KiB, notes, JSON (synthetic)</a:t>
            </a:r>
          </a:p>
        </p:txBody>
      </p:sp>
      <p:sp>
        <p:nvSpPr>
          <p:cNvPr id="21" name="TextBox 20"/>
          <p:cNvSpPr txBox="1"/>
          <p:nvPr/>
        </p:nvSpPr>
        <p:spPr>
          <a:xfrm>
            <a:off x="502920" y="5486400"/>
            <a:ext cx="11155680" cy="822960"/>
          </a:xfrm>
          <a:prstGeom prst="rect">
            <a:avLst/>
          </a:prstGeom>
          <a:noFill/>
        </p:spPr>
        <p:txBody>
          <a:bodyPr wrap="square" lIns="0" rIns="0" tIns="0" bIns="0" anchor="t">
            <a:spAutoFit/>
          </a:bodyPr>
          <a:lstStyle/>
          <a:p>
            <a:pPr algn="l">
              <a:spcAft>
                <a:spcPts val="400"/>
              </a:spcAft>
            </a:pPr>
            <a:r>
              <a:rPr sz="1300" b="0" i="1">
                <a:solidFill>
                  <a:srgbClr val="1F3864"/>
                </a:solidFill>
                <a:latin typeface="Calibri"/>
                <a:ea typeface="Calibri"/>
                <a:cs typeface="Calibri"/>
              </a:rPr>
              <a:t>Why these choices: AES-GCM gives secrecy and integrity in one pass; OAEP is the standard randomised RSA padding; 1-bit sequential LSB is the simplest carrier and the one the base paper uses. LSB matching, adaptive embedding and error-correcting codes were left out of scope.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Design – Classes and Data</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14</a:t>
            </a:r>
            <a:endParaRPr lang="en-US" sz="1000" dirty="0"/>
          </a:p>
        </p:txBody>
      </p:sp>
      <p:pic>
        <p:nvPicPr>
          <p:cNvPr id="7" name="Picture 6" descr="06_uml_class.png"/>
          <p:cNvPicPr>
            <a:picLocks noChangeAspect="1"/>
          </p:cNvPicPr>
          <p:nvPr/>
        </p:nvPicPr>
        <p:blipFill>
          <a:blip r:embed="rId2"/>
          <a:stretch>
            <a:fillRect/>
          </a:stretch>
        </p:blipFill>
        <p:spPr>
          <a:xfrm>
            <a:off x="976448" y="1645920"/>
            <a:ext cx="4996542" cy="4114800"/>
          </a:xfrm>
          <a:prstGeom prst="rect">
            <a:avLst/>
          </a:prstGeom>
        </p:spPr>
      </p:pic>
      <p:pic>
        <p:nvPicPr>
          <p:cNvPr id="8" name="Picture 7" descr="09_er_diagram.png"/>
          <p:cNvPicPr>
            <a:picLocks noChangeAspect="1"/>
          </p:cNvPicPr>
          <p:nvPr/>
        </p:nvPicPr>
        <p:blipFill>
          <a:blip r:embed="rId5"/>
          <a:stretch>
            <a:fillRect/>
          </a:stretch>
        </p:blipFill>
        <p:spPr>
          <a:xfrm>
            <a:off x="6786562" y="1645920"/>
            <a:ext cx="4714875" cy="3017520"/>
          </a:xfrm>
          <a:prstGeom prst="rect">
            <a:avLst/>
          </a:prstGeom>
        </p:spPr>
      </p:pic>
      <p:graphicFrame>
        <p:nvGraphicFramePr>
          <p:cNvPr id="9" name="Table 8"/>
          <p:cNvGraphicFramePr>
            <a:graphicFrameLocks noGrp="1"/>
          </p:cNvGraphicFramePr>
          <p:nvPr/>
        </p:nvGraphicFramePr>
        <p:xfrm>
          <a:off x="6583680" y="4754880"/>
          <a:ext cx="5120640" cy="1463040"/>
        </p:xfrm>
        <a:graphic>
          <a:graphicData uri="http://schemas.openxmlformats.org/drawingml/2006/table">
            <a:tbl>
              <a:tblPr firstRow="0" bandRow="0">
                <a:tableStyleId>{5C22544A-7EE6-4342-B048-85BDC9FD1C3A}</a:tableStyleId>
              </a:tblPr>
              <a:tblGrid>
                <a:gridCol w="1188720"/>
                <a:gridCol w="3931920"/>
              </a:tblGrid>
              <a:tr h="365760">
                <a:tc>
                  <a:txBody>
                    <a:bodyPr wrap="square"/>
                    <a:lstStyle/>
                    <a:p>
                      <a:pPr algn="ctr"/>
                      <a:r>
                        <a:rPr sz="1050" b="1">
                          <a:solidFill>
                            <a:srgbClr val="1F3864"/>
                          </a:solidFill>
                          <a:latin typeface="Calibri"/>
                          <a:ea typeface="Calibri"/>
                          <a:cs typeface="Calibri"/>
                        </a:rPr>
                        <a:t>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50" b="1">
                          <a:solidFill>
                            <a:srgbClr val="1F3864"/>
                          </a:solidFill>
                          <a:latin typeface="Calibri"/>
                          <a:ea typeface="Calibri"/>
                          <a:cs typeface="Calibri"/>
                        </a:rPr>
                        <a:t>Holds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l"/>
                      <a:r>
                        <a:rPr sz="1050" b="1">
                          <a:solidFill>
                            <a:srgbClr val="222222"/>
                          </a:solidFill>
                          <a:latin typeface="Calibri"/>
                          <a:ea typeface="Calibri"/>
                          <a:cs typeface="Calibri"/>
                        </a:rPr>
                        <a:t>users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50" b="0">
                          <a:solidFill>
                            <a:srgbClr val="222222"/>
                          </a:solidFill>
                          <a:latin typeface="Calibri"/>
                          <a:ea typeface="Calibri"/>
                          <a:cs typeface="Calibri"/>
                        </a:rPr>
                        <a:t>username, bcrypt hash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050" b="1">
                          <a:solidFill>
                            <a:srgbClr val="222222"/>
                          </a:solidFill>
                          <a:latin typeface="Calibri"/>
                          <a:ea typeface="Calibri"/>
                          <a:cs typeface="Calibri"/>
                        </a:rPr>
                        <a:t>keypairs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50" b="0">
                          <a:solidFill>
                            <a:srgbClr val="222222"/>
                          </a:solidFill>
                          <a:latin typeface="Calibri"/>
                          <a:ea typeface="Calibri"/>
                          <a:cs typeface="Calibri"/>
                        </a:rPr>
                        <a:t>name, bits, fingerprint, public PEM, private PEM (empty = public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050" b="1">
                          <a:solidFill>
                            <a:srgbClr val="222222"/>
                          </a:solidFill>
                          <a:latin typeface="Calibri"/>
                          <a:ea typeface="Calibri"/>
                          <a:cs typeface="Calibri"/>
                        </a:rPr>
                        <a:t>oplog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50" b="0">
                          <a:solidFill>
                            <a:srgbClr val="222222"/>
                          </a:solidFill>
                          <a:latin typeface="Calibri"/>
                          <a:ea typeface="Calibri"/>
                          <a:cs typeface="Calibri"/>
                        </a:rPr>
                        <a:t>operation, status, JSON details (sizes, timings, metrics; no secrets)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10" name="TextBox 9"/>
          <p:cNvSpPr txBox="1"/>
          <p:nvPr/>
        </p:nvSpPr>
        <p:spPr>
          <a:xfrm>
            <a:off x="502920" y="5852160"/>
            <a:ext cx="5943600" cy="548640"/>
          </a:xfrm>
          <a:prstGeom prst="rect">
            <a:avLst/>
          </a:prstGeom>
          <a:noFill/>
        </p:spPr>
        <p:txBody>
          <a:bodyPr wrap="square" lIns="0" rIns="0" tIns="0" bIns="0" anchor="t">
            <a:spAutoFit/>
          </a:bodyPr>
          <a:lstStyle/>
          <a:p>
            <a:pPr algn="l">
              <a:spcAft>
                <a:spcPts val="400"/>
              </a:spcAft>
            </a:pPr>
            <a:r>
              <a:rPr sz="1200" b="0" i="1">
                <a:solidFill>
                  <a:srgbClr val="1F3864"/>
                </a:solidFill>
                <a:latin typeface="Calibri"/>
                <a:ea typeface="Calibri"/>
                <a:cs typeface="Calibri"/>
              </a:rPr>
              <a:t>Private keys are stored unencrypted in the local SQLite file: treat data/app.db as sensitive.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Implementation Highlights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15</a:t>
            </a:r>
            <a:endParaRPr lang="en-US" sz="1000" dirty="0"/>
          </a:p>
        </p:txBody>
      </p:sp>
      <p:sp>
        <p:nvSpPr>
          <p:cNvPr id="7" name="Rounded Rectangle 6"/>
          <p:cNvSpPr/>
          <p:nvPr/>
        </p:nvSpPr>
        <p:spPr>
          <a:xfrm>
            <a:off x="50292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9164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4650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24</a:t>
            </a:r>
          </a:p>
        </p:txBody>
      </p:sp>
      <p:sp>
        <p:nvSpPr>
          <p:cNvPr id="10" name="TextBox 9"/>
          <p:cNvSpPr txBox="1"/>
          <p:nvPr/>
        </p:nvSpPr>
        <p:spPr>
          <a:xfrm>
            <a:off x="68580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endpoints</a:t>
            </a:r>
          </a:p>
        </p:txBody>
      </p:sp>
      <p:sp>
        <p:nvSpPr>
          <p:cNvPr id="11" name="Rounded Rectangle 10"/>
          <p:cNvSpPr/>
          <p:nvPr/>
        </p:nvSpPr>
        <p:spPr>
          <a:xfrm>
            <a:off x="333756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9164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4650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39 + 21</a:t>
            </a:r>
          </a:p>
        </p:txBody>
      </p:sp>
      <p:sp>
        <p:nvSpPr>
          <p:cNvPr id="14" name="TextBox 13"/>
          <p:cNvSpPr txBox="1"/>
          <p:nvPr/>
        </p:nvSpPr>
        <p:spPr>
          <a:xfrm>
            <a:off x="352044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pytest tests + smoke checks</a:t>
            </a:r>
          </a:p>
        </p:txBody>
      </p:sp>
      <p:sp>
        <p:nvSpPr>
          <p:cNvPr id="15" name="Rounded Rectangle 14"/>
          <p:cNvSpPr/>
          <p:nvPr/>
        </p:nvSpPr>
        <p:spPr>
          <a:xfrm>
            <a:off x="617220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9164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4650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3</a:t>
            </a:r>
          </a:p>
        </p:txBody>
      </p:sp>
      <p:sp>
        <p:nvSpPr>
          <p:cNvPr id="18" name="TextBox 17"/>
          <p:cNvSpPr txBox="1"/>
          <p:nvPr/>
        </p:nvSpPr>
        <p:spPr>
          <a:xfrm>
            <a:off x="635508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database tables</a:t>
            </a:r>
          </a:p>
        </p:txBody>
      </p:sp>
      <p:sp>
        <p:nvSpPr>
          <p:cNvPr id="19" name="Rounded Rectangle 18"/>
          <p:cNvSpPr/>
          <p:nvPr/>
        </p:nvSpPr>
        <p:spPr>
          <a:xfrm>
            <a:off x="9006840" y="169164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9164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46504"/>
            <a:ext cx="2377440" cy="553212"/>
          </a:xfrm>
          <a:prstGeom prst="rect">
            <a:avLst/>
          </a:prstGeom>
          <a:noFill/>
        </p:spPr>
        <p:txBody>
          <a:bodyPr wrap="square" lIns="0" rIns="0" tIns="0" bIns="0" anchor="ctr">
            <a:spAutoFit/>
          </a:bodyPr>
          <a:lstStyle/>
          <a:p>
            <a:pPr algn="l">
              <a:spcAft>
                <a:spcPts val="400"/>
              </a:spcAft>
            </a:pPr>
            <a:r>
              <a:rPr sz="2800" b="1" i="0">
                <a:solidFill>
                  <a:srgbClr val="1F3864"/>
                </a:solidFill>
                <a:latin typeface="Calibri"/>
                <a:ea typeface="Calibri"/>
                <a:cs typeface="Calibri"/>
              </a:rPr>
              <a:t>8</a:t>
            </a:r>
          </a:p>
        </p:txBody>
      </p:sp>
      <p:sp>
        <p:nvSpPr>
          <p:cNvPr id="22" name="TextBox 21"/>
          <p:cNvSpPr txBox="1"/>
          <p:nvPr/>
        </p:nvSpPr>
        <p:spPr>
          <a:xfrm>
            <a:off x="9189720" y="2275027"/>
            <a:ext cx="2377440" cy="402336"/>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React pages</a:t>
            </a:r>
          </a:p>
        </p:txBody>
      </p:sp>
      <p:sp>
        <p:nvSpPr>
          <p:cNvPr id="23" name="TextBox 22"/>
          <p:cNvSpPr txBox="1"/>
          <p:nvPr/>
        </p:nvSpPr>
        <p:spPr>
          <a:xfrm>
            <a:off x="502920" y="2971800"/>
            <a:ext cx="11155680" cy="3291840"/>
          </a:xfrm>
          <a:prstGeom prst="rect">
            <a:avLst/>
          </a:prstGeom>
          <a:noFill/>
        </p:spPr>
        <p:txBody>
          <a:bodyPr wrap="square" lIns="0" rIns="0" tIns="0" bIns="0" anchor="t">
            <a:spAutoFit/>
          </a:bodyPr>
          <a:lstStyle/>
          <a:p>
            <a:pPr algn="l" marL="256032" indent="-201168">
              <a:spcAft>
                <a:spcPts val="900"/>
              </a:spcAft>
              <a:buChar char="•"/>
            </a:pPr>
            <a:r>
              <a:rPr sz="1600" b="0" i="0">
                <a:solidFill>
                  <a:srgbClr val="222222"/>
                </a:solidFill>
                <a:latin typeface="Calibri"/>
                <a:ea typeface="Calibri"/>
                <a:cs typeface="Calibri"/>
              </a:rPr>
              <a:t>Python 3.11, FastAPI, SQLAlchemy, cryptography 44, Pillow, NumPy, scikit-image (metrics), matplotlib (plots); React 18, Vite 6, Tailwind 4, Recharts.</a:t>
            </a:r>
          </a:p>
          <a:p>
            <a:pPr algn="l" marL="256032" indent="-201168">
              <a:spcAft>
                <a:spcPts val="900"/>
              </a:spcAft>
              <a:buChar char="•"/>
            </a:pPr>
            <a:r>
              <a:rPr sz="1600" b="0" i="0">
                <a:solidFill>
                  <a:srgbClr val="222222"/>
                </a:solidFill>
                <a:latin typeface="Calibri"/>
                <a:ea typeface="Calibri"/>
                <a:cs typeface="Calibri"/>
              </a:rPr>
              <a:t>One pipeline module (hide / reveal) serves the API, the benchmark and the evaluation script; samples are resolved from a directory listing, never joined from user input.</a:t>
            </a:r>
          </a:p>
          <a:p>
            <a:pPr algn="l" marL="256032" indent="-201168">
              <a:spcAft>
                <a:spcPts val="900"/>
              </a:spcAft>
              <a:buChar char="•"/>
            </a:pPr>
            <a:r>
              <a:rPr sz="1600" b="0" i="0">
                <a:solidFill>
                  <a:srgbClr val="222222"/>
                </a:solidFill>
                <a:latin typeface="Calibri"/>
                <a:ea typeface="Calibri"/>
                <a:cs typeface="Calibri"/>
              </a:rPr>
              <a:t>RSA keys below 2048 bits are rejected; uploads are capped at 25 MB; the oversize check runs before any embedding.</a:t>
            </a:r>
          </a:p>
          <a:p>
            <a:pPr algn="l" marL="256032" indent="-201168">
              <a:spcAft>
                <a:spcPts val="900"/>
              </a:spcAft>
              <a:buChar char="•"/>
            </a:pPr>
            <a:r>
              <a:rPr sz="1600" b="0" i="0">
                <a:solidFill>
                  <a:srgbClr val="222222"/>
                </a:solidFill>
                <a:latin typeface="Calibri"/>
                <a:ea typeface="Calibri"/>
                <a:cs typeface="Calibri"/>
              </a:rPr>
              <a:t>Known gaps: private keys unencrypted in the database, placeholder JWT secret in .env, no login rate limit, RSA only, no sender signatures.</a:t>
            </a:r>
          </a:p>
          <a:p>
            <a:pPr algn="l" marL="256032" indent="-201168">
              <a:spcAft>
                <a:spcPts val="400"/>
              </a:spcAft>
              <a:buChar char="•"/>
            </a:pPr>
            <a:r>
              <a:rPr sz="1600" b="0" i="0">
                <a:solidFill>
                  <a:srgbClr val="222222"/>
                </a:solidFill>
                <a:latin typeface="Calibri"/>
                <a:ea typeface="Calibri"/>
                <a:cs typeface="Calibri"/>
              </a:rPr>
              <a:t>Defect found while documenting: the Send page crashes for an account with no keys (a missing icon import); not fixed in the product code.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Results – Quality, Capacity and Speed</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16</a:t>
            </a:r>
            <a:endParaRPr lang="en-US" sz="1000" dirty="0"/>
          </a:p>
        </p:txBody>
      </p:sp>
      <p:sp>
        <p:nvSpPr>
          <p:cNvPr id="7" name="Rounded Rectangle 6"/>
          <p:cNvSpPr/>
          <p:nvPr/>
        </p:nvSpPr>
        <p:spPr>
          <a:xfrm>
            <a:off x="502920" y="164592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45920"/>
            <a:ext cx="73152" cy="100584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0078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22 / 22</a:t>
            </a:r>
          </a:p>
        </p:txBody>
      </p:sp>
      <p:sp>
        <p:nvSpPr>
          <p:cNvPr id="10" name="TextBox 9"/>
          <p:cNvSpPr txBox="1"/>
          <p:nvPr/>
        </p:nvSpPr>
        <p:spPr>
          <a:xfrm>
            <a:off x="685800" y="2229307"/>
            <a:ext cx="2377440" cy="402336"/>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round trips byte-exact (8 blocked by the capacity check)</a:t>
            </a:r>
          </a:p>
        </p:txBody>
      </p:sp>
      <p:sp>
        <p:nvSpPr>
          <p:cNvPr id="11" name="Rounded Rectangle 10"/>
          <p:cNvSpPr/>
          <p:nvPr/>
        </p:nvSpPr>
        <p:spPr>
          <a:xfrm>
            <a:off x="3337560" y="164592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45920"/>
            <a:ext cx="73152" cy="100584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0078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52.5 dB</a:t>
            </a:r>
          </a:p>
        </p:txBody>
      </p:sp>
      <p:sp>
        <p:nvSpPr>
          <p:cNvPr id="14" name="TextBox 13"/>
          <p:cNvSpPr txBox="1"/>
          <p:nvPr/>
        </p:nvSpPr>
        <p:spPr>
          <a:xfrm>
            <a:off x="3520440" y="2229307"/>
            <a:ext cx="2377440" cy="402336"/>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minimum PSNR; mean 61.7 dB</a:t>
            </a:r>
          </a:p>
        </p:txBody>
      </p:sp>
      <p:sp>
        <p:nvSpPr>
          <p:cNvPr id="15" name="Rounded Rectangle 14"/>
          <p:cNvSpPr/>
          <p:nvPr/>
        </p:nvSpPr>
        <p:spPr>
          <a:xfrm>
            <a:off x="6172200" y="164592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45920"/>
            <a:ext cx="73152" cy="100584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0078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0.9958</a:t>
            </a:r>
          </a:p>
        </p:txBody>
      </p:sp>
      <p:sp>
        <p:nvSpPr>
          <p:cNvPr id="18" name="TextBox 17"/>
          <p:cNvSpPr txBox="1"/>
          <p:nvPr/>
        </p:nvSpPr>
        <p:spPr>
          <a:xfrm>
            <a:off x="6355080" y="2229307"/>
            <a:ext cx="2377440" cy="402336"/>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minimum SSIM; mean 0.9990</a:t>
            </a:r>
          </a:p>
        </p:txBody>
      </p:sp>
      <p:sp>
        <p:nvSpPr>
          <p:cNvPr id="19" name="Rounded Rectangle 18"/>
          <p:cNvSpPr/>
          <p:nvPr/>
        </p:nvSpPr>
        <p:spPr>
          <a:xfrm>
            <a:off x="9006840" y="1645920"/>
            <a:ext cx="2651760" cy="100584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45920"/>
            <a:ext cx="73152" cy="100584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00784"/>
            <a:ext cx="2377440" cy="553212"/>
          </a:xfrm>
          <a:prstGeom prst="rect">
            <a:avLst/>
          </a:prstGeom>
          <a:noFill/>
        </p:spPr>
        <p:txBody>
          <a:bodyPr wrap="square" lIns="0" rIns="0" tIns="0" bIns="0" anchor="ctr">
            <a:spAutoFit/>
          </a:bodyPr>
          <a:lstStyle/>
          <a:p>
            <a:pPr algn="l">
              <a:spcAft>
                <a:spcPts val="400"/>
              </a:spcAft>
            </a:pPr>
            <a:r>
              <a:rPr sz="2600" b="1" i="0">
                <a:solidFill>
                  <a:srgbClr val="1F3864"/>
                </a:solidFill>
                <a:latin typeface="Calibri"/>
                <a:ea typeface="Calibri"/>
                <a:cs typeface="Calibri"/>
              </a:rPr>
              <a:t>86 ms</a:t>
            </a:r>
          </a:p>
        </p:txBody>
      </p:sp>
      <p:sp>
        <p:nvSpPr>
          <p:cNvPr id="22" name="TextBox 21"/>
          <p:cNvSpPr txBox="1"/>
          <p:nvPr/>
        </p:nvSpPr>
        <p:spPr>
          <a:xfrm>
            <a:off x="9189720" y="2229307"/>
            <a:ext cx="2377440" cy="402336"/>
          </a:xfrm>
          <a:prstGeom prst="rect">
            <a:avLst/>
          </a:prstGeom>
          <a:noFill/>
        </p:spPr>
        <p:txBody>
          <a:bodyPr wrap="square" lIns="0" rIns="0" tIns="0" bIns="0" anchor="t">
            <a:spAutoFit/>
          </a:bodyPr>
          <a:lstStyle/>
          <a:p>
            <a:pPr algn="l">
              <a:spcAft>
                <a:spcPts val="400"/>
              </a:spcAft>
            </a:pPr>
            <a:r>
              <a:rPr sz="1100" b="0" i="0">
                <a:solidFill>
                  <a:srgbClr val="222222"/>
                </a:solidFill>
                <a:latin typeface="Calibri"/>
                <a:ea typeface="Calibri"/>
                <a:cs typeface="Calibri"/>
              </a:rPr>
              <a:t>RSA-3072 unwrap + decrypt; AES encrypt 0.15 ms</a:t>
            </a:r>
          </a:p>
        </p:txBody>
      </p:sp>
      <p:graphicFrame>
        <p:nvGraphicFramePr>
          <p:cNvPr id="23" name="Table 22"/>
          <p:cNvGraphicFramePr>
            <a:graphicFrameLocks noGrp="1"/>
          </p:cNvGraphicFramePr>
          <p:nvPr/>
        </p:nvGraphicFramePr>
        <p:xfrm>
          <a:off x="502920" y="2788920"/>
          <a:ext cx="7543800" cy="2560320"/>
        </p:xfrm>
        <a:graphic>
          <a:graphicData uri="http://schemas.openxmlformats.org/drawingml/2006/table">
            <a:tbl>
              <a:tblPr firstRow="0" bandRow="0">
                <a:tableStyleId>{5C22544A-7EE6-4342-B048-85BDC9FD1C3A}</a:tableStyleId>
              </a:tblPr>
              <a:tblGrid>
                <a:gridCol w="2743200"/>
                <a:gridCol w="1051560"/>
                <a:gridCol w="1143000"/>
                <a:gridCol w="1691640"/>
                <a:gridCol w="914400"/>
              </a:tblGrid>
              <a:tr h="365760">
                <a:tc>
                  <a:txBody>
                    <a:bodyPr wrap="square"/>
                    <a:lstStyle/>
                    <a:p>
                      <a:pPr algn="ctr"/>
                      <a:r>
                        <a:rPr sz="1050" b="1">
                          <a:solidFill>
                            <a:srgbClr val="1F3864"/>
                          </a:solidFill>
                          <a:latin typeface="Calibri"/>
                          <a:ea typeface="Calibri"/>
                          <a:cs typeface="Calibri"/>
                        </a:rPr>
                        <a:t>Cover</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50" b="1">
                          <a:solidFill>
                            <a:srgbClr val="1F3864"/>
                          </a:solidFill>
                          <a:latin typeface="Calibri"/>
                          <a:ea typeface="Calibri"/>
                          <a:cs typeface="Calibri"/>
                        </a:rPr>
                        <a:t>Pixels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50" b="1">
                          <a:solidFill>
                            <a:srgbClr val="1F3864"/>
                          </a:solidFill>
                          <a:latin typeface="Calibri"/>
                          <a:ea typeface="Calibri"/>
                          <a:cs typeface="Calibri"/>
                        </a:rPr>
                        <a:t>Capacity (KiB)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50" b="1">
                          <a:solidFill>
                            <a:srgbClr val="1F3864"/>
                          </a:solidFill>
                          <a:latin typeface="Calibri"/>
                          <a:ea typeface="Calibri"/>
                          <a:cs typeface="Calibri"/>
                        </a:rPr>
                        <a:t>PSNR in the grid (dB)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50" b="1">
                          <a:solidFill>
                            <a:srgbClr val="1F3864"/>
                          </a:solidFill>
                          <a:latin typeface="Calibri"/>
                          <a:ea typeface="Calibri"/>
                          <a:cs typeface="Calibri"/>
                        </a:rPr>
                        <a:t>Min SSIM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l"/>
                      <a:r>
                        <a:rPr sz="1050" b="1">
                          <a:solidFill>
                            <a:srgbClr val="222222"/>
                          </a:solidFill>
                          <a:latin typeface="Calibri"/>
                          <a:ea typeface="Calibri"/>
                          <a:cs typeface="Calibri"/>
                        </a:rPr>
                        <a:t>astronaut_512x512.png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512x512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96.0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52.9 - 69.2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0.9964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050" b="1">
                          <a:solidFill>
                            <a:srgbClr val="222222"/>
                          </a:solidFill>
                          <a:latin typeface="Calibri"/>
                          <a:ea typeface="Calibri"/>
                          <a:cs typeface="Calibri"/>
                        </a:rPr>
                        <a:t>cat_451x300.png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451x300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49.5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55.9 - 66.2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0.9991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050" b="1">
                          <a:solidFill>
                            <a:srgbClr val="222222"/>
                          </a:solidFill>
                          <a:latin typeface="Calibri"/>
                          <a:ea typeface="Calibri"/>
                          <a:cs typeface="Calibri"/>
                        </a:rPr>
                        <a:t>coffee_600x400.png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600x400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87.9</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52.5 - 68.7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0.9972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050" b="1">
                          <a:solidFill>
                            <a:srgbClr val="222222"/>
                          </a:solidFill>
                          <a:latin typeface="Calibri"/>
                          <a:ea typeface="Calibri"/>
                          <a:cs typeface="Calibri"/>
                        </a:rPr>
                        <a:t>coffee_small_200x200.png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200x200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14.6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56.3 - 61.0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0.9992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l"/>
                      <a:r>
                        <a:rPr sz="1050" b="1">
                          <a:solidFill>
                            <a:srgbClr val="222222"/>
                          </a:solidFill>
                          <a:latin typeface="Calibri"/>
                          <a:ea typeface="Calibri"/>
                          <a:cs typeface="Calibri"/>
                        </a:rPr>
                        <a:t>generated_landscape_1280x720.png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1280x720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337.5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55.3 - 74.6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050" b="0">
                          <a:solidFill>
                            <a:srgbClr val="222222"/>
                          </a:solidFill>
                          <a:latin typeface="Calibri"/>
                          <a:ea typeface="Calibri"/>
                          <a:cs typeface="Calibri"/>
                        </a:rPr>
                        <a:t>0.9972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l"/>
                      <a:r>
                        <a:rPr sz="1050" b="1">
                          <a:solidFill>
                            <a:srgbClr val="222222"/>
                          </a:solidFill>
                          <a:latin typeface="Calibri"/>
                          <a:ea typeface="Calibri"/>
                          <a:cs typeface="Calibri"/>
                        </a:rPr>
                        <a:t>rocket_640x427.png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640x427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100.1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53.0 - 69.4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050" b="0">
                          <a:solidFill>
                            <a:srgbClr val="222222"/>
                          </a:solidFill>
                          <a:latin typeface="Calibri"/>
                          <a:ea typeface="Calibri"/>
                          <a:cs typeface="Calibri"/>
                        </a:rPr>
                        <a:t>0.9958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pic>
        <p:nvPicPr>
          <p:cNvPr id="24" name="Picture 23" descr="f13_psnr_by_payload.png"/>
          <p:cNvPicPr>
            <a:picLocks noChangeAspect="1"/>
          </p:cNvPicPr>
          <p:nvPr/>
        </p:nvPicPr>
        <p:blipFill>
          <a:blip r:embed="rId4"/>
          <a:stretch>
            <a:fillRect/>
          </a:stretch>
        </p:blipFill>
        <p:spPr>
          <a:xfrm>
            <a:off x="8229600" y="2993128"/>
            <a:ext cx="3474720" cy="2197623"/>
          </a:xfrm>
          <a:prstGeom prst="rect">
            <a:avLst/>
          </a:prstGeom>
        </p:spPr>
      </p:pic>
      <p:sp>
        <p:nvSpPr>
          <p:cNvPr id="25" name="TextBox 24"/>
          <p:cNvSpPr txBox="1"/>
          <p:nvPr/>
        </p:nvSpPr>
        <p:spPr>
          <a:xfrm>
            <a:off x="502920" y="5532120"/>
            <a:ext cx="11155680" cy="822960"/>
          </a:xfrm>
          <a:prstGeom prst="rect">
            <a:avLst/>
          </a:prstGeom>
          <a:noFill/>
        </p:spPr>
        <p:txBody>
          <a:bodyPr wrap="square" lIns="0" rIns="0" tIns="0" bIns="0" anchor="t">
            <a:spAutoFit/>
          </a:bodyPr>
          <a:lstStyle/>
          <a:p>
            <a:pPr algn="l">
              <a:spcAft>
                <a:spcPts val="400"/>
              </a:spcAft>
            </a:pPr>
            <a:r>
              <a:rPr sz="1200" b="0" i="0">
                <a:solidFill>
                  <a:srgbClr val="1F3864"/>
                </a:solidFill>
                <a:latin typeface="Calibri"/>
                <a:ea typeface="Calibri"/>
                <a:cs typeface="Calibri"/>
              </a:rPr>
              <a:t>Grid: payloads of 1, 4, 16, 64, 128 KiB with RSA-3072. The lowest PSNR (52.5 dB) is the 600x400 cover filled to 73 %; PSNR depends on how much of the cover is used, not on which file is hidden. Median embed 0.25 ms, extract 0.05 ms.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Robustness Matrix – What Survives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17</a:t>
            </a:r>
            <a:endParaRPr lang="en-US" sz="1000" dirty="0"/>
          </a:p>
        </p:txBody>
      </p:sp>
      <p:pic>
        <p:nvPicPr>
          <p:cNvPr id="7" name="Picture 6" descr="f06_robustness_matrix.png"/>
          <p:cNvPicPr>
            <a:picLocks noChangeAspect="1"/>
          </p:cNvPicPr>
          <p:nvPr/>
        </p:nvPicPr>
        <p:blipFill>
          <a:blip r:embed="rId4"/>
          <a:stretch>
            <a:fillRect/>
          </a:stretch>
        </p:blipFill>
        <p:spPr>
          <a:xfrm>
            <a:off x="557874" y="1600200"/>
            <a:ext cx="6839531" cy="4754880"/>
          </a:xfrm>
          <a:prstGeom prst="rect">
            <a:avLst/>
          </a:prstGeom>
        </p:spPr>
      </p:pic>
      <p:sp>
        <p:nvSpPr>
          <p:cNvPr id="8" name="TextBox 7"/>
          <p:cNvSpPr txBox="1"/>
          <p:nvPr/>
        </p:nvSpPr>
        <p:spPr>
          <a:xfrm>
            <a:off x="7635240" y="1691640"/>
            <a:ext cx="4114800" cy="4663440"/>
          </a:xfrm>
          <a:prstGeom prst="rect">
            <a:avLst/>
          </a:prstGeom>
          <a:noFill/>
        </p:spPr>
        <p:txBody>
          <a:bodyPr wrap="square" lIns="0" rIns="0" tIns="0" bIns="0" anchor="t">
            <a:spAutoFit/>
          </a:bodyPr>
          <a:lstStyle/>
          <a:p>
            <a:pPr algn="l" marL="256032" indent="-201168">
              <a:spcAft>
                <a:spcPts val="800"/>
              </a:spcAft>
              <a:buChar char="•"/>
            </a:pPr>
            <a:r>
              <a:rPr sz="1300" b="0" i="0">
                <a:solidFill>
                  <a:srgbClr val="222222"/>
                </a:solidFill>
                <a:latin typeface="Calibri"/>
                <a:ea typeface="Calibri"/>
                <a:cs typeface="Calibri"/>
              </a:rPr>
              <a:t>18 attacks on 6 covers (accounts.csv payload); each ends in a real decrypt and a hash check.</a:t>
            </a:r>
          </a:p>
          <a:p>
            <a:pPr algn="l" marL="256032" indent="-201168">
              <a:spcAft>
                <a:spcPts val="800"/>
              </a:spcAft>
              <a:buChar char="•"/>
            </a:pPr>
            <a:r>
              <a:rPr sz="1300" b="0" i="0">
                <a:solidFill>
                  <a:srgbClr val="222222"/>
                </a:solidFill>
                <a:latin typeface="Calibri"/>
                <a:ea typeface="Calibri"/>
                <a:cs typeface="Calibri"/>
              </a:rPr>
              <a:t>Survive (5 of 18, 6 of 6 covers): Lossless PNG re-save; Crop bottom 10%; PNG re-save, compression 9; PNG with alpha channel added; WebP lossless.</a:t>
            </a:r>
          </a:p>
          <a:p>
            <a:pPr algn="l" marL="256032" indent="-201168">
              <a:spcAft>
                <a:spcPts val="800"/>
              </a:spcAft>
              <a:buChar char="•"/>
            </a:pPr>
            <a:r>
              <a:rPr sz="1300" b="0" i="0">
                <a:solidFill>
                  <a:srgbClr val="222222"/>
                </a:solidFill>
                <a:latin typeface="Calibri"/>
                <a:ea typeface="Calibri"/>
                <a:cs typeface="Calibri"/>
              </a:rPr>
              <a:t>Lost: JPEG at q95, q75, q50 and even q100; lossy WebP; Gaussian noise sigma 1 and 3; resize 90 %; crop left 10 %; grayscale; rotate; flip; 256-colour palette. LSB error rate about 50 %.</a:t>
            </a:r>
          </a:p>
          <a:p>
            <a:pPr algn="l" marL="256032" indent="-201168">
              <a:spcAft>
                <a:spcPts val="800"/>
              </a:spcAft>
              <a:buChar char="•"/>
            </a:pPr>
            <a:r>
              <a:rPr sz="1300" b="0" i="0">
                <a:solidFill>
                  <a:srgbClr val="222222"/>
                </a:solidFill>
                <a:latin typeface="Calibri"/>
                <a:ea typeface="Calibri"/>
                <a:cs typeface="Calibri"/>
              </a:rPr>
              <a:t>Crop bottom 10 % survives only because bits run from the top row downwards and the payload still fits in the remaining rows.</a:t>
            </a:r>
          </a:p>
          <a:p>
            <a:pPr algn="l" marL="256032" indent="-201168">
              <a:spcAft>
                <a:spcPts val="400"/>
              </a:spcAft>
              <a:buChar char="•"/>
            </a:pPr>
            <a:r>
              <a:rPr sz="1300" b="0" i="0">
                <a:solidFill>
                  <a:srgbClr val="222222"/>
                </a:solidFill>
                <a:latin typeface="Calibri"/>
                <a:ea typeface="Calibri"/>
                <a:cs typeface="Calibri"/>
              </a:rPr>
              <a:t>Consequence: send the stego image as a PNG file; a chat app or social site that re-encodes it destroys the message.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Parameter Analysis – Fill Ratio and RSA Key Size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18</a:t>
            </a:r>
            <a:endParaRPr lang="en-US" sz="1000" dirty="0"/>
          </a:p>
        </p:txBody>
      </p:sp>
      <p:pic>
        <p:nvPicPr>
          <p:cNvPr id="7" name="Picture 6" descr="f01_psnr_vs_fill.png"/>
          <p:cNvPicPr>
            <a:picLocks noChangeAspect="1"/>
          </p:cNvPicPr>
          <p:nvPr/>
        </p:nvPicPr>
        <p:blipFill>
          <a:blip r:embed="rId3"/>
          <a:stretch>
            <a:fillRect/>
          </a:stretch>
        </p:blipFill>
        <p:spPr>
          <a:xfrm>
            <a:off x="502920" y="1756108"/>
            <a:ext cx="3840480" cy="2431383"/>
          </a:xfrm>
          <a:prstGeom prst="rect">
            <a:avLst/>
          </a:prstGeom>
        </p:spPr>
      </p:pic>
      <p:pic>
        <p:nvPicPr>
          <p:cNvPr id="8" name="Picture 7" descr="f02_ssim_vs_fill.png"/>
          <p:cNvPicPr>
            <a:picLocks noChangeAspect="1"/>
          </p:cNvPicPr>
          <p:nvPr/>
        </p:nvPicPr>
        <p:blipFill>
          <a:blip r:embed="rId2"/>
          <a:stretch>
            <a:fillRect/>
          </a:stretch>
        </p:blipFill>
        <p:spPr>
          <a:xfrm>
            <a:off x="4434840" y="1839150"/>
            <a:ext cx="3840480" cy="2265298"/>
          </a:xfrm>
          <a:prstGeom prst="rect">
            <a:avLst/>
          </a:prstGeom>
        </p:spPr>
      </p:pic>
      <p:pic>
        <p:nvPicPr>
          <p:cNvPr id="9" name="Picture 8" descr="f05_rsa_key_size.png"/>
          <p:cNvPicPr>
            <a:picLocks noChangeAspect="1"/>
          </p:cNvPicPr>
          <p:nvPr/>
        </p:nvPicPr>
        <p:blipFill>
          <a:blip r:embed="rId6"/>
          <a:stretch>
            <a:fillRect/>
          </a:stretch>
        </p:blipFill>
        <p:spPr>
          <a:xfrm>
            <a:off x="8366760" y="1956122"/>
            <a:ext cx="3383280" cy="2031354"/>
          </a:xfrm>
          <a:prstGeom prst="rect">
            <a:avLst/>
          </a:prstGeom>
        </p:spPr>
      </p:pic>
      <p:graphicFrame>
        <p:nvGraphicFramePr>
          <p:cNvPr id="10" name="Table 9"/>
          <p:cNvGraphicFramePr>
            <a:graphicFrameLocks noGrp="1"/>
          </p:cNvGraphicFramePr>
          <p:nvPr/>
        </p:nvGraphicFramePr>
        <p:xfrm>
          <a:off x="502920" y="4526280"/>
          <a:ext cx="6858000" cy="1463040"/>
        </p:xfrm>
        <a:graphic>
          <a:graphicData uri="http://schemas.openxmlformats.org/drawingml/2006/table">
            <a:tbl>
              <a:tblPr firstRow="0" bandRow="0">
                <a:tableStyleId>{5C22544A-7EE6-4342-B048-85BDC9FD1C3A}</a:tableStyleId>
              </a:tblPr>
              <a:tblGrid>
                <a:gridCol w="914400"/>
                <a:gridCol w="1097280"/>
                <a:gridCol w="1005840"/>
                <a:gridCol w="1737360"/>
                <a:gridCol w="1097280"/>
                <a:gridCol w="1005840"/>
              </a:tblGrid>
              <a:tr h="365760">
                <a:tc>
                  <a:txBody>
                    <a:bodyPr wrap="square"/>
                    <a:lstStyle/>
                    <a:p>
                      <a:pPr algn="ctr"/>
                      <a:r>
                        <a:rPr sz="1100" b="1">
                          <a:solidFill>
                            <a:srgbClr val="1F3864"/>
                          </a:solidFill>
                          <a:latin typeface="Calibri"/>
                          <a:ea typeface="Calibri"/>
                          <a:cs typeface="Calibri"/>
                        </a:rPr>
                        <a:t>RSA bits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Keygen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Wrap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Unwrap + decrypt (ms)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Wrapped key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Overhead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65760">
                <a:tc>
                  <a:txBody>
                    <a:bodyPr wrap="square"/>
                    <a:lstStyle/>
                    <a:p>
                      <a:pPr algn="ctr"/>
                      <a:r>
                        <a:rPr sz="1100" b="1">
                          <a:solidFill>
                            <a:srgbClr val="222222"/>
                          </a:solidFill>
                          <a:latin typeface="Calibri"/>
                          <a:ea typeface="Calibri"/>
                          <a:cs typeface="Calibri"/>
                        </a:rPr>
                        <a:t>2048</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32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0.16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31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256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401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65760">
                <a:tc>
                  <a:txBody>
                    <a:bodyPr wrap="square"/>
                    <a:lstStyle/>
                    <a:p>
                      <a:pPr algn="ctr"/>
                      <a:r>
                        <a:rPr sz="1100" b="1">
                          <a:solidFill>
                            <a:srgbClr val="222222"/>
                          </a:solidFill>
                          <a:latin typeface="Calibri"/>
                          <a:ea typeface="Calibri"/>
                          <a:cs typeface="Calibri"/>
                        </a:rPr>
                        <a:t>3072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191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0.17</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94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384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ctr"/>
                      <a:r>
                        <a:rPr sz="1100" b="0">
                          <a:solidFill>
                            <a:srgbClr val="222222"/>
                          </a:solidFill>
                          <a:latin typeface="Calibri"/>
                          <a:ea typeface="Calibri"/>
                          <a:cs typeface="Calibri"/>
                        </a:rPr>
                        <a:t>529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65760">
                <a:tc>
                  <a:txBody>
                    <a:bodyPr wrap="square"/>
                    <a:lstStyle/>
                    <a:p>
                      <a:pPr algn="ctr"/>
                      <a:r>
                        <a:rPr sz="1100" b="1">
                          <a:solidFill>
                            <a:srgbClr val="222222"/>
                          </a:solidFill>
                          <a:latin typeface="Calibri"/>
                          <a:ea typeface="Calibri"/>
                          <a:cs typeface="Calibri"/>
                        </a:rPr>
                        <a:t>4096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354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0.24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221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512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ctr"/>
                      <a:r>
                        <a:rPr sz="1100" b="0">
                          <a:solidFill>
                            <a:srgbClr val="222222"/>
                          </a:solidFill>
                          <a:latin typeface="Calibri"/>
                          <a:ea typeface="Calibri"/>
                          <a:cs typeface="Calibri"/>
                        </a:rPr>
                        <a:t>657 B</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11" name="TextBox 10"/>
          <p:cNvSpPr txBox="1"/>
          <p:nvPr/>
        </p:nvSpPr>
        <p:spPr>
          <a:xfrm>
            <a:off x="7589520" y="4480560"/>
            <a:ext cx="4114800" cy="1920240"/>
          </a:xfrm>
          <a:prstGeom prst="rect">
            <a:avLst/>
          </a:prstGeom>
          <a:noFill/>
        </p:spPr>
        <p:txBody>
          <a:bodyPr wrap="square" lIns="0" rIns="0" tIns="0" bIns="0" anchor="t">
            <a:spAutoFit/>
          </a:bodyPr>
          <a:lstStyle/>
          <a:p>
            <a:pPr algn="l" marL="256032" indent="-201168">
              <a:spcAft>
                <a:spcPts val="500"/>
              </a:spcAft>
              <a:buChar char="•"/>
            </a:pPr>
            <a:r>
              <a:rPr sz="1200" b="0" i="0">
                <a:solidFill>
                  <a:srgbClr val="222222"/>
                </a:solidFill>
                <a:latin typeface="Calibri"/>
                <a:ea typeface="Calibri"/>
                <a:cs typeface="Calibri"/>
              </a:rPr>
              <a:t>6 covers x 7 fill levels x 5 seeds: measured PSNR within 0.053 dB of the closed form; seed-to-seed std at most 0.10 dB.</a:t>
            </a:r>
          </a:p>
          <a:p>
            <a:pPr algn="l" marL="256032" indent="-201168">
              <a:spcAft>
                <a:spcPts val="500"/>
              </a:spcAft>
              <a:buChar char="•"/>
            </a:pPr>
            <a:r>
              <a:rPr sz="1200" b="0" i="0">
                <a:solidFill>
                  <a:srgbClr val="222222"/>
                </a:solidFill>
                <a:latin typeface="Calibri"/>
                <a:ea typeface="Calibri"/>
                <a:cs typeface="Calibri"/>
              </a:rPr>
              <a:t>Full cover: PSNR 51.14-51.17 dB, SSIM at least 0.9929.</a:t>
            </a:r>
          </a:p>
          <a:p>
            <a:pPr algn="l" marL="256032" indent="-201168">
              <a:spcAft>
                <a:spcPts val="400"/>
              </a:spcAft>
              <a:buChar char="•"/>
            </a:pPr>
            <a:r>
              <a:rPr sz="1200" b="0" i="0">
                <a:solidFill>
                  <a:srgbClr val="222222"/>
                </a:solidFill>
                <a:latin typeface="Calibri"/>
                <a:ea typeface="Calibri"/>
                <a:cs typeface="Calibri"/>
              </a:rPr>
              <a:t>Larger RSA keys add bytes and unwrap time, not image distortion beyond the bit count.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Steganalysis – Hidden from the Eye, Not from Statistics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19</a:t>
            </a:r>
            <a:endParaRPr lang="en-US" sz="1000" dirty="0"/>
          </a:p>
        </p:txBody>
      </p:sp>
      <p:pic>
        <p:nvPicPr>
          <p:cNvPr id="7" name="Picture 6" descr="f08_steganalysis.png"/>
          <p:cNvPicPr>
            <a:picLocks noChangeAspect="1"/>
          </p:cNvPicPr>
          <p:nvPr/>
        </p:nvPicPr>
        <p:blipFill>
          <a:blip r:embed="rId3"/>
          <a:stretch>
            <a:fillRect/>
          </a:stretch>
        </p:blipFill>
        <p:spPr>
          <a:xfrm>
            <a:off x="502920" y="2387144"/>
            <a:ext cx="6766560" cy="3180991"/>
          </a:xfrm>
          <a:prstGeom prst="rect">
            <a:avLst/>
          </a:prstGeom>
        </p:spPr>
      </p:pic>
      <p:sp>
        <p:nvSpPr>
          <p:cNvPr id="8" name="TextBox 7"/>
          <p:cNvSpPr txBox="1"/>
          <p:nvPr/>
        </p:nvSpPr>
        <p:spPr>
          <a:xfrm>
            <a:off x="7452360" y="1691640"/>
            <a:ext cx="4297680" cy="4663440"/>
          </a:xfrm>
          <a:prstGeom prst="rect">
            <a:avLst/>
          </a:prstGeom>
          <a:noFill/>
        </p:spPr>
        <p:txBody>
          <a:bodyPr wrap="square" lIns="0" rIns="0" tIns="0" bIns="0" anchor="t">
            <a:spAutoFit/>
          </a:bodyPr>
          <a:lstStyle/>
          <a:p>
            <a:pPr algn="l" marL="256032" indent="-201168">
              <a:spcAft>
                <a:spcPts val="800"/>
              </a:spcAft>
              <a:buChar char="•"/>
            </a:pPr>
            <a:r>
              <a:rPr sz="1250" b="0" i="0">
                <a:solidFill>
                  <a:srgbClr val="222222"/>
                </a:solidFill>
                <a:latin typeface="Calibri"/>
                <a:ea typeface="Calibri"/>
                <a:cs typeface="Calibri"/>
              </a:rPr>
              <a:t>Chi-square (Westfeld-Pfitzmann) on the embedded prefix: stego p-value above 0.5 in 30 of 30 cases (lowest 0.97); the clean cover prefix is below 0.5 in 27 of them.</a:t>
            </a:r>
          </a:p>
          <a:p>
            <a:pPr algn="l" marL="256032" indent="-201168">
              <a:spcAft>
                <a:spcPts val="800"/>
              </a:spcAft>
              <a:buChar char="•"/>
            </a:pPr>
            <a:r>
              <a:rPr sz="1250" b="0" i="0">
                <a:solidFill>
                  <a:srgbClr val="222222"/>
                </a:solidFill>
                <a:latin typeface="Calibri"/>
                <a:ea typeface="Calibri"/>
                <a:cs typeface="Calibri"/>
              </a:rPr>
              <a:t>In 3 cases (cat 10 % and 25 %, small coffee 10 %) the clean cover already looks equalised, so the test cannot separate them. It is an oracle test: it knows the used length.</a:t>
            </a:r>
          </a:p>
          <a:p>
            <a:pPr algn="l" marL="256032" indent="-201168">
              <a:spcAft>
                <a:spcPts val="800"/>
              </a:spcAft>
              <a:buChar char="•"/>
            </a:pPr>
            <a:r>
              <a:rPr sz="1250" b="0" i="0">
                <a:solidFill>
                  <a:srgbClr val="222222"/>
                </a:solidFill>
                <a:latin typeface="Calibri"/>
                <a:ea typeface="Calibri"/>
                <a:cs typeface="Calibri"/>
              </a:rPr>
              <a:t>Weighted-stego (blind) estimates the embedded fraction well: true 0.5 gave 0.49-0.62. Clean covers read -0.01 to 0.18 (natural-image bias).</a:t>
            </a:r>
          </a:p>
          <a:p>
            <a:pPr algn="l" marL="256032" indent="-201168">
              <a:spcAft>
                <a:spcPts val="400"/>
              </a:spcAft>
              <a:buChar char="•"/>
            </a:pPr>
            <a:r>
              <a:rPr sz="1250" b="0" i="0">
                <a:solidFill>
                  <a:srgbClr val="222222"/>
                </a:solidFill>
                <a:latin typeface="Calibri"/>
                <a:ea typeface="Calibri"/>
                <a:cs typeface="Calibri"/>
              </a:rPr>
              <a:t>Encryption does not cost quality (about 50 % of embedded bits flip a value either way) and makes the stream balanced, but sequential, key-independent embedding stays detectable at medium and high fill.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Performance &amp; Testing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20</a:t>
            </a:r>
            <a:endParaRPr lang="en-US" sz="1000" dirty="0"/>
          </a:p>
        </p:txBody>
      </p:sp>
      <p:sp>
        <p:nvSpPr>
          <p:cNvPr id="7" name="Rounded Rectangle 6"/>
          <p:cNvSpPr/>
          <p:nvPr/>
        </p:nvSpPr>
        <p:spPr>
          <a:xfrm>
            <a:off x="502920" y="164592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02920" y="1645920"/>
            <a:ext cx="73152" cy="914400"/>
          </a:xfrm>
          <a:prstGeom prst="rect">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85800" y="170078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438 ms</a:t>
            </a:r>
          </a:p>
        </p:txBody>
      </p:sp>
      <p:sp>
        <p:nvSpPr>
          <p:cNvPr id="10" name="TextBox 9"/>
          <p:cNvSpPr txBox="1"/>
          <p:nvPr/>
        </p:nvSpPr>
        <p:spPr>
          <a:xfrm>
            <a:off x="685800" y="217627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send, 512x512 cover (median)</a:t>
            </a:r>
          </a:p>
        </p:txBody>
      </p:sp>
      <p:sp>
        <p:nvSpPr>
          <p:cNvPr id="11" name="Rounded Rectangle 10"/>
          <p:cNvSpPr/>
          <p:nvPr/>
        </p:nvSpPr>
        <p:spPr>
          <a:xfrm>
            <a:off x="3337560" y="164592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337560" y="1645920"/>
            <a:ext cx="73152" cy="9144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20440" y="170078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1.9 s</a:t>
            </a:r>
          </a:p>
        </p:txBody>
      </p:sp>
      <p:sp>
        <p:nvSpPr>
          <p:cNvPr id="14" name="TextBox 13"/>
          <p:cNvSpPr txBox="1"/>
          <p:nvPr/>
        </p:nvSpPr>
        <p:spPr>
          <a:xfrm>
            <a:off x="3520440" y="217627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send, 1280x720 cover</a:t>
            </a:r>
          </a:p>
        </p:txBody>
      </p:sp>
      <p:sp>
        <p:nvSpPr>
          <p:cNvPr id="15" name="Rounded Rectangle 14"/>
          <p:cNvSpPr/>
          <p:nvPr/>
        </p:nvSpPr>
        <p:spPr>
          <a:xfrm>
            <a:off x="6172200" y="164592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6172200" y="1645920"/>
            <a:ext cx="73152" cy="9144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355080" y="170078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198 ms</a:t>
            </a:r>
          </a:p>
        </p:txBody>
      </p:sp>
      <p:sp>
        <p:nvSpPr>
          <p:cNvPr id="18" name="TextBox 17"/>
          <p:cNvSpPr txBox="1"/>
          <p:nvPr/>
        </p:nvSpPr>
        <p:spPr>
          <a:xfrm>
            <a:off x="6355080" y="217627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API receive, RSA-3072</a:t>
            </a:r>
          </a:p>
        </p:txBody>
      </p:sp>
      <p:sp>
        <p:nvSpPr>
          <p:cNvPr id="19" name="Rounded Rectangle 18"/>
          <p:cNvSpPr/>
          <p:nvPr/>
        </p:nvSpPr>
        <p:spPr>
          <a:xfrm>
            <a:off x="9006840" y="1645920"/>
            <a:ext cx="2651760" cy="914400"/>
          </a:xfrm>
          <a:prstGeom prst="roundRect">
            <a:avLst>
              <a:gd name="adj" fmla="val 5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9006840" y="1645920"/>
            <a:ext cx="73152" cy="9144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189720" y="1700784"/>
            <a:ext cx="2377440" cy="502920"/>
          </a:xfrm>
          <a:prstGeom prst="rect">
            <a:avLst/>
          </a:prstGeom>
          <a:noFill/>
        </p:spPr>
        <p:txBody>
          <a:bodyPr wrap="square" lIns="0" rIns="0" tIns="0" bIns="0" anchor="ctr">
            <a:spAutoFit/>
          </a:bodyPr>
          <a:lstStyle/>
          <a:p>
            <a:pPr algn="l">
              <a:spcAft>
                <a:spcPts val="400"/>
              </a:spcAft>
            </a:pPr>
            <a:r>
              <a:rPr sz="2400" b="1" i="0">
                <a:solidFill>
                  <a:srgbClr val="1F3864"/>
                </a:solidFill>
                <a:latin typeface="Calibri"/>
                <a:ea typeface="Calibri"/>
                <a:cs typeface="Calibri"/>
              </a:rPr>
              <a:t>240 / 240</a:t>
            </a:r>
          </a:p>
        </p:txBody>
      </p:sp>
      <p:sp>
        <p:nvSpPr>
          <p:cNvPr id="22" name="TextBox 21"/>
          <p:cNvSpPr txBox="1"/>
          <p:nvPr/>
        </p:nvSpPr>
        <p:spPr>
          <a:xfrm>
            <a:off x="9189720" y="2176272"/>
            <a:ext cx="2377440" cy="365760"/>
          </a:xfrm>
          <a:prstGeom prst="rect">
            <a:avLst/>
          </a:prstGeom>
          <a:noFill/>
        </p:spPr>
        <p:txBody>
          <a:bodyPr wrap="square" lIns="0" rIns="0" tIns="0" bIns="0" anchor="t">
            <a:spAutoFit/>
          </a:bodyPr>
          <a:lstStyle/>
          <a:p>
            <a:pPr algn="l">
              <a:spcAft>
                <a:spcPts val="400"/>
              </a:spcAft>
            </a:pPr>
            <a:r>
              <a:rPr sz="1200" b="0" i="0">
                <a:solidFill>
                  <a:srgbClr val="222222"/>
                </a:solidFill>
                <a:latin typeface="Calibri"/>
                <a:ea typeface="Calibri"/>
                <a:cs typeface="Calibri"/>
              </a:rPr>
              <a:t>tampered bundles rejected</a:t>
            </a:r>
          </a:p>
        </p:txBody>
      </p:sp>
      <p:pic>
        <p:nvPicPr>
          <p:cNvPr id="23" name="Picture 22" descr="f04_stage_timings.png"/>
          <p:cNvPicPr>
            <a:picLocks noChangeAspect="1"/>
          </p:cNvPicPr>
          <p:nvPr/>
        </p:nvPicPr>
        <p:blipFill>
          <a:blip r:embed="rId4"/>
          <a:stretch>
            <a:fillRect/>
          </a:stretch>
        </p:blipFill>
        <p:spPr>
          <a:xfrm>
            <a:off x="1486962" y="2606040"/>
            <a:ext cx="3609755" cy="2148840"/>
          </a:xfrm>
          <a:prstGeom prst="rect">
            <a:avLst/>
          </a:prstGeom>
        </p:spPr>
      </p:pic>
      <p:pic>
        <p:nvPicPr>
          <p:cNvPr id="24" name="Picture 23" descr="f10_api_latency.png"/>
          <p:cNvPicPr>
            <a:picLocks noChangeAspect="1"/>
          </p:cNvPicPr>
          <p:nvPr/>
        </p:nvPicPr>
        <p:blipFill>
          <a:blip r:embed="rId5"/>
          <a:stretch>
            <a:fillRect/>
          </a:stretch>
        </p:blipFill>
        <p:spPr>
          <a:xfrm>
            <a:off x="6856919" y="2606040"/>
            <a:ext cx="4208401" cy="2148840"/>
          </a:xfrm>
          <a:prstGeom prst="rect">
            <a:avLst/>
          </a:prstGeom>
        </p:spPr>
      </p:pic>
      <p:graphicFrame>
        <p:nvGraphicFramePr>
          <p:cNvPr id="25" name="Table 24"/>
          <p:cNvGraphicFramePr>
            <a:graphicFrameLocks noGrp="1"/>
          </p:cNvGraphicFramePr>
          <p:nvPr/>
        </p:nvGraphicFramePr>
        <p:xfrm>
          <a:off x="502920" y="4846320"/>
          <a:ext cx="11155680" cy="1243584"/>
        </p:xfrm>
        <a:graphic>
          <a:graphicData uri="http://schemas.openxmlformats.org/drawingml/2006/table">
            <a:tbl>
              <a:tblPr firstRow="0" bandRow="0">
                <a:tableStyleId>{5C22544A-7EE6-4342-B048-85BDC9FD1C3A}</a:tableStyleId>
              </a:tblPr>
              <a:tblGrid>
                <a:gridCol w="4297680"/>
                <a:gridCol w="6858000"/>
              </a:tblGrid>
              <a:tr h="310896">
                <a:tc>
                  <a:txBody>
                    <a:bodyPr wrap="square"/>
                    <a:lstStyle/>
                    <a:p>
                      <a:pPr algn="ctr"/>
                      <a:r>
                        <a:rPr sz="1050" b="1">
                          <a:solidFill>
                            <a:srgbClr val="1F3864"/>
                          </a:solidFill>
                          <a:latin typeface="Calibri"/>
                          <a:ea typeface="Calibri"/>
                          <a:cs typeface="Calibri"/>
                        </a:rPr>
                        <a:t>Check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050" b="1">
                          <a:solidFill>
                            <a:srgbClr val="1F3864"/>
                          </a:solidFill>
                          <a:latin typeface="Calibri"/>
                          <a:ea typeface="Calibri"/>
                          <a:cs typeface="Calibri"/>
                        </a:rPr>
                        <a:t>Result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310896">
                <a:tc>
                  <a:txBody>
                    <a:bodyPr wrap="square"/>
                    <a:lstStyle/>
                    <a:p>
                      <a:pPr algn="l"/>
                      <a:r>
                        <a:rPr sz="1050" b="1">
                          <a:solidFill>
                            <a:srgbClr val="222222"/>
                          </a:solidFill>
                          <a:latin typeface="Calibri"/>
                          <a:ea typeface="Calibri"/>
                          <a:cs typeface="Calibri"/>
                        </a:rPr>
                        <a:t>pytest (crypto 13, LSB 9, metrics 7, API 10)</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50" b="0">
                          <a:solidFill>
                            <a:srgbClr val="222222"/>
                          </a:solidFill>
                          <a:latin typeface="Calibri"/>
                          <a:ea typeface="Calibri"/>
                          <a:cs typeface="Calibri"/>
                        </a:rPr>
                        <a:t>39 of 39 passed; smoke test 21 of 21 checks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310896">
                <a:tc>
                  <a:txBody>
                    <a:bodyPr wrap="square"/>
                    <a:lstStyle/>
                    <a:p>
                      <a:pPr algn="l"/>
                      <a:r>
                        <a:rPr sz="1050" b="1">
                          <a:solidFill>
                            <a:srgbClr val="222222"/>
                          </a:solidFill>
                          <a:latin typeface="Calibri"/>
                          <a:ea typeface="Calibri"/>
                          <a:cs typeface="Calibri"/>
                        </a:rPr>
                        <a:t>Cost split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050" b="0">
                          <a:solidFill>
                            <a:srgbClr val="222222"/>
                          </a:solidFill>
                          <a:latin typeface="Calibri"/>
                          <a:ea typeface="Calibri"/>
                          <a:cs typeface="Calibri"/>
                        </a:rPr>
                        <a:t>AES encrypt 0.15 ms is negligible; PSNR/SSIM and PNG encoding dominate send time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310896">
                <a:tc>
                  <a:txBody>
                    <a:bodyPr wrap="square"/>
                    <a:lstStyle/>
                    <a:p>
                      <a:pPr algn="l"/>
                      <a:r>
                        <a:rPr sz="1050" b="1">
                          <a:solidFill>
                            <a:srgbClr val="222222"/>
                          </a:solidFill>
                          <a:latin typeface="Calibri"/>
                          <a:ea typeface="Calibri"/>
                          <a:cs typeface="Calibri"/>
                        </a:rPr>
                        <a:t>Not tested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050" b="0">
                          <a:solidFill>
                            <a:srgbClr val="222222"/>
                          </a:solidFill>
                          <a:latin typeface="Calibri"/>
                          <a:ea typeface="Calibri"/>
                          <a:cs typeface="Calibri"/>
                        </a:rPr>
                        <a:t>load or concurrent users, camera photographs, external security audit, other machines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Comparison with Base Paper and Supporting Work</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21</a:t>
            </a:r>
            <a:endParaRPr lang="en-US" sz="1000" dirty="0"/>
          </a:p>
        </p:txBody>
      </p:sp>
      <p:graphicFrame>
        <p:nvGraphicFramePr>
          <p:cNvPr id="7" name="Table 6"/>
          <p:cNvGraphicFramePr>
            <a:graphicFrameLocks noGrp="1"/>
          </p:cNvGraphicFramePr>
          <p:nvPr/>
        </p:nvGraphicFramePr>
        <p:xfrm>
          <a:off x="502920" y="1645920"/>
          <a:ext cx="11155680" cy="3401568"/>
        </p:xfrm>
        <a:graphic>
          <a:graphicData uri="http://schemas.openxmlformats.org/drawingml/2006/table">
            <a:tbl>
              <a:tblPr firstRow="0" bandRow="0">
                <a:tableStyleId>{5C22544A-7EE6-4342-B048-85BDC9FD1C3A}</a:tableStyleId>
              </a:tblPr>
              <a:tblGrid>
                <a:gridCol w="1371600"/>
                <a:gridCol w="2651760"/>
                <a:gridCol w="3108960"/>
                <a:gridCol w="4023360"/>
              </a:tblGrid>
              <a:tr h="566928">
                <a:tc>
                  <a:txBody>
                    <a:bodyPr wrap="square"/>
                    <a:lstStyle/>
                    <a:p>
                      <a:pPr algn="ctr"/>
                      <a:r>
                        <a:rPr sz="1200" b="1">
                          <a:solidFill>
                            <a:srgbClr val="1F3864"/>
                          </a:solidFill>
                          <a:latin typeface="Calibri"/>
                          <a:ea typeface="Calibri"/>
                          <a:cs typeface="Calibri"/>
                        </a:rPr>
                        <a:t>Aspect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ProSt [1] (base)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SCReedSolo [3]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200" b="1">
                          <a:solidFill>
                            <a:srgbClr val="1F3864"/>
                          </a:solidFill>
                          <a:latin typeface="Calibri"/>
                          <a:ea typeface="Calibri"/>
                          <a:cs typeface="Calibri"/>
                        </a:rPr>
                        <a:t>CipherVeil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l"/>
                      <a:r>
                        <a:rPr sz="1200" b="1">
                          <a:solidFill>
                            <a:srgbClr val="222222"/>
                          </a:solidFill>
                          <a:latin typeface="Calibri"/>
                          <a:ea typeface="Calibri"/>
                          <a:cs typeface="Calibri"/>
                        </a:rPr>
                        <a:t>Goal</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Compute on hidden bits at an untrusted cloud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Robust LSB hiding of text, audio, image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Send a file securely and invisibly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Crypto</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None for the data; secret position as key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Fernet + Reed-Solomon, shuffling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AES-256-GCM + RSA-OAEP-SHA256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Reported quality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No PSNR, SSIM or capacity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PSNR 51.8 / 57.7 / 52.9 dB; SSIM 0.996 / 0.936 / 0.996; 3 bpp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PSNR 52.5-74.6 dB (up to 73 % fill), 51.1 dB full; SSIM &gt;= 0.9929; 3.0 bpp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l"/>
                      <a:r>
                        <a:rPr sz="1200" b="1">
                          <a:solidFill>
                            <a:srgbClr val="222222"/>
                          </a:solidFill>
                          <a:latin typeface="Calibri"/>
                          <a:ea typeface="Calibri"/>
                          <a:cs typeface="Calibri"/>
                        </a:rPr>
                        <a:t>Reported time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8.38 s: 17-gate circuit, 128x128x3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not compared here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200" b="0">
                          <a:solidFill>
                            <a:srgbClr val="222222"/>
                          </a:solidFill>
                          <a:latin typeface="Calibri"/>
                          <a:ea typeface="Calibri"/>
                          <a:cs typeface="Calibri"/>
                        </a:rPr>
                        <a:t>embed 0.25 ms, unwrap 86 ms (RSA-3072)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l"/>
                      <a:r>
                        <a:rPr sz="1200" b="1">
                          <a:solidFill>
                            <a:srgbClr val="222222"/>
                          </a:solidFill>
                          <a:latin typeface="Calibri"/>
                          <a:ea typeface="Calibri"/>
                          <a:cs typeface="Calibri"/>
                        </a:rPr>
                        <a:t>Robustness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Not evaluated</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Reed-Solomon survives bit corruption</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200" b="0">
                          <a:solidFill>
                            <a:srgbClr val="222222"/>
                          </a:solidFill>
                          <a:latin typeface="Calibri"/>
                          <a:ea typeface="Calibri"/>
                          <a:cs typeface="Calibri"/>
                        </a:rPr>
                        <a:t>No error correction; 5 of 18 attacks survive (lossless only)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bl>
          </a:graphicData>
        </a:graphic>
      </p:graphicFrame>
      <p:sp>
        <p:nvSpPr>
          <p:cNvPr id="8" name="TextBox 7"/>
          <p:cNvSpPr txBox="1"/>
          <p:nvPr/>
        </p:nvSpPr>
        <p:spPr>
          <a:xfrm>
            <a:off x="502920" y="5257800"/>
            <a:ext cx="11155680" cy="1097280"/>
          </a:xfrm>
          <a:prstGeom prst="rect">
            <a:avLst/>
          </a:prstGeom>
          <a:noFill/>
        </p:spPr>
        <p:txBody>
          <a:bodyPr wrap="square" lIns="0" rIns="0" tIns="0" bIns="0" anchor="t">
            <a:spAutoFit/>
          </a:bodyPr>
          <a:lstStyle/>
          <a:p>
            <a:pPr algn="l" marL="256032" indent="-201168">
              <a:spcAft>
                <a:spcPts val="500"/>
              </a:spcAft>
              <a:buChar char="•"/>
            </a:pPr>
            <a:r>
              <a:rPr sz="1300" b="0" i="0">
                <a:solidFill>
                  <a:srgbClr val="222222"/>
                </a:solidFill>
                <a:latin typeface="Calibri"/>
                <a:ea typeface="Calibri"/>
                <a:cs typeface="Calibri"/>
              </a:rPr>
              <a:t>Different goals, covers and payloads: the figures are indicative, not a head-to-head. SCReedSolo hides far larger payloads in far larger covers. No superiority over either paper is claimed.</a:t>
            </a:r>
          </a:p>
          <a:p>
            <a:pPr algn="l" marL="256032" indent="-201168">
              <a:spcAft>
                <a:spcPts val="400"/>
              </a:spcAft>
              <a:buChar char="•"/>
            </a:pPr>
            <a:r>
              <a:rPr sz="1300" b="0" i="0">
                <a:solidFill>
                  <a:srgbClr val="222222"/>
                </a:solidFill>
                <a:latin typeface="Calibri"/>
                <a:ea typeface="Calibri"/>
                <a:cs typeface="Calibri"/>
              </a:rPr>
              <a:t>CipherVeil takes the LSB carrier and key-exchange framing from ProSt and adds authenticated hybrid encryption plus the quality, robustness and detectability measurements ProSt does not report.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Send and Analysis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22</a:t>
            </a:r>
            <a:endParaRPr lang="en-US" sz="1000" dirty="0"/>
          </a:p>
        </p:txBody>
      </p:sp>
      <p:pic>
        <p:nvPicPr>
          <p:cNvPr id="7" name="Picture 6" descr="06_send_result_crop.png"/>
          <p:cNvPicPr>
            <a:picLocks noChangeAspect="1"/>
          </p:cNvPicPr>
          <p:nvPr/>
        </p:nvPicPr>
        <p:blipFill>
          <a:blip r:embed="rId3"/>
          <a:stretch>
            <a:fillRect/>
          </a:stretch>
        </p:blipFill>
        <p:spPr>
          <a:xfrm>
            <a:off x="520254" y="1645920"/>
            <a:ext cx="5451730" cy="3886200"/>
          </a:xfrm>
          <a:prstGeom prst="rect">
            <a:avLst/>
          </a:prstGeom>
          <a:ln w="9525">
            <a:solidFill>
              <a:srgbClr val="D5DCE6"/>
            </a:solidFill>
          </a:ln>
        </p:spPr>
      </p:pic>
      <p:pic>
        <p:nvPicPr>
          <p:cNvPr id="8" name="Picture 7" descr="08_analysis_crop.png"/>
          <p:cNvPicPr>
            <a:picLocks noChangeAspect="1"/>
          </p:cNvPicPr>
          <p:nvPr/>
        </p:nvPicPr>
        <p:blipFill>
          <a:blip r:embed="rId2"/>
          <a:stretch>
            <a:fillRect/>
          </a:stretch>
        </p:blipFill>
        <p:spPr>
          <a:xfrm>
            <a:off x="6235254" y="1645920"/>
            <a:ext cx="5451730" cy="3886200"/>
          </a:xfrm>
          <a:prstGeom prst="rect">
            <a:avLst/>
          </a:prstGeom>
          <a:ln w="9525">
            <a:solidFill>
              <a:srgbClr val="D5DCE6"/>
            </a:solidFill>
          </a:ln>
        </p:spPr>
      </p:pic>
      <p:sp>
        <p:nvSpPr>
          <p:cNvPr id="9" name="TextBox 8"/>
          <p:cNvSpPr txBox="1"/>
          <p:nvPr/>
        </p:nvSpPr>
        <p:spPr>
          <a:xfrm>
            <a:off x="502920" y="5623560"/>
            <a:ext cx="11155680" cy="7772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Left: the 21 KiB memo hidden in the astronaut photo: PSNR 57.64 dB, SSIM 0.9991, 22.4 % of the cover used, SHA-256 of the file. Right: analysis of the same message: MSE 0.112, largest change 1 of 255, 11.2 % of values changed, cover and stego side by side.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Receive and Wrong Key</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23</a:t>
            </a:r>
            <a:endParaRPr lang="en-US" sz="1000" dirty="0"/>
          </a:p>
        </p:txBody>
      </p:sp>
      <p:pic>
        <p:nvPicPr>
          <p:cNvPr id="7" name="Picture 6" descr="11_receive_result_crop.png"/>
          <p:cNvPicPr>
            <a:picLocks noChangeAspect="1"/>
          </p:cNvPicPr>
          <p:nvPr/>
        </p:nvPicPr>
        <p:blipFill>
          <a:blip r:embed="rId3"/>
          <a:stretch>
            <a:fillRect/>
          </a:stretch>
        </p:blipFill>
        <p:spPr>
          <a:xfrm>
            <a:off x="520254" y="1645920"/>
            <a:ext cx="5451730" cy="3886200"/>
          </a:xfrm>
          <a:prstGeom prst="rect">
            <a:avLst/>
          </a:prstGeom>
          <a:ln w="9525">
            <a:solidFill>
              <a:srgbClr val="D5DCE6"/>
            </a:solidFill>
          </a:ln>
        </p:spPr>
      </p:pic>
      <p:pic>
        <p:nvPicPr>
          <p:cNvPr id="8" name="Picture 7" descr="12_receive_wrong_key_crop.png"/>
          <p:cNvPicPr>
            <a:picLocks noChangeAspect="1"/>
          </p:cNvPicPr>
          <p:nvPr/>
        </p:nvPicPr>
        <p:blipFill>
          <a:blip r:embed="rId2"/>
          <a:stretch>
            <a:fillRect/>
          </a:stretch>
        </p:blipFill>
        <p:spPr>
          <a:xfrm>
            <a:off x="6235254" y="1645920"/>
            <a:ext cx="5451730" cy="3886200"/>
          </a:xfrm>
          <a:prstGeom prst="rect">
            <a:avLst/>
          </a:prstGeom>
          <a:ln w="9525">
            <a:solidFill>
              <a:srgbClr val="D5DCE6"/>
            </a:solidFill>
          </a:ln>
        </p:spPr>
      </p:pic>
      <p:sp>
        <p:nvSpPr>
          <p:cNvPr id="9" name="TextBox 8"/>
          <p:cNvSpPr txBox="1"/>
          <p:nvPr/>
        </p:nvSpPr>
        <p:spPr>
          <a:xfrm>
            <a:off x="502920" y="5623560"/>
            <a:ext cx="11155680" cy="7772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Left: the right key restores the memo byte for byte; the AES-GCM tag is verified and both SHA-256 values are identical. Right: another keypair of the same size fails at the RSA unwrap and nothing is released.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Output – Robustness and Operation Log</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24</a:t>
            </a:r>
            <a:endParaRPr lang="en-US" sz="1000" dirty="0"/>
          </a:p>
        </p:txBody>
      </p:sp>
      <p:pic>
        <p:nvPicPr>
          <p:cNvPr id="7" name="Picture 6" descr="13_robustness_results_crop.png"/>
          <p:cNvPicPr>
            <a:picLocks noChangeAspect="1"/>
          </p:cNvPicPr>
          <p:nvPr/>
        </p:nvPicPr>
        <p:blipFill>
          <a:blip r:embed="rId3"/>
          <a:stretch>
            <a:fillRect/>
          </a:stretch>
        </p:blipFill>
        <p:spPr>
          <a:xfrm>
            <a:off x="520254" y="1645920"/>
            <a:ext cx="5451730" cy="3886200"/>
          </a:xfrm>
          <a:prstGeom prst="rect">
            <a:avLst/>
          </a:prstGeom>
          <a:ln w="9525">
            <a:solidFill>
              <a:srgbClr val="D5DCE6"/>
            </a:solidFill>
          </a:ln>
        </p:spPr>
      </p:pic>
      <p:pic>
        <p:nvPicPr>
          <p:cNvPr id="8" name="Picture 7" descr="17_log_crop.png"/>
          <p:cNvPicPr>
            <a:picLocks noChangeAspect="1"/>
          </p:cNvPicPr>
          <p:nvPr/>
        </p:nvPicPr>
        <p:blipFill>
          <a:blip r:embed="rId2"/>
          <a:stretch>
            <a:fillRect/>
          </a:stretch>
        </p:blipFill>
        <p:spPr>
          <a:xfrm>
            <a:off x="6235254" y="1645920"/>
            <a:ext cx="5451730" cy="3886200"/>
          </a:xfrm>
          <a:prstGeom prst="rect">
            <a:avLst/>
          </a:prstGeom>
          <a:ln w="9525">
            <a:solidFill>
              <a:srgbClr val="D5DCE6"/>
            </a:solidFill>
          </a:ln>
        </p:spPr>
      </p:pic>
      <p:sp>
        <p:nvSpPr>
          <p:cNvPr id="9" name="TextBox 8"/>
          <p:cNvSpPr txBox="1"/>
          <p:nvPr/>
        </p:nvSpPr>
        <p:spPr>
          <a:xfrm>
            <a:off x="502920" y="5623560"/>
            <a:ext cx="11155680" cy="777240"/>
          </a:xfrm>
          <a:prstGeom prst="rect">
            <a:avLst/>
          </a:prstGeom>
          <a:noFill/>
        </p:spPr>
        <p:txBody>
          <a:bodyPr wrap="square" lIns="0" rIns="0" tIns="0" bIns="0" anchor="t">
            <a:spAutoFit/>
          </a:bodyPr>
          <a:lstStyle/>
          <a:p>
            <a:pPr algn="l">
              <a:spcAft>
                <a:spcPts val="400"/>
              </a:spcAft>
            </a:pPr>
            <a:r>
              <a:rPr sz="1300" b="0" i="0">
                <a:solidFill>
                  <a:srgbClr val="1F3864"/>
                </a:solidFill>
                <a:latin typeface="Calibri"/>
                <a:ea typeface="Calibri"/>
                <a:cs typeface="Calibri"/>
              </a:rPr>
              <a:t>Left: nine attacks on one stego image: the payload survives 2 of 9, the rest give an LSB error rate near 50 %. Right: the operation log: keys, sends (one blocked by the capacity check), receives (one failed), robustness and benchmark, with no key material.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Contributions, Conclusion &amp; Objectives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25</a:t>
            </a:r>
            <a:endParaRPr lang="en-US" sz="1000" dirty="0"/>
          </a:p>
        </p:txBody>
      </p:sp>
      <p:sp>
        <p:nvSpPr>
          <p:cNvPr id="7" name="TextBox 6"/>
          <p:cNvSpPr txBox="1"/>
          <p:nvPr/>
        </p:nvSpPr>
        <p:spPr>
          <a:xfrm>
            <a:off x="502920" y="1600200"/>
            <a:ext cx="5760720" cy="4754880"/>
          </a:xfrm>
          <a:prstGeom prst="rect">
            <a:avLst/>
          </a:prstGeom>
          <a:noFill/>
        </p:spPr>
        <p:txBody>
          <a:bodyPr wrap="square" lIns="0" rIns="0" tIns="0" bIns="0" anchor="t">
            <a:spAutoFit/>
          </a:bodyPr>
          <a:lstStyle/>
          <a:p>
            <a:pPr algn="l">
              <a:spcAft>
                <a:spcPts val="500"/>
              </a:spcAft>
            </a:pPr>
            <a:r>
              <a:rPr sz="1500" b="1" i="0">
                <a:solidFill>
                  <a:srgbClr val="1F3864"/>
                </a:solidFill>
                <a:latin typeface="Calibri"/>
                <a:ea typeface="Calibri"/>
                <a:cs typeface="Calibri"/>
              </a:rPr>
              <a:t>Contributions</a:t>
            </a:r>
          </a:p>
          <a:p>
            <a:pPr algn="l">
              <a:spcAft>
                <a:spcPts val="400"/>
              </a:spcAft>
            </a:pPr>
            <a:r>
              <a:rPr sz="1350" b="0" i="0">
                <a:solidFill>
                  <a:srgbClr val="222222"/>
                </a:solidFill>
                <a:latin typeface="Calibri"/>
                <a:ea typeface="Calibri"/>
                <a:cs typeface="Calibri"/>
              </a:rPr>
              <a:t>1. Authenticated CVL1 bundle: name, size and SHA-256 inside the AES-GCM layer, magic as associated data.</a:t>
            </a:r>
          </a:p>
          <a:p>
            <a:pPr algn="l">
              <a:spcAft>
                <a:spcPts val="400"/>
              </a:spcAft>
            </a:pPr>
            <a:r>
              <a:rPr sz="1350" b="0" i="0">
                <a:solidFill>
                  <a:srgbClr val="222222"/>
                </a:solidFill>
                <a:latin typeface="Calibri"/>
                <a:ea typeface="Calibri"/>
                <a:cs typeface="Calibri"/>
              </a:rPr>
              <a:t>2. Hybrid AES-256-GCM + RSA-OAEP-SHA256 with a fresh key and nonce per message: byte-exact in 22/22 runs, 240/240 tampered bundles rejected.</a:t>
            </a:r>
          </a:p>
          <a:p>
            <a:pPr algn="l">
              <a:spcAft>
                <a:spcPts val="400"/>
              </a:spcAft>
            </a:pPr>
            <a:r>
              <a:rPr sz="1350" b="0" i="0">
                <a:solidFill>
                  <a:srgbClr val="222222"/>
                </a:solidFill>
                <a:latin typeface="Calibri"/>
                <a:ea typeface="Calibri"/>
                <a:cs typeface="Calibri"/>
              </a:rPr>
              <a:t>3. Capacity-aware 1-bit LSB embedder, 3.0 bpp; PSNR model within 0.053 dB of measurement; PSNR &gt;= 51.1 dB at any fill.</a:t>
            </a:r>
          </a:p>
          <a:p>
            <a:pPr algn="l">
              <a:spcAft>
                <a:spcPts val="400"/>
              </a:spcAft>
            </a:pPr>
            <a:r>
              <a:rPr sz="1350" b="0" i="0">
                <a:solidFill>
                  <a:srgbClr val="222222"/>
                </a:solidFill>
                <a:latin typeface="Calibri"/>
                <a:ea typeface="Calibri"/>
                <a:cs typeface="Calibri"/>
              </a:rPr>
              <a:t>4. Honest evaluation: only lossless handling survives (5 of 18 attacks); chi-square flags 30/30; weighted-stego tracks the fill.</a:t>
            </a:r>
          </a:p>
          <a:p>
            <a:pPr algn="l">
              <a:spcAft>
                <a:spcPts val="800"/>
              </a:spcAft>
            </a:pPr>
            <a:r>
              <a:rPr sz="1350" b="0" i="0">
                <a:solidFill>
                  <a:srgbClr val="222222"/>
                </a:solidFill>
                <a:latin typeface="Calibri"/>
                <a:ea typeface="Calibri"/>
                <a:cs typeface="Calibri"/>
              </a:rPr>
              <a:t>5. Full-stack tool (FastAPI + React) with key management, analysis, robustness and a secret-free log; 39 tests + 21 smoke checks.</a:t>
            </a:r>
          </a:p>
          <a:p>
            <a:pPr algn="l">
              <a:spcAft>
                <a:spcPts val="400"/>
              </a:spcAft>
            </a:pPr>
            <a:r>
              <a:rPr sz="1350" b="0" i="1">
                <a:solidFill>
                  <a:srgbClr val="1F3864"/>
                </a:solidFill>
                <a:latin typeface="Calibri"/>
                <a:ea typeface="Calibri"/>
                <a:cs typeface="Calibri"/>
              </a:rPr>
              <a:t>Novelty is integration and evaluation, not new primitives: AES, RSA-OAEP and LSB are standard.</a:t>
            </a:r>
          </a:p>
        </p:txBody>
      </p:sp>
      <p:graphicFrame>
        <p:nvGraphicFramePr>
          <p:cNvPr id="8" name="Table 7"/>
          <p:cNvGraphicFramePr>
            <a:graphicFrameLocks noGrp="1"/>
          </p:cNvGraphicFramePr>
          <p:nvPr/>
        </p:nvGraphicFramePr>
        <p:xfrm>
          <a:off x="6400800" y="1645920"/>
          <a:ext cx="5303520" cy="3968496"/>
        </p:xfrm>
        <a:graphic>
          <a:graphicData uri="http://schemas.openxmlformats.org/drawingml/2006/table">
            <a:tbl>
              <a:tblPr firstRow="0" bandRow="0">
                <a:tableStyleId>{5C22544A-7EE6-4342-B048-85BDC9FD1C3A}</a:tableStyleId>
              </a:tblPr>
              <a:tblGrid>
                <a:gridCol w="365760"/>
                <a:gridCol w="2103120"/>
                <a:gridCol w="2834640"/>
              </a:tblGrid>
              <a:tr h="566928">
                <a:tc>
                  <a:txBody>
                    <a:bodyPr wrap="square"/>
                    <a:lstStyle/>
                    <a:p>
                      <a:pPr algn="ctr"/>
                      <a:r>
                        <a:rPr sz="1100" b="1">
                          <a:solidFill>
                            <a:srgbClr val="1F3864"/>
                          </a:solidFill>
                          <a:latin typeface="Calibri"/>
                          <a:ea typeface="Calibri"/>
                          <a:cs typeface="Calibri"/>
                        </a:rPr>
                        <a: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Objective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c>
                  <a:txBody>
                    <a:bodyPr wrap="square"/>
                    <a:lstStyle/>
                    <a:p>
                      <a:pPr algn="ctr"/>
                      <a:r>
                        <a:rPr sz="1100" b="1">
                          <a:solidFill>
                            <a:srgbClr val="1F3864"/>
                          </a:solidFill>
                          <a:latin typeface="Calibri"/>
                          <a:ea typeface="Calibri"/>
                          <a:cs typeface="Calibri"/>
                        </a:rPr>
                        <a:t>Outcome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DEEAF6"/>
                    </a:solidFill>
                  </a:tcPr>
                </a:tc>
              </a:tr>
              <a:tr h="566928">
                <a:tc>
                  <a:txBody>
                    <a:bodyPr wrap="square"/>
                    <a:lstStyle/>
                    <a:p>
                      <a:pPr algn="ctr"/>
                      <a:r>
                        <a:rPr sz="1100" b="1">
                          <a:solidFill>
                            <a:srgbClr val="222222"/>
                          </a:solidFill>
                          <a:latin typeface="Calibri"/>
                          <a:ea typeface="Calibri"/>
                          <a:cs typeface="Calibri"/>
                        </a:rPr>
                        <a:t>1</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AES for data, RSA for key</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Met: AES-256-GCM + RSA-OAEP</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ctr"/>
                      <a:r>
                        <a:rPr sz="1100" b="1">
                          <a:solidFill>
                            <a:srgbClr val="222222"/>
                          </a:solidFill>
                          <a:latin typeface="Calibri"/>
                          <a:ea typeface="Calibri"/>
                          <a:cs typeface="Calibri"/>
                        </a:rPr>
                        <a:t>2</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Key generation and exchange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Met for RSA 2048-4096, PEM import/export; no identity check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ctr"/>
                      <a:r>
                        <a:rPr sz="1100" b="1">
                          <a:solidFill>
                            <a:srgbClr val="222222"/>
                          </a:solidFill>
                          <a:latin typeface="Calibri"/>
                          <a:ea typeface="Calibri"/>
                          <a:cs typeface="Calibri"/>
                        </a:rPr>
                        <a:t>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LSB embedding</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Met: 3.0 bpp, capacity check</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ctr"/>
                      <a:r>
                        <a:rPr sz="1100" b="1">
                          <a:solidFill>
                            <a:srgbClr val="222222"/>
                          </a:solidFill>
                          <a:latin typeface="Calibri"/>
                          <a:ea typeface="Calibri"/>
                          <a:cs typeface="Calibri"/>
                        </a:rPr>
                        <a:t>4</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Extract and decrypt</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Met: byte-exact, tag and hash</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r h="566928">
                <a:tc>
                  <a:txBody>
                    <a:bodyPr wrap="square"/>
                    <a:lstStyle/>
                    <a:p>
                      <a:pPr algn="ctr"/>
                      <a:r>
                        <a:rPr sz="1100" b="1">
                          <a:solidFill>
                            <a:srgbClr val="222222"/>
                          </a:solidFill>
                          <a:latin typeface="Calibri"/>
                          <a:ea typeface="Calibri"/>
                          <a:cs typeface="Calibri"/>
                        </a:rPr>
                        <a:t>5</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PSNR and SSIM</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c>
                  <a:txBody>
                    <a:bodyPr wrap="square"/>
                    <a:lstStyle/>
                    <a:p>
                      <a:pPr algn="l"/>
                      <a:r>
                        <a:rPr sz="1100" b="0">
                          <a:solidFill>
                            <a:srgbClr val="222222"/>
                          </a:solidFill>
                          <a:latin typeface="Calibri"/>
                          <a:ea typeface="Calibri"/>
                          <a:cs typeface="Calibri"/>
                        </a:rPr>
                        <a:t>&gt;= 51.1 dB at any fill; SSIM &gt;= 0.993</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FFFFF"/>
                    </a:solidFill>
                  </a:tcPr>
                </a:tc>
              </a:tr>
              <a:tr h="566928">
                <a:tc>
                  <a:txBody>
                    <a:bodyPr wrap="square"/>
                    <a:lstStyle/>
                    <a:p>
                      <a:pPr algn="ctr"/>
                      <a:r>
                        <a:rPr sz="1100" b="1">
                          <a:solidFill>
                            <a:srgbClr val="222222"/>
                          </a:solidFill>
                          <a:latin typeface="Calibri"/>
                          <a:ea typeface="Calibri"/>
                          <a:cs typeface="Calibri"/>
                        </a:rPr>
                        <a:t>6</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Capacity, time, robustness</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c>
                  <a:txBody>
                    <a:bodyPr wrap="square"/>
                    <a:lstStyle/>
                    <a:p>
                      <a:pPr algn="l"/>
                      <a:r>
                        <a:rPr sz="1100" b="0">
                          <a:solidFill>
                            <a:srgbClr val="222222"/>
                          </a:solidFill>
                          <a:latin typeface="Calibri"/>
                          <a:ea typeface="Calibri"/>
                          <a:cs typeface="Calibri"/>
                        </a:rPr>
                        <a:t>Measured; lossless-only, detectable</a:t>
                      </a:r>
                    </a:p>
                  </a:txBody>
                  <a:tcPr marL="73152" marR="73152" marT="36576" marB="36576" anchor="ctr">
                    <a:lnL w="9525">
                      <a:solidFill>
                        <a:srgbClr val="BFBFBF"/>
                      </a:solidFill>
                    </a:lnL>
                    <a:lnR w="9525">
                      <a:solidFill>
                        <a:srgbClr val="BFBFBF"/>
                      </a:solidFill>
                    </a:lnR>
                    <a:lnT w="9525">
                      <a:solidFill>
                        <a:srgbClr val="BFBFBF"/>
                      </a:solidFill>
                    </a:lnT>
                    <a:lnB w="9525">
                      <a:solidFill>
                        <a:srgbClr val="BFBFBF"/>
                      </a:solidFill>
                    </a:lnB>
                    <a:solidFill>
                      <a:srgbClr val="F2F2F2"/>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Limitations &amp; Future Scope</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26</a:t>
            </a:r>
            <a:endParaRPr lang="en-US" sz="1000" dirty="0"/>
          </a:p>
        </p:txBody>
      </p:sp>
      <p:sp>
        <p:nvSpPr>
          <p:cNvPr id="7" name="Rounded Rectangle 6"/>
          <p:cNvSpPr/>
          <p:nvPr/>
        </p:nvSpPr>
        <p:spPr>
          <a:xfrm>
            <a:off x="502920" y="1645920"/>
            <a:ext cx="5486400" cy="4663440"/>
          </a:xfrm>
          <a:prstGeom prst="roundRect">
            <a:avLst>
              <a:gd name="adj" fmla="val 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8580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Known limitations</a:t>
            </a:r>
          </a:p>
        </p:txBody>
      </p:sp>
      <p:sp>
        <p:nvSpPr>
          <p:cNvPr id="9" name="TextBox 8"/>
          <p:cNvSpPr txBox="1"/>
          <p:nvPr/>
        </p:nvSpPr>
        <p:spPr>
          <a:xfrm>
            <a:off x="685800" y="2194560"/>
            <a:ext cx="5120640" cy="4023360"/>
          </a:xfrm>
          <a:prstGeom prst="rect">
            <a:avLst/>
          </a:prstGeom>
          <a:noFill/>
        </p:spPr>
        <p:txBody>
          <a:bodyPr wrap="square" lIns="0" rIns="0" tIns="0" bIns="0" anchor="t">
            <a:spAutoFit/>
          </a:bodyPr>
          <a:lstStyle/>
          <a:p>
            <a:pPr algn="l" marL="256032" indent="-201168">
              <a:spcAft>
                <a:spcPts val="700"/>
              </a:spcAft>
              <a:buChar char="•"/>
            </a:pPr>
            <a:r>
              <a:rPr sz="1400" b="0" i="0">
                <a:solidFill>
                  <a:srgbClr val="222222"/>
                </a:solidFill>
                <a:latin typeface="Calibri"/>
                <a:ea typeface="Calibri"/>
                <a:cs typeface="Calibri"/>
              </a:rPr>
              <a:t>Data survives only lossless PNG handling; no error correction</a:t>
            </a:r>
          </a:p>
          <a:p>
            <a:pPr algn="l" marL="256032" indent="-201168">
              <a:spcAft>
                <a:spcPts val="700"/>
              </a:spcAft>
              <a:buChar char="•"/>
            </a:pPr>
            <a:r>
              <a:rPr sz="1400" b="0" i="0">
                <a:solidFill>
                  <a:srgbClr val="222222"/>
                </a:solidFill>
                <a:latin typeface="Calibri"/>
                <a:ea typeface="Calibri"/>
                <a:cs typeface="Calibri"/>
              </a:rPr>
              <a:t>Sequential, key-independent embedding: detected by chi-square and weighted-stego at medium and high fill</a:t>
            </a:r>
          </a:p>
          <a:p>
            <a:pPr algn="l" marL="256032" indent="-201168">
              <a:spcAft>
                <a:spcPts val="700"/>
              </a:spcAft>
              <a:buChar char="•"/>
            </a:pPr>
            <a:r>
              <a:rPr sz="1400" b="0" i="0">
                <a:solidFill>
                  <a:srgbClr val="222222"/>
                </a:solidFill>
                <a:latin typeface="Calibri"/>
                <a:ea typeface="Calibri"/>
                <a:cs typeface="Calibri"/>
              </a:rPr>
              <a:t>Private keys unencrypted in the database; placeholder JWT secret; no login rate limit</a:t>
            </a:r>
          </a:p>
          <a:p>
            <a:pPr algn="l" marL="256032" indent="-201168">
              <a:spcAft>
                <a:spcPts val="700"/>
              </a:spcAft>
              <a:buChar char="•"/>
            </a:pPr>
            <a:r>
              <a:rPr sz="1400" b="0" i="0">
                <a:solidFill>
                  <a:srgbClr val="222222"/>
                </a:solidFill>
                <a:latin typeface="Calibri"/>
                <a:ea typeface="Calibri"/>
                <a:cs typeface="Calibri"/>
              </a:rPr>
              <a:t>RSA only, no sender signature: the receiver cannot tell who sent it</a:t>
            </a:r>
          </a:p>
          <a:p>
            <a:pPr algn="l" marL="256032" indent="-201168">
              <a:spcAft>
                <a:spcPts val="700"/>
              </a:spcAft>
              <a:buChar char="•"/>
            </a:pPr>
            <a:r>
              <a:rPr sz="1400" b="0" i="0">
                <a:solidFill>
                  <a:srgbClr val="222222"/>
                </a:solidFill>
                <a:latin typeface="Calibri"/>
                <a:ea typeface="Calibri"/>
                <a:cs typeface="Calibri"/>
              </a:rPr>
              <a:t>Six covers, four small payloads, one machine; no camera photographs</a:t>
            </a:r>
          </a:p>
          <a:p>
            <a:pPr algn="l" marL="256032" indent="-201168">
              <a:spcAft>
                <a:spcPts val="400"/>
              </a:spcAft>
              <a:buChar char="•"/>
            </a:pPr>
            <a:r>
              <a:rPr sz="1400" b="0" i="0">
                <a:solidFill>
                  <a:srgbClr val="222222"/>
                </a:solidFill>
                <a:latin typeface="Calibri"/>
                <a:ea typeface="Calibri"/>
                <a:cs typeface="Calibri"/>
              </a:rPr>
              <a:t>ProSt's homomorphic computation and provable security are out of scope; Send page crashes for accounts with no keys</a:t>
            </a:r>
          </a:p>
        </p:txBody>
      </p:sp>
      <p:sp>
        <p:nvSpPr>
          <p:cNvPr id="10" name="Rounded Rectangle 9"/>
          <p:cNvSpPr/>
          <p:nvPr/>
        </p:nvSpPr>
        <p:spPr>
          <a:xfrm>
            <a:off x="6217920" y="1645920"/>
            <a:ext cx="5486400" cy="4663440"/>
          </a:xfrm>
          <a:prstGeom prst="roundRect">
            <a:avLst>
              <a:gd name="adj" fmla="val 4000"/>
            </a:avLst>
          </a:prstGeom>
          <a:solidFill>
            <a:srgbClr val="DEEA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00800" y="1737360"/>
            <a:ext cx="5120640" cy="365760"/>
          </a:xfrm>
          <a:prstGeom prst="rect">
            <a:avLst/>
          </a:prstGeom>
          <a:noFill/>
        </p:spPr>
        <p:txBody>
          <a:bodyPr wrap="square" lIns="0" rIns="0" tIns="0" bIns="0" anchor="t">
            <a:spAutoFit/>
          </a:bodyPr>
          <a:lstStyle/>
          <a:p>
            <a:pPr algn="l">
              <a:spcAft>
                <a:spcPts val="400"/>
              </a:spcAft>
            </a:pPr>
            <a:r>
              <a:rPr sz="1700" b="1" i="0">
                <a:solidFill>
                  <a:srgbClr val="1F3864"/>
                </a:solidFill>
                <a:latin typeface="Calibri"/>
                <a:ea typeface="Calibri"/>
                <a:cs typeface="Calibri"/>
              </a:rPr>
              <a:t>Future scope</a:t>
            </a:r>
          </a:p>
        </p:txBody>
      </p:sp>
      <p:sp>
        <p:nvSpPr>
          <p:cNvPr id="12" name="TextBox 11"/>
          <p:cNvSpPr txBox="1"/>
          <p:nvPr/>
        </p:nvSpPr>
        <p:spPr>
          <a:xfrm>
            <a:off x="6400800" y="2194560"/>
            <a:ext cx="5120640" cy="4023360"/>
          </a:xfrm>
          <a:prstGeom prst="rect">
            <a:avLst/>
          </a:prstGeom>
          <a:noFill/>
        </p:spPr>
        <p:txBody>
          <a:bodyPr wrap="square" lIns="0" rIns="0" tIns="0" bIns="0" anchor="t">
            <a:spAutoFit/>
          </a:bodyPr>
          <a:lstStyle/>
          <a:p>
            <a:pPr algn="l" marL="256032" indent="-201168">
              <a:spcAft>
                <a:spcPts val="700"/>
              </a:spcAft>
              <a:buChar char="•"/>
            </a:pPr>
            <a:r>
              <a:rPr sz="1400" b="0" i="0">
                <a:solidFill>
                  <a:srgbClr val="222222"/>
                </a:solidFill>
                <a:latin typeface="Calibri"/>
                <a:ea typeface="Calibri"/>
                <a:cs typeface="Calibri"/>
              </a:rPr>
              <a:t>Key-dependent pixel permutation, LSB matching or adaptive (edge) embedding</a:t>
            </a:r>
          </a:p>
          <a:p>
            <a:pPr algn="l" marL="256032" indent="-201168">
              <a:spcAft>
                <a:spcPts val="700"/>
              </a:spcAft>
              <a:buChar char="•"/>
            </a:pPr>
            <a:r>
              <a:rPr sz="1400" b="0" i="0">
                <a:solidFill>
                  <a:srgbClr val="222222"/>
                </a:solidFill>
                <a:latin typeface="Calibri"/>
                <a:ea typeface="Calibri"/>
                <a:cs typeface="Calibri"/>
              </a:rPr>
              <a:t>Reed-Solomon coding for resilience to light corruption</a:t>
            </a:r>
          </a:p>
          <a:p>
            <a:pPr algn="l" marL="256032" indent="-201168">
              <a:spcAft>
                <a:spcPts val="700"/>
              </a:spcAft>
              <a:buChar char="•"/>
            </a:pPr>
            <a:r>
              <a:rPr sz="1400" b="0" i="0">
                <a:solidFill>
                  <a:srgbClr val="222222"/>
                </a:solidFill>
                <a:latin typeface="Calibri"/>
                <a:ea typeface="Calibri"/>
                <a:cs typeface="Calibri"/>
              </a:rPr>
              <a:t>Sender signatures (RSA-PSS or Ed25519) and an encrypted key store</a:t>
            </a:r>
          </a:p>
          <a:p>
            <a:pPr algn="l" marL="256032" indent="-201168">
              <a:spcAft>
                <a:spcPts val="700"/>
              </a:spcAft>
              <a:buChar char="•"/>
            </a:pPr>
            <a:r>
              <a:rPr sz="1400" b="0" i="0">
                <a:solidFill>
                  <a:srgbClr val="222222"/>
                </a:solidFill>
                <a:latin typeface="Calibri"/>
                <a:ea typeface="Calibri"/>
                <a:cs typeface="Calibri"/>
              </a:rPr>
              <a:t>Post-quantum key encapsulation in place of RSA</a:t>
            </a:r>
          </a:p>
          <a:p>
            <a:pPr algn="l" marL="256032" indent="-201168">
              <a:spcAft>
                <a:spcPts val="700"/>
              </a:spcAft>
              <a:buChar char="•"/>
            </a:pPr>
            <a:r>
              <a:rPr sz="1400" b="0" i="0">
                <a:solidFill>
                  <a:srgbClr val="222222"/>
                </a:solidFill>
                <a:latin typeface="Calibri"/>
                <a:ea typeface="Calibri"/>
                <a:cs typeface="Calibri"/>
              </a:rPr>
              <a:t>Test against stronger steganalysis (RS, sample-pair, learned detectors)</a:t>
            </a:r>
          </a:p>
          <a:p>
            <a:pPr algn="l" marL="256032" indent="-201168">
              <a:spcAft>
                <a:spcPts val="400"/>
              </a:spcAft>
              <a:buChar char="•"/>
            </a:pPr>
            <a:r>
              <a:rPr sz="1400" b="0" i="0">
                <a:solidFill>
                  <a:srgbClr val="222222"/>
                </a:solidFill>
                <a:latin typeface="Calibri"/>
                <a:ea typeface="Calibri"/>
                <a:cs typeface="Calibri"/>
              </a:rPr>
              <a:t>Audio and video carriers; rate limiting; a formal usability study</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1098857"/>
            <a:ext cx="11247120" cy="548640"/>
          </a:xfrm>
          <a:prstGeom prst="rect">
            <a:avLst/>
          </a:prstGeom>
          <a:noFill/>
          <a:ln/>
        </p:spPr>
        <p:txBody>
          <a:bodyPr wrap="square" rtlCol="0" anchor="ctr"/>
          <a:lstStyle/>
          <a:p>
            <a:pPr indent="0" marL="0">
              <a:buNone/>
            </a:pPr>
            <a:r>
              <a:rPr lang="en-US" sz="2600" b="1" dirty="0">
                <a:solidFill>
                  <a:srgbClr val="1F3864"/>
                </a:solidFill>
                <a:latin typeface="Calibri" pitchFamily="34" charset="0"/>
                <a:ea typeface="Calibri" pitchFamily="34" charset="-122"/>
                <a:cs typeface="Calibri" pitchFamily="34" charset="-120"/>
              </a:rPr>
              <a:t>References</a:t>
            </a:r>
            <a:endParaRPr lang="en-US" sz="2600" dirty="0"/>
          </a:p>
        </p:txBody>
      </p:sp>
      <p:sp>
        <p:nvSpPr>
          <p:cNvPr id="5" name="Text 2"/>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6" name="Text 3"/>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27</a:t>
            </a:r>
            <a:endParaRPr lang="en-US" sz="1000" dirty="0"/>
          </a:p>
        </p:txBody>
      </p:sp>
      <p:sp>
        <p:nvSpPr>
          <p:cNvPr id="7" name="TextBox 6"/>
          <p:cNvSpPr txBox="1"/>
          <p:nvPr/>
        </p:nvSpPr>
        <p:spPr>
          <a:xfrm>
            <a:off x="502920" y="1645920"/>
            <a:ext cx="5486400" cy="466344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 S. Ahmad and S. Rass, "ProSt: Provably secure homomorphic steganography," IEEE Access, vol. 14, pp. 14393-14409, 2026, doi: 10.1109/ACCESS.2026.3656995.</a:t>
            </a:r>
          </a:p>
          <a:p>
            <a:pPr algn="l">
              <a:spcAft>
                <a:spcPts val="500"/>
              </a:spcAft>
            </a:pPr>
            <a:r>
              <a:rPr sz="1100" b="0" i="0">
                <a:solidFill>
                  <a:srgbClr val="222222"/>
                </a:solidFill>
                <a:latin typeface="Calibri"/>
                <a:ea typeface="Calibri"/>
                <a:cs typeface="Calibri"/>
              </a:rPr>
              <a:t>[2] S. E. Fatemieh, R. Shahdi Alizadeh, and E. Zarezadeh, "Design of memristive lightweight encryption for in-memory image steganography," arXiv:2605.03494, May 2026.</a:t>
            </a:r>
          </a:p>
          <a:p>
            <a:pPr algn="l">
              <a:spcAft>
                <a:spcPts val="500"/>
              </a:spcAft>
            </a:pPr>
            <a:r>
              <a:rPr sz="1100" b="0" i="0">
                <a:solidFill>
                  <a:srgbClr val="222222"/>
                </a:solidFill>
                <a:latin typeface="Calibri"/>
                <a:ea typeface="Calibri"/>
                <a:cs typeface="Calibri"/>
              </a:rPr>
              <a:t>[3] S. R. Raiyan and M. H. Kabir, "SCReedSolo: A secure and robust LSB image steganography framework with randomized symmetric encryption and Reed-Solomon coding," arXiv:2503.12368, 2025 (ACPR 2025).</a:t>
            </a:r>
          </a:p>
          <a:p>
            <a:pPr algn="l">
              <a:spcAft>
                <a:spcPts val="500"/>
              </a:spcAft>
            </a:pPr>
            <a:r>
              <a:rPr sz="1100" b="0" i="0">
                <a:solidFill>
                  <a:srgbClr val="222222"/>
                </a:solidFill>
                <a:latin typeface="Calibri"/>
                <a:ea typeface="Calibri"/>
                <a:cs typeface="Calibri"/>
              </a:rPr>
              <a:t>[8] J. Fridrich, Steganography in Digital Media: Principles, Algorithms, and Applications. Cambridge, U.K.: Cambridge Univ. Press, 2009.</a:t>
            </a:r>
          </a:p>
          <a:p>
            <a:pPr algn="l">
              <a:spcAft>
                <a:spcPts val="500"/>
              </a:spcAft>
            </a:pPr>
            <a:r>
              <a:rPr sz="1100" b="0" i="0">
                <a:solidFill>
                  <a:srgbClr val="222222"/>
                </a:solidFill>
                <a:latin typeface="Calibri"/>
                <a:ea typeface="Calibri"/>
                <a:cs typeface="Calibri"/>
              </a:rPr>
              <a:t>[11] C.-K. Chan and L. M. Cheng, "Hiding data in images by simple LSB substitution," Pattern Recognition, vol. 37, no. 3, pp. 469-474, Mar. 2004.</a:t>
            </a:r>
          </a:p>
          <a:p>
            <a:pPr algn="l">
              <a:spcAft>
                <a:spcPts val="500"/>
              </a:spcAft>
            </a:pPr>
            <a:r>
              <a:rPr sz="1100" b="0" i="0">
                <a:solidFill>
                  <a:srgbClr val="222222"/>
                </a:solidFill>
                <a:latin typeface="Calibri"/>
                <a:ea typeface="Calibri"/>
                <a:cs typeface="Calibri"/>
              </a:rPr>
              <a:t>[15] A. Westfeld and A. Pfitzmann, "Attacks on steganographic systems," in Information Hiding (IH 1999), Lecture Notes in Computer Science, vol. 1768. Berlin, Germany: Springer, 2000, pp. 61-76.</a:t>
            </a:r>
          </a:p>
        </p:txBody>
      </p:sp>
      <p:sp>
        <p:nvSpPr>
          <p:cNvPr id="8" name="TextBox 7"/>
          <p:cNvSpPr txBox="1"/>
          <p:nvPr/>
        </p:nvSpPr>
        <p:spPr>
          <a:xfrm>
            <a:off x="6217920" y="1645920"/>
            <a:ext cx="5486400" cy="4663440"/>
          </a:xfrm>
          <a:prstGeom prst="rect">
            <a:avLst/>
          </a:prstGeom>
          <a:noFill/>
        </p:spPr>
        <p:txBody>
          <a:bodyPr wrap="square" lIns="0" rIns="0" tIns="0" bIns="0" anchor="t">
            <a:spAutoFit/>
          </a:bodyPr>
          <a:lstStyle/>
          <a:p>
            <a:pPr algn="l">
              <a:spcAft>
                <a:spcPts val="500"/>
              </a:spcAft>
            </a:pPr>
            <a:r>
              <a:rPr sz="1100" b="0" i="0">
                <a:solidFill>
                  <a:srgbClr val="222222"/>
                </a:solidFill>
                <a:latin typeface="Calibri"/>
                <a:ea typeface="Calibri"/>
                <a:cs typeface="Calibri"/>
              </a:rPr>
              <a:t>[16] J. Fridrich, M. Goljan, and R. Du, "Detecting LSB steganography in color and gray-scale images," IEEE MultiMedia, vol. 8, no. 4, pp. 22-28, Oct.-Dec. 2001.</a:t>
            </a:r>
          </a:p>
          <a:p>
            <a:pPr algn="l">
              <a:spcAft>
                <a:spcPts val="500"/>
              </a:spcAft>
            </a:pPr>
            <a:r>
              <a:rPr sz="1100" b="0" i="0">
                <a:solidFill>
                  <a:srgbClr val="222222"/>
                </a:solidFill>
                <a:latin typeface="Calibri"/>
                <a:ea typeface="Calibri"/>
                <a:cs typeface="Calibri"/>
              </a:rPr>
              <a:t>[18] J. Fridrich and M. Goljan, "On estimation of secret message length in LSB steganography in spatial domain," in Proc. SPIE, vol. 5306, Security, Steganography, and Watermarking of Multimedia Contents VI, 2004, pp. 23-34.</a:t>
            </a:r>
          </a:p>
          <a:p>
            <a:pPr algn="l">
              <a:spcAft>
                <a:spcPts val="500"/>
              </a:spcAft>
            </a:pPr>
            <a:r>
              <a:rPr sz="1100" b="0" i="0">
                <a:solidFill>
                  <a:srgbClr val="222222"/>
                </a:solidFill>
                <a:latin typeface="Calibri"/>
                <a:ea typeface="Calibri"/>
                <a:cs typeface="Calibri"/>
              </a:rPr>
              <a:t>[20] Advanced Encryption Standard (AES), Federal Information Processing Standards Publication 197, NIST, Nov. 2001.</a:t>
            </a:r>
          </a:p>
          <a:p>
            <a:pPr algn="l">
              <a:spcAft>
                <a:spcPts val="500"/>
              </a:spcAft>
            </a:pPr>
            <a:r>
              <a:rPr sz="1100" b="0" i="0">
                <a:solidFill>
                  <a:srgbClr val="222222"/>
                </a:solidFill>
                <a:latin typeface="Calibri"/>
                <a:ea typeface="Calibri"/>
                <a:cs typeface="Calibri"/>
              </a:rPr>
              <a:t>[21] M. Dworkin, "Recommendation for block cipher modes of operation: Galois/Counter Mode (GCM) and GMAC," NIST Special Publication 800-38D, Nov. 2007.</a:t>
            </a:r>
          </a:p>
          <a:p>
            <a:pPr algn="l">
              <a:spcAft>
                <a:spcPts val="500"/>
              </a:spcAft>
            </a:pPr>
            <a:r>
              <a:rPr sz="1100" b="0" i="0">
                <a:solidFill>
                  <a:srgbClr val="222222"/>
                </a:solidFill>
                <a:latin typeface="Calibri"/>
                <a:ea typeface="Calibri"/>
                <a:cs typeface="Calibri"/>
              </a:rPr>
              <a:t>[23] K. Moriarty, B. Kaliski, J. Jonsson, and A. Rusch, "PKCS #1: RSA cryptography specifications version 2.2," IETF RFC 8017, Nov. 2016.</a:t>
            </a:r>
          </a:p>
          <a:p>
            <a:pPr algn="l">
              <a:spcAft>
                <a:spcPts val="500"/>
              </a:spcAft>
            </a:pPr>
            <a:r>
              <a:rPr sz="1100" b="0" i="0">
                <a:solidFill>
                  <a:srgbClr val="222222"/>
                </a:solidFill>
                <a:latin typeface="Calibri"/>
                <a:ea typeface="Calibri"/>
                <a:cs typeface="Calibri"/>
              </a:rPr>
              <a:t>[26] Z. Wang, A. C. Bovik, H. R. Sheikh, and E. P. Simoncelli, "Image quality assessment: From error visibility to structural similarity," IEEE Trans. Image Processing, vol. 13, no. 4, pp. 600-612, Apr. 2004.</a:t>
            </a:r>
          </a:p>
          <a:p>
            <a:pPr algn="l">
              <a:spcAft>
                <a:spcPts val="400"/>
              </a:spcAft>
            </a:pPr>
            <a:r>
              <a:rPr sz="1100" b="0" i="1">
                <a:solidFill>
                  <a:srgbClr val="222222"/>
                </a:solidFill>
                <a:latin typeface="Calibri"/>
                <a:ea typeface="Calibri"/>
                <a:cs typeface="Calibri"/>
              </a:rPr>
              <a:t>The full numbered list of 29 references, including the four batch survey items [4]-[7] (title level only), is in the report.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D:\vaishanavi\CSE-D\CSE-D-D1\doc_generator\college_banner.jpg">    </p:cNvPr>
          <p:cNvPicPr>
            <a:picLocks noChangeAspect="1"/>
          </p:cNvPicPr>
          <p:nvPr/>
        </p:nvPicPr>
        <p:blipFill>
          <a:blip r:embed="rId1"/>
          <a:stretch>
            <a:fillRect/>
          </a:stretch>
        </p:blipFill>
        <p:spPr>
          <a:xfrm>
            <a:off x="1889608" y="73152"/>
            <a:ext cx="8412480" cy="870257"/>
          </a:xfrm>
          <a:prstGeom prst="rect">
            <a:avLst/>
          </a:prstGeom>
        </p:spPr>
      </p:pic>
      <p:sp>
        <p:nvSpPr>
          <p:cNvPr id="3" name="Shape 0"/>
          <p:cNvSpPr/>
          <p:nvPr/>
        </p:nvSpPr>
        <p:spPr>
          <a:xfrm>
            <a:off x="365760" y="979985"/>
            <a:ext cx="11457432" cy="0"/>
          </a:xfrm>
          <a:prstGeom prst="line">
            <a:avLst/>
          </a:prstGeom>
          <a:noFill/>
          <a:ln w="19050">
            <a:solidFill>
              <a:srgbClr val="1F3864"/>
            </a:solidFill>
            <a:prstDash val="solid"/>
          </a:ln>
        </p:spPr>
      </p:sp>
      <p:sp>
        <p:nvSpPr>
          <p:cNvPr id="4" name="Text 1"/>
          <p:cNvSpPr/>
          <p:nvPr/>
        </p:nvSpPr>
        <p:spPr>
          <a:xfrm>
            <a:off x="457200" y="2743200"/>
            <a:ext cx="11247120" cy="914400"/>
          </a:xfrm>
          <a:prstGeom prst="rect">
            <a:avLst/>
          </a:prstGeom>
          <a:noFill/>
          <a:ln/>
        </p:spPr>
        <p:txBody>
          <a:bodyPr wrap="square" rtlCol="0" anchor="ctr"/>
          <a:lstStyle/>
          <a:p>
            <a:pPr algn="ctr" indent="0" marL="0">
              <a:buNone/>
            </a:pPr>
            <a:r>
              <a:rPr lang="en-US" sz="4800" b="1" dirty="0">
                <a:solidFill>
                  <a:srgbClr val="1F3864"/>
                </a:solidFill>
                <a:latin typeface="Calibri" pitchFamily="34" charset="0"/>
                <a:ea typeface="Calibri" pitchFamily="34" charset="-122"/>
                <a:cs typeface="Calibri" pitchFamily="34" charset="-120"/>
              </a:rPr>
              <a:t>THANK YOU</a:t>
            </a:r>
            <a:endParaRPr lang="en-US" sz="4800" dirty="0"/>
          </a:p>
        </p:txBody>
      </p:sp>
      <p:sp>
        <p:nvSpPr>
          <p:cNvPr id="5" name="Text 2"/>
          <p:cNvSpPr/>
          <p:nvPr/>
        </p:nvSpPr>
        <p:spPr>
          <a:xfrm>
            <a:off x="457200" y="3657600"/>
            <a:ext cx="11247120" cy="548640"/>
          </a:xfrm>
          <a:prstGeom prst="rect">
            <a:avLst/>
          </a:prstGeom>
          <a:noFill/>
          <a:ln/>
        </p:spPr>
        <p:txBody>
          <a:bodyPr wrap="square" rtlCol="0" anchor="ctr"/>
          <a:lstStyle/>
          <a:p>
            <a:pPr algn="ctr" indent="0" marL="0">
              <a:buNone/>
            </a:pPr>
            <a:r>
              <a:rPr lang="en-US" sz="2200" dirty="0">
                <a:solidFill>
                  <a:srgbClr val="2E75B6"/>
                </a:solidFill>
                <a:latin typeface="Calibri" pitchFamily="34" charset="0"/>
                <a:ea typeface="Calibri" pitchFamily="34" charset="-122"/>
                <a:cs typeface="Calibri" pitchFamily="34" charset="-120"/>
              </a:rPr>
              <a:t>Questions &amp; Suggestions</a:t>
            </a:r>
            <a:endParaRPr lang="en-US" sz="2200" dirty="0"/>
          </a:p>
        </p:txBody>
      </p:sp>
      <p:sp>
        <p:nvSpPr>
          <p:cNvPr id="6" name="Text 3"/>
          <p:cNvSpPr/>
          <p:nvPr/>
        </p:nvSpPr>
        <p:spPr>
          <a:xfrm>
            <a:off x="365760" y="6446520"/>
            <a:ext cx="7315200" cy="274320"/>
          </a:xfrm>
          <a:prstGeom prst="rect">
            <a:avLst/>
          </a:prstGeom>
          <a:noFill/>
          <a:ln/>
        </p:spPr>
        <p:txBody>
          <a:bodyPr wrap="square" rtlCol="0" anchor="ctr"/>
          <a:lstStyle/>
          <a:p>
            <a:pPr indent="0" marL="0">
              <a:buNone/>
            </a:pPr>
            <a:r>
              <a:rPr lang="en-US" sz="1000" dirty="0">
                <a:solidFill>
                  <a:srgbClr val="595959"/>
                </a:solidFill>
                <a:latin typeface="Calibri" pitchFamily="34" charset="0"/>
                <a:ea typeface="Calibri" pitchFamily="34" charset="-122"/>
                <a:cs typeface="Calibri" pitchFamily="34" charset="-120"/>
              </a:rPr>
              <a:t>Dept. of CSE  |  Batch A15  |  Final Review</a:t>
            </a:r>
            <a:endParaRPr lang="en-US" sz="1000" dirty="0"/>
          </a:p>
        </p:txBody>
      </p:sp>
      <p:sp>
        <p:nvSpPr>
          <p:cNvPr id="7" name="Text 4"/>
          <p:cNvSpPr/>
          <p:nvPr/>
        </p:nvSpPr>
        <p:spPr>
          <a:xfrm>
            <a:off x="11155680" y="6446520"/>
            <a:ext cx="640080" cy="274320"/>
          </a:xfrm>
          <a:prstGeom prst="rect">
            <a:avLst/>
          </a:prstGeom>
          <a:noFill/>
          <a:ln/>
        </p:spPr>
        <p:txBody>
          <a:bodyPr wrap="square" rtlCol="0" anchor="ctr"/>
          <a:lstStyle/>
          <a:p>
            <a:pPr algn="r" indent="0" marL="0">
              <a:buNone/>
            </a:pPr>
            <a:r>
              <a:rPr lang="en-US" sz="1000" dirty="0">
                <a:solidFill>
                  <a:srgbClr val="595959"/>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theme/theme1.xml><?xml version="1.0" encoding="utf-8"?>
<a:theme xmlns:a="http://schemas.openxmlformats.org/drawingml/2006/main" name="CipherVeil">
  <a:themeElements>
    <a:clrScheme name="CipherVeil">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ipherVeil">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CipherVeil">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Protection Using Hybrid Encryption and Steganography - Final Review</dc:title>
  <dc:subject>CipherVeil</dc:subject>
  <dc:creator>Batch A15, Dept. of CSE, TKRCET</dc:creator>
  <cp:lastModifiedBy>Batch A15, Dept. of CSE, TKRCET</cp:lastModifiedBy>
  <cp:revision>1</cp:revision>
  <dcterms:created xsi:type="dcterms:W3CDTF">2026-10-07T05:03:03Z</dcterms:created>
  <dcterms:modified xsi:type="dcterms:W3CDTF">2026-10-07T05:03:03Z</dcterms:modified>
  <dc:description/>
  <cp:keywords>hybrid encryption, AES-GCM, RSA-OAEP, LSB steganography, PSNR, SSIM, data protection</cp:keywords>
</cp:coreProperties>
</file>