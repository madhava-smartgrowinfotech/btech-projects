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PSNR reported for SCReedSolo (dB)</c:v>
                </c:pt>
              </c:strCache>
            </c:strRef>
          </c:tx>
          <c:spPr>
            <a:solidFill>
              <a:srgbClr val="2A78D6"/>
            </a:solidFill>
          </c:spPr>
          <c:cat>
            <c:strRef>
              <c:f>Sheet1!$A$2:$A$4</c:f>
              <c:strCache>
                <c:ptCount val="3"/>
                <c:pt idx="0">
                  <c:v>Text into
14589x8423</c:v>
                </c:pt>
                <c:pt idx="1">
                  <c:v>Audio into
21188x30328</c:v>
                </c:pt>
                <c:pt idx="2">
                  <c:v>Image into
512x512</c:v>
                </c:pt>
              </c:strCache>
            </c:strRef>
          </c:cat>
          <c:val>
            <c:numRef>
              <c:f>Sheet1!$B$2:$B$4</c:f>
              <c:numCache>
                <c:formatCode>General</c:formatCode>
                <c:ptCount val="3"/>
                <c:pt idx="0">
                  <c:v>51.774</c:v>
                </c:pt>
                <c:pt idx="1">
                  <c:v>57.653</c:v>
                </c:pt>
                <c:pt idx="2">
                  <c:v>52.888</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70.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CipherVeil protects a confidential file twice - it is encrypted with AES-256-GCM, its key is wrapped with the receiver's RSA key, and the result is hidden in the least significant bits of an ordinary-looking PNG - and the tool measures how well that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details and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weakness of encryption-only and hiding-only protection, the idea of the two layers, and what is delivered. Everything runs locally on a CPU; there is no dataset and no GPU.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ProSt is a provably secure steganography scheme for outsourcing computation: the data are hidden among decoys and processed with a universal reversible gate. CipherVeil does not compute on hidden bits; it uses the same carrier (image LSBs) to deliver an AES-GCM-encrypted file. The 8.38 s figure is for a different task and must not be compared with our millisecond timings.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is the base paper plus four recent works; we also read two further papers from the batch folder. Figures are quoted only where we read them in the paper itself. For the four survey titles only the title, year and source are available, so no results are quoted.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chart shows what a closely related hybrid scheme reported, so we know the PSNR range to expect when the whole capacity is used. The right-hand side lists the standards and steganalysis papers that our design and evaluation follow. Our own measurements start in Review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a confidential file is usually protected by encryption alone, or an image is used to hide plain data. The two protections and the key-sharing step are handled separately.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limitations are the batch problem statement. The last line is taken from the base paper's own discussion of scalability and circuit privacy.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Gap 1 is the batch survey's own statement. Gaps 2, 3 and 5 follow from the papers we read. Gap 4 is our reading: visual quality is reported by almost everyone, but robustness and detectability are seldom shown next to it, so we measure all of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two-layer scheme: hybrid AES-RSA encryption, then imperceptible hiding in a cover image.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Later reviews report which were met and where the results are weaker than hoped.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console around them. Encryption and key wrapping use the standard cryptography library; the LSB embedder is our own code. The console also measures: it is how we can say how invisible, how large and how robust the hiding 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console calls the API, the API calls the services, and results are stored as database rows and image files. The log never records keys or file contents.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outcomes we commit to. A first prototype run already round-trips files byte for byte (22 of 22 runs), with PSNR between 52.5 and 74.6 dB and 3.0 bits per pixel of capacity. Those are prototype figures; the full evaluation, including where it is weaker than hoped, is presented in Review 2 and the final review.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with notes on which entries could only be listed by title,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LSB and not an adaptive method (simple, measurable, matches the base paper's carrier; adaptive embedding is future scope); is the result undetectable (no: it is invisible to the eye but statistically detectable at higher fill, and we measure this); how it differs from the base paper (ProSt computes on hidden bits, CipherVeil delivers a file).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CipherVeil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Data Protection Using Hybrid Encryption and Steganography</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AES-256-GCM for the data, RSA-OAEP for the key, LSB steganography in a PNG for concealment</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Allam Rakesh  23K91A0509</a:t>
            </a:r>
            <a:endParaRPr lang="en-US" sz="1500" dirty="0"/>
          </a:p>
          <a:p>
            <a:pPr indent="0" marL="0">
              <a:buNone/>
            </a:pPr>
            <a:r>
              <a:rPr lang="en-US" sz="1500" dirty="0">
                <a:solidFill>
                  <a:srgbClr val="FFFFFF"/>
                </a:solidFill>
              </a:rPr>
              <a:t>Bolleddu Shanker  23K91A0543</a:t>
            </a:r>
            <a:endParaRPr lang="en-US" sz="1500" dirty="0"/>
          </a:p>
          <a:p>
            <a:pPr indent="0" marL="0">
              <a:buNone/>
            </a:pPr>
            <a:r>
              <a:rPr lang="en-US" sz="1500" dirty="0">
                <a:solidFill>
                  <a:srgbClr val="FFFFFF"/>
                </a:solidFill>
              </a:rPr>
              <a:t>Agaram Sri Sarvagna  23K91A0506</a:t>
            </a:r>
            <a:endParaRPr lang="en-US" sz="1500" dirty="0"/>
          </a:p>
          <a:p>
            <a:pPr indent="0" marL="0">
              <a:buNone/>
            </a:pPr>
            <a:r>
              <a:rPr lang="en-US" sz="1500" dirty="0">
                <a:solidFill>
                  <a:srgbClr val="FFFFFF"/>
                </a:solidFill>
              </a:rPr>
              <a:t>B Akshay  24K915A0504</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Rajalakshmi,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A15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encrypt it, then hide it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Sensitive data crosses the Internet all the time. Encryption protects the content but shows that a secret exists; hiding alone protects nothing once found; symmetric keys are hard to share.</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A double layer: AES encrypts the data efficiently, RSA protects the AES key, and the encrypted bundle is hidden in the least significant bits of an image. The receiver extracts, decrypts and recovers the original.</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CipherVeil: key management, send and receive screens, PSNR and SSIM analysis, capacity and speed benchmark, robustness tests and an operation log, built as a FastAPI + React tool.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S. Ahmad and S. Rass, "ProSt: Provably secure homomorphic steganography," IEEE Access, vol. 14, pp. 14393-14409, 2026, doi: 10.1109/ACCESS.2026.3656995.</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400" b="0" i="0">
                <a:solidFill>
                  <a:srgbClr val="475569"/>
                </a:solidFill>
              </a:rPr>
              <a:t>LSB steganography is used as a computing medium. A secret bit sits at a secret position among random decoy LSBs; the cloud applies a Fredkin gate pixel-wise to every bit and never learns which bits are real. Extraction needs the secret position.</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400" b="0" i="0">
                <a:solidFill>
                  <a:srgbClr val="475569"/>
                </a:solidFill>
              </a:rPr>
              <a:t>Security: adversary advantage of order 1/n in the number n of positions; n of 2^20 (about 10^6) is recommended for advantage below 10^-6. Runtime: 8.38 s for a 17-gate, 61-wire circuit on a 128x128x3 image (i5-1135G7, 16 GB). No PSNR, SSIM or capacity is reported.</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and limits</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400" b="0" i="0">
                <a:solidFill>
                  <a:srgbClr val="475569"/>
                </a:solidFill>
              </a:rPr>
              <a:t>We adopt the LSB carrier and the idea of a shared secret exchanged by standard cryptography. The paper itself notes that circuit privacy is only heuristic and that scaling is a challenge. It does not move a file from sender to receiver, so its numbers are not like-for-like with ours.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143000"/>
          <a:ext cx="11091672" cy="4828032"/>
        </p:xfrm>
        <a:graphic>
          <a:graphicData uri="http://schemas.openxmlformats.org/drawingml/2006/table">
            <a:tbl>
              <a:tblPr firstRow="0" bandRow="0">
                <a:tableStyleId>{5C22544A-7EE6-4342-B048-85BDC9FD1C3A}</a:tableStyleId>
              </a:tblPr>
              <a:tblGrid>
                <a:gridCol w="2514600"/>
                <a:gridCol w="594360"/>
                <a:gridCol w="4297680"/>
                <a:gridCol w="3685032"/>
              </a:tblGrid>
              <a:tr h="603504">
                <a:tc>
                  <a:txBody>
                    <a:bodyPr wrap="square"/>
                    <a:lstStyle/>
                    <a:p>
                      <a:pPr algn="ctr"/>
                      <a:r>
                        <a:rPr sz="12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03504">
                <a:tc>
                  <a:txBody>
                    <a:bodyPr wrap="square"/>
                    <a:lstStyle/>
                    <a:p>
                      <a:pPr algn="l"/>
                      <a:r>
                        <a:rPr sz="1100" b="0">
                          <a:solidFill>
                            <a:srgbClr val="0F172A"/>
                          </a:solidFill>
                        </a:rPr>
                        <a:t>Ahmad and Rass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Secret bits hidden by LSB at a secret position among random decoy bits; an untrusted cloud computes on them with Fredkin gates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Adversary advantage of order 1/n; 8.38 s for 17 gates on a 128x128x3 image; no PSNR, SSIM or capacity reported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100" b="0">
                          <a:solidFill>
                            <a:srgbClr val="0F172A"/>
                          </a:solidFill>
                        </a:rPr>
                        <a:t>Fatemieh et al.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Trivium and Grain-128a stream ciphers in memristive IMPLY logic, tried in an LSB steganography application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Up to 42 % and 44 % fewer steps/energy; hardware level, no end-to-end software system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100" b="0">
                          <a:solidFill>
                            <a:srgbClr val="0F172A"/>
                          </a:solidFill>
                        </a:rPr>
                        <a:t>Raiyan and Kabir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Random shuffle + Fernet symmetric cipher + Reed-Solomon codes, then LSB embedding at 3 bits per pixel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PSNR 51.774 / 57.653 / 52.888 dB on three cases; symmetric key shared in advance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100" b="0">
                          <a:solidFill>
                            <a:srgbClr val="0F172A"/>
                          </a:solidFill>
                        </a:rPr>
                        <a:t>Triple-layer visual cryptography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Image data hiding in three layers using visual cryptography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Full text not accessed; no figures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100" b="0">
                          <a:solidFill>
                            <a:srgbClr val="0F172A"/>
                          </a:solidFill>
                        </a:rPr>
                        <a:t>Data hiding using image object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Gurukul Int. Multidisciplinary Research Journal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Full text not accessed; no figures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100" b="0">
                          <a:solidFill>
                            <a:srgbClr val="0F172A"/>
                          </a:solidFill>
                        </a:rPr>
                        <a:t>Chaotic encryption and CNN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7th ICMRA: hybrid steganography with chaotic encryption and a CNN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Full text not accessed; no figures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100" b="0">
                          <a:solidFill>
                            <a:srgbClr val="0F172A"/>
                          </a:solidFill>
                        </a:rPr>
                        <a:t>AES with hybrid DWT-DCT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Int. J. Advanced Research: AES encryption with a DWT-DCT transform-domain embedding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Full text not accessed; no figures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5760720" cy="429768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669280"/>
            <a:ext cx="5760720" cy="731520"/>
          </a:xfrm>
          <a:prstGeom prst="rect">
            <a:avLst/>
          </a:prstGeom>
          <a:noFill/>
        </p:spPr>
        <p:txBody>
          <a:bodyPr wrap="square" lIns="0" rIns="0" tIns="0" bIns="0" anchor="t">
            <a:spAutoFit/>
          </a:bodyPr>
          <a:lstStyle/>
          <a:p>
            <a:pPr algn="l">
              <a:spcAft>
                <a:spcPts val="400"/>
              </a:spcAft>
            </a:pPr>
            <a:r>
              <a:rPr sz="1200" b="0" i="1">
                <a:solidFill>
                  <a:srgbClr val="475569"/>
                </a:solidFill>
              </a:rPr>
              <a:t>Reported in [3] for three cases at 3 bits per pixel; covers and payloads differ from ours, so this is context, not a target.</a:t>
            </a:r>
          </a:p>
        </p:txBody>
      </p:sp>
      <p:sp>
        <p:nvSpPr>
          <p:cNvPr id="28" name="TextBox 27"/>
          <p:cNvSpPr txBox="1"/>
          <p:nvPr/>
        </p:nvSpPr>
        <p:spPr>
          <a:xfrm>
            <a:off x="6583680" y="1325880"/>
            <a:ext cx="5074920" cy="5029200"/>
          </a:xfrm>
          <a:prstGeom prst="rect">
            <a:avLst/>
          </a:prstGeom>
          <a:noFill/>
        </p:spPr>
        <p:txBody>
          <a:bodyPr wrap="square" lIns="0" rIns="0" tIns="0" bIns="0" anchor="t">
            <a:spAutoFit/>
          </a:bodyPr>
          <a:lstStyle/>
          <a:p>
            <a:pPr algn="l">
              <a:spcAft>
                <a:spcPts val="800"/>
              </a:spcAft>
            </a:pPr>
            <a:r>
              <a:rPr sz="1500" b="1" i="0">
                <a:solidFill>
                  <a:srgbClr val="0F172A"/>
                </a:solidFill>
              </a:rPr>
              <a:t>What the literature and standards give us</a:t>
            </a:r>
          </a:p>
          <a:p>
            <a:pPr algn="l" marL="256032" indent="-201168">
              <a:spcAft>
                <a:spcPts val="800"/>
              </a:spcAft>
              <a:buChar char="•"/>
            </a:pPr>
            <a:r>
              <a:rPr sz="1500" b="0" i="0">
                <a:solidFill>
                  <a:srgbClr val="0F172A"/>
                </a:solidFill>
              </a:rPr>
              <a:t>LSB substitution is simple, and the change per value is at most 1, so images stay visually intact [10], [11].</a:t>
            </a:r>
          </a:p>
          <a:p>
            <a:pPr algn="l" marL="256032" indent="-201168">
              <a:spcAft>
                <a:spcPts val="800"/>
              </a:spcAft>
              <a:buChar char="•"/>
            </a:pPr>
            <a:r>
              <a:rPr sz="1500" b="0" i="0">
                <a:solidFill>
                  <a:srgbClr val="0F172A"/>
                </a:solidFill>
              </a:rPr>
              <a:t>AES (FIPS 197 [20]) in Galois/Counter Mode [21] gives confidentiality and an integrity tag.</a:t>
            </a:r>
          </a:p>
          <a:p>
            <a:pPr algn="l" marL="256032" indent="-201168">
              <a:spcAft>
                <a:spcPts val="800"/>
              </a:spcAft>
              <a:buChar char="•"/>
            </a:pPr>
            <a:r>
              <a:rPr sz="1500" b="0" i="0">
                <a:solidFill>
                  <a:srgbClr val="0F172A"/>
                </a:solidFill>
              </a:rPr>
              <a:t>RSA [22] with OAEP padding [23] wraps the session key for the receiver.</a:t>
            </a:r>
          </a:p>
          <a:p>
            <a:pPr algn="l" marL="256032" indent="-201168">
              <a:spcAft>
                <a:spcPts val="400"/>
              </a:spcAft>
              <a:buChar char="•"/>
            </a:pPr>
            <a:r>
              <a:rPr sz="1500" b="0" i="0">
                <a:solidFill>
                  <a:srgbClr val="0F172A"/>
                </a:solidFill>
              </a:rPr>
              <a:t>PSNR and SSIM [26] are the usual imperceptibility measures; chi-square and weighted-stego analysis [15], [18] show that LSB changes can still be detected.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Sensitive file</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Encrypt (or not)</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Send over the network</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Receiver decrypts</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Encryption only, or hiding only</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800" b="0" i="0">
                <a:solidFill>
                  <a:srgbClr val="475569"/>
                </a:solidFill>
              </a:rPr>
              <a:t>Encryption alone makes the transfer look like what it is: a secret on the move.
Hiding alone gives no protection once the payload is found.
Both are used separately in most tools.</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Symmetric keys and plain LSB</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800" b="0" i="0">
                <a:solidFill>
                  <a:srgbClr val="475569"/>
                </a:solidFill>
              </a:rPr>
              <a:t>Symmetric encryption is fast, but sharing its key over the same channel is the weak point.
Naive LSB embedding with no care for capacity or measurement can degrade the cover.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Visible secrecy</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Encryption alone signals that sensitive data is being transmitted, which invites attack.</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Single layer</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Steganography alone offers no protection once the hidden payload is discovered.</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Key exchange</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Symmetric encryption is fast but its key exchange remains the weak point; a shared secret must travel first.</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Detectable LSB</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Naive LSB embedding degrades the cover image and is detectable by steganalysis, especially when much of the capacity is used.</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400" b="0" i="0">
                <a:solidFill>
                  <a:srgbClr val="0F172A"/>
                </a:solidFill>
              </a:rPr>
              <a:t>The base paper adds: circuit privacy is only heuristic, cost grows with image size, and no imperceptibility or capacity figures are given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28016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188720"/>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The surveyed work advances steganography and encryption independently, including provably secure constructions; a practical hybrid AES-RSA plus LSB pipeline evaluated end to end on capacity, imperceptibility and speed is missing</a:t>
            </a:r>
          </a:p>
        </p:txBody>
      </p:sp>
      <p:sp>
        <p:nvSpPr>
          <p:cNvPr id="28" name="Oval 27"/>
          <p:cNvSpPr/>
          <p:nvPr/>
        </p:nvSpPr>
        <p:spPr>
          <a:xfrm>
            <a:off x="548640" y="2304288"/>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212848"/>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The base paper targets computation on hidden bits by an untrusted party; it reports no PSNR, SSIM or capacity for a sender-to-receiver file transfer [1]</a:t>
            </a:r>
          </a:p>
        </p:txBody>
      </p:sp>
      <p:sp>
        <p:nvSpPr>
          <p:cNvPr id="30" name="Oval 29"/>
          <p:cNvSpPr/>
          <p:nvPr/>
        </p:nvSpPr>
        <p:spPr>
          <a:xfrm>
            <a:off x="548640" y="3328416"/>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236976"/>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Closest practical work uses a symmetric cipher with a pre-shared secret [3]: the key-exchange weakness named in the problem statement stays open</a:t>
            </a:r>
          </a:p>
        </p:txBody>
      </p:sp>
      <p:sp>
        <p:nvSpPr>
          <p:cNvPr id="32" name="Oval 31"/>
          <p:cNvSpPr/>
          <p:nvPr/>
        </p:nvSpPr>
        <p:spPr>
          <a:xfrm>
            <a:off x="548640" y="4352544"/>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4261104"/>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Visual quality is usually reported alone; robustness to re-encoding and detectability by statistics [15], [18] are rarely shown next to it</a:t>
            </a:r>
          </a:p>
        </p:txBody>
      </p:sp>
      <p:sp>
        <p:nvSpPr>
          <p:cNvPr id="34" name="Oval 33"/>
          <p:cNvSpPr/>
          <p:nvPr/>
        </p:nvSpPr>
        <p:spPr>
          <a:xfrm>
            <a:off x="548640" y="5376672"/>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5285232"/>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Lightweight-cipher steganography is studied at hardware level [2]; a working software tool with key handling and measurements is not provided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Encryption alone signals that sensitive data is being transmitted, inviting attack</a:t>
            </a:r>
          </a:p>
          <a:p>
            <a:pPr algn="l" marL="256032" indent="-201168">
              <a:spcAft>
                <a:spcPts val="800"/>
              </a:spcAft>
              <a:buChar char="•"/>
            </a:pPr>
            <a:r>
              <a:rPr sz="1800" b="0" i="0">
                <a:solidFill>
                  <a:srgbClr val="0F172A"/>
                </a:solidFill>
              </a:rPr>
              <a:t>Steganography alone offers no protection once the hidden payload is discovered</a:t>
            </a:r>
          </a:p>
          <a:p>
            <a:pPr algn="l" marL="256032" indent="-201168">
              <a:spcAft>
                <a:spcPts val="800"/>
              </a:spcAft>
              <a:buChar char="•"/>
            </a:pPr>
            <a:r>
              <a:rPr sz="1800" b="0" i="0">
                <a:solidFill>
                  <a:srgbClr val="0F172A"/>
                </a:solidFill>
              </a:rPr>
              <a:t>Symmetric encryption is fast, but its key exchange remains the weak point</a:t>
            </a:r>
          </a:p>
          <a:p>
            <a:pPr algn="l" marL="256032" indent="-201168">
              <a:spcAft>
                <a:spcPts val="800"/>
              </a:spcAft>
              <a:buChar char="•"/>
            </a:pPr>
            <a:r>
              <a:rPr sz="1800" b="0" i="0">
                <a:solidFill>
                  <a:srgbClr val="0F172A"/>
                </a:solidFill>
              </a:rPr>
              <a:t>Naive LSB embedding degrades the cover image and is detectable by steganalysis</a:t>
            </a:r>
          </a:p>
          <a:p>
            <a:pPr algn="l" marL="256032" indent="-201168">
              <a:spcAft>
                <a:spcPts val="800"/>
              </a:spcAft>
              <a:buChar char="•"/>
            </a:pPr>
            <a:r>
              <a:rPr sz="1800" b="0" i="0">
                <a:solidFill>
                  <a:srgbClr val="0F172A"/>
                </a:solidFill>
              </a:rPr>
              <a:t>Need: a two-layer scheme that encrypts data with hybrid AES-RSA and hides the result imperceptibly inside a cover image</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A confidential file, the receiver's RSA public key and a PNG or other RGB cover image</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A stego PNG that looks like the cover; at the receiver the original file, with matching SHA-256 hashes</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Measures</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PSNR, SSIM, bits per pixel of capacity, time per stage and which attacks the payload survives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200" b="0" i="0">
                <a:solidFill>
                  <a:srgbClr val="0F172A"/>
                </a:solidFill>
              </a:rPr>
              <a:t>1.  Implement AES encryption for the secret payload and RSA encryption for the AES key</a:t>
            </a:r>
          </a:p>
          <a:p>
            <a:pPr algn="l">
              <a:spcAft>
                <a:spcPts val="1400"/>
              </a:spcAft>
            </a:pPr>
            <a:r>
              <a:rPr sz="2200" b="0" i="0">
                <a:solidFill>
                  <a:srgbClr val="0F172A"/>
                </a:solidFill>
              </a:rPr>
              <a:t>2.  Build a secure key generation and exchange mechanism between sender and receiver</a:t>
            </a:r>
          </a:p>
          <a:p>
            <a:pPr algn="l">
              <a:spcAft>
                <a:spcPts val="1400"/>
              </a:spcAft>
            </a:pPr>
            <a:r>
              <a:rPr sz="2200" b="0" i="0">
                <a:solidFill>
                  <a:srgbClr val="0F172A"/>
                </a:solidFill>
              </a:rPr>
              <a:t>3.  Embed the encrypted payload into a cover image using LSB steganography</a:t>
            </a:r>
          </a:p>
          <a:p>
            <a:pPr algn="l">
              <a:spcAft>
                <a:spcPts val="1400"/>
              </a:spcAft>
            </a:pPr>
            <a:r>
              <a:rPr sz="2200" b="0" i="0">
                <a:solidFill>
                  <a:srgbClr val="0F172A"/>
                </a:solidFill>
              </a:rPr>
              <a:t>4.  Implement the extraction and decryption path to recover the original data</a:t>
            </a:r>
          </a:p>
          <a:p>
            <a:pPr algn="l">
              <a:spcAft>
                <a:spcPts val="1400"/>
              </a:spcAft>
            </a:pPr>
            <a:r>
              <a:rPr sz="2200" b="0" i="0">
                <a:solidFill>
                  <a:srgbClr val="0F172A"/>
                </a:solidFill>
              </a:rPr>
              <a:t>5.  Measure imperceptibility using PSNR and SSIM against the original cover image</a:t>
            </a:r>
          </a:p>
          <a:p>
            <a:pPr algn="l">
              <a:spcAft>
                <a:spcPts val="1400"/>
              </a:spcAft>
            </a:pPr>
            <a:r>
              <a:rPr sz="2200" b="0" i="0">
                <a:solidFill>
                  <a:srgbClr val="0F172A"/>
                </a:solidFill>
              </a:rPr>
              <a:t>6.  Evaluate embedding capacity, processing time and robustness of the combined scheme</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400" b="0" i="1">
                <a:solidFill>
                  <a:srgbClr val="475569"/>
                </a:solidFill>
              </a:rPr>
              <a:t>No dataset is needed: evaluation uses six public-domain or generated cover images and four synthetic payload files.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Encrypt</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AES-256-GCM with a fresh key and nonce for every message; a small header carries the file name, size and SHA-256.</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Wrap the key</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The AES key is wrapped with the receiver's RSA public key using OAEP (SHA-256); keys of 2048, 3072 or 4096 bits.</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Hide</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The bundle is written into the lowest bit of each R, G, B value after a capacity check; the output is a PNG.</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Recover and verify</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Extract, unwrap, check the GCM tag and compare hashes: the file comes back byte for byte or not at all.</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UI</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FastAPI service + React console: keys, send, receive, analysis, robustness and log screens</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PSNR, SSIM, histograms and bit planes show how visible the change is; nine attack tests show what the hidden data survives. No GPU is needed.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548640" y="1187291"/>
            <a:ext cx="6858000" cy="5214937"/>
          </a:xfrm>
          <a:prstGeom prst="rect">
            <a:avLst/>
          </a:prstGeom>
        </p:spPr>
      </p:pic>
      <p:sp>
        <p:nvSpPr>
          <p:cNvPr id="27" name="TextBox 26"/>
          <p:cNvSpPr txBox="1"/>
          <p:nvPr/>
        </p:nvSpPr>
        <p:spPr>
          <a:xfrm>
            <a:off x="7589520" y="1371600"/>
            <a:ext cx="4023360" cy="4754880"/>
          </a:xfrm>
          <a:prstGeom prst="rect">
            <a:avLst/>
          </a:prstGeom>
          <a:noFill/>
        </p:spPr>
        <p:txBody>
          <a:bodyPr wrap="square" lIns="0" rIns="0" tIns="0" bIns="0" anchor="t">
            <a:spAutoFit/>
          </a:bodyPr>
          <a:lstStyle/>
          <a:p>
            <a:pPr algn="l">
              <a:spcAft>
                <a:spcPts val="800"/>
              </a:spcAft>
            </a:pPr>
            <a:r>
              <a:rPr sz="1600" b="1" i="0">
                <a:solidFill>
                  <a:srgbClr val="0F172A"/>
                </a:solidFill>
              </a:rPr>
              <a:t>Four tiers</a:t>
            </a:r>
          </a:p>
          <a:p>
            <a:pPr algn="l" marL="256032" indent="-201168">
              <a:spcAft>
                <a:spcPts val="400"/>
              </a:spcAft>
              <a:buChar char="•"/>
            </a:pPr>
            <a:r>
              <a:rPr sz="1600" b="0" i="0">
                <a:solidFill>
                  <a:srgbClr val="0F172A"/>
                </a:solidFill>
              </a:rPr>
              <a:t>Presentation: React and Vite console (port 5315).</a:t>
            </a:r>
          </a:p>
          <a:p>
            <a:pPr algn="l" marL="256032" indent="-201168">
              <a:spcAft>
                <a:spcPts val="400"/>
              </a:spcAft>
              <a:buChar char="•"/>
            </a:pPr>
            <a:r>
              <a:rPr sz="1600" b="0" i="0">
                <a:solidFill>
                  <a:srgbClr val="0F172A"/>
                </a:solidFill>
              </a:rPr>
              <a:t>Application: FastAPI service (port 8315) with token sign-in and input checks.</a:t>
            </a:r>
          </a:p>
          <a:p>
            <a:pPr algn="l" marL="256032" indent="-201168">
              <a:spcAft>
                <a:spcPts val="400"/>
              </a:spcAft>
              <a:buChar char="•"/>
            </a:pPr>
            <a:r>
              <a:rPr sz="1600" b="0" i="0">
                <a:solidFill>
                  <a:srgbClr val="0F172A"/>
                </a:solidFill>
              </a:rPr>
              <a:t>Services: AES-GCM and RSA-OAEP, LSB embedder, PSNR and SSIM, robustness attacks and benchmark.</a:t>
            </a:r>
          </a:p>
          <a:p>
            <a:pPr algn="l" marL="256032" indent="-201168">
              <a:spcAft>
                <a:spcPts val="400"/>
              </a:spcAft>
              <a:buChar char="•"/>
            </a:pPr>
            <a:r>
              <a:rPr sz="1600" b="0" i="0">
                <a:solidFill>
                  <a:srgbClr val="0F172A"/>
                </a:solidFill>
              </a:rPr>
              <a:t>State: SQLite for users, keypairs and the operation log, plus image files on disk.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double layer</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A tool that encrypts, hides, extracts and decrypts a file, with key management for sender and receiver.</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Byte-exact recovery</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Original file restored exactly, and any tampering or wrong key rejected instead of releasing wrong data.</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Imperceptible hiding</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PSNR above 50 dB and SSIM near 1 against the cover; histograms and bit planes as evidence.</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Capacity and speed</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700" b="0" i="0">
                <a:solidFill>
                  <a:srgbClr val="475569"/>
                </a:solidFill>
              </a:rPr>
              <a:t>Bits per pixel, bytes per cover and time per stage measured on several covers and payload sizes.</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robustness</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700" b="0" i="0">
                <a:solidFill>
                  <a:srgbClr val="475569"/>
                </a:solidFill>
              </a:rPr>
              <a:t>Which attacks the payload survives, which destroy it, and how detectable it is by statistics; limits stated, not hidden.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097280"/>
            <a:ext cx="11091672" cy="5394960"/>
          </a:xfrm>
          <a:prstGeom prst="rect">
            <a:avLst/>
          </a:prstGeom>
          <a:noFill/>
        </p:spPr>
        <p:txBody>
          <a:bodyPr wrap="square" lIns="0" rIns="0" tIns="0" bIns="0" anchor="t">
            <a:spAutoFit/>
          </a:bodyPr>
          <a:lstStyle/>
          <a:p>
            <a:pPr algn="l">
              <a:spcAft>
                <a:spcPts val="200"/>
              </a:spcAft>
            </a:pPr>
            <a:r>
              <a:rPr sz="1150" b="0" i="0">
                <a:solidFill>
                  <a:srgbClr val="0F172A"/>
                </a:solidFill>
              </a:rPr>
              <a:t>[1] S. Ahmad and S. Rass, "ProSt: Provably secure homomorphic steganography," IEEE Access, vol. 14, pp. 14393-14409, 2026, doi: 10.1109/ACCESS.2026.3656995.</a:t>
            </a:r>
          </a:p>
          <a:p>
            <a:pPr algn="l">
              <a:spcAft>
                <a:spcPts val="200"/>
              </a:spcAft>
            </a:pPr>
            <a:r>
              <a:rPr sz="1150" b="0" i="0">
                <a:solidFill>
                  <a:srgbClr val="0F172A"/>
                </a:solidFill>
              </a:rPr>
              <a:t>[2] S. E. Fatemieh, R. Shahdi Alizadeh, and E. Zarezadeh, "Design of memristive lightweight encryption for in-memory image steganography," arXiv:2605.03494, May 2026.</a:t>
            </a:r>
          </a:p>
          <a:p>
            <a:pPr algn="l">
              <a:spcAft>
                <a:spcPts val="200"/>
              </a:spcAft>
            </a:pPr>
            <a:r>
              <a:rPr sz="1150" b="0" i="0">
                <a:solidFill>
                  <a:srgbClr val="0F172A"/>
                </a:solidFill>
              </a:rPr>
              <a:t>[3] S. R. Raiyan and M. H. Kabir, "SCReedSolo: A secure and robust LSB image steganography framework with randomized symmetric encryption and Reed-Solomon coding," arXiv:2503.12368, 2025 (ACPR 2025).</a:t>
            </a:r>
          </a:p>
          <a:p>
            <a:pPr algn="l">
              <a:spcAft>
                <a:spcPts val="200"/>
              </a:spcAft>
            </a:pPr>
            <a:r>
              <a:rPr sz="1150" b="0" i="0">
                <a:solidFill>
                  <a:srgbClr val="0F172A"/>
                </a:solidFill>
              </a:rPr>
              <a:t>[4] B. Kukreja and S. Malik, "An steganography-based triple layered image data hiding using visual cryptography," 2024 (authors as listed on the Authorea preprint page; venue and year of formal publication not confirmed).</a:t>
            </a:r>
          </a:p>
          <a:p>
            <a:pPr algn="l">
              <a:spcAft>
                <a:spcPts val="200"/>
              </a:spcAft>
            </a:pPr>
            <a:r>
              <a:rPr sz="1150" b="0" i="0">
                <a:solidFill>
                  <a:srgbClr val="0F172A"/>
                </a:solidFill>
              </a:rPr>
              <a:t>[5] "Steganography - data hiding using image object," Gurukul International Multidisciplinary Research Journal, 2024.</a:t>
            </a:r>
          </a:p>
          <a:p>
            <a:pPr algn="l">
              <a:spcAft>
                <a:spcPts val="200"/>
              </a:spcAft>
            </a:pPr>
            <a:r>
              <a:rPr sz="1150" b="0" i="0">
                <a:solidFill>
                  <a:srgbClr val="0F172A"/>
                </a:solidFill>
              </a:rPr>
              <a:t>[6] "Hybrid steganography: Leveraging chaotic encryption and CNN for robust image hiding," in Proc. 7th Int. Conf. Mechatronics, Robotics and Automation (ICMRA), 2024.</a:t>
            </a:r>
          </a:p>
          <a:p>
            <a:pPr algn="l">
              <a:spcAft>
                <a:spcPts val="200"/>
              </a:spcAft>
            </a:pPr>
            <a:r>
              <a:rPr sz="1150" b="0" i="0">
                <a:solidFill>
                  <a:srgbClr val="0F172A"/>
                </a:solidFill>
              </a:rPr>
              <a:t>[7] "Enhanced image steganography with AES encryption and hybrid DWT-DCT transform for secure data hiding," International Journal of Advanced Research, 2025.</a:t>
            </a:r>
          </a:p>
          <a:p>
            <a:pPr algn="l">
              <a:spcAft>
                <a:spcPts val="200"/>
              </a:spcAft>
            </a:pPr>
            <a:r>
              <a:rPr sz="1150" b="0" i="0">
                <a:solidFill>
                  <a:srgbClr val="0F172A"/>
                </a:solidFill>
              </a:rPr>
              <a:t>[8] J. Fridrich, Steganography in Digital Media: Principles, Algorithms, and Applications. Cambridge, U.K.: Cambridge Univ. Press, 2009.</a:t>
            </a:r>
          </a:p>
          <a:p>
            <a:pPr algn="l">
              <a:spcAft>
                <a:spcPts val="200"/>
              </a:spcAft>
            </a:pPr>
            <a:r>
              <a:rPr sz="1150" b="0" i="0">
                <a:solidFill>
                  <a:srgbClr val="0F172A"/>
                </a:solidFill>
              </a:rPr>
              <a:t>[15] A. Westfeld and A. Pfitzmann, "Attacks on steganographic systems," in Information Hiding (IH 1999), Lecture Notes in Computer Science, vol. 1768. Berlin, Germany: Springer, 2000, pp. 61-76.</a:t>
            </a:r>
          </a:p>
          <a:p>
            <a:pPr algn="l">
              <a:spcAft>
                <a:spcPts val="200"/>
              </a:spcAft>
            </a:pPr>
            <a:r>
              <a:rPr sz="1150" b="0" i="0">
                <a:solidFill>
                  <a:srgbClr val="0F172A"/>
                </a:solidFill>
              </a:rPr>
              <a:t>[18] J. Fridrich and M. Goljan, "On estimation of secret message length in LSB steganography in spatial domain," in Proc. SPIE, vol. 5306, Security, Steganography, and Watermarking of Multimedia Contents VI, 2004, pp. 23-34.</a:t>
            </a:r>
          </a:p>
          <a:p>
            <a:pPr algn="l">
              <a:spcAft>
                <a:spcPts val="200"/>
              </a:spcAft>
            </a:pPr>
            <a:r>
              <a:rPr sz="1150" b="0" i="0">
                <a:solidFill>
                  <a:srgbClr val="0F172A"/>
                </a:solidFill>
              </a:rPr>
              <a:t>[20] Advanced Encryption Standard (AES), Federal Information Processing Standards Publication 197, NIST, Nov. 2001.</a:t>
            </a:r>
          </a:p>
          <a:p>
            <a:pPr algn="l">
              <a:spcAft>
                <a:spcPts val="200"/>
              </a:spcAft>
            </a:pPr>
            <a:r>
              <a:rPr sz="1150" b="0" i="0">
                <a:solidFill>
                  <a:srgbClr val="0F172A"/>
                </a:solidFill>
              </a:rPr>
              <a:t>[21] M. Dworkin, "Recommendation for block cipher modes of operation: Galois/Counter Mode (GCM) and GMAC," NIST Special Publication 800-38D, Nov. 2007.</a:t>
            </a:r>
          </a:p>
          <a:p>
            <a:pPr algn="l">
              <a:spcAft>
                <a:spcPts val="200"/>
              </a:spcAft>
            </a:pPr>
            <a:r>
              <a:rPr sz="1150" b="0" i="0">
                <a:solidFill>
                  <a:srgbClr val="0F172A"/>
                </a:solidFill>
              </a:rPr>
              <a:t>[22] R. L. Rivest, A. Shamir, and L. Adleman, "A method for obtaining digital signatures and public-key cryptosystems," Communications of the ACM, vol. 21, no. 2, pp. 120-126, Feb. 1978.</a:t>
            </a:r>
          </a:p>
          <a:p>
            <a:pPr algn="l">
              <a:spcAft>
                <a:spcPts val="200"/>
              </a:spcAft>
            </a:pPr>
            <a:r>
              <a:rPr sz="1150" b="0" i="0">
                <a:solidFill>
                  <a:srgbClr val="0F172A"/>
                </a:solidFill>
              </a:rPr>
              <a:t>[23] K. Moriarty, B. Kaliski, J. Jonsson, and A. Rusch, "PKCS #1: RSA cryptography specifications version 2.2," IETF RFC 8017, Nov. 2016.</a:t>
            </a:r>
          </a:p>
          <a:p>
            <a:pPr algn="l">
              <a:spcAft>
                <a:spcPts val="200"/>
              </a:spcAft>
            </a:pPr>
            <a:r>
              <a:rPr sz="1150" b="0" i="0">
                <a:solidFill>
                  <a:srgbClr val="0F172A"/>
                </a:solidFill>
              </a:rPr>
              <a:t>[26] Z. Wang, A. C. Bovik, H. R. Sheikh, and E. P. Simoncelli, "Image quality assessment: From error visibility to structural similarity," IEEE Trans. Image Processing, vol. 13, no. 4, pp. 600-612, Apr. 2004.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ipherVeil">
  <a:themeElements>
    <a:clrScheme name="CipherVeil">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CipherVei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ipherVeil">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Protection Using Hybrid Encryption and Steganography: Review 1</dc:title>
  <dc:subject>Batch A15 (CSE-A)</dc:subject>
  <dc:creator>Allam Rakesh, Bolleddu Shanker, Agaram Sri Sarvagna, B Akshay</dc:creator>
  <cp:lastModifiedBy/>
  <cp:revision>1</cp:revision>
  <dcterms:created xsi:type="dcterms:W3CDTF">2026-10-13T12:36:40Z</dcterms:created>
  <dcterms:modified xsi:type="dcterms:W3CDTF">2026-10-13T12:36:40Z</dcterms:modified>
  <cp:keywords>hybrid encryption, AES, RSA, steganography, LSB, data security, information hiding</cp:keywords>
  <dc:description/>
</cp:coreProperties>
</file>