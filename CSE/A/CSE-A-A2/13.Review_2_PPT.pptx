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623e47-5b1a-7aef-5476-75bff30165c3}">
          <p14:sldIdLst>
            <p14:sldId id="256"/>
            <p14:sldId id="257"/>
            <p14:sldId id="258"/>
          </p14:sldIdLst>
        </p14:section>
        <p14:section name="Design" id="{ee3f979a-aefa-c88f-8568-1021737ba133}">
          <p14:sldIdLst>
            <p14:sldId id="259"/>
            <p14:sldId id="260"/>
            <p14:sldId id="261"/>
            <p14:sldId id="262"/>
            <p14:sldId id="263"/>
            <p14:sldId id="264"/>
            <p14:sldId id="265"/>
            <p14:sldId id="266"/>
            <p14:sldId id="267"/>
            <p14:sldId id="268"/>
          </p14:sldIdLst>
        </p14:section>
        <p14:section name="Progress" id="{cf39a97a-7fb0-4c7a-0650-0fb3a5c44815}">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review shows how ResQAI is designed and built: data, models, what is implemented, the first measured results and the open items.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for the design and progress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One-minute recap of Review 1: the delay and severity problem, our two-model approach with a confirmation step, and how the base paper relates (a different task on recorded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routes are in app.py and auth.py. The model objects are loaded once. Storage is local JSON; readings, predictions and alerts are not stored.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design principles: one decision path, honest fallbacks, and numbers that come from scripts.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frank: the data are synthetic, drawn from the same generator the live simulator uses. That makes detection easy (a single threshold separates the classes) and the metrics optimistic; it is also why potholes and speed breakers, which the generator never produces, are an open question.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Preprocessing is light: defaults, two derived magnitudes and scaling. The finding at the bottom comes from the ablation study.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forests of the same family, one for the binary decision and one for the grade. The gate in the application forces the grade to None whenever the detector says no accident. The pickles were written with scikit-learn 1.9.0 and load here under 1.5.0 with a warning; a fresh retrain agrees on 100 % of the 2,400 test events.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Settings come straight from train_models.py. The threshold sweep shows a wide plateau: no tuning was needed, which again reflects how separable the synthetic classes are.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decision logic is a few lines of code. The confirmation step is the only protection against false alarms in the live app; its effect on real users was not measured.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Level-1 data flow: reading, detection and grading, confirmation, location and hospital ranking, dispatch. The table maps each step to the function in the code.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deliberate simplification for a demonstration: two JSON files and four pickles. A real deployment would store alerts and tie them to accounts.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Everything is open source and runs on a laptop. The requirements file is unpinned, which matters because the shipped pickles were written with a newer scikit-learn than the one used for these measurements.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of the code base. The honest gaps: real sensing, real delivery, road-surface events and validation of malformed input.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Detector 1.000 on 2,400 events: 1,923 non-accidents and 477 accidents, no error. Severity: one error, a Minor crash graded Moderate. Five-seed repeat: severity accuracy 0.99875 plus or minus 0.00066, macro-F1 0.99501 plus or minus 0.00293. These are pipeline checks on synthetic data, not road performance.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of the running console with simulated sensor data flowing through the real models. The dispatch is a displayed message; nothing is sent.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Tests ran against the real models. The failures are findings: the product code was left untouched and each is documented in the report.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challenge was met by a concrete step or by measuring it and saying so in the report.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 to the final review and beyond. The first two items address the biggest honest gap: synthetic data and untested road-surface events.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a random forest; why detection is 100 percent (separable synthetic classes); what happens with potholes; whether alerts are really sent (no).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ResQAI  ·  Review 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xml"/><Relationship Id="rId3" Type="http://schemas.openxmlformats.org/officeDocument/2006/relationships/notesSlide" Target="../notesSlides/notesSlide15.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1.png"/><Relationship Id="rId3" Type="http://schemas.openxmlformats.org/officeDocument/2006/relationships/slideLayout" Target="../slideLayouts/slideLayout3.xml"/><Relationship Id="rId4" Type="http://schemas.openxmlformats.org/officeDocument/2006/relationships/notesSlide" Target="../notesSlides/notesSlide16.xml"/><Relationship Id="rId5" Type="http://schemas.openxmlformats.org/officeDocument/2006/relationships/image" Target="../media/image13.png"/><Relationship Id="rId6"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400" b="1" dirty="0">
                <a:solidFill>
                  <a:srgbClr val="FFFFFF"/>
                </a:solidFill>
                <a:latin typeface="Cambria" pitchFamily="34" charset="0"/>
                <a:ea typeface="Cambria" pitchFamily="34" charset="-122"/>
                <a:cs typeface="Cambria" pitchFamily="34" charset="-120"/>
              </a:rPr>
              <a:t>ResQAI</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Design, methodology and progress: from a simulated sensor reading to a confirmed, located emergency alert</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2  ·  DESIGN, METHODOLOGY AND PROGRESS</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Adepu Meenakshi  23K91A0503</a:t>
            </a:r>
            <a:endParaRPr lang="en-US" sz="1500" dirty="0"/>
          </a:p>
          <a:p>
            <a:pPr indent="0" marL="0">
              <a:buNone/>
            </a:pPr>
            <a:r>
              <a:rPr lang="en-US" sz="1500" dirty="0">
                <a:solidFill>
                  <a:srgbClr val="FFFFFF"/>
                </a:solidFill>
              </a:rPr>
              <a:t>Ayila Shanmukha Sai  23K91A0521</a:t>
            </a:r>
            <a:endParaRPr lang="en-US" sz="1500" dirty="0"/>
          </a:p>
          <a:p>
            <a:pPr indent="0" marL="0">
              <a:buNone/>
            </a:pPr>
            <a:r>
              <a:rPr lang="en-US" sz="1500" dirty="0">
                <a:solidFill>
                  <a:srgbClr val="FFFFFF"/>
                </a:solidFill>
              </a:rPr>
              <a:t>Chekka Chandrashekhar  23K91A0552</a:t>
            </a:r>
            <a:endParaRPr lang="en-US" sz="1500" dirty="0"/>
          </a:p>
          <a:p>
            <a:pPr indent="0" marL="0">
              <a:buNone/>
            </a:pPr>
            <a:r>
              <a:rPr lang="en-US" sz="1500" dirty="0">
                <a:solidFill>
                  <a:srgbClr val="FFFFFF"/>
                </a:solidFill>
              </a:rPr>
              <a:t>Avula Sreeya  23K91A0519</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Shirisha Reddy,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A2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Recap and architecture</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Methodology and dataset</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Preprocessing and models</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Configuration and decision logic</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Data flow, database and UML</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Technology stack</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Implementation progress and results</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Output screens and testing</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Challenges and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Recap: problem and proposed system</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Problem</a:t>
            </a:r>
          </a:p>
        </p:txBody>
      </p:sp>
      <p:sp>
        <p:nvSpPr>
          <p:cNvPr id="29" name="TextBox 28"/>
          <p:cNvSpPr txBox="1"/>
          <p:nvPr/>
        </p:nvSpPr>
        <p:spPr>
          <a:xfrm>
            <a:off x="749808" y="2240280"/>
            <a:ext cx="3118104" cy="3474720"/>
          </a:xfrm>
          <a:prstGeom prst="rect">
            <a:avLst/>
          </a:prstGeom>
          <a:noFill/>
        </p:spPr>
        <p:txBody>
          <a:bodyPr wrap="square" lIns="0" rIns="0" tIns="0" bIns="0" anchor="t">
            <a:spAutoFit/>
          </a:bodyPr>
          <a:lstStyle/>
          <a:p>
            <a:pPr algn="l">
              <a:spcAft>
                <a:spcPts val="400"/>
              </a:spcAft>
            </a:pPr>
            <a:r>
              <a:rPr sz="1700" b="0" i="0">
                <a:solidFill>
                  <a:srgbClr val="475569"/>
                </a:solidFill>
              </a:rPr>
              <a:t>Victims of road accidents often cannot call for help, and crash detection that reports only an impact gives responders no severity to prioritise by. Dedicated crash hardware is costly and rare on two-wheelers.</a:t>
            </a:r>
          </a:p>
        </p:txBody>
      </p:sp>
      <p:sp>
        <p:nvSpPr>
          <p:cNvPr id="30" name="Rounded Rectangle 29"/>
          <p:cNvSpPr/>
          <p:nvPr/>
        </p:nvSpPr>
        <p:spPr>
          <a:xfrm>
            <a:off x="4334255"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Proposed system</a:t>
            </a:r>
          </a:p>
        </p:txBody>
      </p:sp>
      <p:sp>
        <p:nvSpPr>
          <p:cNvPr id="33" name="TextBox 32"/>
          <p:cNvSpPr txBox="1"/>
          <p:nvPr/>
        </p:nvSpPr>
        <p:spPr>
          <a:xfrm>
            <a:off x="4535423" y="2240280"/>
            <a:ext cx="3118104" cy="3474720"/>
          </a:xfrm>
          <a:prstGeom prst="rect">
            <a:avLst/>
          </a:prstGeom>
          <a:noFill/>
        </p:spPr>
        <p:txBody>
          <a:bodyPr wrap="square" lIns="0" rIns="0" tIns="0" bIns="0" anchor="t">
            <a:spAutoFit/>
          </a:bodyPr>
          <a:lstStyle/>
          <a:p>
            <a:pPr algn="l">
              <a:spcAft>
                <a:spcPts val="400"/>
              </a:spcAft>
            </a:pPr>
            <a:r>
              <a:rPr sz="1700" b="0" i="0">
                <a:solidFill>
                  <a:srgbClr val="475569"/>
                </a:solidFill>
              </a:rPr>
              <a:t>Smartphone-style sensor readings go to a crash detector and a severity model. A Moderate or Severe result opens a 15-second confirmation; if it is not cancelled, the location, the three nearest hospitals and a dispatch message are produced.</a:t>
            </a:r>
          </a:p>
        </p:txBody>
      </p:sp>
      <p:sp>
        <p:nvSpPr>
          <p:cNvPr id="34" name="Rounded Rectangle 33"/>
          <p:cNvSpPr/>
          <p:nvPr/>
        </p:nvSpPr>
        <p:spPr>
          <a:xfrm>
            <a:off x="8119871"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B</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Base paper link</a:t>
            </a:r>
          </a:p>
        </p:txBody>
      </p:sp>
      <p:sp>
        <p:nvSpPr>
          <p:cNvPr id="37" name="TextBox 36"/>
          <p:cNvSpPr txBox="1"/>
          <p:nvPr/>
        </p:nvSpPr>
        <p:spPr>
          <a:xfrm>
            <a:off x="8321040" y="2240280"/>
            <a:ext cx="3118104" cy="3474720"/>
          </a:xfrm>
          <a:prstGeom prst="rect">
            <a:avLst/>
          </a:prstGeom>
          <a:noFill/>
        </p:spPr>
        <p:txBody>
          <a:bodyPr wrap="square" lIns="0" rIns="0" tIns="0" bIns="0" anchor="t">
            <a:spAutoFit/>
          </a:bodyPr>
          <a:lstStyle/>
          <a:p>
            <a:pPr algn="l">
              <a:spcAft>
                <a:spcPts val="400"/>
              </a:spcAft>
            </a:pPr>
            <a:r>
              <a:rPr sz="1700" b="0" i="0">
                <a:solidFill>
                  <a:srgbClr val="475569"/>
                </a:solidFill>
              </a:rPr>
              <a:t>Wang, Liang and He grade crash severity from 30,442 recorded crashes with a multi-task FT-Transformer. We borrow severity grading and per-class metrics, but our task, data and models differ, so the results are not comparable.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System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pic>
        <p:nvPicPr>
          <p:cNvPr id="26" name="Picture 25" descr="01_system_architecture.png"/>
          <p:cNvPicPr>
            <a:picLocks noChangeAspect="1"/>
          </p:cNvPicPr>
          <p:nvPr/>
        </p:nvPicPr>
        <p:blipFill>
          <a:blip r:embed="rId1"/>
          <a:stretch>
            <a:fillRect/>
          </a:stretch>
        </p:blipFill>
        <p:spPr>
          <a:xfrm>
            <a:off x="949959" y="1188720"/>
            <a:ext cx="5689600" cy="5120640"/>
          </a:xfrm>
          <a:prstGeom prst="rect">
            <a:avLst/>
          </a:prstGeom>
        </p:spPr>
      </p:pic>
      <p:sp>
        <p:nvSpPr>
          <p:cNvPr id="27" name="TextBox 26"/>
          <p:cNvSpPr txBox="1"/>
          <p:nvPr/>
        </p:nvSpPr>
        <p:spPr>
          <a:xfrm>
            <a:off x="7315200" y="1371600"/>
            <a:ext cx="4297680" cy="4846320"/>
          </a:xfrm>
          <a:prstGeom prst="rect">
            <a:avLst/>
          </a:prstGeom>
          <a:noFill/>
        </p:spPr>
        <p:txBody>
          <a:bodyPr wrap="square" lIns="0" rIns="0" tIns="0" bIns="0" anchor="t">
            <a:spAutoFit/>
          </a:bodyPr>
          <a:lstStyle/>
          <a:p>
            <a:pPr algn="l">
              <a:spcAft>
                <a:spcPts val="800"/>
              </a:spcAft>
            </a:pPr>
            <a:r>
              <a:rPr sz="1600" b="1" i="0">
                <a:solidFill>
                  <a:srgbClr val="0F172A"/>
                </a:solidFill>
              </a:rPr>
              <a:t>Layers</a:t>
            </a:r>
          </a:p>
          <a:p>
            <a:pPr algn="l" marL="256032" indent="-201168">
              <a:spcAft>
                <a:spcPts val="400"/>
              </a:spcAft>
              <a:buChar char="•"/>
            </a:pPr>
            <a:r>
              <a:rPr sz="1600" b="0" i="0">
                <a:solidFill>
                  <a:srgbClr val="0F172A"/>
                </a:solidFill>
              </a:rPr>
              <a:t>Presentation: React 19 and Vite 8 console (port 5302), 6 screens.</a:t>
            </a:r>
          </a:p>
          <a:p>
            <a:pPr algn="l" marL="256032" indent="-201168">
              <a:spcAft>
                <a:spcPts val="400"/>
              </a:spcAft>
              <a:buChar char="•"/>
            </a:pPr>
            <a:r>
              <a:rPr sz="1600" b="0" i="0">
                <a:solidFill>
                  <a:srgbClr val="0F172A"/>
                </a:solidFill>
              </a:rPr>
              <a:t>Application: Flask 3 (port 8302): simulate, predict, hospitals, emergency, health and account routes.</a:t>
            </a:r>
          </a:p>
          <a:p>
            <a:pPr algn="l" marL="256032" indent="-201168">
              <a:spcAft>
                <a:spcPts val="400"/>
              </a:spcAft>
              <a:buChar char="•"/>
            </a:pPr>
            <a:r>
              <a:rPr sz="1600" b="0" i="0">
                <a:solidFill>
                  <a:srgbClr val="0F172A"/>
                </a:solidFill>
              </a:rPr>
              <a:t>Machine learning: scaler and two random forests loaded once at start-up.</a:t>
            </a:r>
          </a:p>
          <a:p>
            <a:pPr algn="l" marL="256032" indent="-201168">
              <a:spcAft>
                <a:spcPts val="400"/>
              </a:spcAft>
              <a:buChar char="•"/>
            </a:pPr>
            <a:r>
              <a:rPr sz="1600" b="0" i="0">
                <a:solidFill>
                  <a:srgbClr val="0F172A"/>
                </a:solidFill>
              </a:rPr>
              <a:t>Data: users.json, hospitals.json and four model pickles; no database.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Methodology: end-to-end workflow</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
        <p:nvSpPr>
          <p:cNvPr id="26" name="Rounded Rectangle 25"/>
          <p:cNvSpPr/>
          <p:nvPr/>
        </p:nvSpPr>
        <p:spPr>
          <a:xfrm>
            <a:off x="548640" y="1371600"/>
            <a:ext cx="1412094" cy="109728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Generate events</a:t>
            </a:r>
          </a:p>
        </p:txBody>
      </p:sp>
      <p:sp>
        <p:nvSpPr>
          <p:cNvPr id="27" name="Right Arrow 26"/>
          <p:cNvSpPr/>
          <p:nvPr/>
        </p:nvSpPr>
        <p:spPr>
          <a:xfrm>
            <a:off x="1960734"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161902" y="1371600"/>
            <a:ext cx="1412094" cy="109728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11 features</a:t>
            </a:r>
          </a:p>
        </p:txBody>
      </p:sp>
      <p:sp>
        <p:nvSpPr>
          <p:cNvPr id="29" name="Right Arrow 28"/>
          <p:cNvSpPr/>
          <p:nvPr/>
        </p:nvSpPr>
        <p:spPr>
          <a:xfrm>
            <a:off x="3573997"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775165" y="1371600"/>
            <a:ext cx="1412094" cy="109728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Scale</a:t>
            </a:r>
          </a:p>
        </p:txBody>
      </p:sp>
      <p:sp>
        <p:nvSpPr>
          <p:cNvPr id="31" name="Right Arrow 30"/>
          <p:cNvSpPr/>
          <p:nvPr/>
        </p:nvSpPr>
        <p:spPr>
          <a:xfrm>
            <a:off x="5187260"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388428" y="1371600"/>
            <a:ext cx="1412094" cy="109728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Detect (RF)</a:t>
            </a:r>
          </a:p>
        </p:txBody>
      </p:sp>
      <p:sp>
        <p:nvSpPr>
          <p:cNvPr id="33" name="Right Arrow 32"/>
          <p:cNvSpPr/>
          <p:nvPr/>
        </p:nvSpPr>
        <p:spPr>
          <a:xfrm>
            <a:off x="6800523"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001691" y="1371600"/>
            <a:ext cx="1412094" cy="109728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Grade (RF)</a:t>
            </a:r>
          </a:p>
        </p:txBody>
      </p:sp>
      <p:sp>
        <p:nvSpPr>
          <p:cNvPr id="35" name="Right Arrow 34"/>
          <p:cNvSpPr/>
          <p:nvPr/>
        </p:nvSpPr>
        <p:spPr>
          <a:xfrm>
            <a:off x="8413786"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614954" y="1371600"/>
            <a:ext cx="1412094" cy="109728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Confirm 15 s</a:t>
            </a:r>
          </a:p>
        </p:txBody>
      </p:sp>
      <p:sp>
        <p:nvSpPr>
          <p:cNvPr id="37" name="Right Arrow 36"/>
          <p:cNvSpPr/>
          <p:nvPr/>
        </p:nvSpPr>
        <p:spPr>
          <a:xfrm>
            <a:off x="10027049"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228217" y="1371600"/>
            <a:ext cx="1412094" cy="109728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Locate + dispatch</a:t>
            </a:r>
          </a:p>
        </p:txBody>
      </p:sp>
      <p:sp>
        <p:nvSpPr>
          <p:cNvPr id="39" name="Rounded Rectangle 38"/>
          <p:cNvSpPr/>
          <p:nvPr/>
        </p:nvSpPr>
        <p:spPr>
          <a:xfrm>
            <a:off x="548640" y="2834640"/>
            <a:ext cx="352044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77240" y="2971800"/>
            <a:ext cx="3108960" cy="457200"/>
          </a:xfrm>
          <a:prstGeom prst="rect">
            <a:avLst/>
          </a:prstGeom>
          <a:noFill/>
        </p:spPr>
        <p:txBody>
          <a:bodyPr wrap="square" lIns="0" rIns="0" tIns="0" bIns="0" anchor="t">
            <a:spAutoFit/>
          </a:bodyPr>
          <a:lstStyle/>
          <a:p>
            <a:pPr algn="l">
              <a:spcAft>
                <a:spcPts val="400"/>
              </a:spcAft>
            </a:pPr>
            <a:r>
              <a:rPr sz="2000" b="1" i="0">
                <a:solidFill>
                  <a:srgbClr val="0F172A"/>
                </a:solidFill>
              </a:rPr>
              <a:t>One decision path</a:t>
            </a:r>
          </a:p>
        </p:txBody>
      </p:sp>
      <p:sp>
        <p:nvSpPr>
          <p:cNvPr id="41" name="TextBox 40"/>
          <p:cNvSpPr txBox="1"/>
          <p:nvPr/>
        </p:nvSpPr>
        <p:spPr>
          <a:xfrm>
            <a:off x="777240" y="3566160"/>
            <a:ext cx="3108960" cy="2468880"/>
          </a:xfrm>
          <a:prstGeom prst="rect">
            <a:avLst/>
          </a:prstGeom>
          <a:noFill/>
        </p:spPr>
        <p:txBody>
          <a:bodyPr wrap="square" lIns="0" rIns="0" tIns="0" bIns="0" anchor="t">
            <a:spAutoFit/>
          </a:bodyPr>
          <a:lstStyle/>
          <a:p>
            <a:pPr algn="l">
              <a:spcAft>
                <a:spcPts val="400"/>
              </a:spcAft>
            </a:pPr>
            <a:r>
              <a:rPr sz="1600" b="0" i="0">
                <a:solidFill>
                  <a:srgbClr val="475569"/>
                </a:solidFill>
              </a:rPr>
              <a:t>predict_from_features runs scaler, detector and severity model in one place, so the web console, the tests and the measurement script exercise the same code.</a:t>
            </a:r>
          </a:p>
        </p:txBody>
      </p:sp>
      <p:sp>
        <p:nvSpPr>
          <p:cNvPr id="42" name="Rounded Rectangle 41"/>
          <p:cNvSpPr/>
          <p:nvPr/>
        </p:nvSpPr>
        <p:spPr>
          <a:xfrm>
            <a:off x="4334255" y="2834640"/>
            <a:ext cx="352044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562855" y="2971800"/>
            <a:ext cx="3108960" cy="457200"/>
          </a:xfrm>
          <a:prstGeom prst="rect">
            <a:avLst/>
          </a:prstGeom>
          <a:noFill/>
        </p:spPr>
        <p:txBody>
          <a:bodyPr wrap="square" lIns="0" rIns="0" tIns="0" bIns="0" anchor="t">
            <a:spAutoFit/>
          </a:bodyPr>
          <a:lstStyle/>
          <a:p>
            <a:pPr algn="l">
              <a:spcAft>
                <a:spcPts val="400"/>
              </a:spcAft>
            </a:pPr>
            <a:r>
              <a:rPr sz="2000" b="1" i="0">
                <a:solidFill>
                  <a:srgbClr val="0F172A"/>
                </a:solidFill>
              </a:rPr>
              <a:t>Honest fallbacks</a:t>
            </a:r>
          </a:p>
        </p:txBody>
      </p:sp>
      <p:sp>
        <p:nvSpPr>
          <p:cNvPr id="44" name="TextBox 43"/>
          <p:cNvSpPr txBox="1"/>
          <p:nvPr/>
        </p:nvSpPr>
        <p:spPr>
          <a:xfrm>
            <a:off x="4562855" y="3566160"/>
            <a:ext cx="3108960" cy="2468880"/>
          </a:xfrm>
          <a:prstGeom prst="rect">
            <a:avLst/>
          </a:prstGeom>
          <a:noFill/>
        </p:spPr>
        <p:txBody>
          <a:bodyPr wrap="square" lIns="0" rIns="0" tIns="0" bIns="0" anchor="t">
            <a:spAutoFit/>
          </a:bodyPr>
          <a:lstStyle/>
          <a:p>
            <a:pPr algn="l">
              <a:spcAft>
                <a:spcPts val="400"/>
              </a:spcAft>
            </a:pPr>
            <a:r>
              <a:rPr sz="1600" b="0" i="0">
                <a:solidFill>
                  <a:srgbClr val="475569"/>
                </a:solidFill>
              </a:rPr>
              <a:t>If the model files are missing, three acc_magnitude thresholds (15, 28, 45) answer instead and the response says rule_based_fallback.</a:t>
            </a:r>
          </a:p>
        </p:txBody>
      </p:sp>
      <p:sp>
        <p:nvSpPr>
          <p:cNvPr id="45" name="Rounded Rectangle 44"/>
          <p:cNvSpPr/>
          <p:nvPr/>
        </p:nvSpPr>
        <p:spPr>
          <a:xfrm>
            <a:off x="8119871" y="2834640"/>
            <a:ext cx="352044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348471" y="2971800"/>
            <a:ext cx="3108960" cy="457200"/>
          </a:xfrm>
          <a:prstGeom prst="rect">
            <a:avLst/>
          </a:prstGeom>
          <a:noFill/>
        </p:spPr>
        <p:txBody>
          <a:bodyPr wrap="square" lIns="0" rIns="0" tIns="0" bIns="0" anchor="t">
            <a:spAutoFit/>
          </a:bodyPr>
          <a:lstStyle/>
          <a:p>
            <a:pPr algn="l">
              <a:spcAft>
                <a:spcPts val="400"/>
              </a:spcAft>
            </a:pPr>
            <a:r>
              <a:rPr sz="2000" b="1" i="0">
                <a:solidFill>
                  <a:srgbClr val="0F172A"/>
                </a:solidFill>
              </a:rPr>
              <a:t>Measured, not typed</a:t>
            </a:r>
          </a:p>
        </p:txBody>
      </p:sp>
      <p:sp>
        <p:nvSpPr>
          <p:cNvPr id="47" name="TextBox 46"/>
          <p:cNvSpPr txBox="1"/>
          <p:nvPr/>
        </p:nvSpPr>
        <p:spPr>
          <a:xfrm>
            <a:off x="8348471" y="3566160"/>
            <a:ext cx="3108960" cy="2468880"/>
          </a:xfrm>
          <a:prstGeom prst="rect">
            <a:avLst/>
          </a:prstGeom>
          <a:noFill/>
        </p:spPr>
        <p:txBody>
          <a:bodyPr wrap="square" lIns="0" rIns="0" tIns="0" bIns="0" anchor="t">
            <a:spAutoFit/>
          </a:bodyPr>
          <a:lstStyle/>
          <a:p>
            <a:pPr algn="l">
              <a:spcAft>
                <a:spcPts val="400"/>
              </a:spcAft>
            </a:pPr>
            <a:r>
              <a:rPr sz="1600" b="0" i="0">
                <a:solidFill>
                  <a:srgbClr val="475569"/>
                </a:solidFill>
              </a:rPr>
              <a:t>scripts/measure_metrics.py, measure_api.py and run_tests.py write every reported number to experiments/resqai_eval; figures are drawn from those files.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Dataset and input sources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
        <p:nvSpPr>
          <p:cNvPr id="26" name="Rounded Rectangle 25"/>
          <p:cNvSpPr/>
          <p:nvPr/>
        </p:nvSpPr>
        <p:spPr>
          <a:xfrm>
            <a:off x="548640"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32588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12,000</a:t>
            </a:r>
          </a:p>
        </p:txBody>
      </p:sp>
      <p:sp>
        <p:nvSpPr>
          <p:cNvPr id="29" name="TextBox 28"/>
          <p:cNvSpPr txBox="1"/>
          <p:nvPr/>
        </p:nvSpPr>
        <p:spPr>
          <a:xfrm>
            <a:off x="749808"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synthetic events, seed 42</a:t>
            </a:r>
          </a:p>
        </p:txBody>
      </p:sp>
      <p:sp>
        <p:nvSpPr>
          <p:cNvPr id="30" name="Rounded Rectangle 29"/>
          <p:cNvSpPr/>
          <p:nvPr/>
        </p:nvSpPr>
        <p:spPr>
          <a:xfrm>
            <a:off x="3374136"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32588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11</a:t>
            </a:r>
          </a:p>
        </p:txBody>
      </p:sp>
      <p:sp>
        <p:nvSpPr>
          <p:cNvPr id="33" name="TextBox 32"/>
          <p:cNvSpPr txBox="1"/>
          <p:nvPr/>
        </p:nvSpPr>
        <p:spPr>
          <a:xfrm>
            <a:off x="3575304"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sensor features per event</a:t>
            </a:r>
          </a:p>
        </p:txBody>
      </p:sp>
      <p:sp>
        <p:nvSpPr>
          <p:cNvPr id="34" name="Rounded Rectangle 33"/>
          <p:cNvSpPr/>
          <p:nvPr/>
        </p:nvSpPr>
        <p:spPr>
          <a:xfrm>
            <a:off x="6199631"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32588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19.9%</a:t>
            </a:r>
          </a:p>
        </p:txBody>
      </p:sp>
      <p:sp>
        <p:nvSpPr>
          <p:cNvPr id="37" name="TextBox 36"/>
          <p:cNvSpPr txBox="1"/>
          <p:nvPr/>
        </p:nvSpPr>
        <p:spPr>
          <a:xfrm>
            <a:off x="6400799"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of events are crashes (2,387)</a:t>
            </a:r>
          </a:p>
        </p:txBody>
      </p:sp>
      <p:sp>
        <p:nvSpPr>
          <p:cNvPr id="38" name="Rounded Rectangle 37"/>
          <p:cNvSpPr/>
          <p:nvPr/>
        </p:nvSpPr>
        <p:spPr>
          <a:xfrm>
            <a:off x="9025128"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32588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9,600 / 2,400</a:t>
            </a:r>
          </a:p>
        </p:txBody>
      </p:sp>
      <p:sp>
        <p:nvSpPr>
          <p:cNvPr id="41" name="TextBox 40"/>
          <p:cNvSpPr txBox="1"/>
          <p:nvPr/>
        </p:nvSpPr>
        <p:spPr>
          <a:xfrm>
            <a:off x="9226296"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train / held-out test, stratified</a:t>
            </a:r>
          </a:p>
        </p:txBody>
      </p:sp>
      <p:pic>
        <p:nvPicPr>
          <p:cNvPr id="42" name="Picture 41" descr="f01_feature_separation.png"/>
          <p:cNvPicPr>
            <a:picLocks noChangeAspect="1"/>
          </p:cNvPicPr>
          <p:nvPr/>
        </p:nvPicPr>
        <p:blipFill>
          <a:blip r:embed="rId1"/>
          <a:stretch>
            <a:fillRect/>
          </a:stretch>
        </p:blipFill>
        <p:spPr>
          <a:xfrm>
            <a:off x="548639" y="2730927"/>
            <a:ext cx="6217920" cy="2356264"/>
          </a:xfrm>
          <a:prstGeom prst="rect">
            <a:avLst/>
          </a:prstGeom>
        </p:spPr>
      </p:pic>
      <p:sp>
        <p:nvSpPr>
          <p:cNvPr id="43" name="TextBox 42"/>
          <p:cNvSpPr txBox="1"/>
          <p:nvPr/>
        </p:nvSpPr>
        <p:spPr>
          <a:xfrm>
            <a:off x="6949440" y="2697480"/>
            <a:ext cx="4663440" cy="3566160"/>
          </a:xfrm>
          <a:prstGeom prst="rect">
            <a:avLst/>
          </a:prstGeom>
          <a:noFill/>
        </p:spPr>
        <p:txBody>
          <a:bodyPr wrap="square" lIns="0" rIns="0" tIns="0" bIns="0" anchor="t">
            <a:spAutoFit/>
          </a:bodyPr>
          <a:lstStyle/>
          <a:p>
            <a:pPr algn="l" marL="256032" indent="-201168">
              <a:spcAft>
                <a:spcPts val="900"/>
              </a:spcAft>
              <a:buChar char="•"/>
            </a:pPr>
            <a:r>
              <a:rPr sz="1400" b="0" i="0">
                <a:solidFill>
                  <a:srgbClr val="0F172A"/>
                </a:solidFill>
              </a:rPr>
              <a:t>No real crash recordings were available, so train_models.py generates events: normal driving 60 %, harsh braking 20 %, minor 10 %, moderate 6 %, severe crashes 4 %.</a:t>
            </a:r>
          </a:p>
          <a:p>
            <a:pPr algn="l" marL="256032" indent="-201168">
              <a:spcAft>
                <a:spcPts val="900"/>
              </a:spcAft>
              <a:buChar char="•"/>
            </a:pPr>
            <a:r>
              <a:rPr sz="1400" b="0" i="0">
                <a:solidFill>
                  <a:srgbClr val="0F172A"/>
                </a:solidFill>
              </a:rPr>
              <a:t>Realised counts: 7,289 normal, 2,324 braking, 1,215 minor, 725 moderate, 447 severe.</a:t>
            </a:r>
          </a:p>
          <a:p>
            <a:pPr algn="l" marL="256032" indent="-201168">
              <a:spcAft>
                <a:spcPts val="900"/>
              </a:spcAft>
              <a:buChar char="•"/>
            </a:pPr>
            <a:r>
              <a:rPr sz="1400" b="0" i="0">
                <a:solidFill>
                  <a:srgbClr val="0F172A"/>
                </a:solidFill>
              </a:rPr>
              <a:t>Crashes start above 15.3 m/s² and braking never exceeds 13.2: one gap separates the classes.</a:t>
            </a:r>
          </a:p>
          <a:p>
            <a:pPr algn="l" marL="256032" indent="-201168">
              <a:spcAft>
                <a:spcPts val="900"/>
              </a:spcAft>
              <a:buChar char="•"/>
            </a:pPr>
            <a:r>
              <a:rPr sz="1400" b="0" i="0">
                <a:solidFill>
                  <a:srgbClr val="0F172A"/>
                </a:solidFill>
              </a:rPr>
              <a:t>Not in the data: potholes, speed breakers, phone drops, sensor orientation, real noise.</a:t>
            </a:r>
          </a:p>
        </p:txBody>
      </p:sp>
      <p:sp>
        <p:nvSpPr>
          <p:cNvPr id="44" name="TextBox 43"/>
          <p:cNvSpPr txBox="1"/>
          <p:nvPr/>
        </p:nvSpPr>
        <p:spPr>
          <a:xfrm>
            <a:off x="548640" y="5303520"/>
            <a:ext cx="6217920" cy="914400"/>
          </a:xfrm>
          <a:prstGeom prst="rect">
            <a:avLst/>
          </a:prstGeom>
          <a:noFill/>
        </p:spPr>
        <p:txBody>
          <a:bodyPr wrap="square" lIns="0" rIns="0" tIns="0" bIns="0" anchor="t">
            <a:spAutoFit/>
          </a:bodyPr>
          <a:lstStyle/>
          <a:p>
            <a:pPr algn="l">
              <a:spcAft>
                <a:spcPts val="400"/>
              </a:spcAft>
            </a:pPr>
            <a:r>
              <a:rPr sz="1200" b="0" i="1">
                <a:solidFill>
                  <a:srgbClr val="475569"/>
                </a:solidFill>
              </a:rPr>
              <a:t>Left: acceleration magnitude by event kind (log scale) and magnitude against jerk. The gap between 13.2 and 15.3 m/s² is why detection is easy on this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preprocessing</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pic>
        <p:nvPicPr>
          <p:cNvPr id="26" name="Picture 25" descr="05_dfd_level2.png"/>
          <p:cNvPicPr>
            <a:picLocks noChangeAspect="1"/>
          </p:cNvPicPr>
          <p:nvPr/>
        </p:nvPicPr>
        <p:blipFill>
          <a:blip r:embed="rId3"/>
          <a:stretch>
            <a:fillRect/>
          </a:stretch>
        </p:blipFill>
        <p:spPr>
          <a:xfrm>
            <a:off x="548640" y="1391716"/>
            <a:ext cx="6309359" cy="4668926"/>
          </a:xfrm>
          <a:prstGeom prst="rect">
            <a:avLst/>
          </a:prstGeom>
        </p:spPr>
      </p:pic>
      <p:sp>
        <p:nvSpPr>
          <p:cNvPr id="27" name="TextBox 26"/>
          <p:cNvSpPr txBox="1"/>
          <p:nvPr/>
        </p:nvSpPr>
        <p:spPr>
          <a:xfrm>
            <a:off x="7132320" y="1371600"/>
            <a:ext cx="4480560" cy="4754880"/>
          </a:xfrm>
          <a:prstGeom prst="rect">
            <a:avLst/>
          </a:prstGeom>
          <a:noFill/>
        </p:spPr>
        <p:txBody>
          <a:bodyPr wrap="square" lIns="0" rIns="0" tIns="0" bIns="0" anchor="t">
            <a:spAutoFit/>
          </a:bodyPr>
          <a:lstStyle/>
          <a:p>
            <a:pPr algn="l">
              <a:spcAft>
                <a:spcPts val="900"/>
              </a:spcAft>
            </a:pPr>
            <a:r>
              <a:rPr sz="1500" b="0" i="0">
                <a:solidFill>
                  <a:srgbClr val="0F172A"/>
                </a:solidFill>
              </a:rPr>
              <a:t>1  Complete the payload: missing fields default (acc_z = 9.81, others 0)</a:t>
            </a:r>
          </a:p>
          <a:p>
            <a:pPr algn="l">
              <a:spcAft>
                <a:spcPts val="900"/>
              </a:spcAft>
            </a:pPr>
            <a:r>
              <a:rPr sz="1500" b="0" i="0">
                <a:solidFill>
                  <a:srgbClr val="0F172A"/>
                </a:solidFill>
              </a:rPr>
              <a:t>2  Derive acc_magnitude = sqrt(x² + y² + z²) and gyro_magnitude when absent</a:t>
            </a:r>
          </a:p>
          <a:p>
            <a:pPr algn="l">
              <a:spcAft>
                <a:spcPts val="900"/>
              </a:spcAft>
            </a:pPr>
            <a:r>
              <a:rPr sz="1500" b="0" i="0">
                <a:solidFill>
                  <a:srgbClr val="0F172A"/>
                </a:solidFill>
              </a:rPr>
              <a:t>3  Store jerk as an absolute value</a:t>
            </a:r>
          </a:p>
          <a:p>
            <a:pPr algn="l">
              <a:spcAft>
                <a:spcPts val="900"/>
              </a:spcAft>
            </a:pPr>
            <a:r>
              <a:rPr sz="1500" b="0" i="0">
                <a:solidFill>
                  <a:srgbClr val="0F172A"/>
                </a:solidFill>
              </a:rPr>
              <a:t>4  Order the 11 values as the trained feature list</a:t>
            </a:r>
          </a:p>
          <a:p>
            <a:pPr algn="l">
              <a:spcAft>
                <a:spcPts val="900"/>
              </a:spcAft>
            </a:pPr>
            <a:r>
              <a:rPr sz="1500" b="0" i="0">
                <a:solidFill>
                  <a:srgbClr val="0F172A"/>
                </a:solidFill>
              </a:rPr>
              <a:t>5  Standardise with the training mean and standard deviation (StandardScaler fitted on 9,600 events)</a:t>
            </a:r>
          </a:p>
          <a:p>
            <a:pPr algn="l">
              <a:spcAft>
                <a:spcPts val="900"/>
              </a:spcAft>
            </a:pPr>
            <a:r>
              <a:rPr sz="1400" b="0" i="1">
                <a:solidFill>
                  <a:srgbClr val="475569"/>
                </a:solidFill>
              </a:rPr>
              <a:t>Finding: the detector's permutation importance is carried by acc_magnitude alone; the gyroscope adds nothing measurable on this data.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Model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graphicFrame>
        <p:nvGraphicFramePr>
          <p:cNvPr id="26" name="Table 25"/>
          <p:cNvGraphicFramePr>
            <a:graphicFrameLocks noGrp="1"/>
          </p:cNvGraphicFramePr>
          <p:nvPr/>
        </p:nvGraphicFramePr>
        <p:xfrm>
          <a:off x="548640" y="1280160"/>
          <a:ext cx="11091672" cy="3383280"/>
        </p:xfrm>
        <a:graphic>
          <a:graphicData uri="http://schemas.openxmlformats.org/drawingml/2006/table">
            <a:tbl>
              <a:tblPr firstRow="0" bandRow="0">
                <a:tableStyleId>{5C22544A-7EE6-4342-B048-85BDC9FD1C3A}</a:tableStyleId>
              </a:tblPr>
              <a:tblGrid>
                <a:gridCol w="2194560"/>
                <a:gridCol w="5486400"/>
                <a:gridCol w="3410712"/>
              </a:tblGrid>
              <a:tr h="676656">
                <a:tc>
                  <a:txBody>
                    <a:bodyPr wrap="square"/>
                    <a:lstStyle/>
                    <a:p>
                      <a:pPr algn="ctr"/>
                      <a:r>
                        <a:rPr sz="140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Configuration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76656">
                <a:tc>
                  <a:txBody>
                    <a:bodyPr wrap="square"/>
                    <a:lstStyle/>
                    <a:p>
                      <a:pPr algn="l"/>
                      <a:r>
                        <a:rPr sz="1400" b="1">
                          <a:solidFill>
                            <a:srgbClr val="0F172A"/>
                          </a:solidFill>
                        </a:rPr>
                        <a:t>Scaler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StandardScaler, 11 features, fitted on the training 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puts features on one scale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76656">
                <a:tc>
                  <a:txBody>
                    <a:bodyPr wrap="square"/>
                    <a:lstStyle/>
                    <a:p>
                      <a:pPr algn="l"/>
                      <a:r>
                        <a:rPr sz="1400" b="1">
                          <a:solidFill>
                            <a:srgbClr val="0F172A"/>
                          </a:solidFill>
                        </a:rPr>
                        <a:t>Accident detector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RandomForest, 200 trees, max depth 10, class_weight balanced, seed 42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crash or not, with probability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76656">
                <a:tc>
                  <a:txBody>
                    <a:bodyPr wrap="square"/>
                    <a:lstStyle/>
                    <a:p>
                      <a:pPr algn="l"/>
                      <a:r>
                        <a:rPr sz="1400" b="1">
                          <a:solidFill>
                            <a:srgbClr val="0F172A"/>
                          </a:solidFill>
                        </a:rPr>
                        <a:t>Severity model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RandomForest, 250 trees, max depth 12, balanced; trained on all events (None = class 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None / Minor / Moderate / Severe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76656">
                <a:tc>
                  <a:txBody>
                    <a:bodyPr wrap="square"/>
                    <a:lstStyle/>
                    <a:p>
                      <a:pPr algn="l"/>
                      <a:r>
                        <a:rPr sz="1400" b="1">
                          <a:solidFill>
                            <a:srgbClr val="0F172A"/>
                          </a:solidFill>
                        </a:rPr>
                        <a:t>Rule fallback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acc_magnitude &lt; 15 / 28 / 45 m/s² gives None / Minor / Moderate / Severe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only if the model files are missing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7" name="Rounded Rectangle 26"/>
          <p:cNvSpPr/>
          <p:nvPr/>
        </p:nvSpPr>
        <p:spPr>
          <a:xfrm>
            <a:off x="548640" y="5166360"/>
            <a:ext cx="347472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48640" y="5166360"/>
            <a:ext cx="73152" cy="10972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49808" y="5257800"/>
            <a:ext cx="3200400" cy="603504"/>
          </a:xfrm>
          <a:prstGeom prst="rect">
            <a:avLst/>
          </a:prstGeom>
          <a:noFill/>
        </p:spPr>
        <p:txBody>
          <a:bodyPr wrap="square" lIns="0" rIns="0" tIns="0" bIns="0" anchor="ctr">
            <a:spAutoFit/>
          </a:bodyPr>
          <a:lstStyle/>
          <a:p>
            <a:pPr algn="l">
              <a:spcAft>
                <a:spcPts val="400"/>
              </a:spcAft>
            </a:pPr>
            <a:r>
              <a:rPr sz="2400" b="1" i="0">
                <a:solidFill>
                  <a:srgbClr val="0F172A"/>
                </a:solidFill>
              </a:rPr>
              <a:t>385 KB / 2.6 MB</a:t>
            </a:r>
          </a:p>
        </p:txBody>
      </p:sp>
      <p:sp>
        <p:nvSpPr>
          <p:cNvPr id="30" name="TextBox 29"/>
          <p:cNvSpPr txBox="1"/>
          <p:nvPr/>
        </p:nvSpPr>
        <p:spPr>
          <a:xfrm>
            <a:off x="749808" y="5802782"/>
            <a:ext cx="3200400" cy="416966"/>
          </a:xfrm>
          <a:prstGeom prst="rect">
            <a:avLst/>
          </a:prstGeom>
          <a:noFill/>
        </p:spPr>
        <p:txBody>
          <a:bodyPr wrap="square" lIns="0" rIns="0" tIns="0" bIns="0" anchor="t">
            <a:spAutoFit/>
          </a:bodyPr>
          <a:lstStyle/>
          <a:p>
            <a:pPr algn="l">
              <a:spcAft>
                <a:spcPts val="400"/>
              </a:spcAft>
            </a:pPr>
            <a:r>
              <a:rPr sz="1200" b="0" i="0">
                <a:solidFill>
                  <a:srgbClr val="475569"/>
                </a:solidFill>
              </a:rPr>
              <a:t>detector / severity pickle size</a:t>
            </a:r>
          </a:p>
        </p:txBody>
      </p:sp>
      <p:sp>
        <p:nvSpPr>
          <p:cNvPr id="31" name="Rounded Rectangle 30"/>
          <p:cNvSpPr/>
          <p:nvPr/>
        </p:nvSpPr>
        <p:spPr>
          <a:xfrm>
            <a:off x="4297680" y="5166360"/>
            <a:ext cx="347472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297680" y="5166360"/>
            <a:ext cx="73152" cy="109728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498848" y="5257800"/>
            <a:ext cx="3200400" cy="603504"/>
          </a:xfrm>
          <a:prstGeom prst="rect">
            <a:avLst/>
          </a:prstGeom>
          <a:noFill/>
        </p:spPr>
        <p:txBody>
          <a:bodyPr wrap="square" lIns="0" rIns="0" tIns="0" bIns="0" anchor="ctr">
            <a:spAutoFit/>
          </a:bodyPr>
          <a:lstStyle/>
          <a:p>
            <a:pPr algn="l">
              <a:spcAft>
                <a:spcPts val="400"/>
              </a:spcAft>
            </a:pPr>
            <a:r>
              <a:rPr sz="2600" b="1" i="0">
                <a:solidFill>
                  <a:srgbClr val="0F172A"/>
                </a:solidFill>
              </a:rPr>
              <a:t>14 ms</a:t>
            </a:r>
          </a:p>
        </p:txBody>
      </p:sp>
      <p:sp>
        <p:nvSpPr>
          <p:cNvPr id="34" name="TextBox 33"/>
          <p:cNvSpPr txBox="1"/>
          <p:nvPr/>
        </p:nvSpPr>
        <p:spPr>
          <a:xfrm>
            <a:off x="4498848" y="5802782"/>
            <a:ext cx="3200400" cy="416966"/>
          </a:xfrm>
          <a:prstGeom prst="rect">
            <a:avLst/>
          </a:prstGeom>
          <a:noFill/>
        </p:spPr>
        <p:txBody>
          <a:bodyPr wrap="square" lIns="0" rIns="0" tIns="0" bIns="0" anchor="t">
            <a:spAutoFit/>
          </a:bodyPr>
          <a:lstStyle/>
          <a:p>
            <a:pPr algn="l">
              <a:spcAft>
                <a:spcPts val="400"/>
              </a:spcAft>
            </a:pPr>
            <a:r>
              <a:rPr sz="1200" b="0" i="0">
                <a:solidFill>
                  <a:srgbClr val="475569"/>
                </a:solidFill>
              </a:rPr>
              <a:t>mean in-process prediction (p95 19.7 ms)</a:t>
            </a:r>
          </a:p>
        </p:txBody>
      </p:sp>
      <p:sp>
        <p:nvSpPr>
          <p:cNvPr id="35" name="Rounded Rectangle 34"/>
          <p:cNvSpPr/>
          <p:nvPr/>
        </p:nvSpPr>
        <p:spPr>
          <a:xfrm>
            <a:off x="8046720" y="5166360"/>
            <a:ext cx="3593592"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8046720" y="5166360"/>
            <a:ext cx="73152" cy="10972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47888" y="5257800"/>
            <a:ext cx="3319272" cy="603504"/>
          </a:xfrm>
          <a:prstGeom prst="rect">
            <a:avLst/>
          </a:prstGeom>
          <a:noFill/>
        </p:spPr>
        <p:txBody>
          <a:bodyPr wrap="square" lIns="0" rIns="0" tIns="0" bIns="0" anchor="ctr">
            <a:spAutoFit/>
          </a:bodyPr>
          <a:lstStyle/>
          <a:p>
            <a:pPr algn="l">
              <a:spcAft>
                <a:spcPts val="400"/>
              </a:spcAft>
            </a:pPr>
            <a:r>
              <a:rPr sz="2600" b="1" i="0">
                <a:solidFill>
                  <a:srgbClr val="0F172A"/>
                </a:solidFill>
              </a:rPr>
              <a:t>No GPU</a:t>
            </a:r>
          </a:p>
        </p:txBody>
      </p:sp>
      <p:sp>
        <p:nvSpPr>
          <p:cNvPr id="38" name="TextBox 37"/>
          <p:cNvSpPr txBox="1"/>
          <p:nvPr/>
        </p:nvSpPr>
        <p:spPr>
          <a:xfrm>
            <a:off x="8247888" y="5802782"/>
            <a:ext cx="3319272" cy="416966"/>
          </a:xfrm>
          <a:prstGeom prst="rect">
            <a:avLst/>
          </a:prstGeom>
          <a:noFill/>
        </p:spPr>
        <p:txBody>
          <a:bodyPr wrap="square" lIns="0" rIns="0" tIns="0" bIns="0" anchor="t">
            <a:spAutoFit/>
          </a:bodyPr>
          <a:lstStyle/>
          <a:p>
            <a:pPr algn="l">
              <a:spcAft>
                <a:spcPts val="400"/>
              </a:spcAft>
            </a:pPr>
            <a:r>
              <a:rPr sz="1200" b="0" i="0">
                <a:solidFill>
                  <a:srgbClr val="475569"/>
                </a:solidFill>
              </a:rPr>
              <a:t>scikit-learn on a CPU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Training configuration and parameter analysis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graphicFrame>
        <p:nvGraphicFramePr>
          <p:cNvPr id="26" name="Table 25"/>
          <p:cNvGraphicFramePr>
            <a:graphicFrameLocks noGrp="1"/>
          </p:cNvGraphicFramePr>
          <p:nvPr/>
        </p:nvGraphicFramePr>
        <p:xfrm>
          <a:off x="548640" y="1280160"/>
          <a:ext cx="11091672" cy="2852928"/>
        </p:xfrm>
        <a:graphic>
          <a:graphicData uri="http://schemas.openxmlformats.org/drawingml/2006/table">
            <a:tbl>
              <a:tblPr firstRow="0" bandRow="0">
                <a:tableStyleId>{5C22544A-7EE6-4342-B048-85BDC9FD1C3A}</a:tableStyleId>
              </a:tblPr>
              <a:tblGrid>
                <a:gridCol w="2011680"/>
                <a:gridCol w="9079992"/>
              </a:tblGrid>
              <a:tr h="475488">
                <a:tc>
                  <a:txBody>
                    <a:bodyPr wrap="square"/>
                    <a:lstStyle/>
                    <a:p>
                      <a:pPr algn="ctr"/>
                      <a:r>
                        <a:rPr sz="1300" b="1">
                          <a:solidFill>
                            <a:srgbClr val="FFFFFF"/>
                          </a:solidFill>
                        </a:rPr>
                        <a:t>Setting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Value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75488">
                <a:tc>
                  <a:txBody>
                    <a:bodyPr wrap="square"/>
                    <a:lstStyle/>
                    <a:p>
                      <a:pPr algn="l"/>
                      <a:r>
                        <a:rPr sz="1300" b="1">
                          <a:solidFill>
                            <a:srgbClr val="0F172A"/>
                          </a:solidFill>
                        </a:rPr>
                        <a:t>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80 / 20, stratified on the accident label, random_state 42: 9,600 train, 2,400 test; no validation 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300" b="1">
                          <a:solidFill>
                            <a:srgbClr val="0F172A"/>
                          </a:solidFill>
                        </a:rPr>
                        <a:t>Operating point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detector predict() (threshold about 0.5); alert only for Moderate or Severe; 15 s countdown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300" b="1">
                          <a:solidFill>
                            <a:srgbClr val="0F172A"/>
                          </a:solidFill>
                        </a:rPr>
                        <a:t>Repeat study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five seeds (11, 22, 33, 44, 55): new dataset, split and forests each time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300" b="1">
                          <a:solidFill>
                            <a:srgbClr val="0F172A"/>
                          </a:solidFill>
                        </a:rPr>
                        <a:t>Baselines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rule thresholds, logistic regression, decision tree (depth 10), HistGradientBoosting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300" b="1">
                          <a:solidFill>
                            <a:srgbClr val="0F172A"/>
                          </a:solidFill>
                        </a:rPr>
                        <a:t>Machine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Intel Core i5-12500, 15.7 GB RAM, Windows 11, Python 3.11.9, scikit-learn 1.5.0; training takes seconds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pic>
        <p:nvPicPr>
          <p:cNvPr id="27" name="Picture 26" descr="f06_threshold_sweep.png"/>
          <p:cNvPicPr>
            <a:picLocks noChangeAspect="1"/>
          </p:cNvPicPr>
          <p:nvPr/>
        </p:nvPicPr>
        <p:blipFill>
          <a:blip r:embed="rId1"/>
          <a:stretch>
            <a:fillRect/>
          </a:stretch>
        </p:blipFill>
        <p:spPr>
          <a:xfrm>
            <a:off x="914400" y="4297680"/>
            <a:ext cx="4206240" cy="2103120"/>
          </a:xfrm>
          <a:prstGeom prst="rect">
            <a:avLst/>
          </a:prstGeom>
        </p:spPr>
      </p:pic>
      <p:sp>
        <p:nvSpPr>
          <p:cNvPr id="28" name="TextBox 27"/>
          <p:cNvSpPr txBox="1"/>
          <p:nvPr/>
        </p:nvSpPr>
        <p:spPr>
          <a:xfrm>
            <a:off x="5760720" y="4389120"/>
            <a:ext cx="5852160" cy="2011680"/>
          </a:xfrm>
          <a:prstGeom prst="rect">
            <a:avLst/>
          </a:prstGeom>
          <a:noFill/>
        </p:spPr>
        <p:txBody>
          <a:bodyPr wrap="square" lIns="0" rIns="0" tIns="0" bIns="0" anchor="t">
            <a:spAutoFit/>
          </a:bodyPr>
          <a:lstStyle/>
          <a:p>
            <a:pPr algn="l">
              <a:spcAft>
                <a:spcPts val="400"/>
              </a:spcAft>
            </a:pPr>
            <a:r>
              <a:rPr sz="1400" b="0" i="0">
                <a:solidFill>
                  <a:srgbClr val="475569"/>
                </a:solidFill>
              </a:rPr>
              <a:t>Parameter check: the detector probability threshold. Precision and recall are both 1.000 for every threshold from 0.2 to 0.9; at 0.05 there are 5 false alarms, at 0.95 two missed crashes. The operating point is not threshold-sensitive on this data (lowest crash probability 0.90, highest non-crash 0.17).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Decision logic: gate, confirmation and dispatch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pic>
        <p:nvPicPr>
          <p:cNvPr id="26" name="Picture 25" descr="10_flowchart_core_algorithm.png"/>
          <p:cNvPicPr>
            <a:picLocks noChangeAspect="1"/>
          </p:cNvPicPr>
          <p:nvPr/>
        </p:nvPicPr>
        <p:blipFill>
          <a:blip r:embed="rId1"/>
          <a:stretch>
            <a:fillRect/>
          </a:stretch>
        </p:blipFill>
        <p:spPr>
          <a:xfrm>
            <a:off x="625480" y="1143000"/>
            <a:ext cx="4418319" cy="5257800"/>
          </a:xfrm>
          <a:prstGeom prst="rect">
            <a:avLst/>
          </a:prstGeom>
        </p:spPr>
      </p:pic>
      <p:sp>
        <p:nvSpPr>
          <p:cNvPr id="27" name="TextBox 26"/>
          <p:cNvSpPr txBox="1"/>
          <p:nvPr/>
        </p:nvSpPr>
        <p:spPr>
          <a:xfrm>
            <a:off x="5486400" y="1371600"/>
            <a:ext cx="6126480" cy="4846320"/>
          </a:xfrm>
          <a:prstGeom prst="rect">
            <a:avLst/>
          </a:prstGeom>
          <a:noFill/>
        </p:spPr>
        <p:txBody>
          <a:bodyPr wrap="square" lIns="0" rIns="0" tIns="0" bIns="0" anchor="t">
            <a:spAutoFit/>
          </a:bodyPr>
          <a:lstStyle/>
          <a:p>
            <a:pPr algn="l" marL="256032" indent="-201168">
              <a:spcAft>
                <a:spcPts val="900"/>
              </a:spcAft>
              <a:buChar char="•"/>
            </a:pPr>
            <a:r>
              <a:rPr sz="1600" b="1" i="0">
                <a:solidFill>
                  <a:srgbClr val="0F172A"/>
                </a:solidFill>
              </a:rPr>
              <a:t>Detect.</a:t>
            </a:r>
            <a:r>
              <a:rPr sz="1600" b="0" i="0">
                <a:solidFill>
                  <a:srgbClr val="0F172A"/>
                </a:solidFill>
              </a:rPr>
              <a:t> The detector's class and probability come from predict() and predict_proba().</a:t>
            </a:r>
          </a:p>
          <a:p>
            <a:pPr algn="l" marL="256032" indent="-201168">
              <a:spcAft>
                <a:spcPts val="900"/>
              </a:spcAft>
              <a:buChar char="•"/>
            </a:pPr>
            <a:r>
              <a:rPr sz="1600" b="1" i="0">
                <a:solidFill>
                  <a:srgbClr val="0F172A"/>
                </a:solidFill>
              </a:rPr>
              <a:t>Gate.</a:t>
            </a:r>
            <a:r>
              <a:rPr sz="1600" b="0" i="0">
                <a:solidFill>
                  <a:srgbClr val="0F172A"/>
                </a:solidFill>
              </a:rPr>
              <a:t> No accident forces severity to None, whatever the severity forest says.</a:t>
            </a:r>
          </a:p>
          <a:p>
            <a:pPr algn="l" marL="256032" indent="-201168">
              <a:spcAft>
                <a:spcPts val="900"/>
              </a:spcAft>
              <a:buChar char="•"/>
            </a:pPr>
            <a:r>
              <a:rPr sz="1600" b="1" i="0">
                <a:solidFill>
                  <a:srgbClr val="0F172A"/>
                </a:solidFill>
              </a:rPr>
              <a:t>Confirm.</a:t>
            </a:r>
            <a:r>
              <a:rPr sz="1600" b="0" i="0">
                <a:solidFill>
                  <a:srgbClr val="0F172A"/>
                </a:solidFill>
              </a:rPr>
              <a:t> Only Moderate or Severe opens the 15 s dialog; live monitoring pauses; Escape or the cancel button logs a false alarm.</a:t>
            </a:r>
          </a:p>
          <a:p>
            <a:pPr algn="l" marL="256032" indent="-201168">
              <a:spcAft>
                <a:spcPts val="900"/>
              </a:spcAft>
              <a:buChar char="•"/>
            </a:pPr>
            <a:r>
              <a:rPr sz="1600" b="1" i="0">
                <a:solidFill>
                  <a:srgbClr val="0F172A"/>
                </a:solidFill>
              </a:rPr>
              <a:t>Locate.</a:t>
            </a:r>
            <a:r>
              <a:rPr sz="1600" b="0" i="0">
                <a:solidFill>
                  <a:srgbClr val="0F172A"/>
                </a:solidFill>
              </a:rPr>
              <a:t> Browser GPS (3 s timeout); otherwise a point near the default Hyderabad location.</a:t>
            </a:r>
          </a:p>
          <a:p>
            <a:pPr algn="l" marL="256032" indent="-201168">
              <a:spcAft>
                <a:spcPts val="400"/>
              </a:spcAft>
              <a:buChar char="•"/>
            </a:pPr>
            <a:r>
              <a:rPr sz="1600" b="1" i="0">
                <a:solidFill>
                  <a:srgbClr val="0F172A"/>
                </a:solidFill>
              </a:rPr>
              <a:t>Dispatch.</a:t>
            </a:r>
            <a:r>
              <a:rPr sz="1600" b="0" i="0">
                <a:solidFill>
                  <a:srgbClr val="0F172A"/>
                </a:solidFill>
              </a:rPr>
              <a:t> Haversine ranking of 10 hospitals, nearest three, message with a map link, alert id RQ-&lt;unix seconds&gt;, numbers 112 and 108. Nothing is transmitted.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flow and modules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pic>
        <p:nvPicPr>
          <p:cNvPr id="26" name="Picture 25" descr="04_dfd_level1.png"/>
          <p:cNvPicPr>
            <a:picLocks noChangeAspect="1"/>
          </p:cNvPicPr>
          <p:nvPr/>
        </p:nvPicPr>
        <p:blipFill>
          <a:blip r:embed="rId1"/>
          <a:stretch>
            <a:fillRect/>
          </a:stretch>
        </p:blipFill>
        <p:spPr>
          <a:xfrm>
            <a:off x="548640" y="1311249"/>
            <a:ext cx="5669280" cy="4875580"/>
          </a:xfrm>
          <a:prstGeom prst="rect">
            <a:avLst/>
          </a:prstGeom>
        </p:spPr>
      </p:pic>
      <p:graphicFrame>
        <p:nvGraphicFramePr>
          <p:cNvPr id="27" name="Table 26"/>
          <p:cNvGraphicFramePr>
            <a:graphicFrameLocks noGrp="1"/>
          </p:cNvGraphicFramePr>
          <p:nvPr/>
        </p:nvGraphicFramePr>
        <p:xfrm>
          <a:off x="6492240" y="1280160"/>
          <a:ext cx="5148072" cy="4279392"/>
        </p:xfrm>
        <a:graphic>
          <a:graphicData uri="http://schemas.openxmlformats.org/drawingml/2006/table">
            <a:tbl>
              <a:tblPr firstRow="0" bandRow="0">
                <a:tableStyleId>{5C22544A-7EE6-4342-B048-85BDC9FD1C3A}</a:tableStyleId>
              </a:tblPr>
              <a:tblGrid>
                <a:gridCol w="2834640"/>
                <a:gridCol w="2313432"/>
              </a:tblGrid>
              <a:tr h="475488">
                <a:tc>
                  <a:txBody>
                    <a:bodyPr wrap="square"/>
                    <a:lstStyle/>
                    <a:p>
                      <a:pPr algn="ctr"/>
                      <a:r>
                        <a:rPr sz="1200" b="1">
                          <a:solidFill>
                            <a:srgbClr val="FFFFFF"/>
                          </a:solidFill>
                        </a:rPr>
                        <a:t>Module / function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75488">
                <a:tc>
                  <a:txBody>
                    <a:bodyPr wrap="square"/>
                    <a:lstStyle/>
                    <a:p>
                      <a:pPr algn="l"/>
                      <a:r>
                        <a:rPr sz="1200" b="0">
                          <a:solidFill>
                            <a:srgbClr val="0F172A"/>
                          </a:solidFill>
                        </a:rPr>
                        <a:t>build_feature_vector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defaults, magnitudes, order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200" b="0">
                          <a:solidFill>
                            <a:srgbClr val="0F172A"/>
                          </a:solidFill>
                        </a:rPr>
                        <a:t>predict_from_features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scale, detect, grade, gate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200" b="0">
                          <a:solidFill>
                            <a:srgbClr val="0F172A"/>
                          </a:solidFill>
                        </a:rPr>
                        <a:t>rule_based_fallback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thresholds if no models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200" b="0">
                          <a:solidFill>
                            <a:srgbClr val="0F172A"/>
                          </a:solidFill>
                        </a:rPr>
                        <a:t>api_simulate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five scenario generators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200" b="0">
                          <a:solidFill>
                            <a:srgbClr val="0F172A"/>
                          </a:solidFill>
                        </a:rPr>
                        <a:t>nearest_hospitals, haversine_km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rank the directory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200" b="0">
                          <a:solidFill>
                            <a:srgbClr val="0F172A"/>
                          </a:solidFill>
                        </a:rPr>
                        <a:t>api_emergency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message, alert id, 112 / 108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200" b="0">
                          <a:solidFill>
                            <a:srgbClr val="0F172A"/>
                          </a:solidFill>
                        </a:rPr>
                        <a:t>auth.py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accounts, token, lockout, guard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200" b="0">
                          <a:solidFill>
                            <a:srgbClr val="0F172A"/>
                          </a:solidFill>
                        </a:rPr>
                        <a:t>MonitorContext.jsx</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countdown, cancel, dispatch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Database design and UML</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pic>
        <p:nvPicPr>
          <p:cNvPr id="26" name="Picture 25" descr="09_er_diagram.png"/>
          <p:cNvPicPr>
            <a:picLocks noChangeAspect="1"/>
          </p:cNvPicPr>
          <p:nvPr/>
        </p:nvPicPr>
        <p:blipFill>
          <a:blip r:embed="rId1"/>
          <a:stretch>
            <a:fillRect/>
          </a:stretch>
        </p:blipFill>
        <p:spPr>
          <a:xfrm>
            <a:off x="948088" y="1234440"/>
            <a:ext cx="5053263" cy="3840480"/>
          </a:xfrm>
          <a:prstGeom prst="rect">
            <a:avLst/>
          </a:prstGeom>
        </p:spPr>
      </p:pic>
      <p:pic>
        <p:nvPicPr>
          <p:cNvPr id="27" name="Picture 26" descr="06_uml_class.png"/>
          <p:cNvPicPr>
            <a:picLocks noChangeAspect="1"/>
          </p:cNvPicPr>
          <p:nvPr/>
        </p:nvPicPr>
        <p:blipFill>
          <a:blip r:embed="rId4"/>
          <a:stretch>
            <a:fillRect/>
          </a:stretch>
        </p:blipFill>
        <p:spPr>
          <a:xfrm>
            <a:off x="6583680" y="1805939"/>
            <a:ext cx="5029200" cy="3931920"/>
          </a:xfrm>
          <a:prstGeom prst="rect">
            <a:avLst/>
          </a:prstGeom>
        </p:spPr>
      </p:pic>
      <p:sp>
        <p:nvSpPr>
          <p:cNvPr id="28" name="TextBox 27"/>
          <p:cNvSpPr txBox="1"/>
          <p:nvPr/>
        </p:nvSpPr>
        <p:spPr>
          <a:xfrm>
            <a:off x="548640" y="5257800"/>
            <a:ext cx="5852160" cy="1097280"/>
          </a:xfrm>
          <a:prstGeom prst="rect">
            <a:avLst/>
          </a:prstGeom>
          <a:noFill/>
        </p:spPr>
        <p:txBody>
          <a:bodyPr wrap="square" lIns="0" rIns="0" tIns="0" bIns="0" anchor="t">
            <a:spAutoFit/>
          </a:bodyPr>
          <a:lstStyle/>
          <a:p>
            <a:pPr algn="l">
              <a:spcAft>
                <a:spcPts val="400"/>
              </a:spcAft>
            </a:pPr>
            <a:r>
              <a:rPr sz="1300" b="0" i="1">
                <a:solidFill>
                  <a:srgbClr val="475569"/>
                </a:solidFill>
              </a:rPr>
              <a:t>No relational database: accounts and hospitals are JSON files. Readings, predictions and alerts are transient (JSON in requests and React state), and an alert carries no user id.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Technology stack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graphicFrame>
        <p:nvGraphicFramePr>
          <p:cNvPr id="26" name="Table 25"/>
          <p:cNvGraphicFramePr>
            <a:graphicFrameLocks noGrp="1"/>
          </p:cNvGraphicFramePr>
          <p:nvPr/>
        </p:nvGraphicFramePr>
        <p:xfrm>
          <a:off x="548640" y="1371600"/>
          <a:ext cx="11091672" cy="4535424"/>
        </p:xfrm>
        <a:graphic>
          <a:graphicData uri="http://schemas.openxmlformats.org/drawingml/2006/table">
            <a:tbl>
              <a:tblPr firstRow="0" bandRow="0">
                <a:tableStyleId>{5C22544A-7EE6-4342-B048-85BDC9FD1C3A}</a:tableStyleId>
              </a:tblPr>
              <a:tblGrid>
                <a:gridCol w="2926080"/>
                <a:gridCol w="8165592"/>
              </a:tblGrid>
              <a:tr h="566928">
                <a:tc>
                  <a:txBody>
                    <a:bodyPr wrap="square"/>
                    <a:lstStyle/>
                    <a:p>
                      <a:pPr algn="ctr"/>
                      <a:r>
                        <a:rPr sz="1500" b="1">
                          <a:solidFill>
                            <a:srgbClr val="FFFFFF"/>
                          </a:solidFill>
                        </a:rPr>
                        <a:t>Layer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500" b="1">
                          <a:solidFill>
                            <a:srgbClr val="FFFFFF"/>
                          </a:solidFill>
                        </a:rPr>
                        <a:t>Technology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66928">
                <a:tc>
                  <a:txBody>
                    <a:bodyPr wrap="square"/>
                    <a:lstStyle/>
                    <a:p>
                      <a:pPr algn="l"/>
                      <a:r>
                        <a:rPr sz="1500" b="1">
                          <a:solidFill>
                            <a:srgbClr val="0F172A"/>
                          </a:solidFill>
                        </a:rPr>
                        <a:t>Backend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Python 3.11, Flask 3.1, itsdangerous signed tokens, werkzeug scrypt password hashes, JSON files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500" b="1">
                          <a:solidFill>
                            <a:srgbClr val="0F172A"/>
                          </a:solidFill>
                        </a:rPr>
                        <a:t>Machine learning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scikit-learn (RandomForestClassifier, StandardScaler), joblib, NumPy, pandas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500" b="1">
                          <a:solidFill>
                            <a:srgbClr val="0F172A"/>
                          </a:solidFill>
                        </a:rPr>
                        <a:t>Front 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React 19, Vite 8, react-router 7, Leaflet map, Recharts, Framer Motion, GSAP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500" b="1">
                          <a:solidFill>
                            <a:srgbClr val="0F172A"/>
                          </a:solidFill>
                        </a:rPr>
                        <a:t>Location and maps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browser Geolocation API; OpenStreetMap tiles; haversine distance in app.py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500" b="1">
                          <a:solidFill>
                            <a:srgbClr val="0F172A"/>
                          </a:solidFill>
                        </a:rPr>
                        <a:t>Testing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scripts/smoke_test.py, scripts/run_tests.py (unit, edge, security), Playwright screenshot walk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500" b="1">
                          <a:solidFill>
                            <a:srgbClr val="0F172A"/>
                          </a:solidFill>
                        </a:rPr>
                        <a:t>Measurement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scripts/measure_metrics.py, measure_api.py; matplotlib figures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500" b="1">
                          <a:solidFill>
                            <a:srgbClr val="0F172A"/>
                          </a:solidFill>
                        </a:rPr>
                        <a:t>Packaging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setup.bat (venv, pip, npm) and run.bat (both servers); requirements.txt is not version-pinned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Implementation progress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graphicFrame>
        <p:nvGraphicFramePr>
          <p:cNvPr id="26" name="Table 25"/>
          <p:cNvGraphicFramePr>
            <a:graphicFrameLocks noGrp="1"/>
          </p:cNvGraphicFramePr>
          <p:nvPr/>
        </p:nvGraphicFramePr>
        <p:xfrm>
          <a:off x="548640" y="1280160"/>
          <a:ext cx="11091672" cy="4937760"/>
        </p:xfrm>
        <a:graphic>
          <a:graphicData uri="http://schemas.openxmlformats.org/drawingml/2006/table">
            <a:tbl>
              <a:tblPr firstRow="0" bandRow="0">
                <a:tableStyleId>{5C22544A-7EE6-4342-B048-85BDC9FD1C3A}</a:tableStyleId>
              </a:tblPr>
              <a:tblGrid>
                <a:gridCol w="4480560"/>
                <a:gridCol w="1463040"/>
                <a:gridCol w="5148072"/>
              </a:tblGrid>
              <a:tr h="548640">
                <a:tc>
                  <a:txBody>
                    <a:bodyPr wrap="square"/>
                    <a:lstStyle/>
                    <a:p>
                      <a:pPr algn="ctr"/>
                      <a:r>
                        <a:rPr sz="130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Evidence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48640">
                <a:tc>
                  <a:txBody>
                    <a:bodyPr wrap="square"/>
                    <a:lstStyle/>
                    <a:p>
                      <a:pPr algn="l"/>
                      <a:r>
                        <a:rPr sz="1300" b="0">
                          <a:solidFill>
                            <a:srgbClr val="0F172A"/>
                          </a:solidFill>
                        </a:rPr>
                        <a:t>Synthetic data generator and training script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12,000 events, 4 pickles; generator reproduced exactly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300" b="0">
                          <a:solidFill>
                            <a:srgbClr val="0F172A"/>
                          </a:solidFill>
                        </a:rPr>
                        <a:t>Detector and severity models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detector 1.000; severity accuracy 0.99958 (n = 2,400)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300" b="0">
                          <a:solidFill>
                            <a:srgbClr val="0F172A"/>
                          </a:solidFill>
                        </a:rPr>
                        <a:t>Flask API (10 routes) and accounts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smoke test 33 of 33; auth checks 18 of 18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300" b="0">
                          <a:solidFill>
                            <a:srgbClr val="0F172A"/>
                          </a:solidFill>
                        </a:rPr>
                        <a:t>React console: monitor, manual, response map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6 screens, dark mode, 18 screenshots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300" b="0">
                          <a:solidFill>
                            <a:srgbClr val="0F172A"/>
                          </a:solidFill>
                        </a:rPr>
                        <a:t>15 s confirmation, location, hospitals, dispatch message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Done (demo)</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alert path 56 ms mean; message displayed, not sent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300" b="0">
                          <a:solidFill>
                            <a:srgbClr val="0F172A"/>
                          </a:solidFill>
                        </a:rPr>
                        <a:t>Real phone sensors, SMS / call delivery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feed is simulated; no gateway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300" b="0">
                          <a:solidFill>
                            <a:srgbClr val="0F172A"/>
                          </a:solidFill>
                        </a:rPr>
                        <a:t>Potholes and speed breakers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not in the data; probe flags about half</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300" b="0">
                          <a:solidFill>
                            <a:srgbClr val="0F172A"/>
                          </a:solidFill>
                        </a:rPr>
                        <a:t>Input validation hardening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Open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8 of 55 edge and unit checks fail (HTTP 500 on bad input)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Preliminary results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Rounded Rectangle 25"/>
          <p:cNvSpPr/>
          <p:nvPr/>
        </p:nvSpPr>
        <p:spPr>
          <a:xfrm>
            <a:off x="548640"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32588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417320"/>
            <a:ext cx="2331720" cy="628650"/>
          </a:xfrm>
          <a:prstGeom prst="rect">
            <a:avLst/>
          </a:prstGeom>
          <a:noFill/>
        </p:spPr>
        <p:txBody>
          <a:bodyPr wrap="square" lIns="0" rIns="0" tIns="0" bIns="0" anchor="ctr">
            <a:spAutoFit/>
          </a:bodyPr>
          <a:lstStyle/>
          <a:p>
            <a:pPr algn="l">
              <a:spcAft>
                <a:spcPts val="400"/>
              </a:spcAft>
            </a:pPr>
            <a:r>
              <a:rPr sz="2400" b="1" i="0">
                <a:solidFill>
                  <a:srgbClr val="0F172A"/>
                </a:solidFill>
              </a:rPr>
              <a:t>1.000</a:t>
            </a:r>
          </a:p>
        </p:txBody>
      </p:sp>
      <p:sp>
        <p:nvSpPr>
          <p:cNvPr id="29" name="TextBox 28"/>
          <p:cNvSpPr txBox="1"/>
          <p:nvPr/>
        </p:nvSpPr>
        <p:spPr>
          <a:xfrm>
            <a:off x="749808"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detector accuracy and F1, 2,400 test events</a:t>
            </a:r>
          </a:p>
        </p:txBody>
      </p:sp>
      <p:sp>
        <p:nvSpPr>
          <p:cNvPr id="30" name="Rounded Rectangle 29"/>
          <p:cNvSpPr/>
          <p:nvPr/>
        </p:nvSpPr>
        <p:spPr>
          <a:xfrm>
            <a:off x="3374136"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32588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417320"/>
            <a:ext cx="2331720" cy="628650"/>
          </a:xfrm>
          <a:prstGeom prst="rect">
            <a:avLst/>
          </a:prstGeom>
          <a:noFill/>
        </p:spPr>
        <p:txBody>
          <a:bodyPr wrap="square" lIns="0" rIns="0" tIns="0" bIns="0" anchor="ctr">
            <a:spAutoFit/>
          </a:bodyPr>
          <a:lstStyle/>
          <a:p>
            <a:pPr algn="l">
              <a:spcAft>
                <a:spcPts val="400"/>
              </a:spcAft>
            </a:pPr>
            <a:r>
              <a:rPr sz="2400" b="1" i="0">
                <a:solidFill>
                  <a:srgbClr val="0F172A"/>
                </a:solidFill>
              </a:rPr>
              <a:t>0.99958</a:t>
            </a:r>
          </a:p>
        </p:txBody>
      </p:sp>
      <p:sp>
        <p:nvSpPr>
          <p:cNvPr id="33" name="TextBox 32"/>
          <p:cNvSpPr txBox="1"/>
          <p:nvPr/>
        </p:nvSpPr>
        <p:spPr>
          <a:xfrm>
            <a:off x="3575304"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severity accuracy after the gate</a:t>
            </a:r>
          </a:p>
        </p:txBody>
      </p:sp>
      <p:sp>
        <p:nvSpPr>
          <p:cNvPr id="34" name="Rounded Rectangle 33"/>
          <p:cNvSpPr/>
          <p:nvPr/>
        </p:nvSpPr>
        <p:spPr>
          <a:xfrm>
            <a:off x="6199631"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32588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417320"/>
            <a:ext cx="2331720" cy="628650"/>
          </a:xfrm>
          <a:prstGeom prst="rect">
            <a:avLst/>
          </a:prstGeom>
          <a:noFill/>
        </p:spPr>
        <p:txBody>
          <a:bodyPr wrap="square" lIns="0" rIns="0" tIns="0" bIns="0" anchor="ctr">
            <a:spAutoFit/>
          </a:bodyPr>
          <a:lstStyle/>
          <a:p>
            <a:pPr algn="l">
              <a:spcAft>
                <a:spcPts val="400"/>
              </a:spcAft>
            </a:pPr>
            <a:r>
              <a:rPr sz="2400" b="1" i="0">
                <a:solidFill>
                  <a:srgbClr val="0F172A"/>
                </a:solidFill>
              </a:rPr>
              <a:t>0.99866</a:t>
            </a:r>
          </a:p>
        </p:txBody>
      </p:sp>
      <p:sp>
        <p:nvSpPr>
          <p:cNvPr id="37" name="TextBox 36"/>
          <p:cNvSpPr txBox="1"/>
          <p:nvPr/>
        </p:nvSpPr>
        <p:spPr>
          <a:xfrm>
            <a:off x="6400799"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severity macro-F1 (5-seed mean 0.99501)</a:t>
            </a:r>
          </a:p>
        </p:txBody>
      </p:sp>
      <p:sp>
        <p:nvSpPr>
          <p:cNvPr id="38" name="Rounded Rectangle 37"/>
          <p:cNvSpPr/>
          <p:nvPr/>
        </p:nvSpPr>
        <p:spPr>
          <a:xfrm>
            <a:off x="9025128"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32588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417320"/>
            <a:ext cx="2331720" cy="628650"/>
          </a:xfrm>
          <a:prstGeom prst="rect">
            <a:avLst/>
          </a:prstGeom>
          <a:noFill/>
        </p:spPr>
        <p:txBody>
          <a:bodyPr wrap="square" lIns="0" rIns="0" tIns="0" bIns="0" anchor="ctr">
            <a:spAutoFit/>
          </a:bodyPr>
          <a:lstStyle/>
          <a:p>
            <a:pPr algn="l">
              <a:spcAft>
                <a:spcPts val="400"/>
              </a:spcAft>
            </a:pPr>
            <a:r>
              <a:rPr sz="2400" b="1" i="0">
                <a:solidFill>
                  <a:srgbClr val="0F172A"/>
                </a:solidFill>
              </a:rPr>
              <a:t>0 of 460</a:t>
            </a:r>
          </a:p>
        </p:txBody>
      </p:sp>
      <p:sp>
        <p:nvSpPr>
          <p:cNvPr id="41" name="TextBox 40"/>
          <p:cNvSpPr txBox="1"/>
          <p:nvPr/>
        </p:nvSpPr>
        <p:spPr>
          <a:xfrm>
            <a:off x="9226296"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harsh-braking events flagged as accidents</a:t>
            </a:r>
          </a:p>
        </p:txBody>
      </p:sp>
      <p:pic>
        <p:nvPicPr>
          <p:cNvPr id="42" name="Picture 41" descr="f02_confusion_matrices.png"/>
          <p:cNvPicPr>
            <a:picLocks noChangeAspect="1"/>
          </p:cNvPicPr>
          <p:nvPr/>
        </p:nvPicPr>
        <p:blipFill>
          <a:blip r:embed="rId1"/>
          <a:stretch>
            <a:fillRect/>
          </a:stretch>
        </p:blipFill>
        <p:spPr>
          <a:xfrm>
            <a:off x="548640" y="2840736"/>
            <a:ext cx="6035040" cy="2548128"/>
          </a:xfrm>
          <a:prstGeom prst="rect">
            <a:avLst/>
          </a:prstGeom>
        </p:spPr>
      </p:pic>
      <p:pic>
        <p:nvPicPr>
          <p:cNvPr id="43" name="Picture 42" descr="f03_baselines.png"/>
          <p:cNvPicPr>
            <a:picLocks noChangeAspect="1"/>
          </p:cNvPicPr>
          <p:nvPr/>
        </p:nvPicPr>
        <p:blipFill>
          <a:blip r:embed="rId4"/>
          <a:stretch>
            <a:fillRect/>
          </a:stretch>
        </p:blipFill>
        <p:spPr>
          <a:xfrm>
            <a:off x="6766560" y="2991872"/>
            <a:ext cx="4846320" cy="2245855"/>
          </a:xfrm>
          <a:prstGeom prst="rect">
            <a:avLst/>
          </a:prstGeom>
        </p:spPr>
      </p:pic>
      <p:sp>
        <p:nvSpPr>
          <p:cNvPr id="44" name="TextBox 43"/>
          <p:cNvSpPr txBox="1"/>
          <p:nvPr/>
        </p:nvSpPr>
        <p:spPr>
          <a:xfrm>
            <a:off x="548640" y="5669280"/>
            <a:ext cx="11064240" cy="731520"/>
          </a:xfrm>
          <a:prstGeom prst="rect">
            <a:avLst/>
          </a:prstGeom>
          <a:noFill/>
        </p:spPr>
        <p:txBody>
          <a:bodyPr wrap="square" lIns="0" rIns="0" tIns="0" bIns="0" anchor="t">
            <a:spAutoFit/>
          </a:bodyPr>
          <a:lstStyle/>
          <a:p>
            <a:pPr algn="l">
              <a:spcAft>
                <a:spcPts val="400"/>
              </a:spcAft>
            </a:pPr>
            <a:r>
              <a:rPr sz="1200" b="0" i="0">
                <a:solidFill>
                  <a:srgbClr val="475569"/>
                </a:solidFill>
              </a:rPr>
              <a:t>Synthetic data from the training generator: the near-perfect scores show the classes are separable by construction. A single acc_magnitude threshold matches the detector (1.000) and scores 0.975 on severity; the forest gains 2.5 points there. Not comparable with the base paper.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Output screens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pic>
        <p:nvPicPr>
          <p:cNvPr id="26" name="Picture 25" descr="a2_deck_a.png"/>
          <p:cNvPicPr>
            <a:picLocks noChangeAspect="1"/>
          </p:cNvPicPr>
          <p:nvPr/>
        </p:nvPicPr>
        <p:blipFill>
          <a:blip r:embed="rId2"/>
          <a:stretch>
            <a:fillRect/>
          </a:stretch>
        </p:blipFill>
        <p:spPr>
          <a:xfrm>
            <a:off x="900067" y="1143000"/>
            <a:ext cx="4783544" cy="2560319"/>
          </a:xfrm>
          <a:prstGeom prst="rect">
            <a:avLst/>
          </a:prstGeom>
          <a:ln w="9525">
            <a:solidFill>
              <a:srgbClr val="D5DCE6"/>
            </a:solidFill>
          </a:ln>
        </p:spPr>
      </p:pic>
      <p:pic>
        <p:nvPicPr>
          <p:cNvPr id="27" name="Picture 26" descr="a2_deck_b.png"/>
          <p:cNvPicPr>
            <a:picLocks noChangeAspect="1"/>
          </p:cNvPicPr>
          <p:nvPr/>
        </p:nvPicPr>
        <p:blipFill>
          <a:blip r:embed="rId1"/>
          <a:stretch>
            <a:fillRect/>
          </a:stretch>
        </p:blipFill>
        <p:spPr>
          <a:xfrm>
            <a:off x="6523627" y="1143000"/>
            <a:ext cx="4783544" cy="2560319"/>
          </a:xfrm>
          <a:prstGeom prst="rect">
            <a:avLst/>
          </a:prstGeom>
          <a:ln w="9525">
            <a:solidFill>
              <a:srgbClr val="D5DCE6"/>
            </a:solidFill>
          </a:ln>
        </p:spPr>
      </p:pic>
      <p:pic>
        <p:nvPicPr>
          <p:cNvPr id="28" name="Picture 27" descr="a2_deck_c.png"/>
          <p:cNvPicPr>
            <a:picLocks noChangeAspect="1"/>
          </p:cNvPicPr>
          <p:nvPr/>
        </p:nvPicPr>
        <p:blipFill>
          <a:blip r:embed="rId5"/>
          <a:stretch>
            <a:fillRect/>
          </a:stretch>
        </p:blipFill>
        <p:spPr>
          <a:xfrm>
            <a:off x="1241749" y="3794760"/>
            <a:ext cx="4100181" cy="2194560"/>
          </a:xfrm>
          <a:prstGeom prst="rect">
            <a:avLst/>
          </a:prstGeom>
          <a:ln w="9525">
            <a:solidFill>
              <a:srgbClr val="D5DCE6"/>
            </a:solidFill>
          </a:ln>
        </p:spPr>
      </p:pic>
      <p:pic>
        <p:nvPicPr>
          <p:cNvPr id="29" name="Picture 28" descr="a2_deck_d.png"/>
          <p:cNvPicPr>
            <a:picLocks noChangeAspect="1"/>
          </p:cNvPicPr>
          <p:nvPr/>
        </p:nvPicPr>
        <p:blipFill>
          <a:blip r:embed="rId6"/>
          <a:stretch>
            <a:fillRect/>
          </a:stretch>
        </p:blipFill>
        <p:spPr>
          <a:xfrm>
            <a:off x="6865309" y="3794760"/>
            <a:ext cx="4100181" cy="2194560"/>
          </a:xfrm>
          <a:prstGeom prst="rect">
            <a:avLst/>
          </a:prstGeom>
          <a:ln w="9525">
            <a:solidFill>
              <a:srgbClr val="D5DCE6"/>
            </a:solidFill>
          </a:ln>
        </p:spPr>
      </p:pic>
      <p:sp>
        <p:nvSpPr>
          <p:cNvPr id="30" name="TextBox 29"/>
          <p:cNvSpPr txBox="1"/>
          <p:nvPr/>
        </p:nvSpPr>
        <p:spPr>
          <a:xfrm>
            <a:off x="548640" y="6053328"/>
            <a:ext cx="11064240" cy="365760"/>
          </a:xfrm>
          <a:prstGeom prst="rect">
            <a:avLst/>
          </a:prstGeom>
          <a:noFill/>
        </p:spPr>
        <p:txBody>
          <a:bodyPr wrap="square" lIns="0" rIns="0" tIns="0" bIns="0" anchor="t">
            <a:spAutoFit/>
          </a:bodyPr>
          <a:lstStyle/>
          <a:p>
            <a:pPr algn="l">
              <a:spcAft>
                <a:spcPts val="400"/>
              </a:spcAft>
            </a:pPr>
            <a:r>
              <a:rPr sz="1200" b="0" i="0">
                <a:solidFill>
                  <a:srgbClr val="475569"/>
                </a:solidFill>
              </a:rPr>
              <a:t>Live monitor and the 15 s confirmation for a Severe crash; dispatched alert with map; manual override result. Captured from the running app.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Initial testing and observations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
        <p:nvSpPr>
          <p:cNvPr id="26" name="Rounded Rectangle 25"/>
          <p:cNvSpPr/>
          <p:nvPr/>
        </p:nvSpPr>
        <p:spPr>
          <a:xfrm>
            <a:off x="548640"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32588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33 / 33</a:t>
            </a:r>
          </a:p>
        </p:txBody>
      </p:sp>
      <p:sp>
        <p:nvSpPr>
          <p:cNvPr id="29" name="TextBox 28"/>
          <p:cNvSpPr txBox="1"/>
          <p:nvPr/>
        </p:nvSpPr>
        <p:spPr>
          <a:xfrm>
            <a:off x="749808"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smoke-test checks passed</a:t>
            </a:r>
          </a:p>
        </p:txBody>
      </p:sp>
      <p:sp>
        <p:nvSpPr>
          <p:cNvPr id="30" name="Rounded Rectangle 29"/>
          <p:cNvSpPr/>
          <p:nvPr/>
        </p:nvSpPr>
        <p:spPr>
          <a:xfrm>
            <a:off x="3374136"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32588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47 / 55</a:t>
            </a:r>
          </a:p>
        </p:txBody>
      </p:sp>
      <p:sp>
        <p:nvSpPr>
          <p:cNvPr id="33" name="TextBox 32"/>
          <p:cNvSpPr txBox="1"/>
          <p:nvPr/>
        </p:nvSpPr>
        <p:spPr>
          <a:xfrm>
            <a:off x="3575304"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unit, edge and security checks passed</a:t>
            </a:r>
          </a:p>
        </p:txBody>
      </p:sp>
      <p:sp>
        <p:nvSpPr>
          <p:cNvPr id="34" name="Rounded Rectangle 33"/>
          <p:cNvSpPr/>
          <p:nvPr/>
        </p:nvSpPr>
        <p:spPr>
          <a:xfrm>
            <a:off x="6199631"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32588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18 / 18</a:t>
            </a:r>
          </a:p>
        </p:txBody>
      </p:sp>
      <p:sp>
        <p:nvSpPr>
          <p:cNvPr id="37" name="TextBox 36"/>
          <p:cNvSpPr txBox="1"/>
          <p:nvPr/>
        </p:nvSpPr>
        <p:spPr>
          <a:xfrm>
            <a:off x="6400799"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authentication and security checks</a:t>
            </a:r>
          </a:p>
        </p:txBody>
      </p:sp>
      <p:sp>
        <p:nvSpPr>
          <p:cNvPr id="38" name="Rounded Rectangle 37"/>
          <p:cNvSpPr/>
          <p:nvPr/>
        </p:nvSpPr>
        <p:spPr>
          <a:xfrm>
            <a:off x="9025128" y="132588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32588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41732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26 ms</a:t>
            </a:r>
          </a:p>
        </p:txBody>
      </p:sp>
      <p:sp>
        <p:nvSpPr>
          <p:cNvPr id="41" name="TextBox 40"/>
          <p:cNvSpPr txBox="1"/>
          <p:nvPr/>
        </p:nvSpPr>
        <p:spPr>
          <a:xfrm>
            <a:off x="9226296" y="1988819"/>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mean POST /api/predict on loopback</a:t>
            </a:r>
          </a:p>
        </p:txBody>
      </p:sp>
      <p:graphicFrame>
        <p:nvGraphicFramePr>
          <p:cNvPr id="42" name="Table 41"/>
          <p:cNvGraphicFramePr>
            <a:graphicFrameLocks noGrp="1"/>
          </p:cNvGraphicFramePr>
          <p:nvPr/>
        </p:nvGraphicFramePr>
        <p:xfrm>
          <a:off x="548640" y="2743200"/>
          <a:ext cx="11091672" cy="3291840"/>
        </p:xfrm>
        <a:graphic>
          <a:graphicData uri="http://schemas.openxmlformats.org/drawingml/2006/table">
            <a:tbl>
              <a:tblPr firstRow="0" bandRow="0">
                <a:tableStyleId>{5C22544A-7EE6-4342-B048-85BDC9FD1C3A}</a:tableStyleId>
              </a:tblPr>
              <a:tblGrid>
                <a:gridCol w="6217920"/>
                <a:gridCol w="4873752"/>
              </a:tblGrid>
              <a:tr h="822960">
                <a:tc>
                  <a:txBody>
                    <a:bodyPr wrap="square"/>
                    <a:lstStyle/>
                    <a:p>
                      <a:pPr algn="ctr"/>
                      <a:r>
                        <a:rPr sz="1400" b="1">
                          <a:solidFill>
                            <a:srgbClr val="FFFFFF"/>
                          </a:solidFill>
                        </a:rPr>
                        <a:t>Observation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822960">
                <a:tc>
                  <a:txBody>
                    <a:bodyPr wrap="square"/>
                    <a:lstStyle/>
                    <a:p>
                      <a:pPr algn="l"/>
                      <a:r>
                        <a:rPr sz="1400" b="0">
                          <a:solidFill>
                            <a:srgbClr val="0F172A"/>
                          </a:solidFill>
                        </a:rPr>
                        <a:t>Non-numeric input to /api/predict, /api/hospitals and /api/emergency returns HTTP 500; k = -1 returns 9 of 10 hospitals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Recorded as findings (8 failed checks); validation listed as next step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22960">
                <a:tc>
                  <a:txBody>
                    <a:bodyPr wrap="square"/>
                    <a:lstStyle/>
                    <a:p>
                      <a:pPr algn="l"/>
                      <a:r>
                        <a:rPr sz="1400" b="0">
                          <a:solidFill>
                            <a:srgbClr val="0F172A"/>
                          </a:solidFill>
                        </a:rPr>
                        <a:t>Two alerts raised in the same second get the same id (RQ-&lt;unix seconds&gt;)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Recorded; a UUID or counter is the fix</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22960">
                <a:tc>
                  <a:txBody>
                    <a:bodyPr wrap="square"/>
                    <a:lstStyle/>
                    <a:p>
                      <a:pPr algn="l"/>
                      <a:r>
                        <a:rPr sz="1400" b="0">
                          <a:solidFill>
                            <a:srgbClr val="0F172A"/>
                          </a:solidFill>
                        </a:rPr>
                        <a:t>Pothole-like and speed-breaker-like probes: about 49 % and 50 % flagged as accidents, none Moderate or Severe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No alert is started, but road-surface events need their own classes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Challenges and corrective actions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graphicFrame>
        <p:nvGraphicFramePr>
          <p:cNvPr id="26" name="Table 25"/>
          <p:cNvGraphicFramePr>
            <a:graphicFrameLocks noGrp="1"/>
          </p:cNvGraphicFramePr>
          <p:nvPr/>
        </p:nvGraphicFramePr>
        <p:xfrm>
          <a:off x="548640" y="1371600"/>
          <a:ext cx="11091672" cy="4937760"/>
        </p:xfrm>
        <a:graphic>
          <a:graphicData uri="http://schemas.openxmlformats.org/drawingml/2006/table">
            <a:tbl>
              <a:tblPr firstRow="0" bandRow="0">
                <a:tableStyleId>{5C22544A-7EE6-4342-B048-85BDC9FD1C3A}</a:tableStyleId>
              </a:tblPr>
              <a:tblGrid>
                <a:gridCol w="4937760"/>
                <a:gridCol w="6153912"/>
              </a:tblGrid>
              <a:tr h="822960">
                <a:tc>
                  <a:txBody>
                    <a:bodyPr wrap="square"/>
                    <a:lstStyle/>
                    <a:p>
                      <a:pPr algn="ctr"/>
                      <a:r>
                        <a:rPr sz="1500" b="1">
                          <a:solidFill>
                            <a:srgbClr val="FFFFFF"/>
                          </a:solidFill>
                        </a:rPr>
                        <a:t>Challenge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500" b="1">
                          <a:solidFill>
                            <a:srgbClr val="FFFFFF"/>
                          </a:solidFill>
                        </a:rPr>
                        <a:t>Corrective 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822960">
                <a:tc>
                  <a:txBody>
                    <a:bodyPr wrap="square"/>
                    <a:lstStyle/>
                    <a:p>
                      <a:pPr algn="l"/>
                      <a:r>
                        <a:rPr sz="1500" b="0">
                          <a:solidFill>
                            <a:srgbClr val="0F172A"/>
                          </a:solidFill>
                        </a:rPr>
                        <a:t>No real crash recordings or public sensor dataset in the project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Synthetic, labelled generator; every metric states it; a threshold baseline shows the ceiling effect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22960">
                <a:tc>
                  <a:txBody>
                    <a:bodyPr wrap="square"/>
                    <a:lstStyle/>
                    <a:p>
                      <a:pPr algn="l"/>
                      <a:r>
                        <a:rPr sz="1500" b="0">
                          <a:solidFill>
                            <a:srgbClr val="0F172A"/>
                          </a:solidFill>
                        </a:rPr>
                        <a:t>Pickles written by scikit-learn 1.9.0; requirements unpinned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Retrained with the same seed: 100 % agreement on 2,400 events; pinning is a next step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22960">
                <a:tc>
                  <a:txBody>
                    <a:bodyPr wrap="square"/>
                    <a:lstStyle/>
                    <a:p>
                      <a:pPr algn="l"/>
                      <a:r>
                        <a:rPr sz="1500" b="0">
                          <a:solidFill>
                            <a:srgbClr val="0F172A"/>
                          </a:solidFill>
                        </a:rPr>
                        <a:t>Potholes and speed breakers are not in the training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Measured with constructed probes (about 50 % flagged); the Moderate / Severe gate keeps them from alerting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22960">
                <a:tc>
                  <a:txBody>
                    <a:bodyPr wrap="square"/>
                    <a:lstStyle/>
                    <a:p>
                      <a:pPr algn="l"/>
                      <a:r>
                        <a:rPr sz="1500" b="0">
                          <a:solidFill>
                            <a:srgbClr val="0F172A"/>
                          </a:solidFill>
                        </a:rPr>
                        <a:t>Sensor noise was never part of training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Noise sweep: stable to 10 % noise, 24 % false alarms at 50 %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22960">
                <a:tc>
                  <a:txBody>
                    <a:bodyPr wrap="square"/>
                    <a:lstStyle/>
                    <a:p>
                      <a:pPr algn="l"/>
                      <a:r>
                        <a:rPr sz="1500" b="0">
                          <a:solidFill>
                            <a:srgbClr val="0F172A"/>
                          </a:solidFill>
                        </a:rPr>
                        <a:t>Test machine short of memory; first API run crashed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Repeated; timings are conservative and stated as such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Next steps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
        <p:nvSpPr>
          <p:cNvPr id="26" name="Rounded Rectangle 25"/>
          <p:cNvSpPr/>
          <p:nvPr/>
        </p:nvSpPr>
        <p:spPr>
          <a:xfrm>
            <a:off x="548640" y="1463040"/>
            <a:ext cx="26060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Real sensor data</a:t>
            </a:r>
          </a:p>
        </p:txBody>
      </p:sp>
      <p:sp>
        <p:nvSpPr>
          <p:cNvPr id="29" name="TextBox 28"/>
          <p:cNvSpPr txBox="1"/>
          <p:nvPr/>
        </p:nvSpPr>
        <p:spPr>
          <a:xfrm>
            <a:off x="749808" y="2331720"/>
            <a:ext cx="2203704" cy="3200399"/>
          </a:xfrm>
          <a:prstGeom prst="rect">
            <a:avLst/>
          </a:prstGeom>
          <a:noFill/>
        </p:spPr>
        <p:txBody>
          <a:bodyPr wrap="square" lIns="0" rIns="0" tIns="0" bIns="0" anchor="t">
            <a:spAutoFit/>
          </a:bodyPr>
          <a:lstStyle/>
          <a:p>
            <a:pPr algn="l">
              <a:spcAft>
                <a:spcPts val="400"/>
              </a:spcAft>
            </a:pPr>
            <a:r>
              <a:rPr sz="1600" b="0" i="0">
                <a:solidFill>
                  <a:srgbClr val="475569"/>
                </a:solidFill>
              </a:rPr>
              <a:t>Record accelerometer and gyroscope traces on phones, including potholes, speed breakers and hard braking, and retrain on them.</a:t>
            </a:r>
          </a:p>
        </p:txBody>
      </p:sp>
      <p:sp>
        <p:nvSpPr>
          <p:cNvPr id="30" name="Rounded Rectangle 29"/>
          <p:cNvSpPr/>
          <p:nvPr/>
        </p:nvSpPr>
        <p:spPr>
          <a:xfrm>
            <a:off x="3374136" y="1463040"/>
            <a:ext cx="26060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75304"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15384"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Road-surface classes</a:t>
            </a:r>
          </a:p>
        </p:txBody>
      </p:sp>
      <p:sp>
        <p:nvSpPr>
          <p:cNvPr id="33" name="TextBox 32"/>
          <p:cNvSpPr txBox="1"/>
          <p:nvPr/>
        </p:nvSpPr>
        <p:spPr>
          <a:xfrm>
            <a:off x="3575304" y="2331720"/>
            <a:ext cx="2203704" cy="3200399"/>
          </a:xfrm>
          <a:prstGeom prst="rect">
            <a:avLst/>
          </a:prstGeom>
          <a:noFill/>
        </p:spPr>
        <p:txBody>
          <a:bodyPr wrap="square" lIns="0" rIns="0" tIns="0" bIns="0" anchor="t">
            <a:spAutoFit/>
          </a:bodyPr>
          <a:lstStyle/>
          <a:p>
            <a:pPr algn="l">
              <a:spcAft>
                <a:spcPts val="400"/>
              </a:spcAft>
            </a:pPr>
            <a:r>
              <a:rPr sz="1600" b="0" i="0">
                <a:solidFill>
                  <a:srgbClr val="475569"/>
                </a:solidFill>
              </a:rPr>
              <a:t>Add pothole and speed-breaker classes and report false-alarm rate per event kind on real data.</a:t>
            </a:r>
          </a:p>
        </p:txBody>
      </p:sp>
      <p:sp>
        <p:nvSpPr>
          <p:cNvPr id="34" name="Rounded Rectangle 33"/>
          <p:cNvSpPr/>
          <p:nvPr/>
        </p:nvSpPr>
        <p:spPr>
          <a:xfrm>
            <a:off x="6199631" y="1463040"/>
            <a:ext cx="26060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00799"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40879"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Real delivery</a:t>
            </a:r>
          </a:p>
        </p:txBody>
      </p:sp>
      <p:sp>
        <p:nvSpPr>
          <p:cNvPr id="37" name="TextBox 36"/>
          <p:cNvSpPr txBox="1"/>
          <p:nvPr/>
        </p:nvSpPr>
        <p:spPr>
          <a:xfrm>
            <a:off x="6400799" y="2331720"/>
            <a:ext cx="2203704" cy="3200399"/>
          </a:xfrm>
          <a:prstGeom prst="rect">
            <a:avLst/>
          </a:prstGeom>
          <a:noFill/>
        </p:spPr>
        <p:txBody>
          <a:bodyPr wrap="square" lIns="0" rIns="0" tIns="0" bIns="0" anchor="t">
            <a:spAutoFit/>
          </a:bodyPr>
          <a:lstStyle/>
          <a:p>
            <a:pPr algn="l">
              <a:spcAft>
                <a:spcPts val="400"/>
              </a:spcAft>
            </a:pPr>
            <a:r>
              <a:rPr sz="1600" b="0" i="0">
                <a:solidFill>
                  <a:srgbClr val="475569"/>
                </a:solidFill>
              </a:rPr>
              <a:t>Connect an SMS or call gateway and measure end-to-end latency including delivery, not only the 56 ms of compute.</a:t>
            </a:r>
          </a:p>
        </p:txBody>
      </p:sp>
      <p:sp>
        <p:nvSpPr>
          <p:cNvPr id="38" name="Rounded Rectangle 37"/>
          <p:cNvSpPr/>
          <p:nvPr/>
        </p:nvSpPr>
        <p:spPr>
          <a:xfrm>
            <a:off x="9025128" y="1463040"/>
            <a:ext cx="26060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226296" y="16459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66376"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Harden and pin</a:t>
            </a:r>
          </a:p>
        </p:txBody>
      </p:sp>
      <p:sp>
        <p:nvSpPr>
          <p:cNvPr id="41" name="TextBox 40"/>
          <p:cNvSpPr txBox="1"/>
          <p:nvPr/>
        </p:nvSpPr>
        <p:spPr>
          <a:xfrm>
            <a:off x="9226296" y="2331720"/>
            <a:ext cx="2203704" cy="3200399"/>
          </a:xfrm>
          <a:prstGeom prst="rect">
            <a:avLst/>
          </a:prstGeom>
          <a:noFill/>
        </p:spPr>
        <p:txBody>
          <a:bodyPr wrap="square" lIns="0" rIns="0" tIns="0" bIns="0" anchor="t">
            <a:spAutoFit/>
          </a:bodyPr>
          <a:lstStyle/>
          <a:p>
            <a:pPr algn="l">
              <a:spcAft>
                <a:spcPts val="400"/>
              </a:spcAft>
            </a:pPr>
            <a:r>
              <a:rPr sz="1600" b="0" i="0">
                <a:solidFill>
                  <a:srgbClr val="475569"/>
                </a:solidFill>
              </a:rPr>
              <a:t>Validate all inputs, use unique alert ids, store alerts per user and pin the library versions.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ResQAI">
  <a:themeElements>
    <a:clrScheme name="ResQAI">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ResQ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sQA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ResQAI: AI-Based Accident Detection, Severity Assessment and Intelligent Emergency Response System: Review 2</dc:title>
  <dc:subject>Batch A2 (CSE-A)</dc:subject>
  <dc:creator>Adepu Meenakshi, Ayila Shanmukha Sai, Chekka Chandrashekhar, Avula Sreeya</dc:creator>
  <cp:lastModifiedBy/>
  <cp:revision>1</cp:revision>
  <dcterms:created xsi:type="dcterms:W3CDTF">2026-10-13T12:40:05Z</dcterms:created>
  <dcterms:modified xsi:type="dcterms:W3CDTF">2026-10-13T12:40:05Z</dcterms:modified>
  <cp:keywords>accident detection, severity prediction, smartphone sensors, random forest, GPS, emergency response</cp:keywords>
  <dc:description/>
</cp:coreProperties>
</file>