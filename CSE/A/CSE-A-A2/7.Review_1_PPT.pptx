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ff0aec94-eb0f-294a-de05-1614c3997827}">
          <p14:sldIdLst>
            <p14:sldId id="256"/>
            <p14:sldId id="257"/>
            <p14:sldId id="258"/>
          </p14:sldIdLst>
        </p14:section>
        <p14:section name="Research" id="{c5b655bf-1c78-45d9-2d43-c8947840fc05}">
          <p14:sldIdLst>
            <p14:sldId id="259"/>
            <p14:sldId id="260"/>
            <p14:sldId id="261"/>
          </p14:sldIdLst>
        </p14:section>
        <p14:section name="Problem" id="{c83c02f1-f6cc-56f3-d67e-57d82ce85a28}">
          <p14:sldIdLst>
            <p14:sldId id="262"/>
            <p14:sldId id="263"/>
            <p14:sldId id="264"/>
            <p14:sldId id="265"/>
            <p14:sldId id="266"/>
          </p14:sldIdLst>
        </p14:section>
        <p14:section name="Proposed solution" id="{0d7ed7fb-f0c3-288f-402c-2a68d644f815}">
          <p14:sldIdLst>
            <p14:sldId id="267"/>
            <p14:sldId id="268"/>
            <p14:sldId id="269"/>
            <p14:sldId id="270"/>
            <p14:sldId id="27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Base-paper accuracy</c:v>
                </c:pt>
              </c:strCache>
            </c:strRef>
          </c:tx>
          <c:spPr>
            <a:solidFill>
              <a:srgbClr val="2A78D6"/>
            </a:solidFill>
          </c:spPr>
          <c:cat>
            <c:strRef>
              <c:f>Sheet1!$A$2:$A$4</c:f>
              <c:strCache>
                <c:ptCount val="3"/>
                <c:pt idx="0">
                  <c:v>Injury
severity</c:v>
                </c:pt>
                <c:pt idx="1">
                  <c:v>Fatal
severity</c:v>
                </c:pt>
                <c:pt idx="2">
                  <c:v>Property
loss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0.7031</c:v>
                </c:pt>
                <c:pt idx="1">
                  <c:v>0.9038</c:v>
                </c:pt>
                <c:pt idx="2">
                  <c:v>0.8079</c:v>
                </c:pt>
              </c:numCache>
            </c:numRef>
          </c:val>
        </c:ser>
        <c:dLbls>
          <c:numFmt formatCode="0.0%" sourceLinked="0"/>
          <c:txPr>
            <a:bodyPr/>
            <a:lstStyle/>
            <a:p>
              <a:pPr>
                <a:defRPr sz="11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5DCE6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.15"/>
          <c:min val="0.0"/>
        </c:scaling>
        <c:delete val="0"/>
        <c:axPos val="l"/>
        <c:majorGridlines>
          <c:spPr>
            <a:ln>
              <a:solidFill>
                <a:srgbClr val="D5DCE6"/>
              </a:solidFill>
            </a:ln>
          </c:spPr>
        </c:majorGridlines>
        <c:numFmt formatCode="0.0%" sourceLinked="0"/>
        <c:majorTickMark val="out"/>
        <c:minorTickMark val="none"/>
        <c:tickLblPos val="nextTo"/>
        <c:spPr>
          <a:ln>
            <a:noFill/>
          </a:ln>
        </c:spPr>
        <c:crossAx val="-2068027336"/>
        <c:crosses val="autoZero"/>
      </c:valAx>
    </c:plotArea>
    <c:dispBlanksAs val="gap"/>
  </c:chart>
  <c:txPr>
    <a:bodyPr/>
    <a:lstStyle/>
    <a:p>
      <a:pPr>
        <a:defRPr sz="12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Introduce the team and the title. One sentence: ResQAI watches motion-sensor readings, decides whether an event is a crash, grades how severe it is, asks the occupant to confirm, and then prepares a located alert with the nearest hospitals.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Agenda. This review is about why the problem matters and what is missing in current work; design and results come in the later reviews.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Three points: why delay costs lives, the two-model idea with a confirmation step, and what is delivered, stressing that it is a demonstration on simulated sensor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Wang, Liang and He, IEEE Access 2026. A different task: records of past crashes, not live sensors. We borrow the idea of grading severity and of reporting per-class metrics; we do not use the FT-Transformer, the data, SMOTE or SHAP, and we do not claim to beat these numbers.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pattern: severity models work on recorded data; IoT prototypes alert but do not grade; camera systems need infrastructure. Four more papers in the batch survey (IJRPR 2025, ITSC 2024, INDICON 2024, a 2026 review) could not be located, so the report lists them as not verified and uses none of them for a claim.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Evidence that each ingredient works on its own. None of these numbers is ours, and they come from different tasks; this project measures its own pipeline on its own data in later reviews.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Today the severity of a crash is learned only when someone arrives. Existing research either analyses past crashes or sends an unprioritised alert.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Four limitations, each answered by a design decision: a severity grade, live sensing, a phone-based design and a measured false-alarm rate with a confirmation step.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batch survey states the gap as the missing closed loop from live sensing through severity grading to automated hospital dispatch. We address it end to end on simulated data; gaps 1-4 are addressed by design, gap 5 is measured later and the answer for potholes and speed breakers is only partly positive.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Need: a smartphone-based system that detects a crash, grades its severity, and dispatches a located, prioritised alert automatically, with a way to cancel false alarms.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six objectives from the proposal. The final review reports honestly which were met: objectives 1 and 5 are only partly met (no real recordings; the alert is drafted, not sent).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Four stages from sensor reading to dispatch message. The honest limits are on the slide: simulated sensors and a displayed, not transmitted, alert.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Follow the diagram top to bottom: the browser sends a reading, the API scales it and calls the two forests, and the hospital directory and accounts are local JSON files.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Expected outcomes. The later reviews report what was actually measured, including what could not be measured.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Selected references; the complete numbered list of 28 entries, with four marked as not verified, is in the project report.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Likely questions: why two models instead of one; why a random forest; what the 100 percent detector score means (the synthetic classes are easily separable); what happens with potholes (not modelled); and whether an alert is really sent (no, it is drafted and displayed).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417320"/>
            <a:ext cx="11094415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880360"/>
            <a:ext cx="11094415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ResQAI  ·  Review 1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194560"/>
            <a:ext cx="11094415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474720"/>
            <a:ext cx="11094415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ADCF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3" Type="http://schemas.openxmlformats.org/officeDocument/2006/relationships/chart" Target="../charts/chart1.xml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417320"/>
            <a:ext cx="1109441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ResQAI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8803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Accident Detection, Severity Assessment and Intelligent Emergency Response System</a:t>
            </a:r>
            <a:endParaRPr lang="en-US" sz="2000" dirty="0"/>
          </a:p>
        </p:txBody>
      </p:sp>
      <p:sp>
        <p:nvSpPr>
          <p:cNvPr id="4" name="review label"/>
          <p:cNvSpPr txBox="1"/>
          <p:nvPr/>
        </p:nvSpPr>
        <p:spPr>
          <a:xfrm>
            <a:off x="548640" y="6400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DA100"/>
                </a:solidFill>
              </a:rPr>
              <a:t>REVIEW 1  ·  PROBLEM IDENTIFICATION AND RESEARCH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16052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</a:rPr>
              <a:t>Presented by</a:t>
            </a:r>
            <a:endParaRPr lang="en-US" sz="1400" dirty="0"/>
          </a:p>
        </p:txBody>
      </p:sp>
      <p:sp>
        <p:nvSpPr>
          <p:cNvPr id="6" name="team"/>
          <p:cNvSpPr txBox="1"/>
          <p:nvPr/>
        </p:nvSpPr>
        <p:spPr>
          <a:xfrm>
            <a:off x="548640" y="4480560"/>
            <a:ext cx="5120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Adepu Meenakshi  23K91A0503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Ayila Shanmukha Sai  23K91A0521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Chekka Chandrashekhar  23K91A0552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Avula Sreeya  23K91A0519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400800" y="416052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</a:rPr>
              <a:t>Under the guidance of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400800" y="448056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Shirisha Reddy, [DESIGNATION]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400800" y="4983480"/>
            <a:ext cx="5212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</a:rPr>
              <a:t>Department of Computer Science and Engineering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</a:rPr>
              <a:t>TKR College of Engineering &amp; Technology  ·  Batch A2 (CSE-A)  ·  [ACADEMIC YEAR]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Contents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548640" y="1417320"/>
            <a:ext cx="3520440" cy="132588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777240" y="1545336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EB6834"/>
                </a:solidFill>
                <a:latin typeface="Cambria"/>
                <a:ea typeface="Cambria"/>
                <a:cs typeface="Cambria"/>
              </a:rPr>
              <a:t>01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2075688"/>
            <a:ext cx="30632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Abstract and overview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334255" y="1417320"/>
            <a:ext cx="3520440" cy="132588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4562855" y="1545336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2A78D6"/>
                </a:solidFill>
                <a:latin typeface="Cambria"/>
                <a:ea typeface="Cambria"/>
                <a:cs typeface="Cambria"/>
              </a:rPr>
              <a:t>02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62855" y="2075688"/>
            <a:ext cx="30632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Base paper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119871" y="1417320"/>
            <a:ext cx="3520440" cy="132588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8348471" y="1545336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1BAF7A"/>
                </a:solidFill>
                <a:latin typeface="Cambria"/>
                <a:ea typeface="Cambria"/>
                <a:cs typeface="Cambria"/>
              </a:rPr>
              <a:t>03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48471" y="2075688"/>
            <a:ext cx="30632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Literature survey and evidence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48640" y="3017520"/>
            <a:ext cx="3520440" cy="132588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777240" y="3145536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6B52D6"/>
                </a:solidFill>
                <a:latin typeface="Cambria"/>
                <a:ea typeface="Cambria"/>
                <a:cs typeface="Cambria"/>
              </a:rPr>
              <a:t>04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7240" y="3675887"/>
            <a:ext cx="30632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Existing system and limitations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334255" y="3017520"/>
            <a:ext cx="3520440" cy="132588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4562855" y="3145536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EB6834"/>
                </a:solidFill>
                <a:latin typeface="Cambria"/>
                <a:ea typeface="Cambria"/>
                <a:cs typeface="Cambria"/>
              </a:rPr>
              <a:t>05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62855" y="3675887"/>
            <a:ext cx="30632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Research gap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119871" y="3017520"/>
            <a:ext cx="3520440" cy="132588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8348471" y="3145536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2A78D6"/>
                </a:solidFill>
                <a:latin typeface="Cambria"/>
                <a:ea typeface="Cambria"/>
                <a:cs typeface="Cambria"/>
              </a:rPr>
              <a:t>06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48471" y="3675887"/>
            <a:ext cx="30632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Problem statement and objectives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48640" y="4617720"/>
            <a:ext cx="3520440" cy="132588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777240" y="4745736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1BAF7A"/>
                </a:solidFill>
                <a:latin typeface="Cambria"/>
                <a:ea typeface="Cambria"/>
                <a:cs typeface="Cambria"/>
              </a:rPr>
              <a:t>07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77240" y="5276088"/>
            <a:ext cx="30632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Proposed approach and architecture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334255" y="4617720"/>
            <a:ext cx="3520440" cy="132588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TextBox 47"/>
          <p:cNvSpPr txBox="1"/>
          <p:nvPr/>
        </p:nvSpPr>
        <p:spPr>
          <a:xfrm>
            <a:off x="4562855" y="4745736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6B52D6"/>
                </a:solidFill>
                <a:latin typeface="Cambria"/>
                <a:ea typeface="Cambria"/>
                <a:cs typeface="Cambria"/>
              </a:rPr>
              <a:t>08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562855" y="5276088"/>
            <a:ext cx="30632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Expected outcomes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119871" y="4617720"/>
            <a:ext cx="3520440" cy="132588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" name="TextBox 50"/>
          <p:cNvSpPr txBox="1"/>
          <p:nvPr/>
        </p:nvSpPr>
        <p:spPr>
          <a:xfrm>
            <a:off x="8348471" y="4745736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EB6834"/>
                </a:solidFill>
                <a:latin typeface="Cambria"/>
                <a:ea typeface="Cambria"/>
                <a:cs typeface="Cambria"/>
              </a:rPr>
              <a:t>09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348471" y="5276088"/>
            <a:ext cx="30632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References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Abstract: from a motion sensor to a located alert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548640" y="1371600"/>
            <a:ext cx="3520440" cy="448056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Oval 26"/>
          <p:cNvSpPr/>
          <p:nvPr/>
        </p:nvSpPr>
        <p:spPr>
          <a:xfrm>
            <a:off x="749808" y="1554480"/>
            <a:ext cx="502920" cy="502920"/>
          </a:xfrm>
          <a:prstGeom prst="ellipse">
            <a:avLst/>
          </a:prstGeom>
          <a:solidFill>
            <a:srgbClr val="EB6834"/>
          </a:solidFill>
          <a:ln w="9525">
            <a:solidFill>
              <a:srgbClr val="EB68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!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89888" y="1527048"/>
            <a:ext cx="25146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The problem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808" y="2240280"/>
            <a:ext cx="3118104" cy="3474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475569"/>
                </a:solidFill>
              </a:rPr>
              <a:t>Road accidents can be fatal when victims cannot call for help; the first hour decides survival. Crash detection that only says an impact happened gives responders no way to prioritise.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34255" y="1371600"/>
            <a:ext cx="3520440" cy="448056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Oval 30"/>
          <p:cNvSpPr/>
          <p:nvPr/>
        </p:nvSpPr>
        <p:spPr>
          <a:xfrm>
            <a:off x="4535423" y="1554480"/>
            <a:ext cx="502920" cy="502920"/>
          </a:xfrm>
          <a:prstGeom prst="ellipse">
            <a:avLst/>
          </a:prstGeom>
          <a:solidFill>
            <a:srgbClr val="2A78D6"/>
          </a:solidFill>
          <a:ln w="9525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75503" y="1527048"/>
            <a:ext cx="25146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Our idea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35423" y="2240280"/>
            <a:ext cx="3118104" cy="3474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475569"/>
                </a:solidFill>
              </a:rPr>
              <a:t>Use the sensors every smartphone already has. Two random forests decide whether a reading is a crash and grade it None, Minor, Moderate or Severe; only Moderate or Severe starts a 15-second confirmation.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119871" y="1371600"/>
            <a:ext cx="3520440" cy="448056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Oval 34"/>
          <p:cNvSpPr/>
          <p:nvPr/>
        </p:nvSpPr>
        <p:spPr>
          <a:xfrm>
            <a:off x="8321040" y="1554480"/>
            <a:ext cx="502920" cy="502920"/>
          </a:xfrm>
          <a:prstGeom prst="ellipse">
            <a:avLst/>
          </a:prstGeom>
          <a:solidFill>
            <a:srgbClr val="1BAF7A"/>
          </a:solidFill>
          <a:ln w="9525">
            <a:solidFill>
              <a:srgbClr val="1BAF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961119" y="1527048"/>
            <a:ext cx="25146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The deliverable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21040" y="2240280"/>
            <a:ext cx="3118104" cy="3474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475569"/>
                </a:solidFill>
              </a:rPr>
              <a:t>A Flask API and a React console: simulated sensor feed, detection, countdown, GPS location, the three nearest hospitals and a drafted dispatch message. A demonstration: no real phone is attached and nothing is transmitted.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 paper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548640" y="1280160"/>
            <a:ext cx="11091672" cy="100584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749808" y="1353312"/>
            <a:ext cx="1069848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0F172A"/>
                </a:solidFill>
              </a:rPr>
              <a:t>Y. Wang, Z. Liang and Y. He, "Multi-Task FT-Transformer: A high-performance and interpretable framework for traffic accident severity prediction," IEEE Access, vol. 14, pp. 21585-21606, 2026, doi: 10.1109/ACCESS.2026.3658687.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2514600"/>
            <a:ext cx="3520440" cy="365760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Oval 28"/>
          <p:cNvSpPr/>
          <p:nvPr/>
        </p:nvSpPr>
        <p:spPr>
          <a:xfrm>
            <a:off x="749808" y="2697480"/>
            <a:ext cx="502920" cy="502920"/>
          </a:xfrm>
          <a:prstGeom prst="ellipse">
            <a:avLst/>
          </a:prstGeom>
          <a:solidFill>
            <a:srgbClr val="2A78D6"/>
          </a:solidFill>
          <a:ln w="9525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89888" y="2670048"/>
            <a:ext cx="25146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Method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9808" y="3383280"/>
            <a:ext cx="3118104" cy="2651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475569"/>
                </a:solidFill>
              </a:rPr>
              <a:t>A multi-task FT-Transformer predicts injury, fatal and property-loss severity together, balancing the three losses by learned uncertainty; SHAP explains the features. Tabular crash records, SMOTE on the training split.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334255" y="2514600"/>
            <a:ext cx="3520440" cy="365760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Oval 32"/>
          <p:cNvSpPr/>
          <p:nvPr/>
        </p:nvSpPr>
        <p:spPr>
          <a:xfrm>
            <a:off x="4535423" y="2697480"/>
            <a:ext cx="502920" cy="502920"/>
          </a:xfrm>
          <a:prstGeom prst="ellipse">
            <a:avLst/>
          </a:prstGeom>
          <a:solidFill>
            <a:srgbClr val="1BAF7A"/>
          </a:solidFill>
          <a:ln w="9525">
            <a:solidFill>
              <a:srgbClr val="1BAF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175503" y="2670048"/>
            <a:ext cx="25146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Data and reported results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35423" y="3383280"/>
            <a:ext cx="3118104" cy="2651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475569"/>
                </a:solidFill>
              </a:rPr>
              <a:t>30,442 police-reported crashes from Dongguan, China (2019-2023): 19,483 train, 4,871 validation, 6,088 test. Accuracy 70.31 % (injury), 90.38 % (fatal), 80.79 % (property loss); F1 64.48 / 86.71 / 79.18 %.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119871" y="2514600"/>
            <a:ext cx="3520440" cy="365760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Oval 36"/>
          <p:cNvSpPr/>
          <p:nvPr/>
        </p:nvSpPr>
        <p:spPr>
          <a:xfrm>
            <a:off x="8321040" y="2697480"/>
            <a:ext cx="502920" cy="502920"/>
          </a:xfrm>
          <a:prstGeom prst="ellipse">
            <a:avLst/>
          </a:prstGeom>
          <a:solidFill>
            <a:srgbClr val="EB6834"/>
          </a:solidFill>
          <a:ln w="9525">
            <a:solidFill>
              <a:srgbClr val="EB68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961119" y="2670048"/>
            <a:ext cx="25146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Relevance to this project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21040" y="3383280"/>
            <a:ext cx="3118104" cy="2651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475569"/>
                </a:solidFill>
              </a:rPr>
              <a:t>It shows that severity can be graded as a classification task and reported with accuracy, precision, recall and F1. It does not sense, detect, locate or dispatch: it analyses a crash after it happened. Its numbers are not comparable with ours.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Literature survey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548640" y="1234440"/>
          <a:ext cx="11091672" cy="493776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286000"/>
                <a:gridCol w="640080"/>
                <a:gridCol w="4206240"/>
                <a:gridCol w="3959352"/>
              </a:tblGrid>
              <a:tr h="548640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Work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Year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Approach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Reported result / limitation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1B2A41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</a:rPr>
                        <a:t>Wang et al. (base) [1]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F172A"/>
                          </a:solidFill>
                        </a:rPr>
                        <a:t>2026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</a:rPr>
                        <a:t>Multi-task FT-Transformer, uncertainty-weighted loss, SHAP; tabular crash records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</a:rPr>
                        <a:t>70.31 / 90.38 / 80.79 % accuracy (injury / fatal / property); one city, after the event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</a:rPr>
                        <a:t>GreenBox [6]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F172A"/>
                          </a:solidFill>
                        </a:rPr>
                        <a:t>2026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</a:rPr>
                        <a:t>Arduino + GSM/GPS shield; push-button impact and MPU-6050 rollover sensing; SMS to contacts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</a:rPr>
                        <a:t>Alerts 'in seconds'; no accuracy or latency figures; no machine learning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</a:rPr>
                        <a:t>CIRS [7]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F172A"/>
                          </a:solidFill>
                        </a:rPr>
                        <a:t>2025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</a:rPr>
                        <a:t>YOLOv11 on camera frames plus a video-language model; multi-agent dispatch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</a:rPr>
                        <a:t>Top-1 86.5 %, F1 0.861 on 10,000 frames; fixed cameras, not phones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</a:rPr>
                        <a:t>Karthik et al. [9]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F172A"/>
                          </a:solidFill>
                        </a:rPr>
                        <a:t>2023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</a:rPr>
                        <a:t>Arduino, GSM, vibration sensor and accelerometer; SMS alert (as described in [6])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</a:rPr>
                        <a:t>No machine learning; results not quoted here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</a:rPr>
                        <a:t>Sharma and Sebastian [12]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F172A"/>
                          </a:solidFill>
                        </a:rPr>
                        <a:t>2019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</a:rPr>
                        <a:t>Arduino with accelerometer, vibration and seat-belt heart-rate sensor; GPS and GSM alert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</a:rPr>
                        <a:t>Sensor rules; results not quoted here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</a:rPr>
                        <a:t>Sameen and Pradhan [17]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F172A"/>
                          </a:solidFill>
                        </a:rPr>
                        <a:t>2017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</a:rPr>
                        <a:t>Recurrent neural network on recorded crash data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</a:rPr>
                        <a:t>73.76 % accuracy (as reported in [1]); data from past crashes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</a:rPr>
                        <a:t>Chen and Chen [16]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F172A"/>
                          </a:solidFill>
                        </a:rPr>
                        <a:t>2020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</a:rPr>
                        <a:t>Logistic regression, decision tree, random forest on 9,472 Taiwan crashes (as cited in [1])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</a:rPr>
                        <a:t>Random forest most effective; recorded crashes, no live sensing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</a:rPr>
                        <a:t>Hamdan and Sipos [13]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F172A"/>
                          </a:solidFill>
                        </a:rPr>
                        <a:t>2025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</a:rPr>
                        <a:t>Review of machine-learning severity models (random forest, XGBoost, SVM)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</a:rPr>
                        <a:t>No numeric result in the abstract; severity from records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Supporting evidence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  <p:graphicFrame>
        <p:nvGraphicFramePr>
          <p:cNvPr id="26" name="Chart 25"/>
          <p:cNvGraphicFramePr>
            <a:graphicFrameLocks noGrp="1"/>
          </p:cNvGraphicFramePr>
          <p:nvPr/>
        </p:nvGraphicFramePr>
        <p:xfrm>
          <a:off x="548640" y="1280160"/>
          <a:ext cx="5212080" cy="45720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27" name="TextBox 26"/>
          <p:cNvSpPr txBox="1"/>
          <p:nvPr/>
        </p:nvSpPr>
        <p:spPr>
          <a:xfrm>
            <a:off x="6035040" y="1325880"/>
            <a:ext cx="557784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56032" indent="-201168">
              <a:spcAft>
                <a:spcPts val="1000"/>
              </a:spcAft>
              <a:buChar char="•"/>
            </a:pPr>
            <a:r>
              <a:rPr sz="1500" b="0" i="0">
                <a:solidFill>
                  <a:srgbClr val="0F172A"/>
                </a:solidFill>
              </a:rPr>
              <a:t>Severity can be learned as a classification task: the base paper reaches 70.31 / 90.38 / 80.79 % on 6,088 test records [1].</a:t>
            </a:r>
          </a:p>
          <a:p>
            <a:pPr algn="l" marL="256032" indent="-201168">
              <a:spcAft>
                <a:spcPts val="1000"/>
              </a:spcAft>
              <a:buChar char="•"/>
            </a:pPr>
            <a:r>
              <a:rPr sz="1500" b="0" i="0">
                <a:solidFill>
                  <a:srgbClr val="0F172A"/>
                </a:solidFill>
              </a:rPr>
              <a:t>Random forests were the most effective of three models on 9,472 Taiwan crashes, as the base paper reports [16].</a:t>
            </a:r>
          </a:p>
          <a:p>
            <a:pPr algn="l" marL="256032" indent="-201168">
              <a:spcAft>
                <a:spcPts val="1000"/>
              </a:spcAft>
              <a:buChar char="•"/>
            </a:pPr>
            <a:r>
              <a:rPr sz="1500" b="0" i="0">
                <a:solidFill>
                  <a:srgbClr val="0F172A"/>
                </a:solidFill>
              </a:rPr>
              <a:t>Low-cost accelerometer, GPS and GSM hardware can send an SMS alert in seconds, and the owner can cancel a false detection [6].</a:t>
            </a:r>
          </a:p>
          <a:p>
            <a:pPr algn="l" marL="256032" indent="-201168">
              <a:spcAft>
                <a:spcPts val="1000"/>
              </a:spcAft>
              <a:buChar char="•"/>
            </a:pPr>
            <a:r>
              <a:rPr sz="1500" b="0" i="0">
                <a:solidFill>
                  <a:srgbClr val="0F172A"/>
                </a:solidFill>
              </a:rPr>
              <a:t>Camera detection reaches F1 0.861 but needs fixed cameras [7]; a phone is already inside the vehicle.</a:t>
            </a:r>
          </a:p>
          <a:p>
            <a:pPr algn="l" marL="256032" indent="-201168">
              <a:spcAft>
                <a:spcPts val="1000"/>
              </a:spcAft>
              <a:buChar char="•"/>
            </a:pPr>
            <a:r>
              <a:rPr sz="1500" b="0" i="0">
                <a:solidFill>
                  <a:srgbClr val="0F172A"/>
                </a:solidFill>
              </a:rPr>
              <a:t>Smartphones already carry an accelerometer, a gyroscope and GPS (batch introduction).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594360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1">
                <a:solidFill>
                  <a:srgbClr val="475569"/>
                </a:solidFill>
              </a:rPr>
              <a:t>Different tasks and data from ours: shown as context for the approach, not as our result.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Existing system and current approaches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548640" y="1371600"/>
            <a:ext cx="2430018" cy="1005840"/>
          </a:xfrm>
          <a:prstGeom prst="roundRect">
            <a:avLst>
              <a:gd name="adj" fmla="val 8000"/>
            </a:avLst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600" b="1">
                <a:solidFill>
                  <a:srgbClr val="FFFFFF"/>
                </a:solidFill>
              </a:rPr>
              <a:t>Crash happens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3106674" y="1755648"/>
            <a:ext cx="201168" cy="237744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3435858" y="1371600"/>
            <a:ext cx="2430018" cy="1005840"/>
          </a:xfrm>
          <a:prstGeom prst="roundRect">
            <a:avLst>
              <a:gd name="adj" fmla="val 8000"/>
            </a:avLst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600" b="1">
                <a:solidFill>
                  <a:srgbClr val="FFFFFF"/>
                </a:solidFill>
              </a:rPr>
              <a:t>Witness or victim calls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5993892" y="1755648"/>
            <a:ext cx="201168" cy="237744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323076" y="1371600"/>
            <a:ext cx="2430018" cy="1005840"/>
          </a:xfrm>
          <a:prstGeom prst="roundRect">
            <a:avLst>
              <a:gd name="adj" fmla="val 8000"/>
            </a:avLst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600" b="1">
                <a:solidFill>
                  <a:srgbClr val="FFFFFF"/>
                </a:solidFill>
              </a:rPr>
              <a:t>Responders told 'accident'</a:t>
            </a:r>
          </a:p>
        </p:txBody>
      </p:sp>
      <p:sp>
        <p:nvSpPr>
          <p:cNvPr id="31" name="Right Arrow 30"/>
          <p:cNvSpPr/>
          <p:nvPr/>
        </p:nvSpPr>
        <p:spPr>
          <a:xfrm>
            <a:off x="8881110" y="1755648"/>
            <a:ext cx="201168" cy="237744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9210294" y="1371600"/>
            <a:ext cx="2430018" cy="1005840"/>
          </a:xfrm>
          <a:prstGeom prst="roundRect">
            <a:avLst>
              <a:gd name="adj" fmla="val 8000"/>
            </a:avLst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600" b="1">
                <a:solidFill>
                  <a:srgbClr val="FFFFFF"/>
                </a:solidFill>
              </a:rPr>
              <a:t>Severity learned on arrival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48640" y="2697480"/>
            <a:ext cx="5440680" cy="347472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Oval 33"/>
          <p:cNvSpPr/>
          <p:nvPr/>
        </p:nvSpPr>
        <p:spPr>
          <a:xfrm>
            <a:off x="749808" y="2880360"/>
            <a:ext cx="502920" cy="502920"/>
          </a:xfrm>
          <a:prstGeom prst="ellipse">
            <a:avLst/>
          </a:prstGeom>
          <a:solidFill>
            <a:srgbClr val="2A78D6"/>
          </a:solidFill>
          <a:ln w="9525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89888" y="2852928"/>
            <a:ext cx="44348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Manual reporting and dedicated hardware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9808" y="3566160"/>
            <a:ext cx="5038344" cy="24688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475569"/>
                </a:solidFill>
              </a:rPr>
              <a:t>Accidents on remote stretches go unreported until a passer-by intervenes. Dedicated in-vehicle crash units exist but are costly and absent from most two-wheelers and older cars. Where detection exists, it reports only that an impact occurred.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199632" y="2697480"/>
            <a:ext cx="5440680" cy="347472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Oval 37"/>
          <p:cNvSpPr/>
          <p:nvPr/>
        </p:nvSpPr>
        <p:spPr>
          <a:xfrm>
            <a:off x="6400800" y="2880360"/>
            <a:ext cx="502920" cy="502920"/>
          </a:xfrm>
          <a:prstGeom prst="ellipse">
            <a:avLst/>
          </a:prstGeom>
          <a:solidFill>
            <a:srgbClr val="EB6834"/>
          </a:solidFill>
          <a:ln w="9525">
            <a:solidFill>
              <a:srgbClr val="EB68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040880" y="2852928"/>
            <a:ext cx="44348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Recorded-data models and IoT prototypes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0" y="3566160"/>
            <a:ext cx="5038344" cy="24688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475569"/>
                </a:solidFill>
              </a:rPr>
              <a:t>Machine-learning severity models are trained on past crash reports and used for analysis and planning, not for a live alert. Arduino and GSM prototypes raise SMS alerts from impact switches or accelerometers but add no severity grade.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 of existing methods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548640" y="1325880"/>
            <a:ext cx="5440680" cy="196596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Oval 26"/>
          <p:cNvSpPr/>
          <p:nvPr/>
        </p:nvSpPr>
        <p:spPr>
          <a:xfrm>
            <a:off x="749808" y="1508760"/>
            <a:ext cx="502920" cy="502920"/>
          </a:xfrm>
          <a:prstGeom prst="ellipse">
            <a:avLst/>
          </a:prstGeom>
          <a:solidFill>
            <a:srgbClr val="EB6834"/>
          </a:solidFill>
          <a:ln w="9525">
            <a:solidFill>
              <a:srgbClr val="EB68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89888" y="1481328"/>
            <a:ext cx="44348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No severity in the alert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808" y="2194560"/>
            <a:ext cx="5038344" cy="9601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475569"/>
                </a:solidFill>
              </a:rPr>
              <a:t>Responders cannot tell a minor scrape from a critical collision, so every alert looks the same.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99631" y="1325880"/>
            <a:ext cx="5440680" cy="196596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Oval 30"/>
          <p:cNvSpPr/>
          <p:nvPr/>
        </p:nvSpPr>
        <p:spPr>
          <a:xfrm>
            <a:off x="6400799" y="1508760"/>
            <a:ext cx="502920" cy="502920"/>
          </a:xfrm>
          <a:prstGeom prst="ellipse">
            <a:avLst/>
          </a:prstGeom>
          <a:solidFill>
            <a:srgbClr val="2A78D6"/>
          </a:solidFill>
          <a:ln w="9525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40879" y="1481328"/>
            <a:ext cx="44348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Analysis after the event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799" y="2194560"/>
            <a:ext cx="5038344" cy="9601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475569"/>
                </a:solidFill>
              </a:rPr>
              <a:t>Severity models use recorded crash reports; they cannot raise an alert at the moment of impact.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48640" y="3474720"/>
            <a:ext cx="5440680" cy="196596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Oval 34"/>
          <p:cNvSpPr/>
          <p:nvPr/>
        </p:nvSpPr>
        <p:spPr>
          <a:xfrm>
            <a:off x="749808" y="3657600"/>
            <a:ext cx="502920" cy="502920"/>
          </a:xfrm>
          <a:prstGeom prst="ellipse">
            <a:avLst/>
          </a:prstGeom>
          <a:solidFill>
            <a:srgbClr val="1BAF7A"/>
          </a:solidFill>
          <a:ln w="9525">
            <a:solidFill>
              <a:srgbClr val="1BAF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389888" y="3630168"/>
            <a:ext cx="44348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Hardware cost and reach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9808" y="4343400"/>
            <a:ext cx="5038344" cy="9601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475569"/>
                </a:solidFill>
              </a:rPr>
              <a:t>In-vehicle crash units and fixed cameras need installation; many vehicles have neither, while almost every driver has a phone.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199631" y="3474720"/>
            <a:ext cx="5440680" cy="196596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Oval 38"/>
          <p:cNvSpPr/>
          <p:nvPr/>
        </p:nvSpPr>
        <p:spPr>
          <a:xfrm>
            <a:off x="6400799" y="3657600"/>
            <a:ext cx="502920" cy="502920"/>
          </a:xfrm>
          <a:prstGeom prst="ellipse">
            <a:avLst/>
          </a:prstGeom>
          <a:solidFill>
            <a:srgbClr val="6B52D6"/>
          </a:solidFill>
          <a:ln w="9525">
            <a:solidFill>
              <a:srgbClr val="6B52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040879" y="3630168"/>
            <a:ext cx="44348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Unquantified false alarms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799" y="4343400"/>
            <a:ext cx="5038344" cy="9601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475569"/>
                </a:solidFill>
              </a:rPr>
              <a:t>Braking, potholes and speed breakers shake a sensor too; the surveyed work gives few or no false-alarm figures.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48640" y="5715000"/>
            <a:ext cx="11091672" cy="68580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777240" y="5715000"/>
            <a:ext cx="1069848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0F172A"/>
                </a:solidFill>
              </a:rPr>
              <a:t>Also: GreenBox reports alert delivery only as 'a matter of seconds', with no measured latency or accuracy.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gap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  <p:sp>
        <p:nvSpPr>
          <p:cNvPr id="26" name="Oval 25"/>
          <p:cNvSpPr/>
          <p:nvPr/>
        </p:nvSpPr>
        <p:spPr>
          <a:xfrm>
            <a:off x="548640" y="1389888"/>
            <a:ext cx="566928" cy="566928"/>
          </a:xfrm>
          <a:prstGeom prst="ellipse">
            <a:avLst/>
          </a:prstGeom>
          <a:solidFill>
            <a:srgbClr val="EB6834"/>
          </a:solidFill>
          <a:ln w="9525">
            <a:solidFill>
              <a:srgbClr val="EB68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17320" y="1280160"/>
            <a:ext cx="1019556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0F172A"/>
                </a:solidFill>
              </a:rPr>
              <a:t>Severity prediction in the literature works on recorded crash reports after the event, not on live sensor data.</a:t>
            </a:r>
          </a:p>
        </p:txBody>
      </p:sp>
      <p:sp>
        <p:nvSpPr>
          <p:cNvPr id="28" name="Oval 27"/>
          <p:cNvSpPr/>
          <p:nvPr/>
        </p:nvSpPr>
        <p:spPr>
          <a:xfrm>
            <a:off x="548640" y="2350008"/>
            <a:ext cx="566928" cy="566928"/>
          </a:xfrm>
          <a:prstGeom prst="ellipse">
            <a:avLst/>
          </a:prstGeom>
          <a:solidFill>
            <a:srgbClr val="2A78D6"/>
          </a:solidFill>
          <a:ln w="9525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17320" y="2240280"/>
            <a:ext cx="1019556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0F172A"/>
                </a:solidFill>
              </a:rPr>
              <a:t>Low-cost IoT prototypes alert contacts by SMS but add no severity grade and, in the work surveyed, report no accuracy figures.</a:t>
            </a:r>
          </a:p>
        </p:txBody>
      </p:sp>
      <p:sp>
        <p:nvSpPr>
          <p:cNvPr id="30" name="Oval 29"/>
          <p:cNvSpPr/>
          <p:nvPr/>
        </p:nvSpPr>
        <p:spPr>
          <a:xfrm>
            <a:off x="548640" y="3310128"/>
            <a:ext cx="566928" cy="566928"/>
          </a:xfrm>
          <a:prstGeom prst="ellipse">
            <a:avLst/>
          </a:prstGeom>
          <a:solidFill>
            <a:srgbClr val="1BAF7A"/>
          </a:solidFill>
          <a:ln w="9525">
            <a:solidFill>
              <a:srgbClr val="1BAF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17320" y="3200400"/>
            <a:ext cx="1019556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0F172A"/>
                </a:solidFill>
              </a:rPr>
              <a:t>Camera-based detection needs fixed cameras and still says nothing about how serious the crash is.</a:t>
            </a:r>
          </a:p>
        </p:txBody>
      </p:sp>
      <p:sp>
        <p:nvSpPr>
          <p:cNvPr id="32" name="Oval 31"/>
          <p:cNvSpPr/>
          <p:nvPr/>
        </p:nvSpPr>
        <p:spPr>
          <a:xfrm>
            <a:off x="548640" y="4270248"/>
            <a:ext cx="566928" cy="566928"/>
          </a:xfrm>
          <a:prstGeom prst="ellipse">
            <a:avLst/>
          </a:prstGeom>
          <a:solidFill>
            <a:srgbClr val="6B52D6"/>
          </a:solidFill>
          <a:ln w="9525">
            <a:solidFill>
              <a:srgbClr val="6B52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417320" y="4160520"/>
            <a:ext cx="1019556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0F172A"/>
                </a:solidFill>
              </a:rPr>
              <a:t>No surveyed work closes the loop: live sensing, then severity grading, then a located, prioritised alert with a hospital.</a:t>
            </a:r>
          </a:p>
        </p:txBody>
      </p:sp>
      <p:sp>
        <p:nvSpPr>
          <p:cNvPr id="34" name="Oval 33"/>
          <p:cNvSpPr/>
          <p:nvPr/>
        </p:nvSpPr>
        <p:spPr>
          <a:xfrm>
            <a:off x="548640" y="5230368"/>
            <a:ext cx="566928" cy="566928"/>
          </a:xfrm>
          <a:prstGeom prst="ellipse">
            <a:avLst/>
          </a:prstGeom>
          <a:solidFill>
            <a:srgbClr val="EB6834"/>
          </a:solidFill>
          <a:ln w="9525">
            <a:solidFill>
              <a:srgbClr val="EB68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417320" y="5120640"/>
            <a:ext cx="1019556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0F172A"/>
                </a:solidFill>
              </a:rPr>
              <a:t>False alarms from braking, potholes and speed breakers are rarely quantified; a confirmation step is seldom evaluated.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548640" y="1325880"/>
            <a:ext cx="11091672" cy="265176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868680" y="1463040"/>
            <a:ext cx="10469880" cy="2423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256032" indent="-201168">
              <a:spcAft>
                <a:spcPts val="800"/>
              </a:spcAft>
              <a:buChar char="•"/>
            </a:pPr>
            <a:r>
              <a:rPr sz="2000" b="0" i="0">
                <a:solidFill>
                  <a:srgbClr val="0F172A"/>
                </a:solidFill>
              </a:rPr>
              <a:t>Accidents on remote stretches often go unreported until a passer-by intervenes.</a:t>
            </a:r>
          </a:p>
          <a:p>
            <a:pPr algn="l" marL="256032" indent="-201168">
              <a:spcAft>
                <a:spcPts val="800"/>
              </a:spcAft>
              <a:buChar char="•"/>
            </a:pPr>
            <a:r>
              <a:rPr sz="2000" b="0" i="0">
                <a:solidFill>
                  <a:srgbClr val="0F172A"/>
                </a:solidFill>
              </a:rPr>
              <a:t>Existing crash detection reports only that an impact occurred, with no indication of how serious it is.</a:t>
            </a:r>
          </a:p>
          <a:p>
            <a:pPr algn="l" marL="256032" indent="-201168">
              <a:spcAft>
                <a:spcPts val="800"/>
              </a:spcAft>
              <a:buChar char="•"/>
            </a:pPr>
            <a:r>
              <a:rPr sz="2000" b="0" i="0">
                <a:solidFill>
                  <a:srgbClr val="0F172A"/>
                </a:solidFill>
              </a:rPr>
              <a:t>Without severity information, responders cannot prioritise between a minor scrape and a critical collision.</a:t>
            </a:r>
          </a:p>
          <a:p>
            <a:pPr algn="l" marL="256032" indent="-201168">
              <a:spcAft>
                <a:spcPts val="800"/>
              </a:spcAft>
              <a:buChar char="•"/>
            </a:pPr>
            <a:r>
              <a:rPr sz="2000" b="0" i="0">
                <a:solidFill>
                  <a:srgbClr val="0F172A"/>
                </a:solidFill>
              </a:rPr>
              <a:t>Dedicated in-vehicle crash hardware is costly and absent from most two-wheelers and older cars.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4251960"/>
            <a:ext cx="3520440" cy="173736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777240" y="4361688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0F172A"/>
                </a:solidFill>
              </a:rPr>
              <a:t>Input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4800600"/>
            <a:ext cx="310896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475569"/>
                </a:solidFill>
              </a:rPr>
              <a:t>Accelerometer, gyroscope, speed and jerk readings (11 features) from the phone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334255" y="4251960"/>
            <a:ext cx="3520440" cy="173736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4562855" y="4361688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0F172A"/>
                </a:solidFill>
              </a:rPr>
              <a:t>Output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62855" y="4800600"/>
            <a:ext cx="310896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475569"/>
                </a:solidFill>
              </a:rPr>
              <a:t>Accident or not, severity None / Minor / Moderate / Severe, and a located alert with the nearest hospitals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119871" y="4251960"/>
            <a:ext cx="3520440" cy="173736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8348471" y="4361688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0F172A"/>
                </a:solidFill>
              </a:rPr>
              <a:t>Safeguard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48471" y="4800600"/>
            <a:ext cx="310896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475569"/>
                </a:solidFill>
              </a:rPr>
              <a:t>A 15-second confirmation so the occupant can cancel a false alarm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  <p:sp>
        <p:nvSpPr>
          <p:cNvPr id="26" name="TextBox 25"/>
          <p:cNvSpPr txBox="1"/>
          <p:nvPr/>
        </p:nvSpPr>
        <p:spPr>
          <a:xfrm>
            <a:off x="548640" y="1280160"/>
            <a:ext cx="11091672" cy="4846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800"/>
              </a:spcAft>
            </a:pPr>
            <a:r>
              <a:rPr sz="2200" b="0" i="0">
                <a:solidFill>
                  <a:srgbClr val="0F172A"/>
                </a:solidFill>
              </a:rPr>
              <a:t>1.  Collect and preprocess smartphone accelerometer, gyroscope, speed and GPS data for normal driving and collision events.</a:t>
            </a:r>
          </a:p>
          <a:p>
            <a:pPr algn="l">
              <a:spcAft>
                <a:spcPts val="1800"/>
              </a:spcAft>
            </a:pPr>
            <a:r>
              <a:rPr sz="2200" b="0" i="0">
                <a:solidFill>
                  <a:srgbClr val="0F172A"/>
                </a:solidFill>
              </a:rPr>
              <a:t>2.  Train a classifier that distinguishes genuine accidents from potholes, speed breakers and hard braking.</a:t>
            </a:r>
          </a:p>
          <a:p>
            <a:pPr algn="l">
              <a:spcAft>
                <a:spcPts val="1800"/>
              </a:spcAft>
            </a:pPr>
            <a:r>
              <a:rPr sz="2200" b="0" i="0">
                <a:solidFill>
                  <a:srgbClr val="0F172A"/>
                </a:solidFill>
              </a:rPr>
              <a:t>3.  Build a severity model that grades an impact as minor, moderate or severe.</a:t>
            </a:r>
          </a:p>
          <a:p>
            <a:pPr algn="l">
              <a:spcAft>
                <a:spcPts val="1800"/>
              </a:spcAft>
            </a:pPr>
            <a:r>
              <a:rPr sz="2200" b="0" i="0">
                <a:solidFill>
                  <a:srgbClr val="0F172A"/>
                </a:solidFill>
              </a:rPr>
              <a:t>4.  Use GPS to locate the crash and identify a suitable nearby hospital.</a:t>
            </a:r>
          </a:p>
          <a:p>
            <a:pPr algn="l">
              <a:spcAft>
                <a:spcPts val="1800"/>
              </a:spcAft>
            </a:pPr>
            <a:r>
              <a:rPr sz="2200" b="0" i="0">
                <a:solidFill>
                  <a:srgbClr val="0F172A"/>
                </a:solidFill>
              </a:rPr>
              <a:t>5.  Dispatch an automated alert carrying location and severity to emergency contacts and medical services.</a:t>
            </a:r>
          </a:p>
          <a:p>
            <a:pPr algn="l">
              <a:spcAft>
                <a:spcPts val="1800"/>
              </a:spcAft>
            </a:pPr>
            <a:r>
              <a:rPr sz="2200" b="0" i="0">
                <a:solidFill>
                  <a:srgbClr val="0F172A"/>
                </a:solidFill>
              </a:rPr>
              <a:t>6.  Evaluate detection accuracy, false alarm rate and end-to-end alert latency.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approach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548640" y="1325880"/>
            <a:ext cx="2633472" cy="324612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Oval 26"/>
          <p:cNvSpPr/>
          <p:nvPr/>
        </p:nvSpPr>
        <p:spPr>
          <a:xfrm>
            <a:off x="749808" y="1508760"/>
            <a:ext cx="502920" cy="502920"/>
          </a:xfrm>
          <a:prstGeom prst="ellipse">
            <a:avLst/>
          </a:prstGeom>
          <a:solidFill>
            <a:srgbClr val="2A78D6"/>
          </a:solidFill>
          <a:ln w="9525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89888" y="1481328"/>
            <a:ext cx="1627631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Sense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808" y="2194560"/>
            <a:ext cx="2231136" cy="22402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475569"/>
                </a:solidFill>
              </a:rPr>
              <a:t>Eleven features per event: three acceleration axes and magnitude, three gyroscope axes and magnitude, speed before, speed change and jerk.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364992" y="1325880"/>
            <a:ext cx="2633472" cy="324612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Oval 30"/>
          <p:cNvSpPr/>
          <p:nvPr/>
        </p:nvSpPr>
        <p:spPr>
          <a:xfrm>
            <a:off x="3566160" y="1508760"/>
            <a:ext cx="502920" cy="502920"/>
          </a:xfrm>
          <a:prstGeom prst="ellipse">
            <a:avLst/>
          </a:prstGeom>
          <a:solidFill>
            <a:srgbClr val="1BAF7A"/>
          </a:solidFill>
          <a:ln w="9525">
            <a:solidFill>
              <a:srgbClr val="1BAF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06240" y="1481328"/>
            <a:ext cx="1627631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Detect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66160" y="2194560"/>
            <a:ext cx="2231136" cy="22402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475569"/>
                </a:solidFill>
              </a:rPr>
              <a:t>A random forest (200 trees) says whether the event is a crash and with what probability; hard braking is a trained negative class.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181344" y="1325880"/>
            <a:ext cx="2633472" cy="324612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Oval 34"/>
          <p:cNvSpPr/>
          <p:nvPr/>
        </p:nvSpPr>
        <p:spPr>
          <a:xfrm>
            <a:off x="6382512" y="1508760"/>
            <a:ext cx="502920" cy="502920"/>
          </a:xfrm>
          <a:prstGeom prst="ellipse">
            <a:avLst/>
          </a:prstGeom>
          <a:solidFill>
            <a:srgbClr val="EB6834"/>
          </a:solidFill>
          <a:ln w="9525">
            <a:solidFill>
              <a:srgbClr val="EB68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22592" y="1481328"/>
            <a:ext cx="1627631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Grade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82512" y="2194560"/>
            <a:ext cx="2231136" cy="22402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475569"/>
                </a:solidFill>
              </a:rPr>
              <a:t>A second random forest (250 trees) grades None, Minor, Moderate or Severe; no accident forces None.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997696" y="1325880"/>
            <a:ext cx="2633472" cy="324612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Oval 38"/>
          <p:cNvSpPr/>
          <p:nvPr/>
        </p:nvSpPr>
        <p:spPr>
          <a:xfrm>
            <a:off x="9198864" y="1508760"/>
            <a:ext cx="502920" cy="502920"/>
          </a:xfrm>
          <a:prstGeom prst="ellipse">
            <a:avLst/>
          </a:prstGeom>
          <a:solidFill>
            <a:srgbClr val="6B52D6"/>
          </a:solidFill>
          <a:ln w="9525">
            <a:solidFill>
              <a:srgbClr val="6B52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838944" y="1481328"/>
            <a:ext cx="1627631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Respond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98864" y="2194560"/>
            <a:ext cx="2231136" cy="22402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475569"/>
                </a:solidFill>
              </a:rPr>
              <a:t>Moderate or Severe starts a 15 s countdown; if not cancelled, GPS and the 3 nearest hospitals build the dispatch message.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48640" y="4754880"/>
            <a:ext cx="11091672" cy="137160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Oval 42"/>
          <p:cNvSpPr/>
          <p:nvPr/>
        </p:nvSpPr>
        <p:spPr>
          <a:xfrm>
            <a:off x="777240" y="5029200"/>
            <a:ext cx="640080" cy="640080"/>
          </a:xfrm>
          <a:prstGeom prst="ellipse">
            <a:avLst/>
          </a:prstGeom>
          <a:solidFill>
            <a:srgbClr val="1B2A41"/>
          </a:solidFill>
          <a:ln w="9525">
            <a:solidFill>
              <a:srgbClr val="1B2A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</a:rPr>
              <a:t>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645920" y="4892040"/>
            <a:ext cx="97840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Alert rule: dispatch only if severity is Moderate or Severe and the occupant has not cancelled within 15 seconds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645920" y="5349240"/>
            <a:ext cx="97840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475569"/>
                </a:solidFill>
              </a:rPr>
              <a:t>Flask API and React console, scikit-learn models, haversine ranking over a 10-hospital directory. The sensor feed is simulated and the dispatch is a demonstration: nothing is sent.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High-level proposed architecture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  <p:pic>
        <p:nvPicPr>
          <p:cNvPr id="26" name="Picture 25" descr="01_system_architectur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7920" y="1188720"/>
            <a:ext cx="5588000" cy="5029199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7589520" y="1371600"/>
            <a:ext cx="4023360" cy="4754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 i="0">
                <a:solidFill>
                  <a:srgbClr val="0F172A"/>
                </a:solidFill>
              </a:rPr>
              <a:t>Layers</a:t>
            </a:r>
          </a:p>
          <a:p>
            <a:pPr algn="l" marL="256032" indent="-201168">
              <a:spcAft>
                <a:spcPts val="400"/>
              </a:spcAft>
              <a:buChar char="•"/>
            </a:pPr>
            <a:r>
              <a:rPr sz="1600" b="0" i="0">
                <a:solidFill>
                  <a:srgbClr val="0F172A"/>
                </a:solidFill>
              </a:rPr>
              <a:t>Presentation: React and Vite console (port 5302).</a:t>
            </a:r>
          </a:p>
          <a:p>
            <a:pPr algn="l" marL="256032" indent="-201168">
              <a:spcAft>
                <a:spcPts val="400"/>
              </a:spcAft>
              <a:buChar char="•"/>
            </a:pPr>
            <a:r>
              <a:rPr sz="1600" b="0" i="0">
                <a:solidFill>
                  <a:srgbClr val="0F172A"/>
                </a:solidFill>
              </a:rPr>
              <a:t>Application: Flask API (port 8302) with simulate, predict, hospitals, emergency and account routes.</a:t>
            </a:r>
          </a:p>
          <a:p>
            <a:pPr algn="l" marL="256032" indent="-201168">
              <a:spcAft>
                <a:spcPts val="400"/>
              </a:spcAft>
              <a:buChar char="•"/>
            </a:pPr>
            <a:r>
              <a:rPr sz="1600" b="0" i="0">
                <a:solidFill>
                  <a:srgbClr val="0F172A"/>
                </a:solidFill>
              </a:rPr>
              <a:t>Machine learning: scaler, detector forest, severity forest; rule fallback if the models are missing.</a:t>
            </a:r>
          </a:p>
          <a:p>
            <a:pPr algn="l" marL="256032" indent="-201168">
              <a:spcAft>
                <a:spcPts val="400"/>
              </a:spcAft>
              <a:buChar char="•"/>
            </a:pPr>
            <a:r>
              <a:rPr sz="1600" b="0" i="0">
                <a:solidFill>
                  <a:srgbClr val="0F172A"/>
                </a:solidFill>
              </a:rPr>
              <a:t>Data: two JSON files (users, hospitals) and four model files; no database.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Expected outcomes and contributions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548640" y="1371600"/>
            <a:ext cx="3520440" cy="233172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Oval 26"/>
          <p:cNvSpPr/>
          <p:nvPr/>
        </p:nvSpPr>
        <p:spPr>
          <a:xfrm>
            <a:off x="749808" y="1554480"/>
            <a:ext cx="502920" cy="502920"/>
          </a:xfrm>
          <a:prstGeom prst="ellipse">
            <a:avLst/>
          </a:prstGeom>
          <a:solidFill>
            <a:srgbClr val="EB6834"/>
          </a:solidFill>
          <a:ln w="9525">
            <a:solidFill>
              <a:srgbClr val="EB68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89888" y="1527048"/>
            <a:ext cx="25146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Working pipeline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808" y="2240280"/>
            <a:ext cx="3118104" cy="13258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475569"/>
                </a:solidFill>
              </a:rPr>
              <a:t>Sensor reading to detection, severity, confirmation, location, nearest hospitals and a dispatch message in one console.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34255" y="1371600"/>
            <a:ext cx="3520440" cy="233172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Oval 30"/>
          <p:cNvSpPr/>
          <p:nvPr/>
        </p:nvSpPr>
        <p:spPr>
          <a:xfrm>
            <a:off x="4535423" y="1554480"/>
            <a:ext cx="502920" cy="502920"/>
          </a:xfrm>
          <a:prstGeom prst="ellipse">
            <a:avLst/>
          </a:prstGeom>
          <a:solidFill>
            <a:srgbClr val="2A78D6"/>
          </a:solidFill>
          <a:ln w="9525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75503" y="1527048"/>
            <a:ext cx="25146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Measured metrics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35423" y="2240280"/>
            <a:ext cx="3118104" cy="13258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475569"/>
                </a:solidFill>
              </a:rPr>
              <a:t>Accuracy, precision, recall, F1, false-alarm rate and latency, with baselines and a noise study, reported with the data they come from.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119871" y="1371600"/>
            <a:ext cx="3520440" cy="233172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Oval 34"/>
          <p:cNvSpPr/>
          <p:nvPr/>
        </p:nvSpPr>
        <p:spPr>
          <a:xfrm>
            <a:off x="8321040" y="1554480"/>
            <a:ext cx="502920" cy="502920"/>
          </a:xfrm>
          <a:prstGeom prst="ellipse">
            <a:avLst/>
          </a:prstGeom>
          <a:solidFill>
            <a:srgbClr val="1BAF7A"/>
          </a:solidFill>
          <a:ln w="9525">
            <a:solidFill>
              <a:srgbClr val="1BAF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961119" y="1527048"/>
            <a:ext cx="25146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Fewer false alerts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21040" y="2240280"/>
            <a:ext cx="3118104" cy="13258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475569"/>
                </a:solidFill>
              </a:rPr>
              <a:t>A 15-second confirmation lets the occupant cancel before any alert is raised.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48640" y="3931920"/>
            <a:ext cx="5440680" cy="219456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Oval 38"/>
          <p:cNvSpPr/>
          <p:nvPr/>
        </p:nvSpPr>
        <p:spPr>
          <a:xfrm>
            <a:off x="749808" y="4114800"/>
            <a:ext cx="502920" cy="502920"/>
          </a:xfrm>
          <a:prstGeom prst="ellipse">
            <a:avLst/>
          </a:prstGeom>
          <a:solidFill>
            <a:srgbClr val="6B52D6"/>
          </a:solidFill>
          <a:ln w="9525">
            <a:solidFill>
              <a:srgbClr val="6B52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389888" y="4087368"/>
            <a:ext cx="44348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Honest limits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49808" y="4800600"/>
            <a:ext cx="5038344" cy="11887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 i="0">
                <a:solidFill>
                  <a:srgbClr val="475569"/>
                </a:solidFill>
              </a:rPr>
              <a:t>Data are synthetic, sensors simulated, nothing transmitted; potholes and speed breakers are not modelled.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199631" y="3931920"/>
            <a:ext cx="5440680" cy="219456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Oval 42"/>
          <p:cNvSpPr/>
          <p:nvPr/>
        </p:nvSpPr>
        <p:spPr>
          <a:xfrm>
            <a:off x="6400799" y="4114800"/>
            <a:ext cx="502920" cy="502920"/>
          </a:xfrm>
          <a:prstGeom prst="ellipse">
            <a:avLst/>
          </a:prstGeom>
          <a:solidFill>
            <a:srgbClr val="EB6834"/>
          </a:solidFill>
          <a:ln w="9525">
            <a:solidFill>
              <a:srgbClr val="EB68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040879" y="4087368"/>
            <a:ext cx="44348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Reusable and open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00799" y="4800600"/>
            <a:ext cx="5038344" cy="11887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 i="0">
                <a:solidFill>
                  <a:srgbClr val="475569"/>
                </a:solidFill>
              </a:rPr>
              <a:t>Code, scripts and tests are part of the project, so every figure can be reproduced.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  <p:sp>
        <p:nvSpPr>
          <p:cNvPr id="26" name="TextBox 25"/>
          <p:cNvSpPr txBox="1"/>
          <p:nvPr/>
        </p:nvSpPr>
        <p:spPr>
          <a:xfrm>
            <a:off x="548640" y="1188720"/>
            <a:ext cx="11091672" cy="5120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0F172A"/>
                </a:solidFill>
              </a:rPr>
              <a:t>[1] Y. Wang, Z. Liang and Y. He, "Multi-Task FT-Transformer: A high-performance and interpretable framework for traffic accident severity prediction," IEEE Access, vol. 14, pp. 21585-21606, 2026, doi: 10.1109/ACCESS.2026.3658687.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0F172A"/>
                </a:solidFill>
              </a:rPr>
              <a:t>[6] J. Rocha, S. Soares, A. Valente and F. C. Pinto, "GreenBox: Prototyping of an automatic road accident detection system with real-time notification SMS," arXiv:2606.16468 [eess.SY], Jun. 2026.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0F172A"/>
                </a:solidFill>
              </a:rPr>
              <a:t>[7] S. Ayesha, A. Aslam, M. H. Zaheer and M. B. Khan, "CIRS: A multi-agent machine learning framework for real-time accident detection and emergency response," Sensors, vol. 25, no. 18, Art. no. 5845, Sep. 2025, doi: 10.3390/s25185845.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0F172A"/>
                </a:solidFill>
              </a:rPr>
              <a:t>[9] M. Karthik, L. Sreevidya, K. Vinodha, M. Thangaraj, G. Hemalatha and T. Viswak Sena, "Automatic messaging system by detecting the road accidents for vehicle applications," Mater. Today: Proc., vol. 80, pp. 3124-3128, 2023.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0F172A"/>
                </a:solidFill>
              </a:rPr>
              <a:t>[12] S. Sharma and S. Sebastian, "IoT based car accident detection and notification algorithm for general road accidents," Int. J. Elect. Comput. Eng. (IJECE), vol. 9, no. 5, pp. 4020-4026, 2019.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0F172A"/>
                </a:solidFill>
              </a:rPr>
              <a:t>[13] N. Hamdan and T. Sipos, "Advancements in machine learning for traffic accident severity prediction: A comprehensive review," Period. Polytech. Transp. Eng., vol. 53, no. 3, pp. 347-355, 2025, doi: 10.3311/PPtr.40369.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0F172A"/>
                </a:solidFill>
              </a:rPr>
              <a:t>[16] M.-M. Chen and M.-C. Chen, "Modeling road accident severity with comparisons of logistic regression, decision tree and random forest," Information, vol. 11, no. 5, p. 270, May 2020.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0F172A"/>
                </a:solidFill>
              </a:rPr>
              <a:t>[17] M. Sameen and B. Pradhan, "Severity prediction of traffic accidents with recurrent neural networks," Appl. Sci., vol. 7, no. 6, p. 476, Jun. 2017.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0F172A"/>
                </a:solidFill>
              </a:rPr>
              <a:t>[21] L. Breiman, "Random forests," Mach. Learn., vol. 45, no. 1, pp. 5-32, Oct. 2001.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0F172A"/>
                </a:solidFill>
              </a:rPr>
              <a:t>[22] F. Pedregosa et al., "Scikit-learn: Machine learning in Python," J. Mach. Learn. Res., vol. 12, pp. 2825-2830, 2011.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194560"/>
            <a:ext cx="1109441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474720"/>
            <a:ext cx="1109441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and suggestions are welcome.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ADCF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sQAI">
  <a:themeElements>
    <a:clrScheme name="ResQAI">
      <a:dk1>
        <a:srgbClr val="0F172A"/>
      </a:dk1>
      <a:lt1>
        <a:srgbClr val="FFFFFF"/>
      </a:lt1>
      <a:dk2>
        <a:srgbClr val="1B2A41"/>
      </a:dk2>
      <a:lt2>
        <a:srgbClr val="EEF2F7"/>
      </a:lt2>
      <a:accent1>
        <a:srgbClr val="2A78D6"/>
      </a:accent1>
      <a:accent2>
        <a:srgbClr val="EB6834"/>
      </a:accent2>
      <a:accent3>
        <a:srgbClr val="1BAF7A"/>
      </a:accent3>
      <a:accent4>
        <a:srgbClr val="EDA100"/>
      </a:accent4>
      <a:accent5>
        <a:srgbClr val="6250D6"/>
      </a:accent5>
      <a:accent6>
        <a:srgbClr val="E34948"/>
      </a:accent6>
      <a:hlink>
        <a:srgbClr val="2A78D6"/>
      </a:hlink>
      <a:folHlink>
        <a:srgbClr val="6250D6"/>
      </a:folHlink>
    </a:clrScheme>
    <a:fontScheme name="ResQAI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ResQAI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ResQAI: AI-Based Accident Detection, Severity Assessment and Intelligent Emergency Response System: Review 1</dc:title>
  <dc:subject>Batch A2 (CSE-A)</dc:subject>
  <dc:creator>Adepu Meenakshi, Ayila Shanmukha Sai, Chekka Chandrashekhar, Avula Sreeya</dc:creator>
  <cp:lastModifiedBy/>
  <cp:revision>1</cp:revision>
  <dcterms:created xsi:type="dcterms:W3CDTF">2026-10-13T12:36:40Z</dcterms:created>
  <dcterms:modified xsi:type="dcterms:W3CDTF">2026-10-13T12:36:40Z</dcterms:modified>
  <cp:keywords>accident detection, severity prediction, smartphone sensors, random forest, GPS, emergency response</cp:keywords>
  <dc:description/>
</cp:coreProperties>
</file>