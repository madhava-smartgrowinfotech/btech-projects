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ResQAI, a web application that detects a crash from sensor readings, grades its severity, asks for confirmation and drafts a located alert.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problem, then the system in one breath. Give each number with its data and end on the honest limits: synthetic data, simulated sensors, nothing transmitted.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Wang, Liang and He, IEEE Access 2026. It analyses recorded crashes; it does not sense, detect, locate or dispatch. We borrow severity grading and per-class metrics 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Severity models use recorded data, IoT prototypes alert without grading, camera systems need infrastructure. Four more survey titles from the batch file could not be located and are not used for any claim.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in one sentence: nothing surveyed closes the loop from live sensing through severity grading to a located, prioritised alert.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need is a smartphone-based system that detects, grades and dispatches, with a way to cancel false alarms.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states the real status of each: 1 and 5 partly, 2 partly, 3, 4 and 6 achieved at demonstration level.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as a line of boxes and the design rules behind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Layers and storage. Readings, predictions and alerts are not stored.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Workflow and the measurements added on top of the shipped training script, which has no validation split and no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frank about the data: synthetic. It makes detection easy and the metrics optimistic, and it contains nothing like a pothole.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algorithm is predict_from_features in app.py, plus the confirmation rule in MonitorContext.jsx.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event, with the cancel and the send branches, and the use cases of the occupant.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JSON files and four pickles; an honest simplification for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and, in the last line, the defects the tests found. The product code was not changed during documentation.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detector made no error; the severity model made one. These are synthetic-data results: they show the pipeline works, not that it would score this on real roads.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reading of the comparison: on this data detection does not need machine learning; grading severity does.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stress views. The unseen-event probes are our own construction, so they show a weakness rather than a rate: objective 2 is met for hard braking and not demonstrated for potholes and speed breakers.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Compute is tens of milliseconds; the 15 second confirmation dominates the alert time by design. The failed edge checks are findings, left unfixed on purpose.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numbers are not comparable. The base paper's task is harder (real, noisy, five-class labels from police reports).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console. Sensor readings are simulated by the backend and pass through the real models.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confirmation is the only protection against false alarms in the live app. The dispatch summary shows the location, the nearest hospital and the alert id.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Manual values let a reader try any reading; the right screenshot shows the cancel branch of the confirmation.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about which objectives were met and which were not, and what was never measured.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ordered by value.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with four marked not verified,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19.xml"/><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400" b="1" dirty="0">
                <a:solidFill>
                  <a:srgbClr val="1F3864"/>
                </a:solidFill>
                <a:latin typeface="Calibri" pitchFamily="34" charset="0"/>
                <a:ea typeface="Calibri" pitchFamily="34" charset="-122"/>
                <a:cs typeface="Calibri" pitchFamily="34" charset="-120"/>
              </a:rPr>
              <a:t>ResQAI: AI-Based Accident Detection, Severity Assessment and Intelligent Emergency Response System</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ResQAI</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A2</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23K91A0503   Adepu Meenakshi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23K91A0521   Ayila Shanmukha Sai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23K91A0552   Chekka Chandrashekhar</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23K91A0519   Avula Sreeya</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Shirisha Reddy</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TKR College of Engineering &amp; Technology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Dataset &amp; Models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Detection Workflow, Interaction &amp; Storage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Confusion Matrices, Baselines, Ablation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Threshold, Noise &amp; Unseen Events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Base Paper</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 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691640"/>
            <a:ext cx="11155680" cy="457200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Road accident victims often cannot call for help, and crash detection that only reports an impact gives responders no severity to prioritise by.</a:t>
            </a:r>
          </a:p>
          <a:p>
            <a:pPr algn="l" marL="256032" indent="-201168">
              <a:spcAft>
                <a:spcPts val="900"/>
              </a:spcAft>
              <a:buChar char="•"/>
            </a:pPr>
            <a:r>
              <a:rPr sz="1600" b="0" i="0">
                <a:solidFill>
                  <a:srgbClr val="222222"/>
                </a:solidFill>
                <a:latin typeface="Calibri"/>
                <a:ea typeface="Calibri"/>
                <a:cs typeface="Calibri"/>
              </a:rPr>
              <a:t>ResQAI scales eleven motion-sensor features, decides with a random forest whether an event is a crash, grades it None, Minor, Moderate or Severe with a second forest, asks the occupant to confirm within 15 seconds, and then locates the crash and drafts a dispatch message with the three nearest hospitals.</a:t>
            </a:r>
          </a:p>
          <a:p>
            <a:pPr algn="l" marL="256032" indent="-201168">
              <a:spcAft>
                <a:spcPts val="900"/>
              </a:spcAft>
              <a:buChar char="•"/>
            </a:pPr>
            <a:r>
              <a:rPr sz="1600" b="0" i="0">
                <a:solidFill>
                  <a:srgbClr val="222222"/>
                </a:solidFill>
                <a:latin typeface="Calibri"/>
                <a:ea typeface="Calibri"/>
                <a:cs typeface="Calibri"/>
              </a:rPr>
              <a:t>On 2,400 held-out synthetic events the detector scores 1.000 and the severity model 0.99958 accuracy (macro-F1 0.99866); over five seeds severity accuracy is 0.99875. The classes are separable by construction: one acc_magnitude threshold matches the detector.</a:t>
            </a:r>
          </a:p>
          <a:p>
            <a:pPr algn="l" marL="256032" indent="-201168">
              <a:spcAft>
                <a:spcPts val="900"/>
              </a:spcAft>
              <a:buChar char="•"/>
            </a:pPr>
            <a:r>
              <a:rPr sz="1600" b="0" i="0">
                <a:solidFill>
                  <a:srgbClr val="222222"/>
                </a:solidFill>
                <a:latin typeface="Calibri"/>
                <a:ea typeface="Calibri"/>
                <a:cs typeface="Calibri"/>
              </a:rPr>
              <a:t>Alert-path compute is 56 ms on loopback, plus the deliberate 15 s confirmation. 33 of 33 smoke checks and 47 of 55 further checks pass; the 8 failures are input-validation findings.</a:t>
            </a:r>
          </a:p>
          <a:p>
            <a:pPr algn="l" marL="256032" indent="-201168">
              <a:spcAft>
                <a:spcPts val="400"/>
              </a:spcAft>
              <a:buChar char="•"/>
            </a:pPr>
            <a:r>
              <a:rPr sz="1600" b="0" i="0">
                <a:solidFill>
                  <a:srgbClr val="222222"/>
                </a:solidFill>
                <a:latin typeface="Calibri"/>
                <a:ea typeface="Calibri"/>
                <a:cs typeface="Calibri"/>
              </a:rPr>
              <a:t>Not done: real phone sensors, real SMS or call delivery, and potholes and speed breakers (a probe flags about half of them as accidents, never as Moderate or Severe).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73152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Y. Wang, Z. Liang and Y. He, "Multi-Task FT-Transformer: A high-performance and interpretable framework for traffic accident severity prediction," IEEE Access, vol. 14, pp. 21585-21606, 2026, doi: 10.1109/ACCESS.2026.3658687.</a:t>
            </a:r>
          </a:p>
        </p:txBody>
      </p:sp>
      <p:graphicFrame>
        <p:nvGraphicFramePr>
          <p:cNvPr id="8" name="Table 7"/>
          <p:cNvGraphicFramePr>
            <a:graphicFrameLocks noGrp="1"/>
          </p:cNvGraphicFramePr>
          <p:nvPr/>
        </p:nvGraphicFramePr>
        <p:xfrm>
          <a:off x="502920" y="2468880"/>
          <a:ext cx="11155680" cy="3401568"/>
        </p:xfrm>
        <a:graphic>
          <a:graphicData uri="http://schemas.openxmlformats.org/drawingml/2006/table">
            <a:tbl>
              <a:tblPr firstRow="0" bandRow="0">
                <a:tableStyleId>{5C22544A-7EE6-4342-B048-85BDC9FD1C3A}</a:tableStyleId>
              </a:tblPr>
              <a:tblGrid>
                <a:gridCol w="1828800"/>
                <a:gridCol w="9326880"/>
              </a:tblGrid>
              <a:tr h="566928">
                <a:tc>
                  <a:txBody>
                    <a:bodyPr wrap="square"/>
                    <a:lstStyle/>
                    <a:p>
                      <a:pPr algn="ctr"/>
                      <a:r>
                        <a:rPr sz="13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Base paper: Multi-Task FT-Transformer for traffic accident severity prediction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3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Feature-token transformer for tabular data with three task heads (injury, fatal, property loss), uncertainty-weighted loss, SHAP explanations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Police-reported crashes of Dongguan, China, 2019-2023: 30,442 records (19,483 train, 4,871 validation, 6,088 test), proprietary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Predict how severe a crash was from driver, vehicle, road and environment attributes, after the crash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Accuracy 70.31 % (injury), 90.38 % (fatal), 80.79 % (property loss); F1 64.48 / 86.71 / 79.18 %; beats XGBoost, LightGBM, CatBoost and MT-CNN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One city, injury proxied by number of injured, no ordinal modelling, no training or inference cost comparison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45920"/>
          <a:ext cx="11155680" cy="4279392"/>
        </p:xfrm>
        <a:graphic>
          <a:graphicData uri="http://schemas.openxmlformats.org/drawingml/2006/table">
            <a:tbl>
              <a:tblPr firstRow="0" bandRow="0">
                <a:tableStyleId>{5C22544A-7EE6-4342-B048-85BDC9FD1C3A}</a:tableStyleId>
              </a:tblPr>
              <a:tblGrid>
                <a:gridCol w="2468880"/>
                <a:gridCol w="640080"/>
                <a:gridCol w="4206240"/>
                <a:gridCol w="3840480"/>
              </a:tblGrid>
              <a:tr h="475488">
                <a:tc>
                  <a:txBody>
                    <a:bodyPr wrap="square"/>
                    <a:lstStyle/>
                    <a:p>
                      <a:pPr algn="ctr"/>
                      <a:r>
                        <a:rPr sz="110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Approach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Data / finding / limitation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75488">
                <a:tc>
                  <a:txBody>
                    <a:bodyPr wrap="square"/>
                    <a:lstStyle/>
                    <a:p>
                      <a:pPr algn="l"/>
                      <a:r>
                        <a:rPr sz="1100" b="1">
                          <a:solidFill>
                            <a:srgbClr val="222222"/>
                          </a:solidFill>
                          <a:latin typeface="Calibri"/>
                          <a:ea typeface="Calibri"/>
                          <a:cs typeface="Calibri"/>
                        </a:rPr>
                        <a:t>Wang et al. (base)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Multi-task FT-Transformer, SHAP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30,442 Dongguan crashes; 70.31 / 90.38 / 80.79 % accuracy; after the event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GreenBox [6]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Arduino, GSM/GPS, impact switches, MPU-6050 rollover; SMS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Alert 'in seconds'; no accuracy or latency numbers; no machine learning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CIRS [7]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YOLOv11 on camera frames + video-language 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5,200 + 4,800 frames; top-1 86.5 %, F1 0.861; fixed cameras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Karthik et al.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Arduino, GSM, vibration sensor, accelerometer; SMS (as described in [6])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No machine learning; results not quoted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Sharma and Sebastian [12]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Arduino, accelerometer, vibration, seat-belt heart-rate sensor, GPS/GSM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Sensor rules; results not quoted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Sameen and Pradhan [17]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Recurrent neural network on recorded crashes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73.76 % accuracy (as reported in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Chen and Chen [16]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Logistic regression, decision tree, random forest; 9,472 Taiwan crashes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Random forest most effective (as cited in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Hamdan and Sipos [13]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Review of ML severity models (RF, XGBoost, SVM)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No numeric result in the abstract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400"/>
              </a:spcAft>
              <a:buChar char="•"/>
            </a:pPr>
            <a:r>
              <a:rPr sz="1900" b="0" i="0">
                <a:solidFill>
                  <a:srgbClr val="222222"/>
                </a:solidFill>
                <a:latin typeface="Calibri"/>
                <a:ea typeface="Calibri"/>
                <a:cs typeface="Calibri"/>
              </a:rPr>
              <a:t>Severity prediction in the literature works on recorded crash reports after the event, not on live sensor data.</a:t>
            </a:r>
          </a:p>
          <a:p>
            <a:pPr algn="l" marL="256032" indent="-201168">
              <a:spcAft>
                <a:spcPts val="1400"/>
              </a:spcAft>
              <a:buChar char="•"/>
            </a:pPr>
            <a:r>
              <a:rPr sz="1900" b="0" i="0">
                <a:solidFill>
                  <a:srgbClr val="222222"/>
                </a:solidFill>
                <a:latin typeface="Calibri"/>
                <a:ea typeface="Calibri"/>
                <a:cs typeface="Calibri"/>
              </a:rPr>
              <a:t>Low-cost IoT prototypes alert contacts by SMS but add no severity grade and, in the work surveyed, report no accuracy figures.</a:t>
            </a:r>
          </a:p>
          <a:p>
            <a:pPr algn="l" marL="256032" indent="-201168">
              <a:spcAft>
                <a:spcPts val="1400"/>
              </a:spcAft>
              <a:buChar char="•"/>
            </a:pPr>
            <a:r>
              <a:rPr sz="1900" b="0" i="0">
                <a:solidFill>
                  <a:srgbClr val="222222"/>
                </a:solidFill>
                <a:latin typeface="Calibri"/>
                <a:ea typeface="Calibri"/>
                <a:cs typeface="Calibri"/>
              </a:rPr>
              <a:t>Camera-based detection needs fixed cameras and still says nothing about how serious the crash is.</a:t>
            </a:r>
          </a:p>
          <a:p>
            <a:pPr algn="l" marL="256032" indent="-201168">
              <a:spcAft>
                <a:spcPts val="1400"/>
              </a:spcAft>
              <a:buChar char="•"/>
            </a:pPr>
            <a:r>
              <a:rPr sz="1900" b="0" i="0">
                <a:solidFill>
                  <a:srgbClr val="222222"/>
                </a:solidFill>
                <a:latin typeface="Calibri"/>
                <a:ea typeface="Calibri"/>
                <a:cs typeface="Calibri"/>
              </a:rPr>
              <a:t>No surveyed work closes the loop: live sensing, then severity grading, then a located, prioritised alert with a hospital.</a:t>
            </a:r>
          </a:p>
          <a:p>
            <a:pPr algn="l" marL="256032" indent="-201168">
              <a:spcAft>
                <a:spcPts val="1400"/>
              </a:spcAft>
              <a:buChar char="•"/>
            </a:pPr>
            <a:r>
              <a:rPr sz="1900" b="0" i="0">
                <a:solidFill>
                  <a:srgbClr val="222222"/>
                </a:solidFill>
                <a:latin typeface="Calibri"/>
                <a:ea typeface="Calibri"/>
                <a:cs typeface="Calibri"/>
              </a:rPr>
              <a:t>False alarms from braking, potholes and speed breakers are rarely quantified; a confirmation step is seldom evaluated.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37360"/>
            <a:ext cx="11155680" cy="219456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783080"/>
            <a:ext cx="10607040" cy="2103120"/>
          </a:xfrm>
          <a:prstGeom prst="rect">
            <a:avLst/>
          </a:prstGeom>
          <a:noFill/>
        </p:spPr>
        <p:txBody>
          <a:bodyPr wrap="square" lIns="0" rIns="0" tIns="0" bIns="0" anchor="ctr">
            <a:spAutoFit/>
          </a:bodyPr>
          <a:lstStyle/>
          <a:p>
            <a:pPr algn="l" marL="256032" indent="-201168">
              <a:spcAft>
                <a:spcPts val="400"/>
              </a:spcAft>
              <a:buChar char="•"/>
            </a:pPr>
            <a:r>
              <a:rPr sz="1600" b="0" i="0">
                <a:solidFill>
                  <a:srgbClr val="222222"/>
                </a:solidFill>
                <a:latin typeface="Calibri"/>
                <a:ea typeface="Calibri"/>
                <a:cs typeface="Calibri"/>
              </a:rPr>
              <a:t>Accidents on remote stretches often go unreported until a passer-by intervenes.</a:t>
            </a:r>
          </a:p>
          <a:p>
            <a:pPr algn="l" marL="256032" indent="-201168">
              <a:spcAft>
                <a:spcPts val="400"/>
              </a:spcAft>
              <a:buChar char="•"/>
            </a:pPr>
            <a:r>
              <a:rPr sz="1600" b="0" i="0">
                <a:solidFill>
                  <a:srgbClr val="222222"/>
                </a:solidFill>
                <a:latin typeface="Calibri"/>
                <a:ea typeface="Calibri"/>
                <a:cs typeface="Calibri"/>
              </a:rPr>
              <a:t>Existing crash detection reports only that an impact occurred, with no indication of how serious it is.</a:t>
            </a:r>
          </a:p>
          <a:p>
            <a:pPr algn="l" marL="256032" indent="-201168">
              <a:spcAft>
                <a:spcPts val="400"/>
              </a:spcAft>
              <a:buChar char="•"/>
            </a:pPr>
            <a:r>
              <a:rPr sz="1600" b="0" i="0">
                <a:solidFill>
                  <a:srgbClr val="222222"/>
                </a:solidFill>
                <a:latin typeface="Calibri"/>
                <a:ea typeface="Calibri"/>
                <a:cs typeface="Calibri"/>
              </a:rPr>
              <a:t>Without severity information, responders cannot prioritise between a minor scrape and a critical collision.</a:t>
            </a:r>
          </a:p>
          <a:p>
            <a:pPr algn="l" marL="256032" indent="-201168">
              <a:spcAft>
                <a:spcPts val="400"/>
              </a:spcAft>
              <a:buChar char="•"/>
            </a:pPr>
            <a:r>
              <a:rPr sz="1600" b="0" i="0">
                <a:solidFill>
                  <a:srgbClr val="222222"/>
                </a:solidFill>
                <a:latin typeface="Calibri"/>
                <a:ea typeface="Calibri"/>
                <a:cs typeface="Calibri"/>
              </a:rPr>
              <a:t>Dedicated in-vehicle crash hardware is costly and absent from most two-wheelers and older cars.</a:t>
            </a:r>
          </a:p>
        </p:txBody>
      </p:sp>
      <p:sp>
        <p:nvSpPr>
          <p:cNvPr id="9" name="Rounded Rectangle 8"/>
          <p:cNvSpPr/>
          <p:nvPr/>
        </p:nvSpPr>
        <p:spPr>
          <a:xfrm>
            <a:off x="502920" y="4206240"/>
            <a:ext cx="3566160" cy="14630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976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754880"/>
            <a:ext cx="3200400" cy="86868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Eleven sensor features per event: acceleration, rotation, speed, jerk</a:t>
            </a:r>
          </a:p>
        </p:txBody>
      </p:sp>
      <p:sp>
        <p:nvSpPr>
          <p:cNvPr id="12" name="Rounded Rectangle 11"/>
          <p:cNvSpPr/>
          <p:nvPr/>
        </p:nvSpPr>
        <p:spPr>
          <a:xfrm>
            <a:off x="4251959" y="4206240"/>
            <a:ext cx="3566160" cy="14630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2976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754880"/>
            <a:ext cx="3200400" cy="86868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Crash or not, severity grade, located alert with the nearest hospitals</a:t>
            </a:r>
          </a:p>
        </p:txBody>
      </p:sp>
      <p:sp>
        <p:nvSpPr>
          <p:cNvPr id="15" name="Rounded Rectangle 14"/>
          <p:cNvSpPr/>
          <p:nvPr/>
        </p:nvSpPr>
        <p:spPr>
          <a:xfrm>
            <a:off x="8001000" y="4206240"/>
            <a:ext cx="3566160" cy="14630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2976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Safeguard</a:t>
            </a:r>
          </a:p>
        </p:txBody>
      </p:sp>
      <p:sp>
        <p:nvSpPr>
          <p:cNvPr id="17" name="TextBox 16"/>
          <p:cNvSpPr txBox="1"/>
          <p:nvPr/>
        </p:nvSpPr>
        <p:spPr>
          <a:xfrm>
            <a:off x="8183879" y="4754880"/>
            <a:ext cx="3200400" cy="86868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A 15 s confirmation so a false alarm can be cancelled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a:spcAft>
                <a:spcPts val="1200"/>
              </a:spcAft>
            </a:pPr>
            <a:r>
              <a:rPr sz="2000" b="0" i="0">
                <a:solidFill>
                  <a:srgbClr val="222222"/>
                </a:solidFill>
                <a:latin typeface="Calibri"/>
                <a:ea typeface="Calibri"/>
                <a:cs typeface="Calibri"/>
              </a:rPr>
              <a:t>1.  Collect and preprocess smartphone accelerometer, gyroscope, speed and GPS data for normal driving and collision events.</a:t>
            </a:r>
          </a:p>
          <a:p>
            <a:pPr algn="l">
              <a:spcAft>
                <a:spcPts val="1200"/>
              </a:spcAft>
            </a:pPr>
            <a:r>
              <a:rPr sz="2000" b="0" i="0">
                <a:solidFill>
                  <a:srgbClr val="222222"/>
                </a:solidFill>
                <a:latin typeface="Calibri"/>
                <a:ea typeface="Calibri"/>
                <a:cs typeface="Calibri"/>
              </a:rPr>
              <a:t>2.  Train a classifier that distinguishes genuine accidents from potholes, speed breakers and hard braking.</a:t>
            </a:r>
          </a:p>
          <a:p>
            <a:pPr algn="l">
              <a:spcAft>
                <a:spcPts val="1200"/>
              </a:spcAft>
            </a:pPr>
            <a:r>
              <a:rPr sz="2000" b="0" i="0">
                <a:solidFill>
                  <a:srgbClr val="222222"/>
                </a:solidFill>
                <a:latin typeface="Calibri"/>
                <a:ea typeface="Calibri"/>
                <a:cs typeface="Calibri"/>
              </a:rPr>
              <a:t>3.  Build a severity model that grades an impact as minor, moderate or severe.</a:t>
            </a:r>
          </a:p>
          <a:p>
            <a:pPr algn="l">
              <a:spcAft>
                <a:spcPts val="1200"/>
              </a:spcAft>
            </a:pPr>
            <a:r>
              <a:rPr sz="2000" b="0" i="0">
                <a:solidFill>
                  <a:srgbClr val="222222"/>
                </a:solidFill>
                <a:latin typeface="Calibri"/>
                <a:ea typeface="Calibri"/>
                <a:cs typeface="Calibri"/>
              </a:rPr>
              <a:t>4.  Use GPS to locate the crash and identify a suitable nearby hospital.</a:t>
            </a:r>
          </a:p>
          <a:p>
            <a:pPr algn="l">
              <a:spcAft>
                <a:spcPts val="1200"/>
              </a:spcAft>
            </a:pPr>
            <a:r>
              <a:rPr sz="2000" b="0" i="0">
                <a:solidFill>
                  <a:srgbClr val="222222"/>
                </a:solidFill>
                <a:latin typeface="Calibri"/>
                <a:ea typeface="Calibri"/>
                <a:cs typeface="Calibri"/>
              </a:rPr>
              <a:t>5.  Dispatch an automated alert carrying location and severity to emergency contacts and medical services.</a:t>
            </a:r>
          </a:p>
          <a:p>
            <a:pPr algn="l">
              <a:spcAft>
                <a:spcPts val="1200"/>
              </a:spcAft>
            </a:pPr>
            <a:r>
              <a:rPr sz="2000" b="0" i="0">
                <a:solidFill>
                  <a:srgbClr val="222222"/>
                </a:solidFill>
                <a:latin typeface="Calibri"/>
                <a:ea typeface="Calibri"/>
                <a:cs typeface="Calibri"/>
              </a:rPr>
              <a:t>6.  Evaluate detection accuracy, false alarm rate and end-to-end alert latency.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783080"/>
            <a:ext cx="1630680"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Sensor reading</a:t>
            </a:r>
          </a:p>
        </p:txBody>
      </p:sp>
      <p:sp>
        <p:nvSpPr>
          <p:cNvPr id="8" name="Right Arrow 7"/>
          <p:cNvSpPr/>
          <p:nvPr/>
        </p:nvSpPr>
        <p:spPr>
          <a:xfrm>
            <a:off x="2170175"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07919" y="1783080"/>
            <a:ext cx="1630680"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Scale</a:t>
            </a:r>
          </a:p>
        </p:txBody>
      </p:sp>
      <p:sp>
        <p:nvSpPr>
          <p:cNvPr id="10" name="Right Arrow 9"/>
          <p:cNvSpPr/>
          <p:nvPr/>
        </p:nvSpPr>
        <p:spPr>
          <a:xfrm>
            <a:off x="4075175"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12919" y="1783080"/>
            <a:ext cx="1630680"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Detect</a:t>
            </a:r>
          </a:p>
        </p:txBody>
      </p:sp>
      <p:sp>
        <p:nvSpPr>
          <p:cNvPr id="12" name="Right Arrow 11"/>
          <p:cNvSpPr/>
          <p:nvPr/>
        </p:nvSpPr>
        <p:spPr>
          <a:xfrm>
            <a:off x="5980175"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19" y="1783080"/>
            <a:ext cx="1630680"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Grade severity</a:t>
            </a:r>
          </a:p>
        </p:txBody>
      </p:sp>
      <p:sp>
        <p:nvSpPr>
          <p:cNvPr id="14" name="Right Arrow 13"/>
          <p:cNvSpPr/>
          <p:nvPr/>
        </p:nvSpPr>
        <p:spPr>
          <a:xfrm>
            <a:off x="7885175"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22920" y="1783080"/>
            <a:ext cx="1630680"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Confirm 15 s</a:t>
            </a:r>
          </a:p>
        </p:txBody>
      </p:sp>
      <p:sp>
        <p:nvSpPr>
          <p:cNvPr id="16" name="Right Arrow 15"/>
          <p:cNvSpPr/>
          <p:nvPr/>
        </p:nvSpPr>
        <p:spPr>
          <a:xfrm>
            <a:off x="9790175"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27919" y="1783080"/>
            <a:ext cx="1630680"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Locate + dispatch</a:t>
            </a:r>
          </a:p>
        </p:txBody>
      </p:sp>
      <p:sp>
        <p:nvSpPr>
          <p:cNvPr id="18" name="TextBox 17"/>
          <p:cNvSpPr txBox="1"/>
          <p:nvPr/>
        </p:nvSpPr>
        <p:spPr>
          <a:xfrm>
            <a:off x="502920" y="3063240"/>
            <a:ext cx="11155680" cy="320040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Two random forests of the same family: a detector (200 trees) and a severity grader (250 trees), both with balanced class weights.</a:t>
            </a:r>
          </a:p>
          <a:p>
            <a:pPr algn="l" marL="256032" indent="-201168">
              <a:spcAft>
                <a:spcPts val="1000"/>
              </a:spcAft>
              <a:buChar char="•"/>
            </a:pPr>
            <a:r>
              <a:rPr sz="1700" b="0" i="0">
                <a:solidFill>
                  <a:srgbClr val="222222"/>
                </a:solidFill>
                <a:latin typeface="Calibri"/>
                <a:ea typeface="Calibri"/>
                <a:cs typeface="Calibri"/>
              </a:rPr>
              <a:t>The grader never overrides the detector: no accident means severity None.</a:t>
            </a:r>
          </a:p>
          <a:p>
            <a:pPr algn="l" marL="256032" indent="-201168">
              <a:spcAft>
                <a:spcPts val="1000"/>
              </a:spcAft>
              <a:buChar char="•"/>
            </a:pPr>
            <a:r>
              <a:rPr sz="1700" b="0" i="0">
                <a:solidFill>
                  <a:srgbClr val="222222"/>
                </a:solidFill>
                <a:latin typeface="Calibri"/>
                <a:ea typeface="Calibri"/>
                <a:cs typeface="Calibri"/>
              </a:rPr>
              <a:t>Only Moderate or Severe starts the confirmation countdown; cancelling is logged as a false alarm.</a:t>
            </a:r>
          </a:p>
          <a:p>
            <a:pPr algn="l" marL="256032" indent="-201168">
              <a:spcAft>
                <a:spcPts val="400"/>
              </a:spcAft>
              <a:buChar char="•"/>
            </a:pPr>
            <a:r>
              <a:rPr sz="1700" b="0" i="0">
                <a:solidFill>
                  <a:srgbClr val="222222"/>
                </a:solidFill>
                <a:latin typeface="Calibri"/>
                <a:ea typeface="Calibri"/>
                <a:cs typeface="Calibri"/>
              </a:rPr>
              <a:t>After confirmation: browser GPS, haversine ranking of a 10-hospital directory, a drafted message with a map link, 112 and 108. A demonstration: nothing is transmitted.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1752600" y="1645920"/>
            <a:ext cx="5181599" cy="4663440"/>
          </a:xfrm>
          <a:prstGeom prst="rect">
            <a:avLst/>
          </a:prstGeom>
        </p:spPr>
      </p:pic>
      <p:sp>
        <p:nvSpPr>
          <p:cNvPr id="8" name="TextBox 7"/>
          <p:cNvSpPr txBox="1"/>
          <p:nvPr/>
        </p:nvSpPr>
        <p:spPr>
          <a:xfrm>
            <a:off x="8412480" y="1828800"/>
            <a:ext cx="3291840" cy="4389120"/>
          </a:xfrm>
          <a:prstGeom prst="rect">
            <a:avLst/>
          </a:prstGeom>
          <a:noFill/>
        </p:spPr>
        <p:txBody>
          <a:bodyPr wrap="square" lIns="0" rIns="0" tIns="0" bIns="0" anchor="t">
            <a:spAutoFit/>
          </a:bodyPr>
          <a:lstStyle/>
          <a:p>
            <a:pPr algn="l" marL="256032" indent="-201168">
              <a:spcAft>
                <a:spcPts val="800"/>
              </a:spcAft>
              <a:buChar char="•"/>
            </a:pPr>
            <a:r>
              <a:rPr sz="1500" b="0" i="0">
                <a:solidFill>
                  <a:srgbClr val="222222"/>
                </a:solidFill>
                <a:latin typeface="Calibri"/>
                <a:ea typeface="Calibri"/>
                <a:cs typeface="Calibri"/>
              </a:rPr>
              <a:t>Console: React 19 + Vite 8, port 5302</a:t>
            </a:r>
          </a:p>
          <a:p>
            <a:pPr algn="l" marL="256032" indent="-201168">
              <a:spcAft>
                <a:spcPts val="800"/>
              </a:spcAft>
              <a:buChar char="•"/>
            </a:pPr>
            <a:r>
              <a:rPr sz="1500" b="0" i="0">
                <a:solidFill>
                  <a:srgbClr val="222222"/>
                </a:solidFill>
                <a:latin typeface="Calibri"/>
                <a:ea typeface="Calibri"/>
                <a:cs typeface="Calibri"/>
              </a:rPr>
              <a:t>API: Flask 3, port 8302, 10 routes</a:t>
            </a:r>
          </a:p>
          <a:p>
            <a:pPr algn="l" marL="256032" indent="-201168">
              <a:spcAft>
                <a:spcPts val="800"/>
              </a:spcAft>
              <a:buChar char="•"/>
            </a:pPr>
            <a:r>
              <a:rPr sz="1500" b="0" i="0">
                <a:solidFill>
                  <a:srgbClr val="222222"/>
                </a:solidFill>
                <a:latin typeface="Calibri"/>
                <a:ea typeface="Calibri"/>
                <a:cs typeface="Calibri"/>
              </a:rPr>
              <a:t>ML: scaler + two random forests, loaded once</a:t>
            </a:r>
          </a:p>
          <a:p>
            <a:pPr algn="l" marL="256032" indent="-201168">
              <a:spcAft>
                <a:spcPts val="800"/>
              </a:spcAft>
              <a:buChar char="•"/>
            </a:pPr>
            <a:r>
              <a:rPr sz="1500" b="0" i="0">
                <a:solidFill>
                  <a:srgbClr val="222222"/>
                </a:solidFill>
                <a:latin typeface="Calibri"/>
                <a:ea typeface="Calibri"/>
                <a:cs typeface="Calibri"/>
              </a:rPr>
              <a:t>Data: users.json, hospitals.json, four pickles; no database</a:t>
            </a:r>
          </a:p>
          <a:p>
            <a:pPr algn="l" marL="256032" indent="-201168">
              <a:spcAft>
                <a:spcPts val="400"/>
              </a:spcAft>
              <a:buChar char="•"/>
            </a:pPr>
            <a:r>
              <a:rPr sz="1500" b="0" i="0">
                <a:solidFill>
                  <a:srgbClr val="222222"/>
                </a:solidFill>
                <a:latin typeface="Calibri"/>
                <a:ea typeface="Calibri"/>
                <a:cs typeface="Calibri"/>
              </a:rPr>
              <a:t>Outside: OpenStreetMap tiles and the browser's location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3736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Generate</a:t>
            </a:r>
          </a:p>
        </p:txBody>
      </p:sp>
      <p:sp>
        <p:nvSpPr>
          <p:cNvPr id="8" name="Right Arrow 7"/>
          <p:cNvSpPr/>
          <p:nvPr/>
        </p:nvSpPr>
        <p:spPr>
          <a:xfrm>
            <a:off x="1930690"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3736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Split 80/20</a:t>
            </a:r>
          </a:p>
        </p:txBody>
      </p:sp>
      <p:sp>
        <p:nvSpPr>
          <p:cNvPr id="10" name="Right Arrow 9"/>
          <p:cNvSpPr/>
          <p:nvPr/>
        </p:nvSpPr>
        <p:spPr>
          <a:xfrm>
            <a:off x="3550484"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3736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Scale</a:t>
            </a:r>
          </a:p>
        </p:txBody>
      </p:sp>
      <p:sp>
        <p:nvSpPr>
          <p:cNvPr id="12" name="Right Arrow 11"/>
          <p:cNvSpPr/>
          <p:nvPr/>
        </p:nvSpPr>
        <p:spPr>
          <a:xfrm>
            <a:off x="5170278"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3736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Train 2 forests</a:t>
            </a:r>
          </a:p>
        </p:txBody>
      </p:sp>
      <p:sp>
        <p:nvSpPr>
          <p:cNvPr id="14" name="Right Arrow 13"/>
          <p:cNvSpPr/>
          <p:nvPr/>
        </p:nvSpPr>
        <p:spPr>
          <a:xfrm>
            <a:off x="6790073"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3736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Evaluate</a:t>
            </a:r>
          </a:p>
        </p:txBody>
      </p:sp>
      <p:sp>
        <p:nvSpPr>
          <p:cNvPr id="16" name="Right Arrow 15"/>
          <p:cNvSpPr/>
          <p:nvPr/>
        </p:nvSpPr>
        <p:spPr>
          <a:xfrm>
            <a:off x="8409867"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3736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Baselines</a:t>
            </a:r>
          </a:p>
        </p:txBody>
      </p:sp>
      <p:sp>
        <p:nvSpPr>
          <p:cNvPr id="18" name="Right Arrow 17"/>
          <p:cNvSpPr/>
          <p:nvPr/>
        </p:nvSpPr>
        <p:spPr>
          <a:xfrm>
            <a:off x="10029661"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3736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Stress tests</a:t>
            </a:r>
          </a:p>
        </p:txBody>
      </p:sp>
      <p:sp>
        <p:nvSpPr>
          <p:cNvPr id="20" name="TextBox 19"/>
          <p:cNvSpPr txBox="1"/>
          <p:nvPr/>
        </p:nvSpPr>
        <p:spPr>
          <a:xfrm>
            <a:off x="502920" y="3108960"/>
            <a:ext cx="11155680" cy="310896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12,000 synthetic events from train_models.py (seed 42): 9,600 for training, 2,400 held out, stratified on the accident label.</a:t>
            </a:r>
          </a:p>
          <a:p>
            <a:pPr algn="l" marL="256032" indent="-201168">
              <a:spcAft>
                <a:spcPts val="900"/>
              </a:spcAft>
              <a:buChar char="•"/>
            </a:pPr>
            <a:r>
              <a:rPr sz="1600" b="0" i="0">
                <a:solidFill>
                  <a:srgbClr val="222222"/>
                </a:solidFill>
                <a:latin typeface="Calibri"/>
                <a:ea typeface="Calibri"/>
                <a:cs typeface="Calibri"/>
              </a:rPr>
              <a:t>The shipped pickles were checked against a fresh retrain: 100 % agreement on all 2,400 test events.</a:t>
            </a:r>
          </a:p>
          <a:p>
            <a:pPr algn="l" marL="256032" indent="-201168">
              <a:spcAft>
                <a:spcPts val="900"/>
              </a:spcAft>
              <a:buChar char="•"/>
            </a:pPr>
            <a:r>
              <a:rPr sz="1600" b="0" i="0">
                <a:solidFill>
                  <a:srgbClr val="222222"/>
                </a:solidFill>
                <a:latin typeface="Calibri"/>
                <a:ea typeface="Calibri"/>
                <a:cs typeface="Calibri"/>
              </a:rPr>
              <a:t>Added measurements: a five-seed repeat, four baselines, feature importance and ablation, a noise sweep, a threshold sweep and pothole / speed-breaker probes.</a:t>
            </a:r>
          </a:p>
          <a:p>
            <a:pPr algn="l" marL="256032" indent="-201168">
              <a:spcAft>
                <a:spcPts val="900"/>
              </a:spcAft>
              <a:buChar char="•"/>
            </a:pPr>
            <a:r>
              <a:rPr sz="1600" b="0" i="0">
                <a:solidFill>
                  <a:srgbClr val="222222"/>
                </a:solidFill>
                <a:latin typeface="Calibri"/>
                <a:ea typeface="Calibri"/>
                <a:cs typeface="Calibri"/>
              </a:rPr>
              <a:t>API latency measured on 127.0.0.1; 55 unit, edge and security checks plus the shipped 33-check smoke test.</a:t>
            </a:r>
          </a:p>
          <a:p>
            <a:pPr algn="l" marL="256032" indent="-201168">
              <a:spcAft>
                <a:spcPts val="400"/>
              </a:spcAft>
              <a:buChar char="•"/>
            </a:pPr>
            <a:r>
              <a:rPr sz="1600" b="0" i="0">
                <a:solidFill>
                  <a:srgbClr val="222222"/>
                </a:solidFill>
                <a:latin typeface="Calibri"/>
                <a:ea typeface="Calibri"/>
                <a:cs typeface="Calibri"/>
              </a:rPr>
              <a:t>Every number is written by scripts/measure_metrics.py, measure_api.py or run_tests.py to experiments/resqai_eval.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&amp; Models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960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28066"/>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12,000</a:t>
            </a:r>
          </a:p>
        </p:txBody>
      </p:sp>
      <p:sp>
        <p:nvSpPr>
          <p:cNvPr id="10" name="TextBox 9"/>
          <p:cNvSpPr txBox="1"/>
          <p:nvPr/>
        </p:nvSpPr>
        <p:spPr>
          <a:xfrm>
            <a:off x="685800" y="229422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synthetic events, seed 42</a:t>
            </a:r>
          </a:p>
        </p:txBody>
      </p:sp>
      <p:sp>
        <p:nvSpPr>
          <p:cNvPr id="11" name="Rounded Rectangle 10"/>
          <p:cNvSpPr/>
          <p:nvPr/>
        </p:nvSpPr>
        <p:spPr>
          <a:xfrm>
            <a:off x="502920" y="283464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34640"/>
            <a:ext cx="73152" cy="9601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889504"/>
            <a:ext cx="2377440" cy="528066"/>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11</a:t>
            </a:r>
          </a:p>
        </p:txBody>
      </p:sp>
      <p:sp>
        <p:nvSpPr>
          <p:cNvPr id="14" name="TextBox 13"/>
          <p:cNvSpPr txBox="1"/>
          <p:nvPr/>
        </p:nvSpPr>
        <p:spPr>
          <a:xfrm>
            <a:off x="685800" y="339150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features per event</a:t>
            </a:r>
          </a:p>
        </p:txBody>
      </p:sp>
      <p:sp>
        <p:nvSpPr>
          <p:cNvPr id="15" name="Rounded Rectangle 14"/>
          <p:cNvSpPr/>
          <p:nvPr/>
        </p:nvSpPr>
        <p:spPr>
          <a:xfrm>
            <a:off x="502920" y="393192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3931920"/>
            <a:ext cx="73152" cy="9601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3986783"/>
            <a:ext cx="23774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19.9 %</a:t>
            </a:r>
          </a:p>
        </p:txBody>
      </p:sp>
      <p:sp>
        <p:nvSpPr>
          <p:cNvPr id="18" name="TextBox 17"/>
          <p:cNvSpPr txBox="1"/>
          <p:nvPr/>
        </p:nvSpPr>
        <p:spPr>
          <a:xfrm>
            <a:off x="685800" y="448878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crashes: minor 1,215, moderate 725, severe 447</a:t>
            </a:r>
          </a:p>
        </p:txBody>
      </p:sp>
      <p:pic>
        <p:nvPicPr>
          <p:cNvPr id="19" name="Picture 18" descr="f01_feature_separation.png"/>
          <p:cNvPicPr>
            <a:picLocks noChangeAspect="1"/>
          </p:cNvPicPr>
          <p:nvPr/>
        </p:nvPicPr>
        <p:blipFill>
          <a:blip r:embed="rId4"/>
          <a:stretch>
            <a:fillRect/>
          </a:stretch>
        </p:blipFill>
        <p:spPr>
          <a:xfrm>
            <a:off x="3383280" y="1853344"/>
            <a:ext cx="4937760" cy="1871151"/>
          </a:xfrm>
          <a:prstGeom prst="rect">
            <a:avLst/>
          </a:prstGeom>
        </p:spPr>
      </p:pic>
      <p:graphicFrame>
        <p:nvGraphicFramePr>
          <p:cNvPr id="20" name="Table 19"/>
          <p:cNvGraphicFramePr>
            <a:graphicFrameLocks noGrp="1"/>
          </p:cNvGraphicFramePr>
          <p:nvPr/>
        </p:nvGraphicFramePr>
        <p:xfrm>
          <a:off x="8503920" y="1737360"/>
          <a:ext cx="3200400" cy="2743200"/>
        </p:xfrm>
        <a:graphic>
          <a:graphicData uri="http://schemas.openxmlformats.org/drawingml/2006/table">
            <a:tbl>
              <a:tblPr firstRow="0" bandRow="0">
                <a:tableStyleId>{5C22544A-7EE6-4342-B048-85BDC9FD1C3A}</a:tableStyleId>
              </a:tblPr>
              <a:tblGrid>
                <a:gridCol w="1280160"/>
                <a:gridCol w="1920240"/>
              </a:tblGrid>
              <a:tr h="548640">
                <a:tc>
                  <a:txBody>
                    <a:bodyPr wrap="square"/>
                    <a:lstStyle/>
                    <a:p>
                      <a:pPr algn="ctr"/>
                      <a:r>
                        <a:rPr sz="1100" b="1">
                          <a:solidFill>
                            <a:srgbClr val="1F3864"/>
                          </a:solidFill>
                          <a:latin typeface="Calibri"/>
                          <a:ea typeface="Calibri"/>
                          <a:cs typeface="Calibri"/>
                        </a:rPr>
                        <a:t>Component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Choice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48640">
                <a:tc>
                  <a:txBody>
                    <a:bodyPr wrap="square"/>
                    <a:lstStyle/>
                    <a:p>
                      <a:pPr algn="l"/>
                      <a:r>
                        <a:rPr sz="1100" b="1">
                          <a:solidFill>
                            <a:srgbClr val="222222"/>
                          </a:solidFill>
                          <a:latin typeface="Calibri"/>
                          <a:ea typeface="Calibri"/>
                          <a:cs typeface="Calibri"/>
                        </a:rPr>
                        <a:t>Scaler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StandardScaler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100" b="1">
                          <a:solidFill>
                            <a:srgbClr val="222222"/>
                          </a:solidFill>
                          <a:latin typeface="Calibri"/>
                          <a:ea typeface="Calibri"/>
                          <a:cs typeface="Calibri"/>
                        </a:rPr>
                        <a:t>Detector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RF, 200 trees, depth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48640">
                <a:tc>
                  <a:txBody>
                    <a:bodyPr wrap="square"/>
                    <a:lstStyle/>
                    <a:p>
                      <a:pPr algn="l"/>
                      <a:r>
                        <a:rPr sz="1100" b="1">
                          <a:solidFill>
                            <a:srgbClr val="222222"/>
                          </a:solidFill>
                          <a:latin typeface="Calibri"/>
                          <a:ea typeface="Calibri"/>
                          <a:cs typeface="Calibri"/>
                        </a:rPr>
                        <a:t>Severity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RF, 250 trees, depth 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100" b="1">
                          <a:solidFill>
                            <a:srgbClr val="222222"/>
                          </a:solidFill>
                          <a:latin typeface="Calibri"/>
                          <a:ea typeface="Calibri"/>
                          <a:cs typeface="Calibri"/>
                        </a:rPr>
                        <a:t>Fallback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acc_magnitude 15 / 28 / 45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1" name="TextBox 20"/>
          <p:cNvSpPr txBox="1"/>
          <p:nvPr/>
        </p:nvSpPr>
        <p:spPr>
          <a:xfrm>
            <a:off x="3383280" y="4023360"/>
            <a:ext cx="5029200" cy="228600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Crashes start at 15.3 m/s² and harsh braking never exceeds 13.2: one gap separates the classes.</a:t>
            </a:r>
          </a:p>
          <a:p>
            <a:pPr algn="l" marL="256032" indent="-201168">
              <a:spcAft>
                <a:spcPts val="400"/>
              </a:spcAft>
              <a:buChar char="•"/>
            </a:pPr>
            <a:r>
              <a:rPr sz="1300" b="0" i="0">
                <a:solidFill>
                  <a:srgbClr val="222222"/>
                </a:solidFill>
                <a:latin typeface="Calibri"/>
                <a:ea typeface="Calibri"/>
                <a:cs typeface="Calibri"/>
              </a:rPr>
              <a:t>The generator has no potholes, speed breakers, phone drops or real sensor noise.</a:t>
            </a:r>
          </a:p>
          <a:p>
            <a:pPr algn="l" marL="256032" indent="-201168">
              <a:spcAft>
                <a:spcPts val="400"/>
              </a:spcAft>
              <a:buChar char="•"/>
            </a:pPr>
            <a:r>
              <a:rPr sz="1300" b="0" i="0">
                <a:solidFill>
                  <a:srgbClr val="222222"/>
                </a:solidFill>
                <a:latin typeface="Calibri"/>
                <a:ea typeface="Calibri"/>
                <a:cs typeface="Calibri"/>
              </a:rPr>
              <a:t>The same generator parameters drive the live simulator in the console.</a:t>
            </a:r>
          </a:p>
        </p:txBody>
      </p:sp>
      <p:sp>
        <p:nvSpPr>
          <p:cNvPr id="22" name="TextBox 21"/>
          <p:cNvSpPr txBox="1"/>
          <p:nvPr/>
        </p:nvSpPr>
        <p:spPr>
          <a:xfrm>
            <a:off x="502920" y="5074920"/>
            <a:ext cx="2743200" cy="118872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Test split: 1,463 normal, 460 braking, 233 minor, 156 moderate, 88 severe events.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Detection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flowchart_core_algorithm.png"/>
          <p:cNvPicPr>
            <a:picLocks noChangeAspect="1"/>
          </p:cNvPicPr>
          <p:nvPr/>
        </p:nvPicPr>
        <p:blipFill>
          <a:blip r:embed="rId2"/>
          <a:stretch>
            <a:fillRect/>
          </a:stretch>
        </p:blipFill>
        <p:spPr>
          <a:xfrm>
            <a:off x="810281" y="1600200"/>
            <a:ext cx="3957277" cy="4709160"/>
          </a:xfrm>
          <a:prstGeom prst="rect">
            <a:avLst/>
          </a:prstGeom>
        </p:spPr>
      </p:pic>
      <p:sp>
        <p:nvSpPr>
          <p:cNvPr id="8" name="TextBox 7"/>
          <p:cNvSpPr txBox="1"/>
          <p:nvPr/>
        </p:nvSpPr>
        <p:spPr>
          <a:xfrm>
            <a:off x="5394960" y="1783080"/>
            <a:ext cx="6309360" cy="4480560"/>
          </a:xfrm>
          <a:prstGeom prst="rect">
            <a:avLst/>
          </a:prstGeom>
          <a:noFill/>
        </p:spPr>
        <p:txBody>
          <a:bodyPr wrap="square" lIns="0" rIns="0" tIns="0" bIns="0" anchor="t">
            <a:spAutoFit/>
          </a:bodyPr>
          <a:lstStyle/>
          <a:p>
            <a:pPr algn="l" marL="256032" indent="-201168">
              <a:spcAft>
                <a:spcPts val="1000"/>
              </a:spcAft>
              <a:buChar char="•"/>
            </a:pPr>
            <a:r>
              <a:rPr sz="1600" b="0" i="0">
                <a:solidFill>
                  <a:srgbClr val="222222"/>
                </a:solidFill>
                <a:latin typeface="Calibri"/>
                <a:ea typeface="Calibri"/>
                <a:cs typeface="Calibri"/>
              </a:rPr>
              <a:t>The payload is completed (acc_z defaults to 9.81) and magnitudes are derived.</a:t>
            </a:r>
          </a:p>
          <a:p>
            <a:pPr algn="l" marL="256032" indent="-201168">
              <a:spcAft>
                <a:spcPts val="1000"/>
              </a:spcAft>
              <a:buChar char="•"/>
            </a:pPr>
            <a:r>
              <a:rPr sz="1600" b="0" i="0">
                <a:solidFill>
                  <a:srgbClr val="222222"/>
                </a:solidFill>
                <a:latin typeface="Calibri"/>
                <a:ea typeface="Calibri"/>
                <a:cs typeface="Calibri"/>
              </a:rPr>
              <a:t>The scaler uses the training mean and deviation; the detector returns the class and the probability of an accident.</a:t>
            </a:r>
          </a:p>
          <a:p>
            <a:pPr algn="l" marL="256032" indent="-201168">
              <a:spcAft>
                <a:spcPts val="1000"/>
              </a:spcAft>
              <a:buChar char="•"/>
            </a:pPr>
            <a:r>
              <a:rPr sz="1600" b="0" i="0">
                <a:solidFill>
                  <a:srgbClr val="222222"/>
                </a:solidFill>
                <a:latin typeface="Calibri"/>
                <a:ea typeface="Calibri"/>
                <a:cs typeface="Calibri"/>
              </a:rPr>
              <a:t>The severity forest returns 0 to 3; an accident flag of 0 forces 0.</a:t>
            </a:r>
          </a:p>
          <a:p>
            <a:pPr algn="l" marL="256032" indent="-201168">
              <a:spcAft>
                <a:spcPts val="1000"/>
              </a:spcAft>
              <a:buChar char="•"/>
            </a:pPr>
            <a:r>
              <a:rPr sz="1600" b="0" i="0">
                <a:solidFill>
                  <a:srgbClr val="222222"/>
                </a:solidFill>
                <a:latin typeface="Calibri"/>
                <a:ea typeface="Calibri"/>
                <a:cs typeface="Calibri"/>
              </a:rPr>
              <a:t>If the models cannot be loaded, three thresholds on acc_magnitude answer and the response says rule_based_fallback.</a:t>
            </a:r>
          </a:p>
          <a:p>
            <a:pPr algn="l" marL="256032" indent="-201168">
              <a:spcAft>
                <a:spcPts val="400"/>
              </a:spcAft>
              <a:buChar char="•"/>
            </a:pPr>
            <a:r>
              <a:rPr sz="1600" b="0" i="0">
                <a:solidFill>
                  <a:srgbClr val="222222"/>
                </a:solidFill>
                <a:latin typeface="Calibri"/>
                <a:ea typeface="Calibri"/>
                <a:cs typeface="Calibri"/>
              </a:rPr>
              <a:t>In the browser only Moderate or Severe opens the 15 s confirmation and pauses live monitoring.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main_flow.png"/>
          <p:cNvPicPr>
            <a:picLocks noChangeAspect="1"/>
          </p:cNvPicPr>
          <p:nvPr/>
        </p:nvPicPr>
        <p:blipFill>
          <a:blip r:embed="rId2"/>
          <a:stretch>
            <a:fillRect/>
          </a:stretch>
        </p:blipFill>
        <p:spPr>
          <a:xfrm>
            <a:off x="738329" y="1600200"/>
            <a:ext cx="5564221" cy="4754880"/>
          </a:xfrm>
          <a:prstGeom prst="rect">
            <a:avLst/>
          </a:prstGeom>
        </p:spPr>
      </p:pic>
      <p:pic>
        <p:nvPicPr>
          <p:cNvPr id="8" name="Picture 7" descr="08_use_case.png"/>
          <p:cNvPicPr>
            <a:picLocks noChangeAspect="1"/>
          </p:cNvPicPr>
          <p:nvPr/>
        </p:nvPicPr>
        <p:blipFill>
          <a:blip r:embed="rId5"/>
          <a:stretch>
            <a:fillRect/>
          </a:stretch>
        </p:blipFill>
        <p:spPr>
          <a:xfrm>
            <a:off x="6675120" y="2066543"/>
            <a:ext cx="5029200" cy="38221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Storage &amp; Data Design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996214" y="1645920"/>
            <a:ext cx="5414210" cy="4114800"/>
          </a:xfrm>
          <a:prstGeom prst="rect">
            <a:avLst/>
          </a:prstGeom>
        </p:spPr>
      </p:pic>
      <p:graphicFrame>
        <p:nvGraphicFramePr>
          <p:cNvPr id="8" name="Table 7"/>
          <p:cNvGraphicFramePr>
            <a:graphicFrameLocks noGrp="1"/>
          </p:cNvGraphicFramePr>
          <p:nvPr/>
        </p:nvGraphicFramePr>
        <p:xfrm>
          <a:off x="7132320" y="1737360"/>
          <a:ext cx="4572000" cy="3520440"/>
        </p:xfrm>
        <a:graphic>
          <a:graphicData uri="http://schemas.openxmlformats.org/drawingml/2006/table">
            <a:tbl>
              <a:tblPr firstRow="0" bandRow="0">
                <a:tableStyleId>{5C22544A-7EE6-4342-B048-85BDC9FD1C3A}</a:tableStyleId>
              </a:tblPr>
              <a:tblGrid>
                <a:gridCol w="2194560"/>
                <a:gridCol w="2377440"/>
              </a:tblGrid>
              <a:tr h="502920">
                <a:tc>
                  <a:txBody>
                    <a:bodyPr wrap="square"/>
                    <a:lstStyle/>
                    <a:p>
                      <a:pPr algn="ctr"/>
                      <a:r>
                        <a:rPr sz="1100" b="1">
                          <a:solidFill>
                            <a:srgbClr val="1F3864"/>
                          </a:solidFill>
                          <a:latin typeface="Calibri"/>
                          <a:ea typeface="Calibri"/>
                          <a:cs typeface="Calibri"/>
                        </a:rPr>
                        <a:t>Store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100" b="1">
                          <a:solidFill>
                            <a:srgbClr val="222222"/>
                          </a:solidFill>
                          <a:latin typeface="Calibri"/>
                          <a:ea typeface="Calibri"/>
                          <a:cs typeface="Calibri"/>
                        </a:rPr>
                        <a:t>users.json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id, name, unique e-mail, scrypt hash, created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hospitals.json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10 Hyderabad hospitals + default location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accident_detector.pkl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385 KB, 200-tree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severity_predictor.pkl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2.6 MB, 250-tree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feature_scaler.pkl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StandardScaler, 11 features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feature_names.pkl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feature order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502920" y="585216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No relational database: readings, predictions and alerts are transient, and an alert carries no user id.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10</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REST routes</a:t>
            </a:r>
          </a:p>
        </p:txBody>
      </p:sp>
      <p:sp>
        <p:nvSpPr>
          <p:cNvPr id="11" name="Rounded Rectangle 10"/>
          <p:cNvSpPr/>
          <p:nvPr/>
        </p:nvSpPr>
        <p:spPr>
          <a:xfrm>
            <a:off x="333756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33 + 55</a:t>
            </a:r>
          </a:p>
        </p:txBody>
      </p:sp>
      <p:sp>
        <p:nvSpPr>
          <p:cNvPr id="14" name="TextBox 13"/>
          <p:cNvSpPr txBox="1"/>
          <p:nvPr/>
        </p:nvSpPr>
        <p:spPr>
          <a:xfrm>
            <a:off x="352044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smoke + unit / edge / security checks</a:t>
            </a:r>
          </a:p>
        </p:txBody>
      </p:sp>
      <p:sp>
        <p:nvSpPr>
          <p:cNvPr id="15" name="Rounded Rectangle 14"/>
          <p:cNvSpPr/>
          <p:nvPr/>
        </p:nvSpPr>
        <p:spPr>
          <a:xfrm>
            <a:off x="617220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6</a:t>
            </a:r>
          </a:p>
        </p:txBody>
      </p:sp>
      <p:sp>
        <p:nvSpPr>
          <p:cNvPr id="18" name="TextBox 17"/>
          <p:cNvSpPr txBox="1"/>
          <p:nvPr/>
        </p:nvSpPr>
        <p:spPr>
          <a:xfrm>
            <a:off x="635508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screens, light and dark</a:t>
            </a:r>
          </a:p>
        </p:txBody>
      </p:sp>
      <p:sp>
        <p:nvSpPr>
          <p:cNvPr id="19" name="Rounded Rectangle 18"/>
          <p:cNvSpPr/>
          <p:nvPr/>
        </p:nvSpPr>
        <p:spPr>
          <a:xfrm>
            <a:off x="900684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672</a:t>
            </a:r>
          </a:p>
        </p:txBody>
      </p:sp>
      <p:sp>
        <p:nvSpPr>
          <p:cNvPr id="22" name="TextBox 21"/>
          <p:cNvSpPr txBox="1"/>
          <p:nvPr/>
        </p:nvSpPr>
        <p:spPr>
          <a:xfrm>
            <a:off x="918972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lines of Python (app, auth, training)</a:t>
            </a:r>
          </a:p>
        </p:txBody>
      </p:sp>
      <p:sp>
        <p:nvSpPr>
          <p:cNvPr id="23" name="TextBox 22"/>
          <p:cNvSpPr txBox="1"/>
          <p:nvPr/>
        </p:nvSpPr>
        <p:spPr>
          <a:xfrm>
            <a:off x="502920" y="3017520"/>
            <a:ext cx="11155680" cy="320040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Accounts: scrypt hashes, signed 12-hour tokens, e-mail case-insensitive, five failed logins lock an account for five minutes (429); REQUIRE_AUTH=1 guards every API route except /api/health.</a:t>
            </a:r>
          </a:p>
          <a:p>
            <a:pPr algn="l" marL="256032" indent="-201168">
              <a:spcAft>
                <a:spcPts val="900"/>
              </a:spcAft>
              <a:buChar char="•"/>
            </a:pPr>
            <a:r>
              <a:rPr sz="1600" b="0" i="0">
                <a:solidFill>
                  <a:srgbClr val="222222"/>
                </a:solidFill>
                <a:latin typeface="Calibri"/>
                <a:ea typeface="Calibri"/>
                <a:cs typeface="Calibri"/>
              </a:rPr>
              <a:t>Confirmation: 15-second countdown in the browser, cancel by button or Escape, live monitoring paused while it is open.</a:t>
            </a:r>
          </a:p>
          <a:p>
            <a:pPr algn="l" marL="256032" indent="-201168">
              <a:spcAft>
                <a:spcPts val="900"/>
              </a:spcAft>
              <a:buChar char="•"/>
            </a:pPr>
            <a:r>
              <a:rPr sz="1600" b="0" i="0">
                <a:solidFill>
                  <a:srgbClr val="222222"/>
                </a:solidFill>
                <a:latin typeface="Calibri"/>
                <a:ea typeface="Calibri"/>
                <a:cs typeface="Calibri"/>
              </a:rPr>
              <a:t>Location and dispatch: browser geolocation with a 3 s timeout, haversine ranking, message with a map link, alert id, 112 and 108 tap-to-call.</a:t>
            </a:r>
          </a:p>
          <a:p>
            <a:pPr algn="l" marL="256032" indent="-201168">
              <a:spcAft>
                <a:spcPts val="400"/>
              </a:spcAft>
              <a:buChar char="•"/>
            </a:pPr>
            <a:r>
              <a:rPr sz="1600" b="0" i="0">
                <a:solidFill>
                  <a:srgbClr val="222222"/>
                </a:solidFill>
                <a:latin typeface="Calibri"/>
                <a:ea typeface="Calibri"/>
                <a:cs typeface="Calibri"/>
              </a:rPr>
              <a:t>Known gaps: bad input can return HTTP 500, two alerts in one second share an id, requirements are not pinned.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Detector &amp; Severity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1.000</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detector accuracy, precision, recall, F1</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0.99958</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severity accuracy after the gate</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0.99866</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severity macro-F1</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0.996 / 1.000</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alert-trigger precision / recall</a:t>
            </a:r>
          </a:p>
        </p:txBody>
      </p:sp>
      <p:pic>
        <p:nvPicPr>
          <p:cNvPr id="23" name="Picture 22" descr="f02_confusion_matrices.png"/>
          <p:cNvPicPr>
            <a:picLocks noChangeAspect="1"/>
          </p:cNvPicPr>
          <p:nvPr/>
        </p:nvPicPr>
        <p:blipFill>
          <a:blip r:embed="rId4"/>
          <a:stretch>
            <a:fillRect/>
          </a:stretch>
        </p:blipFill>
        <p:spPr>
          <a:xfrm>
            <a:off x="502920" y="2953512"/>
            <a:ext cx="6583680" cy="2779776"/>
          </a:xfrm>
          <a:prstGeom prst="rect">
            <a:avLst/>
          </a:prstGeom>
        </p:spPr>
      </p:pic>
      <p:graphicFrame>
        <p:nvGraphicFramePr>
          <p:cNvPr id="24" name="Table 23"/>
          <p:cNvGraphicFramePr>
            <a:graphicFrameLocks noGrp="1"/>
          </p:cNvGraphicFramePr>
          <p:nvPr/>
        </p:nvGraphicFramePr>
        <p:xfrm>
          <a:off x="7315200" y="2926080"/>
          <a:ext cx="4389120" cy="2057400"/>
        </p:xfrm>
        <a:graphic>
          <a:graphicData uri="http://schemas.openxmlformats.org/drawingml/2006/table">
            <a:tbl>
              <a:tblPr firstRow="0" bandRow="0">
                <a:tableStyleId>{5C22544A-7EE6-4342-B048-85BDC9FD1C3A}</a:tableStyleId>
              </a:tblPr>
              <a:tblGrid>
                <a:gridCol w="1188720"/>
                <a:gridCol w="914400"/>
                <a:gridCol w="822960"/>
                <a:gridCol w="822960"/>
                <a:gridCol w="640080"/>
              </a:tblGrid>
              <a:tr h="411480">
                <a:tc>
                  <a:txBody>
                    <a:bodyPr wrap="square"/>
                    <a:lstStyle/>
                    <a:p>
                      <a:pPr algn="ctr"/>
                      <a:r>
                        <a:rPr sz="1200" b="1">
                          <a:solidFill>
                            <a:srgbClr val="1F3864"/>
                          </a:solidFill>
                          <a:latin typeface="Calibri"/>
                          <a:ea typeface="Calibri"/>
                          <a:cs typeface="Calibri"/>
                        </a:rPr>
                        <a:t>Class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Precision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Recall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11480">
                <a:tc>
                  <a:txBody>
                    <a:bodyPr wrap="square"/>
                    <a:lstStyle/>
                    <a:p>
                      <a:pPr algn="l"/>
                      <a:r>
                        <a:rPr sz="1200" b="1">
                          <a:solidFill>
                            <a:srgbClr val="222222"/>
                          </a:solidFill>
                          <a:latin typeface="Calibri"/>
                          <a:ea typeface="Calibri"/>
                          <a:cs typeface="Calibri"/>
                        </a:rPr>
                        <a:t>None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1.0000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1.0000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1923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11480">
                <a:tc>
                  <a:txBody>
                    <a:bodyPr wrap="square"/>
                    <a:lstStyle/>
                    <a:p>
                      <a:pPr algn="l"/>
                      <a:r>
                        <a:rPr sz="1200" b="1">
                          <a:solidFill>
                            <a:srgbClr val="222222"/>
                          </a:solidFill>
                          <a:latin typeface="Calibri"/>
                          <a:ea typeface="Calibri"/>
                          <a:cs typeface="Calibri"/>
                        </a:rPr>
                        <a:t>Minor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0.9957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0.9978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233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11480">
                <a:tc>
                  <a:txBody>
                    <a:bodyPr wrap="square"/>
                    <a:lstStyle/>
                    <a:p>
                      <a:pPr algn="l"/>
                      <a:r>
                        <a:rPr sz="1200" b="1">
                          <a:solidFill>
                            <a:srgbClr val="222222"/>
                          </a:solidFill>
                          <a:latin typeface="Calibri"/>
                          <a:ea typeface="Calibri"/>
                          <a:cs typeface="Calibri"/>
                        </a:rPr>
                        <a:t>Moderate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0.994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1.0000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0.9968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156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11480">
                <a:tc>
                  <a:txBody>
                    <a:bodyPr wrap="square"/>
                    <a:lstStyle/>
                    <a:p>
                      <a:pPr algn="l"/>
                      <a:r>
                        <a:rPr sz="1200" b="1">
                          <a:solidFill>
                            <a:srgbClr val="222222"/>
                          </a:solidFill>
                          <a:latin typeface="Calibri"/>
                          <a:ea typeface="Calibri"/>
                          <a:cs typeface="Calibri"/>
                        </a:rPr>
                        <a:t>Severe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1.0000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1.0000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88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5" name="TextBox 24"/>
          <p:cNvSpPr txBox="1"/>
          <p:nvPr/>
        </p:nvSpPr>
        <p:spPr>
          <a:xfrm>
            <a:off x="7315200" y="5074920"/>
            <a:ext cx="4389120" cy="12801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Five-seed mean: severity accuracy 0.99875 (SD 0.00066), macro-F1 0.99501 (SD 0.00293); detector 1.000 in every run. One error in 2,400: a Minor crash graded Moderate.</a:t>
            </a:r>
          </a:p>
        </p:txBody>
      </p:sp>
      <p:sp>
        <p:nvSpPr>
          <p:cNvPr id="26" name="TextBox 25"/>
          <p:cNvSpPr txBox="1"/>
          <p:nvPr/>
        </p:nvSpPr>
        <p:spPr>
          <a:xfrm>
            <a:off x="502920" y="5943600"/>
            <a:ext cx="6583680" cy="41148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2,400 held-out synthetic events; 1,923 non-accidents and 477 accidents.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Baselines &amp; Ablation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3_baselines.png"/>
          <p:cNvPicPr>
            <a:picLocks noChangeAspect="1"/>
          </p:cNvPicPr>
          <p:nvPr/>
        </p:nvPicPr>
        <p:blipFill>
          <a:blip r:embed="rId3"/>
          <a:stretch>
            <a:fillRect/>
          </a:stretch>
        </p:blipFill>
        <p:spPr>
          <a:xfrm>
            <a:off x="502920" y="2045133"/>
            <a:ext cx="5577840" cy="2584852"/>
          </a:xfrm>
          <a:prstGeom prst="rect">
            <a:avLst/>
          </a:prstGeom>
        </p:spPr>
      </p:pic>
      <p:pic>
        <p:nvPicPr>
          <p:cNvPr id="8" name="Picture 7" descr="f10_ablation.png"/>
          <p:cNvPicPr>
            <a:picLocks noChangeAspect="1"/>
          </p:cNvPicPr>
          <p:nvPr/>
        </p:nvPicPr>
        <p:blipFill>
          <a:blip r:embed="rId2"/>
          <a:stretch>
            <a:fillRect/>
          </a:stretch>
        </p:blipFill>
        <p:spPr>
          <a:xfrm>
            <a:off x="6217920" y="2093550"/>
            <a:ext cx="5486400" cy="2488018"/>
          </a:xfrm>
          <a:prstGeom prst="rect">
            <a:avLst/>
          </a:prstGeom>
        </p:spPr>
      </p:pic>
      <p:sp>
        <p:nvSpPr>
          <p:cNvPr id="9" name="TextBox 8"/>
          <p:cNvSpPr txBox="1"/>
          <p:nvPr/>
        </p:nvSpPr>
        <p:spPr>
          <a:xfrm>
            <a:off x="502920" y="5120640"/>
            <a:ext cx="11155680" cy="1280160"/>
          </a:xfrm>
          <a:prstGeom prst="rect">
            <a:avLst/>
          </a:prstGeom>
          <a:noFill/>
        </p:spPr>
        <p:txBody>
          <a:bodyPr wrap="square" lIns="0" rIns="0" tIns="0" bIns="0" anchor="t">
            <a:spAutoFit/>
          </a:bodyPr>
          <a:lstStyle/>
          <a:p>
            <a:pPr algn="l" marL="256032" indent="-201168">
              <a:spcAft>
                <a:spcPts val="400"/>
              </a:spcAft>
              <a:buChar char="•"/>
            </a:pPr>
            <a:r>
              <a:rPr sz="1400" b="0" i="0">
                <a:solidFill>
                  <a:srgbClr val="222222"/>
                </a:solidFill>
                <a:latin typeface="Calibri"/>
                <a:ea typeface="Calibri"/>
                <a:cs typeface="Calibri"/>
              </a:rPr>
              <a:t>A one-line acc_magnitude threshold detects crashes as well as the forest (1.000); the forest earns its place on severity: 0.9996 against 0.975 accuracy and 0.9987 against 0.912 macro-F1. HistGradientBoosting ties it.</a:t>
            </a:r>
          </a:p>
          <a:p>
            <a:pPr algn="l" marL="256032" indent="-201168">
              <a:spcAft>
                <a:spcPts val="400"/>
              </a:spcAft>
              <a:buChar char="•"/>
            </a:pPr>
            <a:r>
              <a:rPr sz="1400" b="0" i="0">
                <a:solidFill>
                  <a:srgbClr val="222222"/>
                </a:solidFill>
                <a:latin typeface="Calibri"/>
                <a:ea typeface="Calibri"/>
                <a:cs typeface="Calibri"/>
              </a:rPr>
              <a:t>acc_magnitude carries the detector (permutation F1 drop 0.80; every other feature 0.00); the gyroscope adds nothing measurable here; speed change and speed before matter for severity.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Threshold, Noise &amp; Unseen Events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6_threshold_sweep.png"/>
          <p:cNvPicPr>
            <a:picLocks noChangeAspect="1"/>
          </p:cNvPicPr>
          <p:nvPr/>
        </p:nvPicPr>
        <p:blipFill>
          <a:blip r:embed="rId3"/>
          <a:stretch>
            <a:fillRect/>
          </a:stretch>
        </p:blipFill>
        <p:spPr>
          <a:xfrm>
            <a:off x="502920" y="2011680"/>
            <a:ext cx="3657600" cy="1828800"/>
          </a:xfrm>
          <a:prstGeom prst="rect">
            <a:avLst/>
          </a:prstGeom>
        </p:spPr>
      </p:pic>
      <p:pic>
        <p:nvPicPr>
          <p:cNvPr id="8" name="Picture 7" descr="f05_noise_robustness.png"/>
          <p:cNvPicPr>
            <a:picLocks noChangeAspect="1"/>
          </p:cNvPicPr>
          <p:nvPr/>
        </p:nvPicPr>
        <p:blipFill>
          <a:blip r:embed="rId2"/>
          <a:stretch>
            <a:fillRect/>
          </a:stretch>
        </p:blipFill>
        <p:spPr>
          <a:xfrm>
            <a:off x="4251960" y="1960880"/>
            <a:ext cx="3657600" cy="1930400"/>
          </a:xfrm>
          <a:prstGeom prst="rect">
            <a:avLst/>
          </a:prstGeom>
        </p:spPr>
      </p:pic>
      <p:pic>
        <p:nvPicPr>
          <p:cNvPr id="9" name="Picture 8" descr="f07_ood_probes.png"/>
          <p:cNvPicPr>
            <a:picLocks noChangeAspect="1"/>
          </p:cNvPicPr>
          <p:nvPr/>
        </p:nvPicPr>
        <p:blipFill>
          <a:blip r:embed="rId6"/>
          <a:stretch>
            <a:fillRect/>
          </a:stretch>
        </p:blipFill>
        <p:spPr>
          <a:xfrm>
            <a:off x="8001000" y="2046541"/>
            <a:ext cx="3703320" cy="1759077"/>
          </a:xfrm>
          <a:prstGeom prst="rect">
            <a:avLst/>
          </a:prstGeom>
        </p:spPr>
      </p:pic>
      <p:sp>
        <p:nvSpPr>
          <p:cNvPr id="10" name="TextBox 9"/>
          <p:cNvSpPr txBox="1"/>
          <p:nvPr/>
        </p:nvSpPr>
        <p:spPr>
          <a:xfrm>
            <a:off x="502920" y="4297680"/>
            <a:ext cx="3657600" cy="2011680"/>
          </a:xfrm>
          <a:prstGeom prst="rect">
            <a:avLst/>
          </a:prstGeom>
          <a:noFill/>
        </p:spPr>
        <p:txBody>
          <a:bodyPr wrap="square" lIns="0" rIns="0" tIns="0" bIns="0" anchor="t">
            <a:spAutoFit/>
          </a:bodyPr>
          <a:lstStyle/>
          <a:p>
            <a:pPr algn="l">
              <a:spcAft>
                <a:spcPts val="400"/>
              </a:spcAft>
            </a:pPr>
            <a:r>
              <a:rPr sz="1300" b="0" i="0">
                <a:solidFill>
                  <a:srgbClr val="222222"/>
                </a:solidFill>
                <a:latin typeface="Calibri"/>
                <a:ea typeface="Calibri"/>
                <a:cs typeface="Calibri"/>
              </a:rPr>
              <a:t>Threshold sweep: precision and recall stay at 1.000 from 0.2 to 0.9; 5 false alarms at 0.05, 2 missed crashes at 0.95. Not sensitive on this data.</a:t>
            </a:r>
          </a:p>
        </p:txBody>
      </p:sp>
      <p:sp>
        <p:nvSpPr>
          <p:cNvPr id="11" name="TextBox 10"/>
          <p:cNvSpPr txBox="1"/>
          <p:nvPr/>
        </p:nvSpPr>
        <p:spPr>
          <a:xfrm>
            <a:off x="4251960" y="4297680"/>
            <a:ext cx="3657600" cy="2011680"/>
          </a:xfrm>
          <a:prstGeom prst="rect">
            <a:avLst/>
          </a:prstGeom>
          <a:noFill/>
        </p:spPr>
        <p:txBody>
          <a:bodyPr wrap="square" lIns="0" rIns="0" tIns="0" bIns="0" anchor="t">
            <a:spAutoFit/>
          </a:bodyPr>
          <a:lstStyle/>
          <a:p>
            <a:pPr algn="l">
              <a:spcAft>
                <a:spcPts val="400"/>
              </a:spcAft>
            </a:pPr>
            <a:r>
              <a:rPr sz="1300" b="0" i="0">
                <a:solidFill>
                  <a:srgbClr val="222222"/>
                </a:solidFill>
                <a:latin typeface="Calibri"/>
                <a:ea typeface="Calibri"/>
                <a:cs typeface="Calibri"/>
              </a:rPr>
              <a:t>Noise (never trained on): stable to 10 % noise; at 25 % the detector false-alarm rate is 1.2 %, at 50 % it is 24.2 %, at 100 % 72 %. Recall stays at 0.97 or more.</a:t>
            </a:r>
          </a:p>
        </p:txBody>
      </p:sp>
      <p:sp>
        <p:nvSpPr>
          <p:cNvPr id="12" name="TextBox 11"/>
          <p:cNvSpPr txBox="1"/>
          <p:nvPr/>
        </p:nvSpPr>
        <p:spPr>
          <a:xfrm>
            <a:off x="8001000" y="4297680"/>
            <a:ext cx="3703320" cy="2011680"/>
          </a:xfrm>
          <a:prstGeom prst="rect">
            <a:avLst/>
          </a:prstGeom>
          <a:noFill/>
        </p:spPr>
        <p:txBody>
          <a:bodyPr wrap="square" lIns="0" rIns="0" tIns="0" bIns="0" anchor="t">
            <a:spAutoFit/>
          </a:bodyPr>
          <a:lstStyle/>
          <a:p>
            <a:pPr algn="l">
              <a:spcAft>
                <a:spcPts val="400"/>
              </a:spcAft>
            </a:pPr>
            <a:r>
              <a:rPr sz="1300" b="0" i="0">
                <a:solidFill>
                  <a:srgbClr val="222222"/>
                </a:solidFill>
                <a:latin typeface="Calibri"/>
                <a:ea typeface="Calibri"/>
                <a:cs typeface="Calibri"/>
              </a:rPr>
              <a:t>Unseen events (constructed probes, not real data): 48.9 % of pothole-like and 50.5 % of speed-breaker-like events flagged as accidents, none graded Moderate or Severe. Harsh braking: 0 of 460.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515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14 ms</a:t>
            </a:r>
          </a:p>
        </p:txBody>
      </p:sp>
      <p:sp>
        <p:nvSpPr>
          <p:cNvPr id="10" name="TextBox 9"/>
          <p:cNvSpPr txBox="1"/>
          <p:nvPr/>
        </p:nvSpPr>
        <p:spPr>
          <a:xfrm>
            <a:off x="68580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in-process prediction, mean (p95 19.7)</a:t>
            </a:r>
          </a:p>
        </p:txBody>
      </p:sp>
      <p:sp>
        <p:nvSpPr>
          <p:cNvPr id="11" name="Rounded Rectangle 10"/>
          <p:cNvSpPr/>
          <p:nvPr/>
        </p:nvSpPr>
        <p:spPr>
          <a:xfrm>
            <a:off x="333756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26 ms</a:t>
            </a:r>
          </a:p>
        </p:txBody>
      </p:sp>
      <p:sp>
        <p:nvSpPr>
          <p:cNvPr id="14" name="TextBox 13"/>
          <p:cNvSpPr txBox="1"/>
          <p:nvPr/>
        </p:nvSpPr>
        <p:spPr>
          <a:xfrm>
            <a:off x="352044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POST /api/predict, mean (p95 38)</a:t>
            </a:r>
          </a:p>
        </p:txBody>
      </p:sp>
      <p:sp>
        <p:nvSpPr>
          <p:cNvPr id="15" name="Rounded Rectangle 14"/>
          <p:cNvSpPr/>
          <p:nvPr/>
        </p:nvSpPr>
        <p:spPr>
          <a:xfrm>
            <a:off x="617220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56 ms</a:t>
            </a:r>
          </a:p>
        </p:txBody>
      </p:sp>
      <p:sp>
        <p:nvSpPr>
          <p:cNvPr id="18" name="TextBox 17"/>
          <p:cNvSpPr txBox="1"/>
          <p:nvPr/>
        </p:nvSpPr>
        <p:spPr>
          <a:xfrm>
            <a:off x="635508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alert path: simulate + predict + emergency</a:t>
            </a:r>
          </a:p>
        </p:txBody>
      </p:sp>
      <p:sp>
        <p:nvSpPr>
          <p:cNvPr id="19" name="Rounded Rectangle 18"/>
          <p:cNvSpPr/>
          <p:nvPr/>
        </p:nvSpPr>
        <p:spPr>
          <a:xfrm>
            <a:off x="900684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34 / s</a:t>
            </a:r>
          </a:p>
        </p:txBody>
      </p:sp>
      <p:sp>
        <p:nvSpPr>
          <p:cNvPr id="22" name="TextBox 21"/>
          <p:cNvSpPr txBox="1"/>
          <p:nvPr/>
        </p:nvSpPr>
        <p:spPr>
          <a:xfrm>
            <a:off x="918972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predict requests, one client</a:t>
            </a:r>
          </a:p>
        </p:txBody>
      </p:sp>
      <p:pic>
        <p:nvPicPr>
          <p:cNvPr id="23" name="Picture 22" descr="f08_api_latency.png"/>
          <p:cNvPicPr>
            <a:picLocks noChangeAspect="1"/>
          </p:cNvPicPr>
          <p:nvPr/>
        </p:nvPicPr>
        <p:blipFill>
          <a:blip r:embed="rId4"/>
          <a:stretch>
            <a:fillRect/>
          </a:stretch>
        </p:blipFill>
        <p:spPr>
          <a:xfrm>
            <a:off x="502920" y="2916454"/>
            <a:ext cx="5486400" cy="2671010"/>
          </a:xfrm>
          <a:prstGeom prst="rect">
            <a:avLst/>
          </a:prstGeom>
        </p:spPr>
      </p:pic>
      <p:sp>
        <p:nvSpPr>
          <p:cNvPr id="24" name="TextBox 23"/>
          <p:cNvSpPr txBox="1"/>
          <p:nvPr/>
        </p:nvSpPr>
        <p:spPr>
          <a:xfrm>
            <a:off x="6217920" y="2926080"/>
            <a:ext cx="5486400" cy="3291840"/>
          </a:xfrm>
          <a:prstGeom prst="rect">
            <a:avLst/>
          </a:prstGeom>
          <a:noFill/>
        </p:spPr>
        <p:txBody>
          <a:bodyPr wrap="square" lIns="0" rIns="0" tIns="0" bIns="0" anchor="t">
            <a:spAutoFit/>
          </a:bodyPr>
          <a:lstStyle/>
          <a:p>
            <a:pPr algn="l" marL="256032" indent="-201168">
              <a:spcAft>
                <a:spcPts val="600"/>
              </a:spcAft>
              <a:buChar char="•"/>
            </a:pPr>
            <a:r>
              <a:rPr sz="1400" b="0" i="0">
                <a:solidFill>
                  <a:srgbClr val="222222"/>
                </a:solidFill>
                <a:latin typeface="Calibri"/>
                <a:ea typeface="Calibri"/>
                <a:cs typeface="Calibri"/>
              </a:rPr>
              <a:t>Smoke test: 33 of 33 checks pass.</a:t>
            </a:r>
          </a:p>
          <a:p>
            <a:pPr algn="l" marL="256032" indent="-201168">
              <a:spcAft>
                <a:spcPts val="600"/>
              </a:spcAft>
              <a:buChar char="•"/>
            </a:pPr>
            <a:r>
              <a:rPr sz="1400" b="0" i="0">
                <a:solidFill>
                  <a:srgbClr val="222222"/>
                </a:solidFill>
                <a:latin typeface="Calibri"/>
                <a:ea typeface="Calibri"/>
                <a:cs typeface="Calibri"/>
              </a:rPr>
              <a:t>Unit, edge and security: 47 of 55; unit 17 of 17, security 18 of 18, edge 12 of 20.</a:t>
            </a:r>
          </a:p>
          <a:p>
            <a:pPr algn="l" marL="256032" indent="-201168">
              <a:spcAft>
                <a:spcPts val="600"/>
              </a:spcAft>
              <a:buChar char="•"/>
            </a:pPr>
            <a:r>
              <a:rPr sz="1400" b="0" i="0">
                <a:solidFill>
                  <a:srgbClr val="222222"/>
                </a:solidFill>
                <a:latin typeface="Calibri"/>
                <a:ea typeface="Calibri"/>
                <a:cs typeface="Calibri"/>
              </a:rPr>
              <a:t>The 8 failures are input validation: non-numeric values give HTTP 500, k = -1 returns 9 hospitals, coordinates are not range-checked, same-second alert ids collide.</a:t>
            </a:r>
          </a:p>
          <a:p>
            <a:pPr algn="l" marL="256032" indent="-201168">
              <a:spcAft>
                <a:spcPts val="400"/>
              </a:spcAft>
              <a:buChar char="•"/>
            </a:pPr>
            <a:r>
              <a:rPr sz="1400" b="0" i="0">
                <a:solidFill>
                  <a:srgbClr val="222222"/>
                </a:solidFill>
                <a:latin typeface="Calibri"/>
                <a:ea typeface="Calibri"/>
                <a:cs typeface="Calibri"/>
              </a:rPr>
              <a:t>Plus the deliberate 15 s confirmation; real SMS or call delivery time was not measured.</a:t>
            </a:r>
          </a:p>
        </p:txBody>
      </p:sp>
      <p:sp>
        <p:nvSpPr>
          <p:cNvPr id="25" name="TextBox 24"/>
          <p:cNvSpPr txBox="1"/>
          <p:nvPr/>
        </p:nvSpPr>
        <p:spPr>
          <a:xfrm>
            <a:off x="502920" y="5760720"/>
            <a:ext cx="5486400" cy="54864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Flask development server, loopback 127.0.0.1, i5-12500, 15.7 GB RAM under heavy memory pressure: conservative figures. No load test.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data and task)</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91640"/>
          <a:ext cx="11155680" cy="3840480"/>
        </p:xfrm>
        <a:graphic>
          <a:graphicData uri="http://schemas.openxmlformats.org/drawingml/2006/table">
            <a:tbl>
              <a:tblPr firstRow="0" bandRow="0">
                <a:tableStyleId>{5C22544A-7EE6-4342-B048-85BDC9FD1C3A}</a:tableStyleId>
              </a:tblPr>
              <a:tblGrid>
                <a:gridCol w="2194560"/>
                <a:gridCol w="4297680"/>
                <a:gridCol w="4663440"/>
              </a:tblGrid>
              <a:tr h="548640">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This project (ResQAI)</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48640">
                <a:tc>
                  <a:txBody>
                    <a:bodyPr wrap="square"/>
                    <a:lstStyle/>
                    <a:p>
                      <a:pPr algn="l"/>
                      <a:r>
                        <a:rPr sz="1200" b="1">
                          <a:solidFill>
                            <a:srgbClr val="222222"/>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Severity of a past crash from recorded attributes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Detect a crash live, grade it, confirm, locate, dispatch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2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30,442 police-reported crashes, Dongguan, 2019-2023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12,000 synthetic sensor events; no real recordings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48640">
                <a:tc>
                  <a:txBody>
                    <a:bodyPr wrap="square"/>
                    <a:lstStyle/>
                    <a:p>
                      <a:pPr algn="l"/>
                      <a:r>
                        <a:rPr sz="1200" b="1">
                          <a:solidFill>
                            <a:srgbClr val="222222"/>
                          </a:solidFill>
                          <a:latin typeface="Calibri"/>
                          <a:ea typeface="Calibri"/>
                          <a:cs typeface="Calibri"/>
                        </a:rPr>
                        <a:t>Models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Multi-task FT-Transformer; baselines RF, XGBoost, SVM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Two random forests; baselines threshold, LR, tree,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200" b="1">
                          <a:solidFill>
                            <a:srgbClr val="222222"/>
                          </a:solidFill>
                          <a:latin typeface="Calibri"/>
                          <a:ea typeface="Calibri"/>
                          <a:cs typeface="Calibri"/>
                        </a:rPr>
                        <a:t>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Accuracy 70.31 / 90.38 / 80.79 % (three severity tasks)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Detector 1.000; severity 0.99958; macro-F1 0.99866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48640">
                <a:tc>
                  <a:txBody>
                    <a:bodyPr wrap="square"/>
                    <a:lstStyle/>
                    <a:p>
                      <a:pPr algn="l"/>
                      <a:r>
                        <a:rPr sz="1200" b="1">
                          <a:solidFill>
                            <a:srgbClr val="222222"/>
                          </a:solidFill>
                          <a:latin typeface="Calibri"/>
                          <a:ea typeface="Calibri"/>
                          <a:cs typeface="Calibri"/>
                        </a:rPr>
                        <a:t>Explainability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SHAP at sub-class level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Gini and permutation importance, ablation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200" b="1">
                          <a:solidFill>
                            <a:srgbClr val="222222"/>
                          </a:solidFill>
                          <a:latin typeface="Calibri"/>
                          <a:ea typeface="Calibri"/>
                          <a:cs typeface="Calibri"/>
                        </a:rPr>
                        <a:t>Live sensing, location, dispatch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None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Simulated feed, GPS, hospitals, drafted message (not sent)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8" name="TextBox 7"/>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Datasets, labels and tasks differ, and ours is synthetic and easily separable: the figures cannot be compared as like for like, and no superiority is claimed.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Live Monitor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8_monitor_live_62_900.png"/>
          <p:cNvPicPr>
            <a:picLocks noChangeAspect="1"/>
          </p:cNvPicPr>
          <p:nvPr/>
        </p:nvPicPr>
        <p:blipFill>
          <a:blip r:embed="rId3"/>
          <a:stretch>
            <a:fillRect/>
          </a:stretch>
        </p:blipFill>
        <p:spPr>
          <a:xfrm>
            <a:off x="709805" y="1691640"/>
            <a:ext cx="5072628" cy="3566160"/>
          </a:xfrm>
          <a:prstGeom prst="rect">
            <a:avLst/>
          </a:prstGeom>
          <a:ln w="9525">
            <a:solidFill>
              <a:srgbClr val="D5DCE6"/>
            </a:solidFill>
          </a:ln>
        </p:spPr>
      </p:pic>
      <p:pic>
        <p:nvPicPr>
          <p:cNvPr id="8" name="Picture 7" descr="16_monitor_minor_logged_62_900.png"/>
          <p:cNvPicPr>
            <a:picLocks noChangeAspect="1"/>
          </p:cNvPicPr>
          <p:nvPr/>
        </p:nvPicPr>
        <p:blipFill>
          <a:blip r:embed="rId2"/>
          <a:stretch>
            <a:fillRect/>
          </a:stretch>
        </p:blipFill>
        <p:spPr>
          <a:xfrm>
            <a:off x="6424805" y="1691640"/>
            <a:ext cx="5072628" cy="3566160"/>
          </a:xfrm>
          <a:prstGeom prst="rect">
            <a:avLst/>
          </a:prstGeom>
          <a:ln w="9525">
            <a:solidFill>
              <a:srgbClr val="D5DCE6"/>
            </a:solidFill>
          </a:ln>
        </p:spPr>
      </p:pic>
      <p:sp>
        <p:nvSpPr>
          <p:cNvPr id="9" name="TextBox 8"/>
          <p:cNvSpPr txBox="1"/>
          <p:nvPr/>
        </p:nvSpPr>
        <p:spPr>
          <a:xfrm>
            <a:off x="502920" y="5440680"/>
            <a:ext cx="11155680" cy="82296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a normal-driving reading, 0 % accident probability, sensor trace and scenario buttons. Right: a Minor crash: detected, graded Minor at 100 % probability and only logged in the event log, with no countdown.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Confirmation and Dispatch</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9_alert_countdown_62_900.png"/>
          <p:cNvPicPr>
            <a:picLocks noChangeAspect="1"/>
          </p:cNvPicPr>
          <p:nvPr/>
        </p:nvPicPr>
        <p:blipFill>
          <a:blip r:embed="rId3"/>
          <a:stretch>
            <a:fillRect/>
          </a:stretch>
        </p:blipFill>
        <p:spPr>
          <a:xfrm>
            <a:off x="709805" y="1691640"/>
            <a:ext cx="5072628" cy="3566160"/>
          </a:xfrm>
          <a:prstGeom prst="rect">
            <a:avLst/>
          </a:prstGeom>
          <a:ln w="9525">
            <a:solidFill>
              <a:srgbClr val="D5DCE6"/>
            </a:solidFill>
          </a:ln>
        </p:spPr>
      </p:pic>
      <p:pic>
        <p:nvPicPr>
          <p:cNvPr id="8" name="Picture 7" descr="11_response_dispatched_62_900.png"/>
          <p:cNvPicPr>
            <a:picLocks noChangeAspect="1"/>
          </p:cNvPicPr>
          <p:nvPr/>
        </p:nvPicPr>
        <p:blipFill>
          <a:blip r:embed="rId2"/>
          <a:stretch>
            <a:fillRect/>
          </a:stretch>
        </p:blipFill>
        <p:spPr>
          <a:xfrm>
            <a:off x="6424805" y="1691640"/>
            <a:ext cx="5072628" cy="3566160"/>
          </a:xfrm>
          <a:prstGeom prst="rect">
            <a:avLst/>
          </a:prstGeom>
          <a:ln w="9525">
            <a:solidFill>
              <a:srgbClr val="D5DCE6"/>
            </a:solidFill>
          </a:ln>
        </p:spPr>
      </p:pic>
      <p:sp>
        <p:nvSpPr>
          <p:cNvPr id="9" name="TextBox 8"/>
          <p:cNvSpPr txBox="1"/>
          <p:nvPr/>
        </p:nvSpPr>
        <p:spPr>
          <a:xfrm>
            <a:off x="502920" y="5440680"/>
            <a:ext cx="11155680" cy="82296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'Possible accident detected' for a Severe crash, 11 seconds left, with 'I'm fine, cancel' and 'Send alert now'. Right: the dispatched alert with a map, the nearest hospital, the alert id and tap-to-call. The message is displayed; nothing is sent.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Manual Override and Cancelled Alert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15_manual_form_62_900.png"/>
          <p:cNvPicPr>
            <a:picLocks noChangeAspect="1"/>
          </p:cNvPicPr>
          <p:nvPr/>
        </p:nvPicPr>
        <p:blipFill>
          <a:blip r:embed="rId3"/>
          <a:stretch>
            <a:fillRect/>
          </a:stretch>
        </p:blipFill>
        <p:spPr>
          <a:xfrm>
            <a:off x="709805" y="1691640"/>
            <a:ext cx="5072628" cy="3566160"/>
          </a:xfrm>
          <a:prstGeom prst="rect">
            <a:avLst/>
          </a:prstGeom>
          <a:ln w="9525">
            <a:solidFill>
              <a:srgbClr val="D5DCE6"/>
            </a:solidFill>
          </a:ln>
        </p:spPr>
      </p:pic>
      <p:pic>
        <p:nvPicPr>
          <p:cNvPr id="8" name="Picture 7" descr="17_monitor_moderate_cancelled_62_900.png"/>
          <p:cNvPicPr>
            <a:picLocks noChangeAspect="1"/>
          </p:cNvPicPr>
          <p:nvPr/>
        </p:nvPicPr>
        <p:blipFill>
          <a:blip r:embed="rId2"/>
          <a:stretch>
            <a:fillRect/>
          </a:stretch>
        </p:blipFill>
        <p:spPr>
          <a:xfrm>
            <a:off x="6424805" y="1691640"/>
            <a:ext cx="5072628" cy="3566160"/>
          </a:xfrm>
          <a:prstGeom prst="rect">
            <a:avLst/>
          </a:prstGeom>
          <a:ln w="9525">
            <a:solidFill>
              <a:srgbClr val="D5DCE6"/>
            </a:solidFill>
          </a:ln>
        </p:spPr>
      </p:pic>
      <p:sp>
        <p:nvSpPr>
          <p:cNvPr id="9" name="TextBox 8"/>
          <p:cNvSpPr txBox="1"/>
          <p:nvPr/>
        </p:nvSpPr>
        <p:spPr>
          <a:xfrm>
            <a:off x="502920" y="5440680"/>
            <a:ext cx="11155680" cy="82296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manual override: type accelerometer, gyroscope, speed and jerk values and run detection. Right: a Moderate crash that the occupant cancelled; the event log records 'User confirmed they are OK. Alert cancelled.'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37360"/>
            <a:ext cx="11155680" cy="4572000"/>
          </a:xfrm>
          <a:prstGeom prst="rect">
            <a:avLst/>
          </a:prstGeom>
          <a:noFill/>
        </p:spPr>
        <p:txBody>
          <a:bodyPr wrap="square" lIns="0" rIns="0" tIns="0" bIns="0" anchor="t">
            <a:spAutoFit/>
          </a:bodyPr>
          <a:lstStyle/>
          <a:p>
            <a:pPr algn="l" marL="256032" indent="-201168">
              <a:spcAft>
                <a:spcPts val="900"/>
              </a:spcAft>
              <a:buChar char="•"/>
            </a:pPr>
            <a:r>
              <a:rPr sz="1800" b="1" i="0">
                <a:solidFill>
                  <a:srgbClr val="222222"/>
                </a:solidFill>
                <a:latin typeface="Calibri"/>
                <a:ea typeface="Calibri"/>
                <a:cs typeface="Calibri"/>
              </a:rPr>
              <a:t>Delivered:</a:t>
            </a:r>
            <a:r>
              <a:rPr sz="1800" b="0" i="0">
                <a:solidFill>
                  <a:srgbClr val="222222"/>
                </a:solidFill>
                <a:latin typeface="Calibri"/>
                <a:ea typeface="Calibri"/>
                <a:cs typeface="Calibri"/>
              </a:rPr>
              <a:t> a working console and API from sensor reading to detection, severity, 15 s confirmation, location, nearest hospitals and a drafted alert; 33 of 33 smoke checks pass.</a:t>
            </a:r>
          </a:p>
          <a:p>
            <a:pPr algn="l" marL="256032" indent="-201168">
              <a:spcAft>
                <a:spcPts val="900"/>
              </a:spcAft>
              <a:buChar char="•"/>
            </a:pPr>
            <a:r>
              <a:rPr sz="1800" b="1" i="0">
                <a:solidFill>
                  <a:srgbClr val="222222"/>
                </a:solidFill>
                <a:latin typeface="Calibri"/>
                <a:ea typeface="Calibri"/>
                <a:cs typeface="Calibri"/>
              </a:rPr>
              <a:t>Measured (synthetic data):</a:t>
            </a:r>
            <a:r>
              <a:rPr sz="1800" b="0" i="0">
                <a:solidFill>
                  <a:srgbClr val="222222"/>
                </a:solidFill>
                <a:latin typeface="Calibri"/>
                <a:ea typeface="Calibri"/>
                <a:cs typeface="Calibri"/>
              </a:rPr>
              <a:t> detector 1.000; severity accuracy 0.99958, macro-F1 0.99866; five-seed means 0.99875 / 0.99501; alert path 56 ms plus the 15 s confirmation.</a:t>
            </a:r>
          </a:p>
          <a:p>
            <a:pPr algn="l" marL="256032" indent="-201168">
              <a:spcAft>
                <a:spcPts val="900"/>
              </a:spcAft>
              <a:buChar char="•"/>
            </a:pPr>
            <a:r>
              <a:rPr sz="1800" b="1" i="0">
                <a:solidFill>
                  <a:srgbClr val="222222"/>
                </a:solidFill>
                <a:latin typeface="Calibri"/>
                <a:ea typeface="Calibri"/>
                <a:cs typeface="Calibri"/>
              </a:rPr>
              <a:t>Objectives:</a:t>
            </a:r>
            <a:r>
              <a:rPr sz="1800" b="0" i="0">
                <a:solidFill>
                  <a:srgbClr val="222222"/>
                </a:solidFill>
                <a:latin typeface="Calibri"/>
                <a:ea typeface="Calibri"/>
                <a:cs typeface="Calibri"/>
              </a:rPr>
              <a:t> 3, 4 and 6 achieved at demonstration level; 2 partly (hard braking yes, potholes and speed breakers not shown); 1 and 5 partly (no real recordings; alert drafted, not sent).</a:t>
            </a:r>
          </a:p>
          <a:p>
            <a:pPr algn="l" marL="256032" indent="-201168">
              <a:spcAft>
                <a:spcPts val="900"/>
              </a:spcAft>
              <a:buChar char="•"/>
            </a:pPr>
            <a:r>
              <a:rPr sz="1800" b="1" i="0">
                <a:solidFill>
                  <a:srgbClr val="222222"/>
                </a:solidFill>
                <a:latin typeface="Calibri"/>
                <a:ea typeface="Calibri"/>
                <a:cs typeface="Calibri"/>
              </a:rPr>
              <a:t>Findings:</a:t>
            </a:r>
            <a:r>
              <a:rPr sz="1800" b="0" i="0">
                <a:solidFill>
                  <a:srgbClr val="222222"/>
                </a:solidFill>
                <a:latin typeface="Calibri"/>
                <a:ea typeface="Calibri"/>
                <a:cs typeface="Calibri"/>
              </a:rPr>
              <a:t> a threshold matches the detector; noise robustness ends near 25 %; 8 input-validation failures; pickles written with a newer scikit-learn than pinned.</a:t>
            </a:r>
          </a:p>
          <a:p>
            <a:pPr algn="l" marL="256032" indent="-201168">
              <a:spcAft>
                <a:spcPts val="400"/>
              </a:spcAft>
              <a:buChar char="•"/>
            </a:pPr>
            <a:r>
              <a:rPr sz="1800" b="1" i="0">
                <a:solidFill>
                  <a:srgbClr val="222222"/>
                </a:solidFill>
                <a:latin typeface="Calibri"/>
                <a:ea typeface="Calibri"/>
                <a:cs typeface="Calibri"/>
              </a:rPr>
              <a:t>Position:</a:t>
            </a:r>
            <a:r>
              <a:rPr sz="1800" b="0" i="0">
                <a:solidFill>
                  <a:srgbClr val="222222"/>
                </a:solidFill>
                <a:latin typeface="Calibri"/>
                <a:ea typeface="Calibri"/>
                <a:cs typeface="Calibri"/>
              </a:rPr>
              <a:t> a demonstration of the pipeline, not a validated safety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37360"/>
            <a:ext cx="11155680" cy="4572000"/>
          </a:xfrm>
          <a:prstGeom prst="rect">
            <a:avLst/>
          </a:prstGeom>
          <a:noFill/>
        </p:spPr>
        <p:txBody>
          <a:bodyPr wrap="square" lIns="0" rIns="0" tIns="0" bIns="0" anchor="t">
            <a:spAutoFit/>
          </a:bodyPr>
          <a:lstStyle/>
          <a:p>
            <a:pPr algn="l" marL="256032" indent="-201168">
              <a:spcAft>
                <a:spcPts val="1000"/>
              </a:spcAft>
              <a:buChar char="•"/>
            </a:pPr>
            <a:r>
              <a:rPr sz="1900" b="0" i="0">
                <a:solidFill>
                  <a:srgbClr val="222222"/>
                </a:solidFill>
                <a:latin typeface="Calibri"/>
                <a:ea typeface="Calibri"/>
                <a:cs typeface="Calibri"/>
              </a:rPr>
              <a:t>Collect real accelerometer and gyroscope recordings on phones, including potholes, speed breakers, hard braking and low-speed impacts, and retrain with a validation split.</a:t>
            </a:r>
          </a:p>
          <a:p>
            <a:pPr algn="l" marL="256032" indent="-201168">
              <a:spcAft>
                <a:spcPts val="1000"/>
              </a:spcAft>
              <a:buChar char="•"/>
            </a:pPr>
            <a:r>
              <a:rPr sz="1900" b="0" i="0">
                <a:solidFill>
                  <a:srgbClr val="222222"/>
                </a:solidFill>
                <a:latin typeface="Calibri"/>
                <a:ea typeface="Calibri"/>
                <a:cs typeface="Calibri"/>
              </a:rPr>
              <a:t>Add road-surface classes and report the false-alarm rate per event kind; add noise to training.</a:t>
            </a:r>
          </a:p>
          <a:p>
            <a:pPr algn="l" marL="256032" indent="-201168">
              <a:spcAft>
                <a:spcPts val="1000"/>
              </a:spcAft>
              <a:buChar char="•"/>
            </a:pPr>
            <a:r>
              <a:rPr sz="1900" b="0" i="0">
                <a:solidFill>
                  <a:srgbClr val="222222"/>
                </a:solidFill>
                <a:latin typeface="Calibri"/>
                <a:ea typeface="Calibri"/>
                <a:cs typeface="Calibri"/>
              </a:rPr>
              <a:t>Connect an SMS or call gateway, store alerts per user and measure end-to-end delivery time.</a:t>
            </a:r>
          </a:p>
          <a:p>
            <a:pPr algn="l" marL="256032" indent="-201168">
              <a:spcAft>
                <a:spcPts val="1000"/>
              </a:spcAft>
              <a:buChar char="•"/>
            </a:pPr>
            <a:r>
              <a:rPr sz="1900" b="0" i="0">
                <a:solidFill>
                  <a:srgbClr val="222222"/>
                </a:solidFill>
                <a:latin typeface="Calibri"/>
                <a:ea typeface="Calibri"/>
                <a:cs typeface="Calibri"/>
              </a:rPr>
              <a:t>Validate every input, use unique alert ids, pin library versions, and use a live hospital service with capacity and traffic.</a:t>
            </a:r>
          </a:p>
          <a:p>
            <a:pPr algn="l" marL="256032" indent="-201168">
              <a:spcAft>
                <a:spcPts val="400"/>
              </a:spcAft>
              <a:buChar char="•"/>
            </a:pPr>
            <a:r>
              <a:rPr sz="1900" b="0" i="0">
                <a:solidFill>
                  <a:srgbClr val="222222"/>
                </a:solidFill>
                <a:latin typeface="Calibri"/>
                <a:ea typeface="Calibri"/>
                <a:cs typeface="Calibri"/>
              </a:rPr>
              <a:t>Run on the phone itself, test battery cost, and evaluate with users and responders.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45920"/>
            <a:ext cx="5486400" cy="466344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 Y. Wang, Z. Liang and Y. He, "Multi-Task FT-Transformer: A high-performance and interpretable framework for traffic accident severity prediction," IEEE Access, vol. 14, pp. 21585-21606, 2026, doi: 10.1109/ACCESS.2026.3658687.</a:t>
            </a:r>
          </a:p>
          <a:p>
            <a:pPr algn="l">
              <a:spcAft>
                <a:spcPts val="500"/>
              </a:spcAft>
            </a:pPr>
            <a:r>
              <a:rPr sz="1100" b="0" i="0">
                <a:solidFill>
                  <a:srgbClr val="222222"/>
                </a:solidFill>
                <a:latin typeface="Calibri"/>
                <a:ea typeface="Calibri"/>
                <a:cs typeface="Calibri"/>
              </a:rPr>
              <a:t>[6] J. Rocha, S. Soares, A. Valente and F. C. Pinto, "GreenBox: Prototyping of an automatic road accident detection system with real-time notification SMS," arXiv:2606.16468 [eess.SY], Jun. 2026.</a:t>
            </a:r>
          </a:p>
          <a:p>
            <a:pPr algn="l">
              <a:spcAft>
                <a:spcPts val="500"/>
              </a:spcAft>
            </a:pPr>
            <a:r>
              <a:rPr sz="1100" b="0" i="0">
                <a:solidFill>
                  <a:srgbClr val="222222"/>
                </a:solidFill>
                <a:latin typeface="Calibri"/>
                <a:ea typeface="Calibri"/>
                <a:cs typeface="Calibri"/>
              </a:rPr>
              <a:t>[7] S. Ayesha, A. Aslam, M. H. Zaheer and M. B. Khan, "CIRS: A multi-agent machine learning framework for real-time accident detection and emergency response," Sensors, vol. 25, no. 18, Art. no. 5845, Sep. 2025, doi: 10.3390/s25185845.</a:t>
            </a:r>
          </a:p>
          <a:p>
            <a:pPr algn="l">
              <a:spcAft>
                <a:spcPts val="500"/>
              </a:spcAft>
            </a:pPr>
            <a:r>
              <a:rPr sz="1100" b="0" i="0">
                <a:solidFill>
                  <a:srgbClr val="222222"/>
                </a:solidFill>
                <a:latin typeface="Calibri"/>
                <a:ea typeface="Calibri"/>
                <a:cs typeface="Calibri"/>
              </a:rPr>
              <a:t>[9] M. Karthik, L. Sreevidya, K. Vinodha, M. Thangaraj, G. Hemalatha and T. Viswak Sena, "Automatic messaging system by detecting the road accidents for vehicle applications," Mater. Today: Proc., vol. 80, pp. 3124-3128, 2023.</a:t>
            </a:r>
          </a:p>
          <a:p>
            <a:pPr algn="l">
              <a:spcAft>
                <a:spcPts val="500"/>
              </a:spcAft>
            </a:pPr>
            <a:r>
              <a:rPr sz="1100" b="0" i="0">
                <a:solidFill>
                  <a:srgbClr val="222222"/>
                </a:solidFill>
                <a:latin typeface="Calibri"/>
                <a:ea typeface="Calibri"/>
                <a:cs typeface="Calibri"/>
              </a:rPr>
              <a:t>[12] S. Sharma and S. Sebastian, "IoT based car accident detection and notification algorithm for general road accidents," Int. J. Elect. Comput. Eng. (IJECE), vol. 9, no. 5, pp. 4020-4026, 2019.</a:t>
            </a:r>
          </a:p>
          <a:p>
            <a:pPr algn="l">
              <a:spcAft>
                <a:spcPts val="500"/>
              </a:spcAft>
            </a:pPr>
            <a:r>
              <a:rPr sz="1100" b="0" i="0">
                <a:solidFill>
                  <a:srgbClr val="222222"/>
                </a:solidFill>
                <a:latin typeface="Calibri"/>
                <a:ea typeface="Calibri"/>
                <a:cs typeface="Calibri"/>
              </a:rPr>
              <a:t>[13] N. Hamdan and T. Sipos, "Advancements in machine learning for traffic accident severity prediction: A comprehensive review," Period. Polytech. Transp. Eng., vol. 53, no. 3, pp. 347-355, 2025, doi: 10.3311/PPtr.40369.</a:t>
            </a:r>
          </a:p>
          <a:p>
            <a:pPr algn="l">
              <a:spcAft>
                <a:spcPts val="500"/>
              </a:spcAft>
            </a:pPr>
            <a:r>
              <a:rPr sz="1100" b="0" i="0">
                <a:solidFill>
                  <a:srgbClr val="222222"/>
                </a:solidFill>
                <a:latin typeface="Calibri"/>
                <a:ea typeface="Calibri"/>
                <a:cs typeface="Calibri"/>
              </a:rPr>
              <a:t>[16] M.-M. Chen and M.-C. Chen, "Modeling road accident severity with comparisons of logistic regression, decision tree and random forest," Information, vol. 11, no. 5, p. 270, May 2020.</a:t>
            </a:r>
          </a:p>
        </p:txBody>
      </p:sp>
      <p:sp>
        <p:nvSpPr>
          <p:cNvPr id="8" name="TextBox 7"/>
          <p:cNvSpPr txBox="1"/>
          <p:nvPr/>
        </p:nvSpPr>
        <p:spPr>
          <a:xfrm>
            <a:off x="6217920" y="1645920"/>
            <a:ext cx="5486400" cy="466344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[17] M. Sameen and B. Pradhan, "Severity prediction of traffic accidents with recurrent neural networks," Appl. Sci., vol. 7, no. 6, p. 476, Jun. 2017.</a:t>
            </a:r>
          </a:p>
          <a:p>
            <a:pPr algn="l">
              <a:spcAft>
                <a:spcPts val="500"/>
              </a:spcAft>
            </a:pPr>
            <a:r>
              <a:rPr sz="1100" b="0" i="0">
                <a:solidFill>
                  <a:srgbClr val="222222"/>
                </a:solidFill>
                <a:latin typeface="Calibri"/>
                <a:ea typeface="Calibri"/>
                <a:cs typeface="Calibri"/>
              </a:rPr>
              <a:t>[18] M. Zheng, T. Li, R. Zhu, J. Chen, Z. Ma, M. Tang, Z. Cui and Z. Wang, "Traffic accident's severity prediction: A deep-learning approach-based CNN network," IEEE Access, vol. 7, pp. 39897-39910, 2019.</a:t>
            </a:r>
          </a:p>
          <a:p>
            <a:pPr algn="l">
              <a:spcAft>
                <a:spcPts val="500"/>
              </a:spcAft>
            </a:pPr>
            <a:r>
              <a:rPr sz="1100" b="0" i="0">
                <a:solidFill>
                  <a:srgbClr val="222222"/>
                </a:solidFill>
                <a:latin typeface="Calibri"/>
                <a:ea typeface="Calibri"/>
                <a:cs typeface="Calibri"/>
              </a:rPr>
              <a:t>[19] Y. Gorishniy, I. Rubachev, V. Khrulkov and A. Babenko, "Revisiting deep learning models for tabular data," in Proc. Adv. Neural Inf. Process. Syst., vol. 34, Dec. 2021, pp. 18932-18943.</a:t>
            </a:r>
          </a:p>
          <a:p>
            <a:pPr algn="l">
              <a:spcAft>
                <a:spcPts val="500"/>
              </a:spcAft>
            </a:pPr>
            <a:r>
              <a:rPr sz="1100" b="0" i="0">
                <a:solidFill>
                  <a:srgbClr val="222222"/>
                </a:solidFill>
                <a:latin typeface="Calibri"/>
                <a:ea typeface="Calibri"/>
                <a:cs typeface="Calibri"/>
              </a:rPr>
              <a:t>[20] A. Kendall, Y. Gal and R. Cipolla, "Multi-task learning using uncertainty to weigh losses for scene geometry and semantics," in Proc. IEEE/CVF Conf. Comput. Vis. Pattern Recognit. (CVPR), Jun. 2018, pp. 7482-7491.</a:t>
            </a:r>
          </a:p>
          <a:p>
            <a:pPr algn="l">
              <a:spcAft>
                <a:spcPts val="500"/>
              </a:spcAft>
            </a:pPr>
            <a:r>
              <a:rPr sz="1100" b="0" i="0">
                <a:solidFill>
                  <a:srgbClr val="222222"/>
                </a:solidFill>
                <a:latin typeface="Calibri"/>
                <a:ea typeface="Calibri"/>
                <a:cs typeface="Calibri"/>
              </a:rPr>
              <a:t>[21] L. Breiman, "Random forests," Mach. Learn., vol. 45, no. 1, pp. 5-32, Oct. 2001.</a:t>
            </a:r>
          </a:p>
          <a:p>
            <a:pPr algn="l">
              <a:spcAft>
                <a:spcPts val="500"/>
              </a:spcAft>
            </a:pPr>
            <a:r>
              <a:rPr sz="1100" b="0" i="0">
                <a:solidFill>
                  <a:srgbClr val="222222"/>
                </a:solidFill>
                <a:latin typeface="Calibri"/>
                <a:ea typeface="Calibri"/>
                <a:cs typeface="Calibri"/>
              </a:rPr>
              <a:t>[22] F. Pedregosa et al., "Scikit-learn: Machine learning in Python," J. Mach. Learn. Res., vol. 12, pp. 2825-2830, 2011.</a:t>
            </a:r>
          </a:p>
          <a:p>
            <a:pPr algn="l">
              <a:spcAft>
                <a:spcPts val="500"/>
              </a:spcAft>
            </a:pPr>
            <a:r>
              <a:rPr sz="1100" b="0" i="0">
                <a:solidFill>
                  <a:srgbClr val="222222"/>
                </a:solidFill>
                <a:latin typeface="Calibri"/>
                <a:ea typeface="Calibri"/>
                <a:cs typeface="Calibri"/>
              </a:rPr>
              <a:t>[25] R. W. Sinnott, "Virtues of the haversine," Sky and Telescope, vol. 68, no. 2, p. 159, 1984.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A2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ResQAI">
  <a:themeElements>
    <a:clrScheme name="ResQAI">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esQAI">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sQA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ResQAI - Final Review</dc:title>
  <dc:subject>ResQAI</dc:subject>
  <dc:creator>Batch A2, Dept. of CSE, TKRCET</dc:creator>
  <cp:lastModifiedBy/>
  <cp:revision>1</cp:revision>
  <dcterms:created xsi:type="dcterms:W3CDTF">2026-10-07T05:03:03Z</dcterms:created>
  <dcterms:modified xsi:type="dcterms:W3CDTF">2026-10-07T05:03:03Z</dcterms:modified>
  <dc:description/>
  <cp:keywords>accident detection, severity prediction, smartphone sensors, random forest, GPS, emergency response</cp:keywords>
</cp:coreProperties>
</file>