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8E59"/>
    <a:srgbClr val="EA6826"/>
    <a:srgbClr val="F3A4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7" autoAdjust="0"/>
    <p:restoredTop sz="86330" autoAdjust="0"/>
  </p:normalViewPr>
  <p:slideViewPr>
    <p:cSldViewPr snapToGrid="0">
      <p:cViewPr varScale="1">
        <p:scale>
          <a:sx n="100" d="100"/>
          <a:sy n="100" d="100"/>
        </p:scale>
        <p:origin x="216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914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1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14" Type="http://schemas.openxmlformats.org/officeDocument/2006/relationships/presProps" Target="presProps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5D0751-2114-4D88-B3CD-A4A7518850E4}" type="datetimeFigureOut">
              <a:rPr lang="en-IN" smtClean="0"/>
              <a:pPr/>
              <a:t>27-08-2026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EA07CB-BBA9-4D22-A48E-1DC790A55F73}" type="slidenum">
              <a:rPr lang="en-IN" smtClean="0"/>
              <a:pPr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8EAF3-A183-FBB8-5DFE-F998C7DD80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1DECE5-9D85-4D5C-14AE-D97C0E0A1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9EE3E-B995-B2FF-F955-FC92FA37C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8D3B7-3125-8256-CC36-3BCA67319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042E9-46BD-C05A-83DF-C6614E4E4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8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B2945-42E0-A07A-0B6E-6EDAA1E85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9477-6E0C-B959-02C0-DAA3883EA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041CF-6755-E404-A7EF-77F341056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53BD7-84D6-736E-96E2-CD694E6E3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B374A-CEAB-9F7D-7564-9C7CE16B5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206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3B62-581C-DBAD-2CB0-14534C37C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E597A-4A9F-F52F-33CF-BA9B3662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87F3F-892B-7234-B6A1-2ECFB4E1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6F1E2-5E90-D885-E2AC-2CC7700F2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39882-48CA-1F9F-2953-F8F8F9ED2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518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EEBD1-54F3-609B-1C93-AE447401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2EB13-B4F9-51ED-B12A-647E29C782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4B1517-E5A2-0E03-3306-7B063FCE7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67CE7-4EC3-8D08-EDF1-11438E27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01F0B4-9EAB-799E-DA38-E6CDCCD7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14C14-4A90-B2B8-AF68-8BA7D9332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371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B0D8C-664D-30F3-4803-F12E0BF5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87889-E05F-A6DF-0DC4-326559CA52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4E1E3C-5290-802D-8EF3-5F3212A6E5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7A1C86-A533-B490-144E-26FF632ACC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50FFAA-1ADA-8B64-A13D-ECF896B69A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AD25C-CA7A-B139-5333-A3678075C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C3E1BF-3DC0-EF03-1BE7-3F533D912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2E0924-B3F0-8CE6-145D-A77F262F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801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ACA94-6623-4BC4-F39D-66DCD197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57359-8E8E-7129-54E5-D0BADB8D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1C5C0C-6B3B-FAE5-58F6-33BE5069A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46F30-A1E8-8144-DD72-3472F1571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55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142CE-9A7E-0B50-2E75-A90CE8A97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74C564-8346-9BF3-6B5A-187BD4B1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BCA53-C6C0-68E6-8677-35F1AB7E3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08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5354-C887-EEA6-1E1D-B7C92A34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88700-398D-8758-EC69-A070E80DF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EC1F47-DB1F-C9E4-8339-99508A156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81EA2-907E-4750-E7CE-E5177EFF3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591AE-A32B-9B2A-89BE-328412356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A3ED1-EC3F-E6A4-A363-588FEAB5D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50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68EBA-E560-FAB9-DAAE-7CFA8129E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3E3AFE-48AF-7A59-366F-04260E7F38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6870FA-C759-68D3-1500-9250A3573E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39ED6-85BE-D0AE-BBB1-BC9D0A3F8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70505-D1E8-3EAA-494D-F9007DA9E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97C53-7AF0-CBBC-E9CD-4A3274848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274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C3509-0D44-D568-F6CB-9039AD095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5E5BB-32D4-1D45-8D54-D9C8DCBE9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FDC30-09A1-F170-22C7-0CC63521D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CBF2C-8B0E-B74F-94E1-CE5A23CA9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3C14B-27DE-DFD1-20DC-A3ADA16E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92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271C75-B4FC-09D3-14B6-70821A1E55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46F21E-BDF3-F6F8-C4E4-FF0A5269B0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49D4E-85BB-92DE-7195-775D7C949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65B19-2814-6CF2-5C46-F3A6022CB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EF581-31A0-D1E0-8180-469869F4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75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D5BCD3-5517-F7B0-4C7F-E6F3B8E2C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3BF315-7B47-F19A-A964-36953D117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D6B83-D229-EDD7-3C32-A5DD05579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F250E-391A-32BD-417C-09D641C02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FE7E6-0B78-2179-510C-B1F5DFB18C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70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white background with black and white clouds">
            <a:extLst>
              <a:ext uri="{FF2B5EF4-FFF2-40B4-BE49-F238E27FC236}">
                <a16:creationId xmlns:a16="http://schemas.microsoft.com/office/drawing/2014/main" id="{E0B1AAB0-B5F5-4E03-02D6-1DB064DEE6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E3B4784B-1D59-C345-419E-CD0FCB0F8D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85BCF9B7-1595-C668-99E5-45E0E9784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1CA86EFB-CA71-0A13-33E0-384CD40A8F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A7CB81B-C8CA-84D3-8422-0666B831BC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71557D9-781E-D2E2-F550-4718335226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</a:p>
        </p:txBody>
      </p:sp>
      <p:sp>
        <p:nvSpPr>
          <p:cNvPr id="2" name="TextBox 19">
            <a:extLst>
              <a:ext uri="{FF2B5EF4-FFF2-40B4-BE49-F238E27FC236}">
                <a16:creationId xmlns:a16="http://schemas.microsoft.com/office/drawing/2014/main" id="{EF911901-54D2-24CF-4303-94BA875AA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5438" y="1285875"/>
            <a:ext cx="942975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>
              <a:buNone/>
            </a:pPr>
            <a:r>
              <a:rPr lang="en-US" altLang="en-US" sz="24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</p:txBody>
      </p:sp>
      <p:sp>
        <p:nvSpPr>
          <p:cNvPr id="3" name="TextBox 19">
            <a:extLst>
              <a:ext uri="{FF2B5EF4-FFF2-40B4-BE49-F238E27FC236}">
                <a16:creationId xmlns:a16="http://schemas.microsoft.com/office/drawing/2014/main" id="{2AB77BED-BB4A-559B-89EF-38B1E96032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563" y="1714500"/>
            <a:ext cx="274320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None/>
              <a:defRPr/>
            </a:pPr>
            <a:r>
              <a:rPr lang="en-US" altLang="en-US" sz="20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Project on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EB1BFF2-4F7E-BECD-07D2-50E522824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8763" y="2713038"/>
            <a:ext cx="9134475" cy="2616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buNone/>
            </a:pPr>
            <a:r>
              <a:rPr lang="en-US" altLang="en-US" sz="20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Presented By</a:t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B SHILPA	23K91A0547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B HARI NARAYANA	23K91A0544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A RANI THEJASWINI	23K91A0516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A SANJANA	23K91A0511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2731B16B-276D-2B43-CC76-93FF96542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4750023"/>
            <a:ext cx="7312025" cy="13696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>
              <a:buNone/>
            </a:pPr>
            <a:r>
              <a:rPr lang="en-US" sz="18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</a:t>
            </a:r>
          </a:p>
          <a:p>
            <a:pPr algn="ctr">
              <a:buNone/>
            </a:pPr>
            <a:r>
              <a:rPr lang="en-US" sz="20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DEEPTHI</a:t>
            </a:r>
          </a:p>
          <a:p>
            <a:pPr algn="ctr">
              <a:buNone/>
            </a:pPr>
            <a:r>
              <a:rPr lang="en-US" sz="14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53D53C6-3D26-572E-AE23-F0DEC575D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1244" y="410291"/>
            <a:ext cx="5066704" cy="506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F1A5A3-A331-A83C-4888-1C5A73A34D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1" name="ProjectTitle"/>
          <p:cNvSpPr txBox="1"/>
          <p:nvPr/>
        </p:nvSpPr>
        <p:spPr>
          <a:xfrm>
            <a:off x="1143000" y="2146300"/>
            <a:ext cx="9906000" cy="5588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ctr">
              <a:buNone/>
            </a:pPr>
            <a:r>
              <a:rPr lang="en-IN" sz="1600" b="1" dirty="0">
                <a:solidFill>
                  <a:srgbClr val="C0504D"/>
                </a:solidFill>
                <a:latin typeface="Times New Roman" pitchFamily="18" charset="0"/>
              </a:rPr>
              <a:t>Fashion Demand Forecasting Using Machine Learning And Domain Adaptation</a:t>
            </a:r>
          </a:p>
        </p:txBody>
      </p:sp>
    </p:spTree>
    <p:extLst>
      <p:ext uri="{BB962C8B-B14F-4D97-AF65-F5344CB8AC3E}">
        <p14:creationId xmlns:p14="http://schemas.microsoft.com/office/powerpoint/2010/main" val="80578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CBEE-2F4F-71CA-F941-DC9D63C13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63B4820E-53EF-79A2-AF06-EFB1C76C0B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4AC28A-BAA1-7A0F-1502-5CD89A04E8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DAE4B889-7E42-E0BA-48E5-20FD3A6CE6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D21D269-90CE-A5C3-9969-D2C4A3DD0F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036347-7B18-6766-9AA3-EE85EA782C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A41FE7-F7BC-F572-D24E-027B00063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DA86AC-6AB9-81AE-D8D3-7F5A249B8DF9}"/>
              </a:ext>
            </a:extLst>
          </p:cNvPr>
          <p:cNvSpPr txBox="1"/>
          <p:nvPr/>
        </p:nvSpPr>
        <p:spPr>
          <a:xfrm>
            <a:off x="2570848" y="1177866"/>
            <a:ext cx="6097022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16136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fashion industry is characterized by rapidly changing customer preferences, short product life cycles, seasonal trends, and highly dynamic market conditions.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Conventional forecasting models often experience performance degradation when applied to new markets, product categories.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This project proposes a Machine Learning-Based Fashion Demand Forecasting System Using Domain Adaptation to improve forecasting accuracy across diverse retail environments.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proposed system utilizes historical fashion sales data, product attributes, promotional information.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To address distribution shifts between historical and emerging market conditions, Domain Adaptation techniques are incorporated to transfer knowledge from a source domain to.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"Explainable Retail Demand Forecasting: A Hybrid LightGBM-SHAP Framework for Inventory Optimization"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595959"/>
                </a:solidFill>
                <a:latin typeface="Times New Roman" pitchFamily="18" charset="0"/>
              </a:rPr>
              <a:t>IEEE Access   |   2026   |   DOI: 10.1109/access.2026.3675540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WHAT THIS PROJECT ADOPTS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surveyed work applies gradient boosting with explainability to retail demand. The gap is adding domain adaptation so a model trained in one retail context transfers to a new market without full retraining.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9966C-8294-7FB8-4AF7-FDD5F12B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6516264-5858-1030-1028-4D6D08D68C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1268033D-F89B-F026-88F0-4E2A6E00C6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3426FA0F-847D-F649-FCD0-1586D97B73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2748F9B-CC26-E583-3236-4592555F01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F7D014-4BA2-A8CB-E2B4-AD4019E508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0D029B-620D-32F3-E739-7153A7044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Fashion retail is driven by short product life cycles and rapidly shifting customer preference.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Over-forecasting creates unsold stock; under-forecasting loses the sale entirely.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Historical sales alone are a weak predictor when a product or market is new.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Machine learning models capture seasonality, pricing and promotion effects together.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Model performance degrades when applied to a new market whose data distribution differs.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Domain adaptation transfers what was learned in one retail context to another.</a:t>
            </a:r>
          </a:p>
        </p:txBody>
      </p:sp>
    </p:spTree>
    <p:extLst>
      <p:ext uri="{BB962C8B-B14F-4D97-AF65-F5344CB8AC3E}">
        <p14:creationId xmlns:p14="http://schemas.microsoft.com/office/powerpoint/2010/main" val="3104735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8C43-774C-27DC-2228-A4D0A01AE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8CFA77B5-9790-DAAE-91F6-8FFCD69D43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4ED25BC-7381-CAB0-10C9-8388E6B9A2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B0B72ABD-F5DB-860C-736A-AAB77878ED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3E944F5-CEC8-0865-B914-CB103BE753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231BD6F-2495-91EB-505F-EA9ED24498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D1846C-10F4-4E14-EE60-988556268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1. Explainable Retail Demand Forecasting: A Hybrid LightGBM-SHAP Framework for Inventory Optimization   [BASE PAPER]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IEEE Access, 2026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2. Impact of AI-Driven Demand Forecasting on Retail Inventory Efficiency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2026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3. Enhancing Inventory Planning in Retail SMES through Data‑Driven Demand Forecasting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International Journal of innovative inventions in Social Science and Humanities, 2026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4. Does the Forecaster Matter? A Systematic Evaluation of Demand Forecasting and Inventory Control Policies.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2026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5. Predictive Inventory Management for Retail Distribution Networks: Reorder Point Optimization and Machine.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2026</a:t>
            </a:r>
          </a:p>
        </p:txBody>
      </p:sp>
    </p:spTree>
    <p:extLst>
      <p:ext uri="{BB962C8B-B14F-4D97-AF65-F5344CB8AC3E}">
        <p14:creationId xmlns:p14="http://schemas.microsoft.com/office/powerpoint/2010/main" val="3078087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82EF-6221-3BB0-5040-4666119C2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1560D6D2-DA22-EBDF-304F-C8A421D84D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55358E4-D89D-93F0-473B-A506EBB4B4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F6EBD074-6B56-8259-4662-CAA4E4FDE8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452011EE-C2E4-6809-EC01-738B88A317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92A2D69-D568-B1C6-DC72-8355E2C4BC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3E7E7-505C-9AC4-41FE-BFE54A7E93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1. Collect historical fashion retail sales data and engineer seasonal, pricing and category features.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2. Train gradient-boosting models such as XGBoost to forecast demand at product and category level.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3. Apply domain adaptation to transfer the model across markets and product categories.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4. Compare adapted and non-adapted models on a target market with a different data distribution.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5. Explain forecast drivers so planners understand why demand is predicted to move.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6. Evaluate using MAE, RMSE and MAPE, and translate error into inventory impact.</a:t>
            </a:r>
          </a:p>
        </p:txBody>
      </p:sp>
    </p:spTree>
    <p:extLst>
      <p:ext uri="{BB962C8B-B14F-4D97-AF65-F5344CB8AC3E}">
        <p14:creationId xmlns:p14="http://schemas.microsoft.com/office/powerpoint/2010/main" val="2515127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AC622-38D3-50E9-6643-705DE550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2F2D298-80C7-D362-FF2C-4121D38388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26636E4-0019-D99D-3347-7F57F9F0CE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B0CEDD6-64DD-781C-7771-2D3AC405C9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8409DB7-A08D-C500-BA65-864126EF11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003E9B55-9D99-EBEF-85E3-43516CDD086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D24495-04FB-8B90-F660-31FA92CE6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Forecasting models trained on one market lose accuracy when applied to another.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New products have no sales history, so conventional forecasting cannot cover them.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Fashion trends shift within a season, invalidating models trained on older data.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Forecasts delivered without explanation are not trusted by inventory planners.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Need: a demand forecasting system that adapts across markets and categories and explains the drivers behind each forecast.</a:t>
            </a:r>
          </a:p>
        </p:txBody>
      </p:sp>
    </p:spTree>
    <p:extLst>
      <p:ext uri="{BB962C8B-B14F-4D97-AF65-F5344CB8AC3E}">
        <p14:creationId xmlns:p14="http://schemas.microsoft.com/office/powerpoint/2010/main" val="518537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A3159-CBB3-3C61-8422-7EE9B59E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F1971EE-F6C7-24D2-21B2-61E245F0BA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D0C8823-FEF5-A0BA-4A22-080C517FFE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F92026F-D464-8AE9-7C87-AFCC85EAEB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283F97C-BA2F-5159-E294-A0AA6B03E8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0D0F8E0-EBC5-6D0F-2C9F-702C228A05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" panose="020B0502040204020203" pitchFamily="34" charset="0"/>
            </a:endParaRPr>
          </a:p>
          <a:p>
            <a:pPr algn="ctr"/>
            <a:endParaRPr lang="en-US" sz="2400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19043E-AED5-2860-53FD-F4727CD7B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C78BE6-ABEC-DD01-ECB4-7D770BAD3739}"/>
              </a:ext>
            </a:extLst>
          </p:cNvPr>
          <p:cNvSpPr txBox="1">
            <a:spLocks/>
          </p:cNvSpPr>
          <p:nvPr/>
        </p:nvSpPr>
        <p:spPr>
          <a:xfrm>
            <a:off x="3608505" y="2714625"/>
            <a:ext cx="6773745" cy="928688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IN" sz="48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man Old Style" pitchFamily="18" charset="0"/>
                <a:cs typeface="+mn-cs"/>
              </a:rPr>
              <a:t>THANK YOU </a:t>
            </a:r>
            <a:endParaRPr lang="en-US" sz="4800" b="1" spc="-1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itchFamily="18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923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8F068A69C5F946BCF45B8E1BF19F48" ma:contentTypeVersion="4" ma:contentTypeDescription="Create a new document." ma:contentTypeScope="" ma:versionID="d028811f2e5c194da6cf54bac21acd73">
  <xsd:schema xmlns:xsd="http://www.w3.org/2001/XMLSchema" xmlns:xs="http://www.w3.org/2001/XMLSchema" xmlns:p="http://schemas.microsoft.com/office/2006/metadata/properties" xmlns:ns3="efe893c9-7f4d-46a6-ae12-0c302859942a" targetNamespace="http://schemas.microsoft.com/office/2006/metadata/properties" ma:root="true" ma:fieldsID="d97e4ec4ca92902fd2b7a707bd0db55b" ns3:_="">
    <xsd:import namespace="efe893c9-7f4d-46a6-ae12-0c302859942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e893c9-7f4d-46a6-ae12-0c302859942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32A9E9-8B35-410F-A929-7EB48CC25FAD}">
  <ds:schemaRefs>
    <ds:schemaRef ds:uri="http://www.w3.org/XML/1998/namespace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efe893c9-7f4d-46a6-ae12-0c302859942a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5F0CB308-D1A7-4FBD-99AA-DA1E021719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fe893c9-7f4d-46a6-ae12-0c302859942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2CD36D-7C44-4BA1-9562-C49E9CC764E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2879</TotalTime>
  <Words>55</Words>
  <Application>Microsoft Office PowerPoint</Application>
  <PresentationFormat>Widescreen</PresentationFormat>
  <Paragraphs>24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Bahnschrift</vt:lpstr>
      <vt:lpstr>Bookman Old Style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dss mlritm</dc:creator>
  <cp:lastModifiedBy>admin</cp:lastModifiedBy>
  <cp:revision>449</cp:revision>
  <dcterms:created xsi:type="dcterms:W3CDTF">2025-12-24T04:54:09Z</dcterms:created>
  <dcterms:modified xsi:type="dcterms:W3CDTF">2026-08-27T09:56:04Z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0x010100848F068A69C5F946BCF45B8E1BF19F48</vt:lpwstr>
  </property>
</Properties>
</file>