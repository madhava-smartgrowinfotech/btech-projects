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RMSE (lower is better)</c:v>
                </c:pt>
              </c:strCache>
            </c:strRef>
          </c:tx>
          <c:spPr>
            <a:solidFill>
              <a:srgbClr val="2A78D6"/>
            </a:solidFill>
          </c:spPr>
          <c:cat>
            <c:strRef>
              <c:f>Sheet1!$A$2:$A$7</c:f>
              <c:strCache>
                <c:ptCount val="6"/>
                <c:pt idx="0">
                  <c:v>Naive lag-1</c:v>
                </c:pt>
                <c:pt idx="1">
                  <c:v>Moving avg (7d)</c:v>
                </c:pt>
                <c:pt idx="2">
                  <c:v>Random forest</c:v>
                </c:pt>
                <c:pt idx="3">
                  <c:v>CatBoost</c:v>
                </c:pt>
                <c:pt idx="4">
                  <c:v>XGBoost</c:v>
                </c:pt>
                <c:pt idx="5">
                  <c:v>LightGBM</c:v>
                </c:pt>
              </c:strCache>
            </c:strRef>
          </c:cat>
          <c:val>
            <c:numRef>
              <c:f>Sheet1!$B$2:$B$7</c:f>
              <c:numCache>
                <c:formatCode>General</c:formatCode>
                <c:ptCount val="6"/>
                <c:pt idx="0">
                  <c:v>47.77</c:v>
                </c:pt>
                <c:pt idx="1">
                  <c:v>36.57</c:v>
                </c:pt>
                <c:pt idx="2">
                  <c:v>34.16</c:v>
                </c:pt>
                <c:pt idx="3">
                  <c:v>33.83</c:v>
                </c:pt>
                <c:pt idx="4">
                  <c:v>33.89</c:v>
                </c:pt>
                <c:pt idx="5">
                  <c:v>33.71</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55.0"/>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TrendCast turns retail transactions into daily product demand, forecasts it with XGBoost and tests whether importance-weighted domain adaptation carries a model from one sales domain to another.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The review covers why the problem matters and what is missing in current work, then what we built and what we measured.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weakness of single-market models, the idea of weighting source rows by how target-like they look, and what is delivered and measured on real H&amp;M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pairs LightGBM with layered explanations on UCI online-retail data. Its own limitations section names single-dataset validation and the stationarity assumption, which is exactly where domain adaptation is meant to help.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is the base paper plus four 2026 titles that we could not locate online, so no results are quoted from them. The other rows were checked against the papers or their abstract pages.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numbers are published evidence from the base paper, on different data from ours, so they are not put on one scale with our own results. Our own measurements are in the last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most planning uses classical models plus judgement; where machine learning is used it is trained and tested in a single market.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limitations are the batch problem statement; the last line is the base paper's own limitations section.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 1 and 4 come from the base paper's limitations and introduction. Gap 2 and 3 are our reading of the covariate-shift and fashion cold-start literature. Gap 5 is why we added unweighted pooling, shuffled weights and a time-clean protocol as controls.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demand forecaster that adapts across markets and explains its drivers.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The final slides state plainly which are met, partly met or not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console that wraps them. Domain adaptation here means importance weighting for covariate shift, not adversarial or deep adaptation.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console calls the API, the API calls the src package. There is no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the system is already built, this slide reports measured outcomes, not promises. The results are mixed and we state them that way; details are in the later reviews and the report.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only 300 articles (best-selling, enough history for lag features, fast to repeat 5 seeds); what 'domain' means here (sales channel, product group or department); why adaptation did not help more (time overlap, degenerate weights, unweighted pooling is as good).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TrendCast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Fashion Demand Forecasting Using Machine Learning And Domain Adaptation</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XGBoost demand forecasting with importance-weighted domain adaptation on H&amp;M retail data</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 Shilpa  23K91A0547</a:t>
            </a:r>
            <a:endParaRPr lang="en-US" sz="1500" dirty="0"/>
          </a:p>
          <a:p>
            <a:pPr indent="0" marL="0">
              <a:buNone/>
            </a:pPr>
            <a:r>
              <a:rPr lang="en-US" sz="1500" dirty="0">
                <a:solidFill>
                  <a:srgbClr val="FFFFFF"/>
                </a:solidFill>
              </a:rPr>
              <a:t>B Hari Narayana  23K91A0544</a:t>
            </a:r>
            <a:endParaRPr lang="en-US" sz="1500" dirty="0"/>
          </a:p>
          <a:p>
            <a:pPr indent="0" marL="0">
              <a:buNone/>
            </a:pPr>
            <a:r>
              <a:rPr lang="en-US" sz="1500" dirty="0">
                <a:solidFill>
                  <a:srgbClr val="FFFFFF"/>
                </a:solidFill>
              </a:rPr>
              <a:t>A Rani Thejaswini  23K91A0516</a:t>
            </a:r>
            <a:endParaRPr lang="en-US" sz="1500" dirty="0"/>
          </a:p>
          <a:p>
            <a:pPr indent="0" marL="0">
              <a:buNone/>
            </a:pPr>
            <a:r>
              <a:rPr lang="en-US" sz="1500" dirty="0">
                <a:solidFill>
                  <a:srgbClr val="FFFFFF"/>
                </a:solidFill>
              </a:rPr>
              <a:t>A Sanjana  23K91A0511</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Deepthi,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A17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Outcomes measured so far</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forecast fashion demand across markets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700" b="0" i="0">
                <a:solidFill>
                  <a:srgbClr val="475569"/>
                </a:solidFill>
              </a:rPr>
              <a:t>Fashion demand moves with short product life cycles, seasons and promotions. A model trained in one market or channel loses accuracy when the data distribution changes, and planners distrust forecasts they cannot explain.</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700" b="0" i="0">
                <a:solidFill>
                  <a:srgbClr val="475569"/>
                </a:solidFill>
              </a:rPr>
              <a:t>Daily product demand from retail transactions, forecast with XGBoost on calendar, price, attribute, lag and rolling features. A logistic domain classifier gives importance weights p/(1-p) that move a source-trained model to a shifted target domain.</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700" b="0" i="0">
                <a:solidFill>
                  <a:srgbClr val="475569"/>
                </a:solidFill>
              </a:rPr>
              <a:t>TrendCast: a FastAPI service (22 routes) and a 13-page React console on real H&amp;M data, measured with RMSE, MAE, MAPE and R2, with controls that test whether adaptation really helps.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L. N. Mishra, B. Senapati, S. K. Nayak and A. J. Rangari, "Explainable retail demand forecasting: A hybrid LightGBM-SHAP framework for inventory optimization," IEEE Access, vol. 14, pp. 43613-43633, 2026, doi: 10.1109/ACCESS.2026.3675540.</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LightGBM on 41 engineered features (temporal, lag, rolling, price), tuned with Optuna (30 trials, 3-fold TimeSeriesSplit), then four explanation levels: permutation importance, partial dependence, SHAP and ICE curves.</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UCI Online Retail II: 1.07 M transactions, 4,631 SKUs, daily one-step forecasts. LightGBM RMSE 33.71, R2 0.243; CatBoost 33.83; XGBoost 33.89; MASE 0.799. Rolling statistics are the dominant feature group.</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Limits stated by the authors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Single dataset (a UK wholesaler), stationary-relationship assumption, no promotion or holiday data, one-day horizon, a slightly leaking price feature. TrendCast adds transfer across domains.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43000"/>
          <a:ext cx="11091672" cy="5029200"/>
        </p:xfrm>
        <a:graphic>
          <a:graphicData uri="http://schemas.openxmlformats.org/drawingml/2006/table">
            <a:tbl>
              <a:tblPr firstRow="0" bandRow="0">
                <a:tableStyleId>{5C22544A-7EE6-4342-B048-85BDC9FD1C3A}</a:tableStyleId>
              </a:tblPr>
              <a:tblGrid>
                <a:gridCol w="2148840"/>
                <a:gridCol w="548640"/>
                <a:gridCol w="4526280"/>
                <a:gridCol w="3867912"/>
              </a:tblGrid>
              <a:tr h="457200">
                <a:tc>
                  <a:txBody>
                    <a:bodyPr wrap="square"/>
                    <a:lstStyle/>
                    <a:p>
                      <a:pPr algn="ctr"/>
                      <a:r>
                        <a:rPr sz="11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000" b="0">
                          <a:solidFill>
                            <a:srgbClr val="0F172A"/>
                          </a:solidFill>
                        </a:rPr>
                        <a:t>Mishra et al. [1]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LightGBM plus four explainability levels (PFI, PDP, SHAP, ICE); 41 features; Optuna tuning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UCI Online Retail II, 1.07 M rows, 4,631 SKUs: RMSE 33.71, R2 0.243; one dataset, one-day-ahead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Chen and Guestrin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2016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XGBoost: regularised tree boosting that accepts per-row sample weights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Default tabular learner; assumes train and test share one distribution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Makridakis et al.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M5 retail forecasting competition (as summarised in the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Boosted trees with hand-built features matched or beat deep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Shimodaira [10]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Weight the training loss by the target/source density ratio under covariate shift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Theory; needs a density-ratio estimate, weights can be extreme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Bickel et al. [12]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2009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Learn the shift weights with a logistic source-versus-target classifier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The idea TrendCast implements; depends on overlap between domains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Thomassey [17]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Clothing sales forecasting with fuzzy, neural and data-mining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Volatile, seasonal, short-lived items; pre-dates boosted trees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Ekambaram et al. [18]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Attention-based multi-modal model for new fashion products (images, attributes, external factors)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Beats k-NN baselines; needs images and large history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Singh et al. [19]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Attribute-based demand forecasting for new fashion items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Finds which attributes drive demand; no transfer across markets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Zhou et al. [22]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Conditional diffusion model for cold-start product life cycles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More accurate than classical baselines; not fashion-specific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Batch survey [26]-[29]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AI-driven demand forecasting and inventory planning (titles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Full texts not accessed; no figures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boosted trees beat simple baselines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035040" cy="448056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806440"/>
            <a:ext cx="6035040" cy="640080"/>
          </a:xfrm>
          <a:prstGeom prst="rect">
            <a:avLst/>
          </a:prstGeom>
          <a:noFill/>
        </p:spPr>
        <p:txBody>
          <a:bodyPr wrap="square" lIns="0" rIns="0" tIns="0" bIns="0" anchor="t">
            <a:spAutoFit/>
          </a:bodyPr>
          <a:lstStyle/>
          <a:p>
            <a:pPr algn="l">
              <a:spcAft>
                <a:spcPts val="400"/>
              </a:spcAft>
            </a:pPr>
            <a:r>
              <a:rPr sz="1100" b="0" i="1">
                <a:solidFill>
                  <a:srgbClr val="475569"/>
                </a:solidFill>
              </a:rPr>
              <a:t>Base paper, UCI Online Retail II. Naive, moving-average and random-forest bars are derived from the RMSE gaps the paper states (14.06, 2.86, 0.45).</a:t>
            </a:r>
          </a:p>
        </p:txBody>
      </p:sp>
      <p:sp>
        <p:nvSpPr>
          <p:cNvPr id="28" name="TextBox 27"/>
          <p:cNvSpPr txBox="1"/>
          <p:nvPr/>
        </p:nvSpPr>
        <p:spPr>
          <a:xfrm>
            <a:off x="6858000" y="1325880"/>
            <a:ext cx="4800600" cy="4572000"/>
          </a:xfrm>
          <a:prstGeom prst="rect">
            <a:avLst/>
          </a:prstGeom>
          <a:noFill/>
        </p:spPr>
        <p:txBody>
          <a:bodyPr wrap="square" lIns="0" rIns="0" tIns="0" bIns="0" anchor="t">
            <a:spAutoFit/>
          </a:bodyPr>
          <a:lstStyle/>
          <a:p>
            <a:pPr algn="l">
              <a:spcAft>
                <a:spcPts val="800"/>
              </a:spcAft>
            </a:pPr>
            <a:r>
              <a:rPr sz="1500" b="1" i="0">
                <a:solidFill>
                  <a:srgbClr val="0F172A"/>
                </a:solidFill>
              </a:rPr>
              <a:t>What the literature shows</a:t>
            </a:r>
          </a:p>
          <a:p>
            <a:pPr algn="l" marL="256032" indent="-201168">
              <a:spcAft>
                <a:spcPts val="800"/>
              </a:spcAft>
              <a:buChar char="•"/>
            </a:pPr>
            <a:r>
              <a:rPr sz="1500" b="0" i="0">
                <a:solidFill>
                  <a:srgbClr val="0F172A"/>
                </a:solidFill>
              </a:rPr>
              <a:t>LightGBM, CatBoost and XGBoost end within 0.18 RMSE of each other; the choice of boosting library matters little [1].</a:t>
            </a:r>
          </a:p>
          <a:p>
            <a:pPr algn="l" marL="256032" indent="-201168">
              <a:spcAft>
                <a:spcPts val="800"/>
              </a:spcAft>
              <a:buChar char="•"/>
            </a:pPr>
            <a:r>
              <a:rPr sz="1500" b="0" i="0">
                <a:solidFill>
                  <a:srgbClr val="0F172A"/>
                </a:solidFill>
              </a:rPr>
              <a:t>MASE 0.799: a 20.1% gain over naive forecasting; rolling statistics are the dominant feature group [1].</a:t>
            </a:r>
          </a:p>
          <a:p>
            <a:pPr algn="l" marL="256032" indent="-201168">
              <a:spcAft>
                <a:spcPts val="800"/>
              </a:spcAft>
              <a:buChar char="•"/>
            </a:pPr>
            <a:r>
              <a:rPr sz="1500" b="0" i="0">
                <a:solidFill>
                  <a:srgbClr val="0F172A"/>
                </a:solidFill>
              </a:rPr>
              <a:t>In the M5 competition boosted trees with hand-built features matched deep learning [6] (as summarised in the base paper).</a:t>
            </a:r>
          </a:p>
          <a:p>
            <a:pPr algn="l" marL="256032" indent="-201168">
              <a:spcAft>
                <a:spcPts val="400"/>
              </a:spcAft>
              <a:buChar char="•"/>
            </a:pPr>
            <a:r>
              <a:rPr sz="1500" b="0" i="0">
                <a:solidFill>
                  <a:srgbClr val="0F172A"/>
                </a:solidFill>
              </a:rPr>
              <a:t>Caveat: R2 is only 0.243 on SKU-level daily demand, so absolute accuracy is modest.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Sales history</a:t>
            </a:r>
          </a:p>
        </p:txBody>
      </p:sp>
      <p:sp>
        <p:nvSpPr>
          <p:cNvPr id="27" name="Right Arrow 26"/>
          <p:cNvSpPr/>
          <p:nvPr/>
        </p:nvSpPr>
        <p:spPr>
          <a:xfrm>
            <a:off x="2542946"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84927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Classical model (moving average, ARIMA-type)</a:t>
            </a:r>
          </a:p>
        </p:txBody>
      </p:sp>
      <p:sp>
        <p:nvSpPr>
          <p:cNvPr id="29" name="Right Arrow 28"/>
          <p:cNvSpPr/>
          <p:nvPr/>
        </p:nvSpPr>
        <p:spPr>
          <a:xfrm>
            <a:off x="4843576"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14990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Planner adjusts by judgement</a:t>
            </a:r>
          </a:p>
        </p:txBody>
      </p:sp>
      <p:sp>
        <p:nvSpPr>
          <p:cNvPr id="31" name="Right Arrow 30"/>
          <p:cNvSpPr/>
          <p:nvPr/>
        </p:nvSpPr>
        <p:spPr>
          <a:xfrm>
            <a:off x="7144207"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450531"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Order quantity</a:t>
            </a:r>
          </a:p>
        </p:txBody>
      </p:sp>
      <p:sp>
        <p:nvSpPr>
          <p:cNvPr id="33" name="Right Arrow 32"/>
          <p:cNvSpPr/>
          <p:nvPr/>
        </p:nvSpPr>
        <p:spPr>
          <a:xfrm>
            <a:off x="9444837"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751161"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One model per market</a:t>
            </a:r>
          </a:p>
        </p:txBody>
      </p:sp>
      <p:sp>
        <p:nvSpPr>
          <p:cNvPr id="35" name="Rounded Rectangle 34"/>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7" name="TextBox 36"/>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Statistical and judgement-based planning</a:t>
            </a:r>
          </a:p>
        </p:txBody>
      </p:sp>
      <p:sp>
        <p:nvSpPr>
          <p:cNvPr id="38" name="TextBox 37"/>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Classical methods give parameters planners can read, but assume linear, stationary demand.
Promotions, seasons and short life cycles break those assumptions.
Planners override forecasts they do not understand [1].</a:t>
            </a:r>
          </a:p>
        </p:txBody>
      </p:sp>
      <p:sp>
        <p:nvSpPr>
          <p:cNvPr id="39" name="Rounded Rectangle 38"/>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41" name="TextBox 40"/>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Machine-learning forecasters</a:t>
            </a:r>
          </a:p>
        </p:txBody>
      </p:sp>
      <p:sp>
        <p:nvSpPr>
          <p:cNvPr id="42" name="TextBox 41"/>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Gradient boosting predicts retail demand well [1], [6].
A model is usually trained and tested inside one market.
Moving to a new market or a new product category normally means retraining.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Accuracy drops across markets</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A model trained on one market loses accuracy where the data distribution differs: other stores, channels, regions or categories.</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history for new products</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A new product has no sales history, so lag-based forecasting cannot cover it.</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Trends shift in-season</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Fashion trends move within a season and invalidate models trained on older data.</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Unexplained forecasts</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Forecasts delivered without a reason are not trusted by inventory planners, who override them.</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400" b="0" i="0">
                <a:solidFill>
                  <a:srgbClr val="0F172A"/>
                </a:solidFill>
              </a:rPr>
              <a:t>The base paper adds: one dataset, a stationarity assumption, no promotion or holiday signals and a one-day horizon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28016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188720"/>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The base paper validates one dataset from one UK wholesaler and does not test transfer to a differently distributed market [1]</a:t>
            </a:r>
          </a:p>
        </p:txBody>
      </p:sp>
      <p:sp>
        <p:nvSpPr>
          <p:cNvPr id="28" name="Oval 27"/>
          <p:cNvSpPr/>
          <p:nvPr/>
        </p:nvSpPr>
        <p:spPr>
          <a:xfrm>
            <a:off x="548640" y="230428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12848"/>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Importance weighting for covariate shift is well established [10], [12], but is not reported together with gradient-boosted demand models and honest controls (time overlap, weight scale)</a:t>
            </a:r>
          </a:p>
        </p:txBody>
      </p:sp>
      <p:sp>
        <p:nvSpPr>
          <p:cNvPr id="30" name="Oval 29"/>
          <p:cNvSpPr/>
          <p:nvPr/>
        </p:nvSpPr>
        <p:spPr>
          <a:xfrm>
            <a:off x="548640" y="332841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36976"/>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Fashion cold-start work relies on product images and external signals [18], [20]; a plain tabular route is seldom compared with simple baselines</a:t>
            </a:r>
          </a:p>
        </p:txBody>
      </p:sp>
      <p:sp>
        <p:nvSpPr>
          <p:cNvPr id="32" name="Oval 31"/>
          <p:cNvSpPr/>
          <p:nvPr/>
        </p:nvSpPr>
        <p:spPr>
          <a:xfrm>
            <a:off x="548640" y="435254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261104"/>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Planners override forecasts they cannot interpret [1]: explanations must accompany any adapted model</a:t>
            </a:r>
          </a:p>
        </p:txBody>
      </p:sp>
      <p:sp>
        <p:nvSpPr>
          <p:cNvPr id="34" name="Oval 33"/>
          <p:cNvSpPr/>
          <p:nvPr/>
        </p:nvSpPr>
        <p:spPr>
          <a:xfrm>
            <a:off x="548640" y="537667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285232"/>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Gains are rarely checked against unweighted pooling or a repeat-yesterday forecast, so reported improvements may not survive a fair control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Forecasting models trained on one market lose accuracy when applied to another</a:t>
            </a:r>
          </a:p>
          <a:p>
            <a:pPr algn="l" marL="256032" indent="-201168">
              <a:spcAft>
                <a:spcPts val="800"/>
              </a:spcAft>
              <a:buChar char="•"/>
            </a:pPr>
            <a:r>
              <a:rPr sz="1800" b="0" i="0">
                <a:solidFill>
                  <a:srgbClr val="0F172A"/>
                </a:solidFill>
              </a:rPr>
              <a:t>New products have no sales history, so conventional forecasting cannot cover them</a:t>
            </a:r>
          </a:p>
          <a:p>
            <a:pPr algn="l" marL="256032" indent="-201168">
              <a:spcAft>
                <a:spcPts val="800"/>
              </a:spcAft>
              <a:buChar char="•"/>
            </a:pPr>
            <a:r>
              <a:rPr sz="1800" b="0" i="0">
                <a:solidFill>
                  <a:srgbClr val="0F172A"/>
                </a:solidFill>
              </a:rPr>
              <a:t>Fashion trends shift within a season, invalidating models trained on older data</a:t>
            </a:r>
          </a:p>
          <a:p>
            <a:pPr algn="l" marL="256032" indent="-201168">
              <a:spcAft>
                <a:spcPts val="800"/>
              </a:spcAft>
              <a:buChar char="•"/>
            </a:pPr>
            <a:r>
              <a:rPr sz="1800" b="0" i="0">
                <a:solidFill>
                  <a:srgbClr val="0F172A"/>
                </a:solidFill>
              </a:rPr>
              <a:t>Forecasts delivered without explanation are not trusted by inventory planners</a:t>
            </a:r>
          </a:p>
          <a:p>
            <a:pPr algn="l" marL="256032" indent="-201168">
              <a:spcAft>
                <a:spcPts val="800"/>
              </a:spcAft>
              <a:buChar char="•"/>
            </a:pPr>
            <a:r>
              <a:rPr sz="1800" b="0" i="0">
                <a:solidFill>
                  <a:srgbClr val="0F172A"/>
                </a:solidFill>
              </a:rPr>
              <a:t>Need: a demand forecasting system that adapts across markets and categories and explains the drivers behind each forecast</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Transactions, articles and optional customers CSV (H&amp;M schema); source and target domain choice</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Daily demand forecast per article (7, 14, 30 days), before/after adaptation report, feature importance</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RMSE, MAE, safe MAPE, R2 (and WAPE offline) against a moving-average baseline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100" b="0" i="0">
                <a:solidFill>
                  <a:srgbClr val="0F172A"/>
                </a:solidFill>
              </a:rPr>
              <a:t>1.  Collect historical fashion retail sales data and engineer seasonal, pricing and category features</a:t>
            </a:r>
          </a:p>
          <a:p>
            <a:pPr algn="l">
              <a:spcAft>
                <a:spcPts val="1400"/>
              </a:spcAft>
            </a:pPr>
            <a:r>
              <a:rPr sz="2100" b="0" i="0">
                <a:solidFill>
                  <a:srgbClr val="0F172A"/>
                </a:solidFill>
              </a:rPr>
              <a:t>2.  Train gradient-boosting models such as XGBoost to forecast demand at product and category level</a:t>
            </a:r>
          </a:p>
          <a:p>
            <a:pPr algn="l">
              <a:spcAft>
                <a:spcPts val="1400"/>
              </a:spcAft>
            </a:pPr>
            <a:r>
              <a:rPr sz="2100" b="0" i="0">
                <a:solidFill>
                  <a:srgbClr val="0F172A"/>
                </a:solidFill>
              </a:rPr>
              <a:t>3.  Apply domain adaptation to transfer the model across markets and product categories</a:t>
            </a:r>
          </a:p>
          <a:p>
            <a:pPr algn="l">
              <a:spcAft>
                <a:spcPts val="1400"/>
              </a:spcAft>
            </a:pPr>
            <a:r>
              <a:rPr sz="2100" b="0" i="0">
                <a:solidFill>
                  <a:srgbClr val="0F172A"/>
                </a:solidFill>
              </a:rPr>
              <a:t>4.  Compare adapted and non-adapted models on a target market with a different data distribution</a:t>
            </a:r>
          </a:p>
          <a:p>
            <a:pPr algn="l">
              <a:spcAft>
                <a:spcPts val="1400"/>
              </a:spcAft>
            </a:pPr>
            <a:r>
              <a:rPr sz="2100" b="0" i="0">
                <a:solidFill>
                  <a:srgbClr val="0F172A"/>
                </a:solidFill>
              </a:rPr>
              <a:t>5.  Explain forecast drivers so planners understand why demand is predicted to move</a:t>
            </a:r>
          </a:p>
          <a:p>
            <a:pPr algn="l">
              <a:spcAft>
                <a:spcPts val="1400"/>
              </a:spcAft>
            </a:pPr>
            <a:r>
              <a:rPr sz="2100" b="0" i="0">
                <a:solidFill>
                  <a:srgbClr val="0F172A"/>
                </a:solidFill>
              </a:rPr>
              <a:t>6.  Evaluate using MAE, RMSE and MAPE, and translate error into inventory impact</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300" b="0" i="1">
                <a:solidFill>
                  <a:srgbClr val="475569"/>
                </a:solidFill>
              </a:rPr>
              <a:t>Later reviews report which objectives were met: product-level forecasting, adaptation and error metrics are built; inventory impact and per-forecast explanation are partial.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Prepare</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Validate, clean and merge the three CSV tables; count units per article per day; fill missing days with zero.</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Forecast</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31 features: calendar, price, channel, six attributes, shifted lags and rolling means. Chronological 80/20 split; XGBoost versus moving average.</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Adapt</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Logistic domain classifier gives weight p/(1-p) clipped at 20; XGBoost is retrained with those sample weights and tested on the target domain.</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RMSE, MAE, MAPE and R2 before and after, feature importance and recursive 7/14/30-day forecasts.</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FastAPI service + React console for the whole pipeline</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Upload, explore, features, training, domain adaptation, evaluation, forecast and AI insights; every step is gated until its inputs exist. No database and no GPU are needed; Gemini is optional and sees only aggregated numbers.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548640" y="1457221"/>
            <a:ext cx="6949440" cy="4675077"/>
          </a:xfrm>
          <a:prstGeom prst="rect">
            <a:avLst/>
          </a:prstGeom>
        </p:spPr>
      </p:pic>
      <p:sp>
        <p:nvSpPr>
          <p:cNvPr id="27" name="TextBox 26"/>
          <p:cNvSpPr txBox="1"/>
          <p:nvPr/>
        </p:nvSpPr>
        <p:spPr>
          <a:xfrm>
            <a:off x="7680960" y="1371600"/>
            <a:ext cx="3977639" cy="4754880"/>
          </a:xfrm>
          <a:prstGeom prst="rect">
            <a:avLst/>
          </a:prstGeom>
          <a:noFill/>
        </p:spPr>
        <p:txBody>
          <a:bodyPr wrap="square" lIns="0" rIns="0" tIns="0" bIns="0" anchor="t">
            <a:spAutoFit/>
          </a:bodyPr>
          <a:lstStyle/>
          <a:p>
            <a:pPr algn="l">
              <a:spcAft>
                <a:spcPts val="800"/>
              </a:spcAft>
            </a:pPr>
            <a:r>
              <a:rPr sz="1500" b="1" i="0">
                <a:solidFill>
                  <a:srgbClr val="0F172A"/>
                </a:solidFill>
              </a:rPr>
              <a:t>Layers</a:t>
            </a:r>
          </a:p>
          <a:p>
            <a:pPr algn="l" marL="256032" indent="-201168">
              <a:spcAft>
                <a:spcPts val="400"/>
              </a:spcAft>
              <a:buChar char="•"/>
            </a:pPr>
            <a:r>
              <a:rPr sz="1500" b="0" i="0">
                <a:solidFill>
                  <a:srgbClr val="0F172A"/>
                </a:solidFill>
              </a:rPr>
              <a:t>React console on port 5317; Vite proxies /api.</a:t>
            </a:r>
          </a:p>
          <a:p>
            <a:pPr algn="l" marL="256032" indent="-201168">
              <a:spcAft>
                <a:spcPts val="400"/>
              </a:spcAft>
              <a:buChar char="•"/>
            </a:pPr>
            <a:r>
              <a:rPr sz="1500" b="0" i="0">
                <a:solidFill>
                  <a:srgbClr val="0F172A"/>
                </a:solidFill>
              </a:rPr>
              <a:t>FastAPI on port 8317: 22 routes, one gated pipeline state.</a:t>
            </a:r>
          </a:p>
          <a:p>
            <a:pPr algn="l" marL="256032" indent="-201168">
              <a:spcAft>
                <a:spcPts val="400"/>
              </a:spcAft>
              <a:buChar char="•"/>
            </a:pPr>
            <a:r>
              <a:rPr sz="1500" b="0" i="0">
                <a:solidFill>
                  <a:srgbClr val="0F172A"/>
                </a:solidFill>
              </a:rPr>
              <a:t>src/ package: cleaning, daily demand, features, XGBoost, domain adaptation, metrics.</a:t>
            </a:r>
          </a:p>
          <a:p>
            <a:pPr algn="l" marL="256032" indent="-201168">
              <a:spcAft>
                <a:spcPts val="400"/>
              </a:spcAft>
              <a:buChar char="•"/>
            </a:pPr>
            <a:r>
              <a:rPr sz="1500" b="0" i="0">
                <a:solidFill>
                  <a:srgbClr val="0F172A"/>
                </a:solidFill>
              </a:rPr>
              <a:t>State in memory; trained models saved as joblib files; no database.</a:t>
            </a:r>
          </a:p>
          <a:p>
            <a:pPr algn="l" marL="256032" indent="-201168">
              <a:spcAft>
                <a:spcPts val="400"/>
              </a:spcAft>
              <a:buChar char="•"/>
            </a:pPr>
            <a:r>
              <a:rPr sz="1500" b="0" i="0">
                <a:solidFill>
                  <a:srgbClr val="0F172A"/>
                </a:solidFill>
              </a:rPr>
              <a:t>Optional Gemini explanation over aggregated numbers.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Outcomes measured so far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platform</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22 routes, 13 console pages, 39 pytest tests and 26 smoke checks pass; real H&amp;M subset (684,392 rows).</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Forecast accuracy</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Test RMSE: XGBoost 11.09, moving average 12.89, but repeat-yesterday 9.22: boosting beats the baseline, not the strongest simple rule.</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Domain adaptation</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Helped on 2 of 6 source-target pairs; mean RMSE change -14.6%. The one clear gain shrinks to -2.8% without time overlap.</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Multi-day forecast</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500" b="0" i="0">
                <a:solidFill>
                  <a:srgbClr val="475569"/>
                </a:solidFill>
              </a:rPr>
              <a:t>Recursive forecast error grows with horizon (WAPE 41% over days 1-7 to 124% over days 15-30) and trails a flat 7-day mean.</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500" b="0" i="0">
                <a:solidFill>
                  <a:srgbClr val="475569"/>
                </a:solidFill>
              </a:rPr>
              <a:t>107 days, 300 articles, one data shard; no cold-start mode in the product; SHAP and inventory impact computed offline only.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11091672" cy="5303520"/>
          </a:xfrm>
          <a:prstGeom prst="rect">
            <a:avLst/>
          </a:prstGeom>
          <a:noFill/>
        </p:spPr>
        <p:txBody>
          <a:bodyPr wrap="square" lIns="0" rIns="0" tIns="0" bIns="0" anchor="t">
            <a:spAutoFit/>
          </a:bodyPr>
          <a:lstStyle/>
          <a:p>
            <a:pPr algn="l">
              <a:spcAft>
                <a:spcPts val="400"/>
              </a:spcAft>
            </a:pPr>
            <a:r>
              <a:rPr sz="1250" b="0" i="0">
                <a:solidFill>
                  <a:srgbClr val="0F172A"/>
                </a:solidFill>
              </a:rPr>
              <a:t>[1] L. N. Mishra, B. Senapati, S. K. Nayak and A. J. Rangari, "Explainable retail demand forecasting: A hybrid LightGBM-SHAP framework for inventory optimization," IEEE Access, vol. 14, pp. 43613-43633, 2026, doi: 10.1109/ACCESS.2026.3675540.</a:t>
            </a:r>
          </a:p>
          <a:p>
            <a:pPr algn="l">
              <a:spcAft>
                <a:spcPts val="400"/>
              </a:spcAft>
            </a:pPr>
            <a:r>
              <a:rPr sz="1250" b="0" i="0">
                <a:solidFill>
                  <a:srgbClr val="0F172A"/>
                </a:solidFill>
              </a:rPr>
              <a:t>[2] T. Chen and C. Guestrin, "XGBoost: A scalable tree boosting system," in Proc. 22nd ACM SIGKDD Int. Conf. Knowledge Discovery and Data Mining, Aug. 2016, pp. 785-794.</a:t>
            </a:r>
          </a:p>
          <a:p>
            <a:pPr algn="l">
              <a:spcAft>
                <a:spcPts val="400"/>
              </a:spcAft>
            </a:pPr>
            <a:r>
              <a:rPr sz="1250" b="0" i="0">
                <a:solidFill>
                  <a:srgbClr val="0F172A"/>
                </a:solidFill>
              </a:rPr>
              <a:t>[4] S. M. Lundberg and S.-I. Lee, "A unified approach to interpreting model predictions," in Proc. Advances in Neural Information Processing Systems (NIPS), 2017, pp. 4765-4774.</a:t>
            </a:r>
          </a:p>
          <a:p>
            <a:pPr algn="l">
              <a:spcAft>
                <a:spcPts val="400"/>
              </a:spcAft>
            </a:pPr>
            <a:r>
              <a:rPr sz="1250" b="0" i="0">
                <a:solidFill>
                  <a:srgbClr val="0F172A"/>
                </a:solidFill>
              </a:rPr>
              <a:t>[6] S. Makridakis, E. Spiliotis and V. Assimakopoulos, "M5 accuracy competition: Results, findings, and conclusions," International Journal of Forecasting, vol. 38, no. 4, pp. 1346-1364, Oct. 2022.</a:t>
            </a:r>
          </a:p>
          <a:p>
            <a:pPr algn="l">
              <a:spcAft>
                <a:spcPts val="400"/>
              </a:spcAft>
            </a:pPr>
            <a:r>
              <a:rPr sz="1250" b="0" i="0">
                <a:solidFill>
                  <a:srgbClr val="0F172A"/>
                </a:solidFill>
              </a:rPr>
              <a:t>[10] H. Shimodaira, "Improving predictive inference under covariate shift by weighting the log-likelihood function," Journal of Statistical Planning and Inference, vol. 90, no. 2, pp. 227-244, 2000.</a:t>
            </a:r>
          </a:p>
          <a:p>
            <a:pPr algn="l">
              <a:spcAft>
                <a:spcPts val="400"/>
              </a:spcAft>
            </a:pPr>
            <a:r>
              <a:rPr sz="1250" b="0" i="0">
                <a:solidFill>
                  <a:srgbClr val="0F172A"/>
                </a:solidFill>
              </a:rPr>
              <a:t>[11] M. Sugiyama, M. Krauledat and K.-R. Mueller, "Covariate shift adaptation by importance weighted cross validation," Journal of Machine Learning Research, vol. 8, pp. 985-1005, 2007.</a:t>
            </a:r>
          </a:p>
          <a:p>
            <a:pPr algn="l">
              <a:spcAft>
                <a:spcPts val="400"/>
              </a:spcAft>
            </a:pPr>
            <a:r>
              <a:rPr sz="1250" b="0" i="0">
                <a:solidFill>
                  <a:srgbClr val="0F172A"/>
                </a:solidFill>
              </a:rPr>
              <a:t>[12] S. Bickel, M. Brueckner and T. Scheffer, "Discriminative learning under covariate shift," Journal of Machine Learning Research, vol. 10, pp. 2137-2155, 2009.</a:t>
            </a:r>
          </a:p>
          <a:p>
            <a:pPr algn="l">
              <a:spcAft>
                <a:spcPts val="400"/>
              </a:spcAft>
            </a:pPr>
            <a:r>
              <a:rPr sz="1250" b="0" i="0">
                <a:solidFill>
                  <a:srgbClr val="0F172A"/>
                </a:solidFill>
              </a:rPr>
              <a:t>[13] S. J. Pan and Q. Yang, "A survey on transfer learning," IEEE Transactions on Knowledge and Data Engineering, vol. 22, no. 10, pp. 1345-1359, Oct. 2010.</a:t>
            </a:r>
          </a:p>
          <a:p>
            <a:pPr algn="l">
              <a:spcAft>
                <a:spcPts val="400"/>
              </a:spcAft>
            </a:pPr>
            <a:r>
              <a:rPr sz="1250" b="0" i="0">
                <a:solidFill>
                  <a:srgbClr val="0F172A"/>
                </a:solidFill>
              </a:rPr>
              <a:t>[17] S. Thomassey, "Sales forecasts in clothing industry: The key success factor of the supply chain management," International Journal of Production Economics, vol. 128, no. 2, pp. 470-483, Dec. 2010.</a:t>
            </a:r>
          </a:p>
          <a:p>
            <a:pPr algn="l">
              <a:spcAft>
                <a:spcPts val="400"/>
              </a:spcAft>
            </a:pPr>
            <a:r>
              <a:rPr sz="1250" b="0" i="0">
                <a:solidFill>
                  <a:srgbClr val="0F172A"/>
                </a:solidFill>
              </a:rPr>
              <a:t>[18] V. Ekambaram, K. Manglik, S. Mukherjee, S. S. K. Sajja, S. Dwivedi and V. Raykar, "Attention based multi-modal new product sales time-series forecasting," in Proc. 26th ACM SIGKDD Int. Conf. Knowledge Discovery and Data Mining, 2020, pp. 3110-3118, doi: 10.1145/3394486.3403362.</a:t>
            </a:r>
          </a:p>
          <a:p>
            <a:pPr algn="l">
              <a:spcAft>
                <a:spcPts val="400"/>
              </a:spcAft>
            </a:pPr>
            <a:r>
              <a:rPr sz="1250" b="0" i="0">
                <a:solidFill>
                  <a:srgbClr val="0F172A"/>
                </a:solidFill>
              </a:rPr>
              <a:t>[19] P. K. Singh, Y. Gupta, N. Jha and A. Rajan, "Fashion retail: Forecasting demand for new items," arXiv:1907.01960, 2019.</a:t>
            </a:r>
          </a:p>
          <a:p>
            <a:pPr algn="l">
              <a:spcAft>
                <a:spcPts val="400"/>
              </a:spcAft>
            </a:pPr>
            <a:r>
              <a:rPr sz="1250" b="0" i="0">
                <a:solidFill>
                  <a:srgbClr val="0F172A"/>
                </a:solidFill>
              </a:rPr>
              <a:t>[20] G. Skenderi, C. Joppi, M. Denitto and M. Cristani, "Well Googled is half done: Multimodal forecasting of new fashion product sales with image-based Google Trends," arXiv:2109.09824, 2021 (rev. 2024).</a:t>
            </a:r>
          </a:p>
          <a:p>
            <a:pPr algn="l">
              <a:spcAft>
                <a:spcPts val="400"/>
              </a:spcAft>
            </a:pPr>
            <a:r>
              <a:rPr sz="1250" b="0" i="0">
                <a:solidFill>
                  <a:srgbClr val="0F172A"/>
                </a:solidFill>
              </a:rPr>
              <a:t>[22] R. Zhou, Z. Zhang, J. Han, Y. Peng and X. Zhang, "Cold-start forecasting of new product life-cycles via conditional diffusion models," arXiv:2604.20370, Apr. 2026.</a:t>
            </a:r>
          </a:p>
          <a:p>
            <a:pPr algn="l">
              <a:spcAft>
                <a:spcPts val="400"/>
              </a:spcAft>
            </a:pPr>
            <a:r>
              <a:rPr sz="1250" b="0" i="0">
                <a:solidFill>
                  <a:srgbClr val="0F172A"/>
                </a:solidFill>
              </a:rPr>
              <a:t>[23] H&amp;M Group, "H&amp;M Personalized Fashion Recommendations," Kaggle competition data (articles, customers, transactions), 2022. [Online]. Available: https://www.kaggle.com/competitions/h-and-m-personalized-fashion-recommendations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TrendCast">
  <a:themeElements>
    <a:clrScheme name="TrendCast">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TrendCa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rendCast">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 Demand Forecasting Using Machine Learning And Domain Adaptation: Review 1</dc:title>
  <dc:subject>Batch A17 (CSE-A)</dc:subject>
  <dc:creator>B Shilpa, B Hari Narayana, A Rani Thejaswini, A Sanjana</dc:creator>
  <cp:lastModifiedBy/>
  <cp:revision>1</cp:revision>
  <dcterms:created xsi:type="dcterms:W3CDTF">2026-10-13T12:36:40Z</dcterms:created>
  <dcterms:modified xsi:type="dcterms:W3CDTF">2026-10-13T12:36:40Z</dcterms:modified>
  <cp:keywords>fashion demand forecasting, XGBoost, domain adaptation, H&amp;M, retail analytics</cp:keywords>
  <dc:description/>
</cp:coreProperties>
</file>