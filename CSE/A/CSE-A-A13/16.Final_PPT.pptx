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Rule baseline</c:v>
                </c:pt>
              </c:strCache>
            </c:strRef>
          </c:tx>
          <c:spPr>
            <a:solidFill>
              <a:srgbClr val="8A97AB"/>
            </a:solidFill>
          </c:spPr>
          <c:cat>
            <c:strRef>
              <c:f>Sheet1!$A$2:$A$8</c:f>
              <c:strCache>
                <c:ptCount val="7"/>
                <c:pt idx="0">
                  <c:v>normal</c:v>
                </c:pt>
                <c:pt idx="1">
                  <c:v>high
solar</c:v>
                </c:pt>
                <c:pt idx="2">
                  <c:v>peak
demand</c:v>
                </c:pt>
                <c:pt idx="3">
                  <c:v>battery
stress</c:v>
                </c:pt>
                <c:pt idx="4">
                  <c:v>line
congestion</c:v>
                </c:pt>
                <c:pt idx="5">
                  <c:v>voltage
violation</c:v>
                </c:pt>
                <c:pt idx="6">
                  <c:v>unsafe
ai
action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0.0</c:v>
                </c:pt>
                <c:pt idx="2">
                  <c:v>3.33</c:v>
                </c:pt>
                <c:pt idx="3">
                  <c:v>0.0</c:v>
                </c:pt>
                <c:pt idx="4">
                  <c:v>12.0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Agents, no shield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normal</c:v>
                </c:pt>
                <c:pt idx="1">
                  <c:v>high
solar</c:v>
                </c:pt>
                <c:pt idx="2">
                  <c:v>peak
demand</c:v>
                </c:pt>
                <c:pt idx="3">
                  <c:v>battery
stress</c:v>
                </c:pt>
                <c:pt idx="4">
                  <c:v>line
congestion</c:v>
                </c:pt>
                <c:pt idx="5">
                  <c:v>voltage
violation</c:v>
                </c:pt>
                <c:pt idx="6">
                  <c:v>unsafe
ai
action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1.67</c:v>
                </c:pt>
                <c:pt idx="1">
                  <c:v>0.67</c:v>
                </c:pt>
                <c:pt idx="2">
                  <c:v>4.0</c:v>
                </c:pt>
                <c:pt idx="3">
                  <c:v>4.67</c:v>
                </c:pt>
                <c:pt idx="4">
                  <c:v>11.33</c:v>
                </c:pt>
                <c:pt idx="5">
                  <c:v>6.33</c:v>
                </c:pt>
                <c:pt idx="6">
                  <c:v>4.33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SafeGrid-AI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Sheet1!$A$2:$A$8</c:f>
              <c:strCache>
                <c:ptCount val="7"/>
                <c:pt idx="0">
                  <c:v>normal</c:v>
                </c:pt>
                <c:pt idx="1">
                  <c:v>high
solar</c:v>
                </c:pt>
                <c:pt idx="2">
                  <c:v>peak
demand</c:v>
                </c:pt>
                <c:pt idx="3">
                  <c:v>battery
stress</c:v>
                </c:pt>
                <c:pt idx="4">
                  <c:v>line
congestion</c:v>
                </c:pt>
                <c:pt idx="5">
                  <c:v>voltage
violation</c:v>
                </c:pt>
                <c:pt idx="6">
                  <c:v>unsafe
ai
action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project: a multi-agent power-routing system in which AI agents propose actions and a deterministic safety shield decides what may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problem, the idea, then the headline numbers (63 runs, 0 violations caused by executed actions). End with the limits: mock LLM, synthetic feeder, model-relative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uses rule-based agents in a DC microgrid and reports regulation in eight scenarios. It has no language model, no formal safety layer and no explanation interface. We keep its agent decomposition and add those three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papers were read in full (base paper, Grid-Agent, the MCP position paper). The four survey entries in the batch record were classified from title and venue only; the slide says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Gaps are stated against the surveyed work only, not against all literature. Our contribution is the combination: agent proposals, an independent shield, explanations, an audit trail and a strategy comparison with identical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problem is four points from the batch proposal; the statement turns them into an engineering requirement: execute only what cannot create or worsen a violation, and explain every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proposal. The conclusion reports each outcome; objective 2 ran with a mock model and objective 6 is only partly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in five boxes. The agent is untrusted; the coordinator, shield and simulator are trusted deterministic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tiers. The shield imports nothing from the llm, agents, simulation or grid packages; a test enforces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method in one line of boxes and the three design decisions that matter: the three strategies, the attribution rule and the projection.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is no dataset and no trained model, so no accuracy, F1 or confusion matrix exists for this project. Inputs are generated from a seed. The three agents are a 6 kWp prosumer with a 10 kWh battery, a 40 kWh EV charging at up to 7.4 kW, and a 20 kWp renewable prosumer with a 30 kWh battery.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core algorithm, evaluate() in the shield. Ten ordered checks: structure, power limits, battery, node limits, power balance, power flow, voltage, line loading, transformer, grid import/export.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one simulation step from the dashboard through the API, engine, agents, coordinator, shield and simulator. Right: what the operator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SQLite tables from the standard library. Payloads are JSON text. The safety log carries prev_hash and hash so any change is detectable.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Highlights: isolation of the shield, robust fallbacks, strict input schema, explanations without chain-of-thought, and a one-command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Table: means over 21 runs per strategy. The key row is the first: 2.19 steps (rule baseline), 4.71 (agents without shield) and 0.00 (SafeGrid-AI). Chart: line congestion and peak demand also hurt the rule baseline (12.0 and 3.3 steps), so the problem is not only an AI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 scenario the intervention load varies: line congestion has the most projections (23 per run), voltage violation and battery stress the most rejections (about 8 per run). Totals are over 21 shielded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with every agent idle the grid is already outside its limits in 6.33 of 24 steps on average (20 of 24 in high_solar). The shield does not promise to repair that. Right: in the single seed-42 runs the shield holds line loading at exactly 100 % instead of 137.7 %, the highest voltage at 1.056 pu instead of 1.117 pu, and the lowest voltage at 0.932 pu instead of 0.861 pu. Cost of safety: step time 348 ms against about 107 ms, renewable use 0.860 against 0.884, cost 225.0 INR against 380.8 INR.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Latency was measured against a live uvicorn server. Step time rises because every proposal triggers trial power flows. The two failing tests are tolerance checks written for an older pandapower; they were left as delivered. No real-LLM latency was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that a like-for-like numeric comparison is impossible: the base paper is a DC microgrid in Simulink with rule-based agents; ours is an AC feeder with agent proposals under a shield.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from the running application: scenario unsafe_ai_action, mock provider, seed 42, 12 of 12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dry run submits a custom action to the shield; nothing is applied. The 1000 kW export is rejected with the failed checks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scenario runner with the strategy comparison. Right: the explanation of one decision (inputs, factors, action and safety result); no chain-of-thought is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1, 3, 4 and 5 are met, objective 2 with a mock model, objective 6 partly. Read the gaps slowly: they are part of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Ordered by value: the real-LLM evaluation closes the largest gap in this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References [4] to [7] come from the batch literature survey; their author lists were not recorded and are not guessed.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SafeGrid-AI: An Explainable Multi-Agent System for Dynamic Power Routing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A13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23K91A0563   Disha Kaushal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23K91A0542   Bollam Rakesh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23K91A0554   Chinnolla Ravindhar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23K91A0505   Affan Mohammed Ramy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Chandrashekar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AND TECHNOLOGY (AUTONOMOUS)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Scenarios &amp; Agents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Workflow, Interaction &amp; Database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Shield Decisions, Stress &amp; Cost of Safety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Testing &amp; 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language model that controls physical infrastructure is non-deterministic and can propose actions that break electrical limits; operators also need to see why each action was taken.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SafeGrid-AI is neuro-symbolic: three agents (prosumer, EV, renewable) on a simulated 3-node low-voltage feeder each propose one action per step, and a deterministic </a:t>
            </a: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Symbolic Safety Shield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approves, scales down (bisection) or rejects it before anything is executed. Every decision is explained and every intervention is written to a hash-chained log.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 63 simulation runs (1,512 proposals) the shield approved </a:t>
            </a: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76.9%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projected </a:t>
            </a: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15.7%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and rejected </a:t>
            </a: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7.5%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; executed actions caused </a:t>
            </a: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 violations in all 504 shielded steps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against 144 violations in 99 steps for the same agents without it.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Safety costs time: mean step time 348 ms against about 107 ms; renewable use 0.86 against 0.88.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Limits: the language model is a deterministic mock, the grid is synthetic, and the guarantee holds in the simulated model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S. E. Eyimaya and N. Altin, "Design of multi-agent-based energy management system for DC microgrids," IEEE Access, vol. 14, pp. 39120-39133, 2026, doi: 10.1109/ACCESS.2026.3672618.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606040"/>
          <a:ext cx="1115568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3268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System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DC microgrid with PV, wind, synchronous generator, battery storage, grid, critical and non-critical loads; MATLAB/Simulink, 800 V bus, 20 microsecond sampling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Four rule-based agents (DER, energy storage, load, grid) coordinate generation, storage and load shedding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 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Bus voltage regulated at 800 V and critical loads continuously supplied in all eight operating scenarios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Scalability, software integration, cybersecurity; no experimental 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What we take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The multi-agent decomposition (generation, storage, load); we add an LLM-driven proposer, an independent safety shield and explanations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3383280"/>
                <a:gridCol w="2377440"/>
                <a:gridCol w="292608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Reported result / limit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Eyimaya &amp; Altin 2026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Rule-based agents: DER, storage, load, grid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DC microgrid, Simulink, 800 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Voltage held in 8 scenarios; scalability, cybersecurity, validation open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Zhang et al. 2025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LLM planner + validation agent with sandbox and rollback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IEEE 69-bus, CIGRE MV, IEEE 30-bus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Best LLMs 100 % success; weaker 63 % and 44 %; no rule layer, no operator explanations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Picault &amp; Goubet 2026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Position paper: MCP server exposes a simulator to AI agents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TSO grid studies (pypowsybl)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results; asks for traceability and human 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McArthur et al. 2007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Concepts and challenges of multi-agent systems in power engineering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Survey, Part 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Agents fit distributed grids; verification and trust remain open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[4]-[7] Four further surveyed works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Multi-agent deep RL, fault reconstruction, EV scheduling, MAS review (classified from titles)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Smart-grid energy management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Full text not reviewed for this report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400"/>
              </a:spcAft>
              <a:buChar char="•"/>
            </a:pPr>
            <a:r>
              <a:rPr sz="21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Planning layer:</a:t>
            </a: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the base paper's agents are rule-based; no language-model proposer is used.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21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Safety path:</a:t>
            </a: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Grid-Agent checks actions by sandboxed trial and rollback; an independent rule layer that scales an unsafe request into the permitted region is not part of the surveyed work.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21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Explanation:</a:t>
            </a: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operator-facing, per-decision explanations are not reported; the MCP position paper asks for traceability but gives no results.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21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Audit:</a:t>
            </a: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tamper-evident records of every blocked or scaled action are not addressed.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1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Evaluation:</a:t>
            </a: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few comparisons separate violations caused by an action from stress already on the grid.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155680" cy="178308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0704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Given the observed state of a low-voltage feeder with distributed solar, batteries and an electric vehicle, let several autonomous agents propose power set-points at every control step, and execute only set-points that cannot create or worsen a violation of voltage, line, transformer, battery or import/export limits, while recording a reviewable explanation and an audit trail for every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03320"/>
            <a:ext cx="60350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Fixed-rule grid control cannot adapt to renewable variability or changing topology.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Centralised control creates a single point of failure for the whole network.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Autonomous agents acting on physical infrastructure can take unsafe actions if unconstrained.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Operators will not accept control decisions they cannot interrogate.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703320"/>
            <a:ext cx="4800600" cy="7772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40880" y="3739896"/>
            <a:ext cx="118872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739896"/>
            <a:ext cx="342900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Feeder state and one proposed action per agent per 15-minute step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572000"/>
            <a:ext cx="4800600" cy="7772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40880" y="4608576"/>
            <a:ext cx="118872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608576"/>
            <a:ext cx="342900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Validated action plus explanation and safety 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5440679"/>
            <a:ext cx="4800600" cy="7772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0" y="5477255"/>
            <a:ext cx="118872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5477255"/>
            <a:ext cx="342900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Hash-chained safety log, dashboard, run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Model the grid as a multi-agent system with agents responsible for generation, storage and load.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Implement an LLM-driven planning agent that proposes routing actions from observed grid state.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Add a safety shielding layer that validates each action against physical and operational constraints.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Provide explanations for every routing decision so operators can audit the reasoning.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Simulate fault and overload scenarios to test dynamic rerouting behaviour.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Evaluate violation resolution rate, decision latency and the number of unsafe actions blocked.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Observe feeder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7460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3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Agents propose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2603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3207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Coordinate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7747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8352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Safety Shield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22892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3496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Execute +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08960"/>
            <a:ext cx="111556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Three agents (prosumer, EV, renewable) get a structured context and return one schema-validated EnergyAction through a pluggable provider (mock, API, rule baseline, failing).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coordinator detects peer mismatch, target contention and shared-feeder conflicts and orders relief actions first.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shield checks ten ordered conditions on a trial AC power flow; only approved or scaled actions are committed.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Each decision has an explanation, each intervention a hash-chained event; a React dashboard shows it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355" y="1600200"/>
            <a:ext cx="5966328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1828800"/>
            <a:ext cx="361188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Presentation: React dashboard (Vite, port 5313)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Application: FastAPI REST and WebSocket (port 8313), SimulationService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Core: engine, agents, coordinator, shield, pandapower simulator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Data: SQLite store, hash-chained safety log, seeded profiles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Trust boundary: only the LLM provider is untrusted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Seeded inputs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0690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2714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No-action power flow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50484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2508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Agents propose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70278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2302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Coordinate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90073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82097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Shield validates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09867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01891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Commit power flow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29661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21685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Log + 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54680"/>
            <a:ext cx="111556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Experiment: 7 scenarios x 3 strategies x 3 seeds x 24 steps = 63 runs (15-minute step). Strategies: rule baseline, agents without shield, SafeGrid-AI.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violation is blamed on an action only if it is new or worse than the grid state with every agent idle; pre-existing stress is counted separately.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Projection: bisection for the largest scale factor in [0, 1], then up to four re-verifications of the exact rounded action; below 0.05 kW is rejected.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Everything is reproducible: results come from run_experiment and are stored as JSON.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Scenarios, Inputs &amp; Agents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inputs are synthetic and seeded; no trained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935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63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seeded scenarios, 12 to 32 steps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23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4078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06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agents on 3 nodes, 0.4 kV feeder</a:t>
            </a:r>
          </a:p>
        </p:txBody>
      </p:sp>
      <p:pic>
        <p:nvPicPr>
          <p:cNvPr id="19" name="Picture 18" descr="11_feeder_topo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652" y="1691640"/>
            <a:ext cx="6374295" cy="3383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5212080"/>
            <a:ext cx="11201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Scenarios: normal, high_solar, peak_demand, battery_stress, line_congestion, voltage_violation, unsafe_ai_action (injects oversized and malformed proposals).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Profiles: solar sin^1.2 with a seeded cloud factor, household load shape with 5 % noise, illustrative time-of-use tariff. The mock LLM is deterministic; a real-LLM provider exists but was not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core_algorith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41" y="1600200"/>
            <a:ext cx="4047157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1783080"/>
            <a:ext cx="63093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1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Structural checks first: unknown agent or node, limits, reason codes, magnitude; failure means REJECT.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Idle or near-zero actions are approved and still recorded.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Otherwise a trial AC power flow of the request; only new or worse violations count against the action.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Violation found: bisection for the largest safe scale (40 local, 14 power-flow iterations), re-verify, then PROJECT or REJECT.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non-approved action becomes a hash-chained safety event.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97" y="1600200"/>
            <a:ext cx="5774365" cy="4754880"/>
          </a:xfrm>
          <a:prstGeom prst="rect">
            <a:avLst/>
          </a:prstGeom>
        </p:spPr>
      </p:pic>
      <p:pic>
        <p:nvPicPr>
          <p:cNvPr id="8" name="Picture 7" descr="08_use_cas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616443"/>
            <a:ext cx="5303520" cy="42651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655333"/>
            <a:ext cx="6583680" cy="409597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737360"/>
          <a:ext cx="438912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283464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Holds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runs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configuration, resolved settings, summary, chain fingerprint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live event stream per run (typed payload)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safety_events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hash-chained interventions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steps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 full record per simulated step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experiments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specification and results of a comparison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23 + 1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REST endpoints + WebSocket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3,117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lines of backend 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6,989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lines of dashboard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test functions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shield imports nothing from the llm, agents, simulation or grid packages; a test enforces it.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Any provider failure, timeout or invalid output becomes a labelled deterministic fallback decision that is still shielded.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EnergyAction forbids extra fields and non-finite power; model output is never executed as code, SQL or shell.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Explanations are structured (inputs, factors, action, safety result); no chain-of-thought is requested or stored.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dashboard with live WebSocket updates; run.bat starts backend (8313) and frontend (5313).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Strategy Comparison (63 runs)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6492240" cy="3785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00400"/>
                <a:gridCol w="1051560"/>
                <a:gridCol w="1188720"/>
                <a:gridCol w="105156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Metric (mean of 21 runs)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Rule baseline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Agents, no shield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SafeGrid-AI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Steps with violations caused by actions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2.19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4.71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Violations caused by actions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2.19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6.86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Steps with any violation after execution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6.05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6.38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2.48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Voltage violation steps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4.33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4.43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3.14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Line overload events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1.71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1.86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Energy cost (INR, illustrative)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216.4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380.8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225.0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Renewable utilisation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1.000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0.884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0.860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Mean step time (ms)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107.9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106.2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347.8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178040" y="1645920"/>
          <a:ext cx="4572000" cy="38404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780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Steps with violations caused by actions, per scenario (of 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23560"/>
            <a:ext cx="6492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Mean of 7 scenarios x 3 seeds, 24 steps each. Mock LLM, synthetic 3-node feeder: a simulation result, not field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Decisions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fig_shield_deci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92" y="1645920"/>
            <a:ext cx="6568175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737360"/>
            <a:ext cx="420624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59" y="1792224"/>
            <a:ext cx="393192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76.9%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2347264"/>
            <a:ext cx="393192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approved (1,162 of 1,512)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926080"/>
            <a:ext cx="420624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498079" y="2926080"/>
            <a:ext cx="73152" cy="105156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80959" y="2980944"/>
            <a:ext cx="393192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15.7%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3535984"/>
            <a:ext cx="393192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projected, scaled down (237)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4114800"/>
            <a:ext cx="420624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498079" y="4114800"/>
            <a:ext cx="73152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80959" y="4169663"/>
            <a:ext cx="393192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4724704"/>
            <a:ext cx="393192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rejected (113)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9496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354 safety events logged; hash chain valid in 21 of 21 runs; 241 coordinator conflicts. Raw shielded-arm proposals would have caused 192 violations in 145 steps; none reached the grid.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classifier was trained, so a confusion matrix, accuracy or F1 do not apply; the decision counts above take their place.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Pre-existing Stress &amp; Cost of Safety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ig_preexisting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9893"/>
            <a:ext cx="5029200" cy="2552372"/>
          </a:xfrm>
          <a:prstGeom prst="rect">
            <a:avLst/>
          </a:prstGeom>
        </p:spPr>
      </p:pic>
      <p:pic>
        <p:nvPicPr>
          <p:cNvPr id="8" name="Picture 7" descr="fi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368" y="1645920"/>
            <a:ext cx="6050582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0" y="3977639"/>
            <a:ext cx="6080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Seed 42: worst loading / voltage with and without the shield (dashed = limit)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343400"/>
          <a:ext cx="1115568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60"/>
                <a:gridCol w="2011680"/>
                <a:gridCol w="2651760"/>
                <a:gridCol w="24688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Metric (mean of 21 runs)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Rule baseline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Agents, no shield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SafeGrid-AI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Steps with any violation after execution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6.05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6.38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2.48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Energy cost (INR, illustrative)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216.4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380.8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225.0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Renewable utilisation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1.000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0.884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0.860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Mean step time (ms)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107.9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106.2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347.8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The shield removes what actions add; stress already on the grid (6.33 steps per run) is not removed by design.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348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mean step, shield on (about 107 ms off)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441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 step, median (p95 522 ms)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63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agent dry run, median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2.5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grid state read, median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2926080"/>
          <a:ext cx="5669280" cy="28529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36576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Check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pytest (55 functions)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52 passed, 2 failed, 1 hangs (excluded)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The 2 failures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numeric tolerances with pandapower 3.5.6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The hanging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WebSocket test client; live endpoint works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Live smoke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 of 20 checks pass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Browser walk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360 / 768 / 1440 px, light and dark: no console errors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0" y="2926080"/>
          <a:ext cx="5303520" cy="30449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914400"/>
                <a:gridCol w="822960"/>
              </a:tblGrid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Live API call (localhost)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median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p95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GET /api/health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15.4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GET /api/grid/state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25.5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GET /api/scenarios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2.7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23.2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GET /api/agents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2.7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16.2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POST /api/agents/{id}/decision (dry run)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62.8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84.5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dry run: unsafe 1000 kW export (rejected)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36.6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80.5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dry run: 9 kW charge (projected by bisection)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230.0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262.6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POST /api/simulation/step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440.7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522.2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Measured on Intel Core i5-12500 (6 cores, 12 threads), 15.7 GB RAM, Windows 11 Pro, no GPU used. Mock-provider decision latency is 0.1-0.2 ms and says nothing about a real LLM.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(qualitative)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4206240"/>
                <a:gridCol w="51206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SafeGrid-AI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System modelled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DC microgrid, 800 V bus, MATLAB/Simulink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Three-node AC low-voltage feeder, pandapower AC power flow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Decision makers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Four rule-based agents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Three agents driven by a pluggable LLM provider (mock in all measurements), with a deterministic fallback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Safety mechanism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Control logic keeps the bus voltage regulated; no separate validation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Independent Symbolic Safety Shield: approve, project or reject every action before it is executed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Explanation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None 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Structured explanation per decision, hash-chained audit log, dashboard views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Eight Simulink scenarios, bus voltage regulated at 800 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Seven scenarios x 3 strategies x 3 seeds (63 runs): 0 violations caused by executed actions in 504 shielded steps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Validation reached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Simulation only; authors note the lack of experimental 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Simulation only; synthetic profiles; mock LLM; no field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71500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 numeric comparison exists: the systems, benchmarks and metrics differ. The difference is in what is added (LLM proposer, independent shield, explanations, audit), not in a better number.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Dashboard and Grid View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4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05927"/>
            <a:ext cx="5806440" cy="36290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5_grid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05927"/>
            <a:ext cx="5806440" cy="36290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65760" y="5468112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Dashboard after the unsafe_ai_action run: 12 interventions of 36 proposals, 0 violations caused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468112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Single-line diagram with bus voltage and line loading colours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Safety Shield and Agent Monitor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7_safety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05927"/>
            <a:ext cx="5806440" cy="36290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6_agent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05927"/>
            <a:ext cx="5806440" cy="36290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65760" y="5468112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Safety log, dry-run rejection of a 1000 kW export, active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468112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Agent cards: proposal, shield result and source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Scenarios and Explainability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09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05927"/>
            <a:ext cx="5806440" cy="36290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0_expl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05927"/>
            <a:ext cx="5806440" cy="36290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65760" y="5468112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Scenario runner and strategy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468112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Decision factors, reason codes and safety result per decision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Delivered: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multi-agent power-routing system with a deterministic Symbolic Safety Shield, a hash-chained audit log, per-decision explanations, a React dashboard and a 63-run evaluation.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0 violations caused by executed actions in 504 shielded steps (1,512 proposals; 15.7% projected, 7.5% rejected); the same agents without the shield caused 144 violations in 99 steps.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Cost: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step time about 3x higher (348 ms against 107 ms); some PV is curtailed in high_solar and voltage_violation.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Honest gaps: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mock LLM only (no real-LLM result or latency); violation-resolution rate not measured; three seeds on a synthetic 3-node feeder; the guarantee is model-relative, not a proof; 2 tests fail on numeric tolerances and 1 hangs; no user study.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1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Run the implemented API provider against a live language model; measure decision latency, fallback rate and reasoning quality against the mock.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 a violation-resolution rate so pre-existing stress can be repaired, not only prevented.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Larger and three-phase unbalanced networks; real load and PV data; more seeds.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Property-based tests or formal verification of the shield; fix the two tolerance tests and the WebSocket test.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 MCP tool interface, operator roles and authentication, and a user study with grid operators.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S. E. Eyimaya and N. Altin, "Design of multi-agent-based energy management system for DC microgrids," IEEE Access, vol. 14, pp. 39120-39133, 2026, doi: 10.1109/ACCESS.2026.3672618.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Y. Zhang, A. M. Saber, A. Youssef, and D. Kundur, "Grid-Agent: An LLM-powered multi-agent system for power grid control," arXiv:2508.05702, Aug. 2025.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J. Picault and C. Goubet, "Orchestrating power grid studies with multi-agent AI and MCP servers," arXiv:2607.14158, Jul. 2026.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[4] "Multi-agent deep reinforcement learning for energy-efficient smart grid management," in Proc. 1st Int. Conf. Intelligent Methods and Advanced Computer Scientific Innovations, 2025. (Authors not recorded in the batch survey.)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[5] "Energy system fault reconstruction control strategy based on multi-agent deep reinforcement learning," in Proc. 6th Int. Conf. Energy, Power and Grid (ICEPG), 2024. (Authors not recorded in the batch survey.)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"Distributed optimal scheduling for electric vehicles considering the multi-agent demands of electric vehicles, charging stations and power grid," in Proc. 3rd Int. Conf. Power, Grid and Energy Storage, 2025. (Authors not recorded in the batch survey.)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"Multi-agent systems in power system: A comprehensive review of energy management in power grid," in Smart Grid Security and Protection, Lecture Notes in Electrical Engineering, 2025. (Authors not recorded in the batch survey.)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[8] S. D. J. McArthur et al., "Multi-agent systems for power engineering applications - Part I: Concepts, approaches, and technical challenges," IEEE Trans. Power Syst., vol. 22, no. 4, pp. 1743-1752, Nov. 2007, doi: 10.1109/TPWRS.2007.908471.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[9] R. H. Lasseter, "MicroGrids," in Proc. IEEE Power Eng. Soc. Winter Meeting, vol. 1, 2002, pp. 305-308, doi: 10.1109/PESW.2002.985003.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H. Farhangi, "The path of the smart grid," IEEE Power Energy Mag., vol. 8, no. 1, pp. 18-28, Jan./Feb. 2010, doi: 10.1109/MPE.2009.934876.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L. Thurner et al., "pandapower - An open-source Python tool for convenient modeling, analysis, and optimization of electric power systems," IEEE Trans. Power Syst., vol. 33, no. 6, pp. 6510-6521, Nov. 2018, doi: 10.1109/TPWRS.2018.2829021.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M. Alshiekh, R. Bloem, R. Ehlers, B. Konighofer, S. Niekum, and U. Topcu, "Safe reinforcement learning via shielding," in Proc. AAAI Conf. Artif. Intell., 2018, pp. 2669-2678.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[13] G. Dalal, K. Dvijotham, M. Vecerik, T. Hester, C. Paduraru, and Y. Tassa, "Safe exploration in continuous action spaces," arXiv:1801.08757, 2018.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J. Garcia and F. Fernandez, "A comprehensive survey on safe reinforcement learning," J. Mach. Learn. Res., vol. 16, pp. 1437-1480, 2015.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[15] D. Amodei, C. Olah, J. Steinhardt, P. Christiano, J. Schulman, and D. Mane, "Concrete problems in AI safety," arXiv:1606.06565, 2016.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[16] S. Yao et al., "ReAct: Synergizing reasoning and acting in language models," in Proc. Int. Conf. Learn. Represent. (ICLR), 2023.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[17] M. Turpin, J. Michael, E. Perez, and S. R. Bowman, "Language models don't always say what they think: Unfaithful explanations in chain-of-thought prompting," in Proc. Adv. Neural Inf. Process. Syst. (NeurIPS), 2023.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[18] M. Wooldridge, An Introduction to MultiAgent Systems, 2nd ed. Chichester, U.K.: Wiley, 2009.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[19] Voltage Characteristics of Electricity Supplied by Public Electricity Networks, European Standard EN 50160:2010, CENELEC, 2010.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[20] Secure Hash Standard (SHS), Federal Information Processing Standards Publication FIPS 180-4, NIST, Aug. 2015.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A13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SafeGrid-AI: An Explainable Multi-Agent System for Dynamic Power Routing - Final Review</dc:title>
  <dc:subject>Batch A13 (CSE-A)</dc:subject>
  <dc:creator>DISHA KAUSHAL, BOLLAM RAKESH, CHINNOLLA RAVINDHAR, AFFAN MOHAMMED RAMY</dc:creator>
  <cp:lastModifiedBy/>
  <cp:revision>1</cp:revision>
  <dcterms:created xsi:type="dcterms:W3CDTF">2026-10-07T05:03:03Z</dcterms:created>
  <dcterms:modified xsi:type="dcterms:W3CDTF">2026-10-07T05:03:03Z</dcterms:modified>
  <dc:description/>
  <cp:keywords>agentic AI, multi-agent, smart grid, safety shield, explainability</cp:keywords>
</cp:coreProperties>
</file>