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f0aec94-eb0f-294a-de05-1614c3997827}">
          <p14:sldIdLst>
            <p14:sldId id="256"/>
            <p14:sldId id="257"/>
            <p14:sldId id="258"/>
          </p14:sldIdLst>
        </p14:section>
        <p14:section name="Research" id="{c5b655bf-1c78-45d9-2d43-c8947840fc05}">
          <p14:sldIdLst>
            <p14:sldId id="259"/>
            <p14:sldId id="260"/>
            <p14:sldId id="261"/>
          </p14:sldIdLst>
        </p14:section>
        <p14:section name="Problem" id="{c83c02f1-f6cc-56f3-d67e-57d82ce85a28}">
          <p14:sldIdLst>
            <p14:sldId id="262"/>
            <p14:sldId id="263"/>
            <p14:sldId id="264"/>
            <p14:sldId id="265"/>
            <p14:sldId id="266"/>
          </p14:sldIdLst>
        </p14:section>
        <p14:section name="Proposed solution" id="{0d7ed7fb-f0c3-288f-402c-2a68d644f815}">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 network waiting time (s)</c:v>
                </c:pt>
              </c:strCache>
            </c:strRef>
          </c:tx>
          <c:spPr>
            <a:solidFill>
              <a:srgbClr val="2A78D6"/>
            </a:solidFill>
          </c:spPr>
          <c:dPt>
            <c:idx val="0"/>
            <c:spPr>
              <a:solidFill>
                <a:srgbClr val="EB6834"/>
              </a:solidFill>
            </c:spPr>
          </c:dPt>
          <c:cat>
            <c:strRef>
              <c:f>Sheet1!$A$2:$A$4</c:f>
              <c:strCache>
                <c:ptCount val="3"/>
                <c:pt idx="0">
                  <c:v>Fixed-time</c:v>
                </c:pt>
                <c:pt idx="1">
                  <c:v>GA-SGD</c:v>
                </c:pt>
                <c:pt idx="2">
                  <c:v>GA-SGD +
light-bar priority</c:v>
                </c:pt>
              </c:strCache>
            </c:strRef>
          </c:cat>
          <c:val>
            <c:numRef>
              <c:f>Sheet1!$B$2:$B$4</c:f>
              <c:numCache>
                <c:formatCode>General</c:formatCode>
                <c:ptCount val="3"/>
                <c:pt idx="0">
                  <c:v>33719</c:v>
                </c:pt>
                <c:pt idx="1">
                  <c:v>22827</c:v>
                </c:pt>
                <c:pt idx="2">
                  <c:v>19887</c:v>
                </c:pt>
              </c:numCache>
            </c:numRef>
          </c:val>
        </c:ser>
        <c:dLbls>
          <c:numFmt formatCode="#,##0"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CE6"/>
            </a:solidFill>
          </a:ln>
        </c:spPr>
        <c:crossAx val="-2113994440"/>
        <c:crosses val="autoZero"/>
        <c:auto val="1"/>
        <c:lblAlgn val="ctr"/>
        <c:lblOffset val="100"/>
        <c:noMultiLvlLbl val="0"/>
      </c:catAx>
      <c:valAx>
        <c:axId val="-2113994440"/>
        <c:scaling>
          <c:max val="40000.0"/>
          <c:min val="0.0"/>
        </c:scaling>
        <c:delete val="0"/>
        <c:axPos val="l"/>
        <c:majorGridlines>
          <c:spPr>
            <a:ln>
              <a:solidFill>
                <a:srgbClr val="D5DCE6"/>
              </a:solidFill>
            </a:ln>
          </c:spPr>
        </c:majorGridlines>
        <c:numFmt formatCode="#,##0" sourceLinked="0"/>
        <c:majorTickMark val="out"/>
        <c:minorTickMark val="none"/>
        <c:tickLblPos val="nextTo"/>
        <c:spPr>
          <a:ln>
            <a:noFill/>
          </a:ln>
        </c:spPr>
        <c:crossAx val="-2068027336"/>
        <c:crosses val="autoZero"/>
      </c:valAx>
    </c:plotArea>
    <c:dispBlanksAs val="gap"/>
  </c:chart>
  <c:txPr>
    <a:bodyPr/>
    <a:lstStyle/>
    <a:p>
      <a:pPr>
        <a:defRPr sz="12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title. One sentence: FlowSense puts vehicle detection, queue forecasting, adaptive signal timing, emergency-vehicle priority and junction-to-junction coordination into one working system, and measures it against fixed-time and emergency-aware baselines.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This review is about why the problem matters and what is missing in current work; design details and measured results come in the later reviews.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points: the weakness of fixed-time and detect-only systems, the idea of one pipeline, and what is delivered. Everything runs locally on a CPU, without a GPU.</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citation. The paper adds a trained light-bar detector to an already optimised controller and shows, in SUMO, shorter ambulance trips and lower total waiting. It is validated on one modelled roundabout in simulation, which is the main limit we try to widen: several junctions, a forecast, coordination.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batch survey is the base paper plus four recent works; the ASTM paper is the companion reference. Figures are quoted only where they were read in the paper itself or, marked 'as reported in [1]', from the base paper's own related-work section. For the four survey titles only the title is available, so no results are quoted.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numbers are the published evidence that motivates the project, taken from the papers we read. They come from different simulators and datasets, so they are not combined or compared with each other. Our own measurements start in Review 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 most junctions run a fixed plan. Where adaptive or priority systems exist, detection, timing, emergency priority and coordination are separate pieces.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first four limitations are the batch problem statement; the last line is the base paper's own limitations section.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Gap 1 is the batch survey's own statement. Gaps 2, 3 and 5 come from the base paper's related-work and limitations sections. Gap 4 is our reading: the cost that pre-emption imposes on other traffic is seldom reported next to the ambulance gain.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statement slowly. The need is a vision-based controller that measures traffic, adapts timing and gives ambulances priority.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objectives from the proposal. Later reviews report which were met. We validate on our own simulator because SUMO was not used, and we say so; detection accuracy is reported on real public images as well as synthetic ones.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stages and the console that wraps them. The base-paper-style controller is our emulation of the paper's idea inside the simulator, not a re-implementation of its GA-SGD or its trained detector.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 diagram top to bottom: the console calls the API, the API calls the simulator, forecaster and vision module. There is no database.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outcomes we commit to. A first prototype run already shows the adaptive controllers well below fixed-time delay and ambulance delay cut sharply, but those results, and where they are weaker than hoped, are presented in Review 2 and the final review.</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Selected references; the complete numbered list, with notes on how each entry was checked, is in the project report.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a simulator instead of SUMO (self-contained, seeded, identical demand for every controller); why YOLOv8n and an HSV light-bar rule instead of a trained light-bar model (no light-bar dataset was trained; real-photo results are reported honestly); how the base paper differs (trained detector, GA-SGD, one roundabout).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FlowSense  ·  Review 1</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3400" b="1" dirty="0">
                <a:solidFill>
                  <a:srgbClr val="FFFFFF"/>
                </a:solidFill>
                <a:latin typeface="Cambria" pitchFamily="34" charset="0"/>
                <a:ea typeface="Cambria" pitchFamily="34" charset="-122"/>
                <a:cs typeface="Cambria" pitchFamily="34" charset="-120"/>
              </a:rPr>
              <a:t>AI-Based Smart Traffic Management</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Adaptive, emergency-aware and coordinated signal control with YOLOv8 vision and queue forecasting</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1  ·  PROBLEM IDENTIFICATION AND RESEARCH</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Buneti Harshitha  23K91A0548</a:t>
            </a:r>
            <a:endParaRPr lang="en-US" sz="1500" dirty="0"/>
          </a:p>
          <a:p>
            <a:pPr indent="0" marL="0">
              <a:buNone/>
            </a:pPr>
            <a:r>
              <a:rPr lang="en-US" sz="1500" dirty="0">
                <a:solidFill>
                  <a:srgbClr val="FFFFFF"/>
                </a:solidFill>
              </a:rPr>
              <a:t>Bhuvaneshwari Kadike  23K91A0537</a:t>
            </a:r>
            <a:endParaRPr lang="en-US" sz="1500" dirty="0"/>
          </a:p>
          <a:p>
            <a:pPr indent="0" marL="0">
              <a:buNone/>
            </a:pPr>
            <a:r>
              <a:rPr lang="en-US" sz="1500" dirty="0">
                <a:solidFill>
                  <a:srgbClr val="FFFFFF"/>
                </a:solidFill>
              </a:rPr>
              <a:t>Ambati Sai Nikhil Reddy  23K91A0510</a:t>
            </a:r>
            <a:endParaRPr lang="en-US" sz="1500" dirty="0"/>
          </a:p>
          <a:p>
            <a:pPr indent="0" marL="0">
              <a:buNone/>
            </a:pPr>
            <a:r>
              <a:rPr lang="en-US" sz="1500" dirty="0">
                <a:solidFill>
                  <a:srgbClr val="FFFFFF"/>
                </a:solidFill>
              </a:rPr>
              <a:t>Chapala Rohith Reddy  23K91A0551</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Laxmi Prasanna,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TKR College of Engineering &amp; Technology  ·  Batch A10 (CSE-A)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Abstract and overview</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Base paper</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Literature survey and evidence</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Existing system and limitations</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Research gap</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Problem statement and objectives</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Proposed approach and architecture</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Expected outcomes</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Abstract: see the traffic, adapt the signals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problem</a:t>
            </a:r>
          </a:p>
        </p:txBody>
      </p:sp>
      <p:sp>
        <p:nvSpPr>
          <p:cNvPr id="29" name="TextBox 28"/>
          <p:cNvSpPr txBox="1"/>
          <p:nvPr/>
        </p:nvSpPr>
        <p:spPr>
          <a:xfrm>
            <a:off x="749808" y="2240280"/>
            <a:ext cx="3118104" cy="3566160"/>
          </a:xfrm>
          <a:prstGeom prst="rect">
            <a:avLst/>
          </a:prstGeom>
          <a:noFill/>
        </p:spPr>
        <p:txBody>
          <a:bodyPr wrap="square" lIns="0" rIns="0" tIns="0" bIns="0" anchor="t">
            <a:spAutoFit/>
          </a:bodyPr>
          <a:lstStyle/>
          <a:p>
            <a:pPr algn="l">
              <a:spcAft>
                <a:spcPts val="400"/>
              </a:spcAft>
            </a:pPr>
            <a:r>
              <a:rPr sz="1800" b="0" i="0">
                <a:solidFill>
                  <a:srgbClr val="475569"/>
                </a:solidFill>
              </a:rPr>
              <a:t>Traffic congestion raises travel time, fuel use and delay for ambulances. Fixed-time signals cannot react to real traffic, and most systems either detect vehicles or adapt timing, rarely both together with emergency priority.</a:t>
            </a:r>
          </a:p>
        </p:txBody>
      </p:sp>
      <p:sp>
        <p:nvSpPr>
          <p:cNvPr id="30" name="Rounded Rectangle 29"/>
          <p:cNvSpPr/>
          <p:nvPr/>
        </p:nvSpPr>
        <p:spPr>
          <a:xfrm>
            <a:off x="4334255"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Our idea</a:t>
            </a:r>
          </a:p>
        </p:txBody>
      </p:sp>
      <p:sp>
        <p:nvSpPr>
          <p:cNvPr id="33" name="TextBox 32"/>
          <p:cNvSpPr txBox="1"/>
          <p:nvPr/>
        </p:nvSpPr>
        <p:spPr>
          <a:xfrm>
            <a:off x="4535423" y="2240280"/>
            <a:ext cx="3118104" cy="3566160"/>
          </a:xfrm>
          <a:prstGeom prst="rect">
            <a:avLst/>
          </a:prstGeom>
          <a:noFill/>
        </p:spPr>
        <p:txBody>
          <a:bodyPr wrap="square" lIns="0" rIns="0" tIns="0" bIns="0" anchor="t">
            <a:spAutoFit/>
          </a:bodyPr>
          <a:lstStyle/>
          <a:p>
            <a:pPr algn="l">
              <a:spcAft>
                <a:spcPts val="400"/>
              </a:spcAft>
            </a:pPr>
            <a:r>
              <a:rPr sz="1800" b="0" i="0">
                <a:solidFill>
                  <a:srgbClr val="475569"/>
                </a:solidFill>
              </a:rPr>
              <a:t>One pipeline: YOLOv8 vehicle detection and density, a machine-learning forecast of queues 30 s ahead, adaptive green times, emergency-vehicle priority, coordination between neighbouring junctions and a violation log.</a:t>
            </a:r>
          </a:p>
        </p:txBody>
      </p:sp>
      <p:sp>
        <p:nvSpPr>
          <p:cNvPr id="34" name="Rounded Rectangle 33"/>
          <p:cNvSpPr/>
          <p:nvPr/>
        </p:nvSpPr>
        <p:spPr>
          <a:xfrm>
            <a:off x="8119871" y="1371600"/>
            <a:ext cx="3520440" cy="4572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deliverable</a:t>
            </a:r>
          </a:p>
        </p:txBody>
      </p:sp>
      <p:sp>
        <p:nvSpPr>
          <p:cNvPr id="37" name="TextBox 36"/>
          <p:cNvSpPr txBox="1"/>
          <p:nvPr/>
        </p:nvSpPr>
        <p:spPr>
          <a:xfrm>
            <a:off x="8321040" y="2240280"/>
            <a:ext cx="3118104" cy="3566160"/>
          </a:xfrm>
          <a:prstGeom prst="rect">
            <a:avLst/>
          </a:prstGeom>
          <a:noFill/>
        </p:spPr>
        <p:txBody>
          <a:bodyPr wrap="square" lIns="0" rIns="0" tIns="0" bIns="0" anchor="t">
            <a:spAutoFit/>
          </a:bodyPr>
          <a:lstStyle/>
          <a:p>
            <a:pPr algn="l">
              <a:spcAft>
                <a:spcPts val="400"/>
              </a:spcAft>
            </a:pPr>
            <a:r>
              <a:rPr sz="1800" b="0" i="0">
                <a:solidFill>
                  <a:srgbClr val="475569"/>
                </a:solidFill>
              </a:rPr>
              <a:t>FlowSense: a simulator with four controllers on identical traffic, a vision module, a queue forecaster and a FastAPI + React control console, with delay and ambulance clearance time measured.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Base paper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
        <p:nvSpPr>
          <p:cNvPr id="26" name="Rounded Rectangle 25"/>
          <p:cNvSpPr/>
          <p:nvPr/>
        </p:nvSpPr>
        <p:spPr>
          <a:xfrm>
            <a:off x="548640" y="1280160"/>
            <a:ext cx="11091672" cy="1005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9808" y="1353312"/>
            <a:ext cx="10698480" cy="868680"/>
          </a:xfrm>
          <a:prstGeom prst="rect">
            <a:avLst/>
          </a:prstGeom>
          <a:noFill/>
        </p:spPr>
        <p:txBody>
          <a:bodyPr wrap="square" lIns="0" rIns="0" tIns="0" bIns="0" anchor="ctr">
            <a:spAutoFit/>
          </a:bodyPr>
          <a:lstStyle/>
          <a:p>
            <a:pPr algn="l">
              <a:spcAft>
                <a:spcPts val="400"/>
              </a:spcAft>
            </a:pPr>
            <a:r>
              <a:rPr sz="1300" b="0" i="0">
                <a:solidFill>
                  <a:srgbClr val="0F172A"/>
                </a:solidFill>
              </a:rPr>
              <a:t>M. Lamrabet, M. Alami Chentoufi and R. Ellaia, "Emergency-aware adaptive traffic signal control using YOLO-based light-bar detection and SUMO system-level validation," IEEE Access, vol. 14, pp. 104922-104933, 2026, doi: 10.1109/ACCESS.2026.3710015.</a:t>
            </a:r>
          </a:p>
        </p:txBody>
      </p:sp>
      <p:sp>
        <p:nvSpPr>
          <p:cNvPr id="28" name="Rounded Rectangle 27"/>
          <p:cNvSpPr/>
          <p:nvPr/>
        </p:nvSpPr>
        <p:spPr>
          <a:xfrm>
            <a:off x="548640"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49808" y="2697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M</a:t>
            </a:r>
          </a:p>
        </p:txBody>
      </p:sp>
      <p:sp>
        <p:nvSpPr>
          <p:cNvPr id="30" name="TextBox 29"/>
          <p:cNvSpPr txBox="1"/>
          <p:nvPr/>
        </p:nvSpPr>
        <p:spPr>
          <a:xfrm>
            <a:off x="1389888"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Method</a:t>
            </a:r>
          </a:p>
        </p:txBody>
      </p:sp>
      <p:sp>
        <p:nvSpPr>
          <p:cNvPr id="31" name="TextBox 30"/>
          <p:cNvSpPr txBox="1"/>
          <p:nvPr/>
        </p:nvSpPr>
        <p:spPr>
          <a:xfrm>
            <a:off x="749808" y="3383280"/>
            <a:ext cx="3118104" cy="2651760"/>
          </a:xfrm>
          <a:prstGeom prst="rect">
            <a:avLst/>
          </a:prstGeom>
          <a:noFill/>
        </p:spPr>
        <p:txBody>
          <a:bodyPr wrap="square" lIns="0" rIns="0" tIns="0" bIns="0" anchor="t">
            <a:spAutoFit/>
          </a:bodyPr>
          <a:lstStyle/>
          <a:p>
            <a:pPr algn="l">
              <a:spcAft>
                <a:spcPts val="400"/>
              </a:spcAft>
            </a:pPr>
            <a:r>
              <a:rPr sz="1500" b="0" i="0">
                <a:solidFill>
                  <a:srgbClr val="475569"/>
                </a:solidFill>
              </a:rPr>
              <a:t>A YOLO26m detector, trained on 3,130 annotated images, finds the roof-mounted siren / light-bar (single class). A priority arbitrator (confidence 0.5, 3 consecutive frames) overrides a GA-SGD optimised signal plan and restores it after the vehicle passes.</a:t>
            </a:r>
          </a:p>
        </p:txBody>
      </p:sp>
      <p:sp>
        <p:nvSpPr>
          <p:cNvPr id="32" name="Rounded Rectangle 31"/>
          <p:cNvSpPr/>
          <p:nvPr/>
        </p:nvSpPr>
        <p:spPr>
          <a:xfrm>
            <a:off x="4334255"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4535423" y="2697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R</a:t>
            </a:r>
          </a:p>
        </p:txBody>
      </p:sp>
      <p:sp>
        <p:nvSpPr>
          <p:cNvPr id="34" name="TextBox 33"/>
          <p:cNvSpPr txBox="1"/>
          <p:nvPr/>
        </p:nvSpPr>
        <p:spPr>
          <a:xfrm>
            <a:off x="5175503"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Reported results</a:t>
            </a:r>
          </a:p>
        </p:txBody>
      </p:sp>
      <p:sp>
        <p:nvSpPr>
          <p:cNvPr id="35" name="TextBox 34"/>
          <p:cNvSpPr txBox="1"/>
          <p:nvPr/>
        </p:nvSpPr>
        <p:spPr>
          <a:xfrm>
            <a:off x="4535423" y="3383280"/>
            <a:ext cx="3118104" cy="2651760"/>
          </a:xfrm>
          <a:prstGeom prst="rect">
            <a:avLst/>
          </a:prstGeom>
          <a:noFill/>
        </p:spPr>
        <p:txBody>
          <a:bodyPr wrap="square" lIns="0" rIns="0" tIns="0" bIns="0" anchor="t">
            <a:spAutoFit/>
          </a:bodyPr>
          <a:lstStyle/>
          <a:p>
            <a:pPr algn="l">
              <a:spcAft>
                <a:spcPts val="400"/>
              </a:spcAft>
            </a:pPr>
            <a:r>
              <a:rPr sz="1500" b="0" i="0">
                <a:solidFill>
                  <a:srgbClr val="475569"/>
                </a:solidFill>
              </a:rPr>
              <a:t>Detector: precision 0.73, recall 0.69, mAP50 0.73, 11.45-13.89 ms per frame on a T4. SUMO, one Rabat roundabout: ambulance travel 56 s vs 70 s (GA-SGD) and 64 s (fixed-time); total waiting 19,887 s vs 22,827 s and 33,719 s.</a:t>
            </a:r>
          </a:p>
        </p:txBody>
      </p:sp>
      <p:sp>
        <p:nvSpPr>
          <p:cNvPr id="36" name="Rounded Rectangle 35"/>
          <p:cNvSpPr/>
          <p:nvPr/>
        </p:nvSpPr>
        <p:spPr>
          <a:xfrm>
            <a:off x="8119871"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8321040" y="2697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L</a:t>
            </a:r>
          </a:p>
        </p:txBody>
      </p:sp>
      <p:sp>
        <p:nvSpPr>
          <p:cNvPr id="38" name="TextBox 37"/>
          <p:cNvSpPr txBox="1"/>
          <p:nvPr/>
        </p:nvSpPr>
        <p:spPr>
          <a:xfrm>
            <a:off x="8961119"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Relevance and limits</a:t>
            </a:r>
          </a:p>
        </p:txBody>
      </p:sp>
      <p:sp>
        <p:nvSpPr>
          <p:cNvPr id="39" name="TextBox 38"/>
          <p:cNvSpPr txBox="1"/>
          <p:nvPr/>
        </p:nvSpPr>
        <p:spPr>
          <a:xfrm>
            <a:off x="8321040" y="3383280"/>
            <a:ext cx="3118104" cy="2651760"/>
          </a:xfrm>
          <a:prstGeom prst="rect">
            <a:avLst/>
          </a:prstGeom>
          <a:noFill/>
        </p:spPr>
        <p:txBody>
          <a:bodyPr wrap="square" lIns="0" rIns="0" tIns="0" bIns="0" anchor="t">
            <a:spAutoFit/>
          </a:bodyPr>
          <a:lstStyle/>
          <a:p>
            <a:pPr algn="l">
              <a:spcAft>
                <a:spcPts val="400"/>
              </a:spcAft>
            </a:pPr>
            <a:r>
              <a:rPr sz="1500" b="0" i="0">
                <a:solidFill>
                  <a:srgbClr val="475569"/>
                </a:solidFill>
              </a:rPr>
              <a:t>Same core idea: detect the emergency cue and adapt the signal. The paper itself lists a moderate dataset, simulation-only validation, a single roundabout and no flashing-state check. FlowSense adds forecasting and junction coordination.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Literature survey</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graphicFrame>
        <p:nvGraphicFramePr>
          <p:cNvPr id="26" name="Table 25"/>
          <p:cNvGraphicFramePr>
            <a:graphicFrameLocks noGrp="1"/>
          </p:cNvGraphicFramePr>
          <p:nvPr/>
        </p:nvGraphicFramePr>
        <p:xfrm>
          <a:off x="548640" y="1143000"/>
          <a:ext cx="11091671" cy="5029200"/>
        </p:xfrm>
        <a:graphic>
          <a:graphicData uri="http://schemas.openxmlformats.org/drawingml/2006/table">
            <a:tbl>
              <a:tblPr firstRow="0" bandRow="0">
                <a:tableStyleId>{5C22544A-7EE6-4342-B048-85BDC9FD1C3A}</a:tableStyleId>
              </a:tblPr>
              <a:tblGrid>
                <a:gridCol w="2286000"/>
                <a:gridCol w="594360"/>
                <a:gridCol w="4160520"/>
                <a:gridCol w="4050791"/>
              </a:tblGrid>
              <a:tr h="457200">
                <a:tc>
                  <a:txBody>
                    <a:bodyPr wrap="square"/>
                    <a:lstStyle/>
                    <a:p>
                      <a:pPr algn="ctr"/>
                      <a:r>
                        <a:rPr sz="1100" b="1">
                          <a:solidFill>
                            <a:srgbClr val="FFFFFF"/>
                          </a:solidFill>
                        </a:rPr>
                        <a:t>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00" b="1">
                          <a:solidFill>
                            <a:srgbClr val="FFFFFF"/>
                          </a:solidFill>
                        </a:rPr>
                        <a:t>Year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00" b="1">
                          <a:solidFill>
                            <a:srgbClr val="FFFFFF"/>
                          </a:solidFill>
                        </a:rPr>
                        <a:t>Approach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00" b="1">
                          <a:solidFill>
                            <a:srgbClr val="FFFFFF"/>
                          </a:solidFill>
                        </a:rPr>
                        <a:t>Reported result / limitation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457200">
                <a:tc>
                  <a:txBody>
                    <a:bodyPr wrap="square"/>
                    <a:lstStyle/>
                    <a:p>
                      <a:pPr algn="l"/>
                      <a:r>
                        <a:rPr sz="1000" b="0">
                          <a:solidFill>
                            <a:srgbClr val="0F172A"/>
                          </a:solidFill>
                        </a:rPr>
                        <a:t>Lamrabet et al. [1] (base)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00" b="0">
                          <a:solidFill>
                            <a:srgbClr val="0F172A"/>
                          </a:solidFill>
                        </a:rPr>
                        <a:t>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Trained YOLO26m roof light-bar detector as a priority layer over a GA-SGD controller; SUMO roundabout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P 0.73, R 0.69, mAP50 0.73; ambulance trip 56 s vs 70 s (GA-SGD), 64 s (fixed); one roundabout, simulation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000" b="0">
                          <a:solidFill>
                            <a:srgbClr val="0F172A"/>
                          </a:solidFill>
                        </a:rPr>
                        <a:t>Goenawan (ASTM) [6]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000" b="0">
                          <a:solidFill>
                            <a:srgbClr val="0F172A"/>
                          </a:solidFill>
                        </a:rPr>
                        <a:t>2024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YOLOv5 vehicle detection + RNN-LSTM 12-hour count forecast + cycle-length analysis (CARLA)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Forecast MSE 4.521 / RMSE 2.232 vehicles; 21 vs about 15 vehicles/min, 5 s vs about 12 s delay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000" b="0">
                          <a:solidFill>
                            <a:srgbClr val="0F172A"/>
                          </a:solidFill>
                        </a:rPr>
                        <a:t>Gupta et al. [7]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00" b="0">
                          <a:solidFill>
                            <a:srgbClr val="0F172A"/>
                          </a:solidFill>
                        </a:rPr>
                        <a:t>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Neighbour-embedded graph neural network predicts traffic flow at delivery stations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L1 loss -4.03 %, L2 loss -16.66 %; crowd-delivery focus, no signal control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000" b="0">
                          <a:solidFill>
                            <a:srgbClr val="0F172A"/>
                          </a:solidFill>
                        </a:rPr>
                        <a:t>Lamrabet et al. [8]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000" b="0">
                          <a:solidFill>
                            <a:srgbClr val="0F172A"/>
                          </a:solidFill>
                        </a:rPr>
                        <a:t>2025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Hybrid GA-SGD optimisation of signal timing, Moroccan case study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Per the base paper: no emergency-vehicle detection or priority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000" b="0">
                          <a:solidFill>
                            <a:srgbClr val="0F172A"/>
                          </a:solidFill>
                        </a:rPr>
                        <a:t>Sasikala et al. [9]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00" b="0">
                          <a:solidFill>
                            <a:srgbClr val="0F172A"/>
                          </a:solidFill>
                        </a:rPr>
                        <a:t>2025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IoT, GPS and RFID emergency prioritisation with dynamic signal control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35 % shorter ambulance response (as reported in [1]); needs dedicated infrastructure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000" b="0">
                          <a:solidFill>
                            <a:srgbClr val="0F172A"/>
                          </a:solidFill>
                        </a:rPr>
                        <a:t>Zlatkovic et al. [10]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000" b="0">
                          <a:solidFill>
                            <a:srgbClr val="0F172A"/>
                          </a:solidFill>
                        </a:rPr>
                        <a:t>2023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Pre-emption concepts for connected-vehicle environments (VISSIM)</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Up to 36 % emergency delay reduction (as reported in [1]); needs connected vehicles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000" b="0">
                          <a:solidFill>
                            <a:srgbClr val="0F172A"/>
                          </a:solidFill>
                        </a:rPr>
                        <a:t>Jayakumar et al. [14]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00" b="0">
                          <a:solidFill>
                            <a:srgbClr val="0F172A"/>
                          </a:solidFill>
                        </a:rPr>
                        <a:t>2024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Siren recognition from temporal and spectral audio features, SVM and ensembles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99.5 % accuracy (as reported in [1]); audio has no spatial localisation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000" b="0">
                          <a:solidFill>
                            <a:srgbClr val="0F172A"/>
                          </a:solidFill>
                        </a:rPr>
                        <a:t>Suhana; Satyanarayana; Sharma [18], [19], [20]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000" b="0">
                          <a:solidFill>
                            <a:srgbClr val="0F172A"/>
                          </a:solidFill>
                        </a:rPr>
                        <a:t>2025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YOLOv5 / YOLOv8 recognise ambulances, fire trucks and police cars from CCTV</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Rely on vehicle appearance, which varies by region and fleet [1]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000" b="0">
                          <a:solidFill>
                            <a:srgbClr val="0F172A"/>
                          </a:solidFill>
                        </a:rPr>
                        <a:t>Signal-IQ [2]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000" b="0">
                          <a:solidFill>
                            <a:srgbClr val="0F172A"/>
                          </a:solidFill>
                        </a:rPr>
                        <a:t>2026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Low-cost adaptive control with YOLOv8 vehicle and emergency-vehicle detection (title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00" b="0">
                          <a:solidFill>
                            <a:srgbClr val="0F172A"/>
                          </a:solidFill>
                        </a:rPr>
                        <a:t>Hardware-validated per its title; authors and results not verified here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000" b="0">
                          <a:solidFill>
                            <a:srgbClr val="0F172A"/>
                          </a:solidFill>
                        </a:rPr>
                        <a:t>Batch survey [3]-[5]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000" b="0">
                          <a:solidFill>
                            <a:srgbClr val="0F172A"/>
                          </a:solidFill>
                        </a:rPr>
                        <a:t>2024-25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Density-based adaptive control; accelerated emergency detection; client-server dynamic control (titles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00" b="0">
                          <a:solidFill>
                            <a:srgbClr val="0F172A"/>
                          </a:solidFill>
                        </a:rPr>
                        <a:t>Full texts not accessed; no figures quoted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Supporting evidence: adaptive and priority control pay off</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graphicFrame>
        <p:nvGraphicFramePr>
          <p:cNvPr id="26" name="Chart 25"/>
          <p:cNvGraphicFramePr>
            <a:graphicFrameLocks noGrp="1"/>
          </p:cNvGraphicFramePr>
          <p:nvPr/>
        </p:nvGraphicFramePr>
        <p:xfrm>
          <a:off x="548640" y="1280160"/>
          <a:ext cx="5577840" cy="4480560"/>
        </p:xfrm>
        <a:graphic>
          <a:graphicData uri="http://schemas.openxmlformats.org/drawingml/2006/chart">
            <c:chart xmlns:c="http://schemas.openxmlformats.org/drawingml/2006/chart" r:id="rId3"/>
          </a:graphicData>
        </a:graphic>
      </p:graphicFrame>
      <p:sp>
        <p:nvSpPr>
          <p:cNvPr id="27" name="TextBox 26"/>
          <p:cNvSpPr txBox="1"/>
          <p:nvPr/>
        </p:nvSpPr>
        <p:spPr>
          <a:xfrm>
            <a:off x="548640" y="5806440"/>
            <a:ext cx="5577840" cy="548640"/>
          </a:xfrm>
          <a:prstGeom prst="rect">
            <a:avLst/>
          </a:prstGeom>
          <a:noFill/>
        </p:spPr>
        <p:txBody>
          <a:bodyPr wrap="square" lIns="0" rIns="0" tIns="0" bIns="0" anchor="t">
            <a:spAutoFit/>
          </a:bodyPr>
          <a:lstStyle/>
          <a:p>
            <a:pPr algn="l">
              <a:spcAft>
                <a:spcPts val="400"/>
              </a:spcAft>
            </a:pPr>
            <a:r>
              <a:rPr sz="1200" b="0" i="1">
                <a:solidFill>
                  <a:srgbClr val="475569"/>
                </a:solidFill>
              </a:rPr>
              <a:t>Base paper [1]: SUMO, modelled Souissi roundabout, selected scenario (demand scale 12).</a:t>
            </a:r>
          </a:p>
        </p:txBody>
      </p:sp>
      <p:sp>
        <p:nvSpPr>
          <p:cNvPr id="28" name="TextBox 27"/>
          <p:cNvSpPr txBox="1"/>
          <p:nvPr/>
        </p:nvSpPr>
        <p:spPr>
          <a:xfrm>
            <a:off x="6400800" y="1325880"/>
            <a:ext cx="5257800" cy="4572000"/>
          </a:xfrm>
          <a:prstGeom prst="rect">
            <a:avLst/>
          </a:prstGeom>
          <a:noFill/>
        </p:spPr>
        <p:txBody>
          <a:bodyPr wrap="square" lIns="0" rIns="0" tIns="0" bIns="0" anchor="t">
            <a:spAutoFit/>
          </a:bodyPr>
          <a:lstStyle/>
          <a:p>
            <a:pPr algn="l">
              <a:spcAft>
                <a:spcPts val="800"/>
              </a:spcAft>
            </a:pPr>
            <a:r>
              <a:rPr sz="1500" b="1" i="0">
                <a:solidFill>
                  <a:srgbClr val="0F172A"/>
                </a:solidFill>
              </a:rPr>
              <a:t>What the literature shows</a:t>
            </a:r>
          </a:p>
          <a:p>
            <a:pPr algn="l" marL="256032" indent="-201168">
              <a:spcAft>
                <a:spcPts val="800"/>
              </a:spcAft>
              <a:buChar char="•"/>
            </a:pPr>
            <a:r>
              <a:rPr sz="1500" b="0" i="0">
                <a:solidFill>
                  <a:srgbClr val="0F172A"/>
                </a:solidFill>
              </a:rPr>
              <a:t>Adaptive control cuts waiting: 41.0 % lower total waiting than fixed-time in the base paper's scenario [1].</a:t>
            </a:r>
          </a:p>
          <a:p>
            <a:pPr algn="l" marL="256032" indent="-201168">
              <a:spcAft>
                <a:spcPts val="800"/>
              </a:spcAft>
              <a:buChar char="•"/>
            </a:pPr>
            <a:r>
              <a:rPr sz="1500" b="0" i="0">
                <a:solidFill>
                  <a:srgbClr val="0F172A"/>
                </a:solidFill>
              </a:rPr>
              <a:t>A forecast plus cycle-length control raised throughput from about 15 to 21 vehicles/min in CARLA [6].</a:t>
            </a:r>
          </a:p>
          <a:p>
            <a:pPr algn="l" marL="256032" indent="-201168">
              <a:spcAft>
                <a:spcPts val="800"/>
              </a:spcAft>
              <a:buChar char="•"/>
            </a:pPr>
            <a:r>
              <a:rPr sz="1500" b="0" i="0">
                <a:solidFill>
                  <a:srgbClr val="0F172A"/>
                </a:solidFill>
              </a:rPr>
              <a:t>Pre-emption reduces ambulance delay: 20.0 % shorter travel than GA-SGD in the base paper [1]; up to 36 % in a VISSIM study reported there.</a:t>
            </a:r>
          </a:p>
          <a:p>
            <a:pPr algn="l" marL="256032" indent="-201168">
              <a:spcAft>
                <a:spcPts val="400"/>
              </a:spcAft>
              <a:buChar char="•"/>
            </a:pPr>
            <a:r>
              <a:rPr sz="1500" b="0" i="0">
                <a:solidFill>
                  <a:srgbClr val="0F172A"/>
                </a:solidFill>
              </a:rPr>
              <a:t>Reported detector quality is moderate for small light-bars: mAP50 0.73 [1].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Existing system and current approaches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
        <p:nvSpPr>
          <p:cNvPr id="26" name="Rounded Rectangle 25"/>
          <p:cNvSpPr/>
          <p:nvPr/>
        </p:nvSpPr>
        <p:spPr>
          <a:xfrm>
            <a:off x="548640"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rPr>
              <a:t>Cameras / loop sensors</a:t>
            </a:r>
          </a:p>
        </p:txBody>
      </p:sp>
      <p:sp>
        <p:nvSpPr>
          <p:cNvPr id="27" name="Right Arrow 26"/>
          <p:cNvSpPr/>
          <p:nvPr/>
        </p:nvSpPr>
        <p:spPr>
          <a:xfrm>
            <a:off x="3106674"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435858"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rPr>
              <a:t>Fixed-time or manual plan</a:t>
            </a:r>
          </a:p>
        </p:txBody>
      </p:sp>
      <p:sp>
        <p:nvSpPr>
          <p:cNvPr id="29" name="Right Arrow 28"/>
          <p:cNvSpPr/>
          <p:nvPr/>
        </p:nvSpPr>
        <p:spPr>
          <a:xfrm>
            <a:off x="5993892"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23076"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rPr>
              <a:t>Signal phase per junction</a:t>
            </a:r>
          </a:p>
        </p:txBody>
      </p:sp>
      <p:sp>
        <p:nvSpPr>
          <p:cNvPr id="31" name="Right Arrow 30"/>
          <p:cNvSpPr/>
          <p:nvPr/>
        </p:nvSpPr>
        <p:spPr>
          <a:xfrm>
            <a:off x="8881110" y="17556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10294" y="137160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rPr>
              <a:t>Each junction in isolation</a:t>
            </a:r>
          </a:p>
        </p:txBody>
      </p:sp>
      <p:sp>
        <p:nvSpPr>
          <p:cNvPr id="33" name="Rounded Rectangle 32"/>
          <p:cNvSpPr/>
          <p:nvPr/>
        </p:nvSpPr>
        <p:spPr>
          <a:xfrm>
            <a:off x="548640" y="2697480"/>
            <a:ext cx="5440680" cy="3474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749808" y="28803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35" name="TextBox 34"/>
          <p:cNvSpPr txBox="1"/>
          <p:nvPr/>
        </p:nvSpPr>
        <p:spPr>
          <a:xfrm>
            <a:off x="1389888" y="2852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Fixed-time and manual control</a:t>
            </a:r>
          </a:p>
        </p:txBody>
      </p:sp>
      <p:sp>
        <p:nvSpPr>
          <p:cNvPr id="36" name="TextBox 35"/>
          <p:cNvSpPr txBox="1"/>
          <p:nvPr/>
        </p:nvSpPr>
        <p:spPr>
          <a:xfrm>
            <a:off x="749808" y="3566160"/>
            <a:ext cx="5038344" cy="2468879"/>
          </a:xfrm>
          <a:prstGeom prst="rect">
            <a:avLst/>
          </a:prstGeom>
          <a:noFill/>
        </p:spPr>
        <p:txBody>
          <a:bodyPr wrap="square" lIns="0" rIns="0" tIns="0" bIns="0" anchor="t">
            <a:spAutoFit/>
          </a:bodyPr>
          <a:lstStyle/>
          <a:p>
            <a:pPr algn="l">
              <a:spcAft>
                <a:spcPts val="400"/>
              </a:spcAft>
            </a:pPr>
            <a:r>
              <a:rPr sz="1800" b="0" i="0">
                <a:solidFill>
                  <a:srgbClr val="475569"/>
                </a:solidFill>
              </a:rPr>
              <a:t>A fixed cycle gives the same green to an empty approach and a full one.
Manual control by police or operators does not scale to a city of junctions.
An ambulance waits in the queue like any other vehicle.</a:t>
            </a:r>
          </a:p>
        </p:txBody>
      </p:sp>
      <p:sp>
        <p:nvSpPr>
          <p:cNvPr id="37" name="Rounded Rectangle 36"/>
          <p:cNvSpPr/>
          <p:nvPr/>
        </p:nvSpPr>
        <p:spPr>
          <a:xfrm>
            <a:off x="6199632" y="2697480"/>
            <a:ext cx="5440680" cy="3474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6400800" y="28803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9" name="TextBox 38"/>
          <p:cNvSpPr txBox="1"/>
          <p:nvPr/>
        </p:nvSpPr>
        <p:spPr>
          <a:xfrm>
            <a:off x="7040880" y="2852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Adaptive and priority systems</a:t>
            </a:r>
          </a:p>
        </p:txBody>
      </p:sp>
      <p:sp>
        <p:nvSpPr>
          <p:cNvPr id="40" name="TextBox 39"/>
          <p:cNvSpPr txBox="1"/>
          <p:nvPr/>
        </p:nvSpPr>
        <p:spPr>
          <a:xfrm>
            <a:off x="6400800" y="3566160"/>
            <a:ext cx="5038344" cy="2468879"/>
          </a:xfrm>
          <a:prstGeom prst="rect">
            <a:avLst/>
          </a:prstGeom>
          <a:noFill/>
        </p:spPr>
        <p:txBody>
          <a:bodyPr wrap="square" lIns="0" rIns="0" tIns="0" bIns="0" anchor="t">
            <a:spAutoFit/>
          </a:bodyPr>
          <a:lstStyle/>
          <a:p>
            <a:pPr algn="l">
              <a:spcAft>
                <a:spcPts val="400"/>
              </a:spcAft>
            </a:pPr>
            <a:r>
              <a:rPr sz="1800" b="0" i="0">
                <a:solidFill>
                  <a:srgbClr val="475569"/>
                </a:solidFill>
              </a:rPr>
              <a:t>Adaptive timing or vehicle detection is built separately from emergency priority.
Priority uses IoT / GPS hardware, audio sirens, vehicle class or a light-bar detector.
Neighbouring junctions rarely share what they see.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Limitations of existing methods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
        <p:nvSpPr>
          <p:cNvPr id="26" name="Rounded Rectangle 25"/>
          <p:cNvSpPr/>
          <p:nvPr/>
        </p:nvSpPr>
        <p:spPr>
          <a:xfrm>
            <a:off x="548640" y="132588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Wasted green time</a:t>
            </a:r>
          </a:p>
        </p:txBody>
      </p:sp>
      <p:sp>
        <p:nvSpPr>
          <p:cNvPr id="29" name="TextBox 28"/>
          <p:cNvSpPr txBox="1"/>
          <p:nvPr/>
        </p:nvSpPr>
        <p:spPr>
          <a:xfrm>
            <a:off x="749808" y="2194560"/>
            <a:ext cx="5038344" cy="960119"/>
          </a:xfrm>
          <a:prstGeom prst="rect">
            <a:avLst/>
          </a:prstGeom>
          <a:noFill/>
        </p:spPr>
        <p:txBody>
          <a:bodyPr wrap="square" lIns="0" rIns="0" tIns="0" bIns="0" anchor="t">
            <a:spAutoFit/>
          </a:bodyPr>
          <a:lstStyle/>
          <a:p>
            <a:pPr algn="l">
              <a:spcAft>
                <a:spcPts val="400"/>
              </a:spcAft>
            </a:pPr>
            <a:r>
              <a:rPr sz="1600" b="0" i="0">
                <a:solidFill>
                  <a:srgbClr val="475569"/>
                </a:solidFill>
              </a:rPr>
              <a:t>Fixed timings keep green on empty approaches while queues grow elsewhere, raising delay, fuel use and emissions.</a:t>
            </a:r>
          </a:p>
        </p:txBody>
      </p:sp>
      <p:sp>
        <p:nvSpPr>
          <p:cNvPr id="30" name="Rounded Rectangle 29"/>
          <p:cNvSpPr/>
          <p:nvPr/>
        </p:nvSpPr>
        <p:spPr>
          <a:xfrm>
            <a:off x="6199631" y="132588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400799"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7040879" y="14813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Does not scale</a:t>
            </a:r>
          </a:p>
        </p:txBody>
      </p:sp>
      <p:sp>
        <p:nvSpPr>
          <p:cNvPr id="33" name="TextBox 32"/>
          <p:cNvSpPr txBox="1"/>
          <p:nvPr/>
        </p:nvSpPr>
        <p:spPr>
          <a:xfrm>
            <a:off x="6400799" y="2194560"/>
            <a:ext cx="5038344" cy="960119"/>
          </a:xfrm>
          <a:prstGeom prst="rect">
            <a:avLst/>
          </a:prstGeom>
          <a:noFill/>
        </p:spPr>
        <p:txBody>
          <a:bodyPr wrap="square" lIns="0" rIns="0" tIns="0" bIns="0" anchor="t">
            <a:spAutoFit/>
          </a:bodyPr>
          <a:lstStyle/>
          <a:p>
            <a:pPr algn="l">
              <a:spcAft>
                <a:spcPts val="400"/>
              </a:spcAft>
            </a:pPr>
            <a:r>
              <a:rPr sz="1600" b="0" i="0">
                <a:solidFill>
                  <a:srgbClr val="475569"/>
                </a:solidFill>
              </a:rPr>
              <a:t>Manual control and hand-tuned plans cannot follow demand across many junctions through the day.</a:t>
            </a:r>
          </a:p>
        </p:txBody>
      </p:sp>
      <p:sp>
        <p:nvSpPr>
          <p:cNvPr id="34" name="Rounded Rectangle 33"/>
          <p:cNvSpPr/>
          <p:nvPr/>
        </p:nvSpPr>
        <p:spPr>
          <a:xfrm>
            <a:off x="548640" y="347472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749808" y="365760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1389888" y="363016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Emergency delay</a:t>
            </a:r>
          </a:p>
        </p:txBody>
      </p:sp>
      <p:sp>
        <p:nvSpPr>
          <p:cNvPr id="37" name="TextBox 36"/>
          <p:cNvSpPr txBox="1"/>
          <p:nvPr/>
        </p:nvSpPr>
        <p:spPr>
          <a:xfrm>
            <a:off x="749808" y="4343400"/>
            <a:ext cx="5038344" cy="960119"/>
          </a:xfrm>
          <a:prstGeom prst="rect">
            <a:avLst/>
          </a:prstGeom>
          <a:noFill/>
        </p:spPr>
        <p:txBody>
          <a:bodyPr wrap="square" lIns="0" rIns="0" tIns="0" bIns="0" anchor="t">
            <a:spAutoFit/>
          </a:bodyPr>
          <a:lstStyle/>
          <a:p>
            <a:pPr algn="l">
              <a:spcAft>
                <a:spcPts val="400"/>
              </a:spcAft>
            </a:pPr>
            <a:r>
              <a:rPr sz="1600" b="0" i="0">
                <a:solidFill>
                  <a:srgbClr val="475569"/>
                </a:solidFill>
              </a:rPr>
              <a:t>Without a priority mechanism, ambulances wait in the queue; IoT and acoustic fixes need extra infrastructure or lose spatial precision.</a:t>
            </a:r>
          </a:p>
        </p:txBody>
      </p:sp>
      <p:sp>
        <p:nvSpPr>
          <p:cNvPr id="38" name="Rounded Rectangle 37"/>
          <p:cNvSpPr/>
          <p:nvPr/>
        </p:nvSpPr>
        <p:spPr>
          <a:xfrm>
            <a:off x="6199631" y="3474720"/>
            <a:ext cx="5440680" cy="1965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6400799" y="365760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7040879" y="363016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No coordination</a:t>
            </a:r>
          </a:p>
        </p:txBody>
      </p:sp>
      <p:sp>
        <p:nvSpPr>
          <p:cNvPr id="41" name="TextBox 40"/>
          <p:cNvSpPr txBox="1"/>
          <p:nvPr/>
        </p:nvSpPr>
        <p:spPr>
          <a:xfrm>
            <a:off x="6400799" y="4343400"/>
            <a:ext cx="5038344" cy="960119"/>
          </a:xfrm>
          <a:prstGeom prst="rect">
            <a:avLst/>
          </a:prstGeom>
          <a:noFill/>
        </p:spPr>
        <p:txBody>
          <a:bodyPr wrap="square" lIns="0" rIns="0" tIns="0" bIns="0" anchor="t">
            <a:spAutoFit/>
          </a:bodyPr>
          <a:lstStyle/>
          <a:p>
            <a:pPr algn="l">
              <a:spcAft>
                <a:spcPts val="400"/>
              </a:spcAft>
            </a:pPr>
            <a:r>
              <a:rPr sz="1600" b="0" i="0">
                <a:solidFill>
                  <a:srgbClr val="475569"/>
                </a:solidFill>
              </a:rPr>
              <a:t>Junctions act independently, so clearing one moves the queue to the next; no forecast anticipates the build-up.</a:t>
            </a:r>
          </a:p>
        </p:txBody>
      </p:sp>
      <p:sp>
        <p:nvSpPr>
          <p:cNvPr id="42" name="Rounded Rectangle 41"/>
          <p:cNvSpPr/>
          <p:nvPr/>
        </p:nvSpPr>
        <p:spPr>
          <a:xfrm>
            <a:off x="548640" y="5715000"/>
            <a:ext cx="11091672" cy="6858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77240" y="5715000"/>
            <a:ext cx="10698480" cy="685800"/>
          </a:xfrm>
          <a:prstGeom prst="rect">
            <a:avLst/>
          </a:prstGeom>
          <a:noFill/>
        </p:spPr>
        <p:txBody>
          <a:bodyPr wrap="square" lIns="0" rIns="0" tIns="0" bIns="0" anchor="ctr">
            <a:spAutoFit/>
          </a:bodyPr>
          <a:lstStyle/>
          <a:p>
            <a:pPr algn="l">
              <a:spcAft>
                <a:spcPts val="400"/>
              </a:spcAft>
            </a:pPr>
            <a:r>
              <a:rPr sz="1400" b="0" i="0">
                <a:solidFill>
                  <a:srgbClr val="0F172A"/>
                </a:solidFill>
              </a:rPr>
              <a:t>The base paper adds: moderate dataset size, light-bar presence only (not flashing state), one roundabout, simulation-only validation [1].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Research gap</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
        <p:nvSpPr>
          <p:cNvPr id="26" name="Oval 25"/>
          <p:cNvSpPr/>
          <p:nvPr/>
        </p:nvSpPr>
        <p:spPr>
          <a:xfrm>
            <a:off x="548640" y="1280160"/>
            <a:ext cx="566928" cy="566928"/>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1</a:t>
            </a:r>
          </a:p>
        </p:txBody>
      </p:sp>
      <p:sp>
        <p:nvSpPr>
          <p:cNvPr id="27" name="TextBox 26"/>
          <p:cNvSpPr txBox="1"/>
          <p:nvPr/>
        </p:nvSpPr>
        <p:spPr>
          <a:xfrm>
            <a:off x="1417320" y="1188720"/>
            <a:ext cx="10195560" cy="914400"/>
          </a:xfrm>
          <a:prstGeom prst="rect">
            <a:avLst/>
          </a:prstGeom>
          <a:noFill/>
        </p:spPr>
        <p:txBody>
          <a:bodyPr wrap="square" lIns="0" rIns="0" tIns="0" bIns="0" anchor="ctr">
            <a:spAutoFit/>
          </a:bodyPr>
          <a:lstStyle/>
          <a:p>
            <a:pPr algn="l">
              <a:spcAft>
                <a:spcPts val="400"/>
              </a:spcAft>
            </a:pPr>
            <a:r>
              <a:rPr sz="1600" b="0" i="0">
                <a:solidFill>
                  <a:srgbClr val="0F172A"/>
                </a:solidFill>
              </a:rPr>
              <a:t>The surveyed systems perform adaptive signal control or vehicle detection separately: one pipeline that detects, adapts timing, prioritises emergency vehicles and coordinates junctions is missing</a:t>
            </a:r>
          </a:p>
        </p:txBody>
      </p:sp>
      <p:sp>
        <p:nvSpPr>
          <p:cNvPr id="28" name="Oval 27"/>
          <p:cNvSpPr/>
          <p:nvPr/>
        </p:nvSpPr>
        <p:spPr>
          <a:xfrm>
            <a:off x="548640" y="2304288"/>
            <a:ext cx="566928" cy="566928"/>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2</a:t>
            </a:r>
          </a:p>
        </p:txBody>
      </p:sp>
      <p:sp>
        <p:nvSpPr>
          <p:cNvPr id="29" name="TextBox 28"/>
          <p:cNvSpPr txBox="1"/>
          <p:nvPr/>
        </p:nvSpPr>
        <p:spPr>
          <a:xfrm>
            <a:off x="1417320" y="2212848"/>
            <a:ext cx="10195560" cy="914400"/>
          </a:xfrm>
          <a:prstGeom prst="rect">
            <a:avLst/>
          </a:prstGeom>
          <a:noFill/>
        </p:spPr>
        <p:txBody>
          <a:bodyPr wrap="square" lIns="0" rIns="0" tIns="0" bIns="0" anchor="ctr">
            <a:spAutoFit/>
          </a:bodyPr>
          <a:lstStyle/>
          <a:p>
            <a:pPr algn="l">
              <a:spcAft>
                <a:spcPts val="400"/>
              </a:spcAft>
            </a:pPr>
            <a:r>
              <a:rPr sz="1600" b="0" i="0">
                <a:solidFill>
                  <a:srgbClr val="0F172A"/>
                </a:solidFill>
              </a:rPr>
              <a:t>Emergency priority relies on dedicated infrastructure [9], [10], on audio without localisation [14], or on vehicle appearance [18], [19], [20]</a:t>
            </a:r>
          </a:p>
        </p:txBody>
      </p:sp>
      <p:sp>
        <p:nvSpPr>
          <p:cNvPr id="30" name="Oval 29"/>
          <p:cNvSpPr/>
          <p:nvPr/>
        </p:nvSpPr>
        <p:spPr>
          <a:xfrm>
            <a:off x="548640" y="3328416"/>
            <a:ext cx="566928" cy="566928"/>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3</a:t>
            </a:r>
          </a:p>
        </p:txBody>
      </p:sp>
      <p:sp>
        <p:nvSpPr>
          <p:cNvPr id="31" name="TextBox 30"/>
          <p:cNvSpPr txBox="1"/>
          <p:nvPr/>
        </p:nvSpPr>
        <p:spPr>
          <a:xfrm>
            <a:off x="1417320" y="3236976"/>
            <a:ext cx="10195560" cy="914400"/>
          </a:xfrm>
          <a:prstGeom prst="rect">
            <a:avLst/>
          </a:prstGeom>
          <a:noFill/>
        </p:spPr>
        <p:txBody>
          <a:bodyPr wrap="square" lIns="0" rIns="0" tIns="0" bIns="0" anchor="ctr">
            <a:spAutoFit/>
          </a:bodyPr>
          <a:lstStyle/>
          <a:p>
            <a:pPr algn="l">
              <a:spcAft>
                <a:spcPts val="400"/>
              </a:spcAft>
            </a:pPr>
            <a:r>
              <a:rPr sz="1600" b="0" i="0">
                <a:solidFill>
                  <a:srgbClr val="0F172A"/>
                </a:solidFill>
              </a:rPr>
              <a:t>The base paper validates one modelled roundabout; it has no queue forecast and no coordination between neighbouring junctions [1]</a:t>
            </a:r>
          </a:p>
        </p:txBody>
      </p:sp>
      <p:sp>
        <p:nvSpPr>
          <p:cNvPr id="32" name="Oval 31"/>
          <p:cNvSpPr/>
          <p:nvPr/>
        </p:nvSpPr>
        <p:spPr>
          <a:xfrm>
            <a:off x="548640" y="4352544"/>
            <a:ext cx="566928" cy="566928"/>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4</a:t>
            </a:r>
          </a:p>
        </p:txBody>
      </p:sp>
      <p:sp>
        <p:nvSpPr>
          <p:cNvPr id="33" name="TextBox 32"/>
          <p:cNvSpPr txBox="1"/>
          <p:nvPr/>
        </p:nvSpPr>
        <p:spPr>
          <a:xfrm>
            <a:off x="1417320" y="4261104"/>
            <a:ext cx="10195560" cy="914400"/>
          </a:xfrm>
          <a:prstGeom prst="rect">
            <a:avLst/>
          </a:prstGeom>
          <a:noFill/>
        </p:spPr>
        <p:txBody>
          <a:bodyPr wrap="square" lIns="0" rIns="0" tIns="0" bIns="0" anchor="ctr">
            <a:spAutoFit/>
          </a:bodyPr>
          <a:lstStyle/>
          <a:p>
            <a:pPr algn="l">
              <a:spcAft>
                <a:spcPts val="400"/>
              </a:spcAft>
            </a:pPr>
            <a:r>
              <a:rPr sz="1600" b="0" i="0">
                <a:solidFill>
                  <a:srgbClr val="0F172A"/>
                </a:solidFill>
              </a:rPr>
              <a:t>Controllers are rarely compared on identical traffic with the price of pre-emption (delay to other vehicles) measured alongside the ambulance gain</a:t>
            </a:r>
          </a:p>
        </p:txBody>
      </p:sp>
      <p:sp>
        <p:nvSpPr>
          <p:cNvPr id="34" name="Oval 33"/>
          <p:cNvSpPr/>
          <p:nvPr/>
        </p:nvSpPr>
        <p:spPr>
          <a:xfrm>
            <a:off x="548640" y="5376672"/>
            <a:ext cx="566928" cy="566928"/>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5</a:t>
            </a:r>
          </a:p>
        </p:txBody>
      </p:sp>
      <p:sp>
        <p:nvSpPr>
          <p:cNvPr id="35" name="TextBox 34"/>
          <p:cNvSpPr txBox="1"/>
          <p:nvPr/>
        </p:nvSpPr>
        <p:spPr>
          <a:xfrm>
            <a:off x="1417320" y="5285232"/>
            <a:ext cx="10195560" cy="914400"/>
          </a:xfrm>
          <a:prstGeom prst="rect">
            <a:avLst/>
          </a:prstGeom>
          <a:noFill/>
        </p:spPr>
        <p:txBody>
          <a:bodyPr wrap="square" lIns="0" rIns="0" tIns="0" bIns="0" anchor="ctr">
            <a:spAutoFit/>
          </a:bodyPr>
          <a:lstStyle/>
          <a:p>
            <a:pPr algn="l">
              <a:spcAft>
                <a:spcPts val="400"/>
              </a:spcAft>
            </a:pPr>
            <a:r>
              <a:rPr sz="1600" b="0" i="0">
                <a:solidFill>
                  <a:srgbClr val="0F172A"/>
                </a:solidFill>
              </a:rPr>
              <a:t>Validation stays in simulation for want of authorisation and real-camera trials [1]; transfer of detectors to street cameras is untested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Problem statement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
        <p:nvSpPr>
          <p:cNvPr id="26" name="Rounded Rectangle 25"/>
          <p:cNvSpPr/>
          <p:nvPr/>
        </p:nvSpPr>
        <p:spPr>
          <a:xfrm>
            <a:off x="548640" y="1325880"/>
            <a:ext cx="11091672" cy="28346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68680" y="1463040"/>
            <a:ext cx="10469880" cy="2606040"/>
          </a:xfrm>
          <a:prstGeom prst="rect">
            <a:avLst/>
          </a:prstGeom>
          <a:noFill/>
        </p:spPr>
        <p:txBody>
          <a:bodyPr wrap="square" lIns="0" rIns="0" tIns="0" bIns="0" anchor="ctr">
            <a:spAutoFit/>
          </a:bodyPr>
          <a:lstStyle/>
          <a:p>
            <a:pPr algn="l" marL="256032" indent="-201168">
              <a:spcAft>
                <a:spcPts val="800"/>
              </a:spcAft>
              <a:buChar char="•"/>
            </a:pPr>
            <a:r>
              <a:rPr sz="1800" b="0" i="0">
                <a:solidFill>
                  <a:srgbClr val="0F172A"/>
                </a:solidFill>
              </a:rPr>
              <a:t>Fixed signal timings waste green time on empty approaches while queues build on others</a:t>
            </a:r>
          </a:p>
          <a:p>
            <a:pPr algn="l" marL="256032" indent="-201168">
              <a:spcAft>
                <a:spcPts val="800"/>
              </a:spcAft>
              <a:buChar char="•"/>
            </a:pPr>
            <a:r>
              <a:rPr sz="1800" b="0" i="0">
                <a:solidFill>
                  <a:srgbClr val="0F172A"/>
                </a:solidFill>
              </a:rPr>
              <a:t>Manual traffic control cannot scale to the number of junctions in a modern city</a:t>
            </a:r>
          </a:p>
          <a:p>
            <a:pPr algn="l" marL="256032" indent="-201168">
              <a:spcAft>
                <a:spcPts val="800"/>
              </a:spcAft>
              <a:buChar char="•"/>
            </a:pPr>
            <a:r>
              <a:rPr sz="1800" b="0" i="0">
                <a:solidFill>
                  <a:srgbClr val="0F172A"/>
                </a:solidFill>
              </a:rPr>
              <a:t>Emergency vehicles lose critical minutes waiting at signals with no priority mechanism</a:t>
            </a:r>
          </a:p>
          <a:p>
            <a:pPr algn="l" marL="256032" indent="-201168">
              <a:spcAft>
                <a:spcPts val="800"/>
              </a:spcAft>
              <a:buChar char="•"/>
            </a:pPr>
            <a:r>
              <a:rPr sz="1800" b="0" i="0">
                <a:solidFill>
                  <a:srgbClr val="0F172A"/>
                </a:solidFill>
              </a:rPr>
              <a:t>Junctions operate independently, so clearing one simply moves the queue to the next</a:t>
            </a:r>
          </a:p>
          <a:p>
            <a:pPr algn="l" marL="256032" indent="-201168">
              <a:spcAft>
                <a:spcPts val="800"/>
              </a:spcAft>
              <a:buChar char="•"/>
            </a:pPr>
            <a:r>
              <a:rPr sz="1800" b="0" i="0">
                <a:solidFill>
                  <a:srgbClr val="0F172A"/>
                </a:solidFill>
              </a:rPr>
              <a:t>Need: a vision-based controller that measures real traffic density, adapts signal timing and gives emergency vehicles priority</a:t>
            </a:r>
          </a:p>
        </p:txBody>
      </p:sp>
      <p:sp>
        <p:nvSpPr>
          <p:cNvPr id="28" name="Rounded Rectangle 27"/>
          <p:cNvSpPr/>
          <p:nvPr/>
        </p:nvSpPr>
        <p:spPr>
          <a:xfrm>
            <a:off x="548640" y="438912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Input</a:t>
            </a:r>
          </a:p>
        </p:txBody>
      </p:sp>
      <p:sp>
        <p:nvSpPr>
          <p:cNvPr id="30" name="TextBox 29"/>
          <p:cNvSpPr txBox="1"/>
          <p:nvPr/>
        </p:nvSpPr>
        <p:spPr>
          <a:xfrm>
            <a:off x="777240" y="4892040"/>
            <a:ext cx="3108960" cy="1234440"/>
          </a:xfrm>
          <a:prstGeom prst="rect">
            <a:avLst/>
          </a:prstGeom>
          <a:noFill/>
        </p:spPr>
        <p:txBody>
          <a:bodyPr wrap="square" lIns="0" rIns="0" tIns="0" bIns="0" anchor="t">
            <a:spAutoFit/>
          </a:bodyPr>
          <a:lstStyle/>
          <a:p>
            <a:pPr algn="l">
              <a:spcAft>
                <a:spcPts val="400"/>
              </a:spcAft>
            </a:pPr>
            <a:r>
              <a:rPr sz="1300" b="0" i="0">
                <a:solidFill>
                  <a:srgbClr val="475569"/>
                </a:solidFill>
              </a:rPr>
              <a:t>Junction camera frames or an uploaded image; simulated demand and ambulance arrivals; road network of 2x2 or 3x3 junctions</a:t>
            </a:r>
          </a:p>
        </p:txBody>
      </p:sp>
      <p:sp>
        <p:nvSpPr>
          <p:cNvPr id="31" name="Rounded Rectangle 30"/>
          <p:cNvSpPr/>
          <p:nvPr/>
        </p:nvSpPr>
        <p:spPr>
          <a:xfrm>
            <a:off x="4334255" y="438912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562855"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Output</a:t>
            </a:r>
          </a:p>
        </p:txBody>
      </p:sp>
      <p:sp>
        <p:nvSpPr>
          <p:cNvPr id="33" name="TextBox 32"/>
          <p:cNvSpPr txBox="1"/>
          <p:nvPr/>
        </p:nvSpPr>
        <p:spPr>
          <a:xfrm>
            <a:off x="4562855" y="4892040"/>
            <a:ext cx="3108960" cy="1234440"/>
          </a:xfrm>
          <a:prstGeom prst="rect">
            <a:avLst/>
          </a:prstGeom>
          <a:noFill/>
        </p:spPr>
        <p:txBody>
          <a:bodyPr wrap="square" lIns="0" rIns="0" tIns="0" bIns="0" anchor="t">
            <a:spAutoFit/>
          </a:bodyPr>
          <a:lstStyle/>
          <a:p>
            <a:pPr algn="l">
              <a:spcAft>
                <a:spcPts val="400"/>
              </a:spcAft>
            </a:pPr>
            <a:r>
              <a:rPr sz="1300" b="0" i="0">
                <a:solidFill>
                  <a:srgbClr val="475569"/>
                </a:solidFill>
              </a:rPr>
              <a:t>Vehicle counts, density level and green-time advice; signal phases; 30 s queue forecast; ambulance pre-emption; violation log</a:t>
            </a:r>
          </a:p>
        </p:txBody>
      </p:sp>
      <p:sp>
        <p:nvSpPr>
          <p:cNvPr id="34" name="Rounded Rectangle 33"/>
          <p:cNvSpPr/>
          <p:nvPr/>
        </p:nvSpPr>
        <p:spPr>
          <a:xfrm>
            <a:off x="8119871" y="4389120"/>
            <a:ext cx="3520440" cy="1783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348471" y="4480560"/>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Measures</a:t>
            </a:r>
          </a:p>
        </p:txBody>
      </p:sp>
      <p:sp>
        <p:nvSpPr>
          <p:cNvPr id="36" name="TextBox 35"/>
          <p:cNvSpPr txBox="1"/>
          <p:nvPr/>
        </p:nvSpPr>
        <p:spPr>
          <a:xfrm>
            <a:off x="8348471" y="4892040"/>
            <a:ext cx="3108960" cy="1234440"/>
          </a:xfrm>
          <a:prstGeom prst="rect">
            <a:avLst/>
          </a:prstGeom>
          <a:noFill/>
        </p:spPr>
        <p:txBody>
          <a:bodyPr wrap="square" lIns="0" rIns="0" tIns="0" bIns="0" anchor="t">
            <a:spAutoFit/>
          </a:bodyPr>
          <a:lstStyle/>
          <a:p>
            <a:pPr algn="l">
              <a:spcAft>
                <a:spcPts val="400"/>
              </a:spcAft>
            </a:pPr>
            <a:r>
              <a:rPr sz="1300" b="0" i="0">
                <a:solidFill>
                  <a:srgbClr val="475569"/>
                </a:solidFill>
              </a:rPr>
              <a:t>Average delay per vehicle, queue length, ambulance delay, throughput, fuel wasted idling, detection precision and recall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Objectives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
        <p:nvSpPr>
          <p:cNvPr id="26" name="TextBox 25"/>
          <p:cNvSpPr txBox="1"/>
          <p:nvPr/>
        </p:nvSpPr>
        <p:spPr>
          <a:xfrm>
            <a:off x="548640" y="1280160"/>
            <a:ext cx="11091672" cy="4480560"/>
          </a:xfrm>
          <a:prstGeom prst="rect">
            <a:avLst/>
          </a:prstGeom>
          <a:noFill/>
        </p:spPr>
        <p:txBody>
          <a:bodyPr wrap="square" lIns="0" rIns="0" tIns="0" bIns="0" anchor="t">
            <a:spAutoFit/>
          </a:bodyPr>
          <a:lstStyle/>
          <a:p>
            <a:pPr algn="l">
              <a:spcAft>
                <a:spcPts val="1400"/>
              </a:spcAft>
            </a:pPr>
            <a:r>
              <a:rPr sz="2200" b="0" i="0">
                <a:solidFill>
                  <a:srgbClr val="0F172A"/>
                </a:solidFill>
              </a:rPr>
              <a:t>1.  Ingest live video from junction cameras and detect and count vehicles using a YOLO-based model</a:t>
            </a:r>
          </a:p>
          <a:p>
            <a:pPr algn="l">
              <a:spcAft>
                <a:spcPts val="1400"/>
              </a:spcAft>
            </a:pPr>
            <a:r>
              <a:rPr sz="2200" b="0" i="0">
                <a:solidFill>
                  <a:srgbClr val="0F172A"/>
                </a:solidFill>
              </a:rPr>
              <a:t>2.  Estimate traffic density per approach lane from the detection output</a:t>
            </a:r>
          </a:p>
          <a:p>
            <a:pPr algn="l">
              <a:spcAft>
                <a:spcPts val="1400"/>
              </a:spcAft>
            </a:pPr>
            <a:r>
              <a:rPr sz="2200" b="0" i="0">
                <a:solidFill>
                  <a:srgbClr val="0F172A"/>
                </a:solidFill>
              </a:rPr>
              <a:t>3.  Compute adaptive signal timings that allocate green time in proportion to measured density</a:t>
            </a:r>
          </a:p>
          <a:p>
            <a:pPr algn="l">
              <a:spcAft>
                <a:spcPts val="1400"/>
              </a:spcAft>
            </a:pPr>
            <a:r>
              <a:rPr sz="2200" b="0" i="0">
                <a:solidFill>
                  <a:srgbClr val="0F172A"/>
                </a:solidFill>
              </a:rPr>
              <a:t>4.  Detect emergency vehicles and grant priority passage through the junction</a:t>
            </a:r>
          </a:p>
          <a:p>
            <a:pPr algn="l">
              <a:spcAft>
                <a:spcPts val="1400"/>
              </a:spcAft>
            </a:pPr>
            <a:r>
              <a:rPr sz="2200" b="0" i="0">
                <a:solidFill>
                  <a:srgbClr val="0F172A"/>
                </a:solidFill>
              </a:rPr>
              <a:t>5.  Enable coordination between adjacent junctions to smooth traffic along a corridor</a:t>
            </a:r>
          </a:p>
          <a:p>
            <a:pPr algn="l">
              <a:spcAft>
                <a:spcPts val="1400"/>
              </a:spcAft>
            </a:pPr>
            <a:r>
              <a:rPr sz="2200" b="0" i="0">
                <a:solidFill>
                  <a:srgbClr val="0F172A"/>
                </a:solidFill>
              </a:rPr>
              <a:t>6.  Evaluate detection accuracy, average waiting time and emergency vehicle clearance time</a:t>
            </a:r>
          </a:p>
        </p:txBody>
      </p:sp>
      <p:sp>
        <p:nvSpPr>
          <p:cNvPr id="27" name="TextBox 26"/>
          <p:cNvSpPr txBox="1"/>
          <p:nvPr/>
        </p:nvSpPr>
        <p:spPr>
          <a:xfrm>
            <a:off x="548640" y="5806440"/>
            <a:ext cx="11091672" cy="640080"/>
          </a:xfrm>
          <a:prstGeom prst="rect">
            <a:avLst/>
          </a:prstGeom>
          <a:noFill/>
        </p:spPr>
        <p:txBody>
          <a:bodyPr wrap="square" lIns="0" rIns="0" tIns="0" bIns="0" anchor="t">
            <a:spAutoFit/>
          </a:bodyPr>
          <a:lstStyle/>
          <a:p>
            <a:pPr algn="l">
              <a:spcAft>
                <a:spcPts val="400"/>
              </a:spcAft>
            </a:pPr>
            <a:r>
              <a:rPr sz="1400" b="0" i="1">
                <a:solidFill>
                  <a:srgbClr val="475569"/>
                </a:solidFill>
              </a:rPr>
              <a:t>Validation is in a seeded simulator rather than SUMO; vision is checked on synthetic scenes and on public real photographs.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Proposed approach</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
        <p:nvSpPr>
          <p:cNvPr id="26" name="Rounded Rectangle 25"/>
          <p:cNvSpPr/>
          <p:nvPr/>
        </p:nvSpPr>
        <p:spPr>
          <a:xfrm>
            <a:off x="548640"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Detect</a:t>
            </a:r>
          </a:p>
        </p:txBody>
      </p:sp>
      <p:sp>
        <p:nvSpPr>
          <p:cNvPr id="29" name="TextBox 28"/>
          <p:cNvSpPr txBox="1"/>
          <p:nvPr/>
        </p:nvSpPr>
        <p:spPr>
          <a:xfrm>
            <a:off x="749808" y="2194560"/>
            <a:ext cx="2231136" cy="2377440"/>
          </a:xfrm>
          <a:prstGeom prst="rect">
            <a:avLst/>
          </a:prstGeom>
          <a:noFill/>
        </p:spPr>
        <p:txBody>
          <a:bodyPr wrap="square" lIns="0" rIns="0" tIns="0" bIns="0" anchor="t">
            <a:spAutoFit/>
          </a:bodyPr>
          <a:lstStyle/>
          <a:p>
            <a:pPr algn="l">
              <a:spcAft>
                <a:spcPts val="400"/>
              </a:spcAft>
            </a:pPr>
            <a:r>
              <a:rPr sz="1500" b="0" i="0">
                <a:solidFill>
                  <a:srgbClr val="475569"/>
                </a:solidFill>
              </a:rPr>
              <a:t>YOLOv8n finds cars, bikes, buses and trucks; a red+blue light-bar rule flags an emergency vehicle; density is counted in passenger-car units (PCU).</a:t>
            </a:r>
          </a:p>
        </p:txBody>
      </p:sp>
      <p:sp>
        <p:nvSpPr>
          <p:cNvPr id="30" name="Rounded Rectangle 29"/>
          <p:cNvSpPr/>
          <p:nvPr/>
        </p:nvSpPr>
        <p:spPr>
          <a:xfrm>
            <a:off x="3364992"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66160" y="15087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06240"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Forecast</a:t>
            </a:r>
          </a:p>
        </p:txBody>
      </p:sp>
      <p:sp>
        <p:nvSpPr>
          <p:cNvPr id="33" name="TextBox 32"/>
          <p:cNvSpPr txBox="1"/>
          <p:nvPr/>
        </p:nvSpPr>
        <p:spPr>
          <a:xfrm>
            <a:off x="3566160" y="2194560"/>
            <a:ext cx="2231136" cy="2377440"/>
          </a:xfrm>
          <a:prstGeom prst="rect">
            <a:avLst/>
          </a:prstGeom>
          <a:noFill/>
        </p:spPr>
        <p:txBody>
          <a:bodyPr wrap="square" lIns="0" rIns="0" tIns="0" bIns="0" anchor="t">
            <a:spAutoFit/>
          </a:bodyPr>
          <a:lstStyle/>
          <a:p>
            <a:pPr algn="l">
              <a:spcAft>
                <a:spcPts val="400"/>
              </a:spcAft>
            </a:pPr>
            <a:r>
              <a:rPr sz="1500" b="0" i="0">
                <a:solidFill>
                  <a:srgbClr val="475569"/>
                </a:solidFill>
              </a:rPr>
              <a:t>A gradient-boosting model predicts each approach's queue 30 s ahead from 11 features (queue, lags, inflow, signal state, time of day).</a:t>
            </a:r>
          </a:p>
        </p:txBody>
      </p:sp>
      <p:sp>
        <p:nvSpPr>
          <p:cNvPr id="34" name="Rounded Rectangle 33"/>
          <p:cNvSpPr/>
          <p:nvPr/>
        </p:nvSpPr>
        <p:spPr>
          <a:xfrm>
            <a:off x="6181344"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382512"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22592"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Control</a:t>
            </a:r>
          </a:p>
        </p:txBody>
      </p:sp>
      <p:sp>
        <p:nvSpPr>
          <p:cNvPr id="37" name="TextBox 36"/>
          <p:cNvSpPr txBox="1"/>
          <p:nvPr/>
        </p:nvSpPr>
        <p:spPr>
          <a:xfrm>
            <a:off x="6382512" y="2194560"/>
            <a:ext cx="2231136" cy="2377440"/>
          </a:xfrm>
          <a:prstGeom prst="rect">
            <a:avLst/>
          </a:prstGeom>
          <a:noFill/>
        </p:spPr>
        <p:txBody>
          <a:bodyPr wrap="square" lIns="0" rIns="0" tIns="0" bIns="0" anchor="t">
            <a:spAutoFit/>
          </a:bodyPr>
          <a:lstStyle/>
          <a:p>
            <a:pPr algn="l">
              <a:spcAft>
                <a:spcPts val="400"/>
              </a:spcAft>
            </a:pPr>
            <a:r>
              <a:rPr sz="1500" b="0" i="0">
                <a:solidFill>
                  <a:srgbClr val="475569"/>
                </a:solidFill>
              </a:rPr>
              <a:t>Green time follows PCU-weighted pressure plus the forecast and arriving platoons; ambulances get a green wave across junctions.</a:t>
            </a:r>
          </a:p>
        </p:txBody>
      </p:sp>
      <p:sp>
        <p:nvSpPr>
          <p:cNvPr id="38" name="Rounded Rectangle 37"/>
          <p:cNvSpPr/>
          <p:nvPr/>
        </p:nvSpPr>
        <p:spPr>
          <a:xfrm>
            <a:off x="8997696" y="1325880"/>
            <a:ext cx="2633472" cy="3383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198864" y="15087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38944"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Evaluate</a:t>
            </a:r>
          </a:p>
        </p:txBody>
      </p:sp>
      <p:sp>
        <p:nvSpPr>
          <p:cNvPr id="41" name="TextBox 40"/>
          <p:cNvSpPr txBox="1"/>
          <p:nvPr/>
        </p:nvSpPr>
        <p:spPr>
          <a:xfrm>
            <a:off x="9198864" y="2194560"/>
            <a:ext cx="2231136" cy="2377440"/>
          </a:xfrm>
          <a:prstGeom prst="rect">
            <a:avLst/>
          </a:prstGeom>
          <a:noFill/>
        </p:spPr>
        <p:txBody>
          <a:bodyPr wrap="square" lIns="0" rIns="0" tIns="0" bIns="0" anchor="t">
            <a:spAutoFit/>
          </a:bodyPr>
          <a:lstStyle/>
          <a:p>
            <a:pPr algn="l">
              <a:spcAft>
                <a:spcPts val="400"/>
              </a:spcAft>
            </a:pPr>
            <a:r>
              <a:rPr sz="1500" b="0" i="0">
                <a:solidFill>
                  <a:srgbClr val="475569"/>
                </a:solidFill>
              </a:rPr>
              <a:t>Four controllers on identical seeded traffic: fixed-time, adaptive, emergency-aware (base-paper style) and FlowSense advanced.</a:t>
            </a:r>
          </a:p>
        </p:txBody>
      </p:sp>
      <p:sp>
        <p:nvSpPr>
          <p:cNvPr id="42" name="Rounded Rectangle 41"/>
          <p:cNvSpPr/>
          <p:nvPr/>
        </p:nvSpPr>
        <p:spPr>
          <a:xfrm>
            <a:off x="548640" y="4892040"/>
            <a:ext cx="11091672" cy="1280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777240" y="5166360"/>
            <a:ext cx="640080" cy="640080"/>
          </a:xfrm>
          <a:prstGeom prst="ellipse">
            <a:avLst/>
          </a:prstGeom>
          <a:solidFill>
            <a:srgbClr val="1B2A41"/>
          </a:solidFill>
          <a:ln w="9525">
            <a:solidFill>
              <a:srgbClr val="1B2A4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UI</a:t>
            </a:r>
          </a:p>
        </p:txBody>
      </p:sp>
      <p:sp>
        <p:nvSpPr>
          <p:cNvPr id="44" name="TextBox 43"/>
          <p:cNvSpPr txBox="1"/>
          <p:nvPr/>
        </p:nvSpPr>
        <p:spPr>
          <a:xfrm>
            <a:off x="1645920" y="5029200"/>
            <a:ext cx="9784080" cy="411480"/>
          </a:xfrm>
          <a:prstGeom prst="rect">
            <a:avLst/>
          </a:prstGeom>
          <a:noFill/>
        </p:spPr>
        <p:txBody>
          <a:bodyPr wrap="square" lIns="0" rIns="0" tIns="0" bIns="0" anchor="t">
            <a:spAutoFit/>
          </a:bodyPr>
          <a:lstStyle/>
          <a:p>
            <a:pPr algn="l">
              <a:spcAft>
                <a:spcPts val="400"/>
              </a:spcAft>
            </a:pPr>
            <a:r>
              <a:rPr sz="1600" b="1" i="0">
                <a:solidFill>
                  <a:srgbClr val="0F172A"/>
                </a:solidFill>
              </a:rPr>
              <a:t>FastAPI service + React console: live map, benchmark, vision, prediction and violation screens</a:t>
            </a:r>
          </a:p>
        </p:txBody>
      </p:sp>
      <p:sp>
        <p:nvSpPr>
          <p:cNvPr id="45" name="TextBox 44"/>
          <p:cNvSpPr txBox="1"/>
          <p:nvPr/>
        </p:nvSpPr>
        <p:spPr>
          <a:xfrm>
            <a:off x="1645920" y="5440680"/>
            <a:ext cx="9784080" cy="685800"/>
          </a:xfrm>
          <a:prstGeom prst="rect">
            <a:avLst/>
          </a:prstGeom>
          <a:noFill/>
        </p:spPr>
        <p:txBody>
          <a:bodyPr wrap="square" lIns="0" rIns="0" tIns="0" bIns="0" anchor="t">
            <a:spAutoFit/>
          </a:bodyPr>
          <a:lstStyle/>
          <a:p>
            <a:pPr algn="l">
              <a:spcAft>
                <a:spcPts val="400"/>
              </a:spcAft>
            </a:pPr>
            <a:r>
              <a:rPr sz="1400" b="0" i="0">
                <a:solidFill>
                  <a:srgbClr val="475569"/>
                </a:solidFill>
              </a:rPr>
              <a:t>Violations (red-light, wrong-way) are logged with plate and confidence from simulated events. No database and no GPU are needed.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High-level proposed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pic>
        <p:nvPicPr>
          <p:cNvPr id="26" name="Picture 25" descr="01_system_architecture.png"/>
          <p:cNvPicPr>
            <a:picLocks noChangeAspect="1"/>
          </p:cNvPicPr>
          <p:nvPr/>
        </p:nvPicPr>
        <p:blipFill>
          <a:blip r:embed="rId1"/>
          <a:stretch>
            <a:fillRect/>
          </a:stretch>
        </p:blipFill>
        <p:spPr>
          <a:xfrm>
            <a:off x="548640" y="1294447"/>
            <a:ext cx="6858000" cy="5000625"/>
          </a:xfrm>
          <a:prstGeom prst="rect">
            <a:avLst/>
          </a:prstGeom>
        </p:spPr>
      </p:pic>
      <p:sp>
        <p:nvSpPr>
          <p:cNvPr id="27" name="TextBox 26"/>
          <p:cNvSpPr txBox="1"/>
          <p:nvPr/>
        </p:nvSpPr>
        <p:spPr>
          <a:xfrm>
            <a:off x="7589520" y="1371600"/>
            <a:ext cx="4023360" cy="4754880"/>
          </a:xfrm>
          <a:prstGeom prst="rect">
            <a:avLst/>
          </a:prstGeom>
          <a:noFill/>
        </p:spPr>
        <p:txBody>
          <a:bodyPr wrap="square" lIns="0" rIns="0" tIns="0" bIns="0" anchor="t">
            <a:spAutoFit/>
          </a:bodyPr>
          <a:lstStyle/>
          <a:p>
            <a:pPr algn="l">
              <a:spcAft>
                <a:spcPts val="800"/>
              </a:spcAft>
            </a:pPr>
            <a:r>
              <a:rPr sz="1600" b="1" i="0">
                <a:solidFill>
                  <a:srgbClr val="0F172A"/>
                </a:solidFill>
              </a:rPr>
              <a:t>Four tiers</a:t>
            </a:r>
          </a:p>
          <a:p>
            <a:pPr algn="l" marL="256032" indent="-201168">
              <a:spcAft>
                <a:spcPts val="400"/>
              </a:spcAft>
              <a:buChar char="•"/>
            </a:pPr>
            <a:r>
              <a:rPr sz="1600" b="0" i="0">
                <a:solidFill>
                  <a:srgbClr val="0F172A"/>
                </a:solidFill>
              </a:rPr>
              <a:t>Presentation: React and Vite console (port 5310).</a:t>
            </a:r>
          </a:p>
          <a:p>
            <a:pPr algn="l" marL="256032" indent="-201168">
              <a:spcAft>
                <a:spcPts val="400"/>
              </a:spcAft>
              <a:buChar char="•"/>
            </a:pPr>
            <a:r>
              <a:rPr sz="1600" b="0" i="0">
                <a:solidFill>
                  <a:srgbClr val="0F172A"/>
                </a:solidFill>
              </a:rPr>
              <a:t>Application: FastAPI service (port 8310) with token sign-in and input checks.</a:t>
            </a:r>
          </a:p>
          <a:p>
            <a:pPr algn="l" marL="256032" indent="-201168">
              <a:spcAft>
                <a:spcPts val="400"/>
              </a:spcAft>
              <a:buChar char="•"/>
            </a:pPr>
            <a:r>
              <a:rPr sz="1600" b="0" i="0">
                <a:solidFill>
                  <a:srgbClr val="0F172A"/>
                </a:solidFill>
              </a:rPr>
              <a:t>Core: traffic simulator with four controllers, queue forecaster, YOLOv8n vision and density.</a:t>
            </a:r>
          </a:p>
          <a:p>
            <a:pPr algn="l" marL="256032" indent="-201168">
              <a:spcAft>
                <a:spcPts val="400"/>
              </a:spcAft>
              <a:buChar char="•"/>
            </a:pPr>
            <a:r>
              <a:rPr sz="1600" b="0" i="0">
                <a:solidFill>
                  <a:srgbClr val="0F172A"/>
                </a:solidFill>
              </a:rPr>
              <a:t>State: in memory; the model is trained at start-up; no database.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Expected outcomes and contributions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
        <p:nvSpPr>
          <p:cNvPr id="26" name="Rounded Rectangle 25"/>
          <p:cNvSpPr/>
          <p:nvPr/>
        </p:nvSpPr>
        <p:spPr>
          <a:xfrm>
            <a:off x="548640" y="1371600"/>
            <a:ext cx="3520440"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Working platform</a:t>
            </a:r>
          </a:p>
        </p:txBody>
      </p:sp>
      <p:sp>
        <p:nvSpPr>
          <p:cNvPr id="29" name="TextBox 28"/>
          <p:cNvSpPr txBox="1"/>
          <p:nvPr/>
        </p:nvSpPr>
        <p:spPr>
          <a:xfrm>
            <a:off x="749808" y="2240280"/>
            <a:ext cx="3118104" cy="1417319"/>
          </a:xfrm>
          <a:prstGeom prst="rect">
            <a:avLst/>
          </a:prstGeom>
          <a:noFill/>
        </p:spPr>
        <p:txBody>
          <a:bodyPr wrap="square" lIns="0" rIns="0" tIns="0" bIns="0" anchor="t">
            <a:spAutoFit/>
          </a:bodyPr>
          <a:lstStyle/>
          <a:p>
            <a:pPr algn="l">
              <a:spcAft>
                <a:spcPts val="400"/>
              </a:spcAft>
            </a:pPr>
            <a:r>
              <a:rPr sz="1600" b="0" i="0">
                <a:solidFill>
                  <a:srgbClr val="475569"/>
                </a:solidFill>
              </a:rPr>
              <a:t>A console that runs the simulator live, benchmarks controllers, analyses images, forecasts queues and logs violations.</a:t>
            </a:r>
          </a:p>
        </p:txBody>
      </p:sp>
      <p:sp>
        <p:nvSpPr>
          <p:cNvPr id="30" name="Rounded Rectangle 29"/>
          <p:cNvSpPr/>
          <p:nvPr/>
        </p:nvSpPr>
        <p:spPr>
          <a:xfrm>
            <a:off x="4334255" y="1371600"/>
            <a:ext cx="3520440"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Controller comparison</a:t>
            </a:r>
          </a:p>
        </p:txBody>
      </p:sp>
      <p:sp>
        <p:nvSpPr>
          <p:cNvPr id="33" name="TextBox 32"/>
          <p:cNvSpPr txBox="1"/>
          <p:nvPr/>
        </p:nvSpPr>
        <p:spPr>
          <a:xfrm>
            <a:off x="4535423" y="2240280"/>
            <a:ext cx="3118104" cy="1417319"/>
          </a:xfrm>
          <a:prstGeom prst="rect">
            <a:avLst/>
          </a:prstGeom>
          <a:noFill/>
        </p:spPr>
        <p:txBody>
          <a:bodyPr wrap="square" lIns="0" rIns="0" tIns="0" bIns="0" anchor="t">
            <a:spAutoFit/>
          </a:bodyPr>
          <a:lstStyle/>
          <a:p>
            <a:pPr algn="l">
              <a:spcAft>
                <a:spcPts val="400"/>
              </a:spcAft>
            </a:pPr>
            <a:r>
              <a:rPr sz="1600" b="0" i="0">
                <a:solidFill>
                  <a:srgbClr val="475569"/>
                </a:solidFill>
              </a:rPr>
              <a:t>Delay, queue and fuel compared across four controllers, 2x2 and 3x3 networks, several seeds and demand levels.</a:t>
            </a:r>
          </a:p>
        </p:txBody>
      </p:sp>
      <p:sp>
        <p:nvSpPr>
          <p:cNvPr id="34" name="Rounded Rectangle 33"/>
          <p:cNvSpPr/>
          <p:nvPr/>
        </p:nvSpPr>
        <p:spPr>
          <a:xfrm>
            <a:off x="8119871" y="1371600"/>
            <a:ext cx="3520440" cy="2423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Emergency priority</a:t>
            </a:r>
          </a:p>
        </p:txBody>
      </p:sp>
      <p:sp>
        <p:nvSpPr>
          <p:cNvPr id="37" name="TextBox 36"/>
          <p:cNvSpPr txBox="1"/>
          <p:nvPr/>
        </p:nvSpPr>
        <p:spPr>
          <a:xfrm>
            <a:off x="8321040" y="2240280"/>
            <a:ext cx="3118104" cy="1417319"/>
          </a:xfrm>
          <a:prstGeom prst="rect">
            <a:avLst/>
          </a:prstGeom>
          <a:noFill/>
        </p:spPr>
        <p:txBody>
          <a:bodyPr wrap="square" lIns="0" rIns="0" tIns="0" bIns="0" anchor="t">
            <a:spAutoFit/>
          </a:bodyPr>
          <a:lstStyle/>
          <a:p>
            <a:pPr algn="l">
              <a:spcAft>
                <a:spcPts val="400"/>
              </a:spcAft>
            </a:pPr>
            <a:r>
              <a:rPr sz="1600" b="0" i="0">
                <a:solidFill>
                  <a:srgbClr val="475569"/>
                </a:solidFill>
              </a:rPr>
              <a:t>Ambulance delay with and without pre-emption, and what pre-emption costs the other traffic.</a:t>
            </a:r>
          </a:p>
        </p:txBody>
      </p:sp>
      <p:sp>
        <p:nvSpPr>
          <p:cNvPr id="38" name="Rounded Rectangle 37"/>
          <p:cNvSpPr/>
          <p:nvPr/>
        </p:nvSpPr>
        <p:spPr>
          <a:xfrm>
            <a:off x="548640" y="3977639"/>
            <a:ext cx="5440680" cy="2194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749808" y="416052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1389888" y="4133087"/>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Honest vision check</a:t>
            </a:r>
          </a:p>
        </p:txBody>
      </p:sp>
      <p:sp>
        <p:nvSpPr>
          <p:cNvPr id="41" name="TextBox 40"/>
          <p:cNvSpPr txBox="1"/>
          <p:nvPr/>
        </p:nvSpPr>
        <p:spPr>
          <a:xfrm>
            <a:off x="749808" y="4846320"/>
            <a:ext cx="5038344" cy="1188719"/>
          </a:xfrm>
          <a:prstGeom prst="rect">
            <a:avLst/>
          </a:prstGeom>
          <a:noFill/>
        </p:spPr>
        <p:txBody>
          <a:bodyPr wrap="square" lIns="0" rIns="0" tIns="0" bIns="0" anchor="t">
            <a:spAutoFit/>
          </a:bodyPr>
          <a:lstStyle/>
          <a:p>
            <a:pPr algn="l">
              <a:spcAft>
                <a:spcPts val="400"/>
              </a:spcAft>
            </a:pPr>
            <a:r>
              <a:rPr sz="1700" b="0" i="0">
                <a:solidFill>
                  <a:srgbClr val="475569"/>
                </a:solidFill>
              </a:rPr>
              <a:t>Vehicle and light-bar detection tested on synthetic scenes and on real public photographs, with failures reported.</a:t>
            </a:r>
          </a:p>
        </p:txBody>
      </p:sp>
      <p:sp>
        <p:nvSpPr>
          <p:cNvPr id="42" name="Rounded Rectangle 41"/>
          <p:cNvSpPr/>
          <p:nvPr/>
        </p:nvSpPr>
        <p:spPr>
          <a:xfrm>
            <a:off x="6199631" y="3977639"/>
            <a:ext cx="5440680" cy="21945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00799" y="41605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5</a:t>
            </a:r>
          </a:p>
        </p:txBody>
      </p:sp>
      <p:sp>
        <p:nvSpPr>
          <p:cNvPr id="44" name="TextBox 43"/>
          <p:cNvSpPr txBox="1"/>
          <p:nvPr/>
        </p:nvSpPr>
        <p:spPr>
          <a:xfrm>
            <a:off x="7040879" y="4133087"/>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Stated limits</a:t>
            </a:r>
          </a:p>
        </p:txBody>
      </p:sp>
      <p:sp>
        <p:nvSpPr>
          <p:cNvPr id="45" name="TextBox 44"/>
          <p:cNvSpPr txBox="1"/>
          <p:nvPr/>
        </p:nvSpPr>
        <p:spPr>
          <a:xfrm>
            <a:off x="6400799" y="4846320"/>
            <a:ext cx="5038344" cy="1188719"/>
          </a:xfrm>
          <a:prstGeom prst="rect">
            <a:avLst/>
          </a:prstGeom>
          <a:noFill/>
        </p:spPr>
        <p:txBody>
          <a:bodyPr wrap="square" lIns="0" rIns="0" tIns="0" bIns="0" anchor="t">
            <a:spAutoFit/>
          </a:bodyPr>
          <a:lstStyle/>
          <a:p>
            <a:pPr algn="l">
              <a:spcAft>
                <a:spcPts val="400"/>
              </a:spcAft>
            </a:pPr>
            <a:r>
              <a:rPr sz="1700" b="0" i="0">
                <a:solidFill>
                  <a:srgbClr val="475569"/>
                </a:solidFill>
              </a:rPr>
              <a:t>Simulator not SUMO, no real camera stream, simulated violations: each limit documented, not hidden.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References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TextBox 25"/>
          <p:cNvSpPr txBox="1"/>
          <p:nvPr/>
        </p:nvSpPr>
        <p:spPr>
          <a:xfrm>
            <a:off x="548640" y="1143000"/>
            <a:ext cx="11091672" cy="5303520"/>
          </a:xfrm>
          <a:prstGeom prst="rect">
            <a:avLst/>
          </a:prstGeom>
          <a:noFill/>
        </p:spPr>
        <p:txBody>
          <a:bodyPr wrap="square" lIns="0" rIns="0" tIns="0" bIns="0" anchor="t">
            <a:spAutoFit/>
          </a:bodyPr>
          <a:lstStyle/>
          <a:p>
            <a:pPr algn="l">
              <a:spcAft>
                <a:spcPts val="300"/>
              </a:spcAft>
            </a:pPr>
            <a:r>
              <a:rPr sz="1300" b="0" i="0">
                <a:solidFill>
                  <a:srgbClr val="0F172A"/>
                </a:solidFill>
              </a:rPr>
              <a:t>[1] M. Lamrabet, M. Alami Chentoufi and R. Ellaia, "Emergency-aware adaptive traffic signal control using YOLO-based light-bar detection and SUMO system-level validation," IEEE Access, vol. 14, pp. 104922-104933, 2026, doi: 10.1109/ACCESS.2026.3710015.</a:t>
            </a:r>
          </a:p>
          <a:p>
            <a:pPr algn="l">
              <a:spcAft>
                <a:spcPts val="300"/>
              </a:spcAft>
            </a:pPr>
            <a:r>
              <a:rPr sz="1300" b="0" i="0">
                <a:solidFill>
                  <a:srgbClr val="0F172A"/>
                </a:solidFill>
              </a:rPr>
              <a:t>[2] "Signal-IQ: an integrated, low-cost, and hardware-validated adaptive traffic signal control system using YOLOv8-based vehicle and emergency-vehicle detection," 2026 (as listed in the batch literature survey; authors and venue not verified).</a:t>
            </a:r>
          </a:p>
          <a:p>
            <a:pPr algn="l">
              <a:spcAft>
                <a:spcPts val="300"/>
              </a:spcAft>
            </a:pPr>
            <a:r>
              <a:rPr sz="1300" b="0" i="0">
                <a:solidFill>
                  <a:srgbClr val="0F172A"/>
                </a:solidFill>
              </a:rPr>
              <a:t>[6] C. R. Goenawan, "ASTM: Autonomous smart traffic management system using artificial intelligence CNN and LSTM," arXiv:2410.10929, 2024.</a:t>
            </a:r>
          </a:p>
          <a:p>
            <a:pPr algn="l">
              <a:spcAft>
                <a:spcPts val="300"/>
              </a:spcAft>
            </a:pPr>
            <a:r>
              <a:rPr sz="1300" b="0" i="0">
                <a:solidFill>
                  <a:srgbClr val="0F172A"/>
                </a:solidFill>
              </a:rPr>
              <a:t>[7] K. Gupta, D. Saxena, A. K. Singh and C.-N. Lee, "Neighbor-embedded graph neural network-based crowd delivery traffic management in smart city," IEEE Trans. Emerg. Topics Comput. Intell., vol. 10, no. 3, 2026, arXiv:2608.22555.</a:t>
            </a:r>
          </a:p>
          <a:p>
            <a:pPr algn="l">
              <a:spcAft>
                <a:spcPts val="300"/>
              </a:spcAft>
            </a:pPr>
            <a:r>
              <a:rPr sz="1300" b="0" i="0">
                <a:solidFill>
                  <a:srgbClr val="0F172A"/>
                </a:solidFill>
              </a:rPr>
              <a:t>[8] M. Lamrabet, R. Ellaia and M. Alami Chentoufi, "Simulation-based optimization of traffic signals using a hybrid GA-SGD approach: a case study of Morocco," Innov. Infrastruct. Solutions, vol. 10, no. 11, p. 511, Nov. 2025, doi: 10.1007/s41062-025-02319-w.</a:t>
            </a:r>
          </a:p>
          <a:p>
            <a:pPr algn="l">
              <a:spcAft>
                <a:spcPts val="300"/>
              </a:spcAft>
            </a:pPr>
            <a:r>
              <a:rPr sz="1300" b="0" i="0">
                <a:solidFill>
                  <a:srgbClr val="0F172A"/>
                </a:solidFill>
              </a:rPr>
              <a:t>[9] N. Sasikala, S. Sridhar, S. H. Reddy, S. John and S. Shrinikethan, "Emergency traffic prioritization system with priority-based dynamic route optimization and IoT-enabled dynamic signal control," in Proc. 5th Int. Conf. Intell. Technol. (CONIT), Jun. 2025, pp. 1-5, doi: 10.1109/CONIT65521.2025.11166819.</a:t>
            </a:r>
          </a:p>
          <a:p>
            <a:pPr algn="l">
              <a:spcAft>
                <a:spcPts val="300"/>
              </a:spcAft>
            </a:pPr>
            <a:r>
              <a:rPr sz="1300" b="0" i="0">
                <a:solidFill>
                  <a:srgbClr val="0F172A"/>
                </a:solidFill>
              </a:rPr>
              <a:t>[10] M. Zlatkovic, Z. Cvijovic, A. Stevanovic and Y. Song, "Concepts of signal control preemption for emergency vehicles in connected vehicle environments," J. Road Traffic Eng., vol. 69, no. 2, pp. 1-7, Jun. 2023, doi: 10.31075/pis.69.02.01.</a:t>
            </a:r>
          </a:p>
          <a:p>
            <a:pPr algn="l">
              <a:spcAft>
                <a:spcPts val="300"/>
              </a:spcAft>
            </a:pPr>
            <a:r>
              <a:rPr sz="1300" b="0" i="0">
                <a:solidFill>
                  <a:srgbClr val="0F172A"/>
                </a:solidFill>
              </a:rPr>
              <a:t>[14] D. Jayakumar, M. Krishnaiah, S. Kollem, S. Peddakrishna, N. Chandrasekhar and M. Thirupathi, "Emergency vehicle classification using combined temporal and spectral audio features with machine learning algorithms," Electronics, vol. 13, no. 19, p. 3873, Sep. 2024, doi: 10.3390/electronics13193873.</a:t>
            </a:r>
          </a:p>
          <a:p>
            <a:pPr algn="l">
              <a:spcAft>
                <a:spcPts val="300"/>
              </a:spcAft>
            </a:pPr>
            <a:r>
              <a:rPr sz="1300" b="0" i="0">
                <a:solidFill>
                  <a:srgbClr val="0F172A"/>
                </a:solidFill>
              </a:rPr>
              <a:t>[18] S. Suhana, B. Prathap Rudra, K. Narang and I. Anto, "IoT based emergency vehicle detection using YOLOv8," J. Autom., Mobile Robot. Intell. Syst., vol. 19, no. 2, pp. 79-88, Jun. 2025, doi: 10.14313/jamris-2025-018.x.</a:t>
            </a:r>
          </a:p>
          <a:p>
            <a:pPr algn="l">
              <a:spcAft>
                <a:spcPts val="300"/>
              </a:spcAft>
            </a:pPr>
            <a:r>
              <a:rPr sz="1300" b="0" i="0">
                <a:solidFill>
                  <a:srgbClr val="0F172A"/>
                </a:solidFill>
              </a:rPr>
              <a:t>[21] J. Redmon, S. Divvala, R. Girshick and A. Farhadi, "You only look once: unified, real-time object detection," in Proc. IEEE Conf. Comput. Vis. Pattern Recognit. (CVPR), Las Vegas, NV, USA, Jun. 2016, pp. 779-788, doi: 10.1109/CVPR.2016.91.</a:t>
            </a:r>
          </a:p>
          <a:p>
            <a:pPr algn="l">
              <a:spcAft>
                <a:spcPts val="300"/>
              </a:spcAft>
            </a:pPr>
            <a:r>
              <a:rPr sz="1300" b="0" i="0">
                <a:solidFill>
                  <a:srgbClr val="0F172A"/>
                </a:solidFill>
              </a:rPr>
              <a:t>[22] G. Jocher, A. Chaurasia and J. Qiu, "Ultralytics YOLOv8," version 8.0.0, 2023. [Online]. Available: https://github.com/ultralytics/ultralytics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FlowSense">
  <a:themeElements>
    <a:clrScheme name="FlowSense">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FlowSen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FlowSens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Smart Traffic Management: Review 1</dc:title>
  <dc:subject>Batch A10 (CSE-A)</dc:subject>
  <dc:creator>Buneti Harshitha, Bhuvaneshwari Kadike, Ambati Sai Nikhil Reddy, Chapala Rohith Reddy</dc:creator>
  <cp:lastModifiedBy/>
  <cp:revision>1</cp:revision>
  <dcterms:created xsi:type="dcterms:W3CDTF">2026-10-13T12:36:40Z</dcterms:created>
  <dcterms:modified xsi:type="dcterms:W3CDTF">2026-10-13T12:36:40Z</dcterms:modified>
  <cp:keywords>smart traffic management, YOLOv8, adaptive signal control, emergency vehicle priority, queue forecasting</cp:keywords>
  <dc:description/>
</cp:coreProperties>
</file>