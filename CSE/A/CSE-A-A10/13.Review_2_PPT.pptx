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3623e47-5b1a-7aef-5476-75bff30165c3}">
          <p14:sldIdLst>
            <p14:sldId id="256"/>
            <p14:sldId id="257"/>
            <p14:sldId id="258"/>
          </p14:sldIdLst>
        </p14:section>
        <p14:section name="Design" id="{ee3f979a-aefa-c88f-8568-1021737ba133}">
          <p14:sldIdLst>
            <p14:sldId id="259"/>
            <p14:sldId id="260"/>
            <p14:sldId id="261"/>
            <p14:sldId id="262"/>
            <p14:sldId id="263"/>
            <p14:sldId id="264"/>
            <p14:sldId id="265"/>
            <p14:sldId id="266"/>
            <p14:sldId id="267"/>
            <p14:sldId id="268"/>
          </p14:sldIdLst>
        </p14:section>
        <p14:section name="Progress" id="{cf39a97a-7fb0-4c7a-0650-0fb3a5c44815}">
          <p14:sldIdLst>
            <p14:sldId id="269"/>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review shows how FlowSense is designed and built, what is implemented, the first measured results from the in-house traffic simulator and from public real-image datasets, and the open items. Introduce the four team members and the guide.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for the design and progress review.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Recap of Review 1: the surveyed systems do adaptive control or vehicle detection separately. The gap is one pipeline that detects, adapts timing, prioritises emergency vehicles and coordinates junctions. The base paper's detector is trained; ours is a stock YOLOv8n plus an HSV light-bar rule, so we say plainly that we did not reach its detection quality.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Routes live in backend/main.py; service.py wraps the engine and holds no control logic. The legacy Streamlit app (app.py) is still in the project and uses the same engine.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controllers face identical random demand so the comparison is like for like. Emergency vehicles are known to the simulated controllers by ground truth; the vision module is a separate demo, not closed loop with them.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control experiments need no external dataset: demand is a seeded Poisson process with a morning and evening peak. The two public image sets are used only to test the shipped vision layer, with no tuning on them.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feature_matrix() in sim.py builds one row per approach at each snapshot. The same function is used for training and for live forecasting in the advanced controller.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components with separate jobs. A classical contour detector handles the synthetic overhead scenes; YOLOv8n handles real photos.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Hyper-parameters are those in smart_traffic/predictor.py. The experiment scripts (scripts/run_experiments.py, eval_real_vision.py) reuse the shipped code and write metrics.json files.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mirrors Sim._decide and Sim._pressure. The forecast term comes from the Gradient Boosting model every 10 s once 30 s of history exists. The base-paper-style controller uses only the emergency rule at one junction with a 5 s look-ahead.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Level 1 has seven processes: authenticate and validate, simulate traffic, control signals, forecast queues, analyse a vision frame, benchmark the controllers, and report KPIs, map and violation log.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Honest point: persistence of runs, violations and users is future work. There is one demo operator account and one shared live simulation.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Versions are those installed on the measurement PC. On Windows torch must be imported before scikit-learn or OpenCV, so backend/main.py imports it first.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of the code base. The honest gaps are the last four rows: violations are simulated, no trained emergency detector, no SUMO, and no persistence.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Headline: the adaptive family beats fixed-time by about a third; most of the gain is adaptivity. Advanced beats plain adaptive by only 4.3 percent on 2x2, within one standard deviation. Ambulance delay drops from 20.1 s to 5.7 s. The UI default benchmark uses three seeds and shows -38 percent vs fixed-time; the tables use five seeds.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Real screenshots from the running console. The benchmark screen shows fixed 73.0, adaptive 48.5, emergency-aware 51.2 and advanced 45.4 s for the UI default of three seeds.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Tests cover the simulator, controllers, forecaster, vision rules and the API through FastAPI's TestClient; the smoke script drives the live server. Each observation came from running the code and is recorded rather than hidden.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challenge was met by a concrete design choice or by measuring it and saying so in the report.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Plan to the final review. The first two items address the biggest honest gaps.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Likely questions: why not SUMO; why advanced is only a few percent better than adaptive; why the light-bar rule fails on real photos; how the forecaster behaves on unseen congestion; what is simulated and what is detected.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FlowSense  ·  Review 2</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3.xml"/><Relationship Id="rId3" Type="http://schemas.openxmlformats.org/officeDocument/2006/relationships/notesSlide" Target="../notesSlides/notesSlide1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3.xml"/><Relationship Id="rId3" Type="http://schemas.openxmlformats.org/officeDocument/2006/relationships/notesSlide" Target="../notesSlides/notesSlide15.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0.png"/><Relationship Id="rId3" Type="http://schemas.openxmlformats.org/officeDocument/2006/relationships/slideLayout" Target="../slideLayouts/slideLayout3.xml"/><Relationship Id="rId4" Type="http://schemas.openxmlformats.org/officeDocument/2006/relationships/notesSlide" Target="../notesSlides/notesSlide16.xml"/><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3200" b="1" dirty="0">
                <a:solidFill>
                  <a:srgbClr val="FFFFFF"/>
                </a:solidFill>
                <a:latin typeface="Cambria" pitchFamily="34" charset="0"/>
                <a:ea typeface="Cambria" pitchFamily="34" charset="-122"/>
                <a:cs typeface="Cambria" pitchFamily="34" charset="-120"/>
              </a:rPr>
              <a:t>AI-Based Smart Traffic Management</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Design, methodology and progress: adaptive, emergency-aware and coordinated signal control with YOLOv8 vision and queue forecasting</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2  ·  DESIGN, METHODOLOGY AND PROGRESS</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Buneti Harshitha  23K91A0548</a:t>
            </a:r>
            <a:endParaRPr lang="en-US" sz="1500" dirty="0"/>
          </a:p>
          <a:p>
            <a:pPr indent="0" marL="0">
              <a:buNone/>
            </a:pPr>
            <a:r>
              <a:rPr lang="en-US" sz="1500" dirty="0">
                <a:solidFill>
                  <a:srgbClr val="FFFFFF"/>
                </a:solidFill>
              </a:rPr>
              <a:t>Bhuvaneshwari Kadike  23K91A0537</a:t>
            </a:r>
            <a:endParaRPr lang="en-US" sz="1500" dirty="0"/>
          </a:p>
          <a:p>
            <a:pPr indent="0" marL="0">
              <a:buNone/>
            </a:pPr>
            <a:r>
              <a:rPr lang="en-US" sz="1500" dirty="0">
                <a:solidFill>
                  <a:srgbClr val="FFFFFF"/>
                </a:solidFill>
              </a:rPr>
              <a:t>Ambati Sai Nikhil Reddy  23K91A0510</a:t>
            </a:r>
            <a:endParaRPr lang="en-US" sz="1500" dirty="0"/>
          </a:p>
          <a:p>
            <a:pPr indent="0" marL="0">
              <a:buNone/>
            </a:pPr>
            <a:r>
              <a:rPr lang="en-US" sz="1500" dirty="0">
                <a:solidFill>
                  <a:srgbClr val="FFFFFF"/>
                </a:solidFill>
              </a:rPr>
              <a:t>Chapala Rohith Reddy  23K91A0551</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Laxmi Prasanna,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a:t>
            </a:r>
            <a:endParaRPr lang="en-US" sz="1300" dirty="0"/>
          </a:p>
          <a:p>
            <a:pPr indent="0" marL="0">
              <a:buNone/>
            </a:pPr>
            <a:r>
              <a:rPr lang="en-US" sz="1300" dirty="0">
                <a:solidFill>
                  <a:srgbClr val="CADCFC"/>
                </a:solidFill>
              </a:rPr>
              <a:t>TKR College of Engineering &amp; Technology  ·  Batch A10 (CSE-A)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
        <p:nvSpPr>
          <p:cNvPr id="26" name="Rounded Rectangle 25"/>
          <p:cNvSpPr/>
          <p:nvPr/>
        </p:nvSpPr>
        <p:spPr>
          <a:xfrm>
            <a:off x="548640"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15453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01</a:t>
            </a:r>
          </a:p>
        </p:txBody>
      </p:sp>
      <p:sp>
        <p:nvSpPr>
          <p:cNvPr id="28" name="TextBox 27"/>
          <p:cNvSpPr txBox="1"/>
          <p:nvPr/>
        </p:nvSpPr>
        <p:spPr>
          <a:xfrm>
            <a:off x="777240"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Recap and architecture</a:t>
            </a:r>
          </a:p>
        </p:txBody>
      </p:sp>
      <p:sp>
        <p:nvSpPr>
          <p:cNvPr id="29" name="Rounded Rectangle 28"/>
          <p:cNvSpPr/>
          <p:nvPr/>
        </p:nvSpPr>
        <p:spPr>
          <a:xfrm>
            <a:off x="4334255"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62855" y="15453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02</a:t>
            </a:r>
          </a:p>
        </p:txBody>
      </p:sp>
      <p:sp>
        <p:nvSpPr>
          <p:cNvPr id="31" name="TextBox 30"/>
          <p:cNvSpPr txBox="1"/>
          <p:nvPr/>
        </p:nvSpPr>
        <p:spPr>
          <a:xfrm>
            <a:off x="4562855"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Methodology and datasets</a:t>
            </a:r>
          </a:p>
        </p:txBody>
      </p:sp>
      <p:sp>
        <p:nvSpPr>
          <p:cNvPr id="32" name="Rounded Rectangle 31"/>
          <p:cNvSpPr/>
          <p:nvPr/>
        </p:nvSpPr>
        <p:spPr>
          <a:xfrm>
            <a:off x="8119871"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48471" y="15453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03</a:t>
            </a:r>
          </a:p>
        </p:txBody>
      </p:sp>
      <p:sp>
        <p:nvSpPr>
          <p:cNvPr id="34" name="TextBox 33"/>
          <p:cNvSpPr txBox="1"/>
          <p:nvPr/>
        </p:nvSpPr>
        <p:spPr>
          <a:xfrm>
            <a:off x="8348471"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Feature construction and models</a:t>
            </a:r>
          </a:p>
        </p:txBody>
      </p:sp>
      <p:sp>
        <p:nvSpPr>
          <p:cNvPr id="35" name="Rounded Rectangle 34"/>
          <p:cNvSpPr/>
          <p:nvPr/>
        </p:nvSpPr>
        <p:spPr>
          <a:xfrm>
            <a:off x="548640"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31455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04</a:t>
            </a:r>
          </a:p>
        </p:txBody>
      </p:sp>
      <p:sp>
        <p:nvSpPr>
          <p:cNvPr id="37" name="TextBox 36"/>
          <p:cNvSpPr txBox="1"/>
          <p:nvPr/>
        </p:nvSpPr>
        <p:spPr>
          <a:xfrm>
            <a:off x="777240"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Training and decision logic</a:t>
            </a:r>
          </a:p>
        </p:txBody>
      </p:sp>
      <p:sp>
        <p:nvSpPr>
          <p:cNvPr id="38" name="Rounded Rectangle 37"/>
          <p:cNvSpPr/>
          <p:nvPr/>
        </p:nvSpPr>
        <p:spPr>
          <a:xfrm>
            <a:off x="4334255"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62855" y="31455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05</a:t>
            </a:r>
          </a:p>
        </p:txBody>
      </p:sp>
      <p:sp>
        <p:nvSpPr>
          <p:cNvPr id="40" name="TextBox 39"/>
          <p:cNvSpPr txBox="1"/>
          <p:nvPr/>
        </p:nvSpPr>
        <p:spPr>
          <a:xfrm>
            <a:off x="4562855"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Data flow, entities and UML</a:t>
            </a:r>
          </a:p>
        </p:txBody>
      </p:sp>
      <p:sp>
        <p:nvSpPr>
          <p:cNvPr id="41" name="Rounded Rectangle 40"/>
          <p:cNvSpPr/>
          <p:nvPr/>
        </p:nvSpPr>
        <p:spPr>
          <a:xfrm>
            <a:off x="8119871"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348471" y="31455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06</a:t>
            </a:r>
          </a:p>
        </p:txBody>
      </p:sp>
      <p:sp>
        <p:nvSpPr>
          <p:cNvPr id="43" name="TextBox 42"/>
          <p:cNvSpPr txBox="1"/>
          <p:nvPr/>
        </p:nvSpPr>
        <p:spPr>
          <a:xfrm>
            <a:off x="8348471"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Technology stack</a:t>
            </a:r>
          </a:p>
        </p:txBody>
      </p:sp>
      <p:sp>
        <p:nvSpPr>
          <p:cNvPr id="44" name="Rounded Rectangle 43"/>
          <p:cNvSpPr/>
          <p:nvPr/>
        </p:nvSpPr>
        <p:spPr>
          <a:xfrm>
            <a:off x="548640"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77240" y="47457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07</a:t>
            </a:r>
          </a:p>
        </p:txBody>
      </p:sp>
      <p:sp>
        <p:nvSpPr>
          <p:cNvPr id="46" name="TextBox 45"/>
          <p:cNvSpPr txBox="1"/>
          <p:nvPr/>
        </p:nvSpPr>
        <p:spPr>
          <a:xfrm>
            <a:off x="777240"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Progress and preliminary results</a:t>
            </a:r>
          </a:p>
        </p:txBody>
      </p:sp>
      <p:sp>
        <p:nvSpPr>
          <p:cNvPr id="47" name="Rounded Rectangle 46"/>
          <p:cNvSpPr/>
          <p:nvPr/>
        </p:nvSpPr>
        <p:spPr>
          <a:xfrm>
            <a:off x="4334255"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562855" y="47457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08</a:t>
            </a:r>
          </a:p>
        </p:txBody>
      </p:sp>
      <p:sp>
        <p:nvSpPr>
          <p:cNvPr id="49" name="TextBox 48"/>
          <p:cNvSpPr txBox="1"/>
          <p:nvPr/>
        </p:nvSpPr>
        <p:spPr>
          <a:xfrm>
            <a:off x="4562855"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Output screens and testing</a:t>
            </a:r>
          </a:p>
        </p:txBody>
      </p:sp>
      <p:sp>
        <p:nvSpPr>
          <p:cNvPr id="50" name="Rounded Rectangle 49"/>
          <p:cNvSpPr/>
          <p:nvPr/>
        </p:nvSpPr>
        <p:spPr>
          <a:xfrm>
            <a:off x="8119871"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348471" y="47457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09</a:t>
            </a:r>
          </a:p>
        </p:txBody>
      </p:sp>
      <p:sp>
        <p:nvSpPr>
          <p:cNvPr id="52" name="TextBox 51"/>
          <p:cNvSpPr txBox="1"/>
          <p:nvPr/>
        </p:nvSpPr>
        <p:spPr>
          <a:xfrm>
            <a:off x="8348471"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Challenges and next steps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Recap: problem and proposed system</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
        <p:nvSpPr>
          <p:cNvPr id="26" name="Rounded Rectangle 25"/>
          <p:cNvSpPr/>
          <p:nvPr/>
        </p:nvSpPr>
        <p:spPr>
          <a:xfrm>
            <a:off x="548640" y="1463040"/>
            <a:ext cx="3520440" cy="41148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6459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8" name="TextBox 27"/>
          <p:cNvSpPr txBox="1"/>
          <p:nvPr/>
        </p:nvSpPr>
        <p:spPr>
          <a:xfrm>
            <a:off x="1389888" y="161848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Problem</a:t>
            </a:r>
          </a:p>
        </p:txBody>
      </p:sp>
      <p:sp>
        <p:nvSpPr>
          <p:cNvPr id="29" name="TextBox 28"/>
          <p:cNvSpPr txBox="1"/>
          <p:nvPr/>
        </p:nvSpPr>
        <p:spPr>
          <a:xfrm>
            <a:off x="749808" y="2331720"/>
            <a:ext cx="3118104" cy="3108960"/>
          </a:xfrm>
          <a:prstGeom prst="rect">
            <a:avLst/>
          </a:prstGeom>
          <a:noFill/>
        </p:spPr>
        <p:txBody>
          <a:bodyPr wrap="square" lIns="0" rIns="0" tIns="0" bIns="0" anchor="t">
            <a:spAutoFit/>
          </a:bodyPr>
          <a:lstStyle/>
          <a:p>
            <a:pPr algn="l">
              <a:spcAft>
                <a:spcPts val="400"/>
              </a:spcAft>
            </a:pPr>
            <a:r>
              <a:rPr sz="1800" b="0" i="0">
                <a:solidFill>
                  <a:srgbClr val="475569"/>
                </a:solidFill>
              </a:rPr>
              <a:t>Fixed-time signals waste green on empty approaches while queues build elsewhere, ambulances wait at red with no priority, and neighbouring junctions act independently so clearing one only moves the queue to the next.</a:t>
            </a:r>
          </a:p>
        </p:txBody>
      </p:sp>
      <p:sp>
        <p:nvSpPr>
          <p:cNvPr id="30" name="Rounded Rectangle 29"/>
          <p:cNvSpPr/>
          <p:nvPr/>
        </p:nvSpPr>
        <p:spPr>
          <a:xfrm>
            <a:off x="4334255" y="1463040"/>
            <a:ext cx="3520440" cy="41148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64592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2" name="TextBox 31"/>
          <p:cNvSpPr txBox="1"/>
          <p:nvPr/>
        </p:nvSpPr>
        <p:spPr>
          <a:xfrm>
            <a:off x="5175503" y="161848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Proposed system</a:t>
            </a:r>
          </a:p>
        </p:txBody>
      </p:sp>
      <p:sp>
        <p:nvSpPr>
          <p:cNvPr id="33" name="TextBox 32"/>
          <p:cNvSpPr txBox="1"/>
          <p:nvPr/>
        </p:nvSpPr>
        <p:spPr>
          <a:xfrm>
            <a:off x="4535423" y="2331720"/>
            <a:ext cx="3118104" cy="3108960"/>
          </a:xfrm>
          <a:prstGeom prst="rect">
            <a:avLst/>
          </a:prstGeom>
          <a:noFill/>
        </p:spPr>
        <p:txBody>
          <a:bodyPr wrap="square" lIns="0" rIns="0" tIns="0" bIns="0" anchor="t">
            <a:spAutoFit/>
          </a:bodyPr>
          <a:lstStyle/>
          <a:p>
            <a:pPr algn="l">
              <a:spcAft>
                <a:spcPts val="400"/>
              </a:spcAft>
            </a:pPr>
            <a:r>
              <a:rPr sz="1800" b="0" i="0">
                <a:solidFill>
                  <a:srgbClr val="475569"/>
                </a:solidFill>
              </a:rPr>
              <a:t>FlowSense puts the whole chain in one product: YOLOv8n vehicle detection and a light-bar rule, a 30-second queue forecaster, an advanced signal controller with emergency green wave and spill-back avoidance, a violation log and a live console.</a:t>
            </a:r>
          </a:p>
        </p:txBody>
      </p:sp>
      <p:sp>
        <p:nvSpPr>
          <p:cNvPr id="34" name="Rounded Rectangle 33"/>
          <p:cNvSpPr/>
          <p:nvPr/>
        </p:nvSpPr>
        <p:spPr>
          <a:xfrm>
            <a:off x="8119871" y="1463040"/>
            <a:ext cx="3520440" cy="41148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64592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B</a:t>
            </a:r>
          </a:p>
        </p:txBody>
      </p:sp>
      <p:sp>
        <p:nvSpPr>
          <p:cNvPr id="36" name="TextBox 35"/>
          <p:cNvSpPr txBox="1"/>
          <p:nvPr/>
        </p:nvSpPr>
        <p:spPr>
          <a:xfrm>
            <a:off x="8961119" y="161848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Base paper link [1]</a:t>
            </a:r>
          </a:p>
        </p:txBody>
      </p:sp>
      <p:sp>
        <p:nvSpPr>
          <p:cNvPr id="37" name="TextBox 36"/>
          <p:cNvSpPr txBox="1"/>
          <p:nvPr/>
        </p:nvSpPr>
        <p:spPr>
          <a:xfrm>
            <a:off x="8321040" y="2331720"/>
            <a:ext cx="3118104" cy="3108960"/>
          </a:xfrm>
          <a:prstGeom prst="rect">
            <a:avLst/>
          </a:prstGeom>
          <a:noFill/>
        </p:spPr>
        <p:txBody>
          <a:bodyPr wrap="square" lIns="0" rIns="0" tIns="0" bIns="0" anchor="t">
            <a:spAutoFit/>
          </a:bodyPr>
          <a:lstStyle/>
          <a:p>
            <a:pPr algn="l">
              <a:spcAft>
                <a:spcPts val="400"/>
              </a:spcAft>
            </a:pPr>
            <a:r>
              <a:rPr sz="1800" b="0" i="0">
                <a:solidFill>
                  <a:srgbClr val="475569"/>
                </a:solidFill>
              </a:rPr>
              <a:t>Lamrabet et al. add a trained YOLO26m light-bar detector over a GA-SGD controller and validate it in SUMO on one roundabout. We keep the emergency-priority idea but build the full chain and measure it in our own simulator. Results are not comparable in absolute terms.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System architecture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pic>
        <p:nvPicPr>
          <p:cNvPr id="26" name="Picture 25" descr="a10_r2_01.png"/>
          <p:cNvPicPr>
            <a:picLocks noChangeAspect="1"/>
          </p:cNvPicPr>
          <p:nvPr/>
        </p:nvPicPr>
        <p:blipFill>
          <a:blip r:embed="rId1"/>
          <a:stretch>
            <a:fillRect/>
          </a:stretch>
        </p:blipFill>
        <p:spPr>
          <a:xfrm>
            <a:off x="548640" y="1378409"/>
            <a:ext cx="6583679" cy="4832701"/>
          </a:xfrm>
          <a:prstGeom prst="rect">
            <a:avLst/>
          </a:prstGeom>
        </p:spPr>
      </p:pic>
      <p:sp>
        <p:nvSpPr>
          <p:cNvPr id="27" name="TextBox 26"/>
          <p:cNvSpPr txBox="1"/>
          <p:nvPr/>
        </p:nvSpPr>
        <p:spPr>
          <a:xfrm>
            <a:off x="7315200" y="1325880"/>
            <a:ext cx="4343400" cy="4937760"/>
          </a:xfrm>
          <a:prstGeom prst="rect">
            <a:avLst/>
          </a:prstGeom>
          <a:noFill/>
        </p:spPr>
        <p:txBody>
          <a:bodyPr wrap="square" lIns="0" rIns="0" tIns="0" bIns="0" anchor="t">
            <a:spAutoFit/>
          </a:bodyPr>
          <a:lstStyle/>
          <a:p>
            <a:pPr algn="l">
              <a:spcAft>
                <a:spcPts val="800"/>
              </a:spcAft>
            </a:pPr>
            <a:r>
              <a:rPr sz="1500" b="1" i="0">
                <a:solidFill>
                  <a:srgbClr val="0F172A"/>
                </a:solidFill>
              </a:rPr>
              <a:t>Four tiers, no database</a:t>
            </a:r>
          </a:p>
          <a:p>
            <a:pPr algn="l" marL="256032" indent="-201168">
              <a:spcAft>
                <a:spcPts val="400"/>
              </a:spcAft>
              <a:buChar char="•"/>
            </a:pPr>
            <a:r>
              <a:rPr sz="1500" b="0" i="0">
                <a:solidFill>
                  <a:srgbClr val="0F172A"/>
                </a:solidFill>
              </a:rPr>
              <a:t>Console: React 19 + Vite on port 5310, 8 pages (landing, sign-in, live control, benchmark, vision, prediction, violations, about).</a:t>
            </a:r>
          </a:p>
          <a:p>
            <a:pPr algn="l" marL="256032" indent="-201168">
              <a:spcAft>
                <a:spcPts val="400"/>
              </a:spcAft>
              <a:buChar char="•"/>
            </a:pPr>
            <a:r>
              <a:rPr sz="1500" b="0" i="0">
                <a:solidFill>
                  <a:srgbClr val="0F172A"/>
                </a:solidFill>
              </a:rPr>
              <a:t>API: FastAPI on port 8310, 20 routes under /api, token sign-in, validation errors with a message and a hint.</a:t>
            </a:r>
          </a:p>
          <a:p>
            <a:pPr algn="l" marL="256032" indent="-201168">
              <a:spcAft>
                <a:spcPts val="400"/>
              </a:spcAft>
              <a:buChar char="•"/>
            </a:pPr>
            <a:r>
              <a:rPr sz="1500" b="0" i="0">
                <a:solidFill>
                  <a:srgbClr val="0F172A"/>
                </a:solidFill>
              </a:rPr>
              <a:t>Engine: smart_traffic/sim.py (simulator and four controllers), predictor.py (queue forecaster), vision.py (YOLOv8n, light-bar rule, density).</a:t>
            </a:r>
          </a:p>
          <a:p>
            <a:pPr algn="l" marL="256032" indent="-201168">
              <a:spcAft>
                <a:spcPts val="400"/>
              </a:spcAft>
              <a:buChar char="•"/>
            </a:pPr>
            <a:r>
              <a:rPr sz="1500" b="0" i="0">
                <a:solidFill>
                  <a:srgbClr val="0F172A"/>
                </a:solidFill>
              </a:rPr>
              <a:t>State: one shared live simulation, a benchmark cache and the last violation log live in process memory.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Methodology: detect, forecast, decide, coordinate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pic>
        <p:nvPicPr>
          <p:cNvPr id="26" name="Picture 25" descr="a10_r2_02.png"/>
          <p:cNvPicPr>
            <a:picLocks noChangeAspect="1"/>
          </p:cNvPicPr>
          <p:nvPr/>
        </p:nvPicPr>
        <p:blipFill>
          <a:blip r:embed="rId3"/>
          <a:stretch>
            <a:fillRect/>
          </a:stretch>
        </p:blipFill>
        <p:spPr>
          <a:xfrm>
            <a:off x="548640" y="1392222"/>
            <a:ext cx="6766560" cy="4347874"/>
          </a:xfrm>
          <a:prstGeom prst="rect">
            <a:avLst/>
          </a:prstGeom>
        </p:spPr>
      </p:pic>
      <p:sp>
        <p:nvSpPr>
          <p:cNvPr id="27" name="Rounded Rectangle 26"/>
          <p:cNvSpPr/>
          <p:nvPr/>
        </p:nvSpPr>
        <p:spPr>
          <a:xfrm>
            <a:off x="7589520" y="1280160"/>
            <a:ext cx="4050791" cy="15087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726679" y="1344168"/>
            <a:ext cx="3794760" cy="365760"/>
          </a:xfrm>
          <a:prstGeom prst="rect">
            <a:avLst/>
          </a:prstGeom>
          <a:noFill/>
        </p:spPr>
        <p:txBody>
          <a:bodyPr wrap="square" lIns="0" rIns="0" tIns="0" bIns="0" anchor="t">
            <a:spAutoFit/>
          </a:bodyPr>
          <a:lstStyle/>
          <a:p>
            <a:pPr algn="l">
              <a:spcAft>
                <a:spcPts val="400"/>
              </a:spcAft>
            </a:pPr>
            <a:r>
              <a:rPr sz="1500" b="1" i="0">
                <a:solidFill>
                  <a:srgbClr val="0F172A"/>
                </a:solidFill>
              </a:rPr>
              <a:t>Sense</a:t>
            </a:r>
          </a:p>
        </p:txBody>
      </p:sp>
      <p:sp>
        <p:nvSpPr>
          <p:cNvPr id="29" name="TextBox 28"/>
          <p:cNvSpPr txBox="1"/>
          <p:nvPr/>
        </p:nvSpPr>
        <p:spPr>
          <a:xfrm>
            <a:off x="7726679" y="1664207"/>
            <a:ext cx="3794760" cy="1097280"/>
          </a:xfrm>
          <a:prstGeom prst="rect">
            <a:avLst/>
          </a:prstGeom>
          <a:noFill/>
        </p:spPr>
        <p:txBody>
          <a:bodyPr wrap="square" lIns="0" rIns="0" tIns="0" bIns="0" anchor="t">
            <a:spAutoFit/>
          </a:bodyPr>
          <a:lstStyle/>
          <a:p>
            <a:pPr algn="l">
              <a:spcAft>
                <a:spcPts val="400"/>
              </a:spcAft>
            </a:pPr>
            <a:r>
              <a:rPr sz="1250" b="0" i="0">
                <a:solidFill>
                  <a:srgbClr val="475569"/>
                </a:solidFill>
              </a:rPr>
              <a:t>Vehicles enter on the entry roads (Poisson demand, rush-hour profile). The vision layer turns a camera frame into counts, PCU density and an emergency flag.</a:t>
            </a:r>
          </a:p>
        </p:txBody>
      </p:sp>
      <p:sp>
        <p:nvSpPr>
          <p:cNvPr id="30" name="Rounded Rectangle 29"/>
          <p:cNvSpPr/>
          <p:nvPr/>
        </p:nvSpPr>
        <p:spPr>
          <a:xfrm>
            <a:off x="7589520" y="2907791"/>
            <a:ext cx="4050791" cy="15087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726679" y="2971799"/>
            <a:ext cx="3794760" cy="365760"/>
          </a:xfrm>
          <a:prstGeom prst="rect">
            <a:avLst/>
          </a:prstGeom>
          <a:noFill/>
        </p:spPr>
        <p:txBody>
          <a:bodyPr wrap="square" lIns="0" rIns="0" tIns="0" bIns="0" anchor="t">
            <a:spAutoFit/>
          </a:bodyPr>
          <a:lstStyle/>
          <a:p>
            <a:pPr algn="l">
              <a:spcAft>
                <a:spcPts val="400"/>
              </a:spcAft>
            </a:pPr>
            <a:r>
              <a:rPr sz="1500" b="1" i="0">
                <a:solidFill>
                  <a:srgbClr val="0F172A"/>
                </a:solidFill>
              </a:rPr>
              <a:t>Forecast and decide</a:t>
            </a:r>
          </a:p>
        </p:txBody>
      </p:sp>
      <p:sp>
        <p:nvSpPr>
          <p:cNvPr id="32" name="TextBox 31"/>
          <p:cNvSpPr txBox="1"/>
          <p:nvPr/>
        </p:nvSpPr>
        <p:spPr>
          <a:xfrm>
            <a:off x="7726679" y="3291839"/>
            <a:ext cx="3794760" cy="1097280"/>
          </a:xfrm>
          <a:prstGeom prst="rect">
            <a:avLst/>
          </a:prstGeom>
          <a:noFill/>
        </p:spPr>
        <p:txBody>
          <a:bodyPr wrap="square" lIns="0" rIns="0" tIns="0" bIns="0" anchor="t">
            <a:spAutoFit/>
          </a:bodyPr>
          <a:lstStyle/>
          <a:p>
            <a:pPr algn="l">
              <a:spcAft>
                <a:spcPts val="400"/>
              </a:spcAft>
            </a:pPr>
            <a:r>
              <a:rPr sz="1250" b="0" i="0">
                <a:solidFill>
                  <a:srgbClr val="475569"/>
                </a:solidFill>
              </a:rPr>
              <a:t>Each second a controller scores both phases per junction. The advanced controller adds a 30 s queue forecast, inbound platoons within 8 s and fairness.</a:t>
            </a:r>
          </a:p>
        </p:txBody>
      </p:sp>
      <p:sp>
        <p:nvSpPr>
          <p:cNvPr id="33" name="Rounded Rectangle 32"/>
          <p:cNvSpPr/>
          <p:nvPr/>
        </p:nvSpPr>
        <p:spPr>
          <a:xfrm>
            <a:off x="7589520" y="4535424"/>
            <a:ext cx="4050791" cy="15087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726679" y="4599432"/>
            <a:ext cx="3794760" cy="365760"/>
          </a:xfrm>
          <a:prstGeom prst="rect">
            <a:avLst/>
          </a:prstGeom>
          <a:noFill/>
        </p:spPr>
        <p:txBody>
          <a:bodyPr wrap="square" lIns="0" rIns="0" tIns="0" bIns="0" anchor="t">
            <a:spAutoFit/>
          </a:bodyPr>
          <a:lstStyle/>
          <a:p>
            <a:pPr algn="l">
              <a:spcAft>
                <a:spcPts val="400"/>
              </a:spcAft>
            </a:pPr>
            <a:r>
              <a:rPr sz="1500" b="1" i="0">
                <a:solidFill>
                  <a:srgbClr val="0F172A"/>
                </a:solidFill>
              </a:rPr>
              <a:t>Coordinate</a:t>
            </a:r>
          </a:p>
        </p:txBody>
      </p:sp>
      <p:sp>
        <p:nvSpPr>
          <p:cNvPr id="35" name="TextBox 34"/>
          <p:cNvSpPr txBox="1"/>
          <p:nvPr/>
        </p:nvSpPr>
        <p:spPr>
          <a:xfrm>
            <a:off x="7726679" y="4919472"/>
            <a:ext cx="3794760" cy="1097280"/>
          </a:xfrm>
          <a:prstGeom prst="rect">
            <a:avLst/>
          </a:prstGeom>
          <a:noFill/>
        </p:spPr>
        <p:txBody>
          <a:bodyPr wrap="square" lIns="0" rIns="0" tIns="0" bIns="0" anchor="t">
            <a:spAutoFit/>
          </a:bodyPr>
          <a:lstStyle/>
          <a:p>
            <a:pPr algn="l">
              <a:spcAft>
                <a:spcPts val="400"/>
              </a:spcAft>
            </a:pPr>
            <a:r>
              <a:rPr sz="1250" b="0" i="0">
                <a:solidFill>
                  <a:srgbClr val="475569"/>
                </a:solidFill>
              </a:rPr>
              <a:t>Inter-junction look-ahead damps green toward a full downstream link and clears an ambulance's route up to 15 s ahead (green wave).</a:t>
            </a:r>
          </a:p>
        </p:txBody>
      </p:sp>
      <p:sp>
        <p:nvSpPr>
          <p:cNvPr id="36" name="TextBox 35"/>
          <p:cNvSpPr txBox="1"/>
          <p:nvPr/>
        </p:nvSpPr>
        <p:spPr>
          <a:xfrm>
            <a:off x="548640" y="5943600"/>
            <a:ext cx="6766560" cy="411480"/>
          </a:xfrm>
          <a:prstGeom prst="rect">
            <a:avLst/>
          </a:prstGeom>
          <a:noFill/>
        </p:spPr>
        <p:txBody>
          <a:bodyPr wrap="square" lIns="0" rIns="0" tIns="0" bIns="0" anchor="t">
            <a:spAutoFit/>
          </a:bodyPr>
          <a:lstStyle/>
          <a:p>
            <a:pPr algn="ctr">
              <a:spcAft>
                <a:spcPts val="400"/>
              </a:spcAft>
            </a:pPr>
            <a:r>
              <a:rPr sz="1200" b="0" i="1">
                <a:solidFill>
                  <a:srgbClr val="475569"/>
                </a:solidFill>
              </a:rPr>
              <a:t>High-level workflow as implemented in the simulator and the API.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 simulated demand, forecaster set and real images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sp>
        <p:nvSpPr>
          <p:cNvPr id="26" name="Rounded Rectangle 25"/>
          <p:cNvSpPr/>
          <p:nvPr/>
        </p:nvSpPr>
        <p:spPr>
          <a:xfrm>
            <a:off x="548640"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280160"/>
            <a:ext cx="73152"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26,988 x 11</a:t>
            </a:r>
          </a:p>
        </p:txBody>
      </p:sp>
      <p:sp>
        <p:nvSpPr>
          <p:cNvPr id="29" name="TextBox 28"/>
          <p:cNvSpPr txBox="1"/>
          <p:nvPr/>
        </p:nvSpPr>
        <p:spPr>
          <a:xfrm>
            <a:off x="749808"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forecaster training samples x features</a:t>
            </a:r>
          </a:p>
        </p:txBody>
      </p:sp>
      <p:sp>
        <p:nvSpPr>
          <p:cNvPr id="30" name="Rounded Rectangle 29"/>
          <p:cNvSpPr/>
          <p:nvPr/>
        </p:nvSpPr>
        <p:spPr>
          <a:xfrm>
            <a:off x="3374136"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74136" y="128016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75304"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293</a:t>
            </a:r>
          </a:p>
        </p:txBody>
      </p:sp>
      <p:sp>
        <p:nvSpPr>
          <p:cNvPr id="33" name="TextBox 32"/>
          <p:cNvSpPr txBox="1"/>
          <p:nvPr/>
        </p:nvSpPr>
        <p:spPr>
          <a:xfrm>
            <a:off x="3575304"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real dashcam frames, 1,506 boxes (CC BY 4.0)</a:t>
            </a:r>
          </a:p>
        </p:txBody>
      </p:sp>
      <p:sp>
        <p:nvSpPr>
          <p:cNvPr id="34" name="Rounded Rectangle 33"/>
          <p:cNvSpPr/>
          <p:nvPr/>
        </p:nvSpPr>
        <p:spPr>
          <a:xfrm>
            <a:off x="6199631"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199631" y="1280160"/>
            <a:ext cx="73152" cy="1143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799"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600</a:t>
            </a:r>
          </a:p>
        </p:txBody>
      </p:sp>
      <p:sp>
        <p:nvSpPr>
          <p:cNvPr id="37" name="TextBox 36"/>
          <p:cNvSpPr txBox="1"/>
          <p:nvPr/>
        </p:nvSpPr>
        <p:spPr>
          <a:xfrm>
            <a:off x="6400799"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real photos: 300 ambulance, 300 other (CC BY 4.0)</a:t>
            </a:r>
          </a:p>
        </p:txBody>
      </p:sp>
      <p:sp>
        <p:nvSpPr>
          <p:cNvPr id="38" name="Rounded Rectangle 37"/>
          <p:cNvSpPr/>
          <p:nvPr/>
        </p:nvSpPr>
        <p:spPr>
          <a:xfrm>
            <a:off x="9025128"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25128" y="1280160"/>
            <a:ext cx="73152" cy="114300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26296"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5</a:t>
            </a:r>
          </a:p>
        </p:txBody>
      </p:sp>
      <p:sp>
        <p:nvSpPr>
          <p:cNvPr id="41" name="TextBox 40"/>
          <p:cNvSpPr txBox="1"/>
          <p:nvPr/>
        </p:nvSpPr>
        <p:spPr>
          <a:xfrm>
            <a:off x="9226296"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benchmark seeds (40-44), 1800 s each</a:t>
            </a:r>
          </a:p>
        </p:txBody>
      </p:sp>
      <p:graphicFrame>
        <p:nvGraphicFramePr>
          <p:cNvPr id="42" name="Table 41"/>
          <p:cNvGraphicFramePr>
            <a:graphicFrameLocks noGrp="1"/>
          </p:cNvGraphicFramePr>
          <p:nvPr/>
        </p:nvGraphicFramePr>
        <p:xfrm>
          <a:off x="548640" y="2697480"/>
          <a:ext cx="11091672" cy="3401568"/>
        </p:xfrm>
        <a:graphic>
          <a:graphicData uri="http://schemas.openxmlformats.org/drawingml/2006/table">
            <a:tbl>
              <a:tblPr firstRow="0" bandRow="0">
                <a:tableStyleId>{5C22544A-7EE6-4342-B048-85BDC9FD1C3A}</a:tableStyleId>
              </a:tblPr>
              <a:tblGrid>
                <a:gridCol w="1371600"/>
                <a:gridCol w="4937760"/>
                <a:gridCol w="4782312"/>
              </a:tblGrid>
              <a:tr h="566928">
                <a:tc>
                  <a:txBody>
                    <a:bodyPr wrap="square"/>
                    <a:lstStyle/>
                    <a:p>
                      <a:pPr algn="ctr"/>
                      <a:r>
                        <a:rPr sz="1250" b="1">
                          <a:solidFill>
                            <a:srgbClr val="FFFFFF"/>
                          </a:solidFill>
                        </a:rPr>
                        <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50" b="1">
                          <a:solidFill>
                            <a:srgbClr val="FFFFFF"/>
                          </a:solidFill>
                        </a:rPr>
                        <a:t>Simulator-generated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50" b="1">
                          <a:solidFill>
                            <a:srgbClr val="FFFFFF"/>
                          </a:solidFill>
                        </a:rPr>
                        <a:t>Public real images (evaluation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66928">
                <a:tc>
                  <a:txBody>
                    <a:bodyPr wrap="square"/>
                    <a:lstStyle/>
                    <a:p>
                      <a:pPr algn="l"/>
                      <a:r>
                        <a:rPr sz="1250" b="1">
                          <a:solidFill>
                            <a:srgbClr val="0F172A"/>
                          </a:solidFill>
                        </a:rPr>
                        <a:t>Source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FlowSense simulator: 2x2 or 3x3 grid, Poisson arrivals, seeded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Visaitech mixed-traffic frames [32]; shravya11 ambulance photos [33]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66928">
                <a:tc>
                  <a:txBody>
                    <a:bodyPr wrap="square"/>
                    <a:lstStyle/>
                    <a:p>
                      <a:pPr algn="l"/>
                      <a:r>
                        <a:rPr sz="1250" b="1">
                          <a:solidFill>
                            <a:srgbClr val="0F172A"/>
                          </a:solidFill>
                        </a:rPr>
                        <a:t>Forecaster set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6 runs of 1800 s under the adaptive controller; demand 0.7-1.6, start 07/08/12/17 h; a snapshot every 10 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none - the forecaster never sees real 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66928">
                <a:tc>
                  <a:txBody>
                    <a:bodyPr wrap="square"/>
                    <a:lstStyle/>
                    <a:p>
                      <a:pPr algn="l"/>
                      <a:r>
                        <a:rPr sz="1250" b="1">
                          <a:solidFill>
                            <a:srgbClr val="0F172A"/>
                          </a:solidFill>
                        </a:rPr>
                        <a:t>Targets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queue 30 s ahead per approach (mean 5.81, std 12.02, max 138)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boxes: 2-, 3-, 4-wheelers; ambulance yes / no</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66928">
                <a:tc>
                  <a:txBody>
                    <a:bodyPr wrap="square"/>
                    <a:lstStyle/>
                    <a:p>
                      <a:pPr algn="l"/>
                      <a:r>
                        <a:rPr sz="1250" b="1">
                          <a:solidFill>
                            <a:srgbClr val="0F172A"/>
                          </a:solidFill>
                        </a:rPr>
                        <a:t>Split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random 75/25 (shipped) and leave-one-simulation-out (added)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no training: YOLOv8n COCO weights used as shipped, conf 0.3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66928">
                <a:tc>
                  <a:txBody>
                    <a:bodyPr wrap="square"/>
                    <a:lstStyle/>
                    <a:p>
                      <a:pPr algn="l"/>
                      <a:r>
                        <a:rPr sz="1250" b="1">
                          <a:solidFill>
                            <a:srgbClr val="0F172A"/>
                          </a:solidFill>
                        </a:rPr>
                        <a:t>Limit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assumptions are ours (saturation 0.5 veh/s, link 12 s); not SUMO</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dashcam, not junction cameras; first 300 files by name per folder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
        <p:nvSpPr>
          <p:cNvPr id="43" name="TextBox 42"/>
          <p:cNvSpPr txBox="1"/>
          <p:nvPr/>
        </p:nvSpPr>
        <p:spPr>
          <a:xfrm>
            <a:off x="548640" y="6172200"/>
            <a:ext cx="11091672" cy="320040"/>
          </a:xfrm>
          <a:prstGeom prst="rect">
            <a:avLst/>
          </a:prstGeom>
          <a:noFill/>
        </p:spPr>
        <p:txBody>
          <a:bodyPr wrap="square" lIns="0" rIns="0" tIns="0" bIns="0" anchor="t">
            <a:spAutoFit/>
          </a:bodyPr>
          <a:lstStyle/>
          <a:p>
            <a:pPr algn="l">
              <a:spcAft>
                <a:spcPts val="400"/>
              </a:spcAft>
            </a:pPr>
            <a:r>
              <a:rPr sz="1200" b="0" i="1">
                <a:solidFill>
                  <a:srgbClr val="475569"/>
                </a:solidFill>
              </a:rPr>
              <a:t>No private data is used; the base paper's 3,130 light-bar images were not available to us.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Feature construction (preprocessing)</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
        <p:nvSpPr>
          <p:cNvPr id="26" name="Rounded Rectangle 25"/>
          <p:cNvSpPr/>
          <p:nvPr/>
        </p:nvSpPr>
        <p:spPr>
          <a:xfrm>
            <a:off x="548640" y="1325880"/>
            <a:ext cx="1680972" cy="91440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Simulator state each second</a:t>
            </a:r>
          </a:p>
        </p:txBody>
      </p:sp>
      <p:sp>
        <p:nvSpPr>
          <p:cNvPr id="27" name="Right Arrow 26"/>
          <p:cNvSpPr/>
          <p:nvPr/>
        </p:nvSpPr>
        <p:spPr>
          <a:xfrm>
            <a:off x="222961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430780" y="1325880"/>
            <a:ext cx="1680972" cy="91440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Queue and PCU queue</a:t>
            </a:r>
          </a:p>
        </p:txBody>
      </p:sp>
      <p:sp>
        <p:nvSpPr>
          <p:cNvPr id="29" name="Right Arrow 28"/>
          <p:cNvSpPr/>
          <p:nvPr/>
        </p:nvSpPr>
        <p:spPr>
          <a:xfrm>
            <a:off x="411175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312920" y="1325880"/>
            <a:ext cx="1680972" cy="91440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Lags 10 s and 30 s</a:t>
            </a:r>
          </a:p>
        </p:txBody>
      </p:sp>
      <p:sp>
        <p:nvSpPr>
          <p:cNvPr id="31" name="Right Arrow 30"/>
          <p:cNvSpPr/>
          <p:nvPr/>
        </p:nvSpPr>
        <p:spPr>
          <a:xfrm>
            <a:off x="599389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195060" y="1325880"/>
            <a:ext cx="1680972" cy="91440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Inflow and inbound</a:t>
            </a:r>
          </a:p>
        </p:txBody>
      </p:sp>
      <p:sp>
        <p:nvSpPr>
          <p:cNvPr id="33" name="Right Arrow 32"/>
          <p:cNvSpPr/>
          <p:nvPr/>
        </p:nvSpPr>
        <p:spPr>
          <a:xfrm>
            <a:off x="787603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077200" y="1325880"/>
            <a:ext cx="1680972" cy="91440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Signal state, time of day</a:t>
            </a:r>
          </a:p>
        </p:txBody>
      </p:sp>
      <p:sp>
        <p:nvSpPr>
          <p:cNvPr id="35" name="Right Arrow 34"/>
          <p:cNvSpPr/>
          <p:nvPr/>
        </p:nvSpPr>
        <p:spPr>
          <a:xfrm>
            <a:off x="975817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959340" y="1325880"/>
            <a:ext cx="1680972" cy="91440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11 features per approach</a:t>
            </a:r>
          </a:p>
        </p:txBody>
      </p:sp>
      <p:sp>
        <p:nvSpPr>
          <p:cNvPr id="37" name="Rounded Rectangle 36"/>
          <p:cNvSpPr/>
          <p:nvPr/>
        </p:nvSpPr>
        <p:spPr>
          <a:xfrm>
            <a:off x="548640" y="2560320"/>
            <a:ext cx="544068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548640" y="256032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49808" y="2651760"/>
            <a:ext cx="5166360" cy="628650"/>
          </a:xfrm>
          <a:prstGeom prst="rect">
            <a:avLst/>
          </a:prstGeom>
          <a:noFill/>
        </p:spPr>
        <p:txBody>
          <a:bodyPr wrap="square" lIns="0" rIns="0" tIns="0" bIns="0" anchor="ctr">
            <a:spAutoFit/>
          </a:bodyPr>
          <a:lstStyle/>
          <a:p>
            <a:pPr algn="l">
              <a:spcAft>
                <a:spcPts val="400"/>
              </a:spcAft>
            </a:pPr>
            <a:r>
              <a:rPr sz="2800" b="1" i="0">
                <a:solidFill>
                  <a:srgbClr val="0F172A"/>
                </a:solidFill>
              </a:rPr>
              <a:t>11</a:t>
            </a:r>
          </a:p>
        </p:txBody>
      </p:sp>
      <p:sp>
        <p:nvSpPr>
          <p:cNvPr id="40" name="TextBox 39"/>
          <p:cNvSpPr txBox="1"/>
          <p:nvPr/>
        </p:nvSpPr>
        <p:spPr>
          <a:xfrm>
            <a:off x="749808" y="3223260"/>
            <a:ext cx="5166360" cy="434340"/>
          </a:xfrm>
          <a:prstGeom prst="rect">
            <a:avLst/>
          </a:prstGeom>
          <a:noFill/>
        </p:spPr>
        <p:txBody>
          <a:bodyPr wrap="square" lIns="0" rIns="0" tIns="0" bIns="0" anchor="t">
            <a:spAutoFit/>
          </a:bodyPr>
          <a:lstStyle/>
          <a:p>
            <a:pPr algn="l">
              <a:spcAft>
                <a:spcPts val="400"/>
              </a:spcAft>
            </a:pPr>
            <a:r>
              <a:rPr sz="1200" b="0" i="0">
                <a:solidFill>
                  <a:srgbClr val="475569"/>
                </a:solidFill>
              </a:rPr>
              <a:t>features per approach: queue, pcu_queue, queue_lag10, queue_lag30, inflow_30s, inbound_15s, is_green, green_time, is_entry, sin_day, cos_day</a:t>
            </a:r>
          </a:p>
        </p:txBody>
      </p:sp>
      <p:sp>
        <p:nvSpPr>
          <p:cNvPr id="41" name="Rounded Rectangle 40"/>
          <p:cNvSpPr/>
          <p:nvPr/>
        </p:nvSpPr>
        <p:spPr>
          <a:xfrm>
            <a:off x="6217920" y="2560320"/>
            <a:ext cx="544068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17920" y="2560320"/>
            <a:ext cx="73152" cy="1143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419088" y="2651760"/>
            <a:ext cx="5166360" cy="628650"/>
          </a:xfrm>
          <a:prstGeom prst="rect">
            <a:avLst/>
          </a:prstGeom>
          <a:noFill/>
        </p:spPr>
        <p:txBody>
          <a:bodyPr wrap="square" lIns="0" rIns="0" tIns="0" bIns="0" anchor="ctr">
            <a:spAutoFit/>
          </a:bodyPr>
          <a:lstStyle/>
          <a:p>
            <a:pPr algn="l">
              <a:spcAft>
                <a:spcPts val="400"/>
              </a:spcAft>
            </a:pPr>
            <a:r>
              <a:rPr sz="2800" b="1" i="0">
                <a:solidFill>
                  <a:srgbClr val="0F172A"/>
                </a:solidFill>
              </a:rPr>
              <a:t>30 s</a:t>
            </a:r>
          </a:p>
        </p:txBody>
      </p:sp>
      <p:sp>
        <p:nvSpPr>
          <p:cNvPr id="44" name="TextBox 43"/>
          <p:cNvSpPr txBox="1"/>
          <p:nvPr/>
        </p:nvSpPr>
        <p:spPr>
          <a:xfrm>
            <a:off x="6419088" y="3223260"/>
            <a:ext cx="5166360" cy="434340"/>
          </a:xfrm>
          <a:prstGeom prst="rect">
            <a:avLst/>
          </a:prstGeom>
          <a:noFill/>
        </p:spPr>
        <p:txBody>
          <a:bodyPr wrap="square" lIns="0" rIns="0" tIns="0" bIns="0" anchor="t">
            <a:spAutoFit/>
          </a:bodyPr>
          <a:lstStyle/>
          <a:p>
            <a:pPr algn="l">
              <a:spcAft>
                <a:spcPts val="400"/>
              </a:spcAft>
            </a:pPr>
            <a:r>
              <a:rPr sz="1200" b="0" i="0">
                <a:solidFill>
                  <a:srgbClr val="475569"/>
                </a:solidFill>
              </a:rPr>
              <a:t>forecast horizon; predictions clipped to 0-40 vehicles</a:t>
            </a:r>
          </a:p>
        </p:txBody>
      </p:sp>
      <p:sp>
        <p:nvSpPr>
          <p:cNvPr id="45" name="TextBox 44"/>
          <p:cNvSpPr txBox="1"/>
          <p:nvPr/>
        </p:nvSpPr>
        <p:spPr>
          <a:xfrm>
            <a:off x="548640" y="3977639"/>
            <a:ext cx="11091672" cy="2377440"/>
          </a:xfrm>
          <a:prstGeom prst="rect">
            <a:avLst/>
          </a:prstGeom>
          <a:noFill/>
        </p:spPr>
        <p:txBody>
          <a:bodyPr wrap="square" lIns="0" rIns="0" tIns="0" bIns="0" anchor="t">
            <a:spAutoFit/>
          </a:bodyPr>
          <a:lstStyle/>
          <a:p>
            <a:pPr algn="l" marL="256032" indent="-201168">
              <a:spcAft>
                <a:spcPts val="900"/>
              </a:spcAft>
              <a:buChar char="•"/>
            </a:pPr>
            <a:r>
              <a:rPr sz="1600" b="0" i="0">
                <a:solidFill>
                  <a:srgbClr val="0F172A"/>
                </a:solidFill>
              </a:rPr>
              <a:t>Vision frames: YOLOv8n is restricted to the COCO classes car, motorcycle, bus and truck; the HSV rule marks red-and-blue blobs that touch after dilation as a light bar.</a:t>
            </a:r>
          </a:p>
          <a:p>
            <a:pPr algn="l" marL="256032" indent="-201168">
              <a:spcAft>
                <a:spcPts val="900"/>
              </a:spcAft>
              <a:buChar char="•"/>
            </a:pPr>
            <a:r>
              <a:rPr sz="1600" b="0" i="0">
                <a:solidFill>
                  <a:srgbClr val="0F172A"/>
                </a:solidFill>
              </a:rPr>
              <a:t>Density: passenger-car units (car 1, bike 0.5, bus 3, truck 2) divided by a road capacity of 14 PCU gives LOW, MEDIUM, HIGH or JAMMED.</a:t>
            </a:r>
          </a:p>
          <a:p>
            <a:pPr algn="l" marL="256032" indent="-201168">
              <a:spcAft>
                <a:spcPts val="900"/>
              </a:spcAft>
              <a:buChar char="•"/>
            </a:pPr>
            <a:r>
              <a:rPr sz="1600" b="0" i="0">
                <a:solidFill>
                  <a:srgbClr val="0F172A"/>
                </a:solidFill>
              </a:rPr>
              <a:t>Time of day enters as sin and cos of the hour; the rush-hour demand multiplier peaks at 08:30 and 17:30.</a:t>
            </a:r>
          </a:p>
          <a:p>
            <a:pPr algn="l" marL="256032" indent="-201168">
              <a:spcAft>
                <a:spcPts val="900"/>
              </a:spcAft>
              <a:buChar char="•"/>
            </a:pPr>
            <a:r>
              <a:rPr sz="1600" b="0" i="0">
                <a:solidFill>
                  <a:srgbClr val="0F172A"/>
                </a:solidFill>
              </a:rPr>
              <a:t>Known limit: feature importance is dominated by the current queue (0.69) and the 30 s lag (0.13); inbound and inflow features add little.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Models: queue forecaster, YOLOv8n and light-bar rule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pic>
        <p:nvPicPr>
          <p:cNvPr id="26" name="Picture 25" descr="a10_r2_12.png"/>
          <p:cNvPicPr>
            <a:picLocks noChangeAspect="1"/>
          </p:cNvPicPr>
          <p:nvPr/>
        </p:nvPicPr>
        <p:blipFill>
          <a:blip r:embed="rId1"/>
          <a:stretch>
            <a:fillRect/>
          </a:stretch>
        </p:blipFill>
        <p:spPr>
          <a:xfrm>
            <a:off x="548640" y="1316900"/>
            <a:ext cx="6949440" cy="4407079"/>
          </a:xfrm>
          <a:prstGeom prst="rect">
            <a:avLst/>
          </a:prstGeom>
        </p:spPr>
      </p:pic>
      <p:sp>
        <p:nvSpPr>
          <p:cNvPr id="27" name="TextBox 26"/>
          <p:cNvSpPr txBox="1"/>
          <p:nvPr/>
        </p:nvSpPr>
        <p:spPr>
          <a:xfrm>
            <a:off x="7772400" y="1325880"/>
            <a:ext cx="3886200" cy="4937760"/>
          </a:xfrm>
          <a:prstGeom prst="rect">
            <a:avLst/>
          </a:prstGeom>
          <a:noFill/>
        </p:spPr>
        <p:txBody>
          <a:bodyPr wrap="square" lIns="0" rIns="0" tIns="0" bIns="0" anchor="t">
            <a:spAutoFit/>
          </a:bodyPr>
          <a:lstStyle/>
          <a:p>
            <a:pPr algn="l" marL="256032" indent="-201168">
              <a:spcAft>
                <a:spcPts val="800"/>
              </a:spcAft>
              <a:buChar char="•"/>
            </a:pPr>
            <a:r>
              <a:rPr sz="1400" b="1" i="0">
                <a:solidFill>
                  <a:srgbClr val="0F172A"/>
                </a:solidFill>
              </a:rPr>
              <a:t>Forecaster</a:t>
            </a:r>
            <a:r>
              <a:rPr sz="1400" b="0" i="0">
                <a:solidFill>
                  <a:srgbClr val="0F172A"/>
                </a:solidFill>
              </a:rPr>
              <a:t>: Gradient Boosting regressor, 160 trees, depth 4; Random Forest and persistence as baselines.</a:t>
            </a:r>
          </a:p>
          <a:p>
            <a:pPr algn="l" marL="256032" indent="-201168">
              <a:spcAft>
                <a:spcPts val="800"/>
              </a:spcAft>
              <a:buChar char="•"/>
            </a:pPr>
            <a:r>
              <a:rPr sz="1400" b="1" i="0">
                <a:solidFill>
                  <a:srgbClr val="0F172A"/>
                </a:solidFill>
              </a:rPr>
              <a:t>YOLOv8n</a:t>
            </a:r>
            <a:r>
              <a:rPr sz="1400" b="0" i="0">
                <a:solidFill>
                  <a:srgbClr val="0F172A"/>
                </a:solidFill>
              </a:rPr>
              <a:t> (Ultralytics, COCO weights): vehicle boxes at confidence 0.3; no fine-tuning.</a:t>
            </a:r>
          </a:p>
          <a:p>
            <a:pPr algn="l" marL="256032" indent="-201168">
              <a:spcAft>
                <a:spcPts val="800"/>
              </a:spcAft>
              <a:buChar char="•"/>
            </a:pPr>
            <a:r>
              <a:rPr sz="1400" b="1" i="0">
                <a:solidFill>
                  <a:srgbClr val="0F172A"/>
                </a:solidFill>
              </a:rPr>
              <a:t>Light-bar rule</a:t>
            </a:r>
            <a:r>
              <a:rPr sz="1400" b="0" i="0">
                <a:solidFill>
                  <a:srgbClr val="0F172A"/>
                </a:solidFill>
              </a:rPr>
              <a:t>: HSV red and blue clusters; a box carrying a cluster is relabelled ambulance.</a:t>
            </a:r>
          </a:p>
          <a:p>
            <a:pPr algn="l" marL="256032" indent="-201168">
              <a:spcAft>
                <a:spcPts val="400"/>
              </a:spcAft>
              <a:buChar char="•"/>
            </a:pPr>
            <a:r>
              <a:rPr sz="1400" b="0" i="1">
                <a:solidFill>
                  <a:srgbClr val="475569"/>
                </a:solidFill>
              </a:rPr>
              <a:t>The base paper's trained YOLO26m light-bar detector is not reproduced.</a:t>
            </a:r>
          </a:p>
        </p:txBody>
      </p:sp>
      <p:sp>
        <p:nvSpPr>
          <p:cNvPr id="28" name="TextBox 27"/>
          <p:cNvSpPr txBox="1"/>
          <p:nvPr/>
        </p:nvSpPr>
        <p:spPr>
          <a:xfrm>
            <a:off x="548640" y="5897880"/>
            <a:ext cx="6949440" cy="411480"/>
          </a:xfrm>
          <a:prstGeom prst="rect">
            <a:avLst/>
          </a:prstGeom>
          <a:noFill/>
        </p:spPr>
        <p:txBody>
          <a:bodyPr wrap="square" lIns="0" rIns="0" tIns="0" bIns="0" anchor="t">
            <a:spAutoFit/>
          </a:bodyPr>
          <a:lstStyle/>
          <a:p>
            <a:pPr algn="ctr">
              <a:spcAft>
                <a:spcPts val="400"/>
              </a:spcAft>
            </a:pPr>
            <a:r>
              <a:rPr sz="1200" b="0" i="1">
                <a:solidFill>
                  <a:srgbClr val="475569"/>
                </a:solidFill>
              </a:rPr>
              <a:t>Forecaster architecture and its closed-loop use inside the advanced controller.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Training and evaluation configuration</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graphicFrame>
        <p:nvGraphicFramePr>
          <p:cNvPr id="26" name="Table 25"/>
          <p:cNvGraphicFramePr>
            <a:graphicFrameLocks noGrp="1"/>
          </p:cNvGraphicFramePr>
          <p:nvPr/>
        </p:nvGraphicFramePr>
        <p:xfrm>
          <a:off x="548640" y="1325880"/>
          <a:ext cx="11091672" cy="4608576"/>
        </p:xfrm>
        <a:graphic>
          <a:graphicData uri="http://schemas.openxmlformats.org/drawingml/2006/table">
            <a:tbl>
              <a:tblPr firstRow="0" bandRow="0">
                <a:tableStyleId>{5C22544A-7EE6-4342-B048-85BDC9FD1C3A}</a:tableStyleId>
              </a:tblPr>
              <a:tblGrid>
                <a:gridCol w="2103120"/>
                <a:gridCol w="8988552"/>
              </a:tblGrid>
              <a:tr h="658368">
                <a:tc>
                  <a:txBody>
                    <a:bodyPr wrap="square"/>
                    <a:lstStyle/>
                    <a:p>
                      <a:pPr algn="ctr"/>
                      <a:r>
                        <a:rPr sz="1400" b="1">
                          <a:solidFill>
                            <a:srgbClr val="FFFFFF"/>
                          </a:solidFill>
                        </a:rPr>
                        <a:t>Setting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Value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658368">
                <a:tc>
                  <a:txBody>
                    <a:bodyPr wrap="square"/>
                    <a:lstStyle/>
                    <a:p>
                      <a:pPr algn="l"/>
                      <a:r>
                        <a:rPr sz="1400" b="1">
                          <a:solidFill>
                            <a:srgbClr val="0F172A"/>
                          </a:solidFill>
                        </a:rPr>
                        <a:t>Forecaster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GradientBoostingRegressor: 160 trees, depth 4, learning rate 0.08, subsample 0.9, seed 0; fit time 5.9 s on CPU</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58368">
                <a:tc>
                  <a:txBody>
                    <a:bodyPr wrap="square"/>
                    <a:lstStyle/>
                    <a:p>
                      <a:pPr algn="l"/>
                      <a:r>
                        <a:rPr sz="1400" b="1">
                          <a:solidFill>
                            <a:srgbClr val="0F172A"/>
                          </a:solidFill>
                        </a:rPr>
                        <a:t>Baselines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Random Forest (80 trees, depth 10), ridge regression, persistence (queue now = queue in 30 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58368">
                <a:tc>
                  <a:txBody>
                    <a:bodyPr wrap="square"/>
                    <a:lstStyle/>
                    <a:p>
                      <a:pPr algn="l"/>
                      <a:r>
                        <a:rPr sz="1400" b="1">
                          <a:solidFill>
                            <a:srgbClr val="0F172A"/>
                          </a:solidFill>
                        </a:rPr>
                        <a:t>Split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random 75/25 (shipped, seed 1) plus 5 random splits and a leave-one-simulation-out check over the 6 runs (26,988 samples)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58368">
                <a:tc>
                  <a:txBody>
                    <a:bodyPr wrap="square"/>
                    <a:lstStyle/>
                    <a:p>
                      <a:pPr algn="l"/>
                      <a:r>
                        <a:rPr sz="1400" b="1">
                          <a:solidFill>
                            <a:srgbClr val="0F172A"/>
                          </a:solidFill>
                        </a:rPr>
                        <a:t>Vision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YOLOv8n pretrained on COCO, not trained here; conf 0.3; light-bar thresholds S &gt;= 120, V &gt;= 190 (red H 0-8 / 172-180, blue H 100-130)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58368">
                <a:tc>
                  <a:txBody>
                    <a:bodyPr wrap="square"/>
                    <a:lstStyle/>
                    <a:p>
                      <a:pPr algn="l"/>
                      <a:r>
                        <a:rPr sz="1400" b="1">
                          <a:solidFill>
                            <a:srgbClr val="0F172A"/>
                          </a:solidFill>
                        </a:rPr>
                        <a:t>Controller benchmark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4 controllers x 5 seeds (40-44), 1800 s, demand x1.2, start 08:00, 2x2 and 3x3 grids; ablation, demand sweep and emergency-heavy test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58368">
                <a:tc>
                  <a:txBody>
                    <a:bodyPr wrap="square"/>
                    <a:lstStyle/>
                    <a:p>
                      <a:pPr algn="l"/>
                      <a:r>
                        <a:rPr sz="1400" b="1">
                          <a:solidFill>
                            <a:srgbClr val="0F172A"/>
                          </a:solidFill>
                        </a:rPr>
                        <a:t>Machine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Core i5-12500, 15.7 GB RAM, no CUDA GPU; Python 3.11.9, scikit-learn 1.5.0, ultralytics 8.4.186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
        <p:nvSpPr>
          <p:cNvPr id="27" name="TextBox 26"/>
          <p:cNvSpPr txBox="1"/>
          <p:nvPr/>
        </p:nvSpPr>
        <p:spPr>
          <a:xfrm>
            <a:off x="548640" y="6035040"/>
            <a:ext cx="11091672" cy="365760"/>
          </a:xfrm>
          <a:prstGeom prst="rect">
            <a:avLst/>
          </a:prstGeom>
          <a:noFill/>
        </p:spPr>
        <p:txBody>
          <a:bodyPr wrap="square" lIns="0" rIns="0" tIns="0" bIns="0" anchor="t">
            <a:spAutoFit/>
          </a:bodyPr>
          <a:lstStyle/>
          <a:p>
            <a:pPr algn="l">
              <a:spcAft>
                <a:spcPts val="400"/>
              </a:spcAft>
            </a:pPr>
            <a:r>
              <a:rPr sz="1200" b="0" i="1">
                <a:solidFill>
                  <a:srgbClr val="475569"/>
                </a:solidFill>
              </a:rPr>
              <a:t>Hyper-parameters are those in the shipped code; nothing was tuned on the real images.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Decision logic: the advanced controller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pic>
        <p:nvPicPr>
          <p:cNvPr id="26" name="Picture 25" descr="a10_r2_10.png"/>
          <p:cNvPicPr>
            <a:picLocks noChangeAspect="1"/>
          </p:cNvPicPr>
          <p:nvPr/>
        </p:nvPicPr>
        <p:blipFill>
          <a:blip r:embed="rId1"/>
          <a:stretch>
            <a:fillRect/>
          </a:stretch>
        </p:blipFill>
        <p:spPr>
          <a:xfrm>
            <a:off x="807159" y="1188720"/>
            <a:ext cx="4877920" cy="5166360"/>
          </a:xfrm>
          <a:prstGeom prst="rect">
            <a:avLst/>
          </a:prstGeom>
        </p:spPr>
      </p:pic>
      <p:graphicFrame>
        <p:nvGraphicFramePr>
          <p:cNvPr id="27" name="Table 26"/>
          <p:cNvGraphicFramePr>
            <a:graphicFrameLocks noGrp="1"/>
          </p:cNvGraphicFramePr>
          <p:nvPr/>
        </p:nvGraphicFramePr>
        <p:xfrm>
          <a:off x="6217920" y="1280160"/>
          <a:ext cx="5440680" cy="2743200"/>
        </p:xfrm>
        <a:graphic>
          <a:graphicData uri="http://schemas.openxmlformats.org/drawingml/2006/table">
            <a:tbl>
              <a:tblPr firstRow="0" bandRow="0">
                <a:tableStyleId>{5C22544A-7EE6-4342-B048-85BDC9FD1C3A}</a:tableStyleId>
              </a:tblPr>
              <a:tblGrid>
                <a:gridCol w="3246120"/>
                <a:gridCol w="2194560"/>
              </a:tblGrid>
              <a:tr h="457200">
                <a:tc>
                  <a:txBody>
                    <a:bodyPr wrap="square"/>
                    <a:lstStyle/>
                    <a:p>
                      <a:pPr algn="ctr"/>
                      <a:r>
                        <a:rPr sz="1250" b="1">
                          <a:solidFill>
                            <a:srgbClr val="FFFFFF"/>
                          </a:solidFill>
                        </a:rPr>
                        <a:t>Rule (per junction, per second)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50" b="1">
                          <a:solidFill>
                            <a:srgbClr val="FFFFFF"/>
                          </a:solidFill>
                        </a:rPr>
                        <a:t>Action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457200">
                <a:tc>
                  <a:txBody>
                    <a:bodyPr wrap="square"/>
                    <a:lstStyle/>
                    <a:p>
                      <a:pPr algn="l"/>
                      <a:r>
                        <a:rPr sz="1250" b="0">
                          <a:solidFill>
                            <a:srgbClr val="0F172A"/>
                          </a:solidFill>
                        </a:rPr>
                        <a:t>Ambulance in queue or inbound within 15 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Force its phase green after &gt;= 2 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250" b="0">
                          <a:solidFill>
                            <a:srgbClr val="0F172A"/>
                          </a:solidFill>
                        </a:rPr>
                        <a:t>Green shorter than 13 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Hold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250" b="0">
                          <a:solidFill>
                            <a:srgbClr val="0F172A"/>
                          </a:solidFill>
                        </a:rPr>
                        <a:t>Current phase empty, other has traffic</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Switch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250" b="0">
                          <a:solidFill>
                            <a:srgbClr val="0F172A"/>
                          </a:solidFill>
                        </a:rPr>
                        <a:t>Other pressure &gt; 2 x current + 4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Switch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250" b="0">
                          <a:solidFill>
                            <a:srgbClr val="0F172A"/>
                          </a:solidFill>
                        </a:rPr>
                        <a:t>Green reaches 60 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Switch if other phase has traffic</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
        <p:nvSpPr>
          <p:cNvPr id="28" name="TextBox 27"/>
          <p:cNvSpPr txBox="1"/>
          <p:nvPr/>
        </p:nvSpPr>
        <p:spPr>
          <a:xfrm>
            <a:off x="6217920" y="4160520"/>
            <a:ext cx="5440680" cy="2194560"/>
          </a:xfrm>
          <a:prstGeom prst="rect">
            <a:avLst/>
          </a:prstGeom>
          <a:noFill/>
        </p:spPr>
        <p:txBody>
          <a:bodyPr wrap="square" lIns="0" rIns="0" tIns="0" bIns="0" anchor="t">
            <a:spAutoFit/>
          </a:bodyPr>
          <a:lstStyle/>
          <a:p>
            <a:pPr algn="l" marL="256032" indent="-201168">
              <a:spcAft>
                <a:spcPts val="600"/>
              </a:spcAft>
              <a:buChar char="•"/>
            </a:pPr>
            <a:r>
              <a:rPr sz="1300" b="1" i="0">
                <a:solidFill>
                  <a:srgbClr val="0F172A"/>
                </a:solidFill>
              </a:rPr>
              <a:t>Pressure</a:t>
            </a:r>
            <a:r>
              <a:rPr sz="1300" b="0" i="0">
                <a:solidFill>
                  <a:srgbClr val="0F172A"/>
                </a:solidFill>
              </a:rPr>
              <a:t> = PCU queue + 0.7 x max(forecast - queue, 0) + inbound PCU within 8 s + head wait / 12, times 0.3 if the straight-ahead downstream queue is within 4 vehicles of capacity (30).</a:t>
            </a:r>
          </a:p>
          <a:p>
            <a:pPr algn="l" marL="256032" indent="-201168">
              <a:spcAft>
                <a:spcPts val="400"/>
              </a:spcAft>
              <a:buChar char="•"/>
            </a:pPr>
            <a:r>
              <a:rPr sz="1300" b="0" i="0">
                <a:solidFill>
                  <a:srgbClr val="0F172A"/>
                </a:solidFill>
              </a:rPr>
              <a:t>Switching costs 3 s of clearance; start-up lost time is 2 s; saturation discharge 0.5 veh/s.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 flow and modules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pic>
        <p:nvPicPr>
          <p:cNvPr id="26" name="Picture 25" descr="a10_r2_04.png"/>
          <p:cNvPicPr>
            <a:picLocks noChangeAspect="1"/>
          </p:cNvPicPr>
          <p:nvPr/>
        </p:nvPicPr>
        <p:blipFill>
          <a:blip r:embed="rId1"/>
          <a:stretch>
            <a:fillRect/>
          </a:stretch>
        </p:blipFill>
        <p:spPr>
          <a:xfrm>
            <a:off x="548640" y="1572170"/>
            <a:ext cx="6400800" cy="4399459"/>
          </a:xfrm>
          <a:prstGeom prst="rect">
            <a:avLst/>
          </a:prstGeom>
        </p:spPr>
      </p:pic>
      <p:graphicFrame>
        <p:nvGraphicFramePr>
          <p:cNvPr id="27" name="Table 26"/>
          <p:cNvGraphicFramePr>
            <a:graphicFrameLocks noGrp="1"/>
          </p:cNvGraphicFramePr>
          <p:nvPr/>
        </p:nvGraphicFramePr>
        <p:xfrm>
          <a:off x="7223760" y="1325880"/>
          <a:ext cx="4416552" cy="4526280"/>
        </p:xfrm>
        <a:graphic>
          <a:graphicData uri="http://schemas.openxmlformats.org/drawingml/2006/table">
            <a:tbl>
              <a:tblPr firstRow="0" bandRow="0">
                <a:tableStyleId>{5C22544A-7EE6-4342-B048-85BDC9FD1C3A}</a:tableStyleId>
              </a:tblPr>
              <a:tblGrid>
                <a:gridCol w="2148840"/>
                <a:gridCol w="2267712"/>
              </a:tblGrid>
              <a:tr h="502920">
                <a:tc>
                  <a:txBody>
                    <a:bodyPr wrap="square"/>
                    <a:lstStyle/>
                    <a:p>
                      <a:pPr algn="ctr"/>
                      <a:r>
                        <a:rPr sz="1200" b="1">
                          <a:solidFill>
                            <a:srgbClr val="FFFFFF"/>
                          </a:solidFill>
                        </a:rPr>
                        <a:t>Module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Role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02920">
                <a:tc>
                  <a:txBody>
                    <a:bodyPr wrap="square"/>
                    <a:lstStyle/>
                    <a:p>
                      <a:pPr algn="l"/>
                      <a:r>
                        <a:rPr sz="1200" b="1">
                          <a:solidFill>
                            <a:srgbClr val="0F172A"/>
                          </a:solidFill>
                        </a:rPr>
                        <a:t>smart_traffic/sim.py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simulator, 4 controllers, KPIs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02920">
                <a:tc>
                  <a:txBody>
                    <a:bodyPr wrap="square"/>
                    <a:lstStyle/>
                    <a:p>
                      <a:pPr algn="l"/>
                      <a:r>
                        <a:rPr sz="1200" b="1">
                          <a:solidFill>
                            <a:srgbClr val="0F172A"/>
                          </a:solidFill>
                        </a:rPr>
                        <a:t>smart_traffic/predictor.py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30 s queue forecaster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02920">
                <a:tc>
                  <a:txBody>
                    <a:bodyPr wrap="square"/>
                    <a:lstStyle/>
                    <a:p>
                      <a:pPr algn="l"/>
                      <a:r>
                        <a:rPr sz="1200" b="1">
                          <a:solidFill>
                            <a:srgbClr val="0F172A"/>
                          </a:solidFill>
                        </a:rPr>
                        <a:t>smart_traffic/vision.py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YOLOv8n, light bar, density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02920">
                <a:tc>
                  <a:txBody>
                    <a:bodyPr wrap="square"/>
                    <a:lstStyle/>
                    <a:p>
                      <a:pPr algn="l"/>
                      <a:r>
                        <a:rPr sz="1200" b="1">
                          <a:solidFill>
                            <a:srgbClr val="0F172A"/>
                          </a:solidFill>
                        </a:rPr>
                        <a:t>backend/service.py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wraps the engine for HTTP</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02920">
                <a:tc>
                  <a:txBody>
                    <a:bodyPr wrap="square"/>
                    <a:lstStyle/>
                    <a:p>
                      <a:pPr algn="l"/>
                      <a:r>
                        <a:rPr sz="1200" b="1">
                          <a:solidFill>
                            <a:srgbClr val="0F172A"/>
                          </a:solidFill>
                        </a:rPr>
                        <a:t>backend/main.py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20 routes, validation, auth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02920">
                <a:tc>
                  <a:txBody>
                    <a:bodyPr wrap="square"/>
                    <a:lstStyle/>
                    <a:p>
                      <a:pPr algn="l"/>
                      <a:r>
                        <a:rPr sz="1200" b="1">
                          <a:solidFill>
                            <a:srgbClr val="0F172A"/>
                          </a:solidFill>
                        </a:rPr>
                        <a:t>backend/auth.py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HS256 token, demo account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02920">
                <a:tc>
                  <a:txBody>
                    <a:bodyPr wrap="square"/>
                    <a:lstStyle/>
                    <a:p>
                      <a:pPr algn="l"/>
                      <a:r>
                        <a:rPr sz="1200" b="1">
                          <a:solidFill>
                            <a:srgbClr val="0F172A"/>
                          </a:solidFill>
                        </a:rPr>
                        <a:t>frontend/src/pages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8 React pages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02920">
                <a:tc>
                  <a:txBody>
                    <a:bodyPr wrap="square"/>
                    <a:lstStyle/>
                    <a:p>
                      <a:pPr algn="l"/>
                      <a:r>
                        <a:rPr sz="1200" b="1">
                          <a:solidFill>
                            <a:srgbClr val="0F172A"/>
                          </a:solidFill>
                        </a:rPr>
                        <a:t>scripts/ and tests/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experiments, smoke test, 38 tests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
        <p:nvSpPr>
          <p:cNvPr id="28" name="TextBox 27"/>
          <p:cNvSpPr txBox="1"/>
          <p:nvPr/>
        </p:nvSpPr>
        <p:spPr>
          <a:xfrm>
            <a:off x="7223760" y="5943600"/>
            <a:ext cx="4416552" cy="457200"/>
          </a:xfrm>
          <a:prstGeom prst="rect">
            <a:avLst/>
          </a:prstGeom>
          <a:noFill/>
        </p:spPr>
        <p:txBody>
          <a:bodyPr wrap="square" lIns="0" rIns="0" tIns="0" bIns="0" anchor="t">
            <a:spAutoFit/>
          </a:bodyPr>
          <a:lstStyle/>
          <a:p>
            <a:pPr algn="l">
              <a:spcAft>
                <a:spcPts val="400"/>
              </a:spcAft>
            </a:pPr>
            <a:r>
              <a:rPr sz="1150" b="0" i="1">
                <a:solidFill>
                  <a:srgbClr val="475569"/>
                </a:solidFill>
              </a:rPr>
              <a:t>Level-1 data-flow diagram of the platform.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Entities and UML (no database)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pic>
        <p:nvPicPr>
          <p:cNvPr id="26" name="Picture 25" descr="a10_r2_09.png"/>
          <p:cNvPicPr>
            <a:picLocks noChangeAspect="1"/>
          </p:cNvPicPr>
          <p:nvPr/>
        </p:nvPicPr>
        <p:blipFill>
          <a:blip r:embed="rId1"/>
          <a:stretch>
            <a:fillRect/>
          </a:stretch>
        </p:blipFill>
        <p:spPr>
          <a:xfrm>
            <a:off x="548640" y="1234440"/>
            <a:ext cx="5486400" cy="4434840"/>
          </a:xfrm>
          <a:prstGeom prst="rect">
            <a:avLst/>
          </a:prstGeom>
        </p:spPr>
      </p:pic>
      <p:pic>
        <p:nvPicPr>
          <p:cNvPr id="27" name="Picture 26" descr="a10_r2_06.png"/>
          <p:cNvPicPr>
            <a:picLocks noChangeAspect="1"/>
          </p:cNvPicPr>
          <p:nvPr/>
        </p:nvPicPr>
        <p:blipFill>
          <a:blip r:embed="rId4"/>
          <a:stretch>
            <a:fillRect/>
          </a:stretch>
        </p:blipFill>
        <p:spPr>
          <a:xfrm>
            <a:off x="6172200" y="1562951"/>
            <a:ext cx="5486399" cy="4006417"/>
          </a:xfrm>
          <a:prstGeom prst="rect">
            <a:avLst/>
          </a:prstGeom>
        </p:spPr>
      </p:pic>
      <p:sp>
        <p:nvSpPr>
          <p:cNvPr id="28" name="TextBox 27"/>
          <p:cNvSpPr txBox="1"/>
          <p:nvPr/>
        </p:nvSpPr>
        <p:spPr>
          <a:xfrm>
            <a:off x="548640" y="5806440"/>
            <a:ext cx="5486400" cy="640080"/>
          </a:xfrm>
          <a:prstGeom prst="rect">
            <a:avLst/>
          </a:prstGeom>
          <a:noFill/>
        </p:spPr>
        <p:txBody>
          <a:bodyPr wrap="square" lIns="0" rIns="0" tIns="0" bIns="0" anchor="t">
            <a:spAutoFit/>
          </a:bodyPr>
          <a:lstStyle/>
          <a:p>
            <a:pPr algn="l">
              <a:spcAft>
                <a:spcPts val="400"/>
              </a:spcAft>
            </a:pPr>
            <a:r>
              <a:rPr sz="1150" b="0" i="1">
                <a:solidFill>
                  <a:srgbClr val="475569"/>
                </a:solidFill>
              </a:rPr>
              <a:t>FlowSense keeps no database - in-memory entities only. The shared live simulation, benchmark cache and violation log are lost on restart; the ER diagram is logical.</a:t>
            </a:r>
          </a:p>
        </p:txBody>
      </p:sp>
      <p:sp>
        <p:nvSpPr>
          <p:cNvPr id="29" name="TextBox 28"/>
          <p:cNvSpPr txBox="1"/>
          <p:nvPr/>
        </p:nvSpPr>
        <p:spPr>
          <a:xfrm>
            <a:off x="6172200" y="5989320"/>
            <a:ext cx="5486400" cy="457200"/>
          </a:xfrm>
          <a:prstGeom prst="rect">
            <a:avLst/>
          </a:prstGeom>
          <a:noFill/>
        </p:spPr>
        <p:txBody>
          <a:bodyPr wrap="square" lIns="0" rIns="0" tIns="0" bIns="0" anchor="t">
            <a:spAutoFit/>
          </a:bodyPr>
          <a:lstStyle/>
          <a:p>
            <a:pPr algn="l">
              <a:spcAft>
                <a:spcPts val="400"/>
              </a:spcAft>
            </a:pPr>
            <a:r>
              <a:rPr sz="1150" b="0" i="1">
                <a:solidFill>
                  <a:srgbClr val="475569"/>
                </a:solidFill>
              </a:rPr>
              <a:t>Core classes: Sim, Vehicle, QueuePredictor, vision functions, service Live / Preview.</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Technology stack</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graphicFrame>
        <p:nvGraphicFramePr>
          <p:cNvPr id="26" name="Table 25"/>
          <p:cNvGraphicFramePr>
            <a:graphicFrameLocks noGrp="1"/>
          </p:cNvGraphicFramePr>
          <p:nvPr/>
        </p:nvGraphicFramePr>
        <p:xfrm>
          <a:off x="548640" y="1325880"/>
          <a:ext cx="11091672" cy="4754880"/>
        </p:xfrm>
        <a:graphic>
          <a:graphicData uri="http://schemas.openxmlformats.org/drawingml/2006/table">
            <a:tbl>
              <a:tblPr firstRow="0" bandRow="0">
                <a:tableStyleId>{5C22544A-7EE6-4342-B048-85BDC9FD1C3A}</a:tableStyleId>
              </a:tblPr>
              <a:tblGrid>
                <a:gridCol w="2377440"/>
                <a:gridCol w="8714232"/>
              </a:tblGrid>
              <a:tr h="594360">
                <a:tc>
                  <a:txBody>
                    <a:bodyPr wrap="square"/>
                    <a:lstStyle/>
                    <a:p>
                      <a:pPr algn="ctr"/>
                      <a:r>
                        <a:rPr sz="1400" b="1">
                          <a:solidFill>
                            <a:srgbClr val="FFFFFF"/>
                          </a:solidFill>
                        </a:rPr>
                        <a:t>Layer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Technology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94360">
                <a:tc>
                  <a:txBody>
                    <a:bodyPr wrap="square"/>
                    <a:lstStyle/>
                    <a:p>
                      <a:pPr algn="l"/>
                      <a:r>
                        <a:rPr sz="1400" b="1">
                          <a:solidFill>
                            <a:srgbClr val="0F172A"/>
                          </a:solidFill>
                        </a:rPr>
                        <a:t>Language and API</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Python 3.11.9, FastAPI 0.143.3, Uvicorn, Pydantic, python-multipart; stdlib HS256 token for the demo sign-in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94360">
                <a:tc>
                  <a:txBody>
                    <a:bodyPr wrap="square"/>
                    <a:lstStyle/>
                    <a:p>
                      <a:pPr algn="l"/>
                      <a:r>
                        <a:rPr sz="1400" b="1">
                          <a:solidFill>
                            <a:srgbClr val="0F172A"/>
                          </a:solidFill>
                        </a:rPr>
                        <a:t>Simulation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Pure Python and NumPy 1.26.4: 1 s time step, Poisson arrivals, deque queues; thousands of times faster than real time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94360">
                <a:tc>
                  <a:txBody>
                    <a:bodyPr wrap="square"/>
                    <a:lstStyle/>
                    <a:p>
                      <a:pPr algn="l"/>
                      <a:r>
                        <a:rPr sz="1400" b="1">
                          <a:solidFill>
                            <a:srgbClr val="0F172A"/>
                          </a:solidFill>
                        </a:rPr>
                        <a:t>Machine learning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scikit-learn 1.5.0 (Gradient Boosting, Random Forest, ridge), pandas 2.2.1, NumPy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94360">
                <a:tc>
                  <a:txBody>
                    <a:bodyPr wrap="square"/>
                    <a:lstStyle/>
                    <a:p>
                      <a:pPr algn="l"/>
                      <a:r>
                        <a:rPr sz="1400" b="1">
                          <a:solidFill>
                            <a:srgbClr val="0F172A"/>
                          </a:solidFill>
                        </a:rPr>
                        <a:t>Vision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Ultralytics 8.4.186 (YOLOv8n on PyTorch 2.14.1 CPU) and OpenCV 4.11.0 for the HSV light-bar rule and annotations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94360">
                <a:tc>
                  <a:txBody>
                    <a:bodyPr wrap="square"/>
                    <a:lstStyle/>
                    <a:p>
                      <a:pPr algn="l"/>
                      <a:r>
                        <a:rPr sz="1400" b="1">
                          <a:solidFill>
                            <a:srgbClr val="0F172A"/>
                          </a:solidFill>
                        </a:rPr>
                        <a:t>Front end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React 19, Vite 8, Tailwind 4, Recharts, Framer Motion, GSAP; legacy Streamlit app kept in app.py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94360">
                <a:tc>
                  <a:txBody>
                    <a:bodyPr wrap="square"/>
                    <a:lstStyle/>
                    <a:p>
                      <a:pPr algn="l"/>
                      <a:r>
                        <a:rPr sz="1400" b="1">
                          <a:solidFill>
                            <a:srgbClr val="0F172A"/>
                          </a:solidFill>
                        </a:rPr>
                        <a:t>Testing and capture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pytest 8.2 with FastAPI TestClient, urllib smoke script, Playwright browser capture at 1440 x 900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94360">
                <a:tc>
                  <a:txBody>
                    <a:bodyPr wrap="square"/>
                    <a:lstStyle/>
                    <a:p>
                      <a:pPr algn="l"/>
                      <a:r>
                        <a:rPr sz="1400" b="1">
                          <a:solidFill>
                            <a:srgbClr val="0F172A"/>
                          </a:solidFill>
                        </a:rPr>
                        <a:t>Run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run.bat creates the virtual environment, installs packages and starts both servers; ports 8310 and 5310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Implementation progress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graphicFrame>
        <p:nvGraphicFramePr>
          <p:cNvPr id="26" name="Table 25"/>
          <p:cNvGraphicFramePr>
            <a:graphicFrameLocks noGrp="1"/>
          </p:cNvGraphicFramePr>
          <p:nvPr/>
        </p:nvGraphicFramePr>
        <p:xfrm>
          <a:off x="548640" y="1280160"/>
          <a:ext cx="11091672" cy="4937760"/>
        </p:xfrm>
        <a:graphic>
          <a:graphicData uri="http://schemas.openxmlformats.org/drawingml/2006/table">
            <a:tbl>
              <a:tblPr firstRow="0" bandRow="0">
                <a:tableStyleId>{5C22544A-7EE6-4342-B048-85BDC9FD1C3A}</a:tableStyleId>
              </a:tblPr>
              <a:tblGrid>
                <a:gridCol w="4937760"/>
                <a:gridCol w="1280160"/>
                <a:gridCol w="4873752"/>
              </a:tblGrid>
              <a:tr h="548640">
                <a:tc>
                  <a:txBody>
                    <a:bodyPr wrap="square"/>
                    <a:lstStyle/>
                    <a:p>
                      <a:pPr algn="ctr"/>
                      <a:r>
                        <a:rPr sz="1250" b="1">
                          <a:solidFill>
                            <a:srgbClr val="FFFFFF"/>
                          </a:solidFill>
                        </a:rPr>
                        <a:t>Component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50" b="1">
                          <a:solidFill>
                            <a:srgbClr val="FFFFFF"/>
                          </a:solidFill>
                        </a:rPr>
                        <a:t>Status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50" b="1">
                          <a:solidFill>
                            <a:srgbClr val="FFFFFF"/>
                          </a:solidFill>
                        </a:rPr>
                        <a:t>Evidence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48640">
                <a:tc>
                  <a:txBody>
                    <a:bodyPr wrap="square"/>
                    <a:lstStyle/>
                    <a:p>
                      <a:pPr algn="l"/>
                      <a:r>
                        <a:rPr sz="1250" b="0">
                          <a:solidFill>
                            <a:srgbClr val="0F172A"/>
                          </a:solidFill>
                        </a:rPr>
                        <a:t>Simulator with fixed, adaptive, emergency-aware and advanced controllers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24 engine tests; 2x2 and 3x3 grids; 5-seed benchmark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250" b="0">
                          <a:solidFill>
                            <a:srgbClr val="0F172A"/>
                          </a:solidFill>
                        </a:rPr>
                        <a:t>Queue forecaster (Gradient Boosting) used inside the controller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MAE 1.64 on a random split; weak on unseen congestion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48640">
                <a:tc>
                  <a:txBody>
                    <a:bodyPr wrap="square"/>
                    <a:lstStyle/>
                    <a:p>
                      <a:pPr algn="l"/>
                      <a:r>
                        <a:rPr sz="1250" b="0">
                          <a:solidFill>
                            <a:srgbClr val="0F172A"/>
                          </a:solidFill>
                        </a:rPr>
                        <a:t>Vision layer: YOLOv8n, light-bar rule, PCU density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synthetic and real-image evaluation; stock detector, not fine-tuned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250" b="0">
                          <a:solidFill>
                            <a:srgbClr val="0F172A"/>
                          </a:solidFill>
                        </a:rPr>
                        <a:t>API (20 routes) and React console (8 pages), demo sign-in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33/33 smoke checks; 38/38 pytest tests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48640">
                <a:tc>
                  <a:txBody>
                    <a:bodyPr wrap="square"/>
                    <a:lstStyle/>
                    <a:p>
                      <a:pPr algn="l"/>
                      <a:r>
                        <a:rPr sz="1250" b="0">
                          <a:solidFill>
                            <a:srgbClr val="0F172A"/>
                          </a:solidFill>
                        </a:rPr>
                        <a:t>Violation log (red-light, wrong-way)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Simulated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events from ground truth with a drawn confidence; no detector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250" b="0">
                          <a:solidFill>
                            <a:srgbClr val="0F172A"/>
                          </a:solidFill>
                        </a:rPr>
                        <a:t>Trained light-bar or emergency-vehicle detector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Not 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HSV rule recall 1.3% on 300 real ambulance photos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48640">
                <a:tc>
                  <a:txBody>
                    <a:bodyPr wrap="square"/>
                    <a:lstStyle/>
                    <a:p>
                      <a:pPr algn="l"/>
                      <a:r>
                        <a:rPr sz="1250" b="0">
                          <a:solidFill>
                            <a:srgbClr val="0F172A"/>
                          </a:solidFill>
                        </a:rPr>
                        <a:t>SUMO or CARLA validation, real camera stream, hardware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Not 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in-house simulator only; results not comparable in absolute terms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250" b="0">
                          <a:solidFill>
                            <a:srgbClr val="0F172A"/>
                          </a:solidFill>
                        </a:rPr>
                        <a:t>Database, persistence, multi-user accounts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Not 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in-memory state; one demo operator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Preliminary results: controller benchmark</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
        <p:nvSpPr>
          <p:cNvPr id="26" name="Rounded Rectangle 25"/>
          <p:cNvSpPr/>
          <p:nvPr/>
        </p:nvSpPr>
        <p:spPr>
          <a:xfrm>
            <a:off x="548640" y="1234440"/>
            <a:ext cx="2606040" cy="1097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234440"/>
            <a:ext cx="73152" cy="109728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325880"/>
            <a:ext cx="2331720" cy="603504"/>
          </a:xfrm>
          <a:prstGeom prst="rect">
            <a:avLst/>
          </a:prstGeom>
          <a:noFill/>
        </p:spPr>
        <p:txBody>
          <a:bodyPr wrap="square" lIns="0" rIns="0" tIns="0" bIns="0" anchor="ctr">
            <a:spAutoFit/>
          </a:bodyPr>
          <a:lstStyle/>
          <a:p>
            <a:pPr algn="l">
              <a:spcAft>
                <a:spcPts val="400"/>
              </a:spcAft>
            </a:pPr>
            <a:r>
              <a:rPr sz="2600" b="1" i="0">
                <a:solidFill>
                  <a:srgbClr val="0F172A"/>
                </a:solidFill>
              </a:rPr>
              <a:t>-34.8%</a:t>
            </a:r>
          </a:p>
        </p:txBody>
      </p:sp>
      <p:sp>
        <p:nvSpPr>
          <p:cNvPr id="29" name="TextBox 28"/>
          <p:cNvSpPr txBox="1"/>
          <p:nvPr/>
        </p:nvSpPr>
        <p:spPr>
          <a:xfrm>
            <a:off x="749808" y="1870862"/>
            <a:ext cx="2331720" cy="416966"/>
          </a:xfrm>
          <a:prstGeom prst="rect">
            <a:avLst/>
          </a:prstGeom>
          <a:noFill/>
        </p:spPr>
        <p:txBody>
          <a:bodyPr wrap="square" lIns="0" rIns="0" tIns="0" bIns="0" anchor="t">
            <a:spAutoFit/>
          </a:bodyPr>
          <a:lstStyle/>
          <a:p>
            <a:pPr algn="l">
              <a:spcAft>
                <a:spcPts val="400"/>
              </a:spcAft>
            </a:pPr>
            <a:r>
              <a:rPr sz="1100" b="0" i="0">
                <a:solidFill>
                  <a:srgbClr val="475569"/>
                </a:solidFill>
              </a:rPr>
              <a:t>average delay, advanced vs fixed-time (2x2; 3x3 -30.5%)</a:t>
            </a:r>
          </a:p>
        </p:txBody>
      </p:sp>
      <p:sp>
        <p:nvSpPr>
          <p:cNvPr id="30" name="Rounded Rectangle 29"/>
          <p:cNvSpPr/>
          <p:nvPr/>
        </p:nvSpPr>
        <p:spPr>
          <a:xfrm>
            <a:off x="3374136" y="1234440"/>
            <a:ext cx="2606040" cy="1097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74136" y="1234440"/>
            <a:ext cx="73152" cy="109728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75304" y="1325880"/>
            <a:ext cx="2331720" cy="603504"/>
          </a:xfrm>
          <a:prstGeom prst="rect">
            <a:avLst/>
          </a:prstGeom>
          <a:noFill/>
        </p:spPr>
        <p:txBody>
          <a:bodyPr wrap="square" lIns="0" rIns="0" tIns="0" bIns="0" anchor="ctr">
            <a:spAutoFit/>
          </a:bodyPr>
          <a:lstStyle/>
          <a:p>
            <a:pPr algn="l">
              <a:spcAft>
                <a:spcPts val="400"/>
              </a:spcAft>
            </a:pPr>
            <a:r>
              <a:rPr sz="2600" b="1" i="0">
                <a:solidFill>
                  <a:srgbClr val="0F172A"/>
                </a:solidFill>
              </a:rPr>
              <a:t>-4.3%</a:t>
            </a:r>
          </a:p>
        </p:txBody>
      </p:sp>
      <p:sp>
        <p:nvSpPr>
          <p:cNvPr id="33" name="TextBox 32"/>
          <p:cNvSpPr txBox="1"/>
          <p:nvPr/>
        </p:nvSpPr>
        <p:spPr>
          <a:xfrm>
            <a:off x="3575304" y="1870862"/>
            <a:ext cx="2331720" cy="416966"/>
          </a:xfrm>
          <a:prstGeom prst="rect">
            <a:avLst/>
          </a:prstGeom>
          <a:noFill/>
        </p:spPr>
        <p:txBody>
          <a:bodyPr wrap="square" lIns="0" rIns="0" tIns="0" bIns="0" anchor="t">
            <a:spAutoFit/>
          </a:bodyPr>
          <a:lstStyle/>
          <a:p>
            <a:pPr algn="l">
              <a:spcAft>
                <a:spcPts val="400"/>
              </a:spcAft>
            </a:pPr>
            <a:r>
              <a:rPr sz="1100" b="0" i="0">
                <a:solidFill>
                  <a:srgbClr val="475569"/>
                </a:solidFill>
              </a:rPr>
              <a:t>advanced vs plain adaptive: about one std (3x3 -5.3%)</a:t>
            </a:r>
          </a:p>
        </p:txBody>
      </p:sp>
      <p:sp>
        <p:nvSpPr>
          <p:cNvPr id="34" name="Rounded Rectangle 33"/>
          <p:cNvSpPr/>
          <p:nvPr/>
        </p:nvSpPr>
        <p:spPr>
          <a:xfrm>
            <a:off x="6199631" y="1234440"/>
            <a:ext cx="2606040" cy="1097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199631" y="1234440"/>
            <a:ext cx="73152" cy="109728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799" y="1325880"/>
            <a:ext cx="2331720" cy="603504"/>
          </a:xfrm>
          <a:prstGeom prst="rect">
            <a:avLst/>
          </a:prstGeom>
          <a:noFill/>
        </p:spPr>
        <p:txBody>
          <a:bodyPr wrap="square" lIns="0" rIns="0" tIns="0" bIns="0" anchor="ctr">
            <a:spAutoFit/>
          </a:bodyPr>
          <a:lstStyle/>
          <a:p>
            <a:pPr algn="l">
              <a:spcAft>
                <a:spcPts val="400"/>
              </a:spcAft>
            </a:pPr>
            <a:r>
              <a:rPr sz="2600" b="1" i="0">
                <a:solidFill>
                  <a:srgbClr val="0F172A"/>
                </a:solidFill>
              </a:rPr>
              <a:t>5.7 s</a:t>
            </a:r>
          </a:p>
        </p:txBody>
      </p:sp>
      <p:sp>
        <p:nvSpPr>
          <p:cNvPr id="37" name="TextBox 36"/>
          <p:cNvSpPr txBox="1"/>
          <p:nvPr/>
        </p:nvSpPr>
        <p:spPr>
          <a:xfrm>
            <a:off x="6400799" y="1870862"/>
            <a:ext cx="2331720" cy="416966"/>
          </a:xfrm>
          <a:prstGeom prst="rect">
            <a:avLst/>
          </a:prstGeom>
          <a:noFill/>
        </p:spPr>
        <p:txBody>
          <a:bodyPr wrap="square" lIns="0" rIns="0" tIns="0" bIns="0" anchor="t">
            <a:spAutoFit/>
          </a:bodyPr>
          <a:lstStyle/>
          <a:p>
            <a:pPr algn="l">
              <a:spcAft>
                <a:spcPts val="400"/>
              </a:spcAft>
            </a:pPr>
            <a:r>
              <a:rPr sz="1100" b="0" i="0">
                <a:solidFill>
                  <a:srgbClr val="475569"/>
                </a:solidFill>
              </a:rPr>
              <a:t>ambulance delay, advanced; fixed-time 20.1 s (-71.5%)</a:t>
            </a:r>
          </a:p>
        </p:txBody>
      </p:sp>
      <p:sp>
        <p:nvSpPr>
          <p:cNvPr id="38" name="Rounded Rectangle 37"/>
          <p:cNvSpPr/>
          <p:nvPr/>
        </p:nvSpPr>
        <p:spPr>
          <a:xfrm>
            <a:off x="9025128" y="1234440"/>
            <a:ext cx="2606040" cy="1097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25128" y="1234440"/>
            <a:ext cx="73152" cy="109728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26296" y="1325880"/>
            <a:ext cx="2331720" cy="603504"/>
          </a:xfrm>
          <a:prstGeom prst="rect">
            <a:avLst/>
          </a:prstGeom>
          <a:noFill/>
        </p:spPr>
        <p:txBody>
          <a:bodyPr wrap="square" lIns="0" rIns="0" tIns="0" bIns="0" anchor="ctr">
            <a:spAutoFit/>
          </a:bodyPr>
          <a:lstStyle/>
          <a:p>
            <a:pPr algn="l">
              <a:spcAft>
                <a:spcPts val="400"/>
              </a:spcAft>
            </a:pPr>
            <a:r>
              <a:rPr sz="2600" b="1" i="0">
                <a:solidFill>
                  <a:srgbClr val="0F172A"/>
                </a:solidFill>
              </a:rPr>
              <a:t>+6.5%</a:t>
            </a:r>
          </a:p>
        </p:txBody>
      </p:sp>
      <p:sp>
        <p:nvSpPr>
          <p:cNvPr id="41" name="TextBox 40"/>
          <p:cNvSpPr txBox="1"/>
          <p:nvPr/>
        </p:nvSpPr>
        <p:spPr>
          <a:xfrm>
            <a:off x="9226296" y="1870862"/>
            <a:ext cx="2331720" cy="416966"/>
          </a:xfrm>
          <a:prstGeom prst="rect">
            <a:avLst/>
          </a:prstGeom>
          <a:noFill/>
        </p:spPr>
        <p:txBody>
          <a:bodyPr wrap="square" lIns="0" rIns="0" tIns="0" bIns="0" anchor="t">
            <a:spAutoFit/>
          </a:bodyPr>
          <a:lstStyle/>
          <a:p>
            <a:pPr algn="l">
              <a:spcAft>
                <a:spcPts val="400"/>
              </a:spcAft>
            </a:pPr>
            <a:r>
              <a:rPr sz="1100" b="0" i="0">
                <a:solidFill>
                  <a:srgbClr val="475569"/>
                </a:solidFill>
              </a:rPr>
              <a:t>mean delay of the base-paper-style controller vs adaptive: pre-emption costs</a:t>
            </a:r>
          </a:p>
        </p:txBody>
      </p:sp>
      <p:pic>
        <p:nvPicPr>
          <p:cNvPr id="42" name="Picture 41" descr="a10_r2_f01.png"/>
          <p:cNvPicPr>
            <a:picLocks noChangeAspect="1"/>
          </p:cNvPicPr>
          <p:nvPr/>
        </p:nvPicPr>
        <p:blipFill>
          <a:blip r:embed="rId1"/>
          <a:stretch>
            <a:fillRect/>
          </a:stretch>
        </p:blipFill>
        <p:spPr>
          <a:xfrm>
            <a:off x="805962" y="2468880"/>
            <a:ext cx="4971754" cy="2971800"/>
          </a:xfrm>
          <a:prstGeom prst="rect">
            <a:avLst/>
          </a:prstGeom>
        </p:spPr>
      </p:pic>
      <p:pic>
        <p:nvPicPr>
          <p:cNvPr id="43" name="Picture 42" descr="a10_r2_f02.png"/>
          <p:cNvPicPr>
            <a:picLocks noChangeAspect="1"/>
          </p:cNvPicPr>
          <p:nvPr/>
        </p:nvPicPr>
        <p:blipFill>
          <a:blip r:embed="rId4"/>
          <a:stretch>
            <a:fillRect/>
          </a:stretch>
        </p:blipFill>
        <p:spPr>
          <a:xfrm>
            <a:off x="6663522" y="2468880"/>
            <a:ext cx="4503755" cy="2971800"/>
          </a:xfrm>
          <a:prstGeom prst="rect">
            <a:avLst/>
          </a:prstGeom>
        </p:spPr>
      </p:pic>
      <p:sp>
        <p:nvSpPr>
          <p:cNvPr id="44" name="TextBox 43"/>
          <p:cNvSpPr txBox="1"/>
          <p:nvPr/>
        </p:nvSpPr>
        <p:spPr>
          <a:xfrm>
            <a:off x="548640" y="5532120"/>
            <a:ext cx="11091672" cy="914400"/>
          </a:xfrm>
          <a:prstGeom prst="rect">
            <a:avLst/>
          </a:prstGeom>
          <a:noFill/>
        </p:spPr>
        <p:txBody>
          <a:bodyPr wrap="square" lIns="0" rIns="0" tIns="0" bIns="0" anchor="t">
            <a:spAutoFit/>
          </a:bodyPr>
          <a:lstStyle/>
          <a:p>
            <a:pPr algn="l">
              <a:spcAft>
                <a:spcPts val="400"/>
              </a:spcAft>
            </a:pPr>
            <a:r>
              <a:rPr sz="1250" b="0" i="0">
                <a:solidFill>
                  <a:srgbClr val="475569"/>
                </a:solidFill>
              </a:rPr>
              <a:t>2x2, 5 seeds, demand x1.2: fixed 67.8, adaptive 46.2, base-paper-style 49.2, advanced 44.2 s. At low demand (x0.6) advanced is worse than adaptive (26.4 vs 20.6 s). Ablation: no forecast +3.2 s; no pre-emption gives the lowest network delay (42.4 s) but ambulance delay 27.3 s. Own simulator, not SUMO.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Output screens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16</a:t>
            </a:fld>
            <a:endParaRPr lang="en-US"/>
          </a:p>
        </p:txBody>
      </p:sp>
      <p:pic>
        <p:nvPicPr>
          <p:cNvPr id="26" name="Picture 25" descr="06_live_map_and_status.png"/>
          <p:cNvPicPr>
            <a:picLocks noChangeAspect="1"/>
          </p:cNvPicPr>
          <p:nvPr/>
        </p:nvPicPr>
        <p:blipFill>
          <a:blip r:embed="rId2"/>
          <a:stretch>
            <a:fillRect/>
          </a:stretch>
        </p:blipFill>
        <p:spPr>
          <a:xfrm>
            <a:off x="686714" y="1188720"/>
            <a:ext cx="3335731" cy="2084832"/>
          </a:xfrm>
          <a:prstGeom prst="rect">
            <a:avLst/>
          </a:prstGeom>
          <a:ln w="9525">
            <a:solidFill>
              <a:srgbClr val="D5DCE6"/>
            </a:solidFill>
          </a:ln>
        </p:spPr>
      </p:pic>
      <p:sp>
        <p:nvSpPr>
          <p:cNvPr id="27" name="TextBox 26"/>
          <p:cNvSpPr txBox="1"/>
          <p:nvPr/>
        </p:nvSpPr>
        <p:spPr>
          <a:xfrm>
            <a:off x="548640" y="3310128"/>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Live control: road map, queue chart, junction status</a:t>
            </a:r>
          </a:p>
        </p:txBody>
      </p:sp>
      <p:pic>
        <p:nvPicPr>
          <p:cNvPr id="28" name="Picture 27" descr="07_benchmark.png"/>
          <p:cNvPicPr>
            <a:picLocks noChangeAspect="1"/>
          </p:cNvPicPr>
          <p:nvPr/>
        </p:nvPicPr>
        <p:blipFill>
          <a:blip r:embed="rId1"/>
          <a:stretch>
            <a:fillRect/>
          </a:stretch>
        </p:blipFill>
        <p:spPr>
          <a:xfrm>
            <a:off x="4472330" y="1188720"/>
            <a:ext cx="3335731" cy="2084832"/>
          </a:xfrm>
          <a:prstGeom prst="rect">
            <a:avLst/>
          </a:prstGeom>
          <a:ln w="9525">
            <a:solidFill>
              <a:srgbClr val="D5DCE6"/>
            </a:solidFill>
          </a:ln>
        </p:spPr>
      </p:pic>
      <p:sp>
        <p:nvSpPr>
          <p:cNvPr id="29" name="TextBox 28"/>
          <p:cNvSpPr txBox="1"/>
          <p:nvPr/>
        </p:nvSpPr>
        <p:spPr>
          <a:xfrm>
            <a:off x="4334256" y="3310128"/>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Benchmark: four controllers on identical traffic</a:t>
            </a:r>
          </a:p>
        </p:txBody>
      </p:sp>
      <p:pic>
        <p:nvPicPr>
          <p:cNvPr id="30" name="Picture 29" descr="09_benchmark_sweep.png"/>
          <p:cNvPicPr>
            <a:picLocks noChangeAspect="1"/>
          </p:cNvPicPr>
          <p:nvPr/>
        </p:nvPicPr>
        <p:blipFill>
          <a:blip r:embed="rId5"/>
          <a:stretch>
            <a:fillRect/>
          </a:stretch>
        </p:blipFill>
        <p:spPr>
          <a:xfrm>
            <a:off x="8257946" y="1188720"/>
            <a:ext cx="3335731" cy="2084832"/>
          </a:xfrm>
          <a:prstGeom prst="rect">
            <a:avLst/>
          </a:prstGeom>
          <a:ln w="9525">
            <a:solidFill>
              <a:srgbClr val="D5DCE6"/>
            </a:solidFill>
          </a:ln>
        </p:spPr>
      </p:pic>
      <p:sp>
        <p:nvSpPr>
          <p:cNvPr id="31" name="TextBox 30"/>
          <p:cNvSpPr txBox="1"/>
          <p:nvPr/>
        </p:nvSpPr>
        <p:spPr>
          <a:xfrm>
            <a:off x="8119872" y="3310128"/>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Delay against demand, four controllers</a:t>
            </a:r>
          </a:p>
        </p:txBody>
      </p:sp>
      <p:pic>
        <p:nvPicPr>
          <p:cNvPr id="32" name="Picture 31" descr="11_vision_density.png"/>
          <p:cNvPicPr>
            <a:picLocks noChangeAspect="1"/>
          </p:cNvPicPr>
          <p:nvPr/>
        </p:nvPicPr>
        <p:blipFill>
          <a:blip r:embed="rId6"/>
          <a:stretch>
            <a:fillRect/>
          </a:stretch>
        </p:blipFill>
        <p:spPr>
          <a:xfrm>
            <a:off x="686714" y="3712464"/>
            <a:ext cx="3335731" cy="2084832"/>
          </a:xfrm>
          <a:prstGeom prst="rect">
            <a:avLst/>
          </a:prstGeom>
          <a:ln w="9525">
            <a:solidFill>
              <a:srgbClr val="D5DCE6"/>
            </a:solidFill>
          </a:ln>
        </p:spPr>
      </p:pic>
      <p:sp>
        <p:nvSpPr>
          <p:cNvPr id="33" name="TextBox 32"/>
          <p:cNvSpPr txBox="1"/>
          <p:nvPr/>
        </p:nvSpPr>
        <p:spPr>
          <a:xfrm>
            <a:off x="548640" y="5833872"/>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Vision: synthetic scene, PCU density and green time</a:t>
            </a:r>
          </a:p>
        </p:txBody>
      </p:sp>
      <p:pic>
        <p:nvPicPr>
          <p:cNvPr id="34" name="Picture 33" descr="12_vision_yolo.png"/>
          <p:cNvPicPr>
            <a:picLocks noChangeAspect="1"/>
          </p:cNvPicPr>
          <p:nvPr/>
        </p:nvPicPr>
        <p:blipFill>
          <a:blip r:embed="rId7"/>
          <a:stretch>
            <a:fillRect/>
          </a:stretch>
        </p:blipFill>
        <p:spPr>
          <a:xfrm>
            <a:off x="4472330" y="3712464"/>
            <a:ext cx="3335731" cy="2084832"/>
          </a:xfrm>
          <a:prstGeom prst="rect">
            <a:avLst/>
          </a:prstGeom>
          <a:ln w="9525">
            <a:solidFill>
              <a:srgbClr val="D5DCE6"/>
            </a:solidFill>
          </a:ln>
        </p:spPr>
      </p:pic>
      <p:sp>
        <p:nvSpPr>
          <p:cNvPr id="35" name="TextBox 34"/>
          <p:cNvSpPr txBox="1"/>
          <p:nvPr/>
        </p:nvSpPr>
        <p:spPr>
          <a:xfrm>
            <a:off x="4334256" y="5833872"/>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Vision: YOLOv8n on the sample street photo</a:t>
            </a:r>
          </a:p>
        </p:txBody>
      </p:sp>
      <p:pic>
        <p:nvPicPr>
          <p:cNvPr id="36" name="Picture 35" descr="14_prediction_forecast.png"/>
          <p:cNvPicPr>
            <a:picLocks noChangeAspect="1"/>
          </p:cNvPicPr>
          <p:nvPr/>
        </p:nvPicPr>
        <p:blipFill>
          <a:blip r:embed="rId8"/>
          <a:stretch>
            <a:fillRect/>
          </a:stretch>
        </p:blipFill>
        <p:spPr>
          <a:xfrm>
            <a:off x="8257946" y="3712464"/>
            <a:ext cx="3335731" cy="2084832"/>
          </a:xfrm>
          <a:prstGeom prst="rect">
            <a:avLst/>
          </a:prstGeom>
          <a:ln w="9525">
            <a:solidFill>
              <a:srgbClr val="D5DCE6"/>
            </a:solidFill>
          </a:ln>
        </p:spPr>
      </p:pic>
      <p:sp>
        <p:nvSpPr>
          <p:cNvPr id="37" name="TextBox 36"/>
          <p:cNvSpPr txBox="1"/>
          <p:nvPr/>
        </p:nvSpPr>
        <p:spPr>
          <a:xfrm>
            <a:off x="8119872" y="5833872"/>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Prediction: model comparison and live 30 s forecast</a:t>
            </a:r>
          </a:p>
        </p:txBody>
      </p:sp>
      <p:sp>
        <p:nvSpPr>
          <p:cNvPr id="38" name="TextBox 37"/>
          <p:cNvSpPr txBox="1"/>
          <p:nvPr/>
        </p:nvSpPr>
        <p:spPr>
          <a:xfrm>
            <a:off x="548640" y="6144768"/>
            <a:ext cx="11091672" cy="274320"/>
          </a:xfrm>
          <a:prstGeom prst="rect">
            <a:avLst/>
          </a:prstGeom>
          <a:noFill/>
        </p:spPr>
        <p:txBody>
          <a:bodyPr wrap="square" lIns="0" rIns="0" tIns="0" bIns="0" anchor="t">
            <a:spAutoFit/>
          </a:bodyPr>
          <a:lstStyle/>
          <a:p>
            <a:pPr algn="l">
              <a:spcAft>
                <a:spcPts val="400"/>
              </a:spcAft>
            </a:pPr>
            <a:r>
              <a:rPr sz="1100" b="0" i="1">
                <a:solidFill>
                  <a:srgbClr val="475569"/>
                </a:solidFill>
              </a:rPr>
              <a:t>Real captures of the running application at 1440 x 900, with live simulation data. Benchmark screens use the UI defaults (3 seeds).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Initial testing and observations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17</a:t>
            </a:fld>
            <a:endParaRPr lang="en-US"/>
          </a:p>
        </p:txBody>
      </p:sp>
      <p:sp>
        <p:nvSpPr>
          <p:cNvPr id="26" name="Rounded Rectangle 25"/>
          <p:cNvSpPr/>
          <p:nvPr/>
        </p:nvSpPr>
        <p:spPr>
          <a:xfrm>
            <a:off x="548640"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280160"/>
            <a:ext cx="73152" cy="1143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38 / 38</a:t>
            </a:r>
          </a:p>
        </p:txBody>
      </p:sp>
      <p:sp>
        <p:nvSpPr>
          <p:cNvPr id="29" name="TextBox 28"/>
          <p:cNvSpPr txBox="1"/>
          <p:nvPr/>
        </p:nvSpPr>
        <p:spPr>
          <a:xfrm>
            <a:off x="749808"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pytest tests passed (24 engine, 14 API)</a:t>
            </a:r>
          </a:p>
        </p:txBody>
      </p:sp>
      <p:sp>
        <p:nvSpPr>
          <p:cNvPr id="30" name="Rounded Rectangle 29"/>
          <p:cNvSpPr/>
          <p:nvPr/>
        </p:nvSpPr>
        <p:spPr>
          <a:xfrm>
            <a:off x="3374136"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74136" y="128016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75304"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33 / 33</a:t>
            </a:r>
          </a:p>
        </p:txBody>
      </p:sp>
      <p:sp>
        <p:nvSpPr>
          <p:cNvPr id="33" name="TextBox 32"/>
          <p:cNvSpPr txBox="1"/>
          <p:nvPr/>
        </p:nvSpPr>
        <p:spPr>
          <a:xfrm>
            <a:off x="3575304"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smoke-test checks passed against the live API</a:t>
            </a:r>
          </a:p>
        </p:txBody>
      </p:sp>
      <p:sp>
        <p:nvSpPr>
          <p:cNvPr id="34" name="Rounded Rectangle 33"/>
          <p:cNvSpPr/>
          <p:nvPr/>
        </p:nvSpPr>
        <p:spPr>
          <a:xfrm>
            <a:off x="6199631"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199631" y="1280160"/>
            <a:ext cx="73152"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799"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4.6 ms</a:t>
            </a:r>
          </a:p>
        </p:txBody>
      </p:sp>
      <p:sp>
        <p:nvSpPr>
          <p:cNvPr id="37" name="TextBox 36"/>
          <p:cNvSpPr txBox="1"/>
          <p:nvPr/>
        </p:nvSpPr>
        <p:spPr>
          <a:xfrm>
            <a:off x="6400799"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mean API time for a 2 s simulation step (127.0.0.1)</a:t>
            </a:r>
          </a:p>
        </p:txBody>
      </p:sp>
      <p:sp>
        <p:nvSpPr>
          <p:cNvPr id="38" name="Rounded Rectangle 37"/>
          <p:cNvSpPr/>
          <p:nvPr/>
        </p:nvSpPr>
        <p:spPr>
          <a:xfrm>
            <a:off x="9025128"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25128" y="1280160"/>
            <a:ext cx="73152" cy="114300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26296"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503 ms</a:t>
            </a:r>
          </a:p>
        </p:txBody>
      </p:sp>
      <p:sp>
        <p:nvSpPr>
          <p:cNvPr id="41" name="TextBox 40"/>
          <p:cNvSpPr txBox="1"/>
          <p:nvPr/>
        </p:nvSpPr>
        <p:spPr>
          <a:xfrm>
            <a:off x="9226296"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mean YOLOv8n sample-photo call incl. first model load</a:t>
            </a:r>
          </a:p>
        </p:txBody>
      </p:sp>
      <p:graphicFrame>
        <p:nvGraphicFramePr>
          <p:cNvPr id="42" name="Table 41"/>
          <p:cNvGraphicFramePr>
            <a:graphicFrameLocks noGrp="1"/>
          </p:cNvGraphicFramePr>
          <p:nvPr/>
        </p:nvGraphicFramePr>
        <p:xfrm>
          <a:off x="548640" y="2697480"/>
          <a:ext cx="11091672" cy="3566160"/>
        </p:xfrm>
        <a:graphic>
          <a:graphicData uri="http://schemas.openxmlformats.org/drawingml/2006/table">
            <a:tbl>
              <a:tblPr firstRow="0" bandRow="0">
                <a:tableStyleId>{5C22544A-7EE6-4342-B048-85BDC9FD1C3A}</a:tableStyleId>
              </a:tblPr>
              <a:tblGrid>
                <a:gridCol w="5852160"/>
                <a:gridCol w="5239512"/>
              </a:tblGrid>
              <a:tr h="713232">
                <a:tc>
                  <a:txBody>
                    <a:bodyPr wrap="square"/>
                    <a:lstStyle/>
                    <a:p>
                      <a:pPr algn="ctr"/>
                      <a:r>
                        <a:rPr sz="1350" b="1">
                          <a:solidFill>
                            <a:srgbClr val="FFFFFF"/>
                          </a:solidFill>
                        </a:rPr>
                        <a:t>Observation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50" b="1">
                          <a:solidFill>
                            <a:srgbClr val="FFFFFF"/>
                          </a:solidFill>
                        </a:rPr>
                        <a:t>Action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713232">
                <a:tc>
                  <a:txBody>
                    <a:bodyPr wrap="square"/>
                    <a:lstStyle/>
                    <a:p>
                      <a:pPr algn="l"/>
                      <a:r>
                        <a:rPr sz="1350" b="0">
                          <a:solidFill>
                            <a:srgbClr val="0F172A"/>
                          </a:solidFill>
                        </a:rPr>
                        <a:t>Forecaster looks strong on a random split (R2 0.959) but R2 is 0.04 leave-one-run-out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50" b="0">
                          <a:solidFill>
                            <a:srgbClr val="0F172A"/>
                          </a:solidFill>
                        </a:rPr>
                        <a:t>Reported both; failure on the one heavily congested run explained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713232">
                <a:tc>
                  <a:txBody>
                    <a:bodyPr wrap="square"/>
                    <a:lstStyle/>
                    <a:p>
                      <a:pPr algn="l"/>
                      <a:r>
                        <a:rPr sz="1350" b="0">
                          <a:solidFill>
                            <a:srgbClr val="0F172A"/>
                          </a:solidFill>
                        </a:rPr>
                        <a:t>Synthetic vision recall 97.6% but 300 real ambulance photos: light-bar recall 1.3%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50" b="0">
                          <a:solidFill>
                            <a:srgbClr val="0F172A"/>
                          </a:solidFill>
                        </a:rPr>
                        <a:t>Stated in every result; trained detector listed as next step</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713232">
                <a:tc>
                  <a:txBody>
                    <a:bodyPr wrap="square"/>
                    <a:lstStyle/>
                    <a:p>
                      <a:pPr algn="l"/>
                      <a:r>
                        <a:rPr sz="1350" b="0">
                          <a:solidFill>
                            <a:srgbClr val="0F172A"/>
                          </a:solidFill>
                        </a:rPr>
                        <a:t>torch fails to load (WinError 1114) if numpy or pandas are imported first on this host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50" b="0">
                          <a:solidFill>
                            <a:srgbClr val="0F172A"/>
                          </a:solidFill>
                        </a:rPr>
                        <a:t>torch-first import in the backend, tests and scripts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713232">
                <a:tc>
                  <a:txBody>
                    <a:bodyPr wrap="square"/>
                    <a:lstStyle/>
                    <a:p>
                      <a:pPr algn="l"/>
                      <a:r>
                        <a:rPr sz="1350" b="0">
                          <a:solidFill>
                            <a:srgbClr val="0F172A"/>
                          </a:solidFill>
                        </a:rPr>
                        <a:t>Advanced is worse than adaptive at low demand (x0.6)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50" b="0">
                          <a:solidFill>
                            <a:srgbClr val="0F172A"/>
                          </a:solidFill>
                        </a:rPr>
                        <a:t>Shown in the demand sweep; load-aware gains listed as next step</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Challenges and corrective actions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18</a:t>
            </a:fld>
            <a:endParaRPr lang="en-US"/>
          </a:p>
        </p:txBody>
      </p:sp>
      <p:graphicFrame>
        <p:nvGraphicFramePr>
          <p:cNvPr id="26" name="Table 25"/>
          <p:cNvGraphicFramePr>
            <a:graphicFrameLocks noGrp="1"/>
          </p:cNvGraphicFramePr>
          <p:nvPr/>
        </p:nvGraphicFramePr>
        <p:xfrm>
          <a:off x="548640" y="1371600"/>
          <a:ext cx="11091672" cy="4828032"/>
        </p:xfrm>
        <a:graphic>
          <a:graphicData uri="http://schemas.openxmlformats.org/drawingml/2006/table">
            <a:tbl>
              <a:tblPr firstRow="0" bandRow="0">
                <a:tableStyleId>{5C22544A-7EE6-4342-B048-85BDC9FD1C3A}</a:tableStyleId>
              </a:tblPr>
              <a:tblGrid>
                <a:gridCol w="5394960"/>
                <a:gridCol w="5696712"/>
              </a:tblGrid>
              <a:tr h="804672">
                <a:tc>
                  <a:txBody>
                    <a:bodyPr wrap="square"/>
                    <a:lstStyle/>
                    <a:p>
                      <a:pPr algn="ctr"/>
                      <a:r>
                        <a:rPr sz="1400" b="1">
                          <a:solidFill>
                            <a:srgbClr val="FFFFFF"/>
                          </a:solidFill>
                        </a:rPr>
                        <a:t>Challenge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Corrective action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804672">
                <a:tc>
                  <a:txBody>
                    <a:bodyPr wrap="square"/>
                    <a:lstStyle/>
                    <a:p>
                      <a:pPr algn="l"/>
                      <a:r>
                        <a:rPr sz="1400" b="0">
                          <a:solidFill>
                            <a:srgbClr val="0F172A"/>
                          </a:solidFill>
                        </a:rPr>
                        <a:t>No traffic dataset or SUMO set-up came with the project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Built a seeded simulator with four controllers on identical demand; labelled it as such and not comparable with the base paper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804672">
                <a:tc>
                  <a:txBody>
                    <a:bodyPr wrap="square"/>
                    <a:lstStyle/>
                    <a:p>
                      <a:pPr algn="l"/>
                      <a:r>
                        <a:rPr sz="1400" b="0">
                          <a:solidFill>
                            <a:srgbClr val="0F172A"/>
                          </a:solidFill>
                        </a:rPr>
                        <a:t>Emergency detection: the base paper trains YOLO26m on 3,130 light-bar images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Tested our rule on real photos (a light-bar cluster in 4 of 300) and said so; training a detector is the first next step</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804672">
                <a:tc>
                  <a:txBody>
                    <a:bodyPr wrap="square"/>
                    <a:lstStyle/>
                    <a:p>
                      <a:pPr algn="l"/>
                      <a:r>
                        <a:rPr sz="1400" b="0">
                          <a:solidFill>
                            <a:srgbClr val="0F172A"/>
                          </a:solidFill>
                        </a:rPr>
                        <a:t>Real dashcam traffic: YOLOv8n recall 24% of all vehicles, 8% of 2-wheelers, 0% of 3-wheelers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Reported per class; fine-tuning on mixed-traffic data planned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804672">
                <a:tc>
                  <a:txBody>
                    <a:bodyPr wrap="square"/>
                    <a:lstStyle/>
                    <a:p>
                      <a:pPr algn="l"/>
                      <a:r>
                        <a:rPr sz="1400" b="0">
                          <a:solidFill>
                            <a:srgbClr val="0F172A"/>
                          </a:solidFill>
                        </a:rPr>
                        <a:t>Forecaster fails outside its training range (MAE 14.7 vs persistence 5.5 on the congested run)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Leave-one-simulation-out check added; wider demand coverage in training listed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804672">
                <a:tc>
                  <a:txBody>
                    <a:bodyPr wrap="square"/>
                    <a:lstStyle/>
                    <a:p>
                      <a:pPr algn="l"/>
                      <a:r>
                        <a:rPr sz="1400" b="0">
                          <a:solidFill>
                            <a:srgbClr val="0F172A"/>
                          </a:solidFill>
                        </a:rPr>
                        <a:t>CPU-only machine shared with other jobs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Simulator is fast (5,515x real time for the 2x2 advanced run); YOLO timings reported as indicative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Next steps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19</a:t>
            </a:fld>
            <a:endParaRPr lang="en-US"/>
          </a:p>
        </p:txBody>
      </p:sp>
      <p:sp>
        <p:nvSpPr>
          <p:cNvPr id="26" name="Rounded Rectangle 25"/>
          <p:cNvSpPr/>
          <p:nvPr/>
        </p:nvSpPr>
        <p:spPr>
          <a:xfrm>
            <a:off x="548640" y="1463040"/>
            <a:ext cx="2606040" cy="3566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64592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618488"/>
            <a:ext cx="1600200" cy="548640"/>
          </a:xfrm>
          <a:prstGeom prst="rect">
            <a:avLst/>
          </a:prstGeom>
          <a:noFill/>
        </p:spPr>
        <p:txBody>
          <a:bodyPr wrap="square" lIns="0" rIns="0" tIns="0" bIns="0" anchor="ctr">
            <a:spAutoFit/>
          </a:bodyPr>
          <a:lstStyle/>
          <a:p>
            <a:pPr algn="l">
              <a:spcAft>
                <a:spcPts val="400"/>
              </a:spcAft>
            </a:pPr>
            <a:r>
              <a:rPr sz="1600" b="1" i="0">
                <a:solidFill>
                  <a:srgbClr val="0F172A"/>
                </a:solidFill>
              </a:rPr>
              <a:t>Train a detector</a:t>
            </a:r>
          </a:p>
        </p:txBody>
      </p:sp>
      <p:sp>
        <p:nvSpPr>
          <p:cNvPr id="29" name="TextBox 28"/>
          <p:cNvSpPr txBox="1"/>
          <p:nvPr/>
        </p:nvSpPr>
        <p:spPr>
          <a:xfrm>
            <a:off x="749808" y="2331720"/>
            <a:ext cx="2203704" cy="2560320"/>
          </a:xfrm>
          <a:prstGeom prst="rect">
            <a:avLst/>
          </a:prstGeom>
          <a:noFill/>
        </p:spPr>
        <p:txBody>
          <a:bodyPr wrap="square" lIns="0" rIns="0" tIns="0" bIns="0" anchor="t">
            <a:spAutoFit/>
          </a:bodyPr>
          <a:lstStyle/>
          <a:p>
            <a:pPr algn="l">
              <a:spcAft>
                <a:spcPts val="400"/>
              </a:spcAft>
            </a:pPr>
            <a:r>
              <a:rPr sz="1700" b="0" i="0">
                <a:solidFill>
                  <a:srgbClr val="475569"/>
                </a:solidFill>
              </a:rPr>
              <a:t>Fine-tune YOLOv8 on a light-bar and mixed-traffic set and close the loop so vision, not ground truth, triggers pre-emption.</a:t>
            </a:r>
          </a:p>
        </p:txBody>
      </p:sp>
      <p:sp>
        <p:nvSpPr>
          <p:cNvPr id="30" name="Rounded Rectangle 29"/>
          <p:cNvSpPr/>
          <p:nvPr/>
        </p:nvSpPr>
        <p:spPr>
          <a:xfrm>
            <a:off x="3374136" y="1463040"/>
            <a:ext cx="2606040" cy="3566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575304" y="164592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4215384" y="1618488"/>
            <a:ext cx="1600200" cy="548640"/>
          </a:xfrm>
          <a:prstGeom prst="rect">
            <a:avLst/>
          </a:prstGeom>
          <a:noFill/>
        </p:spPr>
        <p:txBody>
          <a:bodyPr wrap="square" lIns="0" rIns="0" tIns="0" bIns="0" anchor="ctr">
            <a:spAutoFit/>
          </a:bodyPr>
          <a:lstStyle/>
          <a:p>
            <a:pPr algn="l">
              <a:spcAft>
                <a:spcPts val="400"/>
              </a:spcAft>
            </a:pPr>
            <a:r>
              <a:rPr sz="1600" b="1" i="0">
                <a:solidFill>
                  <a:srgbClr val="0F172A"/>
                </a:solidFill>
              </a:rPr>
              <a:t>Validate in SUMO</a:t>
            </a:r>
          </a:p>
        </p:txBody>
      </p:sp>
      <p:sp>
        <p:nvSpPr>
          <p:cNvPr id="33" name="TextBox 32"/>
          <p:cNvSpPr txBox="1"/>
          <p:nvPr/>
        </p:nvSpPr>
        <p:spPr>
          <a:xfrm>
            <a:off x="3575304" y="2331720"/>
            <a:ext cx="2203704" cy="2560320"/>
          </a:xfrm>
          <a:prstGeom prst="rect">
            <a:avLst/>
          </a:prstGeom>
          <a:noFill/>
        </p:spPr>
        <p:txBody>
          <a:bodyPr wrap="square" lIns="0" rIns="0" tIns="0" bIns="0" anchor="t">
            <a:spAutoFit/>
          </a:bodyPr>
          <a:lstStyle/>
          <a:p>
            <a:pPr algn="l">
              <a:spcAft>
                <a:spcPts val="400"/>
              </a:spcAft>
            </a:pPr>
            <a:r>
              <a:rPr sz="1700" b="0" i="0">
                <a:solidFill>
                  <a:srgbClr val="475569"/>
                </a:solidFill>
              </a:rPr>
              <a:t>Port the four controllers to SUMO or CARLA and repeat the comparison on a real network to allow a fair look at the base paper.</a:t>
            </a:r>
          </a:p>
        </p:txBody>
      </p:sp>
      <p:sp>
        <p:nvSpPr>
          <p:cNvPr id="34" name="Rounded Rectangle 33"/>
          <p:cNvSpPr/>
          <p:nvPr/>
        </p:nvSpPr>
        <p:spPr>
          <a:xfrm>
            <a:off x="6199631" y="1463040"/>
            <a:ext cx="2606040" cy="3566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400799" y="16459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7040879" y="1618488"/>
            <a:ext cx="1600200" cy="548640"/>
          </a:xfrm>
          <a:prstGeom prst="rect">
            <a:avLst/>
          </a:prstGeom>
          <a:noFill/>
        </p:spPr>
        <p:txBody>
          <a:bodyPr wrap="square" lIns="0" rIns="0" tIns="0" bIns="0" anchor="ctr">
            <a:spAutoFit/>
          </a:bodyPr>
          <a:lstStyle/>
          <a:p>
            <a:pPr algn="l">
              <a:spcAft>
                <a:spcPts val="400"/>
              </a:spcAft>
            </a:pPr>
            <a:r>
              <a:rPr sz="1600" b="1" i="0">
                <a:solidFill>
                  <a:srgbClr val="0F172A"/>
                </a:solidFill>
              </a:rPr>
              <a:t>Make the forecast robust</a:t>
            </a:r>
          </a:p>
        </p:txBody>
      </p:sp>
      <p:sp>
        <p:nvSpPr>
          <p:cNvPr id="37" name="TextBox 36"/>
          <p:cNvSpPr txBox="1"/>
          <p:nvPr/>
        </p:nvSpPr>
        <p:spPr>
          <a:xfrm>
            <a:off x="6400799" y="2331720"/>
            <a:ext cx="2203704" cy="2560320"/>
          </a:xfrm>
          <a:prstGeom prst="rect">
            <a:avLst/>
          </a:prstGeom>
          <a:noFill/>
        </p:spPr>
        <p:txBody>
          <a:bodyPr wrap="square" lIns="0" rIns="0" tIns="0" bIns="0" anchor="t">
            <a:spAutoFit/>
          </a:bodyPr>
          <a:lstStyle/>
          <a:p>
            <a:pPr algn="l">
              <a:spcAft>
                <a:spcPts val="400"/>
              </a:spcAft>
            </a:pPr>
            <a:r>
              <a:rPr sz="1700" b="0" i="0">
                <a:solidFill>
                  <a:srgbClr val="475569"/>
                </a:solidFill>
              </a:rPr>
              <a:t>Train on wider demand, add a congestion regime, try sequence models, and keep persistence as a fallback.</a:t>
            </a:r>
          </a:p>
        </p:txBody>
      </p:sp>
      <p:sp>
        <p:nvSpPr>
          <p:cNvPr id="38" name="Rounded Rectangle 37"/>
          <p:cNvSpPr/>
          <p:nvPr/>
        </p:nvSpPr>
        <p:spPr>
          <a:xfrm>
            <a:off x="9025128" y="1463040"/>
            <a:ext cx="2606040" cy="3566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226296" y="164592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9866376" y="1618488"/>
            <a:ext cx="1600200" cy="548640"/>
          </a:xfrm>
          <a:prstGeom prst="rect">
            <a:avLst/>
          </a:prstGeom>
          <a:noFill/>
        </p:spPr>
        <p:txBody>
          <a:bodyPr wrap="square" lIns="0" rIns="0" tIns="0" bIns="0" anchor="ctr">
            <a:spAutoFit/>
          </a:bodyPr>
          <a:lstStyle/>
          <a:p>
            <a:pPr algn="l">
              <a:spcAft>
                <a:spcPts val="400"/>
              </a:spcAft>
            </a:pPr>
            <a:r>
              <a:rPr sz="1600" b="1" i="0">
                <a:solidFill>
                  <a:srgbClr val="0F172A"/>
                </a:solidFill>
              </a:rPr>
              <a:t>Productionise</a:t>
            </a:r>
          </a:p>
        </p:txBody>
      </p:sp>
      <p:sp>
        <p:nvSpPr>
          <p:cNvPr id="41" name="TextBox 40"/>
          <p:cNvSpPr txBox="1"/>
          <p:nvPr/>
        </p:nvSpPr>
        <p:spPr>
          <a:xfrm>
            <a:off x="9226296" y="2331720"/>
            <a:ext cx="2203704" cy="2560320"/>
          </a:xfrm>
          <a:prstGeom prst="rect">
            <a:avLst/>
          </a:prstGeom>
          <a:noFill/>
        </p:spPr>
        <p:txBody>
          <a:bodyPr wrap="square" lIns="0" rIns="0" tIns="0" bIns="0" anchor="t">
            <a:spAutoFit/>
          </a:bodyPr>
          <a:lstStyle/>
          <a:p>
            <a:pPr algn="l">
              <a:spcAft>
                <a:spcPts val="400"/>
              </a:spcAft>
            </a:pPr>
            <a:r>
              <a:rPr sz="1700" b="0" i="0">
                <a:solidFill>
                  <a:srgbClr val="475569"/>
                </a:solidFill>
              </a:rPr>
              <a:t>Add a database for runs and violations, real violation detection with tracking, user accounts and TLS.</a:t>
            </a:r>
          </a:p>
        </p:txBody>
      </p:sp>
      <p:sp>
        <p:nvSpPr>
          <p:cNvPr id="42" name="Rounded Rectangle 41"/>
          <p:cNvSpPr/>
          <p:nvPr/>
        </p:nvSpPr>
        <p:spPr>
          <a:xfrm>
            <a:off x="548640" y="5257800"/>
            <a:ext cx="11091672" cy="868680"/>
          </a:xfrm>
          <a:prstGeom prst="roundRect">
            <a:avLst>
              <a:gd name="adj" fmla="val 3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77240" y="5394960"/>
            <a:ext cx="10607040" cy="640080"/>
          </a:xfrm>
          <a:prstGeom prst="rect">
            <a:avLst/>
          </a:prstGeom>
          <a:noFill/>
        </p:spPr>
        <p:txBody>
          <a:bodyPr wrap="square" lIns="0" rIns="0" tIns="0" bIns="0" anchor="ctr">
            <a:spAutoFit/>
          </a:bodyPr>
          <a:lstStyle/>
          <a:p>
            <a:pPr algn="l">
              <a:spcAft>
                <a:spcPts val="400"/>
              </a:spcAft>
            </a:pPr>
            <a:r>
              <a:rPr sz="1600" b="0" i="0">
                <a:solidFill>
                  <a:srgbClr val="0F172A"/>
                </a:solidFill>
              </a:rPr>
              <a:t>Priority: items 1 and 2 close the largest honest gaps - the missing trained emergency detector and the absence of a standard simulator validation.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FlowSense">
  <a:themeElements>
    <a:clrScheme name="FlowSense">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FlowSen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FlowSens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AI-Based Smart Traffic Management: Review 2</dc:title>
  <dc:subject>Batch A10 (CSE-A)</dc:subject>
  <dc:creator>Buneti Harshitha, Bhuvaneshwari Kadike, Ambati Sai Nikhil Reddy, Chapala Rohith Reddy</dc:creator>
  <cp:lastModifiedBy/>
  <cp:revision>1</cp:revision>
  <dcterms:created xsi:type="dcterms:W3CDTF">2026-10-13T12:40:05Z</dcterms:created>
  <dcterms:modified xsi:type="dcterms:W3CDTF">2026-10-13T12:40:05Z</dcterms:modified>
  <cp:keywords>smart traffic management, YOLOv8, adaptive signal control, emergency vehicle priority, queue forecasting</cp:keywords>
  <dc:description/>
</cp:coreProperties>
</file>