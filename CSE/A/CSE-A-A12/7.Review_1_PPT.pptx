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accuracy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Kermany 2018
(official test)</c:v>
                </c:pt>
                <c:pt idx="1">
                  <c:v>EfficientNet-B0
Khadidos 2026</c:v>
                </c:pt>
                <c:pt idx="2">
                  <c:v>DenseNet121
Khadidos 2026</c:v>
                </c:pt>
                <c:pt idx="3">
                  <c:v>Best model
Shahi 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0.928</c:v>
                </c:pt>
                <c:pt idx="1">
                  <c:v>0.846</c:v>
                </c:pt>
                <c:pt idx="2">
                  <c:v>0.797</c:v>
                </c:pt>
                <c:pt idx="3">
                  <c:v>0.98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 title. One sentence: we build a web tool that reads a chest X-ray, says Normal, Bacterial or Viral pneumonia, and shows the image regions behind its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The review is about why the problem matters and what is missing in current work, not yet about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sentences: the problem, our idea, what we deliver. Emphasise explanation: a heat map next to every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citation. The paper is a research framework on public benchmarks; it does not deliver an application. We reuse its input size, Grad-CAM idea and caution about orientation-changing augmentation.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pattern: classifiers on public chest X-ray data, hybrid and multi-disease variants, and recent comparisons on the same paediatric images. Figures marked as summarised in [1] are quoted from the base paper's own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Chart values come from the papers: 92.8 % [3], 84.6 % and 79.7 % [5], and the 96-98 % range of [6] (98 % plotted). The point is protocol sensitivity; our own results in later reviews state the protocol beside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today's typical path. Research models stop at a number in a notebook; they are not something a clinician or student can open and 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limitations our project targets. Each maps to a design decision shown later: heat map, stated protocol, three-class output, web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gap is backed by the literature on the previous slides. The batch literature survey phrases it as: combine segmentation, calibrated uncertainty and visual explanation into one deployable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statement slowly. Three parts: classify into three classes, explain with a heat map, keep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objectives from the project proposal: data and preprocessing, U-Net segmentation, CNN classifier, evaluation, heat maps,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pipeline stages and the application around them. U-Net segmentation is part of the proposal and is marked as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diagram left to right: the user interface, the API, the three inference modules, and the data 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expected outcomes, not results. We will report whatever the held-out test split shows, including weaknesses.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references are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a compact CNN (trains on a CPU, explainable); why Grad-CAM; why three classes; what about segmentation (planned, see later reviews).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Detection Using Deep Learning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Pneumonia Detection Using Deep Learning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chest X-ray classifier: Normal, Bacterial or Viral Pneumonia, with a Grad-CAM heat map for every prediction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CHOUDAM AKSHITHA  23K91A0556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BOGGULA SATVIK KUMAR  23K91A0541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ARUTLA ABHI THEJ REDDY  23K91A0515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DUGGARAJU LIKHITHA  23K91A0565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V. MEENAKSHI,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  ·  Batch A12 (CSE-A)  ·  2026-2027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Abstract and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Literature survey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Existing approaches and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 statement and objectives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approach and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a second opinion that shows its reasoning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Pneumonia is a leading infectious cause of death, yet chest X-ray readers are scarce exactly where it is most dangerous. Manual reading is slow and varies between readers, and most classifiers return a bare label with no visual justification.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Enhance the radiograph with CLAHE, classify it with a compact CNN into Normal, Bacterial or Viral pneumonia, and overlay a Grad-CAM heat map so every prediction can be checked against the image.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web application: upload an X-ray, receive the class, the three probabilities and the heat map; every scan is stored with a history and a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005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S. M. Mahin, T. Hasan, S. Karim, M. B. R. Nuha, E. H. Tusher, A. R. Hussain, J. Uddin and D. Ghose, "From Pneumonia to Multi-Disease: Interpretable and Uncertainty-Aware Semi-Supervised Learning Strategies for Chest X-Ray Classification," IEEE Access, vol. 14, pp. 127532-127551, 2026, doi: 10.1109/ACCESS.2026.3722370.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MobileNet, MobileNetV2, MobileNetV3Small and V3Large with ImageNet weights; FixMatch, FlexMatch and FreeMatch pseudo-labelling; Grad-CAM for explanation; Monte Carlo Dropout, test-time augmentation and calibration error for reliability.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35423" y="2697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and reported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3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Mendeley paediatric chest X-rays (5,863) for Normal vs Pneumonia and a merged four-class set (7,135). Supervised accuracy up to 98 % (binary) and 97 % (multiclass); FreeMatch reaches 97 % with 20 % (binary) or 30 % (multiclass) labels.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321040" y="2697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Limits stated by the authors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Benchmark datasets may not reflect clinical variability; the benefit of adding COVID-19 and TB classes is a hypothesis, not isolated; errors cluster in visually similar classes and high-entropy samples.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017520"/>
                <a:gridCol w="2743200"/>
                <a:gridCol w="295351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Reported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Mahin et al., 2026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MobileNet family with FixMatch, FlexMatch, FreeMatch; Grad-CAM; MC Dropout; ECE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Mendeley pediatric CXR (5,863, 2 classes); merged COVID-19 / Normal / Pneumonia / TB set (7,135)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Supervised up to 98 % (binary) and 97 % (4-class); FreeMatch 97 % with 20 % (binary) or 30 % (4-class)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Kermany et al., 2018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Transfer learning on a pretrained network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5,232 training and 624 test paediatric chest X-rays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93.2 % sensitivity, 90.1 % specificity, 92.8 % accuracy (Normal vs pneumonia)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Rajpurkar et al., 2017 [7] (CheXNet)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DenseNet121 trained on ChestX-ray14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ChestX-ray14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Radiologist-level pneumonia detection (as summarised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Ozturk et al., 2020 [20]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DarkNet-based CNN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COVID-19, pneumonia and normal X-rays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98.08 % binary but 87.02 % three-class (as summarised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Alshanketi et al., 2024 [22]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VGG16, ResNet50, Vision Transformer on imbalanced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Pneumonia chest X-rays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VGG16 about 91 %, ahead of deeper models under limited data (as summarised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Khadidos et al., 2026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DenseNet121 and EfficientNet-B0 fine-tuned; Grad-CAM and LIME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Kermany pediatric set, 5,863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EfficientNet-B0: accuracy 84.6 %, F1 0.8899, MCC 0.6849; DenseNet121: 79.7 %, 0.8597, 0.5852; recall above 0.99 for both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Shahi and Bagale, 2025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Seven pretrained models incl. a ViT, focal loss, patient-wise split, Grad-CAM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Chest X-rays with image-level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96-98 % accuracy; ResNet-18 and EfficientNet-B0 best; MobileNet-V3 efficient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protocol changes the number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676656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589520" y="1371600"/>
            <a:ext cx="4050791" cy="2240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790688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1527048"/>
            <a:ext cx="30449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2240280"/>
            <a:ext cx="36484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Reported accuracy on the paediatric dataset ranges from about 80 % to 98 % depending on the split, class balance and protocol.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794760"/>
            <a:ext cx="4050791" cy="2240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790688" y="397764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3950208"/>
            <a:ext cx="30449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Caveat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4663440"/>
            <a:ext cx="36484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Shahi and Bagale report 96-98 % (98 % plotted) after a patient-wise re-split; we plot the top of that range. Numbers are only comparable when the protocol is stated.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Chest X-ray taken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0667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35858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Clinician reads the film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3076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Opinion / report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8111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10294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Treatment 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834640"/>
            <a:ext cx="5440680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9808" y="30175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29900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Manual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703320"/>
            <a:ext cx="5038344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trained reader interprets each radiograph by eye. It is accurate in expert hands but slow when staff are scarce, tiring, and variable between readers.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834640"/>
            <a:ext cx="5440680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9900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classifiers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03320"/>
            <a:ext cx="5038344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Papers train CNNs on public data and report a label or a score. Code is usually a notebook: no interface, no record of past cases, and rarely any visual explanation.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No explanation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 bare label cannot be checked against the image, so it is hard to trust in a clinical workflow.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13716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799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52704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Protocol-dependent numbers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224028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The same images give anywhere from about 80 % to 98 % accuracy depending on how they are split.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995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Pathogen type is hard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70916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Separating bacterial from viral pneumonia is less studied than Normal vs Pneumonia and is where results fall.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384048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00799" y="4023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3995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Not usable as a 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9" y="470916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No interface, history, search or export: research code, not an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13258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1325880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Few works go from an uploaded image to an explained, stored, reviewable prediction.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313432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231343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Pathogen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313432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Bacterial against viral pneumonia is far less studied than pneumonia against normal.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300984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8640" y="330098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Protocol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30098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Results are rarely stated with their split and balance, so published numbers cannot be compared fairly.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88536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4288536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Explanation + uncertainty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288536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Grad-CAM, calibration and uncertainty are usually separate post-hoc add-ons, not part of a usable tool.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276088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8640" y="527608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Segmentation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276088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Restricting the classifier to the lung region (U-Net) is discussed but rarely combined with the rest.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1091672" cy="2514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1463040"/>
            <a:ext cx="1046988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F172A"/>
                </a:solidFill>
              </a:rPr>
              <a:t>Given one frontal chest X-ray, classify it as </a:t>
            </a:r>
            <a:r>
              <a:rPr sz="2000" b="1" i="0">
                <a:solidFill>
                  <a:srgbClr val="0F172A"/>
                </a:solidFill>
              </a:rPr>
              <a:t>Normal</a:t>
            </a:r>
            <a:r>
              <a:rPr sz="2000" b="0" i="0">
                <a:solidFill>
                  <a:srgbClr val="0F172A"/>
                </a:solidFill>
              </a:rPr>
              <a:t>, </a:t>
            </a:r>
            <a:r>
              <a:rPr sz="2000" b="1" i="0">
                <a:solidFill>
                  <a:srgbClr val="0F172A"/>
                </a:solidFill>
              </a:rPr>
              <a:t>Bacterial Pneumonia</a:t>
            </a:r>
            <a:r>
              <a:rPr sz="2000" b="0" i="0">
                <a:solidFill>
                  <a:srgbClr val="0F172A"/>
                </a:solidFill>
              </a:rPr>
              <a:t> or </a:t>
            </a:r>
            <a:r>
              <a:rPr sz="2000" b="1" i="0">
                <a:solidFill>
                  <a:srgbClr val="0F172A"/>
                </a:solidFill>
              </a:rPr>
              <a:t>Viral Pneumonia</a:t>
            </a:r>
            <a:r>
              <a:rPr sz="2000" b="0" i="0">
                <a:solidFill>
                  <a:srgbClr val="0F172A"/>
                </a:solidFill>
              </a:rPr>
              <a:t>, report the probability of each class, show the image regions that supported the decision, and keep a reviewable record, all through a web interface a non-expert can use.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63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PNG or JPEG chest X-ray, up to 8 MB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411480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4663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Class, confidence, three probabilities, Grad-CAM overlay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411480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48471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663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History, dashboard, CSV export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200" b="0" i="0">
                <a:solidFill>
                  <a:srgbClr val="0F172A"/>
                </a:solidFill>
              </a:rPr>
              <a:t>1.  Acquire and preprocess a chest X-ray dataset with consistent resizing, normalisation and augmentation.</a:t>
            </a:r>
          </a:p>
          <a:p>
            <a:pPr algn="l">
              <a:spcAft>
                <a:spcPts val="900"/>
              </a:spcAft>
            </a:pPr>
            <a:r>
              <a:rPr sz="2200" b="0" i="0">
                <a:solidFill>
                  <a:srgbClr val="0F172A"/>
                </a:solidFill>
              </a:rPr>
              <a:t>2.  Apply U-Net based lung segmentation to isolate the region of interest before classification.</a:t>
            </a:r>
          </a:p>
          <a:p>
            <a:pPr algn="l">
              <a:spcAft>
                <a:spcPts val="900"/>
              </a:spcAft>
            </a:pPr>
            <a:r>
              <a:rPr sz="2200" b="0" i="0">
                <a:solidFill>
                  <a:srgbClr val="0F172A"/>
                </a:solidFill>
              </a:rPr>
              <a:t>3.  Train a CNN classifier to distinguish pneumonia-positive from normal chest X-rays.</a:t>
            </a:r>
          </a:p>
          <a:p>
            <a:pPr algn="l">
              <a:spcAft>
                <a:spcPts val="900"/>
              </a:spcAft>
            </a:pPr>
            <a:r>
              <a:rPr sz="2200" b="0" i="0">
                <a:solidFill>
                  <a:srgbClr val="0F172A"/>
                </a:solidFill>
              </a:rPr>
              <a:t>4.  Evaluate using accuracy, sensitivity, specificity, F1-score and a confusion matrix.</a:t>
            </a:r>
          </a:p>
          <a:p>
            <a:pPr algn="l">
              <a:spcAft>
                <a:spcPts val="900"/>
              </a:spcAft>
            </a:pPr>
            <a:r>
              <a:rPr sz="2200" b="0" i="0">
                <a:solidFill>
                  <a:srgbClr val="0F172A"/>
                </a:solidFill>
              </a:rPr>
              <a:t>5.  Generate heatmap visualisations so each prediction can be verified against the image.</a:t>
            </a:r>
          </a:p>
          <a:p>
            <a:pPr algn="l">
              <a:spcAft>
                <a:spcPts val="900"/>
              </a:spcAft>
            </a:pPr>
            <a:r>
              <a:rPr sz="2200" b="0" i="0">
                <a:solidFill>
                  <a:srgbClr val="0F172A"/>
                </a:solidFill>
              </a:rPr>
              <a:t>6.  Deploy the model behind an interface that returns the prediction with its confidence and heatmap.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Resize to 224 x 224, CLAHE contrast enhancement, light blur, scale to [0, 1]. Planned: U-Net lung segmentation.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Classify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Compact CNN with four convolution blocks; softmax over Normal, Bacterial and Viral.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Grad-CAM on the last convolution layer, overlaid on the image.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5087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Accuracy, sensitivity, specificity, F1, confusion matrix, calibration, on a held-out test split.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84632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Web application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303520"/>
            <a:ext cx="9784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FastAPI service over the existing Flask project's model code, React interface, demo login, SQLite history, dashboard and CSV export.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2418" y="1234440"/>
            <a:ext cx="6176682" cy="4846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Four tiers: presentation, application (FastAPI), inference (preprocess, CNN, Grad-CAM) and data (SQLite, images, weights)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Working classifier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trained three-class CNN evaluated on the public test split.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Visible reasoning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Grad-CAM overlay and three probabilities for every scan.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Honest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Metrics stated with their protocol, including where the model fails.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Usable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Web application with login, history, dashboard and export.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535423" y="4023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5503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Reproducibility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3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One script trains and evaluates; every figure is regenerated from JSON.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9871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19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Quality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Automated tests for the API, the model code and the interface.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9167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0F172A"/>
                </a:solidFill>
              </a:rPr>
              <a:t>[1] S. M. Mahin, T. Hasan, S. Karim, M. B. R. Nuha, E. H. Tusher, A. R. Hussain, J. Uddin, and D. Ghose, "From pneumonia to multi-disease: Interpretable and uncertainty-aware semi-supervised learning strategies for chest X-ray classification," IEEE Access, vol. 14, pp. 127532-127551, 2026.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0F172A"/>
                </a:solidFill>
              </a:rPr>
              <a:t>[3] D. S. Kermany et al., "Identifying medical diagnoses and treatable diseases by image-based deep learning," Cell, vol. 172, no. 5, pp. 1122-1131, Feb. 2018.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0F172A"/>
                </a:solidFill>
              </a:rPr>
              <a:t>[5] A. O. Khadidos, A. Nanyonga, A. O. Khadidos, O. M. Mirza, and M. T. Yilmaz, "Explainable deep learning for pediatric pneumonia detection in chest X-ray images," arXiv:2601.09814, Jan. 2026.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0F172A"/>
                </a:solidFill>
              </a:rPr>
              <a:t>[6] K. Shahi and A. Bagale, "Weakly supervised pneumonia localization from chest X-rays using deep neural network and Grad-CAM explanations," arXiv:2511.00456, 2025.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0F172A"/>
                </a:solidFill>
              </a:rPr>
              <a:t>[7] P. Rajpurkar et al., "CheXNet: Radiologist-level pneumonia detection on chest X-rays with deep learning," arXiv:1711.05225, 2017.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0F172A"/>
                </a:solidFill>
              </a:rPr>
              <a:t>[9] R. R. Selvaraju, M. Cogswell, A. Das, R. Vedantam, D. Parikh, and D. Batra, "Grad-CAM: Visual explanations from deep networks via gradient-based localization," Int. J. Comput. Vis., vol. 128, no. 2, pp. 336-359, Feb. 2020.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0F172A"/>
                </a:solidFill>
              </a:rPr>
              <a:t>[10] O. Ronneberger, P. Fischer, and T. Brox, "U-Net: Convolutional networks for biomedical image segmentation," in Proc. Med. Image Comput. Comput.-Assist. Intervent. (MICCAI), 2015, pp. 234-241.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0F172A"/>
                </a:solidFill>
              </a:rPr>
              <a:t>[11] K. Zuiderveld, "Contrast limited adaptive histogram equalization," in Graphics Gems IV, P. S. Heckbert, Ed. San Diego, CA, USA: Academic Press, 1994, pp. 474-485.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neumoDetect">
  <a:themeElements>
    <a:clrScheme name="PneumoDetec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PneumoDete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neumoDetec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Detection Using Deep Learning: Review 1</dc:title>
  <dc:subject>Batch A12 (CSE-A)</dc:subject>
  <dc:creator>CHOUDAM AKSHITHA, BOGGULA SATVIK KUMAR, ARUTLA ABHI THEJ REDDY, DUGGARAJU LIKHITHA</dc:creator>
  <cp:lastModifiedBy/>
  <cp:revision>1</cp:revision>
  <dcterms:created xsi:type="dcterms:W3CDTF">2026-10-13T12:36:40Z</dcterms:created>
  <dcterms:modified xsi:type="dcterms:W3CDTF">2026-10-13T12:36:40Z</dcterms:modified>
  <cp:keywords>pneumonia, chest X-ray, CNN, Grad-CAM</cp:keywords>
  <dc:description/>
</cp:coreProperties>
</file>