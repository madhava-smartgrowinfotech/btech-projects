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Bacterial</c:v>
                </c:pt>
                <c:pt idx="2">
                  <c:v>Viral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0.7552083333333334</c:v>
                </c:pt>
                <c:pt idx="1">
                  <c:v>0.8923076923076924</c:v>
                </c:pt>
                <c:pt idx="2">
                  <c:v>0.6918604651162791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an explainable chest X-ray classifier with a complete web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first two bullets, then give the headline numbers with their protocol (official test split). End on the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research framework on public benchmarks. We take the input size, Grad-CAM and the lightweight-model idea; we do not reproduce its semi-supervised or uncertainty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Representative work on chest X-ray classification. Figures marked 'as summarised in [1]' come from the base paper's own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gaps drawn from the survey. We address the first three directly and the fourth partly; segmentation is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statement has three parts: classify, explain,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proposal. The conclusion reports for each whether it was met; objective 2 (U-Net) was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in one line of boxes, then the four properties that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tiers; the model code is shared by both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workflow, and the additional protocols added because the official test split shares ids with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and model in one view. Pathogen labels are derived from file names, as the dataset authors encoded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prediction route in decision form. The confidence threshold is analysed on slide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one analysis and the use cases of the user and the 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table; each row owns one original image and one overlay image on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 of the implementation: security controls, concurrency, interface features and the reproducible training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Protocol: train on 4,688 patient-split training images, validate on 544, test once on the official 624-image test split. Class weights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are the true class, columns the prediction. The largest confusion is normal films predicted as viral pneumonia, then viral predicted as bacterial.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accuracy against the minimum confidence required to auto-report. Right: moving the pneumonia decision threshold trades sensitivity for specificity. Bottom: the CLAHE ablation and the MobileNetV3Small comparison on the same test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Latency was measured on a CPU-only desktop: about half a second per scan through the API. The test table shows every layer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datasets and protocols differ: the base paper balances and subsamples, we keep the official imbalanced data and add a third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the detect screen with a preview before analysis. Right: the result page with the class badge, probabilities and the Grad-CAM overlay.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heat-map strength slider blends the overlay over the X-ray; the dark theme is remembered.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History with search, filter, sort and CSV export; dashboard with totals, class distribution and scans per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objectives were met in full or in part; objective 2 was not. Findings are stated with their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Concrete next steps, ordered by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Detection Using Deep Learning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A12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23K91A0556   Choudam Akshitha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23K91A0541   Boggula Satvik Kumar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23K91A0515   Arutla Abhi Thej Reddy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23K91A0565   Duggaraju Likhitha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MEENAKSHI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and Technology (Autonomous)  ·  Academic Year 2026 – 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Model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Database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Threshold Analysis, 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Pneumonia is a leading infectious cause of death and chest X-ray readers are scarce where it is most dangerous; manual reading is slow and varies between readers.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 built an end-to-end system: CLAHE preprocessing, a compact CNN that classifies Normal, Bacterial or Viral pneumonia, and a Grad-CAM heat map for every prediction.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CNN (590,019 parameters, CPU-trained) reaches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79.5%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three-class accuracy on the official 624-image test split of the public Kermany data; separating pneumonia from normal gives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98.7%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sensitivity and </a:t>
            </a: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62.0%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specificity. Normal films mistaken for pneumonia are the weak point.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FastAPI service and a React interface add login, history, dashboard, CSV export and printing; 73 automated tests pass.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U-Net segmentation, calibrated uncertainty and external validation are not done and are stated as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S. M. Mahin, T. Hasan, S. Karim, M. B. R. Nuha, E. H. Tusher, A. R. Hussain, J. Uddin and D. Ghose, "From Pneumonia to Multi-Disease: Interpretable and Uncertainty-Aware Semi-Supervised Learning Strategies for Chest X-Ray Classification," IEEE Access, vol. 14, pp. 127532-127551, 2026, doi: 10.1109/ACCESS.2026.3722370.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651760"/>
          <a:ext cx="11155680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MobileNet family (V3Small chosen) with FixMatch, FlexMatch, FreeMatch; Grad-CAM; Monte Carlo Dropout, test-time augmentation, ECE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Mendeley paediatric chest X-rays (5,863; Normal / Pneumonia) and a merged 4-class set (7,135); balanced subsets, seed 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Up to 98 % (binary) and 97 % (4-class) supervised; FreeMatch 97 % with 20 % (binary) / 30 % (4-class) labels; latency 0.11 s, 116.9 M FLOPs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Benchmark data, no external validation, confusion among similar diseases, benefit of extra classes not isolated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2286000"/>
                <a:gridCol w="2194560"/>
                <a:gridCol w="2926080"/>
                <a:gridCol w="201168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Author / 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Key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Limitations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Kermany et al., 2018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Transfer learning on a pretrained network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5,232 training and 624 test paediatric chest X-rays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93.2 % sensitivity, 90.1 % specificity, 92.8 % accuracy (Normal vs pneumonia)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Single paediatric centre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Rajpurkar et al., 2017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DenseNet121 trained on ChestX-ray14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ChestX-ray14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Radiologist-level pneumonia detection (as summarised in [1])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Binary formulation; fully supervised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Ozturk et al., 2020 [20]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DarkNet-based CNN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COVID-19, pneumonia and normal X-rays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98.08 % binary but 87.02 % three-class (as summarised in [1])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Large drop when classes overlap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Alshanketi et al., 2024 [22]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VGG16, ResNet50, Vision Transformer on imbalanced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Pneumonia chest X-rays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VGG16 about 91 %, ahead of deeper models under limited data (as summarised in [1])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Small-data regime; imbalance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Khadidos et al., 2026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DenseNet121 and EfficientNet-B0 fine-tuned; Grad-CAM and LIME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Kermany pediatric set, 5,863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EfficientNet-B0: accuracy 84.6 %, F1 0.8899, MCC 0.6849; DenseNet121: 79.7 %, 0.8597, 0.5852; recall above 0.99 for both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High recall but modest accuracy: pneumonia over-predicted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Shahi and Bagale, 2025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Seven pretrained models incl. a ViT, focal loss, patient-wise split, Grad-CAM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Chest X-rays with image-level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96-98 % accuracy; ResNet-18 and EfficientNet-B0 best; MobileNet-V3 efficient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Weak supervision gives coarse localisation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Application: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few works go from an uploaded image to an explained, stored, reviewable prediction.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Pathogen type: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bacterial against viral pneumonia is far less studied than pneumonia against normal.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Protocol: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results are rarely stated with their split and balance, so numbers on the same dataset (80 % to 98 %) cannot be compared fairly.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Explanation and uncertainty: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Grad-CAM, calibration and uncertainty are usually separate post-hoc add-ons.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Segmentation: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restricting the classifier to the lungs is discussed but rarely combined with the rest.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Given one frontal chest X-ray, classify it as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Normal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Bacterial Pneumonia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or </a:t>
            </a: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Viral Pneumonia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, report the probability of each class, show the image regions that supported the decision, and keep a reviewable record, all through a web interface a non-expert can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3192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PNG or JPEG chest X-ray, up to 8 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393192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4805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Class, confidence, three probabilities, Grad-CAM overlay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93192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4805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History, dashboard, CSV export, printable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Acquire and preprocess a chest X-ray dataset with consistent resizing, normalisation and augmentation.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Apply U-Net based lung segmentation to isolate the region of interest before classification.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Train a CNN classifier to distinguish pneumonia-positive from normal chest X-rays.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Evaluate using accuracy, sensitivity, specificity, F1-score and a confusion matrix.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Generate heatmap visualisations so each prediction can be verified against the image.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Deploy the model behind an interface that returns the prediction with its confidence and heatmap.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Upload X-ray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7460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3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Preprocess (CLAHE)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2603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3207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CNN classify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7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8352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Grad-CAM explain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2892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3496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Store +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00400"/>
            <a:ext cx="111556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Compact three-class CNN written for the project; the same preprocessing at training and at inference.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Grad-CAM overlay and three probabilities for every scan, stored with the scan in SQLite.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FastAPI service reusing the original Flask project's model code; React interface with demo login, dashboard, history, CSV export and print.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Demo Mode warning whenever the network is untrained; clinical disclaimer on every screen.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50" y="1691640"/>
            <a:ext cx="582705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Presentation: React SPA, original Flask UI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Application: FastAPI, signed-cookie login, validation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Inference: preprocess, CNN, Grad-CAM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Data: SQLite, image files, weights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Public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0690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2714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Label from file names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0484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2508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Preprocess + cache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70278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2302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Patient-level split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0073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2097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 CNN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09867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01891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once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9661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21685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metrics.json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111556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Shared preprocessing: the training script calls the same function as the web app.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Validation cut by patient; official test split used once; seed 42; balanced class weights.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Additional views: patient-disjoint part of the test split, a fully patient-level re-partition, a CLAHE ablation and a MobileNetV3Small comparison.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metric, prediction and figure is written to disk and regenerated by scripts.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5,856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Kermany chest X-rays (CC BY 4.0)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935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224 x 224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63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input, CLAHE + blur, [0, 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4078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590,019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06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CNN parameters</a:t>
            </a:r>
          </a:p>
        </p:txBody>
      </p:sp>
      <p:pic>
        <p:nvPicPr>
          <p:cNvPr id="19" name="Picture 18" descr="datase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854968"/>
            <a:ext cx="4297680" cy="2233662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863840" y="1737360"/>
          <a:ext cx="384048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 x (Conv3x3 + BN + MaxPool)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14x14x256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GAP, Dense 512, Dropout 0.35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Dense 128, Dropout 0.25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Dense 3, softmax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 classes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383280" y="4434840"/>
            <a:ext cx="8229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Training 4,688 / validation 544 / test 624 images; pathogen labels from file names.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Adam 0.0003, batch 32, early stopping, class weights, augmentation (rotation, shift, shear, zoom, flip).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core_algorith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41" y="1645920"/>
            <a:ext cx="4404557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1828800"/>
            <a:ext cx="6309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Validate: session, name, extension, 8 MB, decodable. Errors return 401 / 400 / 413 and store nothing.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Decide: class = arg-max of the three probabilities; confidence = that probability.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Explain: Grad-CAM for the predicted class, overlay alpha 0.4.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Flag: accuracy against a minimum-confidence threshold is reported so low-confidence scans can be sent for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44" y="1645920"/>
            <a:ext cx="5062311" cy="4663440"/>
          </a:xfrm>
          <a:prstGeom prst="rect">
            <a:avLst/>
          </a:prstGeom>
        </p:spPr>
      </p:pic>
      <p:pic>
        <p:nvPicPr>
          <p:cNvPr id="8" name="Picture 7" descr="08_use_cas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470990"/>
            <a:ext cx="3840480" cy="30132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88" y="1645920"/>
            <a:ext cx="6170262" cy="4480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737360"/>
          <a:ext cx="4572000" cy="3785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173736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Column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INTEGER PK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filename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original_path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heatmap_path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prediction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confidence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prob_normal / _bacterial / _viral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created_at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TEXT (UTC)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REST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screens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command to start (run.bat)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Signed HttpOnly session cookie (HMAC-SHA256, 12 h), 401 on protected routes, path-traversal guard on image files, bound-parameter SQL.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TensorFlow inference at a time under a lock; model loads in a background thread at start-up.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Upload progress bar from a real XMLHttpRequest; side-by-side and blended Grad-CAM views; CSV export; print stylesheet.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Training script reuses the inference preprocessing and records every metric to JSON.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Model Performance (official test split)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7223760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1097280"/>
                <a:gridCol w="11887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Support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Normal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0.967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0.755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234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Bacterial Pneumonia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0.959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0.892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Viral Pneumonia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0.607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0.804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0.692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148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Macro average /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0.794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 0.795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93776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493776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992624"/>
            <a:ext cx="24231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98.7%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4182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pneumonia sensitivity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493776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91839" y="4937760"/>
            <a:ext cx="73152" cy="10972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74720" y="4992624"/>
            <a:ext cx="24231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62.0%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574182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normal specificity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863840" y="1691640"/>
          <a:ext cx="3840480" cy="4480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Per-class Metrics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4754880" cy="4206240"/>
          </a:xfrm>
          <a:prstGeom prst="rect">
            <a:avLst/>
          </a:prstGeom>
        </p:spPr>
      </p:pic>
      <p:pic>
        <p:nvPicPr>
          <p:cNvPr id="8" name="Picture 7" descr="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29075"/>
            <a:ext cx="6217920" cy="32228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Test n = 624: Normal row [145, 17, 72], Bacterial row [5, 232, 5], Viral row [0, 29, 119] (columns Normal, Bacterial, Viral).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Parameter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confidence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56" y="1554480"/>
            <a:ext cx="5116167" cy="2651760"/>
          </a:xfrm>
          <a:prstGeom prst="rect">
            <a:avLst/>
          </a:prstGeom>
        </p:spPr>
      </p:pic>
      <p:pic>
        <p:nvPicPr>
          <p:cNvPr id="8" name="Picture 7" descr="decision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316" y="1554480"/>
            <a:ext cx="5116167" cy="265176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343400"/>
          <a:ext cx="11155680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645920"/>
                <a:gridCol w="1645920"/>
                <a:gridCol w="18288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Experiment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3-class acc.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Macro 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Sensitivity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Specificity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Baseline: project defaults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68.1%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0.655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35.5%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Deployed: tuned recipe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79.5%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98.7%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62.0%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Ablation: no CLAHE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82.2%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66.7%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MobileNetV3Small (base-paper backbone)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61.9%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0.593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100.0%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63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network forward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110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Grad-CAM + overlay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5156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521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end-to-end POST /api/predict (mean)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3063240"/>
          <a:ext cx="1115568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548640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 (pytest)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preprocessing, network, Grad-CAM, database, tokens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31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Integration (pytest)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login, validation, prediction, history, stats, files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34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Functional (Flask)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upload form, result, history, errors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Live 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running servers through the proxy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 checks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UI verification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360 / 768 / 1440 px, light / dark, keyboard, motion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 configurations, no overflow or console errors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datasets)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572000"/>
                <a:gridCol w="47548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Binary (Normal / Pneumonia) and 4-class (COVID-19, Normal, Pneumonia, TB)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3-class: Normal / Bacterial / Viral pneumonia; Normal vs pneumonia view derived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Mendeley paediatric set, balanced subset of 1,300 per class (2,080 / 260 / 260)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Same image source, full official data: 4,688 / 544 / 624, imbalanced, class weights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MobileNet family, ImageNet-pretrained; FixMatch / FlexMatch / FreeMatch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Custom 4-block CNN, 590,019 parameters, trained from scratch on a CPU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Up to 98 % (binary), 97 % (4-class); 97 % with 20 %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79.5% 3-class; 84.9% Normal vs pneumonia (official test split)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Explanation / reliability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Grad-CAM, MC Dropout (entropy 0.30), TTA, ECE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Grad-CAM, ECE 0.033, confidence-threshold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Deliverable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Research framework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Working web application with history, dashboard and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Not a like-for-like comparison: different class set, balance, split and model family. Where the protocol differs the numbers are context, not a ranking.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Upload and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5_detect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02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6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581" y="1691640"/>
            <a:ext cx="3593077" cy="4526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Grad-CAM Result (blend and dark theme)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7_result_bl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02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8_resul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081" y="1691640"/>
            <a:ext cx="3454076" cy="4526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History and Dashboard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11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0750"/>
            <a:ext cx="5486400" cy="352806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9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600" y="1691640"/>
            <a:ext cx="4395039" cy="4526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an end-to-end pneumonia detection system: preprocessing, a trained three-class CNN, Grad-CAM, storage, history, dashboard, tests and documentation.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79.5% three-class accuracy and 98.7% / 62.0% pneumonia sensitivity / normal specificity on the official test split, with the protocol stated.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Finding: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normal versus pneumonia is learnable by a compact CPU-trained CNN; specificity (normal films called pneumonia) is the weak point, and the public test split shares pneumonia ids with training, so patient-disjoint results are reported too.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achieved: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U-Net lung segmentation (objective 2), calibrated uncertainty, external validation. Not a medical device.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U-Net lung segmentation to restrict the classifier to the lungs and make Grad-CAM maps more specific.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Monte Carlo Dropout or temperature scaling for calibrated uncertainty and a built-in review flag.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Transfer-learning backbones (MobileNetV3Small, EfficientNet) with a Grad-CAM that can reach nested layers.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External validation on data from other hospitals; adult cohorts; prospective clinical evaluation.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Real accounts and roles, audit log, DICOM input, container deployment.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S. M. Mahin, T. Hasan, S. Karim, M. B. R. Nuha, E. H. Tusher, A. R. Hussain, J. Uddin, and D. Ghose, "From pneumonia to multi-disease: Interpretable and uncertainty-aware semi-supervised learning strategies for chest X-ray classification," IEEE Access, vol. 14, pp. 127532-127551, 2026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D. S. Kermany et al., "Identifying medical diagnoses and treatable diseases by image-based deep learning," Cell, vol. 172, no. 5, pp. 1122-1131, Feb. 2018.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A. O. Khadidos, A. Nanyonga, A. O. Khadidos, O. M. Mirza, and M. T. Yilmaz, "Explainable deep learning for pediatric pneumonia detection in chest X-ray images," arXiv:2601.09814, Jan. 2026.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K. Shahi and A. Bagale, "Weakly supervised pneumonia localization from chest X-rays using deep neural network and Grad-CAM explanations," arXiv:2511.00456, 2025.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P. Rajpurkar et al., "CheXNet: Radiologist-level pneumonia detection on chest X-rays with deep learning," arXiv:1711.05225, 2017.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R. R. Selvaraju, M. Cogswell, A. Das, R. Vedantam, D. Parikh, and D. Batra, "Grad-CAM: Visual explanations from deep networks via gradient-based localization," Int. J. Comput. Vis., vol. 128, no. 2, pp. 336-359, Feb. 2020.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O. Ronneberger, P. Fischer, and T. Brox, "U-Net: Convolutional networks for biomedical image segmentation," in Proc. Med. Image Comput. Comput.-Assist. Intervent. (MICCAI), 2015, pp. 234-241.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K. Zuiderveld, "Contrast limited adaptive histogram equalization," in Graphics Gems IV, P. S. Heckbert, Ed. San Diego, CA, USA: Academic Press, 1994, pp. 474-485.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A. G. Howard et al., "MobileNets: Efficient convolutional neural networks for mobile vision applications," arXiv:1704.04861, 2017.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A. Howard et al., "Searching for MobileNetV3," in Proc. IEEE/CVF Int. Conf. Comput. Vis. (ICCV), Sep. 2019, pp. 1314-1324.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K. Sohn et al., "FixMatch: Simplifying semi-supervised learning with consistency and confidence," in Proc. Adv. Neural Inf. Process. Syst., vol. 33, 2020, pp. 596-608.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Y. Gal and Z. Ghahramani, "Dropout as a Bayesian approximation: Representing model uncertainty in deep learning," in Proc. Int. Conf. Mach. Learn. (ICML), 2016, pp. 1050-1059.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D. P. Kingma and J. Ba, "Adam: A method for stochastic optimization," arXiv:1412.6980, 2014.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[20] T. Ozturk, M. Talo, E. A. Yildirim, U. B. Baloglu, O. Yildirim, and U. R. Acharya, "Automated detection of COVID-19 cases using deep neural networks with X-ray images," Comput. Biol. Med., vol. 121, Art. no. 103792, Jun. 2020.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[22] F. Alshanketi et al., "Pneumonia detection from chest X-ray images using deep learning and transfer learning for imbalanced datasets," J. Imaging Inform. Med., vol. 38, no. 4, pp. 2021-2040, Nov. 2024.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[29] C. Guo, G. Pleiss, Y. Sun, and K. Q. Weinberger, "On calibration of modern neural networks," in Proc. Int. Conf. Mach. Learn. (ICML), 2017, pp. 1321-1330.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A12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neumoDetect">
  <a:themeElements>
    <a:clrScheme name="PneumoDetec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neumoDetect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neumoDetec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 Detection Using Deep Learning - Final Review</dc:title>
  <dc:subject>Pneumonia Detection Using Deep Learning</dc:subject>
  <dc:creator>Batch A12, Dept. of CSE, TKRCET</dc:creator>
  <cp:lastModifiedBy>Batch D1, Dept. of CSE, TKRCET</cp:lastModifiedBy>
  <cp:revision>1</cp:revision>
  <dcterms:created xsi:type="dcterms:W3CDTF">2026-10-07T05:03:03Z</dcterms:created>
  <dcterms:modified xsi:type="dcterms:W3CDTF">2026-10-07T05:03:03Z</dcterms:modified>
  <dc:description/>
</cp:coreProperties>
</file>