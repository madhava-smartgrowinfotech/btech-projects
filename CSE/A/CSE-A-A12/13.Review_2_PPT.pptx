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Bacterial</c:v>
                </c:pt>
                <c:pt idx="2">
                  <c:v>Viral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0.9666666666666667</c:v>
                </c:pt>
                <c:pt idx="1">
                  <c:v>0.8345323741007195</c:v>
                </c:pt>
                <c:pt idx="2">
                  <c:v>0.6071428571428571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Bacterial</c:v>
                </c:pt>
                <c:pt idx="2">
                  <c:v>Viral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0.6196581196581197</c:v>
                </c:pt>
                <c:pt idx="1">
                  <c:v>0.9586776859504132</c:v>
                </c:pt>
                <c:pt idx="2">
                  <c:v>0.8040540540540541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Bacterial</c:v>
                </c:pt>
                <c:pt idx="2">
                  <c:v>Viral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0.7552083333333334</c:v>
                </c:pt>
                <c:pt idx="1">
                  <c:v>0.8923076923076924</c:v>
                </c:pt>
                <c:pt idx="2">
                  <c:v>0.6918604651162791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review shows how the system is designed and built: the data and model, what has been implemented, the first measured results and the open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for the design and progress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One-minute recap of Review 1: the base paper is a research framework; we deliver the end-to-end tool and measure it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tiers. The FastAPI layer imports the original model, Grad-CAM and database modules, so nothing was rewritten.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training script is one command and writes every number to JSON. Preprocessing is the same function the web app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Kermany et al. data, CC BY 4.0. Pathogen labels are derived from the file names. The overlap of ids between the official folders is analysed in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same five steps run at training and at inference. Augmentation is training-only.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compact CNN written for the project. The convolution layer named last_conv is where Grad-CAM reads its feature maps.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 configuration of the project's custom CNN, with class weights for the Bacterial-heavy 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route validates in the same order as the original Flask route. The confidence threshold is analysed on the results slides, not applied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Level-1 data flow: five processes. Level 0 and 2 are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single predictions table; each row owns one original image and one overlay. The UML shows modules as classes because the code is function-oriented.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is open source; one script starts the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of the code base. The two honest gaps are segmentation and the base paper's uncertainty and semi-supervised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First measured numbers on the official test split. The protocol is stated beside them; the final review adds the patient-disjoint analysis and the comparison with the base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from the running application with the trained model: a result with the Grad-CAM overlay, the dashboard and the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suite runs offline with the real model and a throw-away database. Observations on the right drove three of the design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challenge was met by a concrete change in the code or the evaluation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 to the final review. The extensions at the right are out of scope for this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the custom CNN; why patient-level splitting; what about segmentation.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 Detection Using Deep Learning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Pneumonia Detection Using Deep Learning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methodology and progress: a trained three-class CNN with Grad-CAM, behind a FastAPI service and a React interface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CHOUDAM AKSHITHA  23K91A0556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BOGGULA SATVIK KUMAR  23K91A0541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ARUTLA ABHI THEJ REDDY  23K91A0515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DUGGARAJU LIKHITHA  23K91A0565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V. MEENAKSHI,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and Technology (Autonomous)  ·  Batch A12 (CSE-A)  ·  2026-2027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Recap and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Methodology and dataset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Preprocessing and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Training and decision logic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flow, database and UML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Implementation progress and results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Output screens and testing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Challenges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Pneumonia needs a fast, checkable reading of the chest X-ray. Readers are scarce, readings vary, and most classifiers give a label with no visual justification.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Preprocess with CLAHE, classify into Normal, Bacterial or Viral pneumonia with a compact CNN, explain with Grad-CAM, and keep every scan in a reviewable history.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 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Reuses 224 x 224 input and Grad-CAM; replaces its semi-supervised research framework by a complete application. Segmentation and Monte Carlo Dropout are not reproduced.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12" y="1188720"/>
            <a:ext cx="6351494" cy="49834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0" y="1371600"/>
            <a:ext cx="384048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F172A"/>
                </a:solidFill>
              </a:rPr>
              <a:t>Four tiers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Presentation: React SPA (port 5312) and the original Flask UI.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Application: FastAPI service (port 8312) with signed-cookie login and validation.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Inference: preprocess, CNN, Grad-CAM modules shared with the Flask app.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Data: SQLite history, image files, saved model weights.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Public chest X-ray data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960734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61902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Label from file names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573997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75165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Preprocess + cache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187260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88428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Patient-level split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800523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01691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Train CNN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413786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14954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Evaluate on test split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027049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28217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metrics.json + figures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01752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Shared preprocessing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70332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load_and_preprocess_image is used by training, Flask and FastAPI: no train/serve mismatch.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301752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62855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Patient-level split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5" y="370332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Validation is cut by patient so one patient never sits on both sides; the test split is used once.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19871" y="301752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48471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Reproducible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1" y="370332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Seed 42; every metric, prediction and figure is written to disk and regenerated by scripts.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5,856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chest X-ray images, paediatric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classes: Normal, Bacterial, Viral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624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official test images, held out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CC BY 4.0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Kermany et al., Mendeley Data v3</a:t>
            </a:r>
          </a:p>
        </p:txBody>
      </p:sp>
      <p:pic>
        <p:nvPicPr>
          <p:cNvPr id="42" name="Picture 41" descr="dataset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89383"/>
            <a:ext cx="6035040" cy="313663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58000" y="2743200"/>
            <a:ext cx="475488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Pathogen labels come from file names (person12_bacteria_34, person7_virus_21).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Official val folder has only 16 images, so train and val are merged and a 10 % validation set is cut by patient.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0F172A"/>
                </a:solidFill>
              </a:rPr>
              <a:t>Many pneumonia ids in the test folder also occur in training; results are also reported on a patient-disjoint 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pic>
        <p:nvPicPr>
          <p:cNvPr id="26" name="Picture 25" descr="preprocessing_ste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52560"/>
            <a:ext cx="7223759" cy="37871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046720" y="1371600"/>
            <a:ext cx="361188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F172A"/>
                </a:solidFill>
              </a:rPr>
              <a:t>1  Decode to grayscale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F172A"/>
                </a:solidFill>
              </a:rPr>
              <a:t>2  Resize to 224 x 224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F172A"/>
                </a:solidFill>
              </a:rPr>
              <a:t>3  CLAHE, clip 2.5, 8 x 8 tiles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F172A"/>
                </a:solidFill>
              </a:rPr>
              <a:t>4  Gaussian blur 3 x 3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0F172A"/>
                </a:solidFill>
              </a:rPr>
              <a:t>5  Three channels, divide by 255</a:t>
            </a:r>
          </a:p>
          <a:p>
            <a:pPr algn="l">
              <a:spcAft>
                <a:spcPts val="1000"/>
              </a:spcAft>
            </a:pPr>
            <a:r>
              <a:rPr sz="1400" b="0" i="1">
                <a:solidFill>
                  <a:srgbClr val="475569"/>
                </a:solidFill>
              </a:rPr>
              <a:t>Training adds rotation, shift, shear, zoom and horizontal flip.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7680960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05840"/>
                <a:gridCol w="4572000"/>
                <a:gridCol w="210312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Block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Layers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Conv 3x3, 32 · BN · MaxPool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112 x 112 x 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Conv 3x3, 64 · BN · MaxPool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56 x 56 x 64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Conv 3x3, 128 · BN · MaxPool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28 x 28 x 128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Conv 3x3, 256 (last_conv) · BN · MaxPool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14 x 14 x 256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Head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GAP · Dense 512 · BN · Dropout 0.35 · Dense 128 · Dropout 0.25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256 -&gt; 512 -&gt; 128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Output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Dense 3, softmax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3 class probabilities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8595360" y="1371600"/>
            <a:ext cx="3044952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595360" y="1371600"/>
            <a:ext cx="73152" cy="13258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796528" y="1463040"/>
            <a:ext cx="2770632" cy="729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590,019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2140610"/>
            <a:ext cx="2770632" cy="50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parameters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2880360"/>
            <a:ext cx="3044952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8595360" y="2880360"/>
            <a:ext cx="73152" cy="13258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796528" y="2971800"/>
            <a:ext cx="2770632" cy="729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2.36 MB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96528" y="3649370"/>
            <a:ext cx="2770632" cy="50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weights in float32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95360" y="4389120"/>
            <a:ext cx="3044952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595360" y="4389120"/>
            <a:ext cx="73152" cy="13258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796528" y="4480559"/>
            <a:ext cx="2770632" cy="729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No GPU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6528" y="5158130"/>
            <a:ext cx="2770632" cy="50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trains on a desktop CPU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6817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8165592"/>
              </a:tblGrid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Optimiser / loss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Adam, learning rate 0.0003 / categorical cross-entropy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Class weights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balanced: 1.29, 0.69, 1.28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Batch / max epochs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32 / 40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Early stopping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validation loss, patience 10, best weights restored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Learning-rate schedule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halved after 3 epochs without improvement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Augmentation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rotation 12, shift 0.08, shear 0.08, zoom 0.12, horizontal flip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Seed / hardware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42 / Intel Core i5-12500, CPU only, about 214 s per epoch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Picture 25" descr="10_core_algorithm_flow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073" y="1188720"/>
            <a:ext cx="4750012" cy="5029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0" y="1371600"/>
            <a:ext cx="594360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Validation first.</a:t>
            </a:r>
            <a:r>
              <a:rPr sz="1600" b="0" i="0">
                <a:solidFill>
                  <a:srgbClr val="0F172A"/>
                </a:solidFill>
              </a:rPr>
              <a:t> Valid session, named file, extension jpg / jpeg / png, size up to 8 MB, decodable image; each failure returns a clear 401, 400 or 413 and stores nothing.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Decision.</a:t>
            </a:r>
            <a:r>
              <a:rPr sz="1600" b="0" i="0">
                <a:solidFill>
                  <a:srgbClr val="0F172A"/>
                </a:solidFill>
              </a:rPr>
              <a:t> The class is the arg-max of the three softmax probabilities; the confidence is that probability.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Explanation.</a:t>
            </a:r>
            <a:r>
              <a:rPr sz="1600" b="0" i="0">
                <a:solidFill>
                  <a:srgbClr val="0F172A"/>
                </a:solidFill>
              </a:rPr>
              <a:t> Grad-CAM for the predicted class, blended over the display image at alpha 0.4.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1" i="0">
                <a:solidFill>
                  <a:srgbClr val="0F172A"/>
                </a:solidFill>
              </a:rPr>
              <a:t>Caution.</a:t>
            </a:r>
            <a:r>
              <a:rPr sz="1600" b="0" i="0">
                <a:solidFill>
                  <a:srgbClr val="0F172A"/>
                </a:solidFill>
              </a:rPr>
              <a:t> Confidence is a raw softmax value; Results report accuracy against a confidence threshold so that low-confidence scans can be flagged for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04_dfd_level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2294" y="1188720"/>
            <a:ext cx="5127811" cy="5029200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498079" y="1371600"/>
          <a:ext cx="4142232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0280"/>
                <a:gridCol w="190195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model/preprocess.py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decode, resize, CLAHE, blur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model/model_builder.py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CNN, last-conv finder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model/gradcam.py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heat map and overlay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database/db.py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SQLite access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backend/main.py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FastAPI routes, login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frontend/src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React screens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UML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09_er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39" y="1574174"/>
            <a:ext cx="5486400" cy="3983970"/>
          </a:xfrm>
          <a:prstGeom prst="rect">
            <a:avLst/>
          </a:prstGeom>
        </p:spPr>
      </p:pic>
      <p:pic>
        <p:nvPicPr>
          <p:cNvPr id="27" name="Picture 26" descr="06_uml_class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642" y="1234440"/>
            <a:ext cx="4757515" cy="4663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One table (predictions, 10 columns) with bound-parameter SQL; the code base is function-oriented, so the UML draws modules as classes.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834847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Deep learning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TensorFlow / Keras, NumPy, scikit-learn, matplotlib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Image processing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OpenCV (CLAHE, resize, colour maps), Pillow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API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FastAPI, Uvicorn, python-multipart; Flask (original UI)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Database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SQLite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Front 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React 19, Vite, React Router, Framer Motion, Recharts, Neo Brutal Grid kit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Testing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pytest, FastAPI TestClient, Playwright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F172A"/>
                          </a:solidFill>
                        </a:rPr>
                        <a:t>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F172A"/>
                          </a:solidFill>
                        </a:rPr>
                        <a:t>run.bat (Windows), ports 8312 / 5312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23360"/>
                <a:gridCol w="1737360"/>
                <a:gridCol w="533095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Preprocessing, CNN, Grad-CAM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model/, 19 unit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Training and evaluation script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scripts/train_experiment.py, metrics.json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FastAPI service and demo login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10 routes, 34 integration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React interface (8 screens)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13 screenshots, UI checks at 360-1440 px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History, dashboard, CSV export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smoke test, screens 09 to 11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U-Net lung segmentation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Not implemented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listed as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Monte Carlo Dropout, semi-supervised learning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Not implemented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out of scope; confidence-threshold analysis instead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official test split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79.5%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3-class accuracy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0.780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macro F1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98.7%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pneumonia sensitivity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62.0%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normal specificity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548640" y="2651760"/>
          <a:ext cx="6766560" cy="361188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Rounded Rectangle 42"/>
          <p:cNvSpPr/>
          <p:nvPr/>
        </p:nvSpPr>
        <p:spPr>
          <a:xfrm>
            <a:off x="7589520" y="2697480"/>
            <a:ext cx="4050791" cy="3429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7790688" y="2880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0768" y="2852928"/>
            <a:ext cx="304495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Reading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90688" y="3566160"/>
            <a:ext cx="3648456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n = 624 test images. Protocol: official Kermany test split, model trained on the patient-split train pool. Details and caveats in the next review.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icture 25" descr="06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98" y="1188720"/>
            <a:ext cx="4028602" cy="507492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7" name="Picture 26" descr="09_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2031111"/>
            <a:ext cx="3291840" cy="3390138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8" name="Picture 27" descr="11_his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747143"/>
            <a:ext cx="3044951" cy="1958073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testing and observations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pytest tests passed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live smoke-test checks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console errors on the screenshot walk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360-1440 px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light and dark, no overflow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834640"/>
          <a:ext cx="11091672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971032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Fresh checkout had no trained model; predictions were near-equal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Trained the CNN on the public data; Demo Mode banner kept for the untrained case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Official test split shares pneumonia ids with training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Added a patient-disjoint analysis and a patient-level re-split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Transfer-learning backbones break the shipped Grad-CAM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Deployed the flat custom CNN; documented the 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3525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971032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Corrective 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 trained weights or dataset in the repository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Downloaded the public Kermany data; wrote a reproducible training script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Original train.py trains without CLAHE but the app uses 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Experiment script reuses the inference preprocessing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Official validation folder has 16 images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Merged train and val; patient-level 10 % validation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Bacterial images about twice as frequent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Balanced class weights in the loss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CPU-only training, about 4 minutes per epoch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Compact model; few, well-chosen experiments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TensorFlow failed to load after other scientific imports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Import TensorFlow first in the scripts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Finish the patient-disjoint evaluation, the CLAHE ablation and a MobileNetV3Small comparison.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84448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Compare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Set the results against the base paper, stating where datasets and protocols differ.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419088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Document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Final report, paper and deck with every figure regenerated from JSON.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253728" y="164592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9380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Extend (future)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U-Net segmentation, calibration or Monte Carlo Dropout, external hospital data.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neumoDetect">
  <a:themeElements>
    <a:clrScheme name="PneumoDetect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PneumoDetec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neumoDetec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Pneumonia Detection Using Deep Learning: Review 2</dc:title>
  <dc:subject>Batch A12 (CSE-A)</dc:subject>
  <dc:creator>CHOUDAM AKSHITHA, BOGGULA SATVIK KUMAR, ARUTLA ABHI THEJ REDDY, DUGGARAJU LIKHITHA</dc:creator>
  <cp:lastModifiedBy/>
  <cp:revision>1</cp:revision>
  <dcterms:created xsi:type="dcterms:W3CDTF">2026-10-13T12:40:05Z</dcterms:created>
  <dcterms:modified xsi:type="dcterms:W3CDTF">2026-10-13T12:40:05Z</dcterms:modified>
  <cp:keywords>pneumonia, chest X-ray, CNN, Grad-CAM</cp:keywords>
  <dc:description/>
</cp:coreProperties>
</file>