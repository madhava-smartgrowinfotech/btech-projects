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0-1.jpg" ContentType="image/jpg"/>
  <Override PartName="/ppt/media/image-11-1.jpg" ContentType="image/jpg"/>
  <Override PartName="/ppt/media/image-12-1.jpg" ContentType="image/jpg"/>
  <Override PartName="/ppt/media/image-13-1.jpg" ContentType="image/jpg"/>
  <Override PartName="/ppt/media/image-14-1.jpg" ContentType="image/jpg"/>
  <Override PartName="/ppt/media/image-15-1.jpg" ContentType="image/jpg"/>
  <Override PartName="/ppt/media/image-16-1.jpg" ContentType="image/jpg"/>
  <Override PartName="/ppt/media/image-17-1.jpg" ContentType="image/jpg"/>
  <Override PartName="/ppt/media/image-18-1.jpg" ContentType="image/jpg"/>
  <Override PartName="/ppt/media/image-19-1.jpg" ContentType="image/jpg"/>
  <Override PartName="/ppt/media/image-2-1.jpg" ContentType="image/jpg"/>
  <Override PartName="/ppt/media/image-20-1.jpg" ContentType="image/jpg"/>
  <Override PartName="/ppt/media/image-21-1.jpg" ContentType="image/jpg"/>
  <Override PartName="/ppt/media/image-22-1.jpg" ContentType="image/jpg"/>
  <Override PartName="/ppt/media/image-23-1.jpg" ContentType="image/jpg"/>
  <Override PartName="/ppt/media/image-24-1.jpg" ContentType="image/jpg"/>
  <Override PartName="/ppt/media/image-25-1.jpg" ContentType="image/jpg"/>
  <Override PartName="/ppt/media/image-26-1.jpg" ContentType="image/jpg"/>
  <Override PartName="/ppt/media/image-27-1.jpg" ContentType="image/jpg"/>
  <Override PartName="/ppt/media/image-28-1.jpg" ContentType="image/jpg"/>
  <Override PartName="/ppt/media/image-3-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ATHENA: an emergency triage assistant that reads a scanned report, fuses it with vitals, and explains the priority it assigns.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agenda follows the report: problem, design, method, results, comparison, screens,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at once that the data are synthetic; the accuracy measures recovery of a known rule, not agreement with clinicians.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problem points and the need, then the six objectives as written in the batch document. Their real status is on slide 25.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Mlodawski et al., IEEE Access 2026. ATHENA borrows its probability-ranking and threshold ideas, SHAP, and the rule that an unreported symptom counts as absent; the task and data differ.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Eight works shown; every figure is from the abstract or the paper itself. Two survey entries are unverified or out of domain and are not used as evidence.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gaps. ATHENA addresses the first, the second (target is the five-level priority), the third, the fourth and the fifth - on synthetic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chains: report intake and triage. The clinician loop closes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Browser, API, services, SQLite. The model is a joblib file loaded once; the SHAP explainer is warmed at start-up.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reader is rule-based, not a medical language model. The generated samples were written with the lexicon in view, so 100% overstates it; 84% is the honest figure.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label plays the clinician's recorded outcome. That is why every result slide says synthetic.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XGBoost was kept for the SHAP TreeExplainer and calibration; on this synthetic data a logistic regression actually scores higher (slide 16).</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tables. Security is demo-grade and the slide says so.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confusion matrix by row: recorded priority. P1 and P2 are the ones confused with their neighbours.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honest safety message. A lower flag threshold for high risk would raise recall to 84% at 82% precision, but it is not implemented in the product.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linear model wins. We say so: the choice of XGBoost is about explanation and calibration, not about winning on this data.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Parameter analysis: the confidence threshold trades coverage for accuracy. Analogous to the base paper's 0.85 threshold, on a different task and data.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Robustness to incomplete input is the base paper's theme. The reader defects were found by our own stress set and left unfixed in the product; they are documented.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Explanation beside the decision, and the override loop that makes it decision support.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Model time is negligible; OCR dominates for image scans, bcrypt dominates login. Nothing here is load testing.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Plainly: they diagnose 87 ICD-10 classes on 1,655 real cases; we assign five priorities on synthetic data. We borrow ideas, not a score to beat.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captures of the running app with data in 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explanation sits next to the decision. Confidence near 100% on a textbook STEMI case does not mean the model is that sure in general (mean confidence is 0.73).</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override loop and the performance page, which carries the synthetic-data warning in the product itself.</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explicit: two objectives are only partly met. BioBERT, RAG, multi-agent orchestration, MongoDB and the six disease models were not built.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Limitations first, then concrete next steps tied to measured weak points.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6.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 Id="rId4" Type="http://schemas.openxmlformats.org/officeDocument/2006/relationships/image" Target="../media/image8.png"/><Relationship Id="rId5"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 Id="rId4" Type="http://schemas.openxmlformats.org/officeDocument/2006/relationships/image" Target="../media/image10.png"/><Relationship Id="rId5"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3.png"/><Relationship Id="rId3"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5.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19.png"/><Relationship Id="rId3" Type="http://schemas.openxmlformats.org/officeDocument/2006/relationships/image" Target="../media/image18.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1.png"/><Relationship Id="rId3" Type="http://schemas.openxmlformats.org/officeDocument/2006/relationships/image" Target="../media/image20.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3.png"/><Relationship Id="rId3"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548640" y="1373177"/>
            <a:ext cx="11064240" cy="1005840"/>
          </a:xfrm>
          <a:prstGeom prst="rect">
            <a:avLst/>
          </a:prstGeom>
          <a:noFill/>
          <a:ln/>
        </p:spPr>
        <p:txBody>
          <a:bodyPr wrap="square" rtlCol="0" anchor="ctr"/>
          <a:lstStyle/>
          <a:p>
            <a:pPr algn="ctr" indent="0" marL="0">
              <a:buNone/>
            </a:pPr>
            <a:r>
              <a:rPr lang="en-US" sz="2600" b="1" dirty="0">
                <a:solidFill>
                  <a:srgbClr val="1F3864"/>
                </a:solidFill>
                <a:latin typeface="Calibri" pitchFamily="34" charset="0"/>
                <a:ea typeface="Calibri" pitchFamily="34" charset="-122"/>
                <a:cs typeface="Calibri" pitchFamily="34" charset="-120"/>
              </a:rPr>
              <a:t>ATHENA - Autonomous Triage and Healthcare Electronic Neural Assistant</a:t>
            </a:r>
            <a:endParaRPr lang="en-US" sz="3200" dirty="0"/>
          </a:p>
        </p:txBody>
      </p:sp>
      <p:sp>
        <p:nvSpPr>
          <p:cNvPr id="5" name="Text 2"/>
          <p:cNvSpPr/>
          <p:nvPr/>
        </p:nvSpPr>
        <p:spPr>
          <a:xfrm>
            <a:off x="548640" y="2379017"/>
            <a:ext cx="11064240" cy="457200"/>
          </a:xfrm>
          <a:prstGeom prst="rect">
            <a:avLst/>
          </a:prstGeom>
          <a:noFill/>
          <a:ln/>
        </p:spPr>
        <p:txBody>
          <a:bodyPr wrap="square" rtlCol="0" anchor="ctr"/>
          <a:lstStyle/>
          <a:p>
            <a:pPr algn="ctr" indent="0" marL="0">
              <a:buNone/>
            </a:pPr>
            <a:r>
              <a:rPr lang="en-US" sz="2000" dirty="0">
                <a:solidFill>
                  <a:srgbClr val="2E75B6"/>
                </a:solidFill>
                <a:latin typeface="Calibri" pitchFamily="34" charset="0"/>
                <a:ea typeface="Calibri" pitchFamily="34" charset="-122"/>
                <a:cs typeface="Calibri" pitchFamily="34" charset="-120"/>
              </a:rPr>
              <a:t>Final Review  ·  ATHENA</a:t>
            </a:r>
            <a:endParaRPr lang="en-US" sz="2000" dirty="0"/>
          </a:p>
        </p:txBody>
      </p:sp>
      <p:sp>
        <p:nvSpPr>
          <p:cNvPr id="6" name="Text 3"/>
          <p:cNvSpPr/>
          <p:nvPr/>
        </p:nvSpPr>
        <p:spPr>
          <a:xfrm>
            <a:off x="731520" y="3110537"/>
            <a:ext cx="5486400" cy="365760"/>
          </a:xfrm>
          <a:prstGeom prst="rect">
            <a:avLst/>
          </a:prstGeom>
          <a:noFill/>
          <a:ln/>
        </p:spPr>
        <p:txBody>
          <a:bodyPr wrap="square"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Team Details : Batch A7</a:t>
            </a:r>
            <a:endParaRPr lang="en-US" sz="1800" dirty="0"/>
          </a:p>
        </p:txBody>
      </p:sp>
      <p:sp>
        <p:nvSpPr>
          <p:cNvPr id="7" name="Text 4"/>
          <p:cNvSpPr/>
          <p:nvPr/>
        </p:nvSpPr>
        <p:spPr>
          <a:xfrm>
            <a:off x="731520" y="3522017"/>
            <a:ext cx="5486400" cy="1645920"/>
          </a:xfrm>
          <a:prstGeom prst="rect">
            <a:avLst/>
          </a:prstGeom>
          <a:noFill/>
          <a:ln/>
        </p:spPr>
        <p:txBody>
          <a:bodyPr wrap="square" rtlCol="0" anchor="t"/>
          <a:lstStyle/>
          <a:p>
            <a:pPr indent="0" marL="0">
              <a:buNone/>
            </a:pPr>
            <a:r>
              <a:rPr lang="en-US" sz="1600" dirty="0">
                <a:solidFill>
                  <a:srgbClr val="222222"/>
                </a:solidFill>
                <a:latin typeface="Calibri" pitchFamily="34" charset="0"/>
                <a:ea typeface="Calibri" pitchFamily="34" charset="-122"/>
                <a:cs typeface="Calibri" pitchFamily="34" charset="-120"/>
              </a:rPr>
              <a:t>23K91A0523   BADAVENI SRINATH</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23K91A0532   BASANI AVINASH</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23K91A0561   DEGALA PRANEETH</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23K91A0545   BONTHA SAISREE</a:t>
            </a:r>
            <a:endParaRPr lang="en-US" sz="1600" dirty="0"/>
          </a:p>
        </p:txBody>
      </p:sp>
      <p:sp>
        <p:nvSpPr>
          <p:cNvPr id="8" name="Text 5"/>
          <p:cNvSpPr/>
          <p:nvPr/>
        </p:nvSpPr>
        <p:spPr>
          <a:xfrm>
            <a:off x="6675120" y="3110537"/>
            <a:ext cx="4937760" cy="1371600"/>
          </a:xfrm>
          <a:prstGeom prst="rect">
            <a:avLst/>
          </a:prstGeom>
          <a:noFill/>
          <a:ln/>
        </p:spPr>
        <p:txBody>
          <a:bodyPr wrap="square"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Under the Esteemed Guidance of</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K. SHALINI</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[DESIGNATION], Department of CSE</a:t>
            </a:r>
            <a:endParaRPr lang="en-US" sz="1600" dirty="0"/>
          </a:p>
        </p:txBody>
      </p:sp>
      <p:sp>
        <p:nvSpPr>
          <p:cNvPr id="9" name="Text 6"/>
          <p:cNvSpPr/>
          <p:nvPr/>
        </p:nvSpPr>
        <p:spPr>
          <a:xfrm>
            <a:off x="548640" y="6035040"/>
            <a:ext cx="11064240" cy="320040"/>
          </a:xfrm>
          <a:prstGeom prst="rect">
            <a:avLst/>
          </a:prstGeom>
          <a:noFill/>
          <a:ln/>
        </p:spPr>
        <p:txBody>
          <a:bodyPr wrap="square" rtlCol="0" anchor="ctr"/>
          <a:lstStyle/>
          <a:p>
            <a:pPr algn="ctr" indent="0" marL="0">
              <a:buNone/>
            </a:pPr>
            <a:r>
              <a:rPr lang="en-US" sz="1200" dirty="0">
                <a:solidFill>
                  <a:srgbClr val="595959"/>
                </a:solidFill>
                <a:latin typeface="Calibri" pitchFamily="34" charset="0"/>
                <a:ea typeface="Calibri" pitchFamily="34" charset="-122"/>
                <a:cs typeface="Calibri" pitchFamily="34" charset="-120"/>
              </a:rPr>
              <a:t>DEPARTMENT OF COMPUTER SCIENCE AND ENGINEERING  ·  TKR College of Engineering &amp; Technology  ·  Academic Year [ACADEMIC YEAR]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Table of Contents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Abstract</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Problem Statement &amp; Objectives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Base Paper &amp; Literature Survey</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Research Gap &amp; Proposed System</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Architecture, Report Reading &amp; Dataset</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Fusion, Model &amp; Data Design</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Results: Accuracy, Safety, Models, Ablation</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Calibration, Thresholds, Robustness &amp; Reader</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Explainability, Performance &amp; Testing</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Comparison with Base Paper &amp; Output Screens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Objectives vs Outcomes, Limitations &amp; Future Scope</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References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Abstract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
        <p:nvSpPr>
          <p:cNvPr id="7" name="TextBox 6"/>
          <p:cNvSpPr txBox="1"/>
          <p:nvPr/>
        </p:nvSpPr>
        <p:spPr>
          <a:xfrm>
            <a:off x="502920" y="1600200"/>
            <a:ext cx="11155680" cy="4754880"/>
          </a:xfrm>
          <a:prstGeom prst="rect">
            <a:avLst/>
          </a:prstGeom>
          <a:noFill/>
        </p:spPr>
        <p:txBody>
          <a:bodyPr wrap="square" lIns="0" rIns="0" tIns="0" bIns="0" anchor="t">
            <a:spAutoFit/>
          </a:bodyPr>
          <a:lstStyle/>
          <a:p>
            <a:pPr algn="l" marL="256032" indent="-201168">
              <a:spcAft>
                <a:spcPts val="700"/>
              </a:spcAft>
              <a:buChar char="•"/>
            </a:pPr>
            <a:r>
              <a:rPr sz="1800" b="0" i="0">
                <a:solidFill>
                  <a:srgbClr val="222222"/>
                </a:solidFill>
                <a:latin typeface="Calibri"/>
                <a:ea typeface="Calibri"/>
                <a:cs typeface="Calibri"/>
              </a:rPr>
              <a:t>Triage priority in the emergency department varies with the person on duty, and models built on structured fields cannot see what is written only in a scanned report.</a:t>
            </a:r>
          </a:p>
          <a:p>
            <a:pPr algn="l" marL="256032" indent="-201168">
              <a:spcAft>
                <a:spcPts val="700"/>
              </a:spcAft>
              <a:buChar char="•"/>
            </a:pPr>
            <a:r>
              <a:rPr sz="1800" b="0" i="0">
                <a:solidFill>
                  <a:srgbClr val="222222"/>
                </a:solidFill>
                <a:latin typeface="Calibri"/>
                <a:ea typeface="Calibri"/>
                <a:cs typeface="Calibri"/>
              </a:rPr>
              <a:t>ATHENA reads a PDF or scan (text layer or local OCR), fuses 28 report flags with 8 vitals into 36 inputs, and a calibrated XGBoost assigns priority 1 to 5 with a confidence and per-patient SHAP reasons; the clinician accepts or changes it.</a:t>
            </a:r>
          </a:p>
          <a:p>
            <a:pPr algn="l" marL="256032" indent="-201168">
              <a:spcAft>
                <a:spcPts val="700"/>
              </a:spcAft>
              <a:buChar char="•"/>
            </a:pPr>
            <a:r>
              <a:rPr sz="1800" b="0" i="0">
                <a:solidFill>
                  <a:srgbClr val="222222"/>
                </a:solidFill>
                <a:latin typeface="Calibri"/>
                <a:ea typeface="Calibri"/>
                <a:cs typeface="Calibri"/>
              </a:rPr>
              <a:t>All model numbers are on seeded SYNTHETIC data: accuracy 69.4%, within one level 99.7%, macro F1 0.670; P1 recall only 43.9%.</a:t>
            </a:r>
          </a:p>
          <a:p>
            <a:pPr algn="l" marL="256032" indent="-201168">
              <a:spcAft>
                <a:spcPts val="700"/>
              </a:spcAft>
              <a:buChar char="•"/>
            </a:pPr>
            <a:r>
              <a:rPr sz="1800" b="0" i="0">
                <a:solidFill>
                  <a:srgbClr val="222222"/>
                </a:solidFill>
                <a:latin typeface="Calibri"/>
                <a:ea typeface="Calibri"/>
                <a:cs typeface="Calibri"/>
              </a:rPr>
              <a:t>Fusing report and vitals gives 68.25% against 40.58% for vitals alone; a plain logistic regression scores 72.42%, and no model can pass about 86.25% because of label noise.</a:t>
            </a:r>
          </a:p>
          <a:p>
            <a:pPr algn="l" marL="256032" indent="-201168">
              <a:spcAft>
                <a:spcPts val="400"/>
              </a:spcAft>
              <a:buChar char="•"/>
            </a:pPr>
            <a:r>
              <a:rPr sz="1800" b="0" i="0">
                <a:solidFill>
                  <a:srgbClr val="222222"/>
                </a:solidFill>
                <a:latin typeface="Calibri"/>
                <a:ea typeface="Calibri"/>
                <a:cs typeface="Calibri"/>
              </a:rPr>
              <a:t>The report reader is exact on 12 generated samples but reaches 84.3% recall on 40 hand-written fragments. A PDF-to-priority request takes about 30 ms; an OCR scan about 2.1 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Problem Statement &amp; Objectives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
        <p:nvSpPr>
          <p:cNvPr id="7" name="Rounded Rectangle 6"/>
          <p:cNvSpPr/>
          <p:nvPr/>
        </p:nvSpPr>
        <p:spPr>
          <a:xfrm>
            <a:off x="502920" y="1645920"/>
            <a:ext cx="5394960" cy="4572000"/>
          </a:xfrm>
          <a:prstGeom prst="roundRect">
            <a:avLst>
              <a:gd name="adj" fmla="val 4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1737360"/>
            <a:ext cx="493776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Problem statement</a:t>
            </a:r>
          </a:p>
        </p:txBody>
      </p:sp>
      <p:sp>
        <p:nvSpPr>
          <p:cNvPr id="9" name="TextBox 8"/>
          <p:cNvSpPr txBox="1"/>
          <p:nvPr/>
        </p:nvSpPr>
        <p:spPr>
          <a:xfrm>
            <a:off x="731520" y="2194560"/>
            <a:ext cx="4937760" cy="3931920"/>
          </a:xfrm>
          <a:prstGeom prst="rect">
            <a:avLst/>
          </a:prstGeom>
          <a:noFill/>
        </p:spPr>
        <p:txBody>
          <a:bodyPr wrap="square" lIns="0" rIns="0" tIns="0" bIns="0" anchor="t">
            <a:spAutoFit/>
          </a:bodyPr>
          <a:lstStyle/>
          <a:p>
            <a:pPr algn="l" marL="256032" indent="-201168">
              <a:spcAft>
                <a:spcPts val="800"/>
              </a:spcAft>
              <a:buChar char="•"/>
            </a:pPr>
            <a:r>
              <a:rPr sz="1500" b="0" i="0">
                <a:solidFill>
                  <a:srgbClr val="222222"/>
                </a:solidFill>
                <a:latin typeface="Calibri"/>
                <a:ea typeface="Calibri"/>
                <a:cs typeface="Calibri"/>
              </a:rPr>
              <a:t>Triage decisions are subjective and vary with the experience of the staff on duty</a:t>
            </a:r>
          </a:p>
          <a:p>
            <a:pPr algn="l" marL="256032" indent="-201168">
              <a:spcAft>
                <a:spcPts val="800"/>
              </a:spcAft>
              <a:buChar char="•"/>
            </a:pPr>
            <a:r>
              <a:rPr sz="1500" b="0" i="0">
                <a:solidFill>
                  <a:srgbClr val="222222"/>
                </a:solidFill>
                <a:latin typeface="Calibri"/>
                <a:ea typeface="Calibri"/>
                <a:cs typeface="Calibri"/>
              </a:rPr>
              <a:t>Existing systems analyse only structured fields and ignore scanned reports and clinical narrative</a:t>
            </a:r>
          </a:p>
          <a:p>
            <a:pPr algn="l" marL="256032" indent="-201168">
              <a:spcAft>
                <a:spcPts val="800"/>
              </a:spcAft>
              <a:buChar char="•"/>
            </a:pPr>
            <a:r>
              <a:rPr sz="1500" b="0" i="0">
                <a:solidFill>
                  <a:srgbClr val="222222"/>
                </a:solidFill>
                <a:latin typeface="Calibri"/>
                <a:ea typeface="Calibri"/>
                <a:cs typeface="Calibri"/>
              </a:rPr>
              <a:t>Predictions delivered without justification are not accepted into a clinical workflow</a:t>
            </a:r>
          </a:p>
          <a:p>
            <a:pPr algn="l" marL="256032" indent="-201168">
              <a:spcAft>
                <a:spcPts val="800"/>
              </a:spcAft>
              <a:buChar char="•"/>
            </a:pPr>
            <a:r>
              <a:rPr sz="1500" b="0" i="0">
                <a:solidFill>
                  <a:srgbClr val="222222"/>
                </a:solidFill>
                <a:latin typeface="Calibri"/>
                <a:ea typeface="Calibri"/>
                <a:cs typeface="Calibri"/>
              </a:rPr>
              <a:t>Delay in prioritising a critical patient directly worsens outcomes</a:t>
            </a:r>
          </a:p>
          <a:p>
            <a:pPr algn="l" marL="256032" indent="-201168">
              <a:spcAft>
                <a:spcPts val="800"/>
              </a:spcAft>
              <a:buChar char="•"/>
            </a:pPr>
            <a:r>
              <a:rPr sz="1500" b="0" i="0">
                <a:solidFill>
                  <a:srgbClr val="222222"/>
                </a:solidFill>
                <a:latin typeface="Calibri"/>
                <a:ea typeface="Calibri"/>
                <a:cs typeface="Calibri"/>
              </a:rPr>
              <a:t>Need: a multi-source triage assistant that reads scanned reports, assigns an explainable risk level and supports the clinician</a:t>
            </a:r>
          </a:p>
        </p:txBody>
      </p:sp>
      <p:sp>
        <p:nvSpPr>
          <p:cNvPr id="10" name="Rounded Rectangle 9"/>
          <p:cNvSpPr/>
          <p:nvPr/>
        </p:nvSpPr>
        <p:spPr>
          <a:xfrm>
            <a:off x="6126480" y="1645920"/>
            <a:ext cx="5577840" cy="457200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355080" y="1737360"/>
            <a:ext cx="512064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Objectives (batch document)</a:t>
            </a:r>
          </a:p>
        </p:txBody>
      </p:sp>
      <p:sp>
        <p:nvSpPr>
          <p:cNvPr id="12" name="TextBox 11"/>
          <p:cNvSpPr txBox="1"/>
          <p:nvPr/>
        </p:nvSpPr>
        <p:spPr>
          <a:xfrm>
            <a:off x="6355080" y="2194560"/>
            <a:ext cx="5212080" cy="3931920"/>
          </a:xfrm>
          <a:prstGeom prst="rect">
            <a:avLst/>
          </a:prstGeom>
          <a:noFill/>
        </p:spPr>
        <p:txBody>
          <a:bodyPr wrap="square" lIns="0" rIns="0" tIns="0" bIns="0" anchor="t">
            <a:spAutoFit/>
          </a:bodyPr>
          <a:lstStyle/>
          <a:p>
            <a:pPr algn="l">
              <a:spcAft>
                <a:spcPts val="700"/>
              </a:spcAft>
            </a:pPr>
            <a:r>
              <a:rPr sz="1400" b="0" i="0">
                <a:solidFill>
                  <a:srgbClr val="222222"/>
                </a:solidFill>
                <a:latin typeface="Calibri"/>
                <a:ea typeface="Calibri"/>
                <a:cs typeface="Calibri"/>
              </a:rPr>
              <a:t>1.  Build an OCR stage that converts scanned medical reports into machine-readable clinical text</a:t>
            </a:r>
          </a:p>
          <a:p>
            <a:pPr algn="l">
              <a:spcAft>
                <a:spcPts val="700"/>
              </a:spcAft>
            </a:pPr>
            <a:r>
              <a:rPr sz="1400" b="0" i="0">
                <a:solidFill>
                  <a:srgbClr val="222222"/>
                </a:solidFill>
                <a:latin typeface="Calibri"/>
                <a:ea typeface="Calibri"/>
                <a:cs typeface="Calibri"/>
              </a:rPr>
              <a:t>2.  Apply a medical language model to extract symptoms, findings and history from that text</a:t>
            </a:r>
          </a:p>
          <a:p>
            <a:pPr algn="l">
              <a:spcAft>
                <a:spcPts val="700"/>
              </a:spcAft>
            </a:pPr>
            <a:r>
              <a:rPr sz="1400" b="0" i="0">
                <a:solidFill>
                  <a:srgbClr val="222222"/>
                </a:solidFill>
                <a:latin typeface="Calibri"/>
                <a:ea typeface="Calibri"/>
                <a:cs typeface="Calibri"/>
              </a:rPr>
              <a:t>3.  Combine text-derived features with tabular vitals in a single patient representation</a:t>
            </a:r>
          </a:p>
          <a:p>
            <a:pPr algn="l">
              <a:spcAft>
                <a:spcPts val="700"/>
              </a:spcAft>
            </a:pPr>
            <a:r>
              <a:rPr sz="1400" b="0" i="0">
                <a:solidFill>
                  <a:srgbClr val="222222"/>
                </a:solidFill>
                <a:latin typeface="Calibri"/>
                <a:ea typeface="Calibri"/>
                <a:cs typeface="Calibri"/>
              </a:rPr>
              <a:t>4.  Train a model that assigns a clinical risk level and a triage priority to each patient</a:t>
            </a:r>
          </a:p>
          <a:p>
            <a:pPr algn="l">
              <a:spcAft>
                <a:spcPts val="700"/>
              </a:spcAft>
            </a:pPr>
            <a:r>
              <a:rPr sz="1400" b="0" i="0">
                <a:solidFill>
                  <a:srgbClr val="222222"/>
                </a:solidFill>
                <a:latin typeface="Calibri"/>
                <a:ea typeface="Calibri"/>
                <a:cs typeface="Calibri"/>
              </a:rPr>
              <a:t>5.  Add an explainability layer that shows which findings drove the assigned priority</a:t>
            </a:r>
          </a:p>
          <a:p>
            <a:pPr algn="l">
              <a:spcAft>
                <a:spcPts val="700"/>
              </a:spcAft>
            </a:pPr>
            <a:r>
              <a:rPr sz="1400" b="0" i="0">
                <a:solidFill>
                  <a:srgbClr val="222222"/>
                </a:solidFill>
                <a:latin typeface="Calibri"/>
                <a:ea typeface="Calibri"/>
                <a:cs typeface="Calibri"/>
              </a:rPr>
              <a:t>6.  Evaluate triage accuracy against clinician-assigned priority and measure processing time per patient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Base Paper</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sp>
        <p:nvSpPr>
          <p:cNvPr id="7" name="TextBox 6"/>
          <p:cNvSpPr txBox="1"/>
          <p:nvPr/>
        </p:nvSpPr>
        <p:spPr>
          <a:xfrm>
            <a:off x="502920" y="1600200"/>
            <a:ext cx="11155680" cy="731520"/>
          </a:xfrm>
          <a:prstGeom prst="rect">
            <a:avLst/>
          </a:prstGeom>
          <a:noFill/>
        </p:spPr>
        <p:txBody>
          <a:bodyPr wrap="square" lIns="0" rIns="0" tIns="0" bIns="0" anchor="t">
            <a:spAutoFit/>
          </a:bodyPr>
          <a:lstStyle/>
          <a:p>
            <a:pPr algn="l">
              <a:spcAft>
                <a:spcPts val="400"/>
              </a:spcAft>
            </a:pPr>
            <a:r>
              <a:rPr sz="1200" b="0" i="0">
                <a:solidFill>
                  <a:srgbClr val="1F3864"/>
                </a:solidFill>
                <a:latin typeface="Calibri"/>
                <a:ea typeface="Calibri"/>
                <a:cs typeface="Calibri"/>
              </a:rPr>
              <a:t>M. Mlodawski, S. Deniziak, M. Plaza, A. Kwiatkowska, D. Jaszczyk, A. Gajda and K. Twardowski, "Multidimensional analysis of the diagnostic performance of machine learning models in disease classification: implications for clinical decision support systems," IEEE Access, vol. 14, pp. 92149-92177, 2026, doi: 10.1109/ACCESS.2026.3703248.</a:t>
            </a:r>
          </a:p>
        </p:txBody>
      </p:sp>
      <p:graphicFrame>
        <p:nvGraphicFramePr>
          <p:cNvPr id="8" name="Table 7"/>
          <p:cNvGraphicFramePr>
            <a:graphicFrameLocks noGrp="1"/>
          </p:cNvGraphicFramePr>
          <p:nvPr/>
        </p:nvGraphicFramePr>
        <p:xfrm>
          <a:off x="502920" y="2377440"/>
          <a:ext cx="11155680" cy="3401568"/>
        </p:xfrm>
        <a:graphic>
          <a:graphicData uri="http://schemas.openxmlformats.org/drawingml/2006/table">
            <a:tbl>
              <a:tblPr firstRow="0" bandRow="0">
                <a:tableStyleId>{5C22544A-7EE6-4342-B048-85BDC9FD1C3A}</a:tableStyleId>
              </a:tblPr>
              <a:tblGrid>
                <a:gridCol w="2103120"/>
                <a:gridCol w="9052560"/>
              </a:tblGrid>
              <a:tr h="566928">
                <a:tc>
                  <a:txBody>
                    <a:bodyPr wrap="square"/>
                    <a:lstStyle/>
                    <a:p>
                      <a:pPr algn="ctr"/>
                      <a:r>
                        <a:rPr sz="13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Base paper (IEEE Access 2026)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66928">
                <a:tc>
                  <a:txBody>
                    <a:bodyPr wrap="square"/>
                    <a:lstStyle/>
                    <a:p>
                      <a:pPr algn="l"/>
                      <a:r>
                        <a:rPr sz="1300" b="1">
                          <a:solidFill>
                            <a:srgbClr val="222222"/>
                          </a:solidFill>
                          <a:latin typeface="Calibri"/>
                          <a:ea typeface="Calibri"/>
                          <a:cs typeface="Calibri"/>
                        </a:rPr>
                        <a:t>Task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Disease classification into ICD-10 codes (87 classes) from interview data of internal medicine and pediatrics; incomplete records, no imputation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300" b="1">
                          <a:solidFill>
                            <a:srgbClr val="222222"/>
                          </a:solidFill>
                          <a:latin typeface="Calibri"/>
                          <a:ea typeface="Calibri"/>
                          <a:cs typeface="Calibri"/>
                        </a:rPr>
                        <a:t>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1,655 real clinical cases (616 internal medicine, 1,039 pediatrics), 479 clinical parameters; 120 external cases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300" b="1">
                          <a:solidFill>
                            <a:srgbClr val="222222"/>
                          </a:solidFill>
                          <a:latin typeface="Calibri"/>
                          <a:ea typeface="Calibri"/>
                          <a:cs typeface="Calibri"/>
                        </a:rPr>
                        <a:t>Method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19 classifiers tuned with Optuna (TPE, 100 trials each); two-stage TOP-1 / TOP-3 ranking; 0.85 confidence threshold; SHAP + LIME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300" b="1">
                          <a:solidFill>
                            <a:srgbClr val="222222"/>
                          </a:solidFill>
                          <a:latin typeface="Calibri"/>
                          <a:ea typeface="Calibri"/>
                          <a:cs typeface="Calibri"/>
                        </a:rPr>
                        <a:t>Reported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TOP-1: Gradient Boosting 84.7% (internal), Multi-Layer Perceptron 87.2% (pediatrics); TOP-3 up to 91.7% / 94.7%; external TOP-1 73.3% / 78.3%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300" b="1">
                          <a:solidFill>
                            <a:srgbClr val="222222"/>
                          </a:solidFill>
                          <a:latin typeface="Calibri"/>
                          <a:ea typeface="Calibri"/>
                          <a:cs typeface="Calibri"/>
                        </a:rPr>
                        <a:t>Not covered (our reading)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Input is typed symptom indicators: no scanned reports, no vitals fusion, no five-level triage target, no processing time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Literature Survey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graphicFrame>
        <p:nvGraphicFramePr>
          <p:cNvPr id="7" name="Table 6"/>
          <p:cNvGraphicFramePr>
            <a:graphicFrameLocks noGrp="1"/>
          </p:cNvGraphicFramePr>
          <p:nvPr/>
        </p:nvGraphicFramePr>
        <p:xfrm>
          <a:off x="502920" y="1600200"/>
          <a:ext cx="11155680" cy="4023360"/>
        </p:xfrm>
        <a:graphic>
          <a:graphicData uri="http://schemas.openxmlformats.org/drawingml/2006/table">
            <a:tbl>
              <a:tblPr firstRow="0" bandRow="0">
                <a:tableStyleId>{5C22544A-7EE6-4342-B048-85BDC9FD1C3A}</a:tableStyleId>
              </a:tblPr>
              <a:tblGrid>
                <a:gridCol w="2651760"/>
                <a:gridCol w="594360"/>
                <a:gridCol w="3840480"/>
                <a:gridCol w="4069080"/>
              </a:tblGrid>
              <a:tr h="502920">
                <a:tc>
                  <a:txBody>
                    <a:bodyPr wrap="square"/>
                    <a:lstStyle/>
                    <a:p>
                      <a:pPr algn="ctr"/>
                      <a:r>
                        <a:rPr sz="1100" b="1">
                          <a:solidFill>
                            <a:srgbClr val="1F3864"/>
                          </a:solidFill>
                          <a:latin typeface="Calibri"/>
                          <a:ea typeface="Calibri"/>
                          <a:cs typeface="Calibri"/>
                        </a:rPr>
                        <a:t>Work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Year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Approach</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Finding / limitation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02920">
                <a:tc>
                  <a:txBody>
                    <a:bodyPr wrap="square"/>
                    <a:lstStyle/>
                    <a:p>
                      <a:pPr algn="l"/>
                      <a:r>
                        <a:rPr sz="1100" b="1">
                          <a:solidFill>
                            <a:srgbClr val="222222"/>
                          </a:solidFill>
                          <a:latin typeface="Calibri"/>
                          <a:ea typeface="Calibri"/>
                          <a:cs typeface="Calibri"/>
                        </a:rPr>
                        <a:t>Mlodawski et al. [1] (base paper)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2026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19 classifiers, TOP-1 / TOP-3 ranking, SHAP + LIME, on incomplete real records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1,655 cases, 87 ICD-10 classes; GB 84.74%, MLP 87.20%; text and tabular only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02920">
                <a:tc>
                  <a:txBody>
                    <a:bodyPr wrap="square"/>
                    <a:lstStyle/>
                    <a:p>
                      <a:pPr algn="l"/>
                      <a:r>
                        <a:rPr sz="1100" b="1">
                          <a:solidFill>
                            <a:srgbClr val="222222"/>
                          </a:solidFill>
                          <a:latin typeface="Calibri"/>
                          <a:ea typeface="Calibri"/>
                          <a:cs typeface="Calibri"/>
                        </a:rPr>
                        <a:t>Fernandes et al. [8]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2020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Review of intelligent clinical decision support for ED triage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Many studies lacked an implementation phase; impact on care still to be shown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02920">
                <a:tc>
                  <a:txBody>
                    <a:bodyPr wrap="square"/>
                    <a:lstStyle/>
                    <a:p>
                      <a:pPr algn="l"/>
                      <a:r>
                        <a:rPr sz="1100" b="1">
                          <a:solidFill>
                            <a:srgbClr val="222222"/>
                          </a:solidFill>
                          <a:latin typeface="Calibri"/>
                          <a:ea typeface="Calibri"/>
                          <a:cs typeface="Calibri"/>
                        </a:rPr>
                        <a:t>Hinson et al. [9]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2019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Systematic review of triage scale performance (CTAS, ESI, MTS)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182 studies; sensitivity for critical illness below 80%; scales perform alike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02920">
                <a:tc>
                  <a:txBody>
                    <a:bodyPr wrap="square"/>
                    <a:lstStyle/>
                    <a:p>
                      <a:pPr algn="l"/>
                      <a:r>
                        <a:rPr sz="1100" b="1">
                          <a:solidFill>
                            <a:srgbClr val="222222"/>
                          </a:solidFill>
                          <a:latin typeface="Calibri"/>
                          <a:ea typeface="Calibri"/>
                          <a:cs typeface="Calibri"/>
                        </a:rPr>
                        <a:t>Hong et al. [10]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2018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Logistic regression, XGBoost, deep nets for admission at triage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560,486 visits; triage-only AUC about 0.87; adding history lifts to about 0.92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02920">
                <a:tc>
                  <a:txBody>
                    <a:bodyPr wrap="square"/>
                    <a:lstStyle/>
                    <a:p>
                      <a:pPr algn="l"/>
                      <a:r>
                        <a:rPr sz="1100" b="1">
                          <a:solidFill>
                            <a:srgbClr val="222222"/>
                          </a:solidFill>
                          <a:latin typeface="Calibri"/>
                          <a:ea typeface="Calibri"/>
                          <a:cs typeface="Calibri"/>
                        </a:rPr>
                        <a:t>Levin et al. [11]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2018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Random-forest e-triage on vitals, complaint and history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172,726 visits; AUC 0.73-0.92; matched or beat ESI; outcomes, not 5-level labels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02920">
                <a:tc>
                  <a:txBody>
                    <a:bodyPr wrap="square"/>
                    <a:lstStyle/>
                    <a:p>
                      <a:pPr algn="l"/>
                      <a:r>
                        <a:rPr sz="1100" b="1">
                          <a:solidFill>
                            <a:srgbClr val="222222"/>
                          </a:solidFill>
                          <a:latin typeface="Calibri"/>
                          <a:ea typeface="Calibri"/>
                          <a:cs typeface="Calibri"/>
                        </a:rPr>
                        <a:t>Raita et al. [12]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2019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Lasso, forest, boosting, deep net on triage 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135,470 visits; deep net AUC 0.86 vs 0.74 for an ESI model (critical care)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02920">
                <a:tc>
                  <a:txBody>
                    <a:bodyPr wrap="square"/>
                    <a:lstStyle/>
                    <a:p>
                      <a:pPr algn="l"/>
                      <a:r>
                        <a:rPr sz="1100" b="1">
                          <a:solidFill>
                            <a:srgbClr val="222222"/>
                          </a:solidFill>
                          <a:latin typeface="Calibri"/>
                          <a:ea typeface="Calibri"/>
                          <a:cs typeface="Calibri"/>
                        </a:rPr>
                        <a:t>Cheng et al. [6]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2025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Multi-agent LLM dynamic matching for triage under uncertainty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Cited from title only; text-only agents, no scanned-report input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8" name="TextBox 7"/>
          <p:cNvSpPr txBox="1"/>
          <p:nvPr/>
        </p:nvSpPr>
        <p:spPr>
          <a:xfrm>
            <a:off x="502920" y="5897880"/>
            <a:ext cx="11155680" cy="457200"/>
          </a:xfrm>
          <a:prstGeom prst="rect">
            <a:avLst/>
          </a:prstGeom>
          <a:noFill/>
        </p:spPr>
        <p:txBody>
          <a:bodyPr wrap="square" lIns="0" rIns="0" tIns="0" bIns="0" anchor="t">
            <a:spAutoFit/>
          </a:bodyPr>
          <a:lstStyle/>
          <a:p>
            <a:pPr algn="l">
              <a:spcAft>
                <a:spcPts val="400"/>
              </a:spcAft>
            </a:pPr>
            <a:r>
              <a:rPr sz="1100" b="0" i="1">
                <a:solidFill>
                  <a:srgbClr val="1F3864"/>
                </a:solidFill>
                <a:latin typeface="Calibri"/>
                <a:ea typeface="Calibri"/>
                <a:cs typeface="Calibri"/>
              </a:rPr>
              <a:t>Also in the batch survey: Anatolian Curr. Med. J. [3] (ESI vs Manchester process study), Xie et al. [13] (MIMIC-IV-ED benchmark), a Nepal triage-knowledge study [5]; an obstetric-triage entry [2] could not be verified and a veterinary chapter [4] is out of domain.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Research Gap</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sp>
        <p:nvSpPr>
          <p:cNvPr id="7" name="TextBox 6"/>
          <p:cNvSpPr txBox="1"/>
          <p:nvPr/>
        </p:nvSpPr>
        <p:spPr>
          <a:xfrm>
            <a:off x="502920" y="1737360"/>
            <a:ext cx="11155680" cy="4480560"/>
          </a:xfrm>
          <a:prstGeom prst="rect">
            <a:avLst/>
          </a:prstGeom>
          <a:noFill/>
        </p:spPr>
        <p:txBody>
          <a:bodyPr wrap="square" lIns="0" rIns="0" tIns="0" bIns="0" anchor="t">
            <a:spAutoFit/>
          </a:bodyPr>
          <a:lstStyle/>
          <a:p>
            <a:pPr algn="l" marL="256032" indent="-201168">
              <a:spcAft>
                <a:spcPts val="1400"/>
              </a:spcAft>
              <a:buChar char="•"/>
            </a:pPr>
            <a:r>
              <a:rPr sz="1900" b="0" i="0">
                <a:solidFill>
                  <a:srgbClr val="222222"/>
                </a:solidFill>
                <a:latin typeface="Calibri"/>
                <a:ea typeface="Calibri"/>
                <a:cs typeface="Calibri"/>
              </a:rPr>
              <a:t>The surveyed models are evaluated on single-modality structured data: no pipeline fuses a scanned report with the vitals</a:t>
            </a:r>
          </a:p>
          <a:p>
            <a:pPr algn="l" marL="256032" indent="-201168">
              <a:spcAft>
                <a:spcPts val="1400"/>
              </a:spcAft>
              <a:buChar char="•"/>
            </a:pPr>
            <a:r>
              <a:rPr sz="1900" b="0" i="0">
                <a:solidFill>
                  <a:srgbClr val="222222"/>
                </a:solidFill>
                <a:latin typeface="Calibri"/>
                <a:ea typeface="Calibri"/>
                <a:cs typeface="Calibri"/>
              </a:rPr>
              <a:t>Triage priority (five levels) is rarely the target; most work predicts admission, critical care or ICD-10 diagnoses [10], [1]</a:t>
            </a:r>
          </a:p>
          <a:p>
            <a:pPr algn="l" marL="256032" indent="-201168">
              <a:spcAft>
                <a:spcPts val="1400"/>
              </a:spcAft>
              <a:buChar char="•"/>
            </a:pPr>
            <a:r>
              <a:rPr sz="1900" b="0" i="0">
                <a:solidFill>
                  <a:srgbClr val="222222"/>
                </a:solidFill>
                <a:latin typeface="Calibri"/>
                <a:ea typeface="Calibri"/>
                <a:cs typeface="Calibri"/>
              </a:rPr>
              <a:t>Explanations are usually global or offline; a per-patient reason shown next to the decision is missing in deployed designs</a:t>
            </a:r>
          </a:p>
          <a:p>
            <a:pPr algn="l" marL="256032" indent="-201168">
              <a:spcAft>
                <a:spcPts val="1400"/>
              </a:spcAft>
              <a:buChar char="•"/>
            </a:pPr>
            <a:r>
              <a:rPr sz="1900" b="0" i="0">
                <a:solidFill>
                  <a:srgbClr val="222222"/>
                </a:solidFill>
                <a:latin typeface="Calibri"/>
                <a:ea typeface="Calibri"/>
                <a:cs typeface="Calibri"/>
              </a:rPr>
              <a:t>Calibrated confidence and an accept-or-change record for the clinician are seldom reported together</a:t>
            </a:r>
          </a:p>
          <a:p>
            <a:pPr algn="l" marL="256032" indent="-201168">
              <a:spcAft>
                <a:spcPts val="1400"/>
              </a:spcAft>
              <a:buChar char="•"/>
            </a:pPr>
            <a:r>
              <a:rPr sz="1900" b="0" i="0">
                <a:solidFill>
                  <a:srgbClr val="222222"/>
                </a:solidFill>
                <a:latin typeface="Calibri"/>
                <a:ea typeface="Calibri"/>
                <a:cs typeface="Calibri"/>
              </a:rPr>
              <a:t>Processing time per patient, including report reading, is almost never measured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Proposed System</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sp>
        <p:nvSpPr>
          <p:cNvPr id="7" name="TextBox 6"/>
          <p:cNvSpPr txBox="1"/>
          <p:nvPr/>
        </p:nvSpPr>
        <p:spPr>
          <a:xfrm>
            <a:off x="502920" y="1554480"/>
            <a:ext cx="11155680" cy="365760"/>
          </a:xfrm>
          <a:prstGeom prst="rect">
            <a:avLst/>
          </a:prstGeom>
          <a:noFill/>
        </p:spPr>
        <p:txBody>
          <a:bodyPr wrap="square" lIns="0" rIns="0" tIns="0" bIns="0" anchor="t">
            <a:spAutoFit/>
          </a:bodyPr>
          <a:lstStyle/>
          <a:p>
            <a:pPr algn="l">
              <a:spcAft>
                <a:spcPts val="400"/>
              </a:spcAft>
            </a:pPr>
            <a:r>
              <a:rPr sz="1500" b="1" i="0">
                <a:solidFill>
                  <a:srgbClr val="1F3864"/>
                </a:solidFill>
                <a:latin typeface="Calibri"/>
                <a:ea typeface="Calibri"/>
                <a:cs typeface="Calibri"/>
              </a:rPr>
              <a:t>Report intake</a:t>
            </a:r>
          </a:p>
        </p:txBody>
      </p:sp>
      <p:sp>
        <p:nvSpPr>
          <p:cNvPr id="8" name="Rounded Rectangle 7"/>
          <p:cNvSpPr/>
          <p:nvPr/>
        </p:nvSpPr>
        <p:spPr>
          <a:xfrm>
            <a:off x="502920" y="1920240"/>
            <a:ext cx="2011680" cy="73152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PDF / scan</a:t>
            </a:r>
          </a:p>
        </p:txBody>
      </p:sp>
      <p:sp>
        <p:nvSpPr>
          <p:cNvPr id="9" name="Right Arrow 8"/>
          <p:cNvSpPr/>
          <p:nvPr/>
        </p:nvSpPr>
        <p:spPr>
          <a:xfrm>
            <a:off x="2551176"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88920" y="1920240"/>
            <a:ext cx="2011680" cy="73152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Text layer or OCR</a:t>
            </a:r>
          </a:p>
        </p:txBody>
      </p:sp>
      <p:sp>
        <p:nvSpPr>
          <p:cNvPr id="11" name="Right Arrow 10"/>
          <p:cNvSpPr/>
          <p:nvPr/>
        </p:nvSpPr>
        <p:spPr>
          <a:xfrm>
            <a:off x="4837176"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74920" y="1920240"/>
            <a:ext cx="2011680" cy="73152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Lexicon + negation</a:t>
            </a:r>
          </a:p>
        </p:txBody>
      </p:sp>
      <p:sp>
        <p:nvSpPr>
          <p:cNvPr id="13" name="Right Arrow 12"/>
          <p:cNvSpPr/>
          <p:nvPr/>
        </p:nvSpPr>
        <p:spPr>
          <a:xfrm>
            <a:off x="7123176"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60920" y="1920240"/>
            <a:ext cx="2011680" cy="73152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6 lab ranges</a:t>
            </a:r>
          </a:p>
        </p:txBody>
      </p:sp>
      <p:sp>
        <p:nvSpPr>
          <p:cNvPr id="15" name="Right Arrow 14"/>
          <p:cNvSpPr/>
          <p:nvPr/>
        </p:nvSpPr>
        <p:spPr>
          <a:xfrm>
            <a:off x="9409176"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646920" y="1920240"/>
            <a:ext cx="2011680" cy="73152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28 flags + pages</a:t>
            </a:r>
          </a:p>
        </p:txBody>
      </p:sp>
      <p:sp>
        <p:nvSpPr>
          <p:cNvPr id="17" name="TextBox 16"/>
          <p:cNvSpPr txBox="1"/>
          <p:nvPr/>
        </p:nvSpPr>
        <p:spPr>
          <a:xfrm>
            <a:off x="502920" y="2834640"/>
            <a:ext cx="11155680" cy="365760"/>
          </a:xfrm>
          <a:prstGeom prst="rect">
            <a:avLst/>
          </a:prstGeom>
          <a:noFill/>
        </p:spPr>
        <p:txBody>
          <a:bodyPr wrap="square" lIns="0" rIns="0" tIns="0" bIns="0" anchor="t">
            <a:spAutoFit/>
          </a:bodyPr>
          <a:lstStyle/>
          <a:p>
            <a:pPr algn="l">
              <a:spcAft>
                <a:spcPts val="400"/>
              </a:spcAft>
            </a:pPr>
            <a:r>
              <a:rPr sz="1500" b="1" i="0">
                <a:solidFill>
                  <a:srgbClr val="1F3864"/>
                </a:solidFill>
                <a:latin typeface="Calibri"/>
                <a:ea typeface="Calibri"/>
                <a:cs typeface="Calibri"/>
              </a:rPr>
              <a:t>Triage</a:t>
            </a:r>
          </a:p>
        </p:txBody>
      </p:sp>
      <p:sp>
        <p:nvSpPr>
          <p:cNvPr id="18" name="Rounded Rectangle 17"/>
          <p:cNvSpPr/>
          <p:nvPr/>
        </p:nvSpPr>
        <p:spPr>
          <a:xfrm>
            <a:off x="502920" y="3200400"/>
            <a:ext cx="1630680" cy="73152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8 vitals</a:t>
            </a:r>
          </a:p>
        </p:txBody>
      </p:sp>
      <p:sp>
        <p:nvSpPr>
          <p:cNvPr id="19" name="Right Arrow 18"/>
          <p:cNvSpPr/>
          <p:nvPr/>
        </p:nvSpPr>
        <p:spPr>
          <a:xfrm>
            <a:off x="2170175" y="34472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407919" y="3200400"/>
            <a:ext cx="1630680" cy="73152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Fused record: 36</a:t>
            </a:r>
          </a:p>
        </p:txBody>
      </p:sp>
      <p:sp>
        <p:nvSpPr>
          <p:cNvPr id="21" name="Right Arrow 20"/>
          <p:cNvSpPr/>
          <p:nvPr/>
        </p:nvSpPr>
        <p:spPr>
          <a:xfrm>
            <a:off x="4075175" y="34472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312919" y="3200400"/>
            <a:ext cx="1630680" cy="73152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XGBoost + isotonic</a:t>
            </a:r>
          </a:p>
        </p:txBody>
      </p:sp>
      <p:sp>
        <p:nvSpPr>
          <p:cNvPr id="23" name="Right Arrow 22"/>
          <p:cNvSpPr/>
          <p:nvPr/>
        </p:nvSpPr>
        <p:spPr>
          <a:xfrm>
            <a:off x="5980175" y="34472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17919" y="3200400"/>
            <a:ext cx="1630680" cy="73152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Priority 1-5, risk</a:t>
            </a:r>
          </a:p>
        </p:txBody>
      </p:sp>
      <p:sp>
        <p:nvSpPr>
          <p:cNvPr id="25" name="Right Arrow 24"/>
          <p:cNvSpPr/>
          <p:nvPr/>
        </p:nvSpPr>
        <p:spPr>
          <a:xfrm>
            <a:off x="7885175" y="34472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122920" y="3200400"/>
            <a:ext cx="1630680" cy="73152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SHAP reasons</a:t>
            </a:r>
          </a:p>
        </p:txBody>
      </p:sp>
      <p:sp>
        <p:nvSpPr>
          <p:cNvPr id="27" name="Right Arrow 26"/>
          <p:cNvSpPr/>
          <p:nvPr/>
        </p:nvSpPr>
        <p:spPr>
          <a:xfrm>
            <a:off x="9790175" y="34472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027919" y="3200400"/>
            <a:ext cx="1630680" cy="73152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Accept / change</a:t>
            </a:r>
          </a:p>
        </p:txBody>
      </p:sp>
      <p:sp>
        <p:nvSpPr>
          <p:cNvPr id="29" name="TextBox 28"/>
          <p:cNvSpPr txBox="1"/>
          <p:nvPr/>
        </p:nvSpPr>
        <p:spPr>
          <a:xfrm>
            <a:off x="502920" y="4251960"/>
            <a:ext cx="11155680" cy="2103120"/>
          </a:xfrm>
          <a:prstGeom prst="rect">
            <a:avLst/>
          </a:prstGeom>
          <a:noFill/>
        </p:spPr>
        <p:txBody>
          <a:bodyPr wrap="square" lIns="0" rIns="0" tIns="0" bIns="0" anchor="t">
            <a:spAutoFit/>
          </a:bodyPr>
          <a:lstStyle/>
          <a:p>
            <a:pPr algn="l" marL="256032" indent="-201168">
              <a:spcAft>
                <a:spcPts val="700"/>
              </a:spcAft>
              <a:buChar char="•"/>
            </a:pPr>
            <a:r>
              <a:rPr sz="1600" b="0" i="0">
                <a:solidFill>
                  <a:srgbClr val="222222"/>
                </a:solidFill>
                <a:latin typeface="Calibri"/>
                <a:ea typeface="Calibri"/>
                <a:cs typeface="Calibri"/>
              </a:rPr>
              <a:t>Decision support only: the clinician accepts or changes every priority, and a change needs a written reason that is stored.</a:t>
            </a:r>
          </a:p>
          <a:p>
            <a:pPr algn="l" marL="256032" indent="-201168">
              <a:spcAft>
                <a:spcPts val="700"/>
              </a:spcAft>
              <a:buChar char="•"/>
            </a:pPr>
            <a:r>
              <a:rPr sz="1600" b="0" i="0">
                <a:solidFill>
                  <a:srgbClr val="222222"/>
                </a:solidFill>
                <a:latin typeface="Calibri"/>
                <a:ea typeface="Calibri"/>
                <a:cs typeface="Calibri"/>
              </a:rPr>
              <a:t>Priority 1 Critical to 5 Non-urgent; risk High for P1-2, Moderate for P3, Low for P4-5; the queue is ordered by priority, then arrival.</a:t>
            </a:r>
          </a:p>
          <a:p>
            <a:pPr algn="l" marL="256032" indent="-201168">
              <a:spcAft>
                <a:spcPts val="400"/>
              </a:spcAft>
              <a:buChar char="•"/>
            </a:pPr>
            <a:r>
              <a:rPr sz="1600" b="0" i="0">
                <a:solidFill>
                  <a:srgbClr val="222222"/>
                </a:solidFill>
                <a:latin typeface="Calibri"/>
                <a:ea typeface="Calibri"/>
                <a:cs typeface="Calibri"/>
              </a:rPr>
              <a:t>Runs offline on a laptop: local OCR, no API key, no GPU. Triage-summary PDF per patient.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System Architecture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9</a:t>
            </a:r>
            <a:endParaRPr lang="en-US" sz="1000" dirty="0"/>
          </a:p>
        </p:txBody>
      </p:sp>
      <p:pic>
        <p:nvPicPr>
          <p:cNvPr id="7" name="Picture 6" descr="01_system_architecture.png"/>
          <p:cNvPicPr>
            <a:picLocks noChangeAspect="1"/>
          </p:cNvPicPr>
          <p:nvPr/>
        </p:nvPicPr>
        <p:blipFill>
          <a:blip r:embed="rId4"/>
          <a:stretch>
            <a:fillRect/>
          </a:stretch>
        </p:blipFill>
        <p:spPr>
          <a:xfrm>
            <a:off x="1018902" y="1645920"/>
            <a:ext cx="5551714" cy="4663440"/>
          </a:xfrm>
          <a:prstGeom prst="rect">
            <a:avLst/>
          </a:prstGeom>
        </p:spPr>
      </p:pic>
      <p:sp>
        <p:nvSpPr>
          <p:cNvPr id="8" name="TextBox 7"/>
          <p:cNvSpPr txBox="1"/>
          <p:nvPr/>
        </p:nvSpPr>
        <p:spPr>
          <a:xfrm>
            <a:off x="7315200" y="1783080"/>
            <a:ext cx="4389120" cy="4480560"/>
          </a:xfrm>
          <a:prstGeom prst="rect">
            <a:avLst/>
          </a:prstGeom>
          <a:noFill/>
        </p:spPr>
        <p:txBody>
          <a:bodyPr wrap="square" lIns="0" rIns="0" tIns="0" bIns="0" anchor="t">
            <a:spAutoFit/>
          </a:bodyPr>
          <a:lstStyle/>
          <a:p>
            <a:pPr algn="l" marL="256032" indent="-201168">
              <a:spcAft>
                <a:spcPts val="800"/>
              </a:spcAft>
              <a:buChar char="•"/>
            </a:pPr>
            <a:r>
              <a:rPr sz="1500" b="0" i="0">
                <a:solidFill>
                  <a:srgbClr val="222222"/>
                </a:solidFill>
                <a:latin typeface="Calibri"/>
                <a:ea typeface="Calibri"/>
                <a:cs typeface="Calibri"/>
              </a:rPr>
              <a:t>Web app: React 19 + Vite on port 5307, six screens</a:t>
            </a:r>
          </a:p>
          <a:p>
            <a:pPr algn="l" marL="256032" indent="-201168">
              <a:spcAft>
                <a:spcPts val="800"/>
              </a:spcAft>
              <a:buChar char="•"/>
            </a:pPr>
            <a:r>
              <a:rPr sz="1500" b="0" i="0">
                <a:solidFill>
                  <a:srgbClr val="222222"/>
                </a:solidFill>
                <a:latin typeface="Calibri"/>
                <a:ea typeface="Calibri"/>
                <a:cs typeface="Calibri"/>
              </a:rPr>
              <a:t>API: FastAPI on port 8307, 13 endpoints, JWT sign-in (clinician, admin)</a:t>
            </a:r>
          </a:p>
          <a:p>
            <a:pPr algn="l" marL="256032" indent="-201168">
              <a:spcAft>
                <a:spcPts val="800"/>
              </a:spcAft>
              <a:buChar char="•"/>
            </a:pPr>
            <a:r>
              <a:rPr sz="1500" b="0" i="0">
                <a:solidFill>
                  <a:srgbClr val="222222"/>
                </a:solidFill>
                <a:latin typeface="Calibri"/>
                <a:ea typeface="Calibri"/>
                <a:cs typeface="Calibri"/>
              </a:rPr>
              <a:t>Services: report reader, fused record, triage model + SHAP, summary PDF</a:t>
            </a:r>
          </a:p>
          <a:p>
            <a:pPr algn="l" marL="256032" indent="-201168">
              <a:spcAft>
                <a:spcPts val="800"/>
              </a:spcAft>
              <a:buChar char="•"/>
            </a:pPr>
            <a:r>
              <a:rPr sz="1500" b="0" i="0">
                <a:solidFill>
                  <a:srgbClr val="222222"/>
                </a:solidFill>
                <a:latin typeface="Calibri"/>
                <a:ea typeface="Calibri"/>
                <a:cs typeface="Calibri"/>
              </a:rPr>
              <a:t>Storage: SQLite with users, patients, overrides; model and sample files on disk</a:t>
            </a:r>
          </a:p>
          <a:p>
            <a:pPr algn="l" marL="256032" indent="-201168">
              <a:spcAft>
                <a:spcPts val="400"/>
              </a:spcAft>
              <a:buChar char="•"/>
            </a:pPr>
            <a:r>
              <a:rPr sz="1500" b="0" i="0">
                <a:solidFill>
                  <a:srgbClr val="222222"/>
                </a:solidFill>
                <a:latin typeface="Calibri"/>
                <a:ea typeface="Calibri"/>
                <a:cs typeface="Calibri"/>
              </a:rPr>
              <a:t>One command, run.bat, starts both servers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Report Reading</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pic>
        <p:nvPicPr>
          <p:cNvPr id="7" name="Picture 6" descr="11_flowchart_report_reading.png"/>
          <p:cNvPicPr>
            <a:picLocks noChangeAspect="1"/>
          </p:cNvPicPr>
          <p:nvPr/>
        </p:nvPicPr>
        <p:blipFill>
          <a:blip r:embed="rId2"/>
          <a:stretch>
            <a:fillRect/>
          </a:stretch>
        </p:blipFill>
        <p:spPr>
          <a:xfrm>
            <a:off x="1388648" y="1645920"/>
            <a:ext cx="3714943" cy="4663440"/>
          </a:xfrm>
          <a:prstGeom prst="rect">
            <a:avLst/>
          </a:prstGeom>
        </p:spPr>
      </p:pic>
      <p:sp>
        <p:nvSpPr>
          <p:cNvPr id="8" name="TextBox 7"/>
          <p:cNvSpPr txBox="1"/>
          <p:nvPr/>
        </p:nvSpPr>
        <p:spPr>
          <a:xfrm>
            <a:off x="6217920" y="1737360"/>
            <a:ext cx="5486400" cy="4572000"/>
          </a:xfrm>
          <a:prstGeom prst="rect">
            <a:avLst/>
          </a:prstGeom>
          <a:noFill/>
        </p:spPr>
        <p:txBody>
          <a:bodyPr wrap="square" lIns="0" rIns="0" tIns="0" bIns="0" anchor="t">
            <a:spAutoFit/>
          </a:bodyPr>
          <a:lstStyle/>
          <a:p>
            <a:pPr algn="l" marL="256032" indent="-201168">
              <a:spcAft>
                <a:spcPts val="700"/>
              </a:spcAft>
              <a:buChar char="•"/>
            </a:pPr>
            <a:r>
              <a:rPr sz="1400" b="0" i="0">
                <a:solidFill>
                  <a:srgbClr val="222222"/>
                </a:solidFill>
                <a:latin typeface="Calibri"/>
                <a:ea typeface="Calibri"/>
                <a:cs typeface="Calibri"/>
              </a:rPr>
              <a:t>PDF: text layer by page; a page with under 20 characters falls back to OCR on its image.</a:t>
            </a:r>
          </a:p>
          <a:p>
            <a:pPr algn="l" marL="256032" indent="-201168">
              <a:spcAft>
                <a:spcPts val="700"/>
              </a:spcAft>
              <a:buChar char="•"/>
            </a:pPr>
            <a:r>
              <a:rPr sz="1400" b="0" i="0">
                <a:solidFill>
                  <a:srgbClr val="222222"/>
                </a:solidFill>
                <a:latin typeface="Calibri"/>
                <a:ea typeface="Calibri"/>
                <a:cs typeface="Calibri"/>
              </a:rPr>
              <a:t>Images: local RapidOCR (PaddleOCR-family models on ONNX Runtime), no network.</a:t>
            </a:r>
          </a:p>
          <a:p>
            <a:pPr algn="l" marL="256032" indent="-201168">
              <a:spcAft>
                <a:spcPts val="700"/>
              </a:spcAft>
              <a:buChar char="•"/>
            </a:pPr>
            <a:r>
              <a:rPr sz="1400" b="0" i="0">
                <a:solidFill>
                  <a:srgbClr val="222222"/>
                </a:solidFill>
                <a:latin typeface="Calibri"/>
                <a:ea typeface="Calibri"/>
                <a:cs typeface="Calibri"/>
              </a:rPr>
              <a:t>22 lexicon flags (11 symptoms, 5 findings, 6 history); negation within 45 characters drops a flag.</a:t>
            </a:r>
          </a:p>
          <a:p>
            <a:pPr algn="l" marL="256032" indent="-201168">
              <a:spcAft>
                <a:spcPts val="700"/>
              </a:spcAft>
              <a:buChar char="•"/>
            </a:pPr>
            <a:r>
              <a:rPr sz="1400" b="0" i="0">
                <a:solidFill>
                  <a:srgbClr val="222222"/>
                </a:solidFill>
                <a:latin typeface="Calibri"/>
                <a:ea typeface="Calibri"/>
                <a:cs typeface="Calibri"/>
              </a:rPr>
              <a:t>Six labs with units and reference ranges set a flag when abnormal; every item keeps its page.</a:t>
            </a:r>
          </a:p>
          <a:p>
            <a:pPr algn="l" marL="256032" indent="-201168">
              <a:spcAft>
                <a:spcPts val="400"/>
              </a:spcAft>
              <a:buChar char="•"/>
            </a:pPr>
            <a:r>
              <a:rPr sz="1400" b="0" i="0">
                <a:solidFill>
                  <a:srgbClr val="222222"/>
                </a:solidFill>
                <a:latin typeface="Calibri"/>
                <a:ea typeface="Calibri"/>
                <a:cs typeface="Calibri"/>
              </a:rPr>
              <a:t>Generated samples: precision 100%, recall 100% (12 of 12 exact). Hand-written stress set: precision 95.2%, recall 84.3%.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Dataset (Synthetic) &amp; Split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sp>
        <p:nvSpPr>
          <p:cNvPr id="7" name="Rounded Rectangle 6"/>
          <p:cNvSpPr/>
          <p:nvPr/>
        </p:nvSpPr>
        <p:spPr>
          <a:xfrm>
            <a:off x="502920" y="1645920"/>
            <a:ext cx="2697480" cy="91440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645920"/>
            <a:ext cx="73152" cy="9144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00784"/>
            <a:ext cx="2423160" cy="502920"/>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6,000</a:t>
            </a:r>
          </a:p>
        </p:txBody>
      </p:sp>
      <p:sp>
        <p:nvSpPr>
          <p:cNvPr id="10" name="TextBox 9"/>
          <p:cNvSpPr txBox="1"/>
          <p:nvPr/>
        </p:nvSpPr>
        <p:spPr>
          <a:xfrm>
            <a:off x="685800" y="2176272"/>
            <a:ext cx="2423160" cy="365760"/>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seeded synthetic patients (seed 7307)</a:t>
            </a:r>
          </a:p>
        </p:txBody>
      </p:sp>
      <p:sp>
        <p:nvSpPr>
          <p:cNvPr id="11" name="Rounded Rectangle 10"/>
          <p:cNvSpPr/>
          <p:nvPr/>
        </p:nvSpPr>
        <p:spPr>
          <a:xfrm>
            <a:off x="502920" y="2697480"/>
            <a:ext cx="2697480" cy="91440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02920" y="2697480"/>
            <a:ext cx="73152" cy="9144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2752344"/>
            <a:ext cx="2423160" cy="502920"/>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7</a:t>
            </a:r>
          </a:p>
        </p:txBody>
      </p:sp>
      <p:sp>
        <p:nvSpPr>
          <p:cNvPr id="14" name="TextBox 13"/>
          <p:cNvSpPr txBox="1"/>
          <p:nvPr/>
        </p:nvSpPr>
        <p:spPr>
          <a:xfrm>
            <a:off x="685800" y="3227832"/>
            <a:ext cx="2423160" cy="365760"/>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clinical archetypes (cardiac, trauma ...)</a:t>
            </a:r>
          </a:p>
        </p:txBody>
      </p:sp>
      <p:sp>
        <p:nvSpPr>
          <p:cNvPr id="15" name="Rounded Rectangle 14"/>
          <p:cNvSpPr/>
          <p:nvPr/>
        </p:nvSpPr>
        <p:spPr>
          <a:xfrm>
            <a:off x="502920" y="3749039"/>
            <a:ext cx="2697480" cy="91440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2920" y="3749039"/>
            <a:ext cx="7315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5800" y="3803903"/>
            <a:ext cx="2423160" cy="502920"/>
          </a:xfrm>
          <a:prstGeom prst="rect">
            <a:avLst/>
          </a:prstGeom>
          <a:noFill/>
        </p:spPr>
        <p:txBody>
          <a:bodyPr wrap="square" lIns="0" rIns="0" tIns="0" bIns="0" anchor="ctr">
            <a:spAutoFit/>
          </a:bodyPr>
          <a:lstStyle/>
          <a:p>
            <a:pPr algn="l">
              <a:spcAft>
                <a:spcPts val="400"/>
              </a:spcAft>
            </a:pPr>
            <a:r>
              <a:rPr sz="2200" b="1" i="0">
                <a:solidFill>
                  <a:srgbClr val="1F3864"/>
                </a:solidFill>
                <a:latin typeface="Calibri"/>
                <a:ea typeface="Calibri"/>
                <a:cs typeface="Calibri"/>
              </a:rPr>
              <a:t>3,840 / 960 / 1,200</a:t>
            </a:r>
          </a:p>
        </p:txBody>
      </p:sp>
      <p:sp>
        <p:nvSpPr>
          <p:cNvPr id="18" name="TextBox 17"/>
          <p:cNvSpPr txBox="1"/>
          <p:nvPr/>
        </p:nvSpPr>
        <p:spPr>
          <a:xfrm>
            <a:off x="685800" y="4279392"/>
            <a:ext cx="2423160" cy="365760"/>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fit / calibration / test</a:t>
            </a:r>
          </a:p>
        </p:txBody>
      </p:sp>
      <p:pic>
        <p:nvPicPr>
          <p:cNvPr id="19" name="Picture 18" descr="f11_priority_distribution.png"/>
          <p:cNvPicPr>
            <a:picLocks noChangeAspect="1"/>
          </p:cNvPicPr>
          <p:nvPr/>
        </p:nvPicPr>
        <p:blipFill>
          <a:blip r:embed="rId2"/>
          <a:stretch>
            <a:fillRect/>
          </a:stretch>
        </p:blipFill>
        <p:spPr>
          <a:xfrm>
            <a:off x="4137264" y="1600200"/>
            <a:ext cx="6858791" cy="2971800"/>
          </a:xfrm>
          <a:prstGeom prst="rect">
            <a:avLst/>
          </a:prstGeom>
        </p:spPr>
      </p:pic>
      <p:sp>
        <p:nvSpPr>
          <p:cNvPr id="20" name="TextBox 19"/>
          <p:cNvSpPr txBox="1"/>
          <p:nvPr/>
        </p:nvSpPr>
        <p:spPr>
          <a:xfrm>
            <a:off x="502920" y="4754880"/>
            <a:ext cx="11155680" cy="1645920"/>
          </a:xfrm>
          <a:prstGeom prst="rect">
            <a:avLst/>
          </a:prstGeom>
          <a:noFill/>
        </p:spPr>
        <p:txBody>
          <a:bodyPr wrap="square" lIns="0" rIns="0" tIns="0" bIns="0" anchor="t">
            <a:spAutoFit/>
          </a:bodyPr>
          <a:lstStyle/>
          <a:p>
            <a:pPr algn="l" marL="256032" indent="-201168">
              <a:spcAft>
                <a:spcPts val="500"/>
              </a:spcAft>
              <a:buChar char="•"/>
            </a:pPr>
            <a:r>
              <a:rPr sz="1400" b="0" i="0">
                <a:solidFill>
                  <a:srgbClr val="222222"/>
                </a:solidFill>
                <a:latin typeface="Calibri"/>
                <a:ea typeface="Calibri"/>
                <a:cs typeface="Calibri"/>
              </a:rPr>
              <a:t>Vitals and report flags are drawn per archetype; a hand-written severity score plus Gaussian noise (sd 0.4) is cut into priorities. P1 is only 5.5% of rows.</a:t>
            </a:r>
          </a:p>
          <a:p>
            <a:pPr algn="l" marL="256032" indent="-201168">
              <a:spcAft>
                <a:spcPts val="500"/>
              </a:spcAft>
              <a:buChar char="•"/>
            </a:pPr>
            <a:r>
              <a:rPr sz="1400" b="0" i="0">
                <a:solidFill>
                  <a:srgbClr val="222222"/>
                </a:solidFill>
                <a:latin typeface="Calibri"/>
                <a:ea typeface="Calibri"/>
                <a:cs typeface="Calibri"/>
              </a:rPr>
              <a:t>Noise ceiling: even knowing the clean score reproduces the label for 86.25% of rows, so exact accuracy cannot exceed about that.</a:t>
            </a:r>
          </a:p>
          <a:p>
            <a:pPr algn="l" marL="256032" indent="-201168">
              <a:spcAft>
                <a:spcPts val="400"/>
              </a:spcAft>
              <a:buChar char="•"/>
            </a:pPr>
            <a:r>
              <a:rPr sz="1400" b="0" i="0">
                <a:solidFill>
                  <a:srgbClr val="222222"/>
                </a:solidFill>
                <a:latin typeface="Calibri"/>
                <a:ea typeface="Calibri"/>
                <a:cs typeface="Calibri"/>
              </a:rPr>
              <a:t>No real patient data was used; the Kaggle triage dataset script was never run. Real triage records would give different numbers.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Fusion, Model &amp; Calibration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12</a:t>
            </a:r>
            <a:endParaRPr lang="en-US" sz="1000" dirty="0"/>
          </a:p>
        </p:txBody>
      </p:sp>
      <p:pic>
        <p:nvPicPr>
          <p:cNvPr id="7" name="Picture 6" descr="12_model_architecture.png"/>
          <p:cNvPicPr>
            <a:picLocks noChangeAspect="1"/>
          </p:cNvPicPr>
          <p:nvPr/>
        </p:nvPicPr>
        <p:blipFill>
          <a:blip r:embed="rId4"/>
          <a:stretch>
            <a:fillRect/>
          </a:stretch>
        </p:blipFill>
        <p:spPr>
          <a:xfrm>
            <a:off x="502920" y="1978269"/>
            <a:ext cx="6400799" cy="3815861"/>
          </a:xfrm>
          <a:prstGeom prst="rect">
            <a:avLst/>
          </a:prstGeom>
        </p:spPr>
      </p:pic>
      <p:sp>
        <p:nvSpPr>
          <p:cNvPr id="8" name="TextBox 7"/>
          <p:cNvSpPr txBox="1"/>
          <p:nvPr/>
        </p:nvSpPr>
        <p:spPr>
          <a:xfrm>
            <a:off x="7132320" y="1737360"/>
            <a:ext cx="4572000" cy="4572000"/>
          </a:xfrm>
          <a:prstGeom prst="rect">
            <a:avLst/>
          </a:prstGeom>
          <a:noFill/>
        </p:spPr>
        <p:txBody>
          <a:bodyPr wrap="square" lIns="0" rIns="0" tIns="0" bIns="0" anchor="t">
            <a:spAutoFit/>
          </a:bodyPr>
          <a:lstStyle/>
          <a:p>
            <a:pPr algn="l" marL="256032" indent="-201168">
              <a:spcAft>
                <a:spcPts val="700"/>
              </a:spcAft>
              <a:buChar char="•"/>
            </a:pPr>
            <a:r>
              <a:rPr sz="1400" b="0" i="0">
                <a:solidFill>
                  <a:srgbClr val="222222"/>
                </a:solidFill>
                <a:latin typeface="Calibri"/>
                <a:ea typeface="Calibri"/>
                <a:cs typeface="Calibri"/>
              </a:rPr>
              <a:t>Fused record: 8 vitals + 28 report flags = 36 inputs; an unreported flag counts as 0, as in the base paper.</a:t>
            </a:r>
          </a:p>
          <a:p>
            <a:pPr algn="l" marL="256032" indent="-201168">
              <a:spcAft>
                <a:spcPts val="700"/>
              </a:spcAft>
              <a:buChar char="•"/>
            </a:pPr>
            <a:r>
              <a:rPr sz="1400" b="0" i="0">
                <a:solidFill>
                  <a:srgbClr val="222222"/>
                </a:solidFill>
                <a:latin typeface="Calibri"/>
                <a:ea typeface="Calibri"/>
                <a:cs typeface="Calibri"/>
              </a:rPr>
              <a:t>XGBoost multi-class: 220 trees, depth 4, learning rate 0.1.</a:t>
            </a:r>
          </a:p>
          <a:p>
            <a:pPr algn="l" marL="256032" indent="-201168">
              <a:spcAft>
                <a:spcPts val="700"/>
              </a:spcAft>
              <a:buChar char="•"/>
            </a:pPr>
            <a:r>
              <a:rPr sz="1400" b="0" i="0">
                <a:solidFill>
                  <a:srgbClr val="222222"/>
                </a:solidFill>
                <a:latin typeface="Calibri"/>
                <a:ea typeface="Calibri"/>
                <a:cs typeface="Calibri"/>
              </a:rPr>
              <a:t>Isotonic calibration on a separate 960-row split so confidence is a probability.</a:t>
            </a:r>
          </a:p>
          <a:p>
            <a:pPr algn="l" marL="256032" indent="-201168">
              <a:spcAft>
                <a:spcPts val="700"/>
              </a:spcAft>
              <a:buChar char="•"/>
            </a:pPr>
            <a:r>
              <a:rPr sz="1400" b="0" i="0">
                <a:solidFill>
                  <a:srgbClr val="222222"/>
                </a:solidFill>
                <a:latin typeface="Calibri"/>
                <a:ea typeface="Calibri"/>
                <a:cs typeface="Calibri"/>
              </a:rPr>
              <a:t>Priority = argmax of the calibrated probabilities; risk from the priority.</a:t>
            </a:r>
          </a:p>
          <a:p>
            <a:pPr algn="l" marL="256032" indent="-201168">
              <a:spcAft>
                <a:spcPts val="400"/>
              </a:spcAft>
              <a:buChar char="•"/>
            </a:pPr>
            <a:r>
              <a:rPr sz="1400" b="0" i="0">
                <a:solidFill>
                  <a:srgbClr val="222222"/>
                </a:solidFill>
                <a:latin typeface="Calibri"/>
                <a:ea typeface="Calibri"/>
                <a:cs typeface="Calibri"/>
              </a:rPr>
              <a:t>Training takes 0.44 s; model inference about 0.012 ms per patient.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 Design &amp; Implementation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pic>
        <p:nvPicPr>
          <p:cNvPr id="7" name="Picture 6" descr="09_er_diagram.png"/>
          <p:cNvPicPr>
            <a:picLocks noChangeAspect="1"/>
          </p:cNvPicPr>
          <p:nvPr/>
        </p:nvPicPr>
        <p:blipFill>
          <a:blip r:embed="rId2"/>
          <a:stretch>
            <a:fillRect/>
          </a:stretch>
        </p:blipFill>
        <p:spPr>
          <a:xfrm>
            <a:off x="578748" y="1645920"/>
            <a:ext cx="5334743" cy="4206240"/>
          </a:xfrm>
          <a:prstGeom prst="rect">
            <a:avLst/>
          </a:prstGeom>
        </p:spPr>
      </p:pic>
      <p:sp>
        <p:nvSpPr>
          <p:cNvPr id="8" name="Rounded Rectangle 7"/>
          <p:cNvSpPr/>
          <p:nvPr/>
        </p:nvSpPr>
        <p:spPr>
          <a:xfrm>
            <a:off x="6217920" y="1645920"/>
            <a:ext cx="2651760" cy="96012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217920" y="1645920"/>
            <a:ext cx="73152" cy="9601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0" y="1700784"/>
            <a:ext cx="2377440" cy="528066"/>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13</a:t>
            </a:r>
          </a:p>
        </p:txBody>
      </p:sp>
      <p:sp>
        <p:nvSpPr>
          <p:cNvPr id="11" name="TextBox 10"/>
          <p:cNvSpPr txBox="1"/>
          <p:nvPr/>
        </p:nvSpPr>
        <p:spPr>
          <a:xfrm>
            <a:off x="6400800" y="2202789"/>
            <a:ext cx="2377440" cy="384048"/>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API endpoints</a:t>
            </a:r>
          </a:p>
        </p:txBody>
      </p:sp>
      <p:sp>
        <p:nvSpPr>
          <p:cNvPr id="12" name="Rounded Rectangle 11"/>
          <p:cNvSpPr/>
          <p:nvPr/>
        </p:nvSpPr>
        <p:spPr>
          <a:xfrm>
            <a:off x="9006840" y="1645920"/>
            <a:ext cx="2651760" cy="96012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06840" y="1645920"/>
            <a:ext cx="73152" cy="96012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89719" y="1700784"/>
            <a:ext cx="2377440" cy="528066"/>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47 + 17</a:t>
            </a:r>
          </a:p>
        </p:txBody>
      </p:sp>
      <p:sp>
        <p:nvSpPr>
          <p:cNvPr id="15" name="TextBox 14"/>
          <p:cNvSpPr txBox="1"/>
          <p:nvPr/>
        </p:nvSpPr>
        <p:spPr>
          <a:xfrm>
            <a:off x="9189719" y="2202789"/>
            <a:ext cx="2377440" cy="384048"/>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pytest tests + smoke checks</a:t>
            </a:r>
          </a:p>
        </p:txBody>
      </p:sp>
      <p:sp>
        <p:nvSpPr>
          <p:cNvPr id="16" name="Rounded Rectangle 15"/>
          <p:cNvSpPr/>
          <p:nvPr/>
        </p:nvSpPr>
        <p:spPr>
          <a:xfrm>
            <a:off x="6217920" y="2743200"/>
            <a:ext cx="2651760" cy="96012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0" y="2743200"/>
            <a:ext cx="73152" cy="9601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0" y="2798064"/>
            <a:ext cx="2377440" cy="528066"/>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6</a:t>
            </a:r>
          </a:p>
        </p:txBody>
      </p:sp>
      <p:sp>
        <p:nvSpPr>
          <p:cNvPr id="19" name="TextBox 18"/>
          <p:cNvSpPr txBox="1"/>
          <p:nvPr/>
        </p:nvSpPr>
        <p:spPr>
          <a:xfrm>
            <a:off x="6400800" y="3300069"/>
            <a:ext cx="2377440" cy="384048"/>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screens, light and dark</a:t>
            </a:r>
          </a:p>
        </p:txBody>
      </p:sp>
      <p:sp>
        <p:nvSpPr>
          <p:cNvPr id="20" name="Rounded Rectangle 19"/>
          <p:cNvSpPr/>
          <p:nvPr/>
        </p:nvSpPr>
        <p:spPr>
          <a:xfrm>
            <a:off x="9006840" y="2743200"/>
            <a:ext cx="2651760" cy="96012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006840" y="2743200"/>
            <a:ext cx="73152" cy="96012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89719" y="2798064"/>
            <a:ext cx="2377440" cy="528066"/>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~4,100</a:t>
            </a:r>
          </a:p>
        </p:txBody>
      </p:sp>
      <p:sp>
        <p:nvSpPr>
          <p:cNvPr id="23" name="TextBox 22"/>
          <p:cNvSpPr txBox="1"/>
          <p:nvPr/>
        </p:nvSpPr>
        <p:spPr>
          <a:xfrm>
            <a:off x="9189719" y="3300069"/>
            <a:ext cx="2377440" cy="384048"/>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lines of code and tests</a:t>
            </a:r>
          </a:p>
        </p:txBody>
      </p:sp>
      <p:sp>
        <p:nvSpPr>
          <p:cNvPr id="24" name="TextBox 23"/>
          <p:cNvSpPr txBox="1"/>
          <p:nvPr/>
        </p:nvSpPr>
        <p:spPr>
          <a:xfrm>
            <a:off x="6217920" y="3977639"/>
            <a:ext cx="5486400" cy="2377440"/>
          </a:xfrm>
          <a:prstGeom prst="rect">
            <a:avLst/>
          </a:prstGeom>
          <a:noFill/>
        </p:spPr>
        <p:txBody>
          <a:bodyPr wrap="square" lIns="0" rIns="0" tIns="0" bIns="0" anchor="t">
            <a:spAutoFit/>
          </a:bodyPr>
          <a:lstStyle/>
          <a:p>
            <a:pPr algn="l" marL="256032" indent="-201168">
              <a:spcAft>
                <a:spcPts val="500"/>
              </a:spcAft>
              <a:buChar char="•"/>
            </a:pPr>
            <a:r>
              <a:rPr sz="1300" b="0" i="0">
                <a:solidFill>
                  <a:srgbClr val="222222"/>
                </a:solidFill>
                <a:latin typeface="Calibri"/>
                <a:ea typeface="Calibri"/>
                <a:cs typeface="Calibri"/>
              </a:rPr>
              <a:t>Tables: users, patients (vitals, report, fused record, SHAP, timings as JSON) and overrides (old, new, action, reason).</a:t>
            </a:r>
          </a:p>
          <a:p>
            <a:pPr algn="l" marL="256032" indent="-201168">
              <a:spcAft>
                <a:spcPts val="500"/>
              </a:spcAft>
              <a:buChar char="•"/>
            </a:pPr>
            <a:r>
              <a:rPr sz="1300" b="0" i="0">
                <a:solidFill>
                  <a:srgbClr val="222222"/>
                </a:solidFill>
                <a:latin typeface="Calibri"/>
                <a:ea typeface="Calibri"/>
                <a:cs typeface="Calibri"/>
              </a:rPr>
              <a:t>bcrypt hashes, HS256 JWT valid 12 h, pydantic range checks, 15 MB upload limit.</a:t>
            </a:r>
          </a:p>
          <a:p>
            <a:pPr algn="l" marL="256032" indent="-201168">
              <a:spcAft>
                <a:spcPts val="400"/>
              </a:spcAft>
              <a:buChar char="•"/>
            </a:pPr>
            <a:r>
              <a:rPr sz="1300" b="0" i="0">
                <a:solidFill>
                  <a:srgbClr val="222222"/>
                </a:solidFill>
                <a:latin typeface="Calibri"/>
                <a:ea typeface="Calibri"/>
                <a:cs typeface="Calibri"/>
              </a:rPr>
              <a:t>Gaps: default JWT secret, no HTTPS, no rate limit.</a:t>
            </a:r>
          </a:p>
        </p:txBody>
      </p:sp>
      <p:sp>
        <p:nvSpPr>
          <p:cNvPr id="25" name="TextBox 24"/>
          <p:cNvSpPr txBox="1"/>
          <p:nvPr/>
        </p:nvSpPr>
        <p:spPr>
          <a:xfrm>
            <a:off x="502920" y="5943600"/>
            <a:ext cx="11155680" cy="45720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A fresh database is seeded with 12 labelled sample cases so the queue and performance pages are never empty.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Results – Shipped Model (Synthetic Hold-out)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14</a:t>
            </a:r>
            <a:endParaRPr lang="en-US" sz="1000" dirty="0"/>
          </a:p>
        </p:txBody>
      </p:sp>
      <p:sp>
        <p:nvSpPr>
          <p:cNvPr id="7" name="Rounded Rectangle 6"/>
          <p:cNvSpPr/>
          <p:nvPr/>
        </p:nvSpPr>
        <p:spPr>
          <a:xfrm>
            <a:off x="502920" y="1600200"/>
            <a:ext cx="2651760" cy="91440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600200"/>
            <a:ext cx="73152" cy="9144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655064"/>
            <a:ext cx="2377440" cy="502920"/>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69.4%</a:t>
            </a:r>
          </a:p>
        </p:txBody>
      </p:sp>
      <p:sp>
        <p:nvSpPr>
          <p:cNvPr id="10" name="TextBox 9"/>
          <p:cNvSpPr txBox="1"/>
          <p:nvPr/>
        </p:nvSpPr>
        <p:spPr>
          <a:xfrm>
            <a:off x="685800" y="2130552"/>
            <a:ext cx="2377440" cy="365760"/>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exact priority</a:t>
            </a:r>
          </a:p>
        </p:txBody>
      </p:sp>
      <p:sp>
        <p:nvSpPr>
          <p:cNvPr id="11" name="Rounded Rectangle 10"/>
          <p:cNvSpPr/>
          <p:nvPr/>
        </p:nvSpPr>
        <p:spPr>
          <a:xfrm>
            <a:off x="3337560" y="1600200"/>
            <a:ext cx="2651760" cy="91440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600200"/>
            <a:ext cx="73152" cy="9144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655064"/>
            <a:ext cx="2377440" cy="502920"/>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99.7%</a:t>
            </a:r>
          </a:p>
        </p:txBody>
      </p:sp>
      <p:sp>
        <p:nvSpPr>
          <p:cNvPr id="14" name="TextBox 13"/>
          <p:cNvSpPr txBox="1"/>
          <p:nvPr/>
        </p:nvSpPr>
        <p:spPr>
          <a:xfrm>
            <a:off x="3520440" y="2130552"/>
            <a:ext cx="2377440" cy="365760"/>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within one level</a:t>
            </a:r>
          </a:p>
        </p:txBody>
      </p:sp>
      <p:sp>
        <p:nvSpPr>
          <p:cNvPr id="15" name="Rounded Rectangle 14"/>
          <p:cNvSpPr/>
          <p:nvPr/>
        </p:nvSpPr>
        <p:spPr>
          <a:xfrm>
            <a:off x="6172200" y="1600200"/>
            <a:ext cx="2651760" cy="91440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600200"/>
            <a:ext cx="7315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655064"/>
            <a:ext cx="2377440" cy="502920"/>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0.670</a:t>
            </a:r>
          </a:p>
        </p:txBody>
      </p:sp>
      <p:sp>
        <p:nvSpPr>
          <p:cNvPr id="18" name="TextBox 17"/>
          <p:cNvSpPr txBox="1"/>
          <p:nvPr/>
        </p:nvSpPr>
        <p:spPr>
          <a:xfrm>
            <a:off x="6355080" y="2130552"/>
            <a:ext cx="2377440" cy="365760"/>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macro F1</a:t>
            </a:r>
          </a:p>
        </p:txBody>
      </p:sp>
      <p:sp>
        <p:nvSpPr>
          <p:cNvPr id="19" name="Rounded Rectangle 18"/>
          <p:cNvSpPr/>
          <p:nvPr/>
        </p:nvSpPr>
        <p:spPr>
          <a:xfrm>
            <a:off x="9006840" y="1600200"/>
            <a:ext cx="2651760" cy="91440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600200"/>
            <a:ext cx="73152" cy="9144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655064"/>
            <a:ext cx="2377440" cy="502920"/>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0.880</a:t>
            </a:r>
          </a:p>
        </p:txBody>
      </p:sp>
      <p:sp>
        <p:nvSpPr>
          <p:cNvPr id="22" name="TextBox 21"/>
          <p:cNvSpPr txBox="1"/>
          <p:nvPr/>
        </p:nvSpPr>
        <p:spPr>
          <a:xfrm>
            <a:off x="9189720" y="2130552"/>
            <a:ext cx="2377440" cy="365760"/>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quadratic weighted kappa</a:t>
            </a:r>
          </a:p>
        </p:txBody>
      </p:sp>
      <p:pic>
        <p:nvPicPr>
          <p:cNvPr id="23" name="Picture 22" descr="f01_confusion_matrix.png"/>
          <p:cNvPicPr>
            <a:picLocks noChangeAspect="1"/>
          </p:cNvPicPr>
          <p:nvPr/>
        </p:nvPicPr>
        <p:blipFill>
          <a:blip r:embed="rId2"/>
          <a:stretch>
            <a:fillRect/>
          </a:stretch>
        </p:blipFill>
        <p:spPr>
          <a:xfrm>
            <a:off x="1811714" y="2651760"/>
            <a:ext cx="3051690" cy="3246120"/>
          </a:xfrm>
          <a:prstGeom prst="rect">
            <a:avLst/>
          </a:prstGeom>
        </p:spPr>
      </p:pic>
      <p:sp>
        <p:nvSpPr>
          <p:cNvPr id="24" name="TextBox 23"/>
          <p:cNvSpPr txBox="1"/>
          <p:nvPr/>
        </p:nvSpPr>
        <p:spPr>
          <a:xfrm>
            <a:off x="6400800" y="2697480"/>
            <a:ext cx="5303520" cy="3291840"/>
          </a:xfrm>
          <a:prstGeom prst="rect">
            <a:avLst/>
          </a:prstGeom>
          <a:noFill/>
        </p:spPr>
        <p:txBody>
          <a:bodyPr wrap="square" lIns="0" rIns="0" tIns="0" bIns="0" anchor="t">
            <a:spAutoFit/>
          </a:bodyPr>
          <a:lstStyle/>
          <a:p>
            <a:pPr algn="l" marL="256032" indent="-201168">
              <a:spcAft>
                <a:spcPts val="700"/>
              </a:spcAft>
              <a:buChar char="•"/>
            </a:pPr>
            <a:r>
              <a:rPr sz="1400" b="0" i="0">
                <a:solidFill>
                  <a:srgbClr val="222222"/>
                </a:solidFill>
                <a:latin typeface="Calibri"/>
                <a:ea typeface="Calibri"/>
                <a:cs typeface="Calibri"/>
              </a:rPr>
              <a:t>Recall P1 to P5: 44 / 54 / 73 / 72 / 83 %. The sickest class is found least often.</a:t>
            </a:r>
          </a:p>
          <a:p>
            <a:pPr algn="l" marL="256032" indent="-201168">
              <a:spcAft>
                <a:spcPts val="700"/>
              </a:spcAft>
              <a:buChar char="•"/>
            </a:pPr>
            <a:r>
              <a:rPr sz="1400" b="0" i="0">
                <a:solidFill>
                  <a:srgbClr val="222222"/>
                </a:solidFill>
                <a:latin typeface="Calibri"/>
                <a:ea typeface="Calibri"/>
                <a:cs typeface="Calibri"/>
              </a:rPr>
              <a:t>Most errors are one level away: 99.7% within one, top-2 accuracy 95.3%.</a:t>
            </a:r>
          </a:p>
          <a:p>
            <a:pPr algn="l" marL="256032" indent="-201168">
              <a:spcAft>
                <a:spcPts val="700"/>
              </a:spcAft>
              <a:buChar char="•"/>
            </a:pPr>
            <a:r>
              <a:rPr sz="1400" b="0" i="0">
                <a:solidFill>
                  <a:srgbClr val="222222"/>
                </a:solidFill>
                <a:latin typeface="Calibri"/>
                <a:ea typeface="Calibri"/>
                <a:cs typeface="Calibri"/>
              </a:rPr>
              <a:t>35 of 66 recorded P1 cases land in P2; 101 of 239 P2 cases land in P3.</a:t>
            </a:r>
          </a:p>
          <a:p>
            <a:pPr algn="l" marL="256032" indent="-201168">
              <a:spcAft>
                <a:spcPts val="400"/>
              </a:spcAft>
              <a:buChar char="•"/>
            </a:pPr>
            <a:r>
              <a:rPr sz="1400" b="0" i="0">
                <a:solidFill>
                  <a:srgbClr val="222222"/>
                </a:solidFill>
                <a:latin typeface="Calibri"/>
                <a:ea typeface="Calibri"/>
                <a:cs typeface="Calibri"/>
              </a:rPr>
              <a:t>Five other splits of the same recipe give 71.6% (sd 0.9%); the shipped seed is a below-average split.</a:t>
            </a:r>
          </a:p>
        </p:txBody>
      </p:sp>
      <p:sp>
        <p:nvSpPr>
          <p:cNvPr id="25" name="TextBox 24"/>
          <p:cNvSpPr txBox="1"/>
          <p:nvPr/>
        </p:nvSpPr>
        <p:spPr>
          <a:xfrm>
            <a:off x="502920" y="5943600"/>
            <a:ext cx="11155680" cy="45720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1,200 held-out synthetic cases; rows are the recorded priority. Accuracy measures recovery of a known rule, not agreement with clinicians.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Safety View – Under- and Over-triage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pic>
        <p:nvPicPr>
          <p:cNvPr id="7" name="Picture 6" descr="f13_triage_direction.png"/>
          <p:cNvPicPr>
            <a:picLocks noChangeAspect="1"/>
          </p:cNvPicPr>
          <p:nvPr/>
        </p:nvPicPr>
        <p:blipFill>
          <a:blip r:embed="rId2"/>
          <a:stretch>
            <a:fillRect/>
          </a:stretch>
        </p:blipFill>
        <p:spPr>
          <a:xfrm>
            <a:off x="502920" y="1737606"/>
            <a:ext cx="5760720" cy="3931427"/>
          </a:xfrm>
          <a:prstGeom prst="rect">
            <a:avLst/>
          </a:prstGeom>
        </p:spPr>
      </p:pic>
      <p:graphicFrame>
        <p:nvGraphicFramePr>
          <p:cNvPr id="8" name="Table 7"/>
          <p:cNvGraphicFramePr>
            <a:graphicFrameLocks noGrp="1"/>
          </p:cNvGraphicFramePr>
          <p:nvPr/>
        </p:nvGraphicFramePr>
        <p:xfrm>
          <a:off x="6400800" y="1645920"/>
          <a:ext cx="5303520" cy="3328416"/>
        </p:xfrm>
        <a:graphic>
          <a:graphicData uri="http://schemas.openxmlformats.org/drawingml/2006/table">
            <a:tbl>
              <a:tblPr firstRow="0" bandRow="0">
                <a:tableStyleId>{5C22544A-7EE6-4342-B048-85BDC9FD1C3A}</a:tableStyleId>
              </a:tblPr>
              <a:tblGrid>
                <a:gridCol w="3566160"/>
                <a:gridCol w="1737360"/>
              </a:tblGrid>
              <a:tr h="475488">
                <a:tc>
                  <a:txBody>
                    <a:bodyPr wrap="square"/>
                    <a:lstStyle/>
                    <a:p>
                      <a:pPr algn="ctr"/>
                      <a:r>
                        <a:rPr sz="1200" b="1">
                          <a:solidFill>
                            <a:srgbClr val="1F3864"/>
                          </a:solidFill>
                          <a:latin typeface="Calibri"/>
                          <a:ea typeface="Calibri"/>
                          <a:cs typeface="Calibri"/>
                        </a:rPr>
                        <a:t>Measure (1,200 synthetic cases)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Value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75488">
                <a:tc>
                  <a:txBody>
                    <a:bodyPr wrap="square"/>
                    <a:lstStyle/>
                    <a:p>
                      <a:pPr algn="l"/>
                      <a:r>
                        <a:rPr sz="1200" b="1">
                          <a:solidFill>
                            <a:srgbClr val="222222"/>
                          </a:solidFill>
                          <a:latin typeface="Calibri"/>
                          <a:ea typeface="Calibri"/>
                          <a:cs typeface="Calibri"/>
                        </a:rPr>
                        <a:t>Under-triage (model less urgent)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21.33%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200" b="1">
                          <a:solidFill>
                            <a:srgbClr val="222222"/>
                          </a:solidFill>
                          <a:latin typeface="Calibri"/>
                          <a:ea typeface="Calibri"/>
                          <a:cs typeface="Calibri"/>
                        </a:rPr>
                        <a:t>Over-triage (model more urgent)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9.25%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75488">
                <a:tc>
                  <a:txBody>
                    <a:bodyPr wrap="square"/>
                    <a:lstStyle/>
                    <a:p>
                      <a:pPr algn="l"/>
                      <a:r>
                        <a:rPr sz="1200" b="1">
                          <a:solidFill>
                            <a:srgbClr val="222222"/>
                          </a:solidFill>
                          <a:latin typeface="Calibri"/>
                          <a:ea typeface="Calibri"/>
                          <a:cs typeface="Calibri"/>
                        </a:rPr>
                        <a:t>Two or more levels under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0.33%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200" b="1">
                          <a:solidFill>
                            <a:srgbClr val="222222"/>
                          </a:solidFill>
                          <a:latin typeface="Calibri"/>
                          <a:ea typeface="Calibri"/>
                          <a:cs typeface="Calibri"/>
                        </a:rPr>
                        <a:t>Recorded P1 placed at P3 or lower urgency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2 of 66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75488">
                <a:tc>
                  <a:txBody>
                    <a:bodyPr wrap="square"/>
                    <a:lstStyle/>
                    <a:p>
                      <a:pPr algn="l"/>
                      <a:r>
                        <a:rPr sz="1200" b="1">
                          <a:solidFill>
                            <a:srgbClr val="222222"/>
                          </a:solidFill>
                          <a:latin typeface="Calibri"/>
                          <a:ea typeface="Calibri"/>
                          <a:cs typeface="Calibri"/>
                        </a:rPr>
                        <a:t>High-risk (P1-P2) recall / precision, argmax</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66.2% / 90.6%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200" b="1">
                          <a:solidFill>
                            <a:srgbClr val="222222"/>
                          </a:solidFill>
                          <a:latin typeface="Calibri"/>
                          <a:ea typeface="Calibri"/>
                          <a:cs typeface="Calibri"/>
                        </a:rPr>
                        <a:t>Flag when P(1)+P(2) ≥ 0.4 (not built)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84.3% / 81.6%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9" name="TextBox 8"/>
          <p:cNvSpPr txBox="1"/>
          <p:nvPr/>
        </p:nvSpPr>
        <p:spPr>
          <a:xfrm>
            <a:off x="6400800" y="5074920"/>
            <a:ext cx="5303520" cy="1188720"/>
          </a:xfrm>
          <a:prstGeom prst="rect">
            <a:avLst/>
          </a:prstGeom>
          <a:noFill/>
        </p:spPr>
        <p:txBody>
          <a:bodyPr wrap="square" lIns="0" rIns="0" tIns="0" bIns="0" anchor="t">
            <a:spAutoFit/>
          </a:bodyPr>
          <a:lstStyle/>
          <a:p>
            <a:pPr algn="l">
              <a:spcAft>
                <a:spcPts val="400"/>
              </a:spcAft>
            </a:pPr>
            <a:r>
              <a:rPr sz="1300" b="0" i="1">
                <a:solidFill>
                  <a:srgbClr val="1F3864"/>
                </a:solidFill>
                <a:latin typeface="Calibri"/>
                <a:ea typeface="Calibri"/>
                <a:cs typeface="Calibri"/>
              </a:rPr>
              <a:t>The model errs toward the less urgent side more than the more urgent side, and misses a third of high-risk cases at argmax. A clinician must review every priority.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Model Comparison &amp; Modality Ablation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16</a:t>
            </a:r>
            <a:endParaRPr lang="en-US" sz="1000" dirty="0"/>
          </a:p>
        </p:txBody>
      </p:sp>
      <p:pic>
        <p:nvPicPr>
          <p:cNvPr id="7" name="Picture 6" descr="f03_model_comparison.png"/>
          <p:cNvPicPr>
            <a:picLocks noChangeAspect="1"/>
          </p:cNvPicPr>
          <p:nvPr/>
        </p:nvPicPr>
        <p:blipFill>
          <a:blip r:embed="rId4"/>
          <a:stretch>
            <a:fillRect/>
          </a:stretch>
        </p:blipFill>
        <p:spPr>
          <a:xfrm>
            <a:off x="508670" y="1600200"/>
            <a:ext cx="5566339" cy="3200400"/>
          </a:xfrm>
          <a:prstGeom prst="rect">
            <a:avLst/>
          </a:prstGeom>
        </p:spPr>
      </p:pic>
      <p:pic>
        <p:nvPicPr>
          <p:cNvPr id="8" name="Picture 7" descr="f04_modality_ablation.png"/>
          <p:cNvPicPr>
            <a:picLocks noChangeAspect="1"/>
          </p:cNvPicPr>
          <p:nvPr/>
        </p:nvPicPr>
        <p:blipFill>
          <a:blip r:embed="rId5"/>
          <a:stretch>
            <a:fillRect/>
          </a:stretch>
        </p:blipFill>
        <p:spPr>
          <a:xfrm>
            <a:off x="6452419" y="1600200"/>
            <a:ext cx="5017401" cy="3200400"/>
          </a:xfrm>
          <a:prstGeom prst="rect">
            <a:avLst/>
          </a:prstGeom>
        </p:spPr>
      </p:pic>
      <p:sp>
        <p:nvSpPr>
          <p:cNvPr id="9" name="TextBox 8"/>
          <p:cNvSpPr txBox="1"/>
          <p:nvPr/>
        </p:nvSpPr>
        <p:spPr>
          <a:xfrm>
            <a:off x="502920" y="4937760"/>
            <a:ext cx="11155680" cy="1463040"/>
          </a:xfrm>
          <a:prstGeom prst="rect">
            <a:avLst/>
          </a:prstGeom>
          <a:noFill/>
        </p:spPr>
        <p:txBody>
          <a:bodyPr wrap="square" lIns="0" rIns="0" tIns="0" bIns="0" anchor="t">
            <a:spAutoFit/>
          </a:bodyPr>
          <a:lstStyle/>
          <a:p>
            <a:pPr algn="l" marL="256032" indent="-201168">
              <a:spcAft>
                <a:spcPts val="500"/>
              </a:spcAft>
              <a:buChar char="•"/>
            </a:pPr>
            <a:r>
              <a:rPr sz="1300" b="0" i="0">
                <a:solidFill>
                  <a:srgbClr val="222222"/>
                </a:solidFill>
                <a:latin typeface="Calibri"/>
                <a:ea typeface="Calibri"/>
                <a:cs typeface="Calibri"/>
              </a:rPr>
              <a:t>Eight models, same split: logistic regression 72.42% beats the shipped XGBoost configuration (68.25%) because the synthetic labels come from an additive score. XGBoost was kept for SHAP and calibration.</a:t>
            </a:r>
          </a:p>
          <a:p>
            <a:pPr algn="l" marL="256032" indent="-201168">
              <a:spcAft>
                <a:spcPts val="500"/>
              </a:spcAft>
              <a:buChar char="•"/>
            </a:pPr>
            <a:r>
              <a:rPr sz="1300" b="0" i="0">
                <a:solidFill>
                  <a:srgbClr val="222222"/>
                </a:solidFill>
                <a:latin typeface="Calibri"/>
                <a:ea typeface="Calibri"/>
                <a:cs typeface="Calibri"/>
              </a:rPr>
              <a:t>Fusion: fused 68.25%, report only 63.17%, vitals only 40.58% - the single-modality gap named in the survey, measured on synthetic data.</a:t>
            </a:r>
          </a:p>
          <a:p>
            <a:pPr algn="l" marL="256032" indent="-201168">
              <a:spcAft>
                <a:spcPts val="400"/>
              </a:spcAft>
              <a:buChar char="•"/>
            </a:pPr>
            <a:r>
              <a:rPr sz="1300" b="0" i="0">
                <a:solidFill>
                  <a:srgbClr val="222222"/>
                </a:solidFill>
                <a:latin typeface="Calibri"/>
                <a:ea typeface="Calibri"/>
                <a:cs typeface="Calibri"/>
              </a:rPr>
              <a:t>5-fold CV accuracy: logistic 71.6%, random forest 71.1%, XGBoost 72.4%.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Calibration &amp; Confidence Threshold</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17</a:t>
            </a:r>
            <a:endParaRPr lang="en-US" sz="1000" dirty="0"/>
          </a:p>
        </p:txBody>
      </p:sp>
      <p:pic>
        <p:nvPicPr>
          <p:cNvPr id="7" name="Picture 6" descr="f05_calibration_reliability.png"/>
          <p:cNvPicPr>
            <a:picLocks noChangeAspect="1"/>
          </p:cNvPicPr>
          <p:nvPr/>
        </p:nvPicPr>
        <p:blipFill>
          <a:blip r:embed="rId4"/>
          <a:stretch>
            <a:fillRect/>
          </a:stretch>
        </p:blipFill>
        <p:spPr>
          <a:xfrm>
            <a:off x="1533246" y="1600199"/>
            <a:ext cx="3517187" cy="3291840"/>
          </a:xfrm>
          <a:prstGeom prst="rect">
            <a:avLst/>
          </a:prstGeom>
        </p:spPr>
      </p:pic>
      <p:pic>
        <p:nvPicPr>
          <p:cNvPr id="8" name="Picture 7" descr="f06_threshold_coverage.png"/>
          <p:cNvPicPr>
            <a:picLocks noChangeAspect="1"/>
          </p:cNvPicPr>
          <p:nvPr/>
        </p:nvPicPr>
        <p:blipFill>
          <a:blip r:embed="rId5"/>
          <a:stretch>
            <a:fillRect/>
          </a:stretch>
        </p:blipFill>
        <p:spPr>
          <a:xfrm>
            <a:off x="6661018" y="1600200"/>
            <a:ext cx="4600202" cy="3291839"/>
          </a:xfrm>
          <a:prstGeom prst="rect">
            <a:avLst/>
          </a:prstGeom>
        </p:spPr>
      </p:pic>
      <p:sp>
        <p:nvSpPr>
          <p:cNvPr id="9" name="TextBox 8"/>
          <p:cNvSpPr txBox="1"/>
          <p:nvPr/>
        </p:nvSpPr>
        <p:spPr>
          <a:xfrm>
            <a:off x="502920" y="5029200"/>
            <a:ext cx="11155680" cy="1371600"/>
          </a:xfrm>
          <a:prstGeom prst="rect">
            <a:avLst/>
          </a:prstGeom>
          <a:noFill/>
        </p:spPr>
        <p:txBody>
          <a:bodyPr wrap="square" lIns="0" rIns="0" tIns="0" bIns="0" anchor="t">
            <a:spAutoFit/>
          </a:bodyPr>
          <a:lstStyle/>
          <a:p>
            <a:pPr algn="l" marL="256032" indent="-201168">
              <a:spcAft>
                <a:spcPts val="500"/>
              </a:spcAft>
              <a:buChar char="•"/>
            </a:pPr>
            <a:r>
              <a:rPr sz="1300" b="0" i="0">
                <a:solidFill>
                  <a:srgbClr val="222222"/>
                </a:solidFill>
                <a:latin typeface="Calibri"/>
                <a:ea typeface="Calibri"/>
                <a:cs typeface="Calibri"/>
              </a:rPr>
              <a:t>Isotonic calibration helps modestly: ECE 0.047 to 0.041; the 0.8-0.9 confidence bin is over-confident (66% observed).</a:t>
            </a:r>
          </a:p>
          <a:p>
            <a:pPr algn="l" marL="256032" indent="-201168">
              <a:spcAft>
                <a:spcPts val="500"/>
              </a:spcAft>
              <a:buChar char="•"/>
            </a:pPr>
            <a:r>
              <a:rPr sz="1300" b="0" i="0">
                <a:solidFill>
                  <a:srgbClr val="222222"/>
                </a:solidFill>
                <a:latin typeface="Calibri"/>
                <a:ea typeface="Calibri"/>
                <a:cs typeface="Calibri"/>
              </a:rPr>
              <a:t>Confidence threshold, as in the base paper's 0.85 rule: keeping only predictions at 0.85 or more covers 25.5% of cases at 87.6% accuracy (all cases: 69.4%).</a:t>
            </a:r>
          </a:p>
          <a:p>
            <a:pPr algn="l" marL="256032" indent="-201168">
              <a:spcAft>
                <a:spcPts val="400"/>
              </a:spcAft>
              <a:buChar char="•"/>
            </a:pPr>
            <a:r>
              <a:rPr sz="1300" b="0" i="0">
                <a:solidFill>
                  <a:srgbClr val="222222"/>
                </a:solidFill>
                <a:latin typeface="Calibri"/>
                <a:ea typeface="Calibri"/>
                <a:cs typeface="Calibri"/>
              </a:rPr>
              <a:t>The threshold is an analysis, not a gate in the product.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Robustness &amp; Report-Reader Evaluation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18</a:t>
            </a:r>
            <a:endParaRPr lang="en-US" sz="1000" dirty="0"/>
          </a:p>
        </p:txBody>
      </p:sp>
      <p:pic>
        <p:nvPicPr>
          <p:cNvPr id="7" name="Picture 6" descr="f07_robustness_dropped_flags.png"/>
          <p:cNvPicPr>
            <a:picLocks noChangeAspect="1"/>
          </p:cNvPicPr>
          <p:nvPr/>
        </p:nvPicPr>
        <p:blipFill>
          <a:blip r:embed="rId3"/>
          <a:stretch>
            <a:fillRect/>
          </a:stretch>
        </p:blipFill>
        <p:spPr>
          <a:xfrm>
            <a:off x="1015827" y="1600199"/>
            <a:ext cx="4552025" cy="3200400"/>
          </a:xfrm>
          <a:prstGeom prst="rect">
            <a:avLst/>
          </a:prstGeom>
        </p:spPr>
      </p:pic>
      <p:pic>
        <p:nvPicPr>
          <p:cNvPr id="8" name="Picture 7" descr="f09_reader_stress_by_category.png"/>
          <p:cNvPicPr>
            <a:picLocks noChangeAspect="1"/>
          </p:cNvPicPr>
          <p:nvPr/>
        </p:nvPicPr>
        <p:blipFill>
          <a:blip r:embed="rId2"/>
          <a:stretch>
            <a:fillRect/>
          </a:stretch>
        </p:blipFill>
        <p:spPr>
          <a:xfrm>
            <a:off x="6325951" y="1600200"/>
            <a:ext cx="5270336" cy="3200400"/>
          </a:xfrm>
          <a:prstGeom prst="rect">
            <a:avLst/>
          </a:prstGeom>
        </p:spPr>
      </p:pic>
      <p:sp>
        <p:nvSpPr>
          <p:cNvPr id="9" name="TextBox 8"/>
          <p:cNvSpPr txBox="1"/>
          <p:nvPr/>
        </p:nvSpPr>
        <p:spPr>
          <a:xfrm>
            <a:off x="502920" y="4937760"/>
            <a:ext cx="11155680" cy="1463040"/>
          </a:xfrm>
          <a:prstGeom prst="rect">
            <a:avLst/>
          </a:prstGeom>
          <a:noFill/>
        </p:spPr>
        <p:txBody>
          <a:bodyPr wrap="square" lIns="0" rIns="0" tIns="0" bIns="0" anchor="t">
            <a:spAutoFit/>
          </a:bodyPr>
          <a:lstStyle/>
          <a:p>
            <a:pPr algn="l" marL="256032" indent="-201168">
              <a:spcAft>
                <a:spcPts val="500"/>
              </a:spcAft>
              <a:buChar char="•"/>
            </a:pPr>
            <a:r>
              <a:rPr sz="1300" b="0" i="0">
                <a:solidFill>
                  <a:srgbClr val="222222"/>
                </a:solidFill>
                <a:latin typeface="Calibri"/>
                <a:ea typeface="Calibri"/>
                <a:cs typeface="Calibri"/>
              </a:rPr>
              <a:t>Drop each positive report flag at random: accuracy 69.4% -&gt; 66.2% (10%) -&gt; 62.1% (20%); with no report at all 33.9%. A missed finding is costly.</a:t>
            </a:r>
          </a:p>
          <a:p>
            <a:pPr algn="l" marL="256032" indent="-201168">
              <a:spcAft>
                <a:spcPts val="500"/>
              </a:spcAft>
              <a:buChar char="•"/>
            </a:pPr>
            <a:r>
              <a:rPr sz="1300" b="0" i="0">
                <a:solidFill>
                  <a:srgbClr val="222222"/>
                </a:solidFill>
                <a:latin typeface="Calibri"/>
                <a:ea typeface="Calibri"/>
                <a:cs typeface="Calibri"/>
              </a:rPr>
              <a:t>Reader on 40 hand-written fragments: 95.2% precision, 84.3% recall, 27 of 40 read exactly; paraphrases are the weak spot (recall 0.14).</a:t>
            </a:r>
          </a:p>
          <a:p>
            <a:pPr algn="l" marL="256032" indent="-201168">
              <a:spcAft>
                <a:spcPts val="400"/>
              </a:spcAft>
              <a:buChar char="•"/>
            </a:pPr>
            <a:r>
              <a:rPr sz="1300" b="0" i="0">
                <a:solidFill>
                  <a:srgbClr val="222222"/>
                </a:solidFill>
                <a:latin typeface="Calibri"/>
                <a:ea typeface="Calibri"/>
                <a:cs typeface="Calibri"/>
              </a:rPr>
              <a:t>Found defects: "afebrile" read as fever, "chest pain: absent" flagged, "denies X but reports Y" negates Y, split OCR words missed.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Explainability &amp; Clinician Loop</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19</a:t>
            </a:r>
            <a:endParaRPr lang="en-US" sz="1000" dirty="0"/>
          </a:p>
        </p:txBody>
      </p:sp>
      <p:pic>
        <p:nvPicPr>
          <p:cNvPr id="7" name="Picture 6" descr="f08_shap_global.png"/>
          <p:cNvPicPr>
            <a:picLocks noChangeAspect="1"/>
          </p:cNvPicPr>
          <p:nvPr/>
        </p:nvPicPr>
        <p:blipFill>
          <a:blip r:embed="rId3"/>
          <a:stretch>
            <a:fillRect/>
          </a:stretch>
        </p:blipFill>
        <p:spPr>
          <a:xfrm>
            <a:off x="502920" y="1771772"/>
            <a:ext cx="5577840" cy="3268734"/>
          </a:xfrm>
          <a:prstGeom prst="rect">
            <a:avLst/>
          </a:prstGeom>
        </p:spPr>
      </p:pic>
      <p:pic>
        <p:nvPicPr>
          <p:cNvPr id="8" name="Picture 7" descr="07_sequence_flow.png"/>
          <p:cNvPicPr>
            <a:picLocks noChangeAspect="1"/>
          </p:cNvPicPr>
          <p:nvPr/>
        </p:nvPicPr>
        <p:blipFill>
          <a:blip r:embed="rId2"/>
          <a:stretch>
            <a:fillRect/>
          </a:stretch>
        </p:blipFill>
        <p:spPr>
          <a:xfrm>
            <a:off x="6808026" y="1554480"/>
            <a:ext cx="4306186" cy="3703320"/>
          </a:xfrm>
          <a:prstGeom prst="rect">
            <a:avLst/>
          </a:prstGeom>
        </p:spPr>
      </p:pic>
      <p:sp>
        <p:nvSpPr>
          <p:cNvPr id="9" name="TextBox 8"/>
          <p:cNvSpPr txBox="1"/>
          <p:nvPr/>
        </p:nvSpPr>
        <p:spPr>
          <a:xfrm>
            <a:off x="502920" y="5349240"/>
            <a:ext cx="11155680" cy="1051560"/>
          </a:xfrm>
          <a:prstGeom prst="rect">
            <a:avLst/>
          </a:prstGeom>
          <a:noFill/>
        </p:spPr>
        <p:txBody>
          <a:bodyPr wrap="square" lIns="0" rIns="0" tIns="0" bIns="0" anchor="t">
            <a:spAutoFit/>
          </a:bodyPr>
          <a:lstStyle/>
          <a:p>
            <a:pPr algn="l" marL="256032" indent="-201168">
              <a:spcAft>
                <a:spcPts val="300"/>
              </a:spcAft>
              <a:buChar char="•"/>
            </a:pPr>
            <a:r>
              <a:rPr sz="1200" b="0" i="0">
                <a:solidFill>
                  <a:srgbClr val="222222"/>
                </a:solidFill>
                <a:latin typeface="Calibri"/>
                <a:ea typeface="Calibri"/>
                <a:cs typeface="Calibri"/>
              </a:rPr>
              <a:t>Per patient: SHAP TreeExplainer lists the strongest drivers for the chosen priority (top 8, absent flags with tiny effect hidden). Globally SpO2, arrival mode, shortness of breath, blood pressure and ST elevation lead - matching the severity rule used to make the labels, which checks the explainer, not clinical validity.</a:t>
            </a:r>
          </a:p>
          <a:p>
            <a:pPr algn="l" marL="256032" indent="-201168">
              <a:spcAft>
                <a:spcPts val="400"/>
              </a:spcAft>
              <a:buChar char="•"/>
            </a:pPr>
            <a:r>
              <a:rPr sz="1200" b="0" i="0">
                <a:solidFill>
                  <a:srgbClr val="222222"/>
                </a:solidFill>
                <a:latin typeface="Calibri"/>
                <a:ea typeface="Calibri"/>
                <a:cs typeface="Calibri"/>
              </a:rPr>
              <a:t>A change of priority needs a reason; accept or change is stored with who, when, old and new priority, and the queue reorders.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Performance &amp; Testing</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20</a:t>
            </a:r>
            <a:endParaRPr lang="en-US" sz="1000" dirty="0"/>
          </a:p>
        </p:txBody>
      </p:sp>
      <p:sp>
        <p:nvSpPr>
          <p:cNvPr id="7" name="Rounded Rectangle 6"/>
          <p:cNvSpPr/>
          <p:nvPr/>
        </p:nvSpPr>
        <p:spPr>
          <a:xfrm>
            <a:off x="502920" y="1600200"/>
            <a:ext cx="2651760" cy="91440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600200"/>
            <a:ext cx="73152" cy="9144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655064"/>
            <a:ext cx="2377440" cy="502920"/>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30 ms</a:t>
            </a:r>
          </a:p>
        </p:txBody>
      </p:sp>
      <p:sp>
        <p:nvSpPr>
          <p:cNvPr id="10" name="TextBox 9"/>
          <p:cNvSpPr txBox="1"/>
          <p:nvPr/>
        </p:nvSpPr>
        <p:spPr>
          <a:xfrm>
            <a:off x="685800" y="2130552"/>
            <a:ext cx="2377440" cy="365760"/>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PDF extract + triage (HTTP median)</a:t>
            </a:r>
          </a:p>
        </p:txBody>
      </p:sp>
      <p:sp>
        <p:nvSpPr>
          <p:cNvPr id="11" name="Rounded Rectangle 10"/>
          <p:cNvSpPr/>
          <p:nvPr/>
        </p:nvSpPr>
        <p:spPr>
          <a:xfrm>
            <a:off x="3337560" y="1600200"/>
            <a:ext cx="2651760" cy="91440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600200"/>
            <a:ext cx="73152" cy="9144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655064"/>
            <a:ext cx="2377440" cy="502920"/>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2.15 s</a:t>
            </a:r>
          </a:p>
        </p:txBody>
      </p:sp>
      <p:sp>
        <p:nvSpPr>
          <p:cNvPr id="14" name="TextBox 13"/>
          <p:cNvSpPr txBox="1"/>
          <p:nvPr/>
        </p:nvSpPr>
        <p:spPr>
          <a:xfrm>
            <a:off x="3520440" y="2130552"/>
            <a:ext cx="2377440" cy="365760"/>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scan: OCR + triage</a:t>
            </a:r>
          </a:p>
        </p:txBody>
      </p:sp>
      <p:sp>
        <p:nvSpPr>
          <p:cNvPr id="15" name="Rounded Rectangle 14"/>
          <p:cNvSpPr/>
          <p:nvPr/>
        </p:nvSpPr>
        <p:spPr>
          <a:xfrm>
            <a:off x="6172200" y="1600200"/>
            <a:ext cx="2651760" cy="91440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600200"/>
            <a:ext cx="7315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655064"/>
            <a:ext cx="2377440" cy="502920"/>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22 ms</a:t>
            </a:r>
          </a:p>
        </p:txBody>
      </p:sp>
      <p:sp>
        <p:nvSpPr>
          <p:cNvPr id="18" name="TextBox 17"/>
          <p:cNvSpPr txBox="1"/>
          <p:nvPr/>
        </p:nvSpPr>
        <p:spPr>
          <a:xfrm>
            <a:off x="6355080" y="2130552"/>
            <a:ext cx="2377440" cy="365760"/>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triage + SHAP request</a:t>
            </a:r>
          </a:p>
        </p:txBody>
      </p:sp>
      <p:sp>
        <p:nvSpPr>
          <p:cNvPr id="19" name="Rounded Rectangle 18"/>
          <p:cNvSpPr/>
          <p:nvPr/>
        </p:nvSpPr>
        <p:spPr>
          <a:xfrm>
            <a:off x="9006840" y="1600200"/>
            <a:ext cx="2651760" cy="91440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600200"/>
            <a:ext cx="73152" cy="9144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655064"/>
            <a:ext cx="2377440" cy="502920"/>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46 / 47</a:t>
            </a:r>
          </a:p>
        </p:txBody>
      </p:sp>
      <p:sp>
        <p:nvSpPr>
          <p:cNvPr id="22" name="TextBox 21"/>
          <p:cNvSpPr txBox="1"/>
          <p:nvPr/>
        </p:nvSpPr>
        <p:spPr>
          <a:xfrm>
            <a:off x="9189720" y="2130552"/>
            <a:ext cx="2377440" cy="365760"/>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pytest pass, 1 expected failure</a:t>
            </a:r>
          </a:p>
        </p:txBody>
      </p:sp>
      <p:pic>
        <p:nvPicPr>
          <p:cNvPr id="23" name="Picture 22" descr="f10_latency.png"/>
          <p:cNvPicPr>
            <a:picLocks noChangeAspect="1"/>
          </p:cNvPicPr>
          <p:nvPr/>
        </p:nvPicPr>
        <p:blipFill>
          <a:blip r:embed="rId4"/>
          <a:stretch>
            <a:fillRect/>
          </a:stretch>
        </p:blipFill>
        <p:spPr>
          <a:xfrm>
            <a:off x="502920" y="2701573"/>
            <a:ext cx="5212080" cy="2917892"/>
          </a:xfrm>
          <a:prstGeom prst="rect">
            <a:avLst/>
          </a:prstGeom>
        </p:spPr>
      </p:pic>
      <p:graphicFrame>
        <p:nvGraphicFramePr>
          <p:cNvPr id="24" name="Table 23"/>
          <p:cNvGraphicFramePr>
            <a:graphicFrameLocks noGrp="1"/>
          </p:cNvGraphicFramePr>
          <p:nvPr/>
        </p:nvGraphicFramePr>
        <p:xfrm>
          <a:off x="5897880" y="2651760"/>
          <a:ext cx="5806440" cy="2834640"/>
        </p:xfrm>
        <a:graphic>
          <a:graphicData uri="http://schemas.openxmlformats.org/drawingml/2006/table">
            <a:tbl>
              <a:tblPr firstRow="0" bandRow="0">
                <a:tableStyleId>{5C22544A-7EE6-4342-B048-85BDC9FD1C3A}</a:tableStyleId>
              </a:tblPr>
              <a:tblGrid>
                <a:gridCol w="2377440"/>
                <a:gridCol w="3429000"/>
              </a:tblGrid>
              <a:tr h="566928">
                <a:tc>
                  <a:txBody>
                    <a:bodyPr wrap="square"/>
                    <a:lstStyle/>
                    <a:p>
                      <a:pPr algn="ctr"/>
                      <a:r>
                        <a:rPr sz="1100" b="1">
                          <a:solidFill>
                            <a:srgbClr val="1F3864"/>
                          </a:solidFill>
                          <a:latin typeface="Calibri"/>
                          <a:ea typeface="Calibri"/>
                          <a:cs typeface="Calibri"/>
                        </a:rPr>
                        <a:t>Check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Result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66928">
                <a:tc>
                  <a:txBody>
                    <a:bodyPr wrap="square"/>
                    <a:lstStyle/>
                    <a:p>
                      <a:pPr algn="l"/>
                      <a:r>
                        <a:rPr sz="1100" b="1">
                          <a:solidFill>
                            <a:srgbClr val="222222"/>
                          </a:solidFill>
                          <a:latin typeface="Calibri"/>
                          <a:ea typeface="Calibri"/>
                          <a:cs typeface="Calibri"/>
                        </a:rPr>
                        <a:t>pytest: reader 20, triage 11, API 16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46 pass, 1 documented failure, 0 fail (15 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100" b="1">
                          <a:solidFill>
                            <a:srgbClr val="222222"/>
                          </a:solidFill>
                          <a:latin typeface="Calibri"/>
                          <a:ea typeface="Calibri"/>
                          <a:cs typeface="Calibri"/>
                        </a:rPr>
                        <a:t>Smoke test against running API</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17 of 17 checks pass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100" b="1">
                          <a:solidFill>
                            <a:srgbClr val="222222"/>
                          </a:solidFill>
                          <a:latin typeface="Calibri"/>
                          <a:ea typeface="Calibri"/>
                          <a:cs typeface="Calibri"/>
                        </a:rPr>
                        <a:t>End to end, 12 samples (reader + model)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mean 1.26 s, median 0.017 s, max 4.32 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100" b="1">
                          <a:solidFill>
                            <a:srgbClr val="222222"/>
                          </a:solidFill>
                          <a:latin typeface="Calibri"/>
                          <a:ea typeface="Calibri"/>
                          <a:cs typeface="Calibri"/>
                        </a:rPr>
                        <a:t>Not tested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concurrency, real scans, fresh install, security audit, user study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25" name="TextBox 24"/>
          <p:cNvSpPr txBox="1"/>
          <p:nvPr/>
        </p:nvSpPr>
        <p:spPr>
          <a:xfrm>
            <a:off x="502920" y="5897880"/>
            <a:ext cx="11155680" cy="457200"/>
          </a:xfrm>
          <a:prstGeom prst="rect">
            <a:avLst/>
          </a:prstGeom>
          <a:noFill/>
        </p:spPr>
        <p:txBody>
          <a:bodyPr wrap="square" lIns="0" rIns="0" tIns="0" bIns="0" anchor="t">
            <a:spAutoFit/>
          </a:bodyPr>
          <a:lstStyle/>
          <a:p>
            <a:pPr algn="l">
              <a:spcAft>
                <a:spcPts val="400"/>
              </a:spcAft>
            </a:pPr>
            <a:r>
              <a:rPr sz="1100" b="0" i="1">
                <a:solidFill>
                  <a:srgbClr val="1F3864"/>
                </a:solidFill>
                <a:latin typeface="Calibri"/>
                <a:ea typeface="Calibri"/>
                <a:cs typeface="Calibri"/>
              </a:rPr>
              <a:t>Measured on Intel Core i5-12500 (12 threads), 15.7 GB RAM, Windows 11 Pro, no GPU, Python 3.11.9, Node 24.19.0, 127.0.0.1, medians of 10-50 calls.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Comparison with Base Paper</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21</a:t>
            </a:r>
            <a:endParaRPr lang="en-US" sz="1000" dirty="0"/>
          </a:p>
        </p:txBody>
      </p:sp>
      <p:graphicFrame>
        <p:nvGraphicFramePr>
          <p:cNvPr id="7" name="Table 6"/>
          <p:cNvGraphicFramePr>
            <a:graphicFrameLocks noGrp="1"/>
          </p:cNvGraphicFramePr>
          <p:nvPr/>
        </p:nvGraphicFramePr>
        <p:xfrm>
          <a:off x="502920" y="1600200"/>
          <a:ext cx="6583680" cy="4114800"/>
        </p:xfrm>
        <a:graphic>
          <a:graphicData uri="http://schemas.openxmlformats.org/drawingml/2006/table">
            <a:tbl>
              <a:tblPr firstRow="0" bandRow="0">
                <a:tableStyleId>{5C22544A-7EE6-4342-B048-85BDC9FD1C3A}</a:tableStyleId>
              </a:tblPr>
              <a:tblGrid>
                <a:gridCol w="1463040"/>
                <a:gridCol w="2468880"/>
                <a:gridCol w="2651760"/>
              </a:tblGrid>
              <a:tr h="457200">
                <a:tc>
                  <a:txBody>
                    <a:bodyPr wrap="square"/>
                    <a:lstStyle/>
                    <a:p>
                      <a:pPr algn="ctr"/>
                      <a:r>
                        <a:rPr sz="11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Base paper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ATHENA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57200">
                <a:tc>
                  <a:txBody>
                    <a:bodyPr wrap="square"/>
                    <a:lstStyle/>
                    <a:p>
                      <a:pPr algn="l"/>
                      <a:r>
                        <a:rPr sz="1100" b="1">
                          <a:solidFill>
                            <a:srgbClr val="222222"/>
                          </a:solidFill>
                          <a:latin typeface="Calibri"/>
                          <a:ea typeface="Calibri"/>
                          <a:cs typeface="Calibri"/>
                        </a:rPr>
                        <a:t>Task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ICD-10 diagnosis, 87 classes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Triage priority, 5 levels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100" b="1">
                          <a:solidFill>
                            <a:srgbClr val="222222"/>
                          </a:solidFill>
                          <a:latin typeface="Calibri"/>
                          <a:ea typeface="Calibri"/>
                          <a:cs typeface="Calibri"/>
                        </a:rPr>
                        <a:t>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1,655 real cases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6,000 synthetic rows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100" b="1">
                          <a:solidFill>
                            <a:srgbClr val="222222"/>
                          </a:solidFill>
                          <a:latin typeface="Calibri"/>
                          <a:ea typeface="Calibri"/>
                          <a:cs typeface="Calibri"/>
                        </a:rPr>
                        <a:t>Input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Typed symptom indicators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Scanned report + 8 vitals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100" b="1">
                          <a:solidFill>
                            <a:srgbClr val="222222"/>
                          </a:solidFill>
                          <a:latin typeface="Calibri"/>
                          <a:ea typeface="Calibri"/>
                          <a:cs typeface="Calibri"/>
                        </a:rPr>
                        <a:t>Algorithms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19 compared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8 compared; XGBoost shipped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100" b="1">
                          <a:solidFill>
                            <a:srgbClr val="222222"/>
                          </a:solidFill>
                          <a:latin typeface="Calibri"/>
                          <a:ea typeface="Calibri"/>
                          <a:cs typeface="Calibri"/>
                        </a:rPr>
                        <a:t>Ranking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TOP-3 up to 91.7% / 94.7%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Top-2 95.3%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100" b="1">
                          <a:solidFill>
                            <a:srgbClr val="222222"/>
                          </a:solidFill>
                          <a:latin typeface="Calibri"/>
                          <a:ea typeface="Calibri"/>
                          <a:cs typeface="Calibri"/>
                        </a:rPr>
                        <a:t>Top-1 / exact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84.7% / 87.2%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69.4%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100" b="1">
                          <a:solidFill>
                            <a:srgbClr val="222222"/>
                          </a:solidFill>
                          <a:latin typeface="Calibri"/>
                          <a:ea typeface="Calibri"/>
                          <a:cs typeface="Calibri"/>
                        </a:rPr>
                        <a:t>Confidence rule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0.85 threshold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0.85: 25.5% coverage, 87.6%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100" b="1">
                          <a:solidFill>
                            <a:srgbClr val="222222"/>
                          </a:solidFill>
                          <a:latin typeface="Calibri"/>
                          <a:ea typeface="Calibri"/>
                          <a:cs typeface="Calibri"/>
                        </a:rPr>
                        <a:t>Explanation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SHAP + LIME, offline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Per-patient SHAP beside the decision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pic>
        <p:nvPicPr>
          <p:cNvPr id="8" name="Picture 7" descr="f12_base_paper_context.png"/>
          <p:cNvPicPr>
            <a:picLocks noChangeAspect="1"/>
          </p:cNvPicPr>
          <p:nvPr/>
        </p:nvPicPr>
        <p:blipFill>
          <a:blip r:embed="rId4"/>
          <a:stretch>
            <a:fillRect/>
          </a:stretch>
        </p:blipFill>
        <p:spPr>
          <a:xfrm>
            <a:off x="7768682" y="1600200"/>
            <a:ext cx="3527874" cy="2834639"/>
          </a:xfrm>
          <a:prstGeom prst="rect">
            <a:avLst/>
          </a:prstGeom>
        </p:spPr>
      </p:pic>
      <p:sp>
        <p:nvSpPr>
          <p:cNvPr id="9" name="TextBox 8"/>
          <p:cNvSpPr txBox="1"/>
          <p:nvPr/>
        </p:nvSpPr>
        <p:spPr>
          <a:xfrm>
            <a:off x="7315200" y="4526280"/>
            <a:ext cx="4434840" cy="1828800"/>
          </a:xfrm>
          <a:prstGeom prst="rect">
            <a:avLst/>
          </a:prstGeom>
          <a:noFill/>
        </p:spPr>
        <p:txBody>
          <a:bodyPr wrap="square" lIns="0" rIns="0" tIns="0" bIns="0" anchor="t">
            <a:spAutoFit/>
          </a:bodyPr>
          <a:lstStyle/>
          <a:p>
            <a:pPr algn="l" marL="256032" indent="-201168">
              <a:spcAft>
                <a:spcPts val="500"/>
              </a:spcAft>
              <a:buChar char="•"/>
            </a:pPr>
            <a:r>
              <a:rPr sz="1200" b="0" i="0">
                <a:solidFill>
                  <a:srgbClr val="222222"/>
                </a:solidFill>
                <a:latin typeface="Calibri"/>
                <a:ea typeface="Calibri"/>
                <a:cs typeface="Calibri"/>
              </a:rPr>
              <a:t>Different task, data and metrics: the numbers are indicative only and ATHENA is not claimed to beat the paper.</a:t>
            </a:r>
          </a:p>
          <a:p>
            <a:pPr algn="l" marL="256032" indent="-201168">
              <a:spcAft>
                <a:spcPts val="400"/>
              </a:spcAft>
              <a:buChar char="•"/>
            </a:pPr>
            <a:r>
              <a:rPr sz="1200" b="0" i="0">
                <a:solidFill>
                  <a:srgbClr val="222222"/>
                </a:solidFill>
                <a:latin typeface="Calibri"/>
                <a:ea typeface="Calibri"/>
                <a:cs typeface="Calibri"/>
              </a:rPr>
              <a:t>Shared ideas: probability ranking, confidence threshold, SHAP, absent = 0, comparison of several algorithms.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Triage Queue and New Patient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22</a:t>
            </a:r>
            <a:endParaRPr lang="en-US" sz="1000" dirty="0"/>
          </a:p>
        </p:txBody>
      </p:sp>
      <p:pic>
        <p:nvPicPr>
          <p:cNvPr id="7" name="Picture 6" descr="04_queue_crop.png"/>
          <p:cNvPicPr>
            <a:picLocks noChangeAspect="1"/>
          </p:cNvPicPr>
          <p:nvPr/>
        </p:nvPicPr>
        <p:blipFill>
          <a:blip r:embed="rId3"/>
          <a:stretch>
            <a:fillRect/>
          </a:stretch>
        </p:blipFill>
        <p:spPr>
          <a:xfrm>
            <a:off x="502920" y="1661864"/>
            <a:ext cx="5486400" cy="3854311"/>
          </a:xfrm>
          <a:prstGeom prst="rect">
            <a:avLst/>
          </a:prstGeom>
          <a:ln w="9525">
            <a:solidFill>
              <a:srgbClr val="D5DCE6"/>
            </a:solidFill>
          </a:ln>
        </p:spPr>
      </p:pic>
      <p:pic>
        <p:nvPicPr>
          <p:cNvPr id="8" name="Picture 7" descr="06_new_patient_filled_crop.png"/>
          <p:cNvPicPr>
            <a:picLocks noChangeAspect="1"/>
          </p:cNvPicPr>
          <p:nvPr/>
        </p:nvPicPr>
        <p:blipFill>
          <a:blip r:embed="rId2"/>
          <a:stretch>
            <a:fillRect/>
          </a:stretch>
        </p:blipFill>
        <p:spPr>
          <a:xfrm>
            <a:off x="6217920" y="1661864"/>
            <a:ext cx="5486400" cy="3854311"/>
          </a:xfrm>
          <a:prstGeom prst="rect">
            <a:avLst/>
          </a:prstGeom>
          <a:ln w="9525">
            <a:solidFill>
              <a:srgbClr val="D5DCE6"/>
            </a:solidFill>
          </a:ln>
        </p:spPr>
      </p:pic>
      <p:sp>
        <p:nvSpPr>
          <p:cNvPr id="9" name="TextBox 8"/>
          <p:cNvSpPr txBox="1"/>
          <p:nvPr/>
        </p:nvSpPr>
        <p:spPr>
          <a:xfrm>
            <a:off x="502920" y="5623560"/>
            <a:ext cx="11155680" cy="77724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Left: the queue of 12 labelled sample cases, ordered by priority then arrival, with main drivers, risk and confidence. Right: sample report 01 read in 0.234 s (2 pages); symptoms, findings, history and labs appear with their page numbers and the vitals are filled in.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Result and Why This Priority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23</a:t>
            </a:r>
            <a:endParaRPr lang="en-US" sz="1000" dirty="0"/>
          </a:p>
        </p:txBody>
      </p:sp>
      <p:pic>
        <p:nvPicPr>
          <p:cNvPr id="7" name="Picture 6" descr="07_result_crop.png"/>
          <p:cNvPicPr>
            <a:picLocks noChangeAspect="1"/>
          </p:cNvPicPr>
          <p:nvPr/>
        </p:nvPicPr>
        <p:blipFill>
          <a:blip r:embed="rId3"/>
          <a:stretch>
            <a:fillRect/>
          </a:stretch>
        </p:blipFill>
        <p:spPr>
          <a:xfrm>
            <a:off x="502920" y="1661864"/>
            <a:ext cx="5486400" cy="3854311"/>
          </a:xfrm>
          <a:prstGeom prst="rect">
            <a:avLst/>
          </a:prstGeom>
          <a:ln w="9525">
            <a:solidFill>
              <a:srgbClr val="D5DCE6"/>
            </a:solidFill>
          </a:ln>
        </p:spPr>
      </p:pic>
      <p:pic>
        <p:nvPicPr>
          <p:cNvPr id="8" name="Picture 7" descr="08_result_why_crop.png"/>
          <p:cNvPicPr>
            <a:picLocks noChangeAspect="1"/>
          </p:cNvPicPr>
          <p:nvPr/>
        </p:nvPicPr>
        <p:blipFill>
          <a:blip r:embed="rId2"/>
          <a:stretch>
            <a:fillRect/>
          </a:stretch>
        </p:blipFill>
        <p:spPr>
          <a:xfrm>
            <a:off x="6217920" y="1661864"/>
            <a:ext cx="5486400" cy="3854311"/>
          </a:xfrm>
          <a:prstGeom prst="rect">
            <a:avLst/>
          </a:prstGeom>
          <a:ln w="9525">
            <a:solidFill>
              <a:srgbClr val="D5DCE6"/>
            </a:solidFill>
          </a:ln>
        </p:spPr>
      </p:pic>
      <p:sp>
        <p:nvSpPr>
          <p:cNvPr id="9" name="TextBox 8"/>
          <p:cNvSpPr txBox="1"/>
          <p:nvPr/>
        </p:nvSpPr>
        <p:spPr>
          <a:xfrm>
            <a:off x="502920" y="5623560"/>
            <a:ext cx="11155680" cy="77724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Left: Patient 013 assigned priority 1 Critical, high risk; the fused record lists report findings and vitals. Right: the SHAP list - ST elevation, raised troponin and lactate, heart rate - strongest first. The 100% is the calibrated confidence for this textbook STEMI sample report.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Clinician Decision and Model Performance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24</a:t>
            </a:r>
            <a:endParaRPr lang="en-US" sz="1000" dirty="0"/>
          </a:p>
        </p:txBody>
      </p:sp>
      <p:pic>
        <p:nvPicPr>
          <p:cNvPr id="7" name="Picture 6" descr="10_result_decision_crop.png"/>
          <p:cNvPicPr>
            <a:picLocks noChangeAspect="1"/>
          </p:cNvPicPr>
          <p:nvPr/>
        </p:nvPicPr>
        <p:blipFill>
          <a:blip r:embed="rId3"/>
          <a:stretch>
            <a:fillRect/>
          </a:stretch>
        </p:blipFill>
        <p:spPr>
          <a:xfrm>
            <a:off x="502920" y="1661864"/>
            <a:ext cx="5486400" cy="3854311"/>
          </a:xfrm>
          <a:prstGeom prst="rect">
            <a:avLst/>
          </a:prstGeom>
          <a:ln w="9525">
            <a:solidFill>
              <a:srgbClr val="D5DCE6"/>
            </a:solidFill>
          </a:ln>
        </p:spPr>
      </p:pic>
      <p:pic>
        <p:nvPicPr>
          <p:cNvPr id="8" name="Picture 7" descr="12_performance_crop.png"/>
          <p:cNvPicPr>
            <a:picLocks noChangeAspect="1"/>
          </p:cNvPicPr>
          <p:nvPr/>
        </p:nvPicPr>
        <p:blipFill>
          <a:blip r:embed="rId2"/>
          <a:stretch>
            <a:fillRect/>
          </a:stretch>
        </p:blipFill>
        <p:spPr>
          <a:xfrm>
            <a:off x="6217920" y="1661864"/>
            <a:ext cx="5486400" cy="3854311"/>
          </a:xfrm>
          <a:prstGeom prst="rect">
            <a:avLst/>
          </a:prstGeom>
          <a:ln w="9525">
            <a:solidFill>
              <a:srgbClr val="D5DCE6"/>
            </a:solidFill>
          </a:ln>
        </p:spPr>
      </p:pic>
      <p:sp>
        <p:nvSpPr>
          <p:cNvPr id="9" name="TextBox 8"/>
          <p:cNvSpPr txBox="1"/>
          <p:nvPr/>
        </p:nvSpPr>
        <p:spPr>
          <a:xfrm>
            <a:off x="502920" y="5623560"/>
            <a:ext cx="11155680" cy="77724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Left: the clinician changed priority 1 to 2; the model's suggestion is kept and the case is marked reviewed. Right: the performance page - accuracy 69.4%, within one level 99.7%, macro F1 0.670, with a banner saying the data are synthetic.</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Conclusion &amp; Objectives vs Outcomes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25</a:t>
            </a:r>
            <a:endParaRPr lang="en-US" sz="1000" dirty="0"/>
          </a:p>
        </p:txBody>
      </p:sp>
      <p:sp>
        <p:nvSpPr>
          <p:cNvPr id="7" name="TextBox 6"/>
          <p:cNvSpPr txBox="1"/>
          <p:nvPr/>
        </p:nvSpPr>
        <p:spPr>
          <a:xfrm>
            <a:off x="502920" y="1600200"/>
            <a:ext cx="11155680" cy="1097280"/>
          </a:xfrm>
          <a:prstGeom prst="rect">
            <a:avLst/>
          </a:prstGeom>
          <a:noFill/>
        </p:spPr>
        <p:txBody>
          <a:bodyPr wrap="square" lIns="0" rIns="0" tIns="0" bIns="0" anchor="t">
            <a:spAutoFit/>
          </a:bodyPr>
          <a:lstStyle/>
          <a:p>
            <a:pPr algn="l" marL="256032" indent="-201168">
              <a:spcAft>
                <a:spcPts val="400"/>
              </a:spcAft>
              <a:buChar char="•"/>
            </a:pPr>
            <a:r>
              <a:rPr sz="1400" b="0" i="0">
                <a:solidFill>
                  <a:srgbClr val="222222"/>
                </a:solidFill>
                <a:latin typeface="Calibri"/>
                <a:ea typeface="Calibri"/>
                <a:cs typeface="Calibri"/>
              </a:rPr>
              <a:t>A working decision-support pipeline: report reading, fusion, calibrated priority, SHAP reasons and a stored clinician decision; 46 tests and 17 smoke checks pass.</a:t>
            </a:r>
          </a:p>
          <a:p>
            <a:pPr algn="l" marL="256032" indent="-201168">
              <a:spcAft>
                <a:spcPts val="400"/>
              </a:spcAft>
              <a:buChar char="•"/>
            </a:pPr>
            <a:r>
              <a:rPr sz="1400" b="0" i="0">
                <a:solidFill>
                  <a:srgbClr val="222222"/>
                </a:solidFill>
                <a:latin typeface="Calibri"/>
                <a:ea typeface="Calibri"/>
                <a:cs typeface="Calibri"/>
              </a:rPr>
              <a:t>Key finding: reports add 27.7 points over vitals alone, yet P1 recall is 43.9% and a linear baseline wins on synthetic data.</a:t>
            </a:r>
          </a:p>
        </p:txBody>
      </p:sp>
      <p:graphicFrame>
        <p:nvGraphicFramePr>
          <p:cNvPr id="8" name="Table 7"/>
          <p:cNvGraphicFramePr>
            <a:graphicFrameLocks noGrp="1"/>
          </p:cNvGraphicFramePr>
          <p:nvPr/>
        </p:nvGraphicFramePr>
        <p:xfrm>
          <a:off x="502920" y="2788920"/>
          <a:ext cx="11155680" cy="3200400"/>
        </p:xfrm>
        <a:graphic>
          <a:graphicData uri="http://schemas.openxmlformats.org/drawingml/2006/table">
            <a:tbl>
              <a:tblPr firstRow="0" bandRow="0">
                <a:tableStyleId>{5C22544A-7EE6-4342-B048-85BDC9FD1C3A}</a:tableStyleId>
              </a:tblPr>
              <a:tblGrid>
                <a:gridCol w="457200"/>
                <a:gridCol w="3840480"/>
                <a:gridCol w="6858000"/>
              </a:tblGrid>
              <a:tr h="457200">
                <a:tc>
                  <a:txBody>
                    <a:bodyPr wrap="square"/>
                    <a:lstStyle/>
                    <a:p>
                      <a:pPr algn="ctr"/>
                      <a:r>
                        <a:rPr sz="1200" b="1">
                          <a:solidFill>
                            <a:srgbClr val="1F3864"/>
                          </a:solidFill>
                          <a:latin typeface="Calibri"/>
                          <a:ea typeface="Calibri"/>
                          <a:cs typeface="Calibri"/>
                        </a:rPr>
                        <a: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Objective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Status and evidence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57200">
                <a:tc>
                  <a:txBody>
                    <a:bodyPr wrap="square"/>
                    <a:lstStyle/>
                    <a:p>
                      <a:pPr algn="ctr"/>
                      <a:r>
                        <a:rPr sz="1200" b="1">
                          <a:solidFill>
                            <a:srgbClr val="222222"/>
                          </a:solidFill>
                          <a:latin typeface="Calibri"/>
                          <a:ea typeface="Calibri"/>
                          <a:cs typeface="Calibri"/>
                        </a:rPr>
                        <a:t>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OCR stage for scanned reports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Met: PDF text layer + local RapidOCR; 4 generated scans read exactly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ctr"/>
                      <a:r>
                        <a:rPr sz="1200" b="1">
                          <a:solidFill>
                            <a:srgbClr val="222222"/>
                          </a:solidFill>
                          <a:latin typeface="Calibri"/>
                          <a:ea typeface="Calibri"/>
                          <a:cs typeface="Calibri"/>
                        </a:rPr>
                        <a:t>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Medical language model for extraction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Partly: rule-based lexicon (no BioBERT); recall 84.3% on stress set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ctr"/>
                      <a:r>
                        <a:rPr sz="1200" b="1">
                          <a:solidFill>
                            <a:srgbClr val="222222"/>
                          </a:solidFill>
                          <a:latin typeface="Calibri"/>
                          <a:ea typeface="Calibri"/>
                          <a:cs typeface="Calibri"/>
                        </a:rPr>
                        <a:t>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Fused text + vitals representation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Met: 36 inputs; fusion beats either part alone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ctr"/>
                      <a:r>
                        <a:rPr sz="1200" b="1">
                          <a:solidFill>
                            <a:srgbClr val="222222"/>
                          </a:solidFill>
                          <a:latin typeface="Calibri"/>
                          <a:ea typeface="Calibri"/>
                          <a:cs typeface="Calibri"/>
                        </a:rPr>
                        <a:t>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Model assigns risk level and priority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Met on synthetic labels only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ctr"/>
                      <a:r>
                        <a:rPr sz="1200" b="1">
                          <a:solidFill>
                            <a:srgbClr val="222222"/>
                          </a:solidFill>
                          <a:latin typeface="Calibri"/>
                          <a:ea typeface="Calibri"/>
                          <a:cs typeface="Calibri"/>
                        </a:rPr>
                        <a:t>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Explainability layer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Met: per-patient SHAP; no LIME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ctr"/>
                      <a:r>
                        <a:rPr sz="1200" b="1">
                          <a:solidFill>
                            <a:srgbClr val="222222"/>
                          </a:solidFill>
                          <a:latin typeface="Calibri"/>
                          <a:ea typeface="Calibri"/>
                          <a:cs typeface="Calibri"/>
                        </a:rPr>
                        <a:t>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Accuracy vs clinician priority; time per patient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Partly: accuracy vs synthetic label; time measured (30 ms PDF, 2.1 s scan)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Limitations &amp; Future Scope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26</a:t>
            </a:r>
            <a:endParaRPr lang="en-US" sz="1000" dirty="0"/>
          </a:p>
        </p:txBody>
      </p:sp>
      <p:sp>
        <p:nvSpPr>
          <p:cNvPr id="7" name="Rounded Rectangle 6"/>
          <p:cNvSpPr/>
          <p:nvPr/>
        </p:nvSpPr>
        <p:spPr>
          <a:xfrm>
            <a:off x="502920" y="1645920"/>
            <a:ext cx="5486400" cy="466344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85800" y="1737360"/>
            <a:ext cx="512064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Known limitations</a:t>
            </a:r>
          </a:p>
        </p:txBody>
      </p:sp>
      <p:sp>
        <p:nvSpPr>
          <p:cNvPr id="9" name="TextBox 8"/>
          <p:cNvSpPr txBox="1"/>
          <p:nvPr/>
        </p:nvSpPr>
        <p:spPr>
          <a:xfrm>
            <a:off x="685800" y="2194560"/>
            <a:ext cx="5120640" cy="4023360"/>
          </a:xfrm>
          <a:prstGeom prst="rect">
            <a:avLst/>
          </a:prstGeom>
          <a:noFill/>
        </p:spPr>
        <p:txBody>
          <a:bodyPr wrap="square" lIns="0" rIns="0" tIns="0" bIns="0" anchor="t">
            <a:spAutoFit/>
          </a:bodyPr>
          <a:lstStyle/>
          <a:p>
            <a:pPr algn="l" marL="256032" indent="-201168">
              <a:spcAft>
                <a:spcPts val="700"/>
              </a:spcAft>
              <a:buChar char="•"/>
            </a:pPr>
            <a:r>
              <a:rPr sz="1500" b="0" i="0">
                <a:solidFill>
                  <a:srgbClr val="222222"/>
                </a:solidFill>
                <a:latin typeface="Calibri"/>
                <a:ea typeface="Calibri"/>
                <a:cs typeface="Calibri"/>
              </a:rPr>
              <a:t>Trained and tested on synthetic data; no clinician agreement measured</a:t>
            </a:r>
          </a:p>
          <a:p>
            <a:pPr algn="l" marL="256032" indent="-201168">
              <a:spcAft>
                <a:spcPts val="700"/>
              </a:spcAft>
              <a:buChar char="•"/>
            </a:pPr>
            <a:r>
              <a:rPr sz="1500" b="0" i="0">
                <a:solidFill>
                  <a:srgbClr val="222222"/>
                </a:solidFill>
                <a:latin typeface="Calibri"/>
                <a:ea typeface="Calibri"/>
                <a:cs typeface="Calibri"/>
              </a:rPr>
              <a:t>P1 recall 43.9%; high-risk recall 66.2%; under-triage 21.3%</a:t>
            </a:r>
          </a:p>
          <a:p>
            <a:pPr algn="l" marL="256032" indent="-201168">
              <a:spcAft>
                <a:spcPts val="700"/>
              </a:spcAft>
              <a:buChar char="•"/>
            </a:pPr>
            <a:r>
              <a:rPr sz="1500" b="0" i="0">
                <a:solidFill>
                  <a:srgbClr val="222222"/>
                </a:solidFill>
                <a:latin typeface="Calibri"/>
                <a:ea typeface="Calibri"/>
                <a:cs typeface="Calibri"/>
              </a:rPr>
              <a:t>Rule-based reader; negation and OCR defects; only 4 generated scans tried</a:t>
            </a:r>
          </a:p>
          <a:p>
            <a:pPr algn="l" marL="256032" indent="-201168">
              <a:spcAft>
                <a:spcPts val="700"/>
              </a:spcAft>
              <a:buChar char="•"/>
            </a:pPr>
            <a:r>
              <a:rPr sz="1500" b="0" i="0">
                <a:solidFill>
                  <a:srgbClr val="222222"/>
                </a:solidFill>
                <a:latin typeface="Calibri"/>
                <a:ea typeface="Calibri"/>
                <a:cs typeface="Calibri"/>
              </a:rPr>
              <a:t>Linear baseline beats XGBoost here; calibration only modest</a:t>
            </a:r>
          </a:p>
          <a:p>
            <a:pPr algn="l" marL="256032" indent="-201168">
              <a:spcAft>
                <a:spcPts val="700"/>
              </a:spcAft>
              <a:buChar char="•"/>
            </a:pPr>
            <a:r>
              <a:rPr sz="1500" b="0" i="0">
                <a:solidFill>
                  <a:srgbClr val="222222"/>
                </a:solidFill>
                <a:latin typeface="Calibri"/>
                <a:ea typeface="Calibri"/>
                <a:cs typeface="Calibri"/>
              </a:rPr>
              <a:t>No BioBERT, RAG, multi-agent, LIME, MongoDB or disease models</a:t>
            </a:r>
          </a:p>
          <a:p>
            <a:pPr algn="l" marL="256032" indent="-201168">
              <a:spcAft>
                <a:spcPts val="400"/>
              </a:spcAft>
              <a:buChar char="•"/>
            </a:pPr>
            <a:r>
              <a:rPr sz="1500" b="0" i="0">
                <a:solidFill>
                  <a:srgbClr val="222222"/>
                </a:solidFill>
                <a:latin typeface="Calibri"/>
                <a:ea typeface="Calibri"/>
                <a:cs typeface="Calibri"/>
              </a:rPr>
              <a:t>Demo-grade security; no user study</a:t>
            </a:r>
          </a:p>
        </p:txBody>
      </p:sp>
      <p:sp>
        <p:nvSpPr>
          <p:cNvPr id="10" name="Rounded Rectangle 9"/>
          <p:cNvSpPr/>
          <p:nvPr/>
        </p:nvSpPr>
        <p:spPr>
          <a:xfrm>
            <a:off x="6217920" y="1645920"/>
            <a:ext cx="5486400" cy="4663440"/>
          </a:xfrm>
          <a:prstGeom prst="roundRect">
            <a:avLst>
              <a:gd name="adj" fmla="val 4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0" y="1737360"/>
            <a:ext cx="512064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Future scope</a:t>
            </a:r>
          </a:p>
        </p:txBody>
      </p:sp>
      <p:sp>
        <p:nvSpPr>
          <p:cNvPr id="12" name="TextBox 11"/>
          <p:cNvSpPr txBox="1"/>
          <p:nvPr/>
        </p:nvSpPr>
        <p:spPr>
          <a:xfrm>
            <a:off x="6400800" y="2194560"/>
            <a:ext cx="5120640" cy="4023360"/>
          </a:xfrm>
          <a:prstGeom prst="rect">
            <a:avLst/>
          </a:prstGeom>
          <a:noFill/>
        </p:spPr>
        <p:txBody>
          <a:bodyPr wrap="square" lIns="0" rIns="0" tIns="0" bIns="0" anchor="t">
            <a:spAutoFit/>
          </a:bodyPr>
          <a:lstStyle/>
          <a:p>
            <a:pPr algn="l" marL="256032" indent="-201168">
              <a:spcAft>
                <a:spcPts val="700"/>
              </a:spcAft>
              <a:buChar char="•"/>
            </a:pPr>
            <a:r>
              <a:rPr sz="1500" b="0" i="0">
                <a:solidFill>
                  <a:srgbClr val="222222"/>
                </a:solidFill>
                <a:latin typeface="Calibri"/>
                <a:ea typeface="Calibri"/>
                <a:cs typeface="Calibri"/>
              </a:rPr>
              <a:t>Retrain and validate on real triage records (credentialed access needed)</a:t>
            </a:r>
          </a:p>
          <a:p>
            <a:pPr algn="l" marL="256032" indent="-201168">
              <a:spcAft>
                <a:spcPts val="700"/>
              </a:spcAft>
              <a:buChar char="•"/>
            </a:pPr>
            <a:r>
              <a:rPr sz="1500" b="0" i="0">
                <a:solidFill>
                  <a:srgbClr val="222222"/>
                </a:solidFill>
                <a:latin typeface="Calibri"/>
                <a:ea typeface="Calibri"/>
                <a:cs typeface="Calibri"/>
              </a:rPr>
              <a:t>Medical language model for extraction; fix negation scope and OCR splits</a:t>
            </a:r>
          </a:p>
          <a:p>
            <a:pPr algn="l" marL="256032" indent="-201168">
              <a:spcAft>
                <a:spcPts val="700"/>
              </a:spcAft>
              <a:buChar char="•"/>
            </a:pPr>
            <a:r>
              <a:rPr sz="1500" b="0" i="0">
                <a:solidFill>
                  <a:srgbClr val="222222"/>
                </a:solidFill>
                <a:latin typeface="Calibri"/>
                <a:ea typeface="Calibri"/>
                <a:cs typeface="Calibri"/>
              </a:rPr>
              <a:t>Flag high risk when P(1)+P(2) is 0.4 or more; better calibration</a:t>
            </a:r>
          </a:p>
          <a:p>
            <a:pPr algn="l" marL="256032" indent="-201168">
              <a:spcAft>
                <a:spcPts val="700"/>
              </a:spcAft>
              <a:buChar char="•"/>
            </a:pPr>
            <a:r>
              <a:rPr sz="1500" b="0" i="0">
                <a:solidFill>
                  <a:srgbClr val="222222"/>
                </a:solidFill>
                <a:latin typeface="Calibri"/>
                <a:ea typeface="Calibri"/>
                <a:cs typeface="Calibri"/>
              </a:rPr>
              <a:t>Live vitals feed, multi-agent / RAG ideas, TOP-k style ranking</a:t>
            </a:r>
          </a:p>
          <a:p>
            <a:pPr algn="l" marL="256032" indent="-201168">
              <a:spcAft>
                <a:spcPts val="700"/>
              </a:spcAft>
              <a:buChar char="•"/>
            </a:pPr>
            <a:r>
              <a:rPr sz="1500" b="0" i="0">
                <a:solidFill>
                  <a:srgbClr val="222222"/>
                </a:solidFill>
                <a:latin typeface="Calibri"/>
                <a:ea typeface="Calibri"/>
                <a:cs typeface="Calibri"/>
              </a:rPr>
              <a:t>Prospective user study with triage nurses</a:t>
            </a:r>
          </a:p>
          <a:p>
            <a:pPr algn="l" marL="256032" indent="-201168">
              <a:spcAft>
                <a:spcPts val="400"/>
              </a:spcAft>
              <a:buChar char="•"/>
            </a:pPr>
            <a:r>
              <a:rPr sz="1500" b="0" i="0">
                <a:solidFill>
                  <a:srgbClr val="222222"/>
                </a:solidFill>
                <a:latin typeface="Calibri"/>
                <a:ea typeface="Calibri"/>
                <a:cs typeface="Calibri"/>
              </a:rPr>
              <a:t>Harden security: secrets, HTTPS, audit log, rate limits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References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27</a:t>
            </a:r>
            <a:endParaRPr lang="en-US" sz="1000" dirty="0"/>
          </a:p>
        </p:txBody>
      </p:sp>
      <p:sp>
        <p:nvSpPr>
          <p:cNvPr id="7" name="TextBox 6"/>
          <p:cNvSpPr txBox="1"/>
          <p:nvPr/>
        </p:nvSpPr>
        <p:spPr>
          <a:xfrm>
            <a:off x="502920" y="1600200"/>
            <a:ext cx="5486400" cy="4754880"/>
          </a:xfrm>
          <a:prstGeom prst="rect">
            <a:avLst/>
          </a:prstGeom>
          <a:noFill/>
        </p:spPr>
        <p:txBody>
          <a:bodyPr wrap="square" lIns="0" rIns="0" tIns="0" bIns="0" anchor="t">
            <a:spAutoFit/>
          </a:bodyPr>
          <a:lstStyle/>
          <a:p>
            <a:pPr algn="l">
              <a:spcAft>
                <a:spcPts val="500"/>
              </a:spcAft>
            </a:pPr>
            <a:r>
              <a:rPr sz="1100" b="0" i="0">
                <a:solidFill>
                  <a:srgbClr val="222222"/>
                </a:solidFill>
                <a:latin typeface="Calibri"/>
                <a:ea typeface="Calibri"/>
                <a:cs typeface="Calibri"/>
              </a:rPr>
              <a:t>[1] M. Mlodawski, S. Deniziak, M. Plaza, A. Kwiatkowska, D. Jaszczyk, A. Gajda and K. Twardowski, "Multidimensional analysis of the diagnostic performance of machine learning models in disease classification: implications for clinical decision support systems," IEEE Access, vol. 14, pp. 92149-92177, 2026, doi: 10.1109/ACCESS.2026.3703248.</a:t>
            </a:r>
          </a:p>
          <a:p>
            <a:pPr algn="l">
              <a:spcAft>
                <a:spcPts val="500"/>
              </a:spcAft>
            </a:pPr>
            <a:r>
              <a:rPr sz="1100" b="0" i="0">
                <a:solidFill>
                  <a:srgbClr val="222222"/>
                </a:solidFill>
                <a:latin typeface="Calibri"/>
                <a:ea typeface="Calibri"/>
                <a:cs typeface="Calibri"/>
              </a:rPr>
              <a:t>[6] H. Cheng, C. Yu, Y. Shi, C. Wang, C. Liu and Z. Jin, "Collaborative medical triage under uncertainty: a multi-agent dynamic matching approach," arXiv:2507.22504, Jul. 2025.</a:t>
            </a:r>
          </a:p>
          <a:p>
            <a:pPr algn="l">
              <a:spcAft>
                <a:spcPts val="500"/>
              </a:spcAft>
            </a:pPr>
            <a:r>
              <a:rPr sz="1100" b="0" i="0">
                <a:solidFill>
                  <a:srgbClr val="222222"/>
                </a:solidFill>
                <a:latin typeface="Calibri"/>
                <a:ea typeface="Calibri"/>
                <a:cs typeface="Calibri"/>
              </a:rPr>
              <a:t>[8] M. Fernandes, S. M. Vieira, F. Leite, C. Palos, S. Finkelstein and J. M. C. Sousa, "Clinical decision support systems for triage in the emergency department using intelligent systems: a review," Artif. Intell. Med., vol. 102, Art. no. 101762, Jan. 2020, doi: 10.1016/j.artmed.2019.101762.</a:t>
            </a:r>
          </a:p>
          <a:p>
            <a:pPr algn="l">
              <a:spcAft>
                <a:spcPts val="500"/>
              </a:spcAft>
            </a:pPr>
            <a:r>
              <a:rPr sz="1100" b="0" i="0">
                <a:solidFill>
                  <a:srgbClr val="222222"/>
                </a:solidFill>
                <a:latin typeface="Calibri"/>
                <a:ea typeface="Calibri"/>
                <a:cs typeface="Calibri"/>
              </a:rPr>
              <a:t>[9] J. S. Hinson, D. A. Martinez, S. Cabral et al., "Triage performance in emergency medicine: a systematic review," Ann. Emerg. Med., vol. 74, no. 1, pp. 140-152, Jul. 2019, doi: 10.1016/j.annemergmed.2018.09.022.</a:t>
            </a:r>
          </a:p>
          <a:p>
            <a:pPr algn="l">
              <a:spcAft>
                <a:spcPts val="500"/>
              </a:spcAft>
            </a:pPr>
            <a:r>
              <a:rPr sz="1100" b="0" i="0">
                <a:solidFill>
                  <a:srgbClr val="222222"/>
                </a:solidFill>
                <a:latin typeface="Calibri"/>
                <a:ea typeface="Calibri"/>
                <a:cs typeface="Calibri"/>
              </a:rPr>
              <a:t>[10] W. S. Hong, A. D. Haimovich and R. A. Taylor, "Predicting hospital admission at emergency department triage using machine learning," PLoS ONE, vol. 13, no. 7, Art. no. e0201016, Jul. 2018, doi: 10.1371/journal.pone.0201016.</a:t>
            </a:r>
          </a:p>
          <a:p>
            <a:pPr algn="l">
              <a:spcAft>
                <a:spcPts val="500"/>
              </a:spcAft>
            </a:pPr>
            <a:r>
              <a:rPr sz="1100" b="0" i="0">
                <a:solidFill>
                  <a:srgbClr val="222222"/>
                </a:solidFill>
                <a:latin typeface="Calibri"/>
                <a:ea typeface="Calibri"/>
                <a:cs typeface="Calibri"/>
              </a:rPr>
              <a:t>[11] S. Levin et al., "Machine-learning-based electronic triage more accurately differentiates patients with respect to clinical outcomes compared with the Emergency Severity Index," Ann. Emerg. Med., vol. 71, no. 5, pp. 565-574, May 2018, doi: 10.1016/j.annemergmed.2017.08.005.</a:t>
            </a:r>
          </a:p>
          <a:p>
            <a:pPr algn="l">
              <a:spcAft>
                <a:spcPts val="500"/>
              </a:spcAft>
            </a:pPr>
            <a:r>
              <a:rPr sz="1100" b="0" i="0">
                <a:solidFill>
                  <a:srgbClr val="222222"/>
                </a:solidFill>
                <a:latin typeface="Calibri"/>
                <a:ea typeface="Calibri"/>
                <a:cs typeface="Calibri"/>
              </a:rPr>
              <a:t>[12] Y. Raita et al., "Emergency department triage prediction of clinical outcomes using machine learning models," Crit. Care, vol. 23, Art. no. 64, Feb. 2019, doi: 10.1186/s13054-019-2351-7.</a:t>
            </a:r>
          </a:p>
        </p:txBody>
      </p:sp>
      <p:sp>
        <p:nvSpPr>
          <p:cNvPr id="8" name="TextBox 7"/>
          <p:cNvSpPr txBox="1"/>
          <p:nvPr/>
        </p:nvSpPr>
        <p:spPr>
          <a:xfrm>
            <a:off x="6217920" y="1600200"/>
            <a:ext cx="5486400" cy="4754880"/>
          </a:xfrm>
          <a:prstGeom prst="rect">
            <a:avLst/>
          </a:prstGeom>
          <a:noFill/>
        </p:spPr>
        <p:txBody>
          <a:bodyPr wrap="square" lIns="0" rIns="0" tIns="0" bIns="0" anchor="t">
            <a:spAutoFit/>
          </a:bodyPr>
          <a:lstStyle/>
          <a:p>
            <a:pPr algn="l">
              <a:spcAft>
                <a:spcPts val="500"/>
              </a:spcAft>
            </a:pPr>
            <a:r>
              <a:rPr sz="1100" b="0" i="0">
                <a:solidFill>
                  <a:srgbClr val="222222"/>
                </a:solidFill>
                <a:latin typeface="Calibri"/>
                <a:ea typeface="Calibri"/>
                <a:cs typeface="Calibri"/>
              </a:rPr>
              <a:t>[13] F. Xie et al., "Benchmarking emergency department prediction models with machine learning and public electronic health records," Sci. Data, vol. 9, Art. no. 658, Oct. 2022, doi: 10.1038/s41597-022-01782-9.</a:t>
            </a:r>
          </a:p>
          <a:p>
            <a:pPr algn="l">
              <a:spcAft>
                <a:spcPts val="500"/>
              </a:spcAft>
            </a:pPr>
            <a:r>
              <a:rPr sz="1100" b="0" i="0">
                <a:solidFill>
                  <a:srgbClr val="222222"/>
                </a:solidFill>
                <a:latin typeface="Calibri"/>
                <a:ea typeface="Calibri"/>
                <a:cs typeface="Calibri"/>
              </a:rPr>
              <a:t>[14] N. Gilboy, P. Tanabe, D. Travers and A. M. Rosenau, Emergency Severity Index (ESI): A Triage Tool for Emergency Department Care, Version 4, Implementation Handbook 2012 Edition, AHRQ Pub. no. 12-0014. Rockville, MD, USA: Agency for Healthcare Research and Quality, 2011.</a:t>
            </a:r>
          </a:p>
          <a:p>
            <a:pPr algn="l">
              <a:spcAft>
                <a:spcPts val="500"/>
              </a:spcAft>
            </a:pPr>
            <a:r>
              <a:rPr sz="1100" b="0" i="0">
                <a:solidFill>
                  <a:srgbClr val="222222"/>
                </a:solidFill>
                <a:latin typeface="Calibri"/>
                <a:ea typeface="Calibri"/>
                <a:cs typeface="Calibri"/>
              </a:rPr>
              <a:t>[15] T. Chen and C. Guestrin, "XGBoost: a scalable tree boosting system," in Proc. 22nd ACM SIGKDD Int. Conf. Knowl. Discovery Data Mining, San Francisco, CA, USA, 2016, pp. 785-794, doi: 10.1145/2939672.2939785.</a:t>
            </a:r>
          </a:p>
          <a:p>
            <a:pPr algn="l">
              <a:spcAft>
                <a:spcPts val="500"/>
              </a:spcAft>
            </a:pPr>
            <a:r>
              <a:rPr sz="1100" b="0" i="0">
                <a:solidFill>
                  <a:srgbClr val="222222"/>
                </a:solidFill>
                <a:latin typeface="Calibri"/>
                <a:ea typeface="Calibri"/>
                <a:cs typeface="Calibri"/>
              </a:rPr>
              <a:t>[16] S. M. Lundberg and S.-I. Lee, "A unified approach to interpreting model predictions," in Proc. Adv. Neural Inf. Process. Syst. (NeurIPS), vol. 30, 2017, pp. 4765-4774, arXiv:1705.07874.</a:t>
            </a:r>
          </a:p>
          <a:p>
            <a:pPr algn="l">
              <a:spcAft>
                <a:spcPts val="500"/>
              </a:spcAft>
            </a:pPr>
            <a:r>
              <a:rPr sz="1100" b="0" i="0">
                <a:solidFill>
                  <a:srgbClr val="222222"/>
                </a:solidFill>
                <a:latin typeface="Calibri"/>
                <a:ea typeface="Calibri"/>
                <a:cs typeface="Calibri"/>
              </a:rPr>
              <a:t>[17] S. M. Lundberg et al., "From local explanations to global understanding with explainable AI for trees," Nat. Mach. Intell., vol. 2, no. 1, pp. 56-67, Jan. 2020, doi: 10.1038/s42256-019-0138-9.</a:t>
            </a:r>
          </a:p>
          <a:p>
            <a:pPr algn="l">
              <a:spcAft>
                <a:spcPts val="500"/>
              </a:spcAft>
            </a:pPr>
            <a:r>
              <a:rPr sz="1100" b="0" i="0">
                <a:solidFill>
                  <a:srgbClr val="222222"/>
                </a:solidFill>
                <a:latin typeface="Calibri"/>
                <a:ea typeface="Calibri"/>
                <a:cs typeface="Calibri"/>
              </a:rPr>
              <a:t>[18] B. Zadrozny and C. Elkan, "Transforming classifier scores into accurate multiclass probability estimates," in Proc. 8th ACM SIGKDD Int. Conf. Knowl. Discovery Data Mining, Edmonton, AB, Canada, 2002, pp. 694-699, doi: 10.1145/775047.775151.</a:t>
            </a:r>
          </a:p>
          <a:p>
            <a:pPr algn="l">
              <a:spcAft>
                <a:spcPts val="500"/>
              </a:spcAft>
            </a:pPr>
            <a:r>
              <a:rPr sz="1100" b="0" i="0">
                <a:solidFill>
                  <a:srgbClr val="222222"/>
                </a:solidFill>
                <a:latin typeface="Calibri"/>
                <a:ea typeface="Calibri"/>
                <a:cs typeface="Calibri"/>
              </a:rPr>
              <a:t>[3] "The effects of patient triage management strategies on clinical outcomes and risk management in emergency departments: a prospective comparative study," Anatolian Curr. Med. J., vol. 7, no. 1, Jan. 2025.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2743200"/>
            <a:ext cx="11247120" cy="914400"/>
          </a:xfrm>
          <a:prstGeom prst="rect">
            <a:avLst/>
          </a:prstGeom>
          <a:noFill/>
          <a:ln/>
        </p:spPr>
        <p:txBody>
          <a:bodyPr wrap="square" rtlCol="0" anchor="ctr"/>
          <a:lstStyle/>
          <a:p>
            <a:pPr algn="ctr" indent="0" marL="0">
              <a:buNone/>
            </a:pPr>
            <a:r>
              <a:rPr lang="en-US" sz="4800" b="1" dirty="0">
                <a:solidFill>
                  <a:srgbClr val="1F3864"/>
                </a:solidFill>
                <a:latin typeface="Calibri" pitchFamily="34" charset="0"/>
                <a:ea typeface="Calibri" pitchFamily="34" charset="-122"/>
                <a:cs typeface="Calibri" pitchFamily="34" charset="-120"/>
              </a:rPr>
              <a:t>THANK YOU</a:t>
            </a:r>
            <a:endParaRPr lang="en-US" sz="4800" dirty="0"/>
          </a:p>
        </p:txBody>
      </p:sp>
      <p:sp>
        <p:nvSpPr>
          <p:cNvPr id="5" name="Text 2"/>
          <p:cNvSpPr/>
          <p:nvPr/>
        </p:nvSpPr>
        <p:spPr>
          <a:xfrm>
            <a:off x="457200" y="3657600"/>
            <a:ext cx="11247120" cy="548640"/>
          </a:xfrm>
          <a:prstGeom prst="rect">
            <a:avLst/>
          </a:prstGeom>
          <a:noFill/>
          <a:ln/>
        </p:spPr>
        <p:txBody>
          <a:bodyPr wrap="square" rtlCol="0" anchor="ctr"/>
          <a:lstStyle/>
          <a:p>
            <a:pPr algn="ctr" indent="0" marL="0">
              <a:buNone/>
            </a:pPr>
            <a:r>
              <a:rPr lang="en-US" sz="2200" dirty="0">
                <a:solidFill>
                  <a:srgbClr val="2E75B6"/>
                </a:solidFill>
                <a:latin typeface="Calibri" pitchFamily="34" charset="0"/>
                <a:ea typeface="Calibri" pitchFamily="34" charset="-122"/>
                <a:cs typeface="Calibri" pitchFamily="34" charset="-120"/>
              </a:rPr>
              <a:t>Questions &amp; Suggestions</a:t>
            </a:r>
            <a:endParaRPr lang="en-US" sz="2200" dirty="0"/>
          </a:p>
        </p:txBody>
      </p:sp>
      <p:sp>
        <p:nvSpPr>
          <p:cNvPr id="6" name="Text 3"/>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A7  |  Final Review</a:t>
            </a:r>
            <a:endParaRPr lang="en-US" sz="1000" dirty="0"/>
          </a:p>
        </p:txBody>
      </p:sp>
      <p:sp>
        <p:nvSpPr>
          <p:cNvPr id="7" name="Text 4"/>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theme/theme1.xml><?xml version="1.0" encoding="utf-8"?>
<a:theme xmlns:a="http://schemas.openxmlformats.org/drawingml/2006/main" name="ATHENA">
  <a:themeElements>
    <a:clrScheme name="ATHENA">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THEN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ATHEN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ATHENA - Autonomous Triage and Healthcare Electronic Neural Assistant - Final Review</dc:title>
  <dc:subject>ATHENA</dc:subject>
  <dc:creator>Batch A7, Dept. of CSE, TKRCET</dc:creator>
  <cp:lastModifiedBy>Batch A7, Dept. of CSE, TKRCET</cp:lastModifiedBy>
  <cp:revision>1</cp:revision>
  <dcterms:created xsi:type="dcterms:W3CDTF">2026-10-07T05:03:03Z</dcterms:created>
  <dcterms:modified xsi:type="dcterms:W3CDTF">2026-10-07T05:03:03Z</dcterms:modified>
  <dc:description/>
  <cp:keywords>emergency triage, OCR, XGBoost, SHAP, calibration, clinical decision support</cp:keywords>
</cp:coreProperties>
</file>