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f0aec94-eb0f-294a-de05-1614c3997827}">
          <p14:sldIdLst>
            <p14:sldId id="256"/>
            <p14:sldId id="257"/>
            <p14:sldId id="258"/>
          </p14:sldIdLst>
        </p14:section>
        <p14:section name="Research" id="{c5b655bf-1c78-45d9-2d43-c8947840fc05}">
          <p14:sldIdLst>
            <p14:sldId id="259"/>
            <p14:sldId id="260"/>
            <p14:sldId id="261"/>
          </p14:sldIdLst>
        </p14:section>
        <p14:section name="Problem" id="{c83c02f1-f6cc-56f3-d67e-57d82ce85a28}">
          <p14:sldIdLst>
            <p14:sldId id="262"/>
            <p14:sldId id="263"/>
            <p14:sldId id="264"/>
            <p14:sldId id="265"/>
            <p14:sldId id="266"/>
          </p14:sldIdLst>
        </p14:section>
        <p14:section name="Proposed solution" id="{0d7ed7fb-f0c3-288f-402c-2a68d644f815}">
          <p14:sldIdLst>
            <p14:sldId id="267"/>
            <p14:sldId id="268"/>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Accuracy</c:v>
                </c:pt>
              </c:strCache>
            </c:strRef>
          </c:tx>
          <c:spPr>
            <a:solidFill>
              <a:srgbClr val="2A78D6"/>
            </a:solidFill>
          </c:spPr>
          <c:dPt>
            <c:idx val="2"/>
            <c:spPr>
              <a:solidFill>
                <a:srgbClr val="EB6834"/>
              </a:solidFill>
            </c:spPr>
          </c:dPt>
          <c:cat>
            <c:strRef>
              <c:f>Sheet1!$A$2:$A$4</c:f>
              <c:strCache>
                <c:ptCount val="3"/>
                <c:pt idx="0">
                  <c:v>Vitals only
(8 inputs)</c:v>
                </c:pt>
                <c:pt idx="1">
                  <c:v>Report only
(28 flags)</c:v>
                </c:pt>
                <c:pt idx="2">
                  <c:v>Report + vitals
(36 inputs)</c:v>
                </c:pt>
              </c:strCache>
            </c:strRef>
          </c:cat>
          <c:val>
            <c:numRef>
              <c:f>Sheet1!$B$2:$B$4</c:f>
              <c:numCache>
                <c:formatCode>General</c:formatCode>
                <c:ptCount val="3"/>
                <c:pt idx="0">
                  <c:v>0.4058</c:v>
                </c:pt>
                <c:pt idx="1">
                  <c:v>0.6317</c:v>
                </c:pt>
                <c:pt idx="2">
                  <c:v>0.6825</c:v>
                </c:pt>
              </c:numCache>
            </c:numRef>
          </c:val>
        </c:ser>
        <c:dLbls>
          <c:numFmt formatCode="0.0%"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5DCE6"/>
            </a:solidFill>
          </a:ln>
        </c:spPr>
        <c:crossAx val="-2113994440"/>
        <c:crosses val="autoZero"/>
        <c:auto val="1"/>
        <c:lblAlgn val="ctr"/>
        <c:lblOffset val="100"/>
        <c:noMultiLvlLbl val="0"/>
      </c:catAx>
      <c:valAx>
        <c:axId val="-2113994440"/>
        <c:scaling>
          <c:max val="1.0"/>
          <c:min val="0.0"/>
        </c:scaling>
        <c:delete val="0"/>
        <c:axPos val="l"/>
        <c:majorGridlines>
          <c:spPr>
            <a:ln>
              <a:solidFill>
                <a:srgbClr val="D5DCE6"/>
              </a:solidFill>
            </a:ln>
          </c:spPr>
        </c:majorGridlines>
        <c:numFmt formatCode="0.0%" sourceLinked="0"/>
        <c:majorTickMark val="out"/>
        <c:minorTickMark val="none"/>
        <c:tickLblPos val="nextTo"/>
        <c:spPr>
          <a:ln>
            <a:noFill/>
          </a:ln>
        </c:spPr>
        <c:crossAx val="-2068027336"/>
        <c:crosses val="autoZero"/>
      </c:valAx>
    </c:plotArea>
    <c:dispBlanksAs val="gap"/>
  </c:chart>
  <c:txPr>
    <a:bodyPr/>
    <a:lstStyle/>
    <a:p>
      <a:pPr>
        <a:defRPr sz="12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the team and the title. One sentence: ATHENA reads a scanned clinical report together with the patient's vitals, assigns an emergency triage priority from 1 to 5 with a calibrated confidence, and shows which findings drove the decision so that the clinician can accept or change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Agenda. This review is about why the problem matters and what is missing in current work; design details and measured results come in the later reviews.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points: why triage is hard, the idea of fusing report and vitals with an explanation, and what is delivered. Everything runs locally without a GPU or an API key.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the citation. The paper compares 19 classifiers on 1,655 real cases and formalises uncertainty with TOP-1 and TOP-3. It reads only typed symptom indicators and says nothing about scanned reports, vitals fusion or processing time. Its numbers are for diagnosis, ours will be for triage priority, so they are never compared directly.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survey covers the base paper, reviews and large retrospective studies of machine-learning triage, a companion multi-agent paper, and two process studies from the batch list. Figures are quoted only where they were read from the paper or its record. Two further batch entries (an obstetric triage article, which could not be located, and an equine veterinary chapter) are listed in the report but not used as evidence.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early evidence from our own prototype, shown because it frames the problem: the scanned report carries information that vitals alone do not. The 68% figure is on a seeded synthetic dataset and must not be read as clinical performance. The literature points come from the cited papers.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Today triage is manual and subjective. Machine-learning models exist but they use structured fields only; the scanned report stays outside the model.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limitations from the survey and the batch problem statement. Each maps to a design choice: read the report, fuse it with vitals, give calibrated confidence and reasons, and keep the clinician in charge.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batch survey states the gap as: the surveyed models are evaluated on single-modality structured data, and nothing fuses OCR, clinical text and vitals while exposing the reasoning. The other points come from reading the survey papers: the target is rarely a five-level priority, and calibrated confidence, a clinician override record and processing time are seldom reported.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the statement slowly. The need is a multi-source triage assistant that reads scanned reports, assigns an explainable risk level and supports rather than replaces the clinician.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six objectives from the proposal. Later reviews report which were met. Objective 2 (a medical language model) is only partly met by a rule-based lexicon, and objective 6 can be checked only against a synthetic recorded priority; both are stated openly.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stages. Reading, fusing, deciding, reviewing. The reader and the model run locally. The design keeps the clinician as the final decision maker, which is why the override and its reason are stored.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Follow the diagram top to bottom: the console calls the API, the API calls four services, and the services use a model file and a small database.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the outcomes we commit to; they are targets at this stage. Review 2 and the final review report what was actually measured, including what could not be.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Selected references; the complete numbered list, including the two survey entries that could not be verified, is in the project report.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Likely questions: why not BioBERT or an LLM (offline, no key, auditable lexicon; stated as a gap); why synthetic data (no real triage records available, results reported as such); what the clinician still does (accepts or changes every priority).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137160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2880360"/>
            <a:ext cx="11094415" cy="82296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ATHENA  ·  Review 1</a:t>
            </a:r>
            <a:endParaRPr lang="en-US" sz="1000" dirty="0"/>
          </a:p>
        </p:txBody>
      </p:sp>
      <p:sp>
        <p:nvSpPr>
          <p:cNvPr id="3" name="Text 1"/>
          <p:cNvSpPr/>
          <p:nvPr>
            <p:ph idx="101" type="title" hasCustomPrompt="1"/>
          </p:nvPr>
        </p:nvSpPr>
        <p:spPr>
          <a:xfrm>
            <a:off x="548640" y="320040"/>
            <a:ext cx="11094415" cy="777240"/>
          </a:xfrm>
          <a:prstGeom prst="rect">
            <a:avLst/>
          </a:prstGeom>
          <a:noFill/>
          <a:ln/>
        </p:spPr>
        <p:txBody>
          <a:bodyPr wrap="square" rtlCol="0"/>
          <a:lstStyle>
            <a:lvl1pPr algn="l" indent="0" marL="0">
              <a:buNone/>
              <a:defRPr lang="en-US" sz="3200" b="1" dirty="0">
                <a:solidFill>
                  <a:srgbClr val="1B2A4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94415" cy="118872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3474720"/>
            <a:ext cx="11094415" cy="146304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6" Type="http://schemas.openxmlformats.org/officeDocument/2006/relationships/slideLayout" Target="../slideLayouts/slideLayout3.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7" Type="http://schemas.openxmlformats.org/officeDocument/2006/relationships/slideLayout" Target="../slideLayouts/slideLayout3.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1371600"/>
          </a:xfrm>
          <a:prstGeom prst="rect">
            <a:avLst/>
          </a:prstGeom>
          <a:noFill/>
          <a:ln/>
        </p:spPr>
        <p:txBody>
          <a:bodyPr wrap="square" lIns="0" tIns="0" rIns="0" bIns="0" rtlCol="0" anchor="b"/>
          <a:lstStyle/>
          <a:p>
            <a:pPr algn="l" indent="0" marL="0">
              <a:buNone/>
            </a:pPr>
            <a:r>
              <a:rPr lang="en-US" sz="3000" b="1" dirty="0">
                <a:solidFill>
                  <a:srgbClr val="FFFFFF"/>
                </a:solidFill>
                <a:latin typeface="Cambria" pitchFamily="34" charset="0"/>
                <a:ea typeface="Cambria" pitchFamily="34" charset="-122"/>
                <a:cs typeface="Cambria" pitchFamily="34" charset="-120"/>
              </a:rPr>
              <a:t>ATHENA - Autonomous Triage and Healthcare Electronic Neural Assistant</a:t>
            </a:r>
            <a:endParaRPr lang="en-US" sz="4000" dirty="0"/>
          </a:p>
        </p:txBody>
      </p:sp>
      <p:sp>
        <p:nvSpPr>
          <p:cNvPr id="3" name="Text 0"/>
          <p:cNvSpPr/>
          <p:nvPr>
            <p:ph idx="101" type="body" hasCustomPrompt="1"/>
          </p:nvPr>
        </p:nvSpPr>
        <p:spPr>
          <a:xfrm>
            <a:off x="548640" y="2880360"/>
            <a:ext cx="11094415" cy="822960"/>
          </a:xfrm>
          <a:prstGeom prst="rect">
            <a:avLst/>
          </a:prstGeom>
          <a:noFill/>
          <a:ln/>
        </p:spPr>
        <p:txBody>
          <a:bodyPr wrap="square" lIns="0" tIns="0" rIns="0" bIns="0" rtlCol="0" anchor="t"/>
          <a:lstStyle/>
          <a:p>
            <a:pPr algn="l" indent="0" marL="0">
              <a:buNone/>
            </a:pPr>
            <a:r>
              <a:rPr lang="en-US" sz="2000" dirty="0">
                <a:solidFill>
                  <a:srgbClr val="CADCFC"/>
                </a:solidFill>
                <a:latin typeface="Calibri" pitchFamily="34" charset="0"/>
                <a:ea typeface="Calibri" pitchFamily="34" charset="-122"/>
                <a:cs typeface="Calibri" pitchFamily="34" charset="-120"/>
              </a:rPr>
              <a:t>Fusing scanned reports and vitals into an explainable emergency triage priority</a:t>
            </a:r>
            <a:endParaRPr lang="en-US" sz="2000" dirty="0"/>
          </a:p>
        </p:txBody>
      </p:sp>
      <p:sp>
        <p:nvSpPr>
          <p:cNvPr id="4" name="review label"/>
          <p:cNvSpPr txBox="1"/>
          <p:nvPr/>
        </p:nvSpPr>
        <p:spPr>
          <a:xfrm>
            <a:off x="548640" y="640080"/>
            <a:ext cx="7315200" cy="365760"/>
          </a:xfrm>
          <a:prstGeom prst="rect">
            <a:avLst/>
          </a:prstGeom>
          <a:noFill/>
          <a:ln/>
        </p:spPr>
        <p:txBody>
          <a:bodyPr wrap="square" lIns="0" tIns="0" rIns="0" bIns="0" rtlCol="0" anchor="ctr"/>
          <a:lstStyle/>
          <a:p>
            <a:pPr indent="0" marL="0">
              <a:buNone/>
            </a:pPr>
            <a:r>
              <a:rPr lang="en-US" sz="1400" b="1" spc="200" kern="0" dirty="0">
                <a:solidFill>
                  <a:srgbClr val="EDA100"/>
                </a:solidFill>
              </a:rPr>
              <a:t>REVIEW 1  ·  PROBLEM IDENTIFICATION AND RESEARCH</a:t>
            </a:r>
            <a:endParaRPr lang="en-US" sz="1400" dirty="0"/>
          </a:p>
        </p:txBody>
      </p:sp>
      <p:sp>
        <p:nvSpPr>
          <p:cNvPr id="5" name="Text 3"/>
          <p:cNvSpPr txBox="1"/>
          <p:nvPr/>
        </p:nvSpPr>
        <p:spPr>
          <a:xfrm>
            <a:off x="548640" y="4160520"/>
            <a:ext cx="5120640" cy="320040"/>
          </a:xfrm>
          <a:prstGeom prst="rect">
            <a:avLst/>
          </a:prstGeom>
          <a:noFill/>
          <a:ln/>
        </p:spPr>
        <p:txBody>
          <a:bodyPr wrap="square" lIns="0" tIns="0" rIns="0" bIns="0" rtlCol="0" anchor="ctr"/>
          <a:lstStyle/>
          <a:p>
            <a:pPr indent="0" marL="0">
              <a:buNone/>
            </a:pPr>
            <a:r>
              <a:rPr lang="en-US" sz="1400" dirty="0">
                <a:solidFill>
                  <a:srgbClr val="CADCFC"/>
                </a:solidFill>
              </a:rPr>
              <a:t>Presented by</a:t>
            </a:r>
            <a:endParaRPr lang="en-US" sz="1400" dirty="0"/>
          </a:p>
        </p:txBody>
      </p:sp>
      <p:sp>
        <p:nvSpPr>
          <p:cNvPr id="6" name="team"/>
          <p:cNvSpPr txBox="1"/>
          <p:nvPr/>
        </p:nvSpPr>
        <p:spPr>
          <a:xfrm>
            <a:off x="548640" y="4480560"/>
            <a:ext cx="5120640" cy="1280160"/>
          </a:xfrm>
          <a:prstGeom prst="rect">
            <a:avLst/>
          </a:prstGeom>
          <a:noFill/>
          <a:ln/>
        </p:spPr>
        <p:txBody>
          <a:bodyPr wrap="square" lIns="0" tIns="0" rIns="0" bIns="0" rtlCol="0" anchor="t"/>
          <a:lstStyle/>
          <a:p>
            <a:pPr indent="0" marL="0">
              <a:buNone/>
            </a:pPr>
            <a:r>
              <a:rPr lang="en-US" sz="1500" dirty="0">
                <a:solidFill>
                  <a:srgbClr val="FFFFFF"/>
                </a:solidFill>
              </a:rPr>
              <a:t>Badaveni Srinath  23K91A0523</a:t>
            </a:r>
            <a:endParaRPr lang="en-US" sz="1500" dirty="0"/>
          </a:p>
          <a:p>
            <a:pPr indent="0" marL="0">
              <a:buNone/>
            </a:pPr>
            <a:r>
              <a:rPr lang="en-US" sz="1500" dirty="0">
                <a:solidFill>
                  <a:srgbClr val="FFFFFF"/>
                </a:solidFill>
              </a:rPr>
              <a:t>Basani Avinash  23K91A0532</a:t>
            </a:r>
            <a:endParaRPr lang="en-US" sz="1500" dirty="0"/>
          </a:p>
          <a:p>
            <a:pPr indent="0" marL="0">
              <a:buNone/>
            </a:pPr>
            <a:r>
              <a:rPr lang="en-US" sz="1500" dirty="0">
                <a:solidFill>
                  <a:srgbClr val="FFFFFF"/>
                </a:solidFill>
              </a:rPr>
              <a:t>Degala Praneeth  23K91A0561</a:t>
            </a:r>
            <a:endParaRPr lang="en-US" sz="1500" dirty="0"/>
          </a:p>
          <a:p>
            <a:pPr indent="0" marL="0">
              <a:buNone/>
            </a:pPr>
            <a:r>
              <a:rPr lang="en-US" sz="1500" dirty="0">
                <a:solidFill>
                  <a:srgbClr val="FFFFFF"/>
                </a:solidFill>
              </a:rPr>
              <a:t>Bontha Saisree  23K91A0545</a:t>
            </a:r>
            <a:endParaRPr lang="en-US" sz="1500" dirty="0"/>
          </a:p>
        </p:txBody>
      </p:sp>
      <p:sp>
        <p:nvSpPr>
          <p:cNvPr id="7" name="Text 5"/>
          <p:cNvSpPr txBox="1"/>
          <p:nvPr/>
        </p:nvSpPr>
        <p:spPr>
          <a:xfrm>
            <a:off x="6400800" y="4160520"/>
            <a:ext cx="5212080" cy="320040"/>
          </a:xfrm>
          <a:prstGeom prst="rect">
            <a:avLst/>
          </a:prstGeom>
          <a:noFill/>
          <a:ln/>
        </p:spPr>
        <p:txBody>
          <a:bodyPr wrap="square" lIns="0" tIns="0" rIns="0" bIns="0" rtlCol="0" anchor="ctr"/>
          <a:lstStyle/>
          <a:p>
            <a:pPr indent="0" marL="0">
              <a:buNone/>
            </a:pPr>
            <a:r>
              <a:rPr lang="en-US" sz="1400" dirty="0">
                <a:solidFill>
                  <a:srgbClr val="CADCFC"/>
                </a:solidFill>
              </a:rPr>
              <a:t>Under the guidance of</a:t>
            </a:r>
            <a:endParaRPr lang="en-US" sz="1400" dirty="0"/>
          </a:p>
        </p:txBody>
      </p:sp>
      <p:sp>
        <p:nvSpPr>
          <p:cNvPr id="8" name="Text 6"/>
          <p:cNvSpPr txBox="1"/>
          <p:nvPr/>
        </p:nvSpPr>
        <p:spPr>
          <a:xfrm>
            <a:off x="6400800" y="4480560"/>
            <a:ext cx="5212080" cy="365760"/>
          </a:xfrm>
          <a:prstGeom prst="rect">
            <a:avLst/>
          </a:prstGeom>
          <a:noFill/>
          <a:ln/>
        </p:spPr>
        <p:txBody>
          <a:bodyPr wrap="square" lIns="0" tIns="0" rIns="0" bIns="0" rtlCol="0" anchor="ctr"/>
          <a:lstStyle/>
          <a:p>
            <a:pPr indent="0" marL="0">
              <a:buNone/>
            </a:pPr>
            <a:r>
              <a:rPr lang="en-US" sz="1500" dirty="0">
                <a:solidFill>
                  <a:srgbClr val="FFFFFF"/>
                </a:solidFill>
              </a:rPr>
              <a:t>Guide: K. Shalini, [DESIGNATION]</a:t>
            </a:r>
            <a:endParaRPr lang="en-US" sz="1500" dirty="0"/>
          </a:p>
        </p:txBody>
      </p:sp>
      <p:sp>
        <p:nvSpPr>
          <p:cNvPr id="9" name="Text 7"/>
          <p:cNvSpPr txBox="1"/>
          <p:nvPr/>
        </p:nvSpPr>
        <p:spPr>
          <a:xfrm>
            <a:off x="6400800" y="4983480"/>
            <a:ext cx="5212080" cy="777240"/>
          </a:xfrm>
          <a:prstGeom prst="rect">
            <a:avLst/>
          </a:prstGeom>
          <a:noFill/>
          <a:ln/>
        </p:spPr>
        <p:txBody>
          <a:bodyPr wrap="square" lIns="0" tIns="0" rIns="0" bIns="0" rtlCol="0" anchor="t"/>
          <a:lstStyle/>
          <a:p>
            <a:pPr indent="0" marL="0">
              <a:buNone/>
            </a:pPr>
            <a:r>
              <a:rPr lang="en-US" sz="1300" dirty="0">
                <a:solidFill>
                  <a:srgbClr val="CADCFC"/>
                </a:solidFill>
              </a:rPr>
              <a:t>Department of Computer Science and Engineering</a:t>
            </a:r>
            <a:endParaRPr lang="en-US" sz="1300" dirty="0"/>
          </a:p>
          <a:p>
            <a:pPr indent="0" marL="0">
              <a:buNone/>
            </a:pPr>
            <a:r>
              <a:rPr lang="en-US" sz="1300" dirty="0">
                <a:solidFill>
                  <a:srgbClr val="CADCFC"/>
                </a:solidFill>
              </a:rPr>
              <a:t>TKR College of Engineering &amp; Technology  ·  Batch A7 (CSE-A)  ·  [ACADEMIC YEAR]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Contents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2</a:t>
            </a:fld>
            <a:endParaRPr lang="en-US"/>
          </a:p>
        </p:txBody>
      </p:sp>
      <p:sp>
        <p:nvSpPr>
          <p:cNvPr id="26" name="Rounded Rectangle 25"/>
          <p:cNvSpPr/>
          <p:nvPr/>
        </p:nvSpPr>
        <p:spPr>
          <a:xfrm>
            <a:off x="548640"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77240" y="15453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01</a:t>
            </a:r>
          </a:p>
        </p:txBody>
      </p:sp>
      <p:sp>
        <p:nvSpPr>
          <p:cNvPr id="28" name="TextBox 27"/>
          <p:cNvSpPr txBox="1"/>
          <p:nvPr/>
        </p:nvSpPr>
        <p:spPr>
          <a:xfrm>
            <a:off x="777240"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Abstract and overview</a:t>
            </a:r>
          </a:p>
        </p:txBody>
      </p:sp>
      <p:sp>
        <p:nvSpPr>
          <p:cNvPr id="29" name="Rounded Rectangle 28"/>
          <p:cNvSpPr/>
          <p:nvPr/>
        </p:nvSpPr>
        <p:spPr>
          <a:xfrm>
            <a:off x="4334255"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4562855" y="1545336"/>
            <a:ext cx="914400" cy="457200"/>
          </a:xfrm>
          <a:prstGeom prst="rect">
            <a:avLst/>
          </a:prstGeom>
          <a:noFill/>
        </p:spPr>
        <p:txBody>
          <a:bodyPr wrap="square" lIns="0" rIns="0" tIns="0" bIns="0" anchor="t">
            <a:spAutoFit/>
          </a:bodyPr>
          <a:lstStyle/>
          <a:p>
            <a:pPr algn="l">
              <a:spcAft>
                <a:spcPts val="400"/>
              </a:spcAft>
            </a:pPr>
            <a:r>
              <a:rPr sz="2600" b="1" i="0">
                <a:solidFill>
                  <a:srgbClr val="2A78D6"/>
                </a:solidFill>
                <a:latin typeface="Cambria"/>
                <a:ea typeface="Cambria"/>
                <a:cs typeface="Cambria"/>
              </a:rPr>
              <a:t>02</a:t>
            </a:r>
          </a:p>
        </p:txBody>
      </p:sp>
      <p:sp>
        <p:nvSpPr>
          <p:cNvPr id="31" name="TextBox 30"/>
          <p:cNvSpPr txBox="1"/>
          <p:nvPr/>
        </p:nvSpPr>
        <p:spPr>
          <a:xfrm>
            <a:off x="4562855"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Base paper</a:t>
            </a:r>
          </a:p>
        </p:txBody>
      </p:sp>
      <p:sp>
        <p:nvSpPr>
          <p:cNvPr id="32" name="Rounded Rectangle 31"/>
          <p:cNvSpPr/>
          <p:nvPr/>
        </p:nvSpPr>
        <p:spPr>
          <a:xfrm>
            <a:off x="8119871"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348471" y="1545336"/>
            <a:ext cx="914400" cy="457200"/>
          </a:xfrm>
          <a:prstGeom prst="rect">
            <a:avLst/>
          </a:prstGeom>
          <a:noFill/>
        </p:spPr>
        <p:txBody>
          <a:bodyPr wrap="square" lIns="0" rIns="0" tIns="0" bIns="0" anchor="t">
            <a:spAutoFit/>
          </a:bodyPr>
          <a:lstStyle/>
          <a:p>
            <a:pPr algn="l">
              <a:spcAft>
                <a:spcPts val="400"/>
              </a:spcAft>
            </a:pPr>
            <a:r>
              <a:rPr sz="2600" b="1" i="0">
                <a:solidFill>
                  <a:srgbClr val="1BAF7A"/>
                </a:solidFill>
                <a:latin typeface="Cambria"/>
                <a:ea typeface="Cambria"/>
                <a:cs typeface="Cambria"/>
              </a:rPr>
              <a:t>03</a:t>
            </a:r>
          </a:p>
        </p:txBody>
      </p:sp>
      <p:sp>
        <p:nvSpPr>
          <p:cNvPr id="34" name="TextBox 33"/>
          <p:cNvSpPr txBox="1"/>
          <p:nvPr/>
        </p:nvSpPr>
        <p:spPr>
          <a:xfrm>
            <a:off x="8348471"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Literature survey and evidence</a:t>
            </a:r>
          </a:p>
        </p:txBody>
      </p:sp>
      <p:sp>
        <p:nvSpPr>
          <p:cNvPr id="35" name="Rounded Rectangle 34"/>
          <p:cNvSpPr/>
          <p:nvPr/>
        </p:nvSpPr>
        <p:spPr>
          <a:xfrm>
            <a:off x="548640"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77240" y="3145536"/>
            <a:ext cx="914400" cy="457200"/>
          </a:xfrm>
          <a:prstGeom prst="rect">
            <a:avLst/>
          </a:prstGeom>
          <a:noFill/>
        </p:spPr>
        <p:txBody>
          <a:bodyPr wrap="square" lIns="0" rIns="0" tIns="0" bIns="0" anchor="t">
            <a:spAutoFit/>
          </a:bodyPr>
          <a:lstStyle/>
          <a:p>
            <a:pPr algn="l">
              <a:spcAft>
                <a:spcPts val="400"/>
              </a:spcAft>
            </a:pPr>
            <a:r>
              <a:rPr sz="2600" b="1" i="0">
                <a:solidFill>
                  <a:srgbClr val="6B52D6"/>
                </a:solidFill>
                <a:latin typeface="Cambria"/>
                <a:ea typeface="Cambria"/>
                <a:cs typeface="Cambria"/>
              </a:rPr>
              <a:t>04</a:t>
            </a:r>
          </a:p>
        </p:txBody>
      </p:sp>
      <p:sp>
        <p:nvSpPr>
          <p:cNvPr id="37" name="TextBox 36"/>
          <p:cNvSpPr txBox="1"/>
          <p:nvPr/>
        </p:nvSpPr>
        <p:spPr>
          <a:xfrm>
            <a:off x="777240"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Existing system and limitations</a:t>
            </a:r>
          </a:p>
        </p:txBody>
      </p:sp>
      <p:sp>
        <p:nvSpPr>
          <p:cNvPr id="38" name="Rounded Rectangle 37"/>
          <p:cNvSpPr/>
          <p:nvPr/>
        </p:nvSpPr>
        <p:spPr>
          <a:xfrm>
            <a:off x="4334255"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4562855" y="31455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05</a:t>
            </a:r>
          </a:p>
        </p:txBody>
      </p:sp>
      <p:sp>
        <p:nvSpPr>
          <p:cNvPr id="40" name="TextBox 39"/>
          <p:cNvSpPr txBox="1"/>
          <p:nvPr/>
        </p:nvSpPr>
        <p:spPr>
          <a:xfrm>
            <a:off x="4562855"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Research gap</a:t>
            </a:r>
          </a:p>
        </p:txBody>
      </p:sp>
      <p:sp>
        <p:nvSpPr>
          <p:cNvPr id="41" name="Rounded Rectangle 40"/>
          <p:cNvSpPr/>
          <p:nvPr/>
        </p:nvSpPr>
        <p:spPr>
          <a:xfrm>
            <a:off x="8119871"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8348471" y="3145536"/>
            <a:ext cx="914400" cy="457200"/>
          </a:xfrm>
          <a:prstGeom prst="rect">
            <a:avLst/>
          </a:prstGeom>
          <a:noFill/>
        </p:spPr>
        <p:txBody>
          <a:bodyPr wrap="square" lIns="0" rIns="0" tIns="0" bIns="0" anchor="t">
            <a:spAutoFit/>
          </a:bodyPr>
          <a:lstStyle/>
          <a:p>
            <a:pPr algn="l">
              <a:spcAft>
                <a:spcPts val="400"/>
              </a:spcAft>
            </a:pPr>
            <a:r>
              <a:rPr sz="2600" b="1" i="0">
                <a:solidFill>
                  <a:srgbClr val="2A78D6"/>
                </a:solidFill>
                <a:latin typeface="Cambria"/>
                <a:ea typeface="Cambria"/>
                <a:cs typeface="Cambria"/>
              </a:rPr>
              <a:t>06</a:t>
            </a:r>
          </a:p>
        </p:txBody>
      </p:sp>
      <p:sp>
        <p:nvSpPr>
          <p:cNvPr id="43" name="TextBox 42"/>
          <p:cNvSpPr txBox="1"/>
          <p:nvPr/>
        </p:nvSpPr>
        <p:spPr>
          <a:xfrm>
            <a:off x="8348471"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Problem statement and objectives</a:t>
            </a:r>
          </a:p>
        </p:txBody>
      </p:sp>
      <p:sp>
        <p:nvSpPr>
          <p:cNvPr id="44" name="Rounded Rectangle 43"/>
          <p:cNvSpPr/>
          <p:nvPr/>
        </p:nvSpPr>
        <p:spPr>
          <a:xfrm>
            <a:off x="548640"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777240" y="4745736"/>
            <a:ext cx="914400" cy="457200"/>
          </a:xfrm>
          <a:prstGeom prst="rect">
            <a:avLst/>
          </a:prstGeom>
          <a:noFill/>
        </p:spPr>
        <p:txBody>
          <a:bodyPr wrap="square" lIns="0" rIns="0" tIns="0" bIns="0" anchor="t">
            <a:spAutoFit/>
          </a:bodyPr>
          <a:lstStyle/>
          <a:p>
            <a:pPr algn="l">
              <a:spcAft>
                <a:spcPts val="400"/>
              </a:spcAft>
            </a:pPr>
            <a:r>
              <a:rPr sz="2600" b="1" i="0">
                <a:solidFill>
                  <a:srgbClr val="1BAF7A"/>
                </a:solidFill>
                <a:latin typeface="Cambria"/>
                <a:ea typeface="Cambria"/>
                <a:cs typeface="Cambria"/>
              </a:rPr>
              <a:t>07</a:t>
            </a:r>
          </a:p>
        </p:txBody>
      </p:sp>
      <p:sp>
        <p:nvSpPr>
          <p:cNvPr id="46" name="TextBox 45"/>
          <p:cNvSpPr txBox="1"/>
          <p:nvPr/>
        </p:nvSpPr>
        <p:spPr>
          <a:xfrm>
            <a:off x="777240"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Proposed approach and architecture</a:t>
            </a:r>
          </a:p>
        </p:txBody>
      </p:sp>
      <p:sp>
        <p:nvSpPr>
          <p:cNvPr id="47" name="Rounded Rectangle 46"/>
          <p:cNvSpPr/>
          <p:nvPr/>
        </p:nvSpPr>
        <p:spPr>
          <a:xfrm>
            <a:off x="4334255"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4562855" y="4745736"/>
            <a:ext cx="914400" cy="457200"/>
          </a:xfrm>
          <a:prstGeom prst="rect">
            <a:avLst/>
          </a:prstGeom>
          <a:noFill/>
        </p:spPr>
        <p:txBody>
          <a:bodyPr wrap="square" lIns="0" rIns="0" tIns="0" bIns="0" anchor="t">
            <a:spAutoFit/>
          </a:bodyPr>
          <a:lstStyle/>
          <a:p>
            <a:pPr algn="l">
              <a:spcAft>
                <a:spcPts val="400"/>
              </a:spcAft>
            </a:pPr>
            <a:r>
              <a:rPr sz="2600" b="1" i="0">
                <a:solidFill>
                  <a:srgbClr val="6B52D6"/>
                </a:solidFill>
                <a:latin typeface="Cambria"/>
                <a:ea typeface="Cambria"/>
                <a:cs typeface="Cambria"/>
              </a:rPr>
              <a:t>08</a:t>
            </a:r>
          </a:p>
        </p:txBody>
      </p:sp>
      <p:sp>
        <p:nvSpPr>
          <p:cNvPr id="49" name="TextBox 48"/>
          <p:cNvSpPr txBox="1"/>
          <p:nvPr/>
        </p:nvSpPr>
        <p:spPr>
          <a:xfrm>
            <a:off x="4562855"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Expected outcomes</a:t>
            </a:r>
          </a:p>
        </p:txBody>
      </p:sp>
      <p:sp>
        <p:nvSpPr>
          <p:cNvPr id="50" name="Rounded Rectangle 49"/>
          <p:cNvSpPr/>
          <p:nvPr/>
        </p:nvSpPr>
        <p:spPr>
          <a:xfrm>
            <a:off x="8119871"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8348471" y="47457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09</a:t>
            </a:r>
          </a:p>
        </p:txBody>
      </p:sp>
      <p:sp>
        <p:nvSpPr>
          <p:cNvPr id="52" name="TextBox 51"/>
          <p:cNvSpPr txBox="1"/>
          <p:nvPr/>
        </p:nvSpPr>
        <p:spPr>
          <a:xfrm>
            <a:off x="8348471"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References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Abstract: read the report, fuse the vitals, explain the priority</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3</a:t>
            </a:fld>
            <a:endParaRPr lang="en-US"/>
          </a:p>
        </p:txBody>
      </p:sp>
      <p:sp>
        <p:nvSpPr>
          <p:cNvPr id="26" name="Rounded Rectangle 25"/>
          <p:cNvSpPr/>
          <p:nvPr/>
        </p:nvSpPr>
        <p:spPr>
          <a:xfrm>
            <a:off x="548640" y="1371600"/>
            <a:ext cx="3520440" cy="4572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5448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a:t>
            </a:r>
          </a:p>
        </p:txBody>
      </p:sp>
      <p:sp>
        <p:nvSpPr>
          <p:cNvPr id="28" name="TextBox 27"/>
          <p:cNvSpPr txBox="1"/>
          <p:nvPr/>
        </p:nvSpPr>
        <p:spPr>
          <a:xfrm>
            <a:off x="1389888"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The problem</a:t>
            </a:r>
          </a:p>
        </p:txBody>
      </p:sp>
      <p:sp>
        <p:nvSpPr>
          <p:cNvPr id="29" name="TextBox 28"/>
          <p:cNvSpPr txBox="1"/>
          <p:nvPr/>
        </p:nvSpPr>
        <p:spPr>
          <a:xfrm>
            <a:off x="749808" y="2240280"/>
            <a:ext cx="3118104" cy="3566160"/>
          </a:xfrm>
          <a:prstGeom prst="rect">
            <a:avLst/>
          </a:prstGeom>
          <a:noFill/>
        </p:spPr>
        <p:txBody>
          <a:bodyPr wrap="square" lIns="0" rIns="0" tIns="0" bIns="0" anchor="t">
            <a:spAutoFit/>
          </a:bodyPr>
          <a:lstStyle/>
          <a:p>
            <a:pPr algn="l">
              <a:spcAft>
                <a:spcPts val="400"/>
              </a:spcAft>
            </a:pPr>
            <a:r>
              <a:rPr sz="1800" b="0" i="0">
                <a:solidFill>
                  <a:srgbClr val="475569"/>
                </a:solidFill>
              </a:rPr>
              <a:t>An emergency department must decide within minutes who is seen first. Manual triage varies with the person on duty, and models built only on typed fields cannot see what is written in a scanned report. A prediction without reasons is not accepted at the bedside.</a:t>
            </a:r>
          </a:p>
        </p:txBody>
      </p:sp>
      <p:sp>
        <p:nvSpPr>
          <p:cNvPr id="30" name="Rounded Rectangle 29"/>
          <p:cNvSpPr/>
          <p:nvPr/>
        </p:nvSpPr>
        <p:spPr>
          <a:xfrm>
            <a:off x="4334255" y="1371600"/>
            <a:ext cx="3520440" cy="4572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4535423" y="155448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i</a:t>
            </a:r>
          </a:p>
        </p:txBody>
      </p:sp>
      <p:sp>
        <p:nvSpPr>
          <p:cNvPr id="32" name="TextBox 31"/>
          <p:cNvSpPr txBox="1"/>
          <p:nvPr/>
        </p:nvSpPr>
        <p:spPr>
          <a:xfrm>
            <a:off x="5175503"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Our idea</a:t>
            </a:r>
          </a:p>
        </p:txBody>
      </p:sp>
      <p:sp>
        <p:nvSpPr>
          <p:cNvPr id="33" name="TextBox 32"/>
          <p:cNvSpPr txBox="1"/>
          <p:nvPr/>
        </p:nvSpPr>
        <p:spPr>
          <a:xfrm>
            <a:off x="4535423" y="2240280"/>
            <a:ext cx="3118104" cy="3566160"/>
          </a:xfrm>
          <a:prstGeom prst="rect">
            <a:avLst/>
          </a:prstGeom>
          <a:noFill/>
        </p:spPr>
        <p:txBody>
          <a:bodyPr wrap="square" lIns="0" rIns="0" tIns="0" bIns="0" anchor="t">
            <a:spAutoFit/>
          </a:bodyPr>
          <a:lstStyle/>
          <a:p>
            <a:pPr algn="l">
              <a:spcAft>
                <a:spcPts val="400"/>
              </a:spcAft>
            </a:pPr>
            <a:r>
              <a:rPr sz="1800" b="0" i="0">
                <a:solidFill>
                  <a:srgbClr val="475569"/>
                </a:solidFill>
              </a:rPr>
              <a:t>Read the scanned report (PDF text layer or local OCR), turn symptoms, findings, history and lab values into flags, fuse them with eight vitals, and let a calibrated gradient-boosted model assign priority 1 to 5. SHAP shows the strongest drivers for each patient.</a:t>
            </a:r>
          </a:p>
        </p:txBody>
      </p:sp>
      <p:sp>
        <p:nvSpPr>
          <p:cNvPr id="34" name="Rounded Rectangle 33"/>
          <p:cNvSpPr/>
          <p:nvPr/>
        </p:nvSpPr>
        <p:spPr>
          <a:xfrm>
            <a:off x="8119871" y="1371600"/>
            <a:ext cx="3520440" cy="4572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8321040" y="155448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a:t>
            </a:r>
          </a:p>
        </p:txBody>
      </p:sp>
      <p:sp>
        <p:nvSpPr>
          <p:cNvPr id="36" name="TextBox 35"/>
          <p:cNvSpPr txBox="1"/>
          <p:nvPr/>
        </p:nvSpPr>
        <p:spPr>
          <a:xfrm>
            <a:off x="8961119"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The deliverable</a:t>
            </a:r>
          </a:p>
        </p:txBody>
      </p:sp>
      <p:sp>
        <p:nvSpPr>
          <p:cNvPr id="37" name="TextBox 36"/>
          <p:cNvSpPr txBox="1"/>
          <p:nvPr/>
        </p:nvSpPr>
        <p:spPr>
          <a:xfrm>
            <a:off x="8321040" y="2240280"/>
            <a:ext cx="3118104" cy="3566160"/>
          </a:xfrm>
          <a:prstGeom prst="rect">
            <a:avLst/>
          </a:prstGeom>
          <a:noFill/>
        </p:spPr>
        <p:txBody>
          <a:bodyPr wrap="square" lIns="0" rIns="0" tIns="0" bIns="0" anchor="t">
            <a:spAutoFit/>
          </a:bodyPr>
          <a:lstStyle/>
          <a:p>
            <a:pPr algn="l">
              <a:spcAft>
                <a:spcPts val="400"/>
              </a:spcAft>
            </a:pPr>
            <a:r>
              <a:rPr sz="1800" b="0" i="0">
                <a:solidFill>
                  <a:srgbClr val="475569"/>
                </a:solidFill>
              </a:rPr>
              <a:t>ATHENA: a FastAPI service and a React console. The clinician uploads a report, enters vitals, sees priority, confidence and reasons, accepts or changes the priority with a reason, and watches a live queue. It supports the clinician and never replaces one.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Base paper</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4</a:t>
            </a:fld>
            <a:endParaRPr lang="en-US"/>
          </a:p>
        </p:txBody>
      </p:sp>
      <p:sp>
        <p:nvSpPr>
          <p:cNvPr id="26" name="Rounded Rectangle 25"/>
          <p:cNvSpPr/>
          <p:nvPr/>
        </p:nvSpPr>
        <p:spPr>
          <a:xfrm>
            <a:off x="548640" y="1280160"/>
            <a:ext cx="11091672" cy="10972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49808" y="1335024"/>
            <a:ext cx="10698480" cy="1005840"/>
          </a:xfrm>
          <a:prstGeom prst="rect">
            <a:avLst/>
          </a:prstGeom>
          <a:noFill/>
        </p:spPr>
        <p:txBody>
          <a:bodyPr wrap="square" lIns="0" rIns="0" tIns="0" bIns="0" anchor="ctr">
            <a:spAutoFit/>
          </a:bodyPr>
          <a:lstStyle/>
          <a:p>
            <a:pPr algn="l">
              <a:spcAft>
                <a:spcPts val="400"/>
              </a:spcAft>
            </a:pPr>
            <a:r>
              <a:rPr sz="1300" b="0" i="0">
                <a:solidFill>
                  <a:srgbClr val="0F172A"/>
                </a:solidFill>
              </a:rPr>
              <a:t>M. Mlodawski, S. Deniziak, M. Plaza, A. Kwiatkowska, D. Jaszczyk, A. Gajda and K. Twardowski, "Multidimensional analysis of the diagnostic performance of machine learning models in disease classification: implications for clinical decision support systems," IEEE Access, vol. 14, pp. 92149-92177, 2026, doi: 10.1109/ACCESS.2026.3703248.</a:t>
            </a:r>
          </a:p>
        </p:txBody>
      </p:sp>
      <p:sp>
        <p:nvSpPr>
          <p:cNvPr id="28" name="Rounded Rectangle 27"/>
          <p:cNvSpPr/>
          <p:nvPr/>
        </p:nvSpPr>
        <p:spPr>
          <a:xfrm>
            <a:off x="548640" y="2560320"/>
            <a:ext cx="3520440" cy="38404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749808" y="274320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M</a:t>
            </a:r>
          </a:p>
        </p:txBody>
      </p:sp>
      <p:sp>
        <p:nvSpPr>
          <p:cNvPr id="30" name="TextBox 29"/>
          <p:cNvSpPr txBox="1"/>
          <p:nvPr/>
        </p:nvSpPr>
        <p:spPr>
          <a:xfrm>
            <a:off x="1389888" y="271576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Method</a:t>
            </a:r>
          </a:p>
        </p:txBody>
      </p:sp>
      <p:sp>
        <p:nvSpPr>
          <p:cNvPr id="31" name="TextBox 30"/>
          <p:cNvSpPr txBox="1"/>
          <p:nvPr/>
        </p:nvSpPr>
        <p:spPr>
          <a:xfrm>
            <a:off x="749808" y="3429000"/>
            <a:ext cx="3118104" cy="2834640"/>
          </a:xfrm>
          <a:prstGeom prst="rect">
            <a:avLst/>
          </a:prstGeom>
          <a:noFill/>
        </p:spPr>
        <p:txBody>
          <a:bodyPr wrap="square" lIns="0" rIns="0" tIns="0" bIns="0" anchor="t">
            <a:spAutoFit/>
          </a:bodyPr>
          <a:lstStyle/>
          <a:p>
            <a:pPr algn="l">
              <a:spcAft>
                <a:spcPts val="400"/>
              </a:spcAft>
            </a:pPr>
            <a:r>
              <a:rPr sz="1500" b="0" i="0">
                <a:solidFill>
                  <a:srgbClr val="475569"/>
                </a:solidFill>
              </a:rPr>
              <a:t>19 classifiers (tree, ensemble, linear, probabilistic, kernel, neural) tuned with Optuna on typed symptom indicators. A two-stage TOP-1 / TOP-3 ranking and a 0.85 confidence threshold express diagnostic uncertainty; SHAP and LIME explain the best models.</a:t>
            </a:r>
          </a:p>
        </p:txBody>
      </p:sp>
      <p:sp>
        <p:nvSpPr>
          <p:cNvPr id="32" name="Rounded Rectangle 31"/>
          <p:cNvSpPr/>
          <p:nvPr/>
        </p:nvSpPr>
        <p:spPr>
          <a:xfrm>
            <a:off x="4334255" y="2560320"/>
            <a:ext cx="3520440" cy="38404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4535423" y="274320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R</a:t>
            </a:r>
          </a:p>
        </p:txBody>
      </p:sp>
      <p:sp>
        <p:nvSpPr>
          <p:cNvPr id="34" name="TextBox 33"/>
          <p:cNvSpPr txBox="1"/>
          <p:nvPr/>
        </p:nvSpPr>
        <p:spPr>
          <a:xfrm>
            <a:off x="5175503" y="271576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Data and reported results</a:t>
            </a:r>
          </a:p>
        </p:txBody>
      </p:sp>
      <p:sp>
        <p:nvSpPr>
          <p:cNvPr id="35" name="TextBox 34"/>
          <p:cNvSpPr txBox="1"/>
          <p:nvPr/>
        </p:nvSpPr>
        <p:spPr>
          <a:xfrm>
            <a:off x="4535423" y="3429000"/>
            <a:ext cx="3118104" cy="2834640"/>
          </a:xfrm>
          <a:prstGeom prst="rect">
            <a:avLst/>
          </a:prstGeom>
          <a:noFill/>
        </p:spPr>
        <p:txBody>
          <a:bodyPr wrap="square" lIns="0" rIns="0" tIns="0" bIns="0" anchor="t">
            <a:spAutoFit/>
          </a:bodyPr>
          <a:lstStyle/>
          <a:p>
            <a:pPr algn="l">
              <a:spcAft>
                <a:spcPts val="400"/>
              </a:spcAft>
            </a:pPr>
            <a:r>
              <a:rPr sz="1500" b="0" i="0">
                <a:solidFill>
                  <a:srgbClr val="475569"/>
                </a:solidFill>
              </a:rPr>
              <a:t>1,655 real cases (internal medicine 616, pediatrics 1,039), 87 ICD-10 classes. Best TOP-1: Gradient Boosting 84.74% and Multi-Layer Perceptron 87.20%. External check on 120 cases: TOP-3 86.67% and 90.00%.</a:t>
            </a:r>
          </a:p>
        </p:txBody>
      </p:sp>
      <p:sp>
        <p:nvSpPr>
          <p:cNvPr id="36" name="Rounded Rectangle 35"/>
          <p:cNvSpPr/>
          <p:nvPr/>
        </p:nvSpPr>
        <p:spPr>
          <a:xfrm>
            <a:off x="8119871" y="2560320"/>
            <a:ext cx="3520440" cy="38404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Oval 36"/>
          <p:cNvSpPr/>
          <p:nvPr/>
        </p:nvSpPr>
        <p:spPr>
          <a:xfrm>
            <a:off x="8321040" y="274320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L</a:t>
            </a:r>
          </a:p>
        </p:txBody>
      </p:sp>
      <p:sp>
        <p:nvSpPr>
          <p:cNvPr id="38" name="TextBox 37"/>
          <p:cNvSpPr txBox="1"/>
          <p:nvPr/>
        </p:nvSpPr>
        <p:spPr>
          <a:xfrm>
            <a:off x="8961119" y="271576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Relevance to this project</a:t>
            </a:r>
          </a:p>
        </p:txBody>
      </p:sp>
      <p:sp>
        <p:nvSpPr>
          <p:cNvPr id="39" name="TextBox 38"/>
          <p:cNvSpPr txBox="1"/>
          <p:nvPr/>
        </p:nvSpPr>
        <p:spPr>
          <a:xfrm>
            <a:off x="8321040" y="3429000"/>
            <a:ext cx="3118104" cy="2834640"/>
          </a:xfrm>
          <a:prstGeom prst="rect">
            <a:avLst/>
          </a:prstGeom>
          <a:noFill/>
        </p:spPr>
        <p:txBody>
          <a:bodyPr wrap="square" lIns="0" rIns="0" tIns="0" bIns="0" anchor="t">
            <a:spAutoFit/>
          </a:bodyPr>
          <a:lstStyle/>
          <a:p>
            <a:pPr algn="l">
              <a:spcAft>
                <a:spcPts val="400"/>
              </a:spcAft>
            </a:pPr>
            <a:r>
              <a:rPr sz="1500" b="0" i="0">
                <a:solidFill>
                  <a:srgbClr val="475569"/>
                </a:solidFill>
              </a:rPr>
              <a:t>Same clinical-decision-support goal: probability ranking, a confidence threshold, absent symptom treated as 0 with no imputation, and SHAP explanations. Different input and target: the paper works on typed indicators and ICD-10 diagnoses; ATHENA adds scanned reports and five-level triage.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Literature survey</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5</a:t>
            </a:fld>
            <a:endParaRPr lang="en-US"/>
          </a:p>
        </p:txBody>
      </p:sp>
      <p:graphicFrame>
        <p:nvGraphicFramePr>
          <p:cNvPr id="26" name="Table 25"/>
          <p:cNvGraphicFramePr>
            <a:graphicFrameLocks noGrp="1"/>
          </p:cNvGraphicFramePr>
          <p:nvPr/>
        </p:nvGraphicFramePr>
        <p:xfrm>
          <a:off x="548640" y="1143000"/>
          <a:ext cx="11091672" cy="5029200"/>
        </p:xfrm>
        <a:graphic>
          <a:graphicData uri="http://schemas.openxmlformats.org/drawingml/2006/table">
            <a:tbl>
              <a:tblPr firstRow="0" bandRow="0">
                <a:tableStyleId>{5C22544A-7EE6-4342-B048-85BDC9FD1C3A}</a:tableStyleId>
              </a:tblPr>
              <a:tblGrid>
                <a:gridCol w="2377440"/>
                <a:gridCol w="548640"/>
                <a:gridCol w="4023360"/>
                <a:gridCol w="4142232"/>
              </a:tblGrid>
              <a:tr h="457200">
                <a:tc>
                  <a:txBody>
                    <a:bodyPr wrap="square"/>
                    <a:lstStyle/>
                    <a:p>
                      <a:pPr algn="ctr"/>
                      <a:r>
                        <a:rPr sz="1200" b="1">
                          <a:solidFill>
                            <a:srgbClr val="FFFFFF"/>
                          </a:solidFill>
                        </a:rPr>
                        <a:t>Work</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200" b="1">
                          <a:solidFill>
                            <a:srgbClr val="FFFFFF"/>
                          </a:solidFill>
                        </a:rPr>
                        <a:t>Year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200" b="1">
                          <a:solidFill>
                            <a:srgbClr val="FFFFFF"/>
                          </a:solidFill>
                        </a:rPr>
                        <a:t>Approach</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200" b="1">
                          <a:solidFill>
                            <a:srgbClr val="FFFFFF"/>
                          </a:solidFill>
                        </a:rPr>
                        <a:t>Reported result / limitation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457200">
                <a:tc>
                  <a:txBody>
                    <a:bodyPr wrap="square"/>
                    <a:lstStyle/>
                    <a:p>
                      <a:pPr algn="l"/>
                      <a:r>
                        <a:rPr sz="1100" b="0">
                          <a:solidFill>
                            <a:srgbClr val="0F172A"/>
                          </a:solidFill>
                        </a:rPr>
                        <a:t>Mlodawski et al. [1] (base)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ctr"/>
                      <a:r>
                        <a:rPr sz="1100" b="0">
                          <a:solidFill>
                            <a:srgbClr val="0F172A"/>
                          </a:solidFill>
                        </a:rPr>
                        <a:t>2026</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100" b="0">
                          <a:solidFill>
                            <a:srgbClr val="0F172A"/>
                          </a:solidFill>
                        </a:rPr>
                        <a:t>19 classifiers, TOP-1 / TOP-3 ranking, SHAP + LIME, on incomplete real records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100" b="0">
                          <a:solidFill>
                            <a:srgbClr val="0F172A"/>
                          </a:solidFill>
                        </a:rPr>
                        <a:t>1,655 cases, 87 ICD-10 classes; GB 84.74%, MLP 87.20%; text and tabular only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57200">
                <a:tc>
                  <a:txBody>
                    <a:bodyPr wrap="square"/>
                    <a:lstStyle/>
                    <a:p>
                      <a:pPr algn="l"/>
                      <a:r>
                        <a:rPr sz="1100" b="0">
                          <a:solidFill>
                            <a:srgbClr val="0F172A"/>
                          </a:solidFill>
                        </a:rPr>
                        <a:t>Fernandes et al. [8]</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ctr"/>
                      <a:r>
                        <a:rPr sz="1100" b="0">
                          <a:solidFill>
                            <a:srgbClr val="0F172A"/>
                          </a:solidFill>
                        </a:rPr>
                        <a:t>2020</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100" b="0">
                          <a:solidFill>
                            <a:srgbClr val="0F172A"/>
                          </a:solidFill>
                        </a:rPr>
                        <a:t>Review of intelligent clinical decision support for ED triage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100" b="0">
                          <a:solidFill>
                            <a:srgbClr val="0F172A"/>
                          </a:solidFill>
                        </a:rPr>
                        <a:t>Many studies lacked an implementation phase; impact on care still to be shown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457200">
                <a:tc>
                  <a:txBody>
                    <a:bodyPr wrap="square"/>
                    <a:lstStyle/>
                    <a:p>
                      <a:pPr algn="l"/>
                      <a:r>
                        <a:rPr sz="1100" b="0">
                          <a:solidFill>
                            <a:srgbClr val="0F172A"/>
                          </a:solidFill>
                        </a:rPr>
                        <a:t>Hinson et al. [9]</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ctr"/>
                      <a:r>
                        <a:rPr sz="1100" b="0">
                          <a:solidFill>
                            <a:srgbClr val="0F172A"/>
                          </a:solidFill>
                        </a:rPr>
                        <a:t>2019</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100" b="0">
                          <a:solidFill>
                            <a:srgbClr val="0F172A"/>
                          </a:solidFill>
                        </a:rPr>
                        <a:t>Systematic review of triage scale performance (CTAS, ESI, MTS)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100" b="0">
                          <a:solidFill>
                            <a:srgbClr val="0F172A"/>
                          </a:solidFill>
                        </a:rPr>
                        <a:t>182 studies; sensitivity for critical illness below 80%; scales perform alike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57200">
                <a:tc>
                  <a:txBody>
                    <a:bodyPr wrap="square"/>
                    <a:lstStyle/>
                    <a:p>
                      <a:pPr algn="l"/>
                      <a:r>
                        <a:rPr sz="1100" b="0">
                          <a:solidFill>
                            <a:srgbClr val="0F172A"/>
                          </a:solidFill>
                        </a:rPr>
                        <a:t>Hong et al. [10]</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ctr"/>
                      <a:r>
                        <a:rPr sz="1100" b="0">
                          <a:solidFill>
                            <a:srgbClr val="0F172A"/>
                          </a:solidFill>
                        </a:rPr>
                        <a:t>2018</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100" b="0">
                          <a:solidFill>
                            <a:srgbClr val="0F172A"/>
                          </a:solidFill>
                        </a:rPr>
                        <a:t>Logistic regression, XGBoost, deep nets for admission at triage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100" b="0">
                          <a:solidFill>
                            <a:srgbClr val="0F172A"/>
                          </a:solidFill>
                        </a:rPr>
                        <a:t>560,486 visits; triage-only AUC about 0.87; adding history lifts to about 0.92</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457200">
                <a:tc>
                  <a:txBody>
                    <a:bodyPr wrap="square"/>
                    <a:lstStyle/>
                    <a:p>
                      <a:pPr algn="l"/>
                      <a:r>
                        <a:rPr sz="1100" b="0">
                          <a:solidFill>
                            <a:srgbClr val="0F172A"/>
                          </a:solidFill>
                        </a:rPr>
                        <a:t>Levin et al. [11]</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ctr"/>
                      <a:r>
                        <a:rPr sz="1100" b="0">
                          <a:solidFill>
                            <a:srgbClr val="0F172A"/>
                          </a:solidFill>
                        </a:rPr>
                        <a:t>2018</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100" b="0">
                          <a:solidFill>
                            <a:srgbClr val="0F172A"/>
                          </a:solidFill>
                        </a:rPr>
                        <a:t>Random-forest e-triage on vitals, complaint and history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100" b="0">
                          <a:solidFill>
                            <a:srgbClr val="0F172A"/>
                          </a:solidFill>
                        </a:rPr>
                        <a:t>172,726 visits; AUC 0.73-0.92; matched or beat ESI; outcomes, not 5-level labels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57200">
                <a:tc>
                  <a:txBody>
                    <a:bodyPr wrap="square"/>
                    <a:lstStyle/>
                    <a:p>
                      <a:pPr algn="l"/>
                      <a:r>
                        <a:rPr sz="1100" b="0">
                          <a:solidFill>
                            <a:srgbClr val="0F172A"/>
                          </a:solidFill>
                        </a:rPr>
                        <a:t>Raita et al. [12]</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ctr"/>
                      <a:r>
                        <a:rPr sz="1100" b="0">
                          <a:solidFill>
                            <a:srgbClr val="0F172A"/>
                          </a:solidFill>
                        </a:rPr>
                        <a:t>2019</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100" b="0">
                          <a:solidFill>
                            <a:srgbClr val="0F172A"/>
                          </a:solidFill>
                        </a:rPr>
                        <a:t>Lasso, forest, boosting, deep net on triage data</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100" b="0">
                          <a:solidFill>
                            <a:srgbClr val="0F172A"/>
                          </a:solidFill>
                        </a:rPr>
                        <a:t>135,470 visits; deep net AUC 0.86 vs 0.74 for an ESI model (critical care)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457200">
                <a:tc>
                  <a:txBody>
                    <a:bodyPr wrap="square"/>
                    <a:lstStyle/>
                    <a:p>
                      <a:pPr algn="l"/>
                      <a:r>
                        <a:rPr sz="1100" b="0">
                          <a:solidFill>
                            <a:srgbClr val="0F172A"/>
                          </a:solidFill>
                        </a:rPr>
                        <a:t>Xie et al. [13]</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ctr"/>
                      <a:r>
                        <a:rPr sz="1100" b="0">
                          <a:solidFill>
                            <a:srgbClr val="0F172A"/>
                          </a:solidFill>
                        </a:rPr>
                        <a:t>2022</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100" b="0">
                          <a:solidFill>
                            <a:srgbClr val="0F172A"/>
                          </a:solidFill>
                        </a:rPr>
                        <a:t>Public MIMIC-IV-ED benchmark for triage prediction tasks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100" b="0">
                          <a:solidFill>
                            <a:srgbClr val="0F172A"/>
                          </a:solidFill>
                        </a:rPr>
                        <a:t>Hospitalisation, critical outcome, reattendance; structured fields only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57200">
                <a:tc>
                  <a:txBody>
                    <a:bodyPr wrap="square"/>
                    <a:lstStyle/>
                    <a:p>
                      <a:pPr algn="l"/>
                      <a:r>
                        <a:rPr sz="1100" b="0">
                          <a:solidFill>
                            <a:srgbClr val="0F172A"/>
                          </a:solidFill>
                        </a:rPr>
                        <a:t>Cheng et al. [6]</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ctr"/>
                      <a:r>
                        <a:rPr sz="1100" b="0">
                          <a:solidFill>
                            <a:srgbClr val="0F172A"/>
                          </a:solidFill>
                        </a:rPr>
                        <a:t>2025</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100" b="0">
                          <a:solidFill>
                            <a:srgbClr val="0F172A"/>
                          </a:solidFill>
                        </a:rPr>
                        <a:t>Multi-agent LLM dynamic matching for triage under uncertainty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100" b="0">
                          <a:solidFill>
                            <a:srgbClr val="0F172A"/>
                          </a:solidFill>
                        </a:rPr>
                        <a:t>Cited from title only; text-only agents, no scanned-report input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457200">
                <a:tc>
                  <a:txBody>
                    <a:bodyPr wrap="square"/>
                    <a:lstStyle/>
                    <a:p>
                      <a:pPr algn="l"/>
                      <a:r>
                        <a:rPr sz="1100" b="0">
                          <a:solidFill>
                            <a:srgbClr val="0F172A"/>
                          </a:solidFill>
                        </a:rPr>
                        <a:t>Anatolian Curr. Med. J. [3]</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ctr"/>
                      <a:r>
                        <a:rPr sz="1100" b="0">
                          <a:solidFill>
                            <a:srgbClr val="0F172A"/>
                          </a:solidFill>
                        </a:rPr>
                        <a:t>2025</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100" b="0">
                          <a:solidFill>
                            <a:srgbClr val="0F172A"/>
                          </a:solidFill>
                        </a:rPr>
                        <a:t>Prospective ESI vs Manchester triage, 6,000 patients each</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100" b="0">
                          <a:solidFill>
                            <a:srgbClr val="0F172A"/>
                          </a:solidFill>
                        </a:rPr>
                        <a:t>Process study in one Turkish hospital; no machine learning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57200">
                <a:tc>
                  <a:txBody>
                    <a:bodyPr wrap="square"/>
                    <a:lstStyle/>
                    <a:p>
                      <a:pPr algn="l"/>
                      <a:r>
                        <a:rPr sz="1100" b="0">
                          <a:solidFill>
                            <a:srgbClr val="0F172A"/>
                          </a:solidFill>
                        </a:rPr>
                        <a:t>Nepal single-centre study [5]</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ctr"/>
                      <a:r>
                        <a:rPr sz="1100" b="0">
                          <a:solidFill>
                            <a:srgbClr val="0F172A"/>
                          </a:solidFill>
                        </a:rPr>
                        <a:t>2024</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100" b="0">
                          <a:solidFill>
                            <a:srgbClr val="0F172A"/>
                          </a:solidFill>
                        </a:rPr>
                        <a:t>Questionnaire on triage knowledge of 284 patient attendants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100" b="0">
                          <a:solidFill>
                            <a:srgbClr val="0F172A"/>
                          </a:solidFill>
                        </a:rPr>
                        <a:t>Public awareness only; no prediction or decision support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Supporting evidence: report and vitals carry different information</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6</a:t>
            </a:fld>
            <a:endParaRPr lang="en-US"/>
          </a:p>
        </p:txBody>
      </p:sp>
      <p:graphicFrame>
        <p:nvGraphicFramePr>
          <p:cNvPr id="26" name="Chart 25"/>
          <p:cNvGraphicFramePr>
            <a:graphicFrameLocks noGrp="1"/>
          </p:cNvGraphicFramePr>
          <p:nvPr/>
        </p:nvGraphicFramePr>
        <p:xfrm>
          <a:off x="548640" y="1280160"/>
          <a:ext cx="5577840" cy="4754880"/>
        </p:xfrm>
        <a:graphic>
          <a:graphicData uri="http://schemas.openxmlformats.org/drawingml/2006/chart">
            <c:chart xmlns:c="http://schemas.openxmlformats.org/drawingml/2006/chart" r:id="rId3"/>
          </a:graphicData>
        </a:graphic>
      </p:graphicFrame>
      <p:sp>
        <p:nvSpPr>
          <p:cNvPr id="27" name="TextBox 26"/>
          <p:cNvSpPr txBox="1"/>
          <p:nvPr/>
        </p:nvSpPr>
        <p:spPr>
          <a:xfrm>
            <a:off x="6400800" y="1325880"/>
            <a:ext cx="5257800" cy="4480560"/>
          </a:xfrm>
          <a:prstGeom prst="rect">
            <a:avLst/>
          </a:prstGeom>
          <a:noFill/>
        </p:spPr>
        <p:txBody>
          <a:bodyPr wrap="square" lIns="0" rIns="0" tIns="0" bIns="0" anchor="t">
            <a:spAutoFit/>
          </a:bodyPr>
          <a:lstStyle/>
          <a:p>
            <a:pPr algn="l">
              <a:spcAft>
                <a:spcPts val="800"/>
              </a:spcAft>
            </a:pPr>
            <a:r>
              <a:rPr sz="1500" b="1" i="0">
                <a:solidFill>
                  <a:srgbClr val="0F172A"/>
                </a:solidFill>
              </a:rPr>
              <a:t>Pilot measurement of this project</a:t>
            </a:r>
            <a:r>
              <a:rPr sz="1500" b="0" i="0">
                <a:solidFill>
                  <a:srgbClr val="0F172A"/>
                </a:solidFill>
              </a:rPr>
              <a:t> (same model, exact-priority accuracy on 1,200 held-out synthetic cases):</a:t>
            </a:r>
          </a:p>
          <a:p>
            <a:pPr algn="l" marL="256032" indent="-201168">
              <a:spcAft>
                <a:spcPts val="800"/>
              </a:spcAft>
              <a:buChar char="•"/>
            </a:pPr>
            <a:r>
              <a:rPr sz="1500" b="0" i="0">
                <a:solidFill>
                  <a:srgbClr val="0F172A"/>
                </a:solidFill>
              </a:rPr>
              <a:t>Fusing report flags with vitals gives 68.25%, against 40.58% for vitals alone.</a:t>
            </a:r>
          </a:p>
          <a:p>
            <a:pPr algn="l" marL="256032" indent="-201168">
              <a:spcAft>
                <a:spcPts val="800"/>
              </a:spcAft>
              <a:buChar char="•"/>
            </a:pPr>
            <a:r>
              <a:rPr sz="1500" b="0" i="0">
                <a:solidFill>
                  <a:srgbClr val="0F172A"/>
                </a:solidFill>
              </a:rPr>
              <a:t>Triage models built on structured fields (vitals, complaint, history) reach AUC about 0.87 for admission [10].</a:t>
            </a:r>
          </a:p>
          <a:p>
            <a:pPr algn="l" marL="256032" indent="-201168">
              <a:spcAft>
                <a:spcPts val="800"/>
              </a:spcAft>
              <a:buChar char="•"/>
            </a:pPr>
            <a:r>
              <a:rPr sz="1500" b="0" i="0">
                <a:solidFill>
                  <a:srgbClr val="0F172A"/>
                </a:solidFill>
              </a:rPr>
              <a:t>Sensitivity of five-level triage scales for critical illness is below 80% in the pooled review [9].</a:t>
            </a:r>
          </a:p>
          <a:p>
            <a:pPr algn="l" marL="256032" indent="-201168">
              <a:spcAft>
                <a:spcPts val="400"/>
              </a:spcAft>
              <a:buChar char="•"/>
            </a:pPr>
            <a:r>
              <a:rPr sz="1500" b="0" i="0">
                <a:solidFill>
                  <a:srgbClr val="0F172A"/>
                </a:solidFill>
              </a:rPr>
              <a:t>The base paper reports TOP-1 accuracy up to 87.2% on typed symptoms [1].</a:t>
            </a:r>
          </a:p>
        </p:txBody>
      </p:sp>
      <p:sp>
        <p:nvSpPr>
          <p:cNvPr id="28" name="TextBox 27"/>
          <p:cNvSpPr txBox="1"/>
          <p:nvPr/>
        </p:nvSpPr>
        <p:spPr>
          <a:xfrm>
            <a:off x="6400800" y="5852160"/>
            <a:ext cx="5257800" cy="502920"/>
          </a:xfrm>
          <a:prstGeom prst="rect">
            <a:avLst/>
          </a:prstGeom>
          <a:noFill/>
        </p:spPr>
        <p:txBody>
          <a:bodyPr wrap="square" lIns="0" rIns="0" tIns="0" bIns="0" anchor="t">
            <a:spAutoFit/>
          </a:bodyPr>
          <a:lstStyle/>
          <a:p>
            <a:pPr algn="l">
              <a:spcAft>
                <a:spcPts val="400"/>
              </a:spcAft>
            </a:pPr>
            <a:r>
              <a:rPr sz="1200" b="0" i="1">
                <a:solidFill>
                  <a:srgbClr val="475569"/>
                </a:solidFill>
              </a:rPr>
              <a:t>Pilot numbers use seeded synthetic data, not patient records; they frame the problem, they are not final results.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Existing system and current approaches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7</a:t>
            </a:fld>
            <a:endParaRPr lang="en-US"/>
          </a:p>
        </p:txBody>
      </p:sp>
      <p:sp>
        <p:nvSpPr>
          <p:cNvPr id="26" name="Rounded Rectangle 25"/>
          <p:cNvSpPr/>
          <p:nvPr/>
        </p:nvSpPr>
        <p:spPr>
          <a:xfrm>
            <a:off x="548640" y="1371600"/>
            <a:ext cx="2430018"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FFFFFF"/>
                </a:solidFill>
              </a:rPr>
              <a:t>Patient arrives</a:t>
            </a:r>
          </a:p>
        </p:txBody>
      </p:sp>
      <p:sp>
        <p:nvSpPr>
          <p:cNvPr id="27" name="Right Arrow 26"/>
          <p:cNvSpPr/>
          <p:nvPr/>
        </p:nvSpPr>
        <p:spPr>
          <a:xfrm>
            <a:off x="3106674" y="17556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3435858" y="1371600"/>
            <a:ext cx="2430018"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FFFFFF"/>
                </a:solidFill>
              </a:rPr>
              <a:t>Nurse reads report and vitals</a:t>
            </a:r>
          </a:p>
        </p:txBody>
      </p:sp>
      <p:sp>
        <p:nvSpPr>
          <p:cNvPr id="29" name="Right Arrow 28"/>
          <p:cNvSpPr/>
          <p:nvPr/>
        </p:nvSpPr>
        <p:spPr>
          <a:xfrm>
            <a:off x="5993892" y="17556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323076" y="1371600"/>
            <a:ext cx="2430018"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FFFFFF"/>
                </a:solidFill>
              </a:rPr>
              <a:t>Scale-based priority (e.g. ESI)</a:t>
            </a:r>
          </a:p>
        </p:txBody>
      </p:sp>
      <p:sp>
        <p:nvSpPr>
          <p:cNvPr id="31" name="Right Arrow 30"/>
          <p:cNvSpPr/>
          <p:nvPr/>
        </p:nvSpPr>
        <p:spPr>
          <a:xfrm>
            <a:off x="8881110" y="17556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9210294" y="1371600"/>
            <a:ext cx="2430018"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FFFFFF"/>
                </a:solidFill>
              </a:rPr>
              <a:t>Queue and treatment</a:t>
            </a:r>
          </a:p>
        </p:txBody>
      </p:sp>
      <p:sp>
        <p:nvSpPr>
          <p:cNvPr id="33" name="Rounded Rectangle 32"/>
          <p:cNvSpPr/>
          <p:nvPr/>
        </p:nvSpPr>
        <p:spPr>
          <a:xfrm>
            <a:off x="548640" y="2697480"/>
            <a:ext cx="5440680" cy="34747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749808" y="288036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35" name="TextBox 34"/>
          <p:cNvSpPr txBox="1"/>
          <p:nvPr/>
        </p:nvSpPr>
        <p:spPr>
          <a:xfrm>
            <a:off x="1389888" y="285292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Manual triage</a:t>
            </a:r>
          </a:p>
        </p:txBody>
      </p:sp>
      <p:sp>
        <p:nvSpPr>
          <p:cNvPr id="36" name="TextBox 35"/>
          <p:cNvSpPr txBox="1"/>
          <p:nvPr/>
        </p:nvSpPr>
        <p:spPr>
          <a:xfrm>
            <a:off x="749808" y="3566160"/>
            <a:ext cx="5038344" cy="2468879"/>
          </a:xfrm>
          <a:prstGeom prst="rect">
            <a:avLst/>
          </a:prstGeom>
          <a:noFill/>
        </p:spPr>
        <p:txBody>
          <a:bodyPr wrap="square" lIns="0" rIns="0" tIns="0" bIns="0" anchor="t">
            <a:spAutoFit/>
          </a:bodyPr>
          <a:lstStyle/>
          <a:p>
            <a:pPr algn="l">
              <a:spcAft>
                <a:spcPts val="400"/>
              </a:spcAft>
            </a:pPr>
            <a:r>
              <a:rPr sz="1800" b="0" i="0">
                <a:solidFill>
                  <a:srgbClr val="475569"/>
                </a:solidFill>
              </a:rPr>
              <a:t>A five-level scale such as the Emergency Severity Index [14] is applied by the nurse on duty.
The result depends on experience and shift, and scanned reports are read by eye or filed unread.
Critical illness is under-identified by all common scales [9].</a:t>
            </a:r>
          </a:p>
        </p:txBody>
      </p:sp>
      <p:sp>
        <p:nvSpPr>
          <p:cNvPr id="37" name="Rounded Rectangle 36"/>
          <p:cNvSpPr/>
          <p:nvPr/>
        </p:nvSpPr>
        <p:spPr>
          <a:xfrm>
            <a:off x="6199632" y="2697480"/>
            <a:ext cx="5440680" cy="34747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6400800" y="288036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9" name="TextBox 38"/>
          <p:cNvSpPr txBox="1"/>
          <p:nvPr/>
        </p:nvSpPr>
        <p:spPr>
          <a:xfrm>
            <a:off x="7040880" y="285292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Machine-learning triage</a:t>
            </a:r>
          </a:p>
        </p:txBody>
      </p:sp>
      <p:sp>
        <p:nvSpPr>
          <p:cNvPr id="40" name="TextBox 39"/>
          <p:cNvSpPr txBox="1"/>
          <p:nvPr/>
        </p:nvSpPr>
        <p:spPr>
          <a:xfrm>
            <a:off x="6400800" y="3566160"/>
            <a:ext cx="5038344" cy="2468879"/>
          </a:xfrm>
          <a:prstGeom prst="rect">
            <a:avLst/>
          </a:prstGeom>
          <a:noFill/>
        </p:spPr>
        <p:txBody>
          <a:bodyPr wrap="square" lIns="0" rIns="0" tIns="0" bIns="0" anchor="t">
            <a:spAutoFit/>
          </a:bodyPr>
          <a:lstStyle/>
          <a:p>
            <a:pPr algn="l">
              <a:spcAft>
                <a:spcPts val="400"/>
              </a:spcAft>
            </a:pPr>
            <a:r>
              <a:rPr sz="1800" b="0" i="0">
                <a:solidFill>
                  <a:srgbClr val="475569"/>
                </a:solidFill>
              </a:rPr>
              <a:t>Models on structured fields predict admission or critical care [10], [11], [12].
The base paper ranks diagnoses from typed symptom indicators [1].
None of them reads a scanned report, and many were never implemented in a workflow [8].</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Limitations of existing methods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8</a:t>
            </a:fld>
            <a:endParaRPr lang="en-US"/>
          </a:p>
        </p:txBody>
      </p:sp>
      <p:sp>
        <p:nvSpPr>
          <p:cNvPr id="26" name="Rounded Rectangle 25"/>
          <p:cNvSpPr/>
          <p:nvPr/>
        </p:nvSpPr>
        <p:spPr>
          <a:xfrm>
            <a:off x="548640" y="1280160"/>
            <a:ext cx="5440680" cy="20574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463039"/>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28" name="TextBox 27"/>
          <p:cNvSpPr txBox="1"/>
          <p:nvPr/>
        </p:nvSpPr>
        <p:spPr>
          <a:xfrm>
            <a:off x="1389888" y="1435607"/>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Subjective and variable</a:t>
            </a:r>
          </a:p>
        </p:txBody>
      </p:sp>
      <p:sp>
        <p:nvSpPr>
          <p:cNvPr id="29" name="TextBox 28"/>
          <p:cNvSpPr txBox="1"/>
          <p:nvPr/>
        </p:nvSpPr>
        <p:spPr>
          <a:xfrm>
            <a:off x="749808" y="2148839"/>
            <a:ext cx="5038344" cy="1051560"/>
          </a:xfrm>
          <a:prstGeom prst="rect">
            <a:avLst/>
          </a:prstGeom>
          <a:noFill/>
        </p:spPr>
        <p:txBody>
          <a:bodyPr wrap="square" lIns="0" rIns="0" tIns="0" bIns="0" anchor="t">
            <a:spAutoFit/>
          </a:bodyPr>
          <a:lstStyle/>
          <a:p>
            <a:pPr algn="l">
              <a:spcAft>
                <a:spcPts val="400"/>
              </a:spcAft>
            </a:pPr>
            <a:r>
              <a:rPr sz="1600" b="0" i="0">
                <a:solidFill>
                  <a:srgbClr val="475569"/>
                </a:solidFill>
              </a:rPr>
              <a:t>Scale-based triage varies between nurses and shifts and under-identifies critical illness [9].</a:t>
            </a:r>
          </a:p>
        </p:txBody>
      </p:sp>
      <p:sp>
        <p:nvSpPr>
          <p:cNvPr id="30" name="Rounded Rectangle 29"/>
          <p:cNvSpPr/>
          <p:nvPr/>
        </p:nvSpPr>
        <p:spPr>
          <a:xfrm>
            <a:off x="6199631" y="1280160"/>
            <a:ext cx="5440680" cy="20574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6400799" y="1463039"/>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2" name="TextBox 31"/>
          <p:cNvSpPr txBox="1"/>
          <p:nvPr/>
        </p:nvSpPr>
        <p:spPr>
          <a:xfrm>
            <a:off x="7040879" y="1435607"/>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Blind to the scanned report</a:t>
            </a:r>
          </a:p>
        </p:txBody>
      </p:sp>
      <p:sp>
        <p:nvSpPr>
          <p:cNvPr id="33" name="TextBox 32"/>
          <p:cNvSpPr txBox="1"/>
          <p:nvPr/>
        </p:nvSpPr>
        <p:spPr>
          <a:xfrm>
            <a:off x="6400799" y="2148839"/>
            <a:ext cx="5038344" cy="1051560"/>
          </a:xfrm>
          <a:prstGeom prst="rect">
            <a:avLst/>
          </a:prstGeom>
          <a:noFill/>
        </p:spPr>
        <p:txBody>
          <a:bodyPr wrap="square" lIns="0" rIns="0" tIns="0" bIns="0" anchor="t">
            <a:spAutoFit/>
          </a:bodyPr>
          <a:lstStyle/>
          <a:p>
            <a:pPr algn="l">
              <a:spcAft>
                <a:spcPts val="400"/>
              </a:spcAft>
            </a:pPr>
            <a:r>
              <a:rPr sz="1600" b="0" i="0">
                <a:solidFill>
                  <a:srgbClr val="475569"/>
                </a:solidFill>
              </a:rPr>
              <a:t>Structured-field models cannot see what is only written in a scanned report [10], [12]. The base paper reads typed indicators only [1].</a:t>
            </a:r>
          </a:p>
        </p:txBody>
      </p:sp>
      <p:sp>
        <p:nvSpPr>
          <p:cNvPr id="34" name="Rounded Rectangle 33"/>
          <p:cNvSpPr/>
          <p:nvPr/>
        </p:nvSpPr>
        <p:spPr>
          <a:xfrm>
            <a:off x="548640" y="3474720"/>
            <a:ext cx="5440680" cy="20574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749808" y="365760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3</a:t>
            </a:r>
          </a:p>
        </p:txBody>
      </p:sp>
      <p:sp>
        <p:nvSpPr>
          <p:cNvPr id="36" name="TextBox 35"/>
          <p:cNvSpPr txBox="1"/>
          <p:nvPr/>
        </p:nvSpPr>
        <p:spPr>
          <a:xfrm>
            <a:off x="1389888" y="363016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Rarely deployed</a:t>
            </a:r>
          </a:p>
        </p:txBody>
      </p:sp>
      <p:sp>
        <p:nvSpPr>
          <p:cNvPr id="37" name="TextBox 36"/>
          <p:cNvSpPr txBox="1"/>
          <p:nvPr/>
        </p:nvSpPr>
        <p:spPr>
          <a:xfrm>
            <a:off x="749808" y="4343400"/>
            <a:ext cx="5038344" cy="1051560"/>
          </a:xfrm>
          <a:prstGeom prst="rect">
            <a:avLst/>
          </a:prstGeom>
          <a:noFill/>
        </p:spPr>
        <p:txBody>
          <a:bodyPr wrap="square" lIns="0" rIns="0" tIns="0" bIns="0" anchor="t">
            <a:spAutoFit/>
          </a:bodyPr>
          <a:lstStyle/>
          <a:p>
            <a:pPr algn="l">
              <a:spcAft>
                <a:spcPts val="400"/>
              </a:spcAft>
            </a:pPr>
            <a:r>
              <a:rPr sz="1600" b="0" i="0">
                <a:solidFill>
                  <a:srgbClr val="475569"/>
                </a:solidFill>
              </a:rPr>
              <a:t>Many intelligent triage systems were never implemented or evaluated in a clinical workflow [8].</a:t>
            </a:r>
          </a:p>
        </p:txBody>
      </p:sp>
      <p:sp>
        <p:nvSpPr>
          <p:cNvPr id="38" name="Rounded Rectangle 37"/>
          <p:cNvSpPr/>
          <p:nvPr/>
        </p:nvSpPr>
        <p:spPr>
          <a:xfrm>
            <a:off x="6199631" y="3474720"/>
            <a:ext cx="5440680" cy="20574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6400799" y="3657600"/>
            <a:ext cx="502920" cy="502920"/>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4</a:t>
            </a:r>
          </a:p>
        </p:txBody>
      </p:sp>
      <p:sp>
        <p:nvSpPr>
          <p:cNvPr id="40" name="TextBox 39"/>
          <p:cNvSpPr txBox="1"/>
          <p:nvPr/>
        </p:nvSpPr>
        <p:spPr>
          <a:xfrm>
            <a:off x="7040879" y="363016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Bare predictions</a:t>
            </a:r>
          </a:p>
        </p:txBody>
      </p:sp>
      <p:sp>
        <p:nvSpPr>
          <p:cNvPr id="41" name="TextBox 40"/>
          <p:cNvSpPr txBox="1"/>
          <p:nvPr/>
        </p:nvSpPr>
        <p:spPr>
          <a:xfrm>
            <a:off x="6400799" y="4343400"/>
            <a:ext cx="5038344" cy="1051560"/>
          </a:xfrm>
          <a:prstGeom prst="rect">
            <a:avLst/>
          </a:prstGeom>
          <a:noFill/>
        </p:spPr>
        <p:txBody>
          <a:bodyPr wrap="square" lIns="0" rIns="0" tIns="0" bIns="0" anchor="t">
            <a:spAutoFit/>
          </a:bodyPr>
          <a:lstStyle/>
          <a:p>
            <a:pPr algn="l">
              <a:spcAft>
                <a:spcPts val="400"/>
              </a:spcAft>
            </a:pPr>
            <a:r>
              <a:rPr sz="1600" b="0" i="0">
                <a:solidFill>
                  <a:srgbClr val="475569"/>
                </a:solidFill>
              </a:rPr>
              <a:t>A prediction with no reasons is hard to accept at the bedside, and reported accuracies come from different data and tasks, so they cannot be lined up.</a:t>
            </a:r>
          </a:p>
        </p:txBody>
      </p:sp>
      <p:sp>
        <p:nvSpPr>
          <p:cNvPr id="42" name="Rounded Rectangle 41"/>
          <p:cNvSpPr/>
          <p:nvPr/>
        </p:nvSpPr>
        <p:spPr>
          <a:xfrm>
            <a:off x="548640" y="5669280"/>
            <a:ext cx="11091672" cy="54864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777240" y="5669280"/>
            <a:ext cx="10698480" cy="548640"/>
          </a:xfrm>
          <a:prstGeom prst="rect">
            <a:avLst/>
          </a:prstGeom>
          <a:noFill/>
        </p:spPr>
        <p:txBody>
          <a:bodyPr wrap="square" lIns="0" rIns="0" tIns="0" bIns="0" anchor="ctr">
            <a:spAutoFit/>
          </a:bodyPr>
          <a:lstStyle/>
          <a:p>
            <a:pPr algn="l">
              <a:spcAft>
                <a:spcPts val="400"/>
              </a:spcAft>
            </a:pPr>
            <a:r>
              <a:rPr sz="1400" b="0" i="0">
                <a:solidFill>
                  <a:srgbClr val="0F172A"/>
                </a:solidFill>
              </a:rPr>
              <a:t>Result: delay in prioritising a critical patient directly worsens outcomes, yet no tool combines the report, the vitals and an explanation.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Research gap</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9</a:t>
            </a:fld>
            <a:endParaRPr lang="en-US"/>
          </a:p>
        </p:txBody>
      </p:sp>
      <p:sp>
        <p:nvSpPr>
          <p:cNvPr id="26" name="Oval 25"/>
          <p:cNvSpPr/>
          <p:nvPr/>
        </p:nvSpPr>
        <p:spPr>
          <a:xfrm>
            <a:off x="548640" y="1325880"/>
            <a:ext cx="566928" cy="566928"/>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1</a:t>
            </a:r>
          </a:p>
        </p:txBody>
      </p:sp>
      <p:sp>
        <p:nvSpPr>
          <p:cNvPr id="27" name="TextBox 26"/>
          <p:cNvSpPr txBox="1"/>
          <p:nvPr/>
        </p:nvSpPr>
        <p:spPr>
          <a:xfrm>
            <a:off x="1417320" y="1234440"/>
            <a:ext cx="10195560" cy="914400"/>
          </a:xfrm>
          <a:prstGeom prst="rect">
            <a:avLst/>
          </a:prstGeom>
          <a:noFill/>
        </p:spPr>
        <p:txBody>
          <a:bodyPr wrap="square" lIns="0" rIns="0" tIns="0" bIns="0" anchor="ctr">
            <a:spAutoFit/>
          </a:bodyPr>
          <a:lstStyle/>
          <a:p>
            <a:pPr algn="l">
              <a:spcAft>
                <a:spcPts val="400"/>
              </a:spcAft>
            </a:pPr>
            <a:r>
              <a:rPr sz="1700" b="0" i="0">
                <a:solidFill>
                  <a:srgbClr val="0F172A"/>
                </a:solidFill>
              </a:rPr>
              <a:t>The surveyed models are evaluated on single-modality structured data: no pipeline fuses a scanned report with the vitals</a:t>
            </a:r>
          </a:p>
        </p:txBody>
      </p:sp>
      <p:sp>
        <p:nvSpPr>
          <p:cNvPr id="28" name="Oval 27"/>
          <p:cNvSpPr/>
          <p:nvPr/>
        </p:nvSpPr>
        <p:spPr>
          <a:xfrm>
            <a:off x="548640" y="2350008"/>
            <a:ext cx="566928" cy="566928"/>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2</a:t>
            </a:r>
          </a:p>
        </p:txBody>
      </p:sp>
      <p:sp>
        <p:nvSpPr>
          <p:cNvPr id="29" name="TextBox 28"/>
          <p:cNvSpPr txBox="1"/>
          <p:nvPr/>
        </p:nvSpPr>
        <p:spPr>
          <a:xfrm>
            <a:off x="1417320" y="2258568"/>
            <a:ext cx="10195560" cy="914400"/>
          </a:xfrm>
          <a:prstGeom prst="rect">
            <a:avLst/>
          </a:prstGeom>
          <a:noFill/>
        </p:spPr>
        <p:txBody>
          <a:bodyPr wrap="square" lIns="0" rIns="0" tIns="0" bIns="0" anchor="ctr">
            <a:spAutoFit/>
          </a:bodyPr>
          <a:lstStyle/>
          <a:p>
            <a:pPr algn="l">
              <a:spcAft>
                <a:spcPts val="400"/>
              </a:spcAft>
            </a:pPr>
            <a:r>
              <a:rPr sz="1700" b="0" i="0">
                <a:solidFill>
                  <a:srgbClr val="0F172A"/>
                </a:solidFill>
              </a:rPr>
              <a:t>Triage priority (five levels) is rarely the target; most work predicts admission, critical care or ICD-10 diagnoses [10], [1]</a:t>
            </a:r>
          </a:p>
        </p:txBody>
      </p:sp>
      <p:sp>
        <p:nvSpPr>
          <p:cNvPr id="30" name="Oval 29"/>
          <p:cNvSpPr/>
          <p:nvPr/>
        </p:nvSpPr>
        <p:spPr>
          <a:xfrm>
            <a:off x="548640" y="3374136"/>
            <a:ext cx="566928" cy="566928"/>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3</a:t>
            </a:r>
          </a:p>
        </p:txBody>
      </p:sp>
      <p:sp>
        <p:nvSpPr>
          <p:cNvPr id="31" name="TextBox 30"/>
          <p:cNvSpPr txBox="1"/>
          <p:nvPr/>
        </p:nvSpPr>
        <p:spPr>
          <a:xfrm>
            <a:off x="1417320" y="3282696"/>
            <a:ext cx="10195560" cy="914400"/>
          </a:xfrm>
          <a:prstGeom prst="rect">
            <a:avLst/>
          </a:prstGeom>
          <a:noFill/>
        </p:spPr>
        <p:txBody>
          <a:bodyPr wrap="square" lIns="0" rIns="0" tIns="0" bIns="0" anchor="ctr">
            <a:spAutoFit/>
          </a:bodyPr>
          <a:lstStyle/>
          <a:p>
            <a:pPr algn="l">
              <a:spcAft>
                <a:spcPts val="400"/>
              </a:spcAft>
            </a:pPr>
            <a:r>
              <a:rPr sz="1700" b="0" i="0">
                <a:solidFill>
                  <a:srgbClr val="0F172A"/>
                </a:solidFill>
              </a:rPr>
              <a:t>Explanations are usually global or offline; a per-patient reason shown next to the decision is missing in deployed designs</a:t>
            </a:r>
          </a:p>
        </p:txBody>
      </p:sp>
      <p:sp>
        <p:nvSpPr>
          <p:cNvPr id="32" name="Oval 31"/>
          <p:cNvSpPr/>
          <p:nvPr/>
        </p:nvSpPr>
        <p:spPr>
          <a:xfrm>
            <a:off x="548640" y="4398264"/>
            <a:ext cx="566928" cy="566928"/>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4</a:t>
            </a:r>
          </a:p>
        </p:txBody>
      </p:sp>
      <p:sp>
        <p:nvSpPr>
          <p:cNvPr id="33" name="TextBox 32"/>
          <p:cNvSpPr txBox="1"/>
          <p:nvPr/>
        </p:nvSpPr>
        <p:spPr>
          <a:xfrm>
            <a:off x="1417320" y="4306824"/>
            <a:ext cx="10195560" cy="914400"/>
          </a:xfrm>
          <a:prstGeom prst="rect">
            <a:avLst/>
          </a:prstGeom>
          <a:noFill/>
        </p:spPr>
        <p:txBody>
          <a:bodyPr wrap="square" lIns="0" rIns="0" tIns="0" bIns="0" anchor="ctr">
            <a:spAutoFit/>
          </a:bodyPr>
          <a:lstStyle/>
          <a:p>
            <a:pPr algn="l">
              <a:spcAft>
                <a:spcPts val="400"/>
              </a:spcAft>
            </a:pPr>
            <a:r>
              <a:rPr sz="1700" b="0" i="0">
                <a:solidFill>
                  <a:srgbClr val="0F172A"/>
                </a:solidFill>
              </a:rPr>
              <a:t>Calibrated confidence and an accept-or-change record for the clinician are seldom reported together</a:t>
            </a:r>
          </a:p>
        </p:txBody>
      </p:sp>
      <p:sp>
        <p:nvSpPr>
          <p:cNvPr id="34" name="Oval 33"/>
          <p:cNvSpPr/>
          <p:nvPr/>
        </p:nvSpPr>
        <p:spPr>
          <a:xfrm>
            <a:off x="548640" y="5422392"/>
            <a:ext cx="566928" cy="566928"/>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5</a:t>
            </a:r>
          </a:p>
        </p:txBody>
      </p:sp>
      <p:sp>
        <p:nvSpPr>
          <p:cNvPr id="35" name="TextBox 34"/>
          <p:cNvSpPr txBox="1"/>
          <p:nvPr/>
        </p:nvSpPr>
        <p:spPr>
          <a:xfrm>
            <a:off x="1417320" y="5330952"/>
            <a:ext cx="10195560" cy="914400"/>
          </a:xfrm>
          <a:prstGeom prst="rect">
            <a:avLst/>
          </a:prstGeom>
          <a:noFill/>
        </p:spPr>
        <p:txBody>
          <a:bodyPr wrap="square" lIns="0" rIns="0" tIns="0" bIns="0" anchor="ctr">
            <a:spAutoFit/>
          </a:bodyPr>
          <a:lstStyle/>
          <a:p>
            <a:pPr algn="l">
              <a:spcAft>
                <a:spcPts val="400"/>
              </a:spcAft>
            </a:pPr>
            <a:r>
              <a:rPr sz="1700" b="0" i="0">
                <a:solidFill>
                  <a:srgbClr val="0F172A"/>
                </a:solidFill>
              </a:rPr>
              <a:t>Processing time per patient, including report reading, is almost never measured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Problem statement</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a:t>
            </a:fld>
            <a:endParaRPr lang="en-US"/>
          </a:p>
        </p:txBody>
      </p:sp>
      <p:sp>
        <p:nvSpPr>
          <p:cNvPr id="26" name="Rounded Rectangle 25"/>
          <p:cNvSpPr/>
          <p:nvPr/>
        </p:nvSpPr>
        <p:spPr>
          <a:xfrm>
            <a:off x="548640" y="1325880"/>
            <a:ext cx="11091672" cy="283464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68680" y="1463040"/>
            <a:ext cx="10469880" cy="2606040"/>
          </a:xfrm>
          <a:prstGeom prst="rect">
            <a:avLst/>
          </a:prstGeom>
          <a:noFill/>
        </p:spPr>
        <p:txBody>
          <a:bodyPr wrap="square" lIns="0" rIns="0" tIns="0" bIns="0" anchor="ctr">
            <a:spAutoFit/>
          </a:bodyPr>
          <a:lstStyle/>
          <a:p>
            <a:pPr algn="l" marL="256032" indent="-201168">
              <a:spcAft>
                <a:spcPts val="800"/>
              </a:spcAft>
              <a:buChar char="•"/>
            </a:pPr>
            <a:r>
              <a:rPr sz="1800" b="0" i="0">
                <a:solidFill>
                  <a:srgbClr val="0F172A"/>
                </a:solidFill>
              </a:rPr>
              <a:t>Triage decisions are subjective and vary with the experience of the staff on duty</a:t>
            </a:r>
          </a:p>
          <a:p>
            <a:pPr algn="l" marL="256032" indent="-201168">
              <a:spcAft>
                <a:spcPts val="800"/>
              </a:spcAft>
              <a:buChar char="•"/>
            </a:pPr>
            <a:r>
              <a:rPr sz="1800" b="0" i="0">
                <a:solidFill>
                  <a:srgbClr val="0F172A"/>
                </a:solidFill>
              </a:rPr>
              <a:t>Existing systems analyse only structured fields and ignore scanned reports and clinical narrative</a:t>
            </a:r>
          </a:p>
          <a:p>
            <a:pPr algn="l" marL="256032" indent="-201168">
              <a:spcAft>
                <a:spcPts val="800"/>
              </a:spcAft>
              <a:buChar char="•"/>
            </a:pPr>
            <a:r>
              <a:rPr sz="1800" b="0" i="0">
                <a:solidFill>
                  <a:srgbClr val="0F172A"/>
                </a:solidFill>
              </a:rPr>
              <a:t>Predictions delivered without justification are not accepted into a clinical workflow</a:t>
            </a:r>
          </a:p>
          <a:p>
            <a:pPr algn="l" marL="256032" indent="-201168">
              <a:spcAft>
                <a:spcPts val="800"/>
              </a:spcAft>
              <a:buChar char="•"/>
            </a:pPr>
            <a:r>
              <a:rPr sz="1800" b="0" i="0">
                <a:solidFill>
                  <a:srgbClr val="0F172A"/>
                </a:solidFill>
              </a:rPr>
              <a:t>Delay in prioritising a critical patient directly worsens outcomes</a:t>
            </a:r>
          </a:p>
          <a:p>
            <a:pPr algn="l" marL="256032" indent="-201168">
              <a:spcAft>
                <a:spcPts val="800"/>
              </a:spcAft>
              <a:buChar char="•"/>
            </a:pPr>
            <a:r>
              <a:rPr sz="1800" b="0" i="0">
                <a:solidFill>
                  <a:srgbClr val="0F172A"/>
                </a:solidFill>
              </a:rPr>
              <a:t>Need: a multi-source triage assistant that reads scanned reports, assigns an explainable risk level and supports the clinician</a:t>
            </a:r>
          </a:p>
        </p:txBody>
      </p:sp>
      <p:sp>
        <p:nvSpPr>
          <p:cNvPr id="28" name="Rounded Rectangle 27"/>
          <p:cNvSpPr/>
          <p:nvPr/>
        </p:nvSpPr>
        <p:spPr>
          <a:xfrm>
            <a:off x="548640" y="4389120"/>
            <a:ext cx="3520440" cy="192024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77240" y="4480560"/>
            <a:ext cx="3108960" cy="365760"/>
          </a:xfrm>
          <a:prstGeom prst="rect">
            <a:avLst/>
          </a:prstGeom>
          <a:noFill/>
        </p:spPr>
        <p:txBody>
          <a:bodyPr wrap="square" lIns="0" rIns="0" tIns="0" bIns="0" anchor="t">
            <a:spAutoFit/>
          </a:bodyPr>
          <a:lstStyle/>
          <a:p>
            <a:pPr algn="l">
              <a:spcAft>
                <a:spcPts val="400"/>
              </a:spcAft>
            </a:pPr>
            <a:r>
              <a:rPr sz="1800" b="1" i="0">
                <a:solidFill>
                  <a:srgbClr val="0F172A"/>
                </a:solidFill>
              </a:rPr>
              <a:t>Input</a:t>
            </a:r>
          </a:p>
        </p:txBody>
      </p:sp>
      <p:sp>
        <p:nvSpPr>
          <p:cNvPr id="30" name="TextBox 29"/>
          <p:cNvSpPr txBox="1"/>
          <p:nvPr/>
        </p:nvSpPr>
        <p:spPr>
          <a:xfrm>
            <a:off x="777240" y="4892040"/>
            <a:ext cx="3108960" cy="1371600"/>
          </a:xfrm>
          <a:prstGeom prst="rect">
            <a:avLst/>
          </a:prstGeom>
          <a:noFill/>
        </p:spPr>
        <p:txBody>
          <a:bodyPr wrap="square" lIns="0" rIns="0" tIns="0" bIns="0" anchor="t">
            <a:spAutoFit/>
          </a:bodyPr>
          <a:lstStyle/>
          <a:p>
            <a:pPr algn="l">
              <a:spcAft>
                <a:spcPts val="400"/>
              </a:spcAft>
            </a:pPr>
            <a:r>
              <a:rPr sz="1300" b="0" i="0">
                <a:solidFill>
                  <a:srgbClr val="475569"/>
                </a:solidFill>
              </a:rPr>
              <a:t>A scanned report (PDF, PNG or JPG, up to 15 MB) and eight vitals: age, heart rate, blood pressure, SpO2, temperature, respiratory rate, arrival mode</a:t>
            </a:r>
          </a:p>
        </p:txBody>
      </p:sp>
      <p:sp>
        <p:nvSpPr>
          <p:cNvPr id="31" name="Rounded Rectangle 30"/>
          <p:cNvSpPr/>
          <p:nvPr/>
        </p:nvSpPr>
        <p:spPr>
          <a:xfrm>
            <a:off x="4334255" y="4389120"/>
            <a:ext cx="3520440" cy="192024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4562855" y="4480560"/>
            <a:ext cx="3108960" cy="365760"/>
          </a:xfrm>
          <a:prstGeom prst="rect">
            <a:avLst/>
          </a:prstGeom>
          <a:noFill/>
        </p:spPr>
        <p:txBody>
          <a:bodyPr wrap="square" lIns="0" rIns="0" tIns="0" bIns="0" anchor="t">
            <a:spAutoFit/>
          </a:bodyPr>
          <a:lstStyle/>
          <a:p>
            <a:pPr algn="l">
              <a:spcAft>
                <a:spcPts val="400"/>
              </a:spcAft>
            </a:pPr>
            <a:r>
              <a:rPr sz="1800" b="1" i="0">
                <a:solidFill>
                  <a:srgbClr val="0F172A"/>
                </a:solidFill>
              </a:rPr>
              <a:t>Output</a:t>
            </a:r>
          </a:p>
        </p:txBody>
      </p:sp>
      <p:sp>
        <p:nvSpPr>
          <p:cNvPr id="33" name="TextBox 32"/>
          <p:cNvSpPr txBox="1"/>
          <p:nvPr/>
        </p:nvSpPr>
        <p:spPr>
          <a:xfrm>
            <a:off x="4562855" y="4892040"/>
            <a:ext cx="3108960" cy="1371600"/>
          </a:xfrm>
          <a:prstGeom prst="rect">
            <a:avLst/>
          </a:prstGeom>
          <a:noFill/>
        </p:spPr>
        <p:txBody>
          <a:bodyPr wrap="square" lIns="0" rIns="0" tIns="0" bIns="0" anchor="t">
            <a:spAutoFit/>
          </a:bodyPr>
          <a:lstStyle/>
          <a:p>
            <a:pPr algn="l">
              <a:spcAft>
                <a:spcPts val="400"/>
              </a:spcAft>
            </a:pPr>
            <a:r>
              <a:rPr sz="1300" b="0" i="0">
                <a:solidFill>
                  <a:srgbClr val="475569"/>
                </a:solidFill>
              </a:rPr>
              <a:t>Priority 1 (critical) to 5 (non-urgent), risk level, calibrated confidence and the factors that drove the decision</a:t>
            </a:r>
          </a:p>
        </p:txBody>
      </p:sp>
      <p:sp>
        <p:nvSpPr>
          <p:cNvPr id="34" name="Rounded Rectangle 33"/>
          <p:cNvSpPr/>
          <p:nvPr/>
        </p:nvSpPr>
        <p:spPr>
          <a:xfrm>
            <a:off x="8119871" y="4389120"/>
            <a:ext cx="3520440" cy="192024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8348471" y="4480560"/>
            <a:ext cx="3108960" cy="365760"/>
          </a:xfrm>
          <a:prstGeom prst="rect">
            <a:avLst/>
          </a:prstGeom>
          <a:noFill/>
        </p:spPr>
        <p:txBody>
          <a:bodyPr wrap="square" lIns="0" rIns="0" tIns="0" bIns="0" anchor="t">
            <a:spAutoFit/>
          </a:bodyPr>
          <a:lstStyle/>
          <a:p>
            <a:pPr algn="l">
              <a:spcAft>
                <a:spcPts val="400"/>
              </a:spcAft>
            </a:pPr>
            <a:r>
              <a:rPr sz="1800" b="1" i="0">
                <a:solidFill>
                  <a:srgbClr val="0F172A"/>
                </a:solidFill>
              </a:rPr>
              <a:t>Record</a:t>
            </a:r>
          </a:p>
        </p:txBody>
      </p:sp>
      <p:sp>
        <p:nvSpPr>
          <p:cNvPr id="36" name="TextBox 35"/>
          <p:cNvSpPr txBox="1"/>
          <p:nvPr/>
        </p:nvSpPr>
        <p:spPr>
          <a:xfrm>
            <a:off x="8348471" y="4892040"/>
            <a:ext cx="3108960" cy="1371600"/>
          </a:xfrm>
          <a:prstGeom prst="rect">
            <a:avLst/>
          </a:prstGeom>
          <a:noFill/>
        </p:spPr>
        <p:txBody>
          <a:bodyPr wrap="square" lIns="0" rIns="0" tIns="0" bIns="0" anchor="t">
            <a:spAutoFit/>
          </a:bodyPr>
          <a:lstStyle/>
          <a:p>
            <a:pPr algn="l">
              <a:spcAft>
                <a:spcPts val="400"/>
              </a:spcAft>
            </a:pPr>
            <a:r>
              <a:rPr sz="1300" b="0" i="0">
                <a:solidFill>
                  <a:srgbClr val="475569"/>
                </a:solidFill>
              </a:rPr>
              <a:t>Clinician accept or change with a reason, a live queue ordered by priority then arrival, and a triage-summary PDF</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Objectives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11</a:t>
            </a:fld>
            <a:endParaRPr lang="en-US"/>
          </a:p>
        </p:txBody>
      </p:sp>
      <p:sp>
        <p:nvSpPr>
          <p:cNvPr id="26" name="TextBox 25"/>
          <p:cNvSpPr txBox="1"/>
          <p:nvPr/>
        </p:nvSpPr>
        <p:spPr>
          <a:xfrm>
            <a:off x="548640" y="1280160"/>
            <a:ext cx="11091672" cy="4480560"/>
          </a:xfrm>
          <a:prstGeom prst="rect">
            <a:avLst/>
          </a:prstGeom>
          <a:noFill/>
        </p:spPr>
        <p:txBody>
          <a:bodyPr wrap="square" lIns="0" rIns="0" tIns="0" bIns="0" anchor="t">
            <a:spAutoFit/>
          </a:bodyPr>
          <a:lstStyle/>
          <a:p>
            <a:pPr algn="l">
              <a:spcAft>
                <a:spcPts val="1600"/>
              </a:spcAft>
            </a:pPr>
            <a:r>
              <a:rPr sz="2400" b="0" i="0">
                <a:solidFill>
                  <a:srgbClr val="0F172A"/>
                </a:solidFill>
              </a:rPr>
              <a:t>1.  Build an OCR stage that converts scanned medical reports into machine-readable clinical text</a:t>
            </a:r>
          </a:p>
          <a:p>
            <a:pPr algn="l">
              <a:spcAft>
                <a:spcPts val="1600"/>
              </a:spcAft>
            </a:pPr>
            <a:r>
              <a:rPr sz="2400" b="0" i="0">
                <a:solidFill>
                  <a:srgbClr val="0F172A"/>
                </a:solidFill>
              </a:rPr>
              <a:t>2.  Apply a medical language model to extract symptoms, findings and history from that text</a:t>
            </a:r>
          </a:p>
          <a:p>
            <a:pPr algn="l">
              <a:spcAft>
                <a:spcPts val="1600"/>
              </a:spcAft>
            </a:pPr>
            <a:r>
              <a:rPr sz="2400" b="0" i="0">
                <a:solidFill>
                  <a:srgbClr val="0F172A"/>
                </a:solidFill>
              </a:rPr>
              <a:t>3.  Combine text-derived features with tabular vitals in a single patient representation</a:t>
            </a:r>
          </a:p>
          <a:p>
            <a:pPr algn="l">
              <a:spcAft>
                <a:spcPts val="1600"/>
              </a:spcAft>
            </a:pPr>
            <a:r>
              <a:rPr sz="2400" b="0" i="0">
                <a:solidFill>
                  <a:srgbClr val="0F172A"/>
                </a:solidFill>
              </a:rPr>
              <a:t>4.  Train a model that assigns a clinical risk level and a triage priority to each patient</a:t>
            </a:r>
          </a:p>
          <a:p>
            <a:pPr algn="l">
              <a:spcAft>
                <a:spcPts val="1600"/>
              </a:spcAft>
            </a:pPr>
            <a:r>
              <a:rPr sz="2400" b="0" i="0">
                <a:solidFill>
                  <a:srgbClr val="0F172A"/>
                </a:solidFill>
              </a:rPr>
              <a:t>5.  Add an explainability layer that shows which findings drove the assigned priority</a:t>
            </a:r>
          </a:p>
          <a:p>
            <a:pPr algn="l">
              <a:spcAft>
                <a:spcPts val="1600"/>
              </a:spcAft>
            </a:pPr>
            <a:r>
              <a:rPr sz="2400" b="0" i="0">
                <a:solidFill>
                  <a:srgbClr val="0F172A"/>
                </a:solidFill>
              </a:rPr>
              <a:t>6.  Evaluate triage accuracy against clinician-assigned priority and measure processing time per patient</a:t>
            </a:r>
          </a:p>
        </p:txBody>
      </p:sp>
      <p:sp>
        <p:nvSpPr>
          <p:cNvPr id="27" name="TextBox 26"/>
          <p:cNvSpPr txBox="1"/>
          <p:nvPr/>
        </p:nvSpPr>
        <p:spPr>
          <a:xfrm>
            <a:off x="548640" y="5669280"/>
            <a:ext cx="11091672" cy="731520"/>
          </a:xfrm>
          <a:prstGeom prst="rect">
            <a:avLst/>
          </a:prstGeom>
          <a:noFill/>
        </p:spPr>
        <p:txBody>
          <a:bodyPr wrap="square" lIns="0" rIns="0" tIns="0" bIns="0" anchor="t">
            <a:spAutoFit/>
          </a:bodyPr>
          <a:lstStyle/>
          <a:p>
            <a:pPr algn="l">
              <a:spcAft>
                <a:spcPts val="400"/>
              </a:spcAft>
            </a:pPr>
            <a:r>
              <a:rPr sz="1300" b="0" i="1">
                <a:solidFill>
                  <a:srgbClr val="475569"/>
                </a:solidFill>
              </a:rPr>
              <a:t>Implementation note: the prototype reads reports with a local OCR engine and a clinical term lexicon instead of a medical language model, and is trained on synthetic data because no real triage records were available.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Proposed approach</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12</a:t>
            </a:fld>
            <a:endParaRPr lang="en-US"/>
          </a:p>
        </p:txBody>
      </p:sp>
      <p:sp>
        <p:nvSpPr>
          <p:cNvPr id="26" name="Rounded Rectangle 25"/>
          <p:cNvSpPr/>
          <p:nvPr/>
        </p:nvSpPr>
        <p:spPr>
          <a:xfrm>
            <a:off x="548640" y="1325880"/>
            <a:ext cx="2633472" cy="35661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0876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28" name="TextBox 27"/>
          <p:cNvSpPr txBox="1"/>
          <p:nvPr/>
        </p:nvSpPr>
        <p:spPr>
          <a:xfrm>
            <a:off x="1389888" y="1481328"/>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Read</a:t>
            </a:r>
          </a:p>
        </p:txBody>
      </p:sp>
      <p:sp>
        <p:nvSpPr>
          <p:cNvPr id="29" name="TextBox 28"/>
          <p:cNvSpPr txBox="1"/>
          <p:nvPr/>
        </p:nvSpPr>
        <p:spPr>
          <a:xfrm>
            <a:off x="749808" y="2194560"/>
            <a:ext cx="2231136" cy="2560320"/>
          </a:xfrm>
          <a:prstGeom prst="rect">
            <a:avLst/>
          </a:prstGeom>
          <a:noFill/>
        </p:spPr>
        <p:txBody>
          <a:bodyPr wrap="square" lIns="0" rIns="0" tIns="0" bIns="0" anchor="t">
            <a:spAutoFit/>
          </a:bodyPr>
          <a:lstStyle/>
          <a:p>
            <a:pPr algn="l">
              <a:spcAft>
                <a:spcPts val="400"/>
              </a:spcAft>
            </a:pPr>
            <a:r>
              <a:rPr sz="1500" b="0" i="0">
                <a:solidFill>
                  <a:srgbClr val="475569"/>
                </a:solidFill>
              </a:rPr>
              <a:t>PDF text layer, or local OCR for scans. A clinical lexicon finds 22 symptom, finding and history flags, drops negated ones and reads six lab values against reference ranges, keeping the page of each.</a:t>
            </a:r>
          </a:p>
        </p:txBody>
      </p:sp>
      <p:sp>
        <p:nvSpPr>
          <p:cNvPr id="30" name="Rounded Rectangle 29"/>
          <p:cNvSpPr/>
          <p:nvPr/>
        </p:nvSpPr>
        <p:spPr>
          <a:xfrm>
            <a:off x="3364992" y="1325880"/>
            <a:ext cx="2633472" cy="35661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3566160" y="150876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2" name="TextBox 31"/>
          <p:cNvSpPr txBox="1"/>
          <p:nvPr/>
        </p:nvSpPr>
        <p:spPr>
          <a:xfrm>
            <a:off x="4206240" y="1481328"/>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Fuse</a:t>
            </a:r>
          </a:p>
        </p:txBody>
      </p:sp>
      <p:sp>
        <p:nvSpPr>
          <p:cNvPr id="33" name="TextBox 32"/>
          <p:cNvSpPr txBox="1"/>
          <p:nvPr/>
        </p:nvSpPr>
        <p:spPr>
          <a:xfrm>
            <a:off x="3566160" y="2194560"/>
            <a:ext cx="2231136" cy="2560320"/>
          </a:xfrm>
          <a:prstGeom prst="rect">
            <a:avLst/>
          </a:prstGeom>
          <a:noFill/>
        </p:spPr>
        <p:txBody>
          <a:bodyPr wrap="square" lIns="0" rIns="0" tIns="0" bIns="0" anchor="t">
            <a:spAutoFit/>
          </a:bodyPr>
          <a:lstStyle/>
          <a:p>
            <a:pPr algn="l">
              <a:spcAft>
                <a:spcPts val="400"/>
              </a:spcAft>
            </a:pPr>
            <a:r>
              <a:rPr sz="1500" b="0" i="0">
                <a:solidFill>
                  <a:srgbClr val="475569"/>
                </a:solidFill>
              </a:rPr>
              <a:t>Eight vitals and 28 report flags become one 36-input patient record, shown side by side so the clinician sees what the model saw.</a:t>
            </a:r>
          </a:p>
        </p:txBody>
      </p:sp>
      <p:sp>
        <p:nvSpPr>
          <p:cNvPr id="34" name="Rounded Rectangle 33"/>
          <p:cNvSpPr/>
          <p:nvPr/>
        </p:nvSpPr>
        <p:spPr>
          <a:xfrm>
            <a:off x="6181344" y="1325880"/>
            <a:ext cx="2633472" cy="35661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6382512" y="150876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3</a:t>
            </a:r>
          </a:p>
        </p:txBody>
      </p:sp>
      <p:sp>
        <p:nvSpPr>
          <p:cNvPr id="36" name="TextBox 35"/>
          <p:cNvSpPr txBox="1"/>
          <p:nvPr/>
        </p:nvSpPr>
        <p:spPr>
          <a:xfrm>
            <a:off x="7022592" y="1481328"/>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Decide</a:t>
            </a:r>
          </a:p>
        </p:txBody>
      </p:sp>
      <p:sp>
        <p:nvSpPr>
          <p:cNvPr id="37" name="TextBox 36"/>
          <p:cNvSpPr txBox="1"/>
          <p:nvPr/>
        </p:nvSpPr>
        <p:spPr>
          <a:xfrm>
            <a:off x="6382512" y="2194560"/>
            <a:ext cx="2231136" cy="2560320"/>
          </a:xfrm>
          <a:prstGeom prst="rect">
            <a:avLst/>
          </a:prstGeom>
          <a:noFill/>
        </p:spPr>
        <p:txBody>
          <a:bodyPr wrap="square" lIns="0" rIns="0" tIns="0" bIns="0" anchor="t">
            <a:spAutoFit/>
          </a:bodyPr>
          <a:lstStyle/>
          <a:p>
            <a:pPr algn="l">
              <a:spcAft>
                <a:spcPts val="400"/>
              </a:spcAft>
            </a:pPr>
            <a:r>
              <a:rPr sz="1500" b="0" i="0">
                <a:solidFill>
                  <a:srgbClr val="475569"/>
                </a:solidFill>
              </a:rPr>
              <a:t>Gradient-boosted trees give priority 1 to 5; isotonic calibration makes the confidence a probability; SHAP lists the strongest drivers.</a:t>
            </a:r>
          </a:p>
        </p:txBody>
      </p:sp>
      <p:sp>
        <p:nvSpPr>
          <p:cNvPr id="38" name="Rounded Rectangle 37"/>
          <p:cNvSpPr/>
          <p:nvPr/>
        </p:nvSpPr>
        <p:spPr>
          <a:xfrm>
            <a:off x="8997696" y="1325880"/>
            <a:ext cx="2633472" cy="35661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9198864" y="1508760"/>
            <a:ext cx="502920" cy="502920"/>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4</a:t>
            </a:r>
          </a:p>
        </p:txBody>
      </p:sp>
      <p:sp>
        <p:nvSpPr>
          <p:cNvPr id="40" name="TextBox 39"/>
          <p:cNvSpPr txBox="1"/>
          <p:nvPr/>
        </p:nvSpPr>
        <p:spPr>
          <a:xfrm>
            <a:off x="9838944" y="1481328"/>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Review</a:t>
            </a:r>
          </a:p>
        </p:txBody>
      </p:sp>
      <p:sp>
        <p:nvSpPr>
          <p:cNvPr id="41" name="TextBox 40"/>
          <p:cNvSpPr txBox="1"/>
          <p:nvPr/>
        </p:nvSpPr>
        <p:spPr>
          <a:xfrm>
            <a:off x="9198864" y="2194560"/>
            <a:ext cx="2231136" cy="2560320"/>
          </a:xfrm>
          <a:prstGeom prst="rect">
            <a:avLst/>
          </a:prstGeom>
          <a:noFill/>
        </p:spPr>
        <p:txBody>
          <a:bodyPr wrap="square" lIns="0" rIns="0" tIns="0" bIns="0" anchor="t">
            <a:spAutoFit/>
          </a:bodyPr>
          <a:lstStyle/>
          <a:p>
            <a:pPr algn="l">
              <a:spcAft>
                <a:spcPts val="400"/>
              </a:spcAft>
            </a:pPr>
            <a:r>
              <a:rPr sz="1500" b="0" i="0">
                <a:solidFill>
                  <a:srgbClr val="475569"/>
                </a:solidFill>
              </a:rPr>
              <a:t>The clinician accepts or changes the priority with a reason; the override is stored, the queue reorders and a summary PDF can be downloaded.</a:t>
            </a:r>
          </a:p>
        </p:txBody>
      </p:sp>
      <p:sp>
        <p:nvSpPr>
          <p:cNvPr id="42" name="Rounded Rectangle 41"/>
          <p:cNvSpPr/>
          <p:nvPr/>
        </p:nvSpPr>
        <p:spPr>
          <a:xfrm>
            <a:off x="548640" y="5029200"/>
            <a:ext cx="11091672" cy="11887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777240" y="5303520"/>
            <a:ext cx="640080" cy="640080"/>
          </a:xfrm>
          <a:prstGeom prst="ellipse">
            <a:avLst/>
          </a:prstGeom>
          <a:solidFill>
            <a:srgbClr val="1B2A41"/>
          </a:solidFill>
          <a:ln w="9525">
            <a:solidFill>
              <a:srgbClr val="1B2A4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E</a:t>
            </a:r>
          </a:p>
        </p:txBody>
      </p:sp>
      <p:sp>
        <p:nvSpPr>
          <p:cNvPr id="44" name="TextBox 43"/>
          <p:cNvSpPr txBox="1"/>
          <p:nvPr/>
        </p:nvSpPr>
        <p:spPr>
          <a:xfrm>
            <a:off x="1645920" y="5138928"/>
            <a:ext cx="9784080" cy="411480"/>
          </a:xfrm>
          <a:prstGeom prst="rect">
            <a:avLst/>
          </a:prstGeom>
          <a:noFill/>
        </p:spPr>
        <p:txBody>
          <a:bodyPr wrap="square" lIns="0" rIns="0" tIns="0" bIns="0" anchor="t">
            <a:spAutoFit/>
          </a:bodyPr>
          <a:lstStyle/>
          <a:p>
            <a:pPr algn="l">
              <a:spcAft>
                <a:spcPts val="400"/>
              </a:spcAft>
            </a:pPr>
            <a:r>
              <a:rPr sz="1600" b="1" i="0">
                <a:solidFill>
                  <a:srgbClr val="0F172A"/>
                </a:solidFill>
              </a:rPr>
              <a:t>Evaluation plan: accuracy, within-one-level accuracy, per-priority recall and time per patient</a:t>
            </a:r>
          </a:p>
        </p:txBody>
      </p:sp>
      <p:sp>
        <p:nvSpPr>
          <p:cNvPr id="45" name="TextBox 44"/>
          <p:cNvSpPr txBox="1"/>
          <p:nvPr/>
        </p:nvSpPr>
        <p:spPr>
          <a:xfrm>
            <a:off x="1645920" y="5559552"/>
            <a:ext cx="9784080" cy="640080"/>
          </a:xfrm>
          <a:prstGeom prst="rect">
            <a:avLst/>
          </a:prstGeom>
          <a:noFill/>
        </p:spPr>
        <p:txBody>
          <a:bodyPr wrap="square" lIns="0" rIns="0" tIns="0" bIns="0" anchor="t">
            <a:spAutoFit/>
          </a:bodyPr>
          <a:lstStyle/>
          <a:p>
            <a:pPr algn="l">
              <a:spcAft>
                <a:spcPts val="400"/>
              </a:spcAft>
            </a:pPr>
            <a:r>
              <a:rPr sz="1400" b="0" i="0">
                <a:solidFill>
                  <a:srgbClr val="475569"/>
                </a:solidFill>
              </a:rPr>
              <a:t>Delivered as a FastAPI service with SQLite and a React console. No GPU, no external API key; decision support only.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High-level proposed architecture</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13</a:t>
            </a:fld>
            <a:endParaRPr lang="en-US"/>
          </a:p>
        </p:txBody>
      </p:sp>
      <p:pic>
        <p:nvPicPr>
          <p:cNvPr id="26" name="Picture 25" descr="01_system_architecture.png"/>
          <p:cNvPicPr>
            <a:picLocks noChangeAspect="1"/>
          </p:cNvPicPr>
          <p:nvPr/>
        </p:nvPicPr>
        <p:blipFill>
          <a:blip r:embed="rId1"/>
          <a:stretch>
            <a:fillRect/>
          </a:stretch>
        </p:blipFill>
        <p:spPr>
          <a:xfrm>
            <a:off x="766354" y="1097280"/>
            <a:ext cx="6422571" cy="5394960"/>
          </a:xfrm>
          <a:prstGeom prst="rect">
            <a:avLst/>
          </a:prstGeom>
        </p:spPr>
      </p:pic>
      <p:sp>
        <p:nvSpPr>
          <p:cNvPr id="27" name="TextBox 26"/>
          <p:cNvSpPr txBox="1"/>
          <p:nvPr/>
        </p:nvSpPr>
        <p:spPr>
          <a:xfrm>
            <a:off x="7589520" y="1371600"/>
            <a:ext cx="4023360" cy="4754880"/>
          </a:xfrm>
          <a:prstGeom prst="rect">
            <a:avLst/>
          </a:prstGeom>
          <a:noFill/>
        </p:spPr>
        <p:txBody>
          <a:bodyPr wrap="square" lIns="0" rIns="0" tIns="0" bIns="0" anchor="t">
            <a:spAutoFit/>
          </a:bodyPr>
          <a:lstStyle/>
          <a:p>
            <a:pPr algn="l">
              <a:spcAft>
                <a:spcPts val="800"/>
              </a:spcAft>
            </a:pPr>
            <a:r>
              <a:rPr sz="1500" b="1" i="0">
                <a:solidFill>
                  <a:srgbClr val="0F172A"/>
                </a:solidFill>
              </a:rPr>
              <a:t>Layers</a:t>
            </a:r>
          </a:p>
          <a:p>
            <a:pPr algn="l" marL="256032" indent="-201168">
              <a:spcAft>
                <a:spcPts val="400"/>
              </a:spcAft>
              <a:buChar char="•"/>
            </a:pPr>
            <a:r>
              <a:rPr sz="1500" b="0" i="0">
                <a:solidFill>
                  <a:srgbClr val="0F172A"/>
                </a:solidFill>
              </a:rPr>
              <a:t>Presentation: React and Vite console (port 5307) with six screens.</a:t>
            </a:r>
          </a:p>
          <a:p>
            <a:pPr algn="l" marL="256032" indent="-201168">
              <a:spcAft>
                <a:spcPts val="400"/>
              </a:spcAft>
              <a:buChar char="•"/>
            </a:pPr>
            <a:r>
              <a:rPr sz="1500" b="0" i="0">
                <a:solidFill>
                  <a:srgbClr val="0F172A"/>
                </a:solidFill>
              </a:rPr>
              <a:t>Application: FastAPI service (port 8307) with sign-in, upload limits and input checks.</a:t>
            </a:r>
          </a:p>
          <a:p>
            <a:pPr algn="l" marL="256032" indent="-201168">
              <a:spcAft>
                <a:spcPts val="400"/>
              </a:spcAft>
              <a:buChar char="•"/>
            </a:pPr>
            <a:r>
              <a:rPr sz="1500" b="0" i="0">
                <a:solidFill>
                  <a:srgbClr val="0F172A"/>
                </a:solidFill>
              </a:rPr>
              <a:t>Services: report reader, fused record, triage model with SHAP, summary PDF.</a:t>
            </a:r>
          </a:p>
          <a:p>
            <a:pPr algn="l" marL="256032" indent="-201168">
              <a:spcAft>
                <a:spcPts val="400"/>
              </a:spcAft>
              <a:buChar char="•"/>
            </a:pPr>
            <a:r>
              <a:rPr sz="1500" b="0" i="0">
                <a:solidFill>
                  <a:srgbClr val="0F172A"/>
                </a:solidFill>
              </a:rPr>
              <a:t>Data: SQLite for users, patients and overrides; model file and sample reports on local disk.</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Expected outcomes and contributions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14</a:t>
            </a:fld>
            <a:endParaRPr lang="en-US"/>
          </a:p>
        </p:txBody>
      </p:sp>
      <p:sp>
        <p:nvSpPr>
          <p:cNvPr id="26" name="Rounded Rectangle 25"/>
          <p:cNvSpPr/>
          <p:nvPr/>
        </p:nvSpPr>
        <p:spPr>
          <a:xfrm>
            <a:off x="548640" y="1371600"/>
            <a:ext cx="3520440" cy="25146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5448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28" name="TextBox 27"/>
          <p:cNvSpPr txBox="1"/>
          <p:nvPr/>
        </p:nvSpPr>
        <p:spPr>
          <a:xfrm>
            <a:off x="1389888"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Working prototype</a:t>
            </a:r>
          </a:p>
        </p:txBody>
      </p:sp>
      <p:sp>
        <p:nvSpPr>
          <p:cNvPr id="29" name="TextBox 28"/>
          <p:cNvSpPr txBox="1"/>
          <p:nvPr/>
        </p:nvSpPr>
        <p:spPr>
          <a:xfrm>
            <a:off x="749808" y="2240280"/>
            <a:ext cx="3118104" cy="1508760"/>
          </a:xfrm>
          <a:prstGeom prst="rect">
            <a:avLst/>
          </a:prstGeom>
          <a:noFill/>
        </p:spPr>
        <p:txBody>
          <a:bodyPr wrap="square" lIns="0" rIns="0" tIns="0" bIns="0" anchor="t">
            <a:spAutoFit/>
          </a:bodyPr>
          <a:lstStyle/>
          <a:p>
            <a:pPr algn="l">
              <a:spcAft>
                <a:spcPts val="400"/>
              </a:spcAft>
            </a:pPr>
            <a:r>
              <a:rPr sz="1500" b="0" i="0">
                <a:solidFill>
                  <a:srgbClr val="475569"/>
                </a:solidFill>
              </a:rPr>
              <a:t>Upload a report, enter vitals, get priority, risk level and calibrated confidence, review the case and see a live queue. A prototype already runs end to end.</a:t>
            </a:r>
          </a:p>
        </p:txBody>
      </p:sp>
      <p:sp>
        <p:nvSpPr>
          <p:cNvPr id="30" name="Rounded Rectangle 29"/>
          <p:cNvSpPr/>
          <p:nvPr/>
        </p:nvSpPr>
        <p:spPr>
          <a:xfrm>
            <a:off x="4334255" y="1371600"/>
            <a:ext cx="3520440" cy="25146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4535423" y="155448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2" name="TextBox 31"/>
          <p:cNvSpPr txBox="1"/>
          <p:nvPr/>
        </p:nvSpPr>
        <p:spPr>
          <a:xfrm>
            <a:off x="5175503"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Explained decisions</a:t>
            </a:r>
          </a:p>
        </p:txBody>
      </p:sp>
      <p:sp>
        <p:nvSpPr>
          <p:cNvPr id="33" name="TextBox 32"/>
          <p:cNvSpPr txBox="1"/>
          <p:nvPr/>
        </p:nvSpPr>
        <p:spPr>
          <a:xfrm>
            <a:off x="4535423" y="2240280"/>
            <a:ext cx="3118104" cy="1508760"/>
          </a:xfrm>
          <a:prstGeom prst="rect">
            <a:avLst/>
          </a:prstGeom>
          <a:noFill/>
        </p:spPr>
        <p:txBody>
          <a:bodyPr wrap="square" lIns="0" rIns="0" tIns="0" bIns="0" anchor="t">
            <a:spAutoFit/>
          </a:bodyPr>
          <a:lstStyle/>
          <a:p>
            <a:pPr algn="l">
              <a:spcAft>
                <a:spcPts val="400"/>
              </a:spcAft>
            </a:pPr>
            <a:r>
              <a:rPr sz="1500" b="0" i="0">
                <a:solidFill>
                  <a:srgbClr val="475569"/>
                </a:solidFill>
              </a:rPr>
              <a:t>Per-patient SHAP reasons next to the decision, with the page each finding came from, and a stored accept-or-change record.</a:t>
            </a:r>
          </a:p>
        </p:txBody>
      </p:sp>
      <p:sp>
        <p:nvSpPr>
          <p:cNvPr id="34" name="Rounded Rectangle 33"/>
          <p:cNvSpPr/>
          <p:nvPr/>
        </p:nvSpPr>
        <p:spPr>
          <a:xfrm>
            <a:off x="8119871" y="1371600"/>
            <a:ext cx="3520440" cy="25146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8321040" y="155448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3</a:t>
            </a:r>
          </a:p>
        </p:txBody>
      </p:sp>
      <p:sp>
        <p:nvSpPr>
          <p:cNvPr id="36" name="TextBox 35"/>
          <p:cNvSpPr txBox="1"/>
          <p:nvPr/>
        </p:nvSpPr>
        <p:spPr>
          <a:xfrm>
            <a:off x="8961119"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Honest evaluation</a:t>
            </a:r>
          </a:p>
        </p:txBody>
      </p:sp>
      <p:sp>
        <p:nvSpPr>
          <p:cNvPr id="37" name="TextBox 36"/>
          <p:cNvSpPr txBox="1"/>
          <p:nvPr/>
        </p:nvSpPr>
        <p:spPr>
          <a:xfrm>
            <a:off x="8321040" y="2240280"/>
            <a:ext cx="3118104" cy="1508760"/>
          </a:xfrm>
          <a:prstGeom prst="rect">
            <a:avLst/>
          </a:prstGeom>
          <a:noFill/>
        </p:spPr>
        <p:txBody>
          <a:bodyPr wrap="square" lIns="0" rIns="0" tIns="0" bIns="0" anchor="t">
            <a:spAutoFit/>
          </a:bodyPr>
          <a:lstStyle/>
          <a:p>
            <a:pPr algn="l">
              <a:spcAft>
                <a:spcPts val="400"/>
              </a:spcAft>
            </a:pPr>
            <a:r>
              <a:rPr sz="1500" b="0" i="0">
                <a:solidFill>
                  <a:srgbClr val="475569"/>
                </a:solidFill>
              </a:rPr>
              <a:t>Accuracy, within-one-level accuracy, per-priority recall, calibration and time per patient, with the weak points reported.</a:t>
            </a:r>
          </a:p>
        </p:txBody>
      </p:sp>
      <p:sp>
        <p:nvSpPr>
          <p:cNvPr id="38" name="Rounded Rectangle 37"/>
          <p:cNvSpPr/>
          <p:nvPr/>
        </p:nvSpPr>
        <p:spPr>
          <a:xfrm>
            <a:off x="548640" y="4023360"/>
            <a:ext cx="5440680" cy="21945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749808" y="4206240"/>
            <a:ext cx="502920" cy="502920"/>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4</a:t>
            </a:r>
          </a:p>
        </p:txBody>
      </p:sp>
      <p:sp>
        <p:nvSpPr>
          <p:cNvPr id="40" name="TextBox 39"/>
          <p:cNvSpPr txBox="1"/>
          <p:nvPr/>
        </p:nvSpPr>
        <p:spPr>
          <a:xfrm>
            <a:off x="1389888" y="417880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Comparison with base paper</a:t>
            </a:r>
          </a:p>
        </p:txBody>
      </p:sp>
      <p:sp>
        <p:nvSpPr>
          <p:cNvPr id="41" name="TextBox 40"/>
          <p:cNvSpPr txBox="1"/>
          <p:nvPr/>
        </p:nvSpPr>
        <p:spPr>
          <a:xfrm>
            <a:off x="749808" y="4892040"/>
            <a:ext cx="5038344" cy="1188719"/>
          </a:xfrm>
          <a:prstGeom prst="rect">
            <a:avLst/>
          </a:prstGeom>
          <a:noFill/>
        </p:spPr>
        <p:txBody>
          <a:bodyPr wrap="square" lIns="0" rIns="0" tIns="0" bIns="0" anchor="t">
            <a:spAutoFit/>
          </a:bodyPr>
          <a:lstStyle/>
          <a:p>
            <a:pPr algn="l">
              <a:spcAft>
                <a:spcPts val="400"/>
              </a:spcAft>
            </a:pPr>
            <a:r>
              <a:rPr sz="1600" b="0" i="0">
                <a:solidFill>
                  <a:srgbClr val="475569"/>
                </a:solidFill>
              </a:rPr>
              <a:t>Parallels with the base paper (probability ranking, confidence threshold, SHAP) with every difference in data and task stated.</a:t>
            </a:r>
          </a:p>
        </p:txBody>
      </p:sp>
      <p:sp>
        <p:nvSpPr>
          <p:cNvPr id="42" name="Rounded Rectangle 41"/>
          <p:cNvSpPr/>
          <p:nvPr/>
        </p:nvSpPr>
        <p:spPr>
          <a:xfrm>
            <a:off x="6199631" y="4023360"/>
            <a:ext cx="5440680" cy="21945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6400799" y="420624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5</a:t>
            </a:r>
          </a:p>
        </p:txBody>
      </p:sp>
      <p:sp>
        <p:nvSpPr>
          <p:cNvPr id="44" name="TextBox 43"/>
          <p:cNvSpPr txBox="1"/>
          <p:nvPr/>
        </p:nvSpPr>
        <p:spPr>
          <a:xfrm>
            <a:off x="7040879" y="417880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Stated limits</a:t>
            </a:r>
          </a:p>
        </p:txBody>
      </p:sp>
      <p:sp>
        <p:nvSpPr>
          <p:cNvPr id="45" name="TextBox 44"/>
          <p:cNvSpPr txBox="1"/>
          <p:nvPr/>
        </p:nvSpPr>
        <p:spPr>
          <a:xfrm>
            <a:off x="6400799" y="4892040"/>
            <a:ext cx="5038344" cy="1188719"/>
          </a:xfrm>
          <a:prstGeom prst="rect">
            <a:avLst/>
          </a:prstGeom>
          <a:noFill/>
        </p:spPr>
        <p:txBody>
          <a:bodyPr wrap="square" lIns="0" rIns="0" tIns="0" bIns="0" anchor="t">
            <a:spAutoFit/>
          </a:bodyPr>
          <a:lstStyle/>
          <a:p>
            <a:pPr algn="l">
              <a:spcAft>
                <a:spcPts val="400"/>
              </a:spcAft>
            </a:pPr>
            <a:r>
              <a:rPr sz="1600" b="0" i="0">
                <a:solidFill>
                  <a:srgbClr val="475569"/>
                </a:solidFill>
              </a:rPr>
              <a:t>Trained on seeded synthetic data, rule-based report reader, no user study: each limit documented, not hidden.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References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15</a:t>
            </a:fld>
            <a:endParaRPr lang="en-US"/>
          </a:p>
        </p:txBody>
      </p:sp>
      <p:sp>
        <p:nvSpPr>
          <p:cNvPr id="26" name="TextBox 25"/>
          <p:cNvSpPr txBox="1"/>
          <p:nvPr/>
        </p:nvSpPr>
        <p:spPr>
          <a:xfrm>
            <a:off x="548640" y="1188720"/>
            <a:ext cx="11091672" cy="5303520"/>
          </a:xfrm>
          <a:prstGeom prst="rect">
            <a:avLst/>
          </a:prstGeom>
          <a:noFill/>
        </p:spPr>
        <p:txBody>
          <a:bodyPr wrap="square" lIns="0" rIns="0" tIns="0" bIns="0" anchor="t">
            <a:spAutoFit/>
          </a:bodyPr>
          <a:lstStyle/>
          <a:p>
            <a:pPr algn="l">
              <a:spcAft>
                <a:spcPts val="500"/>
              </a:spcAft>
            </a:pPr>
            <a:r>
              <a:rPr sz="1250" b="0" i="0">
                <a:solidFill>
                  <a:srgbClr val="0F172A"/>
                </a:solidFill>
              </a:rPr>
              <a:t>[1] M. Mlodawski, S. Deniziak, M. Plaza, A. Kwiatkowska, D. Jaszczyk, A. Gajda and K. Twardowski, "Multidimensional analysis of the diagnostic performance of machine learning models in disease classification: implications for clinical decision support systems," IEEE Access, vol. 14, pp. 92149-92177, 2026, doi: 10.1109/ACCESS.2026.3703248.</a:t>
            </a:r>
          </a:p>
          <a:p>
            <a:pPr algn="l">
              <a:spcAft>
                <a:spcPts val="500"/>
              </a:spcAft>
            </a:pPr>
            <a:r>
              <a:rPr sz="1250" b="0" i="0">
                <a:solidFill>
                  <a:srgbClr val="0F172A"/>
                </a:solidFill>
              </a:rPr>
              <a:t>[6] H. Cheng, C. Yu, Y. Shi, C. Wang, C. Liu and Z. Jin, "Collaborative medical triage under uncertainty: a multi-agent dynamic matching approach," arXiv:2507.22504, Jul. 2025.</a:t>
            </a:r>
          </a:p>
          <a:p>
            <a:pPr algn="l">
              <a:spcAft>
                <a:spcPts val="500"/>
              </a:spcAft>
            </a:pPr>
            <a:r>
              <a:rPr sz="1250" b="0" i="0">
                <a:solidFill>
                  <a:srgbClr val="0F172A"/>
                </a:solidFill>
              </a:rPr>
              <a:t>[8] M. Fernandes, S. M. Vieira, F. Leite, C. Palos, S. Finkelstein and J. M. C. Sousa, "Clinical decision support systems for triage in the emergency department using intelligent systems: a review," Artif. Intell. Med., vol. 102, Art. no. 101762, Jan. 2020, doi: 10.1016/j.artmed.2019.101762.</a:t>
            </a:r>
          </a:p>
          <a:p>
            <a:pPr algn="l">
              <a:spcAft>
                <a:spcPts val="500"/>
              </a:spcAft>
            </a:pPr>
            <a:r>
              <a:rPr sz="1250" b="0" i="0">
                <a:solidFill>
                  <a:srgbClr val="0F172A"/>
                </a:solidFill>
              </a:rPr>
              <a:t>[9] J. S. Hinson, D. A. Martinez, S. Cabral et al., "Triage performance in emergency medicine: a systematic review," Ann. Emerg. Med., vol. 74, no. 1, pp. 140-152, Jul. 2019, doi: 10.1016/j.annemergmed.2018.09.022.</a:t>
            </a:r>
          </a:p>
          <a:p>
            <a:pPr algn="l">
              <a:spcAft>
                <a:spcPts val="500"/>
              </a:spcAft>
            </a:pPr>
            <a:r>
              <a:rPr sz="1250" b="0" i="0">
                <a:solidFill>
                  <a:srgbClr val="0F172A"/>
                </a:solidFill>
              </a:rPr>
              <a:t>[10] W. S. Hong, A. D. Haimovich and R. A. Taylor, "Predicting hospital admission at emergency department triage using machine learning," PLoS ONE, vol. 13, no. 7, Art. no. e0201016, Jul. 2018, doi: 10.1371/journal.pone.0201016.</a:t>
            </a:r>
          </a:p>
          <a:p>
            <a:pPr algn="l">
              <a:spcAft>
                <a:spcPts val="500"/>
              </a:spcAft>
            </a:pPr>
            <a:r>
              <a:rPr sz="1250" b="0" i="0">
                <a:solidFill>
                  <a:srgbClr val="0F172A"/>
                </a:solidFill>
              </a:rPr>
              <a:t>[11] S. Levin et al., "Machine-learning-based electronic triage more accurately differentiates patients with respect to clinical outcomes compared with the Emergency Severity Index," Ann. Emerg. Med., vol. 71, no. 5, pp. 565-574, May 2018, doi: 10.1016/j.annemergmed.2017.08.005.</a:t>
            </a:r>
          </a:p>
          <a:p>
            <a:pPr algn="l">
              <a:spcAft>
                <a:spcPts val="500"/>
              </a:spcAft>
            </a:pPr>
            <a:r>
              <a:rPr sz="1250" b="0" i="0">
                <a:solidFill>
                  <a:srgbClr val="0F172A"/>
                </a:solidFill>
              </a:rPr>
              <a:t>[12] Y. Raita et al., "Emergency department triage prediction of clinical outcomes using machine learning models," Crit. Care, vol. 23, Art. no. 64, Feb. 2019, doi: 10.1186/s13054-019-2351-7.</a:t>
            </a:r>
          </a:p>
          <a:p>
            <a:pPr algn="l">
              <a:spcAft>
                <a:spcPts val="500"/>
              </a:spcAft>
            </a:pPr>
            <a:r>
              <a:rPr sz="1250" b="0" i="0">
                <a:solidFill>
                  <a:srgbClr val="0F172A"/>
                </a:solidFill>
              </a:rPr>
              <a:t>[14] N. Gilboy, P. Tanabe, D. Travers and A. M. Rosenau, Emergency Severity Index (ESI): A Triage Tool for Emergency Department Care, Version 4, Implementation Handbook 2012 Edition, AHRQ Pub. no. 12-0014. Rockville, MD, USA: Agency for Healthcare Research and Quality, 2011.</a:t>
            </a:r>
          </a:p>
          <a:p>
            <a:pPr algn="l">
              <a:spcAft>
                <a:spcPts val="500"/>
              </a:spcAft>
            </a:pPr>
            <a:r>
              <a:rPr sz="1250" b="0" i="0">
                <a:solidFill>
                  <a:srgbClr val="0F172A"/>
                </a:solidFill>
              </a:rPr>
              <a:t>[15] T. Chen and C. Guestrin, "XGBoost: a scalable tree boosting system," in Proc. 22nd ACM SIGKDD Int. Conf. Knowl. Discovery Data Mining, San Francisco, CA, USA, 2016, pp. 785-794, doi: 10.1145/2939672.2939785.</a:t>
            </a:r>
          </a:p>
          <a:p>
            <a:pPr algn="l">
              <a:spcAft>
                <a:spcPts val="500"/>
              </a:spcAft>
            </a:pPr>
            <a:r>
              <a:rPr sz="1250" b="0" i="0">
                <a:solidFill>
                  <a:srgbClr val="0F172A"/>
                </a:solidFill>
              </a:rPr>
              <a:t>[16] S. M. Lundberg and S.-I. Lee, "A unified approach to interpreting model predictions," in Proc. Adv. Neural Inf. Process. Syst. (NeurIPS), vol. 30, 2017, pp. 4765-4774, arXiv:1705.07874.</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94415" cy="118872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3" name="Text 0"/>
          <p:cNvSpPr/>
          <p:nvPr>
            <p:ph idx="101" type="body" hasCustomPrompt="1"/>
          </p:nvPr>
        </p:nvSpPr>
        <p:spPr>
          <a:xfrm>
            <a:off x="548640" y="3474720"/>
            <a:ext cx="11094415" cy="1463040"/>
          </a:xfrm>
          <a:prstGeom prst="rect">
            <a:avLst/>
          </a:prstGeom>
          <a:noFill/>
          <a:ln/>
        </p:spPr>
        <p:txBody>
          <a:bodyPr wrap="square" lIns="0" tIns="0" rIns="0" bIns="0" rtlCol="0" anchor="t"/>
          <a:lstStyle/>
          <a:p>
            <a:pPr algn="l" indent="0" marL="0">
              <a:buNone/>
            </a:pPr>
            <a:r>
              <a:rPr lang="en-US" sz="2000" dirty="0">
                <a:solidFill>
                  <a:srgbClr val="CADCFC"/>
                </a:solidFill>
                <a:latin typeface="Calibri" pitchFamily="34" charset="0"/>
                <a:ea typeface="Calibri" pitchFamily="34" charset="-122"/>
                <a:cs typeface="Calibri" pitchFamily="34" charset="-120"/>
              </a:rPr>
              <a:t>Questions and suggestions are welcome.</a:t>
            </a:r>
            <a:endParaRPr lang="en-US" sz="2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ATHENA">
  <a:themeElements>
    <a:clrScheme name="ATHENA">
      <a:dk1>
        <a:srgbClr val="0F172A"/>
      </a:dk1>
      <a:lt1>
        <a:srgbClr val="FFFFFF"/>
      </a:lt1>
      <a:dk2>
        <a:srgbClr val="1B2A41"/>
      </a:dk2>
      <a:lt2>
        <a:srgbClr val="EEF2F7"/>
      </a:lt2>
      <a:accent1>
        <a:srgbClr val="2A78D6"/>
      </a:accent1>
      <a:accent2>
        <a:srgbClr val="EB6834"/>
      </a:accent2>
      <a:accent3>
        <a:srgbClr val="1BAF7A"/>
      </a:accent3>
      <a:accent4>
        <a:srgbClr val="EDA100"/>
      </a:accent4>
      <a:accent5>
        <a:srgbClr val="6250D6"/>
      </a:accent5>
      <a:accent6>
        <a:srgbClr val="E34948"/>
      </a:accent6>
      <a:hlink>
        <a:srgbClr val="2A78D6"/>
      </a:hlink>
      <a:folHlink>
        <a:srgbClr val="6250D6"/>
      </a:folHlink>
    </a:clrScheme>
    <a:fontScheme name="ATHEN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ATHEN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ATHENA - Autonomous Triage and Healthcare Electronic Neural Assistant: Review 1</dc:title>
  <dc:subject>Batch A7 (CSE-A)</dc:subject>
  <dc:creator>Badaveni Srinath, Basani Avinash, Degala Praneeth, Bontha Saisree</dc:creator>
  <cp:lastModifiedBy/>
  <cp:revision>1</cp:revision>
  <dcterms:created xsi:type="dcterms:W3CDTF">2026-10-13T12:36:40Z</dcterms:created>
  <dcterms:modified xsi:type="dcterms:W3CDTF">2026-10-13T12:36:40Z</dcterms:modified>
  <cp:keywords>emergency triage, clinical decision support, OCR, XGBoost, SHAP, explainable AI</cp:keywords>
  <dc:description/>
</cp:coreProperties>
</file>