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0aec94-eb0f-294a-de05-1614c3997827}">
          <p14:sldIdLst>
            <p14:sldId id="256"/>
            <p14:sldId id="257"/>
            <p14:sldId id="258"/>
          </p14:sldIdLst>
        </p14:section>
        <p14:section name="Research" id="{c5b655bf-1c78-45d9-2d43-c8947840fc05}">
          <p14:sldIdLst>
            <p14:sldId id="259"/>
            <p14:sldId id="260"/>
            <p14:sldId id="261"/>
          </p14:sldIdLst>
        </p14:section>
        <p14:section name="Problem" id="{c83c02f1-f6cc-56f3-d67e-57d82ce85a28}">
          <p14:sldIdLst>
            <p14:sldId id="262"/>
            <p14:sldId id="263"/>
            <p14:sldId id="264"/>
            <p14:sldId id="265"/>
            <p14:sldId id="266"/>
          </p14:sldIdLst>
        </p14:section>
        <p14:section name="Proposed solution" id="{0d7ed7fb-f0c3-288f-402c-2a68d644f815}">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Headline result</c:v>
                </c:pt>
              </c:strCache>
            </c:strRef>
          </c:tx>
          <c:spPr>
            <a:solidFill>
              <a:srgbClr val="2A78D6"/>
            </a:solidFill>
          </c:spPr>
          <c:cat>
            <c:strRef>
              <c:f>Sheet1!$A$2:$A$6</c:f>
              <c:strCache>
                <c:ptCount val="5"/>
                <c:pt idx="0">
                  <c:v>Baroutian
2025
accuracy</c:v>
                </c:pt>
                <c:pt idx="1">
                  <c:v>Chai
2025
MLP acc.</c:v>
                </c:pt>
                <c:pt idx="2">
                  <c:v>Acharya
2024
4 levels</c:v>
                </c:pt>
                <c:pt idx="3">
                  <c:v>Deuber
2026
AUROC</c:v>
                </c:pt>
                <c:pt idx="4">
                  <c:v>Feng, Li
2026
recall</c:v>
                </c:pt>
              </c:strCache>
            </c:strRef>
          </c:cat>
          <c:val>
            <c:numRef>
              <c:f>Sheet1!$B$2:$B$6</c:f>
              <c:numCache>
                <c:formatCode>General</c:formatCode>
                <c:ptCount val="5"/>
                <c:pt idx="0">
                  <c:v>0.9582</c:v>
                </c:pt>
                <c:pt idx="1">
                  <c:v>0.9</c:v>
                </c:pt>
                <c:pt idx="2">
                  <c:v>0.851</c:v>
                </c:pt>
                <c:pt idx="3">
                  <c:v>0.88</c:v>
                </c:pt>
                <c:pt idx="4">
                  <c:v>0.894</c:v>
                </c:pt>
              </c:numCache>
            </c:numRef>
          </c:val>
        </c:ser>
        <c:dLbls>
          <c:numFmt formatCode="0.0%"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1.1"/>
          <c:min val="0.0"/>
        </c:scaling>
        <c:delete val="0"/>
        <c:axPos val="l"/>
        <c:majorGridlines>
          <c:spPr>
            <a:ln>
              <a:solidFill>
                <a:srgbClr val="D5DCE6"/>
              </a:solidFill>
            </a:ln>
          </c:spPr>
        </c:majorGridlines>
        <c:numFmt formatCode="0.0%" sourceLinked="0"/>
        <c:majorTickMark val="out"/>
        <c:minorTickMark val="none"/>
        <c:tickLblPos val="nextTo"/>
        <c:spPr>
          <a:ln>
            <a:noFill/>
          </a:ln>
        </c:spPr>
        <c:crossAx val="-2068027336"/>
        <c:crosses val="autoZero"/>
      </c:valAx>
    </c:plotArea>
    <c:dispBlanksAs val="gap"/>
  </c:chart>
  <c:txPr>
    <a:bodyPr/>
    <a:lstStyle/>
    <a:p>
      <a:pPr>
        <a:defRPr sz="11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project title. One honest sentence up front: the batch title says intoxication, but a camera cannot confirm alcohol; what we built is an explainable warning for possible drowsiness or impairment from eye and head cues.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This review is about why the problem matters and what is missing in current work; results come in the later reviews.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parts: problem, approach, limits. Say the limits aloud: the abstract in the batch file speaks of intoxication and a Safe or Intoxicated label; the delivered prototype is rule-based and stationary, and we state that plainly.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citation. The base paper is a drowsiness and distraction monitor, not an alcohol detector. Numbers are the paper's own, from its text and abstract; they were measured on different data and hardware than ours, so they are context, not a target.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Pattern: video and thermal studies reach 85 to 96 percent but need special data or cameras; the wearable needs a device; EAR is the standard cheap eye measure. We read the PDFs of [1] to [3]; [5] and [8] are abstract only. The ICOEI 2026 taxi paper in the batch list could not be located, so it is not quoted.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Left: what the literature reports. Right: our own first measurement, only to show the EAR signal is informative. Closed and open faces come from different sources, so the separation may be optimistic; it says nothing about alcohol.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today's path: a check that happens occasionally, a penalty afterwards. Research prototypes exist but are not everyday tools.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limitations. Each informs a design choice later: a continuous camera view, explainable rules, only a webcam, and a stated evaluation protocol.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first row is the gap stated in the batch literature survey. The other rows are what we found while trying to close it, and the last row is the part we actually address.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statement slowly. Note the three outputs: the third one, Unable to assess, is deliberate. The system never guesses from a poor image.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 objectives from the project proposal, each with its honest status. Achieved: 1 and 4 (as rules). Partly: 2 and 6. Not achieved: 3 (no intoxication data, no deep-learning model) and 5 (no prevention action). The full wording of the objectives is in the report, Chapter 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stages and the application around them. The classifier and the prevention action are future work: they need a consented labelled dataset and a vehicle interface that we did not have.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diagram: front ends on the left, the API, the shared vision and rule modules, and the local data stores. Frames stay in memory and are never saved.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expected outcomes, not results. We report whatever the measurements show, including weaknesses, and we state what is out of scope.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the full list is in the project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rules and not deep learning (no intoxication data, explainability); can it detect alcohol (no, a camera cannot confirm it); what about the ignition lock (future work).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Smart Alcohol Intoxication Detection and Prevention System Using AI  ·  Review 1</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3400" b="1" dirty="0">
                <a:solidFill>
                  <a:srgbClr val="FFFFFF"/>
                </a:solidFill>
                <a:latin typeface="Cambria" pitchFamily="34" charset="0"/>
                <a:ea typeface="Cambria" pitchFamily="34" charset="-122"/>
                <a:cs typeface="Cambria" pitchFamily="34" charset="-120"/>
              </a:rPr>
              <a:t>Smart Alcohol Intoxication Detection and Prevention System Using AI</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Prototype: Smart Rider Impairment Warning System for Two-Wheelers. Explainable eye and head cues from a webcam; a camera cannot confirm alcohol use</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1  ·  PROBLEM IDENTIFICATION AND RESEARCH</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B PRANITHA  23K91A0522</a:t>
            </a:r>
            <a:endParaRPr lang="en-US" sz="1500" dirty="0"/>
          </a:p>
          <a:p>
            <a:pPr indent="0" marL="0">
              <a:buNone/>
            </a:pPr>
            <a:r>
              <a:rPr lang="en-US" sz="1500" dirty="0">
                <a:solidFill>
                  <a:srgbClr val="FFFFFF"/>
                </a:solidFill>
              </a:rPr>
              <a:t>BANTU KAVYA  23K91A0531</a:t>
            </a:r>
            <a:endParaRPr lang="en-US" sz="1500" dirty="0"/>
          </a:p>
          <a:p>
            <a:pPr indent="0" marL="0">
              <a:buNone/>
            </a:pPr>
            <a:r>
              <a:rPr lang="en-US" sz="1500" dirty="0">
                <a:solidFill>
                  <a:srgbClr val="FFFFFF"/>
                </a:solidFill>
              </a:rPr>
              <a:t>DASARI VIVEKA SARVESHWARI  23K91A0560</a:t>
            </a:r>
            <a:endParaRPr lang="en-US" sz="1500" dirty="0"/>
          </a:p>
          <a:p>
            <a:pPr indent="0" marL="0">
              <a:buNone/>
            </a:pPr>
            <a:r>
              <a:rPr lang="en-US" sz="1500" dirty="0">
                <a:solidFill>
                  <a:srgbClr val="FFFFFF"/>
                </a:solidFill>
              </a:rPr>
              <a:t>BEKKAM VAMSHI  23K91A0534</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N. PADMAVATHI,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TKR College of Engineering and Technology (Autonomous)  ·  Batch A6 (CSE-A)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Abstract and overview</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Base paper</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Literature survey</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Existing approaches and limitations</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Research gap</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Problem statement and objectives</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Proposed approach and architecture</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Expected outcomes</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Abstract: warn early, say so when unsure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problem</a:t>
            </a:r>
          </a:p>
        </p:txBody>
      </p:sp>
      <p:sp>
        <p:nvSpPr>
          <p:cNvPr id="29" name="TextBox 28"/>
          <p:cNvSpPr txBox="1"/>
          <p:nvPr/>
        </p:nvSpPr>
        <p:spPr>
          <a:xfrm>
            <a:off x="749808" y="2240280"/>
            <a:ext cx="3118104" cy="3474720"/>
          </a:xfrm>
          <a:prstGeom prst="rect">
            <a:avLst/>
          </a:prstGeom>
          <a:noFill/>
        </p:spPr>
        <p:txBody>
          <a:bodyPr wrap="square" lIns="0" rIns="0" tIns="0" bIns="0" anchor="t">
            <a:spAutoFit/>
          </a:bodyPr>
          <a:lstStyle/>
          <a:p>
            <a:pPr algn="l">
              <a:spcAft>
                <a:spcPts val="400"/>
              </a:spcAft>
            </a:pPr>
            <a:r>
              <a:rPr sz="2000" b="0" i="0">
                <a:solidFill>
                  <a:srgbClr val="475569"/>
                </a:solidFill>
              </a:rPr>
              <a:t>Impaired and drowsy riding is a major road-safety risk, and roadside breath checks are occasional. Existing driver monitoring mostly targets drowsiness, and intoxication research needs special data or sensors.</a:t>
            </a:r>
          </a:p>
        </p:txBody>
      </p:sp>
      <p:sp>
        <p:nvSpPr>
          <p:cNvPr id="30" name="Rounded Rectangle 29"/>
          <p:cNvSpPr/>
          <p:nvPr/>
        </p:nvSpPr>
        <p:spPr>
          <a:xfrm>
            <a:off x="4334255"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Our approach</a:t>
            </a:r>
          </a:p>
        </p:txBody>
      </p:sp>
      <p:sp>
        <p:nvSpPr>
          <p:cNvPr id="33" name="TextBox 32"/>
          <p:cNvSpPr txBox="1"/>
          <p:nvPr/>
        </p:nvSpPr>
        <p:spPr>
          <a:xfrm>
            <a:off x="4535423" y="2240280"/>
            <a:ext cx="3118104" cy="3474720"/>
          </a:xfrm>
          <a:prstGeom prst="rect">
            <a:avLst/>
          </a:prstGeom>
          <a:noFill/>
        </p:spPr>
        <p:txBody>
          <a:bodyPr wrap="square" lIns="0" rIns="0" tIns="0" bIns="0" anchor="t">
            <a:spAutoFit/>
          </a:bodyPr>
          <a:lstStyle/>
          <a:p>
            <a:pPr algn="l">
              <a:spcAft>
                <a:spcPts val="400"/>
              </a:spcAft>
            </a:pPr>
            <a:r>
              <a:rPr sz="2000" b="0" i="0">
                <a:solidFill>
                  <a:srgbClr val="475569"/>
                </a:solidFill>
              </a:rPr>
              <a:t>A webcam is read with MediaPipe face landmarks. Eye closure, closed-eye fraction and head tilt are judged by transparent rules, with a per-rider calibration and quality gates that answer 'Unable to assess' instead of guessing.</a:t>
            </a:r>
          </a:p>
        </p:txBody>
      </p:sp>
      <p:sp>
        <p:nvSpPr>
          <p:cNvPr id="34" name="Rounded Rectangle 33"/>
          <p:cNvSpPr/>
          <p:nvPr/>
        </p:nvSpPr>
        <p:spPr>
          <a:xfrm>
            <a:off x="8119871"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What it is not</a:t>
            </a:r>
          </a:p>
        </p:txBody>
      </p:sp>
      <p:sp>
        <p:nvSpPr>
          <p:cNvPr id="37" name="TextBox 36"/>
          <p:cNvSpPr txBox="1"/>
          <p:nvPr/>
        </p:nvSpPr>
        <p:spPr>
          <a:xfrm>
            <a:off x="8321040" y="2240280"/>
            <a:ext cx="3118104" cy="3474720"/>
          </a:xfrm>
          <a:prstGeom prst="rect">
            <a:avLst/>
          </a:prstGeom>
          <a:noFill/>
        </p:spPr>
        <p:txBody>
          <a:bodyPr wrap="square" lIns="0" rIns="0" tIns="0" bIns="0" anchor="t">
            <a:spAutoFit/>
          </a:bodyPr>
          <a:lstStyle/>
          <a:p>
            <a:pPr algn="l">
              <a:spcAft>
                <a:spcPts val="400"/>
              </a:spcAft>
            </a:pPr>
            <a:r>
              <a:rPr sz="2000" b="0" i="0">
                <a:solidFill>
                  <a:srgbClr val="475569"/>
                </a:solidFill>
              </a:rPr>
              <a:t>A camera cannot confirm alcohol. The output is 'Possible impairment or drowsiness'. No intoxication dataset was available, so no learned alcohol classifier was trained, and no ignition or contact action exists yet.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Base paper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
        <p:nvSpPr>
          <p:cNvPr id="26" name="Rounded Rectangle 25"/>
          <p:cNvSpPr/>
          <p:nvPr/>
        </p:nvSpPr>
        <p:spPr>
          <a:xfrm>
            <a:off x="548640" y="1280160"/>
            <a:ext cx="11091672" cy="1005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9808" y="1353312"/>
            <a:ext cx="10698480" cy="868680"/>
          </a:xfrm>
          <a:prstGeom prst="rect">
            <a:avLst/>
          </a:prstGeom>
          <a:noFill/>
        </p:spPr>
        <p:txBody>
          <a:bodyPr wrap="square" lIns="0" rIns="0" tIns="0" bIns="0" anchor="ctr">
            <a:spAutoFit/>
          </a:bodyPr>
          <a:lstStyle/>
          <a:p>
            <a:pPr algn="l">
              <a:spcAft>
                <a:spcPts val="400"/>
              </a:spcAft>
            </a:pPr>
            <a:r>
              <a:rPr sz="1300" b="0" i="0">
                <a:solidFill>
                  <a:srgbClr val="0F172A"/>
                </a:solidFill>
              </a:rPr>
              <a:t>C.-L. Feng and T.-H. S. Li, "Robust Driver State Assessment on an Embedded Platform Using a Fuzzy Belief Rule-Based Fusion of Eye Aspect Ratio and Voice Commands," IEEE Access, vol. 14, pp. 36158-36175, 2026, doi: 10.1109/ACCESS.2026.3670924.</a:t>
            </a:r>
          </a:p>
        </p:txBody>
      </p:sp>
      <p:sp>
        <p:nvSpPr>
          <p:cNvPr id="28" name="Rounded Rectangle 27"/>
          <p:cNvSpPr/>
          <p:nvPr/>
        </p:nvSpPr>
        <p:spPr>
          <a:xfrm>
            <a:off x="548640"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49808" y="2697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M</a:t>
            </a:r>
          </a:p>
        </p:txBody>
      </p:sp>
      <p:sp>
        <p:nvSpPr>
          <p:cNvPr id="30" name="TextBox 29"/>
          <p:cNvSpPr txBox="1"/>
          <p:nvPr/>
        </p:nvSpPr>
        <p:spPr>
          <a:xfrm>
            <a:off x="1389888"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Method</a:t>
            </a:r>
          </a:p>
        </p:txBody>
      </p:sp>
      <p:sp>
        <p:nvSpPr>
          <p:cNvPr id="31" name="TextBox 30"/>
          <p:cNvSpPr txBox="1"/>
          <p:nvPr/>
        </p:nvSpPr>
        <p:spPr>
          <a:xfrm>
            <a:off x="749808" y="3383280"/>
            <a:ext cx="3118104" cy="2651760"/>
          </a:xfrm>
          <a:prstGeom prst="rect">
            <a:avLst/>
          </a:prstGeom>
          <a:noFill/>
        </p:spPr>
        <p:txBody>
          <a:bodyPr wrap="square" lIns="0" rIns="0" tIns="0" bIns="0" anchor="t">
            <a:spAutoFit/>
          </a:bodyPr>
          <a:lstStyle/>
          <a:p>
            <a:pPr algn="l">
              <a:spcAft>
                <a:spcPts val="400"/>
              </a:spcAft>
            </a:pPr>
            <a:r>
              <a:rPr sz="1700" b="0" i="0">
                <a:solidFill>
                  <a:srgbClr val="475569"/>
                </a:solidFill>
              </a:rPr>
              <a:t>Eye aspect ratio from MediaPipe face landmarks (six-point EAR and a four-point EAR-4), head pose, Whisper-tiny voice commands, fused by a fuzzy belief rule-based engine; personal EAR threshold from more than 300 frames.</a:t>
            </a:r>
          </a:p>
        </p:txBody>
      </p:sp>
      <p:sp>
        <p:nvSpPr>
          <p:cNvPr id="32" name="Rounded Rectangle 31"/>
          <p:cNvSpPr/>
          <p:nvPr/>
        </p:nvSpPr>
        <p:spPr>
          <a:xfrm>
            <a:off x="4334255"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4535423" y="2697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R</a:t>
            </a:r>
          </a:p>
        </p:txBody>
      </p:sp>
      <p:sp>
        <p:nvSpPr>
          <p:cNvPr id="34" name="TextBox 33"/>
          <p:cNvSpPr txBox="1"/>
          <p:nvPr/>
        </p:nvSpPr>
        <p:spPr>
          <a:xfrm>
            <a:off x="5175503"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Data and reported results</a:t>
            </a:r>
          </a:p>
        </p:txBody>
      </p:sp>
      <p:sp>
        <p:nvSpPr>
          <p:cNvPr id="35" name="TextBox 34"/>
          <p:cNvSpPr txBox="1"/>
          <p:nvPr/>
        </p:nvSpPr>
        <p:spPr>
          <a:xfrm>
            <a:off x="4535423" y="3383280"/>
            <a:ext cx="3118104" cy="2651760"/>
          </a:xfrm>
          <a:prstGeom prst="rect">
            <a:avLst/>
          </a:prstGeom>
          <a:noFill/>
        </p:spPr>
        <p:txBody>
          <a:bodyPr wrap="square" lIns="0" rIns="0" tIns="0" bIns="0" anchor="t">
            <a:spAutoFit/>
          </a:bodyPr>
          <a:lstStyle/>
          <a:p>
            <a:pPr algn="l">
              <a:spcAft>
                <a:spcPts val="400"/>
              </a:spcAft>
            </a:pPr>
            <a:r>
              <a:rPr sz="1700" b="0" i="0">
                <a:solidFill>
                  <a:srgbClr val="475569"/>
                </a:solidFill>
              </a:rPr>
              <a:t>NTHU-DDD, four subjects, 65,834 frames (29,804 open, 36,030 closed), 80/20 split. EAR-4 recall 0.894 against 0.856 for six-point EAR (Subject 2, Random Forest). 25 FPS on a Jetson Orin Nano.</a:t>
            </a:r>
          </a:p>
        </p:txBody>
      </p:sp>
      <p:sp>
        <p:nvSpPr>
          <p:cNvPr id="36" name="Rounded Rectangle 35"/>
          <p:cNvSpPr/>
          <p:nvPr/>
        </p:nvSpPr>
        <p:spPr>
          <a:xfrm>
            <a:off x="8119871"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321040" y="2697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L</a:t>
            </a:r>
          </a:p>
        </p:txBody>
      </p:sp>
      <p:sp>
        <p:nvSpPr>
          <p:cNvPr id="38" name="TextBox 37"/>
          <p:cNvSpPr txBox="1"/>
          <p:nvPr/>
        </p:nvSpPr>
        <p:spPr>
          <a:xfrm>
            <a:off x="8961119"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What we take, what differs</a:t>
            </a:r>
          </a:p>
        </p:txBody>
      </p:sp>
      <p:sp>
        <p:nvSpPr>
          <p:cNvPr id="39" name="TextBox 38"/>
          <p:cNvSpPr txBox="1"/>
          <p:nvPr/>
        </p:nvSpPr>
        <p:spPr>
          <a:xfrm>
            <a:off x="8321040" y="3383280"/>
            <a:ext cx="3118104" cy="2651760"/>
          </a:xfrm>
          <a:prstGeom prst="rect">
            <a:avLst/>
          </a:prstGeom>
          <a:noFill/>
        </p:spPr>
        <p:txBody>
          <a:bodyPr wrap="square" lIns="0" rIns="0" tIns="0" bIns="0" anchor="t">
            <a:spAutoFit/>
          </a:bodyPr>
          <a:lstStyle/>
          <a:p>
            <a:pPr algn="l">
              <a:spcAft>
                <a:spcPts val="400"/>
              </a:spcAft>
            </a:pPr>
            <a:r>
              <a:rPr sz="1700" b="0" i="0">
                <a:solidFill>
                  <a:srgbClr val="475569"/>
                </a:solidFill>
              </a:rPr>
              <a:t>We take the EAR idea and personal calibration. The base paper targets drowsiness and distraction, not alcohol, and its split is not subject-independent. We use six-point EAR, duration rules and no voice.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Literature survey</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graphicFrame>
        <p:nvGraphicFramePr>
          <p:cNvPr id="26" name="Table 25"/>
          <p:cNvGraphicFramePr>
            <a:graphicFrameLocks noGrp="1"/>
          </p:cNvGraphicFramePr>
          <p:nvPr/>
        </p:nvGraphicFramePr>
        <p:xfrm>
          <a:off x="548640" y="1280160"/>
          <a:ext cx="11091672" cy="4828032"/>
        </p:xfrm>
        <a:graphic>
          <a:graphicData uri="http://schemas.openxmlformats.org/drawingml/2006/table">
            <a:tbl>
              <a:tblPr firstRow="0" bandRow="0">
                <a:tableStyleId>{5C22544A-7EE6-4342-B048-85BDC9FD1C3A}</a:tableStyleId>
              </a:tblPr>
              <a:tblGrid>
                <a:gridCol w="2468880"/>
                <a:gridCol w="3200400"/>
                <a:gridCol w="2834640"/>
                <a:gridCol w="2587752"/>
              </a:tblGrid>
              <a:tr h="603504">
                <a:tc>
                  <a:txBody>
                    <a:bodyPr wrap="square"/>
                    <a:lstStyle/>
                    <a:p>
                      <a:pPr algn="ctr"/>
                      <a:r>
                        <a:rPr sz="1300" b="1">
                          <a:solidFill>
                            <a:srgbClr val="FFFFFF"/>
                          </a:solidFill>
                        </a:rPr>
                        <a:t>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Approach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Reported result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603504">
                <a:tc>
                  <a:txBody>
                    <a:bodyPr wrap="square"/>
                    <a:lstStyle/>
                    <a:p>
                      <a:pPr algn="l"/>
                      <a:r>
                        <a:rPr sz="1200" b="0">
                          <a:solidFill>
                            <a:srgbClr val="0F172A"/>
                          </a:solidFill>
                        </a:rPr>
                        <a:t>Feng and Li 2026 [1] (base)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EAR-4 + head pose + voice, fuzzy belief rules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NTHU-DDD, 4 subjects, 65,834 frames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EAR-4 recall 0.894; 25 FPS (Jetson)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03504">
                <a:tc>
                  <a:txBody>
                    <a:bodyPr wrap="square"/>
                    <a:lstStyle/>
                    <a:p>
                      <a:pPr algn="l"/>
                      <a:r>
                        <a:rPr sz="1200" b="0">
                          <a:solidFill>
                            <a:srgbClr val="0F172A"/>
                          </a:solidFill>
                        </a:rPr>
                        <a:t>Baroutian et al. 2025 [2]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Landmark graph network fused with 3D ResNet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202 videos (101 sober, 101 intoxicated), 3,542 clips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Accuracy 95.82 %, recall 0.97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03504">
                <a:tc>
                  <a:txBody>
                    <a:bodyPr wrap="square"/>
                    <a:lstStyle/>
                    <a:p>
                      <a:pPr algn="l"/>
                      <a:r>
                        <a:rPr sz="1200" b="0">
                          <a:solidFill>
                            <a:srgbClr val="0F172A"/>
                          </a:solidFill>
                        </a:rPr>
                        <a:t>Deuber et al. 2026 [3]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Smartwatch motion + heart-rate variability, 1D CNN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Test-track study, 54 participants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AUROC 0.88 (any alcohol)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03504">
                <a:tc>
                  <a:txBody>
                    <a:bodyPr wrap="square"/>
                    <a:lstStyle/>
                    <a:p>
                      <a:pPr algn="l"/>
                      <a:r>
                        <a:rPr sz="1200" b="0">
                          <a:solidFill>
                            <a:srgbClr val="0F172A"/>
                          </a:solidFill>
                        </a:rPr>
                        <a:t>Acharya 2024 [5]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Thermal images, NasNetMobile / MobileNet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50 volunteers, four drinking levels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85.10 % (four levels); 74.07 % sober vs drunk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03504">
                <a:tc>
                  <a:txBody>
                    <a:bodyPr wrap="square"/>
                    <a:lstStyle/>
                    <a:p>
                      <a:pPr algn="l"/>
                      <a:r>
                        <a:rPr sz="1200" b="0">
                          <a:solidFill>
                            <a:srgbClr val="0F172A"/>
                          </a:solidFill>
                        </a:rPr>
                        <a:t>Chai et al. 2025 [8]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Thermal facial patterns, CNN features + MLP</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Tufts Face Database + own thermal images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MLP about 90 % (abstract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03504">
                <a:tc>
                  <a:txBody>
                    <a:bodyPr wrap="square"/>
                    <a:lstStyle/>
                    <a:p>
                      <a:pPr algn="l"/>
                      <a:r>
                        <a:rPr sz="1200" b="0">
                          <a:solidFill>
                            <a:srgbClr val="0F172A"/>
                          </a:solidFill>
                        </a:rPr>
                        <a:t>Soukupova and Cech 2016 [9]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Eye aspect ratio from six landmarks for blinks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Three standard blink datasets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Comparable with the state of the art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03504">
                <a:tc>
                  <a:txBody>
                    <a:bodyPr wrap="square"/>
                    <a:lstStyle/>
                    <a:p>
                      <a:pPr algn="l"/>
                      <a:r>
                        <a:rPr sz="1200" b="0">
                          <a:solidFill>
                            <a:srgbClr val="0F172A"/>
                          </a:solidFill>
                        </a:rPr>
                        <a:t>Song et al. 2014 [12] (CEW)</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Eye-closeness detection from still images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2,423 faces: 1,192 closed, 1,231 open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Dataset we use to test our EAR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Supporting evidence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graphicFrame>
        <p:nvGraphicFramePr>
          <p:cNvPr id="26" name="Chart 25"/>
          <p:cNvGraphicFramePr>
            <a:graphicFrameLocks noGrp="1"/>
          </p:cNvGraphicFramePr>
          <p:nvPr/>
        </p:nvGraphicFramePr>
        <p:xfrm>
          <a:off x="457200" y="1280160"/>
          <a:ext cx="6309360" cy="4297680"/>
        </p:xfrm>
        <a:graphic>
          <a:graphicData uri="http://schemas.openxmlformats.org/drawingml/2006/chart">
            <c:chart xmlns:c="http://schemas.openxmlformats.org/drawingml/2006/chart" r:id="rId3"/>
          </a:graphicData>
        </a:graphic>
      </p:graphicFrame>
      <p:sp>
        <p:nvSpPr>
          <p:cNvPr id="27" name="TextBox 26"/>
          <p:cNvSpPr txBox="1"/>
          <p:nvPr/>
        </p:nvSpPr>
        <p:spPr>
          <a:xfrm>
            <a:off x="548640" y="5623560"/>
            <a:ext cx="6217920" cy="548640"/>
          </a:xfrm>
          <a:prstGeom prst="rect">
            <a:avLst/>
          </a:prstGeom>
          <a:noFill/>
        </p:spPr>
        <p:txBody>
          <a:bodyPr wrap="square" lIns="0" rIns="0" tIns="0" bIns="0" anchor="t">
            <a:spAutoFit/>
          </a:bodyPr>
          <a:lstStyle/>
          <a:p>
            <a:pPr algn="l">
              <a:spcAft>
                <a:spcPts val="400"/>
              </a:spcAft>
            </a:pPr>
            <a:r>
              <a:rPr sz="1200" b="0" i="1">
                <a:solidFill>
                  <a:srgbClr val="475569"/>
                </a:solidFill>
              </a:rPr>
              <a:t>Headline figures from the papers: different metrics, data and modalities, so not comparable with each other.</a:t>
            </a:r>
          </a:p>
        </p:txBody>
      </p:sp>
      <p:pic>
        <p:nvPicPr>
          <p:cNvPr id="28" name="Picture 27" descr="ear_histogram.png"/>
          <p:cNvPicPr>
            <a:picLocks noChangeAspect="1"/>
          </p:cNvPicPr>
          <p:nvPr/>
        </p:nvPicPr>
        <p:blipFill>
          <a:blip r:embed="rId2"/>
          <a:stretch>
            <a:fillRect/>
          </a:stretch>
        </p:blipFill>
        <p:spPr>
          <a:xfrm>
            <a:off x="7040880" y="1326594"/>
            <a:ext cx="4617720" cy="2741771"/>
          </a:xfrm>
          <a:prstGeom prst="rect">
            <a:avLst/>
          </a:prstGeom>
          <a:ln w="9525">
            <a:solidFill>
              <a:srgbClr val="D5DCE6"/>
            </a:solidFill>
          </a:ln>
        </p:spPr>
      </p:pic>
      <p:sp>
        <p:nvSpPr>
          <p:cNvPr id="29" name="TextBox 28"/>
          <p:cNvSpPr txBox="1"/>
          <p:nvPr/>
        </p:nvSpPr>
        <p:spPr>
          <a:xfrm>
            <a:off x="7040880" y="4160520"/>
            <a:ext cx="4617720" cy="2011680"/>
          </a:xfrm>
          <a:prstGeom prst="rect">
            <a:avLst/>
          </a:prstGeom>
          <a:noFill/>
        </p:spPr>
        <p:txBody>
          <a:bodyPr wrap="square" lIns="0" rIns="0" tIns="0" bIns="0" anchor="t">
            <a:spAutoFit/>
          </a:bodyPr>
          <a:lstStyle/>
          <a:p>
            <a:pPr algn="l">
              <a:spcAft>
                <a:spcPts val="600"/>
              </a:spcAft>
            </a:pPr>
            <a:r>
              <a:rPr sz="1300" b="1" i="0">
                <a:solidFill>
                  <a:srgbClr val="0F172A"/>
                </a:solidFill>
              </a:rPr>
              <a:t>Our early check:</a:t>
            </a:r>
            <a:r>
              <a:rPr sz="1300" b="0" i="0">
                <a:solidFill>
                  <a:srgbClr val="0F172A"/>
                </a:solidFill>
              </a:rPr>
              <a:t> on 2,407 public CEW faces the six-point EAR separates closed from open eyes with AUC 0.989.</a:t>
            </a:r>
          </a:p>
          <a:p>
            <a:pPr algn="l">
              <a:spcAft>
                <a:spcPts val="400"/>
              </a:spcAft>
            </a:pPr>
            <a:r>
              <a:rPr sz="1300" b="0" i="0">
                <a:solidFill>
                  <a:srgbClr val="0F172A"/>
                </a:solidFill>
              </a:rPr>
              <a:t>At the default threshold 0.21: accuracy 92.2 %, closed-eye recall 99.2 %, open-eye specificity 85.5 %. Still images only; no alcohol data.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Existing system and current approaches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Driver drinks</a:t>
            </a:r>
          </a:p>
        </p:txBody>
      </p:sp>
      <p:sp>
        <p:nvSpPr>
          <p:cNvPr id="27" name="Right Arrow 26"/>
          <p:cNvSpPr/>
          <p:nvPr/>
        </p:nvSpPr>
        <p:spPr>
          <a:xfrm>
            <a:off x="3106674"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435858"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Occasional roadside breath test</a:t>
            </a:r>
          </a:p>
        </p:txBody>
      </p:sp>
      <p:sp>
        <p:nvSpPr>
          <p:cNvPr id="29" name="Right Arrow 28"/>
          <p:cNvSpPr/>
          <p:nvPr/>
        </p:nvSpPr>
        <p:spPr>
          <a:xfrm>
            <a:off x="5993892"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23076"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Officer present, result</a:t>
            </a:r>
          </a:p>
        </p:txBody>
      </p:sp>
      <p:sp>
        <p:nvSpPr>
          <p:cNvPr id="31" name="Right Arrow 30"/>
          <p:cNvSpPr/>
          <p:nvPr/>
        </p:nvSpPr>
        <p:spPr>
          <a:xfrm>
            <a:off x="8881110"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10294"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Penalty after the fact</a:t>
            </a:r>
          </a:p>
        </p:txBody>
      </p:sp>
      <p:sp>
        <p:nvSpPr>
          <p:cNvPr id="33" name="Rounded Rectangle 32"/>
          <p:cNvSpPr/>
          <p:nvPr/>
        </p:nvSpPr>
        <p:spPr>
          <a:xfrm>
            <a:off x="548640" y="2834640"/>
            <a:ext cx="5440680" cy="3246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749808" y="30175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35" name="TextBox 34"/>
          <p:cNvSpPr txBox="1"/>
          <p:nvPr/>
        </p:nvSpPr>
        <p:spPr>
          <a:xfrm>
            <a:off x="1389888" y="299008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Checks and sensors</a:t>
            </a:r>
          </a:p>
        </p:txBody>
      </p:sp>
      <p:sp>
        <p:nvSpPr>
          <p:cNvPr id="36" name="TextBox 35"/>
          <p:cNvSpPr txBox="1"/>
          <p:nvPr/>
        </p:nvSpPr>
        <p:spPr>
          <a:xfrm>
            <a:off x="749808" y="3703320"/>
            <a:ext cx="5038344" cy="2240279"/>
          </a:xfrm>
          <a:prstGeom prst="rect">
            <a:avLst/>
          </a:prstGeom>
          <a:noFill/>
        </p:spPr>
        <p:txBody>
          <a:bodyPr wrap="square" lIns="0" rIns="0" tIns="0" bIns="0" anchor="t">
            <a:spAutoFit/>
          </a:bodyPr>
          <a:lstStyle/>
          <a:p>
            <a:pPr algn="l">
              <a:spcAft>
                <a:spcPts val="400"/>
              </a:spcAft>
            </a:pPr>
            <a:r>
              <a:rPr sz="2000" b="0" i="0">
                <a:solidFill>
                  <a:srgbClr val="475569"/>
                </a:solidFill>
              </a:rPr>
              <a:t>As stated in the project proposal: breath testing is occasional and cannot follow a rider through a journey, and hardware alcohol sensors add cost and can be bypassed by asking another person to blow.</a:t>
            </a:r>
          </a:p>
        </p:txBody>
      </p:sp>
      <p:sp>
        <p:nvSpPr>
          <p:cNvPr id="37" name="Rounded Rectangle 36"/>
          <p:cNvSpPr/>
          <p:nvPr/>
        </p:nvSpPr>
        <p:spPr>
          <a:xfrm>
            <a:off x="6199632" y="2834640"/>
            <a:ext cx="5440680" cy="3246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6400800" y="30175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9" name="TextBox 38"/>
          <p:cNvSpPr txBox="1"/>
          <p:nvPr/>
        </p:nvSpPr>
        <p:spPr>
          <a:xfrm>
            <a:off x="7040880" y="299008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Research systems</a:t>
            </a:r>
          </a:p>
        </p:txBody>
      </p:sp>
      <p:sp>
        <p:nvSpPr>
          <p:cNvPr id="40" name="TextBox 39"/>
          <p:cNvSpPr txBox="1"/>
          <p:nvPr/>
        </p:nvSpPr>
        <p:spPr>
          <a:xfrm>
            <a:off x="6400800" y="3703320"/>
            <a:ext cx="5038344" cy="2240279"/>
          </a:xfrm>
          <a:prstGeom prst="rect">
            <a:avLst/>
          </a:prstGeom>
          <a:noFill/>
        </p:spPr>
        <p:txBody>
          <a:bodyPr wrap="square" lIns="0" rIns="0" tIns="0" bIns="0" anchor="t">
            <a:spAutoFit/>
          </a:bodyPr>
          <a:lstStyle/>
          <a:p>
            <a:pPr algn="l">
              <a:spcAft>
                <a:spcPts val="400"/>
              </a:spcAft>
            </a:pPr>
            <a:r>
              <a:rPr sz="2000" b="0" i="0">
                <a:solidFill>
                  <a:srgbClr val="475569"/>
                </a:solidFill>
              </a:rPr>
              <a:t>Driver-state monitors mostly target drowsiness [1]. Intoxication detection from video, thermal images or a smartwatch exists as research [2], [3], [5], [8], usually needing special data, a thermal camera or a worn device.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Limitations of existing methods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
        <p:nvSpPr>
          <p:cNvPr id="26" name="Rounded Rectangle 25"/>
          <p:cNvSpPr/>
          <p:nvPr/>
        </p:nvSpPr>
        <p:spPr>
          <a:xfrm>
            <a:off x="548640" y="137160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Intermittent checks</a:t>
            </a:r>
          </a:p>
        </p:txBody>
      </p:sp>
      <p:sp>
        <p:nvSpPr>
          <p:cNvPr id="29" name="TextBox 28"/>
          <p:cNvSpPr txBox="1"/>
          <p:nvPr/>
        </p:nvSpPr>
        <p:spPr>
          <a:xfrm>
            <a:off x="749808" y="2240280"/>
            <a:ext cx="5038344" cy="1280160"/>
          </a:xfrm>
          <a:prstGeom prst="rect">
            <a:avLst/>
          </a:prstGeom>
          <a:noFill/>
        </p:spPr>
        <p:txBody>
          <a:bodyPr wrap="square" lIns="0" rIns="0" tIns="0" bIns="0" anchor="t">
            <a:spAutoFit/>
          </a:bodyPr>
          <a:lstStyle/>
          <a:p>
            <a:pPr algn="l">
              <a:spcAft>
                <a:spcPts val="400"/>
              </a:spcAft>
            </a:pPr>
            <a:r>
              <a:rPr sz="1900" b="0" i="0">
                <a:solidFill>
                  <a:srgbClr val="475569"/>
                </a:solidFill>
              </a:rPr>
              <a:t>A breath test samples one moment; it cannot watch the whole journey or act before a rider sets off.</a:t>
            </a:r>
          </a:p>
        </p:txBody>
      </p:sp>
      <p:sp>
        <p:nvSpPr>
          <p:cNvPr id="30" name="Rounded Rectangle 29"/>
          <p:cNvSpPr/>
          <p:nvPr/>
        </p:nvSpPr>
        <p:spPr>
          <a:xfrm>
            <a:off x="6199631" y="137160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400799"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7040879" y="152704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Drowsiness-focused monitors</a:t>
            </a:r>
          </a:p>
        </p:txBody>
      </p:sp>
      <p:sp>
        <p:nvSpPr>
          <p:cNvPr id="33" name="TextBox 32"/>
          <p:cNvSpPr txBox="1"/>
          <p:nvPr/>
        </p:nvSpPr>
        <p:spPr>
          <a:xfrm>
            <a:off x="6400799" y="2240280"/>
            <a:ext cx="5038344" cy="1280160"/>
          </a:xfrm>
          <a:prstGeom prst="rect">
            <a:avLst/>
          </a:prstGeom>
          <a:noFill/>
        </p:spPr>
        <p:txBody>
          <a:bodyPr wrap="square" lIns="0" rIns="0" tIns="0" bIns="0" anchor="t">
            <a:spAutoFit/>
          </a:bodyPr>
          <a:lstStyle/>
          <a:p>
            <a:pPr algn="l">
              <a:spcAft>
                <a:spcPts val="400"/>
              </a:spcAft>
            </a:pPr>
            <a:r>
              <a:rPr sz="1900" b="0" i="0">
                <a:solidFill>
                  <a:srgbClr val="475569"/>
                </a:solidFill>
              </a:rPr>
              <a:t>The base paper [1] and most driver monitors detect tiredness and distraction, not alcohol impairment.</a:t>
            </a:r>
          </a:p>
        </p:txBody>
      </p:sp>
      <p:sp>
        <p:nvSpPr>
          <p:cNvPr id="34" name="Rounded Rectangle 33"/>
          <p:cNvSpPr/>
          <p:nvPr/>
        </p:nvSpPr>
        <p:spPr>
          <a:xfrm>
            <a:off x="548640" y="384048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749808" y="40233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1389888" y="3995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Special data or hardware</a:t>
            </a:r>
          </a:p>
        </p:txBody>
      </p:sp>
      <p:sp>
        <p:nvSpPr>
          <p:cNvPr id="37" name="TextBox 36"/>
          <p:cNvSpPr txBox="1"/>
          <p:nvPr/>
        </p:nvSpPr>
        <p:spPr>
          <a:xfrm>
            <a:off x="749808" y="4709160"/>
            <a:ext cx="5038344" cy="1280160"/>
          </a:xfrm>
          <a:prstGeom prst="rect">
            <a:avLst/>
          </a:prstGeom>
          <a:noFill/>
        </p:spPr>
        <p:txBody>
          <a:bodyPr wrap="square" lIns="0" rIns="0" tIns="0" bIns="0" anchor="t">
            <a:spAutoFit/>
          </a:bodyPr>
          <a:lstStyle/>
          <a:p>
            <a:pPr algn="l">
              <a:spcAft>
                <a:spcPts val="400"/>
              </a:spcAft>
            </a:pPr>
            <a:r>
              <a:rPr sz="1900" b="0" i="0">
                <a:solidFill>
                  <a:srgbClr val="475569"/>
                </a:solidFill>
              </a:rPr>
              <a:t>Thermal cameras [5], [8], a worn smartwatch [3] or GPU video models trained on scraped videos [2].</a:t>
            </a:r>
          </a:p>
        </p:txBody>
      </p:sp>
      <p:sp>
        <p:nvSpPr>
          <p:cNvPr id="38" name="Rounded Rectangle 37"/>
          <p:cNvSpPr/>
          <p:nvPr/>
        </p:nvSpPr>
        <p:spPr>
          <a:xfrm>
            <a:off x="6199631" y="384048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400799" y="40233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7040879" y="3995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Hard to reproduce</a:t>
            </a:r>
          </a:p>
        </p:txBody>
      </p:sp>
      <p:sp>
        <p:nvSpPr>
          <p:cNvPr id="41" name="TextBox 40"/>
          <p:cNvSpPr txBox="1"/>
          <p:nvPr/>
        </p:nvSpPr>
        <p:spPr>
          <a:xfrm>
            <a:off x="6400799" y="4709160"/>
            <a:ext cx="5038344" cy="1280160"/>
          </a:xfrm>
          <a:prstGeom prst="rect">
            <a:avLst/>
          </a:prstGeom>
          <a:noFill/>
        </p:spPr>
        <p:txBody>
          <a:bodyPr wrap="square" lIns="0" rIns="0" tIns="0" bIns="0" anchor="t">
            <a:spAutoFit/>
          </a:bodyPr>
          <a:lstStyle/>
          <a:p>
            <a:pPr algn="l">
              <a:spcAft>
                <a:spcPts val="400"/>
              </a:spcAft>
            </a:pPr>
            <a:r>
              <a:rPr sz="1900" b="0" i="0">
                <a:solidFill>
                  <a:srgbClr val="475569"/>
                </a:solidFill>
              </a:rPr>
              <a:t>Many source videos of the DIF intoxication dataset are no longer reachable, and numbers depend on the protocol [2].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Research gap</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
        <p:nvSpPr>
          <p:cNvPr id="26" name="Rounded Rectangle 25"/>
          <p:cNvSpPr/>
          <p:nvPr/>
        </p:nvSpPr>
        <p:spPr>
          <a:xfrm>
            <a:off x="548640" y="1325880"/>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8640" y="1325880"/>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Batch survey gap</a:t>
            </a:r>
          </a:p>
        </p:txBody>
      </p:sp>
      <p:sp>
        <p:nvSpPr>
          <p:cNvPr id="28" name="TextBox 27"/>
          <p:cNvSpPr txBox="1"/>
          <p:nvPr/>
        </p:nvSpPr>
        <p:spPr>
          <a:xfrm>
            <a:off x="3200400" y="1325880"/>
            <a:ext cx="8412480" cy="822960"/>
          </a:xfrm>
          <a:prstGeom prst="rect">
            <a:avLst/>
          </a:prstGeom>
          <a:noFill/>
        </p:spPr>
        <p:txBody>
          <a:bodyPr wrap="square" lIns="0" rIns="0" tIns="0" bIns="0" anchor="ctr">
            <a:spAutoFit/>
          </a:bodyPr>
          <a:lstStyle/>
          <a:p>
            <a:pPr algn="l">
              <a:spcAft>
                <a:spcPts val="400"/>
              </a:spcAft>
            </a:pPr>
            <a:r>
              <a:rPr sz="1700" b="0" i="0">
                <a:solidFill>
                  <a:srgbClr val="0F172A"/>
                </a:solidFill>
              </a:rPr>
              <a:t>An intoxication-specific vision model coupled to a prevention action rather than a warning alone.</a:t>
            </a:r>
          </a:p>
        </p:txBody>
      </p:sp>
      <p:sp>
        <p:nvSpPr>
          <p:cNvPr id="29" name="Rounded Rectangle 28"/>
          <p:cNvSpPr/>
          <p:nvPr/>
        </p:nvSpPr>
        <p:spPr>
          <a:xfrm>
            <a:off x="548640" y="2313432"/>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48640" y="2313432"/>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Data</a:t>
            </a:r>
          </a:p>
        </p:txBody>
      </p:sp>
      <p:sp>
        <p:nvSpPr>
          <p:cNvPr id="31" name="TextBox 30"/>
          <p:cNvSpPr txBox="1"/>
          <p:nvPr/>
        </p:nvSpPr>
        <p:spPr>
          <a:xfrm>
            <a:off x="3200400" y="2313432"/>
            <a:ext cx="8412480" cy="822960"/>
          </a:xfrm>
          <a:prstGeom prst="rect">
            <a:avLst/>
          </a:prstGeom>
          <a:noFill/>
        </p:spPr>
        <p:txBody>
          <a:bodyPr wrap="square" lIns="0" rIns="0" tIns="0" bIns="0" anchor="ctr">
            <a:spAutoFit/>
          </a:bodyPr>
          <a:lstStyle/>
          <a:p>
            <a:pPr algn="l">
              <a:spcAft>
                <a:spcPts val="400"/>
              </a:spcAft>
            </a:pPr>
            <a:r>
              <a:rPr sz="1700" b="0" i="0">
                <a:solidFill>
                  <a:srgbClr val="0F172A"/>
                </a:solidFill>
              </a:rPr>
              <a:t>No public, controlled dataset of sober and intoxicated riders was available to us, so a learned classifier could not be trained honestly.</a:t>
            </a:r>
          </a:p>
        </p:txBody>
      </p:sp>
      <p:sp>
        <p:nvSpPr>
          <p:cNvPr id="32" name="Rounded Rectangle 31"/>
          <p:cNvSpPr/>
          <p:nvPr/>
        </p:nvSpPr>
        <p:spPr>
          <a:xfrm>
            <a:off x="548640" y="3300984"/>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48640" y="3300984"/>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Transparency</a:t>
            </a:r>
          </a:p>
        </p:txBody>
      </p:sp>
      <p:sp>
        <p:nvSpPr>
          <p:cNvPr id="34" name="TextBox 33"/>
          <p:cNvSpPr txBox="1"/>
          <p:nvPr/>
        </p:nvSpPr>
        <p:spPr>
          <a:xfrm>
            <a:off x="3200400" y="3300984"/>
            <a:ext cx="8412480" cy="822960"/>
          </a:xfrm>
          <a:prstGeom prst="rect">
            <a:avLst/>
          </a:prstGeom>
          <a:noFill/>
        </p:spPr>
        <p:txBody>
          <a:bodyPr wrap="square" lIns="0" rIns="0" tIns="0" bIns="0" anchor="ctr">
            <a:spAutoFit/>
          </a:bodyPr>
          <a:lstStyle/>
          <a:p>
            <a:pPr algn="l">
              <a:spcAft>
                <a:spcPts val="400"/>
              </a:spcAft>
            </a:pPr>
            <a:r>
              <a:rPr sz="1700" b="0" i="0">
                <a:solidFill>
                  <a:srgbClr val="0F172A"/>
                </a:solidFill>
              </a:rPr>
              <a:t>Our design target: every verdict states its reason, and poor light, blur or covered eyes give Unable to assess instead of a guess.</a:t>
            </a:r>
          </a:p>
        </p:txBody>
      </p:sp>
      <p:sp>
        <p:nvSpPr>
          <p:cNvPr id="35" name="Rounded Rectangle 34"/>
          <p:cNvSpPr/>
          <p:nvPr/>
        </p:nvSpPr>
        <p:spPr>
          <a:xfrm>
            <a:off x="548640" y="4288536"/>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548640" y="4288536"/>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Degraded conditions</a:t>
            </a:r>
          </a:p>
        </p:txBody>
      </p:sp>
      <p:sp>
        <p:nvSpPr>
          <p:cNvPr id="37" name="TextBox 36"/>
          <p:cNvSpPr txBox="1"/>
          <p:nvPr/>
        </p:nvSpPr>
        <p:spPr>
          <a:xfrm>
            <a:off x="3200400" y="4288536"/>
            <a:ext cx="8412480" cy="822960"/>
          </a:xfrm>
          <a:prstGeom prst="rect">
            <a:avLst/>
          </a:prstGeom>
          <a:noFill/>
        </p:spPr>
        <p:txBody>
          <a:bodyPr wrap="square" lIns="0" rIns="0" tIns="0" bIns="0" anchor="ctr">
            <a:spAutoFit/>
          </a:bodyPr>
          <a:lstStyle/>
          <a:p>
            <a:pPr algn="l">
              <a:spcAft>
                <a:spcPts val="400"/>
              </a:spcAft>
            </a:pPr>
            <a:r>
              <a:rPr sz="1700" b="0" i="0">
                <a:solidFill>
                  <a:srgbClr val="0F172A"/>
                </a:solidFill>
              </a:rPr>
              <a:t>The proposal asks for low light and partial occlusion to be evaluated; we measure them on test images.</a:t>
            </a:r>
          </a:p>
        </p:txBody>
      </p:sp>
      <p:sp>
        <p:nvSpPr>
          <p:cNvPr id="38" name="Rounded Rectangle 37"/>
          <p:cNvSpPr/>
          <p:nvPr/>
        </p:nvSpPr>
        <p:spPr>
          <a:xfrm>
            <a:off x="548640" y="5276088"/>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48640" y="5276088"/>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Our scope</a:t>
            </a:r>
          </a:p>
        </p:txBody>
      </p:sp>
      <p:sp>
        <p:nvSpPr>
          <p:cNvPr id="40" name="TextBox 39"/>
          <p:cNvSpPr txBox="1"/>
          <p:nvPr/>
        </p:nvSpPr>
        <p:spPr>
          <a:xfrm>
            <a:off x="3200400" y="5276088"/>
            <a:ext cx="8412480" cy="822960"/>
          </a:xfrm>
          <a:prstGeom prst="rect">
            <a:avLst/>
          </a:prstGeom>
          <a:noFill/>
        </p:spPr>
        <p:txBody>
          <a:bodyPr wrap="square" lIns="0" rIns="0" tIns="0" bIns="0" anchor="ctr">
            <a:spAutoFit/>
          </a:bodyPr>
          <a:lstStyle/>
          <a:p>
            <a:pPr algn="l">
              <a:spcAft>
                <a:spcPts val="400"/>
              </a:spcAft>
            </a:pPr>
            <a:r>
              <a:rPr sz="1700" b="0" i="0">
                <a:solidFill>
                  <a:srgbClr val="0F172A"/>
                </a:solidFill>
              </a:rPr>
              <a:t>We close a smaller gap: an explainable, quality-gated, calibrated eye and head monitor, measured honestly.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Problem statement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
        <p:nvSpPr>
          <p:cNvPr id="26" name="Rounded Rectangle 25"/>
          <p:cNvSpPr/>
          <p:nvPr/>
        </p:nvSpPr>
        <p:spPr>
          <a:xfrm>
            <a:off x="548640" y="1325880"/>
            <a:ext cx="11091672" cy="2331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68680" y="1417320"/>
            <a:ext cx="10469880" cy="2148840"/>
          </a:xfrm>
          <a:prstGeom prst="rect">
            <a:avLst/>
          </a:prstGeom>
          <a:noFill/>
        </p:spPr>
        <p:txBody>
          <a:bodyPr wrap="square" lIns="0" rIns="0" tIns="0" bIns="0" anchor="ctr">
            <a:spAutoFit/>
          </a:bodyPr>
          <a:lstStyle/>
          <a:p>
            <a:pPr algn="l">
              <a:spcAft>
                <a:spcPts val="400"/>
              </a:spcAft>
            </a:pPr>
            <a:r>
              <a:rPr sz="2200" b="0" i="0">
                <a:solidFill>
                  <a:srgbClr val="0F172A"/>
                </a:solidFill>
              </a:rPr>
              <a:t>Given a live webcam view of a rider's face, measure </a:t>
            </a:r>
            <a:r>
              <a:rPr sz="2200" b="1" i="0">
                <a:solidFill>
                  <a:srgbClr val="0F172A"/>
                </a:solidFill>
              </a:rPr>
              <a:t>eye closure</a:t>
            </a:r>
            <a:r>
              <a:rPr sz="2200" b="0" i="0">
                <a:solidFill>
                  <a:srgbClr val="0F172A"/>
                </a:solidFill>
              </a:rPr>
              <a:t> and </a:t>
            </a:r>
            <a:r>
              <a:rPr sz="2200" b="1" i="0">
                <a:solidFill>
                  <a:srgbClr val="0F172A"/>
                </a:solidFill>
              </a:rPr>
              <a:t>head tilt</a:t>
            </a:r>
            <a:r>
              <a:rPr sz="2200" b="0" i="0">
                <a:solidFill>
                  <a:srgbClr val="0F172A"/>
                </a:solidFill>
              </a:rPr>
              <a:t>, judge them with </a:t>
            </a:r>
            <a:r>
              <a:rPr sz="2200" b="1" i="0">
                <a:solidFill>
                  <a:srgbClr val="0F172A"/>
                </a:solidFill>
              </a:rPr>
              <a:t>explainable rules</a:t>
            </a:r>
            <a:r>
              <a:rPr sz="2200" b="0" i="0">
                <a:solidFill>
                  <a:srgbClr val="0F172A"/>
                </a:solidFill>
              </a:rPr>
              <a:t>, and warn of </a:t>
            </a:r>
            <a:r>
              <a:rPr sz="2200" b="1" i="0">
                <a:solidFill>
                  <a:srgbClr val="0F172A"/>
                </a:solidFill>
              </a:rPr>
              <a:t>possible impairment or drowsiness</a:t>
            </a:r>
            <a:r>
              <a:rPr sz="2200" b="0" i="0">
                <a:solidFill>
                  <a:srgbClr val="0F172A"/>
                </a:solidFill>
              </a:rPr>
              <a:t> when the signs persist, or say </a:t>
            </a:r>
            <a:r>
              <a:rPr sz="2200" b="1" i="0">
                <a:solidFill>
                  <a:srgbClr val="0F172A"/>
                </a:solidFill>
              </a:rPr>
              <a:t>Unable to assess</a:t>
            </a:r>
            <a:r>
              <a:rPr sz="2200" b="0" i="0">
                <a:solidFill>
                  <a:srgbClr val="0F172A"/>
                </a:solidFill>
              </a:rPr>
              <a:t> when the view is unreliable. A camera cannot confirm alcohol use.</a:t>
            </a:r>
          </a:p>
        </p:txBody>
      </p:sp>
      <p:sp>
        <p:nvSpPr>
          <p:cNvPr id="28" name="Rounded Rectangle 27"/>
          <p:cNvSpPr/>
          <p:nvPr/>
        </p:nvSpPr>
        <p:spPr>
          <a:xfrm>
            <a:off x="548640" y="3931920"/>
            <a:ext cx="3520440" cy="20116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4069080"/>
            <a:ext cx="3108960" cy="365760"/>
          </a:xfrm>
          <a:prstGeom prst="rect">
            <a:avLst/>
          </a:prstGeom>
          <a:noFill/>
        </p:spPr>
        <p:txBody>
          <a:bodyPr wrap="square" lIns="0" rIns="0" tIns="0" bIns="0" anchor="t">
            <a:spAutoFit/>
          </a:bodyPr>
          <a:lstStyle/>
          <a:p>
            <a:pPr algn="l">
              <a:spcAft>
                <a:spcPts val="400"/>
              </a:spcAft>
            </a:pPr>
            <a:r>
              <a:rPr sz="2000" b="1" i="0">
                <a:solidFill>
                  <a:srgbClr val="0F172A"/>
                </a:solidFill>
              </a:rPr>
              <a:t>Input</a:t>
            </a:r>
          </a:p>
        </p:txBody>
      </p:sp>
      <p:sp>
        <p:nvSpPr>
          <p:cNvPr id="30" name="TextBox 29"/>
          <p:cNvSpPr txBox="1"/>
          <p:nvPr/>
        </p:nvSpPr>
        <p:spPr>
          <a:xfrm>
            <a:off x="777240" y="4572000"/>
            <a:ext cx="3108960" cy="1280160"/>
          </a:xfrm>
          <a:prstGeom prst="rect">
            <a:avLst/>
          </a:prstGeom>
          <a:noFill/>
        </p:spPr>
        <p:txBody>
          <a:bodyPr wrap="square" lIns="0" rIns="0" tIns="0" bIns="0" anchor="t">
            <a:spAutoFit/>
          </a:bodyPr>
          <a:lstStyle/>
          <a:p>
            <a:pPr algn="l">
              <a:spcAft>
                <a:spcPts val="400"/>
              </a:spcAft>
            </a:pPr>
            <a:r>
              <a:rPr sz="1800" b="0" i="0">
                <a:solidFill>
                  <a:srgbClr val="475569"/>
                </a:solidFill>
              </a:rPr>
              <a:t>Webcam frames, 640 x 480, kept in memory only</a:t>
            </a:r>
          </a:p>
        </p:txBody>
      </p:sp>
      <p:sp>
        <p:nvSpPr>
          <p:cNvPr id="31" name="Rounded Rectangle 30"/>
          <p:cNvSpPr/>
          <p:nvPr/>
        </p:nvSpPr>
        <p:spPr>
          <a:xfrm>
            <a:off x="4334255" y="3931920"/>
            <a:ext cx="3520440" cy="20116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562855" y="4069080"/>
            <a:ext cx="3108960" cy="365760"/>
          </a:xfrm>
          <a:prstGeom prst="rect">
            <a:avLst/>
          </a:prstGeom>
          <a:noFill/>
        </p:spPr>
        <p:txBody>
          <a:bodyPr wrap="square" lIns="0" rIns="0" tIns="0" bIns="0" anchor="t">
            <a:spAutoFit/>
          </a:bodyPr>
          <a:lstStyle/>
          <a:p>
            <a:pPr algn="l">
              <a:spcAft>
                <a:spcPts val="400"/>
              </a:spcAft>
            </a:pPr>
            <a:r>
              <a:rPr sz="2000" b="1" i="0">
                <a:solidFill>
                  <a:srgbClr val="0F172A"/>
                </a:solidFill>
              </a:rPr>
              <a:t>Output</a:t>
            </a:r>
          </a:p>
        </p:txBody>
      </p:sp>
      <p:sp>
        <p:nvSpPr>
          <p:cNvPr id="33" name="TextBox 32"/>
          <p:cNvSpPr txBox="1"/>
          <p:nvPr/>
        </p:nvSpPr>
        <p:spPr>
          <a:xfrm>
            <a:off x="4562855" y="4572000"/>
            <a:ext cx="3108960" cy="1280160"/>
          </a:xfrm>
          <a:prstGeom prst="rect">
            <a:avLst/>
          </a:prstGeom>
          <a:noFill/>
        </p:spPr>
        <p:txBody>
          <a:bodyPr wrap="square" lIns="0" rIns="0" tIns="0" bIns="0" anchor="t">
            <a:spAutoFit/>
          </a:bodyPr>
          <a:lstStyle/>
          <a:p>
            <a:pPr algn="l">
              <a:spcAft>
                <a:spcPts val="400"/>
              </a:spcAft>
            </a:pPr>
            <a:r>
              <a:rPr sz="1800" b="0" i="0">
                <a:solidFill>
                  <a:srgbClr val="475569"/>
                </a:solidFill>
              </a:rPr>
              <a:t>Normal, Possible impairment or drowsiness, or Unable to assess, with the reason</a:t>
            </a:r>
          </a:p>
        </p:txBody>
      </p:sp>
      <p:sp>
        <p:nvSpPr>
          <p:cNvPr id="34" name="Rounded Rectangle 33"/>
          <p:cNvSpPr/>
          <p:nvPr/>
        </p:nvSpPr>
        <p:spPr>
          <a:xfrm>
            <a:off x="8119871" y="3931920"/>
            <a:ext cx="3520440" cy="20116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348471" y="4069080"/>
            <a:ext cx="3108960" cy="365760"/>
          </a:xfrm>
          <a:prstGeom prst="rect">
            <a:avLst/>
          </a:prstGeom>
          <a:noFill/>
        </p:spPr>
        <p:txBody>
          <a:bodyPr wrap="square" lIns="0" rIns="0" tIns="0" bIns="0" anchor="t">
            <a:spAutoFit/>
          </a:bodyPr>
          <a:lstStyle/>
          <a:p>
            <a:pPr algn="l">
              <a:spcAft>
                <a:spcPts val="400"/>
              </a:spcAft>
            </a:pPr>
            <a:r>
              <a:rPr sz="2000" b="1" i="0">
                <a:solidFill>
                  <a:srgbClr val="0F172A"/>
                </a:solidFill>
              </a:rPr>
              <a:t>Record</a:t>
            </a:r>
          </a:p>
        </p:txBody>
      </p:sp>
      <p:sp>
        <p:nvSpPr>
          <p:cNvPr id="36" name="TextBox 35"/>
          <p:cNvSpPr txBox="1"/>
          <p:nvPr/>
        </p:nvSpPr>
        <p:spPr>
          <a:xfrm>
            <a:off x="8348471" y="4572000"/>
            <a:ext cx="3108960" cy="1280160"/>
          </a:xfrm>
          <a:prstGeom prst="rect">
            <a:avLst/>
          </a:prstGeom>
          <a:noFill/>
        </p:spPr>
        <p:txBody>
          <a:bodyPr wrap="square" lIns="0" rIns="0" tIns="0" bIns="0" anchor="t">
            <a:spAutoFit/>
          </a:bodyPr>
          <a:lstStyle/>
          <a:p>
            <a:pPr algn="l">
              <a:spcAft>
                <a:spcPts val="400"/>
              </a:spcAft>
            </a:pPr>
            <a:r>
              <a:rPr sz="1800" b="0" i="0">
                <a:solidFill>
                  <a:srgbClr val="475569"/>
                </a:solidFill>
              </a:rPr>
              <a:t>Numeric event history, CSV export, adjustable thresholds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Objectives and their status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graphicFrame>
        <p:nvGraphicFramePr>
          <p:cNvPr id="26" name="Table 25"/>
          <p:cNvGraphicFramePr>
            <a:graphicFrameLocks noGrp="1"/>
          </p:cNvGraphicFramePr>
          <p:nvPr/>
        </p:nvGraphicFramePr>
        <p:xfrm>
          <a:off x="548640" y="1280160"/>
          <a:ext cx="11091672" cy="4736592"/>
        </p:xfrm>
        <a:graphic>
          <a:graphicData uri="http://schemas.openxmlformats.org/drawingml/2006/table">
            <a:tbl>
              <a:tblPr firstRow="0" bandRow="0">
                <a:tableStyleId>{5C22544A-7EE6-4342-B048-85BDC9FD1C3A}</a:tableStyleId>
              </a:tblPr>
              <a:tblGrid>
                <a:gridCol w="457200"/>
                <a:gridCol w="4754880"/>
                <a:gridCol w="1737360"/>
                <a:gridCol w="4142232"/>
              </a:tblGrid>
              <a:tr h="676656">
                <a:tc>
                  <a:txBody>
                    <a:bodyPr wrap="square"/>
                    <a:lstStyle/>
                    <a:p>
                      <a:pPr algn="ctr"/>
                      <a:r>
                        <a:rPr sz="1400" b="1">
                          <a:solidFill>
                            <a:srgbClr val="FFFFFF"/>
                          </a:solidFill>
                        </a:rPr>
                        <a: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Objective (from the project proposal)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Status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What exists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676656">
                <a:tc>
                  <a:txBody>
                    <a:bodyPr wrap="square"/>
                    <a:lstStyle/>
                    <a:p>
                      <a:pPr algn="l"/>
                      <a:r>
                        <a:rPr sz="1400" b="0">
                          <a:solidFill>
                            <a:srgbClr val="0F172A"/>
                          </a:solidFill>
                        </a:rPr>
                        <a:t>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Real-time webcam face and landmark detection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Achieved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Done: MediaPipe, about 31 ms per frame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76656">
                <a:tc>
                  <a:txBody>
                    <a:bodyPr wrap="square"/>
                    <a:lstStyle/>
                    <a:p>
                      <a:pPr algn="l"/>
                      <a:r>
                        <a:rPr sz="1400" b="0">
                          <a:solidFill>
                            <a:srgbClr val="0F172A"/>
                          </a:solidFill>
                        </a:rPr>
                        <a:t>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Impairment cues: eye closure, blink rate, gaze, head movement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Partly achieved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Gaze not measured; the rest are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76656">
                <a:tc>
                  <a:txBody>
                    <a:bodyPr wrap="square"/>
                    <a:lstStyle/>
                    <a:p>
                      <a:pPr algn="l"/>
                      <a:r>
                        <a:rPr sz="1400" b="0">
                          <a:solidFill>
                            <a:srgbClr val="0F172A"/>
                          </a:solidFill>
                        </a:rPr>
                        <a:t>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Deep-learning sober vs intoxicated classifier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Not achieved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No data, no model; rules instead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76656">
                <a:tc>
                  <a:txBody>
                    <a:bodyPr wrap="square"/>
                    <a:lstStyle/>
                    <a:p>
                      <a:pPr algn="l"/>
                      <a:r>
                        <a:rPr sz="1400" b="0">
                          <a:solidFill>
                            <a:srgbClr val="0F172A"/>
                          </a:solidFill>
                        </a:rPr>
                        <a:t>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Continuous inference with an alert above a threshold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Achieved (as rules)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Done as rules, three outputs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76656">
                <a:tc>
                  <a:txBody>
                    <a:bodyPr wrap="square"/>
                    <a:lstStyle/>
                    <a:p>
                      <a:pPr algn="l"/>
                      <a:r>
                        <a:rPr sz="1400" b="0">
                          <a:solidFill>
                            <a:srgbClr val="0F172A"/>
                          </a:solidFill>
                        </a:rPr>
                        <a:t>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Prevention action: ignition warning or contact notification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Not achieved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Not done: warning and bell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76656">
                <a:tc>
                  <a:txBody>
                    <a:bodyPr wrap="square"/>
                    <a:lstStyle/>
                    <a:p>
                      <a:pPr algn="l"/>
                      <a:r>
                        <a:rPr sz="1400" b="0">
                          <a:solidFill>
                            <a:srgbClr val="0F172A"/>
                          </a:solidFill>
                        </a:rPr>
                        <a:t>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Evaluate accuracy, false alarms, low light, occlusion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Partly achieved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Measured on public data, no rider study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Proposed approach</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
        <p:nvSpPr>
          <p:cNvPr id="26" name="Rounded Rectangle 25"/>
          <p:cNvSpPr/>
          <p:nvPr/>
        </p:nvSpPr>
        <p:spPr>
          <a:xfrm>
            <a:off x="548640" y="1325880"/>
            <a:ext cx="2633472" cy="3108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Capture and landmarks</a:t>
            </a:r>
          </a:p>
        </p:txBody>
      </p:sp>
      <p:sp>
        <p:nvSpPr>
          <p:cNvPr id="29" name="TextBox 28"/>
          <p:cNvSpPr txBox="1"/>
          <p:nvPr/>
        </p:nvSpPr>
        <p:spPr>
          <a:xfrm>
            <a:off x="749808" y="2194560"/>
            <a:ext cx="2231136" cy="2103120"/>
          </a:xfrm>
          <a:prstGeom prst="rect">
            <a:avLst/>
          </a:prstGeom>
          <a:noFill/>
        </p:spPr>
        <p:txBody>
          <a:bodyPr wrap="square" lIns="0" rIns="0" tIns="0" bIns="0" anchor="t">
            <a:spAutoFit/>
          </a:bodyPr>
          <a:lstStyle/>
          <a:p>
            <a:pPr algn="l">
              <a:spcAft>
                <a:spcPts val="400"/>
              </a:spcAft>
            </a:pPr>
            <a:r>
              <a:rPr sz="1700" b="0" i="0">
                <a:solidFill>
                  <a:srgbClr val="475569"/>
                </a:solidFill>
              </a:rPr>
              <a:t>Webcam frame, MediaPipe Face Landmarker, six points per eye, eye aspect ratio and head roll.</a:t>
            </a:r>
          </a:p>
        </p:txBody>
      </p:sp>
      <p:sp>
        <p:nvSpPr>
          <p:cNvPr id="30" name="Rounded Rectangle 29"/>
          <p:cNvSpPr/>
          <p:nvPr/>
        </p:nvSpPr>
        <p:spPr>
          <a:xfrm>
            <a:off x="3364992" y="1325880"/>
            <a:ext cx="2633472" cy="3108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66160" y="15087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06240"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Quality gates</a:t>
            </a:r>
          </a:p>
        </p:txBody>
      </p:sp>
      <p:sp>
        <p:nvSpPr>
          <p:cNvPr id="33" name="TextBox 32"/>
          <p:cNvSpPr txBox="1"/>
          <p:nvPr/>
        </p:nvSpPr>
        <p:spPr>
          <a:xfrm>
            <a:off x="3566160" y="2194560"/>
            <a:ext cx="2231136" cy="2103120"/>
          </a:xfrm>
          <a:prstGeom prst="rect">
            <a:avLst/>
          </a:prstGeom>
          <a:noFill/>
        </p:spPr>
        <p:txBody>
          <a:bodyPr wrap="square" lIns="0" rIns="0" tIns="0" bIns="0" anchor="t">
            <a:spAutoFit/>
          </a:bodyPr>
          <a:lstStyle/>
          <a:p>
            <a:pPr algn="l">
              <a:spcAft>
                <a:spcPts val="400"/>
              </a:spcAft>
            </a:pPr>
            <a:r>
              <a:rPr sz="1700" b="0" i="0">
                <a:solidFill>
                  <a:srgbClr val="475569"/>
                </a:solidFill>
              </a:rPr>
              <a:t>Seven checks (light, blur, motion, faces, eye size, eye contrast, geometry). A failed check means Unable to assess.</a:t>
            </a:r>
          </a:p>
        </p:txBody>
      </p:sp>
      <p:sp>
        <p:nvSpPr>
          <p:cNvPr id="34" name="Rounded Rectangle 33"/>
          <p:cNvSpPr/>
          <p:nvPr/>
        </p:nvSpPr>
        <p:spPr>
          <a:xfrm>
            <a:off x="6181344" y="1325880"/>
            <a:ext cx="2633472" cy="3108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382512"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22592"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Rules and calibration</a:t>
            </a:r>
          </a:p>
        </p:txBody>
      </p:sp>
      <p:sp>
        <p:nvSpPr>
          <p:cNvPr id="37" name="TextBox 36"/>
          <p:cNvSpPr txBox="1"/>
          <p:nvPr/>
        </p:nvSpPr>
        <p:spPr>
          <a:xfrm>
            <a:off x="6382512" y="2194560"/>
            <a:ext cx="2231136" cy="2103120"/>
          </a:xfrm>
          <a:prstGeom prst="rect">
            <a:avLst/>
          </a:prstGeom>
          <a:noFill/>
        </p:spPr>
        <p:txBody>
          <a:bodyPr wrap="square" lIns="0" rIns="0" tIns="0" bIns="0" anchor="t">
            <a:spAutoFit/>
          </a:bodyPr>
          <a:lstStyle/>
          <a:p>
            <a:pPr algn="l">
              <a:spcAft>
                <a:spcPts val="400"/>
              </a:spcAft>
            </a:pPr>
            <a:r>
              <a:rPr sz="1700" b="0" i="0">
                <a:solidFill>
                  <a:srgbClr val="475569"/>
                </a:solidFill>
              </a:rPr>
              <a:t>Closure of 1.5 s, closed-eye fraction, or tilt with low EAR, persisting 1 s. Threshold calibrated per rider.</a:t>
            </a:r>
          </a:p>
        </p:txBody>
      </p:sp>
      <p:sp>
        <p:nvSpPr>
          <p:cNvPr id="38" name="Rounded Rectangle 37"/>
          <p:cNvSpPr/>
          <p:nvPr/>
        </p:nvSpPr>
        <p:spPr>
          <a:xfrm>
            <a:off x="8997696" y="1325880"/>
            <a:ext cx="2633472" cy="3108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198864" y="15087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38944"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Warn and log</a:t>
            </a:r>
          </a:p>
        </p:txBody>
      </p:sp>
      <p:sp>
        <p:nvSpPr>
          <p:cNvPr id="41" name="TextBox 40"/>
          <p:cNvSpPr txBox="1"/>
          <p:nvPr/>
        </p:nvSpPr>
        <p:spPr>
          <a:xfrm>
            <a:off x="9198864" y="2194560"/>
            <a:ext cx="2231136" cy="2103120"/>
          </a:xfrm>
          <a:prstGeom prst="rect">
            <a:avLst/>
          </a:prstGeom>
          <a:noFill/>
        </p:spPr>
        <p:txBody>
          <a:bodyPr wrap="square" lIns="0" rIns="0" tIns="0" bIns="0" anchor="t">
            <a:spAutoFit/>
          </a:bodyPr>
          <a:lstStyle/>
          <a:p>
            <a:pPr algn="l">
              <a:spcAft>
                <a:spcPts val="400"/>
              </a:spcAft>
            </a:pPr>
            <a:r>
              <a:rPr sz="1700" b="0" i="0">
                <a:solidFill>
                  <a:srgbClr val="475569"/>
                </a:solidFill>
              </a:rPr>
              <a:t>On-screen warning, optional bell, numeric event log, CSV export, adjustable validated thresholds.</a:t>
            </a:r>
          </a:p>
        </p:txBody>
      </p:sp>
      <p:sp>
        <p:nvSpPr>
          <p:cNvPr id="42" name="Rounded Rectangle 41"/>
          <p:cNvSpPr/>
          <p:nvPr/>
        </p:nvSpPr>
        <p:spPr>
          <a:xfrm>
            <a:off x="548640" y="4663440"/>
            <a:ext cx="11091672" cy="1371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777240" y="4937760"/>
            <a:ext cx="640080" cy="640080"/>
          </a:xfrm>
          <a:prstGeom prst="ellipse">
            <a:avLst/>
          </a:prstGeom>
          <a:solidFill>
            <a:srgbClr val="1B2A41"/>
          </a:solidFill>
          <a:ln w="9525">
            <a:solidFill>
              <a:srgbClr val="1B2A4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W</a:t>
            </a:r>
          </a:p>
        </p:txBody>
      </p:sp>
      <p:sp>
        <p:nvSpPr>
          <p:cNvPr id="44" name="TextBox 43"/>
          <p:cNvSpPr txBox="1"/>
          <p:nvPr/>
        </p:nvSpPr>
        <p:spPr>
          <a:xfrm>
            <a:off x="1645920" y="4846320"/>
            <a:ext cx="9784080" cy="457200"/>
          </a:xfrm>
          <a:prstGeom prst="rect">
            <a:avLst/>
          </a:prstGeom>
          <a:noFill/>
        </p:spPr>
        <p:txBody>
          <a:bodyPr wrap="square" lIns="0" rIns="0" tIns="0" bIns="0" anchor="t">
            <a:spAutoFit/>
          </a:bodyPr>
          <a:lstStyle/>
          <a:p>
            <a:pPr algn="l">
              <a:spcAft>
                <a:spcPts val="400"/>
              </a:spcAft>
            </a:pPr>
            <a:r>
              <a:rPr sz="1700" b="1" i="0">
                <a:solidFill>
                  <a:srgbClr val="0F172A"/>
                </a:solidFill>
              </a:rPr>
              <a:t>Web application and future work</a:t>
            </a:r>
          </a:p>
        </p:txBody>
      </p:sp>
      <p:sp>
        <p:nvSpPr>
          <p:cNvPr id="45" name="TextBox 44"/>
          <p:cNvSpPr txBox="1"/>
          <p:nvPr/>
        </p:nvSpPr>
        <p:spPr>
          <a:xfrm>
            <a:off x="1645920" y="5303520"/>
            <a:ext cx="9784080" cy="685800"/>
          </a:xfrm>
          <a:prstGeom prst="rect">
            <a:avLst/>
          </a:prstGeom>
          <a:noFill/>
        </p:spPr>
        <p:txBody>
          <a:bodyPr wrap="square" lIns="0" rIns="0" tIns="0" bIns="0" anchor="t">
            <a:spAutoFit/>
          </a:bodyPr>
          <a:lstStyle/>
          <a:p>
            <a:pPr algn="l">
              <a:spcAft>
                <a:spcPts val="400"/>
              </a:spcAft>
            </a:pPr>
            <a:r>
              <a:rPr sz="1600" b="0" i="0">
                <a:solidFill>
                  <a:srgbClr val="475569"/>
                </a:solidFill>
              </a:rPr>
              <a:t>FastAPI service and React interface over the same Python modules, demo login. Future: a classifier trained on a consented sober and intoxicated dataset, and a real prevention action.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High-level proposed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pic>
        <p:nvPicPr>
          <p:cNvPr id="26" name="Picture 25" descr="01_system_architecture.png"/>
          <p:cNvPicPr>
            <a:picLocks noChangeAspect="1"/>
          </p:cNvPicPr>
          <p:nvPr/>
        </p:nvPicPr>
        <p:blipFill>
          <a:blip r:embed="rId1"/>
          <a:stretch>
            <a:fillRect/>
          </a:stretch>
        </p:blipFill>
        <p:spPr>
          <a:xfrm>
            <a:off x="726362" y="1188720"/>
            <a:ext cx="6136795" cy="4937760"/>
          </a:xfrm>
          <a:prstGeom prst="rect">
            <a:avLst/>
          </a:prstGeom>
          <a:ln w="9525">
            <a:solidFill>
              <a:srgbClr val="D5DCE6"/>
            </a:solidFill>
          </a:ln>
        </p:spPr>
      </p:pic>
      <p:sp>
        <p:nvSpPr>
          <p:cNvPr id="27" name="Rounded Rectangle 26"/>
          <p:cNvSpPr/>
          <p:nvPr/>
        </p:nvSpPr>
        <p:spPr>
          <a:xfrm>
            <a:off x="7406640" y="1280160"/>
            <a:ext cx="4233672" cy="1097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589520" y="1371600"/>
            <a:ext cx="3886200" cy="320040"/>
          </a:xfrm>
          <a:prstGeom prst="rect">
            <a:avLst/>
          </a:prstGeom>
          <a:noFill/>
        </p:spPr>
        <p:txBody>
          <a:bodyPr wrap="square" lIns="0" rIns="0" tIns="0" bIns="0" anchor="t">
            <a:spAutoFit/>
          </a:bodyPr>
          <a:lstStyle/>
          <a:p>
            <a:pPr algn="l">
              <a:spcAft>
                <a:spcPts val="400"/>
              </a:spcAft>
            </a:pPr>
            <a:r>
              <a:rPr sz="1500" b="1" i="0">
                <a:solidFill>
                  <a:srgbClr val="0F172A"/>
                </a:solidFill>
              </a:rPr>
              <a:t>Client tier</a:t>
            </a:r>
          </a:p>
        </p:txBody>
      </p:sp>
      <p:sp>
        <p:nvSpPr>
          <p:cNvPr id="29" name="TextBox 28"/>
          <p:cNvSpPr txBox="1"/>
          <p:nvPr/>
        </p:nvSpPr>
        <p:spPr>
          <a:xfrm>
            <a:off x="7589520" y="1719072"/>
            <a:ext cx="3886200" cy="640080"/>
          </a:xfrm>
          <a:prstGeom prst="rect">
            <a:avLst/>
          </a:prstGeom>
          <a:noFill/>
        </p:spPr>
        <p:txBody>
          <a:bodyPr wrap="square" lIns="0" rIns="0" tIns="0" bIns="0" anchor="t">
            <a:spAutoFit/>
          </a:bodyPr>
          <a:lstStyle/>
          <a:p>
            <a:pPr algn="l">
              <a:spcAft>
                <a:spcPts val="400"/>
              </a:spcAft>
            </a:pPr>
            <a:r>
              <a:rPr sz="1250" b="0" i="0">
                <a:solidFill>
                  <a:srgbClr val="475569"/>
                </a:solidFill>
              </a:rPr>
              <a:t>React app in the browser (webcam via getUserMedia) and the original Tkinter desktop app.</a:t>
            </a:r>
          </a:p>
        </p:txBody>
      </p:sp>
      <p:sp>
        <p:nvSpPr>
          <p:cNvPr id="30" name="Rounded Rectangle 29"/>
          <p:cNvSpPr/>
          <p:nvPr/>
        </p:nvSpPr>
        <p:spPr>
          <a:xfrm>
            <a:off x="7406640" y="2487168"/>
            <a:ext cx="4233672" cy="1097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589520" y="2578608"/>
            <a:ext cx="3886200" cy="320040"/>
          </a:xfrm>
          <a:prstGeom prst="rect">
            <a:avLst/>
          </a:prstGeom>
          <a:noFill/>
        </p:spPr>
        <p:txBody>
          <a:bodyPr wrap="square" lIns="0" rIns="0" tIns="0" bIns="0" anchor="t">
            <a:spAutoFit/>
          </a:bodyPr>
          <a:lstStyle/>
          <a:p>
            <a:pPr algn="l">
              <a:spcAft>
                <a:spcPts val="400"/>
              </a:spcAft>
            </a:pPr>
            <a:r>
              <a:rPr sz="1500" b="1" i="0">
                <a:solidFill>
                  <a:srgbClr val="0F172A"/>
                </a:solidFill>
              </a:rPr>
              <a:t>Application tier</a:t>
            </a:r>
          </a:p>
        </p:txBody>
      </p:sp>
      <p:sp>
        <p:nvSpPr>
          <p:cNvPr id="32" name="TextBox 31"/>
          <p:cNvSpPr txBox="1"/>
          <p:nvPr/>
        </p:nvSpPr>
        <p:spPr>
          <a:xfrm>
            <a:off x="7589520" y="2926079"/>
            <a:ext cx="3886200" cy="640080"/>
          </a:xfrm>
          <a:prstGeom prst="rect">
            <a:avLst/>
          </a:prstGeom>
          <a:noFill/>
        </p:spPr>
        <p:txBody>
          <a:bodyPr wrap="square" lIns="0" rIns="0" tIns="0" bIns="0" anchor="t">
            <a:spAutoFit/>
          </a:bodyPr>
          <a:lstStyle/>
          <a:p>
            <a:pPr algn="l">
              <a:spcAft>
                <a:spcPts val="400"/>
              </a:spcAft>
            </a:pPr>
            <a:r>
              <a:rPr sz="1250" b="0" i="0">
                <a:solidFill>
                  <a:srgbClr val="475569"/>
                </a:solidFill>
              </a:rPr>
              <a:t>FastAPI service with a demo login and one monitoring session per browser tab.</a:t>
            </a:r>
          </a:p>
        </p:txBody>
      </p:sp>
      <p:sp>
        <p:nvSpPr>
          <p:cNvPr id="33" name="Rounded Rectangle 32"/>
          <p:cNvSpPr/>
          <p:nvPr/>
        </p:nvSpPr>
        <p:spPr>
          <a:xfrm>
            <a:off x="7406640" y="3694176"/>
            <a:ext cx="4233672" cy="1097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589520" y="3785615"/>
            <a:ext cx="3886200" cy="320040"/>
          </a:xfrm>
          <a:prstGeom prst="rect">
            <a:avLst/>
          </a:prstGeom>
          <a:noFill/>
        </p:spPr>
        <p:txBody>
          <a:bodyPr wrap="square" lIns="0" rIns="0" tIns="0" bIns="0" anchor="t">
            <a:spAutoFit/>
          </a:bodyPr>
          <a:lstStyle/>
          <a:p>
            <a:pPr algn="l">
              <a:spcAft>
                <a:spcPts val="400"/>
              </a:spcAft>
            </a:pPr>
            <a:r>
              <a:rPr sz="1500" b="1" i="0">
                <a:solidFill>
                  <a:srgbClr val="0F172A"/>
                </a:solidFill>
              </a:rPr>
              <a:t>Shared Python modules</a:t>
            </a:r>
          </a:p>
        </p:txBody>
      </p:sp>
      <p:sp>
        <p:nvSpPr>
          <p:cNvPr id="35" name="TextBox 34"/>
          <p:cNvSpPr txBox="1"/>
          <p:nvPr/>
        </p:nvSpPr>
        <p:spPr>
          <a:xfrm>
            <a:off x="7589520" y="4133087"/>
            <a:ext cx="3886200" cy="640080"/>
          </a:xfrm>
          <a:prstGeom prst="rect">
            <a:avLst/>
          </a:prstGeom>
          <a:noFill/>
        </p:spPr>
        <p:txBody>
          <a:bodyPr wrap="square" lIns="0" rIns="0" tIns="0" bIns="0" anchor="t">
            <a:spAutoFit/>
          </a:bodyPr>
          <a:lstStyle/>
          <a:p>
            <a:pPr algn="l">
              <a:spcAft>
                <a:spcPts val="400"/>
              </a:spcAft>
            </a:pPr>
            <a:r>
              <a:rPr sz="1250" b="0" i="0">
                <a:solidFill>
                  <a:srgbClr val="475569"/>
                </a:solidFill>
              </a:rPr>
              <a:t>MediaPipe vision with quality gates, the rule engine, storage and an offline research tool.</a:t>
            </a:r>
          </a:p>
        </p:txBody>
      </p:sp>
      <p:sp>
        <p:nvSpPr>
          <p:cNvPr id="36" name="Rounded Rectangle 35"/>
          <p:cNvSpPr/>
          <p:nvPr/>
        </p:nvSpPr>
        <p:spPr>
          <a:xfrm>
            <a:off x="7406640" y="4901183"/>
            <a:ext cx="4233672" cy="1097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589520" y="4992623"/>
            <a:ext cx="3886200" cy="320040"/>
          </a:xfrm>
          <a:prstGeom prst="rect">
            <a:avLst/>
          </a:prstGeom>
          <a:noFill/>
        </p:spPr>
        <p:txBody>
          <a:bodyPr wrap="square" lIns="0" rIns="0" tIns="0" bIns="0" anchor="t">
            <a:spAutoFit/>
          </a:bodyPr>
          <a:lstStyle/>
          <a:p>
            <a:pPr algn="l">
              <a:spcAft>
                <a:spcPts val="400"/>
              </a:spcAft>
            </a:pPr>
            <a:r>
              <a:rPr sz="1500" b="1" i="0">
                <a:solidFill>
                  <a:srgbClr val="0F172A"/>
                </a:solidFill>
              </a:rPr>
              <a:t>Data tier</a:t>
            </a:r>
          </a:p>
        </p:txBody>
      </p:sp>
      <p:sp>
        <p:nvSpPr>
          <p:cNvPr id="38" name="TextBox 37"/>
          <p:cNvSpPr txBox="1"/>
          <p:nvPr/>
        </p:nvSpPr>
        <p:spPr>
          <a:xfrm>
            <a:off x="7589520" y="5340096"/>
            <a:ext cx="3886200" cy="640080"/>
          </a:xfrm>
          <a:prstGeom prst="rect">
            <a:avLst/>
          </a:prstGeom>
          <a:noFill/>
        </p:spPr>
        <p:txBody>
          <a:bodyPr wrap="square" lIns="0" rIns="0" tIns="0" bIns="0" anchor="t">
            <a:spAutoFit/>
          </a:bodyPr>
          <a:lstStyle/>
          <a:p>
            <a:pPr algn="l">
              <a:spcAft>
                <a:spcPts val="400"/>
              </a:spcAft>
            </a:pPr>
            <a:r>
              <a:rPr sz="1250" b="0" i="0">
                <a:solidFill>
                  <a:srgbClr val="475569"/>
                </a:solidFill>
              </a:rPr>
              <a:t>Landmark model file, SQLite event log, JSON settings. Video frames stay in memory.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Expected outcomes and contributions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
        <p:nvSpPr>
          <p:cNvPr id="26" name="Rounded Rectangle 25"/>
          <p:cNvSpPr/>
          <p:nvPr/>
        </p:nvSpPr>
        <p:spPr>
          <a:xfrm>
            <a:off x="548640" y="137160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Working monitor</a:t>
            </a:r>
          </a:p>
        </p:txBody>
      </p:sp>
      <p:sp>
        <p:nvSpPr>
          <p:cNvPr id="29" name="TextBox 28"/>
          <p:cNvSpPr txBox="1"/>
          <p:nvPr/>
        </p:nvSpPr>
        <p:spPr>
          <a:xfrm>
            <a:off x="749808" y="2240280"/>
            <a:ext cx="3118104" cy="1280160"/>
          </a:xfrm>
          <a:prstGeom prst="rect">
            <a:avLst/>
          </a:prstGeom>
          <a:noFill/>
        </p:spPr>
        <p:txBody>
          <a:bodyPr wrap="square" lIns="0" rIns="0" tIns="0" bIns="0" anchor="t">
            <a:spAutoFit/>
          </a:bodyPr>
          <a:lstStyle/>
          <a:p>
            <a:pPr algn="l">
              <a:spcAft>
                <a:spcPts val="400"/>
              </a:spcAft>
            </a:pPr>
            <a:r>
              <a:rPr sz="1800" b="0" i="0">
                <a:solidFill>
                  <a:srgbClr val="475569"/>
                </a:solidFill>
              </a:rPr>
              <a:t>A real-time webcam monitor with three outputs and a stated reason for each.</a:t>
            </a:r>
          </a:p>
        </p:txBody>
      </p:sp>
      <p:sp>
        <p:nvSpPr>
          <p:cNvPr id="30" name="Rounded Rectangle 29"/>
          <p:cNvSpPr/>
          <p:nvPr/>
        </p:nvSpPr>
        <p:spPr>
          <a:xfrm>
            <a:off x="4334255" y="137160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Safe failure</a:t>
            </a:r>
          </a:p>
        </p:txBody>
      </p:sp>
      <p:sp>
        <p:nvSpPr>
          <p:cNvPr id="33" name="TextBox 32"/>
          <p:cNvSpPr txBox="1"/>
          <p:nvPr/>
        </p:nvSpPr>
        <p:spPr>
          <a:xfrm>
            <a:off x="4535423" y="2240280"/>
            <a:ext cx="3118104" cy="1280160"/>
          </a:xfrm>
          <a:prstGeom prst="rect">
            <a:avLst/>
          </a:prstGeom>
          <a:noFill/>
        </p:spPr>
        <p:txBody>
          <a:bodyPr wrap="square" lIns="0" rIns="0" tIns="0" bIns="0" anchor="t">
            <a:spAutoFit/>
          </a:bodyPr>
          <a:lstStyle/>
          <a:p>
            <a:pPr algn="l">
              <a:spcAft>
                <a:spcPts val="400"/>
              </a:spcAft>
            </a:pPr>
            <a:r>
              <a:rPr sz="1800" b="0" i="0">
                <a:solidFill>
                  <a:srgbClr val="475569"/>
                </a:solidFill>
              </a:rPr>
              <a:t>No verdict when lighting, blur or occlusion make the eyes unreadable.</a:t>
            </a:r>
          </a:p>
        </p:txBody>
      </p:sp>
      <p:sp>
        <p:nvSpPr>
          <p:cNvPr id="34" name="Rounded Rectangle 33"/>
          <p:cNvSpPr/>
          <p:nvPr/>
        </p:nvSpPr>
        <p:spPr>
          <a:xfrm>
            <a:off x="8119871" y="137160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Measured behaviour</a:t>
            </a:r>
          </a:p>
        </p:txBody>
      </p:sp>
      <p:sp>
        <p:nvSpPr>
          <p:cNvPr id="37" name="TextBox 36"/>
          <p:cNvSpPr txBox="1"/>
          <p:nvPr/>
        </p:nvSpPr>
        <p:spPr>
          <a:xfrm>
            <a:off x="8321040" y="2240280"/>
            <a:ext cx="3118104" cy="1280160"/>
          </a:xfrm>
          <a:prstGeom prst="rect">
            <a:avLst/>
          </a:prstGeom>
          <a:noFill/>
        </p:spPr>
        <p:txBody>
          <a:bodyPr wrap="square" lIns="0" rIns="0" tIns="0" bIns="0" anchor="t">
            <a:spAutoFit/>
          </a:bodyPr>
          <a:lstStyle/>
          <a:p>
            <a:pPr algn="l">
              <a:spcAft>
                <a:spcPts val="400"/>
              </a:spcAft>
            </a:pPr>
            <a:r>
              <a:rPr sz="1800" b="0" i="0">
                <a:solidFill>
                  <a:srgbClr val="475569"/>
                </a:solidFill>
              </a:rPr>
              <a:t>Eye-state accuracy on public data, degraded-image tests, rule timing and latency.</a:t>
            </a:r>
          </a:p>
        </p:txBody>
      </p:sp>
      <p:sp>
        <p:nvSpPr>
          <p:cNvPr id="38" name="Rounded Rectangle 37"/>
          <p:cNvSpPr/>
          <p:nvPr/>
        </p:nvSpPr>
        <p:spPr>
          <a:xfrm>
            <a:off x="548640" y="384048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749808" y="40233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1389888" y="39959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Usable application</a:t>
            </a:r>
          </a:p>
        </p:txBody>
      </p:sp>
      <p:sp>
        <p:nvSpPr>
          <p:cNvPr id="41" name="TextBox 40"/>
          <p:cNvSpPr txBox="1"/>
          <p:nvPr/>
        </p:nvSpPr>
        <p:spPr>
          <a:xfrm>
            <a:off x="749808" y="4709160"/>
            <a:ext cx="3118104" cy="1280160"/>
          </a:xfrm>
          <a:prstGeom prst="rect">
            <a:avLst/>
          </a:prstGeom>
          <a:noFill/>
        </p:spPr>
        <p:txBody>
          <a:bodyPr wrap="square" lIns="0" rIns="0" tIns="0" bIns="0" anchor="t">
            <a:spAutoFit/>
          </a:bodyPr>
          <a:lstStyle/>
          <a:p>
            <a:pPr algn="l">
              <a:spcAft>
                <a:spcPts val="400"/>
              </a:spcAft>
            </a:pPr>
            <a:r>
              <a:rPr sz="1800" b="0" i="0">
                <a:solidFill>
                  <a:srgbClr val="475569"/>
                </a:solidFill>
              </a:rPr>
              <a:t>Web interface with login, history, thresholds and CSV export.</a:t>
            </a:r>
          </a:p>
        </p:txBody>
      </p:sp>
      <p:sp>
        <p:nvSpPr>
          <p:cNvPr id="42" name="Rounded Rectangle 41"/>
          <p:cNvSpPr/>
          <p:nvPr/>
        </p:nvSpPr>
        <p:spPr>
          <a:xfrm>
            <a:off x="4334255" y="384048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4535423" y="40233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5</a:t>
            </a:r>
          </a:p>
        </p:txBody>
      </p:sp>
      <p:sp>
        <p:nvSpPr>
          <p:cNvPr id="44" name="TextBox 43"/>
          <p:cNvSpPr txBox="1"/>
          <p:nvPr/>
        </p:nvSpPr>
        <p:spPr>
          <a:xfrm>
            <a:off x="5175503" y="39959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Honest scope</a:t>
            </a:r>
          </a:p>
        </p:txBody>
      </p:sp>
      <p:sp>
        <p:nvSpPr>
          <p:cNvPr id="45" name="TextBox 44"/>
          <p:cNvSpPr txBox="1"/>
          <p:nvPr/>
        </p:nvSpPr>
        <p:spPr>
          <a:xfrm>
            <a:off x="4535423" y="4709160"/>
            <a:ext cx="3118104" cy="1280160"/>
          </a:xfrm>
          <a:prstGeom prst="rect">
            <a:avLst/>
          </a:prstGeom>
          <a:noFill/>
        </p:spPr>
        <p:txBody>
          <a:bodyPr wrap="square" lIns="0" rIns="0" tIns="0" bIns="0" anchor="t">
            <a:spAutoFit/>
          </a:bodyPr>
          <a:lstStyle/>
          <a:p>
            <a:pPr algn="l">
              <a:spcAft>
                <a:spcPts val="400"/>
              </a:spcAft>
            </a:pPr>
            <a:r>
              <a:rPr sz="1800" b="0" i="0">
                <a:solidFill>
                  <a:srgbClr val="475569"/>
                </a:solidFill>
              </a:rPr>
              <a:t>Not an alcohol test; no trained classifier or prevention action in this version.</a:t>
            </a:r>
          </a:p>
        </p:txBody>
      </p:sp>
      <p:sp>
        <p:nvSpPr>
          <p:cNvPr id="46" name="Rounded Rectangle 45"/>
          <p:cNvSpPr/>
          <p:nvPr/>
        </p:nvSpPr>
        <p:spPr>
          <a:xfrm>
            <a:off x="8119871" y="384048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8321040" y="40233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6</a:t>
            </a:r>
          </a:p>
        </p:txBody>
      </p:sp>
      <p:sp>
        <p:nvSpPr>
          <p:cNvPr id="48" name="TextBox 47"/>
          <p:cNvSpPr txBox="1"/>
          <p:nvPr/>
        </p:nvSpPr>
        <p:spPr>
          <a:xfrm>
            <a:off x="8961119" y="39959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Reproducible</a:t>
            </a:r>
          </a:p>
        </p:txBody>
      </p:sp>
      <p:sp>
        <p:nvSpPr>
          <p:cNvPr id="49" name="TextBox 48"/>
          <p:cNvSpPr txBox="1"/>
          <p:nvPr/>
        </p:nvSpPr>
        <p:spPr>
          <a:xfrm>
            <a:off x="8321040" y="4709160"/>
            <a:ext cx="3118104" cy="1280160"/>
          </a:xfrm>
          <a:prstGeom prst="rect">
            <a:avLst/>
          </a:prstGeom>
          <a:noFill/>
        </p:spPr>
        <p:txBody>
          <a:bodyPr wrap="square" lIns="0" rIns="0" tIns="0" bIns="0" anchor="t">
            <a:spAutoFit/>
          </a:bodyPr>
          <a:lstStyle/>
          <a:p>
            <a:pPr algn="l">
              <a:spcAft>
                <a:spcPts val="400"/>
              </a:spcAft>
            </a:pPr>
            <a:r>
              <a:rPr sz="1800" b="0" i="0">
                <a:solidFill>
                  <a:srgbClr val="475569"/>
                </a:solidFill>
              </a:rPr>
              <a:t>Seeded measurement scripts and automated tests for the core and the API.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References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TextBox 25"/>
          <p:cNvSpPr txBox="1"/>
          <p:nvPr/>
        </p:nvSpPr>
        <p:spPr>
          <a:xfrm>
            <a:off x="548640" y="1234440"/>
            <a:ext cx="11091672" cy="5029200"/>
          </a:xfrm>
          <a:prstGeom prst="rect">
            <a:avLst/>
          </a:prstGeom>
          <a:noFill/>
        </p:spPr>
        <p:txBody>
          <a:bodyPr wrap="square" lIns="0" rIns="0" tIns="0" bIns="0" anchor="t">
            <a:spAutoFit/>
          </a:bodyPr>
          <a:lstStyle/>
          <a:p>
            <a:pPr algn="l">
              <a:spcAft>
                <a:spcPts val="700"/>
              </a:spcAft>
            </a:pPr>
            <a:r>
              <a:rPr sz="1400" b="0" i="0">
                <a:solidFill>
                  <a:srgbClr val="0F172A"/>
                </a:solidFill>
              </a:rPr>
              <a:t>[1] C.-L. Feng and T.-H. S. Li, "Robust driver state assessment on an embedded platform using a fuzzy belief rule-based fusion of eye aspect ratio and voice commands," IEEE Access, vol. 14, pp. 36158-36175, 2026, doi: 10.1109/ACCESS.2026.3670924.</a:t>
            </a:r>
          </a:p>
          <a:p>
            <a:pPr algn="l">
              <a:spcAft>
                <a:spcPts val="700"/>
              </a:spcAft>
            </a:pPr>
            <a:r>
              <a:rPr sz="1400" b="0" i="0">
                <a:solidFill>
                  <a:srgbClr val="0F172A"/>
                </a:solidFill>
              </a:rPr>
              <a:t>[2] B. Baroutian, A. Aghaei, and M. Ebrahimi Moghaddam, "Detection of intoxicated individuals from facial video sequences via a recurrent fusion model," arXiv:2512.04536, Dec. 2025.</a:t>
            </a:r>
          </a:p>
          <a:p>
            <a:pPr algn="l">
              <a:spcAft>
                <a:spcPts val="700"/>
              </a:spcAft>
            </a:pPr>
            <a:r>
              <a:rPr sz="1400" b="0" i="0">
                <a:solidFill>
                  <a:srgbClr val="0F172A"/>
                </a:solidFill>
              </a:rPr>
              <a:t>[3] R. Deuber et al., "Detecting drunk driving using off-the-shelf smartwatches," arXiv:2605.23663, May 2026 (manuscript under review).</a:t>
            </a:r>
          </a:p>
          <a:p>
            <a:pPr algn="l">
              <a:spcAft>
                <a:spcPts val="700"/>
              </a:spcAft>
            </a:pPr>
            <a:r>
              <a:rPr sz="1400" b="0" i="0">
                <a:solidFill>
                  <a:srgbClr val="0F172A"/>
                </a:solidFill>
              </a:rPr>
              <a:t>[4] V. Mehta, D. P. Yadav, S. S. Katta, and A. Dhall, "DIF: Dataset of perceived intoxicated faces for drunk person identification," arXiv:1805.10030, 2018 (revised 2019).</a:t>
            </a:r>
          </a:p>
          <a:p>
            <a:pPr algn="l">
              <a:spcAft>
                <a:spcPts val="700"/>
              </a:spcAft>
            </a:pPr>
            <a:r>
              <a:rPr sz="1400" b="0" i="0">
                <a:solidFill>
                  <a:srgbClr val="0F172A"/>
                </a:solidFill>
              </a:rPr>
              <a:t>[5] L. P. Acharya, "Infrared deep learning system for non-invasive drunk detection and alcohol level classification," Iowa State Univ., Ames, IA, USA, Dec. 2024. [Online]. Available: https://dr.lib.iastate.edu/handle/20.500.12876/105973</a:t>
            </a:r>
          </a:p>
          <a:p>
            <a:pPr algn="l">
              <a:spcAft>
                <a:spcPts val="700"/>
              </a:spcAft>
            </a:pPr>
            <a:r>
              <a:rPr sz="1400" b="0" i="0">
                <a:solidFill>
                  <a:srgbClr val="0F172A"/>
                </a:solidFill>
              </a:rPr>
              <a:t>[8] C.-H. Chai, S. F. Abdul Razak, S. Yogarayan, and R. Shanmugam, "Drunk driver detection using thermal facial images," Information, vol. 16, no. 5, Art. no. 413, 2025.</a:t>
            </a:r>
          </a:p>
          <a:p>
            <a:pPr algn="l">
              <a:spcAft>
                <a:spcPts val="700"/>
              </a:spcAft>
            </a:pPr>
            <a:r>
              <a:rPr sz="1400" b="0" i="0">
                <a:solidFill>
                  <a:srgbClr val="0F172A"/>
                </a:solidFill>
              </a:rPr>
              <a:t>[9] T. Soukupova and J. Cech, "Real-time eye blink detection using facial landmarks," in Proc. 21st Computer Vision Winter Workshop, Rimske Toplice, Slovenia, Feb. 2016.</a:t>
            </a:r>
          </a:p>
          <a:p>
            <a:pPr algn="l">
              <a:spcAft>
                <a:spcPts val="700"/>
              </a:spcAft>
            </a:pPr>
            <a:r>
              <a:rPr sz="1400" b="0" i="0">
                <a:solidFill>
                  <a:srgbClr val="0F172A"/>
                </a:solidFill>
              </a:rPr>
              <a:t>[11] C. Lugaresi et al., "MediaPipe: A framework for building perception pipelines," arXiv:1906.08172, 2019.</a:t>
            </a:r>
          </a:p>
          <a:p>
            <a:pPr algn="l">
              <a:spcAft>
                <a:spcPts val="700"/>
              </a:spcAft>
            </a:pPr>
            <a:r>
              <a:rPr sz="1400" b="0" i="0">
                <a:solidFill>
                  <a:srgbClr val="0F172A"/>
                </a:solidFill>
              </a:rPr>
              <a:t>[12] F. Song, X. Tan, X. Liu, and S. Chen, "Eyes closeness detection from still images with multi-scale histograms of principal oriented gradients," Pattern Recognit., vol. 47, no. 9, pp. 2825-2838, Sep. 2014, doi: 10.1016/j.patcog.2014.03.024.</a:t>
            </a:r>
          </a:p>
          <a:p>
            <a:pPr algn="l">
              <a:spcAft>
                <a:spcPts val="700"/>
              </a:spcAft>
            </a:pPr>
            <a:r>
              <a:rPr sz="1400" b="0" i="0">
                <a:solidFill>
                  <a:srgbClr val="0F172A"/>
                </a:solidFill>
              </a:rPr>
              <a:t>[17] World Health Organization, "Global status report on road safety 2023," Geneva, Switzerland, Dec. 2023.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SmartRider">
  <a:themeElements>
    <a:clrScheme name="SmartRider">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SmartRid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SmartRide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Alcohol Intoxication Detection and Prevention System Using AI: Review 1</dc:title>
  <dc:subject>Batch A6 (CSE-A)</dc:subject>
  <dc:creator>B PRANITHA, BANTU KAVYA, DASARI VIVEKA SARVESHWARI, BEKKAM VAMSHI</dc:creator>
  <cp:lastModifiedBy/>
  <cp:revision>1</cp:revision>
  <dcterms:created xsi:type="dcterms:W3CDTF">2026-10-13T12:36:40Z</dcterms:created>
  <dcterms:modified xsi:type="dcterms:W3CDTF">2026-10-13T12:36:40Z</dcterms:modified>
  <cp:keywords>driver monitoring, eye aspect ratio, MediaPipe, intoxication, drowsiness</cp:keywords>
  <dc:description/>
</cp:coreProperties>
</file>