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623e47-5b1a-7aef-5476-75bff30165c3}">
          <p14:sldIdLst>
            <p14:sldId id="256"/>
            <p14:sldId id="257"/>
            <p14:sldId id="258"/>
          </p14:sldIdLst>
        </p14:section>
        <p14:section name="Design" id="{ee3f979a-aefa-c88f-8568-1021737ba133}">
          <p14:sldIdLst>
            <p14:sldId id="259"/>
            <p14:sldId id="260"/>
            <p14:sldId id="261"/>
            <p14:sldId id="262"/>
            <p14:sldId id="263"/>
            <p14:sldId id="264"/>
            <p14:sldId id="265"/>
            <p14:sldId id="266"/>
            <p14:sldId id="267"/>
            <p14:sldId id="268"/>
          </p14:sldIdLst>
        </p14:section>
        <p14:section name="Progress" id="{cf39a97a-7fb0-4c7a-0650-0fb3a5c44815}">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This review shows how the system is designed and built, what has been implemented, the first measured results and the open items. Say at the start: a camera cannot confirm alcohol, so the product is a drowsiness / impairment warning and we state exactly what it does and does not 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for the design and progress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One-minute recap of Review 1. The batch title says alcohol; the abstract says visual signs of intoxication. What we can honestly deliver and measure is an eye and head based warning for possible drowsiness or impairment. The third card says plainly what is missing.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tiers. The web service wraps the original desktop modules rather than rewriting them, so both front ends give the same verdict. The browser sends a 640 x 480 JPEG frame; the server runs MediaPipe and the rule engine and returns the state and an annotated preview.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stages from frame to log. The method is deliberately transparent, because there is no labelled intoxication data to train a classifier 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CEW has 2,423 faces and is used only to test the eye open / closed measurement. It says nothing about alcohol. The synthetic CSV only proves the offline pipeline runs; the screen carries a Synthetic data banner.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Seven pixel and geometry gates plus a timing check run before any verdict. They are heuristics, not proof of occlusion. Our degraded-image test shows they fail safe but are strict.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no neural network trained by the team. MediaPipe supplies the landmarks; the decision is a small rule engine. The nearest-centroid classifier only runs offline on a consented labelled CSV, and none exists yet, so the screen says Model not trained.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no training loop. What is configured is the calibration and the rule constants. They are adjustable within validated bounds. After the CEW sweep we know 0.21 is conservative; we kept it as the documented default and rely on calibration per rider.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flowchart is drawn from RiskEngine.update. All three rules are evaluated every frame and their reasons are joined in the warning text.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Level-1 data flow: seven processes and three stores. Levels 0 and 2 are in the report.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what is persisted and what is not. Right: the main classes. Settings, Observation, Decision, RiskEngine and Calibration are pure logic; Vision, Store and RiderSession are the parts that touch the outside world.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Everything is open source and runs on one laptop; run.bat rebuilds the environment and downloads the 3.7 MB landmark model if needed.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of the code base. The three Not done rows are objectives from the batch file that this version does not meet; the report says so in the objectives table.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Numbers come from experiments/cew_ear and experiments/rule_engine. Accuracy 92.2% at the default 0.21 on 2,407 faces; the default is conservative. This tests only the eye open or closed measurement on still images, not intoxication. Closed faces come from the Internet and open faces from LFW, so separation may be optimistic. API frame latency: median 31.2 ms, 95th percentile 47.8 ms on this i5-12500.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screenshots from the running application. Top left uses one public-domain portrait as a fake webcam; EAR 0.254 against a calibrated threshold of 0.183. Bottom right is the offline evaluation screen on the generated demo file; it carries a Synthetic data banner.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suites use temporary storage and never touch the real history. The scripted blink streams are generated, not people. The observations on the right drove the limitations section of the report.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challenge led to a concrete change or a plainly stated limitation.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 to the final review. The right-hand card lists future work that is outside this submission.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rules rather than a trained model; can it detect alcohol (no); what the measured limits are.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Smart Rider Impairment Warning System for Two-Wheelers  ·  Review 2</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1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8.png"/><Relationship Id="rId3" Type="http://schemas.openxmlformats.org/officeDocument/2006/relationships/slideLayout" Target="../slideLayouts/slideLayout3.xml"/><Relationship Id="rId4" Type="http://schemas.openxmlformats.org/officeDocument/2006/relationships/notesSlide" Target="../notesSlides/notesSlide16.xml"/><Relationship Id="rId5" Type="http://schemas.openxmlformats.org/officeDocument/2006/relationships/image" Target="../media/image10.png"/><Relationship Id="rId6"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Smart Alcohol Intoxication Detection and Prevention System Using AI</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Smart Rider Impairment Warning System for Two-Wheelers: an explainable eye-closure and head-tilt warning with a FastAPI service and a React interface</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2  ·  DESIGN, METHODOLOGY AND PROGRESS</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B PRANITHA  23K91A0522</a:t>
            </a:r>
            <a:endParaRPr lang="en-US" sz="1500" dirty="0"/>
          </a:p>
          <a:p>
            <a:pPr indent="0" marL="0">
              <a:buNone/>
            </a:pPr>
            <a:r>
              <a:rPr lang="en-US" sz="1500" dirty="0">
                <a:solidFill>
                  <a:srgbClr val="FFFFFF"/>
                </a:solidFill>
              </a:rPr>
              <a:t>BANTU KAVYA  23K91A0531</a:t>
            </a:r>
            <a:endParaRPr lang="en-US" sz="1500" dirty="0"/>
          </a:p>
          <a:p>
            <a:pPr indent="0" marL="0">
              <a:buNone/>
            </a:pPr>
            <a:r>
              <a:rPr lang="en-US" sz="1500" dirty="0">
                <a:solidFill>
                  <a:srgbClr val="FFFFFF"/>
                </a:solidFill>
              </a:rPr>
              <a:t>DASARI VIVEKA SARVESHWARI  23K91A0560</a:t>
            </a:r>
            <a:endParaRPr lang="en-US" sz="1500" dirty="0"/>
          </a:p>
          <a:p>
            <a:pPr indent="0" marL="0">
              <a:buNone/>
            </a:pPr>
            <a:r>
              <a:rPr lang="en-US" sz="1500" dirty="0">
                <a:solidFill>
                  <a:srgbClr val="FFFFFF"/>
                </a:solidFill>
              </a:rPr>
              <a:t>BEKKAM VAMSHI  23K91A0534</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N. PADMAVATHI,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and Technology (Autonomous)  ·  Batch A6 (CSE-A)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Recap and architecture</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Methodology and dataset</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Preprocessing and model</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Training and decision logic</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Data flow, database and UML</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Technology stack</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Progress and preliminary results</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Output screens and testing</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Challenges and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Recap: problem and proposed system</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25880"/>
            <a:ext cx="3520440" cy="3063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4813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Problem</a:t>
            </a:r>
          </a:p>
        </p:txBody>
      </p:sp>
      <p:sp>
        <p:nvSpPr>
          <p:cNvPr id="29" name="TextBox 28"/>
          <p:cNvSpPr txBox="1"/>
          <p:nvPr/>
        </p:nvSpPr>
        <p:spPr>
          <a:xfrm>
            <a:off x="749808" y="2194560"/>
            <a:ext cx="3118104" cy="2057400"/>
          </a:xfrm>
          <a:prstGeom prst="rect">
            <a:avLst/>
          </a:prstGeom>
          <a:noFill/>
        </p:spPr>
        <p:txBody>
          <a:bodyPr wrap="square" lIns="0" rIns="0" tIns="0" bIns="0" anchor="t">
            <a:spAutoFit/>
          </a:bodyPr>
          <a:lstStyle/>
          <a:p>
            <a:pPr algn="l">
              <a:spcAft>
                <a:spcPts val="400"/>
              </a:spcAft>
            </a:pPr>
            <a:r>
              <a:rPr sz="1700" b="0" i="0">
                <a:solidFill>
                  <a:srgbClr val="475569"/>
                </a:solidFill>
              </a:rPr>
              <a:t>Drink-driving and fatigued riding are hard to police continuously: breath tests are occasional and sensors can be bypassed. The batch asked for a contactless, camera-based check.</a:t>
            </a:r>
          </a:p>
        </p:txBody>
      </p:sp>
      <p:sp>
        <p:nvSpPr>
          <p:cNvPr id="30" name="Rounded Rectangle 29"/>
          <p:cNvSpPr/>
          <p:nvPr/>
        </p:nvSpPr>
        <p:spPr>
          <a:xfrm>
            <a:off x="4334255" y="1325880"/>
            <a:ext cx="3520440" cy="3063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4813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What we built</a:t>
            </a:r>
          </a:p>
        </p:txBody>
      </p:sp>
      <p:sp>
        <p:nvSpPr>
          <p:cNvPr id="33" name="TextBox 32"/>
          <p:cNvSpPr txBox="1"/>
          <p:nvPr/>
        </p:nvSpPr>
        <p:spPr>
          <a:xfrm>
            <a:off x="4535423" y="2194560"/>
            <a:ext cx="3118104" cy="2057400"/>
          </a:xfrm>
          <a:prstGeom prst="rect">
            <a:avLst/>
          </a:prstGeom>
          <a:noFill/>
        </p:spPr>
        <p:txBody>
          <a:bodyPr wrap="square" lIns="0" rIns="0" tIns="0" bIns="0" anchor="t">
            <a:spAutoFit/>
          </a:bodyPr>
          <a:lstStyle/>
          <a:p>
            <a:pPr algn="l">
              <a:spcAft>
                <a:spcPts val="400"/>
              </a:spcAft>
            </a:pPr>
            <a:r>
              <a:rPr sz="1700" b="0" i="0">
                <a:solidFill>
                  <a:srgbClr val="475569"/>
                </a:solidFill>
              </a:rPr>
              <a:t>Webcam frames, MediaPipe eye landmarks, quality gates and explainable rules give Normal, Possible impairment or drowsiness, or Unable to assess, with the reason.</a:t>
            </a:r>
          </a:p>
        </p:txBody>
      </p:sp>
      <p:sp>
        <p:nvSpPr>
          <p:cNvPr id="34" name="Rounded Rectangle 33"/>
          <p:cNvSpPr/>
          <p:nvPr/>
        </p:nvSpPr>
        <p:spPr>
          <a:xfrm>
            <a:off x="8119871" y="1325880"/>
            <a:ext cx="3520440" cy="3063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4813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What it is not</a:t>
            </a:r>
          </a:p>
        </p:txBody>
      </p:sp>
      <p:sp>
        <p:nvSpPr>
          <p:cNvPr id="37" name="TextBox 36"/>
          <p:cNvSpPr txBox="1"/>
          <p:nvPr/>
        </p:nvSpPr>
        <p:spPr>
          <a:xfrm>
            <a:off x="8321040" y="2194560"/>
            <a:ext cx="3118104" cy="2057400"/>
          </a:xfrm>
          <a:prstGeom prst="rect">
            <a:avLst/>
          </a:prstGeom>
          <a:noFill/>
        </p:spPr>
        <p:txBody>
          <a:bodyPr wrap="square" lIns="0" rIns="0" tIns="0" bIns="0" anchor="t">
            <a:spAutoFit/>
          </a:bodyPr>
          <a:lstStyle/>
          <a:p>
            <a:pPr algn="l">
              <a:spcAft>
                <a:spcPts val="400"/>
              </a:spcAft>
            </a:pPr>
            <a:r>
              <a:rPr sz="1700" b="0" i="0">
                <a:solidFill>
                  <a:srgbClr val="475569"/>
                </a:solidFill>
              </a:rPr>
              <a:t>A camera cannot confirm alcohol. There is no deep-learning classifier, no intoxication dataset and no ignition or contact alert in this version.</a:t>
            </a:r>
          </a:p>
        </p:txBody>
      </p:sp>
      <p:sp>
        <p:nvSpPr>
          <p:cNvPr id="38" name="Rounded Rectangle 37"/>
          <p:cNvSpPr/>
          <p:nvPr/>
        </p:nvSpPr>
        <p:spPr>
          <a:xfrm>
            <a:off x="548640" y="4663440"/>
            <a:ext cx="11091672"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77240" y="4754880"/>
            <a:ext cx="10607040" cy="1325880"/>
          </a:xfrm>
          <a:prstGeom prst="rect">
            <a:avLst/>
          </a:prstGeom>
          <a:noFill/>
        </p:spPr>
        <p:txBody>
          <a:bodyPr wrap="square" lIns="0" rIns="0" tIns="0" bIns="0" anchor="ctr">
            <a:spAutoFit/>
          </a:bodyPr>
          <a:lstStyle/>
          <a:p>
            <a:pPr algn="l">
              <a:spcAft>
                <a:spcPts val="400"/>
              </a:spcAft>
            </a:pPr>
            <a:r>
              <a:rPr sz="1700" b="1" i="0">
                <a:solidFill>
                  <a:srgbClr val="0F172A"/>
                </a:solidFill>
              </a:rPr>
              <a:t>Base paper link.</a:t>
            </a:r>
            <a:r>
              <a:rPr sz="1700" b="0" i="0">
                <a:solidFill>
                  <a:srgbClr val="0F172A"/>
                </a:solidFill>
              </a:rPr>
              <a:t> Feng and Li, IEEE Access 2026: eye aspect ratio plus a personalised threshold for driver state. We reuse that idea with the conventional six-point EAR and transparent duration rules; we do not reproduce EAR-4, the voice interface or the fuzzy belief engine.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System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pic>
        <p:nvPicPr>
          <p:cNvPr id="26" name="Picture 25" descr="01_system_architecture.png"/>
          <p:cNvPicPr>
            <a:picLocks noChangeAspect="1"/>
          </p:cNvPicPr>
          <p:nvPr/>
        </p:nvPicPr>
        <p:blipFill>
          <a:blip r:embed="rId1"/>
          <a:stretch>
            <a:fillRect/>
          </a:stretch>
        </p:blipFill>
        <p:spPr>
          <a:xfrm>
            <a:off x="898140" y="1188720"/>
            <a:ext cx="6250439" cy="5029200"/>
          </a:xfrm>
          <a:prstGeom prst="rect">
            <a:avLst/>
          </a:prstGeom>
        </p:spPr>
      </p:pic>
      <p:sp>
        <p:nvSpPr>
          <p:cNvPr id="27" name="TextBox 26"/>
          <p:cNvSpPr txBox="1"/>
          <p:nvPr/>
        </p:nvSpPr>
        <p:spPr>
          <a:xfrm>
            <a:off x="7772400" y="1325880"/>
            <a:ext cx="3886200" cy="4937760"/>
          </a:xfrm>
          <a:prstGeom prst="rect">
            <a:avLst/>
          </a:prstGeom>
          <a:noFill/>
        </p:spPr>
        <p:txBody>
          <a:bodyPr wrap="square" lIns="0" rIns="0" tIns="0" bIns="0" anchor="t">
            <a:spAutoFit/>
          </a:bodyPr>
          <a:lstStyle/>
          <a:p>
            <a:pPr algn="l">
              <a:spcAft>
                <a:spcPts val="800"/>
              </a:spcAft>
            </a:pPr>
            <a:r>
              <a:rPr sz="1600" b="1" i="0">
                <a:solidFill>
                  <a:srgbClr val="0F172A"/>
                </a:solidFill>
              </a:rPr>
              <a:t>Four tiers</a:t>
            </a:r>
          </a:p>
          <a:p>
            <a:pPr algn="l" marL="256032" indent="-201168">
              <a:spcAft>
                <a:spcPts val="400"/>
              </a:spcAft>
              <a:buChar char="•"/>
            </a:pPr>
            <a:r>
              <a:rPr sz="1600" b="0" i="0">
                <a:solidFill>
                  <a:srgbClr val="0F172A"/>
                </a:solidFill>
              </a:rPr>
              <a:t>Presentation: React app (port 5306) and the original Tkinter desktop app.</a:t>
            </a:r>
          </a:p>
          <a:p>
            <a:pPr algn="l" marL="256032" indent="-201168">
              <a:spcAft>
                <a:spcPts val="400"/>
              </a:spcAft>
              <a:buChar char="•"/>
            </a:pPr>
            <a:r>
              <a:rPr sz="1600" b="0" i="0">
                <a:solidFill>
                  <a:srgbClr val="0F172A"/>
                </a:solidFill>
              </a:rPr>
              <a:t>Application: FastAPI service (port 8306), signed demo login, input validation.</a:t>
            </a:r>
          </a:p>
          <a:p>
            <a:pPr algn="l" marL="256032" indent="-201168">
              <a:spcAft>
                <a:spcPts val="400"/>
              </a:spcAft>
              <a:buChar char="•"/>
            </a:pPr>
            <a:r>
              <a:rPr sz="1600" b="0" i="0">
                <a:solidFill>
                  <a:srgbClr val="0F172A"/>
                </a:solidFill>
              </a:rPr>
              <a:t>Core: core.py rules, vision.py landmarks, storage.py, research.py, shared by both front ends.</a:t>
            </a:r>
          </a:p>
          <a:p>
            <a:pPr algn="l" marL="256032" indent="-201168">
              <a:spcAft>
                <a:spcPts val="400"/>
              </a:spcAft>
              <a:buChar char="•"/>
            </a:pPr>
            <a:r>
              <a:rPr sz="1600" b="0" i="0">
                <a:solidFill>
                  <a:srgbClr val="0F172A"/>
                </a:solidFill>
              </a:rPr>
              <a:t>Data: SQLite event table, settings file, landmark model file.</a:t>
            </a:r>
          </a:p>
          <a:p>
            <a:pPr algn="l" marL="256032" indent="-201168">
              <a:spcAft>
                <a:spcPts val="400"/>
              </a:spcAft>
              <a:buChar char="•"/>
            </a:pPr>
            <a:r>
              <a:rPr sz="1600" b="0" i="1">
                <a:solidFill>
                  <a:srgbClr val="0F172A"/>
                </a:solidFill>
              </a:rPr>
              <a:t>Camera frames stay in RAM and are never saved.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Methodology: end-to-end workflow</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
        <p:nvSpPr>
          <p:cNvPr id="26" name="Rounded Rectangle 25"/>
          <p:cNvSpPr/>
          <p:nvPr/>
        </p:nvSpPr>
        <p:spPr>
          <a:xfrm>
            <a:off x="548640" y="1325880"/>
            <a:ext cx="1412094" cy="128016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Camera frame 640 x 480</a:t>
            </a:r>
          </a:p>
        </p:txBody>
      </p:sp>
      <p:sp>
        <p:nvSpPr>
          <p:cNvPr id="27" name="Right Arrow 26"/>
          <p:cNvSpPr/>
          <p:nvPr/>
        </p:nvSpPr>
        <p:spPr>
          <a:xfrm>
            <a:off x="1960734" y="18470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161902" y="1325880"/>
            <a:ext cx="1412094" cy="128016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Quality gates</a:t>
            </a:r>
          </a:p>
        </p:txBody>
      </p:sp>
      <p:sp>
        <p:nvSpPr>
          <p:cNvPr id="29" name="Right Arrow 28"/>
          <p:cNvSpPr/>
          <p:nvPr/>
        </p:nvSpPr>
        <p:spPr>
          <a:xfrm>
            <a:off x="3573997" y="18470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775165" y="1325880"/>
            <a:ext cx="1412094" cy="128016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Eye landmarks, EAR, roll</a:t>
            </a:r>
          </a:p>
        </p:txBody>
      </p:sp>
      <p:sp>
        <p:nvSpPr>
          <p:cNvPr id="31" name="Right Arrow 30"/>
          <p:cNvSpPr/>
          <p:nvPr/>
        </p:nvSpPr>
        <p:spPr>
          <a:xfrm>
            <a:off x="5187260" y="18470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388428" y="1325880"/>
            <a:ext cx="1412094" cy="128016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Median + calibration</a:t>
            </a:r>
          </a:p>
        </p:txBody>
      </p:sp>
      <p:sp>
        <p:nvSpPr>
          <p:cNvPr id="33" name="Right Arrow 32"/>
          <p:cNvSpPr/>
          <p:nvPr/>
        </p:nvSpPr>
        <p:spPr>
          <a:xfrm>
            <a:off x="6800523" y="18470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001691" y="1325880"/>
            <a:ext cx="1412094" cy="128016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Rule engine</a:t>
            </a:r>
          </a:p>
        </p:txBody>
      </p:sp>
      <p:sp>
        <p:nvSpPr>
          <p:cNvPr id="35" name="Right Arrow 34"/>
          <p:cNvSpPr/>
          <p:nvPr/>
        </p:nvSpPr>
        <p:spPr>
          <a:xfrm>
            <a:off x="8413786" y="18470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614954" y="1325880"/>
            <a:ext cx="1412094" cy="128016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Verdict + reason</a:t>
            </a:r>
          </a:p>
        </p:txBody>
      </p:sp>
      <p:sp>
        <p:nvSpPr>
          <p:cNvPr id="37" name="Right Arrow 36"/>
          <p:cNvSpPr/>
          <p:nvPr/>
        </p:nvSpPr>
        <p:spPr>
          <a:xfrm>
            <a:off x="10027049" y="18470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0228217" y="1325880"/>
            <a:ext cx="1412094" cy="128016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SQLite log, CSV</a:t>
            </a:r>
          </a:p>
        </p:txBody>
      </p:sp>
      <p:sp>
        <p:nvSpPr>
          <p:cNvPr id="39" name="Rounded Rectangle 38"/>
          <p:cNvSpPr/>
          <p:nvPr/>
        </p:nvSpPr>
        <p:spPr>
          <a:xfrm>
            <a:off x="548640" y="2926080"/>
            <a:ext cx="3520440" cy="2331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77240" y="3063240"/>
            <a:ext cx="3108960" cy="457200"/>
          </a:xfrm>
          <a:prstGeom prst="rect">
            <a:avLst/>
          </a:prstGeom>
          <a:noFill/>
        </p:spPr>
        <p:txBody>
          <a:bodyPr wrap="square" lIns="0" rIns="0" tIns="0" bIns="0" anchor="t">
            <a:spAutoFit/>
          </a:bodyPr>
          <a:lstStyle/>
          <a:p>
            <a:pPr algn="l">
              <a:spcAft>
                <a:spcPts val="400"/>
              </a:spcAft>
            </a:pPr>
            <a:r>
              <a:rPr sz="1900" b="1" i="0">
                <a:solidFill>
                  <a:srgbClr val="0F172A"/>
                </a:solidFill>
              </a:rPr>
              <a:t>Explainable by design</a:t>
            </a:r>
          </a:p>
        </p:txBody>
      </p:sp>
      <p:sp>
        <p:nvSpPr>
          <p:cNvPr id="41" name="TextBox 40"/>
          <p:cNvSpPr txBox="1"/>
          <p:nvPr/>
        </p:nvSpPr>
        <p:spPr>
          <a:xfrm>
            <a:off x="777240" y="3611880"/>
            <a:ext cx="3108960" cy="1554480"/>
          </a:xfrm>
          <a:prstGeom prst="rect">
            <a:avLst/>
          </a:prstGeom>
          <a:noFill/>
        </p:spPr>
        <p:txBody>
          <a:bodyPr wrap="square" lIns="0" rIns="0" tIns="0" bIns="0" anchor="t">
            <a:spAutoFit/>
          </a:bodyPr>
          <a:lstStyle/>
          <a:p>
            <a:pPr algn="l">
              <a:spcAft>
                <a:spcPts val="400"/>
              </a:spcAft>
            </a:pPr>
            <a:r>
              <a:rPr sz="1700" b="0" i="0">
                <a:solidFill>
                  <a:srgbClr val="475569"/>
                </a:solidFill>
              </a:rPr>
              <a:t>Every warning states its reason: closure time, closed fraction or head tilt with low EAR. No hidden score.</a:t>
            </a:r>
          </a:p>
        </p:txBody>
      </p:sp>
      <p:sp>
        <p:nvSpPr>
          <p:cNvPr id="42" name="Rounded Rectangle 41"/>
          <p:cNvSpPr/>
          <p:nvPr/>
        </p:nvSpPr>
        <p:spPr>
          <a:xfrm>
            <a:off x="4334255" y="2926080"/>
            <a:ext cx="3520440" cy="2331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562855" y="3063240"/>
            <a:ext cx="3108960" cy="457200"/>
          </a:xfrm>
          <a:prstGeom prst="rect">
            <a:avLst/>
          </a:prstGeom>
          <a:noFill/>
        </p:spPr>
        <p:txBody>
          <a:bodyPr wrap="square" lIns="0" rIns="0" tIns="0" bIns="0" anchor="t">
            <a:spAutoFit/>
          </a:bodyPr>
          <a:lstStyle/>
          <a:p>
            <a:pPr algn="l">
              <a:spcAft>
                <a:spcPts val="400"/>
              </a:spcAft>
            </a:pPr>
            <a:r>
              <a:rPr sz="1900" b="1" i="0">
                <a:solidFill>
                  <a:srgbClr val="0F172A"/>
                </a:solidFill>
              </a:rPr>
              <a:t>Safe failure</a:t>
            </a:r>
          </a:p>
        </p:txBody>
      </p:sp>
      <p:sp>
        <p:nvSpPr>
          <p:cNvPr id="44" name="TextBox 43"/>
          <p:cNvSpPr txBox="1"/>
          <p:nvPr/>
        </p:nvSpPr>
        <p:spPr>
          <a:xfrm>
            <a:off x="4562855" y="3611880"/>
            <a:ext cx="3108960" cy="1554480"/>
          </a:xfrm>
          <a:prstGeom prst="rect">
            <a:avLst/>
          </a:prstGeom>
          <a:noFill/>
        </p:spPr>
        <p:txBody>
          <a:bodyPr wrap="square" lIns="0" rIns="0" tIns="0" bIns="0" anchor="t">
            <a:spAutoFit/>
          </a:bodyPr>
          <a:lstStyle/>
          <a:p>
            <a:pPr algn="l">
              <a:spcAft>
                <a:spcPts val="400"/>
              </a:spcAft>
            </a:pPr>
            <a:r>
              <a:rPr sz="1700" b="0" i="0">
                <a:solidFill>
                  <a:srgbClr val="475569"/>
                </a:solidFill>
              </a:rPr>
              <a:t>A failed quality gate always wins: the answer is Unable to assess and the evidence is cleared, never a guess.</a:t>
            </a:r>
          </a:p>
        </p:txBody>
      </p:sp>
      <p:sp>
        <p:nvSpPr>
          <p:cNvPr id="45" name="Rounded Rectangle 44"/>
          <p:cNvSpPr/>
          <p:nvPr/>
        </p:nvSpPr>
        <p:spPr>
          <a:xfrm>
            <a:off x="8119871" y="2926080"/>
            <a:ext cx="3520440" cy="2331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348471" y="3063240"/>
            <a:ext cx="3108960" cy="457200"/>
          </a:xfrm>
          <a:prstGeom prst="rect">
            <a:avLst/>
          </a:prstGeom>
          <a:noFill/>
        </p:spPr>
        <p:txBody>
          <a:bodyPr wrap="square" lIns="0" rIns="0" tIns="0" bIns="0" anchor="t">
            <a:spAutoFit/>
          </a:bodyPr>
          <a:lstStyle/>
          <a:p>
            <a:pPr algn="l">
              <a:spcAft>
                <a:spcPts val="400"/>
              </a:spcAft>
            </a:pPr>
            <a:r>
              <a:rPr sz="1900" b="1" i="0">
                <a:solidFill>
                  <a:srgbClr val="0F172A"/>
                </a:solidFill>
              </a:rPr>
              <a:t>One code path</a:t>
            </a:r>
          </a:p>
        </p:txBody>
      </p:sp>
      <p:sp>
        <p:nvSpPr>
          <p:cNvPr id="47" name="TextBox 46"/>
          <p:cNvSpPr txBox="1"/>
          <p:nvPr/>
        </p:nvSpPr>
        <p:spPr>
          <a:xfrm>
            <a:off x="8348471" y="3611880"/>
            <a:ext cx="3108960" cy="1554480"/>
          </a:xfrm>
          <a:prstGeom prst="rect">
            <a:avLst/>
          </a:prstGeom>
          <a:noFill/>
        </p:spPr>
        <p:txBody>
          <a:bodyPr wrap="square" lIns="0" rIns="0" tIns="0" bIns="0" anchor="t">
            <a:spAutoFit/>
          </a:bodyPr>
          <a:lstStyle/>
          <a:p>
            <a:pPr algn="l">
              <a:spcAft>
                <a:spcPts val="400"/>
              </a:spcAft>
            </a:pPr>
            <a:r>
              <a:rPr sz="1700" b="0" i="0">
                <a:solidFill>
                  <a:srgbClr val="475569"/>
                </a:solidFill>
              </a:rPr>
              <a:t>The desktop app and the web app use the same measurement, rule and storage modules.</a:t>
            </a:r>
          </a:p>
        </p:txBody>
      </p:sp>
      <p:sp>
        <p:nvSpPr>
          <p:cNvPr id="48" name="TextBox 47"/>
          <p:cNvSpPr txBox="1"/>
          <p:nvPr/>
        </p:nvSpPr>
        <p:spPr>
          <a:xfrm>
            <a:off x="548640" y="5486400"/>
            <a:ext cx="11091672" cy="731520"/>
          </a:xfrm>
          <a:prstGeom prst="rect">
            <a:avLst/>
          </a:prstGeom>
          <a:noFill/>
        </p:spPr>
        <p:txBody>
          <a:bodyPr wrap="square" lIns="0" rIns="0" tIns="0" bIns="0" anchor="ctr">
            <a:spAutoFit/>
          </a:bodyPr>
          <a:lstStyle/>
          <a:p>
            <a:pPr algn="l">
              <a:spcAft>
                <a:spcPts val="400"/>
              </a:spcAft>
            </a:pPr>
            <a:r>
              <a:rPr sz="1500" b="0" i="1">
                <a:solidFill>
                  <a:srgbClr val="0F172A"/>
                </a:solidFill>
              </a:rPr>
              <a:t>The same pipeline serves browser camera frames and four scripted simulation scenarios: Normal, Prolonged eye closure, Missing face and Poor lighting.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Dataset and evidence used</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
        <p:nvSpPr>
          <p:cNvPr id="26" name="Rounded Rectangle 25"/>
          <p:cNvSpPr/>
          <p:nvPr/>
        </p:nvSpPr>
        <p:spPr>
          <a:xfrm>
            <a:off x="54864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32588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417320"/>
            <a:ext cx="2377440" cy="628650"/>
          </a:xfrm>
          <a:prstGeom prst="rect">
            <a:avLst/>
          </a:prstGeom>
          <a:noFill/>
        </p:spPr>
        <p:txBody>
          <a:bodyPr wrap="square" lIns="0" rIns="0" tIns="0" bIns="0" anchor="ctr">
            <a:spAutoFit/>
          </a:bodyPr>
          <a:lstStyle/>
          <a:p>
            <a:pPr algn="l">
              <a:spcAft>
                <a:spcPts val="400"/>
              </a:spcAft>
            </a:pPr>
            <a:r>
              <a:rPr sz="2600" b="1" i="0">
                <a:solidFill>
                  <a:srgbClr val="0F172A"/>
                </a:solidFill>
              </a:rPr>
              <a:t>2,423</a:t>
            </a:r>
          </a:p>
        </p:txBody>
      </p:sp>
      <p:sp>
        <p:nvSpPr>
          <p:cNvPr id="29" name="TextBox 28"/>
          <p:cNvSpPr txBox="1"/>
          <p:nvPr/>
        </p:nvSpPr>
        <p:spPr>
          <a:xfrm>
            <a:off x="74980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public CEW faces: 1,192 closed, 1,231 open</a:t>
            </a:r>
          </a:p>
        </p:txBody>
      </p:sp>
      <p:sp>
        <p:nvSpPr>
          <p:cNvPr id="30" name="Rounded Rectangle 29"/>
          <p:cNvSpPr/>
          <p:nvPr/>
        </p:nvSpPr>
        <p:spPr>
          <a:xfrm>
            <a:off x="338328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83280" y="132588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84448" y="1417320"/>
            <a:ext cx="2377440" cy="628650"/>
          </a:xfrm>
          <a:prstGeom prst="rect">
            <a:avLst/>
          </a:prstGeom>
          <a:noFill/>
        </p:spPr>
        <p:txBody>
          <a:bodyPr wrap="square" lIns="0" rIns="0" tIns="0" bIns="0" anchor="ctr">
            <a:spAutoFit/>
          </a:bodyPr>
          <a:lstStyle/>
          <a:p>
            <a:pPr algn="l">
              <a:spcAft>
                <a:spcPts val="400"/>
              </a:spcAft>
            </a:pPr>
            <a:r>
              <a:rPr sz="2600" b="1" i="0">
                <a:solidFill>
                  <a:srgbClr val="0F172A"/>
                </a:solidFill>
              </a:rPr>
              <a:t>100 x 100</a:t>
            </a:r>
          </a:p>
        </p:txBody>
      </p:sp>
      <p:sp>
        <p:nvSpPr>
          <p:cNvPr id="33" name="TextBox 32"/>
          <p:cNvSpPr txBox="1"/>
          <p:nvPr/>
        </p:nvSpPr>
        <p:spPr>
          <a:xfrm>
            <a:off x="358444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warped crops, used for the EAR check only</a:t>
            </a:r>
          </a:p>
        </p:txBody>
      </p:sp>
      <p:sp>
        <p:nvSpPr>
          <p:cNvPr id="34" name="Rounded Rectangle 33"/>
          <p:cNvSpPr/>
          <p:nvPr/>
        </p:nvSpPr>
        <p:spPr>
          <a:xfrm>
            <a:off x="621792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217920" y="132588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19088" y="1417320"/>
            <a:ext cx="2377440" cy="628650"/>
          </a:xfrm>
          <a:prstGeom prst="rect">
            <a:avLst/>
          </a:prstGeom>
          <a:noFill/>
        </p:spPr>
        <p:txBody>
          <a:bodyPr wrap="square" lIns="0" rIns="0" tIns="0" bIns="0" anchor="ctr">
            <a:spAutoFit/>
          </a:bodyPr>
          <a:lstStyle/>
          <a:p>
            <a:pPr algn="l">
              <a:spcAft>
                <a:spcPts val="400"/>
              </a:spcAft>
            </a:pPr>
            <a:r>
              <a:rPr sz="2600" b="1" i="0">
                <a:solidFill>
                  <a:srgbClr val="0F172A"/>
                </a:solidFill>
              </a:rPr>
              <a:t>0</a:t>
            </a:r>
          </a:p>
        </p:txBody>
      </p:sp>
      <p:sp>
        <p:nvSpPr>
          <p:cNvPr id="37" name="TextBox 36"/>
          <p:cNvSpPr txBox="1"/>
          <p:nvPr/>
        </p:nvSpPr>
        <p:spPr>
          <a:xfrm>
            <a:off x="641908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intoxication recordings available</a:t>
            </a:r>
          </a:p>
        </p:txBody>
      </p:sp>
      <p:sp>
        <p:nvSpPr>
          <p:cNvPr id="38" name="Rounded Rectangle 37"/>
          <p:cNvSpPr/>
          <p:nvPr/>
        </p:nvSpPr>
        <p:spPr>
          <a:xfrm>
            <a:off x="905256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52560" y="132588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53728" y="1417320"/>
            <a:ext cx="2377440" cy="628650"/>
          </a:xfrm>
          <a:prstGeom prst="rect">
            <a:avLst/>
          </a:prstGeom>
          <a:noFill/>
        </p:spPr>
        <p:txBody>
          <a:bodyPr wrap="square" lIns="0" rIns="0" tIns="0" bIns="0" anchor="ctr">
            <a:spAutoFit/>
          </a:bodyPr>
          <a:lstStyle/>
          <a:p>
            <a:pPr algn="l">
              <a:spcAft>
                <a:spcPts val="400"/>
              </a:spcAft>
            </a:pPr>
            <a:r>
              <a:rPr sz="2600" b="1" i="0">
                <a:solidFill>
                  <a:srgbClr val="0F172A"/>
                </a:solidFill>
              </a:rPr>
              <a:t>6 x 2 x 30 s</a:t>
            </a:r>
          </a:p>
        </p:txBody>
      </p:sp>
      <p:sp>
        <p:nvSpPr>
          <p:cNvPr id="41" name="TextBox 40"/>
          <p:cNvSpPr txBox="1"/>
          <p:nvPr/>
        </p:nvSpPr>
        <p:spPr>
          <a:xfrm>
            <a:off x="925372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synthetic CSV for the offline demo</a:t>
            </a:r>
          </a:p>
        </p:txBody>
      </p:sp>
      <p:pic>
        <p:nvPicPr>
          <p:cNvPr id="42" name="Picture 41" descr="landmark_examples.png"/>
          <p:cNvPicPr>
            <a:picLocks noChangeAspect="1"/>
          </p:cNvPicPr>
          <p:nvPr/>
        </p:nvPicPr>
        <p:blipFill>
          <a:blip r:embed="rId1"/>
          <a:stretch>
            <a:fillRect/>
          </a:stretch>
        </p:blipFill>
        <p:spPr>
          <a:xfrm>
            <a:off x="861364" y="2697480"/>
            <a:ext cx="5135270" cy="3566160"/>
          </a:xfrm>
          <a:prstGeom prst="rect">
            <a:avLst/>
          </a:prstGeom>
        </p:spPr>
      </p:pic>
      <p:sp>
        <p:nvSpPr>
          <p:cNvPr id="43" name="TextBox 42"/>
          <p:cNvSpPr txBox="1"/>
          <p:nvPr/>
        </p:nvSpPr>
        <p:spPr>
          <a:xfrm>
            <a:off x="6583680" y="2743200"/>
            <a:ext cx="5074920" cy="3520440"/>
          </a:xfrm>
          <a:prstGeom prst="rect">
            <a:avLst/>
          </a:prstGeom>
          <a:noFill/>
        </p:spPr>
        <p:txBody>
          <a:bodyPr wrap="square" lIns="0" rIns="0" tIns="0" bIns="0" anchor="t">
            <a:spAutoFit/>
          </a:bodyPr>
          <a:lstStyle/>
          <a:p>
            <a:pPr algn="l" marL="256032" indent="-201168">
              <a:spcAft>
                <a:spcPts val="700"/>
              </a:spcAft>
              <a:buChar char="•"/>
            </a:pPr>
            <a:r>
              <a:rPr sz="1500" b="1" i="0">
                <a:solidFill>
                  <a:srgbClr val="0F172A"/>
                </a:solidFill>
              </a:rPr>
              <a:t>Closed Eyes in the Wild</a:t>
            </a:r>
            <a:r>
              <a:rPr sz="1500" b="0" i="0">
                <a:solidFill>
                  <a:srgbClr val="0F172A"/>
                </a:solidFill>
              </a:rPr>
              <a:t> (Song et al., 2014): Internet closed-eye faces and LFW open-eye faces; not stored in the repository.</a:t>
            </a:r>
          </a:p>
          <a:p>
            <a:pPr algn="l" marL="256032" indent="-201168">
              <a:spcAft>
                <a:spcPts val="700"/>
              </a:spcAft>
              <a:buChar char="•"/>
            </a:pPr>
            <a:r>
              <a:rPr sz="1500" b="1" i="0">
                <a:solidFill>
                  <a:srgbClr val="0F172A"/>
                </a:solidFill>
              </a:rPr>
              <a:t>No intoxication data:</a:t>
            </a:r>
            <a:r>
              <a:rPr sz="1500" b="0" i="0">
                <a:solidFill>
                  <a:srgbClr val="0F172A"/>
                </a:solidFill>
              </a:rPr>
              <a:t> none was available, so no classifier was trained.</a:t>
            </a:r>
          </a:p>
          <a:p>
            <a:pPr algn="l" marL="256032" indent="-201168">
              <a:spcAft>
                <a:spcPts val="700"/>
              </a:spcAft>
              <a:buChar char="•"/>
            </a:pPr>
            <a:r>
              <a:rPr sz="1500" b="1" i="0">
                <a:solidFill>
                  <a:srgbClr val="0F172A"/>
                </a:solidFill>
              </a:rPr>
              <a:t>Synthetic CSV</a:t>
            </a:r>
            <a:r>
              <a:rPr sz="1500" b="0" i="0">
                <a:solidFill>
                  <a:srgbClr val="0F172A"/>
                </a:solidFill>
              </a:rPr>
              <a:t> for the offline pipeline is flagged Synthetic data on screen; its metrics are not performance.</a:t>
            </a:r>
          </a:p>
          <a:p>
            <a:pPr algn="l" marL="256032" indent="-201168">
              <a:spcAft>
                <a:spcPts val="400"/>
              </a:spcAft>
              <a:buChar char="•"/>
            </a:pPr>
            <a:r>
              <a:rPr sz="1500" b="0" i="0">
                <a:solidFill>
                  <a:srgbClr val="0F172A"/>
                </a:solidFill>
              </a:rPr>
              <a:t>Live screenshots use one public-domain portrait as a fake webcam.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Preprocessing: quality gates and measurements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TextBox 25"/>
          <p:cNvSpPr txBox="1"/>
          <p:nvPr/>
        </p:nvSpPr>
        <p:spPr>
          <a:xfrm>
            <a:off x="548640" y="1325880"/>
            <a:ext cx="4206240" cy="4846320"/>
          </a:xfrm>
          <a:prstGeom prst="rect">
            <a:avLst/>
          </a:prstGeom>
          <a:noFill/>
        </p:spPr>
        <p:txBody>
          <a:bodyPr wrap="square" lIns="0" rIns="0" tIns="0" bIns="0" anchor="t">
            <a:spAutoFit/>
          </a:bodyPr>
          <a:lstStyle/>
          <a:p>
            <a:pPr algn="l">
              <a:spcAft>
                <a:spcPts val="900"/>
              </a:spcAft>
            </a:pPr>
            <a:r>
              <a:rPr sz="1600" b="1" i="0">
                <a:solidFill>
                  <a:srgbClr val="0F172A"/>
                </a:solidFill>
              </a:rPr>
              <a:t>1  Frame.</a:t>
            </a:r>
            <a:r>
              <a:rPr sz="1600" b="0" i="0">
                <a:solidFill>
                  <a:srgbClr val="0F172A"/>
                </a:solidFill>
              </a:rPr>
              <a:t> 640 x 480, grayscale copy.</a:t>
            </a:r>
          </a:p>
          <a:p>
            <a:pPr algn="l">
              <a:spcAft>
                <a:spcPts val="900"/>
              </a:spcAft>
            </a:pPr>
            <a:r>
              <a:rPr sz="1600" b="1" i="0">
                <a:solidFill>
                  <a:srgbClr val="0F172A"/>
                </a:solidFill>
              </a:rPr>
              <a:t>2  Gates.</a:t>
            </a:r>
            <a:r>
              <a:rPr sz="1600" b="0" i="0">
                <a:solidFill>
                  <a:srgbClr val="0F172A"/>
                </a:solidFill>
              </a:rPr>
              <a:t> Any failed gate gives Unable to assess.</a:t>
            </a:r>
          </a:p>
          <a:p>
            <a:pPr algn="l">
              <a:spcAft>
                <a:spcPts val="900"/>
              </a:spcAft>
            </a:pPr>
            <a:r>
              <a:rPr sz="1600" b="1" i="0">
                <a:solidFill>
                  <a:srgbClr val="0F172A"/>
                </a:solidFill>
              </a:rPr>
              <a:t>3  Landmarks.</a:t>
            </a:r>
            <a:r>
              <a:rPr sz="1600" b="0" i="0">
                <a:solidFill>
                  <a:srgbClr val="0F172A"/>
                </a:solidFill>
              </a:rPr>
              <a:t> Six points per eye and both outer eye corners.</a:t>
            </a:r>
          </a:p>
          <a:p>
            <a:pPr algn="l">
              <a:spcAft>
                <a:spcPts val="900"/>
              </a:spcAft>
            </a:pPr>
            <a:r>
              <a:rPr sz="1600" b="1" i="0">
                <a:solidFill>
                  <a:srgbClr val="0F172A"/>
                </a:solidFill>
              </a:rPr>
              <a:t>4  Measures.</a:t>
            </a:r>
            <a:r>
              <a:rPr sz="1600" b="0" i="0">
                <a:solidFill>
                  <a:srgbClr val="0F172A"/>
                </a:solidFill>
              </a:rPr>
              <a:t> EAR (mean of both eyes), head roll, 3-sample median.</a:t>
            </a:r>
          </a:p>
          <a:p>
            <a:pPr algn="l">
              <a:spcAft>
                <a:spcPts val="400"/>
              </a:spcAft>
            </a:pPr>
            <a:r>
              <a:rPr sz="1400" b="0" i="1">
                <a:solidFill>
                  <a:srgbClr val="475569"/>
                </a:solidFill>
              </a:rPr>
              <a:t>Gates are strict on purpose: halving the brightness already blocks assessment.</a:t>
            </a:r>
          </a:p>
        </p:txBody>
      </p:sp>
      <p:sp>
        <p:nvSpPr>
          <p:cNvPr id="27" name="Rounded Rectangle 26"/>
          <p:cNvSpPr/>
          <p:nvPr/>
        </p:nvSpPr>
        <p:spPr>
          <a:xfrm>
            <a:off x="548640" y="4160520"/>
            <a:ext cx="4206240" cy="20116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1520" y="4251960"/>
            <a:ext cx="3840480" cy="1874519"/>
          </a:xfrm>
          <a:prstGeom prst="rect">
            <a:avLst/>
          </a:prstGeom>
          <a:noFill/>
        </p:spPr>
        <p:txBody>
          <a:bodyPr wrap="square" lIns="0" rIns="0" tIns="0" bIns="0" anchor="t">
            <a:spAutoFit/>
          </a:bodyPr>
          <a:lstStyle/>
          <a:p>
            <a:pPr algn="l">
              <a:spcAft>
                <a:spcPts val="500"/>
              </a:spcAft>
            </a:pPr>
            <a:r>
              <a:rPr sz="1400" b="1" i="0">
                <a:solidFill>
                  <a:srgbClr val="0F172A"/>
                </a:solidFill>
              </a:rPr>
              <a:t>Measured on 272 open-eye faces</a:t>
            </a:r>
          </a:p>
          <a:p>
            <a:pPr algn="l" marL="256032" indent="-201168">
              <a:spcAft>
                <a:spcPts val="300"/>
              </a:spcAft>
              <a:buChar char="•"/>
            </a:pPr>
            <a:r>
              <a:rPr sz="1400" b="0" i="0">
                <a:solidFill>
                  <a:srgbClr val="0F172A"/>
                </a:solidFill>
              </a:rPr>
              <a:t>Sunglasses over both eyes: 270 of 272 answered Unable to assess.</a:t>
            </a:r>
          </a:p>
          <a:p>
            <a:pPr algn="l" marL="256032" indent="-201168">
              <a:spcAft>
                <a:spcPts val="300"/>
              </a:spcAft>
              <a:buChar char="•"/>
            </a:pPr>
            <a:r>
              <a:rPr sz="1400" b="0" i="0">
                <a:solidFill>
                  <a:srgbClr val="0F172A"/>
                </a:solidFill>
              </a:rPr>
              <a:t>One eye covered: 272 of 272 Unable to assess.</a:t>
            </a:r>
          </a:p>
          <a:p>
            <a:pPr algn="l" marL="256032" indent="-201168">
              <a:spcAft>
                <a:spcPts val="400"/>
              </a:spcAft>
              <a:buChar char="•"/>
            </a:pPr>
            <a:r>
              <a:rPr sz="1400" b="0" i="0">
                <a:solidFill>
                  <a:srgbClr val="0F172A"/>
                </a:solidFill>
              </a:rPr>
              <a:t>Brightness x0.5: only 1 of 272 still assessed.</a:t>
            </a:r>
          </a:p>
        </p:txBody>
      </p:sp>
      <p:graphicFrame>
        <p:nvGraphicFramePr>
          <p:cNvPr id="29" name="Table 28"/>
          <p:cNvGraphicFramePr>
            <a:graphicFrameLocks noGrp="1"/>
          </p:cNvGraphicFramePr>
          <p:nvPr/>
        </p:nvGraphicFramePr>
        <p:xfrm>
          <a:off x="5029200" y="1325880"/>
          <a:ext cx="6611112" cy="4773168"/>
        </p:xfrm>
        <a:graphic>
          <a:graphicData uri="http://schemas.openxmlformats.org/drawingml/2006/table">
            <a:tbl>
              <a:tblPr firstRow="0" bandRow="0">
                <a:tableStyleId>{5C22544A-7EE6-4342-B048-85BDC9FD1C3A}</a:tableStyleId>
              </a:tblPr>
              <a:tblGrid>
                <a:gridCol w="2286000"/>
                <a:gridCol w="4325112"/>
              </a:tblGrid>
              <a:tr h="530352">
                <a:tc>
                  <a:txBody>
                    <a:bodyPr wrap="square"/>
                    <a:lstStyle/>
                    <a:p>
                      <a:pPr algn="ctr"/>
                      <a:r>
                        <a:rPr sz="1400" b="1">
                          <a:solidFill>
                            <a:srgbClr val="FFFFFF"/>
                          </a:solidFill>
                        </a:rPr>
                        <a:t>Quality gate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Fails when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30352">
                <a:tc>
                  <a:txBody>
                    <a:bodyPr wrap="square"/>
                    <a:lstStyle/>
                    <a:p>
                      <a:pPr algn="l"/>
                      <a:r>
                        <a:rPr sz="1400" b="1">
                          <a:solidFill>
                            <a:srgbClr val="0F172A"/>
                          </a:solidFill>
                        </a:rPr>
                        <a:t>Lighting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mean gray &lt; 40 or &gt; 225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30352">
                <a:tc>
                  <a:txBody>
                    <a:bodyPr wrap="square"/>
                    <a:lstStyle/>
                    <a:p>
                      <a:pPr algn="l"/>
                      <a:r>
                        <a:rPr sz="1400" b="1">
                          <a:solidFill>
                            <a:srgbClr val="0F172A"/>
                          </a:solidFill>
                        </a:rPr>
                        <a:t>Sharpness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Laplacian variance &lt; 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30352">
                <a:tc>
                  <a:txBody>
                    <a:bodyPr wrap="square"/>
                    <a:lstStyle/>
                    <a:p>
                      <a:pPr algn="l"/>
                      <a:r>
                        <a:rPr sz="1400" b="1">
                          <a:solidFill>
                            <a:srgbClr val="0F172A"/>
                          </a:solidFill>
                        </a:rPr>
                        <a:t>Motion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frame difference &gt; 35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30352">
                <a:tc>
                  <a:txBody>
                    <a:bodyPr wrap="square"/>
                    <a:lstStyle/>
                    <a:p>
                      <a:pPr algn="l"/>
                      <a:r>
                        <a:rPr sz="1400" b="1">
                          <a:solidFill>
                            <a:srgbClr val="0F172A"/>
                          </a:solidFill>
                        </a:rPr>
                        <a:t>Face count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no face or more than 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30352">
                <a:tc>
                  <a:txBody>
                    <a:bodyPr wrap="square"/>
                    <a:lstStyle/>
                    <a:p>
                      <a:pPr algn="l"/>
                      <a:r>
                        <a:rPr sz="1400" b="1">
                          <a:solidFill>
                            <a:srgbClr val="0F172A"/>
                          </a:solidFill>
                        </a:rPr>
                        <a:t>Eye size / position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eye width &lt; 14 px or outside image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30352">
                <a:tc>
                  <a:txBody>
                    <a:bodyPr wrap="square"/>
                    <a:lstStyle/>
                    <a:p>
                      <a:pPr algn="l"/>
                      <a:r>
                        <a:rPr sz="1400" b="1">
                          <a:solidFill>
                            <a:srgbClr val="0F172A"/>
                          </a:solidFill>
                        </a:rPr>
                        <a:t>Eye patch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mean &lt; 35 or &gt; 230, or sd &lt; 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30352">
                <a:tc>
                  <a:txBody>
                    <a:bodyPr wrap="square"/>
                    <a:lstStyle/>
                    <a:p>
                      <a:pPr algn="l"/>
                      <a:r>
                        <a:rPr sz="1400" b="1">
                          <a:solidFill>
                            <a:srgbClr val="0F172A"/>
                          </a:solidFill>
                        </a:rPr>
                        <a:t>Eye geometry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left-right EAR difference &gt; 0.12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30352">
                <a:tc>
                  <a:txBody>
                    <a:bodyPr wrap="square"/>
                    <a:lstStyle/>
                    <a:p>
                      <a:pPr algn="l"/>
                      <a:r>
                        <a:rPr sz="1400" b="1">
                          <a:solidFill>
                            <a:srgbClr val="0F172A"/>
                          </a:solidFill>
                        </a:rPr>
                        <a:t>Timing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gap &gt; 0.5 s or time not increasing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Model: pre-trained landmarks and a rule engine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graphicFrame>
        <p:nvGraphicFramePr>
          <p:cNvPr id="26" name="Table 25"/>
          <p:cNvGraphicFramePr>
            <a:graphicFrameLocks noGrp="1"/>
          </p:cNvGraphicFramePr>
          <p:nvPr/>
        </p:nvGraphicFramePr>
        <p:xfrm>
          <a:off x="548640" y="1371600"/>
          <a:ext cx="8321040" cy="4608576"/>
        </p:xfrm>
        <a:graphic>
          <a:graphicData uri="http://schemas.openxmlformats.org/drawingml/2006/table">
            <a:tbl>
              <a:tblPr firstRow="0" bandRow="0">
                <a:tableStyleId>{5C22544A-7EE6-4342-B048-85BDC9FD1C3A}</a:tableStyleId>
              </a:tblPr>
              <a:tblGrid>
                <a:gridCol w="2103120"/>
                <a:gridCol w="3840480"/>
                <a:gridCol w="2377440"/>
              </a:tblGrid>
              <a:tr h="658368">
                <a:tc>
                  <a:txBody>
                    <a:bodyPr wrap="square"/>
                    <a:lstStyle/>
                    <a:p>
                      <a:pPr algn="ctr"/>
                      <a:r>
                        <a:rPr sz="1300" b="1">
                          <a:solidFill>
                            <a:srgbClr val="FFFFFF"/>
                          </a:solidFill>
                        </a:rPr>
                        <a:t>Component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What it is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58368">
                <a:tc>
                  <a:txBody>
                    <a:bodyPr wrap="square"/>
                    <a:lstStyle/>
                    <a:p>
                      <a:pPr algn="l"/>
                      <a:r>
                        <a:rPr sz="1300" b="1">
                          <a:solidFill>
                            <a:srgbClr val="0F172A"/>
                          </a:solidFill>
                        </a:rPr>
                        <a:t>Face Landmarker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Google MediaPipe, 478 landmarks, pre-trained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eye and head geometry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300" b="1">
                          <a:solidFill>
                            <a:srgbClr val="0F172A"/>
                          </a:solidFill>
                        </a:rPr>
                        <a:t>EAR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6 points per eye, mean of both eyes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eye openness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300" b="1">
                          <a:solidFill>
                            <a:srgbClr val="0F172A"/>
                          </a:solidFill>
                        </a:rPr>
                        <a:t>Head roll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atan2 of outer eye corners, image plane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tilt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300" b="1">
                          <a:solidFill>
                            <a:srgbClr val="0F172A"/>
                          </a:solidFill>
                        </a:rPr>
                        <a:t>Median filter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3 samples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suppress outliers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300" b="1">
                          <a:solidFill>
                            <a:srgbClr val="0F172A"/>
                          </a:solidFill>
                        </a:rPr>
                        <a:t>Rule engine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state machine, 3 outputs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live decision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300" b="1">
                          <a:solidFill>
                            <a:srgbClr val="0F172A"/>
                          </a:solidFill>
                        </a:rPr>
                        <a:t>Offline classifier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NumPy nearest centroid on 5 s windows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research only: Model not trained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7" name="Rounded Rectangle 26"/>
          <p:cNvSpPr/>
          <p:nvPr/>
        </p:nvSpPr>
        <p:spPr>
          <a:xfrm>
            <a:off x="9052560" y="1371600"/>
            <a:ext cx="2587752"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9052560" y="1371600"/>
            <a:ext cx="73152" cy="13258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53728" y="1463040"/>
            <a:ext cx="2313432" cy="729234"/>
          </a:xfrm>
          <a:prstGeom prst="rect">
            <a:avLst/>
          </a:prstGeom>
          <a:noFill/>
        </p:spPr>
        <p:txBody>
          <a:bodyPr wrap="square" lIns="0" rIns="0" tIns="0" bIns="0" anchor="ctr">
            <a:spAutoFit/>
          </a:bodyPr>
          <a:lstStyle/>
          <a:p>
            <a:pPr algn="l">
              <a:spcAft>
                <a:spcPts val="400"/>
              </a:spcAft>
            </a:pPr>
            <a:r>
              <a:rPr sz="2800" b="1" i="0">
                <a:solidFill>
                  <a:srgbClr val="0F172A"/>
                </a:solidFill>
              </a:rPr>
              <a:t>478</a:t>
            </a:r>
          </a:p>
        </p:txBody>
      </p:sp>
      <p:sp>
        <p:nvSpPr>
          <p:cNvPr id="30" name="TextBox 29"/>
          <p:cNvSpPr txBox="1"/>
          <p:nvPr/>
        </p:nvSpPr>
        <p:spPr>
          <a:xfrm>
            <a:off x="9253728" y="2140610"/>
            <a:ext cx="2313432" cy="503834"/>
          </a:xfrm>
          <a:prstGeom prst="rect">
            <a:avLst/>
          </a:prstGeom>
          <a:noFill/>
        </p:spPr>
        <p:txBody>
          <a:bodyPr wrap="square" lIns="0" rIns="0" tIns="0" bIns="0" anchor="t">
            <a:spAutoFit/>
          </a:bodyPr>
          <a:lstStyle/>
          <a:p>
            <a:pPr algn="l">
              <a:spcAft>
                <a:spcPts val="400"/>
              </a:spcAft>
            </a:pPr>
            <a:r>
              <a:rPr sz="1200" b="0" i="0">
                <a:solidFill>
                  <a:srgbClr val="475569"/>
                </a:solidFill>
              </a:rPr>
              <a:t>face landmarks, not trained by us</a:t>
            </a:r>
          </a:p>
        </p:txBody>
      </p:sp>
      <p:sp>
        <p:nvSpPr>
          <p:cNvPr id="31" name="Rounded Rectangle 30"/>
          <p:cNvSpPr/>
          <p:nvPr/>
        </p:nvSpPr>
        <p:spPr>
          <a:xfrm>
            <a:off x="9052560" y="2880360"/>
            <a:ext cx="2587752"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9052560" y="2880360"/>
            <a:ext cx="73152" cy="132588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253728" y="2971800"/>
            <a:ext cx="2313432" cy="729234"/>
          </a:xfrm>
          <a:prstGeom prst="rect">
            <a:avLst/>
          </a:prstGeom>
          <a:noFill/>
        </p:spPr>
        <p:txBody>
          <a:bodyPr wrap="square" lIns="0" rIns="0" tIns="0" bIns="0" anchor="ctr">
            <a:spAutoFit/>
          </a:bodyPr>
          <a:lstStyle/>
          <a:p>
            <a:pPr algn="l">
              <a:spcAft>
                <a:spcPts val="400"/>
              </a:spcAft>
            </a:pPr>
            <a:r>
              <a:rPr sz="2600" b="1" i="0">
                <a:solidFill>
                  <a:srgbClr val="0F172A"/>
                </a:solidFill>
              </a:rPr>
              <a:t>41 µs</a:t>
            </a:r>
          </a:p>
        </p:txBody>
      </p:sp>
      <p:sp>
        <p:nvSpPr>
          <p:cNvPr id="34" name="TextBox 33"/>
          <p:cNvSpPr txBox="1"/>
          <p:nvPr/>
        </p:nvSpPr>
        <p:spPr>
          <a:xfrm>
            <a:off x="9253728" y="3649370"/>
            <a:ext cx="2313432" cy="503834"/>
          </a:xfrm>
          <a:prstGeom prst="rect">
            <a:avLst/>
          </a:prstGeom>
          <a:noFill/>
        </p:spPr>
        <p:txBody>
          <a:bodyPr wrap="square" lIns="0" rIns="0" tIns="0" bIns="0" anchor="t">
            <a:spAutoFit/>
          </a:bodyPr>
          <a:lstStyle/>
          <a:p>
            <a:pPr algn="l">
              <a:spcAft>
                <a:spcPts val="400"/>
              </a:spcAft>
            </a:pPr>
            <a:r>
              <a:rPr sz="1200" b="0" i="0">
                <a:solidFill>
                  <a:srgbClr val="475569"/>
                </a:solidFill>
              </a:rPr>
              <a:t>per rule-engine update</a:t>
            </a:r>
          </a:p>
        </p:txBody>
      </p:sp>
      <p:sp>
        <p:nvSpPr>
          <p:cNvPr id="35" name="Rounded Rectangle 34"/>
          <p:cNvSpPr/>
          <p:nvPr/>
        </p:nvSpPr>
        <p:spPr>
          <a:xfrm>
            <a:off x="9052560" y="4389120"/>
            <a:ext cx="2587752"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9052560" y="4389120"/>
            <a:ext cx="73152" cy="132588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253728" y="4480559"/>
            <a:ext cx="2313432" cy="729234"/>
          </a:xfrm>
          <a:prstGeom prst="rect">
            <a:avLst/>
          </a:prstGeom>
          <a:noFill/>
        </p:spPr>
        <p:txBody>
          <a:bodyPr wrap="square" lIns="0" rIns="0" tIns="0" bIns="0" anchor="ctr">
            <a:spAutoFit/>
          </a:bodyPr>
          <a:lstStyle/>
          <a:p>
            <a:pPr algn="l">
              <a:spcAft>
                <a:spcPts val="400"/>
              </a:spcAft>
            </a:pPr>
            <a:r>
              <a:rPr sz="2600" b="1" i="0">
                <a:solidFill>
                  <a:srgbClr val="0F172A"/>
                </a:solidFill>
              </a:rPr>
              <a:t>13 ms</a:t>
            </a:r>
          </a:p>
        </p:txBody>
      </p:sp>
      <p:sp>
        <p:nvSpPr>
          <p:cNvPr id="38" name="TextBox 37"/>
          <p:cNvSpPr txBox="1"/>
          <p:nvPr/>
        </p:nvSpPr>
        <p:spPr>
          <a:xfrm>
            <a:off x="9253728" y="5158130"/>
            <a:ext cx="2313432" cy="503834"/>
          </a:xfrm>
          <a:prstGeom prst="rect">
            <a:avLst/>
          </a:prstGeom>
          <a:noFill/>
        </p:spPr>
        <p:txBody>
          <a:bodyPr wrap="square" lIns="0" rIns="0" tIns="0" bIns="0" anchor="t">
            <a:spAutoFit/>
          </a:bodyPr>
          <a:lstStyle/>
          <a:p>
            <a:pPr algn="l">
              <a:spcAft>
                <a:spcPts val="400"/>
              </a:spcAft>
            </a:pPr>
            <a:r>
              <a:rPr sz="1200" b="0" i="0">
                <a:solidFill>
                  <a:srgbClr val="475569"/>
                </a:solidFill>
              </a:rPr>
              <a:t>median landmarking, CPU only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Training configuration: calibration and defaults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graphicFrame>
        <p:nvGraphicFramePr>
          <p:cNvPr id="26" name="Table 25"/>
          <p:cNvGraphicFramePr>
            <a:graphicFrameLocks noGrp="1"/>
          </p:cNvGraphicFramePr>
          <p:nvPr/>
        </p:nvGraphicFramePr>
        <p:xfrm>
          <a:off x="548640" y="1371600"/>
          <a:ext cx="11091672" cy="4754880"/>
        </p:xfrm>
        <a:graphic>
          <a:graphicData uri="http://schemas.openxmlformats.org/drawingml/2006/table">
            <a:tbl>
              <a:tblPr firstRow="0" bandRow="0">
                <a:tableStyleId>{5C22544A-7EE6-4342-B048-85BDC9FD1C3A}</a:tableStyleId>
              </a:tblPr>
              <a:tblGrid>
                <a:gridCol w="2926080"/>
                <a:gridCol w="8165592"/>
              </a:tblGrid>
              <a:tr h="594360">
                <a:tc>
                  <a:txBody>
                    <a:bodyPr wrap="square"/>
                    <a:lstStyle/>
                    <a:p>
                      <a:pPr algn="ctr"/>
                      <a:r>
                        <a:rPr sz="1500" b="1">
                          <a:solidFill>
                            <a:srgbClr val="FFFFFF"/>
                          </a:solidFill>
                        </a:rPr>
                        <a:t>Setting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500" b="1">
                          <a:solidFill>
                            <a:srgbClr val="FFFFFF"/>
                          </a:solidFill>
                        </a:rPr>
                        <a:t>Value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94360">
                <a:tc>
                  <a:txBody>
                    <a:bodyPr wrap="square"/>
                    <a:lstStyle/>
                    <a:p>
                      <a:pPr algn="l"/>
                      <a:r>
                        <a:rPr sz="1500" b="1">
                          <a:solidFill>
                            <a:srgbClr val="0F172A"/>
                          </a:solidFill>
                        </a:rPr>
                        <a:t>Calibration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8-15 s eyes open; at least 40 accepted frames and 70 % accepted; EAR sd / median &lt;= 0.15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94360">
                <a:tc>
                  <a:txBody>
                    <a:bodyPr wrap="square"/>
                    <a:lstStyle/>
                    <a:p>
                      <a:pPr algn="l"/>
                      <a:r>
                        <a:rPr sz="1500" b="1">
                          <a:solidFill>
                            <a:srgbClr val="0F172A"/>
                          </a:solidFill>
                        </a:rPr>
                        <a:t>Personal threshold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clip(0.72 x median EAR, 0.12, 0.32); default 0.21, bounds 0.08-0.40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94360">
                <a:tc>
                  <a:txBody>
                    <a:bodyPr wrap="square"/>
                    <a:lstStyle/>
                    <a:p>
                      <a:pPr algn="l"/>
                      <a:r>
                        <a:rPr sz="1500" b="1">
                          <a:solidFill>
                            <a:srgbClr val="0F172A"/>
                          </a:solidFill>
                        </a:rPr>
                        <a:t>Closure rule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continuous closed eyes &gt;= 1.5 s (bounds 0.5-5 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94360">
                <a:tc>
                  <a:txBody>
                    <a:bodyPr wrap="square"/>
                    <a:lstStyle/>
                    <a:p>
                      <a:pPr algn="l"/>
                      <a:r>
                        <a:rPr sz="1500" b="1">
                          <a:solidFill>
                            <a:srgbClr val="0F172A"/>
                          </a:solidFill>
                        </a:rPr>
                        <a:t>Closed-fraction rule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&gt;= 0.55 of the last 10 s, with at least 8 s of history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94360">
                <a:tc>
                  <a:txBody>
                    <a:bodyPr wrap="square"/>
                    <a:lstStyle/>
                    <a:p>
                      <a:pPr algn="l"/>
                      <a:r>
                        <a:rPr sz="1500" b="1">
                          <a:solidFill>
                            <a:srgbClr val="0F172A"/>
                          </a:solidFill>
                        </a:rPr>
                        <a:t>Tilt rule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head roll &gt;= 25 degrees together with a low EAR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94360">
                <a:tc>
                  <a:txBody>
                    <a:bodyPr wrap="square"/>
                    <a:lstStyle/>
                    <a:p>
                      <a:pPr algn="l"/>
                      <a:r>
                        <a:rPr sz="1500" b="1">
                          <a:solidFill>
                            <a:srgbClr val="0F172A"/>
                          </a:solidFill>
                        </a:rPr>
                        <a:t>Persistence / cooldown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1.0 s more evidence and 2 s reliable history; bell cooldown 15 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94360">
                <a:tc>
                  <a:txBody>
                    <a:bodyPr wrap="square"/>
                    <a:lstStyle/>
                    <a:p>
                      <a:pPr algn="l"/>
                      <a:r>
                        <a:rPr sz="1500" b="1">
                          <a:solidFill>
                            <a:srgbClr val="0F172A"/>
                          </a:solidFill>
                        </a:rPr>
                        <a:t>Tuning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engineering defaults, not tuned on data; the CEW sweep later points to 0.17-0.18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Decision logic</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pic>
        <p:nvPicPr>
          <p:cNvPr id="26" name="Picture 25" descr="10_core_algorithm_flowchart.png"/>
          <p:cNvPicPr>
            <a:picLocks noChangeAspect="1"/>
          </p:cNvPicPr>
          <p:nvPr/>
        </p:nvPicPr>
        <p:blipFill>
          <a:blip r:embed="rId1"/>
          <a:stretch>
            <a:fillRect/>
          </a:stretch>
        </p:blipFill>
        <p:spPr>
          <a:xfrm>
            <a:off x="1150152" y="1188720"/>
            <a:ext cx="3551855" cy="5074920"/>
          </a:xfrm>
          <a:prstGeom prst="rect">
            <a:avLst/>
          </a:prstGeom>
        </p:spPr>
      </p:pic>
      <p:sp>
        <p:nvSpPr>
          <p:cNvPr id="27" name="TextBox 26"/>
          <p:cNvSpPr txBox="1"/>
          <p:nvPr/>
        </p:nvSpPr>
        <p:spPr>
          <a:xfrm>
            <a:off x="5669280" y="1325880"/>
            <a:ext cx="5989320" cy="4937760"/>
          </a:xfrm>
          <a:prstGeom prst="rect">
            <a:avLst/>
          </a:prstGeom>
          <a:noFill/>
        </p:spPr>
        <p:txBody>
          <a:bodyPr wrap="square" lIns="0" rIns="0" tIns="0" bIns="0" anchor="t">
            <a:spAutoFit/>
          </a:bodyPr>
          <a:lstStyle/>
          <a:p>
            <a:pPr algn="l" marL="256032" indent="-201168">
              <a:spcAft>
                <a:spcPts val="900"/>
              </a:spcAft>
              <a:buChar char="•"/>
            </a:pPr>
            <a:r>
              <a:rPr sz="1700" b="1" i="0">
                <a:solidFill>
                  <a:srgbClr val="0F172A"/>
                </a:solidFill>
              </a:rPr>
              <a:t>Quality first.</a:t>
            </a:r>
            <a:r>
              <a:rPr sz="1700" b="0" i="0">
                <a:solidFill>
                  <a:srgbClr val="0F172A"/>
                </a:solidFill>
              </a:rPr>
              <a:t> A failed gate or timing gap gives Unable to assess and clears the evidence; the alert cooldown is kept.</a:t>
            </a:r>
          </a:p>
          <a:p>
            <a:pPr algn="l" marL="256032" indent="-201168">
              <a:spcAft>
                <a:spcPts val="900"/>
              </a:spcAft>
              <a:buChar char="•"/>
            </a:pPr>
            <a:r>
              <a:rPr sz="1700" b="1" i="0">
                <a:solidFill>
                  <a:srgbClr val="0F172A"/>
                </a:solidFill>
              </a:rPr>
              <a:t>Three rules, every frame.</a:t>
            </a:r>
            <a:r>
              <a:rPr sz="1700" b="0" i="0">
                <a:solidFill>
                  <a:srgbClr val="0F172A"/>
                </a:solidFill>
              </a:rPr>
              <a:t> Closure &gt;= 1.5 s; closed fraction &gt;= 0.55 over 10 s; roll &gt;= 25 degrees with low EAR.</a:t>
            </a:r>
          </a:p>
          <a:p>
            <a:pPr algn="l" marL="256032" indent="-201168">
              <a:spcAft>
                <a:spcPts val="900"/>
              </a:spcAft>
              <a:buChar char="•"/>
            </a:pPr>
            <a:r>
              <a:rPr sz="1700" b="1" i="0">
                <a:solidFill>
                  <a:srgbClr val="0F172A"/>
                </a:solidFill>
              </a:rPr>
              <a:t>Persistence.</a:t>
            </a:r>
            <a:r>
              <a:rPr sz="1700" b="0" i="0">
                <a:solidFill>
                  <a:srgbClr val="0F172A"/>
                </a:solidFill>
              </a:rPr>
              <a:t> The evidence must last 1 s more, with 2 s of reliable history, before the warning shows.</a:t>
            </a:r>
          </a:p>
          <a:p>
            <a:pPr algn="l" marL="256032" indent="-201168">
              <a:spcAft>
                <a:spcPts val="900"/>
              </a:spcAft>
              <a:buChar char="•"/>
            </a:pPr>
            <a:r>
              <a:rPr sz="1700" b="1" i="0">
                <a:solidFill>
                  <a:srgbClr val="0F172A"/>
                </a:solidFill>
              </a:rPr>
              <a:t>Blinks.</a:t>
            </a:r>
            <a:r>
              <a:rPr sz="1700" b="0" i="0">
                <a:solidFill>
                  <a:srgbClr val="0F172A"/>
                </a:solidFill>
              </a:rPr>
              <a:t> A closed interval of 0.08-0.8 s counts as a blink; blink rate is shown, never used alone.</a:t>
            </a:r>
          </a:p>
          <a:p>
            <a:pPr algn="l" marL="256032" indent="-201168">
              <a:spcAft>
                <a:spcPts val="400"/>
              </a:spcAft>
              <a:buChar char="•"/>
            </a:pPr>
            <a:r>
              <a:rPr sz="1700" b="1" i="0">
                <a:solidFill>
                  <a:srgbClr val="0F172A"/>
                </a:solidFill>
              </a:rPr>
              <a:t>Output.</a:t>
            </a:r>
            <a:r>
              <a:rPr sz="1700" b="0" i="0">
                <a:solidFill>
                  <a:srgbClr val="0F172A"/>
                </a:solidFill>
              </a:rPr>
              <a:t> Normal, Possible impairment or drowsiness, or Unable to assess, with the reason; optional bell every 15 s at most.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flow and modules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pic>
        <p:nvPicPr>
          <p:cNvPr id="26" name="Picture 25" descr="04_dfd_level1.png"/>
          <p:cNvPicPr>
            <a:picLocks noChangeAspect="1"/>
          </p:cNvPicPr>
          <p:nvPr/>
        </p:nvPicPr>
        <p:blipFill>
          <a:blip r:embed="rId1"/>
          <a:stretch>
            <a:fillRect/>
          </a:stretch>
        </p:blipFill>
        <p:spPr>
          <a:xfrm>
            <a:off x="1290848" y="1188720"/>
            <a:ext cx="5282142" cy="5074920"/>
          </a:xfrm>
          <a:prstGeom prst="rect">
            <a:avLst/>
          </a:prstGeom>
        </p:spPr>
      </p:pic>
      <p:graphicFrame>
        <p:nvGraphicFramePr>
          <p:cNvPr id="27" name="Table 26"/>
          <p:cNvGraphicFramePr>
            <a:graphicFrameLocks noGrp="1"/>
          </p:cNvGraphicFramePr>
          <p:nvPr/>
        </p:nvGraphicFramePr>
        <p:xfrm>
          <a:off x="7498079" y="1371600"/>
          <a:ext cx="4142232" cy="4023360"/>
        </p:xfrm>
        <a:graphic>
          <a:graphicData uri="http://schemas.openxmlformats.org/drawingml/2006/table">
            <a:tbl>
              <a:tblPr firstRow="0" bandRow="0">
                <a:tableStyleId>{5C22544A-7EE6-4342-B048-85BDC9FD1C3A}</a:tableStyleId>
              </a:tblPr>
              <a:tblGrid>
                <a:gridCol w="1920240"/>
                <a:gridCol w="2221992"/>
              </a:tblGrid>
              <a:tr h="502920">
                <a:tc>
                  <a:txBody>
                    <a:bodyPr wrap="square"/>
                    <a:lstStyle/>
                    <a:p>
                      <a:pPr algn="ctr"/>
                      <a:r>
                        <a:rPr sz="1200" b="1">
                          <a:solidFill>
                            <a:srgbClr val="FFFFFF"/>
                          </a:solidFill>
                        </a:rPr>
                        <a:t>Module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02920">
                <a:tc>
                  <a:txBody>
                    <a:bodyPr wrap="square"/>
                    <a:lstStyle/>
                    <a:p>
                      <a:pPr algn="l"/>
                      <a:r>
                        <a:rPr sz="1200" b="1">
                          <a:solidFill>
                            <a:srgbClr val="0F172A"/>
                          </a:solidFill>
                        </a:rPr>
                        <a:t>core.py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rules, calibration, scenarios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200" b="1">
                          <a:solidFill>
                            <a:srgbClr val="0F172A"/>
                          </a:solidFill>
                        </a:rPr>
                        <a:t>vision.py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landmarks and quality gates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200" b="1">
                          <a:solidFill>
                            <a:srgbClr val="0F172A"/>
                          </a:solidFill>
                        </a:rPr>
                        <a:t>storage.py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SQLite, CSV, settings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200" b="1">
                          <a:solidFill>
                            <a:srgbClr val="0F172A"/>
                          </a:solidFill>
                        </a:rPr>
                        <a:t>research.py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offline evaluation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200" b="1">
                          <a:solidFill>
                            <a:srgbClr val="0F172A"/>
                          </a:solidFill>
                        </a:rPr>
                        <a:t>backend/main.py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22 API routes, login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200" b="1">
                          <a:solidFill>
                            <a:srgbClr val="0F172A"/>
                          </a:solidFill>
                        </a:rPr>
                        <a:t>backend/session.py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one session per tab</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200" b="1">
                          <a:solidFill>
                            <a:srgbClr val="0F172A"/>
                          </a:solidFill>
                        </a:rPr>
                        <a:t>frontend/src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8 React pages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Database design and UML</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pic>
        <p:nvPicPr>
          <p:cNvPr id="26" name="Picture 25" descr="09_er_diagram.png"/>
          <p:cNvPicPr>
            <a:picLocks noChangeAspect="1"/>
          </p:cNvPicPr>
          <p:nvPr/>
        </p:nvPicPr>
        <p:blipFill>
          <a:blip r:embed="rId1"/>
          <a:stretch>
            <a:fillRect/>
          </a:stretch>
        </p:blipFill>
        <p:spPr>
          <a:xfrm>
            <a:off x="707666" y="1234440"/>
            <a:ext cx="5168347" cy="4663440"/>
          </a:xfrm>
          <a:prstGeom prst="rect">
            <a:avLst/>
          </a:prstGeom>
        </p:spPr>
      </p:pic>
      <p:pic>
        <p:nvPicPr>
          <p:cNvPr id="27" name="Picture 26" descr="06_uml_class_diagram.png"/>
          <p:cNvPicPr>
            <a:picLocks noChangeAspect="1"/>
          </p:cNvPicPr>
          <p:nvPr/>
        </p:nvPicPr>
        <p:blipFill>
          <a:blip r:embed="rId4"/>
          <a:stretch>
            <a:fillRect/>
          </a:stretch>
        </p:blipFill>
        <p:spPr>
          <a:xfrm>
            <a:off x="6711867" y="1234440"/>
            <a:ext cx="4407064" cy="4663440"/>
          </a:xfrm>
          <a:prstGeom prst="rect">
            <a:avLst/>
          </a:prstGeom>
        </p:spPr>
      </p:pic>
      <p:sp>
        <p:nvSpPr>
          <p:cNvPr id="28" name="TextBox 27"/>
          <p:cNvSpPr txBox="1"/>
          <p:nvPr/>
        </p:nvSpPr>
        <p:spPr>
          <a:xfrm>
            <a:off x="548640" y="5989320"/>
            <a:ext cx="11091672" cy="365760"/>
          </a:xfrm>
          <a:prstGeom prst="rect">
            <a:avLst/>
          </a:prstGeom>
          <a:noFill/>
        </p:spPr>
        <p:txBody>
          <a:bodyPr wrap="square" lIns="0" rIns="0" tIns="0" bIns="0" anchor="t">
            <a:spAutoFit/>
          </a:bodyPr>
          <a:lstStyle/>
          <a:p>
            <a:pPr algn="ctr">
              <a:spcAft>
                <a:spcPts val="400"/>
              </a:spcAft>
            </a:pPr>
            <a:r>
              <a:rPr sz="1200" b="0" i="1">
                <a:solidFill>
                  <a:srgbClr val="475569"/>
                </a:solidFill>
              </a:rPr>
              <a:t>One persisted table (events, 12 numeric columns), a settings file and the research CSV; sessions live in memory and no images are stored.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Technology stack</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graphicFrame>
        <p:nvGraphicFramePr>
          <p:cNvPr id="26" name="Table 25"/>
          <p:cNvGraphicFramePr>
            <a:graphicFrameLocks noGrp="1"/>
          </p:cNvGraphicFramePr>
          <p:nvPr/>
        </p:nvGraphicFramePr>
        <p:xfrm>
          <a:off x="548640" y="1325880"/>
          <a:ext cx="11091672" cy="4937760"/>
        </p:xfrm>
        <a:graphic>
          <a:graphicData uri="http://schemas.openxmlformats.org/drawingml/2006/table">
            <a:tbl>
              <a:tblPr firstRow="0" bandRow="0">
                <a:tableStyleId>{5C22544A-7EE6-4342-B048-85BDC9FD1C3A}</a:tableStyleId>
              </a:tblPr>
              <a:tblGrid>
                <a:gridCol w="2743200"/>
                <a:gridCol w="8348472"/>
              </a:tblGrid>
              <a:tr h="548640">
                <a:tc>
                  <a:txBody>
                    <a:bodyPr wrap="square"/>
                    <a:lstStyle/>
                    <a:p>
                      <a:pPr algn="ctr"/>
                      <a:r>
                        <a:rPr sz="1500" b="1">
                          <a:solidFill>
                            <a:srgbClr val="FFFFFF"/>
                          </a:solidFill>
                        </a:rPr>
                        <a:t>Layer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500" b="1">
                          <a:solidFill>
                            <a:srgbClr val="FFFFFF"/>
                          </a:solidFill>
                        </a:rPr>
                        <a:t>Technology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48640">
                <a:tc>
                  <a:txBody>
                    <a:bodyPr wrap="square"/>
                    <a:lstStyle/>
                    <a:p>
                      <a:pPr algn="l"/>
                      <a:r>
                        <a:rPr sz="1500" b="1">
                          <a:solidFill>
                            <a:srgbClr val="0F172A"/>
                          </a:solidFill>
                        </a:rPr>
                        <a:t>Vision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MediaPipe 1.0.1 (Face Landmarker, CPU), OpenCV contrib 5.0.0.93, NumPy 2.5.3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500" b="1">
                          <a:solidFill>
                            <a:srgbClr val="0F172A"/>
                          </a:solidFill>
                        </a:rPr>
                        <a:t>Charts and offline tools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Matplotlib 3.11.2, NumPy nearest centroid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500" b="1">
                          <a:solidFill>
                            <a:srgbClr val="0F172A"/>
                          </a:solidFill>
                        </a:rPr>
                        <a:t>API</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FastAPI 0.162, Uvicorn 0.54, python-multipart; HMAC-signed demo token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500" b="1">
                          <a:solidFill>
                            <a:srgbClr val="0F172A"/>
                          </a:solidFill>
                        </a:rPr>
                        <a:t>Desktop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Tkinter (original prototype)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500" b="1">
                          <a:solidFill>
                            <a:srgbClr val="0F172A"/>
                          </a:solidFill>
                        </a:rPr>
                        <a:t>Database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SQLite and a JSON settings file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500" b="1">
                          <a:solidFill>
                            <a:srgbClr val="0F172A"/>
                          </a:solidFill>
                        </a:rPr>
                        <a:t>Front end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React 18, Vite 8, TypeScript, Tailwind 4, React Router 7, TanStack Query, Recharts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500" b="1">
                          <a:solidFill>
                            <a:srgbClr val="0F172A"/>
                          </a:solidFill>
                        </a:rPr>
                        <a:t>Testing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unittest, FastAPI TestClient, Playwright for screenshots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500" b="1">
                          <a:solidFill>
                            <a:srgbClr val="0F172A"/>
                          </a:solidFill>
                        </a:rPr>
                        <a:t>Run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Python 3.14.7 venv, run.bat (Windows), ports 8306 and 5306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Implementation progress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graphicFrame>
        <p:nvGraphicFramePr>
          <p:cNvPr id="26" name="Table 25"/>
          <p:cNvGraphicFramePr>
            <a:graphicFrameLocks noGrp="1"/>
          </p:cNvGraphicFramePr>
          <p:nvPr/>
        </p:nvGraphicFramePr>
        <p:xfrm>
          <a:off x="548640" y="1325880"/>
          <a:ext cx="11091672" cy="4773168"/>
        </p:xfrm>
        <a:graphic>
          <a:graphicData uri="http://schemas.openxmlformats.org/drawingml/2006/table">
            <a:tbl>
              <a:tblPr firstRow="0" bandRow="0">
                <a:tableStyleId>{5C22544A-7EE6-4342-B048-85BDC9FD1C3A}</a:tableStyleId>
              </a:tblPr>
              <a:tblGrid>
                <a:gridCol w="4480560"/>
                <a:gridCol w="1920240"/>
                <a:gridCol w="4690872"/>
              </a:tblGrid>
              <a:tr h="530352">
                <a:tc>
                  <a:txBody>
                    <a:bodyPr wrap="square"/>
                    <a:lstStyle/>
                    <a:p>
                      <a:pPr algn="ctr"/>
                      <a:r>
                        <a:rPr sz="1400" b="1">
                          <a:solidFill>
                            <a:srgbClr val="FFFFFF"/>
                          </a:solidFill>
                        </a:rPr>
                        <a:t>Component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Status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Evidence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30352">
                <a:tc>
                  <a:txBody>
                    <a:bodyPr wrap="square"/>
                    <a:lstStyle/>
                    <a:p>
                      <a:pPr algn="l"/>
                      <a:r>
                        <a:rPr sz="1400" b="0">
                          <a:solidFill>
                            <a:srgbClr val="0F172A"/>
                          </a:solidFill>
                        </a:rPr>
                        <a:t>Eye and head measurement, 7 quality gates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vision.py; measured on 2,423 CEW faces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30352">
                <a:tc>
                  <a:txBody>
                    <a:bodyPr wrap="square"/>
                    <a:lstStyle/>
                    <a:p>
                      <a:pPr algn="l"/>
                      <a:r>
                        <a:rPr sz="1400" b="0">
                          <a:solidFill>
                            <a:srgbClr val="0F172A"/>
                          </a:solidFill>
                        </a:rPr>
                        <a:t>Rule engine, calibration, thresholds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core.py; 20 unit tests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30352">
                <a:tc>
                  <a:txBody>
                    <a:bodyPr wrap="square"/>
                    <a:lstStyle/>
                    <a:p>
                      <a:pPr algn="l"/>
                      <a:r>
                        <a:rPr sz="1400" b="0">
                          <a:solidFill>
                            <a:srgbClr val="0F172A"/>
                          </a:solidFill>
                        </a:rPr>
                        <a:t>FastAPI service and demo login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22 routes; 34 smoke checks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30352">
                <a:tc>
                  <a:txBody>
                    <a:bodyPr wrap="square"/>
                    <a:lstStyle/>
                    <a:p>
                      <a:pPr algn="l"/>
                      <a:r>
                        <a:rPr sz="1400" b="0">
                          <a:solidFill>
                            <a:srgbClr val="0F172A"/>
                          </a:solidFill>
                        </a:rPr>
                        <a:t>React interface, history, CSV export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8 pages; 15 desktop and 4 phone screenshots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30352">
                <a:tc>
                  <a:txBody>
                    <a:bodyPr wrap="square"/>
                    <a:lstStyle/>
                    <a:p>
                      <a:pPr algn="l"/>
                      <a:r>
                        <a:rPr sz="1400" b="0">
                          <a:solidFill>
                            <a:srgbClr val="0F172A"/>
                          </a:solidFill>
                        </a:rPr>
                        <a:t>Offline research pipeline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Built, not trained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synthetic demo only, flagged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30352">
                <a:tc>
                  <a:txBody>
                    <a:bodyPr wrap="square"/>
                    <a:lstStyle/>
                    <a:p>
                      <a:pPr algn="l"/>
                      <a:r>
                        <a:rPr sz="1400" b="0">
                          <a:solidFill>
                            <a:srgbClr val="0F172A"/>
                          </a:solidFill>
                        </a:rPr>
                        <a:t>Deep-learning sober / intoxicated model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no labelled intoxication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30352">
                <a:tc>
                  <a:txBody>
                    <a:bodyPr wrap="square"/>
                    <a:lstStyle/>
                    <a:p>
                      <a:pPr algn="l"/>
                      <a:r>
                        <a:rPr sz="1400" b="0">
                          <a:solidFill>
                            <a:srgbClr val="0F172A"/>
                          </a:solidFill>
                        </a:rPr>
                        <a:t>Prevention action (ignition or contact alert)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on-screen warning and bell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30352">
                <a:tc>
                  <a:txBody>
                    <a:bodyPr wrap="square"/>
                    <a:lstStyle/>
                    <a:p>
                      <a:pPr algn="l"/>
                      <a:r>
                        <a:rPr sz="1400" b="0">
                          <a:solidFill>
                            <a:srgbClr val="0F172A"/>
                          </a:solidFill>
                        </a:rPr>
                        <a:t>Gaze deviation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not measured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Preliminary results: eye state on CEW</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Rounded Rectangle 25"/>
          <p:cNvSpPr/>
          <p:nvPr/>
        </p:nvSpPr>
        <p:spPr>
          <a:xfrm>
            <a:off x="548640" y="1280160"/>
            <a:ext cx="2651760" cy="1051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0515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77440" cy="578358"/>
          </a:xfrm>
          <a:prstGeom prst="rect">
            <a:avLst/>
          </a:prstGeom>
          <a:noFill/>
        </p:spPr>
        <p:txBody>
          <a:bodyPr wrap="square" lIns="0" rIns="0" tIns="0" bIns="0" anchor="ctr">
            <a:spAutoFit/>
          </a:bodyPr>
          <a:lstStyle/>
          <a:p>
            <a:pPr algn="l">
              <a:spcAft>
                <a:spcPts val="400"/>
              </a:spcAft>
            </a:pPr>
            <a:r>
              <a:rPr sz="2800" b="1" i="0">
                <a:solidFill>
                  <a:srgbClr val="0F172A"/>
                </a:solidFill>
              </a:rPr>
              <a:t>92.2%</a:t>
            </a:r>
          </a:p>
        </p:txBody>
      </p:sp>
      <p:sp>
        <p:nvSpPr>
          <p:cNvPr id="29" name="TextBox 28"/>
          <p:cNvSpPr txBox="1"/>
          <p:nvPr/>
        </p:nvSpPr>
        <p:spPr>
          <a:xfrm>
            <a:off x="749808" y="1890064"/>
            <a:ext cx="2377440" cy="399592"/>
          </a:xfrm>
          <a:prstGeom prst="rect">
            <a:avLst/>
          </a:prstGeom>
          <a:noFill/>
        </p:spPr>
        <p:txBody>
          <a:bodyPr wrap="square" lIns="0" rIns="0" tIns="0" bIns="0" anchor="t">
            <a:spAutoFit/>
          </a:bodyPr>
          <a:lstStyle/>
          <a:p>
            <a:pPr algn="l">
              <a:spcAft>
                <a:spcPts val="400"/>
              </a:spcAft>
            </a:pPr>
            <a:r>
              <a:rPr sz="1200" b="0" i="0">
                <a:solidFill>
                  <a:srgbClr val="475569"/>
                </a:solidFill>
              </a:rPr>
              <a:t>accuracy at threshold 0.21</a:t>
            </a:r>
          </a:p>
        </p:txBody>
      </p:sp>
      <p:sp>
        <p:nvSpPr>
          <p:cNvPr id="30" name="Rounded Rectangle 29"/>
          <p:cNvSpPr/>
          <p:nvPr/>
        </p:nvSpPr>
        <p:spPr>
          <a:xfrm>
            <a:off x="3383280" y="1280160"/>
            <a:ext cx="2651760" cy="1051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83280" y="1280160"/>
            <a:ext cx="73152" cy="105156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84448" y="1371600"/>
            <a:ext cx="2377440" cy="578358"/>
          </a:xfrm>
          <a:prstGeom prst="rect">
            <a:avLst/>
          </a:prstGeom>
          <a:noFill/>
        </p:spPr>
        <p:txBody>
          <a:bodyPr wrap="square" lIns="0" rIns="0" tIns="0" bIns="0" anchor="ctr">
            <a:spAutoFit/>
          </a:bodyPr>
          <a:lstStyle/>
          <a:p>
            <a:pPr algn="l">
              <a:spcAft>
                <a:spcPts val="400"/>
              </a:spcAft>
            </a:pPr>
            <a:r>
              <a:rPr sz="2800" b="1" i="0">
                <a:solidFill>
                  <a:srgbClr val="0F172A"/>
                </a:solidFill>
              </a:rPr>
              <a:t>99.2%</a:t>
            </a:r>
          </a:p>
        </p:txBody>
      </p:sp>
      <p:sp>
        <p:nvSpPr>
          <p:cNvPr id="33" name="TextBox 32"/>
          <p:cNvSpPr txBox="1"/>
          <p:nvPr/>
        </p:nvSpPr>
        <p:spPr>
          <a:xfrm>
            <a:off x="3584448" y="1890064"/>
            <a:ext cx="2377440" cy="399592"/>
          </a:xfrm>
          <a:prstGeom prst="rect">
            <a:avLst/>
          </a:prstGeom>
          <a:noFill/>
        </p:spPr>
        <p:txBody>
          <a:bodyPr wrap="square" lIns="0" rIns="0" tIns="0" bIns="0" anchor="t">
            <a:spAutoFit/>
          </a:bodyPr>
          <a:lstStyle/>
          <a:p>
            <a:pPr algn="l">
              <a:spcAft>
                <a:spcPts val="400"/>
              </a:spcAft>
            </a:pPr>
            <a:r>
              <a:rPr sz="1200" b="0" i="0">
                <a:solidFill>
                  <a:srgbClr val="475569"/>
                </a:solidFill>
              </a:rPr>
              <a:t>closed-eye recall</a:t>
            </a:r>
          </a:p>
        </p:txBody>
      </p:sp>
      <p:sp>
        <p:nvSpPr>
          <p:cNvPr id="34" name="Rounded Rectangle 33"/>
          <p:cNvSpPr/>
          <p:nvPr/>
        </p:nvSpPr>
        <p:spPr>
          <a:xfrm>
            <a:off x="6217920" y="1280160"/>
            <a:ext cx="2651760" cy="1051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217920" y="1280160"/>
            <a:ext cx="73152" cy="105156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19088" y="1371600"/>
            <a:ext cx="2377440" cy="578358"/>
          </a:xfrm>
          <a:prstGeom prst="rect">
            <a:avLst/>
          </a:prstGeom>
          <a:noFill/>
        </p:spPr>
        <p:txBody>
          <a:bodyPr wrap="square" lIns="0" rIns="0" tIns="0" bIns="0" anchor="ctr">
            <a:spAutoFit/>
          </a:bodyPr>
          <a:lstStyle/>
          <a:p>
            <a:pPr algn="l">
              <a:spcAft>
                <a:spcPts val="400"/>
              </a:spcAft>
            </a:pPr>
            <a:r>
              <a:rPr sz="2800" b="1" i="0">
                <a:solidFill>
                  <a:srgbClr val="0F172A"/>
                </a:solidFill>
              </a:rPr>
              <a:t>85.5%</a:t>
            </a:r>
          </a:p>
        </p:txBody>
      </p:sp>
      <p:sp>
        <p:nvSpPr>
          <p:cNvPr id="37" name="TextBox 36"/>
          <p:cNvSpPr txBox="1"/>
          <p:nvPr/>
        </p:nvSpPr>
        <p:spPr>
          <a:xfrm>
            <a:off x="6419088" y="1890064"/>
            <a:ext cx="2377440" cy="399592"/>
          </a:xfrm>
          <a:prstGeom prst="rect">
            <a:avLst/>
          </a:prstGeom>
          <a:noFill/>
        </p:spPr>
        <p:txBody>
          <a:bodyPr wrap="square" lIns="0" rIns="0" tIns="0" bIns="0" anchor="t">
            <a:spAutoFit/>
          </a:bodyPr>
          <a:lstStyle/>
          <a:p>
            <a:pPr algn="l">
              <a:spcAft>
                <a:spcPts val="400"/>
              </a:spcAft>
            </a:pPr>
            <a:r>
              <a:rPr sz="1200" b="0" i="0">
                <a:solidFill>
                  <a:srgbClr val="475569"/>
                </a:solidFill>
              </a:rPr>
              <a:t>open-eye specificity</a:t>
            </a:r>
          </a:p>
        </p:txBody>
      </p:sp>
      <p:sp>
        <p:nvSpPr>
          <p:cNvPr id="38" name="Rounded Rectangle 37"/>
          <p:cNvSpPr/>
          <p:nvPr/>
        </p:nvSpPr>
        <p:spPr>
          <a:xfrm>
            <a:off x="9052560" y="1280160"/>
            <a:ext cx="2651760" cy="1051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52560" y="1280160"/>
            <a:ext cx="73152" cy="105156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53728" y="1371600"/>
            <a:ext cx="2377440" cy="578358"/>
          </a:xfrm>
          <a:prstGeom prst="rect">
            <a:avLst/>
          </a:prstGeom>
          <a:noFill/>
        </p:spPr>
        <p:txBody>
          <a:bodyPr wrap="square" lIns="0" rIns="0" tIns="0" bIns="0" anchor="ctr">
            <a:spAutoFit/>
          </a:bodyPr>
          <a:lstStyle/>
          <a:p>
            <a:pPr algn="l">
              <a:spcAft>
                <a:spcPts val="400"/>
              </a:spcAft>
            </a:pPr>
            <a:r>
              <a:rPr sz="2800" b="1" i="0">
                <a:solidFill>
                  <a:srgbClr val="0F172A"/>
                </a:solidFill>
              </a:rPr>
              <a:t>0.989</a:t>
            </a:r>
          </a:p>
        </p:txBody>
      </p:sp>
      <p:sp>
        <p:nvSpPr>
          <p:cNvPr id="41" name="TextBox 40"/>
          <p:cNvSpPr txBox="1"/>
          <p:nvPr/>
        </p:nvSpPr>
        <p:spPr>
          <a:xfrm>
            <a:off x="9253728" y="1890064"/>
            <a:ext cx="2377440" cy="399592"/>
          </a:xfrm>
          <a:prstGeom prst="rect">
            <a:avLst/>
          </a:prstGeom>
          <a:noFill/>
        </p:spPr>
        <p:txBody>
          <a:bodyPr wrap="square" lIns="0" rIns="0" tIns="0" bIns="0" anchor="t">
            <a:spAutoFit/>
          </a:bodyPr>
          <a:lstStyle/>
          <a:p>
            <a:pPr algn="l">
              <a:spcAft>
                <a:spcPts val="400"/>
              </a:spcAft>
            </a:pPr>
            <a:r>
              <a:rPr sz="1200" b="0" i="0">
                <a:solidFill>
                  <a:srgbClr val="475569"/>
                </a:solidFill>
              </a:rPr>
              <a:t>ROC AUC of EAR</a:t>
            </a:r>
          </a:p>
        </p:txBody>
      </p:sp>
      <p:pic>
        <p:nvPicPr>
          <p:cNvPr id="42" name="Picture 41" descr="threshold_sweep_geometry.png"/>
          <p:cNvPicPr>
            <a:picLocks noChangeAspect="1"/>
          </p:cNvPicPr>
          <p:nvPr/>
        </p:nvPicPr>
        <p:blipFill>
          <a:blip r:embed="rId1"/>
          <a:stretch>
            <a:fillRect/>
          </a:stretch>
        </p:blipFill>
        <p:spPr>
          <a:xfrm>
            <a:off x="548640" y="2550318"/>
            <a:ext cx="6035040" cy="3677602"/>
          </a:xfrm>
          <a:prstGeom prst="rect">
            <a:avLst/>
          </a:prstGeom>
        </p:spPr>
      </p:pic>
      <p:sp>
        <p:nvSpPr>
          <p:cNvPr id="43" name="Rounded Rectangle 42"/>
          <p:cNvSpPr/>
          <p:nvPr/>
        </p:nvSpPr>
        <p:spPr>
          <a:xfrm>
            <a:off x="6858000" y="2514600"/>
            <a:ext cx="2331720" cy="1051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6858000" y="2514600"/>
            <a:ext cx="73152" cy="105156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059168" y="2606040"/>
            <a:ext cx="2057400" cy="578358"/>
          </a:xfrm>
          <a:prstGeom prst="rect">
            <a:avLst/>
          </a:prstGeom>
          <a:noFill/>
        </p:spPr>
        <p:txBody>
          <a:bodyPr wrap="square" lIns="0" rIns="0" tIns="0" bIns="0" anchor="ctr">
            <a:spAutoFit/>
          </a:bodyPr>
          <a:lstStyle/>
          <a:p>
            <a:pPr algn="l">
              <a:spcAft>
                <a:spcPts val="400"/>
              </a:spcAft>
            </a:pPr>
            <a:r>
              <a:rPr sz="2200" b="1" i="0">
                <a:solidFill>
                  <a:srgbClr val="0F172A"/>
                </a:solidFill>
              </a:rPr>
              <a:t>about 2.5 s</a:t>
            </a:r>
          </a:p>
        </p:txBody>
      </p:sp>
      <p:sp>
        <p:nvSpPr>
          <p:cNvPr id="46" name="TextBox 45"/>
          <p:cNvSpPr txBox="1"/>
          <p:nvPr/>
        </p:nvSpPr>
        <p:spPr>
          <a:xfrm>
            <a:off x="7059168" y="3124504"/>
            <a:ext cx="2057400" cy="399592"/>
          </a:xfrm>
          <a:prstGeom prst="rect">
            <a:avLst/>
          </a:prstGeom>
          <a:noFill/>
        </p:spPr>
        <p:txBody>
          <a:bodyPr wrap="square" lIns="0" rIns="0" tIns="0" bIns="0" anchor="t">
            <a:spAutoFit/>
          </a:bodyPr>
          <a:lstStyle/>
          <a:p>
            <a:pPr algn="l">
              <a:spcAft>
                <a:spcPts val="400"/>
              </a:spcAft>
            </a:pPr>
            <a:r>
              <a:rPr sz="1100" b="0" i="0">
                <a:solidFill>
                  <a:srgbClr val="475569"/>
                </a:solidFill>
              </a:rPr>
              <a:t>closure needed to warn</a:t>
            </a:r>
          </a:p>
        </p:txBody>
      </p:sp>
      <p:sp>
        <p:nvSpPr>
          <p:cNvPr id="47" name="Rounded Rectangle 46"/>
          <p:cNvSpPr/>
          <p:nvPr/>
        </p:nvSpPr>
        <p:spPr>
          <a:xfrm>
            <a:off x="9326880" y="2514600"/>
            <a:ext cx="2313432" cy="1051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9326880" y="2514600"/>
            <a:ext cx="73152" cy="10515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528048" y="2606040"/>
            <a:ext cx="2039112" cy="578358"/>
          </a:xfrm>
          <a:prstGeom prst="rect">
            <a:avLst/>
          </a:prstGeom>
          <a:noFill/>
        </p:spPr>
        <p:txBody>
          <a:bodyPr wrap="square" lIns="0" rIns="0" tIns="0" bIns="0" anchor="ctr">
            <a:spAutoFit/>
          </a:bodyPr>
          <a:lstStyle/>
          <a:p>
            <a:pPr algn="l">
              <a:spcAft>
                <a:spcPts val="400"/>
              </a:spcAft>
            </a:pPr>
            <a:r>
              <a:rPr sz="2600" b="1" i="0">
                <a:solidFill>
                  <a:srgbClr val="0F172A"/>
                </a:solidFill>
              </a:rPr>
              <a:t>31 ms</a:t>
            </a:r>
          </a:p>
        </p:txBody>
      </p:sp>
      <p:sp>
        <p:nvSpPr>
          <p:cNvPr id="50" name="TextBox 49"/>
          <p:cNvSpPr txBox="1"/>
          <p:nvPr/>
        </p:nvSpPr>
        <p:spPr>
          <a:xfrm>
            <a:off x="9528048" y="3124504"/>
            <a:ext cx="2039112" cy="399592"/>
          </a:xfrm>
          <a:prstGeom prst="rect">
            <a:avLst/>
          </a:prstGeom>
          <a:noFill/>
        </p:spPr>
        <p:txBody>
          <a:bodyPr wrap="square" lIns="0" rIns="0" tIns="0" bIns="0" anchor="t">
            <a:spAutoFit/>
          </a:bodyPr>
          <a:lstStyle/>
          <a:p>
            <a:pPr algn="l">
              <a:spcAft>
                <a:spcPts val="400"/>
              </a:spcAft>
            </a:pPr>
            <a:r>
              <a:rPr sz="1100" b="0" i="0">
                <a:solidFill>
                  <a:srgbClr val="475569"/>
                </a:solidFill>
              </a:rPr>
              <a:t>API frame latency, median</a:t>
            </a:r>
          </a:p>
        </p:txBody>
      </p:sp>
      <p:sp>
        <p:nvSpPr>
          <p:cNvPr id="51" name="Rounded Rectangle 50"/>
          <p:cNvSpPr/>
          <p:nvPr/>
        </p:nvSpPr>
        <p:spPr>
          <a:xfrm>
            <a:off x="6858000" y="3749039"/>
            <a:ext cx="4782312" cy="2514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7040880" y="3840480"/>
            <a:ext cx="4434840" cy="2377440"/>
          </a:xfrm>
          <a:prstGeom prst="rect">
            <a:avLst/>
          </a:prstGeom>
          <a:noFill/>
        </p:spPr>
        <p:txBody>
          <a:bodyPr wrap="square" lIns="0" rIns="0" tIns="0" bIns="0" anchor="t">
            <a:spAutoFit/>
          </a:bodyPr>
          <a:lstStyle/>
          <a:p>
            <a:pPr algn="l" marL="256032" indent="-201168">
              <a:spcAft>
                <a:spcPts val="400"/>
              </a:spcAft>
              <a:buChar char="•"/>
            </a:pPr>
            <a:r>
              <a:rPr sz="1300" b="0" i="0">
                <a:solidFill>
                  <a:srgbClr val="0F172A"/>
                </a:solidFill>
              </a:rPr>
              <a:t>Geometry only, 2,407 CEW faces, still images.</a:t>
            </a:r>
          </a:p>
          <a:p>
            <a:pPr algn="l" marL="256032" indent="-201168">
              <a:spcAft>
                <a:spcPts val="400"/>
              </a:spcAft>
              <a:buChar char="•"/>
            </a:pPr>
            <a:r>
              <a:rPr sz="1300" b="0" i="0">
                <a:solidFill>
                  <a:srgbClr val="0F172A"/>
                </a:solidFill>
              </a:rPr>
              <a:t>Threshold 0.21 calls 14.5% of open eyes closed; 0.17 does better (94.7%, chosen in-sample).</a:t>
            </a:r>
          </a:p>
          <a:p>
            <a:pPr algn="l" marL="256032" indent="-201168">
              <a:spcAft>
                <a:spcPts val="400"/>
              </a:spcAft>
              <a:buChar char="•"/>
            </a:pPr>
            <a:r>
              <a:rPr sz="1300" b="0" i="0">
                <a:solidFill>
                  <a:srgbClr val="0F172A"/>
                </a:solidFill>
              </a:rPr>
              <a:t>With the quality gates only 44.1% of these 100 px images are assessed.</a:t>
            </a:r>
          </a:p>
          <a:p>
            <a:pPr algn="l" marL="256032" indent="-201168">
              <a:spcAft>
                <a:spcPts val="400"/>
              </a:spcAft>
              <a:buChar char="•"/>
            </a:pPr>
            <a:r>
              <a:rPr sz="1300" b="0" i="0">
                <a:solidFill>
                  <a:srgbClr val="0F172A"/>
                </a:solidFill>
              </a:rPr>
              <a:t>Closed and open images come from different sources; scripted rule tests: closures up to 2.4 s never warn, 2.6 s always do.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Output screens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pic>
        <p:nvPicPr>
          <p:cNvPr id="26" name="Picture 25" descr="06_monitor_camera_normal.png"/>
          <p:cNvPicPr>
            <a:picLocks noChangeAspect="1"/>
          </p:cNvPicPr>
          <p:nvPr/>
        </p:nvPicPr>
        <p:blipFill>
          <a:blip r:embed="rId2"/>
          <a:stretch>
            <a:fillRect/>
          </a:stretch>
        </p:blipFill>
        <p:spPr>
          <a:xfrm>
            <a:off x="630935" y="1234440"/>
            <a:ext cx="3584448" cy="2240280"/>
          </a:xfrm>
          <a:prstGeom prst="rect">
            <a:avLst/>
          </a:prstGeom>
          <a:ln w="9525">
            <a:solidFill>
              <a:srgbClr val="D5DCE6"/>
            </a:solidFill>
          </a:ln>
        </p:spPr>
      </p:pic>
      <p:sp>
        <p:nvSpPr>
          <p:cNvPr id="27" name="TextBox 26"/>
          <p:cNvSpPr txBox="1"/>
          <p:nvPr/>
        </p:nvSpPr>
        <p:spPr>
          <a:xfrm>
            <a:off x="548640" y="3502152"/>
            <a:ext cx="3749039" cy="320040"/>
          </a:xfrm>
          <a:prstGeom prst="rect">
            <a:avLst/>
          </a:prstGeom>
          <a:noFill/>
        </p:spPr>
        <p:txBody>
          <a:bodyPr wrap="square" lIns="0" rIns="0" tIns="0" bIns="0" anchor="t">
            <a:spAutoFit/>
          </a:bodyPr>
          <a:lstStyle/>
          <a:p>
            <a:pPr algn="l">
              <a:spcAft>
                <a:spcPts val="400"/>
              </a:spcAft>
            </a:pPr>
            <a:r>
              <a:rPr sz="1100" b="0" i="1">
                <a:solidFill>
                  <a:srgbClr val="475569"/>
                </a:solidFill>
              </a:rPr>
              <a:t>Live camera path: landmarks on a real face, Normal</a:t>
            </a:r>
          </a:p>
        </p:txBody>
      </p:sp>
      <p:pic>
        <p:nvPicPr>
          <p:cNvPr id="28" name="Picture 27" descr="04_monitor_simulation_warning.png"/>
          <p:cNvPicPr>
            <a:picLocks noChangeAspect="1"/>
          </p:cNvPicPr>
          <p:nvPr/>
        </p:nvPicPr>
        <p:blipFill>
          <a:blip r:embed="rId1"/>
          <a:stretch>
            <a:fillRect/>
          </a:stretch>
        </p:blipFill>
        <p:spPr>
          <a:xfrm>
            <a:off x="4562855" y="1234440"/>
            <a:ext cx="3584448" cy="2240280"/>
          </a:xfrm>
          <a:prstGeom prst="rect">
            <a:avLst/>
          </a:prstGeom>
          <a:ln w="9525">
            <a:solidFill>
              <a:srgbClr val="D5DCE6"/>
            </a:solidFill>
          </a:ln>
        </p:spPr>
      </p:pic>
      <p:sp>
        <p:nvSpPr>
          <p:cNvPr id="29" name="TextBox 28"/>
          <p:cNvSpPr txBox="1"/>
          <p:nvPr/>
        </p:nvSpPr>
        <p:spPr>
          <a:xfrm>
            <a:off x="4480559" y="3502152"/>
            <a:ext cx="3749039" cy="320040"/>
          </a:xfrm>
          <a:prstGeom prst="rect">
            <a:avLst/>
          </a:prstGeom>
          <a:noFill/>
        </p:spPr>
        <p:txBody>
          <a:bodyPr wrap="square" lIns="0" rIns="0" tIns="0" bIns="0" anchor="t">
            <a:spAutoFit/>
          </a:bodyPr>
          <a:lstStyle/>
          <a:p>
            <a:pPr algn="l">
              <a:spcAft>
                <a:spcPts val="400"/>
              </a:spcAft>
            </a:pPr>
            <a:r>
              <a:rPr sz="1100" b="0" i="1">
                <a:solidFill>
                  <a:srgbClr val="475569"/>
                </a:solidFill>
              </a:rPr>
              <a:t>Scripted closure raises the warning, with its reason</a:t>
            </a:r>
          </a:p>
        </p:txBody>
      </p:sp>
      <p:pic>
        <p:nvPicPr>
          <p:cNvPr id="30" name="Picture 29" descr="08_history.png"/>
          <p:cNvPicPr>
            <a:picLocks noChangeAspect="1"/>
          </p:cNvPicPr>
          <p:nvPr/>
        </p:nvPicPr>
        <p:blipFill>
          <a:blip r:embed="rId5"/>
          <a:stretch>
            <a:fillRect/>
          </a:stretch>
        </p:blipFill>
        <p:spPr>
          <a:xfrm>
            <a:off x="630935" y="3886200"/>
            <a:ext cx="3584448" cy="2240280"/>
          </a:xfrm>
          <a:prstGeom prst="rect">
            <a:avLst/>
          </a:prstGeom>
          <a:ln w="9525">
            <a:solidFill>
              <a:srgbClr val="D5DCE6"/>
            </a:solidFill>
          </a:ln>
        </p:spPr>
      </p:pic>
      <p:sp>
        <p:nvSpPr>
          <p:cNvPr id="31" name="TextBox 30"/>
          <p:cNvSpPr txBox="1"/>
          <p:nvPr/>
        </p:nvSpPr>
        <p:spPr>
          <a:xfrm>
            <a:off x="548640" y="6153912"/>
            <a:ext cx="3749039" cy="320040"/>
          </a:xfrm>
          <a:prstGeom prst="rect">
            <a:avLst/>
          </a:prstGeom>
          <a:noFill/>
        </p:spPr>
        <p:txBody>
          <a:bodyPr wrap="square" lIns="0" rIns="0" tIns="0" bIns="0" anchor="t">
            <a:spAutoFit/>
          </a:bodyPr>
          <a:lstStyle/>
          <a:p>
            <a:pPr algn="l">
              <a:spcAft>
                <a:spcPts val="400"/>
              </a:spcAft>
            </a:pPr>
            <a:r>
              <a:rPr sz="1100" b="0" i="1">
                <a:solidFill>
                  <a:srgbClr val="475569"/>
                </a:solidFill>
              </a:rPr>
              <a:t>Event history: 34 events, EAR chart, CSV export</a:t>
            </a:r>
          </a:p>
        </p:txBody>
      </p:sp>
      <p:pic>
        <p:nvPicPr>
          <p:cNvPr id="32" name="Picture 31" descr="12_research_report.png"/>
          <p:cNvPicPr>
            <a:picLocks noChangeAspect="1"/>
          </p:cNvPicPr>
          <p:nvPr/>
        </p:nvPicPr>
        <p:blipFill>
          <a:blip r:embed="rId6"/>
          <a:stretch>
            <a:fillRect/>
          </a:stretch>
        </p:blipFill>
        <p:spPr>
          <a:xfrm>
            <a:off x="4562855" y="3886200"/>
            <a:ext cx="3584448" cy="2240280"/>
          </a:xfrm>
          <a:prstGeom prst="rect">
            <a:avLst/>
          </a:prstGeom>
          <a:ln w="9525">
            <a:solidFill>
              <a:srgbClr val="D5DCE6"/>
            </a:solidFill>
          </a:ln>
        </p:spPr>
      </p:pic>
      <p:sp>
        <p:nvSpPr>
          <p:cNvPr id="33" name="TextBox 32"/>
          <p:cNvSpPr txBox="1"/>
          <p:nvPr/>
        </p:nvSpPr>
        <p:spPr>
          <a:xfrm>
            <a:off x="4480559" y="6153912"/>
            <a:ext cx="3749039" cy="320040"/>
          </a:xfrm>
          <a:prstGeom prst="rect">
            <a:avLst/>
          </a:prstGeom>
          <a:noFill/>
        </p:spPr>
        <p:txBody>
          <a:bodyPr wrap="square" lIns="0" rIns="0" tIns="0" bIns="0" anchor="t">
            <a:spAutoFit/>
          </a:bodyPr>
          <a:lstStyle/>
          <a:p>
            <a:pPr algn="l">
              <a:spcAft>
                <a:spcPts val="400"/>
              </a:spcAft>
            </a:pPr>
            <a:r>
              <a:rPr sz="1100" b="0" i="1">
                <a:solidFill>
                  <a:srgbClr val="475569"/>
                </a:solidFill>
              </a:rPr>
              <a:t>Research report on SYNTHETIC data: not performance</a:t>
            </a:r>
          </a:p>
        </p:txBody>
      </p:sp>
      <p:sp>
        <p:nvSpPr>
          <p:cNvPr id="34" name="TextBox 33"/>
          <p:cNvSpPr txBox="1"/>
          <p:nvPr/>
        </p:nvSpPr>
        <p:spPr>
          <a:xfrm>
            <a:off x="8595360" y="1325880"/>
            <a:ext cx="3063240" cy="4846320"/>
          </a:xfrm>
          <a:prstGeom prst="rect">
            <a:avLst/>
          </a:prstGeom>
          <a:noFill/>
        </p:spPr>
        <p:txBody>
          <a:bodyPr wrap="square" lIns="0" rIns="0" tIns="0" bIns="0" anchor="t">
            <a:spAutoFit/>
          </a:bodyPr>
          <a:lstStyle/>
          <a:p>
            <a:pPr algn="l">
              <a:spcAft>
                <a:spcPts val="800"/>
              </a:spcAft>
            </a:pPr>
            <a:r>
              <a:rPr sz="1600" b="1" i="0">
                <a:solidFill>
                  <a:srgbClr val="0F172A"/>
                </a:solidFill>
              </a:rPr>
              <a:t>What to look at</a:t>
            </a:r>
          </a:p>
          <a:p>
            <a:pPr algn="l" marL="256032" indent="-201168">
              <a:spcAft>
                <a:spcPts val="700"/>
              </a:spcAft>
              <a:buChar char="•"/>
            </a:pPr>
            <a:r>
              <a:rPr sz="1600" b="0" i="0">
                <a:solidFill>
                  <a:srgbClr val="0F172A"/>
                </a:solidFill>
              </a:rPr>
              <a:t>Verdict and reason beside the preview; the measurements come straight from the rule engine.</a:t>
            </a:r>
          </a:p>
          <a:p>
            <a:pPr algn="l" marL="256032" indent="-201168">
              <a:spcAft>
                <a:spcPts val="700"/>
              </a:spcAft>
              <a:buChar char="•"/>
            </a:pPr>
            <a:r>
              <a:rPr sz="1600" b="0" i="0">
                <a:solidFill>
                  <a:srgbClr val="0F172A"/>
                </a:solidFill>
              </a:rPr>
              <a:t>SIMULATION labels on scripted runs: they are not model predictions.</a:t>
            </a:r>
          </a:p>
          <a:p>
            <a:pPr algn="l" marL="256032" indent="-201168">
              <a:spcAft>
                <a:spcPts val="700"/>
              </a:spcAft>
              <a:buChar char="•"/>
            </a:pPr>
            <a:r>
              <a:rPr sz="1600" b="0" i="0">
                <a:solidFill>
                  <a:srgbClr val="0F172A"/>
                </a:solidFill>
              </a:rPr>
              <a:t>The 100 % research metrics come from a generated file and say nothing about riders.</a:t>
            </a:r>
          </a:p>
          <a:p>
            <a:pPr algn="l" marL="256032" indent="-201168">
              <a:spcAft>
                <a:spcPts val="400"/>
              </a:spcAft>
              <a:buChar char="•"/>
            </a:pPr>
            <a:r>
              <a:rPr sz="1600" b="0" i="0">
                <a:solidFill>
                  <a:srgbClr val="0F172A"/>
                </a:solidFill>
              </a:rPr>
              <a:t>Every screen is a real capture of the running app.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Initial testing and observations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
        <p:nvSpPr>
          <p:cNvPr id="26" name="Rounded Rectangle 25"/>
          <p:cNvSpPr/>
          <p:nvPr/>
        </p:nvSpPr>
        <p:spPr>
          <a:xfrm>
            <a:off x="548640" y="1280160"/>
            <a:ext cx="2651760" cy="1188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8872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77440" cy="653796"/>
          </a:xfrm>
          <a:prstGeom prst="rect">
            <a:avLst/>
          </a:prstGeom>
          <a:noFill/>
        </p:spPr>
        <p:txBody>
          <a:bodyPr wrap="square" lIns="0" rIns="0" tIns="0" bIns="0" anchor="ctr">
            <a:spAutoFit/>
          </a:bodyPr>
          <a:lstStyle/>
          <a:p>
            <a:pPr algn="l">
              <a:spcAft>
                <a:spcPts val="400"/>
              </a:spcAft>
            </a:pPr>
            <a:r>
              <a:rPr sz="2600" b="1" i="0">
                <a:solidFill>
                  <a:srgbClr val="0F172A"/>
                </a:solidFill>
              </a:rPr>
              <a:t>20 / 20</a:t>
            </a:r>
          </a:p>
        </p:txBody>
      </p:sp>
      <p:sp>
        <p:nvSpPr>
          <p:cNvPr id="29" name="TextBox 28"/>
          <p:cNvSpPr txBox="1"/>
          <p:nvPr/>
        </p:nvSpPr>
        <p:spPr>
          <a:xfrm>
            <a:off x="749808" y="1969617"/>
            <a:ext cx="2377440" cy="451713"/>
          </a:xfrm>
          <a:prstGeom prst="rect">
            <a:avLst/>
          </a:prstGeom>
          <a:noFill/>
        </p:spPr>
        <p:txBody>
          <a:bodyPr wrap="square" lIns="0" rIns="0" tIns="0" bIns="0" anchor="t">
            <a:spAutoFit/>
          </a:bodyPr>
          <a:lstStyle/>
          <a:p>
            <a:pPr algn="l">
              <a:spcAft>
                <a:spcPts val="400"/>
              </a:spcAft>
            </a:pPr>
            <a:r>
              <a:rPr sz="1100" b="0" i="0">
                <a:solidFill>
                  <a:srgbClr val="475569"/>
                </a:solidFill>
              </a:rPr>
              <a:t>unit tests passed</a:t>
            </a:r>
          </a:p>
        </p:txBody>
      </p:sp>
      <p:sp>
        <p:nvSpPr>
          <p:cNvPr id="30" name="Rounded Rectangle 29"/>
          <p:cNvSpPr/>
          <p:nvPr/>
        </p:nvSpPr>
        <p:spPr>
          <a:xfrm>
            <a:off x="3383280" y="1280160"/>
            <a:ext cx="2651760" cy="1188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83280" y="1280160"/>
            <a:ext cx="73152" cy="1188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84448" y="1371600"/>
            <a:ext cx="2377440" cy="653796"/>
          </a:xfrm>
          <a:prstGeom prst="rect">
            <a:avLst/>
          </a:prstGeom>
          <a:noFill/>
        </p:spPr>
        <p:txBody>
          <a:bodyPr wrap="square" lIns="0" rIns="0" tIns="0" bIns="0" anchor="ctr">
            <a:spAutoFit/>
          </a:bodyPr>
          <a:lstStyle/>
          <a:p>
            <a:pPr algn="l">
              <a:spcAft>
                <a:spcPts val="400"/>
              </a:spcAft>
            </a:pPr>
            <a:r>
              <a:rPr sz="2600" b="1" i="0">
                <a:solidFill>
                  <a:srgbClr val="0F172A"/>
                </a:solidFill>
              </a:rPr>
              <a:t>34 / 34</a:t>
            </a:r>
          </a:p>
        </p:txBody>
      </p:sp>
      <p:sp>
        <p:nvSpPr>
          <p:cNvPr id="33" name="TextBox 32"/>
          <p:cNvSpPr txBox="1"/>
          <p:nvPr/>
        </p:nvSpPr>
        <p:spPr>
          <a:xfrm>
            <a:off x="3584448" y="1969617"/>
            <a:ext cx="2377440" cy="451713"/>
          </a:xfrm>
          <a:prstGeom prst="rect">
            <a:avLst/>
          </a:prstGeom>
          <a:noFill/>
        </p:spPr>
        <p:txBody>
          <a:bodyPr wrap="square" lIns="0" rIns="0" tIns="0" bIns="0" anchor="t">
            <a:spAutoFit/>
          </a:bodyPr>
          <a:lstStyle/>
          <a:p>
            <a:pPr algn="l">
              <a:spcAft>
                <a:spcPts val="400"/>
              </a:spcAft>
            </a:pPr>
            <a:r>
              <a:rPr sz="1100" b="0" i="0">
                <a:solidFill>
                  <a:srgbClr val="475569"/>
                </a:solidFill>
              </a:rPr>
              <a:t>API smoke checks passed</a:t>
            </a:r>
          </a:p>
        </p:txBody>
      </p:sp>
      <p:sp>
        <p:nvSpPr>
          <p:cNvPr id="34" name="Rounded Rectangle 33"/>
          <p:cNvSpPr/>
          <p:nvPr/>
        </p:nvSpPr>
        <p:spPr>
          <a:xfrm>
            <a:off x="6217920" y="1280160"/>
            <a:ext cx="2651760" cy="1188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217920" y="1280160"/>
            <a:ext cx="73152" cy="11887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19088" y="1371600"/>
            <a:ext cx="2377440" cy="653796"/>
          </a:xfrm>
          <a:prstGeom prst="rect">
            <a:avLst/>
          </a:prstGeom>
          <a:noFill/>
        </p:spPr>
        <p:txBody>
          <a:bodyPr wrap="square" lIns="0" rIns="0" tIns="0" bIns="0" anchor="ctr">
            <a:spAutoFit/>
          </a:bodyPr>
          <a:lstStyle/>
          <a:p>
            <a:pPr algn="l">
              <a:spcAft>
                <a:spcPts val="400"/>
              </a:spcAft>
            </a:pPr>
            <a:r>
              <a:rPr sz="2600" b="1" i="0">
                <a:solidFill>
                  <a:srgbClr val="0F172A"/>
                </a:solidFill>
              </a:rPr>
              <a:t>0 / 300</a:t>
            </a:r>
          </a:p>
        </p:txBody>
      </p:sp>
      <p:sp>
        <p:nvSpPr>
          <p:cNvPr id="37" name="TextBox 36"/>
          <p:cNvSpPr txBox="1"/>
          <p:nvPr/>
        </p:nvSpPr>
        <p:spPr>
          <a:xfrm>
            <a:off x="6419088" y="1969617"/>
            <a:ext cx="2377440" cy="451713"/>
          </a:xfrm>
          <a:prstGeom prst="rect">
            <a:avLst/>
          </a:prstGeom>
          <a:noFill/>
        </p:spPr>
        <p:txBody>
          <a:bodyPr wrap="square" lIns="0" rIns="0" tIns="0" bIns="0" anchor="t">
            <a:spAutoFit/>
          </a:bodyPr>
          <a:lstStyle/>
          <a:p>
            <a:pPr algn="l">
              <a:spcAft>
                <a:spcPts val="400"/>
              </a:spcAft>
            </a:pPr>
            <a:r>
              <a:rPr sz="1100" b="0" i="0">
                <a:solidFill>
                  <a:srgbClr val="475569"/>
                </a:solidFill>
              </a:rPr>
              <a:t>scripted sessions with a false warning at normal blink rates</a:t>
            </a:r>
          </a:p>
        </p:txBody>
      </p:sp>
      <p:sp>
        <p:nvSpPr>
          <p:cNvPr id="38" name="Rounded Rectangle 37"/>
          <p:cNvSpPr/>
          <p:nvPr/>
        </p:nvSpPr>
        <p:spPr>
          <a:xfrm>
            <a:off x="9052560" y="1280160"/>
            <a:ext cx="2651760" cy="1188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52560" y="1280160"/>
            <a:ext cx="73152" cy="118872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53728" y="1371600"/>
            <a:ext cx="2377440" cy="653796"/>
          </a:xfrm>
          <a:prstGeom prst="rect">
            <a:avLst/>
          </a:prstGeom>
          <a:noFill/>
        </p:spPr>
        <p:txBody>
          <a:bodyPr wrap="square" lIns="0" rIns="0" tIns="0" bIns="0" anchor="ctr">
            <a:spAutoFit/>
          </a:bodyPr>
          <a:lstStyle/>
          <a:p>
            <a:pPr algn="l">
              <a:spcAft>
                <a:spcPts val="400"/>
              </a:spcAft>
            </a:pPr>
            <a:r>
              <a:rPr sz="2600" b="1" i="0">
                <a:solidFill>
                  <a:srgbClr val="0F172A"/>
                </a:solidFill>
              </a:rPr>
              <a:t>48 ms</a:t>
            </a:r>
          </a:p>
        </p:txBody>
      </p:sp>
      <p:sp>
        <p:nvSpPr>
          <p:cNvPr id="41" name="TextBox 40"/>
          <p:cNvSpPr txBox="1"/>
          <p:nvPr/>
        </p:nvSpPr>
        <p:spPr>
          <a:xfrm>
            <a:off x="9253728" y="1969617"/>
            <a:ext cx="2377440" cy="451713"/>
          </a:xfrm>
          <a:prstGeom prst="rect">
            <a:avLst/>
          </a:prstGeom>
          <a:noFill/>
        </p:spPr>
        <p:txBody>
          <a:bodyPr wrap="square" lIns="0" rIns="0" tIns="0" bIns="0" anchor="t">
            <a:spAutoFit/>
          </a:bodyPr>
          <a:lstStyle/>
          <a:p>
            <a:pPr algn="l">
              <a:spcAft>
                <a:spcPts val="400"/>
              </a:spcAft>
            </a:pPr>
            <a:r>
              <a:rPr sz="1100" b="0" i="0">
                <a:solidFill>
                  <a:srgbClr val="475569"/>
                </a:solidFill>
              </a:rPr>
              <a:t>95th percentile frame latency</a:t>
            </a:r>
          </a:p>
        </p:txBody>
      </p:sp>
      <p:graphicFrame>
        <p:nvGraphicFramePr>
          <p:cNvPr id="42" name="Table 41"/>
          <p:cNvGraphicFramePr>
            <a:graphicFrameLocks noGrp="1"/>
          </p:cNvGraphicFramePr>
          <p:nvPr/>
        </p:nvGraphicFramePr>
        <p:xfrm>
          <a:off x="548640" y="2743200"/>
          <a:ext cx="11091672" cy="3291840"/>
        </p:xfrm>
        <a:graphic>
          <a:graphicData uri="http://schemas.openxmlformats.org/drawingml/2006/table">
            <a:tbl>
              <a:tblPr firstRow="0" bandRow="0">
                <a:tableStyleId>{5C22544A-7EE6-4342-B048-85BDC9FD1C3A}</a:tableStyleId>
              </a:tblPr>
              <a:tblGrid>
                <a:gridCol w="5120640"/>
                <a:gridCol w="5971032"/>
              </a:tblGrid>
              <a:tr h="658368">
                <a:tc>
                  <a:txBody>
                    <a:bodyPr wrap="square"/>
                    <a:lstStyle/>
                    <a:p>
                      <a:pPr algn="ctr"/>
                      <a:r>
                        <a:rPr sz="1400" b="1">
                          <a:solidFill>
                            <a:srgbClr val="FFFFFF"/>
                          </a:solidFill>
                        </a:rPr>
                        <a:t>Observation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58368">
                <a:tc>
                  <a:txBody>
                    <a:bodyPr wrap="square"/>
                    <a:lstStyle/>
                    <a:p>
                      <a:pPr algn="l"/>
                      <a:r>
                        <a:rPr sz="1400" b="0">
                          <a:solidFill>
                            <a:srgbClr val="0F172A"/>
                          </a:solidFill>
                        </a:rPr>
                        <a:t>Halving the brightness blocks assessment: gates are strict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Reported as a limitation; fails safe to Unable to assess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400" b="0">
                          <a:solidFill>
                            <a:srgbClr val="0F172A"/>
                          </a:solidFill>
                        </a:rPr>
                        <a:t>Default 0.21 calls 14.5% of open CEW eyes closed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Per-rider calibration; threshold sweep documented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400" b="0">
                          <a:solidFill>
                            <a:srgbClr val="0F172A"/>
                          </a:solidFill>
                        </a:rPr>
                        <a:t>Only 44 % of 100 px CEW images pass the sharpness gate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Reported; webcam frames are the intended input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400" b="0">
                          <a:solidFill>
                            <a:srgbClr val="0F172A"/>
                          </a:solidFill>
                        </a:rPr>
                        <a:t>Closure + persistence above 3 s misses a 3 s closure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Parameter trade-off measured and documented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Challenges and corrective actions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graphicFrame>
        <p:nvGraphicFramePr>
          <p:cNvPr id="26" name="Table 25"/>
          <p:cNvGraphicFramePr>
            <a:graphicFrameLocks noGrp="1"/>
          </p:cNvGraphicFramePr>
          <p:nvPr/>
        </p:nvGraphicFramePr>
        <p:xfrm>
          <a:off x="548640" y="1371600"/>
          <a:ext cx="11091672" cy="4608576"/>
        </p:xfrm>
        <a:graphic>
          <a:graphicData uri="http://schemas.openxmlformats.org/drawingml/2006/table">
            <a:tbl>
              <a:tblPr firstRow="0" bandRow="0">
                <a:tableStyleId>{5C22544A-7EE6-4342-B048-85BDC9FD1C3A}</a:tableStyleId>
              </a:tblPr>
              <a:tblGrid>
                <a:gridCol w="5303520"/>
                <a:gridCol w="5788152"/>
              </a:tblGrid>
              <a:tr h="658368">
                <a:tc>
                  <a:txBody>
                    <a:bodyPr wrap="square"/>
                    <a:lstStyle/>
                    <a:p>
                      <a:pPr algn="ctr"/>
                      <a:r>
                        <a:rPr sz="1400" b="1">
                          <a:solidFill>
                            <a:srgbClr val="FFFFFF"/>
                          </a:solidFill>
                        </a:rPr>
                        <a:t>Challenge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Corrective 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58368">
                <a:tc>
                  <a:txBody>
                    <a:bodyPr wrap="square"/>
                    <a:lstStyle/>
                    <a:p>
                      <a:pPr algn="l"/>
                      <a:r>
                        <a:rPr sz="1400" b="0">
                          <a:solidFill>
                            <a:srgbClr val="0F172A"/>
                          </a:solidFill>
                        </a:rPr>
                        <a:t>No labelled intoxication data exists for this project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Explainable rules; offline pipeline kept for future consented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400" b="0">
                          <a:solidFill>
                            <a:srgbClr val="0F172A"/>
                          </a:solidFill>
                        </a:rPr>
                        <a:t>The batch title promises alcohol detection; a camera cannot confirm 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Output says possible impairment or drowsiness, never alcohol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400" b="0">
                          <a:solidFill>
                            <a:srgbClr val="0F172A"/>
                          </a:solidFill>
                        </a:rPr>
                        <a:t>Browser webcam needs localhost or https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Frames sent from the browser; MediaPipe runs on the server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400" b="0">
                          <a:solidFill>
                            <a:srgbClr val="0F172A"/>
                          </a:solidFill>
                        </a:rPr>
                        <a:t>Shipped virtual environment pointed at a missing Python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run.bat rebuilds it and downloads the 3.7 MB landmark model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400" b="0">
                          <a:solidFill>
                            <a:srgbClr val="0F172A"/>
                          </a:solidFill>
                        </a:rPr>
                        <a:t>Unrelated stills in MediaPipe video mode vary by about 2 points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Stated as a measurement caveat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400" b="0">
                          <a:solidFill>
                            <a:srgbClr val="0F172A"/>
                          </a:solidFill>
                        </a:rPr>
                        <a:t>The API sustains about 30 frames/s but the browser sends about 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Both figures reported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Next steps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
        <p:nvSpPr>
          <p:cNvPr id="26" name="Rounded Rectangle 25"/>
          <p:cNvSpPr/>
          <p:nvPr/>
        </p:nvSpPr>
        <p:spPr>
          <a:xfrm>
            <a:off x="548640" y="1371600"/>
            <a:ext cx="2651760"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1645919" cy="548640"/>
          </a:xfrm>
          <a:prstGeom prst="rect">
            <a:avLst/>
          </a:prstGeom>
          <a:noFill/>
        </p:spPr>
        <p:txBody>
          <a:bodyPr wrap="square" lIns="0" rIns="0" tIns="0" bIns="0" anchor="ctr">
            <a:spAutoFit/>
          </a:bodyPr>
          <a:lstStyle/>
          <a:p>
            <a:pPr algn="l">
              <a:spcAft>
                <a:spcPts val="400"/>
              </a:spcAft>
            </a:pPr>
            <a:r>
              <a:rPr sz="1600" b="1" i="0">
                <a:solidFill>
                  <a:srgbClr val="0F172A"/>
                </a:solidFill>
              </a:rPr>
              <a:t>Document</a:t>
            </a:r>
          </a:p>
        </p:txBody>
      </p:sp>
      <p:sp>
        <p:nvSpPr>
          <p:cNvPr id="29" name="TextBox 28"/>
          <p:cNvSpPr txBox="1"/>
          <p:nvPr/>
        </p:nvSpPr>
        <p:spPr>
          <a:xfrm>
            <a:off x="749808" y="2240280"/>
            <a:ext cx="2249424" cy="2286000"/>
          </a:xfrm>
          <a:prstGeom prst="rect">
            <a:avLst/>
          </a:prstGeom>
          <a:noFill/>
        </p:spPr>
        <p:txBody>
          <a:bodyPr wrap="square" lIns="0" rIns="0" tIns="0" bIns="0" anchor="t">
            <a:spAutoFit/>
          </a:bodyPr>
          <a:lstStyle/>
          <a:p>
            <a:pPr algn="l">
              <a:spcAft>
                <a:spcPts val="400"/>
              </a:spcAft>
            </a:pPr>
            <a:r>
              <a:rPr sz="1600" b="0" i="0">
                <a:solidFill>
                  <a:srgbClr val="475569"/>
                </a:solidFill>
              </a:rPr>
              <a:t>Final report, paper and deck, every number regenerated from the metrics files.</a:t>
            </a:r>
          </a:p>
        </p:txBody>
      </p:sp>
      <p:sp>
        <p:nvSpPr>
          <p:cNvPr id="30" name="Rounded Rectangle 29"/>
          <p:cNvSpPr/>
          <p:nvPr/>
        </p:nvSpPr>
        <p:spPr>
          <a:xfrm>
            <a:off x="3383280" y="1371600"/>
            <a:ext cx="2651760"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84448"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24528" y="1527048"/>
            <a:ext cx="1645919" cy="548640"/>
          </a:xfrm>
          <a:prstGeom prst="rect">
            <a:avLst/>
          </a:prstGeom>
          <a:noFill/>
        </p:spPr>
        <p:txBody>
          <a:bodyPr wrap="square" lIns="0" rIns="0" tIns="0" bIns="0" anchor="ctr">
            <a:spAutoFit/>
          </a:bodyPr>
          <a:lstStyle/>
          <a:p>
            <a:pPr algn="l">
              <a:spcAft>
                <a:spcPts val="400"/>
              </a:spcAft>
            </a:pPr>
            <a:r>
              <a:rPr sz="1600" b="1" i="0">
                <a:solidFill>
                  <a:srgbClr val="0F172A"/>
                </a:solidFill>
              </a:rPr>
              <a:t>Tune</a:t>
            </a:r>
          </a:p>
        </p:txBody>
      </p:sp>
      <p:sp>
        <p:nvSpPr>
          <p:cNvPr id="33" name="TextBox 32"/>
          <p:cNvSpPr txBox="1"/>
          <p:nvPr/>
        </p:nvSpPr>
        <p:spPr>
          <a:xfrm>
            <a:off x="3584448" y="2240280"/>
            <a:ext cx="2249424" cy="2286000"/>
          </a:xfrm>
          <a:prstGeom prst="rect">
            <a:avLst/>
          </a:prstGeom>
          <a:noFill/>
        </p:spPr>
        <p:txBody>
          <a:bodyPr wrap="square" lIns="0" rIns="0" tIns="0" bIns="0" anchor="t">
            <a:spAutoFit/>
          </a:bodyPr>
          <a:lstStyle/>
          <a:p>
            <a:pPr algn="l">
              <a:spcAft>
                <a:spcPts val="400"/>
              </a:spcAft>
            </a:pPr>
            <a:r>
              <a:rPr sz="1600" b="0" i="0">
                <a:solidFill>
                  <a:srgbClr val="475569"/>
                </a:solidFill>
              </a:rPr>
              <a:t>Choose thresholds on training-only subjects; the CEW sweep points to 0.17-0.18.</a:t>
            </a:r>
          </a:p>
        </p:txBody>
      </p:sp>
      <p:sp>
        <p:nvSpPr>
          <p:cNvPr id="34" name="Rounded Rectangle 33"/>
          <p:cNvSpPr/>
          <p:nvPr/>
        </p:nvSpPr>
        <p:spPr>
          <a:xfrm>
            <a:off x="6217920" y="1371600"/>
            <a:ext cx="2651760"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1908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59168" y="1527048"/>
            <a:ext cx="1645919" cy="548640"/>
          </a:xfrm>
          <a:prstGeom prst="rect">
            <a:avLst/>
          </a:prstGeom>
          <a:noFill/>
        </p:spPr>
        <p:txBody>
          <a:bodyPr wrap="square" lIns="0" rIns="0" tIns="0" bIns="0" anchor="ctr">
            <a:spAutoFit/>
          </a:bodyPr>
          <a:lstStyle/>
          <a:p>
            <a:pPr algn="l">
              <a:spcAft>
                <a:spcPts val="400"/>
              </a:spcAft>
            </a:pPr>
            <a:r>
              <a:rPr sz="1600" b="1" i="0">
                <a:solidFill>
                  <a:srgbClr val="0F172A"/>
                </a:solidFill>
              </a:rPr>
              <a:t>Collect data</a:t>
            </a:r>
          </a:p>
        </p:txBody>
      </p:sp>
      <p:sp>
        <p:nvSpPr>
          <p:cNvPr id="37" name="TextBox 36"/>
          <p:cNvSpPr txBox="1"/>
          <p:nvPr/>
        </p:nvSpPr>
        <p:spPr>
          <a:xfrm>
            <a:off x="6419088" y="2240280"/>
            <a:ext cx="2249424" cy="2286000"/>
          </a:xfrm>
          <a:prstGeom prst="rect">
            <a:avLst/>
          </a:prstGeom>
          <a:noFill/>
        </p:spPr>
        <p:txBody>
          <a:bodyPr wrap="square" lIns="0" rIns="0" tIns="0" bIns="0" anchor="t">
            <a:spAutoFit/>
          </a:bodyPr>
          <a:lstStyle/>
          <a:p>
            <a:pPr algn="l">
              <a:spcAft>
                <a:spcPts val="400"/>
              </a:spcAft>
            </a:pPr>
            <a:r>
              <a:rPr sz="1600" b="0" i="0">
                <a:solidFill>
                  <a:srgbClr val="475569"/>
                </a:solidFill>
              </a:rPr>
              <a:t>If a consented labelled sober / intoxicated dataset is obtained, run the subject-disjoint offline pipeline.</a:t>
            </a:r>
          </a:p>
        </p:txBody>
      </p:sp>
      <p:sp>
        <p:nvSpPr>
          <p:cNvPr id="38" name="Rounded Rectangle 37"/>
          <p:cNvSpPr/>
          <p:nvPr/>
        </p:nvSpPr>
        <p:spPr>
          <a:xfrm>
            <a:off x="9052560" y="1371600"/>
            <a:ext cx="2651760"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253728" y="155448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93808" y="1527048"/>
            <a:ext cx="1645919" cy="548640"/>
          </a:xfrm>
          <a:prstGeom prst="rect">
            <a:avLst/>
          </a:prstGeom>
          <a:noFill/>
        </p:spPr>
        <p:txBody>
          <a:bodyPr wrap="square" lIns="0" rIns="0" tIns="0" bIns="0" anchor="ctr">
            <a:spAutoFit/>
          </a:bodyPr>
          <a:lstStyle/>
          <a:p>
            <a:pPr algn="l">
              <a:spcAft>
                <a:spcPts val="400"/>
              </a:spcAft>
            </a:pPr>
            <a:r>
              <a:rPr sz="1600" b="1" i="0">
                <a:solidFill>
                  <a:srgbClr val="0F172A"/>
                </a:solidFill>
              </a:rPr>
              <a:t>Extend (future)</a:t>
            </a:r>
          </a:p>
        </p:txBody>
      </p:sp>
      <p:sp>
        <p:nvSpPr>
          <p:cNvPr id="41" name="TextBox 40"/>
          <p:cNvSpPr txBox="1"/>
          <p:nvPr/>
        </p:nvSpPr>
        <p:spPr>
          <a:xfrm>
            <a:off x="9253728" y="2240280"/>
            <a:ext cx="2249424" cy="2286000"/>
          </a:xfrm>
          <a:prstGeom prst="rect">
            <a:avLst/>
          </a:prstGeom>
          <a:noFill/>
        </p:spPr>
        <p:txBody>
          <a:bodyPr wrap="square" lIns="0" rIns="0" tIns="0" bIns="0" anchor="t">
            <a:spAutoFit/>
          </a:bodyPr>
          <a:lstStyle/>
          <a:p>
            <a:pPr algn="l">
              <a:spcAft>
                <a:spcPts val="400"/>
              </a:spcAft>
            </a:pPr>
            <a:r>
              <a:rPr sz="1600" b="0" i="0">
                <a:solidFill>
                  <a:srgbClr val="475569"/>
                </a:solidFill>
              </a:rPr>
              <a:t>Gaze features, helmet and visor robustness, vehicle integration for a prevention action, embedded deployment.</a:t>
            </a:r>
          </a:p>
        </p:txBody>
      </p:sp>
      <p:sp>
        <p:nvSpPr>
          <p:cNvPr id="42" name="Rounded Rectangle 41"/>
          <p:cNvSpPr/>
          <p:nvPr/>
        </p:nvSpPr>
        <p:spPr>
          <a:xfrm>
            <a:off x="548640" y="4937760"/>
            <a:ext cx="11091672" cy="1188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4983480"/>
            <a:ext cx="10607040" cy="1097280"/>
          </a:xfrm>
          <a:prstGeom prst="rect">
            <a:avLst/>
          </a:prstGeom>
          <a:noFill/>
        </p:spPr>
        <p:txBody>
          <a:bodyPr wrap="square" lIns="0" rIns="0" tIns="0" bIns="0" anchor="ctr">
            <a:spAutoFit/>
          </a:bodyPr>
          <a:lstStyle/>
          <a:p>
            <a:pPr algn="l">
              <a:spcAft>
                <a:spcPts val="400"/>
              </a:spcAft>
            </a:pPr>
            <a:r>
              <a:rPr sz="1700" b="1" i="0">
                <a:solidFill>
                  <a:srgbClr val="0F172A"/>
                </a:solidFill>
              </a:rPr>
              <a:t>Until a labelled intoxication dataset exists, Smart Rider stays a possible-impairment or drowsiness warning, not an alcohol test.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SmartRider">
  <a:themeElements>
    <a:clrScheme name="SmartRider">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SmartRid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martRide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Alcohol Intoxication Detection and Prevention System Using AI: Review 2</dc:title>
  <dc:subject>Batch A6 (CSE-A)</dc:subject>
  <dc:creator>B PRANITHA, BANTU KAVYA, DASARI VIVEKA SARVESHWARI, BEKKAM VAMSHI</dc:creator>
  <cp:lastModifiedBy/>
  <cp:revision>1</cp:revision>
  <dcterms:created xsi:type="dcterms:W3CDTF">2026-10-13T12:40:05Z</dcterms:created>
  <dcterms:modified xsi:type="dcterms:W3CDTF">2026-10-13T12:40:05Z</dcterms:modified>
  <cp:keywords>eye aspect ratio, driver monitoring, MediaPipe, explainable rules, FastAPI, React</cp:keywords>
  <dc:description/>
</cp:coreProperties>
</file>