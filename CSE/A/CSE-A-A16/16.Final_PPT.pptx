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-1-1.jpg" ContentType="image/jpg"/>
  <Override PartName="/ppt/media/image-10-1.jpg" ContentType="image/jpg"/>
  <Override PartName="/ppt/media/image-11-1.jpg" ContentType="image/jpg"/>
  <Override PartName="/ppt/media/image-12-1.jpg" ContentType="image/jpg"/>
  <Override PartName="/ppt/media/image-13-1.jpg" ContentType="image/jpg"/>
  <Override PartName="/ppt/media/image-14-1.jpg" ContentType="image/jpg"/>
  <Override PartName="/ppt/media/image-15-1.jpg" ContentType="image/jpg"/>
  <Override PartName="/ppt/media/image-16-1.jpg" ContentType="image/jpg"/>
  <Override PartName="/ppt/media/image-17-1.jpg" ContentType="image/jpg"/>
  <Override PartName="/ppt/media/image-18-1.jpg" ContentType="image/jpg"/>
  <Override PartName="/ppt/media/image-19-1.jpg" ContentType="image/jpg"/>
  <Override PartName="/ppt/media/image-2-1.jpg" ContentType="image/jpg"/>
  <Override PartName="/ppt/media/image-20-1.jpg" ContentType="image/jpg"/>
  <Override PartName="/ppt/media/image-21-1.jpg" ContentType="image/jpg"/>
  <Override PartName="/ppt/media/image-22-1.jpg" ContentType="image/jpg"/>
  <Override PartName="/ppt/media/image-23-1.jpg" ContentType="image/jpg"/>
  <Override PartName="/ppt/media/image-24-1.jpg" ContentType="image/jpg"/>
  <Override PartName="/ppt/media/image-25-1.jpg" ContentType="image/jpg"/>
  <Override PartName="/ppt/media/image-26-1.jpg" ContentType="image/jpg"/>
  <Override PartName="/ppt/media/image-27-1.jpg" ContentType="image/jpg"/>
  <Override PartName="/ppt/media/image-28-1.jpg" ContentType="image/jpg"/>
  <Override PartName="/ppt/media/image-3-1.jpg" ContentType="image/jpg"/>
  <Override PartName="/ppt/media/image-4-1.jpg" ContentType="image/jpg"/>
  <Override PartName="/ppt/media/image-5-1.jpg" ContentType="image/jpg"/>
  <Override PartName="/ppt/media/image-6-1.jpg" ContentType="image/jpg"/>
  <Override PartName="/ppt/media/image-7-1.jpg" ContentType="image/jpg"/>
  <Override PartName="/ppt/media/image-8-1.jpg" ContentType="image/jpg"/>
  <Override PartName="/ppt/media/image-9-1.jpg" ContentType="image/jpg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notesMasterIdLst>
    <p:notesMasterId r:id="rId3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Introduce the team and the project: SignSpeak, a CNN-based recogniser for the ASL alphabet with a complete web application.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agenda follows the report: problem, design, method, results, comparison, screens, conclusion.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Read the first two bullets, then give the headline number with its protocol (held-out split). End on the honest limits.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 skeleton and distillation method for video word signs on an edge device. We share the goal of accessible real-time recognition but not the method or the task.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Representative work. Where a work's figures were not checked they are not quoted. Four further 2024-2025 papers named in the project survey are in the report's reference list with that caveat.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Five gaps. We address the first three directly, measure the fourth, and state the fifth as not done.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statement has three parts: recognise, speak, and keep an inspectable record.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six objectives of the proposal. The conclusion reports for each whether it was met; objectives 1 (words) and 6 (unseen signers) were not fully met.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proposed system in one line of boxes, then four properties that matter.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Three tiers plus storage; the domain code is shared by the desktop and web interfaces.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Workflow and measurements. The test accuracy was independently reproduced from the saved model and the same seed.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Dataset, input and model in one view. The training curves show validation above training accuracy because dropout and augmentation act only in training.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decision rules in SignRecognizer.predict_frame. The threshold behaviour is analysed on slide 19.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Sequence of one recognition request and the use cases of the signer and the operator.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Honest point: the project stores files, not rows.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Highlights: the capture loop, validation, background training and reuse of the original code.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Headline 82.81 %. The weakest letters are Y, V, X, W, E, U: hand shapes that differ by a finger or an angle. The 87.24 % figure is not used as the headline.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Rows are the true letter, columns the prediction. Errors concentrate on letters whose hand shapes differ by a finger position.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Raising the confidence threshold trades coverage for accuracy. At 0.75, seven in ten frames are used and 97 % of them are right. Rotation is the weak spot.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CNN call dominates the 53 ms server time. Latency was measured on an otherwise idle desktop; the live loop is limited to about 17-19 fps.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State plainly that the tasks differ: video word signs versus static letters. Even the accuracy numbers measure different things.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Real screenshots. The recognition clip was assembled from real held-out photos because the build machine had no physical webcam.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Training runs in the background with live curves; the model screen shows true per-class results.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Dashboard with real counts and the phone-width layout.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Be explicit about which objectives were met and which were not.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Concrete next steps, ordered by value.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Selected references; the complete numbered list is in the report.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Invite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-1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-13-1.jpg"/><Relationship Id="rId2" Type="http://schemas.openxmlformats.org/officeDocument/2006/relationships/image" Target="../media/image4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image-14-1.jpg"/><Relationship Id="rId2" Type="http://schemas.openxmlformats.org/officeDocument/2006/relationships/image" Target="../media/image5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Relationship Id="rId5" Type="http://schemas.openxmlformats.org/officeDocument/2006/relationships/image" Target="../media/image6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image-15-1.jpg"/><Relationship Id="rId2" Type="http://schemas.openxmlformats.org/officeDocument/2006/relationships/image" Target="../media/image7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image" Target="../media/image-1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image" Target="../media/image-1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Relationship Id="rId4" Type="http://schemas.openxmlformats.org/officeDocument/2006/relationships/image" Target="../media/image8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image" Target="../media/image-18-1.jpg"/><Relationship Id="rId2" Type="http://schemas.openxmlformats.org/officeDocument/2006/relationships/image" Target="../media/image10.png"/><Relationship Id="rId3" Type="http://schemas.openxmlformats.org/officeDocument/2006/relationships/image" Target="../media/image9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image" Target="../media/image-19-1.jpg"/><Relationship Id="rId2" Type="http://schemas.openxmlformats.org/officeDocument/2006/relationships/image" Target="../media/image12.png"/><Relationship Id="rId3" Type="http://schemas.openxmlformats.org/officeDocument/2006/relationships/image" Target="../media/image1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image" Target="../media/image-2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image" Target="../media/image-2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2-1.jpg"/><Relationship Id="rId2" Type="http://schemas.openxmlformats.org/officeDocument/2006/relationships/image" Target="../media/image14.png"/><Relationship Id="rId3" Type="http://schemas.openxmlformats.org/officeDocument/2006/relationships/image" Target="../media/image1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image" Target="../media/image-23-1.jpg"/><Relationship Id="rId2" Type="http://schemas.openxmlformats.org/officeDocument/2006/relationships/image" Target="../media/image16.png"/><Relationship Id="rId3" Type="http://schemas.openxmlformats.org/officeDocument/2006/relationships/image" Target="../media/image15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image" Target="../media/image-24-1.jpg"/><Relationship Id="rId2" Type="http://schemas.openxmlformats.org/officeDocument/2006/relationships/image" Target="../media/image18.png"/><Relationship Id="rId3" Type="http://schemas.openxmlformats.org/officeDocument/2006/relationships/image" Target="../media/image17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4.xml"/><Relationship Id="rId6" Type="http://schemas.openxmlformats.org/officeDocument/2006/relationships/image" Target="../media/image19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image" Target="../media/image-2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image" Target="../media/image-2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image" Target="../media/image-2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image" Target="../media/image-2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548640" y="1373177"/>
            <a:ext cx="11064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Language Recognition System Based on Convolutional Neural Networks (CNNs)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548640" y="2379017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Review  ·  SignSpeak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731520" y="3110537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Details : Batch A16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731520" y="3522017"/>
            <a:ext cx="54864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24K95A0502   AJAY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23K91A0514   A NAVADEEP REDDDY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23K91A0540   B MANIDEEP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23K91A0536   B MAHESHWARI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6675120" y="3110537"/>
            <a:ext cx="49377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Esteemed Guidance of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V. PALLAVI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[DESIGNATION], Department of CSE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548640" y="603504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COMPUTER SCIENCE AND ENGINEERING  ·  TKR College of Engineering &amp; Technology  ·  Academic Year [ACADEMIC YEAR]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of Contents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A16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48640" y="1738937"/>
            <a:ext cx="11064240" cy="452470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Paper &amp; Literature Survey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Gap, Problem Statement &amp; Objectives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System &amp; Architecture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Methodology, Dataset &amp; Model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Workflow, Interaction &amp; Storage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Highlights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Results, Confusion Matrix &amp; Threshold Analysis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&amp; Testing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 with Base Paper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Screens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Conclusion, Future Scope &amp; References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A16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7" name="TextBox 6"/>
          <p:cNvSpPr txBox="1"/>
          <p:nvPr/>
        </p:nvSpPr>
        <p:spPr>
          <a:xfrm>
            <a:off x="502920" y="1737360"/>
            <a:ext cx="11155680" cy="4480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56032" indent="-201168">
              <a:spcAft>
                <a:spcPts val="1000"/>
              </a:spcAft>
              <a:buChar char="•"/>
            </a:pPr>
            <a:r>
              <a:rPr sz="18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Sign language is the main way many deaf and hard-of-hearing people communicate, but few hearing people understand it, and interpreters are scarce.</a:t>
            </a:r>
          </a:p>
          <a:p>
            <a:pPr algn="l" marL="256032" indent="-201168">
              <a:spcAft>
                <a:spcPts val="1000"/>
              </a:spcAft>
              <a:buChar char="•"/>
            </a:pPr>
            <a:r>
              <a:rPr sz="18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SignSpeak recognises the ASL alphabet from a webcam: the hand region is cropped, segmented (grayscale, blur, Otsu), resized to 64 x 64 and classified by a CNN into 29 classes; recognised letters build a sentence that is shown and spoken.</a:t>
            </a:r>
          </a:p>
          <a:p>
            <a:pPr algn="l" marL="256032" indent="-201168">
              <a:spcAft>
                <a:spcPts val="1000"/>
              </a:spcAft>
              <a:buChar char="•"/>
            </a:pPr>
            <a:r>
              <a:rPr sz="18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The CNN (2,199,453 parameters, CPU-trained on 7,250 images) reaches </a:t>
            </a:r>
            <a:r>
              <a:rPr sz="1800" b="1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82.81%</a:t>
            </a:r>
            <a:r>
              <a:rPr sz="18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 accuracy on a held-out 1,088-image split (macro F1 0.830); on the server a frame takes about 53 ms, so the live loop runs at roughly 17 to 19 frames per second.</a:t>
            </a:r>
          </a:p>
          <a:p>
            <a:pPr algn="l" marL="256032" indent="-201168">
              <a:spcAft>
                <a:spcPts val="1000"/>
              </a:spcAft>
              <a:buChar char="•"/>
            </a:pPr>
            <a:r>
              <a:rPr sz="18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A FastAPI service and a React interface add collection, training and a model report; 52 pytest tests and a 26-check smoke test pass.</a:t>
            </a:r>
          </a:p>
          <a:p>
            <a:pPr algn="l" marL="256032" indent="-201168">
              <a:spcAft>
                <a:spcPts val="400"/>
              </a:spcAft>
              <a:buChar char="•"/>
            </a:pPr>
            <a:r>
              <a:rPr sz="18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Not done: words and motion signs, and evaluation on unseen signers; accuracy drops sharply when the hand is rotated by 10 degrees.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Paper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A16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7" name="TextBox 6"/>
          <p:cNvSpPr txBox="1"/>
          <p:nvPr/>
        </p:nvSpPr>
        <p:spPr>
          <a:xfrm>
            <a:off x="502920" y="1691640"/>
            <a:ext cx="1115568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D. T. D. Vo, V. D. Nguyen, T. H. M. Nguyen and M. H. Vo, "MAG-KD: Mask-Guided Adaptive Gating Knowledge Distillation for Skeleton-Based Sign Language Recognition on Edge Devices," IEEE Access, vol. 14, pp. 54761-54775, 2026, doi: 10.1109/ACCESS.2026.3681176.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2651760"/>
          <a:ext cx="11155680" cy="356616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828800"/>
                <a:gridCol w="9326880"/>
              </a:tblGrid>
              <a:tr h="713232"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Aspect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Base paper (MAG-KD)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Method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Skeleton-based GCN student (STA-GCN) distilled from three teachers (SL-GCN, CTR-GCN, TD-GCN); hard correctness mask plus adaptive gating network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Data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AUTSL (38,336 videos, 43 signers, 226 signs) and WLASL-100 (1,442 train / 596 validation videos); seeds 1, 42, 100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Reported results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94.25 +/- 0.19 % Top-1 on AUTSL with 0.48 M parameters; 66.33 +/- 0.54 % on WLASL-100 (baseline 54.92 %); Jetson Nano 33.13 FPS at 6.23 W (TensorRT FP16)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Stated limits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Mask needs ground-truth labels; accuracy bounded by the upstream pose extractor in difficult scenes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Survey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A16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691640"/>
          <a:ext cx="11155680" cy="416052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737360"/>
                <a:gridCol w="2468880"/>
                <a:gridCol w="2011680"/>
                <a:gridCol w="2743200"/>
                <a:gridCol w="2194560"/>
              </a:tblGrid>
              <a:tr h="594360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Author / Year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Methodology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Dataset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Key Results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Limitations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Vo et al. 2026 [1]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MAG-KD: a small skeleton GCN student distilled from three GCN teachers with a hard correctness mask and an adaptive gate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AUTSL (38,336 videos, 43 signers, 226 signs); WLASL-100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94.25 +/- 0.19 % Top-1 on AUTSL with 0.48 M parameters; 66.33 +/- 0.54 % on WLASL-100; 33.13 FPS at 6.23 W on a Jetson Nano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Needs a pose estimator in front of it; correctness mask needs ground-truth labels; video word signs, not fingerspelling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Starner et al. 1998 [4]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Hidden Markov models over features from a desk-mounted or wearable camera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Sentence-level ASL video, restricted vocabulary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Early real-time ASL recognition (figures not quoted here)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Restricted vocabulary and grammar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Pugeault and Bowden 2011 [5]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Colour and depth from a Kinect sensor, Gabor-filter features, classification of fingerspelled letters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ASL fingerspelling captured with a depth camera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Real-time letter recognition (figures not quoted here)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Needs a depth sensor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Bheda and Radpour 2017 [6]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Deep convolutional network on images of ASL letters and digits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Static images of ASL letters and digits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CNNs can classify static fingerspelling images (figures not quoted here)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Static images only; no live pipeline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Camgoz et al. 2018 [16]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Neural sign language translation: sign video to spoken-language text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Continuous sign video with sentence translations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First end-to-end neural video-to-text translation (figures not quoted here)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Needs large annotated video corpora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Rastgoo et al. 2021 [3]; Al Abdullah et al. 2024 [2]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Surveys of deep-learning sign language recognition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Review of datasets and methods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Map the field: static, isolated-word and continuous recognition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Reviews, no system of their own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Gap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A16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7" name="TextBox 6"/>
          <p:cNvSpPr txBox="1"/>
          <p:nvPr/>
        </p:nvSpPr>
        <p:spPr>
          <a:xfrm>
            <a:off x="502920" y="1783080"/>
            <a:ext cx="1115568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56032" indent="-201168">
              <a:spcAft>
                <a:spcPts val="1200"/>
              </a:spcAft>
              <a:buChar char="•"/>
            </a:pPr>
            <a:r>
              <a:rPr sz="1900" b="1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End-to-end system:</a:t>
            </a:r>
            <a:r>
              <a:rPr sz="19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 few works go from a live webcam to letters, a sentence and speech in one usable application.</a:t>
            </a:r>
          </a:p>
          <a:p>
            <a:pPr algn="l" marL="256032" indent="-201168">
              <a:spcAft>
                <a:spcPts val="1200"/>
              </a:spcAft>
              <a:buChar char="•"/>
            </a:pPr>
            <a:r>
              <a:rPr sz="1900" b="1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Accessible hardware:</a:t>
            </a:r>
            <a:r>
              <a:rPr sz="19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 skeleton and depth pipelines need extra models or sensors; an ordinary webcam and CPU should suffice for letters.</a:t>
            </a:r>
          </a:p>
          <a:p>
            <a:pPr algn="l" marL="256032" indent="-201168">
              <a:spcAft>
                <a:spcPts val="1200"/>
              </a:spcAft>
              <a:buChar char="•"/>
            </a:pPr>
            <a:r>
              <a:rPr sz="1900" b="1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Honest evaluation:</a:t>
            </a:r>
            <a:r>
              <a:rPr sz="19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 results are rarely given with split, per-class scores, confidence behaviour and latency together.</a:t>
            </a:r>
          </a:p>
          <a:p>
            <a:pPr algn="l" marL="256032" indent="-201168">
              <a:spcAft>
                <a:spcPts val="1200"/>
              </a:spcAft>
              <a:buChar char="•"/>
            </a:pPr>
            <a:r>
              <a:rPr sz="1900" b="1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Robustness:</a:t>
            </a:r>
            <a:r>
              <a:rPr sz="19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 effects of clutter, lighting and hand orientation are seldom measured.</a:t>
            </a:r>
          </a:p>
          <a:p>
            <a:pPr algn="l" marL="256032" indent="-201168">
              <a:spcAft>
                <a:spcPts val="400"/>
              </a:spcAft>
              <a:buChar char="•"/>
            </a:pPr>
            <a:r>
              <a:rPr sz="1900" b="1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Unseen signers:</a:t>
            </a:r>
            <a:r>
              <a:rPr sz="19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 public alphabet data has no signer identity, so signer-independent accuracy is hard to test.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A16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7" name="Rounded Rectangle 6"/>
          <p:cNvSpPr/>
          <p:nvPr/>
        </p:nvSpPr>
        <p:spPr>
          <a:xfrm>
            <a:off x="502920" y="1783080"/>
            <a:ext cx="11155680" cy="1828800"/>
          </a:xfrm>
          <a:prstGeom prst="roundRect">
            <a:avLst>
              <a:gd name="adj" fmla="val 4000"/>
            </a:avLst>
          </a:prstGeom>
          <a:solidFill>
            <a:srgbClr val="DE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77240" y="1828800"/>
            <a:ext cx="10607040" cy="1737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Given a live webcam stream of a signer's hand, recognise the ASL fingerspelling letter being shown (and the control signs space and delete), turn the letters into a sentence on screen and speak it aloud, fast enough to follow the signer and with a stated, measured accuracy - through an application that a non-expert can run.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3931920"/>
            <a:ext cx="3566160" cy="155448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85800" y="402336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Input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4480560"/>
            <a:ext cx="3200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Webcam frames, 960 x 540, hand inside a 300 x 300 region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51959" y="3931920"/>
            <a:ext cx="3566160" cy="155448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4434840" y="402336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Output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4840" y="4480560"/>
            <a:ext cx="3200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Letter and confidence, sentence on screen, spoken text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01000" y="3931920"/>
            <a:ext cx="3566160" cy="155448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8183879" y="402336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Record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83879" y="4480560"/>
            <a:ext cx="3200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Collected images, trained model, metrics, confusion matrix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A16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7" name="TextBox 6"/>
          <p:cNvSpPr txBox="1"/>
          <p:nvPr/>
        </p:nvSpPr>
        <p:spPr>
          <a:xfrm>
            <a:off x="502920" y="1783080"/>
            <a:ext cx="11155680" cy="4480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200"/>
              </a:spcAft>
            </a:pPr>
            <a:r>
              <a:rPr sz="20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1.  Build a dataset of hand gesture images covering the target sign alphabet and common words.</a:t>
            </a:r>
          </a:p>
          <a:p>
            <a:pPr algn="l">
              <a:spcAft>
                <a:spcPts val="1200"/>
              </a:spcAft>
            </a:pPr>
            <a:r>
              <a:rPr sz="20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2.  Preprocess images with segmentation, resizing and augmentation to improve generalisation.</a:t>
            </a:r>
          </a:p>
          <a:p>
            <a:pPr algn="l">
              <a:spcAft>
                <a:spcPts val="1200"/>
              </a:spcAft>
            </a:pPr>
            <a:r>
              <a:rPr sz="20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3.  Design and train a CNN architecture for gesture classification.</a:t>
            </a:r>
          </a:p>
          <a:p>
            <a:pPr algn="l">
              <a:spcAft>
                <a:spcPts val="1200"/>
              </a:spcAft>
            </a:pPr>
            <a:r>
              <a:rPr sz="20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4.  Optimise the model for real-time inference from a live camera feed.</a:t>
            </a:r>
          </a:p>
          <a:p>
            <a:pPr algn="l">
              <a:spcAft>
                <a:spcPts val="1200"/>
              </a:spcAft>
            </a:pPr>
            <a:r>
              <a:rPr sz="20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5.  Convert recognised signs into on-screen text and synthesised speech output.</a:t>
            </a:r>
          </a:p>
          <a:p>
            <a:pPr algn="l">
              <a:spcAft>
                <a:spcPts val="1200"/>
              </a:spcAft>
            </a:pPr>
            <a:r>
              <a:rPr sz="20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6.  Evaluate accuracy, per-class performance and inference latency on unseen signers.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System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A16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7" name="Rounded Rectangle 6"/>
          <p:cNvSpPr/>
          <p:nvPr/>
        </p:nvSpPr>
        <p:spPr>
          <a:xfrm>
            <a:off x="502920" y="1828800"/>
            <a:ext cx="1975103" cy="100584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Webcam frame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537460" y="2212848"/>
            <a:ext cx="201168" cy="237744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798063" y="1828800"/>
            <a:ext cx="1975103" cy="1005840"/>
          </a:xfrm>
          <a:prstGeom prst="roundRect">
            <a:avLst>
              <a:gd name="adj" fmla="val 8000"/>
            </a:avLst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ROI + segmentation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4832603" y="2212848"/>
            <a:ext cx="201168" cy="237744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093207" y="1828800"/>
            <a:ext cx="1975103" cy="1005840"/>
          </a:xfrm>
          <a:prstGeom prst="roundRect">
            <a:avLst>
              <a:gd name="adj" fmla="val 8000"/>
            </a:avLst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CNN classify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7127747" y="2212848"/>
            <a:ext cx="201168" cy="237744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388352" y="1828800"/>
            <a:ext cx="1975103" cy="1005840"/>
          </a:xfrm>
          <a:prstGeom prst="roundRect">
            <a:avLst>
              <a:gd name="adj" fmla="val 8000"/>
            </a:avLst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Vote + stability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9422892" y="2212848"/>
            <a:ext cx="201168" cy="237744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683496" y="1828800"/>
            <a:ext cx="1975103" cy="1005840"/>
          </a:xfrm>
          <a:prstGeom prst="roundRect">
            <a:avLst>
              <a:gd name="adj" fmla="val 8000"/>
            </a:avLst>
          </a:prstGeom>
          <a:solidFill>
            <a:srgbClr val="6B52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Sentence + speech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3200400"/>
            <a:ext cx="11155680" cy="3017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56032" indent="-201168">
              <a:spcAft>
                <a:spcPts val="1000"/>
              </a:spcAft>
              <a:buChar char="•"/>
            </a:pPr>
            <a:r>
              <a:rPr sz="18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Compact three-block CNN, 2.2 million parameters, trained from scratch on the CPU; the same preprocessing for collection, training and recognition.</a:t>
            </a:r>
          </a:p>
          <a:p>
            <a:pPr algn="l" marL="256032" indent="-201168">
              <a:spcAft>
                <a:spcPts val="1000"/>
              </a:spcAft>
              <a:buChar char="•"/>
            </a:pPr>
            <a:r>
              <a:rPr sz="18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Confidence threshold 0.75, majority vote over 15 frames and 18 stable frames before a letter is typed.</a:t>
            </a:r>
          </a:p>
          <a:p>
            <a:pPr algn="l" marL="256032" indent="-201168">
              <a:spcAft>
                <a:spcPts val="1000"/>
              </a:spcAft>
              <a:buChar char="•"/>
            </a:pPr>
            <a:r>
              <a:rPr sz="18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Sentence builder with offline text-to-speech (browser voice fallback); in-app collection, background training and a model report.</a:t>
            </a:r>
          </a:p>
          <a:p>
            <a:pPr algn="l" marL="256032" indent="-201168">
              <a:spcAft>
                <a:spcPts val="400"/>
              </a:spcAft>
              <a:buChar char="•"/>
            </a:pPr>
            <a:r>
              <a:rPr sz="18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FastAPI service reusing the original desktop code; React interface in light and dark themes, usable at phone width.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A16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pic>
        <p:nvPicPr>
          <p:cNvPr id="7" name="Picture 6" descr="01_system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8490" y="1691640"/>
            <a:ext cx="6178378" cy="4572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321040" y="1828800"/>
            <a:ext cx="3383280" cy="4297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56032" indent="-201168">
              <a:spcAft>
                <a:spcPts val="800"/>
              </a:spcAft>
              <a:buChar char="•"/>
            </a:pPr>
            <a:r>
              <a:rPr sz="16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Presentation: React app owns the webcam</a:t>
            </a:r>
          </a:p>
          <a:p>
            <a:pPr algn="l" marL="256032" indent="-201168">
              <a:spcAft>
                <a:spcPts val="800"/>
              </a:spcAft>
              <a:buChar char="•"/>
            </a:pPr>
            <a:r>
              <a:rPr sz="16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Application: FastAPI, 16 endpoints, in-memory sessions</a:t>
            </a:r>
          </a:p>
          <a:p>
            <a:pPr algn="l" marL="256032" indent="-201168">
              <a:spcAft>
                <a:spcPts val="800"/>
              </a:spcAft>
              <a:buChar char="•"/>
            </a:pPr>
            <a:r>
              <a:rPr sz="16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Domain: preprocessing, CNN, recogniser, speech</a:t>
            </a:r>
          </a:p>
          <a:p>
            <a:pPr algn="l" marL="256032" indent="-201168">
              <a:spcAft>
                <a:spcPts val="400"/>
              </a:spcAft>
              <a:buChar char="•"/>
            </a:pPr>
            <a:r>
              <a:rPr sz="16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Storage: image folders and model files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A16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7" name="Rounded Rectangle 6"/>
          <p:cNvSpPr/>
          <p:nvPr/>
        </p:nvSpPr>
        <p:spPr>
          <a:xfrm>
            <a:off x="502920" y="1783080"/>
            <a:ext cx="1436914" cy="109728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Kaggle ASL Alphabet</a:t>
            </a:r>
          </a:p>
        </p:txBody>
      </p:sp>
      <p:sp>
        <p:nvSpPr>
          <p:cNvPr id="8" name="Right Arrow 7"/>
          <p:cNvSpPr/>
          <p:nvPr/>
        </p:nvSpPr>
        <p:spPr>
          <a:xfrm>
            <a:off x="1930690" y="2212848"/>
            <a:ext cx="201168" cy="237744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122714" y="1783080"/>
            <a:ext cx="1436914" cy="109728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250 per class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3550484" y="2212848"/>
            <a:ext cx="201168" cy="237744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742508" y="1783080"/>
            <a:ext cx="1436914" cy="1097280"/>
          </a:xfrm>
          <a:prstGeom prst="roundRect">
            <a:avLst>
              <a:gd name="adj" fmla="val 8000"/>
            </a:avLst>
          </a:prstGeom>
          <a:solidFill>
            <a:srgbClr val="6B52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ROI + Otsu mask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5170278" y="2212848"/>
            <a:ext cx="201168" cy="237744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362302" y="1783080"/>
            <a:ext cx="1436914" cy="1097280"/>
          </a:xfrm>
          <a:prstGeom prst="roundRect">
            <a:avLst>
              <a:gd name="adj" fmla="val 8000"/>
            </a:avLst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Stratified split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6790073" y="2212848"/>
            <a:ext cx="201168" cy="237744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982097" y="1783080"/>
            <a:ext cx="1436914" cy="1097280"/>
          </a:xfrm>
          <a:prstGeom prst="roundRect">
            <a:avLst>
              <a:gd name="adj" fmla="val 8000"/>
            </a:avLst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Train CNN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8409867" y="2212848"/>
            <a:ext cx="201168" cy="237744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601891" y="1783080"/>
            <a:ext cx="1436914" cy="1097280"/>
          </a:xfrm>
          <a:prstGeom prst="roundRect">
            <a:avLst>
              <a:gd name="adj" fmla="val 8000"/>
            </a:avLst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Test once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10029661" y="2212848"/>
            <a:ext cx="201168" cy="237744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10221685" y="1783080"/>
            <a:ext cx="1436914" cy="109728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metrics.json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3200400"/>
            <a:ext cx="11155680" cy="3017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56032" indent="-201168">
              <a:spcAft>
                <a:spcPts val="1000"/>
              </a:spcAft>
              <a:buChar char="•"/>
            </a:pPr>
            <a:r>
              <a:rPr sz="18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One preprocessing function for collection, training and live recognition: no train/serve mismatch.</a:t>
            </a:r>
          </a:p>
          <a:p>
            <a:pPr algn="l" marL="256032" indent="-201168">
              <a:spcAft>
                <a:spcPts val="1000"/>
              </a:spcAft>
              <a:buChar char="•"/>
            </a:pPr>
            <a:r>
              <a:rPr sz="18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Stratified 70 / 15 / 15 split with seed 42; test part used once; augmentation only in training.</a:t>
            </a:r>
          </a:p>
          <a:p>
            <a:pPr algn="l" marL="256032" indent="-201168">
              <a:spcAft>
                <a:spcPts val="1000"/>
              </a:spcAft>
              <a:buChar char="•"/>
            </a:pPr>
            <a:r>
              <a:rPr sz="18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Extra measurements: confidence threshold sweep, robustness to rotation, brightness, noise and blur, latency per stage.</a:t>
            </a:r>
          </a:p>
          <a:p>
            <a:pPr algn="l" marL="256032" indent="-201168">
              <a:spcAft>
                <a:spcPts val="400"/>
              </a:spcAft>
              <a:buChar char="•"/>
            </a:pPr>
            <a:r>
              <a:rPr sz="18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Every number is written to docs/metrics/metrics.json by one script and re-derived from the saved model.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Dataset, Features &amp; Model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A16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7" name="Rounded Rectangle 6"/>
          <p:cNvSpPr/>
          <p:nvPr/>
        </p:nvSpPr>
        <p:spPr>
          <a:xfrm>
            <a:off x="502920" y="1737360"/>
            <a:ext cx="2651760" cy="1005840"/>
          </a:xfrm>
          <a:prstGeom prst="roundRect">
            <a:avLst>
              <a:gd name="adj" fmla="val 5000"/>
            </a:avLst>
          </a:prstGeom>
          <a:solidFill>
            <a:srgbClr val="DE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02920" y="1737360"/>
            <a:ext cx="73152" cy="100584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85800" y="1792224"/>
            <a:ext cx="2377440" cy="5532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7,250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320747"/>
            <a:ext cx="237744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images, 250 x 29 classes (of 87,000)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2880360"/>
            <a:ext cx="2651760" cy="1005840"/>
          </a:xfrm>
          <a:prstGeom prst="roundRect">
            <a:avLst>
              <a:gd name="adj" fmla="val 5000"/>
            </a:avLst>
          </a:prstGeom>
          <a:solidFill>
            <a:srgbClr val="DE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502920" y="2880360"/>
            <a:ext cx="73152" cy="1005840"/>
          </a:xfrm>
          <a:prstGeom prst="rect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85800" y="2935224"/>
            <a:ext cx="2377440" cy="5532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64 x 64 x 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3463747"/>
            <a:ext cx="237744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segmented mask, scaled to [0, 1]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4023360"/>
            <a:ext cx="2651760" cy="1005840"/>
          </a:xfrm>
          <a:prstGeom prst="roundRect">
            <a:avLst>
              <a:gd name="adj" fmla="val 5000"/>
            </a:avLst>
          </a:prstGeom>
          <a:solidFill>
            <a:srgbClr val="DE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502920" y="4023360"/>
            <a:ext cx="73152" cy="1005840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85800" y="4078224"/>
            <a:ext cx="2377440" cy="5532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2,199,453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4606747"/>
            <a:ext cx="237744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CNN parameters</a:t>
            </a:r>
          </a:p>
        </p:txBody>
      </p:sp>
      <p:pic>
        <p:nvPicPr>
          <p:cNvPr id="19" name="Picture 18" descr="f08_dataset_spli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83280" y="1798607"/>
            <a:ext cx="4389120" cy="1614864"/>
          </a:xfrm>
          <a:prstGeom prst="rect">
            <a:avLst/>
          </a:prstGeom>
        </p:spPr>
      </p:pic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7955279" y="1737360"/>
          <a:ext cx="3749040" cy="18288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651760"/>
                <a:gridCol w="1097280"/>
              </a:tblGrid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Layer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Output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3 x (Conv3x3 + BN + MaxPool)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8x8x128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Flatten, Dense 256, Dropout 0.4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256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Dense 29, softmax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29 classes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21" name="Picture 20" descr="f01_training_curve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83280" y="3668490"/>
            <a:ext cx="4389120" cy="1624138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7955279" y="3840480"/>
            <a:ext cx="3749039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56032" indent="-201168">
              <a:spcAft>
                <a:spcPts val="400"/>
              </a:spcAft>
              <a:buChar char="•"/>
            </a:pPr>
            <a:r>
              <a:rPr sz="13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Train 5,075 / validation 1,087 / test 1,088.</a:t>
            </a:r>
          </a:p>
          <a:p>
            <a:pPr algn="l" marL="256032" indent="-201168">
              <a:spcAft>
                <a:spcPts val="400"/>
              </a:spcAft>
              <a:buChar char="•"/>
            </a:pPr>
            <a:r>
              <a:rPr sz="13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Adam 1e-3, batch 32, 30 epochs, augmentation, early stopping on validation accuracy.</a:t>
            </a:r>
          </a:p>
          <a:p>
            <a:pPr algn="l" marL="256032" indent="-201168">
              <a:spcAft>
                <a:spcPts val="400"/>
              </a:spcAft>
              <a:buChar char="•"/>
            </a:pPr>
            <a:r>
              <a:rPr sz="13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Frames come from video: near-duplicates, no signer id.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5303520"/>
            <a:ext cx="73152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Saved run: best validation accuracy 84.7% at epoch 30 of 30 (the cap), final training accuracy 72.9%.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Workflow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A16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pic>
        <p:nvPicPr>
          <p:cNvPr id="7" name="Picture 6" descr="10_core_algorithm_flow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184" y="1645920"/>
            <a:ext cx="4399471" cy="46634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394960" y="1828800"/>
            <a:ext cx="630936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56032" indent="-201168">
              <a:spcAft>
                <a:spcPts val="1200"/>
              </a:spcAft>
              <a:buChar char="•"/>
            </a:pPr>
            <a:r>
              <a:rPr sz="18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Gate: top softmax probability below 0.75 counts as 'nothing'.</a:t>
            </a:r>
          </a:p>
          <a:p>
            <a:pPr algn="l" marL="256032" indent="-201168">
              <a:spcAft>
                <a:spcPts val="1200"/>
              </a:spcAft>
              <a:buChar char="•"/>
            </a:pPr>
            <a:r>
              <a:rPr sz="18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Smooth: majority vote over the last 15 frame labels.</a:t>
            </a:r>
          </a:p>
          <a:p>
            <a:pPr algn="l" marL="256032" indent="-201168">
              <a:spcAft>
                <a:spcPts val="1200"/>
              </a:spcAft>
              <a:buChar char="•"/>
            </a:pPr>
            <a:r>
              <a:rPr sz="18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Commit: 18 stable frames, label not 'nothing' and different from the last committed letter.</a:t>
            </a:r>
          </a:p>
          <a:p>
            <a:pPr algn="l" marL="256032" indent="-201168">
              <a:spcAft>
                <a:spcPts val="400"/>
              </a:spcAft>
              <a:buChar char="•"/>
            </a:pPr>
            <a:r>
              <a:rPr sz="18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Controls: 'space' and 'del' edit the sentence; 'nothing' resets the repeat guard.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– System Interaction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A16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pic>
        <p:nvPicPr>
          <p:cNvPr id="7" name="Picture 6" descr="07_sequence_recogni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0704" y="1645920"/>
            <a:ext cx="4399471" cy="4663440"/>
          </a:xfrm>
          <a:prstGeom prst="rect">
            <a:avLst/>
          </a:prstGeom>
        </p:spPr>
      </p:pic>
      <p:pic>
        <p:nvPicPr>
          <p:cNvPr id="8" name="Picture 7" descr="08_use_cas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66560" y="2249424"/>
            <a:ext cx="4937760" cy="3456432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Design (file store)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A16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pic>
        <p:nvPicPr>
          <p:cNvPr id="7" name="Picture 6" descr="09_er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19" y="1719071"/>
            <a:ext cx="6400800" cy="3968496"/>
          </a:xfrm>
          <a:prstGeom prst="rect">
            <a:avLst/>
          </a:prstGeom>
        </p:spPr>
      </p:pic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132320" y="1737360"/>
          <a:ext cx="4572000" cy="36576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651760"/>
                <a:gridCol w="1920240"/>
              </a:tblGrid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Store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Content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data/&lt;CLASS&gt;/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training images, 29 folders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models/asl_cnn_model.keras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trained network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models/labels.json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class order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models/training_history.json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per-epoch curves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models/classification_report.txt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test report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models/confusion_matrix.json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29 x 29 counts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memory: sessions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at most 20 recognisers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02920" y="5806440"/>
            <a:ext cx="11155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1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There is no SQL database: the ER diagram models the file-system entities. Recognition sessions are not persisted.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Highlights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A16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  <p:sp>
        <p:nvSpPr>
          <p:cNvPr id="7" name="Rounded Rectangle 6"/>
          <p:cNvSpPr/>
          <p:nvPr/>
        </p:nvSpPr>
        <p:spPr>
          <a:xfrm>
            <a:off x="502920" y="1737360"/>
            <a:ext cx="2651760" cy="1005840"/>
          </a:xfrm>
          <a:prstGeom prst="roundRect">
            <a:avLst>
              <a:gd name="adj" fmla="val 5000"/>
            </a:avLst>
          </a:prstGeom>
          <a:solidFill>
            <a:srgbClr val="DE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02920" y="1737360"/>
            <a:ext cx="73152" cy="100584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85800" y="1792224"/>
            <a:ext cx="2377440" cy="5532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16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320747"/>
            <a:ext cx="237744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REST endpoints (+ /docs)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37560" y="1737360"/>
            <a:ext cx="2651760" cy="1005840"/>
          </a:xfrm>
          <a:prstGeom prst="roundRect">
            <a:avLst>
              <a:gd name="adj" fmla="val 5000"/>
            </a:avLst>
          </a:prstGeom>
          <a:solidFill>
            <a:srgbClr val="DE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3337560" y="1737360"/>
            <a:ext cx="73152" cy="1005840"/>
          </a:xfrm>
          <a:prstGeom prst="rect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3520440" y="1792224"/>
            <a:ext cx="2377440" cy="5532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52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20440" y="2320747"/>
            <a:ext cx="237744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pytest tests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1737360"/>
            <a:ext cx="2651760" cy="1005840"/>
          </a:xfrm>
          <a:prstGeom prst="roundRect">
            <a:avLst>
              <a:gd name="adj" fmla="val 5000"/>
            </a:avLst>
          </a:prstGeom>
          <a:solidFill>
            <a:srgbClr val="DE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6172200" y="1737360"/>
            <a:ext cx="73152" cy="1005840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355080" y="1792224"/>
            <a:ext cx="2377440" cy="5532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2320747"/>
            <a:ext cx="237744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React screens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06840" y="1737360"/>
            <a:ext cx="2651760" cy="1005840"/>
          </a:xfrm>
          <a:prstGeom prst="roundRect">
            <a:avLst>
              <a:gd name="adj" fmla="val 5000"/>
            </a:avLst>
          </a:prstGeom>
          <a:solidFill>
            <a:srgbClr val="DE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9006840" y="1737360"/>
            <a:ext cx="73152" cy="1005840"/>
          </a:xfrm>
          <a:prstGeom prst="rect">
            <a:avLst/>
          </a:prstGeom>
          <a:solidFill>
            <a:srgbClr val="6B52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9189720" y="1792224"/>
            <a:ext cx="2377440" cy="5532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89720" y="2320747"/>
            <a:ext cx="237744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command to start (run.bat)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3017520"/>
            <a:ext cx="11155680" cy="3200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56032" indent="-201168">
              <a:spcAft>
                <a:spcPts val="900"/>
              </a:spcAft>
              <a:buChar char="•"/>
            </a:pPr>
            <a:r>
              <a:rPr sz="17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Browser captures frames with getUserMedia, cover-crops to 16:9, mirrors, and posts a 960 x 540 JPEG (quality 0.8, about 27 KB); one request in flight, at least 60 ms apart.</a:t>
            </a:r>
          </a:p>
          <a:p>
            <a:pPr algn="l" marL="256032" indent="-201168">
              <a:spcAft>
                <a:spcPts val="900"/>
              </a:spcAft>
              <a:buChar char="•"/>
            </a:pPr>
            <a:r>
              <a:rPr sz="17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Validation: epochs 1-500, batch 1-1024, learning rate 1e-6 to 1, at least two classes with images, 2,000-character speech limit, image-name pattern.</a:t>
            </a:r>
          </a:p>
          <a:p>
            <a:pPr algn="l" marL="256032" indent="-201168">
              <a:spcAft>
                <a:spcPts val="900"/>
              </a:spcAft>
              <a:buChar char="•"/>
            </a:pPr>
            <a:r>
              <a:rPr sz="17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Training runs in a background thread with a stop flag and live progress; speech is offline (pyttsx3) with a browser-voice fallback.</a:t>
            </a:r>
          </a:p>
          <a:p>
            <a:pPr algn="l" marL="256032" indent="-201168">
              <a:spcAft>
                <a:spcPts val="400"/>
              </a:spcAft>
              <a:buChar char="•"/>
            </a:pPr>
            <a:r>
              <a:rPr sz="17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The original desktop app is unchanged; the API imports its modules.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– Model Performance (held-out test split)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A16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  <p:sp>
        <p:nvSpPr>
          <p:cNvPr id="7" name="Rounded Rectangle 6"/>
          <p:cNvSpPr/>
          <p:nvPr/>
        </p:nvSpPr>
        <p:spPr>
          <a:xfrm>
            <a:off x="502920" y="1691640"/>
            <a:ext cx="2651760" cy="1005840"/>
          </a:xfrm>
          <a:prstGeom prst="roundRect">
            <a:avLst>
              <a:gd name="adj" fmla="val 5000"/>
            </a:avLst>
          </a:prstGeom>
          <a:solidFill>
            <a:srgbClr val="DE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02920" y="1691640"/>
            <a:ext cx="73152" cy="100584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85800" y="1746504"/>
            <a:ext cx="2377440" cy="5532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82.81%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275027"/>
            <a:ext cx="237744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accuracy, n = 1,088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37560" y="1691640"/>
            <a:ext cx="2651760" cy="1005840"/>
          </a:xfrm>
          <a:prstGeom prst="roundRect">
            <a:avLst>
              <a:gd name="adj" fmla="val 5000"/>
            </a:avLst>
          </a:prstGeom>
          <a:solidFill>
            <a:srgbClr val="DE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3337560" y="1691640"/>
            <a:ext cx="73152" cy="1005840"/>
          </a:xfrm>
          <a:prstGeom prst="rect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3520440" y="1746504"/>
            <a:ext cx="2377440" cy="5532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0.830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20440" y="2275027"/>
            <a:ext cx="237744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macro F1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1691640"/>
            <a:ext cx="2651760" cy="1005840"/>
          </a:xfrm>
          <a:prstGeom prst="roundRect">
            <a:avLst>
              <a:gd name="adj" fmla="val 5000"/>
            </a:avLst>
          </a:prstGeom>
          <a:solidFill>
            <a:srgbClr val="DE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6172200" y="1691640"/>
            <a:ext cx="73152" cy="1005840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355080" y="1746504"/>
            <a:ext cx="2377440" cy="5532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92.9%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2275027"/>
            <a:ext cx="237744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top-3 accuracy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06840" y="1691640"/>
            <a:ext cx="2651760" cy="1005840"/>
          </a:xfrm>
          <a:prstGeom prst="roundRect">
            <a:avLst>
              <a:gd name="adj" fmla="val 5000"/>
            </a:avLst>
          </a:prstGeom>
          <a:solidFill>
            <a:srgbClr val="DE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9006840" y="1691640"/>
            <a:ext cx="73152" cy="1005840"/>
          </a:xfrm>
          <a:prstGeom prst="rect">
            <a:avLst/>
          </a:prstGeom>
          <a:solidFill>
            <a:srgbClr val="6B52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9189720" y="1746504"/>
            <a:ext cx="2377440" cy="5532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0.5569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89720" y="2275027"/>
            <a:ext cx="237744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test loss</a:t>
            </a:r>
          </a:p>
        </p:txBody>
      </p:sp>
      <p:pic>
        <p:nvPicPr>
          <p:cNvPr id="23" name="Picture 22" descr="f02_per_clas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3094058"/>
            <a:ext cx="7040880" cy="2498682"/>
          </a:xfrm>
          <a:prstGeom prst="rect">
            <a:avLst/>
          </a:prstGeom>
        </p:spPr>
      </p:pic>
      <p:graphicFrame>
        <p:nvGraphicFramePr>
          <p:cNvPr id="24" name="Table 23"/>
          <p:cNvGraphicFramePr>
            <a:graphicFrameLocks noGrp="1"/>
          </p:cNvGraphicFramePr>
          <p:nvPr/>
        </p:nvGraphicFramePr>
        <p:xfrm>
          <a:off x="7772400" y="2926080"/>
          <a:ext cx="3931920" cy="146304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965960"/>
                <a:gridCol w="1965960"/>
              </a:tblGrid>
              <a:tr h="731520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Best F1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Weakest F1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nothing 0.99, C 0.96, Q 0.96, K 0.93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Y 0.62, V 0.69, X 0.69, W 0.70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TextBox 24"/>
          <p:cNvSpPr txBox="1"/>
          <p:nvPr/>
        </p:nvSpPr>
        <p:spPr>
          <a:xfrm>
            <a:off x="7772400" y="4526280"/>
            <a:ext cx="393192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56032" indent="-201168">
              <a:spcAft>
                <a:spcPts val="400"/>
              </a:spcAft>
              <a:buChar char="•"/>
            </a:pPr>
            <a:r>
              <a:rPr sz="12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Other archive photos (n = 2,900): 87.24%, optimistic: near-duplicate frames of trained images.</a:t>
            </a:r>
          </a:p>
          <a:p>
            <a:pPr algn="l" marL="256032" indent="-201168">
              <a:spcAft>
                <a:spcPts val="400"/>
              </a:spcAft>
              <a:buChar char="•"/>
            </a:pPr>
            <a:r>
              <a:rPr sz="12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Official Kaggle test: 26 of 28 (A read as S, I read as D).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5852160"/>
            <a:ext cx="7040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1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Test split = 15 % never used for training or model selection; single run, seed 42.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Matrix &amp; Frequent Confusions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A16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  <p:pic>
        <p:nvPicPr>
          <p:cNvPr id="7" name="Picture 6" descr="f03_confusion_matri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6650" y="1691640"/>
            <a:ext cx="4933179" cy="4572000"/>
          </a:xfrm>
          <a:prstGeom prst="rect">
            <a:avLst/>
          </a:prstGeom>
        </p:spPr>
      </p:pic>
      <p:pic>
        <p:nvPicPr>
          <p:cNvPr id="8" name="Picture 7" descr="f04_top_confus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0" y="1696159"/>
            <a:ext cx="5852160" cy="28256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852160" y="4663440"/>
            <a:ext cx="585216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56032" indent="-201168">
              <a:spcAft>
                <a:spcPts val="400"/>
              </a:spcAft>
              <a:buChar char="•"/>
            </a:pPr>
            <a:r>
              <a:rPr sz="14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Most frequent: V read as W (7), E read as B (7), V read as U (6), S read as Y (6).</a:t>
            </a:r>
          </a:p>
          <a:p>
            <a:pPr algn="l" marL="256032" indent="-201168">
              <a:spcAft>
                <a:spcPts val="400"/>
              </a:spcAft>
              <a:buChar char="•"/>
            </a:pPr>
            <a:r>
              <a:rPr sz="14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V, U, W and R, T, S share similar finger layouts; E is confused with B and A.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&amp; Robustness Analysis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A16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  <p:pic>
        <p:nvPicPr>
          <p:cNvPr id="7" name="Picture 6" descr="f05_thresho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3768" y="1691640"/>
            <a:ext cx="5436142" cy="3017520"/>
          </a:xfrm>
          <a:prstGeom prst="rect">
            <a:avLst/>
          </a:prstGeom>
        </p:spPr>
      </p:pic>
      <p:pic>
        <p:nvPicPr>
          <p:cNvPr id="8" name="Picture 7" descr="f06_robustne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1909378"/>
            <a:ext cx="5577840" cy="2582042"/>
          </a:xfrm>
          <a:prstGeom prst="rect">
            <a:avLst/>
          </a:prstGeom>
        </p:spPr>
      </p:pic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02920" y="4846320"/>
          <a:ext cx="11155680" cy="1152144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377440"/>
                <a:gridCol w="1097280"/>
                <a:gridCol w="1097280"/>
                <a:gridCol w="1097280"/>
                <a:gridCol w="1097280"/>
                <a:gridCol w="1097280"/>
                <a:gridCol w="1097280"/>
                <a:gridCol w="1097280"/>
                <a:gridCol w="1097280"/>
              </a:tblGrid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Confidence threshold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0.50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0.60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0.70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0.75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0.80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0.90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0.95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0.99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Frames accepted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84.2%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79.2%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73.5%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70.3%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67.6%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59.1%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48.9%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31.9%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Accuracy on accepted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92.4%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94.9%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96.2%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97.1%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97.7%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98.3%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99.2%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99.7%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02920" y="6053328"/>
            <a:ext cx="11155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Deployed threshold 0.75: 70.3 % of frames accepted at 97.1 % accuracy. Rotation of +/- 10 degrees drops accuracy from 85.0 % to 67.6 % / 68.6 % (580-photo robustness set).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&amp; Testing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A16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  <p:sp>
        <p:nvSpPr>
          <p:cNvPr id="7" name="Rounded Rectangle 6"/>
          <p:cNvSpPr/>
          <p:nvPr/>
        </p:nvSpPr>
        <p:spPr>
          <a:xfrm>
            <a:off x="502920" y="1737360"/>
            <a:ext cx="2651760" cy="1051560"/>
          </a:xfrm>
          <a:prstGeom prst="roundRect">
            <a:avLst>
              <a:gd name="adj" fmla="val 5000"/>
            </a:avLst>
          </a:prstGeom>
          <a:solidFill>
            <a:srgbClr val="DE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02920" y="1737360"/>
            <a:ext cx="73152" cy="105156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85800" y="1792224"/>
            <a:ext cx="2377440" cy="57835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1.7 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347264"/>
            <a:ext cx="2377440" cy="42062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JPEG decode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37560" y="1737360"/>
            <a:ext cx="2651760" cy="1051560"/>
          </a:xfrm>
          <a:prstGeom prst="roundRect">
            <a:avLst>
              <a:gd name="adj" fmla="val 5000"/>
            </a:avLst>
          </a:prstGeom>
          <a:solidFill>
            <a:srgbClr val="DE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3337560" y="1737360"/>
            <a:ext cx="73152" cy="1051560"/>
          </a:xfrm>
          <a:prstGeom prst="rect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3520440" y="1792224"/>
            <a:ext cx="2377440" cy="57835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0.8 ms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20440" y="2347264"/>
            <a:ext cx="2377440" cy="42062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crop + segmentation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1737360"/>
            <a:ext cx="2651760" cy="1051560"/>
          </a:xfrm>
          <a:prstGeom prst="roundRect">
            <a:avLst>
              <a:gd name="adj" fmla="val 5000"/>
            </a:avLst>
          </a:prstGeom>
          <a:solidFill>
            <a:srgbClr val="DE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6172200" y="1737360"/>
            <a:ext cx="73152" cy="1051560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355080" y="1792224"/>
            <a:ext cx="2377440" cy="57835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50.3 ms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2347264"/>
            <a:ext cx="2377440" cy="42062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CNN forward (model.predict)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06840" y="1737360"/>
            <a:ext cx="2651760" cy="1051560"/>
          </a:xfrm>
          <a:prstGeom prst="roundRect">
            <a:avLst>
              <a:gd name="adj" fmla="val 5000"/>
            </a:avLst>
          </a:prstGeom>
          <a:solidFill>
            <a:srgbClr val="DE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9006840" y="1737360"/>
            <a:ext cx="73152" cy="1051560"/>
          </a:xfrm>
          <a:prstGeom prst="rect">
            <a:avLst/>
          </a:prstGeom>
          <a:solidFill>
            <a:srgbClr val="6B52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9189720" y="1792224"/>
            <a:ext cx="2377440" cy="57835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56.7 ms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89720" y="2347264"/>
            <a:ext cx="2377440" cy="42062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HTTP round trip (about 17.6 fps)</a:t>
            </a:r>
          </a:p>
        </p:txBody>
      </p:sp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502920" y="3017520"/>
          <a:ext cx="11155680" cy="27432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194560"/>
                <a:gridCol w="5669280"/>
                <a:gridCol w="3291840"/>
              </a:tblGrid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Test layer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What it covers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Result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Unit (pytest)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preprocessing, recogniser logic, dataset and model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25 passed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API (pytest)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all endpoints, validation, errors, sessions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27 passed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Smoke test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running server: collect, train, recognise, errors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26 / 26 checks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Browser walk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7 screens, 360 / 768 / 1440 px, light and dark, fake camera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no console or network errors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Build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npm run build (tsc + vite)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passes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4" name="TextBox 23"/>
          <p:cNvSpPr txBox="1"/>
          <p:nvPr/>
        </p:nvSpPr>
        <p:spPr>
          <a:xfrm>
            <a:off x="502920" y="5852160"/>
            <a:ext cx="11155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1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Median of 300 frames on an Intel Core i5-12500 (CPU only, 15.7 GB). Not tested: a physical webcam, load, a user study, React component tests.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 with Base Paper (context only – different task and data)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A16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691640"/>
          <a:ext cx="11155680" cy="3968496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737360"/>
                <a:gridCol w="4572000"/>
                <a:gridCol w="4846320"/>
              </a:tblGrid>
              <a:tr h="566928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Aspect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Base paper [1]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This project (SignSpeak)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Task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Isolated word signs from video (AUTSL 226 signs; WLASL-100)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Static ASL fingerspelling: 26 letters + space, del, nothing from single frames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Input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2D skeleton sequences (27 keypoints) from a pose estimator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One 64 x 64 segmented hand mask cropped from a webcam frame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Model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0.48 M-parameter GCN student distilled from three GCN teachers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2.20 M-parameter CNN trained from scratch; no distillation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Accuracy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94.25 +/- 0.19 % (AUTSL), 66.33 +/- 0.54 % (WLASL-100); 3 seeds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82.81% on a held-out split (one run); not signer-independent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Hardware / speed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Jetson Nano, TensorRT FP16: 33.13 FPS at 6.23 W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Desktop CPU, no optimisation: about 17.6 fps end to end; power not measured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Deliverable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Research method and measurements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Application: collect, train, recognise, speak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02920" y="5852160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1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Different task, data, model family and hardware: the numbers are context, not a ranking, and no superiority is claimed.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– Live Recognition and Collection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A16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000" dirty="0"/>
          </a:p>
        </p:txBody>
      </p:sp>
      <p:pic>
        <p:nvPicPr>
          <p:cNvPr id="7" name="Picture 6" descr="04_recogniz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897380"/>
            <a:ext cx="5486400" cy="3429000"/>
          </a:xfrm>
          <a:prstGeom prst="rect">
            <a:avLst/>
          </a:prstGeom>
          <a:ln w="9525">
            <a:solidFill>
              <a:srgbClr val="D5DCE6"/>
            </a:solidFill>
          </a:ln>
        </p:spPr>
      </p:pic>
      <p:pic>
        <p:nvPicPr>
          <p:cNvPr id="8" name="Picture 7" descr="05_colle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897380"/>
            <a:ext cx="5486400" cy="3429000"/>
          </a:xfrm>
          <a:prstGeom prst="rect">
            <a:avLst/>
          </a:prstGeom>
          <a:ln w="9525">
            <a:solidFill>
              <a:srgbClr val="D5DCE6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502920" y="5669280"/>
            <a:ext cx="11155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Left: recognition (letter H at 87 %, mask preview, sentence). Right: collection with the ROI box and recent captures. Camera = Chromium fake camera fed with real photos.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– Training and Model Performance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A16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000" dirty="0"/>
          </a:p>
        </p:txBody>
      </p:sp>
      <p:pic>
        <p:nvPicPr>
          <p:cNvPr id="7" name="Picture 6" descr="06_tra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897380"/>
            <a:ext cx="5486400" cy="3429000"/>
          </a:xfrm>
          <a:prstGeom prst="rect">
            <a:avLst/>
          </a:prstGeom>
          <a:ln w="9525">
            <a:solidFill>
              <a:srgbClr val="D5DCE6"/>
            </a:solidFill>
          </a:ln>
        </p:spPr>
      </p:pic>
      <p:pic>
        <p:nvPicPr>
          <p:cNvPr id="8" name="Picture 7" descr="07b_model_confu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897380"/>
            <a:ext cx="5486400" cy="3429000"/>
          </a:xfrm>
          <a:prstGeom prst="rect">
            <a:avLst/>
          </a:prstGeom>
          <a:ln w="9525">
            <a:solidFill>
              <a:srgbClr val="D5DCE6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502920" y="5669280"/>
            <a:ext cx="11155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Left: training screen (coverage 7,250 images, hyper-parameters, finished run 82.8 %). Right: model screen with the confusion matrix.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– Dashboard and Phone Layout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A16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000" dirty="0"/>
          </a:p>
        </p:txBody>
      </p:sp>
      <p:pic>
        <p:nvPicPr>
          <p:cNvPr id="7" name="Picture 6" descr="03_dashbo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897380"/>
            <a:ext cx="5486400" cy="3429000"/>
          </a:xfrm>
          <a:prstGeom prst="rect">
            <a:avLst/>
          </a:prstGeom>
          <a:ln w="9525">
            <a:solidFill>
              <a:srgbClr val="D5DCE6"/>
            </a:solidFill>
          </a:ln>
        </p:spPr>
      </p:pic>
      <p:pic>
        <p:nvPicPr>
          <p:cNvPr id="8" name="Picture 7" descr="12_mobile_recogniz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8278" y="1600200"/>
            <a:ext cx="1816882" cy="3931920"/>
          </a:xfrm>
          <a:prstGeom prst="rect">
            <a:avLst/>
          </a:prstGeom>
          <a:ln w="9525">
            <a:solidFill>
              <a:srgbClr val="D5DCE6"/>
            </a:solidFill>
          </a:ln>
        </p:spPr>
      </p:pic>
      <p:pic>
        <p:nvPicPr>
          <p:cNvPr id="9" name="Picture 8" descr="11_mobile_dashboar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15718" y="1600200"/>
            <a:ext cx="1816882" cy="3931920"/>
          </a:xfrm>
          <a:prstGeom prst="rect">
            <a:avLst/>
          </a:prstGeom>
          <a:ln w="9525">
            <a:solidFill>
              <a:srgbClr val="D5DCE6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502920" y="5669280"/>
            <a:ext cx="11155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Left: dashboard (7,250 images, 29 of 29 classes, 82.8 %). Right: the same app at 390 x 844 px (recognition and dashboard).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A16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000" dirty="0"/>
          </a:p>
        </p:txBody>
      </p:sp>
      <p:sp>
        <p:nvSpPr>
          <p:cNvPr id="7" name="TextBox 6"/>
          <p:cNvSpPr txBox="1"/>
          <p:nvPr/>
        </p:nvSpPr>
        <p:spPr>
          <a:xfrm>
            <a:off x="502920" y="1783080"/>
            <a:ext cx="11155680" cy="4480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56032" indent="-201168">
              <a:spcAft>
                <a:spcPts val="1000"/>
              </a:spcAft>
              <a:buChar char="•"/>
            </a:pPr>
            <a:r>
              <a:rPr sz="1800" b="1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Delivered:</a:t>
            </a:r>
            <a:r>
              <a:rPr sz="18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 a working ASL-alphabet recogniser: segmentation, a trained 2.2 M-parameter CNN, decision logic, sentence builder with speech, collection, training and a model report, with tests.</a:t>
            </a:r>
          </a:p>
          <a:p>
            <a:pPr algn="l" marL="256032" indent="-201168">
              <a:spcAft>
                <a:spcPts val="1000"/>
              </a:spcAft>
              <a:buChar char="•"/>
            </a:pPr>
            <a:r>
              <a:rPr sz="1800" b="1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Measured:</a:t>
            </a:r>
            <a:r>
              <a:rPr sz="18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 82.81% accuracy on a held-out 1,088-image split; 97.1% on the frames passing the 0.75 confidence gate; about 53 ms per frame on a CPU.</a:t>
            </a:r>
          </a:p>
          <a:p>
            <a:pPr algn="l" marL="256032" indent="-201168">
              <a:spcAft>
                <a:spcPts val="1000"/>
              </a:spcAft>
              <a:buChar char="•"/>
            </a:pPr>
            <a:r>
              <a:rPr sz="1800" b="1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Objectives:</a:t>
            </a:r>
            <a:r>
              <a:rPr sz="18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 2, 3, 5 met; 4 partly (17-19 fps without model optimisation); 1 and 6 not fully met (no words; no unseen-signer test).</a:t>
            </a:r>
          </a:p>
          <a:p>
            <a:pPr algn="l" marL="256032" indent="-201168">
              <a:spcAft>
                <a:spcPts val="400"/>
              </a:spcAft>
              <a:buChar char="•"/>
            </a:pPr>
            <a:r>
              <a:rPr sz="1800" b="1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Limits:</a:t>
            </a:r>
            <a:r>
              <a:rPr sz="18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 same-recording data, Otsu masks keep background, rotation sensitivity, letters only, no physical-webcam test. Not a certified communication aid.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A16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1000" dirty="0"/>
          </a:p>
        </p:txBody>
      </p:sp>
      <p:sp>
        <p:nvSpPr>
          <p:cNvPr id="7" name="TextBox 6"/>
          <p:cNvSpPr txBox="1"/>
          <p:nvPr/>
        </p:nvSpPr>
        <p:spPr>
          <a:xfrm>
            <a:off x="502920" y="1783080"/>
            <a:ext cx="11155680" cy="4480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56032" indent="-201168">
              <a:spcAft>
                <a:spcPts val="1200"/>
              </a:spcAft>
              <a:buChar char="•"/>
            </a:pPr>
            <a:r>
              <a:rPr sz="20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Collect data from many signers and backgrounds with signer ids, and report signer-independent accuracy.</a:t>
            </a:r>
          </a:p>
          <a:p>
            <a:pPr algn="l" marL="256032" indent="-201168">
              <a:spcAft>
                <a:spcPts val="1200"/>
              </a:spcAft>
              <a:buChar char="•"/>
            </a:pPr>
            <a:r>
              <a:rPr sz="20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Rotation, brightness and background augmentation; compare skin-colour segmentation or hand landmarks with the Otsu mask.</a:t>
            </a:r>
          </a:p>
          <a:p>
            <a:pPr algn="l" marL="256032" indent="-201168">
              <a:spcAft>
                <a:spcPts val="1200"/>
              </a:spcAft>
              <a:buChar char="•"/>
            </a:pPr>
            <a:r>
              <a:rPr sz="20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Faster inference: quantisation or TFLite export in place of model.predict; measure power as the base paper does.</a:t>
            </a:r>
          </a:p>
          <a:p>
            <a:pPr algn="l" marL="256032" indent="-201168">
              <a:spcAft>
                <a:spcPts val="1200"/>
              </a:spcAft>
              <a:buChar char="•"/>
            </a:pPr>
            <a:r>
              <a:rPr sz="20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Words and motion signs: sequence models over several frames; two-hand signs and sentence-level translation.</a:t>
            </a:r>
          </a:p>
          <a:p>
            <a:pPr algn="l" marL="256032" indent="-201168">
              <a:spcAft>
                <a:spcPts val="400"/>
              </a:spcAft>
              <a:buChar char="•"/>
            </a:pPr>
            <a:r>
              <a:rPr sz="20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Packaging: installer, calibration screen for the ROI, user study with deaf signers.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A16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1000" dirty="0"/>
          </a:p>
        </p:txBody>
      </p:sp>
      <p:sp>
        <p:nvSpPr>
          <p:cNvPr id="7" name="TextBox 6"/>
          <p:cNvSpPr txBox="1"/>
          <p:nvPr/>
        </p:nvSpPr>
        <p:spPr>
          <a:xfrm>
            <a:off x="502920" y="1691640"/>
            <a:ext cx="5486400" cy="457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[1] D. T. D. Vo, V. D. Nguyen, T. H. M. Nguyen and M. H. Vo, "MAG-KD: Mask-guided adaptive gating knowledge distillation for skeleton-based sign language recognition on edge devices," IEEE Access, vol. 14, pp. 54761-54775, 2026, doi: 10.1109/ACCESS.2026.3681176.</a:t>
            </a:r>
          </a:p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[2] B. A. Al Abdullah, G. A. Amoudi and H. S. Alghamdi, "Advancements in sign language recognition: A comprehensive review and future prospects," IEEE Access, vol. 12, pp. 128871-128895, 2024.</a:t>
            </a:r>
          </a:p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[3] R. Rastgoo, K. Kiani and S. Escalera, "Sign language recognition: A deep survey," Expert Syst. Appl., vol. 164, Art. no. 113794, Feb. 2021.</a:t>
            </a:r>
          </a:p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[4] T. Starner, J. Weaver and A. Pentland, "Real-time American Sign Language recognition using desk and wearable computer based video," IEEE Trans. Pattern Anal. Mach. Intell., vol. 20, no. 12, pp. 1371-1375, Dec. 1998.</a:t>
            </a:r>
          </a:p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[5] N. Pugeault and R. Bowden, "Spelling it out: Real-time ASL fingerspelling recognition," in Proc. IEEE Int. Conf. Comput. Vis. Workshops (ICCV Workshops), Barcelona, Spain, Nov. 2011, pp. 1114-1119.</a:t>
            </a:r>
          </a:p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[6] V. Bheda and D. Radpour, "Using deep convolutional networks for gesture recognition in American Sign Language," 2017, arXiv:1710.06836.</a:t>
            </a:r>
          </a:p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[7] Y. LeCun, L. Bottou, Y. Bengio and P. Haffner, "Gradient-based learning applied to document recognition," Proc. IEEE, vol. 86, no. 11, pp. 2278-2324, Nov. 1998.</a:t>
            </a:r>
          </a:p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[11] S. Yan, Y. Xiong and D. Lin, "Spatial temporal graph convolutional networks for skeleton-based action recognition," in Proc. AAAI Conf. Artif. Intell., vol. 32, no. 1, 2018.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691640"/>
            <a:ext cx="5486400" cy="457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[14] O. M. Sincan and H. Y. Keles, "AUTSL: A large scale multi-modal Turkish Sign Language dataset and baseline methods," IEEE Access, vol. 8, pp. 181340-181355, 2020.</a:t>
            </a:r>
          </a:p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[15] D. Li, C. R. Opazo, X. Yu and H. Li, "Word-level deep sign language recognition from video: A new large-scale dataset and methods comparison," in Proc. IEEE Winter Conf. Appl. Comput. Vis. (WACV), Mar. 2020, pp. 1448-1458.</a:t>
            </a:r>
          </a:p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[17] N. Otsu, "A threshold selection method from gray-level histograms," IEEE Trans. Syst., Man, Cybern., vol. SMC-9, no. 1, pp. 62-66, Jan. 1979.</a:t>
            </a:r>
          </a:p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[19] S. Ioffe and C. Szegedy, "Batch normalization: Accelerating deep network training by reducing internal covariate shift," in Proc. 32nd Int. Conf. Mach. Learn. (ICML), 2015, pp. 448-456.</a:t>
            </a:r>
          </a:p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[20] N. Srivastava, G. Hinton, A. Krizhevsky, I. Sutskever and R. Salakhutdinov, "Dropout: A simple way to prevent neural networks from overfitting," J. Mach. Learn. Res., vol. 15, no. 56, pp. 1929-1958, 2014.</a:t>
            </a:r>
          </a:p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[21] D. P. Kingma and J. Ba, "Adam: A method for stochastic optimization," in Proc. Int. Conf. Learn. Represent. (ICLR), 2015, arXiv:1412.6980.</a:t>
            </a:r>
          </a:p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[23] M. Abadi et al., "TensorFlow: A system for large-scale machine learning," in Proc. 12th USENIX Symp. Oper. Syst. Design Implement. (OSDI), 2016, pp. 265-283.</a:t>
            </a:r>
          </a:p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[25] Akash, "ASL Alphabet," Kaggle dataset (grassknoted/asl-alphabet). [Online]. Available: https://www.kaggle.com/datasets/grassknoted/asl-alphabet (accessed Oct. 2026).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2743200"/>
            <a:ext cx="11247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5" name="Text 2"/>
          <p:cNvSpPr/>
          <p:nvPr/>
        </p:nvSpPr>
        <p:spPr>
          <a:xfrm>
            <a:off x="457200" y="365760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Suggestions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A16  |  Final Review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gnSpeak">
  <a:themeElements>
    <a:clrScheme name="SignSpeak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SignSpeak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SignSpeak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Sign Language Recognition System Based on Convolutional Neural Networks (CNNs) - Final Review</dc:title>
  <dc:subject>SignSpeak</dc:subject>
  <dc:creator>Batch A16, Dept. of CSE, TKRCET</dc:creator>
  <cp:lastModifiedBy>Batch D1, Dept. of CSE, TKRCET</cp:lastModifiedBy>
  <cp:revision>1</cp:revision>
  <dcterms:created xsi:type="dcterms:W3CDTF">2026-10-07T05:03:03Z</dcterms:created>
  <dcterms:modified xsi:type="dcterms:W3CDTF">2026-10-07T05:03:03Z</dcterms:modified>
  <dc:description/>
  <cp:keywords>sign language recognition, CNN, ASL</cp:keywords>
</cp:coreProperties>
</file>