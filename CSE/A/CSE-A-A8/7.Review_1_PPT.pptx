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Stated in conclusion</c:v>
                </c:pt>
              </c:strCache>
            </c:strRef>
          </c:tx>
          <c:spPr>
            <a:solidFill>
              <a:srgbClr val="2A78D6"/>
            </a:solidFill>
          </c:spPr>
          <c:cat>
            <c:strRef>
              <c:f>Sheet1!$A$2:$A$5</c:f>
              <c:strCache>
                <c:ptCount val="4"/>
                <c:pt idx="0">
                  <c:v>Correctness</c:v>
                </c:pt>
                <c:pt idx="1">
                  <c:v>Clarity</c:v>
                </c:pt>
                <c:pt idx="2">
                  <c:v>Helpfulness</c:v>
                </c:pt>
                <c:pt idx="3">
                  <c:v>Completeness</c:v>
                </c:pt>
              </c:strCache>
            </c:strRef>
          </c:cat>
          <c:val>
            <c:numRef>
              <c:f>Sheet1!$B$2:$B$5</c:f>
              <c:numCache>
                <c:formatCode>General</c:formatCode>
                <c:ptCount val="4"/>
                <c:pt idx="0">
                  <c:v>92.4</c:v>
                </c:pt>
                <c:pt idx="1">
                  <c:v>89.7</c:v>
                </c:pt>
                <c:pt idx="2">
                  <c:v>91.1</c:v>
                </c:pt>
                <c:pt idx="3">
                  <c:v>88.9</c:v>
                </c:pt>
              </c:numCache>
            </c:numRef>
          </c:val>
        </c:ser>
        <c:ser>
          <c:idx val="1"/>
          <c:order val="1"/>
          <c:tx>
            <c:strRef>
              <c:f>Sheet1!$C$1</c:f>
              <c:strCache>
                <c:ptCount val="1"/>
                <c:pt idx="0">
                  <c:v>Recomputed from table</c:v>
                </c:pt>
              </c:strCache>
            </c:strRef>
          </c:tx>
          <c:spPr>
            <a:solidFill>
              <a:srgbClr val="EB6834"/>
            </a:solidFill>
          </c:spPr>
          <c:cat>
            <c:strRef>
              <c:f>Sheet1!$A$2:$A$5</c:f>
              <c:strCache>
                <c:ptCount val="4"/>
                <c:pt idx="0">
                  <c:v>Correctness</c:v>
                </c:pt>
                <c:pt idx="1">
                  <c:v>Clarity</c:v>
                </c:pt>
                <c:pt idx="2">
                  <c:v>Helpfulness</c:v>
                </c:pt>
                <c:pt idx="3">
                  <c:v>Completeness</c:v>
                </c:pt>
              </c:strCache>
            </c:strRef>
          </c:cat>
          <c:val>
            <c:numRef>
              <c:f>Sheet1!$C$2:$C$5</c:f>
              <c:numCache>
                <c:formatCode>General</c:formatCode>
                <c:ptCount val="4"/>
                <c:pt idx="0">
                  <c:v>94.0</c:v>
                </c:pt>
                <c:pt idx="1">
                  <c:v>94.9</c:v>
                </c:pt>
                <c:pt idx="2">
                  <c:v>90.1</c:v>
                </c:pt>
                <c:pt idx="3">
                  <c:v>88.65</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0.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title. One sentence: a patient uploads a lab report and gets the values, which ones are abnormal, a plain-language explanation of each, and a history across reports.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not yet about results.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sentences: the problem, the idea, the deliverable. The abstract's target is under 10 seconds per report.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paper answers questions about a blood test report for one condition using RAG. It stores reports and refers to them in later queries, but gives no measurement of reading values off the document. Our project generalises the scope.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groups: report understanding with language models [1][3][4][5], digitising report images [2], and the OCR and tagging building blocks named in the abstract [12][14]. Where a row says not reviewed in detail, only the title and abstract-level facts were checked.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chart is computed from the paper's own Table 4: the conclusion quotes 92.4, 89.7, 91.1 and 88.9 but the table averages are 94.0, 94.9, 90.1 and 88.65. The safety numbers come from the abstract of Checkup2Action [3]; the dataset-size caution from the abstract of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typical path ends in a consultation. Existing tools solve either reading the report or explaining it, not both with history.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statements are the problem statement of the batch proposal. Each maps to one feature: extraction, flagging, explanations, trends.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literature survey states the gap as: a general report-analysis platform covering arbitrary lab parameters with extraction, explanation and longitudinal trend tracking. The other four rows are backed by the base paper's own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Need: a platform that reads a lab report automatically, explains abnormal values in plain language, and tracks them over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project proposal. Review 2 and the final review say plainly which were met.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plan in the abstract. Review 2 shows where the implementation differs: Tesseract and a regex parser with a TF-IDF name matcher instead of PP-OCR and a CRF, and SQLite and FastAPI instead of Supabase and cloud functions.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the user interface, the API, the processing pipeline, and the data store.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expected outcomes, not results. The final review reports what was measured and what was not.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references are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general platform instead of one condition; how the explanations avoid diagnosing; what accuracy is expected.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LabLens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AI-Powered Medical Lab Report Analysis and Health Insights Platform</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 web platform that reads a lab report (PDF or scan), flags abnormal values, explains them in plain language and tracks them over time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BANOTH SWAPNA  23K91A0528</a:t>
            </a:r>
            <a:endParaRPr lang="en-US" sz="1500" dirty="0"/>
          </a:p>
          <a:p>
            <a:pPr indent="0" marL="0">
              <a:buNone/>
            </a:pPr>
            <a:r>
              <a:rPr lang="en-US" sz="1500" dirty="0">
                <a:solidFill>
                  <a:srgbClr val="FFFFFF"/>
                </a:solidFill>
              </a:rPr>
              <a:t>BEKKAM VARSHITHA  23K91A0535</a:t>
            </a:r>
            <a:endParaRPr lang="en-US" sz="1500" dirty="0"/>
          </a:p>
          <a:p>
            <a:pPr indent="0" marL="0">
              <a:buNone/>
            </a:pPr>
            <a:r>
              <a:rPr lang="en-US" sz="1500" dirty="0">
                <a:solidFill>
                  <a:srgbClr val="FFFFFF"/>
                </a:solidFill>
              </a:rPr>
              <a:t>A NAVADEEP REDDY  23K91A0502</a:t>
            </a:r>
            <a:endParaRPr lang="en-US" sz="1500" dirty="0"/>
          </a:p>
          <a:p>
            <a:pPr indent="0" marL="0">
              <a:buNone/>
            </a:pPr>
            <a:r>
              <a:rPr lang="en-US" sz="1500" dirty="0">
                <a:solidFill>
                  <a:srgbClr val="FFFFFF"/>
                </a:solidFill>
              </a:rPr>
              <a:t>BUDIGAM MANOJ  23K91A0546</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L.G REDDY,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and Technology (Autonomous)  ·  Batch A8 (CSE-A)  ·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from a confusing report to clear insight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343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337560"/>
          </a:xfrm>
          <a:prstGeom prst="rect">
            <a:avLst/>
          </a:prstGeom>
          <a:noFill/>
        </p:spPr>
        <p:txBody>
          <a:bodyPr wrap="square" lIns="0" rIns="0" tIns="0" bIns="0" anchor="t">
            <a:spAutoFit/>
          </a:bodyPr>
          <a:lstStyle/>
          <a:p>
            <a:pPr algn="l">
              <a:spcAft>
                <a:spcPts val="400"/>
              </a:spcAft>
            </a:pPr>
            <a:r>
              <a:rPr sz="2000" b="0" i="0">
                <a:solidFill>
                  <a:srgbClr val="475569"/>
                </a:solidFill>
              </a:rPr>
              <a:t>Patients receive lab reports as PDFs or scans full of parameters and reference ranges they cannot interpret. Understanding them normally needs a follow-up consultation, which adds cost and delay.</a:t>
            </a:r>
          </a:p>
        </p:txBody>
      </p:sp>
      <p:sp>
        <p:nvSpPr>
          <p:cNvPr id="30" name="Rounded Rectangle 29"/>
          <p:cNvSpPr/>
          <p:nvPr/>
        </p:nvSpPr>
        <p:spPr>
          <a:xfrm>
            <a:off x="4334255" y="1371600"/>
            <a:ext cx="3520440" cy="4343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337560"/>
          </a:xfrm>
          <a:prstGeom prst="rect">
            <a:avLst/>
          </a:prstGeom>
          <a:noFill/>
        </p:spPr>
        <p:txBody>
          <a:bodyPr wrap="square" lIns="0" rIns="0" tIns="0" bIns="0" anchor="t">
            <a:spAutoFit/>
          </a:bodyPr>
          <a:lstStyle/>
          <a:p>
            <a:pPr algn="l">
              <a:spcAft>
                <a:spcPts val="400"/>
              </a:spcAft>
            </a:pPr>
            <a:r>
              <a:rPr sz="2000" b="0" i="0">
                <a:solidFill>
                  <a:srgbClr val="475569"/>
                </a:solidFill>
              </a:rPr>
              <a:t>Read the report with OCR, identify each test name, value, unit and reference range, flag Low, Normal or High, explain abnormal values in plain language, and keep every report so trends can be seen.</a:t>
            </a:r>
          </a:p>
        </p:txBody>
      </p:sp>
      <p:sp>
        <p:nvSpPr>
          <p:cNvPr id="34" name="Rounded Rectangle 33"/>
          <p:cNvSpPr/>
          <p:nvPr/>
        </p:nvSpPr>
        <p:spPr>
          <a:xfrm>
            <a:off x="8119871" y="1371600"/>
            <a:ext cx="3520440" cy="4343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337560"/>
          </a:xfrm>
          <a:prstGeom prst="rect">
            <a:avLst/>
          </a:prstGeom>
          <a:noFill/>
        </p:spPr>
        <p:txBody>
          <a:bodyPr wrap="square" lIns="0" rIns="0" tIns="0" bIns="0" anchor="t">
            <a:spAutoFit/>
          </a:bodyPr>
          <a:lstStyle/>
          <a:p>
            <a:pPr algn="l">
              <a:spcAft>
                <a:spcPts val="400"/>
              </a:spcAft>
            </a:pPr>
            <a:r>
              <a:rPr sz="2000" b="0" i="0">
                <a:solidFill>
                  <a:srgbClr val="475569"/>
                </a:solidFill>
              </a:rPr>
              <a:t>A web application: upload a report, see colour-coded results, explanations of abnormal findings, a dashboard, historical trend charts and a comparison between two reports.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400" b="0" i="0">
                <a:solidFill>
                  <a:srgbClr val="0F172A"/>
                </a:solidFill>
              </a:rPr>
              <a:t>A. Karhade, I. Verma, V. Gadaokar and J. Mahajan, "RAG-Based Blood Test Report Analysis to Reverse Metabolic Syndrome," Communications on Applied Nonlinear Analysis, vol. 32, no. 10s, pp. 2771-2779, 2025, doi: 10.52783/cana.v32.5718.</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Retrieval-augmented generation on LLaMA-3 8B. Text chunks (1,024 characters, 100 overlap) are embedded into ChromaDB; the top 3 chunks plus the user's report values form the prompt. Sources are returned with the answer.</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Knowledge base of 20 medical books, 383 video transcripts and a 33-parameter range document. 20 responses were scored 1 to 100 by GPT-4 for correctness, clarity, helpfulness and completeness.</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it does not cover</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Metabolic syndrome only. No extraction accuracy or processing time is reported. Trend tracking across reports is listed only as future scope.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234440"/>
          <a:ext cx="11091672" cy="4828032"/>
        </p:xfrm>
        <a:graphic>
          <a:graphicData uri="http://schemas.openxmlformats.org/drawingml/2006/table">
            <a:tbl>
              <a:tblPr firstRow="0" bandRow="0">
                <a:tableStyleId>{5C22544A-7EE6-4342-B048-85BDC9FD1C3A}</a:tableStyleId>
              </a:tblPr>
              <a:tblGrid>
                <a:gridCol w="2423160"/>
                <a:gridCol w="3246120"/>
                <a:gridCol w="2560320"/>
                <a:gridCol w="2862072"/>
              </a:tblGrid>
              <a:tr h="603504">
                <a:tc>
                  <a:txBody>
                    <a:bodyPr wrap="square"/>
                    <a:lstStyle/>
                    <a:p>
                      <a:pPr algn="ctr"/>
                      <a:r>
                        <a:rPr sz="13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Result / note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03504">
                <a:tc>
                  <a:txBody>
                    <a:bodyPr wrap="square"/>
                    <a:lstStyle/>
                    <a:p>
                      <a:pPr algn="l"/>
                      <a:r>
                        <a:rPr sz="1300" b="0">
                          <a:solidFill>
                            <a:srgbClr val="0F172A"/>
                          </a:solidFill>
                        </a:rPr>
                        <a:t>Karhade et al., 2025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RAG with LLaMA-3 8B on a curated knowledge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20 books, 383 transcripts, 33 parameters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GPT-4 scores, 20 responses; metabolic syndrome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300" b="0">
                          <a:solidFill>
                            <a:srgbClr val="0F172A"/>
                          </a:solidFill>
                        </a:rPr>
                        <a:t>Ren et al., 2025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Serialises photographed lab-report images into structured form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Image-based laboratory reports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Full text not reviewed in detail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300" b="0">
                          <a:solidFill>
                            <a:srgbClr val="0F172A"/>
                          </a:solidFill>
                        </a:rPr>
                        <a:t>Xiang et al., 2026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Action cards from multimodal check-up reports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2,000 de-identified reports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84 % of outputs judged fully reasonable by experts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300" b="0">
                          <a:solidFill>
                            <a:srgbClr val="0F172A"/>
                          </a:solidFill>
                        </a:rPr>
                        <a:t>Bakhsheshi &amp; Beigy, 2025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General vision-language models read blood-report images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100 report images, 3 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Answers compared with Sentence-BERT; small dataset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300" b="0">
                          <a:solidFill>
                            <a:srgbClr val="0F172A"/>
                          </a:solidFill>
                        </a:rPr>
                        <a:t>Nguyen et al., 2025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Three fine-tuned FLAN-T5-Large models for medical text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Medical reports and conversations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Web and mobile app; not reviewed in detail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300" b="0">
                          <a:solidFill>
                            <a:srgbClr val="0F172A"/>
                          </a:solidFill>
                        </a:rPr>
                        <a:t>Du et al., 2020 [12]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PP-OCR: ultra-lightweight OCR system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General text images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OCR stage named in the abstract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300" b="0">
                          <a:solidFill>
                            <a:srgbClr val="0F172A"/>
                          </a:solidFill>
                        </a:rPr>
                        <a:t>Lafferty et al., 2001 [14]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Conditional random fields for sequence labelling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Sequence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Tagger named in the abstract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from the literature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TextBox 25"/>
          <p:cNvSpPr txBox="1"/>
          <p:nvPr/>
        </p:nvSpPr>
        <p:spPr>
          <a:xfrm>
            <a:off x="548640" y="1188720"/>
            <a:ext cx="6766560" cy="365760"/>
          </a:xfrm>
          <a:prstGeom prst="rect">
            <a:avLst/>
          </a:prstGeom>
          <a:noFill/>
        </p:spPr>
        <p:txBody>
          <a:bodyPr wrap="square" lIns="0" rIns="0" tIns="0" bIns="0" anchor="t">
            <a:spAutoFit/>
          </a:bodyPr>
          <a:lstStyle/>
          <a:p>
            <a:pPr algn="l">
              <a:spcAft>
                <a:spcPts val="400"/>
              </a:spcAft>
            </a:pPr>
            <a:r>
              <a:rPr sz="1300" b="1" i="0">
                <a:solidFill>
                  <a:srgbClr val="475569"/>
                </a:solidFill>
              </a:rPr>
              <a:t>Base paper: stated averages vs averages recomputed from its Table 4 (20 responses, score 1-100)</a:t>
            </a:r>
          </a:p>
        </p:txBody>
      </p:sp>
      <p:graphicFrame>
        <p:nvGraphicFramePr>
          <p:cNvPr id="27" name="Chart 26"/>
          <p:cNvGraphicFramePr>
            <a:graphicFrameLocks noGrp="1"/>
          </p:cNvGraphicFramePr>
          <p:nvPr/>
        </p:nvGraphicFramePr>
        <p:xfrm>
          <a:off x="548640" y="1600200"/>
          <a:ext cx="6766560" cy="4434840"/>
        </p:xfrm>
        <a:graphic>
          <a:graphicData uri="http://schemas.openxmlformats.org/drawingml/2006/chart">
            <c:chart xmlns:c="http://schemas.openxmlformats.org/drawingml/2006/chart" r:id="rId3"/>
          </a:graphicData>
        </a:graphic>
      </p:graphicFrame>
      <p:sp>
        <p:nvSpPr>
          <p:cNvPr id="28" name="Rounded Rectangle 27"/>
          <p:cNvSpPr/>
          <p:nvPr/>
        </p:nvSpPr>
        <p:spPr>
          <a:xfrm>
            <a:off x="7589520" y="1280160"/>
            <a:ext cx="4050791"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790688" y="1463039"/>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0" name="TextBox 29"/>
          <p:cNvSpPr txBox="1"/>
          <p:nvPr/>
        </p:nvSpPr>
        <p:spPr>
          <a:xfrm>
            <a:off x="8430768" y="1435607"/>
            <a:ext cx="3044951" cy="548640"/>
          </a:xfrm>
          <a:prstGeom prst="rect">
            <a:avLst/>
          </a:prstGeom>
          <a:noFill/>
        </p:spPr>
        <p:txBody>
          <a:bodyPr wrap="square" lIns="0" rIns="0" tIns="0" bIns="0" anchor="ctr">
            <a:spAutoFit/>
          </a:bodyPr>
          <a:lstStyle/>
          <a:p>
            <a:pPr algn="l">
              <a:spcAft>
                <a:spcPts val="400"/>
              </a:spcAft>
            </a:pPr>
            <a:r>
              <a:rPr sz="1600" b="1" i="0">
                <a:solidFill>
                  <a:srgbClr val="0F172A"/>
                </a:solidFill>
              </a:rPr>
              <a:t>Safety trade-off [3]</a:t>
            </a:r>
          </a:p>
        </p:txBody>
      </p:sp>
      <p:sp>
        <p:nvSpPr>
          <p:cNvPr id="31" name="TextBox 30"/>
          <p:cNvSpPr txBox="1"/>
          <p:nvPr/>
        </p:nvSpPr>
        <p:spPr>
          <a:xfrm>
            <a:off x="7790688" y="2148839"/>
            <a:ext cx="3648456" cy="1417319"/>
          </a:xfrm>
          <a:prstGeom prst="rect">
            <a:avLst/>
          </a:prstGeom>
          <a:noFill/>
        </p:spPr>
        <p:txBody>
          <a:bodyPr wrap="square" lIns="0" rIns="0" tIns="0" bIns="0" anchor="t">
            <a:spAutoFit/>
          </a:bodyPr>
          <a:lstStyle/>
          <a:p>
            <a:pPr algn="l">
              <a:spcAft>
                <a:spcPts val="400"/>
              </a:spcAft>
            </a:pPr>
            <a:r>
              <a:rPr sz="1400" b="0" i="0">
                <a:solidFill>
                  <a:srgbClr val="475569"/>
                </a:solidFill>
              </a:rPr>
              <a:t>Removing safety constraints raised problem recall from 0.527 to 0.825 but caused more diagnostic overstatement. Wording must stay educational.</a:t>
            </a:r>
          </a:p>
        </p:txBody>
      </p:sp>
      <p:sp>
        <p:nvSpPr>
          <p:cNvPr id="32" name="Rounded Rectangle 31"/>
          <p:cNvSpPr/>
          <p:nvPr/>
        </p:nvSpPr>
        <p:spPr>
          <a:xfrm>
            <a:off x="7589520" y="3840480"/>
            <a:ext cx="4050791" cy="2240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7790688" y="4023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4" name="TextBox 33"/>
          <p:cNvSpPr txBox="1"/>
          <p:nvPr/>
        </p:nvSpPr>
        <p:spPr>
          <a:xfrm>
            <a:off x="8430768" y="3995928"/>
            <a:ext cx="3044951" cy="548640"/>
          </a:xfrm>
          <a:prstGeom prst="rect">
            <a:avLst/>
          </a:prstGeom>
          <a:noFill/>
        </p:spPr>
        <p:txBody>
          <a:bodyPr wrap="square" lIns="0" rIns="0" tIns="0" bIns="0" anchor="ctr">
            <a:spAutoFit/>
          </a:bodyPr>
          <a:lstStyle/>
          <a:p>
            <a:pPr algn="l">
              <a:spcAft>
                <a:spcPts val="400"/>
              </a:spcAft>
            </a:pPr>
            <a:r>
              <a:rPr sz="1600" b="1" i="0">
                <a:solidFill>
                  <a:srgbClr val="0F172A"/>
                </a:solidFill>
              </a:rPr>
              <a:t>Image reports [4]</a:t>
            </a:r>
          </a:p>
        </p:txBody>
      </p:sp>
      <p:sp>
        <p:nvSpPr>
          <p:cNvPr id="35" name="TextBox 34"/>
          <p:cNvSpPr txBox="1"/>
          <p:nvPr/>
        </p:nvSpPr>
        <p:spPr>
          <a:xfrm>
            <a:off x="7790688" y="4709160"/>
            <a:ext cx="3648456" cy="1234440"/>
          </a:xfrm>
          <a:prstGeom prst="rect">
            <a:avLst/>
          </a:prstGeom>
          <a:noFill/>
        </p:spPr>
        <p:txBody>
          <a:bodyPr wrap="square" lIns="0" rIns="0" tIns="0" bIns="0" anchor="t">
            <a:spAutoFit/>
          </a:bodyPr>
          <a:lstStyle/>
          <a:p>
            <a:pPr algn="l">
              <a:spcAft>
                <a:spcPts val="400"/>
              </a:spcAft>
            </a:pPr>
            <a:r>
              <a:rPr sz="1400" b="0" i="0">
                <a:solidFill>
                  <a:srgbClr val="475569"/>
                </a:solidFill>
              </a:rPr>
              <a:t>Authors call results encouraging but warn they are limited by dataset size (100 images).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Lab issues PDF or scan</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Patient cannot interpret it</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Follow-up consultation</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Extra cost and delay</a:t>
            </a:r>
          </a:p>
        </p:txBody>
      </p:sp>
      <p:sp>
        <p:nvSpPr>
          <p:cNvPr id="33" name="Rounded Rectangle 32"/>
          <p:cNvSpPr/>
          <p:nvPr/>
        </p:nvSpPr>
        <p:spPr>
          <a:xfrm>
            <a:off x="548640"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Digitisation tools</a:t>
            </a:r>
          </a:p>
        </p:txBody>
      </p:sp>
      <p:sp>
        <p:nvSpPr>
          <p:cNvPr id="36" name="TextBox 35"/>
          <p:cNvSpPr txBox="1"/>
          <p:nvPr/>
        </p:nvSpPr>
        <p:spPr>
          <a:xfrm>
            <a:off x="749808" y="3703320"/>
            <a:ext cx="5038344" cy="2240279"/>
          </a:xfrm>
          <a:prstGeom prst="rect">
            <a:avLst/>
          </a:prstGeom>
          <a:noFill/>
        </p:spPr>
        <p:txBody>
          <a:bodyPr wrap="square" lIns="0" rIns="0" tIns="0" bIns="0" anchor="t">
            <a:spAutoFit/>
          </a:bodyPr>
          <a:lstStyle/>
          <a:p>
            <a:pPr algn="l">
              <a:spcAft>
                <a:spcPts val="400"/>
              </a:spcAft>
            </a:pPr>
            <a:r>
              <a:rPr sz="2000" b="0" i="0">
                <a:solidFill>
                  <a:srgbClr val="475569"/>
                </a:solidFill>
              </a:rPr>
              <a:t>OCR and report-digitising tools turn a document into structured data, but they stop there: the patient still does not learn what an abnormal value means, and no history is kept.</a:t>
            </a:r>
          </a:p>
        </p:txBody>
      </p:sp>
      <p:sp>
        <p:nvSpPr>
          <p:cNvPr id="37" name="Rounded Rectangle 36"/>
          <p:cNvSpPr/>
          <p:nvPr/>
        </p:nvSpPr>
        <p:spPr>
          <a:xfrm>
            <a:off x="6199632"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Language-model assistants</a:t>
            </a:r>
          </a:p>
        </p:txBody>
      </p:sp>
      <p:sp>
        <p:nvSpPr>
          <p:cNvPr id="40" name="TextBox 39"/>
          <p:cNvSpPr txBox="1"/>
          <p:nvPr/>
        </p:nvSpPr>
        <p:spPr>
          <a:xfrm>
            <a:off x="6400800" y="3703320"/>
            <a:ext cx="5038344" cy="2240279"/>
          </a:xfrm>
          <a:prstGeom prst="rect">
            <a:avLst/>
          </a:prstGeom>
          <a:noFill/>
        </p:spPr>
        <p:txBody>
          <a:bodyPr wrap="square" lIns="0" rIns="0" tIns="0" bIns="0" anchor="t">
            <a:spAutoFit/>
          </a:bodyPr>
          <a:lstStyle/>
          <a:p>
            <a:pPr algn="l">
              <a:spcAft>
                <a:spcPts val="400"/>
              </a:spcAft>
            </a:pPr>
            <a:r>
              <a:rPr sz="2000" b="0" i="0">
                <a:solidFill>
                  <a:srgbClr val="475569"/>
                </a:solidFill>
              </a:rPr>
              <a:t>RAG and chat assistants can explain results in plain words, but the one in the base paper is built for a single condition and needs the user to type a query.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Written for clinicians</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2100" b="0" i="0">
                <a:solidFill>
                  <a:srgbClr val="475569"/>
                </a:solidFill>
              </a:rPr>
              <a:t>Laboratory reports use terms and ranges that patients cannot interpret on their own.</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Manual reading is slow</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2100" b="0" i="0">
                <a:solidFill>
                  <a:srgbClr val="475569"/>
                </a:solidFill>
              </a:rPr>
              <a:t>Reading every parameter by hand is slow and error-prone for patients and for staff.</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explanation</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2100" b="0" i="0">
                <a:solidFill>
                  <a:srgbClr val="475569"/>
                </a:solidFill>
              </a:rPr>
              <a:t>Tools that digitise reports do not say what an abnormal value means.</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history</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2100" b="0" i="0">
                <a:solidFill>
                  <a:srgbClr val="475569"/>
                </a:solidFill>
              </a:rPr>
              <a:t>Without retained history a patient cannot see whether a parameter is improving or worsening.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Scope</a:t>
            </a:r>
          </a:p>
        </p:txBody>
      </p:sp>
      <p:sp>
        <p:nvSpPr>
          <p:cNvPr id="28" name="TextBox 27"/>
          <p:cNvSpPr txBox="1"/>
          <p:nvPr/>
        </p:nvSpPr>
        <p:spPr>
          <a:xfrm>
            <a:off x="3200400" y="1325880"/>
            <a:ext cx="8412480" cy="822960"/>
          </a:xfrm>
          <a:prstGeom prst="rect">
            <a:avLst/>
          </a:prstGeom>
          <a:noFill/>
        </p:spPr>
        <p:txBody>
          <a:bodyPr wrap="square" lIns="0" rIns="0" tIns="0" bIns="0" anchor="ctr">
            <a:spAutoFit/>
          </a:bodyPr>
          <a:lstStyle/>
          <a:p>
            <a:pPr algn="l">
              <a:spcAft>
                <a:spcPts val="400"/>
              </a:spcAft>
            </a:pPr>
            <a:r>
              <a:rPr sz="1900" b="0" i="0">
                <a:solidFill>
                  <a:srgbClr val="0F172A"/>
                </a:solidFill>
              </a:rPr>
              <a:t>The base paper applies RAG to blood reports for one condition; a general platform for arbitrary lab parameters is missing.</a:t>
            </a:r>
          </a:p>
        </p:txBody>
      </p:sp>
      <p:sp>
        <p:nvSpPr>
          <p:cNvPr id="29" name="Rounded Rectangle 28"/>
          <p:cNvSpPr/>
          <p:nvPr/>
        </p:nvSpPr>
        <p:spPr>
          <a:xfrm>
            <a:off x="548640" y="2313432"/>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Extraction</a:t>
            </a:r>
          </a:p>
        </p:txBody>
      </p:sp>
      <p:sp>
        <p:nvSpPr>
          <p:cNvPr id="31" name="TextBox 30"/>
          <p:cNvSpPr txBox="1"/>
          <p:nvPr/>
        </p:nvSpPr>
        <p:spPr>
          <a:xfrm>
            <a:off x="3200400" y="2313432"/>
            <a:ext cx="8412480" cy="822960"/>
          </a:xfrm>
          <a:prstGeom prst="rect">
            <a:avLst/>
          </a:prstGeom>
          <a:noFill/>
        </p:spPr>
        <p:txBody>
          <a:bodyPr wrap="square" lIns="0" rIns="0" tIns="0" bIns="0" anchor="ctr">
            <a:spAutoFit/>
          </a:bodyPr>
          <a:lstStyle/>
          <a:p>
            <a:pPr algn="l">
              <a:spcAft>
                <a:spcPts val="400"/>
              </a:spcAft>
            </a:pPr>
            <a:r>
              <a:rPr sz="1900" b="0" i="0">
                <a:solidFill>
                  <a:srgbClr val="0F172A"/>
                </a:solidFill>
              </a:rPr>
              <a:t>Reading values, units and ranges off the document is assumed, not measured, in the base paper.</a:t>
            </a:r>
          </a:p>
        </p:txBody>
      </p:sp>
      <p:sp>
        <p:nvSpPr>
          <p:cNvPr id="32" name="Rounded Rectangle 31"/>
          <p:cNvSpPr/>
          <p:nvPr/>
        </p:nvSpPr>
        <p:spPr>
          <a:xfrm>
            <a:off x="548640" y="3300984"/>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Trends</a:t>
            </a:r>
          </a:p>
        </p:txBody>
      </p:sp>
      <p:sp>
        <p:nvSpPr>
          <p:cNvPr id="34" name="TextBox 33"/>
          <p:cNvSpPr txBox="1"/>
          <p:nvPr/>
        </p:nvSpPr>
        <p:spPr>
          <a:xfrm>
            <a:off x="3200400" y="3300984"/>
            <a:ext cx="8412480" cy="822960"/>
          </a:xfrm>
          <a:prstGeom prst="rect">
            <a:avLst/>
          </a:prstGeom>
          <a:noFill/>
        </p:spPr>
        <p:txBody>
          <a:bodyPr wrap="square" lIns="0" rIns="0" tIns="0" bIns="0" anchor="ctr">
            <a:spAutoFit/>
          </a:bodyPr>
          <a:lstStyle/>
          <a:p>
            <a:pPr algn="l">
              <a:spcAft>
                <a:spcPts val="400"/>
              </a:spcAft>
            </a:pPr>
            <a:r>
              <a:rPr sz="1900" b="0" i="0">
                <a:solidFill>
                  <a:srgbClr val="0F172A"/>
                </a:solidFill>
              </a:rPr>
              <a:t>Comparing successive reports is future scope in the base paper; a patient cannot see change over time.</a:t>
            </a:r>
          </a:p>
        </p:txBody>
      </p:sp>
      <p:sp>
        <p:nvSpPr>
          <p:cNvPr id="35" name="Rounded Rectangle 34"/>
          <p:cNvSpPr/>
          <p:nvPr/>
        </p:nvSpPr>
        <p:spPr>
          <a:xfrm>
            <a:off x="548640" y="4288536"/>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Evaluation</a:t>
            </a:r>
          </a:p>
        </p:txBody>
      </p:sp>
      <p:sp>
        <p:nvSpPr>
          <p:cNvPr id="37" name="TextBox 36"/>
          <p:cNvSpPr txBox="1"/>
          <p:nvPr/>
        </p:nvSpPr>
        <p:spPr>
          <a:xfrm>
            <a:off x="3200400" y="4288536"/>
            <a:ext cx="8412480" cy="822960"/>
          </a:xfrm>
          <a:prstGeom prst="rect">
            <a:avLst/>
          </a:prstGeom>
          <a:noFill/>
        </p:spPr>
        <p:txBody>
          <a:bodyPr wrap="square" lIns="0" rIns="0" tIns="0" bIns="0" anchor="ctr">
            <a:spAutoFit/>
          </a:bodyPr>
          <a:lstStyle/>
          <a:p>
            <a:pPr algn="l">
              <a:spcAft>
                <a:spcPts val="400"/>
              </a:spcAft>
            </a:pPr>
            <a:r>
              <a:rPr sz="1900" b="0" i="0">
                <a:solidFill>
                  <a:srgbClr val="0F172A"/>
                </a:solidFill>
              </a:rPr>
              <a:t>Responses are scored by an LLM; extraction accuracy against labelled reports is not reported.</a:t>
            </a:r>
          </a:p>
        </p:txBody>
      </p:sp>
      <p:sp>
        <p:nvSpPr>
          <p:cNvPr id="38" name="Rounded Rectangle 37"/>
          <p:cNvSpPr/>
          <p:nvPr/>
        </p:nvSpPr>
        <p:spPr>
          <a:xfrm>
            <a:off x="548640" y="5276088"/>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Safe wording</a:t>
            </a:r>
          </a:p>
        </p:txBody>
      </p:sp>
      <p:sp>
        <p:nvSpPr>
          <p:cNvPr id="40" name="TextBox 39"/>
          <p:cNvSpPr txBox="1"/>
          <p:nvPr/>
        </p:nvSpPr>
        <p:spPr>
          <a:xfrm>
            <a:off x="3200400" y="5276088"/>
            <a:ext cx="8412480" cy="822960"/>
          </a:xfrm>
          <a:prstGeom prst="rect">
            <a:avLst/>
          </a:prstGeom>
          <a:noFill/>
        </p:spPr>
        <p:txBody>
          <a:bodyPr wrap="square" lIns="0" rIns="0" tIns="0" bIns="0" anchor="ctr">
            <a:spAutoFit/>
          </a:bodyPr>
          <a:lstStyle/>
          <a:p>
            <a:pPr algn="l">
              <a:spcAft>
                <a:spcPts val="400"/>
              </a:spcAft>
            </a:pPr>
            <a:r>
              <a:rPr sz="1900" b="0" i="0">
                <a:solidFill>
                  <a:srgbClr val="0F172A"/>
                </a:solidFill>
              </a:rPr>
              <a:t>Explanations must inform without diagnosing; unconstrained generation overstates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286000"/>
          </a:xfrm>
          <a:prstGeom prst="rect">
            <a:avLst/>
          </a:prstGeom>
          <a:noFill/>
        </p:spPr>
        <p:txBody>
          <a:bodyPr wrap="square" lIns="0" rIns="0" tIns="0" bIns="0" anchor="ctr">
            <a:spAutoFit/>
          </a:bodyPr>
          <a:lstStyle/>
          <a:p>
            <a:pPr algn="l">
              <a:spcAft>
                <a:spcPts val="400"/>
              </a:spcAft>
            </a:pPr>
            <a:r>
              <a:rPr sz="2200" b="0" i="0">
                <a:solidFill>
                  <a:srgbClr val="0F172A"/>
                </a:solidFill>
              </a:rPr>
              <a:t>Given a laboratory report as a </a:t>
            </a:r>
            <a:r>
              <a:rPr sz="2200" b="1" i="0">
                <a:solidFill>
                  <a:srgbClr val="0F172A"/>
                </a:solidFill>
              </a:rPr>
              <a:t>PDF or scanned image</a:t>
            </a:r>
            <a:r>
              <a:rPr sz="2200" b="0" i="0">
                <a:solidFill>
                  <a:srgbClr val="0F172A"/>
                </a:solidFill>
              </a:rPr>
              <a:t>, extract each test with its value, unit and reference range, </a:t>
            </a:r>
            <a:r>
              <a:rPr sz="2200" b="1" i="0">
                <a:solidFill>
                  <a:srgbClr val="0F172A"/>
                </a:solidFill>
              </a:rPr>
              <a:t>flag abnormal results</a:t>
            </a:r>
            <a:r>
              <a:rPr sz="2200" b="0" i="0">
                <a:solidFill>
                  <a:srgbClr val="0F172A"/>
                </a:solidFill>
              </a:rPr>
              <a:t>, explain them in </a:t>
            </a:r>
            <a:r>
              <a:rPr sz="2200" b="1" i="0">
                <a:solidFill>
                  <a:srgbClr val="0F172A"/>
                </a:solidFill>
              </a:rPr>
              <a:t>plain language without diagnosing</a:t>
            </a:r>
            <a:r>
              <a:rPr sz="2200" b="0" i="0">
                <a:solidFill>
                  <a:srgbClr val="0F172A"/>
                </a:solidFill>
              </a:rPr>
              <a:t>, and keep the history so that </a:t>
            </a:r>
            <a:r>
              <a:rPr sz="2200" b="1" i="0">
                <a:solidFill>
                  <a:srgbClr val="0F172A"/>
                </a:solidFill>
              </a:rPr>
              <a:t>trends over successive reports</a:t>
            </a:r>
            <a:r>
              <a:rPr sz="2200" b="0" i="0">
                <a:solidFill>
                  <a:srgbClr val="0F172A"/>
                </a:solidFill>
              </a:rPr>
              <a:t> can be seen, all through a web interface a patient can use.</a:t>
            </a:r>
          </a:p>
        </p:txBody>
      </p:sp>
      <p:sp>
        <p:nvSpPr>
          <p:cNvPr id="28" name="Rounded Rectangle 27"/>
          <p:cNvSpPr/>
          <p:nvPr/>
        </p:nvSpPr>
        <p:spPr>
          <a:xfrm>
            <a:off x="548640" y="4114800"/>
            <a:ext cx="3520440"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663440"/>
            <a:ext cx="3108960" cy="914400"/>
          </a:xfrm>
          <a:prstGeom prst="rect">
            <a:avLst/>
          </a:prstGeom>
          <a:noFill/>
        </p:spPr>
        <p:txBody>
          <a:bodyPr wrap="square" lIns="0" rIns="0" tIns="0" bIns="0" anchor="t">
            <a:spAutoFit/>
          </a:bodyPr>
          <a:lstStyle/>
          <a:p>
            <a:pPr algn="l">
              <a:spcAft>
                <a:spcPts val="400"/>
              </a:spcAft>
            </a:pPr>
            <a:r>
              <a:rPr sz="1600" b="0" i="0">
                <a:solidFill>
                  <a:srgbClr val="475569"/>
                </a:solidFill>
              </a:rPr>
              <a:t>A PDF, JPG, JPEG or PNG lab report, up to 15 MB</a:t>
            </a:r>
          </a:p>
        </p:txBody>
      </p:sp>
      <p:sp>
        <p:nvSpPr>
          <p:cNvPr id="31" name="Rounded Rectangle 30"/>
          <p:cNvSpPr/>
          <p:nvPr/>
        </p:nvSpPr>
        <p:spPr>
          <a:xfrm>
            <a:off x="4334255" y="4114800"/>
            <a:ext cx="3520440"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663440"/>
            <a:ext cx="3108960" cy="914400"/>
          </a:xfrm>
          <a:prstGeom prst="rect">
            <a:avLst/>
          </a:prstGeom>
          <a:noFill/>
        </p:spPr>
        <p:txBody>
          <a:bodyPr wrap="square" lIns="0" rIns="0" tIns="0" bIns="0" anchor="t">
            <a:spAutoFit/>
          </a:bodyPr>
          <a:lstStyle/>
          <a:p>
            <a:pPr algn="l">
              <a:spcAft>
                <a:spcPts val="400"/>
              </a:spcAft>
            </a:pPr>
            <a:r>
              <a:rPr sz="1600" b="0" i="0">
                <a:solidFill>
                  <a:srgbClr val="475569"/>
                </a:solidFill>
              </a:rPr>
              <a:t>Test table, Low / Normal / High flags, explanations of abnormal values</a:t>
            </a:r>
          </a:p>
        </p:txBody>
      </p:sp>
      <p:sp>
        <p:nvSpPr>
          <p:cNvPr id="34" name="Rounded Rectangle 33"/>
          <p:cNvSpPr/>
          <p:nvPr/>
        </p:nvSpPr>
        <p:spPr>
          <a:xfrm>
            <a:off x="8119871" y="4114800"/>
            <a:ext cx="3520440"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663440"/>
            <a:ext cx="3108960" cy="914400"/>
          </a:xfrm>
          <a:prstGeom prst="rect">
            <a:avLst/>
          </a:prstGeom>
          <a:noFill/>
        </p:spPr>
        <p:txBody>
          <a:bodyPr wrap="square" lIns="0" rIns="0" tIns="0" bIns="0" anchor="t">
            <a:spAutoFit/>
          </a:bodyPr>
          <a:lstStyle/>
          <a:p>
            <a:pPr algn="l">
              <a:spcAft>
                <a:spcPts val="400"/>
              </a:spcAft>
            </a:pPr>
            <a:r>
              <a:rPr sz="1600" b="0" i="0">
                <a:solidFill>
                  <a:srgbClr val="475569"/>
                </a:solidFill>
              </a:rPr>
              <a:t>Report library, dashboard, trend charts, report comparison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846320"/>
          </a:xfrm>
          <a:prstGeom prst="rect">
            <a:avLst/>
          </a:prstGeom>
          <a:noFill/>
        </p:spPr>
        <p:txBody>
          <a:bodyPr wrap="square" lIns="0" rIns="0" tIns="0" bIns="0" anchor="t">
            <a:spAutoFit/>
          </a:bodyPr>
          <a:lstStyle/>
          <a:p>
            <a:pPr algn="l">
              <a:spcAft>
                <a:spcPts val="900"/>
              </a:spcAft>
            </a:pPr>
            <a:r>
              <a:rPr sz="2400" b="0" i="0">
                <a:solidFill>
                  <a:srgbClr val="0F172A"/>
                </a:solidFill>
              </a:rPr>
              <a:t>1.  Accept lab reports in PDF or scanned image form and extract text using high-speed OCR.</a:t>
            </a:r>
          </a:p>
          <a:p>
            <a:pPr algn="l">
              <a:spcAft>
                <a:spcPts val="900"/>
              </a:spcAft>
            </a:pPr>
            <a:r>
              <a:rPr sz="2400" b="0" i="0">
                <a:solidFill>
                  <a:srgbClr val="0F172A"/>
                </a:solidFill>
              </a:rPr>
              <a:t>2.  Apply named entity recognition to identify test parameters, values, units and reference ranges.</a:t>
            </a:r>
          </a:p>
          <a:p>
            <a:pPr algn="l">
              <a:spcAft>
                <a:spcPts val="900"/>
              </a:spcAft>
            </a:pPr>
            <a:r>
              <a:rPr sz="2400" b="0" i="0">
                <a:solidFill>
                  <a:srgbClr val="0F172A"/>
                </a:solidFill>
              </a:rPr>
              <a:t>3.  Compare each extracted value against its reference range and flag abnormal results.</a:t>
            </a:r>
          </a:p>
          <a:p>
            <a:pPr algn="l">
              <a:spcAft>
                <a:spcPts val="900"/>
              </a:spcAft>
            </a:pPr>
            <a:r>
              <a:rPr sz="2400" b="0" i="0">
                <a:solidFill>
                  <a:srgbClr val="0F172A"/>
                </a:solidFill>
              </a:rPr>
              <a:t>4.  Generate plain-language explanations for abnormal findings, grounded in trusted medical sources.</a:t>
            </a:r>
          </a:p>
          <a:p>
            <a:pPr algn="l">
              <a:spcAft>
                <a:spcPts val="900"/>
              </a:spcAft>
            </a:pPr>
            <a:r>
              <a:rPr sz="2400" b="0" i="0">
                <a:solidFill>
                  <a:srgbClr val="0F172A"/>
                </a:solidFill>
              </a:rPr>
              <a:t>5.  Track parameters across successive reports to display health trends over time.</a:t>
            </a:r>
          </a:p>
          <a:p>
            <a:pPr algn="l">
              <a:spcAft>
                <a:spcPts val="900"/>
              </a:spcAft>
            </a:pPr>
            <a:r>
              <a:rPr sz="2400" b="0" i="0">
                <a:solidFill>
                  <a:srgbClr val="0F172A"/>
                </a:solidFill>
              </a:rPr>
              <a:t>6.  Present results through a dashboard and evaluate extraction accuracy against manually labelled reports.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 (from the project abstract)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1546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Extract</a:t>
            </a:r>
          </a:p>
        </p:txBody>
      </p:sp>
      <p:sp>
        <p:nvSpPr>
          <p:cNvPr id="29" name="TextBox 28"/>
          <p:cNvSpPr txBox="1"/>
          <p:nvPr/>
        </p:nvSpPr>
        <p:spPr>
          <a:xfrm>
            <a:off x="749808" y="2194560"/>
            <a:ext cx="2231136" cy="2148840"/>
          </a:xfrm>
          <a:prstGeom prst="rect">
            <a:avLst/>
          </a:prstGeom>
          <a:noFill/>
        </p:spPr>
        <p:txBody>
          <a:bodyPr wrap="square" lIns="0" rIns="0" tIns="0" bIns="0" anchor="t">
            <a:spAutoFit/>
          </a:bodyPr>
          <a:lstStyle/>
          <a:p>
            <a:pPr algn="l">
              <a:spcAft>
                <a:spcPts val="400"/>
              </a:spcAft>
            </a:pPr>
            <a:r>
              <a:rPr sz="1700" b="0" i="0">
                <a:solidFill>
                  <a:srgbClr val="475569"/>
                </a:solidFill>
              </a:rPr>
              <a:t>PP-OCR text extraction, designed for low-resolution and noisy scans of PDFs and images.</a:t>
            </a:r>
          </a:p>
        </p:txBody>
      </p:sp>
      <p:sp>
        <p:nvSpPr>
          <p:cNvPr id="30" name="Rounded Rectangle 29"/>
          <p:cNvSpPr/>
          <p:nvPr/>
        </p:nvSpPr>
        <p:spPr>
          <a:xfrm>
            <a:off x="3364992" y="1325880"/>
            <a:ext cx="2633472" cy="31546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Understand</a:t>
            </a:r>
          </a:p>
        </p:txBody>
      </p:sp>
      <p:sp>
        <p:nvSpPr>
          <p:cNvPr id="33" name="TextBox 32"/>
          <p:cNvSpPr txBox="1"/>
          <p:nvPr/>
        </p:nvSpPr>
        <p:spPr>
          <a:xfrm>
            <a:off x="3566160" y="2194560"/>
            <a:ext cx="2231136" cy="2148840"/>
          </a:xfrm>
          <a:prstGeom prst="rect">
            <a:avLst/>
          </a:prstGeom>
          <a:noFill/>
        </p:spPr>
        <p:txBody>
          <a:bodyPr wrap="square" lIns="0" rIns="0" tIns="0" bIns="0" anchor="t">
            <a:spAutoFit/>
          </a:bodyPr>
          <a:lstStyle/>
          <a:p>
            <a:pPr algn="l">
              <a:spcAft>
                <a:spcPts val="400"/>
              </a:spcAft>
            </a:pPr>
            <a:r>
              <a:rPr sz="1700" b="0" i="0">
                <a:solidFill>
                  <a:srgbClr val="475569"/>
                </a:solidFill>
              </a:rPr>
              <a:t>CRF-based named entity recognition: test name, result, unit, reference range and status flag.</a:t>
            </a:r>
          </a:p>
        </p:txBody>
      </p:sp>
      <p:sp>
        <p:nvSpPr>
          <p:cNvPr id="34" name="Rounded Rectangle 33"/>
          <p:cNvSpPr/>
          <p:nvPr/>
        </p:nvSpPr>
        <p:spPr>
          <a:xfrm>
            <a:off x="6181344" y="1325880"/>
            <a:ext cx="2633472" cy="31546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Explain</a:t>
            </a:r>
          </a:p>
        </p:txBody>
      </p:sp>
      <p:sp>
        <p:nvSpPr>
          <p:cNvPr id="37" name="TextBox 36"/>
          <p:cNvSpPr txBox="1"/>
          <p:nvPr/>
        </p:nvSpPr>
        <p:spPr>
          <a:xfrm>
            <a:off x="6382512" y="2194560"/>
            <a:ext cx="2231136" cy="2148840"/>
          </a:xfrm>
          <a:prstGeom prst="rect">
            <a:avLst/>
          </a:prstGeom>
          <a:noFill/>
        </p:spPr>
        <p:txBody>
          <a:bodyPr wrap="square" lIns="0" rIns="0" tIns="0" bIns="0" anchor="t">
            <a:spAutoFit/>
          </a:bodyPr>
          <a:lstStyle/>
          <a:p>
            <a:pPr algn="l">
              <a:spcAft>
                <a:spcPts val="400"/>
              </a:spcAft>
            </a:pPr>
            <a:r>
              <a:rPr sz="1700" b="0" i="0">
                <a:solidFill>
                  <a:srgbClr val="475569"/>
                </a:solidFill>
              </a:rPr>
              <a:t>Rule-based and LLM interpreter writes plain-language explanations, possible causes and simple advice.</a:t>
            </a:r>
          </a:p>
        </p:txBody>
      </p:sp>
      <p:sp>
        <p:nvSpPr>
          <p:cNvPr id="38" name="Rounded Rectangle 37"/>
          <p:cNvSpPr/>
          <p:nvPr/>
        </p:nvSpPr>
        <p:spPr>
          <a:xfrm>
            <a:off x="8997696" y="1325880"/>
            <a:ext cx="2633472" cy="31546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Track</a:t>
            </a:r>
          </a:p>
        </p:txBody>
      </p:sp>
      <p:sp>
        <p:nvSpPr>
          <p:cNvPr id="41" name="TextBox 40"/>
          <p:cNvSpPr txBox="1"/>
          <p:nvPr/>
        </p:nvSpPr>
        <p:spPr>
          <a:xfrm>
            <a:off x="9198864" y="2194560"/>
            <a:ext cx="2231136" cy="2148840"/>
          </a:xfrm>
          <a:prstGeom prst="rect">
            <a:avLst/>
          </a:prstGeom>
          <a:noFill/>
        </p:spPr>
        <p:txBody>
          <a:bodyPr wrap="square" lIns="0" rIns="0" tIns="0" bIns="0" anchor="t">
            <a:spAutoFit/>
          </a:bodyPr>
          <a:lstStyle/>
          <a:p>
            <a:pPr algn="l">
              <a:spcAft>
                <a:spcPts val="400"/>
              </a:spcAft>
            </a:pPr>
            <a:r>
              <a:rPr sz="1700" b="0" i="0">
                <a:solidFill>
                  <a:srgbClr val="475569"/>
                </a:solidFill>
              </a:rPr>
              <a:t>Longitudinal trend engine shows parameter changes across successive checkups.</a:t>
            </a:r>
          </a:p>
        </p:txBody>
      </p:sp>
      <p:sp>
        <p:nvSpPr>
          <p:cNvPr id="42" name="Rounded Rectangle 41"/>
          <p:cNvSpPr/>
          <p:nvPr/>
        </p:nvSpPr>
        <p:spPr>
          <a:xfrm>
            <a:off x="548640" y="470916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498348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S</a:t>
            </a:r>
          </a:p>
        </p:txBody>
      </p:sp>
      <p:sp>
        <p:nvSpPr>
          <p:cNvPr id="44" name="TextBox 43"/>
          <p:cNvSpPr txBox="1"/>
          <p:nvPr/>
        </p:nvSpPr>
        <p:spPr>
          <a:xfrm>
            <a:off x="1645920" y="4846320"/>
            <a:ext cx="9784080" cy="411480"/>
          </a:xfrm>
          <a:prstGeom prst="rect">
            <a:avLst/>
          </a:prstGeom>
          <a:noFill/>
        </p:spPr>
        <p:txBody>
          <a:bodyPr wrap="square" lIns="0" rIns="0" tIns="0" bIns="0" anchor="t">
            <a:spAutoFit/>
          </a:bodyPr>
          <a:lstStyle/>
          <a:p>
            <a:pPr algn="l">
              <a:spcAft>
                <a:spcPts val="400"/>
              </a:spcAft>
            </a:pPr>
            <a:r>
              <a:rPr sz="1700" b="1" i="0">
                <a:solidFill>
                  <a:srgbClr val="0F172A"/>
                </a:solidFill>
              </a:rPr>
              <a:t>Storage and interface</a:t>
            </a:r>
          </a:p>
        </p:txBody>
      </p:sp>
      <p:sp>
        <p:nvSpPr>
          <p:cNvPr id="45" name="TextBox 44"/>
          <p:cNvSpPr txBox="1"/>
          <p:nvPr/>
        </p:nvSpPr>
        <p:spPr>
          <a:xfrm>
            <a:off x="1645920" y="5285232"/>
            <a:ext cx="9784080" cy="731520"/>
          </a:xfrm>
          <a:prstGeom prst="rect">
            <a:avLst/>
          </a:prstGeom>
          <a:noFill/>
        </p:spPr>
        <p:txBody>
          <a:bodyPr wrap="square" lIns="0" rIns="0" tIns="0" bIns="0" anchor="t">
            <a:spAutoFit/>
          </a:bodyPr>
          <a:lstStyle/>
          <a:p>
            <a:pPr algn="l">
              <a:spcAft>
                <a:spcPts val="400"/>
              </a:spcAft>
            </a:pPr>
            <a:r>
              <a:rPr sz="1400" b="0" i="0">
                <a:solidFill>
                  <a:srgbClr val="475569"/>
                </a:solidFill>
              </a:rPr>
              <a:t>Supabase (PostgreSQL with row-level security), React with Tailwind and Recharts, serverless Python functions; target below 10 seconds per report. Review 2 records what the implementation settled 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3138054" y="1188720"/>
            <a:ext cx="5885410" cy="4846320"/>
          </a:xfrm>
          <a:prstGeom prst="rect">
            <a:avLst/>
          </a:prstGeom>
        </p:spPr>
      </p:pic>
      <p:sp>
        <p:nvSpPr>
          <p:cNvPr id="27" name="TextBox 26"/>
          <p:cNvSpPr txBox="1"/>
          <p:nvPr/>
        </p:nvSpPr>
        <p:spPr>
          <a:xfrm>
            <a:off x="548640" y="6035040"/>
            <a:ext cx="11091672" cy="274320"/>
          </a:xfrm>
          <a:prstGeom prst="rect">
            <a:avLst/>
          </a:prstGeom>
          <a:noFill/>
        </p:spPr>
        <p:txBody>
          <a:bodyPr wrap="square" lIns="0" rIns="0" tIns="0" bIns="0" anchor="t">
            <a:spAutoFit/>
          </a:bodyPr>
          <a:lstStyle/>
          <a:p>
            <a:pPr algn="ctr">
              <a:spcAft>
                <a:spcPts val="400"/>
              </a:spcAft>
            </a:pPr>
            <a:r>
              <a:rPr sz="1200" b="0" i="1">
                <a:solidFill>
                  <a:srgbClr val="475569"/>
                </a:solidFill>
              </a:rPr>
              <a:t>Upload, extraction, classification, explanation and storage behind a web interface (tiers as built; see Review 2 for the technology choices)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Structured extraction</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Test name, value, unit and reference range read from PDFs and scans.</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Clear flags</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Every result marked Low, Normal or High against its own range.</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Plain-language insight</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Explanations and general causes for abnormal values, without diagnosis.</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Trend tracking</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A parameter followed across reports, and two reports compared side by side.</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Measured accuracy</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Extraction accuracy reported on labelled reports, including where it fails.</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Fast and usable</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Report processed in seconds (abstract target: under 10) in a web dashboard.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88720"/>
            <a:ext cx="11091672" cy="5120640"/>
          </a:xfrm>
          <a:prstGeom prst="rect">
            <a:avLst/>
          </a:prstGeom>
          <a:noFill/>
        </p:spPr>
        <p:txBody>
          <a:bodyPr wrap="square" lIns="0" rIns="0" tIns="0" bIns="0" anchor="t">
            <a:spAutoFit/>
          </a:bodyPr>
          <a:lstStyle/>
          <a:p>
            <a:pPr algn="l">
              <a:spcAft>
                <a:spcPts val="400"/>
              </a:spcAft>
            </a:pPr>
            <a:r>
              <a:rPr sz="1400" b="0" i="0">
                <a:solidFill>
                  <a:srgbClr val="0F172A"/>
                </a:solidFill>
              </a:rPr>
              <a:t>[1] A. Karhade, I. Verma, V. Gadaokar, and J. Mahajan, "RAG-based blood test report analysis to reverse metabolic syndrome," Commun. Appl. Nonlinear Anal., vol. 32, no. 10s, pp. 2771-2779, 2025, doi: 10.52783/cana.v32.5718.</a:t>
            </a:r>
          </a:p>
          <a:p>
            <a:pPr algn="l">
              <a:spcAft>
                <a:spcPts val="400"/>
              </a:spcAft>
            </a:pPr>
            <a:r>
              <a:rPr sz="1400" b="0" i="0">
                <a:solidFill>
                  <a:srgbClr val="0F172A"/>
                </a:solidFill>
              </a:rPr>
              <a:t>[2] X. Ren, D. Dou, X. He, F. Cui, and J. Zhao, "A serialization method for digitizing the image-based medical laboratory report," Digital Health, 2025, doi: 10.1177/20552076251334431.</a:t>
            </a:r>
          </a:p>
          <a:p>
            <a:pPr algn="l">
              <a:spcAft>
                <a:spcPts val="400"/>
              </a:spcAft>
            </a:pPr>
            <a:r>
              <a:rPr sz="1400" b="0" i="0">
                <a:solidFill>
                  <a:srgbClr val="0F172A"/>
                </a:solidFill>
              </a:rPr>
              <a:t>[3] S. Xiang, S. Chen, K. Q. Lin, J. Yu, Y. Sun, P. Torr, and A. Atapour-Abarghouei, "Checkup2Action: A multimodal clinical check-up report dataset for patient-oriented action card generation," arXiv:2605.11533, 2026.</a:t>
            </a:r>
          </a:p>
          <a:p>
            <a:pPr algn="l">
              <a:spcAft>
                <a:spcPts val="400"/>
              </a:spcAft>
            </a:pPr>
            <a:r>
              <a:rPr sz="1400" b="0" i="0">
                <a:solidFill>
                  <a:srgbClr val="0F172A"/>
                </a:solidFill>
              </a:rPr>
              <a:t>[4] N. Bakhsheshi and H. Beigy, "Analysis of blood report images using general-purpose vision-language models," arXiv:2509.06033, 2025.</a:t>
            </a:r>
          </a:p>
          <a:p>
            <a:pPr algn="l">
              <a:spcAft>
                <a:spcPts val="400"/>
              </a:spcAft>
            </a:pPr>
            <a:r>
              <a:rPr sz="1400" b="0" i="0">
                <a:solidFill>
                  <a:srgbClr val="0F172A"/>
                </a:solidFill>
              </a:rPr>
              <a:t>[5] V.-T. Nguyen, H.-D. Pham, T.-H. To, C.-T. H. Do, T.-T.-T. Dong, V.-T. D. Le, and V.-P. Hoang, "Medalyze: Lightweight medical report summarization application using FLAN-T5-Large," arXiv:2505.17059, 2025.</a:t>
            </a:r>
          </a:p>
          <a:p>
            <a:pPr algn="l">
              <a:spcAft>
                <a:spcPts val="400"/>
              </a:spcAft>
            </a:pPr>
            <a:r>
              <a:rPr sz="1400" b="0" i="0">
                <a:solidFill>
                  <a:srgbClr val="0F172A"/>
                </a:solidFill>
              </a:rPr>
              <a:t>[6] P. Lewis et al., "Retrieval-augmented generation for knowledge-intensive NLP tasks," in Advances in Neural Information Processing Systems, vol. 33, 2020, pp. 9459-9474.</a:t>
            </a:r>
          </a:p>
          <a:p>
            <a:pPr algn="l">
              <a:spcAft>
                <a:spcPts val="400"/>
              </a:spcAft>
            </a:pPr>
            <a:r>
              <a:rPr sz="1400" b="0" i="0">
                <a:solidFill>
                  <a:srgbClr val="0F172A"/>
                </a:solidFill>
              </a:rPr>
              <a:t>[12] Y. Du, C. Li, R. Guo, X. Yin, W. Liu, J. Zhou, Y. Bai, Z. Yu, Y. Yang, Q. Dang, and H. Wang, "PP-OCR: A practical ultra lightweight OCR system," arXiv:2009.09941, 2020.</a:t>
            </a:r>
          </a:p>
          <a:p>
            <a:pPr algn="l">
              <a:spcAft>
                <a:spcPts val="400"/>
              </a:spcAft>
            </a:pPr>
            <a:r>
              <a:rPr sz="1400" b="0" i="0">
                <a:solidFill>
                  <a:srgbClr val="0F172A"/>
                </a:solidFill>
              </a:rPr>
              <a:t>[14] J. Lafferty, A. McCallum, and F. Pereira, "Conditional random fields: Probabilistic models for segmenting and labeling sequence data," in Proc. 18th Int. Conf. Machine Learning (ICML), 2001, pp. 282-289.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LabLens">
  <a:themeElements>
    <a:clrScheme name="LabLens">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LabLe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LabLen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Medical Lab Report Analysis and Health Insights Platform: Review 1</dc:title>
  <dc:subject>Batch A8 (CSE-A)</dc:subject>
  <dc:creator>BANOTH SWAPNA, BEKKAM VARSHITHA, A NAVADEEP REDDY, BUDIGAM MANOJ</dc:creator>
  <cp:lastModifiedBy/>
  <cp:revision>1</cp:revision>
  <dcterms:created xsi:type="dcterms:W3CDTF">2026-10-13T12:36:40Z</dcterms:created>
  <dcterms:modified xsi:type="dcterms:W3CDTF">2026-10-13T12:36:40Z</dcterms:modified>
  <cp:keywords>lab report analysis, OCR, named entity recognition, health insights, trend tracking</cp:keywords>
  <dc:description/>
</cp:coreProperties>
</file>