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 recall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Sheet1!$A$2:$A$9</c:f>
              <c:strCache>
                <c:ptCount val="8"/>
                <c:pt idx="0">
                  <c:v>plain</c:v>
                </c:pt>
                <c:pt idx="1">
                  <c:v>paren</c:v>
                </c:pt>
                <c:pt idx="2">
                  <c:v>flag</c:v>
                </c:pt>
                <c:pt idx="3">
                  <c:v>colon</c:v>
                </c:pt>
                <c:pt idx="4">
                  <c:v>unit last</c:v>
                </c:pt>
                <c:pt idx="5">
                  <c:v>mixed sep</c:v>
                </c:pt>
                <c:pt idx="6">
                  <c:v>tabular</c:v>
                </c:pt>
                <c:pt idx="7">
                  <c:v>ocr noise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0.0</c:v>
                </c:pt>
                <c:pt idx="7">
                  <c:v>0.9905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 accuracy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Sheet1!$A$2:$A$9</c:f>
              <c:strCache>
                <c:ptCount val="8"/>
                <c:pt idx="0">
                  <c:v>plain</c:v>
                </c:pt>
                <c:pt idx="1">
                  <c:v>paren</c:v>
                </c:pt>
                <c:pt idx="2">
                  <c:v>flag</c:v>
                </c:pt>
                <c:pt idx="3">
                  <c:v>colon</c:v>
                </c:pt>
                <c:pt idx="4">
                  <c:v>unit last</c:v>
                </c:pt>
                <c:pt idx="5">
                  <c:v>mixed sep</c:v>
                </c:pt>
                <c:pt idx="6">
                  <c:v>tabular</c:v>
                </c:pt>
                <c:pt idx="7">
                  <c:v>ocr noise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0.9381</c:v>
                </c:pt>
                <c:pt idx="1">
                  <c:v>0.881</c:v>
                </c:pt>
                <c:pt idx="2">
                  <c:v>0.5762</c:v>
                </c:pt>
                <c:pt idx="3">
                  <c:v>0.9095</c:v>
                </c:pt>
                <c:pt idx="4">
                  <c:v>0.9429</c:v>
                </c:pt>
                <c:pt idx="5">
                  <c:v>0.9333</c:v>
                </c:pt>
                <c:pt idx="6">
                  <c:v>0</c:v>
                </c:pt>
                <c:pt idx="7">
                  <c:v>0.9183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Rows fully correct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Sheet1!$A$2:$A$9</c:f>
              <c:strCache>
                <c:ptCount val="8"/>
                <c:pt idx="0">
                  <c:v>plain</c:v>
                </c:pt>
                <c:pt idx="1">
                  <c:v>paren</c:v>
                </c:pt>
                <c:pt idx="2">
                  <c:v>flag</c:v>
                </c:pt>
                <c:pt idx="3">
                  <c:v>colon</c:v>
                </c:pt>
                <c:pt idx="4">
                  <c:v>unit last</c:v>
                </c:pt>
                <c:pt idx="5">
                  <c:v>mixed sep</c:v>
                </c:pt>
                <c:pt idx="6">
                  <c:v>tabular</c:v>
                </c:pt>
                <c:pt idx="7">
                  <c:v>ocr noise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0.9286</c:v>
                </c:pt>
                <c:pt idx="1">
                  <c:v>0.8667</c:v>
                </c:pt>
                <c:pt idx="2">
                  <c:v>0.5619</c:v>
                </c:pt>
                <c:pt idx="3">
                  <c:v>0.8857</c:v>
                </c:pt>
                <c:pt idx="4">
                  <c:v>0.9143</c:v>
                </c:pt>
                <c:pt idx="5">
                  <c:v>0.9095</c:v>
                </c:pt>
                <c:pt idx="6">
                  <c:v>0.0</c:v>
                </c:pt>
                <c:pt idx="7">
                  <c:v>0.7667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built, what was implemented against the abstract,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1. The base paper handles one condition with RAG; this project is a general platform whose extraction is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API layer imports the same pipeline modules as the original Streamlit app, so both interfaces give identical results on the same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 steps from upload to dashboard. The same function runs for every entry point, so the evaluation of the pipeline applies to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data is invented and reproducible from scripts/run_experiments.py. It is the only labelled data the project has; real scanned reports are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Digital PDFs skip the image path completely. The image path exists and its first stage works as shown, but scan accuracy is a stated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hybrid of rules and a small similarity model. The abstract planned a CRF tagger; none was built, and the module comment says a CRF can be swapped in later. The only fitted component is the TF-IDF vocabulary over the 55 dictionary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training stage, so this slide lists the tunable values instead. The threshold 0.55 is analysed on the results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decision rule is deliberately simple and deterministic. The explanation text is the only part that can optionally use a language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flow. Levels 0 and 2 are in the report. The module table lists where each process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report owns many test results; each abnormal result owns one insight. The class diagram shows the code-level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Open-source stack. The abstract named Supabase, Tailwind and cloud functions; the implementation uses SQLite, hand-written styles and a local FastAPI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honest comparison with the abstract. Timings are medians on the build machine for a 14-row digital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1,680 ground-truth rows, 1,525 predicted. Precision is limited by 57 false rows (55 of them a date line read as a test). The grouped chart shows the tabular layout failing completely and the flag layout losing units because the L/H letter sits between value and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application with the five sample reports plus one uploaded report: report analysis, dashboard and a trend chart. The data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tests run offline against a temporary database. The browser checks need a built frontend. Scanned-image OCR is not covered because Tesseract is not installed on the build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came out of the measurements, not from guesswork. The first three are bugs or gaps in the parser; the last two are limits of the data and the explanation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plan to the final review. Real-report labelling and the retrieval-based explanation of the base paper remain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no CRF; why TF-IDF for names; why SQLite; how the explanations avoid diagnosis; what is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LabLens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Medical Lab Report Analysis and Health Insights Platform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working pipeline from uploaded report to flagged results, explanations and trends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BANOTH SWAPNA  23K91A0528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BEKKAM VARSHITHA  23K91A0535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NAVADEEP REDDY  23K91A0502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BUDIGAM MANOJ  23K91A0546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L.G REDDY,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A8 (CSE-A)  ·  2026-2027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extraction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Configuration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Lab reports are written for clinicians. Patients cannot interpret them, manual reading is slow and error-prone, digitising tools do not explain, and no history is kept.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Read the report, extract test, value, unit and range, flag Low, Normal or High, explain abnormal values in plain language and track every parameter across reports.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Link to the base paper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Keeps its idea of patient-friendly explanation from curated knowledge, but covers any lab parameter, measures extraction, and adds trends. Its LLaMA-3 retrieval pipeline is not reproduced.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29" y="1188720"/>
            <a:ext cx="6107501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18120" y="1371600"/>
            <a:ext cx="38404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React single-page app, port 5308.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FastAPI service, port 8308, signed-token login, upload validation.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Pipeline modules: ocr_processor, ner_processor, result_analyzer, ai_insights, report_processor.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SQLite through SQLAlchemy: reports, test results, insights.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original Streamlit app runs on the same modules and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Upload and validate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Text: PDF layer or OCR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Parse test rows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Classify against range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Explain abnormal values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Store in SQLite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Dashboard, trends, compare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Fail-safe stages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Any stage failure marks the report Failed with a readable message and keeps the raw text when there is any; nothing partial is shown as a result.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One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Web upload, the Streamlit app and the demo-data seeder all call the same process_uploaded_report function.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Measured, not assumed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 generated corpus of labelled PDFs (seed 42) scores each stage: row recall, field accuracy, name matching,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a generated, labelled evaluation corpus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synthetic lab-report PDFs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2801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1,680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ground-truth test rows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28016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report layouts, 15 reports each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280160"/>
            <a:ext cx="73152" cy="10972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names in the test dictionary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06040"/>
          <a:ext cx="5669280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2976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Layout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Example 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plain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Hemoglobin 10.8 g/dL 12 - 16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paren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... g/dL (12 - 16)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flag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Sodium 134 L mEq/L 135 - 145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colon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Hemoglobin: 10.8 g/dL   Ref: 12 - 16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unit_last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Hemoglobin 10.8 12 - 16 g/dL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mixed_sep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range written 12 - 16, 12 to 16 or 12-16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tabular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name, value, unit, range on separate 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ocr_noise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10 % character noise on test names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583680" y="265176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Each report has 12 dictionary tests and 2 tests outside it, plus header decoys and a date line.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Values: about 55 % in range, 25 % low, 20 % high; ground truth is generated with the PDF.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Five 14-test demo reports (April to October 2026) feed the screenshots.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Limit:</a:t>
            </a:r>
            <a:r>
              <a:rPr sz="1600" b="0" i="0">
                <a:solidFill>
                  <a:srgbClr val="0F172A"/>
                </a:solidFill>
              </a:rPr>
              <a:t> no manually labelled real reports were available, so these numbers describe the parser on clean digital PDFs, not on real scans.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Preprocessing: text layer, then image clean-up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PDF page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97810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12694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30+ characters in text layer?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61864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76748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Yes: use text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25919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40803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No: render 300 dpi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9973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4857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Clean up + Tesseract</a:t>
            </a:r>
          </a:p>
        </p:txBody>
      </p:sp>
      <p:pic>
        <p:nvPicPr>
          <p:cNvPr id="35" name="Picture 34" descr="ocr_preprocess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9464"/>
            <a:ext cx="7315200" cy="2633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38160" y="2423160"/>
            <a:ext cx="3520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</a:rPr>
              <a:t>1  Grayscale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</a:rPr>
              <a:t>2  Denoise (non-local means, h = 10)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</a:rPr>
              <a:t>3  Gaussian adaptive threshold, block 31, C = 15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</a:rPr>
              <a:t>4  Deskew with minAreaRect (if skew is 0.5 degrees or more)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</a:rPr>
              <a:t>5  Tesseract, page-segmentation mode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The left image is a clean rendered page with a simulated scan defect (2 degree rotation, noise, uneven light); the right image is the real output of preprocess_image_for_ocr. Tesseract is not installed on the build machine, so OCR accuracy on scans is not measured.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model: parser and name matcher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3712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4846320"/>
                <a:gridCol w="4096512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Row parser, stage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Regular expression: name, value, optional unit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line starts with a letter; header lines skipped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Row parser, stage 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Range: a-b, a to b, a – b, &lt;x, &gt;x; trailing unit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rows with neither range nor unit dropped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Name matcher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TF-IDF on character n-grams, cosine similarity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n-grams 2-4, 55 names, threshold 0.55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Confidence score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0.9 with two-sided range, 0.6 otherwise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minus 0.1 when no unit is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Classifier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Low / Normal / High / Unknown by reference range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limits inclusive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Explanation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Rule-based text, optional LLM rewrite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17 test entries plus generic wording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5166360"/>
            <a:ext cx="3520440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5166360"/>
            <a:ext cx="73152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5257800"/>
            <a:ext cx="32461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776264"/>
            <a:ext cx="3246120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dictionary names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5166360"/>
            <a:ext cx="3520440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334255" y="51663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35423" y="5257800"/>
            <a:ext cx="32461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3" y="5776264"/>
            <a:ext cx="3246120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tests with specific explanation 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1" y="5166360"/>
            <a:ext cx="3520440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119871" y="51663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21040" y="5257800"/>
            <a:ext cx="32461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776264"/>
            <a:ext cx="3246120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learned weights: nothing is trained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Configuration: parameters, not training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Scanned-page resolution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300 dpi; a page is OCR'd when its text layer has fewer than 30 characters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Image clean-up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denoise h = 10; Gaussian adaptive threshold, block 31, C = 15; deskew from 0.5 degrees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Name matcher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character n-grams 2 to 4, cosine similarity at least 0.55, 55 dictionary names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Upload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PDF, JPG, JPEG or PNG; at most 15 MB; empty and corrupt files rejected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Critical alert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Low below 0.5 x lower limit or High above 1.5 x upper 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seed 42, 120 generated reports, 1,680 rows, one CPU (Intel Core i5-12500), no GPU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974" y="1188720"/>
            <a:ext cx="3923090" cy="5074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60720" y="1371600"/>
            <a:ext cx="585216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Validate.</a:t>
            </a:r>
            <a:r>
              <a:rPr sz="1500" b="0" i="0">
                <a:solidFill>
                  <a:srgbClr val="0F172A"/>
                </a:solidFill>
              </a:rPr>
              <a:t> Extension, size and readability are checked; each failure gives a clear message and the report is marked Failed.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Classify.</a:t>
            </a:r>
            <a:r>
              <a:rPr sz="1500" b="0" i="0">
                <a:solidFill>
                  <a:srgbClr val="0F172A"/>
                </a:solidFill>
              </a:rPr>
              <a:t> Below the lower limit is LOW, above the upper limit is HIGH, otherwise NORMAL; a one-sided range such as &lt;100 uses only its bound; no range gives UNKNOWN.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Explain.</a:t>
            </a:r>
            <a:r>
              <a:rPr sz="1500" b="0" i="0">
                <a:solidFill>
                  <a:srgbClr val="0F172A"/>
                </a:solidFill>
              </a:rPr>
              <a:t> LOW and HIGH rows get a knowledge-base entry or generic wording; the text states it is educational and never names a disease.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Check.</a:t>
            </a:r>
            <a:r>
              <a:rPr sz="1500" b="0" i="0">
                <a:solidFill>
                  <a:srgbClr val="0F172A"/>
                </a:solidFill>
              </a:rPr>
              <a:t> The rule agreed with an independent reference on 20,000 random cases with 0 differences.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66" y="1188720"/>
            <a:ext cx="5575227" cy="502920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06640" y="1280160"/>
          <a:ext cx="4233671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208483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ocr_processor.py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validate, PDF text, OCR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ner_processor.py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rows, units, ranges, names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result_analyzer.py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Low / Normal / High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ai_insights.py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report_processor.py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stage orchestration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database.py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SQLAlchemy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API and login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64955"/>
            <a:ext cx="4937760" cy="3002409"/>
          </a:xfrm>
          <a:prstGeom prst="rect">
            <a:avLst/>
          </a:prstGeom>
        </p:spPr>
      </p:pic>
      <p:pic>
        <p:nvPicPr>
          <p:cNvPr id="27" name="Picture 26" descr="06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649" y="1188720"/>
            <a:ext cx="3966852" cy="4754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Three tables: reports, test_results, health_insights; deleting a report cascades to its results and insights.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843991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PDF and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PyMuPDF 1.28.2, OpenCV 4.11.0, pytesseract with Tesseract (optional)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Parsing and matching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regular expressions, scikit-learn 1.5.0 TF-IDF; spaCy optional (patient name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FastAPI 0.143.3, Uvicorn, python-multipart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Database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SQLite with SQLAlchemy 2.0.30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18.3.1, Vite 5.4.21, React Router, Recharts 2.15.4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Optional LLM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Anthropic API for rewriting explanations; falls back silently without a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 and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pytest, Playwright browser smoke test; run.bat starts both servers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 against the abstract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2103120"/>
                <a:gridCol w="4114800"/>
                <a:gridCol w="295351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Abstract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Built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Text extraction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PP-OCR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PyMuPDF text layer, Tesseract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Built; scans unmeasured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Field extraction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CRF 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regex parser + TF-IDF name matcher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Built; no CRF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Flagging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range comparison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classify_result 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Done, 0 / 20,000 differ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RAG + LLM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17-entry rule base, optional LLM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Partial: no 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Supabase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SQLite + SQLAlchemy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Done; no row-level security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React, Tailwind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React, Vite, Recharts, 11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Done; no Tailwind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Deployment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Cloud Functions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local FastAPI via run.bat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serverless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Speed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under 10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53 ms pipeline, 210 ms upload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Met for text PDFs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field extraction on 120 reports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0.916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row F1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2801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0.963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row precision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28016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row recall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280160"/>
            <a:ext cx="73152" cy="10972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72.9%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rows fully correct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560320"/>
          <a:ext cx="7315200" cy="3749039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8138160" y="2606040"/>
            <a:ext cx="3502152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339328" y="2788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79408" y="2761488"/>
            <a:ext cx="2496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3474720"/>
            <a:ext cx="309981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Single-line layouts: recall 1.00. The tabular layout, with one cell per line, yields 0 rows. Units are the weak field (87.1%); range and status are 99.9% and 99.9%. Clean digital PDFs only.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r2_report_analysi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1430"/>
            <a:ext cx="5394960" cy="37465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04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188720"/>
            <a:ext cx="3950208" cy="24688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r2_health_trends_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3886200"/>
            <a:ext cx="3950208" cy="24688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48640" y="521208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Report analysis: the extracted table with Low / High flags (cropped from the full page)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28016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24 + 7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API + browser smoke checks passed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28016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random classification cases, 0 differences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2801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280160"/>
            <a:ext cx="73152" cy="10972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3716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16582"/>
            <a:ext cx="23774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failures in the final runs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06040"/>
          <a:ext cx="11091672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816559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the tests 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Classification and parsing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range boundaries, one-sided ranges, header lines, duplicates, test dates, noisy names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Input handling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unsupported type, empty file, oversize file, corrupt 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Pipeline and database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stored rows and statuses, failed report, cascade delete, critical-alert count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login, tampered token, upload to trend to compare to insights, demo seeding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Browser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login redirect, charts render, wrong file type rejected, Escape closes dialog, no console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found and responses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992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3566160"/>
                <a:gridCol w="3959352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Measured 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Table PDFs with one cell per 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0 of 210 rows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documented; joining cells by position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Date line parsed as a test row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55 of 57 false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documented; date filter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Units missing from the list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unit accuracy 87.1%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list extension planned (mg/L, ng/dL, uIU/mL ...)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Unseen names snapped to a dictionary entry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Sodium Bicarbonate read as Sodium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threshold trade-off analysed (0.55 shipped)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Only 17 of 55 tests have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35.8% of abnormal rows specific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generic wording used; base to be expanded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real labelled or scanned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corpus is generated; OCR unmeasured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stated as a 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 the parser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Handle cell-per-line tables, skip date lines, extend the unit list, then re-run the same 120-report corpus.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7735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8903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8983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Measure scans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8903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Install Tesseract and build a small set of labelled scanned reports to measure OCR accuracy and latency.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6830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799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8078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Better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7998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Compare the TF-IDF matcher with an edit-distance matcher, which scored higher under noise in our test.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5925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07093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7173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Final documents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7093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Final report, paper and deck with every number regenerated from the experiment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Lens">
  <a:themeElements>
    <a:clrScheme name="LabLens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LabLe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bLen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Medical Lab Report Analysis and Health Insights Platform: Review 2</dc:title>
  <dc:subject>Batch A8 (CSE-A)</dc:subject>
  <dc:creator>BANOTH SWAPNA, BEKKAM VARSHITHA, A NAVADEEP REDDY, BUDIGAM MANOJ</dc:creator>
  <cp:lastModifiedBy/>
  <cp:revision>1</cp:revision>
  <dcterms:created xsi:type="dcterms:W3CDTF">2026-10-13T12:40:05Z</dcterms:created>
  <dcterms:modified xsi:type="dcterms:W3CDTF">2026-10-13T12:40:05Z</dcterms:modified>
  <cp:keywords>lab report analysis, OCR, named entity recognition, health insights, trend tracking</cp:keywords>
  <dc:description/>
</cp:coreProperties>
</file>