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Row F1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Sheet1!$A$2:$A$9</c:f>
              <c:strCache>
                <c:ptCount val="8"/>
                <c:pt idx="0">
                  <c:v>plain</c:v>
                </c:pt>
                <c:pt idx="1">
                  <c:v>paren</c:v>
                </c:pt>
                <c:pt idx="2">
                  <c:v>flag</c:v>
                </c:pt>
                <c:pt idx="3">
                  <c:v>colon</c:v>
                </c:pt>
                <c:pt idx="4">
                  <c:v>unit_last</c:v>
                </c:pt>
                <c:pt idx="5">
                  <c:v>mixed_sep</c:v>
                </c:pt>
                <c:pt idx="6">
                  <c:v>tabular</c:v>
                </c:pt>
                <c:pt idx="7">
                  <c:v>ocr_noise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0.9836</c:v>
                </c:pt>
                <c:pt idx="1">
                  <c:v>0.9836</c:v>
                </c:pt>
                <c:pt idx="2">
                  <c:v>0.9836</c:v>
                </c:pt>
                <c:pt idx="3">
                  <c:v>0.9836</c:v>
                </c:pt>
                <c:pt idx="4">
                  <c:v>0.9836</c:v>
                </c:pt>
                <c:pt idx="5">
                  <c:v>0.9836</c:v>
                </c:pt>
                <c:pt idx="6">
                  <c:v>0.0</c:v>
                </c:pt>
                <c:pt idx="7">
                  <c:v>0.9766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Exact-row rate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Sheet1!$A$2:$A$9</c:f>
              <c:strCache>
                <c:ptCount val="8"/>
                <c:pt idx="0">
                  <c:v>plain</c:v>
                </c:pt>
                <c:pt idx="1">
                  <c:v>paren</c:v>
                </c:pt>
                <c:pt idx="2">
                  <c:v>flag</c:v>
                </c:pt>
                <c:pt idx="3">
                  <c:v>colon</c:v>
                </c:pt>
                <c:pt idx="4">
                  <c:v>unit_last</c:v>
                </c:pt>
                <c:pt idx="5">
                  <c:v>mixed_sep</c:v>
                </c:pt>
                <c:pt idx="6">
                  <c:v>tabular</c:v>
                </c:pt>
                <c:pt idx="7">
                  <c:v>ocr_noise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0.9286</c:v>
                </c:pt>
                <c:pt idx="1">
                  <c:v>0.8667</c:v>
                </c:pt>
                <c:pt idx="2">
                  <c:v>0.5619</c:v>
                </c:pt>
                <c:pt idx="3">
                  <c:v>0.8857</c:v>
                </c:pt>
                <c:pt idx="4">
                  <c:v>0.9143</c:v>
                </c:pt>
                <c:pt idx="5">
                  <c:v>0.9095</c:v>
                </c:pt>
                <c:pt idx="6">
                  <c:v>0.0</c:v>
                </c:pt>
                <c:pt idx="7">
                  <c:v>0.7667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5"/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TF-IDF 0.55 (shipped)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Sheet1!$A$2:$A$5</c:f>
              <c:strCache>
                <c:ptCount val="4"/>
                <c:pt idx="0">
                  <c:v>0%</c:v>
                </c:pt>
                <c:pt idx="1">
                  <c:v>5%</c:v>
                </c:pt>
                <c:pt idx="2">
                  <c:v>10%</c:v>
                </c:pt>
                <c:pt idx="3">
                  <c:v>20%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</c:v>
                </c:pt>
                <c:pt idx="1">
                  <c:v>0.9606</c:v>
                </c:pt>
                <c:pt idx="2">
                  <c:v>0.8903</c:v>
                </c:pt>
                <c:pt idx="3">
                  <c:v>0.7309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difflib 0.60 (baseline)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Sheet1!$A$2:$A$5</c:f>
              <c:strCache>
                <c:ptCount val="4"/>
                <c:pt idx="0">
                  <c:v>0%</c:v>
                </c:pt>
                <c:pt idx="1">
                  <c:v>5%</c:v>
                </c:pt>
                <c:pt idx="2">
                  <c:v>10%</c:v>
                </c:pt>
                <c:pt idx="3">
                  <c:v>20%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1.0</c:v>
                </c:pt>
                <c:pt idx="1">
                  <c:v>0.9939</c:v>
                </c:pt>
                <c:pt idx="2">
                  <c:v>0.9812</c:v>
                </c:pt>
                <c:pt idx="3">
                  <c:v>0.9455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Exact match</c:v>
                </c:pt>
              </c:strCache>
            </c:strRef>
          </c:tx>
          <c:spPr>
            <a:solidFill>
              <a:srgbClr val="9E9E9E"/>
            </a:solidFill>
          </c:spPr>
          <c:cat>
            <c:strRef>
              <c:f>Sheet1!$A$2:$A$5</c:f>
              <c:strCache>
                <c:ptCount val="4"/>
                <c:pt idx="0">
                  <c:v>0%</c:v>
                </c:pt>
                <c:pt idx="1">
                  <c:v>5%</c:v>
                </c:pt>
                <c:pt idx="2">
                  <c:v>10%</c:v>
                </c:pt>
                <c:pt idx="3">
                  <c:v>20%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0.6861</c:v>
                </c:pt>
                <c:pt idx="2">
                  <c:v>0.4933</c:v>
                </c:pt>
                <c:pt idx="3">
                  <c:v>0.237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5"/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the project: LabLens reads a lab report, flags abnormal values, explains them in plain language and tracks them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agenda follows the report: problem, design, method, results, comparison, screens,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first two bullets, then the headline numbers with their protocol (generated labelled corpus, text-layer PDFs). End on what was not built or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base paper interprets blood reports with RAG for one condition. LabLens takes the goal of plain-language report explanation, but generalises the report parsing and adds the trend tracking the paper lists as future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Representative work on lab and check-up report understanding. Entries are summarised from their abstracts; limitations are those stated by the authors or visible in the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gaps drawn from the survey. LabLens addresses scope, extraction measurement, history and the digitise-plus-explain split; grounded retrieval is only partly addressed (curated text, no retrieval).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statement has three parts: extract and flag, explain, record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of the proposal. The conclusion reports for each whether it was met; objectives 1, 2, 4 and 6 were met only in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proposed system in one line of boxes, then the four properties that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tiers. The pipeline modules are shared by the React interface (through FastAPI) and the original Streamlit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workflow, step by step. The scanned-image branch is implemented but could not be measured because Tesseract is not installed on the test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evaluation corpus is synthetic with known answers, because no manually labelled real reports were available. Eight layouts probe the parser; the 'tabular' and 'ocr_noise' layouts are the hard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core algorithm as a flowchart. The classification rule is deliberately simple and was verified against a separately written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Left: the sequence of one report upload through the API and pipeline. Right: the use cases of the signed-in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tables. Deleting a report removes its results and insights, which is covered by a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Highlights of the implementation. The last bullet is a limitation: the sign-in is demo-grade.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Protocol: 120 generated reports, 8 layouts x 15, 1,680 labelled rows, seed 42. Row F1 is high on every single-line layout; the table layout, where each cell is its own text line, scores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confusion-style breakdown: found, missed and invented rows, and the cause of each error class read from the failure cases saved in experiments/lablens/failure_cases.json. These are concrete defects, listed as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threshold is a trade-off: lower values rescue noisy names but wrongly rename unseen tests. 0.55 is a middle choice. A plain difflib matcher was more noise-tolerant on the dictionary names but was not adopted; its false-snap rate was not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timings are medians on a CPU-only desktop, measured against 127.0.0.1. The test table shows what passed and, in the last row, what was never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plainly that tasks and data differ. The base paper's own stated averages differ from the averages recomputed from its Table 4; both are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Left: a report processed; the stage list ends with database storage and health insights. Right: dashboard across six reports (82 tests, 28 abnormal, 2 critical). All data is synthetic.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Left: results table with explanations below for abnormal rows. Right: trend of one test over time, 10.8 to 13.1 g/dL.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Left: change between the first and the fifth report. Right: consolidated insight cards with causes stated in general terms and a suggestion to see a doctor.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Objectives reported honestly: two met, four partly. The proposal named PP-OCR, CRF, RAG and Supabase; what was built instead is stated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Concrete next steps, ordered by the measured errors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references; the complete list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chart" Target="../charts/chart2.xml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Medical Lab Report Analysis and Health Insights Platform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A8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23K91A0528   Banoth Swapna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23K91A0535   Bekkam Varshitha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23K91A0502   A Navadeep Reddy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23K91A0546   Budigam Manoj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L.G REDDY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·  TKR College of Engineering and Technology (Autonomous)  ·  Academic Year 2026 – 2027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Problem Statement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Data &amp; Matching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Workflow, Interaction &amp; Database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Error Analysis, Threshold Analysis, Performance &amp; Testing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Future Scope &amp; References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Patients receive lab reports full of parameters and reference ranges they cannot interpret; understanding one normally needs a follow-up visit.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LabLens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reads a PDF or scanned report (PDF text layer; OpenCV + Tesseract for scans), extracts test name, value, unit and reference range, and flags each result Low, Normal or High.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Abnormal results get plain-language explanations: curated rule-based text for 17 of 55 known tests, generic text otherwise, optional LLM rewrite. Results are stored in SQLite and shown in a React dashboard with trends and report comparison.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 120 generated reports (1,680 labelled rows): row F1 </a:t>
            </a: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0.916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 range accuracy </a:t>
            </a: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0.999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 status accuracy </a:t>
            </a: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0.999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 unit accuracy 0.871; </a:t>
            </a: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53 ms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per report; 36 automated tests pass.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Not built or not measured: PP-OCR, CRF, retrieval-augmented generation and Supabase named in the proposal; scanned-image accuracy (no Tesseract on the test machine); real manually labelled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A. Karhade, I. Verma, V. Gadaokar and J. Mahajan, "RAG-Based Blood Test Report Analysis to Reverse Metabolic Syndrome," Communications on Applied Nonlinear Analysis, vol. 32, no. 10s, pp. 2771-2779, 2025, doi: 10.52783/cana.v32.5718.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423160"/>
          <a:ext cx="11155680" cy="37307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9144000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Retrieval-augmented generation on LLaMA-3 8B; LangChain splitter (1,024 characters, overlap 100), ChromaDB vectors, top-3 chunks with a relevance threshold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Knowledge base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 medical books, 383 YouTube transcripts (Whisper) and a 33-parameter range document; text extracted with PyMuPDF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Scope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Metabolic syndrome only: 33 blood parameters; personalised diet and lifestyle advice, source citations, login and encrypted storage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Evaluation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 responses scored 1 to 100 by GPT-4 on correctness, clarity, helpfulness, completeness; no extraction accuracy or latency reported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Stated future scope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Multilingual support, personalisation from repeated tests over time, speech input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45920"/>
          <a:ext cx="11155680" cy="3968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2926080"/>
                <a:gridCol w="2011680"/>
                <a:gridCol w="2286000"/>
                <a:gridCol w="210312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Author / Year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Methodology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Key 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Limitation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Karhade et al., 2025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RAG on LLaMA-3 8B over books and transcripts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33 metabolic-syndrome parameters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GPT-4 scores 80 to 100 on 20 responses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One condition; LLM-judged; no extraction metrics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Ren et al., 2025 [2]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Serialising phone-photographed lab report images into structured records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Image-based lab reports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Structured storage of report content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Method details not reviewed beyond its abstract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Xiang et al., 2026 [3]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Constrained workflow turning check-up reports into action cards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2,000 de-identified real reports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Experts: 84% of outputs fully reasonable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model best on every dimension; safety limits recall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Bakhsheshi &amp; Beigy, 2025 [4]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General vision-language models read report images; Sentence-BERT compares answers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100 blood report images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Practical for preliminary analysis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Small dataset; answers compared to each other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Nguyen et al., 2025 [5]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Three fine-tuned FLAN-T5-Large models; web and mobile app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Medical reports and conversations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Lightweight report summarisation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Summarises text; no value extraction or trends described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Lewis et al., 2020 [6]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Retrieval-augmented generation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Knowledge-intensive NLP tasks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Grounds generation in retrieved text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Needs a curated corpus (not built here)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Three further sources named in the batch survey (laboratory safety, RT-PCR statistics, device extraction testing) concern laboratory practice, not report analysis; they are listed in the report but not used as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200"/>
              </a:spcAft>
              <a:buChar char="•"/>
            </a:pPr>
            <a:r>
              <a:rPr sz="22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Scope:</a:t>
            </a: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the base paper explains blood reports for a single condition; a general platform for arbitrary lab parameters is missing.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22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Extraction:</a:t>
            </a: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it is evaluated on the quality of generated advice, not on whether test names, values, units and ranges were read correctly.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22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History:</a:t>
            </a: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no longitudinal view; the base paper itself lists tracking tests over time as future work.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22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Digitising versus explaining:</a:t>
            </a: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report-digitising work stores values but does not say what an abnormal value means; explanation work does not parse reports.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22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Evidence:</a:t>
            </a: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generated explanations are rarely tied to a stated source or checked against a fixed rule for what is abnormal.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1155680" cy="173736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Laboratory reports are written for clinicians. Given a PDF or scanned report, </a:t>
            </a: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extract every test with its value, unit and reference range, flag the abnormal ones, explain them in plain language, and keep the history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so a patient can see whether a parameter is improving or worsening.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840480"/>
            <a:ext cx="3566160" cy="17373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3484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PDF, JPG, JPEG or PNG report, up to 15 MB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3840480"/>
            <a:ext cx="3566160" cy="17373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4840" y="3931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43484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Structured results, Low / Normal / High status, explanation for each abnormal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840480"/>
            <a:ext cx="3566160" cy="17373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83879" y="3931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43484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Report library, dashboard, trends, side-by-side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7607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Manual reading is slow and error-prone; existing tools digitise reports but do not explain them and keep no history.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1.  Accept lab reports in PDF or scanned image form and extract text using high-speed OCR.</a:t>
            </a:r>
          </a:p>
          <a:p>
            <a:pPr algn="l">
              <a:spcAft>
                <a:spcPts val="16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2.  Apply named entity recognition to identify test parameters, values, units and reference ranges.</a:t>
            </a:r>
          </a:p>
          <a:p>
            <a:pPr algn="l">
              <a:spcAft>
                <a:spcPts val="16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3.  Compare each extracted value against its reference range and flag abnormal results.</a:t>
            </a:r>
          </a:p>
          <a:p>
            <a:pPr algn="l">
              <a:spcAft>
                <a:spcPts val="16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4.  Generate plain-language explanations for abnormal findings, grounded in trusted medical sources.</a:t>
            </a:r>
          </a:p>
          <a:p>
            <a:pPr algn="l">
              <a:spcAft>
                <a:spcPts val="16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5.  Track parameters across successive reports to display health trends over time.</a:t>
            </a:r>
          </a:p>
          <a:p>
            <a:pPr algn="l">
              <a:spcAft>
                <a:spcPts val="16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6.  Present results through a dashboard and evaluate extraction accuracy against manually labelled reports.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630680" cy="96012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Upload report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70175" y="21442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07919" y="1783080"/>
            <a:ext cx="1630680" cy="96012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Extract text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75175" y="21442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12919" y="1783080"/>
            <a:ext cx="1630680" cy="96012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Parse test rows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80175" y="21442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19" y="1783080"/>
            <a:ext cx="1630680" cy="96012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Classify vs range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85175" y="21442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22920" y="1783080"/>
            <a:ext cx="1630680" cy="96012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Explain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790175" y="21442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27919" y="1783080"/>
            <a:ext cx="1630680" cy="96012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Store + trend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1752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Text comes from the PDF text layer when there is one; scanned pages and photos go through OpenCV preprocessing and Tesseract.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line parser reads name, value, unit and range; a TF-IDF matcher snaps noisy names to a 55-name dictionary.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Each value is compared with its range (inclusive limits); abnormal rows receive an explanation, with an optional LLM rewrite that falls back silently.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FastAPI service over the same Python pipeline and SQLite database as the original Streamlit app; React interface with trends and comparison; a not-a-medical-device notice on every screen.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Picture 6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735" y="1554479"/>
            <a:ext cx="5829888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1783080"/>
            <a:ext cx="338328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Presentation: React 18 + Vite + Recharts; original Streamlit app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API: FastAPI, signed bearer token, upload validation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Pipeline: ocr_processor, ner_processor, result_analyzer, ai_insights, report_processor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Data: SQLite through SQLAlchemy, three tables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1436914" cy="10058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Validate (type, size)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30690" y="20756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22714" y="1691640"/>
            <a:ext cx="1436914" cy="10058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PDF text / OCR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550484" y="20756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42508" y="1691640"/>
            <a:ext cx="1436914" cy="10058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Parse rows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170278" y="20756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62302" y="1691640"/>
            <a:ext cx="1436914" cy="10058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Snap names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790073" y="20756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82097" y="1691640"/>
            <a:ext cx="1436914" cy="10058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Classify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409867" y="20756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01891" y="1691640"/>
            <a:ext cx="1436914" cy="10058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Explain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029661" y="20756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21685" y="1691640"/>
            <a:ext cx="1436914" cy="10058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71800"/>
            <a:ext cx="111556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7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Scans:</a:t>
            </a: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 page with fewer than 30 characters of text is rendered at 300 dpi, converted to grey, denoised, adaptively thresholded (Gaussian, block 31) and deskewed before Tesseract (page-segmentation mode 6).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7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Rows:</a:t>
            </a: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regular expressions read name, value, optional unit, and a range written as a-b, a to b, &lt;x or &gt;x; rows with neither range nor unit are dropped, duplicates removed, confidence 0.9 or 0.6.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7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Names:</a:t>
            </a: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character n-grams (2 to 4) with TF-IDF and cosine similarity against the dictionary; match accepted at 0.55 or above, otherwise the text is kept.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Evaluation:</a:t>
            </a: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 seeded generator writes labelled report PDFs; the unchanged pipeline reads them and the output is compared with the known answers.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Data, Parser &amp; Name Matcher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1,680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2199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ground-truth rows in 120 generated PDFs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4320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02920" y="2743200"/>
            <a:ext cx="73152" cy="9144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279806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735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dictionary test names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9476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02920" y="3794760"/>
            <a:ext cx="73152" cy="9144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384962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2511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tests with specific explanation 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8463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02920" y="4846320"/>
            <a:ext cx="73152" cy="9144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5800" y="4901183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0.55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766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name-match cosine threshold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474720" y="1691640"/>
          <a:ext cx="6217920" cy="34564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47548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Layout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Example line in the PDF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plain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Hemoglobin 10.8 g/dL 12 - 16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paren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Hemoglobin 10.8 g/dL (12 - 16)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flag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Hemoglobin 10.8 L g/dL 12 - 16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colon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Hemoglobin: 10.8 g/dL   Ref: 12 - 16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unit_last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Hemoglobin 10.8 12 - 16 g/dL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mixed_sep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range written 12 - 16, 12 to 16 or 12-16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tabular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name, value, unit, range as separate text cells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ocr_noise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10% character noise on the test name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474720" y="5257800"/>
            <a:ext cx="6217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Each report: 12 dictionary tests + 2 unseen tests, header decoys and a date line; 15 reports per layout; seed 42. Values: about 55% in range, 25% low, 20% high.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1691640"/>
            <a:ext cx="18288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Honest limit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Labels are generated, not hand-labelled from real reports; PDFs carry a text layer.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Picture 6" descr="10_core_algorithm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419" y="1645920"/>
            <a:ext cx="3605001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4960" y="1783080"/>
            <a:ext cx="630936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6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Classify:</a:t>
            </a: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LOW if value &lt; low; HIGH if value &gt; high; limits are inclusive; UNKNOWN when there is no range. Checked against an independent rule on 20,000 random cases: 0 disagreements.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Explain:</a:t>
            </a: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each LOW or HIGH row gets knowledge-base text or a generic non-specific text; an optional LLM call is used only when a key is configured.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Persist:</a:t>
            </a: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 failure at any stage marks the report Failed with a readable message and keeps the raw text.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Alert:</a:t>
            </a: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the dashboard calls a result critical if it is below half the lower limit or above 1.5 times the upper limit.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– 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Picture 6" descr="07_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034" y="1645920"/>
            <a:ext cx="4957530" cy="4663440"/>
          </a:xfrm>
          <a:prstGeom prst="rect">
            <a:avLst/>
          </a:prstGeom>
        </p:spPr>
      </p:pic>
      <p:pic>
        <p:nvPicPr>
          <p:cNvPr id="8" name="Picture 7" descr="08_use_case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2331720"/>
            <a:ext cx="38404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7" name="Picture 6" descr="09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940194"/>
            <a:ext cx="6400800" cy="3892011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691640"/>
          <a:ext cx="4663440" cy="34564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34640"/>
                <a:gridCol w="18288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test_results column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Type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id, report_id (FK)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INTEGER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test_name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TEXT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result_value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TEXT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reference_low / reference_high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REAL (nullable)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LOW / NORMAL / HIGH / UNKNOWN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test_date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DATETIME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confidence_score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REAL 0 to 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0" y="576072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reports (1) to test_results (many) to health_insights (many); cascade delete removes a report with everything under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REST endpoints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9164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pytest tests passing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React screens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9164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database tables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971800"/>
            <a:ext cx="111556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Bearer token signed with HMAC-SHA256 (12 h) and checked in constant time; CORS limited to the local front end; 15 MB limit and an extension whitelist on uploads.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Sample-report loader renders five synthetic PDFs and runs them through the same pipeline, so every screen can be shown with real extracted data.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Trend charts with the reference band, grouped comparison charts, sortable tables, light and dark themes, keyboard support.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Authentication is a single demo account and the library is shared: not suitable for real patient data. One-click start with run.bat.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Extraction Performance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4206240" cy="35387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00400"/>
                <a:gridCol w="1005840"/>
              </a:tblGrid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Metric (120 generated reports)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Value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Row precision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0.963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Row recall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0.874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Row F1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0.916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Name accuracy (found rows)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0.956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Unit accuracy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0.871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Reference-range accuracy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0.999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Status accuracy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0.999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Exact rows (all four fields right)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0.729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937760" y="1600200"/>
          <a:ext cx="6766560" cy="397763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39496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Cell-per-line table layout: 0 of 210 rows read. Names of the 55 dictionary tests: 0.987; unseen tests: 0.771.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5669280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Text-layer PDFs only; ground truth is generated. Scanned images were not measured (Tesseract not installed).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(Row-level Confusion)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3566160" cy="96012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9601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3291840" cy="528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1,468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8509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rows found (true positives)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91640"/>
            <a:ext cx="3566160" cy="96012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297680" y="1691640"/>
            <a:ext cx="73152" cy="9601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80560" y="1746504"/>
            <a:ext cx="3291840" cy="528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48509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rows missed (false negatives)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91640"/>
            <a:ext cx="3566160" cy="96012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92440" y="1691640"/>
            <a:ext cx="73152" cy="96012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75319" y="1746504"/>
            <a:ext cx="3291840" cy="528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8509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rows invented (false positives)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02920" y="2880360"/>
          <a:ext cx="11155680" cy="30723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822960"/>
                <a:gridCol w="8229600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Error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Cause found in the failure cases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Missed rows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212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All 210 rows of the cell-per-line table layout (each cell is a separate text line); 2 more in the noisy-name layout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Unit wrong or missing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189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Unit outside the regular-expression list (uIU/mL, mg/L, umol/L, ng/dL, ug/dL, pg/mL); a flag letter L or H between value and unit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Name wrong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Unseen tests snapped to a dictionary name (Sodium Bicarbonate read as Sodium); heavy character noise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False rows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55 are the header date line (Sample Collected: 12-04-2026) read as a test with range -4 to 2026; 2 others (one mis-read name, one date row matched to a real RDW value of 12)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Status wrong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Range and status are almost always right once a row is found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&amp; Parameter Analysis (Name Matcher)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7" name="Picture 6" descr="fig_threshold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8" y="1554480"/>
            <a:ext cx="4926223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72200" y="15361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Name accuracy against simulated per-character noise (55 names x 30 trials)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72200" y="1783080"/>
          <a:ext cx="5486400" cy="2606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4480560"/>
          <a:ext cx="11155680" cy="1645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26080"/>
                <a:gridCol w="2011680"/>
                <a:gridCol w="2011680"/>
                <a:gridCol w="2651760"/>
                <a:gridCol w="155448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Matcher / threshold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Accuracy at 10% noise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Accuracy at 20% noise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Unseen names wrongly snapped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Synonyms right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TF-IDF 0.30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0.965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0.907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54%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74%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TF-IDF 0.55 (shipped)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0.890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0.718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17%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53%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TF-IDF 0.80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0.698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0.398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47%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difflib ratio 0.60 (baseline)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0.981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0.946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measured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measured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617220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Sweep and noise bars use separate random trials, so the 20% TF-IDF figure differs slightly (0.718 vs 0.731).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1.4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PDF text layer (1 page)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9164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7.2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field extraction, 14 rows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53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whole pipeline incl. database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9164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210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HTTP PDF upload, median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2926080"/>
          <a:ext cx="1115568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6400800"/>
                <a:gridCol w="265176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Test 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What it covers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pytest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classification boundaries, extraction, name matching, OCR input checks, insights, pipeline, cascade delete, dashboard, API auth, upload, trend, compare, seed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36 passed, 0 failed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Live smoke test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running API in a temporary copy, plus browser flow on the built front end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24 API + 7 browser checks passed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Classification rule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20,000 random value and range cases against an independent rule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 disagreements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measured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scanned-image OCR speed and accuracy, LLM explanations, many users, real reports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stated as gaps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02920" y="585216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The proposal's target of under 10 seconds per report is met for text-layer PDFs (field extraction grows linearly: about 113 ms for 200 rows). Machine: i5-12500, 15.7 GB, no GPU.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 (context only – different task and data)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45920"/>
          <a:ext cx="11155680" cy="42245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4937760"/>
                <a:gridCol w="4389120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LabLens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Task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Answer questions about a blood report for metabolic syndrome with RAG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Read any lab report, flag abnormal values, explain, track trends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Input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Blood test reports from users; 33 chosen parameters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PDF or image reports; 55 known test names, other tests kept as read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Language 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LLaMA-3 8B with retrieval over books and transcripts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generative model needed; rule-based text, optional LLM rewrite (not exercised)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How quality was judged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GPT-4 scored 20 responses, 1 to 100; stated averages 92.4 / 89.7 / 91.1 / 88.9 (Table 4 recomputes to 94.0 / 94.9 / 90.1 / 88.65)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Extraction row F1 0.916, status accuracy 0.999 on 1,680 generated rows; explanation quality not scored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History over time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Listed as future scope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Trend chart, direction and report comparison implemented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Deliverable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RAG chatbot with login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Web application, 14 API endpoints, tests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94360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Not like-for-like: the scores measure different things on different data, so neither set of numbers ranks one system above the other.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Upload and Dashboard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7" name="Picture 6" descr="900_248_06_upload_d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61" y="1645920"/>
            <a:ext cx="5328716" cy="402336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900_248_04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761" y="1645920"/>
            <a:ext cx="5328716" cy="402336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7607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Upload: pipeline stages completed, 14 tests extracted and classified.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7607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Dashboard: totals, critical-result alert and recent reports.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Report Analysis and Health Trends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7" name="Picture 6" descr="900_248_07_report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61" y="1645920"/>
            <a:ext cx="5328716" cy="402336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000_248_09_health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197" y="1645920"/>
            <a:ext cx="4795845" cy="402336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7607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Report analysis: each result with range and Low / High status.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7607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Trends: haemoglobin across six reports with the reference band.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Report Comparison and Health Insights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7" name="Picture 6" descr="900_248_10_compare_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61" y="1645920"/>
            <a:ext cx="5328716" cy="402336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900_248_11_health_ins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761" y="1645920"/>
            <a:ext cx="5328716" cy="402336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7607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Compare: two reports side by side with change per test.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7607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Insights: every abnormal result with its plain-language explanation.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Delivered: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 working report-to-insight pipeline with a React and FastAPI application: extraction, Low / Normal / High flagging, explanations, history, trends, comparison and tests.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Measured: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row F1 0.916, range accuracy 0.999, status accuracy 0.999, 53 ms per report, on generated labelled reports.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Met: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objective 3 (flagging) and objective 5 (trends). </a:t>
            </a: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Partly met: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1 (text-layer PDFs timed; scan OCR unmeasured), 2 (regex and TF-IDF, not CRF; tables fail), 4 (curated text for 17 of 55 tests, no retrieval), 6 (dashboard yes; evaluation on generated, not hand-labelled, reports).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Weak points found: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cell-per-line tables, missing units, date lines read as tests, unseen tests renamed to a similar known test.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An educational tool, not a medical device; sign-in is demo-grade.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Read table layouts by header and column, widen the unit list, and ignore date and patient lines (fixes the main measured errors).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Measure scanned and photographed reports with Tesseract, and compare against PP-OCR or a vision-language model [4].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Add retrieval over a curated, cited medical corpus for explanations [1][6]; extend text from 17 tests to the full dictionary and add a synonym table.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Evaluate on consented, manually labelled real reports; fit the name-matcher threshold on them.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Per-user accounts with database-level isolation, a hosted database, test-date axis and slope-based trend direction.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48640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[1] A. Karhade, I. Verma, V. Gadaokar, and J. Mahajan, "RAG-based blood test report analysis to reverse metabolic syndrome," Commun. Appl. Nonlinear Anal., vol. 32, no. 10s, pp. 2771-2779, 2025, doi: 10.52783/cana.v32.5718.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[2] X. Ren, D. Dou, X. He, F. Cui, and J. Zhao, "A serialization method for digitizing the image-based medical laboratory report," Digital Health, 2025, doi: 10.1177/20552076251334431.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[3] S. Xiang, S. Chen, K. Q. Lin, J. Yu, Y. Sun, P. Torr, and A. Atapour-Abarghouei, "Checkup2Action: A multimodal clinical check-up report dataset for patient-oriented action card generation," arXiv:2605.11533, 2026.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[4] N. Bakhsheshi and H. Beigy, "Analysis of blood report images using general-purpose vision-language models," arXiv:2509.06033, 2025.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[5] V.-T. Nguyen, H.-D. Pham, T.-H. To, C.-T. H. Do, T.-T.-T. Dong, V.-T. D. Le, and V.-P. Hoang, "Medalyze: Lightweight medical report summarization application using FLAN-T5-Large," arXiv:2505.17059, 2025.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[6] P. Lewis et al., "Retrieval-augmented generation for knowledge-intensive NLP tasks," in Advances in Neural Information Processing Systems, vol. 33, 2020, pp. 9459-9474.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[12] Y. Du, C. Li, R. Guo, X. Yin, W. Liu, J. Zhou, Y. Bai, Z. Yu, Y. Yang, Q. Dang, and H. Wang, "PP-OCR: A practical ultra lightweight OCR system," arXiv:2009.09941, 2020.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[13] R. Smith, "An overview of the Tesseract OCR engine," in Proc. 9th Int. Conf. Document Analysis and Recognition (ICDAR), 2007, pp. 629-633.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[14] J. Lafferty, A. McCallum, and F. Pereira, "Conditional random fields: Probabilistic models for segmenting and labeling sequence data," in Proc. 18th Int. Conf. Machine Learning (ICML), 2001, pp. 282-289.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[15] G. Salton and C. Buckley, "Term-weighting approaches in automatic text retrieval," Inf. Process. Manag., vol. 24, no. 5, pp. 513-523, 1988.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[16] F. Pedregosa et al., "Scikit-learn: Machine learning in Python," J. Mach. Learn. Res., vol. 12, pp. 2825-2830, 2011.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[17] G. Bradski, "The OpenCV library," Dr. Dobb's Journal of Software Tools, 2000.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[18] N. Reimers and I. Gurevych, "Sentence-BERT: Sentence embeddings using Siamese BERT-networks," in Proc. EMNLP-IJCNLP, 2019, pp. 3982-3992.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[20] Artifex Software, "PyMuPDF documentation." [Online]. Available: https://pymupdf.readthedocs.io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A8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bLens">
  <a:themeElements>
    <a:clrScheme name="LabLen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abLens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bLen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Medical Lab Report Analysis and Health Insights Platform - Final Review</dc:title>
  <dc:subject>AI-Powered Medical Lab Report Analysis and Health Insights Platform</dc:subject>
  <dc:creator>Batch A8, Dept. of CSE, TKRCET</dc:creator>
  <cp:lastModifiedBy/>
  <cp:revision>1</cp:revision>
  <dcterms:created xsi:type="dcterms:W3CDTF">2026-10-07T05:03:03Z</dcterms:created>
  <dcterms:modified xsi:type="dcterms:W3CDTF">2026-10-07T05:03:03Z</dcterms:modified>
  <dc:description/>
  <cp:keywords>lab report analysis, OCR, information extraction, health insights, trend tracking</cp:keywords>
</cp:coreProperties>
</file>