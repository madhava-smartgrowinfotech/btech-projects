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Logistic Regression</c:v>
                </c:pt>
              </c:strCache>
            </c:strRef>
          </c:tx>
          <c:spPr>
            <a:solidFill>
              <a:srgbClr val="2A78D6"/>
            </a:solidFill>
          </c:spPr>
          <c:cat>
            <c:strRef>
              <c:f>Sheet1!$A$2:$A$5</c:f>
              <c:strCache>
                <c:ptCount val="4"/>
                <c:pt idx="0">
                  <c:v>Diabetes</c:v>
                </c:pt>
                <c:pt idx="1">
                  <c:v>Heart disease</c:v>
                </c:pt>
                <c:pt idx="2">
                  <c:v>Liver disease</c:v>
                </c:pt>
                <c:pt idx="3">
                  <c:v>Kidney disease</c:v>
                </c:pt>
              </c:strCache>
            </c:strRef>
          </c:cat>
          <c:val>
            <c:numRef>
              <c:f>Sheet1!$B$2:$B$5</c:f>
              <c:numCache>
                <c:formatCode>General</c:formatCode>
                <c:ptCount val="4"/>
                <c:pt idx="0">
                  <c:v>0.8599</c:v>
                </c:pt>
                <c:pt idx="1">
                  <c:v>0.9241</c:v>
                </c:pt>
                <c:pt idx="2">
                  <c:v>0.8406</c:v>
                </c:pt>
                <c:pt idx="3">
                  <c:v>0.9027</c:v>
                </c:pt>
              </c:numCache>
            </c:numRef>
          </c:val>
        </c:ser>
        <c:ser>
          <c:idx val="1"/>
          <c:order val="1"/>
          <c:tx>
            <c:strRef>
              <c:f>Sheet1!$C$1</c:f>
              <c:strCache>
                <c:ptCount val="1"/>
                <c:pt idx="0">
                  <c:v>Decision Tree</c:v>
                </c:pt>
              </c:strCache>
            </c:strRef>
          </c:tx>
          <c:spPr>
            <a:solidFill>
              <a:srgbClr val="E8A317"/>
            </a:solidFill>
          </c:spPr>
          <c:cat>
            <c:strRef>
              <c:f>Sheet1!$A$2:$A$5</c:f>
              <c:strCache>
                <c:ptCount val="4"/>
                <c:pt idx="0">
                  <c:v>Diabetes</c:v>
                </c:pt>
                <c:pt idx="1">
                  <c:v>Heart disease</c:v>
                </c:pt>
                <c:pt idx="2">
                  <c:v>Liver disease</c:v>
                </c:pt>
                <c:pt idx="3">
                  <c:v>Kidney disease</c:v>
                </c:pt>
              </c:strCache>
            </c:strRef>
          </c:cat>
          <c:val>
            <c:numRef>
              <c:f>Sheet1!$C$2:$C$5</c:f>
              <c:numCache>
                <c:formatCode>General</c:formatCode>
                <c:ptCount val="4"/>
                <c:pt idx="0">
                  <c:v>0.7403</c:v>
                </c:pt>
                <c:pt idx="1">
                  <c:v>0.8447</c:v>
                </c:pt>
                <c:pt idx="2">
                  <c:v>0.7431</c:v>
                </c:pt>
                <c:pt idx="3">
                  <c:v>0.7944</c:v>
                </c:pt>
              </c:numCache>
            </c:numRef>
          </c:val>
        </c:ser>
        <c:ser>
          <c:idx val="2"/>
          <c:order val="2"/>
          <c:tx>
            <c:strRef>
              <c:f>Sheet1!$D$1</c:f>
              <c:strCache>
                <c:ptCount val="1"/>
                <c:pt idx="0">
                  <c:v>Random Forest</c:v>
                </c:pt>
              </c:strCache>
            </c:strRef>
          </c:tx>
          <c:spPr>
            <a:solidFill>
              <a:srgbClr val="1BAF7A"/>
            </a:solidFill>
          </c:spPr>
          <c:cat>
            <c:strRef>
              <c:f>Sheet1!$A$2:$A$5</c:f>
              <c:strCache>
                <c:ptCount val="4"/>
                <c:pt idx="0">
                  <c:v>Diabetes</c:v>
                </c:pt>
                <c:pt idx="1">
                  <c:v>Heart disease</c:v>
                </c:pt>
                <c:pt idx="2">
                  <c:v>Liver disease</c:v>
                </c:pt>
                <c:pt idx="3">
                  <c:v>Kidney disease</c:v>
                </c:pt>
              </c:strCache>
            </c:strRef>
          </c:cat>
          <c:val>
            <c:numRef>
              <c:f>Sheet1!$D$2:$D$5</c:f>
              <c:numCache>
                <c:formatCode>General</c:formatCode>
                <c:ptCount val="4"/>
                <c:pt idx="0">
                  <c:v>0.8185</c:v>
                </c:pt>
                <c:pt idx="1">
                  <c:v>0.8924</c:v>
                </c:pt>
                <c:pt idx="2">
                  <c:v>0.7662</c:v>
                </c:pt>
                <c:pt idx="3">
                  <c:v>0.8532</c:v>
                </c:pt>
              </c:numCache>
            </c:numRef>
          </c:val>
        </c:ser>
        <c:ser>
          <c:idx val="3"/>
          <c:order val="3"/>
          <c:tx>
            <c:strRef>
              <c:f>Sheet1!$E$1</c:f>
              <c:strCache>
                <c:ptCount val="1"/>
                <c:pt idx="0">
                  <c:v>SVM</c:v>
                </c:pt>
              </c:strCache>
            </c:strRef>
          </c:tx>
          <c:spPr>
            <a:solidFill>
              <a:srgbClr val="6B52D6"/>
            </a:solidFill>
          </c:spPr>
          <c:cat>
            <c:strRef>
              <c:f>Sheet1!$A$2:$A$5</c:f>
              <c:strCache>
                <c:ptCount val="4"/>
                <c:pt idx="0">
                  <c:v>Diabetes</c:v>
                </c:pt>
                <c:pt idx="1">
                  <c:v>Heart disease</c:v>
                </c:pt>
                <c:pt idx="2">
                  <c:v>Liver disease</c:v>
                </c:pt>
                <c:pt idx="3">
                  <c:v>Kidney disease</c:v>
                </c:pt>
              </c:strCache>
            </c:strRef>
          </c:cat>
          <c:val>
            <c:numRef>
              <c:f>Sheet1!$E$2:$E$5</c:f>
              <c:numCache>
                <c:formatCode>General</c:formatCode>
                <c:ptCount val="4"/>
                <c:pt idx="0">
                  <c:v>0.8636</c:v>
                </c:pt>
                <c:pt idx="1">
                  <c:v>0.9193</c:v>
                </c:pt>
                <c:pt idx="2">
                  <c:v>0.7755</c:v>
                </c:pt>
                <c:pt idx="3">
                  <c:v>0.8808</c:v>
                </c:pt>
              </c:numCache>
            </c:numRef>
          </c:val>
        </c:ser>
        <c:dLbls>
          <c:numFmt formatCode="0.00"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1"/>
          <c:min val="0.0"/>
        </c:scaling>
        <c:delete val="0"/>
        <c:axPos val="l"/>
        <c:majorGridlines>
          <c:spPr>
            <a:ln>
              <a:solidFill>
                <a:srgbClr val="D5DCE6"/>
              </a:solidFill>
            </a:ln>
          </c:spPr>
        </c:majorGridlines>
        <c:numFmt formatCode="0.00" sourceLinked="0"/>
        <c:majorTickMark val="out"/>
        <c:minorTickMark val="none"/>
        <c:tickLblPos val="nextTo"/>
        <c:spPr>
          <a:ln>
            <a:noFill/>
          </a:ln>
        </c:spPr>
        <c:crossAx val="-2068027336"/>
        <c:crosses val="autoZero"/>
      </c:valAx>
    </c:plotArea>
    <c:legend>
      <c:legendPos val="b"/>
      <c:overlay val="0"/>
    </c:legend>
    <c:dispBlanksAs val="gap"/>
  </c:chart>
  <c:txPr>
    <a:bodyPr/>
    <a:lstStyle/>
    <a:p>
      <a:pPr>
        <a:defRPr sz="11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we compare four classical classifiers for diabetes, heart, liver and kidney risk and serve the best one per disease through a single web application.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Review 1 is about why the problem matters and what is missing in current work; the measured results are summarised later.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sentences: the problem, our idea, what we deliver. Be upfront that the training data are synthetic because public datasets could not be downloaded when the project was first built; a supplementary check on real public data is part of later reviews.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citation. The base paper is a rigorous single-disease study with explanations. We do not reproduce it: we use different diseases, different (synthetic) data and a single hold-out split, so our numbers are not comparable with its numbers.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pattern: single-disease studies on public benchmarks, a few symptom-based multi-disease systems, and explainability added in the most recent work. Figures are quoted as reported by the authors.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Chart: hold-out F1 of the four algorithms for each disease (our own early measurements from models/training_report.json, 400-row test sets, seed 42). The synthetic-data caveat must be said aloud.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usual path: separate specialists, separate tests, and prediction tools that each cover one disease.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four limitations are the problem statement of the batch. Each maps to a design decision: one interface, four disease modules, routine inputs only, an early risk class.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literature survey words the gap as: a single pipeline that screens several conditions from one patient record and explains which parameters drove each prediction. The rows above spell that out. In this project the first two are addressed; explanation of drivers is only an offline analysis.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four conditions, one record, a risk class with confidence, one interface, models chosen by comparison on held-out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objectives from the batch proposal: datasets, preprocessing, four algorithms, selection by metrics, a single interface, and risk with its drivers.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stages and the application around them. Models are pickle files, data are CSV files; a prediction is computed from the request and returned.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top to bottom: the offline pipeline that creates the models, then the online application. The original Flask pages use the same bundles.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expected outcomes and contributions, not clinical claims. Later reviews report what the held-out data show, including weaknesses.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full list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these four algorithms; why F1; why the data are synthetic and what happens on real data; why no SHAP explanation in the app yet.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Multi-Disease Prediction Using Machine Learning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Multi-Disease Prediction Using Machine Learning</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One web interface that screens four chronic conditions from routine clinical values</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AJMEERA HARINI  23K91A0507</a:t>
            </a:r>
            <a:endParaRPr lang="en-US" sz="1500" dirty="0"/>
          </a:p>
          <a:p>
            <a:pPr indent="0" marL="0">
              <a:buNone/>
            </a:pPr>
            <a:r>
              <a:rPr lang="en-US" sz="1500" dirty="0">
                <a:solidFill>
                  <a:srgbClr val="FFFFFF"/>
                </a:solidFill>
              </a:rPr>
              <a:t>BANDI LIKITHA  23K91A0526</a:t>
            </a:r>
            <a:endParaRPr lang="en-US" sz="1500" dirty="0"/>
          </a:p>
          <a:p>
            <a:pPr indent="0" marL="0">
              <a:buNone/>
            </a:pPr>
            <a:r>
              <a:rPr lang="en-US" sz="1500" dirty="0">
                <a:solidFill>
                  <a:srgbClr val="FFFFFF"/>
                </a:solidFill>
              </a:rPr>
              <a:t>CHINTHAKINDI SWATHI  23K91A0555</a:t>
            </a:r>
            <a:endParaRPr lang="en-US" sz="1500" dirty="0"/>
          </a:p>
          <a:p>
            <a:pPr indent="0" marL="0">
              <a:buNone/>
            </a:pPr>
            <a:r>
              <a:rPr lang="en-US" sz="1500" dirty="0">
                <a:solidFill>
                  <a:srgbClr val="FFFFFF"/>
                </a:solidFill>
              </a:rPr>
              <a:t>BADROJU SRI HANSIKA  23K91A0524</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B. SRUTHI, Faculty Project Guide, Department of CSE</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and Technology (Autonomous)  ·  Batch A3 (CSE-A)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approaches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screen several diseases from one record</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474720"/>
          </a:xfrm>
          <a:prstGeom prst="rect">
            <a:avLst/>
          </a:prstGeom>
          <a:noFill/>
        </p:spPr>
        <p:txBody>
          <a:bodyPr wrap="square" lIns="0" rIns="0" tIns="0" bIns="0" anchor="t">
            <a:spAutoFit/>
          </a:bodyPr>
          <a:lstStyle/>
          <a:p>
            <a:pPr algn="l">
              <a:spcAft>
                <a:spcPts val="400"/>
              </a:spcAft>
            </a:pPr>
            <a:r>
              <a:rPr sz="1800" b="0" i="0">
                <a:solidFill>
                  <a:srgbClr val="475569"/>
                </a:solidFill>
              </a:rPr>
              <a:t>Chronic diseases are often found late, and prediction tools handle one disease at a time. Patients visit several specialists and take separate tests before any risk is identified; rural centres lack specialists to read routine reports.</a:t>
            </a:r>
          </a:p>
        </p:txBody>
      </p:sp>
      <p:sp>
        <p:nvSpPr>
          <p:cNvPr id="30" name="Rounded Rectangle 29"/>
          <p:cNvSpPr/>
          <p:nvPr/>
        </p:nvSpPr>
        <p:spPr>
          <a:xfrm>
            <a:off x="4334255"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474720"/>
          </a:xfrm>
          <a:prstGeom prst="rect">
            <a:avLst/>
          </a:prstGeom>
          <a:noFill/>
        </p:spPr>
        <p:txBody>
          <a:bodyPr wrap="square" lIns="0" rIns="0" tIns="0" bIns="0" anchor="t">
            <a:spAutoFit/>
          </a:bodyPr>
          <a:lstStyle/>
          <a:p>
            <a:pPr algn="l">
              <a:spcAft>
                <a:spcPts val="400"/>
              </a:spcAft>
            </a:pPr>
            <a:r>
              <a:rPr sz="1800" b="0" i="0">
                <a:solidFill>
                  <a:srgbClr val="475569"/>
                </a:solidFill>
              </a:rPr>
              <a:t>Train Logistic Regression, Decision Tree, Random Forest and SVM for diabetes, heart, liver and kidney disease on standardised clinical values, compare them on a held-out split and serve the best model per disease.</a:t>
            </a:r>
          </a:p>
        </p:txBody>
      </p:sp>
      <p:sp>
        <p:nvSpPr>
          <p:cNvPr id="34" name="Rounded Rectangle 33"/>
          <p:cNvSpPr/>
          <p:nvPr/>
        </p:nvSpPr>
        <p:spPr>
          <a:xfrm>
            <a:off x="8119871"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474720"/>
          </a:xfrm>
          <a:prstGeom prst="rect">
            <a:avLst/>
          </a:prstGeom>
          <a:noFill/>
        </p:spPr>
        <p:txBody>
          <a:bodyPr wrap="square" lIns="0" rIns="0" tIns="0" bIns="0" anchor="t">
            <a:spAutoFit/>
          </a:bodyPr>
          <a:lstStyle/>
          <a:p>
            <a:pPr algn="l">
              <a:spcAft>
                <a:spcPts val="400"/>
              </a:spcAft>
            </a:pPr>
            <a:r>
              <a:rPr sz="1800" b="0" i="0">
                <a:solidFill>
                  <a:srgbClr val="475569"/>
                </a:solidFill>
              </a:rPr>
              <a:t>A web application, the Intelligent Health Assistant: one form per disease, a risk class with the model's confidence, a model-comparison page and a dataset page, over a FastAPI service.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51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44168"/>
            <a:ext cx="10698480" cy="914400"/>
          </a:xfrm>
          <a:prstGeom prst="rect">
            <a:avLst/>
          </a:prstGeom>
          <a:noFill/>
        </p:spPr>
        <p:txBody>
          <a:bodyPr wrap="square" lIns="0" rIns="0" tIns="0" bIns="0" anchor="ctr">
            <a:spAutoFit/>
          </a:bodyPr>
          <a:lstStyle/>
          <a:p>
            <a:pPr algn="l">
              <a:spcAft>
                <a:spcPts val="400"/>
              </a:spcAft>
            </a:pPr>
            <a:r>
              <a:rPr sz="1300" b="0" i="0">
                <a:solidFill>
                  <a:srgbClr val="0F172A"/>
                </a:solidFill>
              </a:rPr>
              <a:t>M. Z. Alam, R. Rahman, H. M. Sozib, H. Ahmed, A. Hossain, A. A. Sabeena, A. F. Tasnim, F. Ahmed, M. I. Sarkar and T. I. Erdei, "Enhancing Thyroid Disease Diagnosis With Machine Learning and Counterfactual Explainable AI," IEEE Access, vol. 14, pp. 80346-80370, 2026, doi: 10.1109/ACCESS.2026.3663497.</a:t>
            </a:r>
          </a:p>
        </p:txBody>
      </p:sp>
      <p:sp>
        <p:nvSpPr>
          <p:cNvPr id="28" name="Rounded Rectangle 27"/>
          <p:cNvSpPr/>
          <p:nvPr/>
        </p:nvSpPr>
        <p:spPr>
          <a:xfrm>
            <a:off x="548640" y="2514600"/>
            <a:ext cx="3520440" cy="3749039"/>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M</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Method</a:t>
            </a:r>
          </a:p>
        </p:txBody>
      </p:sp>
      <p:sp>
        <p:nvSpPr>
          <p:cNvPr id="31" name="TextBox 30"/>
          <p:cNvSpPr txBox="1"/>
          <p:nvPr/>
        </p:nvSpPr>
        <p:spPr>
          <a:xfrm>
            <a:off x="749808" y="3383280"/>
            <a:ext cx="3118104" cy="2743199"/>
          </a:xfrm>
          <a:prstGeom prst="rect">
            <a:avLst/>
          </a:prstGeom>
          <a:noFill/>
        </p:spPr>
        <p:txBody>
          <a:bodyPr wrap="square" lIns="0" rIns="0" tIns="0" bIns="0" anchor="t">
            <a:spAutoFit/>
          </a:bodyPr>
          <a:lstStyle/>
          <a:p>
            <a:pPr algn="l">
              <a:spcAft>
                <a:spcPts val="400"/>
              </a:spcAft>
            </a:pPr>
            <a:r>
              <a:rPr sz="1500" b="0" i="0">
                <a:solidFill>
                  <a:srgbClr val="475569"/>
                </a:solidFill>
              </a:rPr>
              <a:t>Thyroid status (Normal / Hypothyroid / Hyperthyroid) classified with SVC, Random Forest, Extra Trees, AdaBoost and CatBoost under nested cross-validation (outer 5-fold, inner 3-fold grid search); SHAP and counterfactual explanations.</a:t>
            </a:r>
          </a:p>
        </p:txBody>
      </p:sp>
      <p:sp>
        <p:nvSpPr>
          <p:cNvPr id="32" name="Rounded Rectangle 31"/>
          <p:cNvSpPr/>
          <p:nvPr/>
        </p:nvSpPr>
        <p:spPr>
          <a:xfrm>
            <a:off x="4334255" y="2514600"/>
            <a:ext cx="3520440" cy="3749039"/>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R</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Data and reported results</a:t>
            </a:r>
          </a:p>
        </p:txBody>
      </p:sp>
      <p:sp>
        <p:nvSpPr>
          <p:cNvPr id="35" name="TextBox 34"/>
          <p:cNvSpPr txBox="1"/>
          <p:nvPr/>
        </p:nvSpPr>
        <p:spPr>
          <a:xfrm>
            <a:off x="4535423" y="3383280"/>
            <a:ext cx="3118104" cy="2743199"/>
          </a:xfrm>
          <a:prstGeom prst="rect">
            <a:avLst/>
          </a:prstGeom>
          <a:noFill/>
        </p:spPr>
        <p:txBody>
          <a:bodyPr wrap="square" lIns="0" rIns="0" tIns="0" bIns="0" anchor="t">
            <a:spAutoFit/>
          </a:bodyPr>
          <a:lstStyle/>
          <a:p>
            <a:pPr algn="l">
              <a:spcAft>
                <a:spcPts val="400"/>
              </a:spcAft>
            </a:pPr>
            <a:r>
              <a:rPr sz="1500" b="0" i="0">
                <a:solidFill>
                  <a:srgbClr val="475569"/>
                </a:solidFill>
              </a:rPr>
              <a:t>UCI thyroid data, 7,200 samples, 21 features. Random Forest and CatBoost reach 0.996-0.997 accuracy and AUC 0.999-1.000; SVC 0.965-0.967. Ten consensus features keep the accuracy.</a:t>
            </a:r>
          </a:p>
        </p:txBody>
      </p:sp>
      <p:sp>
        <p:nvSpPr>
          <p:cNvPr id="36" name="Rounded Rectangle 35"/>
          <p:cNvSpPr/>
          <p:nvPr/>
        </p:nvSpPr>
        <p:spPr>
          <a:xfrm>
            <a:off x="8119871" y="2514600"/>
            <a:ext cx="3520440" cy="3749039"/>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L</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Stated limits</a:t>
            </a:r>
          </a:p>
        </p:txBody>
      </p:sp>
      <p:sp>
        <p:nvSpPr>
          <p:cNvPr id="39" name="TextBox 38"/>
          <p:cNvSpPr txBox="1"/>
          <p:nvPr/>
        </p:nvSpPr>
        <p:spPr>
          <a:xfrm>
            <a:off x="8321040" y="3383280"/>
            <a:ext cx="3118104" cy="2743199"/>
          </a:xfrm>
          <a:prstGeom prst="rect">
            <a:avLst/>
          </a:prstGeom>
          <a:noFill/>
        </p:spPr>
        <p:txBody>
          <a:bodyPr wrap="square" lIns="0" rIns="0" tIns="0" bIns="0" anchor="t">
            <a:spAutoFit/>
          </a:bodyPr>
          <a:lstStyle/>
          <a:p>
            <a:pPr algn="l">
              <a:spcAft>
                <a:spcPts val="400"/>
              </a:spcAft>
            </a:pPr>
            <a:r>
              <a:rPr sz="1500" b="0" i="0">
                <a:solidFill>
                  <a:srgbClr val="475569"/>
                </a:solidFill>
              </a:rPr>
              <a:t>Strong class imbalance, no external validation and one disease only. SMOTE was tried and rejected. Our project borrows the idea of comparing classical classifiers and extends it to four diseases.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457200" y="1143000"/>
          <a:ext cx="11247120" cy="4754880"/>
        </p:xfrm>
        <a:graphic>
          <a:graphicData uri="http://schemas.openxmlformats.org/drawingml/2006/table">
            <a:tbl>
              <a:tblPr firstRow="0" bandRow="0">
                <a:tableStyleId>{5C22544A-7EE6-4342-B048-85BDC9FD1C3A}</a:tableStyleId>
              </a:tblPr>
              <a:tblGrid>
                <a:gridCol w="2286000"/>
                <a:gridCol w="3657600"/>
                <a:gridCol w="2377440"/>
                <a:gridCol w="2926080"/>
              </a:tblGrid>
              <a:tr h="475488">
                <a:tc>
                  <a:txBody>
                    <a:bodyPr wrap="square"/>
                    <a:lstStyle/>
                    <a:p>
                      <a:pPr algn="ctr"/>
                      <a:r>
                        <a:rPr sz="11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Reported result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75488">
                <a:tc>
                  <a:txBody>
                    <a:bodyPr wrap="square"/>
                    <a:lstStyle/>
                    <a:p>
                      <a:pPr algn="l"/>
                      <a:r>
                        <a:rPr sz="950" b="0">
                          <a:solidFill>
                            <a:srgbClr val="0F172A"/>
                          </a:solidFill>
                        </a:rPr>
                        <a:t>Alam et al., 2026 (base paper) [1]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950" b="0">
                          <a:solidFill>
                            <a:srgbClr val="0F172A"/>
                          </a:solidFill>
                        </a:rPr>
                        <a:t>Five classifiers, nested cross-validation, full and TOP-10 feature sets, SHAP and counterfactual explanations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950" b="0">
                          <a:solidFill>
                            <a:srgbClr val="0F172A"/>
                          </a:solidFill>
                        </a:rPr>
                        <a:t>UCI thyroid, 7,200 samples, 21 features, 3 classes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950" b="0">
                          <a:solidFill>
                            <a:srgbClr val="0F172A"/>
                          </a:solidFill>
                        </a:rPr>
                        <a:t>Random Forest / CatBoost accuracy 0.996-0.997, AUC 0.999-1.000; SVC 0.965-0.967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950" b="0">
                          <a:solidFill>
                            <a:srgbClr val="0F172A"/>
                          </a:solidFill>
                        </a:rPr>
                        <a:t>Zannat et al., 2025 [2]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950" b="0">
                          <a:solidFill>
                            <a:srgbClr val="0F172A"/>
                          </a:solidFill>
                        </a:rPr>
                        <a:t>Eight classifiers plus soft and hard voting ensembles; PCA; 5-fold CV tuning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950" b="0">
                          <a:solidFill>
                            <a:srgbClr val="0F172A"/>
                          </a:solidFill>
                        </a:rPr>
                        <a:t>Bangla symptoms-disease set: 758 relations, 85 diseases, 172 symptoms; 607 train / 151 test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950" b="0">
                          <a:solidFill>
                            <a:srgbClr val="0F172A"/>
                          </a:solidFill>
                        </a:rPr>
                        <a:t>Ensembles accuracy 0.98; Random Forest 0.97; Decision Tree 0.78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950" b="0">
                          <a:solidFill>
                            <a:srgbClr val="0F172A"/>
                          </a:solidFill>
                        </a:rPr>
                        <a:t>Al Nahian et al., 2022 [3]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950" b="0">
                          <a:solidFill>
                            <a:srgbClr val="0F172A"/>
                          </a:solidFill>
                        </a:rPr>
                        <a:t>Several classifiers on survey-based symptom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950" b="0">
                          <a:solidFill>
                            <a:srgbClr val="0F172A"/>
                          </a:solidFill>
                        </a:rPr>
                        <a:t>Survey data for 11 common diseases (e.g. flu, migraine, heart disease, diabetes)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950" b="0">
                          <a:solidFill>
                            <a:srgbClr val="0F172A"/>
                          </a:solidFill>
                        </a:rPr>
                        <a:t>Abstract names a best classifier but gives no numbers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950" b="0">
                          <a:solidFill>
                            <a:srgbClr val="0F172A"/>
                          </a:solidFill>
                        </a:rPr>
                        <a:t>Kamakshamma et al., 2025 [4]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950" b="0">
                          <a:solidFill>
                            <a:srgbClr val="0F172A"/>
                          </a:solidFill>
                        </a:rPr>
                        <a:t>Django web app with one model per disease; recall prioritised; threshold lowered to 0.2 for diabetes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950" b="0">
                          <a:solidFill>
                            <a:srgbClr val="0F172A"/>
                          </a:solidFill>
                        </a:rPr>
                        <a:t>Kaggle: stroke 5,110, student depression 27,901, diabetes 100,000 records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950" b="0">
                          <a:solidFill>
                            <a:srgbClr val="0F172A"/>
                          </a:solidFill>
                        </a:rPr>
                        <a:t>Recall 94.73% (stroke), 88.39% (depression), 91.02% (diabetes)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950" b="0">
                          <a:solidFill>
                            <a:srgbClr val="0F172A"/>
                          </a:solidFill>
                        </a:rPr>
                        <a:t>Sun and Sun, 2024 [5]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950" b="0">
                          <a:solidFill>
                            <a:srgbClr val="0F172A"/>
                          </a:solidFill>
                        </a:rPr>
                        <a:t>Six supervised classifiers compared with accuracy, precision, recall and F1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950" b="0">
                          <a:solidFill>
                            <a:srgbClr val="0F172A"/>
                          </a:solidFill>
                        </a:rPr>
                        <a:t>Pima Indians Diabetes dataset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950" b="0">
                          <a:solidFill>
                            <a:srgbClr val="0F172A"/>
                          </a:solidFill>
                        </a:rPr>
                        <a:t>Gradient boosting best, 81.8% accuracy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950" b="0">
                          <a:solidFill>
                            <a:srgbClr val="0F172A"/>
                          </a:solidFill>
                        </a:rPr>
                        <a:t>Islam et al., 2023 [6]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950" b="0">
                          <a:solidFill>
                            <a:srgbClr val="0F172A"/>
                          </a:solidFill>
                        </a:rPr>
                        <a:t>12 supervised classifiers after reducing 25 variables to about 30% of them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950" b="0">
                          <a:solidFill>
                            <a:srgbClr val="0F172A"/>
                          </a:solidFill>
                        </a:rPr>
                        <a:t>Chronic kidney disease data, 25 variables including the class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950" b="0">
                          <a:solidFill>
                            <a:srgbClr val="0F172A"/>
                          </a:solidFill>
                        </a:rPr>
                        <a:t>XGBoost best: accuracy 0.983, precision, recall and F1 0.98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950" b="0">
                          <a:solidFill>
                            <a:srgbClr val="0F172A"/>
                          </a:solidFill>
                        </a:rPr>
                        <a:t>Salekin and Stankovic, 2016 [8]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950" b="0">
                          <a:solidFill>
                            <a:srgbClr val="0F172A"/>
                          </a:solidFill>
                        </a:rPr>
                        <a:t>Classifier over 24 predictive parameters; attribute ranking; cost-accuracy trade-off</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950" b="0">
                          <a:solidFill>
                            <a:srgbClr val="0F172A"/>
                          </a:solidFill>
                        </a:rPr>
                        <a:t>400 individuals, 250 with CKD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950" b="0">
                          <a:solidFill>
                            <a:srgbClr val="0F172A"/>
                          </a:solidFill>
                        </a:rPr>
                        <a:t>F1 0.993, RMSE 0.1084; error 56% lower than CKD-EPI equation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950" b="0">
                          <a:solidFill>
                            <a:srgbClr val="0F172A"/>
                          </a:solidFill>
                        </a:rPr>
                        <a:t>Straw and Wu, 2022 [7]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950" b="0">
                          <a:solidFill>
                            <a:srgbClr val="0F172A"/>
                          </a:solidFill>
                        </a:rPr>
                        <a:t>Re-created published liver-disease models; sex-stratified error analysis, 100 repeats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950" b="0">
                          <a:solidFill>
                            <a:srgbClr val="0F172A"/>
                          </a:solidFill>
                        </a:rPr>
                        <a:t>Indian Liver Patient Dataset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950" b="0">
                          <a:solidFill>
                            <a:srgbClr val="0F172A"/>
                          </a:solidFill>
                        </a:rPr>
                        <a:t>Accuracy about 71% (logistic regression) to about 79% (SVM); higher false-negative rate in women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950" b="0">
                          <a:solidFill>
                            <a:srgbClr val="0F172A"/>
                          </a:solidFill>
                        </a:rPr>
                        <a:t>Smith et al., 1988 [12]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950" b="0">
                          <a:solidFill>
                            <a:srgbClr val="0F172A"/>
                          </a:solidFill>
                        </a:rPr>
                        <a:t>ADAP neural-network learner forecasting diabetes onset; sensitivity-specificity analysis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950" b="0">
                          <a:solidFill>
                            <a:srgbClr val="0F172A"/>
                          </a:solidFill>
                        </a:rPr>
                        <a:t>High-risk Pima Indian population (origin of the Pima data set)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950" b="0">
                          <a:solidFill>
                            <a:srgbClr val="0F172A"/>
                          </a:solidFill>
                        </a:rPr>
                        <a:t>Cut-off 0.448 gave 76% sensitivity and specificity on 192 held-out cases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
        <p:nvSpPr>
          <p:cNvPr id="27" name="TextBox 26"/>
          <p:cNvSpPr txBox="1"/>
          <p:nvPr/>
        </p:nvSpPr>
        <p:spPr>
          <a:xfrm>
            <a:off x="457200" y="6263640"/>
            <a:ext cx="11247120" cy="365760"/>
          </a:xfrm>
          <a:prstGeom prst="rect">
            <a:avLst/>
          </a:prstGeom>
          <a:noFill/>
        </p:spPr>
        <p:txBody>
          <a:bodyPr wrap="square" lIns="0" rIns="0" tIns="0" bIns="0" anchor="t">
            <a:spAutoFit/>
          </a:bodyPr>
          <a:lstStyle/>
          <a:p>
            <a:pPr algn="l">
              <a:spcAft>
                <a:spcPts val="400"/>
              </a:spcAft>
            </a:pPr>
            <a:r>
              <a:rPr sz="1050" b="0" i="1">
                <a:solidFill>
                  <a:srgbClr val="475569"/>
                </a:solidFill>
              </a:rPr>
              <a:t>Details were read from each paper itself; results use different data and splits and are not comparable with one another.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the algorithm matters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80160"/>
          <a:ext cx="7223760" cy="4754880"/>
        </p:xfrm>
        <a:graphic>
          <a:graphicData uri="http://schemas.openxmlformats.org/drawingml/2006/chart">
            <c:chart xmlns:c="http://schemas.openxmlformats.org/drawingml/2006/chart" r:id="rId3"/>
          </a:graphicData>
        </a:graphic>
      </p:graphicFrame>
      <p:sp>
        <p:nvSpPr>
          <p:cNvPr id="27" name="Rounded Rectangle 26"/>
          <p:cNvSpPr/>
          <p:nvPr/>
        </p:nvSpPr>
        <p:spPr>
          <a:xfrm>
            <a:off x="8001000" y="1371600"/>
            <a:ext cx="3639312" cy="2331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8202168"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9" name="TextBox 28"/>
          <p:cNvSpPr txBox="1"/>
          <p:nvPr/>
        </p:nvSpPr>
        <p:spPr>
          <a:xfrm>
            <a:off x="8842248" y="1527048"/>
            <a:ext cx="2633472" cy="548640"/>
          </a:xfrm>
          <a:prstGeom prst="rect">
            <a:avLst/>
          </a:prstGeom>
          <a:noFill/>
        </p:spPr>
        <p:txBody>
          <a:bodyPr wrap="square" lIns="0" rIns="0" tIns="0" bIns="0" anchor="ctr">
            <a:spAutoFit/>
          </a:bodyPr>
          <a:lstStyle/>
          <a:p>
            <a:pPr algn="l">
              <a:spcAft>
                <a:spcPts val="400"/>
              </a:spcAft>
            </a:pPr>
            <a:r>
              <a:rPr sz="1600" b="1" i="0">
                <a:solidFill>
                  <a:srgbClr val="0F172A"/>
                </a:solidFill>
              </a:rPr>
              <a:t>Takeaway</a:t>
            </a:r>
          </a:p>
        </p:txBody>
      </p:sp>
      <p:sp>
        <p:nvSpPr>
          <p:cNvPr id="30" name="TextBox 29"/>
          <p:cNvSpPr txBox="1"/>
          <p:nvPr/>
        </p:nvSpPr>
        <p:spPr>
          <a:xfrm>
            <a:off x="8202168" y="2240280"/>
            <a:ext cx="3236976" cy="1325879"/>
          </a:xfrm>
          <a:prstGeom prst="rect">
            <a:avLst/>
          </a:prstGeom>
          <a:noFill/>
        </p:spPr>
        <p:txBody>
          <a:bodyPr wrap="square" lIns="0" rIns="0" tIns="0" bIns="0" anchor="t">
            <a:spAutoFit/>
          </a:bodyPr>
          <a:lstStyle/>
          <a:p>
            <a:pPr algn="l">
              <a:spcAft>
                <a:spcPts val="400"/>
              </a:spcAft>
            </a:pPr>
            <a:r>
              <a:rPr sz="1300" b="0" i="0">
                <a:solidFill>
                  <a:srgbClr val="475569"/>
                </a:solidFill>
              </a:rPr>
              <a:t>Early measurements: on our hold-out split the F1-score of the same four algorithms differs by up to 0.12 within one disease, so comparing them is worthwhile.</a:t>
            </a:r>
          </a:p>
        </p:txBody>
      </p:sp>
      <p:sp>
        <p:nvSpPr>
          <p:cNvPr id="31" name="Rounded Rectangle 30"/>
          <p:cNvSpPr/>
          <p:nvPr/>
        </p:nvSpPr>
        <p:spPr>
          <a:xfrm>
            <a:off x="8001000" y="3886200"/>
            <a:ext cx="3639312" cy="2331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202168" y="40690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3" name="TextBox 32"/>
          <p:cNvSpPr txBox="1"/>
          <p:nvPr/>
        </p:nvSpPr>
        <p:spPr>
          <a:xfrm>
            <a:off x="8842248" y="4041648"/>
            <a:ext cx="2633472" cy="548640"/>
          </a:xfrm>
          <a:prstGeom prst="rect">
            <a:avLst/>
          </a:prstGeom>
          <a:noFill/>
        </p:spPr>
        <p:txBody>
          <a:bodyPr wrap="square" lIns="0" rIns="0" tIns="0" bIns="0" anchor="ctr">
            <a:spAutoFit/>
          </a:bodyPr>
          <a:lstStyle/>
          <a:p>
            <a:pPr algn="l">
              <a:spcAft>
                <a:spcPts val="400"/>
              </a:spcAft>
            </a:pPr>
            <a:r>
              <a:rPr sz="1600" b="1" i="0">
                <a:solidFill>
                  <a:srgbClr val="0F172A"/>
                </a:solidFill>
              </a:rPr>
              <a:t>Caveat</a:t>
            </a:r>
          </a:p>
        </p:txBody>
      </p:sp>
      <p:sp>
        <p:nvSpPr>
          <p:cNvPr id="34" name="TextBox 33"/>
          <p:cNvSpPr txBox="1"/>
          <p:nvPr/>
        </p:nvSpPr>
        <p:spPr>
          <a:xfrm>
            <a:off x="8202168" y="4754880"/>
            <a:ext cx="3236976" cy="1325879"/>
          </a:xfrm>
          <a:prstGeom prst="rect">
            <a:avLst/>
          </a:prstGeom>
          <a:noFill/>
        </p:spPr>
        <p:txBody>
          <a:bodyPr wrap="square" lIns="0" rIns="0" tIns="0" bIns="0" anchor="t">
            <a:spAutoFit/>
          </a:bodyPr>
          <a:lstStyle/>
          <a:p>
            <a:pPr algn="l">
              <a:spcAft>
                <a:spcPts val="400"/>
              </a:spcAft>
            </a:pPr>
            <a:r>
              <a:rPr sz="1300" b="0" i="0">
                <a:solidFill>
                  <a:srgbClr val="475569"/>
                </a:solidFill>
              </a:rPr>
              <a:t>The data are synthetic with 8% flipped labels, so no model can exceed about 92% accuracy; these bars show the pipeline works, not clinical accuracy.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Symptoms noticed late</a:t>
            </a:r>
          </a:p>
        </p:txBody>
      </p:sp>
      <p:sp>
        <p:nvSpPr>
          <p:cNvPr id="27" name="Right Arrow 26"/>
          <p:cNvSpPr/>
          <p:nvPr/>
        </p:nvSpPr>
        <p:spPr>
          <a:xfrm>
            <a:off x="3106674"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35858"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Visit a specialist per condition</a:t>
            </a:r>
          </a:p>
        </p:txBody>
      </p:sp>
      <p:sp>
        <p:nvSpPr>
          <p:cNvPr id="29" name="Right Arrow 28"/>
          <p:cNvSpPr/>
          <p:nvPr/>
        </p:nvSpPr>
        <p:spPr>
          <a:xfrm>
            <a:off x="5993892"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3076"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Separate tests per disease</a:t>
            </a:r>
          </a:p>
        </p:txBody>
      </p:sp>
      <p:sp>
        <p:nvSpPr>
          <p:cNvPr id="31" name="Right Arrow 30"/>
          <p:cNvSpPr/>
          <p:nvPr/>
        </p:nvSpPr>
        <p:spPr>
          <a:xfrm>
            <a:off x="8881110"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10294"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Risk identified late</a:t>
            </a:r>
          </a:p>
        </p:txBody>
      </p:sp>
      <p:sp>
        <p:nvSpPr>
          <p:cNvPr id="33" name="Rounded Rectangle 32"/>
          <p:cNvSpPr/>
          <p:nvPr/>
        </p:nvSpPr>
        <p:spPr>
          <a:xfrm>
            <a:off x="548640" y="2834640"/>
            <a:ext cx="5440680"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49808" y="30175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5" name="TextBox 34"/>
          <p:cNvSpPr txBox="1"/>
          <p:nvPr/>
        </p:nvSpPr>
        <p:spPr>
          <a:xfrm>
            <a:off x="1389888" y="299008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Fragmented screening</a:t>
            </a:r>
          </a:p>
        </p:txBody>
      </p:sp>
      <p:sp>
        <p:nvSpPr>
          <p:cNvPr id="36" name="TextBox 35"/>
          <p:cNvSpPr txBox="1"/>
          <p:nvPr/>
        </p:nvSpPr>
        <p:spPr>
          <a:xfrm>
            <a:off x="749808" y="3703320"/>
            <a:ext cx="5038344" cy="2240279"/>
          </a:xfrm>
          <a:prstGeom prst="rect">
            <a:avLst/>
          </a:prstGeom>
          <a:noFill/>
        </p:spPr>
        <p:txBody>
          <a:bodyPr wrap="square" lIns="0" rIns="0" tIns="0" bIns="0" anchor="t">
            <a:spAutoFit/>
          </a:bodyPr>
          <a:lstStyle/>
          <a:p>
            <a:pPr algn="l">
              <a:spcAft>
                <a:spcPts val="400"/>
              </a:spcAft>
            </a:pPr>
            <a:r>
              <a:rPr sz="1900" b="0" i="0">
                <a:solidFill>
                  <a:srgbClr val="475569"/>
                </a:solidFill>
              </a:rPr>
              <a:t>Patients see several specialists and take separate tests before any risk is found; rural and semi-urban centres often have no specialist to read a routine report early.</a:t>
            </a:r>
          </a:p>
        </p:txBody>
      </p:sp>
      <p:sp>
        <p:nvSpPr>
          <p:cNvPr id="37" name="Rounded Rectangle 36"/>
          <p:cNvSpPr/>
          <p:nvPr/>
        </p:nvSpPr>
        <p:spPr>
          <a:xfrm>
            <a:off x="6199632" y="2834640"/>
            <a:ext cx="5440680"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00800" y="30175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9" name="TextBox 38"/>
          <p:cNvSpPr txBox="1"/>
          <p:nvPr/>
        </p:nvSpPr>
        <p:spPr>
          <a:xfrm>
            <a:off x="7040880" y="299008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One tool per disease</a:t>
            </a:r>
          </a:p>
        </p:txBody>
      </p:sp>
      <p:sp>
        <p:nvSpPr>
          <p:cNvPr id="40" name="TextBox 39"/>
          <p:cNvSpPr txBox="1"/>
          <p:nvPr/>
        </p:nvSpPr>
        <p:spPr>
          <a:xfrm>
            <a:off x="6400800" y="3703320"/>
            <a:ext cx="5038344" cy="2240279"/>
          </a:xfrm>
          <a:prstGeom prst="rect">
            <a:avLst/>
          </a:prstGeom>
          <a:noFill/>
        </p:spPr>
        <p:txBody>
          <a:bodyPr wrap="square" lIns="0" rIns="0" tIns="0" bIns="0" anchor="t">
            <a:spAutoFit/>
          </a:bodyPr>
          <a:lstStyle/>
          <a:p>
            <a:pPr algn="l">
              <a:spcAft>
                <a:spcPts val="400"/>
              </a:spcAft>
            </a:pPr>
            <a:r>
              <a:rPr sz="1900" b="0" i="0">
                <a:solidFill>
                  <a:srgbClr val="475569"/>
                </a:solidFill>
              </a:rPr>
              <a:t>Published prediction models and web tools usually cover a single condition, trained and packaged separately, so they cannot be reused across conditions or reached from one interface.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7160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Several visits and tests</a:t>
            </a:r>
          </a:p>
        </p:txBody>
      </p:sp>
      <p:sp>
        <p:nvSpPr>
          <p:cNvPr id="29" name="TextBox 28"/>
          <p:cNvSpPr txBox="1"/>
          <p:nvPr/>
        </p:nvSpPr>
        <p:spPr>
          <a:xfrm>
            <a:off x="749808" y="2240280"/>
            <a:ext cx="5038344" cy="1280160"/>
          </a:xfrm>
          <a:prstGeom prst="rect">
            <a:avLst/>
          </a:prstGeom>
          <a:noFill/>
        </p:spPr>
        <p:txBody>
          <a:bodyPr wrap="square" lIns="0" rIns="0" tIns="0" bIns="0" anchor="t">
            <a:spAutoFit/>
          </a:bodyPr>
          <a:lstStyle/>
          <a:p>
            <a:pPr algn="l">
              <a:spcAft>
                <a:spcPts val="400"/>
              </a:spcAft>
            </a:pPr>
            <a:r>
              <a:rPr sz="2000" b="0" i="0">
                <a:solidFill>
                  <a:srgbClr val="475569"/>
                </a:solidFill>
              </a:rPr>
              <a:t>Patients must visit several specialists and take separate tests before any risk is identified.</a:t>
            </a:r>
          </a:p>
        </p:txBody>
      </p:sp>
      <p:sp>
        <p:nvSpPr>
          <p:cNvPr id="30" name="Rounded Rectangle 29"/>
          <p:cNvSpPr/>
          <p:nvPr/>
        </p:nvSpPr>
        <p:spPr>
          <a:xfrm>
            <a:off x="6199631" y="137160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52704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One disease at a time</a:t>
            </a:r>
          </a:p>
        </p:txBody>
      </p:sp>
      <p:sp>
        <p:nvSpPr>
          <p:cNvPr id="33" name="TextBox 32"/>
          <p:cNvSpPr txBox="1"/>
          <p:nvPr/>
        </p:nvSpPr>
        <p:spPr>
          <a:xfrm>
            <a:off x="6400799" y="2240280"/>
            <a:ext cx="5038344" cy="1280160"/>
          </a:xfrm>
          <a:prstGeom prst="rect">
            <a:avLst/>
          </a:prstGeom>
          <a:noFill/>
        </p:spPr>
        <p:txBody>
          <a:bodyPr wrap="square" lIns="0" rIns="0" tIns="0" bIns="0" anchor="t">
            <a:spAutoFit/>
          </a:bodyPr>
          <a:lstStyle/>
          <a:p>
            <a:pPr algn="l">
              <a:spcAft>
                <a:spcPts val="400"/>
              </a:spcAft>
            </a:pPr>
            <a:r>
              <a:rPr sz="2000" b="0" i="0">
                <a:solidFill>
                  <a:srgbClr val="475569"/>
                </a:solidFill>
              </a:rPr>
              <a:t>Existing prediction tools handle one disease at a time and cannot be reused across conditions.</a:t>
            </a:r>
          </a:p>
        </p:txBody>
      </p:sp>
      <p:sp>
        <p:nvSpPr>
          <p:cNvPr id="34" name="Rounded Rectangle 33"/>
          <p:cNvSpPr/>
          <p:nvPr/>
        </p:nvSpPr>
        <p:spPr>
          <a:xfrm>
            <a:off x="548640" y="384048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40233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995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No specialist locally</a:t>
            </a:r>
          </a:p>
        </p:txBody>
      </p:sp>
      <p:sp>
        <p:nvSpPr>
          <p:cNvPr id="37" name="TextBox 36"/>
          <p:cNvSpPr txBox="1"/>
          <p:nvPr/>
        </p:nvSpPr>
        <p:spPr>
          <a:xfrm>
            <a:off x="749808" y="4709160"/>
            <a:ext cx="5038344" cy="1280160"/>
          </a:xfrm>
          <a:prstGeom prst="rect">
            <a:avLst/>
          </a:prstGeom>
          <a:noFill/>
        </p:spPr>
        <p:txBody>
          <a:bodyPr wrap="square" lIns="0" rIns="0" tIns="0" bIns="0" anchor="t">
            <a:spAutoFit/>
          </a:bodyPr>
          <a:lstStyle/>
          <a:p>
            <a:pPr algn="l">
              <a:spcAft>
                <a:spcPts val="400"/>
              </a:spcAft>
            </a:pPr>
            <a:r>
              <a:rPr sz="2000" b="0" i="0">
                <a:solidFill>
                  <a:srgbClr val="475569"/>
                </a:solidFill>
              </a:rPr>
              <a:t>Rural health centres lack specialists to interpret routine test reports early.</a:t>
            </a:r>
          </a:p>
        </p:txBody>
      </p:sp>
      <p:sp>
        <p:nvSpPr>
          <p:cNvPr id="38" name="Rounded Rectangle 37"/>
          <p:cNvSpPr/>
          <p:nvPr/>
        </p:nvSpPr>
        <p:spPr>
          <a:xfrm>
            <a:off x="6199631" y="384048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40233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995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Late diagnosis</a:t>
            </a:r>
          </a:p>
        </p:txBody>
      </p:sp>
      <p:sp>
        <p:nvSpPr>
          <p:cNvPr id="41" name="TextBox 40"/>
          <p:cNvSpPr txBox="1"/>
          <p:nvPr/>
        </p:nvSpPr>
        <p:spPr>
          <a:xfrm>
            <a:off x="6400799" y="4709160"/>
            <a:ext cx="5038344" cy="1280160"/>
          </a:xfrm>
          <a:prstGeom prst="rect">
            <a:avLst/>
          </a:prstGeom>
          <a:noFill/>
        </p:spPr>
        <p:txBody>
          <a:bodyPr wrap="square" lIns="0" rIns="0" tIns="0" bIns="0" anchor="t">
            <a:spAutoFit/>
          </a:bodyPr>
          <a:lstStyle/>
          <a:p>
            <a:pPr algn="l">
              <a:spcAft>
                <a:spcPts val="400"/>
              </a:spcAft>
            </a:pPr>
            <a:r>
              <a:rPr sz="2000" b="0" i="0">
                <a:solidFill>
                  <a:srgbClr val="475569"/>
                </a:solidFill>
              </a:rPr>
              <a:t>Late diagnosis raises both treatment cost and mortality for chronic conditions.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Rounded Rectangle 25"/>
          <p:cNvSpPr/>
          <p:nvPr/>
        </p:nvSpPr>
        <p:spPr>
          <a:xfrm>
            <a:off x="548640" y="1325880"/>
            <a:ext cx="265176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1325880"/>
            <a:ext cx="2651760" cy="822960"/>
          </a:xfrm>
          <a:prstGeom prst="rect">
            <a:avLst/>
          </a:prstGeom>
          <a:noFill/>
        </p:spPr>
        <p:txBody>
          <a:bodyPr wrap="square" lIns="0" rIns="0" tIns="0" bIns="0" anchor="ctr">
            <a:spAutoFit/>
          </a:bodyPr>
          <a:lstStyle/>
          <a:p>
            <a:pPr algn="ctr">
              <a:spcAft>
                <a:spcPts val="400"/>
              </a:spcAft>
            </a:pPr>
            <a:r>
              <a:rPr sz="1500" b="1" i="0">
                <a:solidFill>
                  <a:srgbClr val="FFFFFF"/>
                </a:solidFill>
              </a:rPr>
              <a:t>Single pipeline</a:t>
            </a:r>
          </a:p>
        </p:txBody>
      </p:sp>
      <p:sp>
        <p:nvSpPr>
          <p:cNvPr id="28" name="TextBox 27"/>
          <p:cNvSpPr txBox="1"/>
          <p:nvPr/>
        </p:nvSpPr>
        <p:spPr>
          <a:xfrm>
            <a:off x="3429000" y="1325880"/>
            <a:ext cx="8183879" cy="822960"/>
          </a:xfrm>
          <a:prstGeom prst="rect">
            <a:avLst/>
          </a:prstGeom>
          <a:noFill/>
        </p:spPr>
        <p:txBody>
          <a:bodyPr wrap="square" lIns="0" rIns="0" tIns="0" bIns="0" anchor="ctr">
            <a:spAutoFit/>
          </a:bodyPr>
          <a:lstStyle/>
          <a:p>
            <a:pPr algn="l">
              <a:spcAft>
                <a:spcPts val="400"/>
              </a:spcAft>
            </a:pPr>
            <a:r>
              <a:rPr sz="1700" b="0" i="0">
                <a:solidFill>
                  <a:srgbClr val="0F172A"/>
                </a:solidFill>
              </a:rPr>
              <a:t>The surveyed papers each target one disease in isolation; a single pipeline for several conditions is missing.</a:t>
            </a:r>
          </a:p>
        </p:txBody>
      </p:sp>
      <p:sp>
        <p:nvSpPr>
          <p:cNvPr id="29" name="Rounded Rectangle 28"/>
          <p:cNvSpPr/>
          <p:nvPr/>
        </p:nvSpPr>
        <p:spPr>
          <a:xfrm>
            <a:off x="548640" y="2313432"/>
            <a:ext cx="265176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48640" y="2313432"/>
            <a:ext cx="2651760" cy="822960"/>
          </a:xfrm>
          <a:prstGeom prst="rect">
            <a:avLst/>
          </a:prstGeom>
          <a:noFill/>
        </p:spPr>
        <p:txBody>
          <a:bodyPr wrap="square" lIns="0" rIns="0" tIns="0" bIns="0" anchor="ctr">
            <a:spAutoFit/>
          </a:bodyPr>
          <a:lstStyle/>
          <a:p>
            <a:pPr algn="ctr">
              <a:spcAft>
                <a:spcPts val="400"/>
              </a:spcAft>
            </a:pPr>
            <a:r>
              <a:rPr sz="1500" b="1" i="0">
                <a:solidFill>
                  <a:srgbClr val="FFFFFF"/>
                </a:solidFill>
              </a:rPr>
              <a:t>One record, many conditions</a:t>
            </a:r>
          </a:p>
        </p:txBody>
      </p:sp>
      <p:sp>
        <p:nvSpPr>
          <p:cNvPr id="31" name="TextBox 30"/>
          <p:cNvSpPr txBox="1"/>
          <p:nvPr/>
        </p:nvSpPr>
        <p:spPr>
          <a:xfrm>
            <a:off x="3429000" y="2313432"/>
            <a:ext cx="8183879" cy="822960"/>
          </a:xfrm>
          <a:prstGeom prst="rect">
            <a:avLst/>
          </a:prstGeom>
          <a:noFill/>
        </p:spPr>
        <p:txBody>
          <a:bodyPr wrap="square" lIns="0" rIns="0" tIns="0" bIns="0" anchor="ctr">
            <a:spAutoFit/>
          </a:bodyPr>
          <a:lstStyle/>
          <a:p>
            <a:pPr algn="l">
              <a:spcAft>
                <a:spcPts val="400"/>
              </a:spcAft>
            </a:pPr>
            <a:r>
              <a:rPr sz="1700" b="0" i="0">
                <a:solidFill>
                  <a:srgbClr val="0F172A"/>
                </a:solidFill>
              </a:rPr>
              <a:t>Few works let one interface screen several conditions from routine clinical values.</a:t>
            </a:r>
          </a:p>
        </p:txBody>
      </p:sp>
      <p:sp>
        <p:nvSpPr>
          <p:cNvPr id="32" name="Rounded Rectangle 31"/>
          <p:cNvSpPr/>
          <p:nvPr/>
        </p:nvSpPr>
        <p:spPr>
          <a:xfrm>
            <a:off x="548640" y="3300984"/>
            <a:ext cx="265176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48640" y="3300984"/>
            <a:ext cx="2651760" cy="822960"/>
          </a:xfrm>
          <a:prstGeom prst="rect">
            <a:avLst/>
          </a:prstGeom>
          <a:noFill/>
        </p:spPr>
        <p:txBody>
          <a:bodyPr wrap="square" lIns="0" rIns="0" tIns="0" bIns="0" anchor="ctr">
            <a:spAutoFit/>
          </a:bodyPr>
          <a:lstStyle/>
          <a:p>
            <a:pPr algn="ctr">
              <a:spcAft>
                <a:spcPts val="400"/>
              </a:spcAft>
            </a:pPr>
            <a:r>
              <a:rPr sz="1500" b="1" i="0">
                <a:solidFill>
                  <a:srgbClr val="FFFFFF"/>
                </a:solidFill>
              </a:rPr>
              <a:t>Explanation of drivers</a:t>
            </a:r>
          </a:p>
        </p:txBody>
      </p:sp>
      <p:sp>
        <p:nvSpPr>
          <p:cNvPr id="34" name="TextBox 33"/>
          <p:cNvSpPr txBox="1"/>
          <p:nvPr/>
        </p:nvSpPr>
        <p:spPr>
          <a:xfrm>
            <a:off x="3429000" y="3300984"/>
            <a:ext cx="8183879" cy="822960"/>
          </a:xfrm>
          <a:prstGeom prst="rect">
            <a:avLst/>
          </a:prstGeom>
          <a:noFill/>
        </p:spPr>
        <p:txBody>
          <a:bodyPr wrap="square" lIns="0" rIns="0" tIns="0" bIns="0" anchor="ctr">
            <a:spAutoFit/>
          </a:bodyPr>
          <a:lstStyle/>
          <a:p>
            <a:pPr algn="l">
              <a:spcAft>
                <a:spcPts val="400"/>
              </a:spcAft>
            </a:pPr>
            <a:r>
              <a:rPr sz="1700" b="0" i="0">
                <a:solidFill>
                  <a:srgbClr val="0F172A"/>
                </a:solidFill>
              </a:rPr>
              <a:t>The drivers of each prediction are rarely shown to the user next to the risk class.</a:t>
            </a:r>
          </a:p>
        </p:txBody>
      </p:sp>
      <p:sp>
        <p:nvSpPr>
          <p:cNvPr id="35" name="Rounded Rectangle 34"/>
          <p:cNvSpPr/>
          <p:nvPr/>
        </p:nvSpPr>
        <p:spPr>
          <a:xfrm>
            <a:off x="548640" y="4288536"/>
            <a:ext cx="265176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48640" y="4288536"/>
            <a:ext cx="2651760" cy="822960"/>
          </a:xfrm>
          <a:prstGeom prst="rect">
            <a:avLst/>
          </a:prstGeom>
          <a:noFill/>
        </p:spPr>
        <p:txBody>
          <a:bodyPr wrap="square" lIns="0" rIns="0" tIns="0" bIns="0" anchor="ctr">
            <a:spAutoFit/>
          </a:bodyPr>
          <a:lstStyle/>
          <a:p>
            <a:pPr algn="ctr">
              <a:spcAft>
                <a:spcPts val="400"/>
              </a:spcAft>
            </a:pPr>
            <a:r>
              <a:rPr sz="1500" b="1" i="0">
                <a:solidFill>
                  <a:srgbClr val="FFFFFF"/>
                </a:solidFill>
              </a:rPr>
              <a:t>Honest evaluation</a:t>
            </a:r>
          </a:p>
        </p:txBody>
      </p:sp>
      <p:sp>
        <p:nvSpPr>
          <p:cNvPr id="37" name="TextBox 36"/>
          <p:cNvSpPr txBox="1"/>
          <p:nvPr/>
        </p:nvSpPr>
        <p:spPr>
          <a:xfrm>
            <a:off x="3429000" y="4288536"/>
            <a:ext cx="8183879" cy="822960"/>
          </a:xfrm>
          <a:prstGeom prst="rect">
            <a:avLst/>
          </a:prstGeom>
          <a:noFill/>
        </p:spPr>
        <p:txBody>
          <a:bodyPr wrap="square" lIns="0" rIns="0" tIns="0" bIns="0" anchor="ctr">
            <a:spAutoFit/>
          </a:bodyPr>
          <a:lstStyle/>
          <a:p>
            <a:pPr algn="l">
              <a:spcAft>
                <a:spcPts val="400"/>
              </a:spcAft>
            </a:pPr>
            <a:r>
              <a:rPr sz="1700" b="0" i="0">
                <a:solidFill>
                  <a:srgbClr val="0F172A"/>
                </a:solidFill>
              </a:rPr>
              <a:t>Results on small benchmark sets are reported from one split; model choice needs cross-validation and checks on real data.</a:t>
            </a:r>
          </a:p>
        </p:txBody>
      </p:sp>
      <p:sp>
        <p:nvSpPr>
          <p:cNvPr id="38" name="Rounded Rectangle 37"/>
          <p:cNvSpPr/>
          <p:nvPr/>
        </p:nvSpPr>
        <p:spPr>
          <a:xfrm>
            <a:off x="548640" y="5276088"/>
            <a:ext cx="265176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48640" y="5276088"/>
            <a:ext cx="2651760" cy="822960"/>
          </a:xfrm>
          <a:prstGeom prst="rect">
            <a:avLst/>
          </a:prstGeom>
          <a:noFill/>
        </p:spPr>
        <p:txBody>
          <a:bodyPr wrap="square" lIns="0" rIns="0" tIns="0" bIns="0" anchor="ctr">
            <a:spAutoFit/>
          </a:bodyPr>
          <a:lstStyle/>
          <a:p>
            <a:pPr algn="ctr">
              <a:spcAft>
                <a:spcPts val="400"/>
              </a:spcAft>
            </a:pPr>
            <a:r>
              <a:rPr sz="1500" b="1" i="0">
                <a:solidFill>
                  <a:srgbClr val="FFFFFF"/>
                </a:solidFill>
              </a:rPr>
              <a:t>Usability</a:t>
            </a:r>
          </a:p>
        </p:txBody>
      </p:sp>
      <p:sp>
        <p:nvSpPr>
          <p:cNvPr id="40" name="TextBox 39"/>
          <p:cNvSpPr txBox="1"/>
          <p:nvPr/>
        </p:nvSpPr>
        <p:spPr>
          <a:xfrm>
            <a:off x="3429000" y="5276088"/>
            <a:ext cx="8183879" cy="822960"/>
          </a:xfrm>
          <a:prstGeom prst="rect">
            <a:avLst/>
          </a:prstGeom>
          <a:noFill/>
        </p:spPr>
        <p:txBody>
          <a:bodyPr wrap="square" lIns="0" rIns="0" tIns="0" bIns="0" anchor="ctr">
            <a:spAutoFit/>
          </a:bodyPr>
          <a:lstStyle/>
          <a:p>
            <a:pPr algn="l">
              <a:spcAft>
                <a:spcPts val="400"/>
              </a:spcAft>
            </a:pPr>
            <a:r>
              <a:rPr sz="1700" b="0" i="0">
                <a:solidFill>
                  <a:srgbClr val="0F172A"/>
                </a:solidFill>
              </a:rPr>
              <a:t>Few works deliver an application a non-programmer can run end to end.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514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17320"/>
            <a:ext cx="10469880" cy="2377440"/>
          </a:xfrm>
          <a:prstGeom prst="rect">
            <a:avLst/>
          </a:prstGeom>
          <a:noFill/>
        </p:spPr>
        <p:txBody>
          <a:bodyPr wrap="square" lIns="0" rIns="0" tIns="0" bIns="0" anchor="ctr">
            <a:spAutoFit/>
          </a:bodyPr>
          <a:lstStyle/>
          <a:p>
            <a:pPr algn="l">
              <a:spcAft>
                <a:spcPts val="400"/>
              </a:spcAft>
            </a:pPr>
            <a:r>
              <a:rPr sz="1700" b="0" i="0">
                <a:solidFill>
                  <a:srgbClr val="0F172A"/>
                </a:solidFill>
              </a:rPr>
              <a:t>Given the routine clinical values of one patient (for example glucose, blood pressure, cholesterol, bilirubin, creatinine, haemoglobin), estimate for each of four chronic conditions - diabetes, heart disease, liver disease and kidney disease - whether the patient falls in the high-risk or the low-risk class, report how confident the model is, and do so through one interface that a non-programmer can use. The classifier for every condition must be chosen by comparing several algorithms on held-out data with metrics that are not fooled by class imbalance.</a:t>
            </a:r>
          </a:p>
        </p:txBody>
      </p:sp>
      <p:sp>
        <p:nvSpPr>
          <p:cNvPr id="28" name="Rounded Rectangle 27"/>
          <p:cNvSpPr/>
          <p:nvPr/>
        </p:nvSpPr>
        <p:spPr>
          <a:xfrm>
            <a:off x="548640" y="4114800"/>
            <a:ext cx="3520440"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663440"/>
            <a:ext cx="3108960" cy="731520"/>
          </a:xfrm>
          <a:prstGeom prst="rect">
            <a:avLst/>
          </a:prstGeom>
          <a:noFill/>
        </p:spPr>
        <p:txBody>
          <a:bodyPr wrap="square" lIns="0" rIns="0" tIns="0" bIns="0" anchor="t">
            <a:spAutoFit/>
          </a:bodyPr>
          <a:lstStyle/>
          <a:p>
            <a:pPr algn="l">
              <a:spcAft>
                <a:spcPts val="400"/>
              </a:spcAft>
            </a:pPr>
            <a:r>
              <a:rPr sz="1500" b="0" i="0">
                <a:solidFill>
                  <a:srgbClr val="475569"/>
                </a:solidFill>
              </a:rPr>
              <a:t>Routine clinical values of one patient (8 to 13 fields per disease)</a:t>
            </a:r>
          </a:p>
        </p:txBody>
      </p:sp>
      <p:sp>
        <p:nvSpPr>
          <p:cNvPr id="31" name="Rounded Rectangle 30"/>
          <p:cNvSpPr/>
          <p:nvPr/>
        </p:nvSpPr>
        <p:spPr>
          <a:xfrm>
            <a:off x="4334255" y="4114800"/>
            <a:ext cx="3520440"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663440"/>
            <a:ext cx="3108960" cy="731520"/>
          </a:xfrm>
          <a:prstGeom prst="rect">
            <a:avLst/>
          </a:prstGeom>
          <a:noFill/>
        </p:spPr>
        <p:txBody>
          <a:bodyPr wrap="square" lIns="0" rIns="0" tIns="0" bIns="0" anchor="t">
            <a:spAutoFit/>
          </a:bodyPr>
          <a:lstStyle/>
          <a:p>
            <a:pPr algn="l">
              <a:spcAft>
                <a:spcPts val="400"/>
              </a:spcAft>
            </a:pPr>
            <a:r>
              <a:rPr sz="1500" b="0" i="0">
                <a:solidFill>
                  <a:srgbClr val="475569"/>
                </a:solidFill>
              </a:rPr>
              <a:t>High-risk or low-risk class and the model's confidence</a:t>
            </a:r>
          </a:p>
        </p:txBody>
      </p:sp>
      <p:sp>
        <p:nvSpPr>
          <p:cNvPr id="34" name="Rounded Rectangle 33"/>
          <p:cNvSpPr/>
          <p:nvPr/>
        </p:nvSpPr>
        <p:spPr>
          <a:xfrm>
            <a:off x="8119871" y="4114800"/>
            <a:ext cx="3520440"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Record</a:t>
            </a:r>
          </a:p>
        </p:txBody>
      </p:sp>
      <p:sp>
        <p:nvSpPr>
          <p:cNvPr id="36" name="TextBox 35"/>
          <p:cNvSpPr txBox="1"/>
          <p:nvPr/>
        </p:nvSpPr>
        <p:spPr>
          <a:xfrm>
            <a:off x="8348471" y="4663440"/>
            <a:ext cx="3108960" cy="731520"/>
          </a:xfrm>
          <a:prstGeom prst="rect">
            <a:avLst/>
          </a:prstGeom>
          <a:noFill/>
        </p:spPr>
        <p:txBody>
          <a:bodyPr wrap="square" lIns="0" rIns="0" tIns="0" bIns="0" anchor="t">
            <a:spAutoFit/>
          </a:bodyPr>
          <a:lstStyle/>
          <a:p>
            <a:pPr algn="l">
              <a:spcAft>
                <a:spcPts val="400"/>
              </a:spcAft>
            </a:pPr>
            <a:r>
              <a:rPr sz="1500" b="0" i="0">
                <a:solidFill>
                  <a:srgbClr val="475569"/>
                </a:solidFill>
              </a:rPr>
              <a:t>Four models, a training report and model-comparison tables</a:t>
            </a:r>
          </a:p>
        </p:txBody>
      </p:sp>
      <p:sp>
        <p:nvSpPr>
          <p:cNvPr id="37" name="TextBox 36"/>
          <p:cNvSpPr txBox="1"/>
          <p:nvPr/>
        </p:nvSpPr>
        <p:spPr>
          <a:xfrm>
            <a:off x="548640" y="5669280"/>
            <a:ext cx="11091672" cy="640080"/>
          </a:xfrm>
          <a:prstGeom prst="rect">
            <a:avLst/>
          </a:prstGeom>
          <a:noFill/>
        </p:spPr>
        <p:txBody>
          <a:bodyPr wrap="square" lIns="0" rIns="0" tIns="0" bIns="0" anchor="t">
            <a:spAutoFit/>
          </a:bodyPr>
          <a:lstStyle/>
          <a:p>
            <a:pPr algn="l">
              <a:spcAft>
                <a:spcPts val="400"/>
              </a:spcAft>
            </a:pPr>
            <a:r>
              <a:rPr sz="1600" b="1" i="0">
                <a:solidFill>
                  <a:srgbClr val="1B2A41"/>
                </a:solidFill>
              </a:rPr>
              <a:t>Need: A single machine learning system that screens multiple diseases from routine clinical parameters and flags risk early.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846320"/>
          </a:xfrm>
          <a:prstGeom prst="rect">
            <a:avLst/>
          </a:prstGeom>
          <a:noFill/>
        </p:spPr>
        <p:txBody>
          <a:bodyPr wrap="square" lIns="0" rIns="0" tIns="0" bIns="0" anchor="t">
            <a:spAutoFit/>
          </a:bodyPr>
          <a:lstStyle/>
          <a:p>
            <a:pPr algn="l">
              <a:spcAft>
                <a:spcPts val="1100"/>
              </a:spcAft>
            </a:pPr>
            <a:r>
              <a:rPr sz="2100" b="0" i="0">
                <a:solidFill>
                  <a:srgbClr val="0F172A"/>
                </a:solidFill>
              </a:rPr>
              <a:t>1.  Collect and clean benchmark datasets covering diabetes, heart disease, liver and kidney disorders.</a:t>
            </a:r>
          </a:p>
          <a:p>
            <a:pPr algn="l">
              <a:spcAft>
                <a:spcPts val="1100"/>
              </a:spcAft>
            </a:pPr>
            <a:r>
              <a:rPr sz="2100" b="0" i="0">
                <a:solidFill>
                  <a:srgbClr val="0F172A"/>
                </a:solidFill>
              </a:rPr>
              <a:t>2.  Handle missing values, outliers and feature scaling through a common preprocessing pipeline.</a:t>
            </a:r>
          </a:p>
          <a:p>
            <a:pPr algn="l">
              <a:spcAft>
                <a:spcPts val="1100"/>
              </a:spcAft>
            </a:pPr>
            <a:r>
              <a:rPr sz="2100" b="0" i="0">
                <a:solidFill>
                  <a:srgbClr val="0F172A"/>
                </a:solidFill>
              </a:rPr>
              <a:t>3.  Train and compare Logistic Regression, Decision Tree, Random Forest and Support Vector Machine for each disease.</a:t>
            </a:r>
          </a:p>
          <a:p>
            <a:pPr algn="l">
              <a:spcAft>
                <a:spcPts val="1100"/>
              </a:spcAft>
            </a:pPr>
            <a:r>
              <a:rPr sz="2100" b="0" i="0">
                <a:solidFill>
                  <a:srgbClr val="0F172A"/>
                </a:solidFill>
              </a:rPr>
              <a:t>4.  Select the best model per disease using accuracy, precision, recall and ROC-AUC.</a:t>
            </a:r>
          </a:p>
          <a:p>
            <a:pPr algn="l">
              <a:spcAft>
                <a:spcPts val="1100"/>
              </a:spcAft>
            </a:pPr>
            <a:r>
              <a:rPr sz="2100" b="0" i="0">
                <a:solidFill>
                  <a:srgbClr val="0F172A"/>
                </a:solidFill>
              </a:rPr>
              <a:t>5.  Serve the selected models behind a single interface that accepts one patient record.</a:t>
            </a:r>
          </a:p>
          <a:p>
            <a:pPr algn="l">
              <a:spcAft>
                <a:spcPts val="1100"/>
              </a:spcAft>
            </a:pPr>
            <a:r>
              <a:rPr sz="2100" b="0" i="0">
                <a:solidFill>
                  <a:srgbClr val="0F172A"/>
                </a:solidFill>
              </a:rPr>
              <a:t>6.  Present a per-disease risk indication together with the parameters that drove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234440"/>
            <a:ext cx="2633472" cy="2148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4173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38988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Prepare</a:t>
            </a:r>
          </a:p>
        </p:txBody>
      </p:sp>
      <p:sp>
        <p:nvSpPr>
          <p:cNvPr id="29" name="TextBox 28"/>
          <p:cNvSpPr txBox="1"/>
          <p:nvPr/>
        </p:nvSpPr>
        <p:spPr>
          <a:xfrm>
            <a:off x="749808" y="2103120"/>
            <a:ext cx="2231136" cy="1143000"/>
          </a:xfrm>
          <a:prstGeom prst="rect">
            <a:avLst/>
          </a:prstGeom>
          <a:noFill/>
        </p:spPr>
        <p:txBody>
          <a:bodyPr wrap="square" lIns="0" rIns="0" tIns="0" bIns="0" anchor="t">
            <a:spAutoFit/>
          </a:bodyPr>
          <a:lstStyle/>
          <a:p>
            <a:pPr algn="l">
              <a:spcAft>
                <a:spcPts val="400"/>
              </a:spcAft>
            </a:pPr>
            <a:r>
              <a:rPr sz="1400" b="0" i="0">
                <a:solidFill>
                  <a:srgbClr val="475569"/>
                </a:solidFill>
              </a:rPr>
              <a:t>Four 2,000-row clinical tables (8 to 13 features); StandardScaler fitted on the training part only.</a:t>
            </a:r>
          </a:p>
        </p:txBody>
      </p:sp>
      <p:sp>
        <p:nvSpPr>
          <p:cNvPr id="30" name="Rounded Rectangle 29"/>
          <p:cNvSpPr/>
          <p:nvPr/>
        </p:nvSpPr>
        <p:spPr>
          <a:xfrm>
            <a:off x="3364992" y="1234440"/>
            <a:ext cx="2633472" cy="2148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4173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38988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Train + compare</a:t>
            </a:r>
          </a:p>
        </p:txBody>
      </p:sp>
      <p:sp>
        <p:nvSpPr>
          <p:cNvPr id="33" name="TextBox 32"/>
          <p:cNvSpPr txBox="1"/>
          <p:nvPr/>
        </p:nvSpPr>
        <p:spPr>
          <a:xfrm>
            <a:off x="3566160" y="2103120"/>
            <a:ext cx="2231136" cy="1143000"/>
          </a:xfrm>
          <a:prstGeom prst="rect">
            <a:avLst/>
          </a:prstGeom>
          <a:noFill/>
        </p:spPr>
        <p:txBody>
          <a:bodyPr wrap="square" lIns="0" rIns="0" tIns="0" bIns="0" anchor="t">
            <a:spAutoFit/>
          </a:bodyPr>
          <a:lstStyle/>
          <a:p>
            <a:pPr algn="l">
              <a:spcAft>
                <a:spcPts val="400"/>
              </a:spcAft>
            </a:pPr>
            <a:r>
              <a:rPr sz="1400" b="0" i="0">
                <a:solidFill>
                  <a:srgbClr val="475569"/>
                </a:solidFill>
              </a:rPr>
              <a:t>Stratified 80/20 split; Logistic Regression, Decision Tree, Random Forest and RBF SVM per disease.</a:t>
            </a:r>
          </a:p>
        </p:txBody>
      </p:sp>
      <p:sp>
        <p:nvSpPr>
          <p:cNvPr id="34" name="Rounded Rectangle 33"/>
          <p:cNvSpPr/>
          <p:nvPr/>
        </p:nvSpPr>
        <p:spPr>
          <a:xfrm>
            <a:off x="6181344" y="1234440"/>
            <a:ext cx="2633472" cy="2148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4173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38988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Select</a:t>
            </a:r>
          </a:p>
        </p:txBody>
      </p:sp>
      <p:sp>
        <p:nvSpPr>
          <p:cNvPr id="37" name="TextBox 36"/>
          <p:cNvSpPr txBox="1"/>
          <p:nvPr/>
        </p:nvSpPr>
        <p:spPr>
          <a:xfrm>
            <a:off x="6382512" y="2103120"/>
            <a:ext cx="2231136" cy="1143000"/>
          </a:xfrm>
          <a:prstGeom prst="rect">
            <a:avLst/>
          </a:prstGeom>
          <a:noFill/>
        </p:spPr>
        <p:txBody>
          <a:bodyPr wrap="square" lIns="0" rIns="0" tIns="0" bIns="0" anchor="t">
            <a:spAutoFit/>
          </a:bodyPr>
          <a:lstStyle/>
          <a:p>
            <a:pPr algn="l">
              <a:spcAft>
                <a:spcPts val="400"/>
              </a:spcAft>
            </a:pPr>
            <a:r>
              <a:rPr sz="1400" b="0" i="0">
                <a:solidFill>
                  <a:srgbClr val="475569"/>
                </a:solidFill>
              </a:rPr>
              <a:t>Accuracy, precision, recall and F1 on the test set; the highest-F1 model is saved for each disease.</a:t>
            </a:r>
          </a:p>
        </p:txBody>
      </p:sp>
      <p:sp>
        <p:nvSpPr>
          <p:cNvPr id="38" name="Rounded Rectangle 37"/>
          <p:cNvSpPr/>
          <p:nvPr/>
        </p:nvSpPr>
        <p:spPr>
          <a:xfrm>
            <a:off x="8997696" y="1234440"/>
            <a:ext cx="2633472" cy="2148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4173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38988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Serve</a:t>
            </a:r>
          </a:p>
        </p:txBody>
      </p:sp>
      <p:sp>
        <p:nvSpPr>
          <p:cNvPr id="41" name="TextBox 40"/>
          <p:cNvSpPr txBox="1"/>
          <p:nvPr/>
        </p:nvSpPr>
        <p:spPr>
          <a:xfrm>
            <a:off x="9198864" y="2103120"/>
            <a:ext cx="2231136" cy="1143000"/>
          </a:xfrm>
          <a:prstGeom prst="rect">
            <a:avLst/>
          </a:prstGeom>
          <a:noFill/>
        </p:spPr>
        <p:txBody>
          <a:bodyPr wrap="square" lIns="0" rIns="0" tIns="0" bIns="0" anchor="t">
            <a:spAutoFit/>
          </a:bodyPr>
          <a:lstStyle/>
          <a:p>
            <a:pPr algn="l">
              <a:spcAft>
                <a:spcPts val="400"/>
              </a:spcAft>
            </a:pPr>
            <a:r>
              <a:rPr sz="1400" b="0" i="0">
                <a:solidFill>
                  <a:srgbClr val="475569"/>
                </a:solidFill>
              </a:rPr>
              <a:t>FastAPI with 7 routes and a React interface with one form per disease and a result card.</a:t>
            </a:r>
          </a:p>
        </p:txBody>
      </p:sp>
      <p:pic>
        <p:nvPicPr>
          <p:cNvPr id="42" name="Picture 41" descr="02_high_level_workflow.png"/>
          <p:cNvPicPr>
            <a:picLocks noChangeAspect="1"/>
          </p:cNvPicPr>
          <p:nvPr/>
        </p:nvPicPr>
        <p:blipFill>
          <a:blip r:embed="rId3"/>
          <a:stretch>
            <a:fillRect/>
          </a:stretch>
        </p:blipFill>
        <p:spPr>
          <a:xfrm>
            <a:off x="860111" y="3520439"/>
            <a:ext cx="6143616" cy="3017520"/>
          </a:xfrm>
          <a:prstGeom prst="rect">
            <a:avLst/>
          </a:prstGeom>
        </p:spPr>
      </p:pic>
      <p:sp>
        <p:nvSpPr>
          <p:cNvPr id="43" name="Oval 42"/>
          <p:cNvSpPr/>
          <p:nvPr/>
        </p:nvSpPr>
        <p:spPr>
          <a:xfrm>
            <a:off x="7589520" y="3931920"/>
            <a:ext cx="548640" cy="54864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W</a:t>
            </a:r>
          </a:p>
        </p:txBody>
      </p:sp>
      <p:sp>
        <p:nvSpPr>
          <p:cNvPr id="44" name="TextBox 43"/>
          <p:cNvSpPr txBox="1"/>
          <p:nvPr/>
        </p:nvSpPr>
        <p:spPr>
          <a:xfrm>
            <a:off x="8275320" y="3931920"/>
            <a:ext cx="3383280" cy="548640"/>
          </a:xfrm>
          <a:prstGeom prst="rect">
            <a:avLst/>
          </a:prstGeom>
          <a:noFill/>
        </p:spPr>
        <p:txBody>
          <a:bodyPr wrap="square" lIns="0" rIns="0" tIns="0" bIns="0" anchor="ctr">
            <a:spAutoFit/>
          </a:bodyPr>
          <a:lstStyle/>
          <a:p>
            <a:pPr algn="l">
              <a:spcAft>
                <a:spcPts val="400"/>
              </a:spcAft>
            </a:pPr>
            <a:r>
              <a:rPr sz="1600" b="1" i="0">
                <a:solidFill>
                  <a:srgbClr val="0F172A"/>
                </a:solidFill>
              </a:rPr>
              <a:t>Web application</a:t>
            </a:r>
          </a:p>
        </p:txBody>
      </p:sp>
      <p:sp>
        <p:nvSpPr>
          <p:cNvPr id="45" name="TextBox 44"/>
          <p:cNvSpPr txBox="1"/>
          <p:nvPr/>
        </p:nvSpPr>
        <p:spPr>
          <a:xfrm>
            <a:off x="7589520" y="4617720"/>
            <a:ext cx="4069080" cy="1737360"/>
          </a:xfrm>
          <a:prstGeom prst="rect">
            <a:avLst/>
          </a:prstGeom>
          <a:noFill/>
        </p:spPr>
        <p:txBody>
          <a:bodyPr wrap="square" lIns="0" rIns="0" tIns="0" bIns="0" anchor="t">
            <a:spAutoFit/>
          </a:bodyPr>
          <a:lstStyle/>
          <a:p>
            <a:pPr algn="l">
              <a:spcAft>
                <a:spcPts val="400"/>
              </a:spcAft>
            </a:pPr>
            <a:r>
              <a:rPr sz="1400" b="0" i="0">
                <a:solidFill>
                  <a:srgbClr val="475569"/>
                </a:solidFill>
              </a:rPr>
              <a:t>React interface on port 5303 over a FastAPI service on port 8303; no database and no stored patient data. The diagram shows the eight steps from data generation to the result card.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01_system_architecture.png"/>
          <p:cNvPicPr>
            <a:picLocks noChangeAspect="1"/>
          </p:cNvPicPr>
          <p:nvPr/>
        </p:nvPicPr>
        <p:blipFill>
          <a:blip r:embed="rId1"/>
          <a:stretch>
            <a:fillRect/>
          </a:stretch>
        </p:blipFill>
        <p:spPr>
          <a:xfrm>
            <a:off x="531150" y="1051560"/>
            <a:ext cx="6344338" cy="5349240"/>
          </a:xfrm>
          <a:prstGeom prst="rect">
            <a:avLst/>
          </a:prstGeom>
        </p:spPr>
      </p:pic>
      <p:sp>
        <p:nvSpPr>
          <p:cNvPr id="27" name="TextBox 26"/>
          <p:cNvSpPr txBox="1"/>
          <p:nvPr/>
        </p:nvSpPr>
        <p:spPr>
          <a:xfrm>
            <a:off x="7040880" y="1371600"/>
            <a:ext cx="4572000" cy="4572000"/>
          </a:xfrm>
          <a:prstGeom prst="rect">
            <a:avLst/>
          </a:prstGeom>
          <a:noFill/>
        </p:spPr>
        <p:txBody>
          <a:bodyPr wrap="square" lIns="0" rIns="0" tIns="0" bIns="0" anchor="t">
            <a:spAutoFit/>
          </a:bodyPr>
          <a:lstStyle/>
          <a:p>
            <a:pPr algn="l" marL="256032" indent="-201168">
              <a:spcAft>
                <a:spcPts val="800"/>
              </a:spcAft>
              <a:buChar char="•"/>
            </a:pPr>
            <a:r>
              <a:rPr sz="1600" b="1" i="0">
                <a:solidFill>
                  <a:srgbClr val="0F172A"/>
                </a:solidFill>
              </a:rPr>
              <a:t>Offline:</a:t>
            </a:r>
            <a:r>
              <a:rPr sz="1600" b="0" i="0">
                <a:solidFill>
                  <a:srgbClr val="0F172A"/>
                </a:solidFill>
              </a:rPr>
              <a:t> generate_data.py writes four CSVs; train_models.py trains 16 models and saves the best per disease.</a:t>
            </a:r>
          </a:p>
          <a:p>
            <a:pPr algn="l" marL="256032" indent="-201168">
              <a:spcAft>
                <a:spcPts val="800"/>
              </a:spcAft>
              <a:buChar char="•"/>
            </a:pPr>
            <a:r>
              <a:rPr sz="1600" b="1" i="0">
                <a:solidFill>
                  <a:srgbClr val="0F172A"/>
                </a:solidFill>
              </a:rPr>
              <a:t>Application:</a:t>
            </a:r>
            <a:r>
              <a:rPr sz="1600" b="0" i="0">
                <a:solidFill>
                  <a:srgbClr val="0F172A"/>
                </a:solidFill>
              </a:rPr>
              <a:t> FastAPI imports the Flask module's model bundles; 7 routes, CORS limited to the web app.</a:t>
            </a:r>
          </a:p>
          <a:p>
            <a:pPr algn="l" marL="256032" indent="-201168">
              <a:spcAft>
                <a:spcPts val="800"/>
              </a:spcAft>
              <a:buChar char="•"/>
            </a:pPr>
            <a:r>
              <a:rPr sz="1600" b="1" i="0">
                <a:solidFill>
                  <a:srgbClr val="0F172A"/>
                </a:solidFill>
              </a:rPr>
              <a:t>Presentation:</a:t>
            </a:r>
            <a:r>
              <a:rPr sz="1600" b="0" i="0">
                <a:solidFill>
                  <a:srgbClr val="0F172A"/>
                </a:solidFill>
              </a:rPr>
              <a:t> React single-page app: landing, overview, four prediction forms, models, datasets, about.</a:t>
            </a:r>
          </a:p>
          <a:p>
            <a:pPr algn="l" marL="256032" indent="-201168">
              <a:spcAft>
                <a:spcPts val="400"/>
              </a:spcAft>
              <a:buChar char="•"/>
            </a:pPr>
            <a:r>
              <a:rPr sz="1600" b="1" i="0">
                <a:solidFill>
                  <a:srgbClr val="0F172A"/>
                </a:solidFill>
              </a:rPr>
              <a:t>Data and state:</a:t>
            </a:r>
            <a:r>
              <a:rPr sz="1600" b="0" i="0">
                <a:solidFill>
                  <a:srgbClr val="0F172A"/>
                </a:solidFill>
              </a:rPr>
              <a:t> CSV files, pickle model files and a JSON report; nothing is stored per prediction.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Model comparison</a:t>
            </a:r>
          </a:p>
        </p:txBody>
      </p:sp>
      <p:sp>
        <p:nvSpPr>
          <p:cNvPr id="29" name="TextBox 28"/>
          <p:cNvSpPr txBox="1"/>
          <p:nvPr/>
        </p:nvSpPr>
        <p:spPr>
          <a:xfrm>
            <a:off x="749808" y="2240280"/>
            <a:ext cx="3118104" cy="1280160"/>
          </a:xfrm>
          <a:prstGeom prst="rect">
            <a:avLst/>
          </a:prstGeom>
          <a:noFill/>
        </p:spPr>
        <p:txBody>
          <a:bodyPr wrap="square" lIns="0" rIns="0" tIns="0" bIns="0" anchor="t">
            <a:spAutoFit/>
          </a:bodyPr>
          <a:lstStyle/>
          <a:p>
            <a:pPr algn="l">
              <a:spcAft>
                <a:spcPts val="400"/>
              </a:spcAft>
            </a:pPr>
            <a:r>
              <a:rPr sz="1700" b="0" i="0">
                <a:solidFill>
                  <a:srgbClr val="475569"/>
                </a:solidFill>
              </a:rPr>
              <a:t>Four algorithms evaluated for each of four diseases with the same split and settings.</a:t>
            </a:r>
          </a:p>
        </p:txBody>
      </p:sp>
      <p:sp>
        <p:nvSpPr>
          <p:cNvPr id="30" name="Rounded Rectangle 29"/>
          <p:cNvSpPr/>
          <p:nvPr/>
        </p:nvSpPr>
        <p:spPr>
          <a:xfrm>
            <a:off x="4334255"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One interface</a:t>
            </a:r>
          </a:p>
        </p:txBody>
      </p:sp>
      <p:sp>
        <p:nvSpPr>
          <p:cNvPr id="33" name="TextBox 32"/>
          <p:cNvSpPr txBox="1"/>
          <p:nvPr/>
        </p:nvSpPr>
        <p:spPr>
          <a:xfrm>
            <a:off x="4535423" y="2240280"/>
            <a:ext cx="3118104" cy="1280160"/>
          </a:xfrm>
          <a:prstGeom prst="rect">
            <a:avLst/>
          </a:prstGeom>
          <a:noFill/>
        </p:spPr>
        <p:txBody>
          <a:bodyPr wrap="square" lIns="0" rIns="0" tIns="0" bIns="0" anchor="t">
            <a:spAutoFit/>
          </a:bodyPr>
          <a:lstStyle/>
          <a:p>
            <a:pPr algn="l">
              <a:spcAft>
                <a:spcPts val="400"/>
              </a:spcAft>
            </a:pPr>
            <a:r>
              <a:rPr sz="1700" b="0" i="0">
                <a:solidFill>
                  <a:srgbClr val="475569"/>
                </a:solidFill>
              </a:rPr>
              <a:t>A single application where a user picks a disease, enters values and gets a risk class.</a:t>
            </a:r>
          </a:p>
        </p:txBody>
      </p:sp>
      <p:sp>
        <p:nvSpPr>
          <p:cNvPr id="34" name="Rounded Rectangle 33"/>
          <p:cNvSpPr/>
          <p:nvPr/>
        </p:nvSpPr>
        <p:spPr>
          <a:xfrm>
            <a:off x="8119871"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Confidence shown</a:t>
            </a:r>
          </a:p>
        </p:txBody>
      </p:sp>
      <p:sp>
        <p:nvSpPr>
          <p:cNvPr id="37" name="TextBox 36"/>
          <p:cNvSpPr txBox="1"/>
          <p:nvPr/>
        </p:nvSpPr>
        <p:spPr>
          <a:xfrm>
            <a:off x="8321040" y="2240280"/>
            <a:ext cx="3118104" cy="1280160"/>
          </a:xfrm>
          <a:prstGeom prst="rect">
            <a:avLst/>
          </a:prstGeom>
          <a:noFill/>
        </p:spPr>
        <p:txBody>
          <a:bodyPr wrap="square" lIns="0" rIns="0" tIns="0" bIns="0" anchor="t">
            <a:spAutoFit/>
          </a:bodyPr>
          <a:lstStyle/>
          <a:p>
            <a:pPr algn="l">
              <a:spcAft>
                <a:spcPts val="400"/>
              </a:spcAft>
            </a:pPr>
            <a:r>
              <a:rPr sz="1700" b="0" i="0">
                <a:solidFill>
                  <a:srgbClr val="475569"/>
                </a:solidFill>
              </a:rPr>
              <a:t>The model used, its confidence and its hold-out accuracy shown beside every result.</a:t>
            </a:r>
          </a:p>
        </p:txBody>
      </p:sp>
      <p:sp>
        <p:nvSpPr>
          <p:cNvPr id="38" name="Rounded Rectangle 37"/>
          <p:cNvSpPr/>
          <p:nvPr/>
        </p:nvSpPr>
        <p:spPr>
          <a:xfrm>
            <a:off x="548640"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0233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Honest evaluation</a:t>
            </a:r>
          </a:p>
        </p:txBody>
      </p:sp>
      <p:sp>
        <p:nvSpPr>
          <p:cNvPr id="41" name="TextBox 40"/>
          <p:cNvSpPr txBox="1"/>
          <p:nvPr/>
        </p:nvSpPr>
        <p:spPr>
          <a:xfrm>
            <a:off x="749808" y="4709160"/>
            <a:ext cx="3118104" cy="1280160"/>
          </a:xfrm>
          <a:prstGeom prst="rect">
            <a:avLst/>
          </a:prstGeom>
          <a:noFill/>
        </p:spPr>
        <p:txBody>
          <a:bodyPr wrap="square" lIns="0" rIns="0" tIns="0" bIns="0" anchor="t">
            <a:spAutoFit/>
          </a:bodyPr>
          <a:lstStyle/>
          <a:p>
            <a:pPr algn="l">
              <a:spcAft>
                <a:spcPts val="400"/>
              </a:spcAft>
            </a:pPr>
            <a:r>
              <a:rPr sz="1700" b="0" i="0">
                <a:solidFill>
                  <a:srgbClr val="475569"/>
                </a:solidFill>
              </a:rPr>
              <a:t>Metrics with their split, a check on stability across splits and known limits stated.</a:t>
            </a:r>
          </a:p>
        </p:txBody>
      </p:sp>
      <p:sp>
        <p:nvSpPr>
          <p:cNvPr id="42" name="Rounded Rectangle 41"/>
          <p:cNvSpPr/>
          <p:nvPr/>
        </p:nvSpPr>
        <p:spPr>
          <a:xfrm>
            <a:off x="4334255"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4535423" y="4023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5175503"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Reproducible code</a:t>
            </a:r>
          </a:p>
        </p:txBody>
      </p:sp>
      <p:sp>
        <p:nvSpPr>
          <p:cNvPr id="45" name="TextBox 44"/>
          <p:cNvSpPr txBox="1"/>
          <p:nvPr/>
        </p:nvSpPr>
        <p:spPr>
          <a:xfrm>
            <a:off x="4535423" y="4709160"/>
            <a:ext cx="3118104" cy="1280160"/>
          </a:xfrm>
          <a:prstGeom prst="rect">
            <a:avLst/>
          </a:prstGeom>
          <a:noFill/>
        </p:spPr>
        <p:txBody>
          <a:bodyPr wrap="square" lIns="0" rIns="0" tIns="0" bIns="0" anchor="t">
            <a:spAutoFit/>
          </a:bodyPr>
          <a:lstStyle/>
          <a:p>
            <a:pPr algn="l">
              <a:spcAft>
                <a:spcPts val="400"/>
              </a:spcAft>
            </a:pPr>
            <a:r>
              <a:rPr sz="1700" b="0" i="0">
                <a:solidFill>
                  <a:srgbClr val="475569"/>
                </a:solidFill>
              </a:rPr>
              <a:t>Scripts regenerate the data, retrain the models and rerun every measurement.</a:t>
            </a:r>
          </a:p>
        </p:txBody>
      </p:sp>
      <p:sp>
        <p:nvSpPr>
          <p:cNvPr id="46" name="Rounded Rectangle 45"/>
          <p:cNvSpPr/>
          <p:nvPr/>
        </p:nvSpPr>
        <p:spPr>
          <a:xfrm>
            <a:off x="8119871"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8321040" y="40233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6</a:t>
            </a:r>
          </a:p>
        </p:txBody>
      </p:sp>
      <p:sp>
        <p:nvSpPr>
          <p:cNvPr id="48" name="TextBox 47"/>
          <p:cNvSpPr txBox="1"/>
          <p:nvPr/>
        </p:nvSpPr>
        <p:spPr>
          <a:xfrm>
            <a:off x="8961119"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Screening aid, not diagnosis</a:t>
            </a:r>
          </a:p>
        </p:txBody>
      </p:sp>
      <p:sp>
        <p:nvSpPr>
          <p:cNvPr id="49" name="TextBox 48"/>
          <p:cNvSpPr txBox="1"/>
          <p:nvPr/>
        </p:nvSpPr>
        <p:spPr>
          <a:xfrm>
            <a:off x="8321040" y="4709160"/>
            <a:ext cx="3118104" cy="1280160"/>
          </a:xfrm>
          <a:prstGeom prst="rect">
            <a:avLst/>
          </a:prstGeom>
          <a:noFill/>
        </p:spPr>
        <p:txBody>
          <a:bodyPr wrap="square" lIns="0" rIns="0" tIns="0" bIns="0" anchor="t">
            <a:spAutoFit/>
          </a:bodyPr>
          <a:lstStyle/>
          <a:p>
            <a:pPr algn="l">
              <a:spcAft>
                <a:spcPts val="400"/>
              </a:spcAft>
            </a:pPr>
            <a:r>
              <a:rPr sz="1700" b="0" i="0">
                <a:solidFill>
                  <a:srgbClr val="475569"/>
                </a:solidFill>
              </a:rPr>
              <a:t>Positioned as a teaching and screening demonstration with a visible disclaimer.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143000"/>
            <a:ext cx="11091672" cy="5303520"/>
          </a:xfrm>
          <a:prstGeom prst="rect">
            <a:avLst/>
          </a:prstGeom>
          <a:noFill/>
        </p:spPr>
        <p:txBody>
          <a:bodyPr wrap="square" lIns="0" rIns="0" tIns="0" bIns="0" anchor="t">
            <a:spAutoFit/>
          </a:bodyPr>
          <a:lstStyle/>
          <a:p>
            <a:pPr algn="l">
              <a:spcAft>
                <a:spcPts val="400"/>
              </a:spcAft>
            </a:pPr>
            <a:r>
              <a:rPr sz="1150" b="0" i="0">
                <a:solidFill>
                  <a:srgbClr val="0F172A"/>
                </a:solidFill>
              </a:rPr>
              <a:t>[1] M. Z. Alam, R. Rahman, H. M. Sozib, H. Ahmed, A. Hossain, A. A. Sabeena, A. F. Tasnim, F. Ahmed, M. I. Sarkar, and T. I. Erdei, "Enhancing thyroid disease diagnosis with machine learning and counterfactual explainable AI," IEEE Access, vol. 14, pp. 80346-80370, 2026, doi: 10.1109/ACCESS.2026.3663497.</a:t>
            </a:r>
          </a:p>
          <a:p>
            <a:pPr algn="l">
              <a:spcAft>
                <a:spcPts val="400"/>
              </a:spcAft>
            </a:pPr>
            <a:r>
              <a:rPr sz="1150" b="0" i="0">
                <a:solidFill>
                  <a:srgbClr val="0F172A"/>
                </a:solidFill>
              </a:rPr>
              <a:t>[2] R. Zannat, A. Al Shafi, and A. Muntakim, "Bridging the gap in Bangla healthcare: Machine learning based disease prediction using a symptoms-disease dataset," in Proc. Int. Conf. Elect., Comput. Commun. Eng. (ECCE), Chattogram, Bangladesh, Feb. 2025, doi: 10.1109/ECCE64574.2025.11012950 (arXiv:2601.12068).</a:t>
            </a:r>
          </a:p>
          <a:p>
            <a:pPr algn="l">
              <a:spcAft>
                <a:spcPts val="400"/>
              </a:spcAft>
            </a:pPr>
            <a:r>
              <a:rPr sz="1150" b="0" i="0">
                <a:solidFill>
                  <a:srgbClr val="0F172A"/>
                </a:solidFill>
              </a:rPr>
              <a:t>[12] J. W. Smith, J. E. Everhart, W. C. Dickson, W. C. Knowler, and R. S. Johannes, "Using the ADAP learning algorithm to forecast the onset of diabetes mellitus," in Proc. Annu. Symp. Comput. Appl. Med. Care, 1988, pp. 261-265.</a:t>
            </a:r>
          </a:p>
          <a:p>
            <a:pPr algn="l">
              <a:spcAft>
                <a:spcPts val="400"/>
              </a:spcAft>
            </a:pPr>
            <a:r>
              <a:rPr sz="1150" b="0" i="0">
                <a:solidFill>
                  <a:srgbClr val="0F172A"/>
                </a:solidFill>
              </a:rPr>
              <a:t>[14] A. Janosi, W. Steinbrunn, M. Pfisterer, and R. Detrano, "Heart Disease," UCI Machine Learning Repository, 1989 (303 instances, 13 features), doi: 10.24432/C52P4X.</a:t>
            </a:r>
          </a:p>
          <a:p>
            <a:pPr algn="l">
              <a:spcAft>
                <a:spcPts val="400"/>
              </a:spcAft>
            </a:pPr>
            <a:r>
              <a:rPr sz="1150" b="0" i="0">
                <a:solidFill>
                  <a:srgbClr val="0F172A"/>
                </a:solidFill>
              </a:rPr>
              <a:t>[15] L. Rubini, P. Soundarapandian, and P. Eswaran, "Chronic Kidney Disease," UCI Machine Learning Repository, 2015 (400 instances, 24 features), doi: 10.24432/C5G020.</a:t>
            </a:r>
          </a:p>
          <a:p>
            <a:pPr algn="l">
              <a:spcAft>
                <a:spcPts val="400"/>
              </a:spcAft>
            </a:pPr>
            <a:r>
              <a:rPr sz="1150" b="0" i="0">
                <a:solidFill>
                  <a:srgbClr val="0F172A"/>
                </a:solidFill>
              </a:rPr>
              <a:t>[16] B. Ramana and N. Venkateswarlu, "ILPD (Indian Liver Patient Dataset)," UCI Machine Learning Repository, 2012 (583 instances, 10 features), doi: 10.24432/C5D02C.</a:t>
            </a:r>
          </a:p>
          <a:p>
            <a:pPr algn="l">
              <a:spcAft>
                <a:spcPts val="400"/>
              </a:spcAft>
            </a:pPr>
            <a:r>
              <a:rPr sz="1150" b="0" i="0">
                <a:solidFill>
                  <a:srgbClr val="0F172A"/>
                </a:solidFill>
              </a:rPr>
              <a:t>[17] F. Pedregosa et al., "Scikit-learn: Machine learning in Python," J. Mach. Learn. Res., vol. 12, pp. 2825-2830, 2011.</a:t>
            </a:r>
          </a:p>
          <a:p>
            <a:pPr algn="l">
              <a:spcAft>
                <a:spcPts val="400"/>
              </a:spcAft>
            </a:pPr>
            <a:r>
              <a:rPr sz="1150" b="0" i="0">
                <a:solidFill>
                  <a:srgbClr val="0F172A"/>
                </a:solidFill>
              </a:rPr>
              <a:t>[18] L. Breiman, "Random forests," Mach. Learn., vol. 45, no. 1, pp. 5-32, 2001, doi: 10.1023/A:1010933404324.</a:t>
            </a:r>
          </a:p>
          <a:p>
            <a:pPr algn="l">
              <a:spcAft>
                <a:spcPts val="400"/>
              </a:spcAft>
            </a:pPr>
            <a:r>
              <a:rPr sz="1150" b="0" i="0">
                <a:solidFill>
                  <a:srgbClr val="0F172A"/>
                </a:solidFill>
              </a:rPr>
              <a:t>[19] C. Cortes and V. Vapnik, "Support-vector networks," Mach. Learn., vol. 20, no. 3, pp. 273-297, 1995, doi: 10.1007/BF00994018.</a:t>
            </a:r>
          </a:p>
          <a:p>
            <a:pPr algn="l">
              <a:spcAft>
                <a:spcPts val="400"/>
              </a:spcAft>
            </a:pPr>
            <a:r>
              <a:rPr sz="1150" b="0" i="0">
                <a:solidFill>
                  <a:srgbClr val="0F172A"/>
                </a:solidFill>
              </a:rPr>
              <a:t>[21] S. M. Lundberg and S.-I. Lee, "A unified approach to interpreting model predictions," in Proc. Adv. Neural Inf. Process. Syst. (NIPS), vol. 30, 2017, arXiv:1705.07874.</a:t>
            </a:r>
          </a:p>
          <a:p>
            <a:pPr algn="l">
              <a:spcAft>
                <a:spcPts val="400"/>
              </a:spcAft>
            </a:pPr>
            <a:r>
              <a:rPr sz="1150" b="0" i="0">
                <a:solidFill>
                  <a:srgbClr val="0F172A"/>
                </a:solidFill>
              </a:rPr>
              <a:t>[23] N. V. Chawla, K. W. Bowyer, L. O. Hall, and W. P. Kegelmeyer, "SMOTE: Synthetic minority over-sampling technique," J. Artif. Intell. Res., vol. 16, pp. 321-357, 2002, doi: 10.1613/jair.953.</a:t>
            </a:r>
          </a:p>
          <a:p>
            <a:pPr algn="l">
              <a:spcAft>
                <a:spcPts val="400"/>
              </a:spcAft>
            </a:pPr>
            <a:r>
              <a:rPr sz="1150" b="0" i="0">
                <a:solidFill>
                  <a:srgbClr val="0F172A"/>
                </a:solidFill>
              </a:rPr>
              <a:t>[24] S. Varma and R. Simon, "Bias in error estimation when using cross-validation for model selection," BMC Bioinformatics, vol. 7, Art. no. 91, 2006, doi: 10.1186/1471-2105-7-91.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Multi-Disease Prediction">
  <a:themeElements>
    <a:clrScheme name="Multi-Disease Prediction">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Multi-Disease Predic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Multi-Disease Prediction Using Machine Learning: Review 1</dc:title>
  <dc:subject>Batch A3 (CSE-A)</dc:subject>
  <dc:creator>AJMEERA HARINI, BANDI LIKITHA, CHINTHAKINDI SWATHI, BADROJU SRI HANSIKA</dc:creator>
  <cp:lastModifiedBy/>
  <cp:revision>1</cp:revision>
  <dcterms:created xsi:type="dcterms:W3CDTF">2026-10-13T12:36:40Z</dcterms:created>
  <dcterms:modified xsi:type="dcterms:W3CDTF">2026-10-13T12:36:40Z</dcterms:modified>
  <cp:keywords>multi-disease prediction, machine learning, diabetes, heart disease, liver disease, kidney disease</cp:keywords>
  <dc:description/>
</cp:coreProperties>
</file>