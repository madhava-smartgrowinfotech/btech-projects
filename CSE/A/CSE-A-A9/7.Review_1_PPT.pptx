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F1 on the test split</c:v>
                </c:pt>
              </c:strCache>
            </c:strRef>
          </c:tx>
          <c:spPr>
            <a:solidFill>
              <a:srgbClr val="2A78D6"/>
            </a:solidFill>
          </c:spPr>
          <c:dPt>
            <c:idx val="0"/>
            <c:spPr>
              <a:solidFill>
                <a:srgbClr val="EB6834"/>
              </a:solidFill>
            </c:spPr>
          </c:dPt>
          <c:cat>
            <c:strRef>
              <c:f>Sheet1!$A$2:$A$5</c:f>
              <c:strCache>
                <c:ptCount val="4"/>
                <c:pt idx="0">
                  <c:v>No-graph
baseline (MLP)</c:v>
                </c:pt>
                <c:pt idx="1">
                  <c:v>GCN</c:v>
                </c:pt>
                <c:pt idx="2">
                  <c:v>GAT</c:v>
                </c:pt>
                <c:pt idx="3">
                  <c:v>GraphSAGE</c:v>
                </c:pt>
              </c:strCache>
            </c:strRef>
          </c:cat>
          <c:val>
            <c:numRef>
              <c:f>Sheet1!$B$2:$B$5</c:f>
              <c:numCache>
                <c:formatCode>General</c:formatCode>
                <c:ptCount val="4"/>
                <c:pt idx="0">
                  <c:v>0.8269937022607627</c:v>
                </c:pt>
                <c:pt idx="1">
                  <c:v>0.836866570268526</c:v>
                </c:pt>
                <c:pt idx="2">
                  <c:v>0.9001419758151261</c:v>
                </c:pt>
                <c:pt idx="3">
                  <c:v>0.9393326641903492</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BotGraph treats accounts as nodes and interactions as edges, lets graph neural networks learn from each account's neighbourhood, and groups flagged accounts into botnet clusters that a moderator can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why per-account detection falls short, the graph idea, and what is delivered. Everything runs on one laptop CPU.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PruferNET adds global tree-based structure to a GraphSAGE node classifier. Its accuracy figures measure a depth-classification task and cannot be compared with fake-account detection; we reuse the idea that structure helps, and name the Prufer features as possible future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works whose content was read from the paper or its public record. Figures are quoted only as the sources state them. Two further titles from the batch survey could not be located and are listed in the report as not verified.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our own pilot runs, shown only to motivate the approach. The benchmark mixes public ego-network topology with injected, seeded botnets, so the values describe this benchmark and not live platforms. The no-graph baseline is the bar we must beat.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detection is either rule-based or per account; the research prototypes improve the score but stop at the score. Nobody hands a moderator a botnet to confirm in one click.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from the batch problem statement and the survey. Each maps to a design choice: graph context, learned embeddings, a class-weighted loss and a moderator queue.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gap is the batch survey's own statement. Gaps 2 to 4 come from reading the related work: score-only outputs, missing baseline comparisons, and unmeasured scale. BotGraph addresses each of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graph-based detector that classifies accounts from relational context and exposes coordinated botnet clusters at scale.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We will state plainly that the botnets are injected, and that the abstract's linguistic cues are not part of the 23 features.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The no-graph baseline uses the same features and split, so any gain is due to the graph. Retraining never touches the test split, so before-and-after figures stay comparable.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from the data layer up to the web app. Model files and scores are loaded once when the API starts.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 to; at this stage they are targets. Review 2 and the final review report what was actually measured, including what could not be.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including items marked as not verified,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compare three architectures (the batch objective, and GCN, GAT and GraphSAGE aggregate neighbours differently); why injected botnets (public data has no labelled botnet groups, so recovery needs a known answer); why not the base paper's Prufer features (a different task; kept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BotGraph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000" b="1" dirty="0">
                <a:solidFill>
                  <a:srgbClr val="FFFFFF"/>
                </a:solidFill>
                <a:latin typeface="Cambria" pitchFamily="34" charset="0"/>
                <a:ea typeface="Cambria" pitchFamily="34" charset="-122"/>
                <a:cs typeface="Cambria" pitchFamily="34" charset="-120"/>
              </a:rPr>
              <a:t>Graph Neural Network Analysis for Scalable Fake Profile Detection and Botnets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GCN, GAT and GraphSAGE on a social graph, with Louvain botnet clusters and a moderator review loop</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Bijja Naga Lakshmi  23K91A0538</a:t>
            </a:r>
            <a:endParaRPr lang="en-US" sz="1500" dirty="0"/>
          </a:p>
          <a:p>
            <a:pPr indent="0" marL="0">
              <a:buNone/>
            </a:pPr>
            <a:r>
              <a:rPr lang="en-US" sz="1500" dirty="0">
                <a:solidFill>
                  <a:srgbClr val="FFFFFF"/>
                </a:solidFill>
              </a:rPr>
              <a:t>Divvela Srivatshav  23K91A0564</a:t>
            </a:r>
            <a:endParaRPr lang="en-US" sz="1500" dirty="0"/>
          </a:p>
          <a:p>
            <a:pPr indent="0" marL="0">
              <a:buNone/>
            </a:pPr>
            <a:r>
              <a:rPr lang="en-US" sz="1500" dirty="0">
                <a:solidFill>
                  <a:srgbClr val="FFFFFF"/>
                </a:solidFill>
              </a:rPr>
              <a:t>Adumulla Durga  23K91A0504</a:t>
            </a:r>
            <a:endParaRPr lang="en-US" sz="1500" dirty="0"/>
          </a:p>
          <a:p>
            <a:pPr indent="0" marL="0">
              <a:buNone/>
            </a:pPr>
            <a:r>
              <a:rPr lang="en-US" sz="1500" dirty="0">
                <a:solidFill>
                  <a:srgbClr val="FFFFFF"/>
                </a:solidFill>
              </a:rPr>
              <a:t>Burugula Koushik  23K91A0550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Neelima,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A9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look at the network, not just the profile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Indian social platforms such as ShareChat and Moj face a surge of fake profiles and automated botnets. Rule-based filters and per-account classifiers examine each account alone, so coordinated networks of normal-looking profiles slip through.</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Map the platform as a graph: accounts are nodes, interactions such as follows and likes are edges. GCN, GAT and GraphSAGE learn from each account's neighbourhood and its own features, and community detection over the learned embeddings exposes coordinated clusters.</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BotGraph: a graph builder with 23 node features, a comparison of three architectures against a no-graph baseline, botnet clusters, an API and a web app where moderators confirm or dismiss what the model flags.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A. Saha, N. K. Sarkar and S. Pratihar, "PruferNET: An augmented graph neural network for influential node detection in social networks," IEEE Access, vol. 14, pp. 79940-79960, 2026, doi: 10.1109/ACCESS.2026.3695637.</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Builds a minimum spanning tree of the Facebook graph, derives a Prufer sequence and features from it (label frequency, entropy, unique-label ratio, transition influence, subtree depth), adds degree, closeness, PageRank and a trust score, and classifies nodes with GraphSAGE.</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SNAP Facebook, 4,039 nodes and 88,234 edges; Email-Eu-core as a second network. Three depth classes, 60/20/20 split. Test accuracy 99.63% with Prufer features against 96.54% without.</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to this project</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700" b="0" i="0">
                <a:solidFill>
                  <a:srgbClr val="475569"/>
                </a:solidFill>
              </a:rPr>
              <a:t>Shared ground: the same family of ego-network data, GraphSAGE and the idea that structure adds information a per-node model lacks. Different task: it finds influential nodes, with no fake labels, no botnets and no scalability study.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88720"/>
          <a:ext cx="11091671" cy="4736592"/>
        </p:xfrm>
        <a:graphic>
          <a:graphicData uri="http://schemas.openxmlformats.org/drawingml/2006/table">
            <a:tbl>
              <a:tblPr firstRow="0" bandRow="0">
                <a:tableStyleId>{5C22544A-7EE6-4342-B048-85BDC9FD1C3A}</a:tableStyleId>
              </a:tblPr>
              <a:tblGrid>
                <a:gridCol w="2468880"/>
                <a:gridCol w="594360"/>
                <a:gridCol w="4206240"/>
                <a:gridCol w="3822191"/>
              </a:tblGrid>
              <a:tr h="676656">
                <a:tc>
                  <a:txBody>
                    <a:bodyPr wrap="square"/>
                    <a:lstStyle/>
                    <a:p>
                      <a:pPr algn="ctr"/>
                      <a:r>
                        <a:rPr sz="14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76656">
                <a:tc>
                  <a:txBody>
                    <a:bodyPr wrap="square"/>
                    <a:lstStyle/>
                    <a:p>
                      <a:pPr algn="l"/>
                      <a:r>
                        <a:rPr sz="1350" b="0">
                          <a:solidFill>
                            <a:srgbClr val="0F172A"/>
                          </a:solidFill>
                        </a:rPr>
                        <a:t>PruferNET (base paper)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5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MST + Prufer-sequence features with degree, closeness, PageRank; GraphSAGE node 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99.63% vs 96.54% accuracy on Facebook depth classes; influence task, no fake 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350" b="0">
                          <a:solidFill>
                            <a:srgbClr val="0F172A"/>
                          </a:solidFill>
                        </a:rPr>
                        <a:t>RABot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5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Neighbourhood-aware oversampling and reinforcement-learned edge filtering for GNN bot detectors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Targets class imbalance and noisy links; three benchmarks, four backbones; no cluster output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350" b="0">
                          <a:solidFill>
                            <a:srgbClr val="0F172A"/>
                          </a:solidFill>
                        </a:rPr>
                        <a:t>HW-GNN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5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Homophily-aware spectral GNN with learnable Gaussian windows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+4.3% F1 on average over earlier methods; per-account scores, no botnet grouping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350" b="0">
                          <a:solidFill>
                            <a:srgbClr val="0F172A"/>
                          </a:solidFill>
                        </a:rPr>
                        <a:t>LGB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5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Language model plus GNN for accounts with few links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Up to 10.95% over baselines on two datasets; needs account text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350" b="0">
                          <a:solidFill>
                            <a:srgbClr val="0F172A"/>
                          </a:solidFill>
                        </a:rPr>
                        <a:t>BotDGT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5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Dynamic graph transformer over snapshots of the network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Models change over time; heavier model, no moderator workflow</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350" b="0">
                          <a:solidFill>
                            <a:srgbClr val="0F172A"/>
                          </a:solidFill>
                        </a:rPr>
                        <a:t>Metadata + stacking (nearest match) [11]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5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Account-level features, Spearman selection, stacked classifiers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Random forest 89%, stacked 90%; ignores the graph entirely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6126480"/>
            <a:ext cx="11091672" cy="365760"/>
          </a:xfrm>
          <a:prstGeom prst="rect">
            <a:avLst/>
          </a:prstGeom>
          <a:noFill/>
        </p:spPr>
        <p:txBody>
          <a:bodyPr wrap="square" lIns="0" rIns="0" tIns="0" bIns="0" anchor="t">
            <a:spAutoFit/>
          </a:bodyPr>
          <a:lstStyle/>
          <a:p>
            <a:pPr algn="l">
              <a:spcAft>
                <a:spcPts val="400"/>
              </a:spcAft>
            </a:pPr>
            <a:r>
              <a:rPr sz="1200" b="0" i="1">
                <a:solidFill>
                  <a:srgbClr val="475569"/>
                </a:solidFill>
              </a:rPr>
              <a:t>The batch survey also lists AdapTGN (2026) and an Arabic fake-news GNN (2026); neither could be verified from public records, so no result is quoted from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neighbourhood information helps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669280" cy="4572000"/>
        </p:xfrm>
        <a:graphic>
          <a:graphicData uri="http://schemas.openxmlformats.org/drawingml/2006/chart">
            <c:chart xmlns:c="http://schemas.openxmlformats.org/drawingml/2006/chart" r:id="rId3"/>
          </a:graphicData>
        </a:graphic>
      </p:graphicFrame>
      <p:sp>
        <p:nvSpPr>
          <p:cNvPr id="27" name="TextBox 26"/>
          <p:cNvSpPr txBox="1"/>
          <p:nvPr/>
        </p:nvSpPr>
        <p:spPr>
          <a:xfrm>
            <a:off x="6492240" y="1325880"/>
            <a:ext cx="5166360" cy="4480560"/>
          </a:xfrm>
          <a:prstGeom prst="rect">
            <a:avLst/>
          </a:prstGeom>
          <a:noFill/>
        </p:spPr>
        <p:txBody>
          <a:bodyPr wrap="square" lIns="0" rIns="0" tIns="0" bIns="0" anchor="t">
            <a:spAutoFit/>
          </a:bodyPr>
          <a:lstStyle/>
          <a:p>
            <a:pPr algn="l">
              <a:spcAft>
                <a:spcPts val="800"/>
              </a:spcAft>
            </a:pPr>
            <a:r>
              <a:rPr sz="1450" b="1" i="0">
                <a:solidFill>
                  <a:srgbClr val="0F172A"/>
                </a:solidFill>
              </a:rPr>
              <a:t>Early pilot on our benchmark</a:t>
            </a:r>
            <a:r>
              <a:rPr sz="1450" b="0" i="0">
                <a:solidFill>
                  <a:srgbClr val="0F172A"/>
                </a:solidFill>
              </a:rPr>
              <a:t> (F1, mean of 3 seeds, 908 test accounts; botnets are injected, features partly synthetic):</a:t>
            </a:r>
          </a:p>
          <a:p>
            <a:pPr algn="l" marL="256032" indent="-201168">
              <a:spcAft>
                <a:spcPts val="800"/>
              </a:spcAft>
              <a:buChar char="•"/>
            </a:pPr>
            <a:r>
              <a:rPr sz="1450" b="0" i="0">
                <a:solidFill>
                  <a:srgbClr val="0F172A"/>
                </a:solidFill>
              </a:rPr>
              <a:t>Own features only: 0.827. GraphSAGE, which also reads neighbours: 0.939. The direction is encouraging; the size of the gain is not a platform result.</a:t>
            </a:r>
          </a:p>
          <a:p>
            <a:pPr algn="l" marL="256032" indent="-201168">
              <a:spcAft>
                <a:spcPts val="800"/>
              </a:spcAft>
              <a:buChar char="•"/>
            </a:pPr>
            <a:r>
              <a:rPr sz="1450" b="0" i="0">
                <a:solidFill>
                  <a:srgbClr val="0F172A"/>
                </a:solidFill>
              </a:rPr>
              <a:t>The graph does not help automatically: GCN adds only about one point of F1.</a:t>
            </a:r>
          </a:p>
          <a:p>
            <a:pPr algn="l" marL="256032" indent="-201168">
              <a:spcAft>
                <a:spcPts val="800"/>
              </a:spcAft>
              <a:buChar char="•"/>
            </a:pPr>
            <a:r>
              <a:rPr sz="1450" b="0" i="0">
                <a:solidFill>
                  <a:srgbClr val="0F172A"/>
                </a:solidFill>
              </a:rPr>
              <a:t>Reported bot-detection work shows the same direction: HW-GNN reports +4.3% F1 on average over earlier methods [3].</a:t>
            </a:r>
          </a:p>
          <a:p>
            <a:pPr algn="l" marL="256032" indent="-201168">
              <a:spcAft>
                <a:spcPts val="800"/>
              </a:spcAft>
              <a:buChar char="•"/>
            </a:pPr>
            <a:r>
              <a:rPr sz="1450" b="0" i="0">
                <a:solidFill>
                  <a:srgbClr val="0F172A"/>
                </a:solidFill>
              </a:rPr>
              <a:t>Injected botnets are densely tied, which makes them easier to find than real ones: real-world gains may be smaller.</a:t>
            </a:r>
          </a:p>
          <a:p>
            <a:pPr algn="l" marL="256032" indent="-201168">
              <a:spcAft>
                <a:spcPts val="400"/>
              </a:spcAft>
              <a:buChar char="•"/>
            </a:pPr>
            <a:r>
              <a:rPr sz="1450" b="0" i="0">
                <a:solidFill>
                  <a:srgbClr val="0F172A"/>
                </a:solidFill>
              </a:rPr>
              <a:t>Fake accounts are 12.6% of the data, so F1 and recall matter more than accuracy.</a:t>
            </a:r>
          </a:p>
        </p:txBody>
      </p:sp>
      <p:sp>
        <p:nvSpPr>
          <p:cNvPr id="28" name="TextBox 27"/>
          <p:cNvSpPr txBox="1"/>
          <p:nvPr/>
        </p:nvSpPr>
        <p:spPr>
          <a:xfrm>
            <a:off x="6492240" y="5852160"/>
            <a:ext cx="5166360" cy="548640"/>
          </a:xfrm>
          <a:prstGeom prst="rect">
            <a:avLst/>
          </a:prstGeom>
          <a:noFill/>
        </p:spPr>
        <p:txBody>
          <a:bodyPr wrap="square" lIns="0" rIns="0" tIns="0" bIns="0" anchor="t">
            <a:spAutoFit/>
          </a:bodyPr>
          <a:lstStyle/>
          <a:p>
            <a:pPr algn="l">
              <a:spcAft>
                <a:spcPts val="400"/>
              </a:spcAft>
            </a:pPr>
            <a:r>
              <a:rPr sz="1200" b="0" i="1">
                <a:solidFill>
                  <a:srgbClr val="475569"/>
                </a:solidFill>
              </a:rPr>
              <a:t>Not real-platform accuracy. Early numbers to frame the problem; full protocol in Review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Account profile</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Hand-written rules or classifier</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Score per account</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Manual moderation queue</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Rules and per-account classifiers</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2000" b="0" i="0">
                <a:solidFill>
                  <a:srgbClr val="475569"/>
                </a:solidFill>
              </a:rPr>
              <a:t>Filters look at one profile at a time: posting rate, follower ratio, bio, picture.
Classical models such as random forests treat each account as an independent row.
A botnet of normal-looking profiles passes every individual check.</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Graph-based research prototypes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2000" b="0" i="0">
                <a:solidFill>
                  <a:srgbClr val="475569"/>
                </a:solidFill>
              </a:rPr>
              <a:t>Recent GNN work improves single-account scores under imbalance, noise or time change [2]-[5].
It is normally evaluated on benchmark files, and rarely gives a cluster of coordinated accounts or a workflow for a moderator.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Blind to coordination</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Isolated-account models cannot see that fifty similar accounts follow each other and act in the same hour.</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Static rules go stale</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Fixed rules and signatures stop working as soon as bot behaviour changes.</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Imbalance and noise</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Only about 1 in 8 accounts is fake in our data; plain supervised models favour the majority class and suffer from wrong labels.</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Hard to deploy and trust</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900" b="0" i="0">
                <a:solidFill>
                  <a:srgbClr val="475569"/>
                </a:solidFill>
              </a:rPr>
              <a:t>Scores without reasons, clusters or a review step leave moderators with a list they cannot act on; scalability is seldom measured.</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500" b="0" i="0">
                <a:solidFill>
                  <a:srgbClr val="0F172A"/>
                </a:solidFill>
              </a:rPr>
              <a:t>Also: the base paper's accuracy comes from an influence task and cannot be used as a bot-detection benchmark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417319"/>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280160"/>
            <a:ext cx="10195560" cy="1097280"/>
          </a:xfrm>
          <a:prstGeom prst="rect">
            <a:avLst/>
          </a:prstGeom>
          <a:noFill/>
        </p:spPr>
        <p:txBody>
          <a:bodyPr wrap="square" lIns="0" rIns="0" tIns="0" bIns="0" anchor="ctr">
            <a:spAutoFit/>
          </a:bodyPr>
          <a:lstStyle/>
          <a:p>
            <a:pPr algn="l">
              <a:spcAft>
                <a:spcPts val="400"/>
              </a:spcAft>
            </a:pPr>
            <a:r>
              <a:rPr sz="1900" b="0" i="0">
                <a:solidFill>
                  <a:srgbClr val="0F172A"/>
                </a:solidFill>
              </a:rPr>
              <a:t>Surveyed GNN work targets influence and node classification in social graphs; relational learning for fake-profile and botnet detection at platform scale remains thin.</a:t>
            </a:r>
          </a:p>
        </p:txBody>
      </p:sp>
      <p:sp>
        <p:nvSpPr>
          <p:cNvPr id="28" name="Oval 27"/>
          <p:cNvSpPr/>
          <p:nvPr/>
        </p:nvSpPr>
        <p:spPr>
          <a:xfrm>
            <a:off x="548640" y="2679191"/>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542032"/>
            <a:ext cx="10195560" cy="1097280"/>
          </a:xfrm>
          <a:prstGeom prst="rect">
            <a:avLst/>
          </a:prstGeom>
          <a:noFill/>
        </p:spPr>
        <p:txBody>
          <a:bodyPr wrap="square" lIns="0" rIns="0" tIns="0" bIns="0" anchor="ctr">
            <a:spAutoFit/>
          </a:bodyPr>
          <a:lstStyle/>
          <a:p>
            <a:pPr algn="l">
              <a:spcAft>
                <a:spcPts val="400"/>
              </a:spcAft>
            </a:pPr>
            <a:r>
              <a:rPr sz="1900" b="0" i="0">
                <a:solidFill>
                  <a:srgbClr val="0F172A"/>
                </a:solidFill>
              </a:rPr>
              <a:t>Most bot detectors return one score per account; few expose the coordinated groups and describe what they share.</a:t>
            </a:r>
          </a:p>
        </p:txBody>
      </p:sp>
      <p:sp>
        <p:nvSpPr>
          <p:cNvPr id="30" name="Oval 29"/>
          <p:cNvSpPr/>
          <p:nvPr/>
        </p:nvSpPr>
        <p:spPr>
          <a:xfrm>
            <a:off x="548640" y="3941064"/>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803904"/>
            <a:ext cx="10195560" cy="1097280"/>
          </a:xfrm>
          <a:prstGeom prst="rect">
            <a:avLst/>
          </a:prstGeom>
          <a:noFill/>
        </p:spPr>
        <p:txBody>
          <a:bodyPr wrap="square" lIns="0" rIns="0" tIns="0" bIns="0" anchor="ctr">
            <a:spAutoFit/>
          </a:bodyPr>
          <a:lstStyle/>
          <a:p>
            <a:pPr algn="l">
              <a:spcAft>
                <a:spcPts val="400"/>
              </a:spcAft>
            </a:pPr>
            <a:r>
              <a:rPr sz="1900" b="0" i="0">
                <a:solidFill>
                  <a:srgbClr val="0F172A"/>
                </a:solidFill>
              </a:rPr>
              <a:t>GCN, GAT and GraphSAGE are seldom compared on one split against a no-graph baseline with the same features, so the benefit of the graph is unproven.</a:t>
            </a:r>
          </a:p>
        </p:txBody>
      </p:sp>
      <p:sp>
        <p:nvSpPr>
          <p:cNvPr id="32" name="Oval 31"/>
          <p:cNvSpPr/>
          <p:nvPr/>
        </p:nvSpPr>
        <p:spPr>
          <a:xfrm>
            <a:off x="548640" y="5202936"/>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5065775"/>
            <a:ext cx="10195560" cy="1097280"/>
          </a:xfrm>
          <a:prstGeom prst="rect">
            <a:avLst/>
          </a:prstGeom>
          <a:noFill/>
        </p:spPr>
        <p:txBody>
          <a:bodyPr wrap="square" lIns="0" rIns="0" tIns="0" bIns="0" anchor="ctr">
            <a:spAutoFit/>
          </a:bodyPr>
          <a:lstStyle/>
          <a:p>
            <a:pPr algn="l">
              <a:spcAft>
                <a:spcPts val="400"/>
              </a:spcAft>
            </a:pPr>
            <a:r>
              <a:rPr sz="1900" b="0" i="0">
                <a:solidFill>
                  <a:srgbClr val="0F172A"/>
                </a:solidFill>
              </a:rPr>
              <a:t>Scalability is claimed more often than measured, and review decisions rarely feed back into the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900" b="0" i="0">
                <a:solidFill>
                  <a:srgbClr val="0F172A"/>
                </a:solidFill>
              </a:rPr>
              <a:t>Fake profiles are created faster than manual moderation can remove them</a:t>
            </a:r>
          </a:p>
          <a:p>
            <a:pPr algn="l" marL="256032" indent="-201168">
              <a:spcAft>
                <a:spcPts val="800"/>
              </a:spcAft>
              <a:buChar char="•"/>
            </a:pPr>
            <a:r>
              <a:rPr sz="1900" b="0" i="0">
                <a:solidFill>
                  <a:srgbClr val="0F172A"/>
                </a:solidFill>
              </a:rPr>
              <a:t>Per-account classifiers miss coordinated networks whose individual profiles look legitimate</a:t>
            </a:r>
          </a:p>
          <a:p>
            <a:pPr algn="l" marL="256032" indent="-201168">
              <a:spcAft>
                <a:spcPts val="800"/>
              </a:spcAft>
              <a:buChar char="•"/>
            </a:pPr>
            <a:r>
              <a:rPr sz="1900" b="0" i="0">
                <a:solidFill>
                  <a:srgbClr val="0F172A"/>
                </a:solidFill>
              </a:rPr>
              <a:t>Bot behaviour evolves quickly, so static rules and signatures become obsolete</a:t>
            </a:r>
          </a:p>
          <a:p>
            <a:pPr algn="l" marL="256032" indent="-201168">
              <a:spcAft>
                <a:spcPts val="800"/>
              </a:spcAft>
              <a:buChar char="•"/>
            </a:pPr>
            <a:r>
              <a:rPr sz="1900" b="0" i="0">
                <a:solidFill>
                  <a:srgbClr val="0F172A"/>
                </a:solidFill>
              </a:rPr>
              <a:t>Class imbalance and label noise degrade conventional supervised models</a:t>
            </a:r>
          </a:p>
          <a:p>
            <a:pPr algn="l" marL="256032" indent="-201168">
              <a:spcAft>
                <a:spcPts val="800"/>
              </a:spcAft>
              <a:buChar char="•"/>
            </a:pPr>
            <a:r>
              <a:rPr sz="1900" b="0" i="0">
                <a:solidFill>
                  <a:srgbClr val="0F172A"/>
                </a:solidFill>
              </a:rPr>
              <a:t>Need: a graph-based detector that classifies accounts from their relational context and exposes coordinated botnet clusters at scale</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600" b="0" i="0">
                <a:solidFill>
                  <a:srgbClr val="475569"/>
                </a:solidFill>
              </a:rPr>
              <a:t>A social graph: accounts with 23 profile, posting, timing and interaction features, and the ties between them</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600" b="0" i="0">
                <a:solidFill>
                  <a:srgbClr val="475569"/>
                </a:solidFill>
              </a:rPr>
              <a:t>A fake-probability for every account with the traits behind it, plus botnet clusters of coordinated accounts</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Record</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600" b="0" i="0">
                <a:solidFill>
                  <a:srgbClr val="475569"/>
                </a:solidFill>
              </a:rPr>
              <a:t>Moderator decisions, retraining runs with F1 before and after, model comparison and scalability timings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200" b="0" i="0">
                <a:solidFill>
                  <a:srgbClr val="0F172A"/>
                </a:solidFill>
              </a:rPr>
              <a:t>1.  Construct a graph of the platform: accounts as nodes, interactions as edges</a:t>
            </a:r>
          </a:p>
          <a:p>
            <a:pPr algn="l">
              <a:spcAft>
                <a:spcPts val="1400"/>
              </a:spcAft>
            </a:pPr>
            <a:r>
              <a:rPr sz="2200" b="0" i="0">
                <a:solidFill>
                  <a:srgbClr val="0F172A"/>
                </a:solidFill>
              </a:rPr>
              <a:t>2.  Engineer node features: profile metadata, posting behaviour and interaction frequency</a:t>
            </a:r>
          </a:p>
          <a:p>
            <a:pPr algn="l">
              <a:spcAft>
                <a:spcPts val="1400"/>
              </a:spcAft>
            </a:pPr>
            <a:r>
              <a:rPr sz="2200" b="0" i="0">
                <a:solidFill>
                  <a:srgbClr val="0F172A"/>
                </a:solidFill>
              </a:rPr>
              <a:t>3.  Implement and compare GCN, GAT and GraphSAGE for account classification</a:t>
            </a:r>
          </a:p>
          <a:p>
            <a:pPr algn="l">
              <a:spcAft>
                <a:spcPts val="1400"/>
              </a:spcAft>
            </a:pPr>
            <a:r>
              <a:rPr sz="2200" b="0" i="0">
                <a:solidFill>
                  <a:srgbClr val="0F172A"/>
                </a:solidFill>
              </a:rPr>
              <a:t>4.  Detect coordinated botnet clusters from the learned graph embeddings</a:t>
            </a:r>
          </a:p>
          <a:p>
            <a:pPr algn="l">
              <a:spcAft>
                <a:spcPts val="1400"/>
              </a:spcAft>
            </a:pPr>
            <a:r>
              <a:rPr sz="2200" b="0" i="0">
                <a:solidFill>
                  <a:srgbClr val="0F172A"/>
                </a:solidFill>
              </a:rPr>
              <a:t>5.  Evaluate accuracy, precision and recall against labelled fake-account data</a:t>
            </a:r>
          </a:p>
          <a:p>
            <a:pPr algn="l">
              <a:spcAft>
                <a:spcPts val="1400"/>
              </a:spcAft>
            </a:pPr>
            <a:r>
              <a:rPr sz="2200" b="0" i="0">
                <a:solidFill>
                  <a:srgbClr val="0F172A"/>
                </a:solidFill>
              </a:rPr>
              <a:t>6.  Assess scalability as the number of nodes and edges grows</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Scope note: topology comes from public ego networks; botnets are injected and seeded so that cluster detection can be scored against a known answer.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Build the graph</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650" b="0" i="0">
                <a:solidFill>
                  <a:srgbClr val="475569"/>
                </a:solidFill>
              </a:rPr>
              <a:t>Real Facebook ego-network ties plus labelled profile and posting rows; 23 features in four groups; a documented node and edge schema.</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Learn and compare</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650" b="0" i="0">
                <a:solidFill>
                  <a:srgbClr val="475569"/>
                </a:solidFill>
              </a:rPr>
              <a:t>GCN, GAT and GraphSAGE (two layers, 64 units) and a no-graph baseline on one stratified 60/20/20 split, three seeds each, class-weighted loss.</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Find botnets</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650" b="0" i="0">
                <a:solidFill>
                  <a:srgbClr val="475569"/>
                </a:solidFill>
              </a:rPr>
              <a:t>Louvain communities over the embeddings of accounts scored at 0.30 or more; each cluster gets size, tie density and shared behaviour.</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Review and scale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650" b="0" i="0">
                <a:solidFill>
                  <a:srgbClr val="475569"/>
                </a:solidFill>
              </a:rPr>
              <a:t>A moderator confirms or dismisses accounts or clusters; decisions feed retraining; timings are measured as the graph grows.</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G</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Node = account  ·  edge = tie  ·  embedding = what a GNN learns about its neighbourhood</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Delivered as a FastAPI service with SQLite and a React web app; models are small enough to train on a laptop CPU, with no GPU and no outside service.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980439" y="1097280"/>
            <a:ext cx="5994400" cy="5394960"/>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800" b="1" i="0">
                <a:solidFill>
                  <a:srgbClr val="0F172A"/>
                </a:solidFill>
              </a:rPr>
              <a:t>Four layers</a:t>
            </a:r>
          </a:p>
          <a:p>
            <a:pPr algn="l" marL="256032" indent="-201168">
              <a:spcAft>
                <a:spcPts val="400"/>
              </a:spcAft>
              <a:buChar char="•"/>
            </a:pPr>
            <a:r>
              <a:rPr sz="1800" b="0" i="0">
                <a:solidFill>
                  <a:srgbClr val="0F172A"/>
                </a:solidFill>
              </a:rPr>
              <a:t>Data: public datasets and the injected botnets become one graph on disk.</a:t>
            </a:r>
          </a:p>
          <a:p>
            <a:pPr algn="l" marL="256032" indent="-201168">
              <a:spcAft>
                <a:spcPts val="400"/>
              </a:spcAft>
              <a:buChar char="•"/>
            </a:pPr>
            <a:r>
              <a:rPr sz="1800" b="0" i="0">
                <a:solidFill>
                  <a:srgbClr val="0F172A"/>
                </a:solidFill>
              </a:rPr>
              <a:t>ML pipeline: feature builder, GCN / GAT / GraphSAGE, clustering, evaluation.</a:t>
            </a:r>
          </a:p>
          <a:p>
            <a:pPr algn="l" marL="256032" indent="-201168">
              <a:spcAft>
                <a:spcPts val="400"/>
              </a:spcAft>
              <a:buChar char="•"/>
            </a:pPr>
            <a:r>
              <a:rPr sz="1800" b="0" i="0">
                <a:solidFill>
                  <a:srgbClr val="0F172A"/>
                </a:solidFill>
              </a:rPr>
              <a:t>API: FastAPI on port 8309, JWT roles (analyst, moderator), SQLite for users, decisions and runs.</a:t>
            </a:r>
          </a:p>
          <a:p>
            <a:pPr algn="l" marL="256032" indent="-201168">
              <a:spcAft>
                <a:spcPts val="400"/>
              </a:spcAft>
              <a:buChar char="•"/>
            </a:pPr>
            <a:r>
              <a:rPr sz="1800" b="0" i="0">
                <a:solidFill>
                  <a:srgbClr val="0F172A"/>
                </a:solidFill>
              </a:rPr>
              <a:t>Web app: React on port 5309 with overview, accounts, clusters, queue and model screens.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platform</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800" b="0" i="0">
                <a:solidFill>
                  <a:srgbClr val="475569"/>
                </a:solidFill>
              </a:rPr>
              <a:t>Graph builder, account scores with reasons, cluster explorer, moderator queue and retraining in one app.</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Architecture comparison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800" b="0" i="0">
                <a:solidFill>
                  <a:srgbClr val="475569"/>
                </a:solidFill>
              </a:rPr>
              <a:t>GCN, GAT and GraphSAGE against a no-graph baseline on one split, with precision, recall, F1 and ROC-AUC.</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Botnet clusters</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800" b="0" i="0">
                <a:solidFill>
                  <a:srgbClr val="475569"/>
                </a:solidFill>
              </a:rPr>
              <a:t>Coordinated groups recovered from embeddings and scored against the injected, known botnets.</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Scale evidence</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900" b="0" i="0">
                <a:solidFill>
                  <a:srgbClr val="475569"/>
                </a:solidFill>
              </a:rPr>
              <a:t>Training and inference time as accounts and ties grow, on an ordinary CPU.</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900" b="0" i="0">
                <a:solidFill>
                  <a:srgbClr val="475569"/>
                </a:solidFill>
              </a:rPr>
              <a:t>Injected botnets, partly synthetic features, no text features and no live platform data: each limit documented,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49240"/>
          </a:xfrm>
          <a:prstGeom prst="rect">
            <a:avLst/>
          </a:prstGeom>
          <a:noFill/>
        </p:spPr>
        <p:txBody>
          <a:bodyPr wrap="square" lIns="0" rIns="0" tIns="0" bIns="0" anchor="t">
            <a:spAutoFit/>
          </a:bodyPr>
          <a:lstStyle/>
          <a:p>
            <a:pPr algn="l">
              <a:spcAft>
                <a:spcPts val="400"/>
              </a:spcAft>
            </a:pPr>
            <a:r>
              <a:rPr sz="1400" b="0" i="0">
                <a:solidFill>
                  <a:srgbClr val="0F172A"/>
                </a:solidFill>
              </a:rPr>
              <a:t>[1] A. Saha, N. K. Sarkar and S. Pratihar, "PruferNET: An augmented graph neural network for influential node detection in social networks," IEEE Access, vol. 14, 2026, doi: 10.1109/ACCESS.2026.3695637.</a:t>
            </a:r>
          </a:p>
          <a:p>
            <a:pPr algn="l">
              <a:spcAft>
                <a:spcPts val="400"/>
              </a:spcAft>
            </a:pPr>
            <a:r>
              <a:rPr sz="1400" b="0" i="0">
                <a:solidFill>
                  <a:srgbClr val="0F172A"/>
                </a:solidFill>
              </a:rPr>
              <a:t>[2] L. Zhang, X. Wang, H. Du, Y. Xu, Z. Liu and Y. Liu, "RABot: Reinforcement-guided graph augmentation for imbalanced and noisy social bot detection," arXiv:2602.21749, 2026.</a:t>
            </a:r>
          </a:p>
          <a:p>
            <a:pPr algn="l">
              <a:spcAft>
                <a:spcPts val="400"/>
              </a:spcAft>
            </a:pPr>
            <a:r>
              <a:rPr sz="1400" b="0" i="0">
                <a:solidFill>
                  <a:srgbClr val="0F172A"/>
                </a:solidFill>
              </a:rPr>
              <a:t>[3] Z. Liu, J. Gao, Z. Ji and L. Zhao, "HW-GNN: Homophily-aware Gaussian-window constrained graph spectral network for social network bot detection," arXiv:2511.22493, 2025.</a:t>
            </a:r>
          </a:p>
          <a:p>
            <a:pPr algn="l">
              <a:spcAft>
                <a:spcPts val="400"/>
              </a:spcAft>
            </a:pPr>
            <a:r>
              <a:rPr sz="1400" b="0" i="0">
                <a:solidFill>
                  <a:srgbClr val="0F172A"/>
                </a:solidFill>
              </a:rPr>
              <a:t>[4] "LGB: Language model and graph neural network-driven social bot detection," arXiv:2406.08762, 2024.</a:t>
            </a:r>
          </a:p>
          <a:p>
            <a:pPr algn="l">
              <a:spcAft>
                <a:spcPts val="400"/>
              </a:spcAft>
            </a:pPr>
            <a:r>
              <a:rPr sz="1400" b="0" i="0">
                <a:solidFill>
                  <a:srgbClr val="0F172A"/>
                </a:solidFill>
              </a:rPr>
              <a:t>[5] "BotDGT: Dynamicity-aware social bot detection with dynamic graph transformers," arXiv:2404.15070, 2024.</a:t>
            </a:r>
          </a:p>
          <a:p>
            <a:pPr algn="l">
              <a:spcAft>
                <a:spcPts val="400"/>
              </a:spcAft>
            </a:pPr>
            <a:r>
              <a:rPr sz="1400" b="0" i="0">
                <a:solidFill>
                  <a:srgbClr val="0F172A"/>
                </a:solidFill>
              </a:rPr>
              <a:t>[6] T. N. Kipf and M. Welling, "Semi-supervised classification with graph convolutional networks," in Proc. ICLR, 2017.</a:t>
            </a:r>
          </a:p>
          <a:p>
            <a:pPr algn="l">
              <a:spcAft>
                <a:spcPts val="400"/>
              </a:spcAft>
            </a:pPr>
            <a:r>
              <a:rPr sz="1400" b="0" i="0">
                <a:solidFill>
                  <a:srgbClr val="0F172A"/>
                </a:solidFill>
              </a:rPr>
              <a:t>[7] P. Velickovic et al., "Graph attention networks," in Proc. ICLR, 2018.</a:t>
            </a:r>
          </a:p>
          <a:p>
            <a:pPr algn="l">
              <a:spcAft>
                <a:spcPts val="400"/>
              </a:spcAft>
            </a:pPr>
            <a:r>
              <a:rPr sz="1400" b="0" i="0">
                <a:solidFill>
                  <a:srgbClr val="0F172A"/>
                </a:solidFill>
              </a:rPr>
              <a:t>[8] W. L. Hamilton, R. Ying and J. Leskovec, "Inductive representation learning on large graphs," in Proc. NeurIPS, 2017.</a:t>
            </a:r>
          </a:p>
          <a:p>
            <a:pPr algn="l">
              <a:spcAft>
                <a:spcPts val="400"/>
              </a:spcAft>
            </a:pPr>
            <a:r>
              <a:rPr sz="1400" b="0" i="0">
                <a:solidFill>
                  <a:srgbClr val="0F172A"/>
                </a:solidFill>
              </a:rPr>
              <a:t>[9] V. D. Blondel, J.-L. Guillaume, R. Lambiotte and E. Lefebvre, "Fast unfolding of communities in large networks," J. Stat. Mech., 2008, P10008.</a:t>
            </a:r>
          </a:p>
          <a:p>
            <a:pPr algn="l">
              <a:spcAft>
                <a:spcPts val="400"/>
              </a:spcAft>
            </a:pPr>
            <a:r>
              <a:rPr sz="1400" b="0" i="0">
                <a:solidFill>
                  <a:srgbClr val="0F172A"/>
                </a:solidFill>
              </a:rPr>
              <a:t>[10] J. Leskovec and J. J. McAuley, "Learning to discover social circles in ego networks," in Proc. NeurIPS, 2012.</a:t>
            </a:r>
          </a:p>
          <a:p>
            <a:pPr algn="l">
              <a:spcAft>
                <a:spcPts val="400"/>
              </a:spcAft>
            </a:pPr>
            <a:r>
              <a:rPr sz="1400" b="0" i="0">
                <a:solidFill>
                  <a:srgbClr val="0F172A"/>
                </a:solidFill>
              </a:rPr>
              <a:t>[11] J. Sharma and S. Borah, "Stacking of machine learning classifiers for bot detection using account level data," Int. J. Informatics Commun. Technol., vol. 15, no. 2, pp. 477-487,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BotGraph">
  <a:themeElements>
    <a:clrScheme name="BotGraph">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BotGrap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otGrap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Neural Network Analysis for Scalable Fake Profile Detection and Botnets: Review 1</dc:title>
  <dc:subject>Batch A9 (CSE-A)</dc:subject>
  <dc:creator>Bijja Naga Lakshmi, Divvela Srivatshav, Adumulla Durga, Burugula Koushik</dc:creator>
  <cp:lastModifiedBy/>
  <cp:revision>1</cp:revision>
  <dcterms:created xsi:type="dcterms:W3CDTF">2026-10-13T12:36:40Z</dcterms:created>
  <dcterms:modified xsi:type="dcterms:W3CDTF">2026-10-13T12:36:40Z</dcterms:modified>
  <cp:keywords>graph neural networks, fake profile detection, botnet detection, GCN, GAT, GraphSAGE, social network analysis</cp:keywords>
  <dc:description/>
</cp:coreProperties>
</file>