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Precision</c:v>
                </c:pt>
              </c:strCache>
            </c:strRef>
          </c:tx>
          <c:spPr>
            <a:solidFill>
              <a:srgbClr val="2A78D6"/>
            </a:solidFill>
          </c:spPr>
          <c:cat>
            <c:strRef>
              <c:f>Sheet1!$A$2:$A$5</c:f>
              <c:strCache>
                <c:ptCount val="4"/>
                <c:pt idx="0">
                  <c:v>Baseline (MLP)</c:v>
                </c:pt>
                <c:pt idx="1">
                  <c:v>GCN</c:v>
                </c:pt>
                <c:pt idx="2">
                  <c:v>GAT</c:v>
                </c:pt>
                <c:pt idx="3">
                  <c:v>GraphSAGE</c:v>
                </c:pt>
              </c:strCache>
            </c:strRef>
          </c:cat>
          <c:val>
            <c:numRef>
              <c:f>Sheet1!$B$2:$B$5</c:f>
              <c:numCache>
                <c:formatCode>General</c:formatCode>
                <c:ptCount val="4"/>
                <c:pt idx="0">
                  <c:v>0.8683239962651728</c:v>
                </c:pt>
                <c:pt idx="1">
                  <c:v>0.9584571010374963</c:v>
                </c:pt>
                <c:pt idx="2">
                  <c:v>0.9631834493138238</c:v>
                </c:pt>
                <c:pt idx="3">
                  <c:v>0.9749224544388323</c:v>
                </c:pt>
              </c:numCache>
            </c:numRef>
          </c:val>
        </c:ser>
        <c:ser>
          <c:idx val="1"/>
          <c:order val="1"/>
          <c:tx>
            <c:strRef>
              <c:f>Sheet1!$C$1</c:f>
              <c:strCache>
                <c:ptCount val="1"/>
                <c:pt idx="0">
                  <c:v>Recall</c:v>
                </c:pt>
              </c:strCache>
            </c:strRef>
          </c:tx>
          <c:spPr>
            <a:solidFill>
              <a:srgbClr val="EB6834"/>
            </a:solidFill>
          </c:spPr>
          <c:cat>
            <c:strRef>
              <c:f>Sheet1!$A$2:$A$5</c:f>
              <c:strCache>
                <c:ptCount val="4"/>
                <c:pt idx="0">
                  <c:v>Baseline (MLP)</c:v>
                </c:pt>
                <c:pt idx="1">
                  <c:v>GCN</c:v>
                </c:pt>
                <c:pt idx="2">
                  <c:v>GAT</c:v>
                </c:pt>
                <c:pt idx="3">
                  <c:v>GraphSAGE</c:v>
                </c:pt>
              </c:strCache>
            </c:strRef>
          </c:cat>
          <c:val>
            <c:numRef>
              <c:f>Sheet1!$C$2:$C$5</c:f>
              <c:numCache>
                <c:formatCode>General</c:formatCode>
                <c:ptCount val="4"/>
                <c:pt idx="0">
                  <c:v>0.7894736842105262</c:v>
                </c:pt>
                <c:pt idx="1">
                  <c:v>0.7426900584795323</c:v>
                </c:pt>
                <c:pt idx="2">
                  <c:v>0.8450292397660819</c:v>
                </c:pt>
                <c:pt idx="3">
                  <c:v>0.9064327485380117</c:v>
                </c:pt>
              </c:numCache>
            </c:numRef>
          </c:val>
        </c:ser>
        <c:ser>
          <c:idx val="2"/>
          <c:order val="2"/>
          <c:tx>
            <c:strRef>
              <c:f>Sheet1!$D$1</c:f>
              <c:strCache>
                <c:ptCount val="1"/>
                <c:pt idx="0">
                  <c:v>F1</c:v>
                </c:pt>
              </c:strCache>
            </c:strRef>
          </c:tx>
          <c:spPr>
            <a:solidFill>
              <a:srgbClr val="1BAF7A"/>
            </a:solidFill>
          </c:spPr>
          <c:cat>
            <c:strRef>
              <c:f>Sheet1!$A$2:$A$5</c:f>
              <c:strCache>
                <c:ptCount val="4"/>
                <c:pt idx="0">
                  <c:v>Baseline (MLP)</c:v>
                </c:pt>
                <c:pt idx="1">
                  <c:v>GCN</c:v>
                </c:pt>
                <c:pt idx="2">
                  <c:v>GAT</c:v>
                </c:pt>
                <c:pt idx="3">
                  <c:v>GraphSAGE</c:v>
                </c:pt>
              </c:strCache>
            </c:strRef>
          </c:cat>
          <c:val>
            <c:numRef>
              <c:f>Sheet1!$D$2:$D$5</c:f>
              <c:numCache>
                <c:formatCode>General</c:formatCode>
                <c:ptCount val="4"/>
                <c:pt idx="0">
                  <c:v>0.8269937022607627</c:v>
                </c:pt>
                <c:pt idx="1">
                  <c:v>0.836866570268526</c:v>
                </c:pt>
                <c:pt idx="2">
                  <c:v>0.9001419758151261</c:v>
                </c:pt>
                <c:pt idx="3">
                  <c:v>0.9393326641903492</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BotGraph is designed and built, what is implemented, the first measured results on the 908-account test split and the open items.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survey gap was applying relational learning to fake-profile and botnet detection at platform scale. PruferNET is an influence-classification paper, so we use it as the closest graph-learning reference, not as a result to beat.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layers are separate: ml/ writes artefacts, the API serves them and stores users, decisions and retraining runs in SQLite, the web app consumes the API.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four steps run in ml/train.py (steps 1 to 3) and in the queue and retrain routes (step 4). Retraining never touches the test split.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frank about the synthetic parts. 198 of the bots get a genuine-looking profile and 231 genuine accounts a fake-looking one on purpose, otherwise the profile alone would solve the task and the graph would add nothing. The split is stratified and identical for every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Features are listed in ml/data.py. Standardisation uses statistics of the whole feature matrix and is saved with the scores so the API can explain a score.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model has the same depth and width so the comparison isolates the aggregation rule. Plain PyTorch was chosen because torch-geometric wheels often fail to build on Windows.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Settings are in ml/config.py. Training is full-batch because the graph is small; the whole pipeline runs on a laptop CPU in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flowchart mirrors ml/clustering.py. The queue rule is in backend/app/routes/queue.py: a decision on a cluster is stored once with its member list.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separates request validation, scoring and explanation, cluster serving, the moderator queue and retraining.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reviews keeps the target, decision, note, score at the time, member list and the training run that used it. training_runs keeps F1 before and after for every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in backend/requirements.txt and frontend/package.json. On the measurement PC PyTorch 2.14 (CPU) and Node 24 were used; the pinned range is torch 2.2 to 2.5.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honest gaps are the last two rows: the batch abstract mentions linguistic cues, which are not implemented, and the base paper's Prufer features are not used.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all three graph models beat the baseline on F1, but only GraphSAGE and GAT by a wide margin. GraphSAGE: precision 0.975, recall 0.906, F1 0.939. The numbers belong to this benchmark and must not be compared with PruferNET's 99.63 percent accuracy, which measures a different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screens come from the shipped GraphSAGE model on the committed graph, signed in as the demo moderator. The queue shows a few decisions already made during the capture session.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smoke test starts its own API on a spare port with a scratch database and model copies, so the shipped files are never touched. Latency is 20 requests per endpoint on 127.0.0.1 against a warm server; login is bcrypt-bound by design.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Item 1 is quick and uses the shipped scores; the others are larger pieces of work.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GraphSAGE and not GAT; how much of the result depends on injected botnets; why PruferNET's accuracy is not compared; what the moderator loop changes.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BotGraph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Graph Neural Network Analysis for Scalable Fake Profile Detection and Botnets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GCN, GAT and GraphSAGE on a social graph, with botnet clusters and a moderator review loop</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Bijja Naga Lakshmi  23K91A0538</a:t>
            </a:r>
            <a:endParaRPr lang="en-US" sz="1500" dirty="0"/>
          </a:p>
          <a:p>
            <a:pPr indent="0" marL="0">
              <a:buNone/>
            </a:pPr>
            <a:r>
              <a:rPr lang="en-US" sz="1500" dirty="0">
                <a:solidFill>
                  <a:srgbClr val="FFFFFF"/>
                </a:solidFill>
              </a:rPr>
              <a:t>Divvela Srivatshav  23K91A0564</a:t>
            </a:r>
            <a:endParaRPr lang="en-US" sz="1500" dirty="0"/>
          </a:p>
          <a:p>
            <a:pPr indent="0" marL="0">
              <a:buNone/>
            </a:pPr>
            <a:r>
              <a:rPr lang="en-US" sz="1500" dirty="0">
                <a:solidFill>
                  <a:srgbClr val="FFFFFF"/>
                </a:solidFill>
              </a:rPr>
              <a:t>Adumulla Durga  23K91A0504</a:t>
            </a:r>
            <a:endParaRPr lang="en-US" sz="1500" dirty="0"/>
          </a:p>
          <a:p>
            <a:pPr indent="0" marL="0">
              <a:buNone/>
            </a:pPr>
            <a:r>
              <a:rPr lang="en-US" sz="1500" dirty="0">
                <a:solidFill>
                  <a:srgbClr val="FFFFFF"/>
                </a:solidFill>
              </a:rPr>
              <a:t>Burugula Koushik  23K91A0550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Neelima,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A9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Fake profiles appear faster than moderators can remove them, per-account classifiers miss botnets whose profiles look normal, bot behaviour changes quickly, and fake accounts are a small share of the data (here 12.6 percent).</a:t>
            </a:r>
          </a:p>
        </p:txBody>
      </p:sp>
      <p:sp>
        <p:nvSpPr>
          <p:cNvPr id="30" name="Rounded Rectangle 29"/>
          <p:cNvSpPr/>
          <p:nvPr/>
        </p:nvSpPr>
        <p:spPr>
          <a:xfrm>
            <a:off x="4334255"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BotGraph treats accounts as nodes and interactions as edges. GCN, GAT and GraphSAGE learn from each account's neighbourhood, Louvain over the learned embeddings exposes botnet clusters, and moderators confirm or dismiss what is flagged.</a:t>
            </a:r>
          </a:p>
        </p:txBody>
      </p:sp>
      <p:sp>
        <p:nvSpPr>
          <p:cNvPr id="34" name="Rounded Rectangle 33"/>
          <p:cNvSpPr/>
          <p:nvPr/>
        </p:nvSpPr>
        <p:spPr>
          <a:xfrm>
            <a:off x="8119871"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108960"/>
          </a:xfrm>
          <a:prstGeom prst="rect">
            <a:avLst/>
          </a:prstGeom>
          <a:noFill/>
        </p:spPr>
        <p:txBody>
          <a:bodyPr wrap="square" lIns="0" rIns="0" tIns="0" bIns="0" anchor="t">
            <a:spAutoFit/>
          </a:bodyPr>
          <a:lstStyle/>
          <a:p>
            <a:pPr algn="l">
              <a:spcAft>
                <a:spcPts val="400"/>
              </a:spcAft>
            </a:pPr>
            <a:r>
              <a:rPr sz="1700" b="0" i="0">
                <a:solidFill>
                  <a:srgbClr val="475569"/>
                </a:solidFill>
              </a:rPr>
              <a:t>PruferNET (Saha et al., IEEE Access 2026) uses GraphSAGE on the Facebook graph to classify nodes by spanning-tree depth. We keep the graph-learning idea and data family, but the task is fake-account detection, which that paper does not address. Results are not comparable.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a9_r2_01.png"/>
          <p:cNvPicPr>
            <a:picLocks noChangeAspect="1"/>
          </p:cNvPicPr>
          <p:nvPr/>
        </p:nvPicPr>
        <p:blipFill>
          <a:blip r:embed="rId1"/>
          <a:stretch>
            <a:fillRect/>
          </a:stretch>
        </p:blipFill>
        <p:spPr>
          <a:xfrm>
            <a:off x="988512" y="1188720"/>
            <a:ext cx="5703935" cy="5212080"/>
          </a:xfrm>
          <a:prstGeom prst="rect">
            <a:avLst/>
          </a:prstGeom>
        </p:spPr>
      </p:pic>
      <p:sp>
        <p:nvSpPr>
          <p:cNvPr id="27" name="TextBox 26"/>
          <p:cNvSpPr txBox="1"/>
          <p:nvPr/>
        </p:nvSpPr>
        <p:spPr>
          <a:xfrm>
            <a:off x="7315200" y="1325880"/>
            <a:ext cx="4343400" cy="4937760"/>
          </a:xfrm>
          <a:prstGeom prst="rect">
            <a:avLst/>
          </a:prstGeom>
          <a:noFill/>
        </p:spPr>
        <p:txBody>
          <a:bodyPr wrap="square" lIns="0" rIns="0" tIns="0" bIns="0" anchor="t">
            <a:spAutoFit/>
          </a:bodyPr>
          <a:lstStyle/>
          <a:p>
            <a:pPr algn="l">
              <a:spcAft>
                <a:spcPts val="800"/>
              </a:spcAft>
            </a:pPr>
            <a:r>
              <a:rPr sz="1450" b="1" i="0">
                <a:solidFill>
                  <a:srgbClr val="0F172A"/>
                </a:solidFill>
              </a:rPr>
              <a:t>Pipeline, API and web app</a:t>
            </a:r>
          </a:p>
          <a:p>
            <a:pPr algn="l" marL="256032" indent="-201168">
              <a:spcAft>
                <a:spcPts val="400"/>
              </a:spcAft>
              <a:buChar char="•"/>
            </a:pPr>
            <a:r>
              <a:rPr sz="1450" b="0" i="0">
                <a:solidFill>
                  <a:srgbClr val="0F172A"/>
                </a:solidFill>
              </a:rPr>
              <a:t>ml/: graph builder, 23 features, GCN / GAT / GraphSAGE and a baseline, Louvain clustering, evaluation.</a:t>
            </a:r>
          </a:p>
          <a:p>
            <a:pPr algn="l" marL="256032" indent="-201168">
              <a:spcAft>
                <a:spcPts val="400"/>
              </a:spcAft>
              <a:buChar char="•"/>
            </a:pPr>
            <a:r>
              <a:rPr sz="1450" b="0" i="0">
                <a:solidFill>
                  <a:srgbClr val="0F172A"/>
                </a:solidFill>
              </a:rPr>
              <a:t>backend/app: FastAPI on port 8309, 18 routes, JWT roles, SQLite; loads the graph, scores and clusters once at start-up.</a:t>
            </a:r>
          </a:p>
          <a:p>
            <a:pPr algn="l" marL="256032" indent="-201168">
              <a:spcAft>
                <a:spcPts val="400"/>
              </a:spcAft>
              <a:buChar char="•"/>
            </a:pPr>
            <a:r>
              <a:rPr sz="1450" b="0" i="0">
                <a:solidFill>
                  <a:srgbClr val="0F172A"/>
                </a:solidFill>
              </a:rPr>
              <a:t>frontend/: React 18 + Vite on port 5309, 10 screens, light and dark.</a:t>
            </a:r>
          </a:p>
          <a:p>
            <a:pPr algn="l" marL="256032" indent="-201168">
              <a:spcAft>
                <a:spcPts val="400"/>
              </a:spcAft>
              <a:buChar char="•"/>
            </a:pPr>
            <a:r>
              <a:rPr sz="1450" b="0" i="0">
                <a:solidFill>
                  <a:srgbClr val="0F172A"/>
                </a:solidFill>
              </a:rPr>
              <a:t>Files: data/processed, models/*.pt, scores.npz, clusters.json, experiments/*.json.</a:t>
            </a:r>
          </a:p>
          <a:p>
            <a:pPr algn="l" marL="256032" indent="-201168">
              <a:spcAft>
                <a:spcPts val="400"/>
              </a:spcAft>
              <a:buChar char="•"/>
            </a:pPr>
            <a:r>
              <a:rPr sz="1450" b="0" i="0">
                <a:solidFill>
                  <a:srgbClr val="0F172A"/>
                </a:solidFill>
              </a:rPr>
              <a:t>No call to an outside service at run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from graph to moderator decision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a9_r2_10.png"/>
          <p:cNvPicPr>
            <a:picLocks noChangeAspect="1"/>
          </p:cNvPicPr>
          <p:nvPr/>
        </p:nvPicPr>
        <p:blipFill>
          <a:blip r:embed="rId3"/>
          <a:stretch>
            <a:fillRect/>
          </a:stretch>
        </p:blipFill>
        <p:spPr>
          <a:xfrm>
            <a:off x="1078906" y="1234440"/>
            <a:ext cx="4791626" cy="5029200"/>
          </a:xfrm>
          <a:prstGeom prst="rect">
            <a:avLst/>
          </a:prstGeom>
        </p:spPr>
      </p:pic>
      <p:sp>
        <p:nvSpPr>
          <p:cNvPr id="27" name="Rounded Rectangle 26"/>
          <p:cNvSpPr/>
          <p:nvPr/>
        </p:nvSpPr>
        <p:spPr>
          <a:xfrm>
            <a:off x="6675120" y="1234440"/>
            <a:ext cx="4965192" cy="1170432"/>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12280" y="1289304"/>
            <a:ext cx="4690872" cy="320040"/>
          </a:xfrm>
          <a:prstGeom prst="rect">
            <a:avLst/>
          </a:prstGeom>
          <a:noFill/>
        </p:spPr>
        <p:txBody>
          <a:bodyPr wrap="square" lIns="0" rIns="0" tIns="0" bIns="0" anchor="t">
            <a:spAutoFit/>
          </a:bodyPr>
          <a:lstStyle/>
          <a:p>
            <a:pPr algn="l">
              <a:spcAft>
                <a:spcPts val="400"/>
              </a:spcAft>
            </a:pPr>
            <a:r>
              <a:rPr sz="1450" b="1" i="0">
                <a:solidFill>
                  <a:srgbClr val="0F172A"/>
                </a:solidFill>
              </a:rPr>
              <a:t>1. Build the graph</a:t>
            </a:r>
          </a:p>
        </p:txBody>
      </p:sp>
      <p:sp>
        <p:nvSpPr>
          <p:cNvPr id="29" name="TextBox 28"/>
          <p:cNvSpPr txBox="1"/>
          <p:nvPr/>
        </p:nvSpPr>
        <p:spPr>
          <a:xfrm>
            <a:off x="6812280" y="1618488"/>
            <a:ext cx="4690872" cy="777240"/>
          </a:xfrm>
          <a:prstGeom prst="rect">
            <a:avLst/>
          </a:prstGeom>
          <a:noFill/>
        </p:spPr>
        <p:txBody>
          <a:bodyPr wrap="square" lIns="0" rIns="0" tIns="0" bIns="0" anchor="t">
            <a:spAutoFit/>
          </a:bodyPr>
          <a:lstStyle/>
          <a:p>
            <a:pPr algn="l">
              <a:spcAft>
                <a:spcPts val="400"/>
              </a:spcAft>
            </a:pPr>
            <a:r>
              <a:rPr sz="1200" b="0" i="0">
                <a:solidFill>
                  <a:srgbClr val="475569"/>
                </a:solidFill>
              </a:rPr>
              <a:t>Real Facebook topology (3,963 accounts, 88,156 ties) plus 570 injected fake accounts (6,300 ties); 23 features per account.</a:t>
            </a:r>
          </a:p>
        </p:txBody>
      </p:sp>
      <p:sp>
        <p:nvSpPr>
          <p:cNvPr id="30" name="Rounded Rectangle 29"/>
          <p:cNvSpPr/>
          <p:nvPr/>
        </p:nvSpPr>
        <p:spPr>
          <a:xfrm>
            <a:off x="6675120" y="2514600"/>
            <a:ext cx="4965192" cy="1170432"/>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12280" y="2569464"/>
            <a:ext cx="4690872" cy="320040"/>
          </a:xfrm>
          <a:prstGeom prst="rect">
            <a:avLst/>
          </a:prstGeom>
          <a:noFill/>
        </p:spPr>
        <p:txBody>
          <a:bodyPr wrap="square" lIns="0" rIns="0" tIns="0" bIns="0" anchor="t">
            <a:spAutoFit/>
          </a:bodyPr>
          <a:lstStyle/>
          <a:p>
            <a:pPr algn="l">
              <a:spcAft>
                <a:spcPts val="400"/>
              </a:spcAft>
            </a:pPr>
            <a:r>
              <a:rPr sz="1450" b="1" i="0">
                <a:solidFill>
                  <a:srgbClr val="0F172A"/>
                </a:solidFill>
              </a:rPr>
              <a:t>2. Train and compare</a:t>
            </a:r>
          </a:p>
        </p:txBody>
      </p:sp>
      <p:sp>
        <p:nvSpPr>
          <p:cNvPr id="32" name="TextBox 31"/>
          <p:cNvSpPr txBox="1"/>
          <p:nvPr/>
        </p:nvSpPr>
        <p:spPr>
          <a:xfrm>
            <a:off x="6812280" y="2898648"/>
            <a:ext cx="4690872" cy="777240"/>
          </a:xfrm>
          <a:prstGeom prst="rect">
            <a:avLst/>
          </a:prstGeom>
          <a:noFill/>
        </p:spPr>
        <p:txBody>
          <a:bodyPr wrap="square" lIns="0" rIns="0" tIns="0" bIns="0" anchor="t">
            <a:spAutoFit/>
          </a:bodyPr>
          <a:lstStyle/>
          <a:p>
            <a:pPr algn="l">
              <a:spcAft>
                <a:spcPts val="400"/>
              </a:spcAft>
            </a:pPr>
            <a:r>
              <a:rPr sz="1200" b="0" i="0">
                <a:solidFill>
                  <a:srgbClr val="475569"/>
                </a:solidFill>
              </a:rPr>
              <a:t>Baseline MLP, GCN, GAT and GraphSAGE on one 60/20/20 split, 3 seeds each; threshold tuned on validation.</a:t>
            </a:r>
          </a:p>
        </p:txBody>
      </p:sp>
      <p:sp>
        <p:nvSpPr>
          <p:cNvPr id="33" name="Rounded Rectangle 32"/>
          <p:cNvSpPr/>
          <p:nvPr/>
        </p:nvSpPr>
        <p:spPr>
          <a:xfrm>
            <a:off x="6675120" y="3794760"/>
            <a:ext cx="4965192" cy="1170432"/>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812280" y="3849624"/>
            <a:ext cx="4690872" cy="320040"/>
          </a:xfrm>
          <a:prstGeom prst="rect">
            <a:avLst/>
          </a:prstGeom>
          <a:noFill/>
        </p:spPr>
        <p:txBody>
          <a:bodyPr wrap="square" lIns="0" rIns="0" tIns="0" bIns="0" anchor="t">
            <a:spAutoFit/>
          </a:bodyPr>
          <a:lstStyle/>
          <a:p>
            <a:pPr algn="l">
              <a:spcAft>
                <a:spcPts val="400"/>
              </a:spcAft>
            </a:pPr>
            <a:r>
              <a:rPr sz="1450" b="1" i="0">
                <a:solidFill>
                  <a:srgbClr val="0F172A"/>
                </a:solidFill>
              </a:rPr>
              <a:t>3. Cluster</a:t>
            </a:r>
          </a:p>
        </p:txBody>
      </p:sp>
      <p:sp>
        <p:nvSpPr>
          <p:cNvPr id="35" name="TextBox 34"/>
          <p:cNvSpPr txBox="1"/>
          <p:nvPr/>
        </p:nvSpPr>
        <p:spPr>
          <a:xfrm>
            <a:off x="6812280" y="4178808"/>
            <a:ext cx="4690872" cy="777240"/>
          </a:xfrm>
          <a:prstGeom prst="rect">
            <a:avLst/>
          </a:prstGeom>
          <a:noFill/>
        </p:spPr>
        <p:txBody>
          <a:bodyPr wrap="square" lIns="0" rIns="0" tIns="0" bIns="0" anchor="t">
            <a:spAutoFit/>
          </a:bodyPr>
          <a:lstStyle/>
          <a:p>
            <a:pPr algn="l">
              <a:spcAft>
                <a:spcPts val="400"/>
              </a:spcAft>
            </a:pPr>
            <a:r>
              <a:rPr sz="1200" b="0" i="0">
                <a:solidFill>
                  <a:srgbClr val="475569"/>
                </a:solidFill>
              </a:rPr>
              <a:t>Louvain over embeddings of accounts scored at 0.30 or more; groups under 5 accounts dropped.</a:t>
            </a:r>
          </a:p>
        </p:txBody>
      </p:sp>
      <p:sp>
        <p:nvSpPr>
          <p:cNvPr id="36" name="Rounded Rectangle 35"/>
          <p:cNvSpPr/>
          <p:nvPr/>
        </p:nvSpPr>
        <p:spPr>
          <a:xfrm>
            <a:off x="6675120" y="5074919"/>
            <a:ext cx="4965192" cy="1170432"/>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5129783"/>
            <a:ext cx="4690872" cy="320040"/>
          </a:xfrm>
          <a:prstGeom prst="rect">
            <a:avLst/>
          </a:prstGeom>
          <a:noFill/>
        </p:spPr>
        <p:txBody>
          <a:bodyPr wrap="square" lIns="0" rIns="0" tIns="0" bIns="0" anchor="t">
            <a:spAutoFit/>
          </a:bodyPr>
          <a:lstStyle/>
          <a:p>
            <a:pPr algn="l">
              <a:spcAft>
                <a:spcPts val="400"/>
              </a:spcAft>
            </a:pPr>
            <a:r>
              <a:rPr sz="1450" b="1" i="0">
                <a:solidFill>
                  <a:srgbClr val="0F172A"/>
                </a:solidFill>
              </a:rPr>
              <a:t>4. Review</a:t>
            </a:r>
          </a:p>
        </p:txBody>
      </p:sp>
      <p:sp>
        <p:nvSpPr>
          <p:cNvPr id="38" name="TextBox 37"/>
          <p:cNvSpPr txBox="1"/>
          <p:nvPr/>
        </p:nvSpPr>
        <p:spPr>
          <a:xfrm>
            <a:off x="6812280" y="5458967"/>
            <a:ext cx="4690872" cy="777240"/>
          </a:xfrm>
          <a:prstGeom prst="rect">
            <a:avLst/>
          </a:prstGeom>
          <a:noFill/>
        </p:spPr>
        <p:txBody>
          <a:bodyPr wrap="square" lIns="0" rIns="0" tIns="0" bIns="0" anchor="t">
            <a:spAutoFit/>
          </a:bodyPr>
          <a:lstStyle/>
          <a:p>
            <a:pPr algn="l">
              <a:spcAft>
                <a:spcPts val="400"/>
              </a:spcAft>
            </a:pPr>
            <a:r>
              <a:rPr sz="1200" b="0" i="0">
                <a:solidFill>
                  <a:srgbClr val="475569"/>
                </a:solidFill>
              </a:rPr>
              <a:t>Moderators confirm or dismiss; decisions become labels at the next retrain.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real topology, injected botnets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4,533</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accounts (nodes)</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94,456</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undirected ties (edges)</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570 (12.6%)</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fake accounts</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400" b="1" i="0">
                <a:solidFill>
                  <a:srgbClr val="0F172A"/>
                </a:solidFill>
              </a:rPr>
              <a:t>2,719 / 906 / 908</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train / validation / test</a:t>
            </a:r>
          </a:p>
        </p:txBody>
      </p:sp>
      <p:graphicFrame>
        <p:nvGraphicFramePr>
          <p:cNvPr id="42" name="Table 41"/>
          <p:cNvGraphicFramePr>
            <a:graphicFrameLocks noGrp="1"/>
          </p:cNvGraphicFramePr>
          <p:nvPr/>
        </p:nvGraphicFramePr>
        <p:xfrm>
          <a:off x="548640" y="2697480"/>
          <a:ext cx="11091672" cy="3291840"/>
        </p:xfrm>
        <a:graphic>
          <a:graphicData uri="http://schemas.openxmlformats.org/drawingml/2006/table">
            <a:tbl>
              <a:tblPr firstRow="0" bandRow="0">
                <a:tableStyleId>{5C22544A-7EE6-4342-B048-85BDC9FD1C3A}</a:tableStyleId>
              </a:tblPr>
              <a:tblGrid>
                <a:gridCol w="2103120"/>
                <a:gridCol w="6309360"/>
                <a:gridCol w="2679192"/>
              </a:tblGrid>
              <a:tr h="548640">
                <a:tc>
                  <a:txBody>
                    <a:bodyPr wrap="square"/>
                    <a:lstStyle/>
                    <a:p>
                      <a:pPr algn="ctr"/>
                      <a:r>
                        <a:rPr sz="1250" b="1">
                          <a:solidFill>
                            <a:srgbClr val="FFFFFF"/>
                          </a:solidFill>
                        </a:rPr>
                        <a:t>Part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Source and licence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250" b="1">
                          <a:solidFill>
                            <a:srgbClr val="0F172A"/>
                          </a:solidFill>
                        </a:rPr>
                        <a:t>Topology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SNAP Facebook social circles, ten ego networks: 3,963 accounts, 88,156 ties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Real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1">
                          <a:solidFill>
                            <a:srgbClr val="0F172A"/>
                          </a:solidFill>
                        </a:rPr>
                        <a:t>Profile attributes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Instagram fake / spammer / genuine accounts, 696 labelled rows, CC BY 3.0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Real rows, resampled and jittered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1">
                          <a:solidFill>
                            <a:srgbClr val="0F172A"/>
                          </a:solidFill>
                        </a:rPr>
                        <a:t>Posting behaviour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Twitter bot detection set, 50,000 rows, CC0 (its label carries almost no signal)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Real rows, act as realistic noise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1">
                          <a:solidFill>
                            <a:srgbClr val="0F172A"/>
                          </a:solidFill>
                        </a:rPr>
                        <a:t>Botnets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8 botnets (34-62 accounts) and 150 lone spammers, seed 7; 6,300 injected ties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Synthetic, known answer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1">
                          <a:solidFill>
                            <a:srgbClr val="0F172A"/>
                          </a:solidFill>
                        </a:rPr>
                        <a:t>Timing, interaction, handles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peak hour, burstiness, interactions per week, usernames and display names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Synthetic, seeded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548640" y="6172200"/>
            <a:ext cx="11091672" cy="320040"/>
          </a:xfrm>
          <a:prstGeom prst="rect">
            <a:avLst/>
          </a:prstGeom>
          <a:noFill/>
        </p:spPr>
        <p:txBody>
          <a:bodyPr wrap="square" lIns="0" rIns="0" tIns="0" bIns="0" anchor="t">
            <a:spAutoFit/>
          </a:bodyPr>
          <a:lstStyle/>
          <a:p>
            <a:pPr algn="l">
              <a:spcAft>
                <a:spcPts val="400"/>
              </a:spcAft>
            </a:pPr>
            <a:r>
              <a:rPr sz="1200" b="0" i="1">
                <a:solidFill>
                  <a:srgbClr val="475569"/>
                </a:solidFill>
              </a:rPr>
              <a:t>Nothing is scraped from a live platform. Results describe this benchmark, not real botnets on any platform.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Preprocessing and node features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Public datasets</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Merge onto topology</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Inject botnets and camouflage</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23 node features</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Standardise (mean 0, sd 1)</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Stratified 60/20/20</a:t>
            </a:r>
          </a:p>
        </p:txBody>
      </p:sp>
      <p:graphicFrame>
        <p:nvGraphicFramePr>
          <p:cNvPr id="37" name="Table 36"/>
          <p:cNvGraphicFramePr>
            <a:graphicFrameLocks noGrp="1"/>
          </p:cNvGraphicFramePr>
          <p:nvPr/>
        </p:nvGraphicFramePr>
        <p:xfrm>
          <a:off x="548640" y="2606040"/>
          <a:ext cx="11091671" cy="2514600"/>
        </p:xfrm>
        <a:graphic>
          <a:graphicData uri="http://schemas.openxmlformats.org/drawingml/2006/table">
            <a:tbl>
              <a:tblPr firstRow="0" bandRow="0">
                <a:tableStyleId>{5C22544A-7EE6-4342-B048-85BDC9FD1C3A}</a:tableStyleId>
              </a:tblPr>
              <a:tblGrid>
                <a:gridCol w="2468880"/>
                <a:gridCol w="822960"/>
                <a:gridCol w="7799831"/>
              </a:tblGrid>
              <a:tr h="502920">
                <a:tc>
                  <a:txBody>
                    <a:bodyPr wrap="square"/>
                    <a:lstStyle/>
                    <a:p>
                      <a:pPr algn="ctr"/>
                      <a:r>
                        <a:rPr sz="1350" b="1">
                          <a:solidFill>
                            <a:srgbClr val="FFFFFF"/>
                          </a:solidFill>
                        </a:rPr>
                        <a:t>Feature group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Count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Examples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350" b="1">
                          <a:solidFill>
                            <a:srgbClr val="0F172A"/>
                          </a:solidFill>
                        </a:rPr>
                        <a:t>Profile metadata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50" b="0">
                          <a:solidFill>
                            <a:srgbClr val="0F172A"/>
                          </a:solidFill>
                        </a:rPr>
                        <a:t>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profile picture, digits in username, bio length, followers / following (log), ratio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350" b="1">
                          <a:solidFill>
                            <a:srgbClr val="0F172A"/>
                          </a:solidFill>
                        </a:rPr>
                        <a:t>Posting behaviour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50" b="0">
                          <a:solidFill>
                            <a:srgbClr val="0F172A"/>
                          </a:solidFill>
                        </a:rPr>
                        <a:t>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average retweets (log), mentions, post length, hashtags per post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350" b="1">
                          <a:solidFill>
                            <a:srgbClr val="0F172A"/>
                          </a:solidFill>
                        </a:rPr>
                        <a:t>Temporal pattern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50" b="0">
                          <a:solidFill>
                            <a:srgbClr val="0F172A"/>
                          </a:solidFill>
                        </a:rPr>
                        <a:t>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account age (log days), posts per day, burstiness, peak-hour share, peak hour sin / cos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350" b="1">
                          <a:solidFill>
                            <a:srgbClr val="0F172A"/>
                          </a:solidFill>
                        </a:rPr>
                        <a:t>Interaction frequency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50" b="0">
                          <a:solidFill>
                            <a:srgbClr val="0F172A"/>
                          </a:solidFill>
                        </a:rPr>
                        <a:t>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interactions per week (log)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38" name="TextBox 37"/>
          <p:cNvSpPr txBox="1"/>
          <p:nvPr/>
        </p:nvSpPr>
        <p:spPr>
          <a:xfrm>
            <a:off x="548640" y="5303520"/>
            <a:ext cx="11091672" cy="1097280"/>
          </a:xfrm>
          <a:prstGeom prst="rect">
            <a:avLst/>
          </a:prstGeom>
          <a:noFill/>
        </p:spPr>
        <p:txBody>
          <a:bodyPr wrap="square" lIns="0" rIns="0" tIns="0" bIns="0" anchor="t">
            <a:spAutoFit/>
          </a:bodyPr>
          <a:lstStyle/>
          <a:p>
            <a:pPr algn="l" marL="256032" indent="-201168">
              <a:spcAft>
                <a:spcPts val="500"/>
              </a:spcAft>
              <a:buChar char="•"/>
            </a:pPr>
            <a:r>
              <a:rPr sz="1400" b="0" i="0">
                <a:solidFill>
                  <a:srgbClr val="0F172A"/>
                </a:solidFill>
              </a:rPr>
              <a:t>Members of one botnet share a creation window and a peak posting hour, so those two traits are common to a cluster without making any single member stand out.</a:t>
            </a:r>
          </a:p>
          <a:p>
            <a:pPr algn="l" marL="256032" indent="-201168">
              <a:spcAft>
                <a:spcPts val="500"/>
              </a:spcAft>
              <a:buChar char="•"/>
            </a:pPr>
            <a:r>
              <a:rPr sz="1400" b="0" i="0">
                <a:solidFill>
                  <a:srgbClr val="0F172A"/>
                </a:solidFill>
              </a:rPr>
              <a:t>Camouflage: 40 percent of botnet accounts and 25 percent of lone spammers get a genuine-looking profile; 6 percent of genuine accounts get a fake-looking 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architecture: three message-passing layers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a9_r2_12.png"/>
          <p:cNvPicPr>
            <a:picLocks noChangeAspect="1"/>
          </p:cNvPicPr>
          <p:nvPr/>
        </p:nvPicPr>
        <p:blipFill>
          <a:blip r:embed="rId1"/>
          <a:stretch>
            <a:fillRect/>
          </a:stretch>
        </p:blipFill>
        <p:spPr>
          <a:xfrm>
            <a:off x="556901" y="1234440"/>
            <a:ext cx="6750036" cy="4572000"/>
          </a:xfrm>
          <a:prstGeom prst="rect">
            <a:avLst/>
          </a:prstGeom>
        </p:spPr>
      </p:pic>
      <p:sp>
        <p:nvSpPr>
          <p:cNvPr id="27" name="TextBox 26"/>
          <p:cNvSpPr txBox="1"/>
          <p:nvPr/>
        </p:nvSpPr>
        <p:spPr>
          <a:xfrm>
            <a:off x="7589520" y="1325880"/>
            <a:ext cx="4069080" cy="4937760"/>
          </a:xfrm>
          <a:prstGeom prst="rect">
            <a:avLst/>
          </a:prstGeom>
          <a:noFill/>
        </p:spPr>
        <p:txBody>
          <a:bodyPr wrap="square" lIns="0" rIns="0" tIns="0" bIns="0" anchor="t">
            <a:spAutoFit/>
          </a:bodyPr>
          <a:lstStyle/>
          <a:p>
            <a:pPr algn="l" marL="256032" indent="-201168">
              <a:spcAft>
                <a:spcPts val="800"/>
              </a:spcAft>
              <a:buChar char="•"/>
            </a:pPr>
            <a:r>
              <a:rPr sz="1400" b="1" i="0">
                <a:solidFill>
                  <a:srgbClr val="0F172A"/>
                </a:solidFill>
              </a:rPr>
              <a:t>GCN</a:t>
            </a:r>
            <a:r>
              <a:rPr sz="1400" b="0" i="0">
                <a:solidFill>
                  <a:srgbClr val="0F172A"/>
                </a:solidFill>
              </a:rPr>
              <a:t>: symmetric-normalised neighbour average with self-loops, A_hat X W.</a:t>
            </a:r>
          </a:p>
          <a:p>
            <a:pPr algn="l" marL="256032" indent="-201168">
              <a:spcAft>
                <a:spcPts val="800"/>
              </a:spcAft>
              <a:buChar char="•"/>
            </a:pPr>
            <a:r>
              <a:rPr sz="1400" b="1" i="0">
                <a:solidFill>
                  <a:srgbClr val="0F172A"/>
                </a:solidFill>
              </a:rPr>
              <a:t>GraphSAGE</a:t>
            </a:r>
            <a:r>
              <a:rPr sz="1400" b="0" i="0">
                <a:solidFill>
                  <a:srgbClr val="0F172A"/>
                </a:solidFill>
              </a:rPr>
              <a:t>: W_self x + W_neigh mean(neighbours); the account keeps its own weight.</a:t>
            </a:r>
          </a:p>
          <a:p>
            <a:pPr algn="l" marL="256032" indent="-201168">
              <a:spcAft>
                <a:spcPts val="800"/>
              </a:spcAft>
              <a:buChar char="•"/>
            </a:pPr>
            <a:r>
              <a:rPr sz="1400" b="1" i="0">
                <a:solidFill>
                  <a:srgbClr val="0F172A"/>
                </a:solidFill>
              </a:rPr>
              <a:t>GAT</a:t>
            </a:r>
            <a:r>
              <a:rPr sz="1400" b="0" i="0">
                <a:solidFill>
                  <a:srgbClr val="0F172A"/>
                </a:solidFill>
              </a:rPr>
              <a:t>: 4 attention heads, then one head; edge softmax built from scatter_reduce and index_add.</a:t>
            </a:r>
          </a:p>
          <a:p>
            <a:pPr algn="l" marL="256032" indent="-201168">
              <a:spcAft>
                <a:spcPts val="800"/>
              </a:spcAft>
              <a:buChar char="•"/>
            </a:pPr>
            <a:r>
              <a:rPr sz="1400" b="1" i="0">
                <a:solidFill>
                  <a:srgbClr val="0F172A"/>
                </a:solidFill>
              </a:rPr>
              <a:t>Baseline</a:t>
            </a:r>
            <a:r>
              <a:rPr sz="1400" b="0" i="0">
                <a:solidFill>
                  <a:srgbClr val="0F172A"/>
                </a:solidFill>
              </a:rPr>
              <a:t>: two dense layers on the account's own features, no graph.</a:t>
            </a:r>
          </a:p>
          <a:p>
            <a:pPr algn="l" marL="256032" indent="-201168">
              <a:spcAft>
                <a:spcPts val="400"/>
              </a:spcAft>
              <a:buChar char="•"/>
            </a:pPr>
            <a:r>
              <a:rPr sz="1400" b="0" i="1">
                <a:solidFill>
                  <a:srgbClr val="475569"/>
                </a:solidFill>
              </a:rPr>
              <a:t>All written in plain PyTorch sparse operations, no torch-geometric.</a:t>
            </a:r>
          </a:p>
        </p:txBody>
      </p:sp>
      <p:sp>
        <p:nvSpPr>
          <p:cNvPr id="28" name="TextBox 27"/>
          <p:cNvSpPr txBox="1"/>
          <p:nvPr/>
        </p:nvSpPr>
        <p:spPr>
          <a:xfrm>
            <a:off x="548640" y="589788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Two layers, 64 hidden units, linear head with two outputs; layer stack from ml/gnn.py.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280160"/>
          <a:ext cx="11091672" cy="4535424"/>
        </p:xfrm>
        <a:graphic>
          <a:graphicData uri="http://schemas.openxmlformats.org/drawingml/2006/table">
            <a:tbl>
              <a:tblPr firstRow="0" bandRow="0">
                <a:tableStyleId>{5C22544A-7EE6-4342-B048-85BDC9FD1C3A}</a:tableStyleId>
              </a:tblPr>
              <a:tblGrid>
                <a:gridCol w="2103120"/>
                <a:gridCol w="8988552"/>
              </a:tblGrid>
              <a:tr h="566928">
                <a:tc>
                  <a:txBody>
                    <a:bodyPr wrap="square"/>
                    <a:lstStyle/>
                    <a:p>
                      <a:pPr algn="ctr"/>
                      <a:r>
                        <a:rPr sz="135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35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stratified 60/20/20 by label: 2,719 train, 906 validation, 908 test (114 fake); the same for every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50" b="1">
                          <a:solidFill>
                            <a:srgbClr val="0F172A"/>
                          </a:solidFill>
                        </a:rPr>
                        <a:t>Architecture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2 message-passing layers, 64 hidden units, dropout 0.3, linear head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50" b="1">
                          <a:solidFill>
                            <a:srgbClr val="0F172A"/>
                          </a:solidFill>
                        </a:rPr>
                        <a:t>Optimiser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Adam, learning rate 0.01, weight decay 0.0005, up to 160 epochs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50" b="1">
                          <a:solidFill>
                            <a:srgbClr val="0F172A"/>
                          </a:solidFill>
                        </a:rPr>
                        <a:t>Loss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cross-entropy with the fake class weighted by the square root of the imbalance (negatives / positives)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50" b="1">
                          <a:solidFill>
                            <a:srgbClr val="0F172A"/>
                          </a:solidFill>
                        </a:rPr>
                        <a:t>Model selection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best validation F1 epoch kept, early stopping with patience 40; threshold tuned on validation F1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50" b="1">
                          <a:solidFill>
                            <a:srgbClr val="0F172A"/>
                          </a:solidFill>
                        </a:rPr>
                        <a:t>Seeds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3 seeds (0, 1, 2) per model; tables report mean ± standard deviation on the test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50" b="1">
                          <a:solidFill>
                            <a:srgbClr val="0F172A"/>
                          </a:solidFill>
                        </a:rPr>
                        <a:t>Cost on this PC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12th Gen Intel Core i5-12500 (6 cores, 12 threads), 16 GB RAM, Windows 11 Pro, CPU only: per run GraphSAGE 11.7 s, GCN 10.4 s, GAT 40.6 s, baseline 3.0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TextBox 26"/>
          <p:cNvSpPr txBox="1"/>
          <p:nvPr/>
        </p:nvSpPr>
        <p:spPr>
          <a:xfrm>
            <a:off x="548640" y="6172200"/>
            <a:ext cx="11091672" cy="320040"/>
          </a:xfrm>
          <a:prstGeom prst="rect">
            <a:avLst/>
          </a:prstGeom>
          <a:noFill/>
        </p:spPr>
        <p:txBody>
          <a:bodyPr wrap="square" lIns="0" rIns="0" tIns="0" bIns="0" anchor="t">
            <a:spAutoFit/>
          </a:bodyPr>
          <a:lstStyle/>
          <a:p>
            <a:pPr algn="l">
              <a:spcAft>
                <a:spcPts val="400"/>
              </a:spcAft>
            </a:pPr>
            <a:r>
              <a:rPr sz="1200" b="0" i="1">
                <a:solidFill>
                  <a:srgbClr val="475569"/>
                </a:solidFill>
              </a:rPr>
              <a:t>Same settings for every architecture; nothing was tuned on the test split.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threshold, clusters and queue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a9_r2_11.png"/>
          <p:cNvPicPr>
            <a:picLocks noChangeAspect="1"/>
          </p:cNvPicPr>
          <p:nvPr/>
        </p:nvPicPr>
        <p:blipFill>
          <a:blip r:embed="rId1"/>
          <a:stretch>
            <a:fillRect/>
          </a:stretch>
        </p:blipFill>
        <p:spPr>
          <a:xfrm>
            <a:off x="548640" y="1306896"/>
            <a:ext cx="4754880" cy="4930007"/>
          </a:xfrm>
          <a:prstGeom prst="rect">
            <a:avLst/>
          </a:prstGeom>
        </p:spPr>
      </p:pic>
      <p:sp>
        <p:nvSpPr>
          <p:cNvPr id="27" name="TextBox 26"/>
          <p:cNvSpPr txBox="1"/>
          <p:nvPr/>
        </p:nvSpPr>
        <p:spPr>
          <a:xfrm>
            <a:off x="5486400" y="1234440"/>
            <a:ext cx="6172200" cy="2743200"/>
          </a:xfrm>
          <a:prstGeom prst="rect">
            <a:avLst/>
          </a:prstGeom>
          <a:noFill/>
        </p:spPr>
        <p:txBody>
          <a:bodyPr wrap="square" lIns="0" rIns="0" tIns="0" bIns="0" anchor="t">
            <a:spAutoFit/>
          </a:bodyPr>
          <a:lstStyle/>
          <a:p>
            <a:pPr algn="l" marL="256032" indent="-201168">
              <a:spcAft>
                <a:spcPts val="600"/>
              </a:spcAft>
              <a:buChar char="•"/>
            </a:pPr>
            <a:r>
              <a:rPr sz="1250" b="1" i="0">
                <a:solidFill>
                  <a:srgbClr val="0F172A"/>
                </a:solidFill>
              </a:rPr>
              <a:t>Verdict.</a:t>
            </a:r>
            <a:r>
              <a:rPr sz="1250" b="0" i="0">
                <a:solidFill>
                  <a:srgbClr val="0F172A"/>
                </a:solidFill>
              </a:rPr>
              <a:t> An account is flagged when its fake-probability is at or above the threshold tuned on validation F1 (0.5 for the served GraphSAGE).</a:t>
            </a:r>
          </a:p>
          <a:p>
            <a:pPr algn="l" marL="256032" indent="-201168">
              <a:spcAft>
                <a:spcPts val="600"/>
              </a:spcAft>
              <a:buChar char="•"/>
            </a:pPr>
            <a:r>
              <a:rPr sz="1250" b="1" i="0">
                <a:solidFill>
                  <a:srgbClr val="0F172A"/>
                </a:solidFill>
              </a:rPr>
              <a:t>Clusters.</a:t>
            </a:r>
            <a:r>
              <a:rPr sz="1250" b="0" i="0">
                <a:solidFill>
                  <a:srgbClr val="0F172A"/>
                </a:solidFill>
              </a:rPr>
              <a:t> Candidates at 0.30 or more are linked to their 5 most cosine-similar candidates plus every real tie; Louvain; groups under 5 dropped. A group is coordinated when tie density is at least 5 percent, otherwise a loose group.</a:t>
            </a:r>
          </a:p>
          <a:p>
            <a:pPr algn="l" marL="256032" indent="-201168">
              <a:spcAft>
                <a:spcPts val="600"/>
              </a:spcAft>
              <a:buChar char="•"/>
            </a:pPr>
            <a:r>
              <a:rPr sz="1250" b="1" i="0">
                <a:solidFill>
                  <a:srgbClr val="0F172A"/>
                </a:solidFill>
              </a:rPr>
              <a:t>Queue.</a:t>
            </a:r>
            <a:r>
              <a:rPr sz="1250" b="0" i="0">
                <a:solidFill>
                  <a:srgbClr val="0F172A"/>
                </a:solidFill>
              </a:rPr>
              <a:t> Flagged accounts and undecided clusters, highest score first. A cluster decision applies to all members; used decisions cannot be undone.</a:t>
            </a:r>
          </a:p>
          <a:p>
            <a:pPr algn="l" marL="256032" indent="-201168">
              <a:spcAft>
                <a:spcPts val="400"/>
              </a:spcAft>
              <a:buChar char="•"/>
            </a:pPr>
            <a:r>
              <a:rPr sz="1250" b="1" i="0">
                <a:solidFill>
                  <a:srgbClr val="0F172A"/>
                </a:solidFill>
              </a:rPr>
              <a:t>Sweep (served scores, test split).</a:t>
            </a:r>
            <a:r>
              <a:rPr sz="1250" b="0" i="0">
                <a:solidFill>
                  <a:srgbClr val="0F172A"/>
                </a:solidFill>
              </a:rPr>
              <a:t> At 0.3: precision 0.908, recall 0.947; at 0.5: 0.972 / 0.921; at 0.9: 0.989 / 0.798.</a:t>
            </a:r>
          </a:p>
        </p:txBody>
      </p:sp>
      <p:graphicFrame>
        <p:nvGraphicFramePr>
          <p:cNvPr id="28" name="Table 27"/>
          <p:cNvGraphicFramePr>
            <a:graphicFrameLocks noGrp="1"/>
          </p:cNvGraphicFramePr>
          <p:nvPr/>
        </p:nvGraphicFramePr>
        <p:xfrm>
          <a:off x="5486400" y="3931920"/>
          <a:ext cx="6172200" cy="2057400"/>
        </p:xfrm>
        <a:graphic>
          <a:graphicData uri="http://schemas.openxmlformats.org/drawingml/2006/table">
            <a:tbl>
              <a:tblPr firstRow="0" bandRow="0">
                <a:tableStyleId>{5C22544A-7EE6-4342-B048-85BDC9FD1C3A}</a:tableStyleId>
              </a:tblPr>
              <a:tblGrid>
                <a:gridCol w="3108960"/>
                <a:gridCol w="1737360"/>
                <a:gridCol w="1325880"/>
              </a:tblGrid>
              <a:tr h="411480">
                <a:tc>
                  <a:txBody>
                    <a:bodyPr wrap="square"/>
                    <a:lstStyle/>
                    <a:p>
                      <a:pPr algn="ctr"/>
                      <a:r>
                        <a:rPr sz="1250" b="1">
                          <a:solidFill>
                            <a:srgbClr val="FFFFFF"/>
                          </a:solidFill>
                        </a:rPr>
                        <a:t>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Threshold (seed 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Test F1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11480">
                <a:tc>
                  <a:txBody>
                    <a:bodyPr wrap="square"/>
                    <a:lstStyle/>
                    <a:p>
                      <a:pPr algn="l"/>
                      <a:r>
                        <a:rPr sz="1250" b="0">
                          <a:solidFill>
                            <a:srgbClr val="0F172A"/>
                          </a:solidFill>
                        </a:rPr>
                        <a:t>Feature-only baseline (MLP)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0.500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0.827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11480">
                <a:tc>
                  <a:txBody>
                    <a:bodyPr wrap="square"/>
                    <a:lstStyle/>
                    <a:p>
                      <a:pPr algn="l"/>
                      <a:r>
                        <a:rPr sz="1250" b="0">
                          <a:solidFill>
                            <a:srgbClr val="0F172A"/>
                          </a:solidFill>
                        </a:rPr>
                        <a:t>GCN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0.675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0.837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11480">
                <a:tc>
                  <a:txBody>
                    <a:bodyPr wrap="square"/>
                    <a:lstStyle/>
                    <a:p>
                      <a:pPr algn="l"/>
                      <a:r>
                        <a:rPr sz="1250" b="0">
                          <a:solidFill>
                            <a:srgbClr val="0F172A"/>
                          </a:solidFill>
                        </a:rPr>
                        <a:t>GAT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0.475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11480">
                <a:tc>
                  <a:txBody>
                    <a:bodyPr wrap="square"/>
                    <a:lstStyle/>
                    <a:p>
                      <a:pPr algn="l"/>
                      <a:r>
                        <a:rPr sz="1250" b="0">
                          <a:solidFill>
                            <a:srgbClr val="0F172A"/>
                          </a:solidFill>
                        </a:rPr>
                        <a:t>GraphSAGE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0.500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0.939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9" name="TextBox 28"/>
          <p:cNvSpPr txBox="1"/>
          <p:nvPr/>
        </p:nvSpPr>
        <p:spPr>
          <a:xfrm>
            <a:off x="5486400" y="6126480"/>
            <a:ext cx="6172200" cy="274320"/>
          </a:xfrm>
          <a:prstGeom prst="rect">
            <a:avLst/>
          </a:prstGeom>
          <a:noFill/>
        </p:spPr>
        <p:txBody>
          <a:bodyPr wrap="square" lIns="0" rIns="0" tIns="0" bIns="0" anchor="t">
            <a:spAutoFit/>
          </a:bodyPr>
          <a:lstStyle/>
          <a:p>
            <a:pPr algn="l">
              <a:spcAft>
                <a:spcPts val="400"/>
              </a:spcAft>
            </a:pPr>
            <a:r>
              <a:rPr sz="1100" b="0" i="1">
                <a:solidFill>
                  <a:srgbClr val="475569"/>
                </a:solidFill>
              </a:rPr>
              <a:t>Thresholds were chosen on the validation set only.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a9_r2_04.png"/>
          <p:cNvPicPr>
            <a:picLocks noChangeAspect="1"/>
          </p:cNvPicPr>
          <p:nvPr/>
        </p:nvPicPr>
        <p:blipFill>
          <a:blip r:embed="rId1"/>
          <a:stretch>
            <a:fillRect/>
          </a:stretch>
        </p:blipFill>
        <p:spPr>
          <a:xfrm>
            <a:off x="1013576" y="1188720"/>
            <a:ext cx="5470927" cy="5166360"/>
          </a:xfrm>
          <a:prstGeom prst="rect">
            <a:avLst/>
          </a:prstGeom>
        </p:spPr>
      </p:pic>
      <p:graphicFrame>
        <p:nvGraphicFramePr>
          <p:cNvPr id="27" name="Table 26"/>
          <p:cNvGraphicFramePr>
            <a:graphicFrameLocks noGrp="1"/>
          </p:cNvGraphicFramePr>
          <p:nvPr/>
        </p:nvGraphicFramePr>
        <p:xfrm>
          <a:off x="7223760" y="1325880"/>
          <a:ext cx="4416551" cy="4526280"/>
        </p:xfrm>
        <a:graphic>
          <a:graphicData uri="http://schemas.openxmlformats.org/drawingml/2006/table">
            <a:tbl>
              <a:tblPr firstRow="0" bandRow="0">
                <a:tableStyleId>{5C22544A-7EE6-4342-B048-85BDC9FD1C3A}</a:tableStyleId>
              </a:tblPr>
              <a:tblGrid>
                <a:gridCol w="2331720"/>
                <a:gridCol w="2084831"/>
              </a:tblGrid>
              <a:tr h="502920">
                <a:tc>
                  <a:txBody>
                    <a:bodyPr wrap="square"/>
                    <a:lstStyle/>
                    <a:p>
                      <a:pPr algn="ctr"/>
                      <a:r>
                        <a:rPr sz="115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150" b="1">
                          <a:solidFill>
                            <a:srgbClr val="0F172A"/>
                          </a:solidFill>
                        </a:rPr>
                        <a:t>ml/data.py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graph builder, 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50" b="1">
                          <a:solidFill>
                            <a:srgbClr val="0F172A"/>
                          </a:solidFill>
                        </a:rPr>
                        <a:t>ml/gnn.py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GCN, GAT, GraphSAGE, metrics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150" b="1">
                          <a:solidFill>
                            <a:srgbClr val="0F172A"/>
                          </a:solidFill>
                        </a:rPr>
                        <a:t>ml/train.py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four models x 3 seeds, artefacts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50" b="1">
                          <a:solidFill>
                            <a:srgbClr val="0F172A"/>
                          </a:solidFill>
                        </a:rPr>
                        <a:t>ml/clustering.py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Louvain clusters, recovery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150" b="1">
                          <a:solidFill>
                            <a:srgbClr val="0F172A"/>
                          </a:solidFill>
                        </a:rPr>
                        <a:t>ml/eval.py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scalability sweep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50" b="1">
                          <a:solidFill>
                            <a:srgbClr val="0F172A"/>
                          </a:solidFill>
                        </a:rPr>
                        <a:t>backend/app/routes/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core, accounts, clusters, queue,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150" b="1">
                          <a:solidFill>
                            <a:srgbClr val="0F172A"/>
                          </a:solidFill>
                        </a:rPr>
                        <a:t>backend/app/services/store.py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loads artefacts once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150" b="1">
                          <a:solidFill>
                            <a:srgbClr val="0F172A"/>
                          </a:solidFill>
                        </a:rPr>
                        <a:t>frontend/src/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pages, kit components, graph view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7223760" y="5943600"/>
            <a:ext cx="4416552" cy="457200"/>
          </a:xfrm>
          <a:prstGeom prst="rect">
            <a:avLst/>
          </a:prstGeom>
          <a:noFill/>
        </p:spPr>
        <p:txBody>
          <a:bodyPr wrap="square" lIns="0" rIns="0" tIns="0" bIns="0" anchor="t">
            <a:spAutoFit/>
          </a:bodyPr>
          <a:lstStyle/>
          <a:p>
            <a:pPr algn="l">
              <a:spcAft>
                <a:spcPts val="400"/>
              </a:spcAft>
            </a:pPr>
            <a:r>
              <a:rPr sz="1150" b="0" i="1">
                <a:solidFill>
                  <a:srgbClr val="475569"/>
                </a:solidFill>
              </a:rPr>
              <a:t>Level-1 data-flow diagram of the running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a9_r2_09.png"/>
          <p:cNvPicPr>
            <a:picLocks noChangeAspect="1"/>
          </p:cNvPicPr>
          <p:nvPr/>
        </p:nvPicPr>
        <p:blipFill>
          <a:blip r:embed="rId1"/>
          <a:stretch>
            <a:fillRect/>
          </a:stretch>
        </p:blipFill>
        <p:spPr>
          <a:xfrm>
            <a:off x="644530" y="1188720"/>
            <a:ext cx="5294618" cy="4526280"/>
          </a:xfrm>
          <a:prstGeom prst="rect">
            <a:avLst/>
          </a:prstGeom>
        </p:spPr>
      </p:pic>
      <p:pic>
        <p:nvPicPr>
          <p:cNvPr id="27" name="Picture 26" descr="a9_r2_06.png"/>
          <p:cNvPicPr>
            <a:picLocks noChangeAspect="1"/>
          </p:cNvPicPr>
          <p:nvPr/>
        </p:nvPicPr>
        <p:blipFill>
          <a:blip r:embed="rId4"/>
          <a:stretch>
            <a:fillRect/>
          </a:stretch>
        </p:blipFill>
        <p:spPr>
          <a:xfrm>
            <a:off x="6226584" y="1188720"/>
            <a:ext cx="5377630" cy="4754880"/>
          </a:xfrm>
          <a:prstGeom prst="rect">
            <a:avLst/>
          </a:prstGeom>
        </p:spPr>
      </p:pic>
      <p:sp>
        <p:nvSpPr>
          <p:cNvPr id="28" name="TextBox 27"/>
          <p:cNvSpPr txBox="1"/>
          <p:nvPr/>
        </p:nvSpPr>
        <p:spPr>
          <a:xfrm>
            <a:off x="548640" y="5806440"/>
            <a:ext cx="5486400" cy="640080"/>
          </a:xfrm>
          <a:prstGeom prst="rect">
            <a:avLst/>
          </a:prstGeom>
          <a:noFill/>
        </p:spPr>
        <p:txBody>
          <a:bodyPr wrap="square" lIns="0" rIns="0" tIns="0" bIns="0" anchor="t">
            <a:spAutoFit/>
          </a:bodyPr>
          <a:lstStyle/>
          <a:p>
            <a:pPr algn="l">
              <a:spcAft>
                <a:spcPts val="400"/>
              </a:spcAft>
            </a:pPr>
            <a:r>
              <a:rPr sz="1150" b="0" i="1">
                <a:solidFill>
                  <a:srgbClr val="475569"/>
                </a:solidFill>
              </a:rPr>
              <a:t>Three SQLite tables: users, reviews (moderator decisions) and training_runs. Graph, scores and clusters are files.</a:t>
            </a:r>
          </a:p>
        </p:txBody>
      </p:sp>
      <p:sp>
        <p:nvSpPr>
          <p:cNvPr id="29" name="TextBox 28"/>
          <p:cNvSpPr txBox="1"/>
          <p:nvPr/>
        </p:nvSpPr>
        <p:spPr>
          <a:xfrm>
            <a:off x="6172200" y="5989320"/>
            <a:ext cx="5486400" cy="457200"/>
          </a:xfrm>
          <a:prstGeom prst="rect">
            <a:avLst/>
          </a:prstGeom>
          <a:noFill/>
        </p:spPr>
        <p:txBody>
          <a:bodyPr wrap="square" lIns="0" rIns="0" tIns="0" bIns="0" anchor="t">
            <a:spAutoFit/>
          </a:bodyPr>
          <a:lstStyle/>
          <a:p>
            <a:pPr algn="l">
              <a:spcAft>
                <a:spcPts val="400"/>
              </a:spcAft>
            </a:pPr>
            <a:r>
              <a:rPr sz="1150" b="0" i="1">
                <a:solidFill>
                  <a:srgbClr val="475569"/>
                </a:solidFill>
              </a:rPr>
              <a:t>Core classes of the pipeline, the models and the API store.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754880"/>
        </p:xfrm>
        <a:graphic>
          <a:graphicData uri="http://schemas.openxmlformats.org/drawingml/2006/table">
            <a:tbl>
              <a:tblPr firstRow="0" bandRow="0">
                <a:tableStyleId>{5C22544A-7EE6-4342-B048-85BDC9FD1C3A}</a:tableStyleId>
              </a:tblPr>
              <a:tblGrid>
                <a:gridCol w="2377440"/>
                <a:gridCol w="8714232"/>
              </a:tblGrid>
              <a:tr h="594360">
                <a:tc>
                  <a:txBody>
                    <a:bodyPr wrap="square"/>
                    <a:lstStyle/>
                    <a:p>
                      <a:pPr algn="ctr"/>
                      <a:r>
                        <a:rPr sz="14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94360">
                <a:tc>
                  <a:txBody>
                    <a:bodyPr wrap="square"/>
                    <a:lstStyle/>
                    <a:p>
                      <a:pPr algn="l"/>
                      <a:r>
                        <a:rPr sz="1400" b="1">
                          <a:solidFill>
                            <a:srgbClr val="0F172A"/>
                          </a:solidFill>
                        </a:rPr>
                        <a:t>Language and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Python 3.11, FastAPI, Uvicorn, SQLAlchemy 2 with SQLite, PyJWT (HS256, 12 hours), bcrypt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Graph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PyTorch (CPU) sparse tensors: GCN, GraphSAGE and GAT layers written directly, no torch-geometric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Analysis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NumPy, pandas, scikit-learn (metrics, ROC), networkx (Louvain communities)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SNAP Facebook circles, Instagram and Twitter labelled sets (all small enough to commit), seeded injected botnets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React 18, Vite 5, React Router 6, Recharts, react-force-graph-2d, Framer Motion, GSAP; kit V4 Soft Pastel Calm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Testing and capture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scripts/smoke_test.py (36 checks, scratch database), ui_checks.py, capture_screens.py (Playwright, 1440 x 900)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setup.bat / run.bat on Windows; ports 8309 (API) and 5309 (web app)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34440"/>
          <a:ext cx="11091672" cy="4937760"/>
        </p:xfrm>
        <a:graphic>
          <a:graphicData uri="http://schemas.openxmlformats.org/drawingml/2006/table">
            <a:tbl>
              <a:tblPr firstRow="0" bandRow="0">
                <a:tableStyleId>{5C22544A-7EE6-4342-B048-85BDC9FD1C3A}</a:tableStyleId>
              </a:tblPr>
              <a:tblGrid>
                <a:gridCol w="4937760"/>
                <a:gridCol w="1371600"/>
                <a:gridCol w="4782312"/>
              </a:tblGrid>
              <a:tr h="493776">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93776">
                <a:tc>
                  <a:txBody>
                    <a:bodyPr wrap="square"/>
                    <a:lstStyle/>
                    <a:p>
                      <a:pPr algn="l"/>
                      <a:r>
                        <a:rPr sz="1250" b="0">
                          <a:solidFill>
                            <a:srgbClr val="0F172A"/>
                          </a:solidFill>
                        </a:rPr>
                        <a:t>Graph builder and 23 node 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4,533 accounts, 94,456 ties, documented schema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93776">
                <a:tc>
                  <a:txBody>
                    <a:bodyPr wrap="square"/>
                    <a:lstStyle/>
                    <a:p>
                      <a:pPr algn="l"/>
                      <a:r>
                        <a:rPr sz="1250" b="0">
                          <a:solidFill>
                            <a:srgbClr val="0F172A"/>
                          </a:solidFill>
                        </a:rPr>
                        <a:t>GCN, GAT, GraphSAGE and no-graph baseline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one split, 3 seeds, six metrics each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93776">
                <a:tc>
                  <a:txBody>
                    <a:bodyPr wrap="square"/>
                    <a:lstStyle/>
                    <a:p>
                      <a:pPr algn="l"/>
                      <a:r>
                        <a:rPr sz="1250" b="0">
                          <a:solidFill>
                            <a:srgbClr val="0F172A"/>
                          </a:solidFill>
                        </a:rPr>
                        <a:t>Botnet clusters from embeddings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8/8 injected botnets recovered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93776">
                <a:tc>
                  <a:txBody>
                    <a:bodyPr wrap="square"/>
                    <a:lstStyle/>
                    <a:p>
                      <a:pPr algn="l"/>
                      <a:r>
                        <a:rPr sz="1250" b="0">
                          <a:solidFill>
                            <a:srgbClr val="0F172A"/>
                          </a:solidFill>
                        </a:rPr>
                        <a:t>API (18 routes), JWT roles, SQLite, retraining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36/36 smoke checks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93776">
                <a:tc>
                  <a:txBody>
                    <a:bodyPr wrap="square"/>
                    <a:lstStyle/>
                    <a:p>
                      <a:pPr algn="l"/>
                      <a:r>
                        <a:rPr sz="1250" b="0">
                          <a:solidFill>
                            <a:srgbClr val="0F172A"/>
                          </a:solidFill>
                        </a:rPr>
                        <a:t>Moderator queue and retraining on decisions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test split never touched; F1 before / after logged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93776">
                <a:tc>
                  <a:txBody>
                    <a:bodyPr wrap="square"/>
                    <a:lstStyle/>
                    <a:p>
                      <a:pPr algn="l"/>
                      <a:r>
                        <a:rPr sz="1250" b="0">
                          <a:solidFill>
                            <a:srgbClr val="0F172A"/>
                          </a:solidFill>
                        </a:rPr>
                        <a:t>React web app, 10 screens, light and dark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18 real screenshots at 1440 x 900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93776">
                <a:tc>
                  <a:txBody>
                    <a:bodyPr wrap="square"/>
                    <a:lstStyle/>
                    <a:p>
                      <a:pPr algn="l"/>
                      <a:r>
                        <a:rPr sz="1250" b="0">
                          <a:solidFill>
                            <a:srgbClr val="0F172A"/>
                          </a:solidFill>
                        </a:rPr>
                        <a:t>Scalability sweep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to 36,264 accounts and 755,648 ties on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93776">
                <a:tc>
                  <a:txBody>
                    <a:bodyPr wrap="square"/>
                    <a:lstStyle/>
                    <a:p>
                      <a:pPr algn="l"/>
                      <a:r>
                        <a:rPr sz="1250" b="0">
                          <a:solidFill>
                            <a:srgbClr val="0F172A"/>
                          </a:solidFill>
                        </a:rPr>
                        <a:t>Text / language features, temporal graphs, live ingestion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outside the implemented scope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93776">
                <a:tc>
                  <a:txBody>
                    <a:bodyPr wrap="square"/>
                    <a:lstStyle/>
                    <a:p>
                      <a:pPr algn="l"/>
                      <a:r>
                        <a:rPr sz="1250" b="0">
                          <a:solidFill>
                            <a:srgbClr val="0F172A"/>
                          </a:solidFill>
                        </a:rPr>
                        <a:t>Prufer / MST structural features from the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listed as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does the graph help?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578358"/>
          </a:xfrm>
          <a:prstGeom prst="rect">
            <a:avLst/>
          </a:prstGeom>
          <a:noFill/>
        </p:spPr>
        <p:txBody>
          <a:bodyPr wrap="square" lIns="0" rIns="0" tIns="0" bIns="0" anchor="ctr">
            <a:spAutoFit/>
          </a:bodyPr>
          <a:lstStyle/>
          <a:p>
            <a:pPr algn="l">
              <a:spcAft>
                <a:spcPts val="400"/>
              </a:spcAft>
            </a:pPr>
            <a:r>
              <a:rPr sz="2400" b="1" i="0">
                <a:solidFill>
                  <a:srgbClr val="0F172A"/>
                </a:solidFill>
              </a:rPr>
              <a:t>0.939</a:t>
            </a:r>
          </a:p>
        </p:txBody>
      </p:sp>
      <p:sp>
        <p:nvSpPr>
          <p:cNvPr id="29" name="TextBox 28"/>
          <p:cNvSpPr txBox="1"/>
          <p:nvPr/>
        </p:nvSpPr>
        <p:spPr>
          <a:xfrm>
            <a:off x="749808" y="1844344"/>
            <a:ext cx="2331720" cy="399592"/>
          </a:xfrm>
          <a:prstGeom prst="rect">
            <a:avLst/>
          </a:prstGeom>
          <a:noFill/>
        </p:spPr>
        <p:txBody>
          <a:bodyPr wrap="square" lIns="0" rIns="0" tIns="0" bIns="0" anchor="t">
            <a:spAutoFit/>
          </a:bodyPr>
          <a:lstStyle/>
          <a:p>
            <a:pPr algn="l">
              <a:spcAft>
                <a:spcPts val="400"/>
              </a:spcAft>
            </a:pPr>
            <a:r>
              <a:rPr sz="1150" b="0" i="0">
                <a:solidFill>
                  <a:srgbClr val="475569"/>
                </a:solidFill>
              </a:rPr>
              <a:t>F1, GraphSAGE (served)</a:t>
            </a:r>
          </a:p>
        </p:txBody>
      </p:sp>
      <p:sp>
        <p:nvSpPr>
          <p:cNvPr id="30" name="Rounded Rectangle 29"/>
          <p:cNvSpPr/>
          <p:nvPr/>
        </p:nvSpPr>
        <p:spPr>
          <a:xfrm>
            <a:off x="3374136" y="1234440"/>
            <a:ext cx="260604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0515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578358"/>
          </a:xfrm>
          <a:prstGeom prst="rect">
            <a:avLst/>
          </a:prstGeom>
          <a:noFill/>
        </p:spPr>
        <p:txBody>
          <a:bodyPr wrap="square" lIns="0" rIns="0" tIns="0" bIns="0" anchor="ctr">
            <a:spAutoFit/>
          </a:bodyPr>
          <a:lstStyle/>
          <a:p>
            <a:pPr algn="l">
              <a:spcAft>
                <a:spcPts val="400"/>
              </a:spcAft>
            </a:pPr>
            <a:r>
              <a:rPr sz="2400" b="1" i="0">
                <a:solidFill>
                  <a:srgbClr val="0F172A"/>
                </a:solidFill>
              </a:rPr>
              <a:t>0.827</a:t>
            </a:r>
          </a:p>
        </p:txBody>
      </p:sp>
      <p:sp>
        <p:nvSpPr>
          <p:cNvPr id="33" name="TextBox 32"/>
          <p:cNvSpPr txBox="1"/>
          <p:nvPr/>
        </p:nvSpPr>
        <p:spPr>
          <a:xfrm>
            <a:off x="3575304" y="1844344"/>
            <a:ext cx="2331720" cy="399592"/>
          </a:xfrm>
          <a:prstGeom prst="rect">
            <a:avLst/>
          </a:prstGeom>
          <a:noFill/>
        </p:spPr>
        <p:txBody>
          <a:bodyPr wrap="square" lIns="0" rIns="0" tIns="0" bIns="0" anchor="t">
            <a:spAutoFit/>
          </a:bodyPr>
          <a:lstStyle/>
          <a:p>
            <a:pPr algn="l">
              <a:spcAft>
                <a:spcPts val="400"/>
              </a:spcAft>
            </a:pPr>
            <a:r>
              <a:rPr sz="1150" b="0" i="0">
                <a:solidFill>
                  <a:srgbClr val="475569"/>
                </a:solidFill>
              </a:rPr>
              <a:t>F1, no-graph baseline</a:t>
            </a:r>
          </a:p>
        </p:txBody>
      </p:sp>
      <p:sp>
        <p:nvSpPr>
          <p:cNvPr id="34" name="Rounded Rectangle 33"/>
          <p:cNvSpPr/>
          <p:nvPr/>
        </p:nvSpPr>
        <p:spPr>
          <a:xfrm>
            <a:off x="6199631" y="1234440"/>
            <a:ext cx="260604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578358"/>
          </a:xfrm>
          <a:prstGeom prst="rect">
            <a:avLst/>
          </a:prstGeom>
          <a:noFill/>
        </p:spPr>
        <p:txBody>
          <a:bodyPr wrap="square" lIns="0" rIns="0" tIns="0" bIns="0" anchor="ctr">
            <a:spAutoFit/>
          </a:bodyPr>
          <a:lstStyle/>
          <a:p>
            <a:pPr algn="l">
              <a:spcAft>
                <a:spcPts val="400"/>
              </a:spcAft>
            </a:pPr>
            <a:r>
              <a:rPr sz="2400" b="1" i="0">
                <a:solidFill>
                  <a:srgbClr val="0F172A"/>
                </a:solidFill>
              </a:rPr>
              <a:t>+11.2 pts</a:t>
            </a:r>
          </a:p>
        </p:txBody>
      </p:sp>
      <p:sp>
        <p:nvSpPr>
          <p:cNvPr id="37" name="TextBox 36"/>
          <p:cNvSpPr txBox="1"/>
          <p:nvPr/>
        </p:nvSpPr>
        <p:spPr>
          <a:xfrm>
            <a:off x="6400799" y="1844344"/>
            <a:ext cx="2331720" cy="399592"/>
          </a:xfrm>
          <a:prstGeom prst="rect">
            <a:avLst/>
          </a:prstGeom>
          <a:noFill/>
        </p:spPr>
        <p:txBody>
          <a:bodyPr wrap="square" lIns="0" rIns="0" tIns="0" bIns="0" anchor="t">
            <a:spAutoFit/>
          </a:bodyPr>
          <a:lstStyle/>
          <a:p>
            <a:pPr algn="l">
              <a:spcAft>
                <a:spcPts val="400"/>
              </a:spcAft>
            </a:pPr>
            <a:r>
              <a:rPr sz="1150" b="0" i="0">
                <a:solidFill>
                  <a:srgbClr val="475569"/>
                </a:solidFill>
              </a:rPr>
              <a:t>GraphSAGE over baseline</a:t>
            </a:r>
          </a:p>
        </p:txBody>
      </p:sp>
      <p:sp>
        <p:nvSpPr>
          <p:cNvPr id="38" name="Rounded Rectangle 37"/>
          <p:cNvSpPr/>
          <p:nvPr/>
        </p:nvSpPr>
        <p:spPr>
          <a:xfrm>
            <a:off x="9025128" y="1234440"/>
            <a:ext cx="2606040"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578358"/>
          </a:xfrm>
          <a:prstGeom prst="rect">
            <a:avLst/>
          </a:prstGeom>
          <a:noFill/>
        </p:spPr>
        <p:txBody>
          <a:bodyPr wrap="square" lIns="0" rIns="0" tIns="0" bIns="0" anchor="ctr">
            <a:spAutoFit/>
          </a:bodyPr>
          <a:lstStyle/>
          <a:p>
            <a:pPr algn="l">
              <a:spcAft>
                <a:spcPts val="400"/>
              </a:spcAft>
            </a:pPr>
            <a:r>
              <a:rPr sz="2400" b="1" i="0">
                <a:solidFill>
                  <a:srgbClr val="0F172A"/>
                </a:solidFill>
              </a:rPr>
              <a:t>8 / 8</a:t>
            </a:r>
          </a:p>
        </p:txBody>
      </p:sp>
      <p:sp>
        <p:nvSpPr>
          <p:cNvPr id="41" name="TextBox 40"/>
          <p:cNvSpPr txBox="1"/>
          <p:nvPr/>
        </p:nvSpPr>
        <p:spPr>
          <a:xfrm>
            <a:off x="9226296" y="1844344"/>
            <a:ext cx="2331720" cy="399592"/>
          </a:xfrm>
          <a:prstGeom prst="rect">
            <a:avLst/>
          </a:prstGeom>
          <a:noFill/>
        </p:spPr>
        <p:txBody>
          <a:bodyPr wrap="square" lIns="0" rIns="0" tIns="0" bIns="0" anchor="t">
            <a:spAutoFit/>
          </a:bodyPr>
          <a:lstStyle/>
          <a:p>
            <a:pPr algn="l">
              <a:spcAft>
                <a:spcPts val="400"/>
              </a:spcAft>
            </a:pPr>
            <a:r>
              <a:rPr sz="1150" b="0" i="0">
                <a:solidFill>
                  <a:srgbClr val="475569"/>
                </a:solidFill>
              </a:rPr>
              <a:t>injected botnets recovered</a:t>
            </a:r>
          </a:p>
        </p:txBody>
      </p:sp>
      <p:graphicFrame>
        <p:nvGraphicFramePr>
          <p:cNvPr id="42" name="Chart 41"/>
          <p:cNvGraphicFramePr>
            <a:graphicFrameLocks noGrp="1"/>
          </p:cNvGraphicFramePr>
          <p:nvPr/>
        </p:nvGraphicFramePr>
        <p:xfrm>
          <a:off x="548640" y="2423160"/>
          <a:ext cx="5852160" cy="2926080"/>
        </p:xfrm>
        <a:graphic>
          <a:graphicData uri="http://schemas.openxmlformats.org/drawingml/2006/chart">
            <c:chart xmlns:c="http://schemas.openxmlformats.org/drawingml/2006/chart" r:id="rId1"/>
          </a:graphicData>
        </a:graphic>
      </p:graphicFrame>
      <p:graphicFrame>
        <p:nvGraphicFramePr>
          <p:cNvPr id="43" name="Table 42"/>
          <p:cNvGraphicFramePr>
            <a:graphicFrameLocks noGrp="1"/>
          </p:cNvGraphicFramePr>
          <p:nvPr/>
        </p:nvGraphicFramePr>
        <p:xfrm>
          <a:off x="6675120" y="2514600"/>
          <a:ext cx="4965192" cy="1920240"/>
        </p:xfrm>
        <a:graphic>
          <a:graphicData uri="http://schemas.openxmlformats.org/drawingml/2006/table">
            <a:tbl>
              <a:tblPr firstRow="0" bandRow="0">
                <a:tableStyleId>{5C22544A-7EE6-4342-B048-85BDC9FD1C3A}</a:tableStyleId>
              </a:tblPr>
              <a:tblGrid>
                <a:gridCol w="2011680"/>
                <a:gridCol w="914400"/>
                <a:gridCol w="1097280"/>
                <a:gridCol w="941832"/>
              </a:tblGrid>
              <a:tr h="384048">
                <a:tc>
                  <a:txBody>
                    <a:bodyPr wrap="square"/>
                    <a:lstStyle/>
                    <a:p>
                      <a:pPr algn="ctr"/>
                      <a:r>
                        <a:rPr sz="1250" b="1">
                          <a:solidFill>
                            <a:srgbClr val="FFFFFF"/>
                          </a:solidFill>
                        </a:rPr>
                        <a:t>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Acc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ROC-AUC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PR-AUC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384048">
                <a:tc>
                  <a:txBody>
                    <a:bodyPr wrap="square"/>
                    <a:lstStyle/>
                    <a:p>
                      <a:pPr algn="l"/>
                      <a:r>
                        <a:rPr sz="1250" b="0">
                          <a:solidFill>
                            <a:srgbClr val="0F172A"/>
                          </a:solidFill>
                        </a:rPr>
                        <a:t>Baseline (MLP)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0.959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0.967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0.907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384048">
                <a:tc>
                  <a:txBody>
                    <a:bodyPr wrap="square"/>
                    <a:lstStyle/>
                    <a:p>
                      <a:pPr algn="l"/>
                      <a:r>
                        <a:rPr sz="1250" b="0">
                          <a:solidFill>
                            <a:srgbClr val="0F172A"/>
                          </a:solidFill>
                        </a:rPr>
                        <a:t>GCN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0.964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0.988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0.939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384048">
                <a:tc>
                  <a:txBody>
                    <a:bodyPr wrap="square"/>
                    <a:lstStyle/>
                    <a:p>
                      <a:pPr algn="l"/>
                      <a:r>
                        <a:rPr sz="1250" b="0">
                          <a:solidFill>
                            <a:srgbClr val="0F172A"/>
                          </a:solidFill>
                        </a:rPr>
                        <a:t>GAT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0.977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0.978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250" b="0">
                          <a:solidFill>
                            <a:srgbClr val="0F172A"/>
                          </a:solidFill>
                        </a:rPr>
                        <a:t>0.946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384048">
                <a:tc>
                  <a:txBody>
                    <a:bodyPr wrap="square"/>
                    <a:lstStyle/>
                    <a:p>
                      <a:pPr algn="l"/>
                      <a:r>
                        <a:rPr sz="1250" b="0">
                          <a:solidFill>
                            <a:srgbClr val="0F172A"/>
                          </a:solidFill>
                        </a:rPr>
                        <a:t>GraphSAGE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0.985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0.990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250" b="0">
                          <a:solidFill>
                            <a:srgbClr val="0F172A"/>
                          </a:solidFill>
                        </a:rPr>
                        <a:t>0.974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44" name="TextBox 43"/>
          <p:cNvSpPr txBox="1"/>
          <p:nvPr/>
        </p:nvSpPr>
        <p:spPr>
          <a:xfrm>
            <a:off x="6675120" y="4572000"/>
            <a:ext cx="4965192" cy="914400"/>
          </a:xfrm>
          <a:prstGeom prst="rect">
            <a:avLst/>
          </a:prstGeom>
          <a:noFill/>
        </p:spPr>
        <p:txBody>
          <a:bodyPr wrap="square" lIns="0" rIns="0" tIns="0" bIns="0" anchor="t">
            <a:spAutoFit/>
          </a:bodyPr>
          <a:lstStyle/>
          <a:p>
            <a:pPr algn="l">
              <a:spcAft>
                <a:spcPts val="400"/>
              </a:spcAft>
            </a:pPr>
            <a:r>
              <a:rPr sz="1200" b="0" i="0">
                <a:solidFill>
                  <a:srgbClr val="475569"/>
                </a:solidFill>
              </a:rPr>
              <a:t>GraphSAGE seed 0 on the 908 test accounts: 105 of 114 fake caught, 9 missed, 3 genuine wrongly flagged. GCN gains little (+1.0) and its recall (0.743) is below the baseline's.</a:t>
            </a:r>
          </a:p>
        </p:txBody>
      </p:sp>
      <p:sp>
        <p:nvSpPr>
          <p:cNvPr id="45" name="TextBox 44"/>
          <p:cNvSpPr txBox="1"/>
          <p:nvPr/>
        </p:nvSpPr>
        <p:spPr>
          <a:xfrm>
            <a:off x="548640" y="5349240"/>
            <a:ext cx="11091672" cy="1143000"/>
          </a:xfrm>
          <a:prstGeom prst="rect">
            <a:avLst/>
          </a:prstGeom>
          <a:noFill/>
        </p:spPr>
        <p:txBody>
          <a:bodyPr wrap="square" lIns="0" rIns="0" tIns="0" bIns="0" anchor="t">
            <a:spAutoFit/>
          </a:bodyPr>
          <a:lstStyle/>
          <a:p>
            <a:pPr algn="l">
              <a:spcAft>
                <a:spcPts val="300"/>
              </a:spcAft>
            </a:pPr>
            <a:r>
              <a:rPr sz="1150" b="0" i="0">
                <a:solidFill>
                  <a:srgbClr val="475569"/>
                </a:solidFill>
              </a:rPr>
              <a:t>Test split, mean over 3 seeds; fake accounts are 12.6% of the data, so F1, precision and recall matter more than accuracy. GraphSAGE F1 stays 0.927-0.952 for thresholds 0.30-0.60. It catches 82 of 82 test botnet members but 23 of 32 lone spammers.</a:t>
            </a:r>
          </a:p>
          <a:p>
            <a:pPr algn="l">
              <a:spcAft>
                <a:spcPts val="400"/>
              </a:spcAft>
            </a:pPr>
            <a:r>
              <a:rPr sz="1150" b="1" i="0">
                <a:solidFill>
                  <a:srgbClr val="475569"/>
                </a:solidFill>
              </a:rPr>
              <a:t>Caution:</a:t>
            </a:r>
            <a:r>
              <a:rPr sz="1150" b="0" i="0">
                <a:solidFill>
                  <a:srgbClr val="475569"/>
                </a:solidFill>
              </a:rPr>
              <a:t> GraphSAGE on node degree alone scores F1 0.965, above all 23 features (0.942); the injected botnets are densely tied, so the structure is easy. The headline F1 describes this benchmark, not accuracy on a real platform.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4_overview.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Overview: counts, score histogram, F1 per model</a:t>
            </a:r>
          </a:p>
        </p:txBody>
      </p:sp>
      <p:pic>
        <p:nvPicPr>
          <p:cNvPr id="28" name="Picture 27" descr="07b_account_reasons_and_neighbourhood.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Account: reasons for the score, neighbourhood</a:t>
            </a:r>
          </a:p>
        </p:txBody>
      </p:sp>
      <p:pic>
        <p:nvPicPr>
          <p:cNvPr id="30" name="Picture 29" descr="09b_cluster_graph_and_members.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Botnet cluster BN-00112: tie density 26%, peak hour 22:00</a:t>
            </a:r>
          </a:p>
        </p:txBody>
      </p:sp>
      <p:pic>
        <p:nvPicPr>
          <p:cNvPr id="32" name="Picture 31" descr="11_queue_clusters.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Moderator queue: clusters to review</a:t>
            </a:r>
          </a:p>
        </p:txBody>
      </p:sp>
      <p:pic>
        <p:nvPicPr>
          <p:cNvPr id="34" name="Picture 33" descr="13_models_comparison.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Models: GraphSAGE best, +11.2 pts over no graph</a:t>
            </a:r>
          </a:p>
        </p:txBody>
      </p:sp>
      <p:pic>
        <p:nvPicPr>
          <p:cNvPr id="36" name="Picture 35" descr="14_models_scalability.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Scalability: time against graph size</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application at 1440 x 900 with the committed graph and trained models.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36 / 36</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3-16 ms</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API latency, 10 endpoints</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28 ms</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worst p95 over those endpoints</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5.1 s</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API start-up (graph, scores, clusters)</a:t>
            </a:r>
          </a:p>
        </p:txBody>
      </p:sp>
      <p:graphicFrame>
        <p:nvGraphicFramePr>
          <p:cNvPr id="42" name="Table 41"/>
          <p:cNvGraphicFramePr>
            <a:graphicFrameLocks noGrp="1"/>
          </p:cNvGraphicFramePr>
          <p:nvPr/>
        </p:nvGraphicFramePr>
        <p:xfrm>
          <a:off x="548640" y="2697480"/>
          <a:ext cx="11091672" cy="3657600"/>
        </p:xfrm>
        <a:graphic>
          <a:graphicData uri="http://schemas.openxmlformats.org/drawingml/2006/table">
            <a:tbl>
              <a:tblPr firstRow="0" bandRow="0">
                <a:tableStyleId>{5C22544A-7EE6-4342-B048-85BDC9FD1C3A}</a:tableStyleId>
              </a:tblPr>
              <a:tblGrid>
                <a:gridCol w="6309360"/>
                <a:gridCol w="4782312"/>
              </a:tblGrid>
              <a:tr h="731520">
                <a:tc>
                  <a:txBody>
                    <a:bodyPr wrap="square"/>
                    <a:lstStyle/>
                    <a:p>
                      <a:pPr algn="ctr"/>
                      <a:r>
                        <a:rPr sz="13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31520">
                <a:tc>
                  <a:txBody>
                    <a:bodyPr wrap="square"/>
                    <a:lstStyle/>
                    <a:p>
                      <a:pPr algn="l"/>
                      <a:r>
                        <a:rPr sz="1300" b="0">
                          <a:solidFill>
                            <a:srgbClr val="0F172A"/>
                          </a:solidFill>
                        </a:rPr>
                        <a:t>No pytest suite; the smoke test is the automated check (auth, roles, 3 models beat baseline, clusters, queue, retraining)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Stated in the report; unit tests listed as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300" b="0">
                          <a:solidFill>
                            <a:srgbClr val="0F172A"/>
                          </a:solidFill>
                        </a:rPr>
                        <a:t>torch fails to load (WinError 1114) if fastapi is imported first on the system Python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torch preloaded for the test run; the project .venv is unaffected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31520">
                <a:tc>
                  <a:txBody>
                    <a:bodyPr wrap="square"/>
                    <a:lstStyle/>
                    <a:p>
                      <a:pPr algn="l"/>
                      <a:r>
                        <a:rPr sz="1300" b="0">
                          <a:solidFill>
                            <a:srgbClr val="0F172A"/>
                          </a:solidFill>
                        </a:rPr>
                        <a:t>GAT results move by a few thousandths between runs (non-deterministic edge softmax sum)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Reported as mean ± std over 3 seeds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300" b="0">
                          <a:solidFill>
                            <a:srgbClr val="0F172A"/>
                          </a:solidFill>
                        </a:rPr>
                        <a:t>Login takes about 233 ms (bcrypt); other calls 3-16 ms median on a shared i5-12500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Timings reported as upper bounds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828032"/>
        </p:xfrm>
        <a:graphic>
          <a:graphicData uri="http://schemas.openxmlformats.org/drawingml/2006/table">
            <a:tbl>
              <a:tblPr firstRow="0" bandRow="0">
                <a:tableStyleId>{5C22544A-7EE6-4342-B048-85BDC9FD1C3A}</a:tableStyleId>
              </a:tblPr>
              <a:tblGrid>
                <a:gridCol w="5212080"/>
                <a:gridCol w="5879592"/>
              </a:tblGrid>
              <a:tr h="804672">
                <a:tc>
                  <a:txBody>
                    <a:bodyPr wrap="square"/>
                    <a:lstStyle/>
                    <a:p>
                      <a:pPr algn="ctr"/>
                      <a:r>
                        <a:rPr sz="14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400" b="0">
                          <a:solidFill>
                            <a:srgbClr val="0F172A"/>
                          </a:solidFill>
                        </a:rPr>
                        <a:t>torch-geometric wheels often fail to install on Windows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GCN, GraphSAGE and GAT written in plain PyTorch sparse operations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Class imbalance: only 12.6% of accounts are fake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Class-weighted loss, F1 / precision / recall as the headline metrics, threshold tuned on validation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Without camouflage the profile alone would solve the task and the graph would add nothing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198 bots get genuine-looking profiles, 231 genuine accounts fake-looking ones; a no-graph baseline proves the graph earns its place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GCN barely beats the baseline and loses recall; GAT is noisy and 3-5x slower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Reported as measured, per seed; GraphSAGE chosen on validation F1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Injected botnets and timing features are synthetic; the two labelled sources are not about the same accounts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Real and synthetic parts labelled in the app; claims limited to this benchmark. Ablation: GraphSAGE on node degree alone scores F1 0.965, so densely tied injected botnets favour the graph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 more</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Threshold sweep, ablation and error analysis are measured; next are cross-validation over several splits and confidence intervals.</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Extend features</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Prufer / spanning-tree structural features from the base paper, and text features for the behavioural cues in the abstract.</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Scale</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Neighbour sampling and GPU training beyond the 36,264-account sweep; test a well-mixed graph, not disjoint copies.</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Harden</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Unit and API test suite, rate limiting, real user management, and evaluation on labelled real botnets.</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600" b="0" i="0">
                <a:solidFill>
                  <a:srgbClr val="0F172A"/>
                </a:solidFill>
              </a:rPr>
              <a:t>Priority: items 1 and 4 give the final report stronger evidence; items 2 and 3 are listed as future scope.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BotGraph">
  <a:themeElements>
    <a:clrScheme name="BotGraph">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BotGrap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otGrap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Neural Network Analysis for Scalable Fake Profile Detection and Botnets: Review 2</dc:title>
  <dc:subject>Batch A9 (CSE-A)</dc:subject>
  <dc:creator>Bijja Naga Lakshmi, Divvela Srivatshav, Adumulla Durga, Burugula Koushik</dc:creator>
  <cp:lastModifiedBy/>
  <cp:revision>1</cp:revision>
  <dcterms:created xsi:type="dcterms:W3CDTF">2026-10-13T12:40:05Z</dcterms:created>
  <dcterms:modified xsi:type="dcterms:W3CDTF">2026-10-13T12:40:05Z</dcterms:modified>
  <cp:keywords>graph neural networks, fake profile detection, botnet detection, GCN, GAT, GraphSAGE, social network analysis</cp:keywords>
  <dc:description/>
</cp:coreProperties>
</file>