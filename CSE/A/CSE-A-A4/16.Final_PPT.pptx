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SecurePay AI, a fraud-screening application built around the base paper's restricted Boltzmann machine classifier, and measured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problem, the system, then the numbers with their conditions. End on the honest limits: synthetic data, baselines ahead, and the serving defect found by our own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from the PDF, including Table 1 as an image. We adopt the model family, the preprocessing recipe and the three trainers; we cannot reproduce the real data, the D-Wave runs or the hour-scale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verified works. Three further titles from the batch survey could not be verified and are flagged in the report's reference list, not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gaps from the survey. We address the compared pipeline, the recall-first evaluation, the open implementation with an interface, and the behaviour when fraud falls to 1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statements of the problem and the need, then what goes in and out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states the status of each: 3 and 4 were met in the experiment script, not in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a line of boxes and the five design rules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data tier is files, not a database; the store dictionary in app.py caches everything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pipeline and what we added around it: baselines, seeds, thresholds, imbalance. The history files choose a best epoch on the test split, so we report final-epoch figures as primary.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frank: synthetic, balanced, and built so that amount, channel and a few V columns carry the signal. That is why simple baselines do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scoring flow of predict_single and predict_batch, drawn as the code actually behaves, including the skipped scaling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check and the use cases. There is no authentication in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Persistence is files plus an in-memory dictionary. The pickle issue is a real observation from this machine, handled by the backend's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was built and how big it is. The samplers are simplified approximations, which the report states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SAS and QS are around 94 percent F1; the ensemble 94.5. PCD at the 0.5 threshold has recall 100 percent and 660 false positives out of 795 legitimate rows. Across seeds PCD is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Confusion matrices at 0.5 and the ensemble threshold sweep. The curve is steep: between 0.4 and 0.6 precision and recall trade places sharply, and the app's 0.7 band is never 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1 percent fraud (78 fraud among 7,800 test rows, five seeds) undersampling floods the analyst with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 is far below a second. The defect was found by auditing the serving code and measured on a fresh batch generated with a different seed; the screenshot of the bulk page shows the same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 datasets differ: real Stone data against a generated set that is easier. The time column compares hours of simulator or cloud use with seconds of a simplified sampler.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application. The dashboard's best-F1 tile uses the best epoch chosen on the test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bulk screen is a faithful capture of the defect, not a mock-up. Analytics is computed from the CSV, not from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curves show the PCD instability that the five-seed study quantifies.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where. The honest result is that simple baselines beat the RBM on this data, and that our own audit found a serving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9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Using Machine Learning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SecurePay AI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23K91A0513   ARELLI PRAVEEN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23K91A0529   BANOTHU AJAY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23K91A0557   D CHANDRIKA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23K91A0525   BAIRAGONI VIJAY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KOTESHWAR RAO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Storage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Shipped Models, Threshold, Baselines, Imbalance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Testing &amp; the Serving Defect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Card fraud is rare, costly and changing: fixed rules are learned and bypassed, and a model trained naively on imbalanced data scores high accuracy while finding almost no fraud.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SecurePay AI follows the base paper: a Gaussian-Bernoulli RBM classifier trained three ways (PCD, simulated-annealing sampling, quantum-inspired sampling), averaged into one score with approve / challenge / decline bands, behind a Flask API and a React interface.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 39,000-transaction data, not the base paper's real data. On 1,600 held-out rows the ensemble reaches precision 96.5%, recall 92.5%, F1 94.5%, ROC-AUC 0.986; the shipped PCD model flags nearly everything (accuracy 58.8%).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Logistic regression, random forest and XGBoost score F1 96.7%, 96.3%, 96.5% on the same split: the simple baselines are better here.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Audit finding: the bulk route skips feature scaling, so accuracy on a fresh batch is 50.2% as served against 94.8% when scaled. A single check takes a median 17 ms.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 real transaction data, quantum hardware, drift, a user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J. M. C. de Albuquerque Neto, G. C. do Amaral and G. P. Temporao, "Fraud detection in credit card transactions using quantum-assisted restricted Boltzmann machines," IEEE Access, vol. 14, pp. 62923-62932, 2026, doi: 10.1109/ACCESS.2026.3683308.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7824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Neto, do Amaral and Temporao, IEEE Access 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Gaussian RBM classifier (visible, hidden and label layers); energy written as a QUBO / Ising problem; three trainers: classical PCD, simulated-annealing sampling, D-Wave quantum sampling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Stone fintech data: 145 million transactions, about 19 thousand fraud; manual undersampling to 39 thousand (50/50); 80/20 split; 50 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Table 1 (acc / prec / rec / F1, time)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PCD 84 / 86 / 81 / 83 %, 2 min;  SAS 85 / 94 / 82 / 88 %, 4 h;  QS 85 / 91 / 79 / 84 %, 1.8 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Pre-processing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One-hot, z-score, correlation filter, CatBoost importance; SMOTE and Tomek links performed poorly at this imbalance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Whether the advantage is general is an open question; SA metrics oscillate; hours of training; no interface or public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2428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548640"/>
                <a:gridCol w="2926080"/>
                <a:gridCol w="3200400"/>
                <a:gridCol w="274320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 / reported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Neto et al.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Gaussian RBM classifier trained with classical PCD, simulated-annealing sampling and D-Wave quantum sampling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 Stone data, 145 M transactions, about 19 thousand fraud, balanced to 39 thousand; F1 83 / 88 / 84 % (PCD / SAS / QS)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proprietary dataset; no public baselines; hours of training; no deployable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Aburbeian and Ashqar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 with SMOTE and hyper-parameter tuning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94,682 online transactions; accuracy about 98 %, F1 about 98 %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Resampled data scored; accuracy-led comparison on a small public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Han and Wu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Combinatorial fusion of seven classifiers, validation-stage subset and rule selection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IEEE-CIS, 590,540 transactions, 3.5 % fraud; AUC 0.9405, AUPRC 0.6699, F1 0.6373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Gain over best single model is small; CTGAN augmentation hurt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ANN compared with XGBoost on imbalanced card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Both about 99.96 % accuracy; XGBoost higher F1 on the fraud class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is uninformative at this imbalance; no deployment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Bhattacharyya et al.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Logistic regression, SVM and random forest compared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Nonlinear ensemble methods generally stronger than linear ones on card transactions (as summarised by Han and Wu)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Older study; no deployment or imbalance-strategy comparison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Dal Pozzolo et al.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Realistic fraud modelling: delayed labels, concept drift, alert 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Discusses sampling bias, delayed labels and changing fraud patterns in real card streams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Addresses data issues, not model training cost or a usable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Carcillo et al.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Unsupervised outlier scores added to supervised classifiers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Unsupervised anomaly scores and supervised classifiers complement each other in large-scale systems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a single compact model; no deployable interface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Individual classifiers and sampling methods are studied separately; a compared, tuned pipeline is missing.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 is often accuracy-led; recall, precision and F1 on the fraud class are what an analyst needs.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paper's quantum-assisted RBM is shown only on private data and without a usable interface.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Quantum hardware is out of reach for most teams; whether a classical simulation of the sampler is enough is unanswered.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Few works measure how the same pipeline behaves when fraud falls from 50 % to about 1 % of the stream.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Deployable live scoring with a risk band and an explanation of the decision is rarely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22860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Fraudulent transactions are rare, so standard classifiers reach high accuracy by predicting everything as genuine.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Rule-based systems raise many false alarms and block legitimate customers.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Fraud patterns change continuously, so a fixed rule set becomes obsolete quickly.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Missing a fraud costs far more than reviewing a false alarm, yet most models treat both errors equally.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</a:t>
            </a: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machine learning system that handles severe class imbalance and maximises fraud recall while keeping false alarms acceptable.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transaction (amount, merchant, channel, card present, country match, time, history signals) or a CSV of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20624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7548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Fraud probability, label, risk band and per-model scores; bulk metrics when a Class column is present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06240"/>
            <a:ext cx="3566160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75488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Downloadable predictions CSV, saved models and per-epoch histories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Acquire a benchmark credit card transaction dataset and quantify the degree of class imbalance.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Apply preprocessing including scaling, feature selection and stratified train-test splitting.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Balance the training data using SMOTE and compare it against random undersampling.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Train Logistic Regression, Random Forest and XGBoost classifiers on the balanced data.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Evaluate using precision, recall, F1-score and ROC-AUC rather than accuracy alone.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Deploy the best model behind an interface that flags a transaction as genuine or fraudulent.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975103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/ CSV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737360"/>
            <a:ext cx="1975103" cy="91440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Pre-process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737360"/>
            <a:ext cx="1975103" cy="91440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RBM scorers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737360"/>
            <a:ext cx="1975103" cy="91440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Ensemble mean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737360"/>
            <a:ext cx="1975103" cy="91440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111556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Prepare: one-hot encode merchant and channel, z-score the numeric columns, drop highly correlated columns, undersample to 50/50 and keep the 18 most important features.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Model: a Gaussian-Bernoulli RBM classifier with visible, hidden and label layers, trained three ways - classical PCD, simulated-annealing sampling and a quantum-inspired sampler that simulates a transverse field.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Decide: average the three fraud probabilities; below 40 % approve, 40 to 70 % challenge, above 70 % decline and alert.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Serve: a Flask API with 16 routes and a React interface for single checks, CSV bulk screening, analytics, model comparison and a retraining lab.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Measure: precision, recall, F1 and ROC-AUC on a held-out split, against Logistic Regression, Random Forest and XGBoost, across seeds, thresholds and a 1 % fraud variant.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56" y="1600200"/>
            <a:ext cx="5475767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78308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React and Vite on port 5304; every call goes through a Vite proxy to the API.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Flask on port 8304, 16 routes, JSON and multipart CSV, 500 responses carry an error message.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 tier: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preprocessing, GRBMC, samplers, training loop, evaluation, synthetic data generator.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Data tier:</a:t>
            </a: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local files only (CSV, pickles, JSON); there is no SQL database.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In-memory store holds the dataset, pipeline, models and histories after start-up.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One-hot + z-score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Correlation filter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Undersample 50/50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RF top-18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80/20 split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 GRBMC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0756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691640"/>
            <a:ext cx="1436914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11155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Pre-processing as in the base paper: the backend rebuilds it from an 8,000-row sample; 6,400 training and 1,600 test rows; no column exceeded the 0.95 correlation limit.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Training: 20 epochs; PCD with 200 hidden units and batch 512; SAS and QS with 65 hidden units, batch 32, 10 sweeps x 16 reads, 3,000 rows per epoch.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QS is a classical simulation of a transverse-field tunnelling step, so it is quantum-inspired only; no quantum hardware was used.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Added measurements: baselines (LR, RF, XGBoost), five seeds, threshold sweep, a fresh 2,000-row batch, a 1 % fraud variant with SMOTE, class weights and undersampling.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number comes from scripts/run_experiments.py, written to experiments/metrics.json.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39,000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synthetic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50 /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19,500 fraud, 19,500 legitimate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features kept by RF importance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6,400 / 1,600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/ test rows (80/20)</a:t>
            </a:r>
          </a:p>
        </p:txBody>
      </p:sp>
      <p:pic>
        <p:nvPicPr>
          <p:cNvPr id="23" name="Picture 22" descr="f01_datase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74764"/>
            <a:ext cx="6766560" cy="1674231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498079" y="2743200"/>
          <a:ext cx="416052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822960"/>
                <a:gridCol w="822960"/>
                <a:gridCol w="16002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Trainer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Hidden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Sampler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PCD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Gibbs chain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annealing sweeps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tunnelling flips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data is synthetic: generated by backend/synthetic_data.py to imitate the base paper's balanced 39 thousand set, so it is not comparable with real Stone data. Fraud is generated with larger amounts, online and card-not-present channels and shifted V3, V7, V10, V14, V17.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backend works from an 8,000-row random sample of this file (6,400 train, 1,600 test rows); every headline number uses that split unless stated.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amount: fraud 368, legitimate 85. Feature names V1 to V22 are generic; the UI's friendly labels for V3, V14, V17 are not real semantics.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1_flowchart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" y="1600200"/>
            <a:ext cx="4049877" cy="4709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169164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846320" y="169164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0" y="1746504"/>
            <a:ext cx="187452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&lt; 40 %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48509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LOW: approve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69164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0" y="169164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0" y="1746504"/>
            <a:ext cx="187452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40 - 70 %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48509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MEDIUM: challenge (3-D Secure)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691640"/>
            <a:ext cx="214884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418320" y="1691640"/>
            <a:ext cx="73152" cy="960120"/>
          </a:xfrm>
          <a:prstGeom prst="rect">
            <a:avLst/>
          </a:prstGeom>
          <a:solidFill>
            <a:srgbClr val="B43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0" y="1746504"/>
            <a:ext cx="187452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&gt; 70 %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248509"/>
            <a:ext cx="1874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HIGH: decline and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26080"/>
            <a:ext cx="68122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Missing fields default to the dataset mean or mode; categorical fields are one-hot encoded; absent columns are filled with 0.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three models give p(fraud) from the free-energy softmax over the two label hypotheses; the ensemble is their mean, labelled FRAUD above 0.5.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risk band is chosen from the mean probability (0.4 and 0.7).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dashed branch is the bulk-route defect: the scaler call raises because it was fitted on 24 columns and only 13 are present, and a bare except lets the unscaled values through.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716328"/>
            <a:ext cx="6583680" cy="4476902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35531"/>
            <a:ext cx="4434840" cy="28382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69480" y="4846320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one prediction from the browser through the Vite proxy and Flask to the three models. Right: the use cases that exist in the interface for a merchant or analyst and for the risk-operations team. There is no sign-in.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Design (no SQL database)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02028"/>
            <a:ext cx="6583680" cy="447690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691640"/>
          <a:ext cx="44348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2402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File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creditcard_synthetic.csv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39,000 rows, 29 columns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pipeline.pkl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scaler, columns, importances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grbmc_*.pkl (3)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trained 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history_*.json (3)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per-epoch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batch_predictions.csv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last bulk upload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663440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pipeline.pkl was written with a different pandas version and does not load here, so the backend silently rebuilds the same pipeline at start-up (same sample, same seed).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1,338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backend lines (Python)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3,574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frontend lines (React)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88920"/>
            <a:ext cx="60350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GRBMC is plain numpy: weights W (visible-hidden) and U (label-hidden), biases b, c, d, free-energy scoring and PCD gradients.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SAS and QS replace the Gibbs negative phase with annealing-style sampling; they use the batch-mean visible vector, a simplification of the paper's procedure.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 lab: retrain from the browser with a choice of balancing, features, trainers and epochs; the models are saved on disk.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Interface: light and dark themes, risk meter, toasts, offline banner, responsive layout.</a:t>
            </a:r>
          </a:p>
        </p:txBody>
      </p:sp>
      <p:pic>
        <p:nvPicPr>
          <p:cNvPr id="24" name="Picture 23" descr="12_grbmc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858414"/>
            <a:ext cx="4937760" cy="30614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Shipped Models (synthetic data, n = 1,600)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ensemble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94.4%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SAS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QS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58.8%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PCD accuracy (flags almost all)</a:t>
            </a:r>
          </a:p>
        </p:txBody>
      </p:sp>
      <p:pic>
        <p:nvPicPr>
          <p:cNvPr id="23" name="Picture 22" descr="f02_model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81" y="2743200"/>
            <a:ext cx="5627756" cy="3200400"/>
          </a:xfrm>
          <a:prstGeom prst="rect">
            <a:avLst/>
          </a:prstGeom>
        </p:spPr>
      </p:pic>
      <p:pic>
        <p:nvPicPr>
          <p:cNvPr id="24" name="Picture 23" descr="f07_seed_stu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445" y="2743200"/>
            <a:ext cx="5298509" cy="2194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55080" y="498348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All four share ROC-AUC 0.986: PCD ranks well but its 0.5 threshold is badly placed.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Five seeds, final epoch, F1: PCD 69.2 +/- 23.1, SAS 94.4 +/- 0.1, QS 92.9 +/- 1.2.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Threshold 0.5. Best-epoch histories are chosen on the test split, so final-epoch figures are used.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&amp; Threshold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3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6157"/>
            <a:ext cx="10058400" cy="2548405"/>
          </a:xfrm>
          <a:prstGeom prst="rect">
            <a:avLst/>
          </a:prstGeom>
        </p:spPr>
      </p:pic>
      <p:pic>
        <p:nvPicPr>
          <p:cNvPr id="8" name="Picture 7" descr="f06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61" y="4206240"/>
            <a:ext cx="5862917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425196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Ensemble: 768 true negatives, 27 false positives, 60 false negatives, 745 true positives.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Threshold 0.4: precision 72.8%, recall 99.6%; 0.5: 96.5% and 92.5%; 0.6: 99.8% and 67.5%.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Above 0.7 nothing is flagged: no test row reaches the 'HIGH' band with the averaged probability.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Baselines and a 1 % Fraud Variant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8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14" y="1600200"/>
            <a:ext cx="5656891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64592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Same split: LR 96.7%, RF 96.3%, XGBoost 96.5% against RBM 94.5%.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Whole 39,000-row file (n = 7,800): XGBoost 97.1%, RBM trainers 94.2% to 94.8%.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Simple models win on this data; the RBM's only edge is that it is the base paper's method.</a:t>
            </a:r>
          </a:p>
        </p:txBody>
      </p:sp>
      <p:pic>
        <p:nvPicPr>
          <p:cNvPr id="9" name="Picture 8" descr="f09_imbalanc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83" y="3657600"/>
            <a:ext cx="8124392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89720" y="3703320"/>
            <a:ext cx="2514600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Undersampling lifts recall to 0.96 - 0.98 but precision falls to about 0.2 (LR 0.20).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resampling: LR precision 0.95, recall 0.81.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SMOTE with XGBoost: 0.90 / 0.83.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RBM on undersampled data: 0.95 / 0.59.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Testing &amp; the Serving Defect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median, single check (n = 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median, 20-row CSV batch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4 - 5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20-epoch training, CPU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20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smoke-test checks passed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834640"/>
          <a:ext cx="64922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356616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running API on 8304: all read routes, predict, batch, errors, export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 of 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127.0.0.1, Flask dev server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p95 32 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baselines, seeds, thresholds, 1 % variant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pytest suite exists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concurrency, real data, drift, user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" name="Picture 23" descr="f10_serving_def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825496"/>
            <a:ext cx="4480560" cy="16642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0" y="4572000"/>
            <a:ext cx="448056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Fresh 2,000-row batch, ensemble: accuracy 50.2% as served, 94.8% when scaled (false positives 995 against 26).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bundled sample file flags 20 of 20 rows as fraud; 11 when scaled (true fraud 10).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Intel Core i5-12500, CPU only. The defect is documented, not fixed.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only: different data)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4023360"/>
                <a:gridCol w="49377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(real data)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 (synthetic data, simulated samplers)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F1: PCD / SAS / QS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83 / 88 / 84 %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70.9% / 94.4% / 94.3% (shipped models); five-seed means 69.2 +/- 23.1 / 94.4 +/- 0.1 / 92.9 +/- 1.2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Precision: SAS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96.7%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 minutes / 4 hours / 1.8 hours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 / 5 / 4 seconds (3,000-row subsample, 10 sweeps)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Sampler 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Julia QARBoM.jl; D-Wave simulators and quantum annealer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numpy; classical simulation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about 7.8 thousand rows (20 % of the 39 thousand balanced set)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1,600 rows (805 fraud) of generated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13_pape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858" y="4526280"/>
            <a:ext cx="4776283" cy="1783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57200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numbers sit side by side for context only: data, labels, test sets and samplers differ, so no superiority or inferiority is claimed.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SAS is the steadiest of our three trainers and QS is within noise of it; the paper's SAS lead is therefore not contradicted, but our PCD result depends strongly on threshold and seed.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Dashboard and Verify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4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1206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Dashboard: 39,000 transactions, 50 % fraud-labelled, best F1 94.8 % (simulated annealing, epoch 17, a best-epoch figure) and fraud rate by merchant category computed from the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206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Verify: the fraud example (1,200, online, card not present, country mismatch) is flagged at 68.4 %: PCD 50.9 %, QS 59.5 %, SAS 94.7 %; recommended action 'challenge with 3-D Secure'.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Bulk Verification and Analytics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5_bu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6_analytics-w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1206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Bulk: the 20-row sample file is flagged 20 of 20 (accuracy 50.0 %, recall 100 %): the unscaled bulk path in action (the single-check Verify route scales correctly). The page itself warns that every row was flagged.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206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Analytics: patterns in the full dataset: Electronics and Online have the highest fraud rates, typical fraud amount 352 against a legitimate median of 80.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 – Model Comparison and Training Curves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10_models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1_models-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1206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Model comparison: metrics at each model's best epoch, and, in the table below the fold, the paper's training times next to the measured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12064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Training curves: per-epoch F1 of the three trainers; PCD jumps between 0 and 80 % while SAS settles near 94 %.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fraud-screening application (Flask API with 16 routes, React interface, model lab) around the base paper's RBM classifier, with a 20/20 smoke test.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ensemble F1 94.5% and ROC-AUC 0.986 on synthetic data; LR, RF and XGBoost reach F1 96.3% to 96.7%; PCD is unstable (69.2 +/- 23.1 F1 over five seeds).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 and 5 met; 3 and 4 met in the experiment script, not in the product; 1 partly (synthetic data, no public benchmark); 6 met, with the scaling defect.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Findings: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imbalance handling matters more than model family; undersampling at 1 % fraud costs precision; thresholds and calibration decide the PCD result.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</a:t>
            </a: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synthetic data, quantum-inspired simulation, test-split epoch selection, no authentication, no real-world validation.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 the scaling defect in the batch route and add a regression test that scores a known batch through the API.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Choose the decision threshold on a validation split and calibrate the PCD model; select epochs on validation data, not the test split.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Pilot on real, imbalanced transaction data with a temporal split; report precision at a fixed alert budget and a PR curve.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Implement a faithful annealing sampler or use quantum cloud access; compare with a gradient-boosting champion model.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Add authentication, HTTPS, a production server, drift monitoring and a database for scored transactions.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J. M. C. de Albuquerque Neto, G. C. do Amaral and G. P. Temporao, "Fraud detection in credit card transactions using quantum-assisted restricted Boltzmann machines," IEEE Access, vol. 14, pp. 62923-62932, 2026, doi: 10.1109/ACCESS.2026.3683308.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A. H. M. Aburbeian and H. I. Ashqar, "Credit card fraud detection using enhanced random forest classifier for imbalanced data," arXiv:2303.06514, Mar. 2023.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X. Han and C. Wu, "Validation-stage combinatorial fusion analysis for imbalanced credit-card fraud detection," arXiv:2606.10393, Jun. 2026.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J. Shi, "Credit card fraud detection based on ANN and XGBoost," in Proc. 1st Int. Conf. E-commerce and Artificial Intelligence (ECAI), SciTePress, 2024, pp. 195-199, doi: 10.5220/0013212700004568.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S. Bhattacharyya, S. Jha, K. Tharakunnel and J. C. Westland, "Data mining for credit card fraud: A comparative study," Decision Support Systems, vol. 50, no. 3, pp. 602-613, 2011.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A. Dal Pozzolo, G. Boracchi, O. Caelen, C. Alippi and G. Bontempi, "Credit card fraud detection: A realistic modeling and a novel learning strategy," IEEE Trans. Neural Netw. Learn. Syst., vol. 29, no. 8, pp. 3784-3797, Aug. 2018.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N. V. Chawla, K. W. Bowyer, L. O. Hall and W. P. Kegelmeyer, "SMOTE: Synthetic minority over-sampling technique," J. Artif. Intell. Res., vol. 16, pp. 321-357, Jun. 2002.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[13] I. Tomek, "Two modifications of CNN," IEEE Trans. Syst., Man, Cybern., vol. SMC-6, no. 11, pp. 769-772, Nov. 1976.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[22] G. E. Hinton, S. Osindero and Y.-W. Teh, "A fast learning algorithm for deep belief nets," Neural Computation, vol. 18, no. 7, pp. 1527-1554, Jul. 2006.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G. E. Hinton, "Training products of experts by minimizing contrastive divergence," Neural Computation, vol. 14, no. 8, pp. 1771-1800, Aug. 2002.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T. Tieleman, "Training restricted Boltzmann machines using approximations to the likelihood gradient," in Proc. 25th Int. Conf. Machine Learning (ICML), 2008, pp. 1064-1071.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[27] H. Larochelle, M. Mandel, R. Pascanu and Y. Bengio, "Learning algorithms for the classification restricted Boltzmann machine," J. Mach. Learn. Res., vol. 13, pp. 643-669, 2012.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[29] S. Kirkpatrick, C. D. Gelatt Jr. and M. P. Vecchi, "Optimization by simulated annealing," Science, vol. 220, no. 4598, pp. 671-680, 1983.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[32] F. Pedregosa et al., "Scikit-learn: Machine learning in Python," J. Mach. Learn. Res., vol. 12, pp. 2825-2830, 2011.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A4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ePay AI">
  <a:themeElements>
    <a:clrScheme name="SecurePay A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curePay AI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ecurePay 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 - Final Review</dc:title>
  <dc:subject>SecurePay AI, Batch A4 (CSE-A)</dc:subject>
  <dc:creator>ARELLI PRAVEEN KUMAR, BANOTHU AJAY, D CHANDRIKA, BAIRAGONI VIJAY</dc:creator>
  <cp:lastModifiedBy/>
  <cp:revision>1</cp:revision>
  <dcterms:created xsi:type="dcterms:W3CDTF">2026-10-07T05:03:03Z</dcterms:created>
  <dcterms:modified xsi:type="dcterms:W3CDTF">2026-10-07T05:03:03Z</dcterms:modified>
  <dc:description/>
  <cp:keywords>credit card fraud, restricted Boltzmann machine, class imbalance, machine learning</cp:keywords>
</cp:coreProperties>
</file>