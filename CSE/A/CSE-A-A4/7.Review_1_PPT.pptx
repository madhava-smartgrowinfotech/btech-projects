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Reported value</c:v>
                </c:pt>
              </c:strCache>
            </c:strRef>
          </c:tx>
          <c:spPr>
            <a:solidFill>
              <a:srgbClr val="2A78D6"/>
            </a:solidFill>
          </c:spPr>
          <c:dPt>
            <c:idx val="3"/>
            <c:spPr>
              <a:solidFill>
                <a:srgbClr val="EB6834"/>
              </a:solidFill>
            </c:spPr>
          </c:dPt>
          <c:dPt>
            <c:idx val="4"/>
            <c:spPr>
              <a:solidFill>
                <a:srgbClr val="EB6834"/>
              </a:solidFill>
            </c:spPr>
          </c:dPt>
          <c:cat>
            <c:strRef>
              <c:f>Sheet1!$A$2:$A$6</c:f>
              <c:strCache>
                <c:ptCount val="5"/>
                <c:pt idx="0">
                  <c:v>Random forest
accuracy [2]</c:v>
                </c:pt>
                <c:pt idx="1">
                  <c:v>Random forest
F1 [2]</c:v>
                </c:pt>
                <c:pt idx="2">
                  <c:v>Fusion of trees
AUC [3]</c:v>
                </c:pt>
                <c:pt idx="3">
                  <c:v>Fusion of trees
AUPRC [3]</c:v>
                </c:pt>
                <c:pt idx="4">
                  <c:v>Fusion of trees
F1 [3]</c:v>
                </c:pt>
              </c:strCache>
            </c:strRef>
          </c:cat>
          <c:val>
            <c:numRef>
              <c:f>Sheet1!$B$2:$B$6</c:f>
              <c:numCache>
                <c:formatCode>General</c:formatCode>
                <c:ptCount val="5"/>
                <c:pt idx="0">
                  <c:v>0.98</c:v>
                </c:pt>
                <c:pt idx="1">
                  <c:v>0.98</c:v>
                </c:pt>
                <c:pt idx="2">
                  <c:v>0.9405</c:v>
                </c:pt>
                <c:pt idx="3">
                  <c:v>0.6699</c:v>
                </c:pt>
                <c:pt idx="4">
                  <c:v>0.6373</c:v>
                </c:pt>
              </c:numCache>
            </c:numRef>
          </c:val>
        </c:ser>
        <c:dLbls>
          <c:numFmt formatCode="0.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0"/>
          <c:min val="0.0"/>
        </c:scaling>
        <c:delete val="0"/>
        <c:axPos val="l"/>
        <c:majorGridlines>
          <c:spPr>
            <a:ln>
              <a:solidFill>
                <a:srgbClr val="D5DCE6"/>
              </a:solidFill>
            </a:ln>
          </c:spPr>
        </c:majorGridlines>
        <c:numFmt formatCode="0.00" sourceLinked="0"/>
        <c:majorTickMark val="out"/>
        <c:minorTickMark val="none"/>
        <c:tickLblPos val="nextTo"/>
        <c:spPr>
          <a:ln>
            <a:noFill/>
          </a:ln>
        </c:spPr>
        <c:crossAx val="-2068027336"/>
        <c:crosses val="autoZero"/>
      </c:valAx>
    </c:plotArea>
    <c:dispBlanksAs val="gap"/>
  </c:chart>
  <c:txPr>
    <a:bodyPr/>
    <a:lstStyle/>
    <a:p>
      <a:pPr>
        <a:defRPr sz="11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SecurePay AI scores a card transaction with three restricted-Boltzmann-machine classifiers and returns a risk band; the work follows a 2026 IEEE Access base paper and is measured on synthetic 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This review covers why the problem matters and what is missing in current work; design, methodology and results come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points: fraud is rare and costly, the base paper's classifier is the starting idea, and the deliverable is a complete application. The quantum sampler is a classical simulation: no quantum hardware is used.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The base paper compares three ways of training the same RBM classifier on a private dataset. Table 1 of the paper gives F1 83, 88 and 84 percent. SMOTE and Tomek links did poorly there, so it used manual undersampling, which is what this project also does.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pattern: classifier comparisons (random forest, XGBoost, ANN), fusion of tree models, imbalance handling, and the base paper's quantum-assisted RBM. Figures are quoted only where read from the paper or its publisher page; three titles in the batch survey could not be verified and are flagged in the report.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left bars come from two papers on different data: a random forest on a small public set with accuracy and F1 near 0.98, and a fusion of tree models on IEEE-CIS where the rare-class measures (AUPRC 0.67, F1 0.64) are far lower. That is why this project reports precision, recall, F1 and ROC-AUC and tests a 1 percent fraud case.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most screening starts with fixed rules and analyst review. Research studies use classifiers, but they compare models or sampling methods separately and rarely ship an interface.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limitations from the survey. Each maps to a design decision later: undersampled 50/50 training, recall and F1 as the main measures, and a working interface.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literature survey states the gap as a compared, tuned pipeline evaluated on recall rather than accuracy and deployable for live scoring. We address gaps 1, 2, 4, 5 and 6 and give an honest answer on gap 3: the base paper's model runs here only on synthetic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four points slowly, then the need: handle severe imbalance and maximise fraud recall while keeping false alarms acceptable.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proposal. Later reviews report which were met: the benchmark dataset is synthetic, and the Logistic Regression, Random Forest and XGBoost comparison was run in an experiment script rather than shipped in the product.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Prepare: one-hot encode merchant and channel, z-score the numeric columns, drop highly correlated columns, undersample to 50/50 and keep the 18 most important features. Model: a Gaussian-Bernoulli RBM classifier with visible, hidden and label layers, trained three ways - classical PCD, simulated-annealing sampling and a quantum-inspired sampler that simulates a transverse field. Decide: average the three fraud probabilities; below 40 % approve, 40 to 70 % challenge, above 70 % decline and alert. The three trainers use 200 hidden units (PCD) and 65 hidden units (SAS, QS), as in the base paper.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top to bottom: the browser calls the Flask API, which transforms the input, asks the three models and averages their probabilities. Everything is stored in files on the local disk.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 outcomes and contributions. The later reviews report measured results, including where the simple baselines do better than the RBM and what could not be measured.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is in the project report. Three survey titles that could not be verified are marked as such there and are not cited.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a classical simulation instead of quantum hardware (no access; the quantum sampler here is quantum-inspired only); why not simply use gradient boosting (it does score higher on this data and is reported); why the data is synthetic (the base paper's data is proprietary).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SecurePay AI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400" b="1" dirty="0">
                <a:solidFill>
                  <a:srgbClr val="FFFFFF"/>
                </a:solidFill>
                <a:latin typeface="Cambria" pitchFamily="34" charset="0"/>
                <a:ea typeface="Cambria" pitchFamily="34" charset="-122"/>
                <a:cs typeface="Cambria" pitchFamily="34" charset="-120"/>
              </a:rPr>
              <a:t>Credit Card Fraud Detection Using Machine Learning</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Quantum-Inspired Restricted Boltzmann Machine Classifier with a Real-Time Screening Interface</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ARELLI PRAVEEN KUMAR  23K91A0513</a:t>
            </a:r>
            <a:endParaRPr lang="en-US" sz="1500" dirty="0"/>
          </a:p>
          <a:p>
            <a:pPr indent="0" marL="0">
              <a:buNone/>
            </a:pPr>
            <a:r>
              <a:rPr lang="en-US" sz="1500" dirty="0">
                <a:solidFill>
                  <a:srgbClr val="FFFFFF"/>
                </a:solidFill>
              </a:rPr>
              <a:t>BANOTHU AJAY  23K91A0529</a:t>
            </a:r>
            <a:endParaRPr lang="en-US" sz="1500" dirty="0"/>
          </a:p>
          <a:p>
            <a:pPr indent="0" marL="0">
              <a:buNone/>
            </a:pPr>
            <a:r>
              <a:rPr lang="en-US" sz="1500" dirty="0">
                <a:solidFill>
                  <a:srgbClr val="FFFFFF"/>
                </a:solidFill>
              </a:rPr>
              <a:t>D CHANDRIKA  23K91A0557</a:t>
            </a:r>
            <a:endParaRPr lang="en-US" sz="1500" dirty="0"/>
          </a:p>
          <a:p>
            <a:pPr indent="0" marL="0">
              <a:buNone/>
            </a:pPr>
            <a:r>
              <a:rPr lang="en-US" sz="1500" dirty="0">
                <a:solidFill>
                  <a:srgbClr val="FFFFFF"/>
                </a:solidFill>
              </a:rPr>
              <a:t>BAIRAGONI VIJAY  23K91A0525</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KOTESHWAR RAO,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A4 (CSE-A)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 and evidence</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system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scoring a card payment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474720"/>
          </a:xfrm>
          <a:prstGeom prst="rect">
            <a:avLst/>
          </a:prstGeom>
          <a:noFill/>
        </p:spPr>
        <p:txBody>
          <a:bodyPr wrap="square" lIns="0" rIns="0" tIns="0" bIns="0" anchor="t">
            <a:spAutoFit/>
          </a:bodyPr>
          <a:lstStyle/>
          <a:p>
            <a:pPr algn="l">
              <a:spcAft>
                <a:spcPts val="400"/>
              </a:spcAft>
            </a:pPr>
            <a:r>
              <a:rPr sz="2000" b="0" i="0">
                <a:solidFill>
                  <a:srgbClr val="475569"/>
                </a:solidFill>
              </a:rPr>
              <a:t>Card fraud causes large losses. Fixed rules are learned and bypassed and raise false alarms. Genuine transactions vastly outnumber fraud, so a model can score high accuracy while finding almost no fraud.</a:t>
            </a:r>
          </a:p>
        </p:txBody>
      </p:sp>
      <p:sp>
        <p:nvSpPr>
          <p:cNvPr id="30" name="Rounded Rectangle 29"/>
          <p:cNvSpPr/>
          <p:nvPr/>
        </p:nvSpPr>
        <p:spPr>
          <a:xfrm>
            <a:off x="4334255"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474720"/>
          </a:xfrm>
          <a:prstGeom prst="rect">
            <a:avLst/>
          </a:prstGeom>
          <a:noFill/>
        </p:spPr>
        <p:txBody>
          <a:bodyPr wrap="square" lIns="0" rIns="0" tIns="0" bIns="0" anchor="t">
            <a:spAutoFit/>
          </a:bodyPr>
          <a:lstStyle/>
          <a:p>
            <a:pPr algn="l">
              <a:spcAft>
                <a:spcPts val="400"/>
              </a:spcAft>
            </a:pPr>
            <a:r>
              <a:rPr sz="2000" b="0" i="0">
                <a:solidFill>
                  <a:srgbClr val="475569"/>
                </a:solidFill>
              </a:rPr>
              <a:t>Follow the base paper: a Gaussian restricted Boltzmann machine classifier trained three ways (PCD, simulated annealing, quantum-inspired sampling), on a balanced set, and judged by recall, precision and F1 rather than accuracy.</a:t>
            </a:r>
          </a:p>
        </p:txBody>
      </p:sp>
      <p:sp>
        <p:nvSpPr>
          <p:cNvPr id="34" name="Rounded Rectangle 33"/>
          <p:cNvSpPr/>
          <p:nvPr/>
        </p:nvSpPr>
        <p:spPr>
          <a:xfrm>
            <a:off x="8119871"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474720"/>
          </a:xfrm>
          <a:prstGeom prst="rect">
            <a:avLst/>
          </a:prstGeom>
          <a:noFill/>
        </p:spPr>
        <p:txBody>
          <a:bodyPr wrap="square" lIns="0" rIns="0" tIns="0" bIns="0" anchor="t">
            <a:spAutoFit/>
          </a:bodyPr>
          <a:lstStyle/>
          <a:p>
            <a:pPr algn="l">
              <a:spcAft>
                <a:spcPts val="400"/>
              </a:spcAft>
            </a:pPr>
            <a:r>
              <a:rPr sz="2000" b="0" i="0">
                <a:solidFill>
                  <a:srgbClr val="475569"/>
                </a:solidFill>
              </a:rPr>
              <a:t>SecurePay AI: a Flask API and React interface for single checks, CSV bulk screening, analytics and model comparison, returning a risk score and an approve, challenge or decline action. Results are measured, with limits stated.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300" b="0" i="0">
                <a:solidFill>
                  <a:srgbClr val="0F172A"/>
                </a:solidFill>
              </a:rPr>
              <a:t>J. M. C. de Albuquerque Neto, G. C. do Amaral and G. P. Temporao, "Fraud detection in credit card transactions using quantum-assisted restricted Boltzmann machines," IEEE Access, vol. 14, pp. 62923-62932, 2026, doi: 10.1109/ACCESS.2026.3683308.</a:t>
            </a:r>
          </a:p>
        </p:txBody>
      </p:sp>
      <p:sp>
        <p:nvSpPr>
          <p:cNvPr id="28" name="Rounded Rectangle 27"/>
          <p:cNvSpPr/>
          <p:nvPr/>
        </p:nvSpPr>
        <p:spPr>
          <a:xfrm>
            <a:off x="548640"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383280"/>
            <a:ext cx="3118104" cy="2651760"/>
          </a:xfrm>
          <a:prstGeom prst="rect">
            <a:avLst/>
          </a:prstGeom>
          <a:noFill/>
        </p:spPr>
        <p:txBody>
          <a:bodyPr wrap="square" lIns="0" rIns="0" tIns="0" bIns="0" anchor="t">
            <a:spAutoFit/>
          </a:bodyPr>
          <a:lstStyle/>
          <a:p>
            <a:pPr algn="l">
              <a:spcAft>
                <a:spcPts val="400"/>
              </a:spcAft>
            </a:pPr>
            <a:r>
              <a:rPr sz="1600" b="0" i="0">
                <a:solidFill>
                  <a:srgbClr val="475569"/>
                </a:solidFill>
              </a:rPr>
              <a:t>A Gaussian-Bernoulli RBM classifier with a label layer, trained by persistent contrastive divergence, by simulated annealing and by D-Wave quantum sampling. One-hot encoding, z-score, correlation filter and CatBoost importance prepare the data.</a:t>
            </a:r>
          </a:p>
        </p:txBody>
      </p:sp>
      <p:sp>
        <p:nvSpPr>
          <p:cNvPr id="32" name="Rounded Rectangle 31"/>
          <p:cNvSpPr/>
          <p:nvPr/>
        </p:nvSpPr>
        <p:spPr>
          <a:xfrm>
            <a:off x="4334255"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Data and reported results</a:t>
            </a:r>
          </a:p>
        </p:txBody>
      </p:sp>
      <p:sp>
        <p:nvSpPr>
          <p:cNvPr id="35" name="TextBox 34"/>
          <p:cNvSpPr txBox="1"/>
          <p:nvPr/>
        </p:nvSpPr>
        <p:spPr>
          <a:xfrm>
            <a:off x="4535423" y="3383280"/>
            <a:ext cx="3118104" cy="2651760"/>
          </a:xfrm>
          <a:prstGeom prst="rect">
            <a:avLst/>
          </a:prstGeom>
          <a:noFill/>
        </p:spPr>
        <p:txBody>
          <a:bodyPr wrap="square" lIns="0" rIns="0" tIns="0" bIns="0" anchor="t">
            <a:spAutoFit/>
          </a:bodyPr>
          <a:lstStyle/>
          <a:p>
            <a:pPr algn="l">
              <a:spcAft>
                <a:spcPts val="400"/>
              </a:spcAft>
            </a:pPr>
            <a:r>
              <a:rPr sz="1600" b="0" i="0">
                <a:solidFill>
                  <a:srgbClr val="475569"/>
                </a:solidFill>
              </a:rPr>
              <a:t>Real Stone data: 145 million transactions, about 19 thousand fraud, undersampled to 39 thousand (50/50), 80/20 split. F1: PCD 83 %, SAS 88 %, QS 84 %; training 2 minutes, 4 hours and 1.8 hours.</a:t>
            </a:r>
          </a:p>
        </p:txBody>
      </p:sp>
      <p:sp>
        <p:nvSpPr>
          <p:cNvPr id="36" name="Rounded Rectangle 35"/>
          <p:cNvSpPr/>
          <p:nvPr/>
        </p:nvSpPr>
        <p:spPr>
          <a:xfrm>
            <a:off x="8119871"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L</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Relevance to this project</a:t>
            </a:r>
          </a:p>
        </p:txBody>
      </p:sp>
      <p:sp>
        <p:nvSpPr>
          <p:cNvPr id="39" name="TextBox 38"/>
          <p:cNvSpPr txBox="1"/>
          <p:nvPr/>
        </p:nvSpPr>
        <p:spPr>
          <a:xfrm>
            <a:off x="8321040" y="3383280"/>
            <a:ext cx="3118104" cy="2651760"/>
          </a:xfrm>
          <a:prstGeom prst="rect">
            <a:avLst/>
          </a:prstGeom>
          <a:noFill/>
        </p:spPr>
        <p:txBody>
          <a:bodyPr wrap="square" lIns="0" rIns="0" tIns="0" bIns="0" anchor="t">
            <a:spAutoFit/>
          </a:bodyPr>
          <a:lstStyle/>
          <a:p>
            <a:pPr algn="l">
              <a:spcAft>
                <a:spcPts val="400"/>
              </a:spcAft>
            </a:pPr>
            <a:r>
              <a:rPr sz="1600" b="0" i="0">
                <a:solidFill>
                  <a:srgbClr val="475569"/>
                </a:solidFill>
              </a:rPr>
              <a:t>Same model family, preprocessing and balancing. Different data (synthetic), no quantum hardware, and a deployable interface with a risk band. The paper's numbers are never compared directly with ours.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188720"/>
          <a:ext cx="11091672" cy="4736592"/>
        </p:xfrm>
        <a:graphic>
          <a:graphicData uri="http://schemas.openxmlformats.org/drawingml/2006/table">
            <a:tbl>
              <a:tblPr firstRow="0" bandRow="0">
                <a:tableStyleId>{5C22544A-7EE6-4342-B048-85BDC9FD1C3A}</a:tableStyleId>
              </a:tblPr>
              <a:tblGrid>
                <a:gridCol w="2011680"/>
                <a:gridCol w="640080"/>
                <a:gridCol w="4023360"/>
                <a:gridCol w="4416552"/>
              </a:tblGrid>
              <a:tr h="676656">
                <a:tc>
                  <a:txBody>
                    <a:bodyPr wrap="square"/>
                    <a:lstStyle/>
                    <a:p>
                      <a:pPr algn="ctr"/>
                      <a:r>
                        <a:rPr sz="12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Year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Reported result / limitation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76656">
                <a:tc>
                  <a:txBody>
                    <a:bodyPr wrap="square"/>
                    <a:lstStyle/>
                    <a:p>
                      <a:pPr algn="l"/>
                      <a:r>
                        <a:rPr sz="1100" b="0">
                          <a:solidFill>
                            <a:srgbClr val="0F172A"/>
                          </a:solidFill>
                        </a:rPr>
                        <a:t>Neto et al. (base)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Gaussian RBM classifier trained with classical PCD, simulated-annealing sampling and D-Wave quantum sampling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Real Stone data, 145 M transactions, about 19 thousand fraud, balanced to 39 thousand; F1 83 / 88 / 84 % (PCD / SAS / QS); limit: one proprietary dataset; no public baselines; hours of training; no deployable interface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76656">
                <a:tc>
                  <a:txBody>
                    <a:bodyPr wrap="square"/>
                    <a:lstStyle/>
                    <a:p>
                      <a:pPr algn="l"/>
                      <a:r>
                        <a:rPr sz="1100" b="0">
                          <a:solidFill>
                            <a:srgbClr val="0F172A"/>
                          </a:solidFill>
                        </a:rPr>
                        <a:t>Aburbeian and Ashqar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2023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Random forest with SMOTE and hyper-parameter tuning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94,682 online transactions; accuracy about 98 %, F1 about 98 %; limit: resampled data scored; accuracy-led comparison on a small public set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76656">
                <a:tc>
                  <a:txBody>
                    <a:bodyPr wrap="square"/>
                    <a:lstStyle/>
                    <a:p>
                      <a:pPr algn="l"/>
                      <a:r>
                        <a:rPr sz="1100" b="0">
                          <a:solidFill>
                            <a:srgbClr val="0F172A"/>
                          </a:solidFill>
                        </a:rPr>
                        <a:t>Han and Wu</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Combinatorial fusion of seven classifiers, validation-stage subset and rule selection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IEEE-CIS, 590,540 transactions, 3.5 % fraud; AUC 0.9405, AUPRC 0.6699, F1 0.6373; limit: gain over best single model is small; CTGAN augmentation hurt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76656">
                <a:tc>
                  <a:txBody>
                    <a:bodyPr wrap="square"/>
                    <a:lstStyle/>
                    <a:p>
                      <a:pPr algn="l"/>
                      <a:r>
                        <a:rPr sz="1100" b="0">
                          <a:solidFill>
                            <a:srgbClr val="0F172A"/>
                          </a:solidFill>
                        </a:rPr>
                        <a:t>Shi</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ANN compared with XGBoost on imbalanced card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Both about 99.96 % accuracy; XGBoost higher F1 on the fraud class; limit: accuracy is uninformative at this imbalance; no deployment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76656">
                <a:tc>
                  <a:txBody>
                    <a:bodyPr wrap="square"/>
                    <a:lstStyle/>
                    <a:p>
                      <a:pPr algn="l"/>
                      <a:r>
                        <a:rPr sz="1100" b="0">
                          <a:solidFill>
                            <a:srgbClr val="0F172A"/>
                          </a:solidFill>
                        </a:rPr>
                        <a:t>Bhattacharyya et al.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2011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Logistic regression, SVM and random forest compared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Nonlinear ensemble methods generally stronger than linear ones on card transactions (as summarised by Han and Wu); limit: older study; no deployment or imbalance-strategy comparison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76656">
                <a:tc>
                  <a:txBody>
                    <a:bodyPr wrap="square"/>
                    <a:lstStyle/>
                    <a:p>
                      <a:pPr algn="l"/>
                      <a:r>
                        <a:rPr sz="1100" b="0">
                          <a:solidFill>
                            <a:srgbClr val="0F172A"/>
                          </a:solidFill>
                        </a:rPr>
                        <a:t>Dal Pozzolo et al.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2018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Realistic fraud modelling: delayed labels, concept drift, alert precision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Discusses sampling bias, delayed labels and changing fraud patterns in real card streams; limit: addresses data issues, not model training cost or a usable interface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accuracy is not enough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5394960" cy="4754880"/>
        </p:xfrm>
        <a:graphic>
          <a:graphicData uri="http://schemas.openxmlformats.org/drawingml/2006/chart">
            <c:chart xmlns:c="http://schemas.openxmlformats.org/drawingml/2006/chart" r:id="rId3"/>
          </a:graphicData>
        </a:graphic>
      </p:graphicFrame>
      <p:sp>
        <p:nvSpPr>
          <p:cNvPr id="27" name="TextBox 26"/>
          <p:cNvSpPr txBox="1"/>
          <p:nvPr/>
        </p:nvSpPr>
        <p:spPr>
          <a:xfrm>
            <a:off x="6217920" y="1325880"/>
            <a:ext cx="5440680" cy="4480560"/>
          </a:xfrm>
          <a:prstGeom prst="rect">
            <a:avLst/>
          </a:prstGeom>
          <a:noFill/>
        </p:spPr>
        <p:txBody>
          <a:bodyPr wrap="square" lIns="0" rIns="0" tIns="0" bIns="0" anchor="t">
            <a:spAutoFit/>
          </a:bodyPr>
          <a:lstStyle/>
          <a:p>
            <a:pPr algn="l" marL="256032" indent="-201168">
              <a:spcAft>
                <a:spcPts val="900"/>
              </a:spcAft>
              <a:buChar char="•"/>
            </a:pPr>
            <a:r>
              <a:rPr sz="1500" b="0" i="0">
                <a:solidFill>
                  <a:srgbClr val="0F172A"/>
                </a:solidFill>
              </a:rPr>
              <a:t>The base paper's real dataset holds 145 million transactions of which about 19 thousand are fraud, roughly 0.013 % [1].</a:t>
            </a:r>
          </a:p>
          <a:p>
            <a:pPr algn="l" marL="256032" indent="-201168">
              <a:spcAft>
                <a:spcPts val="900"/>
              </a:spcAft>
              <a:buChar char="•"/>
            </a:pPr>
            <a:r>
              <a:rPr sz="1500" b="0" i="0">
                <a:solidFill>
                  <a:srgbClr val="0F172A"/>
                </a:solidFill>
              </a:rPr>
              <a:t>Random forest with SMOTE reaches about 98 % accuracy on a 94,682-transaction set, but accuracy alone hides minority-class errors [2].</a:t>
            </a:r>
          </a:p>
          <a:p>
            <a:pPr algn="l" marL="256032" indent="-201168">
              <a:spcAft>
                <a:spcPts val="900"/>
              </a:spcAft>
              <a:buChar char="•"/>
            </a:pPr>
            <a:r>
              <a:rPr sz="1500" b="0" i="0">
                <a:solidFill>
                  <a:srgbClr val="0F172A"/>
                </a:solidFill>
              </a:rPr>
              <a:t>On IEEE-CIS (3.5 % fraud) the best fusion of tree models gives AUPRC 0.6699 and F1 0.6373, far below accuracy figures [3].</a:t>
            </a:r>
          </a:p>
          <a:p>
            <a:pPr algn="l" marL="256032" indent="-201168">
              <a:spcAft>
                <a:spcPts val="900"/>
              </a:spcAft>
              <a:buChar char="•"/>
            </a:pPr>
            <a:r>
              <a:rPr sz="1500" b="0" i="0">
                <a:solidFill>
                  <a:srgbClr val="0F172A"/>
                </a:solidFill>
              </a:rPr>
              <a:t>ANN and XGBoost both score about 99.96 % accuracy, so only fraud-class F1 separates them [4].</a:t>
            </a:r>
          </a:p>
          <a:p>
            <a:pPr algn="l" marL="256032" indent="-201168">
              <a:spcAft>
                <a:spcPts val="900"/>
              </a:spcAft>
              <a:buChar char="•"/>
            </a:pPr>
            <a:r>
              <a:rPr sz="1500" b="0" i="0">
                <a:solidFill>
                  <a:srgbClr val="0F172A"/>
                </a:solidFill>
              </a:rPr>
              <a:t>SMOTE and Tomek links performed poorly when the minority class was extremely small, so the base paper fell back to manual undersampling [1].</a:t>
            </a:r>
          </a:p>
        </p:txBody>
      </p:sp>
      <p:sp>
        <p:nvSpPr>
          <p:cNvPr id="28" name="TextBox 27"/>
          <p:cNvSpPr txBox="1"/>
          <p:nvPr/>
        </p:nvSpPr>
        <p:spPr>
          <a:xfrm>
            <a:off x="548640" y="6080760"/>
            <a:ext cx="11064240" cy="411480"/>
          </a:xfrm>
          <a:prstGeom prst="rect">
            <a:avLst/>
          </a:prstGeom>
          <a:noFill/>
        </p:spPr>
        <p:txBody>
          <a:bodyPr wrap="square" lIns="0" rIns="0" tIns="0" bIns="0" anchor="t">
            <a:spAutoFit/>
          </a:bodyPr>
          <a:lstStyle/>
          <a:p>
            <a:pPr algn="l">
              <a:spcAft>
                <a:spcPts val="400"/>
              </a:spcAft>
            </a:pPr>
            <a:r>
              <a:rPr sz="1200" b="0" i="1">
                <a:solidFill>
                  <a:srgbClr val="475569"/>
                </a:solidFill>
              </a:rPr>
              <a:t>Different studies and datasets (94,682 transactions [2]; IEEE-CIS, 3.5 % fraud [3]); the bars are context, not a comparison.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Transaction arrives</a:t>
            </a:r>
          </a:p>
        </p:txBody>
      </p:sp>
      <p:sp>
        <p:nvSpPr>
          <p:cNvPr id="27" name="Right Arrow 26"/>
          <p:cNvSpPr/>
          <p:nvPr/>
        </p:nvSpPr>
        <p:spPr>
          <a:xfrm>
            <a:off x="3106674"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Rules fire</a:t>
            </a:r>
          </a:p>
        </p:txBody>
      </p:sp>
      <p:sp>
        <p:nvSpPr>
          <p:cNvPr id="29" name="Right Arrow 28"/>
          <p:cNvSpPr/>
          <p:nvPr/>
        </p:nvSpPr>
        <p:spPr>
          <a:xfrm>
            <a:off x="5993892"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Analyst reviews or auto-decline</a:t>
            </a:r>
          </a:p>
        </p:txBody>
      </p:sp>
      <p:sp>
        <p:nvSpPr>
          <p:cNvPr id="31" name="Right Arrow 30"/>
          <p:cNvSpPr/>
          <p:nvPr/>
        </p:nvSpPr>
        <p:spPr>
          <a:xfrm>
            <a:off x="8881110"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Customer approved or blocked</a:t>
            </a:r>
          </a:p>
        </p:txBody>
      </p:sp>
      <p:sp>
        <p:nvSpPr>
          <p:cNvPr id="33" name="Rounded Rectangle 32"/>
          <p:cNvSpPr/>
          <p:nvPr/>
        </p:nvSpPr>
        <p:spPr>
          <a:xfrm>
            <a:off x="548640"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2880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Rule-based screening</a:t>
            </a:r>
          </a:p>
        </p:txBody>
      </p:sp>
      <p:sp>
        <p:nvSpPr>
          <p:cNvPr id="36" name="TextBox 35"/>
          <p:cNvSpPr txBox="1"/>
          <p:nvPr/>
        </p:nvSpPr>
        <p:spPr>
          <a:xfrm>
            <a:off x="749808" y="3566160"/>
            <a:ext cx="5038344" cy="2468879"/>
          </a:xfrm>
          <a:prstGeom prst="rect">
            <a:avLst/>
          </a:prstGeom>
          <a:noFill/>
        </p:spPr>
        <p:txBody>
          <a:bodyPr wrap="square" lIns="0" rIns="0" tIns="0" bIns="0" anchor="t">
            <a:spAutoFit/>
          </a:bodyPr>
          <a:lstStyle/>
          <a:p>
            <a:pPr algn="l">
              <a:spcAft>
                <a:spcPts val="400"/>
              </a:spcAft>
            </a:pPr>
            <a:r>
              <a:rPr sz="1500" b="0" i="0">
                <a:solidFill>
                  <a:srgbClr val="475569"/>
                </a:solidFill>
              </a:rPr>
              <a:t>Rule engines flag a transaction when fixed conditions fire: high amount, card not present, foreign country, odd hour.
Rules are written by analysts, so they lag behind new fraud patterns and are learned and bypassed by fraudsters.
Every rule hit goes to manual review or an automatic decline, which blocks genuine customers and costs analyst time.</a:t>
            </a:r>
          </a:p>
        </p:txBody>
      </p:sp>
      <p:sp>
        <p:nvSpPr>
          <p:cNvPr id="37" name="Rounded Rectangle 36"/>
          <p:cNvSpPr/>
          <p:nvPr/>
        </p:nvSpPr>
        <p:spPr>
          <a:xfrm>
            <a:off x="6199632"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28803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Machine-learning studies</a:t>
            </a:r>
          </a:p>
        </p:txBody>
      </p:sp>
      <p:sp>
        <p:nvSpPr>
          <p:cNvPr id="40" name="TextBox 39"/>
          <p:cNvSpPr txBox="1"/>
          <p:nvPr/>
        </p:nvSpPr>
        <p:spPr>
          <a:xfrm>
            <a:off x="6400800" y="3566160"/>
            <a:ext cx="5038344" cy="2468879"/>
          </a:xfrm>
          <a:prstGeom prst="rect">
            <a:avLst/>
          </a:prstGeom>
          <a:noFill/>
        </p:spPr>
        <p:txBody>
          <a:bodyPr wrap="square" lIns="0" rIns="0" tIns="0" bIns="0" anchor="t">
            <a:spAutoFit/>
          </a:bodyPr>
          <a:lstStyle/>
          <a:p>
            <a:pPr algn="l">
              <a:spcAft>
                <a:spcPts val="400"/>
              </a:spcAft>
            </a:pPr>
            <a:r>
              <a:rPr sz="1500" b="0" i="0">
                <a:solidFill>
                  <a:srgbClr val="475569"/>
                </a:solidFill>
              </a:rPr>
              <a:t>Standard classifiers trained on raw data score high accuracy by predicting nearly everything as genuine.
Published machine-learning studies compare individual classifiers or sampling methods separately and rarely deliver a deployable scoring interface.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Static rules</a:t>
            </a:r>
          </a:p>
        </p:txBody>
      </p:sp>
      <p:sp>
        <p:nvSpPr>
          <p:cNvPr id="29" name="TextBox 28"/>
          <p:cNvSpPr txBox="1"/>
          <p:nvPr/>
        </p:nvSpPr>
        <p:spPr>
          <a:xfrm>
            <a:off x="749808" y="2194560"/>
            <a:ext cx="5038344" cy="960119"/>
          </a:xfrm>
          <a:prstGeom prst="rect">
            <a:avLst/>
          </a:prstGeom>
          <a:noFill/>
        </p:spPr>
        <p:txBody>
          <a:bodyPr wrap="square" lIns="0" rIns="0" tIns="0" bIns="0" anchor="t">
            <a:spAutoFit/>
          </a:bodyPr>
          <a:lstStyle/>
          <a:p>
            <a:pPr algn="l">
              <a:spcAft>
                <a:spcPts val="400"/>
              </a:spcAft>
            </a:pPr>
            <a:r>
              <a:rPr sz="1800" b="0" i="0">
                <a:solidFill>
                  <a:srgbClr val="475569"/>
                </a:solidFill>
              </a:rPr>
              <a:t>they cannot adapt to shifting fraud behaviour and are easy to probe.</a:t>
            </a:r>
          </a:p>
        </p:txBody>
      </p:sp>
      <p:sp>
        <p:nvSpPr>
          <p:cNvPr id="30" name="Rounded Rectangle 29"/>
          <p:cNvSpPr/>
          <p:nvPr/>
        </p:nvSpPr>
        <p:spPr>
          <a:xfrm>
            <a:off x="6199631"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Accuracy-led evaluation</a:t>
            </a:r>
          </a:p>
        </p:txBody>
      </p:sp>
      <p:sp>
        <p:nvSpPr>
          <p:cNvPr id="33" name="TextBox 32"/>
          <p:cNvSpPr txBox="1"/>
          <p:nvPr/>
        </p:nvSpPr>
        <p:spPr>
          <a:xfrm>
            <a:off x="6400799" y="2194560"/>
            <a:ext cx="5038344" cy="960119"/>
          </a:xfrm>
          <a:prstGeom prst="rect">
            <a:avLst/>
          </a:prstGeom>
          <a:noFill/>
        </p:spPr>
        <p:txBody>
          <a:bodyPr wrap="square" lIns="0" rIns="0" tIns="0" bIns="0" anchor="t">
            <a:spAutoFit/>
          </a:bodyPr>
          <a:lstStyle/>
          <a:p>
            <a:pPr algn="l">
              <a:spcAft>
                <a:spcPts val="400"/>
              </a:spcAft>
            </a:pPr>
            <a:r>
              <a:rPr sz="1800" b="0" i="0">
                <a:solidFill>
                  <a:srgbClr val="475569"/>
                </a:solidFill>
              </a:rPr>
              <a:t>at 0.013 % to 3.5 % fraud a model that never flags anything looks excellent.</a:t>
            </a:r>
          </a:p>
        </p:txBody>
      </p:sp>
      <p:sp>
        <p:nvSpPr>
          <p:cNvPr id="34" name="Rounded Rectangle 33"/>
          <p:cNvSpPr/>
          <p:nvPr/>
        </p:nvSpPr>
        <p:spPr>
          <a:xfrm>
            <a:off x="548640"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365760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Resampling pitfalls</a:t>
            </a:r>
          </a:p>
        </p:txBody>
      </p:sp>
      <p:sp>
        <p:nvSpPr>
          <p:cNvPr id="37" name="TextBox 36"/>
          <p:cNvSpPr txBox="1"/>
          <p:nvPr/>
        </p:nvSpPr>
        <p:spPr>
          <a:xfrm>
            <a:off x="749808" y="4343400"/>
            <a:ext cx="5038344" cy="960119"/>
          </a:xfrm>
          <a:prstGeom prst="rect">
            <a:avLst/>
          </a:prstGeom>
          <a:noFill/>
        </p:spPr>
        <p:txBody>
          <a:bodyPr wrap="square" lIns="0" rIns="0" tIns="0" bIns="0" anchor="t">
            <a:spAutoFit/>
          </a:bodyPr>
          <a:lstStyle/>
          <a:p>
            <a:pPr algn="l">
              <a:spcAft>
                <a:spcPts val="400"/>
              </a:spcAft>
            </a:pPr>
            <a:r>
              <a:rPr sz="1800" b="0" i="0">
                <a:solidFill>
                  <a:srgbClr val="475569"/>
                </a:solidFill>
              </a:rPr>
              <a:t>SMOTE trains on synthetic minority points and undersampling can leave very little data.</a:t>
            </a:r>
          </a:p>
        </p:txBody>
      </p:sp>
      <p:sp>
        <p:nvSpPr>
          <p:cNvPr id="38" name="Rounded Rectangle 37"/>
          <p:cNvSpPr/>
          <p:nvPr/>
        </p:nvSpPr>
        <p:spPr>
          <a:xfrm>
            <a:off x="6199631"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365760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Hard to reproduce</a:t>
            </a:r>
          </a:p>
        </p:txBody>
      </p:sp>
      <p:sp>
        <p:nvSpPr>
          <p:cNvPr id="41" name="TextBox 40"/>
          <p:cNvSpPr txBox="1"/>
          <p:nvPr/>
        </p:nvSpPr>
        <p:spPr>
          <a:xfrm>
            <a:off x="6400799" y="4343400"/>
            <a:ext cx="5038344" cy="960119"/>
          </a:xfrm>
          <a:prstGeom prst="rect">
            <a:avLst/>
          </a:prstGeom>
          <a:noFill/>
        </p:spPr>
        <p:txBody>
          <a:bodyPr wrap="square" lIns="0" rIns="0" tIns="0" bIns="0" anchor="t">
            <a:spAutoFit/>
          </a:bodyPr>
          <a:lstStyle/>
          <a:p>
            <a:pPr algn="l">
              <a:spcAft>
                <a:spcPts val="400"/>
              </a:spcAft>
            </a:pPr>
            <a:r>
              <a:rPr sz="1800" b="0" i="0">
                <a:solidFill>
                  <a:srgbClr val="475569"/>
                </a:solidFill>
              </a:rPr>
              <a:t>the base paper's data is proprietary and its best training took hours on a simulator or quantum cloud.</a:t>
            </a:r>
          </a:p>
        </p:txBody>
      </p:sp>
      <p:sp>
        <p:nvSpPr>
          <p:cNvPr id="42" name="Rounded Rectangle 41"/>
          <p:cNvSpPr/>
          <p:nvPr/>
        </p:nvSpPr>
        <p:spPr>
          <a:xfrm>
            <a:off x="548640" y="5715000"/>
            <a:ext cx="11091672" cy="685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715000"/>
            <a:ext cx="10698480" cy="685800"/>
          </a:xfrm>
          <a:prstGeom prst="rect">
            <a:avLst/>
          </a:prstGeom>
          <a:noFill/>
        </p:spPr>
        <p:txBody>
          <a:bodyPr wrap="square" lIns="0" rIns="0" tIns="0" bIns="0" anchor="ctr">
            <a:spAutoFit/>
          </a:bodyPr>
          <a:lstStyle/>
          <a:p>
            <a:pPr algn="l">
              <a:spcAft>
                <a:spcPts val="400"/>
              </a:spcAft>
            </a:pPr>
            <a:r>
              <a:rPr sz="1500" b="0" i="0">
                <a:solidFill>
                  <a:srgbClr val="0F172A"/>
                </a:solidFill>
              </a:rPr>
              <a:t>Also, no operational layer: most studies stop at a notebook, with no interface that flags a live transaction.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Oval 25"/>
          <p:cNvSpPr/>
          <p:nvPr/>
        </p:nvSpPr>
        <p:spPr>
          <a:xfrm>
            <a:off x="548640" y="1371600"/>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1</a:t>
            </a:r>
          </a:p>
        </p:txBody>
      </p:sp>
      <p:sp>
        <p:nvSpPr>
          <p:cNvPr id="27" name="TextBox 26"/>
          <p:cNvSpPr txBox="1"/>
          <p:nvPr/>
        </p:nvSpPr>
        <p:spPr>
          <a:xfrm>
            <a:off x="1417320" y="1280160"/>
            <a:ext cx="10195560" cy="749808"/>
          </a:xfrm>
          <a:prstGeom prst="rect">
            <a:avLst/>
          </a:prstGeom>
          <a:noFill/>
        </p:spPr>
        <p:txBody>
          <a:bodyPr wrap="square" lIns="0" rIns="0" tIns="0" bIns="0" anchor="ctr">
            <a:spAutoFit/>
          </a:bodyPr>
          <a:lstStyle/>
          <a:p>
            <a:pPr algn="l">
              <a:spcAft>
                <a:spcPts val="400"/>
              </a:spcAft>
            </a:pPr>
            <a:r>
              <a:rPr sz="1900" b="0" i="0">
                <a:solidFill>
                  <a:srgbClr val="0F172A"/>
                </a:solidFill>
              </a:rPr>
              <a:t>Individual classifiers and sampling methods are studied separately; a compared, tuned pipeline is missing.</a:t>
            </a:r>
          </a:p>
        </p:txBody>
      </p:sp>
      <p:sp>
        <p:nvSpPr>
          <p:cNvPr id="28" name="Oval 27"/>
          <p:cNvSpPr/>
          <p:nvPr/>
        </p:nvSpPr>
        <p:spPr>
          <a:xfrm>
            <a:off x="548640" y="2194560"/>
            <a:ext cx="566928" cy="566928"/>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2</a:t>
            </a:r>
          </a:p>
        </p:txBody>
      </p:sp>
      <p:sp>
        <p:nvSpPr>
          <p:cNvPr id="29" name="TextBox 28"/>
          <p:cNvSpPr txBox="1"/>
          <p:nvPr/>
        </p:nvSpPr>
        <p:spPr>
          <a:xfrm>
            <a:off x="1417320" y="2103120"/>
            <a:ext cx="10195560" cy="749808"/>
          </a:xfrm>
          <a:prstGeom prst="rect">
            <a:avLst/>
          </a:prstGeom>
          <a:noFill/>
        </p:spPr>
        <p:txBody>
          <a:bodyPr wrap="square" lIns="0" rIns="0" tIns="0" bIns="0" anchor="ctr">
            <a:spAutoFit/>
          </a:bodyPr>
          <a:lstStyle/>
          <a:p>
            <a:pPr algn="l">
              <a:spcAft>
                <a:spcPts val="400"/>
              </a:spcAft>
            </a:pPr>
            <a:r>
              <a:rPr sz="1900" b="0" i="0">
                <a:solidFill>
                  <a:srgbClr val="0F172A"/>
                </a:solidFill>
              </a:rPr>
              <a:t>Evaluation is often accuracy-led; recall, precision and F1 on the fraud class are what an analyst needs.</a:t>
            </a:r>
          </a:p>
        </p:txBody>
      </p:sp>
      <p:sp>
        <p:nvSpPr>
          <p:cNvPr id="30" name="Oval 29"/>
          <p:cNvSpPr/>
          <p:nvPr/>
        </p:nvSpPr>
        <p:spPr>
          <a:xfrm>
            <a:off x="548640" y="3017520"/>
            <a:ext cx="566928" cy="566928"/>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3</a:t>
            </a:r>
          </a:p>
        </p:txBody>
      </p:sp>
      <p:sp>
        <p:nvSpPr>
          <p:cNvPr id="31" name="TextBox 30"/>
          <p:cNvSpPr txBox="1"/>
          <p:nvPr/>
        </p:nvSpPr>
        <p:spPr>
          <a:xfrm>
            <a:off x="1417320" y="2926080"/>
            <a:ext cx="10195560" cy="749808"/>
          </a:xfrm>
          <a:prstGeom prst="rect">
            <a:avLst/>
          </a:prstGeom>
          <a:noFill/>
        </p:spPr>
        <p:txBody>
          <a:bodyPr wrap="square" lIns="0" rIns="0" tIns="0" bIns="0" anchor="ctr">
            <a:spAutoFit/>
          </a:bodyPr>
          <a:lstStyle/>
          <a:p>
            <a:pPr algn="l">
              <a:spcAft>
                <a:spcPts val="400"/>
              </a:spcAft>
            </a:pPr>
            <a:r>
              <a:rPr sz="1900" b="0" i="0">
                <a:solidFill>
                  <a:srgbClr val="0F172A"/>
                </a:solidFill>
              </a:rPr>
              <a:t>The base paper's quantum-assisted RBM is shown only on private data and without a usable interface.</a:t>
            </a:r>
          </a:p>
        </p:txBody>
      </p:sp>
      <p:sp>
        <p:nvSpPr>
          <p:cNvPr id="32" name="Oval 31"/>
          <p:cNvSpPr/>
          <p:nvPr/>
        </p:nvSpPr>
        <p:spPr>
          <a:xfrm>
            <a:off x="548640" y="3840479"/>
            <a:ext cx="566928" cy="566928"/>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4</a:t>
            </a:r>
          </a:p>
        </p:txBody>
      </p:sp>
      <p:sp>
        <p:nvSpPr>
          <p:cNvPr id="33" name="TextBox 32"/>
          <p:cNvSpPr txBox="1"/>
          <p:nvPr/>
        </p:nvSpPr>
        <p:spPr>
          <a:xfrm>
            <a:off x="1417320" y="3749039"/>
            <a:ext cx="10195560" cy="749808"/>
          </a:xfrm>
          <a:prstGeom prst="rect">
            <a:avLst/>
          </a:prstGeom>
          <a:noFill/>
        </p:spPr>
        <p:txBody>
          <a:bodyPr wrap="square" lIns="0" rIns="0" tIns="0" bIns="0" anchor="ctr">
            <a:spAutoFit/>
          </a:bodyPr>
          <a:lstStyle/>
          <a:p>
            <a:pPr algn="l">
              <a:spcAft>
                <a:spcPts val="400"/>
              </a:spcAft>
            </a:pPr>
            <a:r>
              <a:rPr sz="1900" b="0" i="0">
                <a:solidFill>
                  <a:srgbClr val="0F172A"/>
                </a:solidFill>
              </a:rPr>
              <a:t>Quantum hardware is out of reach for most teams; whether a classical simulation of the sampler is enough is unanswered.</a:t>
            </a:r>
          </a:p>
        </p:txBody>
      </p:sp>
      <p:sp>
        <p:nvSpPr>
          <p:cNvPr id="34" name="Oval 33"/>
          <p:cNvSpPr/>
          <p:nvPr/>
        </p:nvSpPr>
        <p:spPr>
          <a:xfrm>
            <a:off x="548640" y="4663440"/>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5</a:t>
            </a:r>
          </a:p>
        </p:txBody>
      </p:sp>
      <p:sp>
        <p:nvSpPr>
          <p:cNvPr id="35" name="TextBox 34"/>
          <p:cNvSpPr txBox="1"/>
          <p:nvPr/>
        </p:nvSpPr>
        <p:spPr>
          <a:xfrm>
            <a:off x="1417320" y="4572000"/>
            <a:ext cx="10195560" cy="749808"/>
          </a:xfrm>
          <a:prstGeom prst="rect">
            <a:avLst/>
          </a:prstGeom>
          <a:noFill/>
        </p:spPr>
        <p:txBody>
          <a:bodyPr wrap="square" lIns="0" rIns="0" tIns="0" bIns="0" anchor="ctr">
            <a:spAutoFit/>
          </a:bodyPr>
          <a:lstStyle/>
          <a:p>
            <a:pPr algn="l">
              <a:spcAft>
                <a:spcPts val="400"/>
              </a:spcAft>
            </a:pPr>
            <a:r>
              <a:rPr sz="1900" b="0" i="0">
                <a:solidFill>
                  <a:srgbClr val="0F172A"/>
                </a:solidFill>
              </a:rPr>
              <a:t>Few works measure how the same pipeline behaves when fraud falls from 50 % to about 1 % of the stream.</a:t>
            </a:r>
          </a:p>
        </p:txBody>
      </p:sp>
      <p:sp>
        <p:nvSpPr>
          <p:cNvPr id="36" name="Oval 35"/>
          <p:cNvSpPr/>
          <p:nvPr/>
        </p:nvSpPr>
        <p:spPr>
          <a:xfrm>
            <a:off x="548640" y="5486400"/>
            <a:ext cx="566928" cy="566928"/>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6</a:t>
            </a:r>
          </a:p>
        </p:txBody>
      </p:sp>
      <p:sp>
        <p:nvSpPr>
          <p:cNvPr id="37" name="TextBox 36"/>
          <p:cNvSpPr txBox="1"/>
          <p:nvPr/>
        </p:nvSpPr>
        <p:spPr>
          <a:xfrm>
            <a:off x="1417320" y="5394960"/>
            <a:ext cx="10195560" cy="749808"/>
          </a:xfrm>
          <a:prstGeom prst="rect">
            <a:avLst/>
          </a:prstGeom>
          <a:noFill/>
        </p:spPr>
        <p:txBody>
          <a:bodyPr wrap="square" lIns="0" rIns="0" tIns="0" bIns="0" anchor="ctr">
            <a:spAutoFit/>
          </a:bodyPr>
          <a:lstStyle/>
          <a:p>
            <a:pPr algn="l">
              <a:spcAft>
                <a:spcPts val="400"/>
              </a:spcAft>
            </a:pPr>
            <a:r>
              <a:rPr sz="1900" b="0" i="0">
                <a:solidFill>
                  <a:srgbClr val="0F172A"/>
                </a:solidFill>
              </a:rPr>
              <a:t>Deployable live scoring with a risk band and an explanation of the decision is rarely provided.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926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17320"/>
            <a:ext cx="10469880" cy="2788920"/>
          </a:xfrm>
          <a:prstGeom prst="rect">
            <a:avLst/>
          </a:prstGeom>
          <a:noFill/>
        </p:spPr>
        <p:txBody>
          <a:bodyPr wrap="square" lIns="0" rIns="0" tIns="0" bIns="0" anchor="ctr">
            <a:spAutoFit/>
          </a:bodyPr>
          <a:lstStyle/>
          <a:p>
            <a:pPr algn="l" marL="256032" indent="-201168">
              <a:spcAft>
                <a:spcPts val="600"/>
              </a:spcAft>
              <a:buChar char="•"/>
            </a:pPr>
            <a:r>
              <a:rPr sz="1700" b="0" i="0">
                <a:solidFill>
                  <a:srgbClr val="0F172A"/>
                </a:solidFill>
              </a:rPr>
              <a:t>Fraudulent transactions are rare, so standard classifiers reach high accuracy by predicting everything as genuine.</a:t>
            </a:r>
          </a:p>
          <a:p>
            <a:pPr algn="l" marL="256032" indent="-201168">
              <a:spcAft>
                <a:spcPts val="600"/>
              </a:spcAft>
              <a:buChar char="•"/>
            </a:pPr>
            <a:r>
              <a:rPr sz="1700" b="0" i="0">
                <a:solidFill>
                  <a:srgbClr val="0F172A"/>
                </a:solidFill>
              </a:rPr>
              <a:t>Rule-based systems raise many false alarms and block legitimate customers.</a:t>
            </a:r>
          </a:p>
          <a:p>
            <a:pPr algn="l" marL="256032" indent="-201168">
              <a:spcAft>
                <a:spcPts val="600"/>
              </a:spcAft>
              <a:buChar char="•"/>
            </a:pPr>
            <a:r>
              <a:rPr sz="1700" b="0" i="0">
                <a:solidFill>
                  <a:srgbClr val="0F172A"/>
                </a:solidFill>
              </a:rPr>
              <a:t>Fraud patterns change continuously, so a fixed rule set becomes obsolete quickly.</a:t>
            </a:r>
          </a:p>
          <a:p>
            <a:pPr algn="l" marL="256032" indent="-201168">
              <a:spcAft>
                <a:spcPts val="600"/>
              </a:spcAft>
              <a:buChar char="•"/>
            </a:pPr>
            <a:r>
              <a:rPr sz="1700" b="0" i="0">
                <a:solidFill>
                  <a:srgbClr val="0F172A"/>
                </a:solidFill>
              </a:rPr>
              <a:t>Missing a fraud costs far more than reviewing a false alarm, yet most models treat both errors equally.</a:t>
            </a:r>
          </a:p>
          <a:p>
            <a:pPr algn="l">
              <a:spcAft>
                <a:spcPts val="0"/>
              </a:spcAft>
            </a:pPr>
            <a:r>
              <a:rPr sz="1700" b="1" i="0">
                <a:solidFill>
                  <a:srgbClr val="0F172A"/>
                </a:solidFill>
              </a:rPr>
              <a:t>Need:</a:t>
            </a:r>
            <a:r>
              <a:rPr sz="1700" b="0" i="0">
                <a:solidFill>
                  <a:srgbClr val="0F172A"/>
                </a:solidFill>
              </a:rPr>
              <a:t> A machine learning system that handles severe class imbalance and maximises fraud recall while keeping false alarms acceptable.</a:t>
            </a:r>
          </a:p>
        </p:txBody>
      </p:sp>
      <p:sp>
        <p:nvSpPr>
          <p:cNvPr id="28" name="Rounded Rectangle 27"/>
          <p:cNvSpPr/>
          <p:nvPr/>
        </p:nvSpPr>
        <p:spPr>
          <a:xfrm>
            <a:off x="548640" y="443484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52628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937760"/>
            <a:ext cx="3108960" cy="1234440"/>
          </a:xfrm>
          <a:prstGeom prst="rect">
            <a:avLst/>
          </a:prstGeom>
          <a:noFill/>
        </p:spPr>
        <p:txBody>
          <a:bodyPr wrap="square" lIns="0" rIns="0" tIns="0" bIns="0" anchor="t">
            <a:spAutoFit/>
          </a:bodyPr>
          <a:lstStyle/>
          <a:p>
            <a:pPr algn="l">
              <a:spcAft>
                <a:spcPts val="400"/>
              </a:spcAft>
            </a:pPr>
            <a:r>
              <a:rPr sz="1400" b="0" i="0">
                <a:solidFill>
                  <a:srgbClr val="475569"/>
                </a:solidFill>
              </a:rPr>
              <a:t>One transaction (amount, merchant category, channel, card present, country match, time and anonymised features) or a CSV of them</a:t>
            </a:r>
          </a:p>
        </p:txBody>
      </p:sp>
      <p:sp>
        <p:nvSpPr>
          <p:cNvPr id="31" name="Rounded Rectangle 30"/>
          <p:cNvSpPr/>
          <p:nvPr/>
        </p:nvSpPr>
        <p:spPr>
          <a:xfrm>
            <a:off x="4334255" y="443484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52628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937760"/>
            <a:ext cx="3108960" cy="1234440"/>
          </a:xfrm>
          <a:prstGeom prst="rect">
            <a:avLst/>
          </a:prstGeom>
          <a:noFill/>
        </p:spPr>
        <p:txBody>
          <a:bodyPr wrap="square" lIns="0" rIns="0" tIns="0" bIns="0" anchor="t">
            <a:spAutoFit/>
          </a:bodyPr>
          <a:lstStyle/>
          <a:p>
            <a:pPr algn="l">
              <a:spcAft>
                <a:spcPts val="400"/>
              </a:spcAft>
            </a:pPr>
            <a:r>
              <a:rPr sz="1400" b="0" i="0">
                <a:solidFill>
                  <a:srgbClr val="475569"/>
                </a:solidFill>
              </a:rPr>
              <a:t>A fraud probability, a risk band (low, medium, high) and an approve, challenge or decline action</a:t>
            </a:r>
          </a:p>
        </p:txBody>
      </p:sp>
      <p:sp>
        <p:nvSpPr>
          <p:cNvPr id="34" name="Rounded Rectangle 33"/>
          <p:cNvSpPr/>
          <p:nvPr/>
        </p:nvSpPr>
        <p:spPr>
          <a:xfrm>
            <a:off x="8119871" y="443484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52628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Record</a:t>
            </a:r>
          </a:p>
        </p:txBody>
      </p:sp>
      <p:sp>
        <p:nvSpPr>
          <p:cNvPr id="36" name="TextBox 35"/>
          <p:cNvSpPr txBox="1"/>
          <p:nvPr/>
        </p:nvSpPr>
        <p:spPr>
          <a:xfrm>
            <a:off x="8348471" y="4937760"/>
            <a:ext cx="3108960" cy="1234440"/>
          </a:xfrm>
          <a:prstGeom prst="rect">
            <a:avLst/>
          </a:prstGeom>
          <a:noFill/>
        </p:spPr>
        <p:txBody>
          <a:bodyPr wrap="square" lIns="0" rIns="0" tIns="0" bIns="0" anchor="t">
            <a:spAutoFit/>
          </a:bodyPr>
          <a:lstStyle/>
          <a:p>
            <a:pPr algn="l">
              <a:spcAft>
                <a:spcPts val="400"/>
              </a:spcAft>
            </a:pPr>
            <a:r>
              <a:rPr sz="1400" b="0" i="0">
                <a:solidFill>
                  <a:srgbClr val="475569"/>
                </a:solidFill>
              </a:rPr>
              <a:t>Per-model probabilities, a downloadable result CSV, and measured metrics for every claim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937760"/>
          </a:xfrm>
          <a:prstGeom prst="rect">
            <a:avLst/>
          </a:prstGeom>
          <a:noFill/>
        </p:spPr>
        <p:txBody>
          <a:bodyPr wrap="square" lIns="0" rIns="0" tIns="0" bIns="0" anchor="t">
            <a:spAutoFit/>
          </a:bodyPr>
          <a:lstStyle/>
          <a:p>
            <a:pPr algn="l">
              <a:spcAft>
                <a:spcPts val="2000"/>
              </a:spcAft>
            </a:pPr>
            <a:r>
              <a:rPr sz="2400" b="0" i="0">
                <a:solidFill>
                  <a:srgbClr val="0F172A"/>
                </a:solidFill>
              </a:rPr>
              <a:t>1.  Acquire a benchmark credit card transaction dataset and quantify the degree of class imbalance.</a:t>
            </a:r>
          </a:p>
          <a:p>
            <a:pPr algn="l">
              <a:spcAft>
                <a:spcPts val="2000"/>
              </a:spcAft>
            </a:pPr>
            <a:r>
              <a:rPr sz="2400" b="0" i="0">
                <a:solidFill>
                  <a:srgbClr val="0F172A"/>
                </a:solidFill>
              </a:rPr>
              <a:t>2.  Apply preprocessing including scaling, feature selection and stratified train-test splitting.</a:t>
            </a:r>
          </a:p>
          <a:p>
            <a:pPr algn="l">
              <a:spcAft>
                <a:spcPts val="2000"/>
              </a:spcAft>
            </a:pPr>
            <a:r>
              <a:rPr sz="2400" b="0" i="0">
                <a:solidFill>
                  <a:srgbClr val="0F172A"/>
                </a:solidFill>
              </a:rPr>
              <a:t>3.  Balance the training data using SMOTE and compare it against random undersampling.</a:t>
            </a:r>
          </a:p>
          <a:p>
            <a:pPr algn="l">
              <a:spcAft>
                <a:spcPts val="2000"/>
              </a:spcAft>
            </a:pPr>
            <a:r>
              <a:rPr sz="2400" b="0" i="0">
                <a:solidFill>
                  <a:srgbClr val="0F172A"/>
                </a:solidFill>
              </a:rPr>
              <a:t>4.  Train Logistic Regression, Random Forest and XGBoost classifiers on the balanced data.</a:t>
            </a:r>
          </a:p>
          <a:p>
            <a:pPr algn="l">
              <a:spcAft>
                <a:spcPts val="2000"/>
              </a:spcAft>
            </a:pPr>
            <a:r>
              <a:rPr sz="2400" b="0" i="0">
                <a:solidFill>
                  <a:srgbClr val="0F172A"/>
                </a:solidFill>
              </a:rPr>
              <a:t>5.  Evaluate using precision, recall, F1-score and ROC-AUC rather than accuracy alone.</a:t>
            </a:r>
          </a:p>
          <a:p>
            <a:pPr algn="l">
              <a:spcAft>
                <a:spcPts val="2000"/>
              </a:spcAft>
            </a:pPr>
            <a:r>
              <a:rPr sz="2400" b="0" i="0">
                <a:solidFill>
                  <a:srgbClr val="0F172A"/>
                </a:solidFill>
              </a:rPr>
              <a:t>6.  Deploy the best model behind an interface that flags a transaction as genuine or fraudulent.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Prepare</a:t>
            </a:r>
          </a:p>
        </p:txBody>
      </p:sp>
      <p:sp>
        <p:nvSpPr>
          <p:cNvPr id="29" name="TextBox 28"/>
          <p:cNvSpPr txBox="1"/>
          <p:nvPr/>
        </p:nvSpPr>
        <p:spPr>
          <a:xfrm>
            <a:off x="749808" y="2194560"/>
            <a:ext cx="2231136" cy="2240279"/>
          </a:xfrm>
          <a:prstGeom prst="rect">
            <a:avLst/>
          </a:prstGeom>
          <a:noFill/>
        </p:spPr>
        <p:txBody>
          <a:bodyPr wrap="square" lIns="0" rIns="0" tIns="0" bIns="0" anchor="t">
            <a:spAutoFit/>
          </a:bodyPr>
          <a:lstStyle/>
          <a:p>
            <a:pPr algn="l">
              <a:spcAft>
                <a:spcPts val="400"/>
              </a:spcAft>
            </a:pPr>
            <a:r>
              <a:rPr sz="1700" b="0" i="0">
                <a:solidFill>
                  <a:srgbClr val="475569"/>
                </a:solidFill>
              </a:rPr>
              <a:t>One-hot encode merchant and channel, z-score the numbers, filter correlated columns, undersample to 50/50, keep the top 18 features, split 80/20.</a:t>
            </a:r>
          </a:p>
        </p:txBody>
      </p:sp>
      <p:sp>
        <p:nvSpPr>
          <p:cNvPr id="30" name="Rounded Rectangle 29"/>
          <p:cNvSpPr/>
          <p:nvPr/>
        </p:nvSpPr>
        <p:spPr>
          <a:xfrm>
            <a:off x="3364992" y="1325880"/>
            <a:ext cx="2633472"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Model</a:t>
            </a:r>
          </a:p>
        </p:txBody>
      </p:sp>
      <p:sp>
        <p:nvSpPr>
          <p:cNvPr id="33" name="TextBox 32"/>
          <p:cNvSpPr txBox="1"/>
          <p:nvPr/>
        </p:nvSpPr>
        <p:spPr>
          <a:xfrm>
            <a:off x="3566160" y="2194560"/>
            <a:ext cx="2231136" cy="2240279"/>
          </a:xfrm>
          <a:prstGeom prst="rect">
            <a:avLst/>
          </a:prstGeom>
          <a:noFill/>
        </p:spPr>
        <p:txBody>
          <a:bodyPr wrap="square" lIns="0" rIns="0" tIns="0" bIns="0" anchor="t">
            <a:spAutoFit/>
          </a:bodyPr>
          <a:lstStyle/>
          <a:p>
            <a:pPr algn="l">
              <a:spcAft>
                <a:spcPts val="400"/>
              </a:spcAft>
            </a:pPr>
            <a:r>
              <a:rPr sz="1700" b="0" i="0">
                <a:solidFill>
                  <a:srgbClr val="475569"/>
                </a:solidFill>
              </a:rPr>
              <a:t>A Gaussian RBM classifier with visible, hidden and label layers, trained by PCD, by simulated annealing and by a quantum-inspired sampler.</a:t>
            </a:r>
          </a:p>
        </p:txBody>
      </p:sp>
      <p:sp>
        <p:nvSpPr>
          <p:cNvPr id="34" name="Rounded Rectangle 33"/>
          <p:cNvSpPr/>
          <p:nvPr/>
        </p:nvSpPr>
        <p:spPr>
          <a:xfrm>
            <a:off x="6181344" y="1325880"/>
            <a:ext cx="2633472"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Decide</a:t>
            </a:r>
          </a:p>
        </p:txBody>
      </p:sp>
      <p:sp>
        <p:nvSpPr>
          <p:cNvPr id="37" name="TextBox 36"/>
          <p:cNvSpPr txBox="1"/>
          <p:nvPr/>
        </p:nvSpPr>
        <p:spPr>
          <a:xfrm>
            <a:off x="6382512" y="2194560"/>
            <a:ext cx="2231136" cy="2240279"/>
          </a:xfrm>
          <a:prstGeom prst="rect">
            <a:avLst/>
          </a:prstGeom>
          <a:noFill/>
        </p:spPr>
        <p:txBody>
          <a:bodyPr wrap="square" lIns="0" rIns="0" tIns="0" bIns="0" anchor="t">
            <a:spAutoFit/>
          </a:bodyPr>
          <a:lstStyle/>
          <a:p>
            <a:pPr algn="l">
              <a:spcAft>
                <a:spcPts val="400"/>
              </a:spcAft>
            </a:pPr>
            <a:r>
              <a:rPr sz="1700" b="0" i="0">
                <a:solidFill>
                  <a:srgbClr val="475569"/>
                </a:solidFill>
              </a:rPr>
              <a:t>Average the three fraud probabilities. Below 40 % approve, 40 to 70 % challenge, above 70 % decline and alert.</a:t>
            </a:r>
          </a:p>
        </p:txBody>
      </p:sp>
      <p:sp>
        <p:nvSpPr>
          <p:cNvPr id="38" name="Rounded Rectangle 37"/>
          <p:cNvSpPr/>
          <p:nvPr/>
        </p:nvSpPr>
        <p:spPr>
          <a:xfrm>
            <a:off x="8997696" y="1325880"/>
            <a:ext cx="2633472"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Serve and measure</a:t>
            </a:r>
          </a:p>
        </p:txBody>
      </p:sp>
      <p:sp>
        <p:nvSpPr>
          <p:cNvPr id="41" name="TextBox 40"/>
          <p:cNvSpPr txBox="1"/>
          <p:nvPr/>
        </p:nvSpPr>
        <p:spPr>
          <a:xfrm>
            <a:off x="9198864" y="2194560"/>
            <a:ext cx="2231136" cy="2240279"/>
          </a:xfrm>
          <a:prstGeom prst="rect">
            <a:avLst/>
          </a:prstGeom>
          <a:noFill/>
        </p:spPr>
        <p:txBody>
          <a:bodyPr wrap="square" lIns="0" rIns="0" tIns="0" bIns="0" anchor="t">
            <a:spAutoFit/>
          </a:bodyPr>
          <a:lstStyle/>
          <a:p>
            <a:pPr algn="l">
              <a:spcAft>
                <a:spcPts val="400"/>
              </a:spcAft>
            </a:pPr>
            <a:r>
              <a:rPr sz="1700" b="0" i="0">
                <a:solidFill>
                  <a:srgbClr val="475569"/>
                </a:solidFill>
              </a:rPr>
              <a:t>Flask API and React app; precision, recall, F1 and ROC-AUC against LR, RF and XGBoost, over seeds, thresholds and a 1 % fraud case.</a:t>
            </a:r>
          </a:p>
        </p:txBody>
      </p:sp>
      <p:sp>
        <p:nvSpPr>
          <p:cNvPr id="42" name="Rounded Rectangle 41"/>
          <p:cNvSpPr/>
          <p:nvPr/>
        </p:nvSpPr>
        <p:spPr>
          <a:xfrm>
            <a:off x="548640" y="4754880"/>
            <a:ext cx="11091672"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502920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S</a:t>
            </a:r>
          </a:p>
        </p:txBody>
      </p:sp>
      <p:sp>
        <p:nvSpPr>
          <p:cNvPr id="44" name="TextBox 43"/>
          <p:cNvSpPr txBox="1"/>
          <p:nvPr/>
        </p:nvSpPr>
        <p:spPr>
          <a:xfrm>
            <a:off x="1645920" y="4892040"/>
            <a:ext cx="9784080" cy="411480"/>
          </a:xfrm>
          <a:prstGeom prst="rect">
            <a:avLst/>
          </a:prstGeom>
          <a:noFill/>
        </p:spPr>
        <p:txBody>
          <a:bodyPr wrap="square" lIns="0" rIns="0" tIns="0" bIns="0" anchor="t">
            <a:spAutoFit/>
          </a:bodyPr>
          <a:lstStyle/>
          <a:p>
            <a:pPr algn="l">
              <a:spcAft>
                <a:spcPts val="400"/>
              </a:spcAft>
            </a:pPr>
            <a:r>
              <a:rPr sz="1600" b="1" i="0">
                <a:solidFill>
                  <a:srgbClr val="0F172A"/>
                </a:solidFill>
              </a:rPr>
              <a:t>Fraud probability p = (p_PCD + p_SAS + p_QS) / 3;  fraud if p &gt; 0.5</a:t>
            </a:r>
          </a:p>
        </p:txBody>
      </p:sp>
      <p:sp>
        <p:nvSpPr>
          <p:cNvPr id="45" name="TextBox 44"/>
          <p:cNvSpPr txBox="1"/>
          <p:nvPr/>
        </p:nvSpPr>
        <p:spPr>
          <a:xfrm>
            <a:off x="1645920" y="5303520"/>
            <a:ext cx="9784080" cy="777240"/>
          </a:xfrm>
          <a:prstGeom prst="rect">
            <a:avLst/>
          </a:prstGeom>
          <a:noFill/>
        </p:spPr>
        <p:txBody>
          <a:bodyPr wrap="square" lIns="0" rIns="0" tIns="0" bIns="0" anchor="t">
            <a:spAutoFit/>
          </a:bodyPr>
          <a:lstStyle/>
          <a:p>
            <a:pPr algn="l">
              <a:spcAft>
                <a:spcPts val="400"/>
              </a:spcAft>
            </a:pPr>
            <a:r>
              <a:rPr sz="1400" b="0" i="0">
                <a:solidFill>
                  <a:srgbClr val="475569"/>
                </a:solidFill>
              </a:rPr>
              <a:t>Runs on a CPU with no paid service and no quantum hardware; the quantum sampler is a classical simulation. Everything is reproducible from scripts in the project.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1007966" y="1188720"/>
            <a:ext cx="5847906" cy="5029200"/>
          </a:xfrm>
          <a:prstGeom prst="rect">
            <a:avLst/>
          </a:prstGeom>
        </p:spPr>
      </p:pic>
      <p:sp>
        <p:nvSpPr>
          <p:cNvPr id="27" name="TextBox 26"/>
          <p:cNvSpPr txBox="1"/>
          <p:nvPr/>
        </p:nvSpPr>
        <p:spPr>
          <a:xfrm>
            <a:off x="7589520" y="1371600"/>
            <a:ext cx="4023360" cy="4754880"/>
          </a:xfrm>
          <a:prstGeom prst="rect">
            <a:avLst/>
          </a:prstGeom>
          <a:noFill/>
        </p:spPr>
        <p:txBody>
          <a:bodyPr wrap="square" lIns="0" rIns="0" tIns="0" bIns="0" anchor="t">
            <a:spAutoFit/>
          </a:bodyPr>
          <a:lstStyle/>
          <a:p>
            <a:pPr algn="l">
              <a:spcAft>
                <a:spcPts val="800"/>
              </a:spcAft>
            </a:pPr>
            <a:r>
              <a:rPr sz="1600" b="1" i="0">
                <a:solidFill>
                  <a:srgbClr val="0F172A"/>
                </a:solidFill>
              </a:rPr>
              <a:t>Four tiers</a:t>
            </a:r>
          </a:p>
          <a:p>
            <a:pPr algn="l" marL="256032" indent="-201168">
              <a:spcAft>
                <a:spcPts val="400"/>
              </a:spcAft>
              <a:buChar char="•"/>
            </a:pPr>
            <a:r>
              <a:rPr sz="1600" b="0" i="0">
                <a:solidFill>
                  <a:srgbClr val="0F172A"/>
                </a:solidFill>
              </a:rPr>
              <a:t>Presentation: React and Vite web app (port 5304).</a:t>
            </a:r>
          </a:p>
          <a:p>
            <a:pPr algn="l" marL="256032" indent="-201168">
              <a:spcAft>
                <a:spcPts val="400"/>
              </a:spcAft>
              <a:buChar char="•"/>
            </a:pPr>
            <a:r>
              <a:rPr sz="1600" b="0" i="0">
                <a:solidFill>
                  <a:srgbClr val="0F172A"/>
                </a:solidFill>
              </a:rPr>
              <a:t>Application: Flask API (port 8304) with 16 routes.</a:t>
            </a:r>
          </a:p>
          <a:p>
            <a:pPr algn="l" marL="256032" indent="-201168">
              <a:spcAft>
                <a:spcPts val="400"/>
              </a:spcAft>
              <a:buChar char="•"/>
            </a:pPr>
            <a:r>
              <a:rPr sz="1600" b="0" i="0">
                <a:solidFill>
                  <a:srgbClr val="0F172A"/>
                </a:solidFill>
              </a:rPr>
              <a:t>Processing: preprocessing, three RBM classifiers, ensemble and risk bands.</a:t>
            </a:r>
          </a:p>
          <a:p>
            <a:pPr algn="l" marL="256032" indent="-201168">
              <a:spcAft>
                <a:spcPts val="400"/>
              </a:spcAft>
              <a:buChar char="•"/>
            </a:pPr>
            <a:r>
              <a:rPr sz="1600" b="0" i="0">
                <a:solidFill>
                  <a:srgbClr val="0F172A"/>
                </a:solidFill>
              </a:rPr>
              <a:t>Data: a CSV dataset, pickled models and training histories on the local disk; no database.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Working application</a:t>
            </a:r>
          </a:p>
        </p:txBody>
      </p:sp>
      <p:sp>
        <p:nvSpPr>
          <p:cNvPr id="29" name="TextBox 28"/>
          <p:cNvSpPr txBox="1"/>
          <p:nvPr/>
        </p:nvSpPr>
        <p:spPr>
          <a:xfrm>
            <a:off x="749808" y="2240280"/>
            <a:ext cx="3118104" cy="1417319"/>
          </a:xfrm>
          <a:prstGeom prst="rect">
            <a:avLst/>
          </a:prstGeom>
          <a:noFill/>
        </p:spPr>
        <p:txBody>
          <a:bodyPr wrap="square" lIns="0" rIns="0" tIns="0" bIns="0" anchor="t">
            <a:spAutoFit/>
          </a:bodyPr>
          <a:lstStyle/>
          <a:p>
            <a:pPr algn="l">
              <a:spcAft>
                <a:spcPts val="400"/>
              </a:spcAft>
            </a:pPr>
            <a:r>
              <a:rPr sz="1500" b="0" i="0">
                <a:solidFill>
                  <a:srgbClr val="475569"/>
                </a:solidFill>
              </a:rPr>
              <a:t>A working screening application that returns a risk score and a decision for one transaction in well under a second.</a:t>
            </a:r>
          </a:p>
        </p:txBody>
      </p:sp>
      <p:sp>
        <p:nvSpPr>
          <p:cNvPr id="30" name="Rounded Rectangle 29"/>
          <p:cNvSpPr/>
          <p:nvPr/>
        </p:nvSpPr>
        <p:spPr>
          <a:xfrm>
            <a:off x="4334255"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Honest model comparison</a:t>
            </a:r>
          </a:p>
        </p:txBody>
      </p:sp>
      <p:sp>
        <p:nvSpPr>
          <p:cNvPr id="33" name="TextBox 32"/>
          <p:cNvSpPr txBox="1"/>
          <p:nvPr/>
        </p:nvSpPr>
        <p:spPr>
          <a:xfrm>
            <a:off x="4535423" y="2240280"/>
            <a:ext cx="3118104" cy="1417319"/>
          </a:xfrm>
          <a:prstGeom prst="rect">
            <a:avLst/>
          </a:prstGeom>
          <a:noFill/>
        </p:spPr>
        <p:txBody>
          <a:bodyPr wrap="square" lIns="0" rIns="0" tIns="0" bIns="0" anchor="t">
            <a:spAutoFit/>
          </a:bodyPr>
          <a:lstStyle/>
          <a:p>
            <a:pPr algn="l">
              <a:spcAft>
                <a:spcPts val="400"/>
              </a:spcAft>
            </a:pPr>
            <a:r>
              <a:rPr sz="1500" b="0" i="0">
                <a:solidFill>
                  <a:srgbClr val="475569"/>
                </a:solidFill>
              </a:rPr>
              <a:t>An honest comparison of the three RBM trainers on one dataset, including their instability and training cost.</a:t>
            </a:r>
          </a:p>
        </p:txBody>
      </p:sp>
      <p:sp>
        <p:nvSpPr>
          <p:cNvPr id="34" name="Rounded Rectangle 33"/>
          <p:cNvSpPr/>
          <p:nvPr/>
        </p:nvSpPr>
        <p:spPr>
          <a:xfrm>
            <a:off x="8119871"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Imbalance evidence</a:t>
            </a:r>
          </a:p>
        </p:txBody>
      </p:sp>
      <p:sp>
        <p:nvSpPr>
          <p:cNvPr id="37" name="TextBox 36"/>
          <p:cNvSpPr txBox="1"/>
          <p:nvPr/>
        </p:nvSpPr>
        <p:spPr>
          <a:xfrm>
            <a:off x="8321040" y="2240280"/>
            <a:ext cx="3118104" cy="1417319"/>
          </a:xfrm>
          <a:prstGeom prst="rect">
            <a:avLst/>
          </a:prstGeom>
          <a:noFill/>
        </p:spPr>
        <p:txBody>
          <a:bodyPr wrap="square" lIns="0" rIns="0" tIns="0" bIns="0" anchor="t">
            <a:spAutoFit/>
          </a:bodyPr>
          <a:lstStyle/>
          <a:p>
            <a:pPr algn="l">
              <a:spcAft>
                <a:spcPts val="400"/>
              </a:spcAft>
            </a:pPr>
            <a:r>
              <a:rPr sz="1500" b="0" i="0">
                <a:solidFill>
                  <a:srgbClr val="475569"/>
                </a:solidFill>
              </a:rPr>
              <a:t>Evidence on imbalance: what SMOTE, class weights and undersampling do when fraud is 1 % of the stream.</a:t>
            </a:r>
          </a:p>
        </p:txBody>
      </p:sp>
      <p:sp>
        <p:nvSpPr>
          <p:cNvPr id="38" name="Rounded Rectangle 37"/>
          <p:cNvSpPr/>
          <p:nvPr/>
        </p:nvSpPr>
        <p:spPr>
          <a:xfrm>
            <a:off x="548640" y="3931920"/>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11480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40873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Measured, with limits</a:t>
            </a:r>
          </a:p>
        </p:txBody>
      </p:sp>
      <p:sp>
        <p:nvSpPr>
          <p:cNvPr id="41" name="TextBox 40"/>
          <p:cNvSpPr txBox="1"/>
          <p:nvPr/>
        </p:nvSpPr>
        <p:spPr>
          <a:xfrm>
            <a:off x="749808" y="4800600"/>
            <a:ext cx="5038344" cy="1188719"/>
          </a:xfrm>
          <a:prstGeom prst="rect">
            <a:avLst/>
          </a:prstGeom>
          <a:noFill/>
        </p:spPr>
        <p:txBody>
          <a:bodyPr wrap="square" lIns="0" rIns="0" tIns="0" bIns="0" anchor="t">
            <a:spAutoFit/>
          </a:bodyPr>
          <a:lstStyle/>
          <a:p>
            <a:pPr algn="l">
              <a:spcAft>
                <a:spcPts val="400"/>
              </a:spcAft>
            </a:pPr>
            <a:r>
              <a:rPr sz="1600" b="0" i="0">
                <a:solidFill>
                  <a:srgbClr val="475569"/>
                </a:solidFill>
              </a:rPr>
              <a:t>Measured results with stated limits: synthetic data, a quantum-inspired simulator and no real-world validation.</a:t>
            </a:r>
          </a:p>
        </p:txBody>
      </p:sp>
      <p:sp>
        <p:nvSpPr>
          <p:cNvPr id="42" name="Rounded Rectangle 41"/>
          <p:cNvSpPr/>
          <p:nvPr/>
        </p:nvSpPr>
        <p:spPr>
          <a:xfrm>
            <a:off x="6199631" y="3931920"/>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00799" y="411480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7040879" y="40873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Reproducible</a:t>
            </a:r>
          </a:p>
        </p:txBody>
      </p:sp>
      <p:sp>
        <p:nvSpPr>
          <p:cNvPr id="45" name="TextBox 44"/>
          <p:cNvSpPr txBox="1"/>
          <p:nvPr/>
        </p:nvSpPr>
        <p:spPr>
          <a:xfrm>
            <a:off x="6400799" y="4800600"/>
            <a:ext cx="5038344" cy="1188719"/>
          </a:xfrm>
          <a:prstGeom prst="rect">
            <a:avLst/>
          </a:prstGeom>
          <a:noFill/>
        </p:spPr>
        <p:txBody>
          <a:bodyPr wrap="square" lIns="0" rIns="0" tIns="0" bIns="0" anchor="t">
            <a:spAutoFit/>
          </a:bodyPr>
          <a:lstStyle/>
          <a:p>
            <a:pPr algn="l">
              <a:spcAft>
                <a:spcPts val="400"/>
              </a:spcAft>
            </a:pPr>
            <a:r>
              <a:rPr sz="1600" b="0" i="0">
                <a:solidFill>
                  <a:srgbClr val="475569"/>
                </a:solidFill>
              </a:rPr>
              <a:t>Reusable scripts that regenerate every number in the documentation.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188720"/>
            <a:ext cx="11091672" cy="5120640"/>
          </a:xfrm>
          <a:prstGeom prst="rect">
            <a:avLst/>
          </a:prstGeom>
          <a:noFill/>
        </p:spPr>
        <p:txBody>
          <a:bodyPr wrap="square" lIns="0" rIns="0" tIns="0" bIns="0" anchor="t">
            <a:spAutoFit/>
          </a:bodyPr>
          <a:lstStyle/>
          <a:p>
            <a:pPr algn="l">
              <a:spcAft>
                <a:spcPts val="800"/>
              </a:spcAft>
            </a:pPr>
            <a:r>
              <a:rPr sz="1400" b="0" i="0">
                <a:solidFill>
                  <a:srgbClr val="0F172A"/>
                </a:solidFill>
              </a:rPr>
              <a:t>[1] J. M. C. de Albuquerque Neto, G. C. do Amaral and G. P. Temporao, "Fraud detection in credit card transactions using quantum-assisted restricted Boltzmann machines," IEEE Access, vol. 14, pp. 62923-62932, 2026, doi: 10.1109/ACCESS.2026.3683308.</a:t>
            </a:r>
          </a:p>
          <a:p>
            <a:pPr algn="l">
              <a:spcAft>
                <a:spcPts val="800"/>
              </a:spcAft>
            </a:pPr>
            <a:r>
              <a:rPr sz="1400" b="0" i="0">
                <a:solidFill>
                  <a:srgbClr val="0F172A"/>
                </a:solidFill>
              </a:rPr>
              <a:t>[2] A. H. M. Aburbeian and H. I. Ashqar, "Credit card fraud detection using enhanced random forest classifier for imbalanced data," arXiv:2303.06514, Mar. 2023.</a:t>
            </a:r>
          </a:p>
          <a:p>
            <a:pPr algn="l">
              <a:spcAft>
                <a:spcPts val="800"/>
              </a:spcAft>
            </a:pPr>
            <a:r>
              <a:rPr sz="1400" b="0" i="0">
                <a:solidFill>
                  <a:srgbClr val="0F172A"/>
                </a:solidFill>
              </a:rPr>
              <a:t>[3] X. Han and C. Wu, "Validation-stage combinatorial fusion analysis for imbalanced credit-card fraud detection," arXiv:2606.10393, Jun. 2026.</a:t>
            </a:r>
          </a:p>
          <a:p>
            <a:pPr algn="l">
              <a:spcAft>
                <a:spcPts val="800"/>
              </a:spcAft>
            </a:pPr>
            <a:r>
              <a:rPr sz="1400" b="0" i="0">
                <a:solidFill>
                  <a:srgbClr val="0F172A"/>
                </a:solidFill>
              </a:rPr>
              <a:t>[4] J. Shi, "Credit card fraud detection based on ANN and XGBoost," in Proc. 1st Int. Conf. E-commerce and Artificial Intelligence (ECAI), SciTePress, 2024, pp. 195-199, doi: 10.5220/0013212700004568.</a:t>
            </a:r>
          </a:p>
          <a:p>
            <a:pPr algn="l">
              <a:spcAft>
                <a:spcPts val="800"/>
              </a:spcAft>
            </a:pPr>
            <a:r>
              <a:rPr sz="1400" b="0" i="0">
                <a:solidFill>
                  <a:srgbClr val="0F172A"/>
                </a:solidFill>
              </a:rPr>
              <a:t>[5] S. Bhattacharyya, S. Jha, K. Tharakunnel and J. C. Westland, "Data mining for credit card fraud: A comparative study," Decision Support Systems, vol. 50, no. 3, pp. 602-613, 2011.</a:t>
            </a:r>
          </a:p>
          <a:p>
            <a:pPr algn="l">
              <a:spcAft>
                <a:spcPts val="800"/>
              </a:spcAft>
            </a:pPr>
            <a:r>
              <a:rPr sz="1400" b="0" i="0">
                <a:solidFill>
                  <a:srgbClr val="0F172A"/>
                </a:solidFill>
              </a:rPr>
              <a:t>[6] A. Dal Pozzolo, G. Boracchi, O. Caelen, C. Alippi and G. Bontempi, "Credit card fraud detection: A realistic modeling and a novel learning strategy," IEEE Trans. Neural Netw. Learn. Syst., vol. 29, no. 8, pp. 3784-3797, Aug. 2018.</a:t>
            </a:r>
          </a:p>
          <a:p>
            <a:pPr algn="l">
              <a:spcAft>
                <a:spcPts val="800"/>
              </a:spcAft>
            </a:pPr>
            <a:r>
              <a:rPr sz="1400" b="0" i="0">
                <a:solidFill>
                  <a:srgbClr val="0F172A"/>
                </a:solidFill>
              </a:rPr>
              <a:t>[12] N. V. Chawla, K. W. Bowyer, L. O. Hall and W. P. Kegelmeyer, "SMOTE: Synthetic minority over-sampling technique," J. Artif. Intell. Res., vol. 16, pp. 321-357, Jun. 2002.</a:t>
            </a:r>
          </a:p>
          <a:p>
            <a:pPr algn="l">
              <a:spcAft>
                <a:spcPts val="800"/>
              </a:spcAft>
            </a:pPr>
            <a:r>
              <a:rPr sz="1400" b="0" i="0">
                <a:solidFill>
                  <a:srgbClr val="0F172A"/>
                </a:solidFill>
              </a:rPr>
              <a:t>[24] T. Tieleman, "Training restricted Boltzmann machines using approximations to the likelihood gradient," in Proc. 25th Int. Conf. Machine Learning (ICML), 2008, pp. 1064-1071.</a:t>
            </a:r>
          </a:p>
          <a:p>
            <a:pPr algn="l">
              <a:spcAft>
                <a:spcPts val="800"/>
              </a:spcAft>
            </a:pPr>
            <a:r>
              <a:rPr sz="1400" b="0" i="0">
                <a:solidFill>
                  <a:srgbClr val="0F172A"/>
                </a:solidFill>
              </a:rPr>
              <a:t>[29] S. Kirkpatrick, C. D. Gelatt Jr. and M. P. Vecchi, "Optimization by simulated annealing," Science, vol. 220, no. 4598, pp. 671-680, 1983.</a:t>
            </a:r>
          </a:p>
          <a:p>
            <a:pPr algn="l">
              <a:spcAft>
                <a:spcPts val="800"/>
              </a:spcAft>
            </a:pPr>
            <a:r>
              <a:rPr sz="1400" b="0" i="0">
                <a:solidFill>
                  <a:srgbClr val="0F172A"/>
                </a:solidFill>
              </a:rPr>
              <a:t>[32] F. Pedregosa et al., "Scikit-learn: Machine learning in Python," J. Mach. Learn. Res., vol. 12, pp. 2825-2830, 2011.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SecurePay AI">
  <a:themeElements>
    <a:clrScheme name="SecurePay AI">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SecurePay 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ecurePay A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Using Machine Learning: Review 1</dc:title>
  <dc:subject>Batch A4 (CSE-A)</dc:subject>
  <dc:creator>ARELLI PRAVEEN KUMAR, BANOTHU AJAY, D CHANDRIKA, BAIRAGONI VIJAY</dc:creator>
  <cp:lastModifiedBy/>
  <cp:revision>1</cp:revision>
  <dcterms:created xsi:type="dcterms:W3CDTF">2026-10-13T12:36:40Z</dcterms:created>
  <dcterms:modified xsi:type="dcterms:W3CDTF">2026-10-13T12:36:40Z</dcterms:modified>
  <cp:keywords>credit card fraud, restricted Boltzmann machine, class imbalance, machine learning</cp:keywords>
  <dc:description/>
</cp:coreProperties>
</file>