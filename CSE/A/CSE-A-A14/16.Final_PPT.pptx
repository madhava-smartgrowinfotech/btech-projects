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F1</c:v>
                </c:pt>
              </c:strCache>
            </c:strRef>
          </c:tx>
          <c:spPr>
            <a:solidFill>
              <a:srgbClr val="2E75B6"/>
            </a:solidFill>
          </c:spPr>
          <c:cat>
            <c:strRef>
              <c:f>Sheet1!$A$2:$A$6</c:f>
              <c:strCache>
                <c:ptCount val="5"/>
                <c:pt idx="0">
                  <c:v>LR</c:v>
                </c:pt>
                <c:pt idx="1">
                  <c:v>DT</c:v>
                </c:pt>
                <c:pt idx="2">
                  <c:v>RF</c:v>
                </c:pt>
                <c:pt idx="3">
                  <c:v>GB</c:v>
                </c:pt>
                <c:pt idx="4">
                  <c:v>HGB</c:v>
                </c:pt>
              </c:strCache>
            </c:strRef>
          </c:cat>
          <c:val>
            <c:numRef>
              <c:f>Sheet1!$B$2:$B$6</c:f>
              <c:numCache>
                <c:formatCode>General</c:formatCode>
                <c:ptCount val="5"/>
                <c:pt idx="0">
                  <c:v>0.4861</c:v>
                </c:pt>
                <c:pt idx="1">
                  <c:v>0.3937</c:v>
                </c:pt>
                <c:pt idx="2">
                  <c:v>0.4724</c:v>
                </c:pt>
                <c:pt idx="3">
                  <c:v>0.3704</c:v>
                </c:pt>
                <c:pt idx="4">
                  <c:v>0.2564</c:v>
                </c:pt>
              </c:numCache>
            </c:numRef>
          </c:val>
        </c:ser>
        <c:ser>
          <c:idx val="1"/>
          <c:order val="1"/>
          <c:tx>
            <c:strRef>
              <c:f>Sheet1!$C$1</c:f>
              <c:strCache>
                <c:ptCount val="1"/>
                <c:pt idx="0">
                  <c:v>ROC-AUC</c:v>
                </c:pt>
              </c:strCache>
            </c:strRef>
          </c:tx>
          <c:spPr>
            <a:solidFill>
              <a:srgbClr val="1BAF7A"/>
            </a:solidFill>
          </c:spPr>
          <c:cat>
            <c:strRef>
              <c:f>Sheet1!$A$2:$A$6</c:f>
              <c:strCache>
                <c:ptCount val="5"/>
                <c:pt idx="0">
                  <c:v>LR</c:v>
                </c:pt>
                <c:pt idx="1">
                  <c:v>DT</c:v>
                </c:pt>
                <c:pt idx="2">
                  <c:v>RF</c:v>
                </c:pt>
                <c:pt idx="3">
                  <c:v>GB</c:v>
                </c:pt>
                <c:pt idx="4">
                  <c:v>HGB</c:v>
                </c:pt>
              </c:strCache>
            </c:strRef>
          </c:cat>
          <c:val>
            <c:numRef>
              <c:f>Sheet1!$C$2:$C$6</c:f>
              <c:numCache>
                <c:formatCode>General</c:formatCode>
                <c:ptCount val="5"/>
                <c:pt idx="0">
                  <c:v>0.7224</c:v>
                </c:pt>
                <c:pt idx="1">
                  <c:v>0.6081</c:v>
                </c:pt>
                <c:pt idx="2">
                  <c:v>0.7111</c:v>
                </c:pt>
                <c:pt idx="3">
                  <c:v>0.697</c:v>
                </c:pt>
                <c:pt idx="4">
                  <c:v>0.6855</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a machine learning retention system that predicts churn, explains it and suggests 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first two bullets, then the headline numbers with their protocol. End on the honest limits.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research framework on the real Telco data. We take its motivation; we do not reproduce its explainer or its model 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Results are quoted as the authors report them; the datasets and splits differ, so the numbers are not comparable with each other or with ours.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surveyed work compares classifiers on churn datasets and, in the base paper, concentrates on how to explain them quickly. The gap this project addresses is pairing accurate prediction with per-customer explanation so that retention action can be targeted rather than generic: a working application that scores every customer, shows the drivers of each score and maps them to concrete actions.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statement has three parts: predict and band, explain, act.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objectives of the proposal. The conclusion states how each was met.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system in one line of boxes, then the four properties that matter.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tiers; the core is shared by both interfaces.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workflow is what the Model Training page runs, plus the extra protocols added because the test split is small.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and drivers. Be explicit that the rows are generated with the Telco schema and that the drivers are a check on the pipeline.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training and scoring path in decision form.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one train-save-explain session and the use cases of the analyst.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there is no database; the diagram is a logical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security basics, session state, batch and drift, shared core. Risk bands: Low 253, Medium 481, High 213, Critical 53 of the 1,000 customers at the default thresholds (scored on the training data too, so this is the portfolio view, not generalisation).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Protocol: 800 training rows, 200 test rows (53 churners), class weights, seed 42. ROC-AUC about 0.72 is moderate.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are the true class and columns the prediction. Cost: a false alarm is a wasted offer; a miss is a lost customer. The business costs were not measured.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Cross-validation and five random splits, class weights. The ranking LR ~ RF &gt; DT is stable; the gap between LR and RF is not.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Threshold, calibration and imbalance on the Logistic Regression test predictions (200 rows). With 20-60 contacts the lift counts are small.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Latency on a CPU-only desktop. Single-customer scoring was 2.85 ms under scikit-learn 1.5.0 / pandas 2.2.1 and 19 ms in the pandas 3 environment of record.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 base paper uses real Telco data and a different protocol. Our data are synthetic; the drivers we recover were built into the generator.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with 1,000 sample customers and three trained models: dashboard, risk segmentation, Customer 360, explanations, what-if and retention actions.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upload and quality, exploration, training, evaluation, batch scoring and monitoring.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six objectives were addressed; the evaluation is on synthetic data and is stated that way.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next steps, ordered by value.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23.xml"/><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slideLayout" Target="../slideLayouts/slideLayout1.xml"/><Relationship Id="rId5" Type="http://schemas.openxmlformats.org/officeDocument/2006/relationships/notesSlide" Target="../notesSlides/notesSlide24.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3200" b="1" dirty="0">
                <a:solidFill>
                  <a:srgbClr val="1F3864"/>
                </a:solidFill>
                <a:latin typeface="Calibri" pitchFamily="34" charset="0"/>
                <a:ea typeface="Calibri" pitchFamily="34" charset="-122"/>
                <a:cs typeface="Calibri" pitchFamily="34" charset="-120"/>
              </a:rPr>
              <a:t>Customer Churn Prediction in Telecom Industry</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A14</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23K91A0512   Anantula Sai Nikhila Sravani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23K91A0518   Avula Anudeep</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24K915A0503   B Sandeep</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23K91A0558   Daragani Vinod Kumar</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B. SRIKANTH</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Assistant Professor,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TKR College of Engineering and Technology (Autonomous)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Research Gap &amp; Problem Statement</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Objectives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Methodology, Dataset &amp; Model</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Decision Workflow, Interaction &amp; Data Model</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Results: Metrics, Stability, Threshold &amp; Calibration</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Performance, Testing &amp; Comparison with Base Paper</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800"/>
              </a:spcAft>
              <a:buChar char="•"/>
            </a:pPr>
            <a:r>
              <a:rPr sz="1700" b="0" i="0">
                <a:solidFill>
                  <a:srgbClr val="222222"/>
                </a:solidFill>
                <a:latin typeface="Calibri"/>
                <a:ea typeface="Calibri"/>
                <a:cs typeface="Calibri"/>
              </a:rPr>
              <a:t>Customers who leave a telecom provider cost far more to replace than to keep, yet churn is noticed only after they have gone, and a churn score with no reason gives the retention team nothing to act on.</a:t>
            </a:r>
          </a:p>
          <a:p>
            <a:pPr algn="l" marL="256032" indent="-201168">
              <a:spcAft>
                <a:spcPts val="800"/>
              </a:spcAft>
              <a:buChar char="•"/>
            </a:pPr>
            <a:r>
              <a:rPr sz="1700" b="0" i="0">
                <a:solidFill>
                  <a:srgbClr val="222222"/>
                </a:solidFill>
                <a:latin typeface="Calibri"/>
                <a:ea typeface="Calibri"/>
                <a:cs typeface="Calibri"/>
              </a:rPr>
              <a:t>We built ChurnIQ: cleaning and encoding, five classifiers (Logistic Regression, Decision Tree, Random Forest, Gradient Boosting, Hist Gradient Boosting), imbalance handling, selection on F1, risk bands, per-customer drivers, what-if and rule-based retention actions.</a:t>
            </a:r>
          </a:p>
          <a:p>
            <a:pPr algn="l" marL="256032" indent="-201168">
              <a:spcAft>
                <a:spcPts val="800"/>
              </a:spcAft>
              <a:buChar char="•"/>
            </a:pPr>
            <a:r>
              <a:rPr sz="1700" b="0" i="0">
                <a:solidFill>
                  <a:srgbClr val="222222"/>
                </a:solidFill>
                <a:latin typeface="Calibri"/>
                <a:ea typeface="Calibri"/>
                <a:cs typeface="Calibri"/>
              </a:rPr>
              <a:t>On a 1,000-customer synthetic dataset with the Telco schema, Logistic Regression is best: F1 0.486, ROC-AUC 0.722, recall 0.660 on a 200-row test split (53 churners). Results vary by 0.03-0.10 between splits and are moderate, not strong.</a:t>
            </a:r>
          </a:p>
          <a:p>
            <a:pPr algn="l" marL="256032" indent="-201168">
              <a:spcAft>
                <a:spcPts val="800"/>
              </a:spcAft>
              <a:buChar char="•"/>
            </a:pPr>
            <a:r>
              <a:rPr sz="1700" b="0" i="0">
                <a:solidFill>
                  <a:srgbClr val="222222"/>
                </a:solidFill>
                <a:latin typeface="Calibri"/>
                <a:ea typeface="Calibri"/>
                <a:cs typeface="Calibri"/>
              </a:rPr>
              <a:t>A FastAPI service and a React interface add batch scoring, drift monitoring and a demo login; 44 pytest tests and a 63-check smoke test pass.</a:t>
            </a:r>
          </a:p>
          <a:p>
            <a:pPr algn="l" marL="256032" indent="-201168">
              <a:spcAft>
                <a:spcPts val="0"/>
              </a:spcAft>
              <a:buChar char="•"/>
            </a:pPr>
            <a:r>
              <a:rPr sz="1700" b="0" i="0">
                <a:solidFill>
                  <a:srgbClr val="222222"/>
                </a:solidFill>
                <a:latin typeface="Calibri"/>
                <a:ea typeface="Calibri"/>
                <a:cs typeface="Calibri"/>
              </a:rPr>
              <a:t>Data are synthetic, SHAP is not installed (fallback explanations), probabilities are uncalibrated and the retention rules are unmeasured heuristics: all stated as limits.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868680"/>
          </a:xfrm>
          <a:prstGeom prst="rect">
            <a:avLst/>
          </a:prstGeom>
          <a:noFill/>
        </p:spPr>
        <p:txBody>
          <a:bodyPr wrap="square" lIns="0" rIns="0" tIns="0" bIns="0" anchor="t">
            <a:spAutoFit/>
          </a:bodyPr>
          <a:lstStyle/>
          <a:p>
            <a:pPr algn="l">
              <a:spcAft>
                <a:spcPts val="400"/>
              </a:spcAft>
            </a:pPr>
            <a:r>
              <a:rPr sz="1400" b="0" i="0">
                <a:solidFill>
                  <a:srgbClr val="1F3864"/>
                </a:solidFill>
                <a:latin typeface="Calibri"/>
                <a:ea typeface="Calibri"/>
                <a:cs typeface="Calibri"/>
              </a:rPr>
              <a:t>S.-V. Oprea and A. Bara, "Explaining Customer Churn Through Unified Perturbation-Based XAI Soft Computing," IEEE Access, vol. 14, pp. 24460-24478, 2026, doi: 10.1109/ACCESS.2026.3663648.</a:t>
            </a:r>
          </a:p>
        </p:txBody>
      </p:sp>
      <p:graphicFrame>
        <p:nvGraphicFramePr>
          <p:cNvPr id="8" name="Table 7"/>
          <p:cNvGraphicFramePr>
            <a:graphicFrameLocks noGrp="1"/>
          </p:cNvGraphicFramePr>
          <p:nvPr/>
        </p:nvGraphicFramePr>
        <p:xfrm>
          <a:off x="502920" y="2651760"/>
          <a:ext cx="11155680" cy="3657600"/>
        </p:xfrm>
        <a:graphic>
          <a:graphicData uri="http://schemas.openxmlformats.org/drawingml/2006/table">
            <a:tbl>
              <a:tblPr firstRow="0" bandRow="0">
                <a:tableStyleId>{5C22544A-7EE6-4342-B048-85BDC9FD1C3A}</a:tableStyleId>
              </a:tblPr>
              <a:tblGrid>
                <a:gridCol w="1828800"/>
                <a:gridCol w="9326880"/>
              </a:tblGrid>
              <a:tr h="731520">
                <a:tc>
                  <a:txBody>
                    <a:bodyPr wrap="square"/>
                    <a:lstStyle/>
                    <a:p>
                      <a:pPr algn="ctr"/>
                      <a:r>
                        <a:rPr sz="14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400" b="1">
                          <a:solidFill>
                            <a:srgbClr val="1F3864"/>
                          </a:solidFill>
                          <a:latin typeface="Calibri"/>
                          <a:ea typeface="Calibri"/>
                          <a:cs typeface="Calibri"/>
                        </a:rPr>
                        <a:t>Base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731520">
                <a:tc>
                  <a:txBody>
                    <a:bodyPr wrap="square"/>
                    <a:lstStyle/>
                    <a:p>
                      <a:pPr algn="l"/>
                      <a:r>
                        <a:rPr sz="14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LR, SVC, RF, balanced RF, CatBoost, XGBoost, LightGBM; unified perturbation-based explainer (RNP, FA, IM, AP) compared with SHAP and LIME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31520">
                <a:tc>
                  <a:txBody>
                    <a:bodyPr wrap="square"/>
                    <a:lstStyle/>
                    <a:p>
                      <a:pPr algn="l"/>
                      <a:r>
                        <a:rPr sz="14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Real Telco churn data, 7,043 customers, 21 columns, 26.5% churn; 70/30 split (2,113 test rows)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731520">
                <a:tc>
                  <a:txBody>
                    <a:bodyPr wrap="square"/>
                    <a:lstStyle/>
                    <a:p>
                      <a:pPr algn="l"/>
                      <a:r>
                        <a:rPr sz="1400" b="1">
                          <a:solidFill>
                            <a:srgbClr val="222222"/>
                          </a:solidFill>
                          <a:latin typeface="Calibri"/>
                          <a:ea typeface="Calibri"/>
                          <a:cs typeface="Calibri"/>
                        </a:rPr>
                        <a:t>Reported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Recall is the objective: up to 0.9077 (CatBoost); Spearman 0.8125 with SHAP; runtime SHAP 289.4 s, LIME 35.1 s, perturbation 18.5 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31520">
                <a:tc>
                  <a:txBody>
                    <a:bodyPr wrap="square"/>
                    <a:lstStyle/>
                    <a:p>
                      <a:pPr algn="l"/>
                      <a:r>
                        <a:rPr sz="1400" b="1">
                          <a:solidFill>
                            <a:srgbClr val="222222"/>
                          </a:solidFill>
                          <a:latin typeface="Calibri"/>
                          <a:ea typeface="Calibri"/>
                          <a:cs typeface="Calibri"/>
                        </a:rPr>
                        <a:t>Stated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Recall as the primary objective may change rankings under other metrics; one structured dataset; CRM integration proposed, not built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411480" y="1645920"/>
          <a:ext cx="11247120" cy="4023360"/>
        </p:xfrm>
        <a:graphic>
          <a:graphicData uri="http://schemas.openxmlformats.org/drawingml/2006/table">
            <a:tbl>
              <a:tblPr firstRow="0" bandRow="0">
                <a:tableStyleId>{5C22544A-7EE6-4342-B048-85BDC9FD1C3A}</a:tableStyleId>
              </a:tblPr>
              <a:tblGrid>
                <a:gridCol w="1783080"/>
                <a:gridCol w="2834640"/>
                <a:gridCol w="2011680"/>
                <a:gridCol w="2697480"/>
                <a:gridCol w="1920240"/>
              </a:tblGrid>
              <a:tr h="502920">
                <a:tc>
                  <a:txBody>
                    <a:bodyPr wrap="square"/>
                    <a:lstStyle/>
                    <a:p>
                      <a:pPr algn="ctr"/>
                      <a:r>
                        <a:rPr sz="1000" b="1">
                          <a:solidFill>
                            <a:srgbClr val="1F3864"/>
                          </a:solidFill>
                          <a:latin typeface="Calibri"/>
                          <a:ea typeface="Calibri"/>
                          <a:cs typeface="Calibri"/>
                        </a:rPr>
                        <a:t>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00" b="1">
                          <a:solidFill>
                            <a:srgbClr val="1F3864"/>
                          </a:solidFill>
                          <a:latin typeface="Calibri"/>
                          <a:ea typeface="Calibri"/>
                          <a:cs typeface="Calibri"/>
                        </a:rPr>
                        <a:t>Approach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00" b="1">
                          <a:solidFill>
                            <a:srgbClr val="1F3864"/>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00" b="1">
                          <a:solidFill>
                            <a:srgbClr val="1F3864"/>
                          </a:solidFill>
                          <a:latin typeface="Calibri"/>
                          <a:ea typeface="Calibri"/>
                          <a:cs typeface="Calibri"/>
                        </a:rPr>
                        <a:t>Reported 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00" b="1">
                          <a:solidFill>
                            <a:srgbClr val="1F3864"/>
                          </a:solidFill>
                          <a:latin typeface="Calibri"/>
                          <a:ea typeface="Calibri"/>
                          <a:cs typeface="Calibri"/>
                        </a:rPr>
                        <a:t>Limitation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02920">
                <a:tc>
                  <a:txBody>
                    <a:bodyPr wrap="square"/>
                    <a:lstStyle/>
                    <a:p>
                      <a:pPr algn="l"/>
                      <a:r>
                        <a:rPr sz="1000" b="1">
                          <a:solidFill>
                            <a:srgbClr val="222222"/>
                          </a:solidFill>
                          <a:latin typeface="Calibri"/>
                          <a:ea typeface="Calibri"/>
                          <a:cs typeface="Calibri"/>
                        </a:rPr>
                        <a:t>Oprea and Bara, 2026 [1] (base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Unified perturbation-based explainer (RNP, FA, IM, AP) compared with SHAP and LIME; LR, SVC, RF, balanced RF, CatBoost, XGBoost, LightGBM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Telco churn, 7,043 customers, 30% test (2,113)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Recall up to 0.9077 (CatBoost); Spearman 0.8125 with SHAP; runtime 18.5 s vs SHAP 289.4 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One dataset; recall as the single objective; CRM integration proposed, not built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000" b="1">
                          <a:solidFill>
                            <a:srgbClr val="222222"/>
                          </a:solidFill>
                          <a:latin typeface="Calibri"/>
                          <a:ea typeface="Calibri"/>
                          <a:cs typeface="Calibri"/>
                        </a:rPr>
                        <a:t>Sikri et al., 2024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Ratio-based data balancing as a pre-processing step; single and ensemble classifiers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Imbalanced telecom churn data (details not extracted)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Ensembles beat single models; best XGBoost at a 75:25 ratio (accuracy, precision, recall, F-score)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Abstract-level reading only; no per-customer explanation described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000" b="1">
                          <a:solidFill>
                            <a:srgbClr val="222222"/>
                          </a:solidFill>
                          <a:latin typeface="Calibri"/>
                          <a:ea typeface="Calibri"/>
                          <a:cs typeface="Calibri"/>
                        </a:rPr>
                        <a:t>El Attar and El-Hajj, 2026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Eight models incl. XGBoost, LightGBM, soft-voting ensemble; SHAP feature analysis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IBM Telco, 7,043 customers, 80/20 split (1,409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XGBoost accuracy 0.84, AUC 0.932; Logistic Regression 0.78 and 0.864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Single dataset; authors note SHAP is not causal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000" b="1">
                          <a:solidFill>
                            <a:srgbClr val="222222"/>
                          </a:solidFill>
                          <a:latin typeface="Calibri"/>
                          <a:ea typeface="Calibri"/>
                          <a:cs typeface="Calibri"/>
                        </a:rPr>
                        <a:t>Rasool et al., 2025 [4]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Stacking ensemble of tree models with SHAP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Kaggle Churn in Telecoms, 3,333 customers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Accuracy 94.75%, recall 73.20%, F1 80.23%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No temporal modelling; telecom data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000" b="1">
                          <a:solidFill>
                            <a:srgbClr val="222222"/>
                          </a:solidFill>
                          <a:latin typeface="Calibri"/>
                          <a:ea typeface="Calibri"/>
                          <a:cs typeface="Calibri"/>
                        </a:rPr>
                        <a:t>Lundberg and Lee, 2017 [7]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SHAP: additive Shapley-value attributions for any 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Method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Unifies several attribution methods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Costly on large data: 289.4 s in the experiment of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000" b="1">
                          <a:solidFill>
                            <a:srgbClr val="222222"/>
                          </a:solidFill>
                          <a:latin typeface="Calibri"/>
                          <a:ea typeface="Calibri"/>
                          <a:cs typeface="Calibri"/>
                        </a:rPr>
                        <a:t>Ribeiro et al., 2016 [8]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LIME: local surrogate model around one prediction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Method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Faithful local explanation of any classifier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00" b="0">
                          <a:solidFill>
                            <a:srgbClr val="222222"/>
                          </a:solidFill>
                          <a:latin typeface="Calibri"/>
                          <a:ea typeface="Calibri"/>
                          <a:cs typeface="Calibri"/>
                        </a:rPr>
                        <a:t>Moderate fidelity and lower consistency than SHAP in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000" b="1">
                          <a:solidFill>
                            <a:srgbClr val="222222"/>
                          </a:solidFill>
                          <a:latin typeface="Calibri"/>
                          <a:ea typeface="Calibri"/>
                          <a:cs typeface="Calibri"/>
                        </a:rPr>
                        <a:t>Slack et al., 2020 [9]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Adversarial attacks on LIME and SHAP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Method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Shows perturbation-based explainers can be fooled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00" b="0">
                          <a:solidFill>
                            <a:srgbClr val="222222"/>
                          </a:solidFill>
                          <a:latin typeface="Calibri"/>
                          <a:ea typeface="Calibri"/>
                          <a:cs typeface="Calibri"/>
                        </a:rPr>
                        <a:t>Perturbation-based explanations need cautious reading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411480" y="6053328"/>
            <a:ext cx="11338560" cy="320040"/>
          </a:xfrm>
          <a:prstGeom prst="rect">
            <a:avLst/>
          </a:prstGeom>
          <a:noFill/>
        </p:spPr>
        <p:txBody>
          <a:bodyPr wrap="square" lIns="0" rIns="0" tIns="0" bIns="0" anchor="t">
            <a:spAutoFit/>
          </a:bodyPr>
          <a:lstStyle/>
          <a:p>
            <a:pPr algn="l">
              <a:spcAft>
                <a:spcPts val="400"/>
              </a:spcAft>
            </a:pPr>
            <a:r>
              <a:rPr sz="1050" b="0" i="1">
                <a:solidFill>
                  <a:srgbClr val="1F3864"/>
                </a:solidFill>
                <a:latin typeface="Calibri"/>
                <a:ea typeface="Calibri"/>
                <a:cs typeface="Calibri"/>
              </a:rPr>
              <a:t>Details read from each paper's own page. Three papers named in the batch survey could not be located online by title and were not analysed.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83080"/>
            <a:ext cx="11155680" cy="4389120"/>
          </a:xfrm>
          <a:prstGeom prst="rect">
            <a:avLst/>
          </a:prstGeom>
          <a:noFill/>
        </p:spPr>
        <p:txBody>
          <a:bodyPr wrap="square" lIns="0" rIns="0" tIns="0" bIns="0" anchor="t">
            <a:spAutoFit/>
          </a:bodyPr>
          <a:lstStyle/>
          <a:p>
            <a:pPr algn="l" marL="256032" indent="-201168">
              <a:spcAft>
                <a:spcPts val="1400"/>
              </a:spcAft>
              <a:buChar char="•"/>
            </a:pPr>
            <a:r>
              <a:rPr sz="2100" b="1" i="0">
                <a:solidFill>
                  <a:srgbClr val="222222"/>
                </a:solidFill>
                <a:latin typeface="Calibri"/>
                <a:ea typeface="Calibri"/>
                <a:cs typeface="Calibri"/>
              </a:rPr>
              <a:t>Prediction + explanation:</a:t>
            </a:r>
            <a:r>
              <a:rPr sz="2100" b="0" i="0">
                <a:solidFill>
                  <a:srgbClr val="222222"/>
                </a:solidFill>
                <a:latin typeface="Calibri"/>
                <a:ea typeface="Calibri"/>
                <a:cs typeface="Calibri"/>
              </a:rPr>
              <a:t> most surveyed work compares classifiers; per-customer explanation is a separate step or a research method.</a:t>
            </a:r>
          </a:p>
          <a:p>
            <a:pPr algn="l" marL="256032" indent="-201168">
              <a:spcAft>
                <a:spcPts val="1400"/>
              </a:spcAft>
              <a:buChar char="•"/>
            </a:pPr>
            <a:r>
              <a:rPr sz="2100" b="1" i="0">
                <a:solidFill>
                  <a:srgbClr val="222222"/>
                </a:solidFill>
                <a:latin typeface="Calibri"/>
                <a:ea typeface="Calibri"/>
                <a:cs typeface="Calibri"/>
              </a:rPr>
              <a:t>Explanation to action:</a:t>
            </a:r>
            <a:r>
              <a:rPr sz="2100" b="0" i="0">
                <a:solidFill>
                  <a:srgbClr val="222222"/>
                </a:solidFill>
                <a:latin typeface="Calibri"/>
                <a:ea typeface="Calibri"/>
                <a:cs typeface="Calibri"/>
              </a:rPr>
              <a:t> even with SHAP, mapping drivers to a concrete retention step is left to the reader.</a:t>
            </a:r>
          </a:p>
          <a:p>
            <a:pPr algn="l" marL="256032" indent="-201168">
              <a:spcAft>
                <a:spcPts val="1400"/>
              </a:spcAft>
              <a:buChar char="•"/>
            </a:pPr>
            <a:r>
              <a:rPr sz="2100" b="1" i="0">
                <a:solidFill>
                  <a:srgbClr val="222222"/>
                </a:solidFill>
                <a:latin typeface="Calibri"/>
                <a:ea typeface="Calibri"/>
                <a:cs typeface="Calibri"/>
              </a:rPr>
              <a:t>Cost:</a:t>
            </a:r>
            <a:r>
              <a:rPr sz="2100" b="0" i="0">
                <a:solidFill>
                  <a:srgbClr val="222222"/>
                </a:solidFill>
                <a:latin typeface="Calibri"/>
                <a:ea typeface="Calibri"/>
                <a:cs typeface="Calibri"/>
              </a:rPr>
              <a:t> SHAP took 289.4 s in the base paper's experiment; lighter ways to rank drivers are useful.</a:t>
            </a:r>
          </a:p>
          <a:p>
            <a:pPr algn="l" marL="256032" indent="-201168">
              <a:spcAft>
                <a:spcPts val="1400"/>
              </a:spcAft>
              <a:buChar char="•"/>
            </a:pPr>
            <a:r>
              <a:rPr sz="2100" b="1" i="0">
                <a:solidFill>
                  <a:srgbClr val="222222"/>
                </a:solidFill>
                <a:latin typeface="Calibri"/>
                <a:ea typeface="Calibri"/>
                <a:cs typeface="Calibri"/>
              </a:rPr>
              <a:t>Imbalance and metrics:</a:t>
            </a:r>
            <a:r>
              <a:rPr sz="2100" b="0" i="0">
                <a:solidFill>
                  <a:srgbClr val="222222"/>
                </a:solidFill>
                <a:latin typeface="Calibri"/>
                <a:ea typeface="Calibri"/>
                <a:cs typeface="Calibri"/>
              </a:rPr>
              <a:t> accuracy hides the minority class; recall, precision and F1 must be shown together.</a:t>
            </a:r>
          </a:p>
          <a:p>
            <a:pPr algn="l" marL="256032" indent="-201168">
              <a:spcAft>
                <a:spcPts val="0"/>
              </a:spcAft>
              <a:buChar char="•"/>
            </a:pPr>
            <a:r>
              <a:rPr sz="2100" b="1" i="0">
                <a:solidFill>
                  <a:srgbClr val="222222"/>
                </a:solidFill>
                <a:latin typeface="Calibri"/>
                <a:ea typeface="Calibri"/>
                <a:cs typeface="Calibri"/>
              </a:rPr>
              <a:t>Usability:</a:t>
            </a:r>
            <a:r>
              <a:rPr sz="2100" b="0" i="0">
                <a:solidFill>
                  <a:srgbClr val="222222"/>
                </a:solidFill>
                <a:latin typeface="Calibri"/>
                <a:ea typeface="Calibri"/>
                <a:cs typeface="Calibri"/>
              </a:rPr>
              <a:t> few works deliver an application an analyst can run end to 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83080"/>
            <a:ext cx="11155680" cy="210312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10607040" cy="2011680"/>
          </a:xfrm>
          <a:prstGeom prst="rect">
            <a:avLst/>
          </a:prstGeom>
          <a:noFill/>
        </p:spPr>
        <p:txBody>
          <a:bodyPr wrap="square" lIns="0" rIns="0" tIns="0" bIns="0" anchor="ctr">
            <a:spAutoFit/>
          </a:bodyPr>
          <a:lstStyle/>
          <a:p>
            <a:pPr algn="l">
              <a:spcAft>
                <a:spcPts val="400"/>
              </a:spcAft>
            </a:pPr>
            <a:r>
              <a:rPr sz="1800" b="0" i="0">
                <a:solidFill>
                  <a:srgbClr val="222222"/>
                </a:solidFill>
                <a:latin typeface="Calibri"/>
                <a:ea typeface="Calibri"/>
                <a:cs typeface="Calibri"/>
              </a:rPr>
              <a:t>Given a table of telecom customer records (tenure, contract type, monthly charges, internet service, payment method and related fields), predict for each customer the probability of leaving, group customers into risk bands, show which attributes drive each prediction, and turn the result into a concrete retention action, all in an application that a retention analyst can run without writing code. The predictor must cope with the minority-class imbalance of churn data and must be evaluated with metrics that are not fooled by it.</a:t>
            </a:r>
          </a:p>
        </p:txBody>
      </p:sp>
      <p:sp>
        <p:nvSpPr>
          <p:cNvPr id="9" name="Rounded Rectangle 8"/>
          <p:cNvSpPr/>
          <p:nvPr/>
        </p:nvSpPr>
        <p:spPr>
          <a:xfrm>
            <a:off x="502920" y="4160520"/>
            <a:ext cx="3566160" cy="16459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2519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709160"/>
            <a:ext cx="3200400" cy="100584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Customer records as CSV (sample: 1,000 rows, 19 features)</a:t>
            </a:r>
          </a:p>
        </p:txBody>
      </p:sp>
      <p:sp>
        <p:nvSpPr>
          <p:cNvPr id="12" name="Rounded Rectangle 11"/>
          <p:cNvSpPr/>
          <p:nvPr/>
        </p:nvSpPr>
        <p:spPr>
          <a:xfrm>
            <a:off x="4251959" y="4160520"/>
            <a:ext cx="3566160" cy="16459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2519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709160"/>
            <a:ext cx="3200400" cy="100584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Churn probability, risk band, drivers, retention actions</a:t>
            </a:r>
          </a:p>
        </p:txBody>
      </p:sp>
      <p:sp>
        <p:nvSpPr>
          <p:cNvPr id="15" name="Rounded Rectangle 14"/>
          <p:cNvSpPr/>
          <p:nvPr/>
        </p:nvSpPr>
        <p:spPr>
          <a:xfrm>
            <a:off x="8001000" y="4160520"/>
            <a:ext cx="3566160" cy="16459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2519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Record</a:t>
            </a:r>
          </a:p>
        </p:txBody>
      </p:sp>
      <p:sp>
        <p:nvSpPr>
          <p:cNvPr id="17" name="TextBox 16"/>
          <p:cNvSpPr txBox="1"/>
          <p:nvPr/>
        </p:nvSpPr>
        <p:spPr>
          <a:xfrm>
            <a:off x="8183879" y="4709160"/>
            <a:ext cx="3200400" cy="100584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Metrics, saved model, batch-scored CSV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a:spcAft>
                <a:spcPts val="1200"/>
              </a:spcAft>
            </a:pPr>
            <a:r>
              <a:rPr sz="2000" b="0" i="0">
                <a:solidFill>
                  <a:srgbClr val="222222"/>
                </a:solidFill>
                <a:latin typeface="Calibri"/>
                <a:ea typeface="Calibri"/>
                <a:cs typeface="Calibri"/>
              </a:rPr>
              <a:t>1.  Acquire a telecom customer dataset and perform exploratory analysis of churn behaviour.</a:t>
            </a:r>
          </a:p>
          <a:p>
            <a:pPr algn="l">
              <a:spcAft>
                <a:spcPts val="1200"/>
              </a:spcAft>
            </a:pPr>
            <a:r>
              <a:rPr sz="2000" b="0" i="0">
                <a:solidFill>
                  <a:srgbClr val="222222"/>
                </a:solidFill>
                <a:latin typeface="Calibri"/>
                <a:ea typeface="Calibri"/>
                <a:cs typeface="Calibri"/>
              </a:rPr>
              <a:t>2.  Clean the data, encode categorical fields and address class imbalance between churned and retained customers.</a:t>
            </a:r>
          </a:p>
          <a:p>
            <a:pPr algn="l">
              <a:spcAft>
                <a:spcPts val="1200"/>
              </a:spcAft>
            </a:pPr>
            <a:r>
              <a:rPr sz="2000" b="0" i="0">
                <a:solidFill>
                  <a:srgbClr val="222222"/>
                </a:solidFill>
                <a:latin typeface="Calibri"/>
                <a:ea typeface="Calibri"/>
                <a:cs typeface="Calibri"/>
              </a:rPr>
              <a:t>3.  Train and compare Logistic Regression, Decision Tree and Random Forest classifiers.</a:t>
            </a:r>
          </a:p>
          <a:p>
            <a:pPr algn="l">
              <a:spcAft>
                <a:spcPts val="1200"/>
              </a:spcAft>
            </a:pPr>
            <a:r>
              <a:rPr sz="2000" b="0" i="0">
                <a:solidFill>
                  <a:srgbClr val="222222"/>
                </a:solidFill>
                <a:latin typeface="Calibri"/>
                <a:ea typeface="Calibri"/>
                <a:cs typeface="Calibri"/>
              </a:rPr>
              <a:t>4.  Evaluate using accuracy, precision, recall, F1-score and ROC-AUC.</a:t>
            </a:r>
          </a:p>
          <a:p>
            <a:pPr algn="l">
              <a:spcAft>
                <a:spcPts val="1200"/>
              </a:spcAft>
            </a:pPr>
            <a:r>
              <a:rPr sz="2000" b="0" i="0">
                <a:solidFill>
                  <a:srgbClr val="222222"/>
                </a:solidFill>
                <a:latin typeface="Calibri"/>
                <a:ea typeface="Calibri"/>
                <a:cs typeface="Calibri"/>
              </a:rPr>
              <a:t>5.  Identify the features that contribute most strongly to churn risk.</a:t>
            </a:r>
          </a:p>
          <a:p>
            <a:pPr algn="l">
              <a:spcAft>
                <a:spcPts val="1200"/>
              </a:spcAft>
            </a:pPr>
            <a:r>
              <a:rPr sz="2000" b="0" i="0">
                <a:solidFill>
                  <a:srgbClr val="222222"/>
                </a:solidFill>
                <a:latin typeface="Calibri"/>
                <a:ea typeface="Calibri"/>
                <a:cs typeface="Calibri"/>
              </a:rPr>
              <a:t>6.  Present at-risk customers and their risk drivers through a retention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828800"/>
            <a:ext cx="1975103"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Load data</a:t>
            </a:r>
          </a:p>
        </p:txBody>
      </p:sp>
      <p:sp>
        <p:nvSpPr>
          <p:cNvPr id="8" name="Right Arrow 7"/>
          <p:cNvSpPr/>
          <p:nvPr/>
        </p:nvSpPr>
        <p:spPr>
          <a:xfrm>
            <a:off x="253746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3" y="1828800"/>
            <a:ext cx="1975103"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Prepare + balance</a:t>
            </a:r>
          </a:p>
        </p:txBody>
      </p:sp>
      <p:sp>
        <p:nvSpPr>
          <p:cNvPr id="10" name="Right Arrow 9"/>
          <p:cNvSpPr/>
          <p:nvPr/>
        </p:nvSpPr>
        <p:spPr>
          <a:xfrm>
            <a:off x="483260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3207" y="1828800"/>
            <a:ext cx="1975103"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Train + select</a:t>
            </a:r>
          </a:p>
        </p:txBody>
      </p:sp>
      <p:sp>
        <p:nvSpPr>
          <p:cNvPr id="12" name="Right Arrow 11"/>
          <p:cNvSpPr/>
          <p:nvPr/>
        </p:nvSpPr>
        <p:spPr>
          <a:xfrm>
            <a:off x="712774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88352" y="1828800"/>
            <a:ext cx="1975103"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Score + band</a:t>
            </a:r>
          </a:p>
        </p:txBody>
      </p:sp>
      <p:sp>
        <p:nvSpPr>
          <p:cNvPr id="14" name="Right Arrow 13"/>
          <p:cNvSpPr/>
          <p:nvPr/>
        </p:nvSpPr>
        <p:spPr>
          <a:xfrm>
            <a:off x="9422892"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83496" y="1828800"/>
            <a:ext cx="1975103"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Explain + act</a:t>
            </a:r>
          </a:p>
        </p:txBody>
      </p:sp>
      <p:sp>
        <p:nvSpPr>
          <p:cNvPr id="16" name="TextBox 15"/>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Five scikit-learn classifiers behind one registry; best model chosen on F1 (selectable), saved with joblib and restored at start-up.</a:t>
            </a:r>
          </a:p>
          <a:p>
            <a:pPr algn="l" marL="256032" indent="-201168">
              <a:spcAft>
                <a:spcPts val="1000"/>
              </a:spcAft>
              <a:buChar char="•"/>
            </a:pPr>
            <a:r>
              <a:rPr sz="1800" b="0" i="0">
                <a:solidFill>
                  <a:srgbClr val="222222"/>
                </a:solidFill>
                <a:latin typeface="Calibri"/>
                <a:ea typeface="Calibri"/>
                <a:cs typeface="Calibri"/>
              </a:rPr>
              <a:t>Risk bands Low / Medium / High / Critical at 30 / 60 / 80, editable and validated on the server; Customer 360 view for one customer.</a:t>
            </a:r>
          </a:p>
          <a:p>
            <a:pPr algn="l" marL="256032" indent="-201168">
              <a:spcAft>
                <a:spcPts val="1000"/>
              </a:spcAft>
              <a:buChar char="•"/>
            </a:pPr>
            <a:r>
              <a:rPr sz="1800" b="0" i="0">
                <a:solidFill>
                  <a:srgbClr val="222222"/>
                </a:solidFill>
                <a:latin typeface="Calibri"/>
                <a:ea typeface="Calibri"/>
                <a:cs typeface="Calibri"/>
              </a:rPr>
              <a:t>Local drivers (coefficient x value) and global importance (built-in, permutation); what-if scenarios; ten rule-based retention actions.</a:t>
            </a:r>
          </a:p>
          <a:p>
            <a:pPr algn="l" marL="256032" indent="-201168">
              <a:spcAft>
                <a:spcPts val="0"/>
              </a:spcAft>
              <a:buChar char="•"/>
            </a:pPr>
            <a:r>
              <a:rPr sz="1800" b="0" i="0">
                <a:solidFill>
                  <a:srgbClr val="222222"/>
                </a:solidFill>
                <a:latin typeface="Calibri"/>
                <a:ea typeface="Calibri"/>
                <a:cs typeface="Calibri"/>
              </a:rPr>
              <a:t>FastAPI service and React interface (ChurnIQ) over the same core as the original Streamlit app; demo sign-in; batch scoring; drift check.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502920" y="1710426"/>
            <a:ext cx="5486400" cy="4625867"/>
          </a:xfrm>
          <a:prstGeom prst="rect">
            <a:avLst/>
          </a:prstGeom>
        </p:spPr>
      </p:pic>
      <p:sp>
        <p:nvSpPr>
          <p:cNvPr id="8" name="TextBox 7"/>
          <p:cNvSpPr txBox="1"/>
          <p:nvPr/>
        </p:nvSpPr>
        <p:spPr>
          <a:xfrm>
            <a:off x="6309360" y="1828800"/>
            <a:ext cx="5394960" cy="4297680"/>
          </a:xfrm>
          <a:prstGeom prst="rect">
            <a:avLst/>
          </a:prstGeom>
          <a:noFill/>
        </p:spPr>
        <p:txBody>
          <a:bodyPr wrap="square" lIns="0" rIns="0" tIns="0" bIns="0" anchor="t">
            <a:spAutoFit/>
          </a:bodyPr>
          <a:lstStyle/>
          <a:p>
            <a:pPr algn="l" marL="256032" indent="-201168">
              <a:spcAft>
                <a:spcPts val="1200"/>
              </a:spcAft>
              <a:buChar char="•"/>
            </a:pPr>
            <a:r>
              <a:rPr sz="1700" b="1" i="0">
                <a:solidFill>
                  <a:srgbClr val="222222"/>
                </a:solidFill>
                <a:latin typeface="Calibri"/>
                <a:ea typeface="Calibri"/>
                <a:cs typeface="Calibri"/>
              </a:rPr>
              <a:t>Presentation:</a:t>
            </a:r>
            <a:r>
              <a:rPr sz="1700" b="0" i="0">
                <a:solidFill>
                  <a:srgbClr val="222222"/>
                </a:solidFill>
                <a:latin typeface="Calibri"/>
                <a:ea typeface="Calibri"/>
                <a:cs typeface="Calibri"/>
              </a:rPr>
              <a:t> React SPA (port 5314); original Streamlit UI (8501)</a:t>
            </a:r>
          </a:p>
          <a:p>
            <a:pPr algn="l" marL="256032" indent="-201168">
              <a:spcAft>
                <a:spcPts val="1200"/>
              </a:spcAft>
              <a:buChar char="•"/>
            </a:pPr>
            <a:r>
              <a:rPr sz="1700" b="1" i="0">
                <a:solidFill>
                  <a:srgbClr val="222222"/>
                </a:solidFill>
                <a:latin typeface="Calibri"/>
                <a:ea typeface="Calibri"/>
                <a:cs typeface="Calibri"/>
              </a:rPr>
              <a:t>Application:</a:t>
            </a:r>
            <a:r>
              <a:rPr sz="1700" b="0" i="0">
                <a:solidFill>
                  <a:srgbClr val="222222"/>
                </a:solidFill>
                <a:latin typeface="Calibri"/>
                <a:ea typeface="Calibri"/>
                <a:cs typeface="Calibri"/>
              </a:rPr>
              <a:t> FastAPI (8314), 31 routes, HMAC-signed bearer token, in-memory AppState</a:t>
            </a:r>
          </a:p>
          <a:p>
            <a:pPr algn="l" marL="256032" indent="-201168">
              <a:spcAft>
                <a:spcPts val="1200"/>
              </a:spcAft>
              <a:buChar char="•"/>
            </a:pPr>
            <a:r>
              <a:rPr sz="1700" b="1" i="0">
                <a:solidFill>
                  <a:srgbClr val="222222"/>
                </a:solidFill>
                <a:latin typeface="Calibri"/>
                <a:ea typeface="Calibri"/>
                <a:cs typeface="Calibri"/>
              </a:rPr>
              <a:t>Core:</a:t>
            </a:r>
            <a:r>
              <a:rPr sz="1700" b="0" i="0">
                <a:solidFill>
                  <a:srgbClr val="222222"/>
                </a:solidFill>
                <a:latin typeface="Calibri"/>
                <a:ea typeface="Calibri"/>
                <a:cs typeface="Calibri"/>
              </a:rPr>
              <a:t> 12 pure-Python modules in src/</a:t>
            </a:r>
          </a:p>
          <a:p>
            <a:pPr algn="l" marL="256032" indent="-201168">
              <a:spcAft>
                <a:spcPts val="0"/>
              </a:spcAft>
              <a:buChar char="•"/>
            </a:pPr>
            <a:r>
              <a:rPr sz="1700" b="1" i="0">
                <a:solidFill>
                  <a:srgbClr val="222222"/>
                </a:solidFill>
                <a:latin typeface="Calibri"/>
                <a:ea typeface="Calibri"/>
                <a:cs typeface="Calibri"/>
              </a:rPr>
              <a:t>Data and state:</a:t>
            </a:r>
            <a:r>
              <a:rPr sz="1700" b="0" i="0">
                <a:solidFill>
                  <a:srgbClr val="222222"/>
                </a:solidFill>
                <a:latin typeface="Calibri"/>
                <a:ea typeface="Calibri"/>
                <a:cs typeface="Calibri"/>
              </a:rPr>
              <a:t> CSV files, joblib model files, memory; no SQL database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Load CSV</a:t>
            </a:r>
          </a:p>
        </p:txBody>
      </p:sp>
      <p:sp>
        <p:nvSpPr>
          <p:cNvPr id="8" name="Right Arrow 7"/>
          <p:cNvSpPr/>
          <p:nvPr/>
        </p:nvSpPr>
        <p:spPr>
          <a:xfrm>
            <a:off x="193069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22714"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Profile + clean</a:t>
            </a:r>
          </a:p>
        </p:txBody>
      </p:sp>
      <p:sp>
        <p:nvSpPr>
          <p:cNvPr id="10" name="Right Arrow 9"/>
          <p:cNvSpPr/>
          <p:nvPr/>
        </p:nvSpPr>
        <p:spPr>
          <a:xfrm>
            <a:off x="3550484"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2508" y="1783080"/>
            <a:ext cx="143691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Split 80/20</a:t>
            </a:r>
          </a:p>
        </p:txBody>
      </p:sp>
      <p:sp>
        <p:nvSpPr>
          <p:cNvPr id="12" name="Right Arrow 11"/>
          <p:cNvSpPr/>
          <p:nvPr/>
        </p:nvSpPr>
        <p:spPr>
          <a:xfrm>
            <a:off x="5170278"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62302" y="1783080"/>
            <a:ext cx="143691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Fit preprocessor</a:t>
            </a:r>
          </a:p>
        </p:txBody>
      </p:sp>
      <p:sp>
        <p:nvSpPr>
          <p:cNvPr id="14" name="Right Arrow 13"/>
          <p:cNvSpPr/>
          <p:nvPr/>
        </p:nvSpPr>
        <p:spPr>
          <a:xfrm>
            <a:off x="679007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097" y="1783080"/>
            <a:ext cx="143691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Balance + train</a:t>
            </a:r>
          </a:p>
        </p:txBody>
      </p:sp>
      <p:sp>
        <p:nvSpPr>
          <p:cNvPr id="16" name="Right Arrow 15"/>
          <p:cNvSpPr/>
          <p:nvPr/>
        </p:nvSpPr>
        <p:spPr>
          <a:xfrm>
            <a:off x="840986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01891" y="178308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Evaluate</a:t>
            </a:r>
          </a:p>
        </p:txBody>
      </p:sp>
      <p:sp>
        <p:nvSpPr>
          <p:cNvPr id="18" name="Right Arrow 17"/>
          <p:cNvSpPr/>
          <p:nvPr/>
        </p:nvSpPr>
        <p:spPr>
          <a:xfrm>
            <a:off x="10029661"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21685"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Save + score</a:t>
            </a:r>
          </a:p>
        </p:txBody>
      </p:sp>
      <p:sp>
        <p:nvSpPr>
          <p:cNvPr id="20" name="TextBox 19"/>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Stratified split, test size 20% (seed 42). Median imputation + StandardScaler for 4 numeric columns; mode imputation + one-hot for 15 categorical columns (45 model inputs). Fitted on the training split only.</a:t>
            </a:r>
          </a:p>
          <a:p>
            <a:pPr algn="l" marL="256032" indent="-201168">
              <a:spcAft>
                <a:spcPts val="1000"/>
              </a:spcAft>
              <a:buChar char="•"/>
            </a:pPr>
            <a:r>
              <a:rPr sz="1700" b="0" i="0">
                <a:solidFill>
                  <a:srgbClr val="222222"/>
                </a:solidFill>
                <a:latin typeface="Calibri"/>
                <a:ea typeface="Calibri"/>
                <a:cs typeface="Calibri"/>
              </a:rPr>
              <a:t>Imbalance: class_weight=balanced (default), SMOTE on the transformed training split only, or none. Selection on F1 by default.</a:t>
            </a:r>
          </a:p>
          <a:p>
            <a:pPr algn="l" marL="256032" indent="-201168">
              <a:spcAft>
                <a:spcPts val="1000"/>
              </a:spcAft>
              <a:buChar char="•"/>
            </a:pPr>
            <a:r>
              <a:rPr sz="1700" b="0" i="0">
                <a:solidFill>
                  <a:srgbClr val="222222"/>
                </a:solidFill>
                <a:latin typeface="Calibri"/>
                <a:ea typeface="Calibri"/>
                <a:cs typeface="Calibri"/>
              </a:rPr>
              <a:t>Beyond one split: 5-fold stratified cross-validation and five random splits, because the 200-row test set holds only 53 churners.</a:t>
            </a:r>
          </a:p>
          <a:p>
            <a:pPr algn="l" marL="256032" indent="-201168">
              <a:spcAft>
                <a:spcPts val="0"/>
              </a:spcAft>
              <a:buChar char="•"/>
            </a:pPr>
            <a:r>
              <a:rPr sz="1700" b="0" i="0">
                <a:solidFill>
                  <a:srgbClr val="222222"/>
                </a:solidFill>
                <a:latin typeface="Calibri"/>
                <a:ea typeface="Calibri"/>
                <a:cs typeface="Calibri"/>
              </a:rPr>
              <a:t>Every number is written to JSON by scripts/run_experiments.py and regenerated into the documents.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Features &amp; Drivers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1,000</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customers, 21 columns (synthetic)</a:t>
            </a:r>
          </a:p>
        </p:txBody>
      </p:sp>
      <p:sp>
        <p:nvSpPr>
          <p:cNvPr id="11" name="Rounded Rectangle 10"/>
          <p:cNvSpPr/>
          <p:nvPr/>
        </p:nvSpPr>
        <p:spPr>
          <a:xfrm>
            <a:off x="502920" y="2880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880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935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26.4%</a:t>
            </a:r>
          </a:p>
        </p:txBody>
      </p:sp>
      <p:sp>
        <p:nvSpPr>
          <p:cNvPr id="14" name="TextBox 13"/>
          <p:cNvSpPr txBox="1"/>
          <p:nvPr/>
        </p:nvSpPr>
        <p:spPr>
          <a:xfrm>
            <a:off x="685800" y="3463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churn: 264 churned, 736 retained</a:t>
            </a:r>
          </a:p>
        </p:txBody>
      </p:sp>
      <p:sp>
        <p:nvSpPr>
          <p:cNvPr id="15" name="Rounded Rectangle 14"/>
          <p:cNvSpPr/>
          <p:nvPr/>
        </p:nvSpPr>
        <p:spPr>
          <a:xfrm>
            <a:off x="502920" y="4023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4023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4078224"/>
            <a:ext cx="2377440" cy="553212"/>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19 -&gt; 45</a:t>
            </a:r>
          </a:p>
        </p:txBody>
      </p:sp>
      <p:sp>
        <p:nvSpPr>
          <p:cNvPr id="18" name="TextBox 17"/>
          <p:cNvSpPr txBox="1"/>
          <p:nvPr/>
        </p:nvSpPr>
        <p:spPr>
          <a:xfrm>
            <a:off x="685800" y="4606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raw features -&gt; encoded inputs</a:t>
            </a:r>
          </a:p>
        </p:txBody>
      </p:sp>
      <p:pic>
        <p:nvPicPr>
          <p:cNvPr id="19" name="Picture 18" descr="feature_importance.png"/>
          <p:cNvPicPr>
            <a:picLocks noChangeAspect="1"/>
          </p:cNvPicPr>
          <p:nvPr/>
        </p:nvPicPr>
        <p:blipFill>
          <a:blip r:embed="rId4"/>
          <a:stretch>
            <a:fillRect/>
          </a:stretch>
        </p:blipFill>
        <p:spPr>
          <a:xfrm>
            <a:off x="3383280" y="1706663"/>
            <a:ext cx="8321040" cy="3216073"/>
          </a:xfrm>
          <a:prstGeom prst="rect">
            <a:avLst/>
          </a:prstGeom>
        </p:spPr>
      </p:pic>
      <p:sp>
        <p:nvSpPr>
          <p:cNvPr id="20" name="TextBox 19"/>
          <p:cNvSpPr txBox="1"/>
          <p:nvPr/>
        </p:nvSpPr>
        <p:spPr>
          <a:xfrm>
            <a:off x="3383280" y="5029200"/>
            <a:ext cx="8321040" cy="1280160"/>
          </a:xfrm>
          <a:prstGeom prst="rect">
            <a:avLst/>
          </a:prstGeom>
          <a:noFill/>
        </p:spPr>
        <p:txBody>
          <a:bodyPr wrap="square" lIns="0" rIns="0" tIns="0" bIns="0" anchor="t">
            <a:spAutoFit/>
          </a:bodyPr>
          <a:lstStyle/>
          <a:p>
            <a:pPr algn="l" marL="256032" indent="-201168">
              <a:spcAft>
                <a:spcPts val="600"/>
              </a:spcAft>
              <a:buChar char="•"/>
            </a:pPr>
            <a:r>
              <a:rPr sz="1300" b="0" i="0">
                <a:solidFill>
                  <a:srgbClr val="222222"/>
                </a:solidFill>
                <a:latin typeface="Calibri"/>
                <a:ea typeface="Calibri"/>
                <a:cs typeface="Calibri"/>
              </a:rPr>
              <a:t>Logistic Regression drivers: contract type, monthly charges, tenure, payment method; permutation importance agrees on monthly charges and month-to-month contracts.</a:t>
            </a:r>
          </a:p>
          <a:p>
            <a:pPr algn="l" marL="256032" indent="-201168">
              <a:spcAft>
                <a:spcPts val="0"/>
              </a:spcAft>
              <a:buChar char="•"/>
            </a:pPr>
            <a:r>
              <a:rPr sz="1300" b="0" i="0">
                <a:solidFill>
                  <a:srgbClr val="222222"/>
                </a:solidFill>
                <a:latin typeface="Calibri"/>
                <a:ea typeface="Calibri"/>
                <a:cs typeface="Calibri"/>
              </a:rPr>
              <a:t>The data were generated with these relationships, so recovering them checks the pipeline: it is not evidence about real customers.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core_algorithm_flowchart.png"/>
          <p:cNvPicPr>
            <a:picLocks noChangeAspect="1"/>
          </p:cNvPicPr>
          <p:nvPr/>
        </p:nvPicPr>
        <p:blipFill>
          <a:blip r:embed="rId2"/>
          <a:stretch>
            <a:fillRect/>
          </a:stretch>
        </p:blipFill>
        <p:spPr>
          <a:xfrm>
            <a:off x="668746" y="1645920"/>
            <a:ext cx="3417387" cy="4709160"/>
          </a:xfrm>
          <a:prstGeom prst="rect">
            <a:avLst/>
          </a:prstGeom>
        </p:spPr>
      </p:pic>
      <p:sp>
        <p:nvSpPr>
          <p:cNvPr id="8" name="TextBox 7"/>
          <p:cNvSpPr txBox="1"/>
          <p:nvPr/>
        </p:nvSpPr>
        <p:spPr>
          <a:xfrm>
            <a:off x="4572000" y="1828800"/>
            <a:ext cx="7132320" cy="4389120"/>
          </a:xfrm>
          <a:prstGeom prst="rect">
            <a:avLst/>
          </a:prstGeom>
          <a:noFill/>
        </p:spPr>
        <p:txBody>
          <a:bodyPr wrap="square" lIns="0" rIns="0" tIns="0" bIns="0" anchor="t">
            <a:spAutoFit/>
          </a:bodyPr>
          <a:lstStyle/>
          <a:p>
            <a:pPr algn="l" marL="256032" indent="-201168">
              <a:spcAft>
                <a:spcPts val="1200"/>
              </a:spcAft>
              <a:buChar char="•"/>
            </a:pPr>
            <a:r>
              <a:rPr sz="1700" b="0" i="0">
                <a:solidFill>
                  <a:srgbClr val="222222"/>
                </a:solidFill>
                <a:latin typeface="Calibri"/>
                <a:ea typeface="Calibri"/>
                <a:cs typeface="Calibri"/>
              </a:rPr>
              <a:t>Validate: two classes, rows and a target; failures return HTTP 422 and train nothing.</a:t>
            </a:r>
          </a:p>
          <a:p>
            <a:pPr algn="l" marL="256032" indent="-201168">
              <a:spcAft>
                <a:spcPts val="1200"/>
              </a:spcAft>
              <a:buChar char="•"/>
            </a:pPr>
            <a:r>
              <a:rPr sz="1700" b="0" i="0">
                <a:solidFill>
                  <a:srgbClr val="222222"/>
                </a:solidFill>
                <a:latin typeface="Calibri"/>
                <a:ea typeface="Calibri"/>
                <a:cs typeface="Calibri"/>
              </a:rPr>
              <a:t>Decide: probability = predict_proba x 100; band from the 30 / 60 / 80 thresholds; batch cut-off 50%.</a:t>
            </a:r>
          </a:p>
          <a:p>
            <a:pPr algn="l" marL="256032" indent="-201168">
              <a:spcAft>
                <a:spcPts val="1200"/>
              </a:spcAft>
              <a:buChar char="•"/>
            </a:pPr>
            <a:r>
              <a:rPr sz="1700" b="0" i="0">
                <a:solidFill>
                  <a:srgbClr val="222222"/>
                </a:solidFill>
                <a:latin typeface="Calibri"/>
                <a:ea typeface="Calibri"/>
                <a:cs typeface="Calibri"/>
              </a:rPr>
              <a:t>Explain: coefficient x value (top 5 up, top 5 down); SHAP optional, not installed.</a:t>
            </a:r>
          </a:p>
          <a:p>
            <a:pPr algn="l" marL="256032" indent="-201168">
              <a:spcAft>
                <a:spcPts val="0"/>
              </a:spcAft>
              <a:buChar char="•"/>
            </a:pPr>
            <a:r>
              <a:rPr sz="1700" b="0" i="0">
                <a:solidFill>
                  <a:srgbClr val="222222"/>
                </a:solidFill>
                <a:latin typeface="Calibri"/>
                <a:ea typeface="Calibri"/>
                <a:cs typeface="Calibri"/>
              </a:rPr>
              <a:t>Act: ten IF/THEN rules fire at probability &gt;= 60 or Critical; two fallbacks otherwise. Heuristics: effect not measured.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diagram.png"/>
          <p:cNvPicPr>
            <a:picLocks noChangeAspect="1"/>
          </p:cNvPicPr>
          <p:nvPr/>
        </p:nvPicPr>
        <p:blipFill>
          <a:blip r:embed="rId2"/>
          <a:stretch>
            <a:fillRect/>
          </a:stretch>
        </p:blipFill>
        <p:spPr>
          <a:xfrm>
            <a:off x="521593" y="1645920"/>
            <a:ext cx="4900413" cy="4709160"/>
          </a:xfrm>
          <a:prstGeom prst="rect">
            <a:avLst/>
          </a:prstGeom>
        </p:spPr>
      </p:pic>
      <p:pic>
        <p:nvPicPr>
          <p:cNvPr id="8" name="Picture 7" descr="08_use_case_diagram.png"/>
          <p:cNvPicPr>
            <a:picLocks noChangeAspect="1"/>
          </p:cNvPicPr>
          <p:nvPr/>
        </p:nvPicPr>
        <p:blipFill>
          <a:blip r:embed="rId5"/>
          <a:stretch>
            <a:fillRect/>
          </a:stretch>
        </p:blipFill>
        <p:spPr>
          <a:xfrm>
            <a:off x="5760719" y="1774191"/>
            <a:ext cx="5943600" cy="43154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 Model (logical)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1308117" y="1645920"/>
            <a:ext cx="4424644" cy="4251960"/>
          </a:xfrm>
          <a:prstGeom prst="rect">
            <a:avLst/>
          </a:prstGeom>
        </p:spPr>
      </p:pic>
      <p:graphicFrame>
        <p:nvGraphicFramePr>
          <p:cNvPr id="8" name="Table 7"/>
          <p:cNvGraphicFramePr>
            <a:graphicFrameLocks noGrp="1"/>
          </p:cNvGraphicFramePr>
          <p:nvPr/>
        </p:nvGraphicFramePr>
        <p:xfrm>
          <a:off x="6858000" y="1737360"/>
          <a:ext cx="4846320" cy="3017520"/>
        </p:xfrm>
        <a:graphic>
          <a:graphicData uri="http://schemas.openxmlformats.org/drawingml/2006/table">
            <a:tbl>
              <a:tblPr firstRow="0" bandRow="0">
                <a:tableStyleId>{5C22544A-7EE6-4342-B048-85BDC9FD1C3A}</a:tableStyleId>
              </a:tblPr>
              <a:tblGrid>
                <a:gridCol w="2468880"/>
                <a:gridCol w="2377440"/>
              </a:tblGrid>
              <a:tr h="502920">
                <a:tc>
                  <a:txBody>
                    <a:bodyPr wrap="square"/>
                    <a:lstStyle/>
                    <a:p>
                      <a:pPr algn="ctr"/>
                      <a:r>
                        <a:rPr sz="1300" b="1">
                          <a:solidFill>
                            <a:srgbClr val="1F3864"/>
                          </a:solidFill>
                          <a:latin typeface="Calibri"/>
                          <a:ea typeface="Calibri"/>
                          <a:cs typeface="Calibri"/>
                        </a:rPr>
                        <a:t>Entity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Where it lives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02920">
                <a:tc>
                  <a:txBody>
                    <a:bodyPr wrap="square"/>
                    <a:lstStyle/>
                    <a:p>
                      <a:pPr algn="l"/>
                      <a:r>
                        <a:rPr sz="1300" b="1">
                          <a:solidFill>
                            <a:srgbClr val="222222"/>
                          </a:solidFill>
                          <a:latin typeface="Calibri"/>
                          <a:ea typeface="Calibri"/>
                          <a:cs typeface="Calibri"/>
                        </a:rPr>
                        <a:t>DATASET, CUSTOMER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CSV / DataFrame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300" b="1">
                          <a:solidFill>
                            <a:srgbClr val="222222"/>
                          </a:solidFill>
                          <a:latin typeface="Calibri"/>
                          <a:ea typeface="Calibri"/>
                          <a:cs typeface="Calibri"/>
                        </a:rPr>
                        <a:t>TRIAL_RUN, RISK_RECORD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in memory (AppState)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300" b="1">
                          <a:solidFill>
                            <a:srgbClr val="222222"/>
                          </a:solidFill>
                          <a:latin typeface="Calibri"/>
                          <a:ea typeface="Calibri"/>
                          <a:cs typeface="Calibri"/>
                        </a:rPr>
                        <a:t>MODEL_ARTEFACT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models/*.pkl (joblib)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300" b="1">
                          <a:solidFill>
                            <a:srgbClr val="222222"/>
                          </a:solidFill>
                          <a:latin typeface="Calibri"/>
                          <a:ea typeface="Calibri"/>
                          <a:cs typeface="Calibri"/>
                        </a:rPr>
                        <a:t>RISK_THRESHOLDS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in memory, editable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300" b="1">
                          <a:solidFill>
                            <a:srgbClr val="222222"/>
                          </a:solidFill>
                          <a:latin typeface="Calibri"/>
                          <a:ea typeface="Calibri"/>
                          <a:cs typeface="Calibri"/>
                        </a:rPr>
                        <a:t>RECOMMENDATION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computed per customer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9" name="TextBox 8"/>
          <p:cNvSpPr txBox="1"/>
          <p:nvPr/>
        </p:nvSpPr>
        <p:spPr>
          <a:xfrm>
            <a:off x="6858000" y="4937760"/>
            <a:ext cx="4846320" cy="1188720"/>
          </a:xfrm>
          <a:prstGeom prst="rect">
            <a:avLst/>
          </a:prstGeom>
          <a:noFill/>
        </p:spPr>
        <p:txBody>
          <a:bodyPr wrap="square" lIns="0" rIns="0" tIns="0" bIns="0" anchor="t">
            <a:spAutoFit/>
          </a:bodyPr>
          <a:lstStyle/>
          <a:p>
            <a:pPr algn="l">
              <a:spcAft>
                <a:spcPts val="400"/>
              </a:spcAft>
            </a:pPr>
            <a:r>
              <a:rPr sz="1400" b="0" i="1">
                <a:solidFill>
                  <a:srgbClr val="1F3864"/>
                </a:solidFill>
                <a:latin typeface="Calibri"/>
                <a:ea typeface="Calibri"/>
                <a:cs typeface="Calibri"/>
              </a:rPr>
              <a:t>There is no SQL database: only the active model survives a restart. This is the logical data model of what the code handles.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737360"/>
            <a:ext cx="2633472"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59152"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31</a:t>
            </a:r>
          </a:p>
        </p:txBody>
      </p:sp>
      <p:sp>
        <p:nvSpPr>
          <p:cNvPr id="10" name="TextBox 9"/>
          <p:cNvSpPr txBox="1"/>
          <p:nvPr/>
        </p:nvSpPr>
        <p:spPr>
          <a:xfrm>
            <a:off x="685800" y="2320747"/>
            <a:ext cx="2359152"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REST route handlers</a:t>
            </a:r>
          </a:p>
        </p:txBody>
      </p:sp>
      <p:sp>
        <p:nvSpPr>
          <p:cNvPr id="11" name="Rounded Rectangle 10"/>
          <p:cNvSpPr/>
          <p:nvPr/>
        </p:nvSpPr>
        <p:spPr>
          <a:xfrm>
            <a:off x="3319272" y="1737360"/>
            <a:ext cx="2633472"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19272" y="1737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02152" y="1792224"/>
            <a:ext cx="2359152"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44</a:t>
            </a:r>
          </a:p>
        </p:txBody>
      </p:sp>
      <p:sp>
        <p:nvSpPr>
          <p:cNvPr id="14" name="TextBox 13"/>
          <p:cNvSpPr txBox="1"/>
          <p:nvPr/>
        </p:nvSpPr>
        <p:spPr>
          <a:xfrm>
            <a:off x="3502152" y="2320747"/>
            <a:ext cx="2359152"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pytest tests</a:t>
            </a:r>
          </a:p>
        </p:txBody>
      </p:sp>
      <p:sp>
        <p:nvSpPr>
          <p:cNvPr id="15" name="Rounded Rectangle 14"/>
          <p:cNvSpPr/>
          <p:nvPr/>
        </p:nvSpPr>
        <p:spPr>
          <a:xfrm>
            <a:off x="6135624" y="1737360"/>
            <a:ext cx="2633472"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35624" y="1737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18504" y="1792224"/>
            <a:ext cx="2359152"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16</a:t>
            </a:r>
          </a:p>
        </p:txBody>
      </p:sp>
      <p:sp>
        <p:nvSpPr>
          <p:cNvPr id="18" name="TextBox 17"/>
          <p:cNvSpPr txBox="1"/>
          <p:nvPr/>
        </p:nvSpPr>
        <p:spPr>
          <a:xfrm>
            <a:off x="6318504" y="2320747"/>
            <a:ext cx="2359152"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React page components</a:t>
            </a:r>
          </a:p>
        </p:txBody>
      </p:sp>
      <p:sp>
        <p:nvSpPr>
          <p:cNvPr id="19" name="Rounded Rectangle 18"/>
          <p:cNvSpPr/>
          <p:nvPr/>
        </p:nvSpPr>
        <p:spPr>
          <a:xfrm>
            <a:off x="8951976" y="1737360"/>
            <a:ext cx="2633472"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951976" y="173736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34856" y="1792224"/>
            <a:ext cx="2359152"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a:t>
            </a:r>
          </a:p>
        </p:txBody>
      </p:sp>
      <p:sp>
        <p:nvSpPr>
          <p:cNvPr id="22" name="TextBox 21"/>
          <p:cNvSpPr txBox="1"/>
          <p:nvPr/>
        </p:nvSpPr>
        <p:spPr>
          <a:xfrm>
            <a:off x="9134856" y="2320747"/>
            <a:ext cx="2359152"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command to start (run.bat)</a:t>
            </a:r>
          </a:p>
        </p:txBody>
      </p:sp>
      <p:sp>
        <p:nvSpPr>
          <p:cNvPr id="23" name="TextBox 22"/>
          <p:cNvSpPr txBox="1"/>
          <p:nvPr/>
        </p:nvSpPr>
        <p:spPr>
          <a:xfrm>
            <a:off x="502920" y="3017520"/>
            <a:ext cx="6035040" cy="329184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HMAC-SHA256 bearer token (12 h), 401 on protected routes; server-side validation (422) of settings and uploads.</a:t>
            </a:r>
          </a:p>
          <a:p>
            <a:pPr algn="l" marL="256032" indent="-201168">
              <a:spcAft>
                <a:spcPts val="800"/>
              </a:spcAft>
              <a:buChar char="•"/>
            </a:pPr>
            <a:r>
              <a:rPr sz="1400" b="0" i="0">
                <a:solidFill>
                  <a:srgbClr val="222222"/>
                </a:solidFill>
                <a:latin typeface="Calibri"/>
                <a:ea typeface="Calibri"/>
                <a:cs typeface="Calibri"/>
              </a:rPr>
              <a:t>In-memory session state; the active model is restored from models/*.pkl at start-up.</a:t>
            </a:r>
          </a:p>
          <a:p>
            <a:pPr algn="l" marL="256032" indent="-201168">
              <a:spcAft>
                <a:spcPts val="800"/>
              </a:spcAft>
              <a:buChar char="•"/>
            </a:pPr>
            <a:r>
              <a:rPr sz="1400" b="0" i="0">
                <a:solidFill>
                  <a:srgbClr val="222222"/>
                </a:solidFill>
                <a:latin typeface="Calibri"/>
                <a:ea typeface="Calibri"/>
                <a:cs typeface="Calibri"/>
              </a:rPr>
              <a:t>Batch scoring validates columns, scores every row and can add top-3 drivers; drift check compares new data with the training data.</a:t>
            </a:r>
          </a:p>
          <a:p>
            <a:pPr algn="l" marL="256032" indent="-201168">
              <a:spcAft>
                <a:spcPts val="0"/>
              </a:spcAft>
              <a:buChar char="•"/>
            </a:pPr>
            <a:r>
              <a:rPr sz="1400" b="0" i="0">
                <a:solidFill>
                  <a:srgbClr val="222222"/>
                </a:solidFill>
                <a:latin typeface="Calibri"/>
                <a:ea typeface="Calibri"/>
                <a:cs typeface="Calibri"/>
              </a:rPr>
              <a:t>Same src/ core serves the Streamlit app, the API and the experiment scripts.</a:t>
            </a:r>
          </a:p>
        </p:txBody>
      </p:sp>
      <p:pic>
        <p:nvPicPr>
          <p:cNvPr id="24" name="Picture 23" descr="risk_bands.png"/>
          <p:cNvPicPr>
            <a:picLocks noChangeAspect="1"/>
          </p:cNvPicPr>
          <p:nvPr/>
        </p:nvPicPr>
        <p:blipFill>
          <a:blip r:embed="rId4"/>
          <a:stretch>
            <a:fillRect/>
          </a:stretch>
        </p:blipFill>
        <p:spPr>
          <a:xfrm>
            <a:off x="6766560" y="2999354"/>
            <a:ext cx="4937760" cy="305385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Model Performance (80/20 split, seed 42)</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7" name="Table 6"/>
          <p:cNvGraphicFramePr>
            <a:graphicFrameLocks noGrp="1"/>
          </p:cNvGraphicFramePr>
          <p:nvPr/>
        </p:nvGraphicFramePr>
        <p:xfrm>
          <a:off x="502920" y="1737360"/>
          <a:ext cx="6949440" cy="2743200"/>
        </p:xfrm>
        <a:graphic>
          <a:graphicData uri="http://schemas.openxmlformats.org/drawingml/2006/table">
            <a:tbl>
              <a:tblPr firstRow="0" bandRow="0">
                <a:tableStyleId>{5C22544A-7EE6-4342-B048-85BDC9FD1C3A}</a:tableStyleId>
              </a:tblPr>
              <a:tblGrid>
                <a:gridCol w="2651760"/>
                <a:gridCol w="914400"/>
                <a:gridCol w="914400"/>
                <a:gridCol w="822960"/>
                <a:gridCol w="731520"/>
                <a:gridCol w="914400"/>
              </a:tblGrid>
              <a:tr h="457200">
                <a:tc>
                  <a:txBody>
                    <a:bodyPr wrap="square"/>
                    <a:lstStyle/>
                    <a:p>
                      <a:pPr algn="ctr"/>
                      <a:r>
                        <a:rPr sz="1300" b="1">
                          <a:solidFill>
                            <a:srgbClr val="1F3864"/>
                          </a:solidFill>
                          <a:latin typeface="Calibri"/>
                          <a:ea typeface="Calibri"/>
                          <a:cs typeface="Calibri"/>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Precision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Recall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F1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ROC-AUC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300" b="1">
                          <a:solidFill>
                            <a:srgbClr val="222222"/>
                          </a:solidFill>
                          <a:latin typeface="Calibri"/>
                          <a:ea typeface="Calibri"/>
                          <a:cs typeface="Calibri"/>
                        </a:rPr>
                        <a:t>Logistic Regression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0.630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0.385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0.660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0.486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0.722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300" b="1">
                          <a:solidFill>
                            <a:srgbClr val="222222"/>
                          </a:solidFill>
                          <a:latin typeface="Calibri"/>
                          <a:ea typeface="Calibri"/>
                          <a:cs typeface="Calibri"/>
                        </a:rPr>
                        <a:t>Decision Tree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0.615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0.338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0.472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0.394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0.608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300" b="1">
                          <a:solidFill>
                            <a:srgbClr val="222222"/>
                          </a:solidFill>
                          <a:latin typeface="Calibri"/>
                          <a:ea typeface="Calibri"/>
                          <a:cs typeface="Calibri"/>
                        </a:rPr>
                        <a:t>Random Forest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0.665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0.405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0.566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0.472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0.711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300" b="1">
                          <a:solidFill>
                            <a:srgbClr val="222222"/>
                          </a:solidFill>
                          <a:latin typeface="Calibri"/>
                          <a:ea typeface="Calibri"/>
                          <a:cs typeface="Calibri"/>
                        </a:rPr>
                        <a:t>Gradient Boosting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0.745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0.536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0.283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0.370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0.697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300" b="1">
                          <a:solidFill>
                            <a:srgbClr val="222222"/>
                          </a:solidFill>
                          <a:latin typeface="Calibri"/>
                          <a:ea typeface="Calibri"/>
                          <a:cs typeface="Calibri"/>
                        </a:rPr>
                        <a:t>Hist Gradient Boosting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0.710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0.400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0.189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0.256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0.685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graphicFrame>
        <p:nvGraphicFramePr>
          <p:cNvPr id="8" name="Chart 7"/>
          <p:cNvGraphicFramePr>
            <a:graphicFrameLocks noGrp="1"/>
          </p:cNvGraphicFramePr>
          <p:nvPr/>
        </p:nvGraphicFramePr>
        <p:xfrm>
          <a:off x="7680960" y="1645920"/>
          <a:ext cx="4114800" cy="3017520"/>
        </p:xfrm>
        <a:graphic>
          <a:graphicData uri="http://schemas.openxmlformats.org/drawingml/2006/chart">
            <c:chart xmlns:c="http://schemas.openxmlformats.org/drawingml/2006/chart" r:id="rId4"/>
          </a:graphicData>
        </a:graphic>
      </p:graphicFrame>
      <p:sp>
        <p:nvSpPr>
          <p:cNvPr id="9" name="TextBox 8"/>
          <p:cNvSpPr txBox="1"/>
          <p:nvPr/>
        </p:nvSpPr>
        <p:spPr>
          <a:xfrm>
            <a:off x="502920" y="4892040"/>
            <a:ext cx="11155680" cy="137160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Logistic Regression is best on F1 (0.486), ROC-AUC and recall; Random Forest is within one standard deviation (F1 0.472); Decision Tree is weakest.</a:t>
            </a:r>
          </a:p>
          <a:p>
            <a:pPr algn="l" marL="256032" indent="-201168">
              <a:spcAft>
                <a:spcPts val="0"/>
              </a:spcAft>
              <a:buChar char="•"/>
            </a:pPr>
            <a:r>
              <a:rPr sz="1400" b="0" i="0">
                <a:solidFill>
                  <a:srgbClr val="222222"/>
                </a:solidFill>
                <a:latin typeface="Calibri"/>
                <a:ea typeface="Calibri"/>
                <a:cs typeface="Calibri"/>
              </a:rPr>
              <a:t>Gradient boosting has the highest accuracy (0.745) but finds only 15 of 53 churners (recall 0.283): why selection is on F1. Class weights were used; test set 200 rows.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Matrices &amp; ROC / Precision-Recall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confusion_matrices.png"/>
          <p:cNvPicPr>
            <a:picLocks noChangeAspect="1"/>
          </p:cNvPicPr>
          <p:nvPr/>
        </p:nvPicPr>
        <p:blipFill>
          <a:blip r:embed="rId3"/>
          <a:stretch>
            <a:fillRect/>
          </a:stretch>
        </p:blipFill>
        <p:spPr>
          <a:xfrm>
            <a:off x="502920" y="1830343"/>
            <a:ext cx="5669280" cy="1734273"/>
          </a:xfrm>
          <a:prstGeom prst="rect">
            <a:avLst/>
          </a:prstGeom>
        </p:spPr>
      </p:pic>
      <p:pic>
        <p:nvPicPr>
          <p:cNvPr id="8" name="Picture 7" descr="roc_pr_curves.png"/>
          <p:cNvPicPr>
            <a:picLocks noChangeAspect="1"/>
          </p:cNvPicPr>
          <p:nvPr/>
        </p:nvPicPr>
        <p:blipFill>
          <a:blip r:embed="rId2"/>
          <a:stretch>
            <a:fillRect/>
          </a:stretch>
        </p:blipFill>
        <p:spPr>
          <a:xfrm>
            <a:off x="6400800" y="1710155"/>
            <a:ext cx="5303520" cy="2212392"/>
          </a:xfrm>
          <a:prstGeom prst="rect">
            <a:avLst/>
          </a:prstGeom>
        </p:spPr>
      </p:pic>
      <p:graphicFrame>
        <p:nvGraphicFramePr>
          <p:cNvPr id="9" name="Table 8"/>
          <p:cNvGraphicFramePr>
            <a:graphicFrameLocks noGrp="1"/>
          </p:cNvGraphicFramePr>
          <p:nvPr/>
        </p:nvGraphicFramePr>
        <p:xfrm>
          <a:off x="502920" y="4069080"/>
          <a:ext cx="6035040" cy="2194560"/>
        </p:xfrm>
        <a:graphic>
          <a:graphicData uri="http://schemas.openxmlformats.org/drawingml/2006/table">
            <a:tbl>
              <a:tblPr firstRow="0" bandRow="0">
                <a:tableStyleId>{5C22544A-7EE6-4342-B048-85BDC9FD1C3A}</a:tableStyleId>
              </a:tblPr>
              <a:tblGrid>
                <a:gridCol w="2743200"/>
                <a:gridCol w="822960"/>
                <a:gridCol w="822960"/>
                <a:gridCol w="822960"/>
                <a:gridCol w="822960"/>
              </a:tblGrid>
              <a:tr h="365760">
                <a:tc>
                  <a:txBody>
                    <a:bodyPr wrap="square"/>
                    <a:lstStyle/>
                    <a:p>
                      <a:pPr algn="ctr"/>
                      <a:r>
                        <a:rPr sz="1200" b="1">
                          <a:solidFill>
                            <a:srgbClr val="1F3864"/>
                          </a:solidFill>
                          <a:latin typeface="Calibri"/>
                          <a:ea typeface="Calibri"/>
                          <a:cs typeface="Calibri"/>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FP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FN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65760">
                <a:tc>
                  <a:txBody>
                    <a:bodyPr wrap="square"/>
                    <a:lstStyle/>
                    <a:p>
                      <a:pPr algn="l"/>
                      <a:r>
                        <a:rPr sz="1200" b="1">
                          <a:solidFill>
                            <a:srgbClr val="222222"/>
                          </a:solidFill>
                          <a:latin typeface="Calibri"/>
                          <a:ea typeface="Calibri"/>
                          <a:cs typeface="Calibri"/>
                        </a:rPr>
                        <a:t>Logistic Regression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91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56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35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200" b="1">
                          <a:solidFill>
                            <a:srgbClr val="222222"/>
                          </a:solidFill>
                          <a:latin typeface="Calibri"/>
                          <a:ea typeface="Calibri"/>
                          <a:cs typeface="Calibri"/>
                        </a:rPr>
                        <a:t>Decision Tree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98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49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28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200" b="1">
                          <a:solidFill>
                            <a:srgbClr val="222222"/>
                          </a:solidFill>
                          <a:latin typeface="Calibri"/>
                          <a:ea typeface="Calibri"/>
                          <a:cs typeface="Calibri"/>
                        </a:rPr>
                        <a:t>Random Forest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103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44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30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200" b="1">
                          <a:solidFill>
                            <a:srgbClr val="222222"/>
                          </a:solidFill>
                          <a:latin typeface="Calibri"/>
                          <a:ea typeface="Calibri"/>
                          <a:cs typeface="Calibri"/>
                        </a:rPr>
                        <a:t>Gradient Boosting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38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200" b="1">
                          <a:solidFill>
                            <a:srgbClr val="222222"/>
                          </a:solidFill>
                          <a:latin typeface="Calibri"/>
                          <a:ea typeface="Calibri"/>
                          <a:cs typeface="Calibri"/>
                        </a:rPr>
                        <a:t>Hist Gradient Boosting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132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43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10" name="TextBox 9"/>
          <p:cNvSpPr txBox="1"/>
          <p:nvPr/>
        </p:nvSpPr>
        <p:spPr>
          <a:xfrm>
            <a:off x="6675120" y="4114800"/>
            <a:ext cx="5029200" cy="210312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Logistic Regression: 35 of 53 churners found, 56 of 147 loyal customers flagged (precision 0.385).</a:t>
            </a:r>
          </a:p>
          <a:p>
            <a:pPr algn="l" marL="256032" indent="-201168">
              <a:spcAft>
                <a:spcPts val="800"/>
              </a:spcAft>
              <a:buChar char="•"/>
            </a:pPr>
            <a:r>
              <a:rPr sz="1400" b="0" i="0">
                <a:solidFill>
                  <a:srgbClr val="222222"/>
                </a:solidFill>
                <a:latin typeface="Calibri"/>
                <a:ea typeface="Calibri"/>
                <a:cs typeface="Calibri"/>
              </a:rPr>
              <a:t>The curves for LR and RF are close; the Decision Tree is lower (AUC 0.608).</a:t>
            </a:r>
          </a:p>
          <a:p>
            <a:pPr algn="l" marL="256032" indent="-201168">
              <a:spcAft>
                <a:spcPts val="0"/>
              </a:spcAft>
              <a:buChar char="•"/>
            </a:pPr>
            <a:r>
              <a:rPr sz="1400" b="0" i="0">
                <a:solidFill>
                  <a:srgbClr val="222222"/>
                </a:solidFill>
                <a:latin typeface="Calibri"/>
                <a:ea typeface="Calibri"/>
                <a:cs typeface="Calibri"/>
              </a:rPr>
              <a:t>Test split: 200 rows, 53 churners.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Stability: Cross-Validation and Five Splits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stability.png"/>
          <p:cNvPicPr>
            <a:picLocks noChangeAspect="1"/>
          </p:cNvPicPr>
          <p:nvPr/>
        </p:nvPicPr>
        <p:blipFill>
          <a:blip r:embed="rId3"/>
          <a:stretch>
            <a:fillRect/>
          </a:stretch>
        </p:blipFill>
        <p:spPr>
          <a:xfrm>
            <a:off x="502920" y="1670538"/>
            <a:ext cx="6400800" cy="2602523"/>
          </a:xfrm>
          <a:prstGeom prst="rect">
            <a:avLst/>
          </a:prstGeom>
        </p:spPr>
      </p:pic>
      <p:graphicFrame>
        <p:nvGraphicFramePr>
          <p:cNvPr id="8" name="Table 7"/>
          <p:cNvGraphicFramePr>
            <a:graphicFrameLocks noGrp="1"/>
          </p:cNvGraphicFramePr>
          <p:nvPr/>
        </p:nvGraphicFramePr>
        <p:xfrm>
          <a:off x="502920" y="4480560"/>
          <a:ext cx="11155680" cy="1828800"/>
        </p:xfrm>
        <a:graphic>
          <a:graphicData uri="http://schemas.openxmlformats.org/drawingml/2006/table">
            <a:tbl>
              <a:tblPr firstRow="0" bandRow="0">
                <a:tableStyleId>{5C22544A-7EE6-4342-B048-85BDC9FD1C3A}</a:tableStyleId>
              </a:tblPr>
              <a:tblGrid>
                <a:gridCol w="2468880"/>
                <a:gridCol w="2103120"/>
                <a:gridCol w="2103120"/>
                <a:gridCol w="2286000"/>
                <a:gridCol w="2194560"/>
              </a:tblGrid>
              <a:tr h="457200">
                <a:tc>
                  <a:txBody>
                    <a:bodyPr wrap="square"/>
                    <a:lstStyle/>
                    <a:p>
                      <a:pPr algn="ctr"/>
                      <a:r>
                        <a:rPr sz="1300" b="1">
                          <a:solidFill>
                            <a:srgbClr val="1F3864"/>
                          </a:solidFill>
                          <a:latin typeface="Calibri"/>
                          <a:ea typeface="Calibri"/>
                          <a:cs typeface="Calibri"/>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F1 (5-fold CV)</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F1 (5 splits)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ROC-AUC (5-fold CV)</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ROC-AUC (5 splits)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300" b="1">
                          <a:solidFill>
                            <a:srgbClr val="222222"/>
                          </a:solidFill>
                          <a:latin typeface="Calibri"/>
                          <a:ea typeface="Calibri"/>
                          <a:cs typeface="Calibri"/>
                        </a:rPr>
                        <a:t>Logistic Regression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0.483 ± 0.055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0.507 ± 0.044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0.695 ± 0.046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0.723 ± 0.034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300" b="1">
                          <a:solidFill>
                            <a:srgbClr val="222222"/>
                          </a:solidFill>
                          <a:latin typeface="Calibri"/>
                          <a:ea typeface="Calibri"/>
                          <a:cs typeface="Calibri"/>
                        </a:rPr>
                        <a:t>Decision Tree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0.431 ± 0.028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0.457 ± 0.033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0.623 ± 0.020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300" b="0">
                          <a:solidFill>
                            <a:srgbClr val="222222"/>
                          </a:solidFill>
                          <a:latin typeface="Calibri"/>
                          <a:ea typeface="Calibri"/>
                          <a:cs typeface="Calibri"/>
                        </a:rPr>
                        <a:t>0.648 ± 0.040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300" b="1">
                          <a:solidFill>
                            <a:srgbClr val="222222"/>
                          </a:solidFill>
                          <a:latin typeface="Calibri"/>
                          <a:ea typeface="Calibri"/>
                          <a:cs typeface="Calibri"/>
                        </a:rPr>
                        <a:t>Random Forest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0.463 ± 0.051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0.496 ± 0.033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0.697 ± 0.042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300" b="0">
                          <a:solidFill>
                            <a:srgbClr val="222222"/>
                          </a:solidFill>
                          <a:latin typeface="Calibri"/>
                          <a:ea typeface="Calibri"/>
                          <a:cs typeface="Calibri"/>
                        </a:rPr>
                        <a:t>0.710 ± 0.017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9" name="TextBox 8"/>
          <p:cNvSpPr txBox="1"/>
          <p:nvPr/>
        </p:nvSpPr>
        <p:spPr>
          <a:xfrm>
            <a:off x="7132320" y="1737360"/>
            <a:ext cx="4572000" cy="265176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Mean ± standard deviation over folds or seeds; each fold holds 200 rows.</a:t>
            </a:r>
          </a:p>
          <a:p>
            <a:pPr algn="l" marL="256032" indent="-201168">
              <a:spcAft>
                <a:spcPts val="800"/>
              </a:spcAft>
              <a:buChar char="•"/>
            </a:pPr>
            <a:r>
              <a:rPr sz="1400" b="0" i="0">
                <a:solidFill>
                  <a:srgbClr val="222222"/>
                </a:solidFill>
                <a:latin typeface="Calibri"/>
                <a:ea typeface="Calibri"/>
                <a:cs typeface="Calibri"/>
              </a:rPr>
              <a:t>LR and RF are within one standard deviation of each other on F1 and ROC-AUC.</a:t>
            </a:r>
          </a:p>
          <a:p>
            <a:pPr algn="l" marL="256032" indent="-201168">
              <a:spcAft>
                <a:spcPts val="0"/>
              </a:spcAft>
              <a:buChar char="•"/>
            </a:pPr>
            <a:r>
              <a:rPr sz="1400" b="0" i="0">
                <a:solidFill>
                  <a:srgbClr val="222222"/>
                </a:solidFill>
                <a:latin typeface="Calibri"/>
                <a:ea typeface="Calibri"/>
                <a:cs typeface="Calibri"/>
              </a:rPr>
              <a:t>The single split is not unusual, but the spread (0.03-0.10) shows how noisy 53 churners are.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Threshold, Calibration &amp; Imbalance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pic>
        <p:nvPicPr>
          <p:cNvPr id="7" name="Picture 6" descr="threshold_sweep.png"/>
          <p:cNvPicPr>
            <a:picLocks noChangeAspect="1"/>
          </p:cNvPicPr>
          <p:nvPr/>
        </p:nvPicPr>
        <p:blipFill>
          <a:blip r:embed="rId4"/>
          <a:stretch>
            <a:fillRect/>
          </a:stretch>
        </p:blipFill>
        <p:spPr>
          <a:xfrm>
            <a:off x="502919" y="1664789"/>
            <a:ext cx="3200400" cy="2175109"/>
          </a:xfrm>
          <a:prstGeom prst="rect">
            <a:avLst/>
          </a:prstGeom>
        </p:spPr>
      </p:pic>
      <p:pic>
        <p:nvPicPr>
          <p:cNvPr id="8" name="Picture 7" descr="calibration.png"/>
          <p:cNvPicPr>
            <a:picLocks noChangeAspect="1"/>
          </p:cNvPicPr>
          <p:nvPr/>
        </p:nvPicPr>
        <p:blipFill>
          <a:blip r:embed="rId5"/>
          <a:stretch>
            <a:fillRect/>
          </a:stretch>
        </p:blipFill>
        <p:spPr>
          <a:xfrm>
            <a:off x="3840480" y="1650451"/>
            <a:ext cx="2834640" cy="2203785"/>
          </a:xfrm>
          <a:prstGeom prst="rect">
            <a:avLst/>
          </a:prstGeom>
        </p:spPr>
      </p:pic>
      <p:sp>
        <p:nvSpPr>
          <p:cNvPr id="9" name="TextBox 8"/>
          <p:cNvSpPr txBox="1"/>
          <p:nvPr/>
        </p:nvSpPr>
        <p:spPr>
          <a:xfrm>
            <a:off x="6949440" y="1691640"/>
            <a:ext cx="4754880" cy="2286000"/>
          </a:xfrm>
          <a:prstGeom prst="rect">
            <a:avLst/>
          </a:prstGeom>
          <a:noFill/>
        </p:spPr>
        <p:txBody>
          <a:bodyPr wrap="square" lIns="0" rIns="0" tIns="0" bIns="0" anchor="t">
            <a:spAutoFit/>
          </a:bodyPr>
          <a:lstStyle/>
          <a:p>
            <a:pPr algn="l" marL="256032" indent="-201168">
              <a:spcAft>
                <a:spcPts val="600"/>
              </a:spcAft>
              <a:buChar char="•"/>
            </a:pPr>
            <a:r>
              <a:rPr sz="1200" b="0" i="0">
                <a:solidFill>
                  <a:srgbClr val="222222"/>
                </a:solidFill>
                <a:latin typeface="Calibri"/>
                <a:ea typeface="Calibri"/>
                <a:cs typeface="Calibri"/>
              </a:rPr>
              <a:t>Threshold 0.50: precision 0.385, recall 0.660; 0.30: recall 0.962, precision 0.325. F1 is flat from 0.40 to 0.60.</a:t>
            </a:r>
          </a:p>
          <a:p>
            <a:pPr algn="l" marL="256032" indent="-201168">
              <a:spcAft>
                <a:spcPts val="600"/>
              </a:spcAft>
              <a:buChar char="•"/>
            </a:pPr>
            <a:r>
              <a:rPr sz="1200" b="0" i="0">
                <a:solidFill>
                  <a:srgbClr val="222222"/>
                </a:solidFill>
                <a:latin typeface="Calibri"/>
                <a:ea typeface="Calibri"/>
                <a:cs typeface="Calibri"/>
              </a:rPr>
              <a:t>Calibration: Brier 0.213 against 0.195 for a constant predictor; mean prediction 0.46 vs 0.27 observed. Scores are rankings, not probabilities.</a:t>
            </a:r>
          </a:p>
          <a:p>
            <a:pPr algn="l" marL="256032" indent="-201168">
              <a:spcAft>
                <a:spcPts val="0"/>
              </a:spcAft>
              <a:buChar char="•"/>
            </a:pPr>
            <a:r>
              <a:rPr sz="1200" b="0" i="0">
                <a:solidFill>
                  <a:srgbClr val="222222"/>
                </a:solidFill>
                <a:latin typeface="Calibri"/>
                <a:ea typeface="Calibri"/>
                <a:cs typeface="Calibri"/>
              </a:rPr>
              <a:t>Top 20% by score (40 customers) holds 21 of 53 churners: lift 2.0x.</a:t>
            </a:r>
          </a:p>
        </p:txBody>
      </p:sp>
      <p:pic>
        <p:nvPicPr>
          <p:cNvPr id="10" name="Picture 9" descr="imbalance_strategy.png"/>
          <p:cNvPicPr>
            <a:picLocks noChangeAspect="1"/>
          </p:cNvPicPr>
          <p:nvPr/>
        </p:nvPicPr>
        <p:blipFill>
          <a:blip r:embed="rId6"/>
          <a:stretch>
            <a:fillRect/>
          </a:stretch>
        </p:blipFill>
        <p:spPr>
          <a:xfrm>
            <a:off x="502920" y="4089846"/>
            <a:ext cx="5394960" cy="2189602"/>
          </a:xfrm>
          <a:prstGeom prst="rect">
            <a:avLst/>
          </a:prstGeom>
        </p:spPr>
      </p:pic>
      <p:sp>
        <p:nvSpPr>
          <p:cNvPr id="11" name="TextBox 10"/>
          <p:cNvSpPr txBox="1"/>
          <p:nvPr/>
        </p:nvSpPr>
        <p:spPr>
          <a:xfrm>
            <a:off x="6217920" y="4114800"/>
            <a:ext cx="5486400" cy="219456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Without imbalance handling accuracy looks fine (LR 0.745, RF 0.755) while recall collapses (LR 0.189, RF 0.094).</a:t>
            </a:r>
          </a:p>
          <a:p>
            <a:pPr algn="l" marL="256032" indent="-201168">
              <a:spcAft>
                <a:spcPts val="0"/>
              </a:spcAft>
              <a:buChar char="•"/>
            </a:pPr>
            <a:r>
              <a:rPr sz="1400" b="0" i="0">
                <a:solidFill>
                  <a:srgbClr val="222222"/>
                </a:solidFill>
                <a:latin typeface="Calibri"/>
                <a:ea typeface="Calibri"/>
                <a:cs typeface="Calibri"/>
              </a:rPr>
              <a:t>Class weights (default) and SMOTE restore recall; SMOTE gave LR its best single-split F1 (0.526) but was tried on one split only.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sp>
        <p:nvSpPr>
          <p:cNvPr id="7" name="Rounded Rectangle 6"/>
          <p:cNvSpPr/>
          <p:nvPr/>
        </p:nvSpPr>
        <p:spPr>
          <a:xfrm>
            <a:off x="502920" y="1737360"/>
            <a:ext cx="2633472"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515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59152"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19.1 ms</a:t>
            </a:r>
          </a:p>
        </p:txBody>
      </p:sp>
      <p:sp>
        <p:nvSpPr>
          <p:cNvPr id="10" name="TextBox 9"/>
          <p:cNvSpPr txBox="1"/>
          <p:nvPr/>
        </p:nvSpPr>
        <p:spPr>
          <a:xfrm>
            <a:off x="685800" y="2347264"/>
            <a:ext cx="2359152"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score one customer (median, 200 runs)</a:t>
            </a:r>
          </a:p>
        </p:txBody>
      </p:sp>
      <p:sp>
        <p:nvSpPr>
          <p:cNvPr id="11" name="Rounded Rectangle 10"/>
          <p:cNvSpPr/>
          <p:nvPr/>
        </p:nvSpPr>
        <p:spPr>
          <a:xfrm>
            <a:off x="3319272" y="1737360"/>
            <a:ext cx="2633472"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19272" y="173736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02152" y="1792224"/>
            <a:ext cx="2359152"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35.4 ms</a:t>
            </a:r>
          </a:p>
        </p:txBody>
      </p:sp>
      <p:sp>
        <p:nvSpPr>
          <p:cNvPr id="14" name="TextBox 13"/>
          <p:cNvSpPr txBox="1"/>
          <p:nvPr/>
        </p:nvSpPr>
        <p:spPr>
          <a:xfrm>
            <a:off x="3502152" y="2347264"/>
            <a:ext cx="2359152"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score all 1,000 customers</a:t>
            </a:r>
          </a:p>
        </p:txBody>
      </p:sp>
      <p:sp>
        <p:nvSpPr>
          <p:cNvPr id="15" name="Rounded Rectangle 14"/>
          <p:cNvSpPr/>
          <p:nvPr/>
        </p:nvSpPr>
        <p:spPr>
          <a:xfrm>
            <a:off x="6135624" y="1737360"/>
            <a:ext cx="2633472"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35624" y="1737360"/>
            <a:ext cx="7315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18504" y="1792224"/>
            <a:ext cx="2359152"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2.96 s</a:t>
            </a:r>
          </a:p>
        </p:txBody>
      </p:sp>
      <p:sp>
        <p:nvSpPr>
          <p:cNvPr id="18" name="TextBox 17"/>
          <p:cNvSpPr txBox="1"/>
          <p:nvPr/>
        </p:nvSpPr>
        <p:spPr>
          <a:xfrm>
            <a:off x="6318504" y="2347264"/>
            <a:ext cx="2359152"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train and evaluate five models</a:t>
            </a:r>
          </a:p>
        </p:txBody>
      </p:sp>
      <p:sp>
        <p:nvSpPr>
          <p:cNvPr id="19" name="Rounded Rectangle 18"/>
          <p:cNvSpPr/>
          <p:nvPr/>
        </p:nvSpPr>
        <p:spPr>
          <a:xfrm>
            <a:off x="8951976" y="1737360"/>
            <a:ext cx="2633472"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951976" y="1737360"/>
            <a:ext cx="73152" cy="105156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34856" y="1792224"/>
            <a:ext cx="2359152"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94 ms</a:t>
            </a:r>
          </a:p>
        </p:txBody>
      </p:sp>
      <p:sp>
        <p:nvSpPr>
          <p:cNvPr id="22" name="TextBox 21"/>
          <p:cNvSpPr txBox="1"/>
          <p:nvPr/>
        </p:nvSpPr>
        <p:spPr>
          <a:xfrm>
            <a:off x="9134856" y="2347264"/>
            <a:ext cx="2359152"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 dashboard call (median of 10)</a:t>
            </a:r>
          </a:p>
        </p:txBody>
      </p:sp>
      <p:graphicFrame>
        <p:nvGraphicFramePr>
          <p:cNvPr id="23" name="Table 22"/>
          <p:cNvGraphicFramePr>
            <a:graphicFrameLocks noGrp="1"/>
          </p:cNvGraphicFramePr>
          <p:nvPr/>
        </p:nvGraphicFramePr>
        <p:xfrm>
          <a:off x="502920" y="3017520"/>
          <a:ext cx="11155680" cy="2834640"/>
        </p:xfrm>
        <a:graphic>
          <a:graphicData uri="http://schemas.openxmlformats.org/drawingml/2006/table">
            <a:tbl>
              <a:tblPr firstRow="0" bandRow="0">
                <a:tableStyleId>{5C22544A-7EE6-4342-B048-85BDC9FD1C3A}</a:tableStyleId>
              </a:tblPr>
              <a:tblGrid>
                <a:gridCol w="2834640"/>
                <a:gridCol w="5760720"/>
                <a:gridCol w="2560320"/>
              </a:tblGrid>
              <a:tr h="566928">
                <a:tc>
                  <a:txBody>
                    <a:bodyPr wrap="square"/>
                    <a:lstStyle/>
                    <a:p>
                      <a:pPr algn="ctr"/>
                      <a:r>
                        <a:rPr sz="1200" b="1">
                          <a:solidFill>
                            <a:srgbClr val="1F3864"/>
                          </a:solidFill>
                          <a:latin typeface="Calibri"/>
                          <a:ea typeface="Calibri"/>
                          <a:cs typeface="Calibri"/>
                        </a:rPr>
                        <a:t>Test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What it covers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200" b="1">
                          <a:solidFill>
                            <a:srgbClr val="222222"/>
                          </a:solidFill>
                          <a:latin typeface="Calibri"/>
                          <a:ea typeface="Calibri"/>
                          <a:cs typeface="Calibri"/>
                        </a:rPr>
                        <a:t>pytest (src/ core, token auth)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sample data, preprocessing, SMOTE, training, risk bands, batch, rules, persistence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44 passed (pandas 3 and pandas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API smoke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63 checks: auth, data, train, evaluation, risk, explain, what-if, retention, batch, drift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63 PASS, 0 FAIL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Browser walk (Playwright, Chrome)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16 screens with real data at 1440 x 900; 360-1440 px, light and dark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console clean, no overflow</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Not done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load test, penetration test, user study, other browsers, SHAP path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stated as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4" name="TextBox 23"/>
          <p:cNvSpPr txBox="1"/>
          <p:nvPr/>
        </p:nvSpPr>
        <p:spPr>
          <a:xfrm>
            <a:off x="502920" y="6144768"/>
            <a:ext cx="11155680" cy="36576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Over 127.0.0.1 on an i5-12500 CPU. Via the name localhost every request costs an extra ~2 s on this Windows machine (IPv6 tried first); not a code fault.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 – different data)</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graphicFrame>
        <p:nvGraphicFramePr>
          <p:cNvPr id="7" name="Table 6"/>
          <p:cNvGraphicFramePr>
            <a:graphicFrameLocks noGrp="1"/>
          </p:cNvGraphicFramePr>
          <p:nvPr/>
        </p:nvGraphicFramePr>
        <p:xfrm>
          <a:off x="502920" y="1691640"/>
          <a:ext cx="11155680" cy="4096512"/>
        </p:xfrm>
        <a:graphic>
          <a:graphicData uri="http://schemas.openxmlformats.org/drawingml/2006/table">
            <a:tbl>
              <a:tblPr firstRow="0" bandRow="0">
                <a:tableStyleId>{5C22544A-7EE6-4342-B048-85BDC9FD1C3A}</a:tableStyleId>
              </a:tblPr>
              <a:tblGrid>
                <a:gridCol w="1737360"/>
                <a:gridCol w="4572000"/>
                <a:gridCol w="4846320"/>
              </a:tblGrid>
              <a:tr h="512064">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Base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This project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12064">
                <a:tc>
                  <a:txBody>
                    <a:bodyPr wrap="square"/>
                    <a:lstStyle/>
                    <a:p>
                      <a:pPr algn="l"/>
                      <a:r>
                        <a:rPr sz="12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Real Telco churn, 7,043 customers, 26.5% churn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Synthetic, 1,000 customers, same schema, 26.4% churn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00" b="1">
                          <a:solidFill>
                            <a:srgbClr val="222222"/>
                          </a:solidFill>
                          <a:latin typeface="Calibri"/>
                          <a:ea typeface="Calibri"/>
                          <a:cs typeface="Calibri"/>
                        </a:rPr>
                        <a:t>Split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70/30 (2,113 test rows)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80/20 stratified (200 test rows, 53 churners)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00" b="1">
                          <a:solidFill>
                            <a:srgbClr val="222222"/>
                          </a:solidFill>
                          <a:latin typeface="Calibri"/>
                          <a:ea typeface="Calibri"/>
                          <a:cs typeface="Calibri"/>
                        </a:rPr>
                        <a:t>Models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LR, SVC, RF, balanced RF, CatBoost, XGBoost, LightGBM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LR, DT, RF (required) + GB, HGB (scikit-learn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00" b="1">
                          <a:solidFill>
                            <a:srgbClr val="222222"/>
                          </a:solidFill>
                          <a:latin typeface="Calibri"/>
                          <a:ea typeface="Calibri"/>
                          <a:cs typeface="Calibri"/>
                        </a:rPr>
                        <a:t>Objective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Recall is the primary objective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F1 by default, user-selectable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00" b="1">
                          <a:solidFill>
                            <a:srgbClr val="222222"/>
                          </a:solidFill>
                          <a:latin typeface="Calibri"/>
                          <a:ea typeface="Calibri"/>
                          <a:cs typeface="Calibri"/>
                        </a:rPr>
                        <a:t>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Recall 0.4112 (LR) to 0.9077 (CatBoost); LR accuracy 0.7120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LR on synthetic data: recall 0.660, accuracy 0.630, ROC-AUC 0.722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00" b="1">
                          <a:solidFill>
                            <a:srgbClr val="222222"/>
                          </a:solidFill>
                          <a:latin typeface="Calibri"/>
                          <a:ea typeface="Calibri"/>
                          <a:cs typeface="Calibri"/>
                        </a:rPr>
                        <a:t>Explanation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SHAP, LIME, unified perturbation explainer; runtime comparison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Built-in + permutation importance, coefficient x value; SHAP code present, not run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00" b="1">
                          <a:solidFill>
                            <a:srgbClr val="222222"/>
                          </a:solidFill>
                          <a:latin typeface="Calibri"/>
                          <a:ea typeface="Calibri"/>
                          <a:cs typeface="Calibri"/>
                        </a:rPr>
                        <a:t>Beyond the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Risk bands, Customer 360, what-if, retention rules, batch, drift, web UI</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89788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Not like-for-like: different data, size, split and model set. The numbers are context, not a ranking; we do not claim to match or beat the paper.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Screens – Analysis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04_dashboard.png"/>
          <p:cNvPicPr>
            <a:picLocks noChangeAspect="1"/>
          </p:cNvPicPr>
          <p:nvPr/>
        </p:nvPicPr>
        <p:blipFill>
          <a:blip r:embed="rId3"/>
          <a:stretch>
            <a:fillRect/>
          </a:stretch>
        </p:blipFill>
        <p:spPr>
          <a:xfrm>
            <a:off x="662940" y="1691640"/>
            <a:ext cx="3291840" cy="2057400"/>
          </a:xfrm>
          <a:prstGeom prst="rect">
            <a:avLst/>
          </a:prstGeom>
          <a:ln w="9525">
            <a:solidFill>
              <a:srgbClr val="D5DCE6"/>
            </a:solidFill>
          </a:ln>
        </p:spPr>
      </p:pic>
      <p:sp>
        <p:nvSpPr>
          <p:cNvPr id="8" name="TextBox 7"/>
          <p:cNvSpPr txBox="1"/>
          <p:nvPr/>
        </p:nvSpPr>
        <p:spPr>
          <a:xfrm>
            <a:off x="502920" y="376732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Dashboard</a:t>
            </a:r>
          </a:p>
        </p:txBody>
      </p:sp>
      <p:pic>
        <p:nvPicPr>
          <p:cNvPr id="9" name="Picture 8" descr="09_risk.png"/>
          <p:cNvPicPr>
            <a:picLocks noChangeAspect="1"/>
          </p:cNvPicPr>
          <p:nvPr/>
        </p:nvPicPr>
        <p:blipFill>
          <a:blip r:embed="rId2"/>
          <a:stretch>
            <a:fillRect/>
          </a:stretch>
        </p:blipFill>
        <p:spPr>
          <a:xfrm>
            <a:off x="4411979" y="1691640"/>
            <a:ext cx="3291840" cy="2057400"/>
          </a:xfrm>
          <a:prstGeom prst="rect">
            <a:avLst/>
          </a:prstGeom>
          <a:ln w="9525">
            <a:solidFill>
              <a:srgbClr val="D5DCE6"/>
            </a:solidFill>
          </a:ln>
        </p:spPr>
      </p:pic>
      <p:sp>
        <p:nvSpPr>
          <p:cNvPr id="10" name="TextBox 9"/>
          <p:cNvSpPr txBox="1"/>
          <p:nvPr/>
        </p:nvSpPr>
        <p:spPr>
          <a:xfrm>
            <a:off x="4251959" y="376732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Customer risk</a:t>
            </a:r>
          </a:p>
        </p:txBody>
      </p:sp>
      <p:pic>
        <p:nvPicPr>
          <p:cNvPr id="11" name="Picture 10" descr="10_customer360.png"/>
          <p:cNvPicPr>
            <a:picLocks noChangeAspect="1"/>
          </p:cNvPicPr>
          <p:nvPr/>
        </p:nvPicPr>
        <p:blipFill>
          <a:blip r:embed="rId6"/>
          <a:stretch>
            <a:fillRect/>
          </a:stretch>
        </p:blipFill>
        <p:spPr>
          <a:xfrm>
            <a:off x="8161020" y="1691640"/>
            <a:ext cx="3291840" cy="2057400"/>
          </a:xfrm>
          <a:prstGeom prst="rect">
            <a:avLst/>
          </a:prstGeom>
          <a:ln w="9525">
            <a:solidFill>
              <a:srgbClr val="D5DCE6"/>
            </a:solidFill>
          </a:ln>
        </p:spPr>
      </p:pic>
      <p:sp>
        <p:nvSpPr>
          <p:cNvPr id="12" name="TextBox 11"/>
          <p:cNvSpPr txBox="1"/>
          <p:nvPr/>
        </p:nvSpPr>
        <p:spPr>
          <a:xfrm>
            <a:off x="8001000" y="376732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Customer 360</a:t>
            </a:r>
          </a:p>
        </p:txBody>
      </p:sp>
      <p:pic>
        <p:nvPicPr>
          <p:cNvPr id="13" name="Picture 12" descr="11_explain.png"/>
          <p:cNvPicPr>
            <a:picLocks noChangeAspect="1"/>
          </p:cNvPicPr>
          <p:nvPr/>
        </p:nvPicPr>
        <p:blipFill>
          <a:blip r:embed="rId7"/>
          <a:stretch>
            <a:fillRect/>
          </a:stretch>
        </p:blipFill>
        <p:spPr>
          <a:xfrm>
            <a:off x="662940" y="4069080"/>
            <a:ext cx="3291840" cy="2057400"/>
          </a:xfrm>
          <a:prstGeom prst="rect">
            <a:avLst/>
          </a:prstGeom>
          <a:ln w="9525">
            <a:solidFill>
              <a:srgbClr val="D5DCE6"/>
            </a:solidFill>
          </a:ln>
        </p:spPr>
      </p:pic>
      <p:sp>
        <p:nvSpPr>
          <p:cNvPr id="14" name="TextBox 13"/>
          <p:cNvSpPr txBox="1"/>
          <p:nvPr/>
        </p:nvSpPr>
        <p:spPr>
          <a:xfrm>
            <a:off x="502920" y="614476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Explainable AI</a:t>
            </a:r>
          </a:p>
        </p:txBody>
      </p:sp>
      <p:pic>
        <p:nvPicPr>
          <p:cNvPr id="15" name="Picture 14" descr="12_whatif.png"/>
          <p:cNvPicPr>
            <a:picLocks noChangeAspect="1"/>
          </p:cNvPicPr>
          <p:nvPr/>
        </p:nvPicPr>
        <p:blipFill>
          <a:blip r:embed="rId8"/>
          <a:stretch>
            <a:fillRect/>
          </a:stretch>
        </p:blipFill>
        <p:spPr>
          <a:xfrm>
            <a:off x="4411979" y="4069080"/>
            <a:ext cx="3291840" cy="2057400"/>
          </a:xfrm>
          <a:prstGeom prst="rect">
            <a:avLst/>
          </a:prstGeom>
          <a:ln w="9525">
            <a:solidFill>
              <a:srgbClr val="D5DCE6"/>
            </a:solidFill>
          </a:ln>
        </p:spPr>
      </p:pic>
      <p:sp>
        <p:nvSpPr>
          <p:cNvPr id="16" name="TextBox 15"/>
          <p:cNvSpPr txBox="1"/>
          <p:nvPr/>
        </p:nvSpPr>
        <p:spPr>
          <a:xfrm>
            <a:off x="4251959" y="614476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What-if</a:t>
            </a:r>
          </a:p>
        </p:txBody>
      </p:sp>
      <p:pic>
        <p:nvPicPr>
          <p:cNvPr id="17" name="Picture 16" descr="13_retention.png"/>
          <p:cNvPicPr>
            <a:picLocks noChangeAspect="1"/>
          </p:cNvPicPr>
          <p:nvPr/>
        </p:nvPicPr>
        <p:blipFill>
          <a:blip r:embed="rId9"/>
          <a:stretch>
            <a:fillRect/>
          </a:stretch>
        </p:blipFill>
        <p:spPr>
          <a:xfrm>
            <a:off x="8161020" y="4069080"/>
            <a:ext cx="3291840" cy="2057400"/>
          </a:xfrm>
          <a:prstGeom prst="rect">
            <a:avLst/>
          </a:prstGeom>
          <a:ln w="9525">
            <a:solidFill>
              <a:srgbClr val="D5DCE6"/>
            </a:solidFill>
          </a:ln>
        </p:spPr>
      </p:pic>
      <p:sp>
        <p:nvSpPr>
          <p:cNvPr id="18" name="TextBox 17"/>
          <p:cNvSpPr txBox="1"/>
          <p:nvPr/>
        </p:nvSpPr>
        <p:spPr>
          <a:xfrm>
            <a:off x="8001000" y="614476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Retention actions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Screens – Data, Training and Operations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05_data.png"/>
          <p:cNvPicPr>
            <a:picLocks noChangeAspect="1"/>
          </p:cNvPicPr>
          <p:nvPr/>
        </p:nvPicPr>
        <p:blipFill>
          <a:blip r:embed="rId3"/>
          <a:stretch>
            <a:fillRect/>
          </a:stretch>
        </p:blipFill>
        <p:spPr>
          <a:xfrm>
            <a:off x="662940" y="1691640"/>
            <a:ext cx="3291840" cy="2057400"/>
          </a:xfrm>
          <a:prstGeom prst="rect">
            <a:avLst/>
          </a:prstGeom>
          <a:ln w="9525">
            <a:solidFill>
              <a:srgbClr val="D5DCE6"/>
            </a:solidFill>
          </a:ln>
        </p:spPr>
      </p:pic>
      <p:sp>
        <p:nvSpPr>
          <p:cNvPr id="8" name="TextBox 7"/>
          <p:cNvSpPr txBox="1"/>
          <p:nvPr/>
        </p:nvSpPr>
        <p:spPr>
          <a:xfrm>
            <a:off x="502920" y="376732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Data</a:t>
            </a:r>
          </a:p>
        </p:txBody>
      </p:sp>
      <p:pic>
        <p:nvPicPr>
          <p:cNvPr id="9" name="Picture 8" descr="06_explore.png"/>
          <p:cNvPicPr>
            <a:picLocks noChangeAspect="1"/>
          </p:cNvPicPr>
          <p:nvPr/>
        </p:nvPicPr>
        <p:blipFill>
          <a:blip r:embed="rId2"/>
          <a:stretch>
            <a:fillRect/>
          </a:stretch>
        </p:blipFill>
        <p:spPr>
          <a:xfrm>
            <a:off x="4411979" y="1691640"/>
            <a:ext cx="3291840" cy="2057400"/>
          </a:xfrm>
          <a:prstGeom prst="rect">
            <a:avLst/>
          </a:prstGeom>
          <a:ln w="9525">
            <a:solidFill>
              <a:srgbClr val="D5DCE6"/>
            </a:solidFill>
          </a:ln>
        </p:spPr>
      </p:pic>
      <p:sp>
        <p:nvSpPr>
          <p:cNvPr id="10" name="TextBox 9"/>
          <p:cNvSpPr txBox="1"/>
          <p:nvPr/>
        </p:nvSpPr>
        <p:spPr>
          <a:xfrm>
            <a:off x="4251959" y="376732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Explore</a:t>
            </a:r>
          </a:p>
        </p:txBody>
      </p:sp>
      <p:pic>
        <p:nvPicPr>
          <p:cNvPr id="11" name="Picture 10" descr="07_train.png"/>
          <p:cNvPicPr>
            <a:picLocks noChangeAspect="1"/>
          </p:cNvPicPr>
          <p:nvPr/>
        </p:nvPicPr>
        <p:blipFill>
          <a:blip r:embed="rId6"/>
          <a:stretch>
            <a:fillRect/>
          </a:stretch>
        </p:blipFill>
        <p:spPr>
          <a:xfrm>
            <a:off x="8161020" y="1691640"/>
            <a:ext cx="3291840" cy="2057400"/>
          </a:xfrm>
          <a:prstGeom prst="rect">
            <a:avLst/>
          </a:prstGeom>
          <a:ln w="9525">
            <a:solidFill>
              <a:srgbClr val="D5DCE6"/>
            </a:solidFill>
          </a:ln>
        </p:spPr>
      </p:pic>
      <p:sp>
        <p:nvSpPr>
          <p:cNvPr id="12" name="TextBox 11"/>
          <p:cNvSpPr txBox="1"/>
          <p:nvPr/>
        </p:nvSpPr>
        <p:spPr>
          <a:xfrm>
            <a:off x="8001000" y="376732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Model training</a:t>
            </a:r>
          </a:p>
        </p:txBody>
      </p:sp>
      <p:pic>
        <p:nvPicPr>
          <p:cNvPr id="13" name="Picture 12" descr="08_evaluation.png"/>
          <p:cNvPicPr>
            <a:picLocks noChangeAspect="1"/>
          </p:cNvPicPr>
          <p:nvPr/>
        </p:nvPicPr>
        <p:blipFill>
          <a:blip r:embed="rId7"/>
          <a:stretch>
            <a:fillRect/>
          </a:stretch>
        </p:blipFill>
        <p:spPr>
          <a:xfrm>
            <a:off x="662940" y="4069080"/>
            <a:ext cx="3291840" cy="2057400"/>
          </a:xfrm>
          <a:prstGeom prst="rect">
            <a:avLst/>
          </a:prstGeom>
          <a:ln w="9525">
            <a:solidFill>
              <a:srgbClr val="D5DCE6"/>
            </a:solidFill>
          </a:ln>
        </p:spPr>
      </p:pic>
      <p:sp>
        <p:nvSpPr>
          <p:cNvPr id="14" name="TextBox 13"/>
          <p:cNvSpPr txBox="1"/>
          <p:nvPr/>
        </p:nvSpPr>
        <p:spPr>
          <a:xfrm>
            <a:off x="502920" y="614476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Evaluation</a:t>
            </a:r>
          </a:p>
        </p:txBody>
      </p:sp>
      <p:pic>
        <p:nvPicPr>
          <p:cNvPr id="15" name="Picture 14" descr="14_batch.png"/>
          <p:cNvPicPr>
            <a:picLocks noChangeAspect="1"/>
          </p:cNvPicPr>
          <p:nvPr/>
        </p:nvPicPr>
        <p:blipFill>
          <a:blip r:embed="rId8"/>
          <a:stretch>
            <a:fillRect/>
          </a:stretch>
        </p:blipFill>
        <p:spPr>
          <a:xfrm>
            <a:off x="4411979" y="4069080"/>
            <a:ext cx="3291840" cy="2057400"/>
          </a:xfrm>
          <a:prstGeom prst="rect">
            <a:avLst/>
          </a:prstGeom>
          <a:ln w="9525">
            <a:solidFill>
              <a:srgbClr val="D5DCE6"/>
            </a:solidFill>
          </a:ln>
        </p:spPr>
      </p:pic>
      <p:sp>
        <p:nvSpPr>
          <p:cNvPr id="16" name="TextBox 15"/>
          <p:cNvSpPr txBox="1"/>
          <p:nvPr/>
        </p:nvSpPr>
        <p:spPr>
          <a:xfrm>
            <a:off x="4251959" y="614476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Batch prediction</a:t>
            </a:r>
          </a:p>
        </p:txBody>
      </p:sp>
      <p:pic>
        <p:nvPicPr>
          <p:cNvPr id="17" name="Picture 16" descr="15_monitoring.png"/>
          <p:cNvPicPr>
            <a:picLocks noChangeAspect="1"/>
          </p:cNvPicPr>
          <p:nvPr/>
        </p:nvPicPr>
        <p:blipFill>
          <a:blip r:embed="rId9"/>
          <a:stretch>
            <a:fillRect/>
          </a:stretch>
        </p:blipFill>
        <p:spPr>
          <a:xfrm>
            <a:off x="8161020" y="4069080"/>
            <a:ext cx="3291840" cy="2057400"/>
          </a:xfrm>
          <a:prstGeom prst="rect">
            <a:avLst/>
          </a:prstGeom>
          <a:ln w="9525">
            <a:solidFill>
              <a:srgbClr val="D5DCE6"/>
            </a:solidFill>
          </a:ln>
        </p:spPr>
      </p:pic>
      <p:sp>
        <p:nvSpPr>
          <p:cNvPr id="18" name="TextBox 17"/>
          <p:cNvSpPr txBox="1"/>
          <p:nvPr/>
        </p:nvSpPr>
        <p:spPr>
          <a:xfrm>
            <a:off x="8001000" y="6144768"/>
            <a:ext cx="3611880" cy="274320"/>
          </a:xfrm>
          <a:prstGeom prst="rect">
            <a:avLst/>
          </a:prstGeom>
          <a:noFill/>
        </p:spPr>
        <p:txBody>
          <a:bodyPr wrap="square" lIns="0" rIns="0" tIns="0" bIns="0" anchor="t">
            <a:spAutoFit/>
          </a:bodyPr>
          <a:lstStyle/>
          <a:p>
            <a:pPr algn="ctr">
              <a:spcAft>
                <a:spcPts val="400"/>
              </a:spcAft>
            </a:pPr>
            <a:r>
              <a:rPr sz="1200" b="0" i="0">
                <a:solidFill>
                  <a:srgbClr val="1F3864"/>
                </a:solidFill>
                <a:latin typeface="Calibri"/>
                <a:ea typeface="Calibri"/>
                <a:cs typeface="Calibri"/>
              </a:rPr>
              <a:t>Monitoring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200"/>
              </a:spcAft>
              <a:buChar char="•"/>
            </a:pPr>
            <a:r>
              <a:rPr sz="2000" b="1" i="0">
                <a:solidFill>
                  <a:srgbClr val="222222"/>
                </a:solidFill>
                <a:latin typeface="Calibri"/>
                <a:ea typeface="Calibri"/>
                <a:cs typeface="Calibri"/>
              </a:rPr>
              <a:t>Delivered:</a:t>
            </a:r>
            <a:r>
              <a:rPr sz="2000" b="0" i="0">
                <a:solidFill>
                  <a:srgbClr val="222222"/>
                </a:solidFill>
                <a:latin typeface="Calibri"/>
                <a:ea typeface="Calibri"/>
                <a:cs typeface="Calibri"/>
              </a:rPr>
              <a:t> an end-to-end churn retention system: data profiling, five models, risk bands, drivers, what-if, retention rules, batch scoring, drift check, tests and documentation.</a:t>
            </a:r>
          </a:p>
          <a:p>
            <a:pPr algn="l" marL="256032" indent="-201168">
              <a:spcAft>
                <a:spcPts val="1200"/>
              </a:spcAft>
              <a:buChar char="•"/>
            </a:pPr>
            <a:r>
              <a:rPr sz="2000" b="1" i="0">
                <a:solidFill>
                  <a:srgbClr val="222222"/>
                </a:solidFill>
                <a:latin typeface="Calibri"/>
                <a:ea typeface="Calibri"/>
                <a:cs typeface="Calibri"/>
              </a:rPr>
              <a:t>Measured:</a:t>
            </a:r>
            <a:r>
              <a:rPr sz="2000" b="0" i="0">
                <a:solidFill>
                  <a:srgbClr val="222222"/>
                </a:solidFill>
                <a:latin typeface="Calibri"/>
                <a:ea typeface="Calibri"/>
                <a:cs typeface="Calibri"/>
              </a:rPr>
              <a:t> Logistic Regression F1 0.486, ROC-AUC 0.722, recall 0.660 on a 200-row split; 5-fold CV F1 0.483 ± 0.055. Moderate, and noisy.</a:t>
            </a:r>
          </a:p>
          <a:p>
            <a:pPr algn="l" marL="256032" indent="-201168">
              <a:spcAft>
                <a:spcPts val="1200"/>
              </a:spcAft>
              <a:buChar char="•"/>
            </a:pPr>
            <a:r>
              <a:rPr sz="2000" b="1" i="0">
                <a:solidFill>
                  <a:srgbClr val="222222"/>
                </a:solidFill>
                <a:latin typeface="Calibri"/>
                <a:ea typeface="Calibri"/>
                <a:cs typeface="Calibri"/>
              </a:rPr>
              <a:t>Finding:</a:t>
            </a:r>
            <a:r>
              <a:rPr sz="2000" b="0" i="0">
                <a:solidFill>
                  <a:srgbClr val="222222"/>
                </a:solidFill>
                <a:latin typeface="Calibri"/>
                <a:ea typeface="Calibri"/>
                <a:cs typeface="Calibri"/>
              </a:rPr>
              <a:t> contract type, monthly charges and tenure drive risk, as built into the synthetic data; imbalance handling is essential (recall 0.19 without it).</a:t>
            </a:r>
          </a:p>
          <a:p>
            <a:pPr algn="l" marL="256032" indent="-201168">
              <a:spcAft>
                <a:spcPts val="0"/>
              </a:spcAft>
              <a:buChar char="•"/>
            </a:pPr>
            <a:r>
              <a:rPr sz="2000" b="1" i="0">
                <a:solidFill>
                  <a:srgbClr val="222222"/>
                </a:solidFill>
                <a:latin typeface="Calibri"/>
                <a:ea typeface="Calibri"/>
                <a:cs typeface="Calibri"/>
              </a:rPr>
              <a:t>Not achieved or not measured:</a:t>
            </a:r>
            <a:r>
              <a:rPr sz="2000" b="0" i="0">
                <a:solidFill>
                  <a:srgbClr val="222222"/>
                </a:solidFill>
                <a:latin typeface="Calibri"/>
                <a:ea typeface="Calibri"/>
                <a:cs typeface="Calibri"/>
              </a:rPr>
              <a:t> real operator data, SHAP results, calibration (Brier no better than a constant), business effect of the rules, user study.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400"/>
              </a:spcAft>
              <a:buChar char="•"/>
            </a:pPr>
            <a:r>
              <a:rPr sz="2100" b="0" i="0">
                <a:solidFill>
                  <a:srgbClr val="222222"/>
                </a:solidFill>
                <a:latin typeface="Calibri"/>
                <a:ea typeface="Calibri"/>
                <a:cs typeface="Calibri"/>
              </a:rPr>
              <a:t>Validate on real operator data (for example the public Telco data used in the base paper) and report the comparison on a matched protocol.</a:t>
            </a:r>
          </a:p>
          <a:p>
            <a:pPr algn="l" marL="256032" indent="-201168">
              <a:spcAft>
                <a:spcPts val="1400"/>
              </a:spcAft>
              <a:buChar char="•"/>
            </a:pPr>
            <a:r>
              <a:rPr sz="2100" b="0" i="0">
                <a:solidFill>
                  <a:srgbClr val="222222"/>
                </a:solidFill>
                <a:latin typeface="Calibri"/>
                <a:ea typeface="Calibri"/>
                <a:cs typeface="Calibri"/>
              </a:rPr>
              <a:t>Install SHAP and add the base paper's perturbation explainer and LIME; compare their rankings and runtimes with the current fallbacks.</a:t>
            </a:r>
          </a:p>
          <a:p>
            <a:pPr algn="l" marL="256032" indent="-201168">
              <a:spcAft>
                <a:spcPts val="1400"/>
              </a:spcAft>
              <a:buChar char="•"/>
            </a:pPr>
            <a:r>
              <a:rPr sz="2100" b="0" i="0">
                <a:solidFill>
                  <a:srgbClr val="222222"/>
                </a:solidFill>
                <a:latin typeface="Calibri"/>
                <a:ea typeface="Calibri"/>
                <a:cs typeface="Calibri"/>
              </a:rPr>
              <a:t>Calibrate probabilities (isotonic or Platt) and choose the threshold by campaign cost and offer value.</a:t>
            </a:r>
          </a:p>
          <a:p>
            <a:pPr algn="l" marL="256032" indent="-201168">
              <a:spcAft>
                <a:spcPts val="1400"/>
              </a:spcAft>
              <a:buChar char="•"/>
            </a:pPr>
            <a:r>
              <a:rPr sz="2100" b="0" i="0">
                <a:solidFill>
                  <a:srgbClr val="222222"/>
                </a:solidFill>
                <a:latin typeface="Calibri"/>
                <a:ea typeface="Calibri"/>
                <a:cs typeface="Calibri"/>
              </a:rPr>
              <a:t>Measure the retention rules in a controlled campaign; add gradient-boosting libraries and a drift schedule.</a:t>
            </a:r>
          </a:p>
          <a:p>
            <a:pPr algn="l" marL="256032" indent="-201168">
              <a:spcAft>
                <a:spcPts val="0"/>
              </a:spcAft>
              <a:buChar char="•"/>
            </a:pPr>
            <a:r>
              <a:rPr sz="2100" b="0" i="0">
                <a:solidFill>
                  <a:srgbClr val="222222"/>
                </a:solidFill>
                <a:latin typeface="Calibri"/>
                <a:ea typeface="Calibri"/>
                <a:cs typeface="Calibri"/>
              </a:rPr>
              <a:t>Real accounts and roles, persistent storage, containerised deployment.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91640"/>
            <a:ext cx="5577840" cy="4663440"/>
          </a:xfrm>
          <a:prstGeom prst="rect">
            <a:avLst/>
          </a:prstGeom>
          <a:noFill/>
        </p:spPr>
        <p:txBody>
          <a:bodyPr wrap="square" lIns="0" rIns="0" tIns="0" bIns="0" anchor="t">
            <a:spAutoFit/>
          </a:bodyPr>
          <a:lstStyle/>
          <a:p>
            <a:pPr algn="l">
              <a:spcAft>
                <a:spcPts val="500"/>
              </a:spcAft>
            </a:pPr>
            <a:r>
              <a:rPr sz="1200" b="0" i="0">
                <a:solidFill>
                  <a:srgbClr val="222222"/>
                </a:solidFill>
                <a:latin typeface="Calibri"/>
                <a:ea typeface="Calibri"/>
                <a:cs typeface="Calibri"/>
              </a:rPr>
              <a:t>[1] S.-V. Oprea and A. Bara, "Explaining customer churn through unified perturbation-based XAI soft computing," IEEE Access, vol. 14, pp. 24460-24478, 2026, doi: 10.1109/ACCESS.2026.3663648.</a:t>
            </a:r>
          </a:p>
          <a:p>
            <a:pPr algn="l">
              <a:spcAft>
                <a:spcPts val="500"/>
              </a:spcAft>
            </a:pPr>
            <a:r>
              <a:rPr sz="1200" b="0" i="0">
                <a:solidFill>
                  <a:srgbClr val="222222"/>
                </a:solidFill>
                <a:latin typeface="Calibri"/>
                <a:ea typeface="Calibri"/>
                <a:cs typeface="Calibri"/>
              </a:rPr>
              <a:t>[2] A. Sikri, R. Jameel, S. M. Idrees and H. Kaur, "Enhancing customer retention in telecom industry with machine learning driven churn prediction," Sci. Rep., vol. 14, no. 1, 2024, doi: 10.1038/s41598-024-63750-0.</a:t>
            </a:r>
          </a:p>
          <a:p>
            <a:pPr algn="l">
              <a:spcAft>
                <a:spcPts val="500"/>
              </a:spcAft>
            </a:pPr>
            <a:r>
              <a:rPr sz="1200" b="0" i="0">
                <a:solidFill>
                  <a:srgbClr val="222222"/>
                </a:solidFill>
                <a:latin typeface="Calibri"/>
                <a:ea typeface="Calibri"/>
                <a:cs typeface="Calibri"/>
              </a:rPr>
              <a:t>[3] A. El Attar and M. El-Hajj, "Explainable AI-driven customer churn prediction: a multi-model ensemble approach with SHAP-based feature analysis," Front. Artif. Intell., vol. 9, Feb. 2026, doi: 10.3389/frai.2026.1748799.</a:t>
            </a:r>
          </a:p>
          <a:p>
            <a:pPr algn="l">
              <a:spcAft>
                <a:spcPts val="500"/>
              </a:spcAft>
            </a:pPr>
            <a:r>
              <a:rPr sz="1200" b="0" i="0">
                <a:solidFill>
                  <a:srgbClr val="222222"/>
                </a:solidFill>
                <a:latin typeface="Calibri"/>
                <a:ea typeface="Calibri"/>
                <a:cs typeface="Calibri"/>
              </a:rPr>
              <a:t>[4] H. A. Rasool, K. K. Aljawaheri and A. A. M. Karram, "Explainable customer churn prediction in telecom using ensemble learning and SHAP analysis," Math. Model. Eng. Probl., pp. 4373-4386, Dec. 2025, doi: 10.18280/mmep.121226.</a:t>
            </a:r>
          </a:p>
          <a:p>
            <a:pPr algn="l">
              <a:spcAft>
                <a:spcPts val="500"/>
              </a:spcAft>
            </a:pPr>
            <a:r>
              <a:rPr sz="1200" b="0" i="0">
                <a:solidFill>
                  <a:srgbClr val="222222"/>
                </a:solidFill>
                <a:latin typeface="Calibri"/>
                <a:ea typeface="Calibri"/>
                <a:cs typeface="Calibri"/>
              </a:rPr>
              <a:t>[7] S. M. Lundberg and S.-I. Lee, "A unified approach to interpreting model predictions," in Proc. Adv. Neural Inf. Process. Syst. (NeurIPS), vol. 30, 2017.</a:t>
            </a:r>
          </a:p>
          <a:p>
            <a:pPr algn="l">
              <a:spcAft>
                <a:spcPts val="500"/>
              </a:spcAft>
            </a:pPr>
            <a:r>
              <a:rPr sz="1200" b="0" i="0">
                <a:solidFill>
                  <a:srgbClr val="222222"/>
                </a:solidFill>
                <a:latin typeface="Calibri"/>
                <a:ea typeface="Calibri"/>
                <a:cs typeface="Calibri"/>
              </a:rPr>
              <a:t>[8] M. T. Ribeiro, S. Singh and C. Guestrin, "'Why should I trust you?': Explaining the predictions of any classifier," in Proc. 22nd ACM SIGKDD Int. Conf. Knowl. Discovery Data Mining, 2016, pp. 1135-1144, doi: 10.1145/2939672.2939778.</a:t>
            </a:r>
          </a:p>
          <a:p>
            <a:pPr algn="l">
              <a:spcAft>
                <a:spcPts val="500"/>
              </a:spcAft>
            </a:pPr>
            <a:r>
              <a:rPr sz="1200" b="0" i="0">
                <a:solidFill>
                  <a:srgbClr val="222222"/>
                </a:solidFill>
                <a:latin typeface="Calibri"/>
                <a:ea typeface="Calibri"/>
                <a:cs typeface="Calibri"/>
              </a:rPr>
              <a:t>[9] D. Slack, S. Hilgard, E. Jia, S. Singh and H. Lakkaraju, "Fooling LIME and SHAP: Adversarial attacks on post hoc explanation methods," in Proc. AAAI/ACM Conf. AI, Ethics, Soc., 2020, doi: 10.1145/3375627.3375830.</a:t>
            </a:r>
          </a:p>
        </p:txBody>
      </p:sp>
      <p:sp>
        <p:nvSpPr>
          <p:cNvPr id="8" name="TextBox 7"/>
          <p:cNvSpPr txBox="1"/>
          <p:nvPr/>
        </p:nvSpPr>
        <p:spPr>
          <a:xfrm>
            <a:off x="6217920" y="1691640"/>
            <a:ext cx="5486400" cy="4663440"/>
          </a:xfrm>
          <a:prstGeom prst="rect">
            <a:avLst/>
          </a:prstGeom>
          <a:noFill/>
        </p:spPr>
        <p:txBody>
          <a:bodyPr wrap="square" lIns="0" rIns="0" tIns="0" bIns="0" anchor="t">
            <a:spAutoFit/>
          </a:bodyPr>
          <a:lstStyle/>
          <a:p>
            <a:pPr algn="l">
              <a:spcAft>
                <a:spcPts val="500"/>
              </a:spcAft>
            </a:pPr>
            <a:r>
              <a:rPr sz="1200" b="0" i="0">
                <a:solidFill>
                  <a:srgbClr val="222222"/>
                </a:solidFill>
                <a:latin typeface="Calibri"/>
                <a:ea typeface="Calibri"/>
                <a:cs typeface="Calibri"/>
              </a:rPr>
              <a:t>[11] N. V. Chawla, K. W. Bowyer, L. O. Hall and W. P. Kegelmeyer, "SMOTE: Synthetic minority over-sampling technique," J. Artif. Intell. Res., vol. 16, pp. 321-357, 2002, doi: 10.1613/jair.953.</a:t>
            </a:r>
          </a:p>
          <a:p>
            <a:pPr algn="l">
              <a:spcAft>
                <a:spcPts val="500"/>
              </a:spcAft>
            </a:pPr>
            <a:r>
              <a:rPr sz="1200" b="0" i="0">
                <a:solidFill>
                  <a:srgbClr val="222222"/>
                </a:solidFill>
                <a:latin typeface="Calibri"/>
                <a:ea typeface="Calibri"/>
                <a:cs typeface="Calibri"/>
              </a:rPr>
              <a:t>[12] H. He and E. A. Garcia, "Learning from imbalanced data," IEEE Trans. Knowl. Data Eng., vol. 21, no. 9, pp. 1263-1284, Sep. 2009.</a:t>
            </a:r>
          </a:p>
          <a:p>
            <a:pPr algn="l">
              <a:spcAft>
                <a:spcPts val="500"/>
              </a:spcAft>
            </a:pPr>
            <a:r>
              <a:rPr sz="1200" b="0" i="0">
                <a:solidFill>
                  <a:srgbClr val="222222"/>
                </a:solidFill>
                <a:latin typeface="Calibri"/>
                <a:ea typeface="Calibri"/>
                <a:cs typeface="Calibri"/>
              </a:rPr>
              <a:t>[13] L. Breiman, "Random forests," Mach. Learn., vol. 45, no. 1, pp. 5-32, Oct. 2001, doi: 10.1023/A:1010933404324.</a:t>
            </a:r>
          </a:p>
          <a:p>
            <a:pPr algn="l">
              <a:spcAft>
                <a:spcPts val="500"/>
              </a:spcAft>
            </a:pPr>
            <a:r>
              <a:rPr sz="1200" b="0" i="0">
                <a:solidFill>
                  <a:srgbClr val="222222"/>
                </a:solidFill>
                <a:latin typeface="Calibri"/>
                <a:ea typeface="Calibri"/>
                <a:cs typeface="Calibri"/>
              </a:rPr>
              <a:t>[14] F. Pedregosa et al., "Scikit-learn: Machine learning in Python," J. Mach. Learn. Res., vol. 12, pp. 2825-2830, 2011.</a:t>
            </a:r>
          </a:p>
          <a:p>
            <a:pPr algn="l">
              <a:spcAft>
                <a:spcPts val="500"/>
              </a:spcAft>
            </a:pPr>
            <a:r>
              <a:rPr sz="1200" b="0" i="0">
                <a:solidFill>
                  <a:srgbClr val="222222"/>
                </a:solidFill>
                <a:latin typeface="Calibri"/>
                <a:ea typeface="Calibri"/>
                <a:cs typeface="Calibri"/>
              </a:rPr>
              <a:t>[19] IBM, "Telco customer churn," sample data set (7,043 customers, 21 columns), distributed through Kaggle; also used in [1] and [3].</a:t>
            </a:r>
          </a:p>
          <a:p>
            <a:pPr algn="l">
              <a:spcAft>
                <a:spcPts val="500"/>
              </a:spcAft>
            </a:pPr>
            <a:r>
              <a:rPr sz="1200" b="0" i="0">
                <a:solidFill>
                  <a:srgbClr val="222222"/>
                </a:solidFill>
                <a:latin typeface="Calibri"/>
                <a:ea typeface="Calibri"/>
                <a:cs typeface="Calibri"/>
              </a:rPr>
              <a:t>[20] J. H. Friedman, "Greedy function approximation: A gradient boosting machine," Ann. Statist., vol. 29, no. 5, pp. 1189-1232, 2001.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A14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in Telecom Industry - Final Review</dc:title>
  <dc:subject>Customer Churn Prediction in Telecom Industry</dc:subject>
  <dc:creator>Batch A14, Dept. of CSE</dc:creator>
  <cp:lastModifiedBy/>
  <cp:revision>1</cp:revision>
  <dcterms:created xsi:type="dcterms:W3CDTF">2026-10-07T05:03:03Z</dcterms:created>
  <dcterms:modified xsi:type="dcterms:W3CDTF">2026-10-07T05:03:03Z</dcterms:modified>
  <dc:description/>
  <cp:keywords>customer churn, telecom, machine learning, retention</cp:keywords>
</cp:coreProperties>
</file>