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Recall reported in the base paper</c:v>
                </c:pt>
              </c:strCache>
            </c:strRef>
          </c:tx>
          <c:spPr>
            <a:solidFill>
              <a:srgbClr val="2A78D6"/>
            </a:solidFill>
          </c:spPr>
          <c:cat>
            <c:strRef>
              <c:f>Sheet1!$A$2:$A$8</c:f>
              <c:strCache>
                <c:ptCount val="7"/>
                <c:pt idx="0">
                  <c:v>LR</c:v>
                </c:pt>
                <c:pt idx="1">
                  <c:v>SVC</c:v>
                </c:pt>
                <c:pt idx="2">
                  <c:v>RF</c:v>
                </c:pt>
                <c:pt idx="3">
                  <c:v>Bal. RF</c:v>
                </c:pt>
                <c:pt idx="4">
                  <c:v>CatBoost</c:v>
                </c:pt>
                <c:pt idx="5">
                  <c:v>XGBoost</c:v>
                </c:pt>
                <c:pt idx="6">
                  <c:v>LightGBM</c:v>
                </c:pt>
              </c:strCache>
            </c:strRef>
          </c:cat>
          <c:val>
            <c:numRef>
              <c:f>Sheet1!$B$2:$B$8</c:f>
              <c:numCache>
                <c:formatCode>General</c:formatCode>
                <c:ptCount val="7"/>
                <c:pt idx="0">
                  <c:v>0.4112</c:v>
                </c:pt>
                <c:pt idx="1">
                  <c:v>0.5369</c:v>
                </c:pt>
                <c:pt idx="2">
                  <c:v>0.5634</c:v>
                </c:pt>
                <c:pt idx="3">
                  <c:v>0.8223</c:v>
                </c:pt>
                <c:pt idx="4">
                  <c:v>0.9077</c:v>
                </c:pt>
                <c:pt idx="5">
                  <c:v>0.73</c:v>
                </c:pt>
                <c:pt idx="6">
                  <c:v>0.8293</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we build a web tool that scores every telecom customer for churn risk, shows the drivers behind each score and maps them to retention actions.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Review 1 is about why the problem matters and what is missing in current work; results come in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sentences: the problem, our idea, what we deliver. Emphasise that every score comes with its drivers.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paper is a research framework on a public benchmark. Our project takes its motivation (explain churn, tie it to retention) and builds an application; it does not reproduce the perturbation explainer.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classifiers compared on Telco-type data, SHAP or LIME added for explanation, and the base paper focused on explanation cost. Figures are quoted as reported by the authors; they use different data and splits, so they are not comparable with each other.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Chart values are the recall column of Table 2 of the base paper [1]. We plot them to show how much the model and the objective matter, not as our own results.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usual path: reactive and uniform. Research models stop at a metric table and are not something a retention analyst can open and 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limitations are the problem statement of the batch. Each maps to a design decision: risk bands, targeting, drivers, imbalance handling.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literature survey words the gap as: pairing accurate prediction with per-customer explanation so that retention action can be targeted rather than generic. The rows above spell that 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predict, group into bands, show drivers, turn into actions, all without writing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objectives from the batch proposal: data and EDA, cleaning and imbalance, three models, five metrics, drivers, dashboard.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application around them. No database and no LLM: data are CSV, the saved model is a joblib file.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left to right: the interface, the API, the core modules and the data stores. The Streamlit app is the original front end over the same core.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expected outcomes, not results. We will report what the held-out test split shows, including weaknesses.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full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Logistic Regression, Decision Tree and Random Forest; why F1; why no SHAP result; what data we use (a synthetic sample with the Telco schema).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Customer Churn Prediction in Telecom Industry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Customer Churn Prediction in Telecom Industry</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 machine learning retention system: predict who will leave, show why, and suggest what to do</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ANANTULA SAI NIKHILA SRAVANI  23K91A0512</a:t>
            </a:r>
            <a:endParaRPr lang="en-US" sz="1500" dirty="0"/>
          </a:p>
          <a:p>
            <a:pPr indent="0" marL="0">
              <a:buNone/>
            </a:pPr>
            <a:r>
              <a:rPr lang="en-US" sz="1500" dirty="0">
                <a:solidFill>
                  <a:srgbClr val="FFFFFF"/>
                </a:solidFill>
              </a:rPr>
              <a:t>AVULA ANUDEEP  23K91A0518</a:t>
            </a:r>
            <a:endParaRPr lang="en-US" sz="1500" dirty="0"/>
          </a:p>
          <a:p>
            <a:pPr indent="0" marL="0">
              <a:buNone/>
            </a:pPr>
            <a:r>
              <a:rPr lang="en-US" sz="1500" dirty="0">
                <a:solidFill>
                  <a:srgbClr val="FFFFFF"/>
                </a:solidFill>
              </a:rPr>
              <a:t>B SANDEEP  24K915A0503</a:t>
            </a:r>
            <a:endParaRPr lang="en-US" sz="1500" dirty="0"/>
          </a:p>
          <a:p>
            <a:pPr indent="0" marL="0">
              <a:buNone/>
            </a:pPr>
            <a:r>
              <a:rPr lang="en-US" sz="1500" dirty="0">
                <a:solidFill>
                  <a:srgbClr val="FFFFFF"/>
                </a:solidFill>
              </a:rPr>
              <a:t>DARAGANI VINOD KUMAR  23K91A0558</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B. SRIKANTH, Assistant Professor, Department of CSE</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and Technology (Autonomous)  ·  Batch A14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predict churn early, explain it, act on it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900" b="0" i="0">
                <a:solidFill>
                  <a:srgbClr val="475569"/>
                </a:solidFill>
              </a:rPr>
              <a:t>Customers who leave a telecom provider cost far more to replace than to keep, yet churn is usually noticed only after the customer has gone. A churn score with no reason attached gives the retention team nothing to act on.</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900" b="0" i="0">
                <a:solidFill>
                  <a:srgbClr val="475569"/>
                </a:solidFill>
              </a:rPr>
              <a:t>Clean and encode customer records, compare Logistic Regression, Decision Tree and Random Forest (plus two boosted models) on churn, handle the minority-class imbalance, and pick the best model on F1 rather than accuracy.</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900" b="0" i="0">
                <a:solidFill>
                  <a:srgbClr val="475569"/>
                </a:solidFill>
              </a:rPr>
              <a:t>A web application, ChurnIQ: risk bands for every customer, the drivers behind each score, what-if scenarios, rule-based retention actions and batch scoring.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400" b="0" i="0">
                <a:solidFill>
                  <a:srgbClr val="0F172A"/>
                </a:solidFill>
              </a:rPr>
              <a:t>S.-V. Oprea and A. Bara, "Explaining Customer Churn Through Unified Perturbation-Based XAI Soft Computing," IEEE Access, vol. 14, pp. 24460-24478, 2026, doi: 10.1109/ACCESS.2026.3663648.</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Seven classifiers (LR, SVC, RF, balanced RF, CatBoost, XGBoost, LightGBM) and a unified perturbation-based explainer (RNP, FA, IM, AP) compared with SHAP and LIME.</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Real Telco churn data, 7,043 customers, 30% test split. Recall is the objective: up to 0.9077 (CatBoost). Explainer runtime 18.5 s against 289.4 s for SHAP.</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Recall is chosen as the primary objective, so rankings may change under other metrics; one structured dataset; CRM integration is proposed as future use, not built.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457200" y="1188720"/>
          <a:ext cx="11274552" cy="4535424"/>
        </p:xfrm>
        <a:graphic>
          <a:graphicData uri="http://schemas.openxmlformats.org/drawingml/2006/table">
            <a:tbl>
              <a:tblPr firstRow="0" bandRow="0">
                <a:tableStyleId>{5C22544A-7EE6-4342-B048-85BDC9FD1C3A}</a:tableStyleId>
              </a:tblPr>
              <a:tblGrid>
                <a:gridCol w="2240280"/>
                <a:gridCol w="3566160"/>
                <a:gridCol w="2514600"/>
                <a:gridCol w="2953512"/>
              </a:tblGrid>
              <a:tr h="566928">
                <a:tc>
                  <a:txBody>
                    <a:bodyPr wrap="square"/>
                    <a:lstStyle/>
                    <a:p>
                      <a:pPr algn="ctr"/>
                      <a:r>
                        <a:rPr sz="12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Reported result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050" b="0">
                          <a:solidFill>
                            <a:srgbClr val="0F172A"/>
                          </a:solidFill>
                        </a:rPr>
                        <a:t>Oprea and Bara, 2026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Unified perturbation-based explainer (RNP, FA, IM, AP) compared with SHAP and LIME; LR, SVC, RF, balanced RF, CatBoost, XGBoost, LightGBM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Telco churn, 7,043 customers, 30% test (2,113)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Recall up to 0.9077 (CatBoost); Spearman 0.8125 with SHAP; runtime 18.5 s vs SHAP 289.4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050" b="0">
                          <a:solidFill>
                            <a:srgbClr val="0F172A"/>
                          </a:solidFill>
                        </a:rPr>
                        <a:t>Sikri et al., 2024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Ratio-based data balancing as a pre-processing step; single and ensemble classifiers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Imbalanced telecom churn data (details not extracted)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Ensembles beat single models; best XGBoost at a 75:25 ratio (accuracy, precision, recall, F-score)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050" b="0">
                          <a:solidFill>
                            <a:srgbClr val="0F172A"/>
                          </a:solidFill>
                        </a:rPr>
                        <a:t>El Attar and El-Hajj, 2026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Eight models incl. XGBoost, LightGBM, soft-voting ensemble; SHAP feature analysis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IBM Telco, 7,043 customers, 80/20 split (1,409 test)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XGBoost accuracy 0.84, AUC 0.932; Logistic Regression 0.78 and 0.864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050" b="0">
                          <a:solidFill>
                            <a:srgbClr val="0F172A"/>
                          </a:solidFill>
                        </a:rPr>
                        <a:t>Rasool et al., 2025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Stacking ensemble of tree models with SHAP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Kaggle Churn in Telecoms, 3,333 customers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Accuracy 94.75%, recall 73.20%, F1 80.23%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050" b="0">
                          <a:solidFill>
                            <a:srgbClr val="0F172A"/>
                          </a:solidFill>
                        </a:rPr>
                        <a:t>Lundberg and Lee, 2017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SHAP: additive Shapley-value attributions for any 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Method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Unifies several attribution methods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050" b="0">
                          <a:solidFill>
                            <a:srgbClr val="0F172A"/>
                          </a:solidFill>
                        </a:rPr>
                        <a:t>Ribeiro et al., 2016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LIME: local surrogate model around one prediction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Method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Faithful local explanation of any classifier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050" b="0">
                          <a:solidFill>
                            <a:srgbClr val="0F172A"/>
                          </a:solidFill>
                        </a:rPr>
                        <a:t>Slack et al., 2020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Adversarial attacks on LIME and SHAP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Method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Shows perturbation-based explainers can be fooled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7" name="TextBox 26"/>
          <p:cNvSpPr txBox="1"/>
          <p:nvPr/>
        </p:nvSpPr>
        <p:spPr>
          <a:xfrm>
            <a:off x="457200" y="5989320"/>
            <a:ext cx="11247120" cy="365760"/>
          </a:xfrm>
          <a:prstGeom prst="rect">
            <a:avLst/>
          </a:prstGeom>
          <a:noFill/>
        </p:spPr>
        <p:txBody>
          <a:bodyPr wrap="square" lIns="0" rIns="0" tIns="0" bIns="0" anchor="t">
            <a:spAutoFit/>
          </a:bodyPr>
          <a:lstStyle/>
          <a:p>
            <a:pPr algn="l">
              <a:spcAft>
                <a:spcPts val="400"/>
              </a:spcAft>
            </a:pPr>
            <a:r>
              <a:rPr sz="1050" b="0" i="1">
                <a:solidFill>
                  <a:srgbClr val="475569"/>
                </a:solidFill>
              </a:rPr>
              <a:t>Details were read from each paper's own page. Three papers named in the batch survey could not be located online by title and were not analysed.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the objective changes the ranking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949440" cy="4754880"/>
        </p:xfrm>
        <a:graphic>
          <a:graphicData uri="http://schemas.openxmlformats.org/drawingml/2006/chart">
            <c:chart xmlns:c="http://schemas.openxmlformats.org/drawingml/2006/chart" r:id="rId3"/>
          </a:graphicData>
        </a:graphic>
      </p:graphicFrame>
      <p:sp>
        <p:nvSpPr>
          <p:cNvPr id="27" name="Rounded Rectangle 26"/>
          <p:cNvSpPr/>
          <p:nvPr/>
        </p:nvSpPr>
        <p:spPr>
          <a:xfrm>
            <a:off x="7772400" y="1371600"/>
            <a:ext cx="3867912" cy="2240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973568"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9" name="TextBox 28"/>
          <p:cNvSpPr txBox="1"/>
          <p:nvPr/>
        </p:nvSpPr>
        <p:spPr>
          <a:xfrm>
            <a:off x="8613648" y="152704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Takeaway</a:t>
            </a:r>
          </a:p>
        </p:txBody>
      </p:sp>
      <p:sp>
        <p:nvSpPr>
          <p:cNvPr id="30" name="TextBox 29"/>
          <p:cNvSpPr txBox="1"/>
          <p:nvPr/>
        </p:nvSpPr>
        <p:spPr>
          <a:xfrm>
            <a:off x="7973568" y="2240280"/>
            <a:ext cx="3465576" cy="1234440"/>
          </a:xfrm>
          <a:prstGeom prst="rect">
            <a:avLst/>
          </a:prstGeom>
          <a:noFill/>
        </p:spPr>
        <p:txBody>
          <a:bodyPr wrap="square" lIns="0" rIns="0" tIns="0" bIns="0" anchor="t">
            <a:spAutoFit/>
          </a:bodyPr>
          <a:lstStyle/>
          <a:p>
            <a:pPr algn="l">
              <a:spcAft>
                <a:spcPts val="400"/>
              </a:spcAft>
            </a:pPr>
            <a:r>
              <a:rPr sz="1300" b="0" i="0">
                <a:solidFill>
                  <a:srgbClr val="475569"/>
                </a:solidFill>
              </a:rPr>
              <a:t>On the real Telco data the same churners are caught 41% of the time by Logistic Regression and 91% by CatBoost: the metric and the model both matter.</a:t>
            </a:r>
          </a:p>
        </p:txBody>
      </p:sp>
      <p:sp>
        <p:nvSpPr>
          <p:cNvPr id="31" name="Rounded Rectangle 30"/>
          <p:cNvSpPr/>
          <p:nvPr/>
        </p:nvSpPr>
        <p:spPr>
          <a:xfrm>
            <a:off x="7772400" y="3794760"/>
            <a:ext cx="3867912" cy="2240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73568" y="397764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3" name="TextBox 32"/>
          <p:cNvSpPr txBox="1"/>
          <p:nvPr/>
        </p:nvSpPr>
        <p:spPr>
          <a:xfrm>
            <a:off x="8613648" y="395020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Why it matters here</a:t>
            </a:r>
          </a:p>
        </p:txBody>
      </p:sp>
      <p:sp>
        <p:nvSpPr>
          <p:cNvPr id="34" name="TextBox 33"/>
          <p:cNvSpPr txBox="1"/>
          <p:nvPr/>
        </p:nvSpPr>
        <p:spPr>
          <a:xfrm>
            <a:off x="7973568" y="4663440"/>
            <a:ext cx="3465576" cy="1234440"/>
          </a:xfrm>
          <a:prstGeom prst="rect">
            <a:avLst/>
          </a:prstGeom>
          <a:noFill/>
        </p:spPr>
        <p:txBody>
          <a:bodyPr wrap="square" lIns="0" rIns="0" tIns="0" bIns="0" anchor="t">
            <a:spAutoFit/>
          </a:bodyPr>
          <a:lstStyle/>
          <a:p>
            <a:pPr algn="l">
              <a:spcAft>
                <a:spcPts val="400"/>
              </a:spcAft>
            </a:pPr>
            <a:r>
              <a:rPr sz="1300" b="0" i="0">
                <a:solidFill>
                  <a:srgbClr val="475569"/>
                </a:solidFill>
              </a:rPr>
              <a:t>Accuracy alone hides the minority class, so our app selects the model on F1 by default and shows recall and precision beside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rPr>
              <a:t>Customer calls to cancel</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rPr>
              <a:t>Retention team notified</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rPr>
              <a:t>Generic offer sent</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700" b="1">
                <a:solidFill>
                  <a:srgbClr val="FFFFFF"/>
                </a:solidFill>
              </a:rPr>
              <a:t>Customer already lost?</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Reactive retention</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2000" b="0" i="0">
                <a:solidFill>
                  <a:srgbClr val="475569"/>
                </a:solidFill>
              </a:rPr>
              <a:t>Churn is detected after the customer has left or has already asked to cancel; the same discount is offered to everyone, whether or not they were at risk.</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Research classifiers</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2000" b="0" i="0">
                <a:solidFill>
                  <a:srgbClr val="475569"/>
                </a:solidFill>
              </a:rPr>
              <a:t>Papers train models on churn tables and report a score. The output is a notebook or a table: no per-customer drivers, no risk bands, no suggested action.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Late detection</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2000" b="0" i="0">
                <a:solidFill>
                  <a:srgbClr val="475569"/>
                </a:solidFill>
              </a:rPr>
              <a:t>Churn is detected after the customer has left, when retention is no longer possible.</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Untargeted offers</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2000" b="0" i="0">
                <a:solidFill>
                  <a:srgbClr val="475569"/>
                </a:solidFill>
              </a:rPr>
              <a:t>Retention offers are applied uniformly rather than targeted at genuinely at-risk customers.</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Scores without reasons</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2000" b="0" i="0">
                <a:solidFill>
                  <a:srgbClr val="475569"/>
                </a:solidFill>
              </a:rPr>
              <a:t>A churn score without a reason gives the retention team nothing to act upon.</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Imbalanced data</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2000" b="0" i="0">
                <a:solidFill>
                  <a:srgbClr val="475569"/>
                </a:solidFill>
              </a:rPr>
              <a:t>Churners are a minority, so models under-predict them and accuracy looks better than it 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Prediction + explanation</a:t>
            </a:r>
          </a:p>
        </p:txBody>
      </p:sp>
      <p:sp>
        <p:nvSpPr>
          <p:cNvPr id="28" name="TextBox 27"/>
          <p:cNvSpPr txBox="1"/>
          <p:nvPr/>
        </p:nvSpPr>
        <p:spPr>
          <a:xfrm>
            <a:off x="3429000" y="1325880"/>
            <a:ext cx="8183879" cy="822960"/>
          </a:xfrm>
          <a:prstGeom prst="rect">
            <a:avLst/>
          </a:prstGeom>
          <a:noFill/>
        </p:spPr>
        <p:txBody>
          <a:bodyPr wrap="square" lIns="0" rIns="0" tIns="0" bIns="0" anchor="ctr">
            <a:spAutoFit/>
          </a:bodyPr>
          <a:lstStyle/>
          <a:p>
            <a:pPr algn="l">
              <a:spcAft>
                <a:spcPts val="400"/>
              </a:spcAft>
            </a:pPr>
            <a:r>
              <a:rPr sz="1800" b="0" i="0">
                <a:solidFill>
                  <a:srgbClr val="0F172A"/>
                </a:solidFill>
              </a:rPr>
              <a:t>Most surveyed work compares classifiers; per-customer explanation is usually a separate step or a research method.</a:t>
            </a:r>
          </a:p>
        </p:txBody>
      </p:sp>
      <p:sp>
        <p:nvSpPr>
          <p:cNvPr id="29" name="Rounded Rectangle 28"/>
          <p:cNvSpPr/>
          <p:nvPr/>
        </p:nvSpPr>
        <p:spPr>
          <a:xfrm>
            <a:off x="548640" y="2313432"/>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Explanation to action</a:t>
            </a:r>
          </a:p>
        </p:txBody>
      </p:sp>
      <p:sp>
        <p:nvSpPr>
          <p:cNvPr id="31" name="TextBox 30"/>
          <p:cNvSpPr txBox="1"/>
          <p:nvPr/>
        </p:nvSpPr>
        <p:spPr>
          <a:xfrm>
            <a:off x="3429000" y="2313432"/>
            <a:ext cx="8183879" cy="822960"/>
          </a:xfrm>
          <a:prstGeom prst="rect">
            <a:avLst/>
          </a:prstGeom>
          <a:noFill/>
        </p:spPr>
        <p:txBody>
          <a:bodyPr wrap="square" lIns="0" rIns="0" tIns="0" bIns="0" anchor="ctr">
            <a:spAutoFit/>
          </a:bodyPr>
          <a:lstStyle/>
          <a:p>
            <a:pPr algn="l">
              <a:spcAft>
                <a:spcPts val="400"/>
              </a:spcAft>
            </a:pPr>
            <a:r>
              <a:rPr sz="1800" b="0" i="0">
                <a:solidFill>
                  <a:srgbClr val="0F172A"/>
                </a:solidFill>
              </a:rPr>
              <a:t>Even where SHAP is used, mapping drivers to a concrete retention step is left to the reader.</a:t>
            </a:r>
          </a:p>
        </p:txBody>
      </p:sp>
      <p:sp>
        <p:nvSpPr>
          <p:cNvPr id="32" name="Rounded Rectangle 31"/>
          <p:cNvSpPr/>
          <p:nvPr/>
        </p:nvSpPr>
        <p:spPr>
          <a:xfrm>
            <a:off x="548640" y="3300984"/>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Explanation cost</a:t>
            </a:r>
          </a:p>
        </p:txBody>
      </p:sp>
      <p:sp>
        <p:nvSpPr>
          <p:cNvPr id="34" name="TextBox 33"/>
          <p:cNvSpPr txBox="1"/>
          <p:nvPr/>
        </p:nvSpPr>
        <p:spPr>
          <a:xfrm>
            <a:off x="3429000" y="3300984"/>
            <a:ext cx="8183879" cy="822960"/>
          </a:xfrm>
          <a:prstGeom prst="rect">
            <a:avLst/>
          </a:prstGeom>
          <a:noFill/>
        </p:spPr>
        <p:txBody>
          <a:bodyPr wrap="square" lIns="0" rIns="0" tIns="0" bIns="0" anchor="ctr">
            <a:spAutoFit/>
          </a:bodyPr>
          <a:lstStyle/>
          <a:p>
            <a:pPr algn="l">
              <a:spcAft>
                <a:spcPts val="400"/>
              </a:spcAft>
            </a:pPr>
            <a:r>
              <a:rPr sz="1800" b="0" i="0">
                <a:solidFill>
                  <a:srgbClr val="0F172A"/>
                </a:solidFill>
              </a:rPr>
              <a:t>SHAP is heavy (289.4 s in the base paper's experiment); lighter ways to rank drivers are needed.</a:t>
            </a:r>
          </a:p>
        </p:txBody>
      </p:sp>
      <p:sp>
        <p:nvSpPr>
          <p:cNvPr id="35" name="Rounded Rectangle 34"/>
          <p:cNvSpPr/>
          <p:nvPr/>
        </p:nvSpPr>
        <p:spPr>
          <a:xfrm>
            <a:off x="548640" y="4288536"/>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Imbalance and metrics</a:t>
            </a:r>
          </a:p>
        </p:txBody>
      </p:sp>
      <p:sp>
        <p:nvSpPr>
          <p:cNvPr id="37" name="TextBox 36"/>
          <p:cNvSpPr txBox="1"/>
          <p:nvPr/>
        </p:nvSpPr>
        <p:spPr>
          <a:xfrm>
            <a:off x="3429000" y="4288536"/>
            <a:ext cx="8183879" cy="822960"/>
          </a:xfrm>
          <a:prstGeom prst="rect">
            <a:avLst/>
          </a:prstGeom>
          <a:noFill/>
        </p:spPr>
        <p:txBody>
          <a:bodyPr wrap="square" lIns="0" rIns="0" tIns="0" bIns="0" anchor="ctr">
            <a:spAutoFit/>
          </a:bodyPr>
          <a:lstStyle/>
          <a:p>
            <a:pPr algn="l">
              <a:spcAft>
                <a:spcPts val="400"/>
              </a:spcAft>
            </a:pPr>
            <a:r>
              <a:rPr sz="1800" b="0" i="0">
                <a:solidFill>
                  <a:srgbClr val="0F172A"/>
                </a:solidFill>
              </a:rPr>
              <a:t>Accuracy alone hides the minority class; recall, precision and F1 must be shown together.</a:t>
            </a:r>
          </a:p>
        </p:txBody>
      </p:sp>
      <p:sp>
        <p:nvSpPr>
          <p:cNvPr id="38" name="Rounded Rectangle 37"/>
          <p:cNvSpPr/>
          <p:nvPr/>
        </p:nvSpPr>
        <p:spPr>
          <a:xfrm>
            <a:off x="548640" y="5276088"/>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Usability</a:t>
            </a:r>
          </a:p>
        </p:txBody>
      </p:sp>
      <p:sp>
        <p:nvSpPr>
          <p:cNvPr id="40" name="TextBox 39"/>
          <p:cNvSpPr txBox="1"/>
          <p:nvPr/>
        </p:nvSpPr>
        <p:spPr>
          <a:xfrm>
            <a:off x="3429000" y="5276088"/>
            <a:ext cx="8183879" cy="822960"/>
          </a:xfrm>
          <a:prstGeom prst="rect">
            <a:avLst/>
          </a:prstGeom>
          <a:noFill/>
        </p:spPr>
        <p:txBody>
          <a:bodyPr wrap="square" lIns="0" rIns="0" tIns="0" bIns="0" anchor="ctr">
            <a:spAutoFit/>
          </a:bodyPr>
          <a:lstStyle/>
          <a:p>
            <a:pPr algn="l">
              <a:spcAft>
                <a:spcPts val="400"/>
              </a:spcAft>
            </a:pPr>
            <a:r>
              <a:rPr sz="1800" b="0" i="0">
                <a:solidFill>
                  <a:srgbClr val="0F172A"/>
                </a:solidFill>
              </a:rPr>
              <a:t>Few works deliver an application an analyst can run end to end.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17320"/>
            <a:ext cx="10469880" cy="2377440"/>
          </a:xfrm>
          <a:prstGeom prst="rect">
            <a:avLst/>
          </a:prstGeom>
          <a:noFill/>
        </p:spPr>
        <p:txBody>
          <a:bodyPr wrap="square" lIns="0" rIns="0" tIns="0" bIns="0" anchor="ctr">
            <a:spAutoFit/>
          </a:bodyPr>
          <a:lstStyle/>
          <a:p>
            <a:pPr algn="l">
              <a:spcAft>
                <a:spcPts val="400"/>
              </a:spcAft>
            </a:pPr>
            <a:r>
              <a:rPr sz="1900" b="0" i="0">
                <a:solidFill>
                  <a:srgbClr val="0F172A"/>
                </a:solidFill>
              </a:rPr>
              <a:t>Given a table of telecom customer records (tenure, contract type, monthly charges, internet service, payment method and related fields), predict for each customer the probability of leaving, group customers into risk bands, show which attributes drive each prediction, and turn the result into a concrete retention action, all in an application that a retention analyst can run without writing code. The predictor must cope with the minority-class imbalance of churn data and must be evaluated with metrics that are not fooled by it.</a:t>
            </a:r>
          </a:p>
        </p:txBody>
      </p:sp>
      <p:sp>
        <p:nvSpPr>
          <p:cNvPr id="28" name="Rounded Rectangle 27"/>
          <p:cNvSpPr/>
          <p:nvPr/>
        </p:nvSpPr>
        <p:spPr>
          <a:xfrm>
            <a:off x="548640"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63440"/>
            <a:ext cx="3108960" cy="731520"/>
          </a:xfrm>
          <a:prstGeom prst="rect">
            <a:avLst/>
          </a:prstGeom>
          <a:noFill/>
        </p:spPr>
        <p:txBody>
          <a:bodyPr wrap="square" lIns="0" rIns="0" tIns="0" bIns="0" anchor="t">
            <a:spAutoFit/>
          </a:bodyPr>
          <a:lstStyle/>
          <a:p>
            <a:pPr algn="l">
              <a:spcAft>
                <a:spcPts val="400"/>
              </a:spcAft>
            </a:pPr>
            <a:r>
              <a:rPr sz="1500" b="0" i="0">
                <a:solidFill>
                  <a:srgbClr val="475569"/>
                </a:solidFill>
              </a:rPr>
              <a:t>A CSV of customer records (sample: 1,000 rows, 19 features)</a:t>
            </a:r>
          </a:p>
        </p:txBody>
      </p:sp>
      <p:sp>
        <p:nvSpPr>
          <p:cNvPr id="31" name="Rounded Rectangle 30"/>
          <p:cNvSpPr/>
          <p:nvPr/>
        </p:nvSpPr>
        <p:spPr>
          <a:xfrm>
            <a:off x="4334255"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63440"/>
            <a:ext cx="3108960" cy="731520"/>
          </a:xfrm>
          <a:prstGeom prst="rect">
            <a:avLst/>
          </a:prstGeom>
          <a:noFill/>
        </p:spPr>
        <p:txBody>
          <a:bodyPr wrap="square" lIns="0" rIns="0" tIns="0" bIns="0" anchor="t">
            <a:spAutoFit/>
          </a:bodyPr>
          <a:lstStyle/>
          <a:p>
            <a:pPr algn="l">
              <a:spcAft>
                <a:spcPts val="400"/>
              </a:spcAft>
            </a:pPr>
            <a:r>
              <a:rPr sz="1500" b="0" i="0">
                <a:solidFill>
                  <a:srgbClr val="475569"/>
                </a:solidFill>
              </a:rPr>
              <a:t>Churn probability, risk band, drivers, retention actions</a:t>
            </a:r>
          </a:p>
        </p:txBody>
      </p:sp>
      <p:sp>
        <p:nvSpPr>
          <p:cNvPr id="34" name="Rounded Rectangle 33"/>
          <p:cNvSpPr/>
          <p:nvPr/>
        </p:nvSpPr>
        <p:spPr>
          <a:xfrm>
            <a:off x="8119871"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663440"/>
            <a:ext cx="3108960" cy="731520"/>
          </a:xfrm>
          <a:prstGeom prst="rect">
            <a:avLst/>
          </a:prstGeom>
          <a:noFill/>
        </p:spPr>
        <p:txBody>
          <a:bodyPr wrap="square" lIns="0" rIns="0" tIns="0" bIns="0" anchor="t">
            <a:spAutoFit/>
          </a:bodyPr>
          <a:lstStyle/>
          <a:p>
            <a:pPr algn="l">
              <a:spcAft>
                <a:spcPts val="400"/>
              </a:spcAft>
            </a:pPr>
            <a:r>
              <a:rPr sz="1500" b="0" i="0">
                <a:solidFill>
                  <a:srgbClr val="475569"/>
                </a:solidFill>
              </a:rPr>
              <a:t>Metrics, saved model, batch-scored CSV</a:t>
            </a:r>
          </a:p>
        </p:txBody>
      </p:sp>
      <p:sp>
        <p:nvSpPr>
          <p:cNvPr id="37" name="TextBox 36"/>
          <p:cNvSpPr txBox="1"/>
          <p:nvPr/>
        </p:nvSpPr>
        <p:spPr>
          <a:xfrm>
            <a:off x="548640" y="5669280"/>
            <a:ext cx="11091672" cy="457200"/>
          </a:xfrm>
          <a:prstGeom prst="rect">
            <a:avLst/>
          </a:prstGeom>
          <a:noFill/>
        </p:spPr>
        <p:txBody>
          <a:bodyPr wrap="square" lIns="0" rIns="0" tIns="0" bIns="0" anchor="t">
            <a:spAutoFit/>
          </a:bodyPr>
          <a:lstStyle/>
          <a:p>
            <a:pPr algn="l">
              <a:spcAft>
                <a:spcPts val="400"/>
              </a:spcAft>
            </a:pPr>
            <a:r>
              <a:rPr sz="1600" b="1" i="0">
                <a:solidFill>
                  <a:srgbClr val="1B2A41"/>
                </a:solidFill>
              </a:rPr>
              <a:t>Need: A churn prediction system that identifies at-risk customers early and explains the factors driving each prediction.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846320"/>
          </a:xfrm>
          <a:prstGeom prst="rect">
            <a:avLst/>
          </a:prstGeom>
          <a:noFill/>
        </p:spPr>
        <p:txBody>
          <a:bodyPr wrap="square" lIns="0" rIns="0" tIns="0" bIns="0" anchor="t">
            <a:spAutoFit/>
          </a:bodyPr>
          <a:lstStyle/>
          <a:p>
            <a:pPr algn="l">
              <a:spcAft>
                <a:spcPts val="1100"/>
              </a:spcAft>
            </a:pPr>
            <a:r>
              <a:rPr sz="2200" b="0" i="0">
                <a:solidFill>
                  <a:srgbClr val="0F172A"/>
                </a:solidFill>
              </a:rPr>
              <a:t>1.  Acquire a telecom customer dataset and perform exploratory analysis of churn behaviour.</a:t>
            </a:r>
          </a:p>
          <a:p>
            <a:pPr algn="l">
              <a:spcAft>
                <a:spcPts val="1100"/>
              </a:spcAft>
            </a:pPr>
            <a:r>
              <a:rPr sz="2200" b="0" i="0">
                <a:solidFill>
                  <a:srgbClr val="0F172A"/>
                </a:solidFill>
              </a:rPr>
              <a:t>2.  Clean the data, encode categorical fields and address class imbalance between churned and retained customers.</a:t>
            </a:r>
          </a:p>
          <a:p>
            <a:pPr algn="l">
              <a:spcAft>
                <a:spcPts val="1100"/>
              </a:spcAft>
            </a:pPr>
            <a:r>
              <a:rPr sz="2200" b="0" i="0">
                <a:solidFill>
                  <a:srgbClr val="0F172A"/>
                </a:solidFill>
              </a:rPr>
              <a:t>3.  Train and compare Logistic Regression, Decision Tree and Random Forest classifiers.</a:t>
            </a:r>
          </a:p>
          <a:p>
            <a:pPr algn="l">
              <a:spcAft>
                <a:spcPts val="1100"/>
              </a:spcAft>
            </a:pPr>
            <a:r>
              <a:rPr sz="2200" b="0" i="0">
                <a:solidFill>
                  <a:srgbClr val="0F172A"/>
                </a:solidFill>
              </a:rPr>
              <a:t>4.  Evaluate using accuracy, precision, recall, F1-score and ROC-AUC.</a:t>
            </a:r>
          </a:p>
          <a:p>
            <a:pPr algn="l">
              <a:spcAft>
                <a:spcPts val="1100"/>
              </a:spcAft>
            </a:pPr>
            <a:r>
              <a:rPr sz="2200" b="0" i="0">
                <a:solidFill>
                  <a:srgbClr val="0F172A"/>
                </a:solidFill>
              </a:rPr>
              <a:t>5.  Identify the features that contribute most strongly to churn risk.</a:t>
            </a:r>
          </a:p>
          <a:p>
            <a:pPr algn="l">
              <a:spcAft>
                <a:spcPts val="1100"/>
              </a:spcAft>
            </a:pPr>
            <a:r>
              <a:rPr sz="2200" b="0" i="0">
                <a:solidFill>
                  <a:srgbClr val="0F172A"/>
                </a:solidFill>
              </a:rPr>
              <a:t>6.  Present at-risk customers and their risk drivers through a retention 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280160"/>
            <a:ext cx="2633472"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463039"/>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35607"/>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Prepare</a:t>
            </a:r>
          </a:p>
        </p:txBody>
      </p:sp>
      <p:sp>
        <p:nvSpPr>
          <p:cNvPr id="29" name="TextBox 28"/>
          <p:cNvSpPr txBox="1"/>
          <p:nvPr/>
        </p:nvSpPr>
        <p:spPr>
          <a:xfrm>
            <a:off x="749808" y="2148839"/>
            <a:ext cx="2231136" cy="1325879"/>
          </a:xfrm>
          <a:prstGeom prst="rect">
            <a:avLst/>
          </a:prstGeom>
          <a:noFill/>
        </p:spPr>
        <p:txBody>
          <a:bodyPr wrap="square" lIns="0" rIns="0" tIns="0" bIns="0" anchor="t">
            <a:spAutoFit/>
          </a:bodyPr>
          <a:lstStyle/>
          <a:p>
            <a:pPr algn="l">
              <a:spcAft>
                <a:spcPts val="400"/>
              </a:spcAft>
            </a:pPr>
            <a:r>
              <a:rPr sz="1400" b="0" i="0">
                <a:solidFill>
                  <a:srgbClr val="475569"/>
                </a:solidFill>
              </a:rPr>
              <a:t>Detect target and ID, drop duplicates, impute, scale numeric fields, one-hot encode categorical fields.</a:t>
            </a:r>
          </a:p>
        </p:txBody>
      </p:sp>
      <p:sp>
        <p:nvSpPr>
          <p:cNvPr id="30" name="Rounded Rectangle 29"/>
          <p:cNvSpPr/>
          <p:nvPr/>
        </p:nvSpPr>
        <p:spPr>
          <a:xfrm>
            <a:off x="3364992" y="1280160"/>
            <a:ext cx="2633472"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463039"/>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35607"/>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Balance + train</a:t>
            </a:r>
          </a:p>
        </p:txBody>
      </p:sp>
      <p:sp>
        <p:nvSpPr>
          <p:cNvPr id="33" name="TextBox 32"/>
          <p:cNvSpPr txBox="1"/>
          <p:nvPr/>
        </p:nvSpPr>
        <p:spPr>
          <a:xfrm>
            <a:off x="3566160" y="2148839"/>
            <a:ext cx="2231136" cy="1325879"/>
          </a:xfrm>
          <a:prstGeom prst="rect">
            <a:avLst/>
          </a:prstGeom>
          <a:noFill/>
        </p:spPr>
        <p:txBody>
          <a:bodyPr wrap="square" lIns="0" rIns="0" tIns="0" bIns="0" anchor="t">
            <a:spAutoFit/>
          </a:bodyPr>
          <a:lstStyle/>
          <a:p>
            <a:pPr algn="l">
              <a:spcAft>
                <a:spcPts val="400"/>
              </a:spcAft>
            </a:pPr>
            <a:r>
              <a:rPr sz="1400" b="0" i="0">
                <a:solidFill>
                  <a:srgbClr val="475569"/>
                </a:solidFill>
              </a:rPr>
              <a:t>Stratified 80/20 split; class weights, SMOTE or none; LR, DT, RF (plus GB and HGB).</a:t>
            </a:r>
          </a:p>
        </p:txBody>
      </p:sp>
      <p:sp>
        <p:nvSpPr>
          <p:cNvPr id="34" name="Rounded Rectangle 33"/>
          <p:cNvSpPr/>
          <p:nvPr/>
        </p:nvSpPr>
        <p:spPr>
          <a:xfrm>
            <a:off x="6181344" y="1280160"/>
            <a:ext cx="2633472"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463039"/>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35607"/>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a:t>
            </a:r>
          </a:p>
        </p:txBody>
      </p:sp>
      <p:sp>
        <p:nvSpPr>
          <p:cNvPr id="37" name="TextBox 36"/>
          <p:cNvSpPr txBox="1"/>
          <p:nvPr/>
        </p:nvSpPr>
        <p:spPr>
          <a:xfrm>
            <a:off x="6382512" y="2148839"/>
            <a:ext cx="2231136" cy="1325879"/>
          </a:xfrm>
          <a:prstGeom prst="rect">
            <a:avLst/>
          </a:prstGeom>
          <a:noFill/>
        </p:spPr>
        <p:txBody>
          <a:bodyPr wrap="square" lIns="0" rIns="0" tIns="0" bIns="0" anchor="t">
            <a:spAutoFit/>
          </a:bodyPr>
          <a:lstStyle/>
          <a:p>
            <a:pPr algn="l">
              <a:spcAft>
                <a:spcPts val="400"/>
              </a:spcAft>
            </a:pPr>
            <a:r>
              <a:rPr sz="1400" b="0" i="0">
                <a:solidFill>
                  <a:srgbClr val="475569"/>
                </a:solidFill>
              </a:rPr>
              <a:t>Accuracy, precision, recall, F1, ROC-AUC, confusion matrix; best model chosen on F1.</a:t>
            </a:r>
          </a:p>
        </p:txBody>
      </p:sp>
      <p:sp>
        <p:nvSpPr>
          <p:cNvPr id="38" name="Rounded Rectangle 37"/>
          <p:cNvSpPr/>
          <p:nvPr/>
        </p:nvSpPr>
        <p:spPr>
          <a:xfrm>
            <a:off x="8997696" y="1280160"/>
            <a:ext cx="2633472"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463039"/>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35607"/>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Explain + act</a:t>
            </a:r>
          </a:p>
        </p:txBody>
      </p:sp>
      <p:sp>
        <p:nvSpPr>
          <p:cNvPr id="41" name="TextBox 40"/>
          <p:cNvSpPr txBox="1"/>
          <p:nvPr/>
        </p:nvSpPr>
        <p:spPr>
          <a:xfrm>
            <a:off x="9198864" y="2148839"/>
            <a:ext cx="2231136" cy="1325879"/>
          </a:xfrm>
          <a:prstGeom prst="rect">
            <a:avLst/>
          </a:prstGeom>
          <a:noFill/>
        </p:spPr>
        <p:txBody>
          <a:bodyPr wrap="square" lIns="0" rIns="0" tIns="0" bIns="0" anchor="t">
            <a:spAutoFit/>
          </a:bodyPr>
          <a:lstStyle/>
          <a:p>
            <a:pPr algn="l">
              <a:spcAft>
                <a:spcPts val="400"/>
              </a:spcAft>
            </a:pPr>
            <a:r>
              <a:rPr sz="1400" b="0" i="0">
                <a:solidFill>
                  <a:srgbClr val="475569"/>
                </a:solidFill>
              </a:rPr>
              <a:t>Risk bands 30 / 60 / 80, drivers per customer, what-if, rule-based retention actions.</a:t>
            </a:r>
          </a:p>
        </p:txBody>
      </p:sp>
      <p:pic>
        <p:nvPicPr>
          <p:cNvPr id="42" name="Picture 41" descr="02_high_level_workflow.png"/>
          <p:cNvPicPr>
            <a:picLocks noChangeAspect="1"/>
          </p:cNvPicPr>
          <p:nvPr/>
        </p:nvPicPr>
        <p:blipFill>
          <a:blip r:embed="rId3"/>
          <a:stretch>
            <a:fillRect/>
          </a:stretch>
        </p:blipFill>
        <p:spPr>
          <a:xfrm>
            <a:off x="1280639" y="3749039"/>
            <a:ext cx="5119680" cy="2514600"/>
          </a:xfrm>
          <a:prstGeom prst="rect">
            <a:avLst/>
          </a:prstGeom>
        </p:spPr>
      </p:pic>
      <p:sp>
        <p:nvSpPr>
          <p:cNvPr id="43" name="Oval 42"/>
          <p:cNvSpPr/>
          <p:nvPr/>
        </p:nvSpPr>
        <p:spPr>
          <a:xfrm>
            <a:off x="7406640" y="3931920"/>
            <a:ext cx="548640" cy="54864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W</a:t>
            </a:r>
          </a:p>
        </p:txBody>
      </p:sp>
      <p:sp>
        <p:nvSpPr>
          <p:cNvPr id="44" name="TextBox 43"/>
          <p:cNvSpPr txBox="1"/>
          <p:nvPr/>
        </p:nvSpPr>
        <p:spPr>
          <a:xfrm>
            <a:off x="8092440" y="3931920"/>
            <a:ext cx="3566160" cy="548640"/>
          </a:xfrm>
          <a:prstGeom prst="rect">
            <a:avLst/>
          </a:prstGeom>
          <a:noFill/>
        </p:spPr>
        <p:txBody>
          <a:bodyPr wrap="square" lIns="0" rIns="0" tIns="0" bIns="0" anchor="ctr">
            <a:spAutoFit/>
          </a:bodyPr>
          <a:lstStyle/>
          <a:p>
            <a:pPr algn="l">
              <a:spcAft>
                <a:spcPts val="400"/>
              </a:spcAft>
            </a:pPr>
            <a:r>
              <a:rPr sz="1600" b="1" i="0">
                <a:solidFill>
                  <a:srgbClr val="0F172A"/>
                </a:solidFill>
              </a:rPr>
              <a:t>Web application: ChurnIQ</a:t>
            </a:r>
          </a:p>
        </p:txBody>
      </p:sp>
      <p:sp>
        <p:nvSpPr>
          <p:cNvPr id="45" name="TextBox 44"/>
          <p:cNvSpPr txBox="1"/>
          <p:nvPr/>
        </p:nvSpPr>
        <p:spPr>
          <a:xfrm>
            <a:off x="7406640" y="4617720"/>
            <a:ext cx="4206240" cy="1463040"/>
          </a:xfrm>
          <a:prstGeom prst="rect">
            <a:avLst/>
          </a:prstGeom>
          <a:noFill/>
        </p:spPr>
        <p:txBody>
          <a:bodyPr wrap="square" lIns="0" rIns="0" tIns="0" bIns="0" anchor="t">
            <a:spAutoFit/>
          </a:bodyPr>
          <a:lstStyle/>
          <a:p>
            <a:pPr algn="l">
              <a:spcAft>
                <a:spcPts val="400"/>
              </a:spcAft>
            </a:pPr>
            <a:r>
              <a:rPr sz="1400" b="0" i="0">
                <a:solidFill>
                  <a:srgbClr val="475569"/>
                </a:solidFill>
              </a:rPr>
              <a:t>React interface and FastAPI service over a pure-Python scikit-learn core; demo sign-in; runs locally with one command. The diagram shows the eight steps of one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837893" y="1188720"/>
            <a:ext cx="5639412" cy="4754880"/>
          </a:xfrm>
          <a:prstGeom prst="rect">
            <a:avLst/>
          </a:prstGeom>
        </p:spPr>
      </p:pic>
      <p:sp>
        <p:nvSpPr>
          <p:cNvPr id="27" name="TextBox 26"/>
          <p:cNvSpPr txBox="1"/>
          <p:nvPr/>
        </p:nvSpPr>
        <p:spPr>
          <a:xfrm>
            <a:off x="7040880" y="1371600"/>
            <a:ext cx="4572000" cy="4572000"/>
          </a:xfrm>
          <a:prstGeom prst="rect">
            <a:avLst/>
          </a:prstGeom>
          <a:noFill/>
        </p:spPr>
        <p:txBody>
          <a:bodyPr wrap="square" lIns="0" rIns="0" tIns="0" bIns="0" anchor="t">
            <a:spAutoFit/>
          </a:bodyPr>
          <a:lstStyle/>
          <a:p>
            <a:pPr algn="l" marL="256032" indent="-201168">
              <a:spcAft>
                <a:spcPts val="800"/>
              </a:spcAft>
              <a:buChar char="•"/>
            </a:pPr>
            <a:r>
              <a:rPr sz="1800" b="1" i="0">
                <a:solidFill>
                  <a:srgbClr val="0F172A"/>
                </a:solidFill>
              </a:rPr>
              <a:t>Presentation:</a:t>
            </a:r>
            <a:r>
              <a:rPr sz="1800" b="0" i="0">
                <a:solidFill>
                  <a:srgbClr val="0F172A"/>
                </a:solidFill>
              </a:rPr>
              <a:t> React single-page app (ChurnIQ).</a:t>
            </a:r>
          </a:p>
          <a:p>
            <a:pPr algn="l" marL="256032" indent="-201168">
              <a:spcAft>
                <a:spcPts val="800"/>
              </a:spcAft>
              <a:buChar char="•"/>
            </a:pPr>
            <a:r>
              <a:rPr sz="1800" b="1" i="0">
                <a:solidFill>
                  <a:srgbClr val="0F172A"/>
                </a:solidFill>
              </a:rPr>
              <a:t>Application:</a:t>
            </a:r>
            <a:r>
              <a:rPr sz="1800" b="0" i="0">
                <a:solidFill>
                  <a:srgbClr val="0F172A"/>
                </a:solidFill>
              </a:rPr>
              <a:t> FastAPI, bearer-token demo login, 31 routes.</a:t>
            </a:r>
          </a:p>
          <a:p>
            <a:pPr algn="l" marL="256032" indent="-201168">
              <a:spcAft>
                <a:spcPts val="800"/>
              </a:spcAft>
              <a:buChar char="•"/>
            </a:pPr>
            <a:r>
              <a:rPr sz="1800" b="1" i="0">
                <a:solidFill>
                  <a:srgbClr val="0F172A"/>
                </a:solidFill>
              </a:rPr>
              <a:t>Core:</a:t>
            </a:r>
            <a:r>
              <a:rPr sz="1800" b="0" i="0">
                <a:solidFill>
                  <a:srgbClr val="0F172A"/>
                </a:solidFill>
              </a:rPr>
              <a:t> pure-Python modules for data, preprocessing, training, evaluation, explanations, risk, retention.</a:t>
            </a:r>
          </a:p>
          <a:p>
            <a:pPr algn="l" marL="256032" indent="-201168">
              <a:spcAft>
                <a:spcPts val="400"/>
              </a:spcAft>
              <a:buChar char="•"/>
            </a:pPr>
            <a:r>
              <a:rPr sz="1800" b="1" i="0">
                <a:solidFill>
                  <a:srgbClr val="0F172A"/>
                </a:solidFill>
              </a:rPr>
              <a:t>Data and state:</a:t>
            </a:r>
            <a:r>
              <a:rPr sz="1800" b="0" i="0">
                <a:solidFill>
                  <a:srgbClr val="0F172A"/>
                </a:solidFill>
              </a:rPr>
              <a:t> CSV files, joblib model files, in-memory session state.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Model comparison</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Three required classifiers and two boosted ones evaluated on five metrics.</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Visible reasoning</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A ranked list of drivers for every customer and for the portfolio.</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Targeted action</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Risk bands and rule-based retention steps in place of one offer for all.</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Metrics with their split, spread across seeds, and known limits stated.</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Usable system</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Dashboard, what-if, batch scoring and a drift check in one application.</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Reproducibility</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800" b="0" i="0">
                <a:solidFill>
                  <a:srgbClr val="475569"/>
                </a:solidFill>
              </a:rPr>
              <a:t>One script reproduces every reported number from the code.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88720"/>
            <a:ext cx="11091672" cy="5120640"/>
          </a:xfrm>
          <a:prstGeom prst="rect">
            <a:avLst/>
          </a:prstGeom>
          <a:noFill/>
        </p:spPr>
        <p:txBody>
          <a:bodyPr wrap="square" lIns="0" rIns="0" tIns="0" bIns="0" anchor="t">
            <a:spAutoFit/>
          </a:bodyPr>
          <a:lstStyle/>
          <a:p>
            <a:pPr algn="l">
              <a:spcAft>
                <a:spcPts val="500"/>
              </a:spcAft>
            </a:pPr>
            <a:r>
              <a:rPr sz="1300" b="0" i="0">
                <a:solidFill>
                  <a:srgbClr val="0F172A"/>
                </a:solidFill>
              </a:rPr>
              <a:t>[1] S.-V. Oprea and A. Bara, "Explaining customer churn through unified perturbation-based XAI soft computing," IEEE Access, vol. 14, pp. 24460-24478, 2026, doi: 10.1109/ACCESS.2026.3663648.</a:t>
            </a:r>
          </a:p>
          <a:p>
            <a:pPr algn="l">
              <a:spcAft>
                <a:spcPts val="500"/>
              </a:spcAft>
            </a:pPr>
            <a:r>
              <a:rPr sz="1300" b="0" i="0">
                <a:solidFill>
                  <a:srgbClr val="0F172A"/>
                </a:solidFill>
              </a:rPr>
              <a:t>[2] A. Sikri, R. Jameel, S. M. Idrees and H. Kaur, "Enhancing customer retention in telecom industry with machine learning driven churn prediction," Sci. Rep., vol. 14, no. 1, 2024, doi: 10.1038/s41598-024-63750-0.</a:t>
            </a:r>
          </a:p>
          <a:p>
            <a:pPr algn="l">
              <a:spcAft>
                <a:spcPts val="500"/>
              </a:spcAft>
            </a:pPr>
            <a:r>
              <a:rPr sz="1300" b="0" i="0">
                <a:solidFill>
                  <a:srgbClr val="0F172A"/>
                </a:solidFill>
              </a:rPr>
              <a:t>[3] A. El Attar and M. El-Hajj, "Explainable AI-driven customer churn prediction: a multi-model ensemble approach with SHAP-based feature analysis," Front. Artif. Intell., vol. 9, Feb. 2026, doi: 10.3389/frai.2026.1748799.</a:t>
            </a:r>
          </a:p>
          <a:p>
            <a:pPr algn="l">
              <a:spcAft>
                <a:spcPts val="500"/>
              </a:spcAft>
            </a:pPr>
            <a:r>
              <a:rPr sz="1300" b="0" i="0">
                <a:solidFill>
                  <a:srgbClr val="0F172A"/>
                </a:solidFill>
              </a:rPr>
              <a:t>[4] H. A. Rasool, K. K. Aljawaheri and A. A. M. Karram, "Explainable customer churn prediction in telecom using ensemble learning and SHAP analysis," Math. Model. Eng. Probl., pp. 4373-4386, Dec. 2025, doi: 10.18280/mmep.121226.</a:t>
            </a:r>
          </a:p>
          <a:p>
            <a:pPr algn="l">
              <a:spcAft>
                <a:spcPts val="500"/>
              </a:spcAft>
            </a:pPr>
            <a:r>
              <a:rPr sz="1300" b="0" i="0">
                <a:solidFill>
                  <a:srgbClr val="0F172A"/>
                </a:solidFill>
              </a:rPr>
              <a:t>[7] S. M. Lundberg and S.-I. Lee, "A unified approach to interpreting model predictions," in Proc. Adv. Neural Inf. Process. Syst. (NeurIPS), vol. 30, 2017.</a:t>
            </a:r>
          </a:p>
          <a:p>
            <a:pPr algn="l">
              <a:spcAft>
                <a:spcPts val="500"/>
              </a:spcAft>
            </a:pPr>
            <a:r>
              <a:rPr sz="1300" b="0" i="0">
                <a:solidFill>
                  <a:srgbClr val="0F172A"/>
                </a:solidFill>
              </a:rPr>
              <a:t>[8] M. T. Ribeiro, S. Singh and C. Guestrin, "'Why should I trust you?': Explaining the predictions of any classifier," in Proc. 22nd ACM SIGKDD Int. Conf. Knowl. Discovery Data Mining, 2016, pp. 1135-1144, doi: 10.1145/2939672.2939778.</a:t>
            </a:r>
          </a:p>
          <a:p>
            <a:pPr algn="l">
              <a:spcAft>
                <a:spcPts val="500"/>
              </a:spcAft>
            </a:pPr>
            <a:r>
              <a:rPr sz="1300" b="0" i="0">
                <a:solidFill>
                  <a:srgbClr val="0F172A"/>
                </a:solidFill>
              </a:rPr>
              <a:t>[9] D. Slack, S. Hilgard, E. Jia, S. Singh and H. Lakkaraju, "Fooling LIME and SHAP: Adversarial attacks on post hoc explanation methods," in Proc. AAAI/ACM Conf. AI, Ethics, Soc., 2020, doi: 10.1145/3375627.3375830.</a:t>
            </a:r>
          </a:p>
          <a:p>
            <a:pPr algn="l">
              <a:spcAft>
                <a:spcPts val="500"/>
              </a:spcAft>
            </a:pPr>
            <a:r>
              <a:rPr sz="1300" b="0" i="0">
                <a:solidFill>
                  <a:srgbClr val="0F172A"/>
                </a:solidFill>
              </a:rPr>
              <a:t>[11] N. V. Chawla, K. W. Bowyer, L. O. Hall and W. P. Kegelmeyer, "SMOTE: Synthetic minority over-sampling technique," J. Artif. Intell. Res., vol. 16, pp. 321-357, 2002, doi: 10.1613/jair.953.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hurnIQ">
  <a:themeElements>
    <a:clrScheme name="ChurnIQ">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hurnIQ">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in Telecom Industry: Review 1</dc:title>
  <dc:subject>Batch A14 (CSE-A)</dc:subject>
  <dc:creator>ANANTULA SAI NIKHILA SRAVANI, AVULA ANUDEEP, B SANDEEP, DARAGANI VINOD KUMAR</dc:creator>
  <cp:lastModifiedBy/>
  <cp:revision>1</cp:revision>
  <dcterms:created xsi:type="dcterms:W3CDTF">2026-10-13T12:36:40Z</dcterms:created>
  <dcterms:modified xsi:type="dcterms:W3CDTF">2026-10-13T12:36:40Z</dcterms:modified>
  <cp:keywords>customer churn, telecom, machine learning, retention</cp:keywords>
  <dc:description/>
</cp:coreProperties>
</file>