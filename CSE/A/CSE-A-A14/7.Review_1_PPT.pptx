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13"/>
  </p:notesMasterIdLst>
  <p:sldIdLst>
    <p:sldId id="256" r:id="rId101"/>
    <p:sldId id="257" r:id="rId102"/>
    <p:sldId id="258" r:id="rId103"/>
    <p:sldId id="259" r:id="rId104"/>
    <p:sldId id="260" r:id="rId105"/>
    <p:sldId id="261" r:id="rId106"/>
    <p:sldId id="262" r:id="rId107"/>
    <p:sldId id="263" r:id="rId108"/>
    <p:sldId id="264" r:id="rId10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D8E59"/>
    <a:srgbClr val="EA6826"/>
    <a:srgbClr val="F3A44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4587" autoAdjust="0"/>
    <p:restoredTop sz="86330" autoAdjust="0"/>
  </p:normalViewPr>
  <p:slideViewPr>
    <p:cSldViewPr snapToGrid="0">
      <p:cViewPr varScale="1">
        <p:scale>
          <a:sx n="100" d="100"/>
          <a:sy n="100" d="100"/>
        </p:scale>
        <p:origin x="216" y="96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1914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17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theme" Target="theme/theme1.xml"/><Relationship Id="rId1" Type="http://schemas.openxmlformats.org/officeDocument/2006/relationships/customXml" Target="../customXml/item1.xml"/><Relationship Id="rId15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14" Type="http://schemas.openxmlformats.org/officeDocument/2006/relationships/presProps" Target="presProps.xml"/><Relationship Id="rId101" Type="http://schemas.openxmlformats.org/officeDocument/2006/relationships/slide" Target="slides/slide1.xml"/><Relationship Id="rId102" Type="http://schemas.openxmlformats.org/officeDocument/2006/relationships/slide" Target="slides/slide2.xml"/><Relationship Id="rId103" Type="http://schemas.openxmlformats.org/officeDocument/2006/relationships/slide" Target="slides/slide3.xml"/><Relationship Id="rId104" Type="http://schemas.openxmlformats.org/officeDocument/2006/relationships/slide" Target="slides/slide4.xml"/><Relationship Id="rId105" Type="http://schemas.openxmlformats.org/officeDocument/2006/relationships/slide" Target="slides/slide5.xml"/><Relationship Id="rId106" Type="http://schemas.openxmlformats.org/officeDocument/2006/relationships/slide" Target="slides/slide6.xml"/><Relationship Id="rId107" Type="http://schemas.openxmlformats.org/officeDocument/2006/relationships/slide" Target="slides/slide7.xml"/><Relationship Id="rId108" Type="http://schemas.openxmlformats.org/officeDocument/2006/relationships/slide" Target="slides/slide8.xml"/><Relationship Id="rId109" Type="http://schemas.openxmlformats.org/officeDocument/2006/relationships/slide" Target="slides/slide9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65D0751-2114-4D88-B3CD-A4A7518850E4}" type="datetimeFigureOut">
              <a:rPr lang="en-IN" smtClean="0"/>
              <a:pPr/>
              <a:t>27-08-2026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EEA07CB-BBA9-4D22-A48E-1DC790A55F73}" type="slidenum">
              <a:rPr lang="en-IN" smtClean="0"/>
              <a:pPr/>
              <a:t>‹#›</a:t>
            </a:fld>
            <a:endParaRPr lang="en-I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D8EAF3-A183-FBB8-5DFE-F998C7DD80A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A1DECE5-9D85-4D5C-14AE-D97C0E0A1E1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69EE3E-B995-B2FF-F955-FC92FA37C6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28D3B7-3125-8256-CC36-3BCA673192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5042E9-46BD-C05A-83DF-C6614E4E42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02820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CB2945-42E0-A07A-0B6E-6EDAA1E85B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1E9477-6E0C-B959-02C0-DAA3883EAB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E041CF-6755-E404-A7EF-77F3410562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053BD7-84D6-736E-96E2-CD694E6E3B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4B374A-CEAB-9F7D-7564-9C7CE16B5B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02064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E03B62-581C-DBAD-2CB0-14534C37CD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DE597A-4A9F-F52F-33CF-BA9B366297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687F3F-892B-7234-B6A1-2ECFB4E11B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D6F1E2-5E90-D885-E2AC-2CC7700F23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D39882-48CA-1F9F-2953-F8F8F9ED27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45186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7EEBD1-54F3-609B-1C93-AE4474018F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72EB13-B4F9-51ED-B12A-647E29C782D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E4B1517-E5A2-0E03-3306-7B063FCE75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F267CE7-4EC3-8D08-EDF1-11438E276D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901F0B4-9EAB-799E-DA38-E6CDCCD701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AC14C14-4A90-B2B8-AF68-8BA7D93325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53718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AB0D8C-664D-30F3-4803-F12E0BF5A4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D87889-E05F-A6DF-0DC4-326559CA52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4E1E3C-5290-802D-8EF3-5F3212A6E56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D7A1C86-A533-B490-144E-26FF632ACC5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C50FFAA-1ADA-8B64-A13D-ECF896B69AC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D8AD25C-CA7A-B139-5333-A3678075C5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DC3E1BF-3DC0-EF03-1BE7-3F533D912E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72E0924-B3F0-8CE6-145D-A77F262FFC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78010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1ACA94-6623-4BC4-F39D-66DCD197E8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D357359-8E8E-7129-54E5-D0BADB8D35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B1C5C0C-6B3B-FAE5-58F6-33BE5069A6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D646F30-A1E8-8144-DD72-3472F15714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17558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26142CE-9A7E-0B50-2E75-A90CE8A97F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C74C564-8346-9BF3-6B5A-187BD4B169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2BCA53-C6C0-68E6-8677-35F1AB7E32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20811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6F5354-C887-EEA6-1E1D-B7C92A346C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588700-398D-8758-EC69-A070E80DF8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0EC1F47-DB1F-C9E4-8339-99508A1561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1B81EA2-907E-4750-E7CE-E5177EFF3B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B591AE-A32B-9B2A-89BE-328412356F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FAA3ED1-EC3F-E6A4-A363-588FEAB5D1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27508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E68EBA-E560-FAB9-DAAE-7CFA8129EC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33E3AFE-48AF-7A59-366F-04260E7F38F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26870FA-C759-68D3-1500-9250A3573ED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439ED6-85BE-D0AE-BBB1-BC9D0A3F8D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1B70505-D1E8-3EAA-494D-F9007DA9E7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097C53-7AF0-CBBC-E9CD-4A32748489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42741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5C3509-0D44-D568-F6CB-9039AD0959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955E5BB-32D4-1D45-8D54-D9C8DCBE95A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6FDC30-09A1-F170-22C7-0CC63521D0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6CBF2C-8B0E-B74F-94E1-CE5A23CA9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43C14B-27DE-DFD1-20DC-A3ADA16E37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43926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A271C75-B4FC-09D3-14B6-70821A1E55F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B46F21E-BDF3-F6F8-C4E4-FF0A5269B0A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949D4E-85BB-92DE-7195-775D7C949A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665B19-2814-6CF2-5C46-F3A6022CB1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8EF581-31A0-D1E0-8180-469869F410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99753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8D5BCD3-5517-F7B0-4C7F-E6F3B8E2C1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D3BF315-7B47-F19A-A964-36953D1178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6D6B83-D229-EDD7-3C32-A5DD05579B0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9F250E-391A-32BD-417C-09D641C02C0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CFE7E6-0B78-2179-510C-B1F5DFB18C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17703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" name="Picture 34" descr="A white background with black and white clouds">
            <a:extLst>
              <a:ext uri="{FF2B5EF4-FFF2-40B4-BE49-F238E27FC236}">
                <a16:creationId xmlns:a16="http://schemas.microsoft.com/office/drawing/2014/main" id="{E0B1AAB0-B5F5-4E03-02D6-1DB064DEE6A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E3B4784B-1D59-C345-419E-CD0FCB0F8DE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85BCF9B7-1595-C668-99E5-45E0E978430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1CA86EFB-CA71-0A13-33E0-384CD40A8F1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FA7CB81B-C8CA-84D3-8422-0666B831BCC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B71557D9-781E-D2E2-F550-47183352261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</a:p>
        </p:txBody>
      </p:sp>
      <p:sp>
        <p:nvSpPr>
          <p:cNvPr id="2" name="TextBox 19">
            <a:extLst>
              <a:ext uri="{FF2B5EF4-FFF2-40B4-BE49-F238E27FC236}">
                <a16:creationId xmlns:a16="http://schemas.microsoft.com/office/drawing/2014/main" id="{EF911901-54D2-24CF-4303-94BA875AA88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95438" y="1285875"/>
            <a:ext cx="9429750" cy="461963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>
                <a:solidFill>
                  <a:schemeClr val="tx2"/>
                </a:solidFill>
                <a:latin typeface="Gill Sans MT" panose="020B0502020104020203" pitchFamily="34" charset="0"/>
              </a:defRPr>
            </a:lvl1pPr>
            <a:lvl2pPr marL="742950" indent="-28575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>
                <a:solidFill>
                  <a:schemeClr val="tx2"/>
                </a:solidFill>
                <a:latin typeface="Gill Sans MT" panose="020B0502020104020203" pitchFamily="34" charset="0"/>
              </a:defRPr>
            </a:lvl2pPr>
            <a:lvl3pPr marL="1143000" indent="-22860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>
                <a:solidFill>
                  <a:schemeClr val="tx2"/>
                </a:solidFill>
                <a:latin typeface="Gill Sans MT" panose="020B0502020104020203" pitchFamily="34" charset="0"/>
              </a:defRPr>
            </a:lvl3pPr>
            <a:lvl4pPr marL="1600200" indent="-22860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4pPr>
            <a:lvl5pPr marL="2057400" indent="-22860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5pPr>
            <a:lvl6pPr marL="25146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6pPr>
            <a:lvl7pPr marL="29718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7pPr>
            <a:lvl8pPr marL="34290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8pPr>
            <a:lvl9pPr marL="38862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9pPr>
          </a:lstStyle>
          <a:p>
            <a:pPr algn="ctr">
              <a:buNone/>
            </a:pPr>
            <a:r>
              <a:rPr lang="en-US" altLang="en-US" sz="2400" b="1" i="1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Department of Computer Science and Engineering</a:t>
            </a:r>
          </a:p>
        </p:txBody>
      </p:sp>
      <p:sp>
        <p:nvSpPr>
          <p:cNvPr id="3" name="TextBox 19">
            <a:extLst>
              <a:ext uri="{FF2B5EF4-FFF2-40B4-BE49-F238E27FC236}">
                <a16:creationId xmlns:a16="http://schemas.microsoft.com/office/drawing/2014/main" id="{2AB77BED-BB4A-559B-89EF-38B1E960328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81563" y="1714500"/>
            <a:ext cx="2743200" cy="461963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>
                <a:solidFill>
                  <a:schemeClr val="tx2"/>
                </a:solidFill>
                <a:latin typeface="Gill Sans MT" panose="020B0502020104020203" pitchFamily="34" charset="0"/>
              </a:defRPr>
            </a:lvl1pPr>
            <a:lvl2pPr marL="742950" indent="-28575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>
                <a:solidFill>
                  <a:schemeClr val="tx2"/>
                </a:solidFill>
                <a:latin typeface="Gill Sans MT" panose="020B0502020104020203" pitchFamily="34" charset="0"/>
              </a:defRPr>
            </a:lvl2pPr>
            <a:lvl3pPr marL="1143000" indent="-22860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>
                <a:solidFill>
                  <a:schemeClr val="tx2"/>
                </a:solidFill>
                <a:latin typeface="Gill Sans MT" panose="020B0502020104020203" pitchFamily="34" charset="0"/>
              </a:defRPr>
            </a:lvl3pPr>
            <a:lvl4pPr marL="1600200" indent="-22860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4pPr>
            <a:lvl5pPr marL="2057400" indent="-22860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5pPr>
            <a:lvl6pPr marL="25146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6pPr>
            <a:lvl7pPr marL="29718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7pPr>
            <a:lvl8pPr marL="34290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8pPr>
            <a:lvl9pPr marL="38862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spcAft>
                <a:spcPct val="0"/>
              </a:spcAft>
              <a:buClrTx/>
              <a:buSzPct val="150000"/>
              <a:buFontTx/>
              <a:buNone/>
              <a:defRPr/>
            </a:pPr>
            <a:r>
              <a:rPr lang="en-US" altLang="en-US" sz="2000" b="1" i="1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sz="2400" b="1" spc="-1" dirty="0">
                <a:solidFill>
                  <a:schemeClr val="accent2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Project on </a:t>
            </a: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1EB1BFF2-4F7E-BECD-07D2-50E522824D9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8763" y="2713038"/>
            <a:ext cx="9134475" cy="261610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buNone/>
            </a:pPr>
            <a:r>
              <a:rPr lang="en-US" altLang="en-US" sz="20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>Presented By</a:t>
            </a:r>
          </a:p>
          <a:p>
            <a:pPr algn="l" marL="571500">
              <a:buNone/>
              <a:tabLst>
                <a:tab pos="4114800" algn="l"/>
              </a:tabLst>
            </a:pPr>
            <a:r>
              <a:rPr lang="en-US" altLang="en-US" sz="15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>ANANTULA SAI NIKHILA SRAVANI	23K91A0512</a:t>
            </a:r>
            <a:r>
              <a:rPr lang="en-US" altLang="en-US" sz="15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/>
            </a:r>
          </a:p>
          <a:p>
            <a:pPr algn="l" marL="571500">
              <a:buNone/>
              <a:tabLst>
                <a:tab pos="4114800" algn="l"/>
              </a:tabLst>
            </a:pPr>
            <a:r>
              <a:rPr lang="en-US" altLang="en-US" sz="15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>AVULA ANUDEEP	23K91A0518</a:t>
            </a:r>
            <a:r>
              <a:rPr lang="en-US" altLang="en-US" sz="15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/>
            </a:r>
          </a:p>
          <a:p>
            <a:pPr algn="l" marL="571500">
              <a:buNone/>
              <a:tabLst>
                <a:tab pos="4114800" algn="l"/>
              </a:tabLst>
            </a:pPr>
            <a:r>
              <a:rPr lang="en-US" altLang="en-US" sz="15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>B SANDEEP	24K915A0503</a:t>
            </a:r>
            <a:r>
              <a:rPr lang="en-US" altLang="en-US" sz="15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/>
            </a:r>
          </a:p>
          <a:p>
            <a:pPr algn="l" marL="571500">
              <a:buNone/>
              <a:tabLst>
                <a:tab pos="4114800" algn="l"/>
              </a:tabLst>
            </a:pPr>
            <a:r>
              <a:rPr lang="en-US" altLang="en-US" sz="15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>DARAGANI VINOD KUMAR	23K91A0558</a:t>
            </a:r>
            <a:r>
              <a:rPr lang="en-US" altLang="en-US" sz="15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/>
            </a:r>
          </a:p>
        </p:txBody>
      </p:sp>
      <p:sp>
        <p:nvSpPr>
          <p:cNvPr id="5" name="Rectangle 17">
            <a:extLst>
              <a:ext uri="{FF2B5EF4-FFF2-40B4-BE49-F238E27FC236}">
                <a16:creationId xmlns:a16="http://schemas.microsoft.com/office/drawing/2014/main" id="{2731B16B-276D-2B43-CC76-93FF9654229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87600" y="4750023"/>
            <a:ext cx="7312025" cy="13696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>
              <a:buNone/>
            </a:pPr>
            <a:r>
              <a:rPr lang="en-US" sz="1800" i="1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Under the Guidance of</a:t>
            </a:r>
          </a:p>
          <a:p>
            <a:pPr algn="ctr">
              <a:buNone/>
            </a:pPr>
            <a:r>
              <a:rPr lang="en-US" sz="2000" i="1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B. SRIKANTH</a:t>
            </a:r>
          </a:p>
          <a:p>
            <a:pPr algn="ctr">
              <a:buNone/>
            </a:pPr>
            <a:r>
              <a:rPr lang="en-US" sz="1400" i="1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C53D53C6-3D26-572E-AE23-F0DEC575DE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31244" y="410291"/>
            <a:ext cx="5066704" cy="50669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BF1A5A3-A331-A83C-4888-1C5A73A34D8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1" name="ProjectTitle"/>
          <p:cNvSpPr txBox="1"/>
          <p:nvPr/>
        </p:nvSpPr>
        <p:spPr>
          <a:xfrm>
            <a:off x="1143000" y="2146300"/>
            <a:ext cx="9906000" cy="55880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algn="ctr">
              <a:buNone/>
            </a:pPr>
            <a:r>
              <a:rPr lang="en-IN" sz="1400" b="1" dirty="0">
                <a:solidFill>
                  <a:srgbClr val="C0504D"/>
                </a:solidFill>
                <a:latin typeface="Times New Roman" pitchFamily="18" charset="0"/>
              </a:rPr>
              <a:t>Customer Churn Prediction in Telecom Industry (Machine Learning Based Customer Retention System)</a:t>
            </a:r>
          </a:p>
        </p:txBody>
      </p:sp>
    </p:spTree>
    <p:extLst>
      <p:ext uri="{BB962C8B-B14F-4D97-AF65-F5344CB8AC3E}">
        <p14:creationId xmlns:p14="http://schemas.microsoft.com/office/powerpoint/2010/main" val="8057843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3BCBEE-2F4F-71CA-F941-DC9D63C13D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63B4820E-53EF-79A2-AF06-EFB1C76C0BC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764AC28A-BAA1-7A0F-1502-5CD89A04E8E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DAE4B889-7E42-E0BA-48E5-20FD3A6CE65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0D21D269-90CE-A5C3-9969-D2C4A3DD0F7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BE036347-7B18-6766-9AA3-EE85EA782C5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4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OUTLINE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9A41FE7-F7BC-F572-D24E-027B00063B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6DA86AC-6AB9-81AE-D8D3-7F5A249B8DF9}"/>
              </a:ext>
            </a:extLst>
          </p:cNvPr>
          <p:cNvSpPr txBox="1"/>
          <p:nvPr/>
        </p:nvSpPr>
        <p:spPr>
          <a:xfrm>
            <a:off x="2570848" y="1177866"/>
            <a:ext cx="6097022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Clr>
                <a:srgbClr val="EA6826"/>
              </a:buClr>
              <a:buFont typeface="Arial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ABSTRACT</a:t>
            </a:r>
          </a:p>
          <a:p>
            <a:pPr marL="285750" indent="-285750">
              <a:buClr>
                <a:srgbClr val="EA6826"/>
              </a:buClr>
              <a:buFont typeface="Arial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BASE PAPER</a:t>
            </a:r>
          </a:p>
          <a:p>
            <a:pPr marL="285750" indent="-285750">
              <a:buClr>
                <a:srgbClr val="EA6826"/>
              </a:buClr>
              <a:buFont typeface="Arial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  <a:p>
            <a:pPr marL="285750" indent="-285750">
              <a:buClr>
                <a:srgbClr val="EA6826"/>
              </a:buClr>
              <a:buFont typeface="Arial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LITERATURE SURVEY</a:t>
            </a:r>
          </a:p>
          <a:p>
            <a:pPr marL="285750" indent="-285750">
              <a:buClr>
                <a:srgbClr val="EA6826"/>
              </a:buClr>
              <a:buFont typeface="Arial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OBJECTIVES</a:t>
            </a:r>
          </a:p>
          <a:p>
            <a:pPr marL="285750" indent="-285750">
              <a:buClr>
                <a:srgbClr val="EA6826"/>
              </a:buClr>
              <a:buFont typeface="Arial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</a:t>
            </a:r>
          </a:p>
        </p:txBody>
      </p:sp>
    </p:spTree>
    <p:extLst>
      <p:ext uri="{BB962C8B-B14F-4D97-AF65-F5344CB8AC3E}">
        <p14:creationId xmlns:p14="http://schemas.microsoft.com/office/powerpoint/2010/main" val="31613681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331BF3-E6D1-C023-5A9A-D112538191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BEB2DB76-004D-64E1-40B1-997AC9FA216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C5C49668-1728-021D-7B2A-409EFB75B95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272951BC-683A-5832-7EA8-FE7CFFA6E9D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2A00ACFE-E6A2-6E91-D28E-5317698864B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1539031D-994F-1D02-51A5-3C134C2C25D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ABSTRACT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790A20B-045A-B55E-9044-B1CB121950C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0" name="BodyText"/>
          <p:cNvSpPr txBox="1"/>
          <p:nvPr/>
        </p:nvSpPr>
        <p:spPr>
          <a:xfrm>
            <a:off x="863600" y="1168400"/>
            <a:ext cx="10490200" cy="533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Customer churn prediction is an important machine learning application in the telecom industry.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Customer churn occurs when customers stop using a company's services and switch to another provider.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Since losing customers affects a company's revenue, predicting churn helps businesses take early action to retain valuable customers.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The main objective of this project is to predict whether a customer is likely to stay or leave by analyzing customer data such as tenure, monthly charges, contract type.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The dataset is cleaned, preprocessed, and analyzed using Exploratory Data Analysis (EDA).</a:t>
            </a:r>
          </a:p>
        </p:txBody>
      </p:sp>
    </p:spTree>
    <p:extLst>
      <p:ext uri="{BB962C8B-B14F-4D97-AF65-F5344CB8AC3E}">
        <p14:creationId xmlns:p14="http://schemas.microsoft.com/office/powerpoint/2010/main" val="3760972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331BF3-E6D1-C023-5A9A-D112538191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BEB2DB76-004D-64E1-40B1-997AC9FA216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C5C49668-1728-021D-7B2A-409EFB75B95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272951BC-683A-5832-7EA8-FE7CFFA6E9D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2A00ACFE-E6A2-6E91-D28E-5317698864B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1539031D-994F-1D02-51A5-3C134C2C25D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BASE PAPER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790A20B-045A-B55E-9044-B1CB121950C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0" name="BodyText"/>
          <p:cNvSpPr txBox="1"/>
          <p:nvPr/>
        </p:nvSpPr>
        <p:spPr>
          <a:xfrm>
            <a:off x="863600" y="1168400"/>
            <a:ext cx="10490200" cy="533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b="1" dirty="0">
                <a:solidFill>
                  <a:srgbClr val="EA6826"/>
                </a:solidFill>
                <a:latin typeface="Times New Roman" pitchFamily="18" charset="0"/>
              </a:rPr>
              <a:t>"Explaining Customer Churn Through Unified Perturbation-Based XAI Soft Computing"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600" dirty="0">
                <a:solidFill>
                  <a:srgbClr val="595959"/>
                </a:solidFill>
                <a:latin typeface="Times New Roman" pitchFamily="18" charset="0"/>
              </a:rPr>
              <a:t>IEEE Access   |   2026   |   DOI: 10.1109/access.2026.3663648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000" dirty="0">
                <a:solidFill>
                  <a:srgbClr val="1F1F1F"/>
                </a:solidFill>
                <a:latin typeface="Times New Roman" pitchFamily="18" charset="0"/>
              </a:rPr>
              <a:t/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b="1" dirty="0">
                <a:solidFill>
                  <a:srgbClr val="EA6826"/>
                </a:solidFill>
                <a:latin typeface="Times New Roman" pitchFamily="18" charset="0"/>
              </a:rPr>
              <a:t>WHAT THIS PROJECT ADOPTS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The surveyed work compares classifiers on churn datasets. The gap is pairing accurate prediction with per-customer explanation so that retention action can be targeted rather than generic.</a:t>
            </a:r>
          </a:p>
        </p:txBody>
      </p:sp>
    </p:spTree>
    <p:extLst>
      <p:ext uri="{BB962C8B-B14F-4D97-AF65-F5344CB8AC3E}">
        <p14:creationId xmlns:p14="http://schemas.microsoft.com/office/powerpoint/2010/main" val="3760972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49966C-8294-7FB8-4AF7-FDD5F12B25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B6516264-5858-1030-1028-4D6D08D68C6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1268033D-F89B-F026-88F0-4E2A6E00C6D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3426FA0F-847D-F649-FCD0-1586D97B73F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22748F9B-CC26-E583-3236-4592555F018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97F7D014-4BA2-A8CB-E2B4-AD4019E5085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00D029B-620D-32F3-E739-7153A70444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0" name="BodyText"/>
          <p:cNvSpPr txBox="1"/>
          <p:nvPr/>
        </p:nvSpPr>
        <p:spPr>
          <a:xfrm>
            <a:off x="863600" y="1168400"/>
            <a:ext cx="10490200" cy="533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Acquiring a new telecom customer costs several times more than retaining an existing one.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Churn is usually noticed only after the customer has already left.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Customer records contain early signals: tenure, contract type, monthly charges and service usage.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Machine learning can learn these patterns and estimate churn risk before the customer leaves.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Ensemble classifiers handle mixed categorical and numerical telecom data well.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Explaining why a customer is at risk turns a prediction into an actionable retention step.</a:t>
            </a:r>
          </a:p>
        </p:txBody>
      </p:sp>
    </p:spTree>
    <p:extLst>
      <p:ext uri="{BB962C8B-B14F-4D97-AF65-F5344CB8AC3E}">
        <p14:creationId xmlns:p14="http://schemas.microsoft.com/office/powerpoint/2010/main" val="31047350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D88C43-774C-27DC-2228-A4D0A01AED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8CFA77B5-9790-DAAE-91F6-8FFCD69D432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94ED25BC-7381-CAB0-10C9-8388E6B9A21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B0B72ABD-F5DB-860C-736A-AAB77878ED5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F3E944F5-CEC8-0865-B914-CB103BE7536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9231BD6F-2495-91EB-505F-EA9ED24498A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LITERATURE SURVEY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ED1846C-10F4-4E14-EE60-98855626869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0" name="BodyText"/>
          <p:cNvSpPr txBox="1"/>
          <p:nvPr/>
        </p:nvSpPr>
        <p:spPr>
          <a:xfrm>
            <a:off x="863600" y="1168400"/>
            <a:ext cx="10490200" cy="533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600" dirty="0">
                <a:solidFill>
                  <a:srgbClr val="1F1F1F"/>
                </a:solidFill>
                <a:latin typeface="Times New Roman" pitchFamily="18" charset="0"/>
              </a:rPr>
              <a:t>1. Explaining Customer Churn Through Unified Perturbation-Based XAI Soft Computing   [BASE PAPER]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300" dirty="0">
                <a:solidFill>
                  <a:srgbClr val="7F7F7F"/>
                </a:solidFill>
                <a:latin typeface="Times New Roman" pitchFamily="18" charset="0"/>
              </a:rPr>
              <a:t>      IEEE Access, 2026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600" dirty="0">
                <a:solidFill>
                  <a:srgbClr val="1F1F1F"/>
                </a:solidFill>
                <a:latin typeface="Times New Roman" pitchFamily="18" charset="0"/>
              </a:rPr>
              <a:t>2. Explainable Machine Learning for Telecom Customer Churn Prediction and Actionable Retention Strategies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300" dirty="0">
                <a:solidFill>
                  <a:srgbClr val="7F7F7F"/>
                </a:solidFill>
                <a:latin typeface="Times New Roman" pitchFamily="18" charset="0"/>
              </a:rPr>
              <a:t>      Applied Artificial Intelligence Research, 2026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600" dirty="0">
                <a:solidFill>
                  <a:srgbClr val="1F1F1F"/>
                </a:solidFill>
                <a:latin typeface="Times New Roman" pitchFamily="18" charset="0"/>
              </a:rPr>
              <a:t>3. Enhancing customer retention in telecom industry with machine learning driven churn prediction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300" dirty="0">
                <a:solidFill>
                  <a:srgbClr val="7F7F7F"/>
                </a:solidFill>
                <a:latin typeface="Times New Roman" pitchFamily="18" charset="0"/>
              </a:rPr>
              <a:t>      Scientific Reports, 2024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600" dirty="0">
                <a:solidFill>
                  <a:srgbClr val="1F1F1F"/>
                </a:solidFill>
                <a:latin typeface="Times New Roman" pitchFamily="18" charset="0"/>
              </a:rPr>
              <a:t>4. A Novel SHAP-Guided Bayesian Optimization Method for Telecom Customer Churn Prediction and Retention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300" dirty="0">
                <a:solidFill>
                  <a:srgbClr val="7F7F7F"/>
                </a:solidFill>
                <a:latin typeface="Times New Roman" pitchFamily="18" charset="0"/>
              </a:rPr>
              <a:t>      2025 IEEE International Conference on Electronics, Energy Systems and Power Engineering (EESPE), 2025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600" dirty="0">
                <a:solidFill>
                  <a:srgbClr val="1F1F1F"/>
                </a:solidFill>
                <a:latin typeface="Times New Roman" pitchFamily="18" charset="0"/>
              </a:rPr>
              <a:t>5. Enhanced Customer Retention: Deep Learning- Based Churn Prediction for Telecom Industry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300" dirty="0">
                <a:solidFill>
                  <a:srgbClr val="7F7F7F"/>
                </a:solidFill>
                <a:latin typeface="Times New Roman" pitchFamily="18" charset="0"/>
              </a:rPr>
              <a:t>      International Journal for Research in Applied Science and Engineering Technology, 2025</a:t>
            </a:r>
          </a:p>
        </p:txBody>
      </p:sp>
    </p:spTree>
    <p:extLst>
      <p:ext uri="{BB962C8B-B14F-4D97-AF65-F5344CB8AC3E}">
        <p14:creationId xmlns:p14="http://schemas.microsoft.com/office/powerpoint/2010/main" val="30780877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7482EF-6221-3BB0-5040-4666119C27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1560D6D2-DA22-EBDF-304F-C8A421D84D6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655358E4-D89D-93F0-473B-A506EBB4B4F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F6EBD074-6B56-8259-4662-CAA4E4FDE8B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452011EE-C2E4-6809-EC01-738B88A3178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A92A2D69-D568-B1C6-DC72-8355E2C4BC5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OBJECTIVES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A13E7E7-505C-9AC4-41FE-BFE54A7E93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0" name="BodyText"/>
          <p:cNvSpPr txBox="1"/>
          <p:nvPr/>
        </p:nvSpPr>
        <p:spPr>
          <a:xfrm>
            <a:off x="863600" y="1168400"/>
            <a:ext cx="10490200" cy="533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1. Acquire a telecom customer dataset and perform exploratory analysis of churn behaviour.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2. Clean the data, encode categorical fields and address class imbalance between churned and retained customers.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3. Train and compare Logistic Regression, Decision Tree and Random Forest classifiers.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4. Evaluate using accuracy, precision, recall, F1-score and ROC-AUC.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5. Identify the features that contribute most strongly to churn risk.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6. Present at-risk customers and their risk drivers through a retention dashboard.</a:t>
            </a:r>
          </a:p>
        </p:txBody>
      </p:sp>
    </p:spTree>
    <p:extLst>
      <p:ext uri="{BB962C8B-B14F-4D97-AF65-F5344CB8AC3E}">
        <p14:creationId xmlns:p14="http://schemas.microsoft.com/office/powerpoint/2010/main" val="25151272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BAC622-38D3-50E9-6643-705DE550A7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92F2D298-80C7-D362-FF2C-4121D383887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226636E4-0019-D99D-3347-7F57F9F0CEF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5B0CEDD6-64DD-781C-7771-2D3AC405C9B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08409DB7-A08D-C500-BA65-864126EF115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003E9B55-9D99-EBEF-85E3-43516CDD086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2D24495-04FB-8B90-F660-31FA92CE69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0" name="BodyText"/>
          <p:cNvSpPr txBox="1"/>
          <p:nvPr/>
        </p:nvSpPr>
        <p:spPr>
          <a:xfrm>
            <a:off x="863600" y="1168400"/>
            <a:ext cx="10490200" cy="533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Churn is detected after the customer has left, when retention is no longer possible.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Retention offers are applied uniformly rather than targeted at genuinely at-risk customers.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A churn score without a reason gives the retention team nothing to act upon.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Imbalanced data causes models to under-predict the minority churn class.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000" dirty="0">
                <a:solidFill>
                  <a:srgbClr val="1F1F1F"/>
                </a:solidFill>
                <a:latin typeface="Times New Roman" pitchFamily="18" charset="0"/>
              </a:rPr>
              <a:t/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b="1" dirty="0">
                <a:solidFill>
                  <a:srgbClr val="EA6826"/>
                </a:solidFill>
                <a:latin typeface="Times New Roman" pitchFamily="18" charset="0"/>
              </a:rPr>
              <a:t>Need: a churn prediction system that identifies at-risk customers early and explains the factors driving each prediction.</a:t>
            </a:r>
          </a:p>
        </p:txBody>
      </p:sp>
    </p:spTree>
    <p:extLst>
      <p:ext uri="{BB962C8B-B14F-4D97-AF65-F5344CB8AC3E}">
        <p14:creationId xmlns:p14="http://schemas.microsoft.com/office/powerpoint/2010/main" val="5185377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9A3159-CBB3-3C61-8422-7EE9B59E56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BF1971EE-F6C7-24D2-21B2-61E245F0BA1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2D0C8823-FEF5-A0BA-4A22-080C517FFEF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2F92026F-D464-8AE9-7C87-AFCC85EAEB7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0283F97C-BA2F-5159-E294-A0AA6B03E88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C0D0F8E0-EBC5-6D0F-2C9F-702C228A051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Bahnschrift" panose="020B0502040204020203" pitchFamily="34" charset="0"/>
            </a:endParaRPr>
          </a:p>
          <a:p>
            <a:pPr algn="ctr"/>
            <a:endParaRPr lang="en-US" sz="2400" b="1" dirty="0">
              <a:solidFill>
                <a:schemeClr val="bg1"/>
              </a:solidFill>
              <a:latin typeface="Bahnschrift" panose="020B0502040204020203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B19043E-AED5-2860-53FD-F4727CD7B9D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1C78BE6-ABEC-DD01-ECB4-7D770BAD3739}"/>
              </a:ext>
            </a:extLst>
          </p:cNvPr>
          <p:cNvSpPr txBox="1">
            <a:spLocks/>
          </p:cNvSpPr>
          <p:nvPr/>
        </p:nvSpPr>
        <p:spPr>
          <a:xfrm>
            <a:off x="3608505" y="2714625"/>
            <a:ext cx="6773745" cy="928688"/>
          </a:xfrm>
          <a:prstGeom prst="rect">
            <a:avLst/>
          </a:prstGeom>
        </p:spPr>
        <p:txBody>
          <a:bodyPr/>
          <a:lstStyle/>
          <a:p>
            <a:pPr algn="ctr">
              <a:defRPr/>
            </a:pPr>
            <a:r>
              <a:rPr lang="en-IN" sz="4800" b="1" spc="-1" dirty="0">
                <a:solidFill>
                  <a:schemeClr val="accent2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ookman Old Style" pitchFamily="18" charset="0"/>
                <a:cs typeface="+mn-cs"/>
              </a:rPr>
              <a:t>THANK YOU </a:t>
            </a:r>
            <a:endParaRPr lang="en-US" sz="4800" b="1" spc="-1" dirty="0">
              <a:solidFill>
                <a:schemeClr val="accent2">
                  <a:lumMod val="50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Bookman Old Style" pitchFamily="18" charset="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6792385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48F068A69C5F946BCF45B8E1BF19F48" ma:contentTypeVersion="4" ma:contentTypeDescription="Create a new document." ma:contentTypeScope="" ma:versionID="d028811f2e5c194da6cf54bac21acd73">
  <xsd:schema xmlns:xsd="http://www.w3.org/2001/XMLSchema" xmlns:xs="http://www.w3.org/2001/XMLSchema" xmlns:p="http://schemas.microsoft.com/office/2006/metadata/properties" xmlns:ns3="efe893c9-7f4d-46a6-ae12-0c302859942a" targetNamespace="http://schemas.microsoft.com/office/2006/metadata/properties" ma:root="true" ma:fieldsID="d97e4ec4ca92902fd2b7a707bd0db55b" ns3:_="">
    <xsd:import namespace="efe893c9-7f4d-46a6-ae12-0c302859942a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fe893c9-7f4d-46a6-ae12-0c302859942a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8232A9E9-8B35-410F-A929-7EB48CC25FAD}">
  <ds:schemaRefs>
    <ds:schemaRef ds:uri="http://www.w3.org/XML/1998/namespace"/>
    <ds:schemaRef ds:uri="http://schemas.microsoft.com/office/2006/documentManagement/types"/>
    <ds:schemaRef ds:uri="http://purl.org/dc/elements/1.1/"/>
    <ds:schemaRef ds:uri="http://schemas.microsoft.com/office/infopath/2007/PartnerControls"/>
    <ds:schemaRef ds:uri="efe893c9-7f4d-46a6-ae12-0c302859942a"/>
    <ds:schemaRef ds:uri="http://schemas.openxmlformats.org/package/2006/metadata/core-properties"/>
    <ds:schemaRef ds:uri="http://schemas.microsoft.com/office/2006/metadata/properties"/>
    <ds:schemaRef ds:uri="http://purl.org/dc/dcmitype/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5F0CB308-D1A7-4FBD-99AA-DA1E021719E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fe893c9-7f4d-46a6-ae12-0c302859942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702CD36D-7C44-4BA1-9562-C49E9CC764EF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2879</TotalTime>
  <Words>55</Words>
  <Application>Microsoft Office PowerPoint</Application>
  <PresentationFormat>Widescreen</PresentationFormat>
  <Paragraphs>24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6" baseType="lpstr">
      <vt:lpstr>Aptos</vt:lpstr>
      <vt:lpstr>Aptos Display</vt:lpstr>
      <vt:lpstr>Arial</vt:lpstr>
      <vt:lpstr>Bahnschrift</vt:lpstr>
      <vt:lpstr>Bookman Old Style</vt:lpstr>
      <vt:lpstr>Calibri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dss mlritm</dc:creator>
  <cp:lastModifiedBy>admin</cp:lastModifiedBy>
  <cp:revision>449</cp:revision>
  <dcterms:created xsi:type="dcterms:W3CDTF">2025-12-24T04:54:09Z</dcterms:created>
  <dcterms:modified xsi:type="dcterms:W3CDTF">2026-08-27T09:56:04Z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0x010100848F068A69C5F946BCF45B8E1BF19F48</vt:lpwstr>
  </property>
</Properties>
</file>