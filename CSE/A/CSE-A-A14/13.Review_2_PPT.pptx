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c3623e47-5b1a-7aef-5476-75bff30165c3}">
          <p14:sldIdLst>
            <p14:sldId id="256"/>
            <p14:sldId id="257"/>
            <p14:sldId id="258"/>
          </p14:sldIdLst>
        </p14:section>
        <p14:section name="Design" id="{ee3f979a-aefa-c88f-8568-1021737ba133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Progress" id="{cf39a97a-7fb0-4c7a-0650-0fb3a5c44815}">
          <p14:sldIdLst>
            <p14:sldId id="269"/>
            <p14:sldId id="270"/>
            <p14:sldId id="271"/>
            <p14:sldId id="272"/>
            <p14:sldId id="273"/>
            <p14:sldId id="274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EB6834"/>
            </a:solidFill>
          </c:spPr>
          <c:cat>
            <c:strRef>
              <c:f>Sheet1!$A$2:$A$6</c:f>
              <c:strCache>
                <c:ptCount val="5"/>
                <c:pt idx="0">
                  <c:v>LR</c:v>
                </c:pt>
                <c:pt idx="1">
                  <c:v>DT</c:v>
                </c:pt>
                <c:pt idx="2">
                  <c:v>RF</c:v>
                </c:pt>
                <c:pt idx="3">
                  <c:v>GB</c:v>
                </c:pt>
                <c:pt idx="4">
                  <c:v>HGB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0.6604</c:v>
                </c:pt>
                <c:pt idx="1">
                  <c:v>0.4717</c:v>
                </c:pt>
                <c:pt idx="2">
                  <c:v>0.566</c:v>
                </c:pt>
                <c:pt idx="3">
                  <c:v>0.283</c:v>
                </c:pt>
                <c:pt idx="4">
                  <c:v>0.1887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F1</c:v>
                </c:pt>
              </c:strCache>
            </c:strRef>
          </c:tx>
          <c:spPr>
            <a:solidFill>
              <a:srgbClr val="2A78D6"/>
            </a:solidFill>
          </c:spPr>
          <c:cat>
            <c:strRef>
              <c:f>Sheet1!$A$2:$A$6</c:f>
              <c:strCache>
                <c:ptCount val="5"/>
                <c:pt idx="0">
                  <c:v>LR</c:v>
                </c:pt>
                <c:pt idx="1">
                  <c:v>DT</c:v>
                </c:pt>
                <c:pt idx="2">
                  <c:v>RF</c:v>
                </c:pt>
                <c:pt idx="3">
                  <c:v>GB</c:v>
                </c:pt>
                <c:pt idx="4">
                  <c:v>HGB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0.4861</c:v>
                </c:pt>
                <c:pt idx="1">
                  <c:v>0.3937</c:v>
                </c:pt>
                <c:pt idx="2">
                  <c:v>0.4724</c:v>
                </c:pt>
                <c:pt idx="3">
                  <c:v>0.3704</c:v>
                </c:pt>
                <c:pt idx="4">
                  <c:v>0.2564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ROC-AUC</c:v>
                </c:pt>
              </c:strCache>
            </c:strRef>
          </c:tx>
          <c:spPr>
            <a:solidFill>
              <a:srgbClr val="1BAF7A"/>
            </a:solidFill>
          </c:spPr>
          <c:cat>
            <c:strRef>
              <c:f>Sheet1!$A$2:$A$6</c:f>
              <c:strCache>
                <c:ptCount val="5"/>
                <c:pt idx="0">
                  <c:v>LR</c:v>
                </c:pt>
                <c:pt idx="1">
                  <c:v>DT</c:v>
                </c:pt>
                <c:pt idx="2">
                  <c:v>RF</c:v>
                </c:pt>
                <c:pt idx="3">
                  <c:v>GB</c:v>
                </c:pt>
                <c:pt idx="4">
                  <c:v>HGB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0.7224</c:v>
                </c:pt>
                <c:pt idx="1">
                  <c:v>0.6081</c:v>
                </c:pt>
                <c:pt idx="2">
                  <c:v>0.7111</c:v>
                </c:pt>
                <c:pt idx="3">
                  <c:v>0.697</c:v>
                </c:pt>
                <c:pt idx="4">
                  <c:v>0.6855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5DCE6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 val="0"/>
        <c:axPos val="l"/>
        <c:majorGridlines>
          <c:spPr>
            <a:ln>
              <a:solidFill>
                <a:srgbClr val="D5DCE6"/>
              </a:solidFill>
            </a:ln>
          </c:spPr>
        </c:majorGridlines>
        <c:numFmt formatCode="0.00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review shows how the system is designed and built: data, model, what is implemented, the first measured results and the open items.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Agenda for the design and progress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One-minute recap of Review 1. We deliver the application and measure it honestly; the base paper is a research framework on the real Telco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Four tiers. The FastAPI layer imports the src/ modules, so no model code was rewritten for the web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workflow is exactly what the Model Training page runs. Leakage is avoided by fitting every transformer on the training split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Be explicit that the data are synthetic, generated with the Telco schema. The base paper uses the real 7,043-row Telco data; the two are not comparable.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Preprocessing is one scikit-learn ColumnTransformer, fitted on the training split. The figure is the exploratory view the Explore page shows.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Five scikit-learn models behind one registry. Selecting the model on F1 is the default; recall, precision, accuracy and ROC-AUC can be chosen instead.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These are the defaults of the Model Training page. The measured run uses exactly these settings.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rule engine is a set of heuristics written by the team; its business effect has not been measured.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Level-1 data flow: six processes. Level 0 and level 2 are in the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State plainly that there is no database. The logical model shows the entities the code handles; the UML draws modules as classes.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Everything is open source and runs on one machine; run.bat starts the stack.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State of the code base. The gaps are SHAP (present but unexercised) and the base paper's own explainer.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First measured numbers: Logistic Regression F1 0.486, ROC-AUC 0.722, recall 0.660, precision 0.385. Random Forest is within noise (F1 0.472). Gradient boosting has the highest accuracy (0.745) but a recall of only 0.283, which is why selection is on F1.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Real screenshots from the running ChurnIQ application with 1,000 sample customers and three trained models.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tests run offline with the real code. The observations drove three changes. No load test, penetration test or user study has been done.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Each challenge was met with a concrete change in code or in how results are reported.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Plan to the final review. The extensions at the right are out of scope for this submission.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Likely questions: why synthetic data; why Logistic Regression is best here; why no SHAP numbers; why no database.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11094415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8036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Prediction in Telecom Industry  ·  Review 2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94560"/>
            <a:ext cx="11094415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474720"/>
            <a:ext cx="11094415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F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Relationship Id="rId4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6.xml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Churn Prediction in Telecom Industry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803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Design, methodology and progress: five classifiers compared, risk bands, drivers and retention actions in a web application</a:t>
            </a:r>
            <a:endParaRPr lang="en-US" sz="2000" dirty="0"/>
          </a:p>
        </p:txBody>
      </p:sp>
      <p:sp>
        <p:nvSpPr>
          <p:cNvPr id="4" name="review label"/>
          <p:cNvSpPr txBox="1"/>
          <p:nvPr/>
        </p:nvSpPr>
        <p:spPr>
          <a:xfrm>
            <a:off x="54864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DA100"/>
                </a:solidFill>
              </a:rPr>
              <a:t>REVIEW 2  ·  DESIGN, METHODOLOGY AND PROGRESS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1605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Presented by</a:t>
            </a:r>
            <a:endParaRPr lang="en-US" sz="1400" dirty="0"/>
          </a:p>
        </p:txBody>
      </p:sp>
      <p:sp>
        <p:nvSpPr>
          <p:cNvPr id="6" name="team"/>
          <p:cNvSpPr txBox="1"/>
          <p:nvPr/>
        </p:nvSpPr>
        <p:spPr>
          <a:xfrm>
            <a:off x="548640" y="448056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ANANTULA SAI NIKHILA SRAVANI  23K91A0512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AVULA ANUDEEP  23K91A0518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B SANDEEP  24K915A0503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DARAGANI VINOD KUMAR  23K91A0558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0" y="41605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Under the guidance of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0" y="44805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B. SRIKANTH, Assistant Professor, Department of CSE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498348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Department of Computer Science and Engineering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TKR College of Engineering and Technology (Autonomous)  ·  Batch A14 (CSE-A)  ·  [ACADEMIC YEAR]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4173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77240" y="15453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EB6834"/>
                </a:solidFill>
                <a:latin typeface="Cambria"/>
                <a:ea typeface="Cambria"/>
                <a:cs typeface="Cambria"/>
              </a:rPr>
              <a:t>01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2075688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Recap and architecture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34255" y="14173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4562855" y="15453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2A78D6"/>
                </a:solidFill>
                <a:latin typeface="Cambria"/>
                <a:ea typeface="Cambria"/>
                <a:cs typeface="Cambria"/>
              </a:rPr>
              <a:t>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62855" y="2075688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Methodology and dataset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19871" y="14173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8348471" y="15453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BAF7A"/>
                </a:solidFill>
                <a:latin typeface="Cambria"/>
                <a:ea typeface="Cambria"/>
                <a:cs typeface="Cambria"/>
              </a:rPr>
              <a:t>03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48471" y="2075688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Preprocessing and models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30175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777240" y="31455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6B52D6"/>
                </a:solidFill>
                <a:latin typeface="Cambria"/>
                <a:ea typeface="Cambria"/>
                <a:cs typeface="Cambria"/>
              </a:rPr>
              <a:t>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3675887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Training and decision logic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334255" y="30175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4562855" y="31455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EB6834"/>
                </a:solidFill>
                <a:latin typeface="Cambria"/>
                <a:ea typeface="Cambria"/>
                <a:cs typeface="Cambria"/>
              </a:rPr>
              <a:t>05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62855" y="3675887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Data flow, data model and UML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119871" y="30175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8348471" y="31455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2A78D6"/>
                </a:solidFill>
                <a:latin typeface="Cambria"/>
                <a:ea typeface="Cambria"/>
                <a:cs typeface="Cambria"/>
              </a:rPr>
              <a:t>06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48471" y="3675887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Technology stack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8640" y="46177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777240" y="47457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BAF7A"/>
                </a:solidFill>
                <a:latin typeface="Cambria"/>
                <a:ea typeface="Cambria"/>
                <a:cs typeface="Cambria"/>
              </a:rPr>
              <a:t>07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7240" y="5276088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Implementation progress and results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334255" y="46177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4562855" y="47457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6B52D6"/>
                </a:solidFill>
                <a:latin typeface="Cambria"/>
                <a:ea typeface="Cambria"/>
                <a:cs typeface="Cambria"/>
              </a:rPr>
              <a:t>08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62855" y="5276088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Output screens and testing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119871" y="46177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8348471" y="47457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EB6834"/>
                </a:solidFill>
                <a:latin typeface="Cambria"/>
                <a:ea typeface="Cambria"/>
                <a:cs typeface="Cambria"/>
              </a:rPr>
              <a:t>09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48471" y="5276088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Challenges and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Recap: problem and proposed system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371600"/>
            <a:ext cx="3520440" cy="420624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749808" y="1554480"/>
            <a:ext cx="502920" cy="502920"/>
          </a:xfrm>
          <a:prstGeom prst="ellipse">
            <a:avLst/>
          </a:prstGeom>
          <a:solidFill>
            <a:srgbClr val="EB6834"/>
          </a:solidFill>
          <a:ln w="952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89888" y="152704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Problem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2240280"/>
            <a:ext cx="3118104" cy="3200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475569"/>
                </a:solidFill>
              </a:rPr>
              <a:t>Churn is noticed after the customer has gone, offers are uniform, scores come without reasons and imbalanced data hides the churn class.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34255" y="1371600"/>
            <a:ext cx="3520440" cy="420624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4535423" y="1554480"/>
            <a:ext cx="502920" cy="502920"/>
          </a:xfrm>
          <a:prstGeom prst="ellipse">
            <a:avLst/>
          </a:prstGeom>
          <a:solidFill>
            <a:srgbClr val="2A78D6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75503" y="152704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Proposed system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35423" y="2240280"/>
            <a:ext cx="3118104" cy="3200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475569"/>
                </a:solidFill>
              </a:rPr>
              <a:t>Clean and encode the data, compare five classifiers, pick the best on F1, then show risk bands, drivers, what-if and rule-based retention actions.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19871" y="1371600"/>
            <a:ext cx="3520440" cy="420624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8321040" y="1554480"/>
            <a:ext cx="502920" cy="502920"/>
          </a:xfrm>
          <a:prstGeom prst="ellipse">
            <a:avLst/>
          </a:prstGeom>
          <a:solidFill>
            <a:srgbClr val="1BAF7A"/>
          </a:solidFill>
          <a:ln w="9525">
            <a:solidFill>
              <a:srgbClr val="1B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1119" y="152704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Base paper link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2240280"/>
            <a:ext cx="3118104" cy="3200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475569"/>
                </a:solidFill>
              </a:rPr>
              <a:t>Takes the motivation (explain churn, tie it to retention) from the base paper; does not reproduce its perturbation explainer, LIME or XGBoost/LightGBM/CatBoost models.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  <p:pic>
        <p:nvPicPr>
          <p:cNvPr id="26" name="Picture 25" descr="01_system_architectur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3778" y="1188720"/>
            <a:ext cx="5964762" cy="50292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858000" y="1371600"/>
            <a:ext cx="475488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800"/>
              </a:spcAft>
              <a:buChar char="•"/>
            </a:pPr>
            <a:r>
              <a:rPr sz="1600" b="1" i="0">
                <a:solidFill>
                  <a:srgbClr val="0F172A"/>
                </a:solidFill>
              </a:rPr>
              <a:t>Presentation:</a:t>
            </a:r>
            <a:r>
              <a:rPr sz="1600" b="0" i="0">
                <a:solidFill>
                  <a:srgbClr val="0F172A"/>
                </a:solidFill>
              </a:rPr>
              <a:t> React 19 + Vite SPA "ChurnIQ" (port 5314) and the original Streamlit app.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600" b="1" i="0">
                <a:solidFill>
                  <a:srgbClr val="0F172A"/>
                </a:solidFill>
              </a:rPr>
              <a:t>Application:</a:t>
            </a:r>
            <a:r>
              <a:rPr sz="1600" b="0" i="0">
                <a:solidFill>
                  <a:srgbClr val="0F172A"/>
                </a:solidFill>
              </a:rPr>
              <a:t> FastAPI (port 8314): 31 route handlers, HMAC-signed bearer token, in-memory AppState.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600" b="1" i="0">
                <a:solidFill>
                  <a:srgbClr val="0F172A"/>
                </a:solidFill>
              </a:rPr>
              <a:t>Core:</a:t>
            </a:r>
            <a:r>
              <a:rPr sz="1600" b="0" i="0">
                <a:solidFill>
                  <a:srgbClr val="0F172A"/>
                </a:solidFill>
              </a:rPr>
              <a:t> 12 pure-Python modules in src/, shared by both front ends and untouched by the API layer.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600" b="1" i="0">
                <a:solidFill>
                  <a:srgbClr val="0F172A"/>
                </a:solidFill>
              </a:rPr>
              <a:t>Data and state:</a:t>
            </a:r>
            <a:r>
              <a:rPr sz="1600" b="0" i="0">
                <a:solidFill>
                  <a:srgbClr val="0F172A"/>
                </a:solidFill>
              </a:rPr>
              <a:t> CSV, joblib model files, session state in memory. No SQL database.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Methodology: end-to-end workflow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371600"/>
            <a:ext cx="1412094" cy="1234440"/>
          </a:xfrm>
          <a:prstGeom prst="roundRect">
            <a:avLst>
              <a:gd name="adj" fmla="val 8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00" b="1">
                <a:solidFill>
                  <a:srgbClr val="FFFFFF"/>
                </a:solidFill>
              </a:rPr>
              <a:t>Load CSV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1960734" y="186994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161902" y="1371600"/>
            <a:ext cx="1412094" cy="1234440"/>
          </a:xfrm>
          <a:prstGeom prst="roundRect">
            <a:avLst>
              <a:gd name="adj" fmla="val 8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00" b="1">
                <a:solidFill>
                  <a:srgbClr val="FFFFFF"/>
                </a:solidFill>
              </a:rPr>
              <a:t>Profile + clean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3573997" y="186994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775165" y="1371600"/>
            <a:ext cx="1412094" cy="1234440"/>
          </a:xfrm>
          <a:prstGeom prst="roundRect">
            <a:avLst>
              <a:gd name="adj" fmla="val 8000"/>
            </a:avLst>
          </a:prstGeom>
          <a:solidFill>
            <a:srgbClr val="6B5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00" b="1">
                <a:solidFill>
                  <a:srgbClr val="FFFFFF"/>
                </a:solidFill>
              </a:rPr>
              <a:t>Split 80/20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5187260" y="186994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388428" y="1371600"/>
            <a:ext cx="1412094" cy="1234440"/>
          </a:xfrm>
          <a:prstGeom prst="roundRect">
            <a:avLst>
              <a:gd name="adj" fmla="val 8000"/>
            </a:avLst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00" b="1">
                <a:solidFill>
                  <a:srgbClr val="FFFFFF"/>
                </a:solidFill>
              </a:rPr>
              <a:t>Fit preprocessor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6800523" y="186994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001691" y="1371600"/>
            <a:ext cx="1412094" cy="1234440"/>
          </a:xfrm>
          <a:prstGeom prst="roundRect">
            <a:avLst>
              <a:gd name="adj" fmla="val 8000"/>
            </a:avLst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00" b="1">
                <a:solidFill>
                  <a:srgbClr val="FFFFFF"/>
                </a:solidFill>
              </a:rPr>
              <a:t>Balance + train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8413786" y="186994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614954" y="1371600"/>
            <a:ext cx="1412094" cy="1234440"/>
          </a:xfrm>
          <a:prstGeom prst="roundRect">
            <a:avLst>
              <a:gd name="adj" fmla="val 80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00" b="1">
                <a:solidFill>
                  <a:srgbClr val="FFFFFF"/>
                </a:solidFill>
              </a:rPr>
              <a:t>Evaluate + select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10027049" y="186994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10228217" y="1371600"/>
            <a:ext cx="1412094" cy="1234440"/>
          </a:xfrm>
          <a:prstGeom prst="roundRect">
            <a:avLst>
              <a:gd name="adj" fmla="val 8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00" b="1">
                <a:solidFill>
                  <a:srgbClr val="FFFFFF"/>
                </a:solidFill>
              </a:rPr>
              <a:t>Save + score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3017520"/>
            <a:ext cx="3520440" cy="29260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777240" y="315468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 i="0">
                <a:solidFill>
                  <a:srgbClr val="0F172A"/>
                </a:solidFill>
              </a:rPr>
              <a:t>No leakage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" y="3703320"/>
            <a:ext cx="310896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475569"/>
                </a:solidFill>
              </a:rPr>
              <a:t>Imputer, scaler and encoder are fitted on the training split only; SMOTE touches only the transformed training split.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334255" y="3017520"/>
            <a:ext cx="3520440" cy="29260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4562855" y="315468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 i="0">
                <a:solidFill>
                  <a:srgbClr val="0F172A"/>
                </a:solidFill>
              </a:rPr>
              <a:t>Selection on F1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62855" y="3703320"/>
            <a:ext cx="310896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475569"/>
                </a:solidFill>
              </a:rPr>
              <a:t>The best model is chosen on F1 by default, never on accuracy alone; the metric is user-selectable.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119871" y="3017520"/>
            <a:ext cx="3520440" cy="29260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8348471" y="315468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 i="0">
                <a:solidFill>
                  <a:srgbClr val="0F172A"/>
                </a:solidFill>
              </a:rPr>
              <a:t>Reproducible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48471" y="3703320"/>
            <a:ext cx="310896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475569"/>
                </a:solidFill>
              </a:rPr>
              <a:t>Seed 42; one script writes every metric to JSON; the same functions serve the app and the experiments.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325880"/>
            <a:ext cx="2633472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48640" y="1325880"/>
            <a:ext cx="73152" cy="1143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49808" y="1417320"/>
            <a:ext cx="2359152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0F172A"/>
                </a:solidFill>
              </a:rPr>
              <a:t>1,000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1988819"/>
            <a:ext cx="2359152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customers, 21 columns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64992" y="1325880"/>
            <a:ext cx="2633472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3364992" y="1325880"/>
            <a:ext cx="73152" cy="114300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3566160" y="1417320"/>
            <a:ext cx="2359152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0F172A"/>
                </a:solidFill>
              </a:rPr>
              <a:t>19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0" y="1988819"/>
            <a:ext cx="2359152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features: 4 numeric, 15 categorical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81344" y="1325880"/>
            <a:ext cx="2633472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6181344" y="1325880"/>
            <a:ext cx="73152" cy="11430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382512" y="1417320"/>
            <a:ext cx="2359152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0F172A"/>
                </a:solidFill>
              </a:rPr>
              <a:t>26.4%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82512" y="1988819"/>
            <a:ext cx="2359152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churn rate (264 churned, 736 retained)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997696" y="1325880"/>
            <a:ext cx="2633472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8997696" y="1325880"/>
            <a:ext cx="73152" cy="1143000"/>
          </a:xfrm>
          <a:prstGeom prst="rect">
            <a:avLst/>
          </a:prstGeom>
          <a:solidFill>
            <a:srgbClr val="6B5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9198864" y="1417320"/>
            <a:ext cx="2359152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0F172A"/>
                </a:solidFill>
              </a:rPr>
              <a:t>Synthetic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98864" y="1988819"/>
            <a:ext cx="2359152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generated by src/sample_data.py, seed 42</a:t>
            </a:r>
          </a:p>
        </p:txBody>
      </p:sp>
      <p:pic>
        <p:nvPicPr>
          <p:cNvPr id="42" name="Picture 41" descr="class_balanc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00083"/>
            <a:ext cx="4937759" cy="3560953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5760720" y="2743200"/>
            <a:ext cx="5852160" cy="3566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800"/>
              </a:spcAft>
              <a:buChar char="•"/>
            </a:pPr>
            <a:r>
              <a:rPr sz="1500" b="0" i="0">
                <a:solidFill>
                  <a:srgbClr val="0F172A"/>
                </a:solidFill>
              </a:rPr>
              <a:t>Same column schema as the public Telco data (customerID, tenure, Contract, MonthlyCharges, Churn ...), but the rows are </a:t>
            </a:r>
            <a:r>
              <a:rPr sz="1500" b="1" i="0">
                <a:solidFill>
                  <a:srgbClr val="0F172A"/>
                </a:solidFill>
              </a:rPr>
              <a:t>generated</a:t>
            </a:r>
            <a:r>
              <a:rPr sz="1500" b="0" i="0">
                <a:solidFill>
                  <a:srgbClr val="0F172A"/>
                </a:solidFill>
              </a:rPr>
              <a:t>: churn comes from a latent logistic score plus noise.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500" b="0" i="0">
                <a:solidFill>
                  <a:srgbClr val="0F172A"/>
                </a:solidFill>
              </a:rPr>
              <a:t>No real operator data were available, so no claim is made about real-world accuracy.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500" b="0" i="0">
                <a:solidFill>
                  <a:srgbClr val="0F172A"/>
                </a:solidFill>
              </a:rPr>
              <a:t>Stratified 80/20 split: 800 training and 200 test rows, </a:t>
            </a:r>
            <a:r>
              <a:rPr sz="1500" b="1" i="0">
                <a:solidFill>
                  <a:srgbClr val="0F172A"/>
                </a:solidFill>
              </a:rPr>
              <a:t>53 churners in the test set</a:t>
            </a:r>
            <a:r>
              <a:rPr sz="1500" b="0" i="0">
                <a:solidFill>
                  <a:srgbClr val="0F172A"/>
                </a:solidFill>
              </a:rPr>
              <a:t>; 0 duplicates, 0 missing cells.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preprocessing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548640" y="1325880"/>
          <a:ext cx="6309360" cy="438912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371600"/>
                <a:gridCol w="4937760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Step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What the code does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F172A"/>
                          </a:solidFill>
                        </a:rPr>
                        <a:t>Detect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target (Churn) and ID (customerID) columns; blank TotalCharges coerced to numbers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F172A"/>
                          </a:solidFill>
                        </a:rPr>
                        <a:t>Clean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drop exact duplicates; report missing cells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F172A"/>
                          </a:solidFill>
                        </a:rPr>
                        <a:t>Numeric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median imputation, then StandardScaler (4 columns)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F172A"/>
                          </a:solidFill>
                        </a:rPr>
                        <a:t>Categorical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most-frequent imputation, then OneHotEncoder(handle_unknown=ignore): 15 columns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F172A"/>
                          </a:solidFill>
                        </a:rPr>
                        <a:t>Result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45 model inputs; unseen categories at scoring time are ignored, not fatal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27" name="Picture 26" descr="churn_by_seg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324955"/>
            <a:ext cx="4572000" cy="3019369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132320" y="4526280"/>
            <a:ext cx="45720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1">
                <a:solidFill>
                  <a:srgbClr val="475569"/>
                </a:solidFill>
              </a:rPr>
              <a:t>Churn rate by contract, tenure, internet service and payment method (all 1,000 rows): month-to-month 34.1% against 12.5% on a two-year contract.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Models compared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548640" y="1371600"/>
          <a:ext cx="11091672" cy="362102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566160"/>
                <a:gridCol w="4754880"/>
                <a:gridCol w="2770632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Settings (from src/train_models.py)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Imbalance handling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0F172A"/>
                          </a:solidFill>
                        </a:rPr>
                        <a:t>Logistic Regression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max_iter 2000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class_weight balanced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0F172A"/>
                          </a:solidFill>
                        </a:rPr>
                        <a:t>Decision Tree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max_depth 8, min_samples_leaf 10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class_weight balanced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0F172A"/>
                          </a:solidFill>
                        </a:rPr>
                        <a:t>Random Forest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300 trees, max_depth 12, min_samples_leaf 5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class_weight balanced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0F172A"/>
                          </a:solidFill>
                        </a:rPr>
                        <a:t>Gradient Boosting (optional)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200 trees, depth 3, learning rate 0.08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no class_weight option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0F172A"/>
                          </a:solidFill>
                        </a:rPr>
                        <a:t>Hist Gradient Boosting (optional)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max_depth 6, learning rate 0.08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no class_weight option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548640" y="5212080"/>
            <a:ext cx="1109167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1">
                <a:solidFill>
                  <a:srgbClr val="475569"/>
                </a:solidFill>
              </a:rPr>
              <a:t>Logistic Regression, Decision Tree and Random Forest are the required three. The two boosted models are optional; because they take no class_weight, "class weights" does not rebalance them, and the app says so.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configuration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548640" y="1371600"/>
          <a:ext cx="11091672" cy="44805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743200"/>
                <a:gridCol w="8348472"/>
              </a:tblGrid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Setting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0F172A"/>
                          </a:solidFill>
                        </a:rPr>
                        <a:t>Split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0F172A"/>
                          </a:solidFill>
                        </a:rPr>
                        <a:t>stratified, test size 20% (adjustable 10-40%), random_state 42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0F172A"/>
                          </a:solidFill>
                        </a:rPr>
                        <a:t>Imbalance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0F172A"/>
                          </a:solidFill>
                        </a:rPr>
                        <a:t>class_weight=balanced (default) | SMOTE on the training split only | none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0F172A"/>
                          </a:solidFill>
                        </a:rPr>
                        <a:t>Selection metric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0F172A"/>
                          </a:solidFill>
                        </a:rPr>
                        <a:t>F1-score (default); accuracy, precision, recall, ROC-AUC selectable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0F172A"/>
                          </a:solidFill>
                        </a:rPr>
                        <a:t>Risk bands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0F172A"/>
                          </a:solidFill>
                        </a:rPr>
                        <a:t>Low &lt; 30, Medium 30-60, High 60-80, Critical &gt;= 80; editable, validated on the server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0F172A"/>
                          </a:solidFill>
                        </a:rPr>
                        <a:t>Batch cut-off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0F172A"/>
                          </a:solidFill>
                        </a:rPr>
                        <a:t>predicted churn when probability &gt;= 50%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0F172A"/>
                          </a:solidFill>
                        </a:rPr>
                        <a:t>Hardware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0F172A"/>
                          </a:solidFill>
                        </a:rPr>
                        <a:t>Intel Core i5-12500, CPU only; all five models train in 2.96 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logic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  <p:pic>
        <p:nvPicPr>
          <p:cNvPr id="26" name="Picture 25" descr="10_core_algorithm_flowchar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5162" y="1188720"/>
            <a:ext cx="3715994" cy="512064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4572000" y="1371600"/>
            <a:ext cx="7040880" cy="4846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1000"/>
              </a:spcAft>
              <a:buChar char="•"/>
            </a:pPr>
            <a:r>
              <a:rPr sz="1600" b="1" i="0">
                <a:solidFill>
                  <a:srgbClr val="0F172A"/>
                </a:solidFill>
              </a:rPr>
              <a:t>Validate.</a:t>
            </a:r>
            <a:r>
              <a:rPr sz="1600" b="0" i="0">
                <a:solidFill>
                  <a:srgbClr val="0F172A"/>
                </a:solidFill>
              </a:rPr>
              <a:t> Two classes, enough rows and a target column; otherwise HTTP 422 and nothing is trained.</a:t>
            </a:r>
          </a:p>
          <a:p>
            <a:pPr algn="l" marL="256032" indent="-201168">
              <a:spcAft>
                <a:spcPts val="1000"/>
              </a:spcAft>
              <a:buChar char="•"/>
            </a:pPr>
            <a:r>
              <a:rPr sz="1600" b="1" i="0">
                <a:solidFill>
                  <a:srgbClr val="0F172A"/>
                </a:solidFill>
              </a:rPr>
              <a:t>Decide.</a:t>
            </a:r>
            <a:r>
              <a:rPr sz="1600" b="0" i="0">
                <a:solidFill>
                  <a:srgbClr val="0F172A"/>
                </a:solidFill>
              </a:rPr>
              <a:t> Probability = predict_proba x 100; the band follows the editable 30 / 60 / 80 thresholds.</a:t>
            </a:r>
          </a:p>
          <a:p>
            <a:pPr algn="l" marL="256032" indent="-201168">
              <a:spcAft>
                <a:spcPts val="1000"/>
              </a:spcAft>
              <a:buChar char="•"/>
            </a:pPr>
            <a:r>
              <a:rPr sz="1600" b="1" i="0">
                <a:solidFill>
                  <a:srgbClr val="0F172A"/>
                </a:solidFill>
              </a:rPr>
              <a:t>Explain.</a:t>
            </a:r>
            <a:r>
              <a:rPr sz="1600" b="0" i="0">
                <a:solidFill>
                  <a:srgbClr val="0F172A"/>
                </a:solidFill>
              </a:rPr>
              <a:t> Local: coefficient x value (top 5 up, top 5 down). Global: built-in and permutation importance. SHAP is optional and not installed here.</a:t>
            </a:r>
          </a:p>
          <a:p>
            <a:pPr algn="l" marL="256032" indent="-201168">
              <a:spcAft>
                <a:spcPts val="1000"/>
              </a:spcAft>
              <a:buChar char="•"/>
            </a:pPr>
            <a:r>
              <a:rPr sz="1600" b="1" i="0">
                <a:solidFill>
                  <a:srgbClr val="0F172A"/>
                </a:solidFill>
              </a:rPr>
              <a:t>Act.</a:t>
            </a:r>
            <a:r>
              <a:rPr sz="1600" b="0" i="0">
                <a:solidFill>
                  <a:srgbClr val="0F172A"/>
                </a:solidFill>
              </a:rPr>
              <a:t> Ten IF/THEN rules (contract, tech support, security, charges, e-check, tenure, fibre ...) fire at probability &gt;= 60 or Critical band; two fallbacks cover lower risk.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600" b="1" i="0">
                <a:solidFill>
                  <a:srgbClr val="0F172A"/>
                </a:solidFill>
              </a:rPr>
              <a:t>Caution.</a:t>
            </a:r>
            <a:r>
              <a:rPr sz="1600" b="0" i="0">
                <a:solidFill>
                  <a:srgbClr val="0F172A"/>
                </a:solidFill>
              </a:rPr>
              <a:t> Scores are rankings, not calibrated probabilities.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flow and modules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  <p:pic>
        <p:nvPicPr>
          <p:cNvPr id="26" name="Picture 25" descr="04_dfd_level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271" y="1188720"/>
            <a:ext cx="5344016" cy="5029200"/>
          </a:xfrm>
          <a:prstGeom prst="rect">
            <a:avLst/>
          </a:prstGeom>
        </p:spPr>
      </p:pic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6492240" y="1280160"/>
          <a:ext cx="5148072" cy="438912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468880"/>
                <a:gridCol w="2679192"/>
              </a:tblGrid>
              <a:tr h="54864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Module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Role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data_loader, eda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profile, target / ID, EDA charts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preprocessing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clean, ColumnTransformer, split, SMOTE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train_models, evaluation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registry, metrics, best model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explainability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importance, local drivers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risk_segmentation, prediction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bands, scores, batch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retention_engine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10 rules + 2 fallbacks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persistence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joblib save / load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model and UML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  <p:pic>
        <p:nvPicPr>
          <p:cNvPr id="26" name="Picture 25" descr="09_er_diagram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9135" y="1234440"/>
            <a:ext cx="4662529" cy="4480560"/>
          </a:xfrm>
          <a:prstGeom prst="rect">
            <a:avLst/>
          </a:prstGeom>
        </p:spPr>
      </p:pic>
      <p:pic>
        <p:nvPicPr>
          <p:cNvPr id="27" name="Picture 26" descr="06_uml_class_diagr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5010" y="1234440"/>
            <a:ext cx="3529339" cy="448056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48640" y="5806440"/>
            <a:ext cx="1109167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 i="1">
                <a:solidFill>
                  <a:srgbClr val="475569"/>
                </a:solidFill>
              </a:rPr>
              <a:t>There is no SQL database: the ER diagram is the logical data model (CSV, joblib files, in-memory state). The code is function-oriented, so the UML draws modules as classes (full-size diagrams are in the report).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548640" y="1371600"/>
          <a:ext cx="11091672" cy="475488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560320"/>
                <a:gridCol w="8531352"/>
              </a:tblGrid>
              <a:tr h="594360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Layer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Technology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F172A"/>
                          </a:solidFill>
                        </a:rPr>
                        <a:t>Machine learning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scikit-learn 1.9.1, imbalanced-learn (SMOTE), pandas 3.0.6, numpy 2.4.6, joblib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F172A"/>
                          </a:solidFill>
                        </a:rPr>
                        <a:t>Explainability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built-in importance, permutation importance, coefficient x value; SHAP optional (not installed)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F172A"/>
                          </a:solidFill>
                        </a:rPr>
                        <a:t>API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FastAPI 0.143.3, uvicorn; HMAC-SHA256 bearer token (standard library)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F172A"/>
                          </a:solidFill>
                        </a:rPr>
                        <a:t>Original UI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Streamlit app (13 pages) over the same core, port 8501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F172A"/>
                          </a:solidFill>
                        </a:rPr>
                        <a:t>Front end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React 19, Vite 8, React Router, Recharts, Framer Motion (kit V4)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F172A"/>
                          </a:solidFill>
                        </a:rPr>
                        <a:t>Testing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pytest (44 tests), a 63-check API smoke test, Playwright for screenshots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F172A"/>
                          </a:solidFill>
                        </a:rPr>
                        <a:t>Run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run.bat creates the virtual environment and starts ports 8314 / 5314 (Python 3.11.9, Windows)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progress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548640" y="1371600"/>
          <a:ext cx="11091672" cy="453542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4754880"/>
                <a:gridCol w="1737360"/>
                <a:gridCol w="4599432"/>
              </a:tblGrid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Component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Evidence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Data load, profile, EDA, preprocessing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Done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src/, 44 pytest tests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Five-model training, evaluation, selection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Done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scripts/run_experiments.py, metrics.json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Risk bands, Customer 360, what-if, retention rules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Done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smoke test, 16 screenshots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Batch scoring and drift monitoring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Done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smoke test (63 checks)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FastAPI layer and React interface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Done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31 routes, 16 page components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SHAP explanations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Code path only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shap not installed: fallbacks used, SHAP unmeasured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LIME, perturbation explainer, boosted libraries, database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Not implemented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out of scope; listed as limits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Preliminary results: 200-row test split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325880"/>
            <a:ext cx="2633472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48640" y="1325880"/>
            <a:ext cx="73152" cy="1143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49808" y="1417320"/>
            <a:ext cx="2359152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0F172A"/>
                </a:solidFill>
              </a:rPr>
              <a:t>0.486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1988819"/>
            <a:ext cx="2359152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F1, Logistic Regression (best)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64992" y="1325880"/>
            <a:ext cx="2633472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3364992" y="1325880"/>
            <a:ext cx="73152" cy="114300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3566160" y="1417320"/>
            <a:ext cx="2359152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0F172A"/>
                </a:solidFill>
              </a:rPr>
              <a:t>0.722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0" y="1988819"/>
            <a:ext cx="2359152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ROC-AUC, Logistic Regression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81344" y="1325880"/>
            <a:ext cx="2633472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6181344" y="1325880"/>
            <a:ext cx="73152" cy="11430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382512" y="1417320"/>
            <a:ext cx="2359152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0F172A"/>
                </a:solidFill>
              </a:rPr>
              <a:t>0.660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82512" y="1988819"/>
            <a:ext cx="2359152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recall: 35 of 53 churners found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997696" y="1325880"/>
            <a:ext cx="2633472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8997696" y="1325880"/>
            <a:ext cx="73152" cy="1143000"/>
          </a:xfrm>
          <a:prstGeom prst="rect">
            <a:avLst/>
          </a:prstGeom>
          <a:solidFill>
            <a:srgbClr val="6B5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9198864" y="1417320"/>
            <a:ext cx="2359152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0F172A"/>
                </a:solidFill>
              </a:rPr>
              <a:t>0.385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98864" y="1988819"/>
            <a:ext cx="2359152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precision (56 false alarms)</a:t>
            </a:r>
          </a:p>
        </p:txBody>
      </p:sp>
      <p:graphicFrame>
        <p:nvGraphicFramePr>
          <p:cNvPr id="42" name="Chart 41"/>
          <p:cNvGraphicFramePr>
            <a:graphicFrameLocks noGrp="1"/>
          </p:cNvGraphicFramePr>
          <p:nvPr/>
        </p:nvGraphicFramePr>
        <p:xfrm>
          <a:off x="548640" y="2651760"/>
          <a:ext cx="6949440" cy="3611880"/>
        </p:xfrm>
        <a:graphic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3" name="Rounded Rectangle 42"/>
          <p:cNvSpPr/>
          <p:nvPr/>
        </p:nvSpPr>
        <p:spPr>
          <a:xfrm>
            <a:off x="7772400" y="2697480"/>
            <a:ext cx="3867912" cy="3429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Oval 43"/>
          <p:cNvSpPr/>
          <p:nvPr/>
        </p:nvSpPr>
        <p:spPr>
          <a:xfrm>
            <a:off x="7973568" y="2880360"/>
            <a:ext cx="502920" cy="502920"/>
          </a:xfrm>
          <a:prstGeom prst="ellipse">
            <a:avLst/>
          </a:prstGeom>
          <a:solidFill>
            <a:srgbClr val="2A78D6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13648" y="2852928"/>
            <a:ext cx="286207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Reading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973568" y="3566160"/>
            <a:ext cx="3465576" cy="2423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475569"/>
                </a:solidFill>
              </a:rPr>
              <a:t>80/20 split, seed 42, class weights; 53 churners in the test set, so results move by 0.03-0.10 between splits (see stability). ROC-AUC about 0.72 is moderate, and the data are synthetic.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 screens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  <p:pic>
        <p:nvPicPr>
          <p:cNvPr id="26" name="Picture 25" descr="04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" y="1188720"/>
            <a:ext cx="3584448" cy="2240280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sp>
        <p:nvSpPr>
          <p:cNvPr id="27" name="TextBox 26"/>
          <p:cNvSpPr txBox="1"/>
          <p:nvPr/>
        </p:nvSpPr>
        <p:spPr>
          <a:xfrm>
            <a:off x="548640" y="3456432"/>
            <a:ext cx="3611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Dashboard</a:t>
            </a:r>
          </a:p>
        </p:txBody>
      </p:sp>
      <p:pic>
        <p:nvPicPr>
          <p:cNvPr id="28" name="Picture 27" descr="09_ris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47971" y="1188720"/>
            <a:ext cx="3584448" cy="2240280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sp>
        <p:nvSpPr>
          <p:cNvPr id="29" name="TextBox 28"/>
          <p:cNvSpPr txBox="1"/>
          <p:nvPr/>
        </p:nvSpPr>
        <p:spPr>
          <a:xfrm>
            <a:off x="4334255" y="3456432"/>
            <a:ext cx="3611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Customer risk</a:t>
            </a:r>
          </a:p>
        </p:txBody>
      </p:sp>
      <p:pic>
        <p:nvPicPr>
          <p:cNvPr id="30" name="Picture 29" descr="10_customer36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3588" y="1188720"/>
            <a:ext cx="3584448" cy="2240280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sp>
        <p:nvSpPr>
          <p:cNvPr id="31" name="TextBox 30"/>
          <p:cNvSpPr txBox="1"/>
          <p:nvPr/>
        </p:nvSpPr>
        <p:spPr>
          <a:xfrm>
            <a:off x="8119871" y="3456432"/>
            <a:ext cx="3611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Customer 360</a:t>
            </a:r>
          </a:p>
        </p:txBody>
      </p:sp>
      <p:pic>
        <p:nvPicPr>
          <p:cNvPr id="32" name="Picture 31" descr="11_explai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2356" y="3794760"/>
            <a:ext cx="3584448" cy="2240280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sp>
        <p:nvSpPr>
          <p:cNvPr id="33" name="TextBox 32"/>
          <p:cNvSpPr txBox="1"/>
          <p:nvPr/>
        </p:nvSpPr>
        <p:spPr>
          <a:xfrm>
            <a:off x="548640" y="6062472"/>
            <a:ext cx="3611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Explainable AI</a:t>
            </a:r>
          </a:p>
        </p:txBody>
      </p:sp>
      <p:pic>
        <p:nvPicPr>
          <p:cNvPr id="34" name="Picture 33" descr="12_whati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47971" y="3794760"/>
            <a:ext cx="3584448" cy="2240280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sp>
        <p:nvSpPr>
          <p:cNvPr id="35" name="TextBox 34"/>
          <p:cNvSpPr txBox="1"/>
          <p:nvPr/>
        </p:nvSpPr>
        <p:spPr>
          <a:xfrm>
            <a:off x="4334255" y="6062472"/>
            <a:ext cx="3611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What-if</a:t>
            </a:r>
          </a:p>
        </p:txBody>
      </p:sp>
      <p:pic>
        <p:nvPicPr>
          <p:cNvPr id="36" name="Picture 35" descr="13_retentio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33588" y="3794760"/>
            <a:ext cx="3584448" cy="2240280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sp>
        <p:nvSpPr>
          <p:cNvPr id="37" name="TextBox 36"/>
          <p:cNvSpPr txBox="1"/>
          <p:nvPr/>
        </p:nvSpPr>
        <p:spPr>
          <a:xfrm>
            <a:off x="8119871" y="6062472"/>
            <a:ext cx="3611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Retention actions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Initial testing and observations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325880"/>
            <a:ext cx="2633472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48640" y="1325880"/>
            <a:ext cx="73152" cy="114300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49808" y="1417320"/>
            <a:ext cx="2359152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0F172A"/>
                </a:solidFill>
              </a:rPr>
              <a:t>44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1988819"/>
            <a:ext cx="2359152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pytest tests passed (venv and system Python)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64992" y="1325880"/>
            <a:ext cx="2633472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3364992" y="1325880"/>
            <a:ext cx="73152" cy="1143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3566160" y="1417320"/>
            <a:ext cx="2359152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0F172A"/>
                </a:solidFill>
              </a:rPr>
              <a:t>63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0" y="1988819"/>
            <a:ext cx="2359152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live API smoke-test checks passed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81344" y="1325880"/>
            <a:ext cx="2633472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6181344" y="1325880"/>
            <a:ext cx="73152" cy="11430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382512" y="1417320"/>
            <a:ext cx="2359152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0F172A"/>
                </a:solidFill>
              </a:rPr>
              <a:t>16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82512" y="1988819"/>
            <a:ext cx="2359152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screens captured, console clean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997696" y="1325880"/>
            <a:ext cx="2633472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8997696" y="1325880"/>
            <a:ext cx="73152" cy="1143000"/>
          </a:xfrm>
          <a:prstGeom prst="rect">
            <a:avLst/>
          </a:prstGeom>
          <a:solidFill>
            <a:srgbClr val="6B5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9198864" y="1417320"/>
            <a:ext cx="2359152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0F172A"/>
                </a:solidFill>
              </a:rPr>
              <a:t>360-1440 px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98864" y="1988819"/>
            <a:ext cx="2359152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light and dark, no horizontal overflow</a:t>
            </a:r>
          </a:p>
        </p:txBody>
      </p:sp>
      <p:graphicFrame>
        <p:nvGraphicFramePr>
          <p:cNvPr id="42" name="Table 41"/>
          <p:cNvGraphicFramePr>
            <a:graphicFrameLocks noGrp="1"/>
          </p:cNvGraphicFramePr>
          <p:nvPr/>
        </p:nvGraphicFramePr>
        <p:xfrm>
          <a:off x="548640" y="2834640"/>
          <a:ext cx="11091672" cy="31089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5852160"/>
                <a:gridCol w="5239512"/>
              </a:tblGrid>
              <a:tr h="777240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Observation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Action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A 200-row test split with 53 churners gives noisy metrics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Added 5-fold cross-validation and five random splits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Accuracy looks fine without imbalance handling (0.745) while recall collapses (0.189)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Selection on F1 and class weights by default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Tests showed pandas 3 string columns slip past dtype == object checks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Fixed in data_loader.py with a helper; regression tests added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and corrective actions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548640" y="1371600"/>
          <a:ext cx="11091672" cy="460857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5669280"/>
                <a:gridCol w="5422392"/>
              </a:tblGrid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Challenge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Corrective action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No real operator data available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Synthetic sample with the Telco schema; every document states it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SHAP is not installed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Built-in importance, permutation importance and coefficient x value; SHAP not claimed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Random Forest differs between scikit-learn versions on 200 rows (accuracy 0.665 vs 0.720)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Environment of record fixed (scikit-learn 1.9.1); both runs archived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pandas 3 string dtype broke type detection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Found by unit tests; fixed and covered by regression tests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Requests via localhost take an extra ~2 s on Windows (IPv6 tried first)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Measured against 127.0.0.1; documented as a quirk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Tiny test set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Cross-validation and seed spread reported beside the single split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463040"/>
            <a:ext cx="2633472" cy="40233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749808" y="1645920"/>
            <a:ext cx="502920" cy="502920"/>
          </a:xfrm>
          <a:prstGeom prst="ellipse">
            <a:avLst/>
          </a:prstGeom>
          <a:solidFill>
            <a:srgbClr val="2A78D6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89888" y="1618488"/>
            <a:ext cx="162763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Evaluate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2331720"/>
            <a:ext cx="2231136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 i="0">
                <a:solidFill>
                  <a:srgbClr val="475569"/>
                </a:solidFill>
              </a:rPr>
              <a:t>Finish the stability study, the imbalance comparison, threshold and calibration analysis.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64992" y="1463040"/>
            <a:ext cx="2633472" cy="40233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3566160" y="1645920"/>
            <a:ext cx="502920" cy="502920"/>
          </a:xfrm>
          <a:prstGeom prst="ellipse">
            <a:avLst/>
          </a:prstGeom>
          <a:solidFill>
            <a:srgbClr val="1BAF7A"/>
          </a:solidFill>
          <a:ln w="9525">
            <a:solidFill>
              <a:srgbClr val="1B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06240" y="1618488"/>
            <a:ext cx="162763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Compare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0" y="2331720"/>
            <a:ext cx="2231136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 i="0">
                <a:solidFill>
                  <a:srgbClr val="475569"/>
                </a:solidFill>
              </a:rPr>
              <a:t>Set the results against the base paper, stating where data and protocol differ.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81344" y="1463040"/>
            <a:ext cx="2633472" cy="40233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6382512" y="1645920"/>
            <a:ext cx="502920" cy="502920"/>
          </a:xfrm>
          <a:prstGeom prst="ellipse">
            <a:avLst/>
          </a:prstGeom>
          <a:solidFill>
            <a:srgbClr val="EB6834"/>
          </a:solidFill>
          <a:ln w="952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22592" y="1618488"/>
            <a:ext cx="162763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Document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82512" y="2331720"/>
            <a:ext cx="2231136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 i="0">
                <a:solidFill>
                  <a:srgbClr val="475569"/>
                </a:solidFill>
              </a:rPr>
              <a:t>Final report, paper and deck with every figure regenerated from JSON.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997696" y="1463040"/>
            <a:ext cx="2633472" cy="40233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Oval 38"/>
          <p:cNvSpPr/>
          <p:nvPr/>
        </p:nvSpPr>
        <p:spPr>
          <a:xfrm>
            <a:off x="9198864" y="1645920"/>
            <a:ext cx="502920" cy="502920"/>
          </a:xfrm>
          <a:prstGeom prst="ellipse">
            <a:avLst/>
          </a:prstGeom>
          <a:solidFill>
            <a:srgbClr val="6B52D6"/>
          </a:solidFill>
          <a:ln w="9525">
            <a:solidFill>
              <a:srgbClr val="6B5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38944" y="1618488"/>
            <a:ext cx="162763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Extend (future)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98864" y="2331720"/>
            <a:ext cx="2231136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 i="0">
                <a:solidFill>
                  <a:srgbClr val="475569"/>
                </a:solidFill>
              </a:rPr>
              <a:t>Real operator data, SHAP and perturbation explainers, calibration, measured campaign effect.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9456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474720"/>
            <a:ext cx="110944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and suggestions are welcome.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F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urnIQ">
  <a:themeElements>
    <a:clrScheme name="ChurnIQ">
      <a:dk1>
        <a:srgbClr val="0F172A"/>
      </a:dk1>
      <a:lt1>
        <a:srgbClr val="FFFFFF"/>
      </a:lt1>
      <a:dk2>
        <a:srgbClr val="1B2A41"/>
      </a:dk2>
      <a:lt2>
        <a:srgbClr val="EEF2F7"/>
      </a:lt2>
      <a:accent1>
        <a:srgbClr val="2A78D6"/>
      </a:accent1>
      <a:accent2>
        <a:srgbClr val="EB6834"/>
      </a:accent2>
      <a:accent3>
        <a:srgbClr val="1BAF7A"/>
      </a:accent3>
      <a:accent4>
        <a:srgbClr val="EDA100"/>
      </a:accent4>
      <a:accent5>
        <a:srgbClr val="6250D6"/>
      </a:accent5>
      <a:accent6>
        <a:srgbClr val="E34948"/>
      </a:accent6>
      <a:hlink>
        <a:srgbClr val="2A78D6"/>
      </a:hlink>
      <a:folHlink>
        <a:srgbClr val="6250D6"/>
      </a:folHlink>
    </a:clrScheme>
    <a:fontScheme name="ChurnIQ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Churn Prediction in Telecom Industry: Review 2</dc:title>
  <dc:subject>Batch A14 (CSE-A)</dc:subject>
  <dc:creator>ANANTULA SAI NIKHILA SRAVANI, AVULA ANUDEEP, B SANDEEP, DARAGANI VINOD KUMAR</dc:creator>
  <cp:lastModifiedBy/>
  <cp:revision>1</cp:revision>
  <dcterms:created xsi:type="dcterms:W3CDTF">2026-10-13T12:40:05Z</dcterms:created>
  <dcterms:modified xsi:type="dcterms:W3CDTF">2026-10-13T12:40:05Z</dcterms:modified>
  <cp:keywords>customer churn, telecom, machine learning, retention</cp:keywords>
  <dc:description/>
</cp:coreProperties>
</file>