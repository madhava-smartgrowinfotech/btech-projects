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 accuracy</c:v>
                </c:pt>
              </c:strCache>
            </c:strRef>
          </c:tx>
          <c:spPr>
            <a:solidFill>
              <a:srgbClr val="2A78D6"/>
            </a:solidFill>
          </c:spPr>
          <c:dPt>
            <c:idx val="2"/>
            <c:spPr>
              <a:solidFill>
                <a:srgbClr val="EB6834"/>
              </a:solidFill>
            </c:spPr>
          </c:dPt>
          <c:dPt>
            <c:idx val="3"/>
            <c:spPr>
              <a:solidFill>
                <a:srgbClr val="EB6834"/>
              </a:solidFill>
            </c:spPr>
          </c:dPt>
          <c:dPt>
            <c:idx val="4"/>
            <c:spPr>
              <a:solidFill>
                <a:srgbClr val="EB6834"/>
              </a:solidFill>
            </c:spPr>
          </c:dPt>
          <c:cat>
            <c:strRef>
              <c:f>Sheet1!$A$2:$A$6</c:f>
              <c:strCache>
                <c:ptCount val="5"/>
                <c:pt idx="0">
                  <c:v>[2] XGBoost
(real data)</c:v>
                </c:pt>
                <c:pt idx="1">
                  <c:v>[2] Hybrid
(real data)</c:v>
                </c:pt>
                <c:pt idx="2">
                  <c:v>Ours XGBoost
+ Platt</c:v>
                </c:pt>
                <c:pt idx="3">
                  <c:v>Ours Hybrid
(labels used)</c:v>
                </c:pt>
                <c:pt idx="4">
                  <c:v>Ours Hybrid
(label-free)</c:v>
                </c:pt>
              </c:strCache>
            </c:strRef>
          </c:cat>
          <c:val>
            <c:numRef>
              <c:f>Sheet1!$B$2:$B$6</c:f>
              <c:numCache>
                <c:formatCode>General</c:formatCode>
                <c:ptCount val="5"/>
                <c:pt idx="0">
                  <c:v>0.7241</c:v>
                </c:pt>
                <c:pt idx="1">
                  <c:v>0.8723</c:v>
                </c:pt>
                <c:pt idx="2">
                  <c:v>0.8067</c:v>
                </c:pt>
                <c:pt idx="3">
                  <c:v>0.84</c:v>
                </c:pt>
                <c:pt idx="4">
                  <c:v>0.8089</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1"/>
          <c:min val="0.0"/>
        </c:scaling>
        <c:delete val="0"/>
        <c:axPos val="l"/>
        <c:majorGridlines>
          <c:spPr>
            <a:ln>
              <a:solidFill>
                <a:srgbClr val="D5DCE6"/>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the system estimates a student's probability of being placed at a chosen company, explains the gaps, recommends better company-role matches, and gives officers and recruiters dashboards.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and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placement-cell problem, the hybrid-model idea adapted from admissions work, and a complete application. Stress that the data is synthetic.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batch's declared base paper is the IJETMS placement paper; it gives no numeric results, so numeric comparison is made with the arXiv admissions paper whose method the code adapts. Both are cited; the datasets differ.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Early placement predictors compare Logistic Regression, trees and boosting; the hybrid and recommendation ideas come from the admissions paper. Where a work's figures were not checked they are not quoted.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Blue bars are from the arXiv base paper [2] (real GradCafe data); orange bars are ours on a synthetic dataset, seed 42, 450 test students. The label-free bar is our own measurement: only borderline cases (p between 0.4 and 0.6) are refined, which is the only rule usable at serving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path is manual. Published predictors exist, but few tell a student which company is realistic or which skill to improve.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problem points come from the batch problem statement. Each maps to a module: prediction, tips, recommendation, recruiter shortlist.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extending prediction into company recommendation and actionable skill-gap feedback. We address the first three directly and measure the fourth; the fifth is a stated limitation.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input is a profile plus a target, the output is a probability with reasons and alternatives, and three user groups are served.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real records (objective 1) could not be obtained, so a synthetic dataset was generated.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from data to explanation, and the application around them. The hybrid idea is adapted from the admissions paper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interfaces on the left, the API, the core modules and the files on the right.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We report whatever the held-out data shows, including where the hybrid does not help.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synthetic data; why the hybrid gain shrinks without labels; why Logistic Regression has the best AUC; how recommendations are validated (they are model estimates only).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Smart Campus Placement System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200" b="1" dirty="0">
                <a:solidFill>
                  <a:srgbClr val="FFFFFF"/>
                </a:solidFill>
                <a:latin typeface="Cambria" pitchFamily="34" charset="0"/>
                <a:ea typeface="Cambria" pitchFamily="34" charset="-122"/>
                <a:cs typeface="Cambria" pitchFamily="34" charset="-120"/>
              </a:rPr>
              <a:t>Smart Campus Placement System</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Hybrid XGBoost + kNN placement prediction, skill-gap feedback and company-role recommendation for a campus placement cell</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Mopidevi Bhagyasri  23K91A05F9</a:t>
            </a:r>
            <a:endParaRPr lang="en-US" sz="1500" dirty="0"/>
          </a:p>
          <a:p>
            <a:pPr indent="0" marL="0">
              <a:buNone/>
            </a:pPr>
            <a:r>
              <a:rPr lang="en-US" sz="1500" dirty="0">
                <a:solidFill>
                  <a:srgbClr val="FFFFFF"/>
                </a:solidFill>
              </a:rPr>
              <a:t>Pamulaparthi Harsha Vardan Reddy  23K91A05J0</a:t>
            </a:r>
            <a:endParaRPr lang="en-US" sz="1500" dirty="0"/>
          </a:p>
          <a:p>
            <a:pPr indent="0" marL="0">
              <a:buNone/>
            </a:pPr>
            <a:r>
              <a:rPr lang="en-US" sz="1500" dirty="0">
                <a:solidFill>
                  <a:srgbClr val="FFFFFF"/>
                </a:solidFill>
              </a:rPr>
              <a:t>Mohammad Faruk Baba  23K91A05F3</a:t>
            </a:r>
            <a:endParaRPr lang="en-US" sz="1500" dirty="0"/>
          </a:p>
          <a:p>
            <a:pPr indent="0" marL="0">
              <a:buNone/>
            </a:pPr>
            <a:r>
              <a:rPr lang="en-US" sz="1500" dirty="0">
                <a:solidFill>
                  <a:srgbClr val="FFFFFF"/>
                </a:solidFill>
              </a:rPr>
              <a:t>Prahalladh Terati  23K91A05J8</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S Usha Devi,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C5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from a student profile to a placement decision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Placement cells keep student records in spreadsheets and shortlist by hand. Students get no early signal of readiness, and recruiters get no consistent, explained ranking.</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Estimate the probability of placement for a student, company and role with a calibrated XGBoost model refined by kNN on borderline cases, then recommend company-role pairs with a higher estimated chance.</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A web application: eligibility with skill-gap tips, top-5 recommendations, an officer dashboard (metrics, SHAP, PCA) and a recruiter shortlist, evaluated honestly on a 3,000-student synthetic dataset.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100" b="0" i="0">
                <a:solidFill>
                  <a:srgbClr val="0F172A"/>
                </a:solidFill>
              </a:rPr>
              <a:t>M. Prasanna Kumari, B. Punith, M. Srinath, P. Koushik and Y. Gourav, "Student placement prediction system using machine learning," Int. J. Eng. Technol. Manage. Sci. (IJETMS), vol. 10, no. 3, pp. 47-51, May-Jun. 2026, doi: 10.46647/ijetms.2026.v10i03.008.   Technique source: M. Heidari Fard and E. Tabrizi, "A hybrid machine learning approach for graduate admission prediction and combined university-program recommendation," arXiv:2603.29881 [cs.IR], Feb. 2026.</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Declared base paper [1]</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Predicts placement with Logistic Regression, Random Forest and Gradient Boosting on a synthetic dataset (80:20 split); Streamlit app with batch CSV, skill-gap analysis, PDF report and e-mail.</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it reports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No accuracy, F1 or AUC is reported: the results section states only the split and the three models. Its own limitation: prediction without company recommendation.</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Technique source [2]</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Admissions study on 13,000 real records: XGBoost 0.7241 accuracy, XGBoost + kNN hybrid 0.8723, Platt calibration, SHAP and a university-program recommender. We adapt it to placements.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34440"/>
          <a:ext cx="11091672" cy="4937760"/>
        </p:xfrm>
        <a:graphic>
          <a:graphicData uri="http://schemas.openxmlformats.org/drawingml/2006/table">
            <a:tbl>
              <a:tblPr firstRow="0" bandRow="0">
                <a:tableStyleId>{5C22544A-7EE6-4342-B048-85BDC9FD1C3A}</a:tableStyleId>
              </a:tblPr>
              <a:tblGrid>
                <a:gridCol w="2011680"/>
                <a:gridCol w="3657600"/>
                <a:gridCol w="2377440"/>
                <a:gridCol w="3044952"/>
              </a:tblGrid>
              <a:tr h="617220">
                <a:tc>
                  <a:txBody>
                    <a:bodyPr wrap="square"/>
                    <a:lstStyle/>
                    <a:p>
                      <a:pPr algn="ctr"/>
                      <a:r>
                        <a:rPr sz="12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Reported 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17220">
                <a:tc>
                  <a:txBody>
                    <a:bodyPr wrap="square"/>
                    <a:lstStyle/>
                    <a:p>
                      <a:pPr algn="l"/>
                      <a:r>
                        <a:rPr sz="1000" b="0">
                          <a:solidFill>
                            <a:srgbClr val="0F172A"/>
                          </a:solidFill>
                        </a:rPr>
                        <a:t>Prasanna Kumari et al. 2026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Logistic Regression, Random Forest and Gradient Boosting on student attributes; Streamlit app with batch CSV prediction, skill-gap analysis, PDF report and e-mail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Synthetic student records (size not stated); 80:20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No accuracy, F1 or AUC is reported in the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17220">
                <a:tc>
                  <a:txBody>
                    <a:bodyPr wrap="square"/>
                    <a:lstStyle/>
                    <a:p>
                      <a:pPr algn="l"/>
                      <a:r>
                        <a:rPr sz="1000" b="0">
                          <a:solidFill>
                            <a:srgbClr val="0F172A"/>
                          </a:solidFill>
                        </a:rPr>
                        <a:t>Heidari Fard and Tabrizi 2026 [2] (technique)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XGBoost with Platt calibration; kNN / SVM refinement of residual (misclassified or borderline) cases; university-program recommendation with feasibility filters; SHAP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13,000 real GradCafe admission records, 2021-2025, enriched with QS rankings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XGBoost 0.7241 accuracy; XGBoost + kNN hybrid 0.8723; Brier 0.1864; recommendation raised mean acceptance probability by 65.1%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17220">
                <a:tc>
                  <a:txBody>
                    <a:bodyPr wrap="square"/>
                    <a:lstStyle/>
                    <a:p>
                      <a:pPr algn="l"/>
                      <a:r>
                        <a:rPr sz="1000" b="0">
                          <a:solidFill>
                            <a:srgbClr val="0F172A"/>
                          </a:solidFill>
                        </a:rPr>
                        <a:t>Thangavel et al. 2017 [21]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Decision-tree classifiers on historical student data; predicts one of five placement statuses (Dream, Core, Mass Recruiter, Not Eligible, Not Interested)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Historical student records (size not read)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Abstract only: identifies students needing technical and interpersonal support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17220">
                <a:tc>
                  <a:txBody>
                    <a:bodyPr wrap="square"/>
                    <a:lstStyle/>
                    <a:p>
                      <a:pPr algn="l"/>
                      <a:r>
                        <a:rPr sz="1000" b="0">
                          <a:solidFill>
                            <a:srgbClr val="0F172A"/>
                          </a:solidFill>
                        </a:rPr>
                        <a:t>Khandale and Bhoite 2019 [22]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Logistic, SVM, kNN, decision tree, random forest, bagging, boosting and voting compared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Past placed / unplaced student records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About 78% accuracy for XGBoost and for AdaBoost (abstract)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17220">
                <a:tc>
                  <a:txBody>
                    <a:bodyPr wrap="square"/>
                    <a:lstStyle/>
                    <a:p>
                      <a:pPr algn="l"/>
                      <a:r>
                        <a:rPr sz="1000" b="0">
                          <a:solidFill>
                            <a:srgbClr val="0F172A"/>
                          </a:solidFill>
                        </a:rPr>
                        <a:t>Baffa et al. 2023 [15]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Logistic regression, decision tree and random forest for graduate employability from CGPA, work-experience score, union group and gender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218 Computer Science graduates, 2016-2021, one university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Random forest 98% accuracy, F1 0.99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17220">
                <a:tc>
                  <a:txBody>
                    <a:bodyPr wrap="square"/>
                    <a:lstStyle/>
                    <a:p>
                      <a:pPr algn="l"/>
                      <a:r>
                        <a:rPr sz="1000" b="0">
                          <a:solidFill>
                            <a:srgbClr val="0F172A"/>
                          </a:solidFill>
                        </a:rPr>
                        <a:t>Ambili and Abraham 2024 [16]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Stacking ensemble on 20 student attributes to predict campus placement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Student database records (size not stated in the abstract)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90.21% accuracy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17220">
                <a:tc>
                  <a:txBody>
                    <a:bodyPr wrap="square"/>
                    <a:lstStyle/>
                    <a:p>
                      <a:pPr algn="l"/>
                      <a:r>
                        <a:rPr sz="1000" b="0">
                          <a:solidFill>
                            <a:srgbClr val="0F172A"/>
                          </a:solidFill>
                        </a:rPr>
                        <a:t>Pathak et al. 2025 [18]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Voting classifier with hyper-parameter search and cross-validation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Public Kaggle placement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Accuracy 0.8923, precision 0.9430, recall 0.8567, F1 0.8978, AUC 0.9433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data and protocol set the number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949440" cy="4846320"/>
        </p:xfrm>
        <a:graphic>
          <a:graphicData uri="http://schemas.openxmlformats.org/drawingml/2006/chart">
            <c:chart xmlns:c="http://schemas.openxmlformats.org/drawingml/2006/chart" r:id="rId3"/>
          </a:graphicData>
        </a:graphic>
      </p:graphicFrame>
      <p:sp>
        <p:nvSpPr>
          <p:cNvPr id="27" name="Rounded Rectangle 26"/>
          <p:cNvSpPr/>
          <p:nvPr/>
        </p:nvSpPr>
        <p:spPr>
          <a:xfrm>
            <a:off x="7772400" y="1325880"/>
            <a:ext cx="3867912" cy="23774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973568"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613648" y="14813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Takeaway</a:t>
            </a:r>
          </a:p>
        </p:txBody>
      </p:sp>
      <p:sp>
        <p:nvSpPr>
          <p:cNvPr id="30" name="TextBox 29"/>
          <p:cNvSpPr txBox="1"/>
          <p:nvPr/>
        </p:nvSpPr>
        <p:spPr>
          <a:xfrm>
            <a:off x="7973568" y="2194560"/>
            <a:ext cx="3465576" cy="1371600"/>
          </a:xfrm>
          <a:prstGeom prst="rect">
            <a:avLst/>
          </a:prstGeom>
          <a:noFill/>
        </p:spPr>
        <p:txBody>
          <a:bodyPr wrap="square" lIns="0" rIns="0" tIns="0" bIns="0" anchor="t">
            <a:spAutoFit/>
          </a:bodyPr>
          <a:lstStyle/>
          <a:p>
            <a:pPr algn="l">
              <a:spcAft>
                <a:spcPts val="400"/>
              </a:spcAft>
            </a:pPr>
            <a:r>
              <a:rPr sz="1400" b="0" i="0">
                <a:solidFill>
                  <a:srgbClr val="475569"/>
                </a:solidFill>
              </a:rPr>
              <a:t>The same method scores 72% on real admissions data and 81% on our synthetic data. A number is meaningful only with its data and protocol.</a:t>
            </a:r>
          </a:p>
        </p:txBody>
      </p:sp>
      <p:sp>
        <p:nvSpPr>
          <p:cNvPr id="31" name="Rounded Rectangle 30"/>
          <p:cNvSpPr/>
          <p:nvPr/>
        </p:nvSpPr>
        <p:spPr>
          <a:xfrm>
            <a:off x="7772400" y="3840480"/>
            <a:ext cx="3867912"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73568" y="4023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3" name="TextBox 32"/>
          <p:cNvSpPr txBox="1"/>
          <p:nvPr/>
        </p:nvSpPr>
        <p:spPr>
          <a:xfrm>
            <a:off x="8613648" y="39959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Caveat</a:t>
            </a:r>
          </a:p>
        </p:txBody>
      </p:sp>
      <p:sp>
        <p:nvSpPr>
          <p:cNvPr id="34" name="TextBox 33"/>
          <p:cNvSpPr txBox="1"/>
          <p:nvPr/>
        </p:nvSpPr>
        <p:spPr>
          <a:xfrm>
            <a:off x="7973568" y="4709160"/>
            <a:ext cx="3465576" cy="1280160"/>
          </a:xfrm>
          <a:prstGeom prst="rect">
            <a:avLst/>
          </a:prstGeom>
          <a:noFill/>
        </p:spPr>
        <p:txBody>
          <a:bodyPr wrap="square" lIns="0" rIns="0" tIns="0" bIns="0" anchor="t">
            <a:spAutoFit/>
          </a:bodyPr>
          <a:lstStyle/>
          <a:p>
            <a:pPr algn="l">
              <a:spcAft>
                <a:spcPts val="400"/>
              </a:spcAft>
            </a:pPr>
            <a:r>
              <a:rPr sz="1400" b="0" i="0">
                <a:solidFill>
                  <a:srgbClr val="475569"/>
                </a:solidFill>
              </a:rPr>
              <a:t>The hybrid gains (+15 and +3 points) pick the refined cases with the true test labels; without labels ours is 80.9%, like plain XGBoost (80.7%).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Student records in spreadsheets</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Manual eligibility check</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Recruiter shortlists by hand</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Result after the drive</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placement cell</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Records are stored, not analysed. Eligibility is judged against cutoffs by hand, shortlisting is slow and varies between recruiters, and students learn where they stand late.</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Research predictors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Studies classify placed / not placed from academics and skills. Many stop at a yes-or-no or an accuracy figure, with no company recommendation and no actionable gap feedback.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without analysis</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Placement cells store student data but perform no predictive analysis on it.</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early signal</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Students receive no indication of readiness while there is still time to improve.</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Manual shortlisting</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Shortlisting is slow and inconsistent across recruiters.</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skill feedback</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Nothing says which specific skill a student should acquire next, or which company fits.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Prediction only</a:t>
            </a:r>
          </a:p>
        </p:txBody>
      </p:sp>
      <p:sp>
        <p:nvSpPr>
          <p:cNvPr id="28" name="TextBox 27"/>
          <p:cNvSpPr txBox="1"/>
          <p:nvPr/>
        </p:nvSpPr>
        <p:spPr>
          <a:xfrm>
            <a:off x="3200400" y="1325880"/>
            <a:ext cx="8412480" cy="822960"/>
          </a:xfrm>
          <a:prstGeom prst="rect">
            <a:avLst/>
          </a:prstGeom>
          <a:noFill/>
        </p:spPr>
        <p:txBody>
          <a:bodyPr wrap="square" lIns="0" rIns="0" tIns="0" bIns="0" anchor="ctr">
            <a:spAutoFit/>
          </a:bodyPr>
          <a:lstStyle/>
          <a:p>
            <a:pPr algn="l">
              <a:spcAft>
                <a:spcPts val="400"/>
              </a:spcAft>
            </a:pPr>
            <a:r>
              <a:rPr sz="1800" b="0" i="0">
                <a:solidFill>
                  <a:srgbClr val="0F172A"/>
                </a:solidFill>
              </a:rPr>
              <a:t>Placement predictors rarely go on to recommend which company and role a student should target.</a:t>
            </a:r>
          </a:p>
        </p:txBody>
      </p:sp>
      <p:sp>
        <p:nvSpPr>
          <p:cNvPr id="29" name="Rounded Rectangle 28"/>
          <p:cNvSpPr/>
          <p:nvPr/>
        </p:nvSpPr>
        <p:spPr>
          <a:xfrm>
            <a:off x="548640" y="2313432"/>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Actionable feedback</a:t>
            </a:r>
          </a:p>
        </p:txBody>
      </p:sp>
      <p:sp>
        <p:nvSpPr>
          <p:cNvPr id="31" name="TextBox 30"/>
          <p:cNvSpPr txBox="1"/>
          <p:nvPr/>
        </p:nvSpPr>
        <p:spPr>
          <a:xfrm>
            <a:off x="3200400" y="2313432"/>
            <a:ext cx="8412480" cy="822960"/>
          </a:xfrm>
          <a:prstGeom prst="rect">
            <a:avLst/>
          </a:prstGeom>
          <a:noFill/>
        </p:spPr>
        <p:txBody>
          <a:bodyPr wrap="square" lIns="0" rIns="0" tIns="0" bIns="0" anchor="ctr">
            <a:spAutoFit/>
          </a:bodyPr>
          <a:lstStyle/>
          <a:p>
            <a:pPr algn="l">
              <a:spcAft>
                <a:spcPts val="400"/>
              </a:spcAft>
            </a:pPr>
            <a:r>
              <a:rPr sz="1800" b="0" i="0">
                <a:solidFill>
                  <a:srgbClr val="0F172A"/>
                </a:solidFill>
              </a:rPr>
              <a:t>Few give the student the specific gaps against a company's requirements.</a:t>
            </a:r>
          </a:p>
        </p:txBody>
      </p:sp>
      <p:sp>
        <p:nvSpPr>
          <p:cNvPr id="32" name="Rounded Rectangle 31"/>
          <p:cNvSpPr/>
          <p:nvPr/>
        </p:nvSpPr>
        <p:spPr>
          <a:xfrm>
            <a:off x="548640" y="3300984"/>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Calibrated probabilities</a:t>
            </a:r>
          </a:p>
        </p:txBody>
      </p:sp>
      <p:sp>
        <p:nvSpPr>
          <p:cNvPr id="34" name="TextBox 33"/>
          <p:cNvSpPr txBox="1"/>
          <p:nvPr/>
        </p:nvSpPr>
        <p:spPr>
          <a:xfrm>
            <a:off x="3200400" y="3300984"/>
            <a:ext cx="8412480" cy="822960"/>
          </a:xfrm>
          <a:prstGeom prst="rect">
            <a:avLst/>
          </a:prstGeom>
          <a:noFill/>
        </p:spPr>
        <p:txBody>
          <a:bodyPr wrap="square" lIns="0" rIns="0" tIns="0" bIns="0" anchor="ctr">
            <a:spAutoFit/>
          </a:bodyPr>
          <a:lstStyle/>
          <a:p>
            <a:pPr algn="l">
              <a:spcAft>
                <a:spcPts val="400"/>
              </a:spcAft>
            </a:pPr>
            <a:r>
              <a:rPr sz="1800" b="0" i="0">
                <a:solidFill>
                  <a:srgbClr val="0F172A"/>
                </a:solidFill>
              </a:rPr>
              <a:t>A recommendation ranking needs reliable probabilities, yet calibration is seldom reported.</a:t>
            </a:r>
          </a:p>
        </p:txBody>
      </p:sp>
      <p:sp>
        <p:nvSpPr>
          <p:cNvPr id="35" name="Rounded Rectangle 34"/>
          <p:cNvSpPr/>
          <p:nvPr/>
        </p:nvSpPr>
        <p:spPr>
          <a:xfrm>
            <a:off x="548640" y="4288536"/>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Honest evaluation</a:t>
            </a:r>
          </a:p>
        </p:txBody>
      </p:sp>
      <p:sp>
        <p:nvSpPr>
          <p:cNvPr id="37" name="TextBox 36"/>
          <p:cNvSpPr txBox="1"/>
          <p:nvPr/>
        </p:nvSpPr>
        <p:spPr>
          <a:xfrm>
            <a:off x="3200400" y="4288536"/>
            <a:ext cx="8412480" cy="822960"/>
          </a:xfrm>
          <a:prstGeom prst="rect">
            <a:avLst/>
          </a:prstGeom>
          <a:noFill/>
        </p:spPr>
        <p:txBody>
          <a:bodyPr wrap="square" lIns="0" rIns="0" tIns="0" bIns="0" anchor="ctr">
            <a:spAutoFit/>
          </a:bodyPr>
          <a:lstStyle/>
          <a:p>
            <a:pPr algn="l">
              <a:spcAft>
                <a:spcPts val="400"/>
              </a:spcAft>
            </a:pPr>
            <a:r>
              <a:rPr sz="1800" b="0" i="0">
                <a:solidFill>
                  <a:srgbClr val="0F172A"/>
                </a:solidFill>
              </a:rPr>
              <a:t>Results often lack the split, several seeds, a confusion matrix or a check that a refinement rule works without labels.</a:t>
            </a:r>
          </a:p>
        </p:txBody>
      </p:sp>
      <p:sp>
        <p:nvSpPr>
          <p:cNvPr id="38" name="Rounded Rectangle 37"/>
          <p:cNvSpPr/>
          <p:nvPr/>
        </p:nvSpPr>
        <p:spPr>
          <a:xfrm>
            <a:off x="548640" y="5276088"/>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Real data</a:t>
            </a:r>
          </a:p>
        </p:txBody>
      </p:sp>
      <p:sp>
        <p:nvSpPr>
          <p:cNvPr id="40" name="TextBox 39"/>
          <p:cNvSpPr txBox="1"/>
          <p:nvPr/>
        </p:nvSpPr>
        <p:spPr>
          <a:xfrm>
            <a:off x="3200400" y="5276088"/>
            <a:ext cx="8412480" cy="822960"/>
          </a:xfrm>
          <a:prstGeom prst="rect">
            <a:avLst/>
          </a:prstGeom>
          <a:noFill/>
        </p:spPr>
        <p:txBody>
          <a:bodyPr wrap="square" lIns="0" rIns="0" tIns="0" bIns="0" anchor="ctr">
            <a:spAutoFit/>
          </a:bodyPr>
          <a:lstStyle/>
          <a:p>
            <a:pPr algn="l">
              <a:spcAft>
                <a:spcPts val="400"/>
              </a:spcAft>
            </a:pPr>
            <a:r>
              <a:rPr sz="1800" b="0" i="0">
                <a:solidFill>
                  <a:srgbClr val="0F172A"/>
                </a:solidFill>
              </a:rPr>
              <a:t>Real placement records are private; published work, including the base paper, falls back to synthetic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286000"/>
          </a:xfrm>
          <a:prstGeom prst="rect">
            <a:avLst/>
          </a:prstGeom>
          <a:noFill/>
        </p:spPr>
        <p:txBody>
          <a:bodyPr wrap="square" lIns="0" rIns="0" tIns="0" bIns="0" anchor="ctr">
            <a:spAutoFit/>
          </a:bodyPr>
          <a:lstStyle/>
          <a:p>
            <a:pPr algn="l">
              <a:spcAft>
                <a:spcPts val="400"/>
              </a:spcAft>
            </a:pPr>
            <a:r>
              <a:rPr sz="1900" b="0" i="0">
                <a:solidFill>
                  <a:srgbClr val="0F172A"/>
                </a:solidFill>
              </a:rPr>
              <a:t>Given a student's academic record, skill and aptitude scores and a target company and role, estimate the probability that the student is placed, explain which gaps against the company's requirements hold it back, recommend company-role alternatives where the estimated probability is higher, and give placement officers and recruiters dashboards and shortlists - through a web application that a placement cell can run on an ordinary PC, with accuracy reported honestly on the data actually available.</a:t>
            </a:r>
          </a:p>
        </p:txBody>
      </p:sp>
      <p:sp>
        <p:nvSpPr>
          <p:cNvPr id="28" name="Rounded Rectangle 27"/>
          <p:cNvSpPr/>
          <p:nvPr/>
        </p:nvSpPr>
        <p:spPr>
          <a:xfrm>
            <a:off x="548640"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Academic record, skill and aptitude scores, backlogs, target company and role</a:t>
            </a:r>
          </a:p>
        </p:txBody>
      </p:sp>
      <p:sp>
        <p:nvSpPr>
          <p:cNvPr id="31" name="Rounded Rectangle 30"/>
          <p:cNvSpPr/>
          <p:nvPr/>
        </p:nvSpPr>
        <p:spPr>
          <a:xfrm>
            <a:off x="4334255"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Placement probability, label, skill-gap tips, top-5 company-role pairs</a:t>
            </a:r>
          </a:p>
        </p:txBody>
      </p:sp>
      <p:sp>
        <p:nvSpPr>
          <p:cNvPr id="34" name="Rounded Rectangle 33"/>
          <p:cNvSpPr/>
          <p:nvPr/>
        </p:nvSpPr>
        <p:spPr>
          <a:xfrm>
            <a:off x="8119871" y="4114800"/>
            <a:ext cx="3520440"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Users</a:t>
            </a:r>
          </a:p>
        </p:txBody>
      </p:sp>
      <p:sp>
        <p:nvSpPr>
          <p:cNvPr id="36" name="TextBox 35"/>
          <p:cNvSpPr txBox="1"/>
          <p:nvPr/>
        </p:nvSpPr>
        <p:spPr>
          <a:xfrm>
            <a:off x="8348471" y="4663440"/>
            <a:ext cx="3108960" cy="731520"/>
          </a:xfrm>
          <a:prstGeom prst="rect">
            <a:avLst/>
          </a:prstGeom>
          <a:noFill/>
        </p:spPr>
        <p:txBody>
          <a:bodyPr wrap="square" lIns="0" rIns="0" tIns="0" bIns="0" anchor="t">
            <a:spAutoFit/>
          </a:bodyPr>
          <a:lstStyle/>
          <a:p>
            <a:pPr algn="l">
              <a:spcAft>
                <a:spcPts val="400"/>
              </a:spcAft>
            </a:pPr>
            <a:r>
              <a:rPr sz="1400" b="0" i="0">
                <a:solidFill>
                  <a:srgbClr val="475569"/>
                </a:solidFill>
              </a:rPr>
              <a:t>Students, placement officers, recruiters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846320"/>
          </a:xfrm>
          <a:prstGeom prst="rect">
            <a:avLst/>
          </a:prstGeom>
          <a:noFill/>
        </p:spPr>
        <p:txBody>
          <a:bodyPr wrap="square" lIns="0" rIns="0" tIns="0" bIns="0" anchor="t">
            <a:spAutoFit/>
          </a:bodyPr>
          <a:lstStyle/>
          <a:p>
            <a:pPr algn="l">
              <a:spcAft>
                <a:spcPts val="1200"/>
              </a:spcAft>
            </a:pPr>
            <a:r>
              <a:rPr sz="2200" b="0" i="0">
                <a:solidFill>
                  <a:srgbClr val="0F172A"/>
                </a:solidFill>
              </a:rPr>
              <a:t>1.  Collect student academic records, technical skills, aptitude scores and historical placement outcomes.</a:t>
            </a:r>
          </a:p>
          <a:p>
            <a:pPr algn="l">
              <a:spcAft>
                <a:spcPts val="1200"/>
              </a:spcAft>
            </a:pPr>
            <a:r>
              <a:rPr sz="2200" b="0" i="0">
                <a:solidFill>
                  <a:srgbClr val="0F172A"/>
                </a:solidFill>
              </a:rPr>
              <a:t>2.  Clean and encode the data and address imbalance between placed and unplaced students.</a:t>
            </a:r>
          </a:p>
          <a:p>
            <a:pPr algn="l">
              <a:spcAft>
                <a:spcPts val="1200"/>
              </a:spcAft>
            </a:pPr>
            <a:r>
              <a:rPr sz="2200" b="0" i="0">
                <a:solidFill>
                  <a:srgbClr val="0F172A"/>
                </a:solidFill>
              </a:rPr>
              <a:t>3.  Train and compare classifiers to predict placement eligibility for each student.</a:t>
            </a:r>
          </a:p>
          <a:p>
            <a:pPr algn="l">
              <a:spcAft>
                <a:spcPts val="1200"/>
              </a:spcAft>
            </a:pPr>
            <a:r>
              <a:rPr sz="2200" b="0" i="0">
                <a:solidFill>
                  <a:srgbClr val="0F172A"/>
                </a:solidFill>
              </a:rPr>
              <a:t>4.  Recommend suitable companies by matching student profiles against recruiter requirements.</a:t>
            </a:r>
          </a:p>
          <a:p>
            <a:pPr algn="l">
              <a:spcAft>
                <a:spcPts val="1200"/>
              </a:spcAft>
            </a:pPr>
            <a:r>
              <a:rPr sz="2200" b="0" i="0">
                <a:solidFill>
                  <a:srgbClr val="0F172A"/>
                </a:solidFill>
              </a:rPr>
              <a:t>5.  Identify the skill gaps that most reduce a student's placement probability.</a:t>
            </a:r>
          </a:p>
          <a:p>
            <a:pPr algn="l">
              <a:spcAft>
                <a:spcPts val="1200"/>
              </a:spcAft>
            </a:pPr>
            <a:r>
              <a:rPr sz="2200" b="0" i="0">
                <a:solidFill>
                  <a:srgbClr val="0F172A"/>
                </a:solidFill>
              </a:rPr>
              <a:t>6.  Provide dashboards for placement officers and evaluate using accuracy, precision and recall.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Data</a:t>
            </a:r>
          </a:p>
        </p:txBody>
      </p:sp>
      <p:sp>
        <p:nvSpPr>
          <p:cNvPr id="29" name="TextBox 28"/>
          <p:cNvSpPr txBox="1"/>
          <p:nvPr/>
        </p:nvSpPr>
        <p:spPr>
          <a:xfrm>
            <a:off x="749808"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3,000 synthetic students and 30 companies; 24 features incl. gaps against each company's cutoffs; stratified 70/15/15 split.</a:t>
            </a:r>
          </a:p>
        </p:txBody>
      </p:sp>
      <p:sp>
        <p:nvSpPr>
          <p:cNvPr id="30" name="Rounded Rectangle 29"/>
          <p:cNvSpPr/>
          <p:nvPr/>
        </p:nvSpPr>
        <p:spPr>
          <a:xfrm>
            <a:off x="3364992"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Predict</a:t>
            </a:r>
          </a:p>
        </p:txBody>
      </p:sp>
      <p:sp>
        <p:nvSpPr>
          <p:cNvPr id="33" name="TextBox 32"/>
          <p:cNvSpPr txBox="1"/>
          <p:nvPr/>
        </p:nvSpPr>
        <p:spPr>
          <a:xfrm>
            <a:off x="3566160"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Calibrated XGBoost (Platt) with kNN refinement for borderline probabilities 0.4 to 0.6; baselines for comparison.</a:t>
            </a:r>
          </a:p>
        </p:txBody>
      </p:sp>
      <p:sp>
        <p:nvSpPr>
          <p:cNvPr id="34" name="Rounded Rectangle 33"/>
          <p:cNvSpPr/>
          <p:nvPr/>
        </p:nvSpPr>
        <p:spPr>
          <a:xfrm>
            <a:off x="6181344"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Recommend</a:t>
            </a:r>
          </a:p>
        </p:txBody>
      </p:sp>
      <p:sp>
        <p:nvSpPr>
          <p:cNvPr id="37" name="TextBox 36"/>
          <p:cNvSpPr txBox="1"/>
          <p:nvPr/>
        </p:nvSpPr>
        <p:spPr>
          <a:xfrm>
            <a:off x="6382512"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Feasibility filters on CGPA, aptitude, backlogs and tier; rank company-role pairs by probability plus proximity.</a:t>
            </a:r>
          </a:p>
        </p:txBody>
      </p:sp>
      <p:sp>
        <p:nvSpPr>
          <p:cNvPr id="38" name="Rounded Rectangle 37"/>
          <p:cNvSpPr/>
          <p:nvPr/>
        </p:nvSpPr>
        <p:spPr>
          <a:xfrm>
            <a:off x="8997696"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a:t>
            </a:r>
          </a:p>
        </p:txBody>
      </p:sp>
      <p:sp>
        <p:nvSpPr>
          <p:cNvPr id="41" name="TextBox 40"/>
          <p:cNvSpPr txBox="1"/>
          <p:nvPr/>
        </p:nvSpPr>
        <p:spPr>
          <a:xfrm>
            <a:off x="9198864"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Rule-based skill-gap tips, SHAP ranking, PCA of errors and a probability histogram for the officer.</a:t>
            </a:r>
          </a:p>
        </p:txBody>
      </p:sp>
      <p:sp>
        <p:nvSpPr>
          <p:cNvPr id="42" name="Rounded Rectangle 41"/>
          <p:cNvSpPr/>
          <p:nvPr/>
        </p:nvSpPr>
        <p:spPr>
          <a:xfrm>
            <a:off x="548640" y="466344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49377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W</a:t>
            </a:r>
          </a:p>
        </p:txBody>
      </p:sp>
      <p:sp>
        <p:nvSpPr>
          <p:cNvPr id="44" name="TextBox 43"/>
          <p:cNvSpPr txBox="1"/>
          <p:nvPr/>
        </p:nvSpPr>
        <p:spPr>
          <a:xfrm>
            <a:off x="1645920" y="4846320"/>
            <a:ext cx="9784080" cy="457200"/>
          </a:xfrm>
          <a:prstGeom prst="rect">
            <a:avLst/>
          </a:prstGeom>
          <a:noFill/>
        </p:spPr>
        <p:txBody>
          <a:bodyPr wrap="square" lIns="0" rIns="0" tIns="0" bIns="0" anchor="t">
            <a:spAutoFit/>
          </a:bodyPr>
          <a:lstStyle/>
          <a:p>
            <a:pPr algn="l">
              <a:spcAft>
                <a:spcPts val="400"/>
              </a:spcAft>
            </a:pPr>
            <a:r>
              <a:rPr sz="1700" b="1" i="0">
                <a:solidFill>
                  <a:srgbClr val="0F172A"/>
                </a:solidFill>
              </a:rPr>
              <a:t>Application</a:t>
            </a:r>
          </a:p>
        </p:txBody>
      </p:sp>
      <p:sp>
        <p:nvSpPr>
          <p:cNvPr id="45" name="TextBox 44"/>
          <p:cNvSpPr txBox="1"/>
          <p:nvPr/>
        </p:nvSpPr>
        <p:spPr>
          <a:xfrm>
            <a:off x="1645920" y="5303520"/>
            <a:ext cx="9784080" cy="685800"/>
          </a:xfrm>
          <a:prstGeom prst="rect">
            <a:avLst/>
          </a:prstGeom>
          <a:noFill/>
        </p:spPr>
        <p:txBody>
          <a:bodyPr wrap="square" lIns="0" rIns="0" tIns="0" bIns="0" anchor="t">
            <a:spAutoFit/>
          </a:bodyPr>
          <a:lstStyle/>
          <a:p>
            <a:pPr algn="l">
              <a:spcAft>
                <a:spcPts val="400"/>
              </a:spcAft>
            </a:pPr>
            <a:r>
              <a:rPr sz="1500" b="0" i="0">
                <a:solidFill>
                  <a:srgbClr val="475569"/>
                </a:solidFill>
              </a:rPr>
              <a:t>FastAPI service (9 endpoints) over the unchanged Python core, a React interface (eligibility, recommendations, officer dashboard, recruiter, companies) and the original Flask pages.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3206828" y="1188720"/>
            <a:ext cx="5747862" cy="4846320"/>
          </a:xfrm>
          <a:prstGeom prst="rect">
            <a:avLst/>
          </a:prstGeom>
        </p:spPr>
      </p:pic>
      <p:sp>
        <p:nvSpPr>
          <p:cNvPr id="27" name="TextBox 26"/>
          <p:cNvSpPr txBox="1"/>
          <p:nvPr/>
        </p:nvSpPr>
        <p:spPr>
          <a:xfrm>
            <a:off x="548640" y="6053328"/>
            <a:ext cx="11091672" cy="274320"/>
          </a:xfrm>
          <a:prstGeom prst="rect">
            <a:avLst/>
          </a:prstGeom>
          <a:noFill/>
        </p:spPr>
        <p:txBody>
          <a:bodyPr wrap="square" lIns="0" rIns="0" tIns="0" bIns="0" anchor="t">
            <a:spAutoFit/>
          </a:bodyPr>
          <a:lstStyle/>
          <a:p>
            <a:pPr algn="ctr">
              <a:spcAft>
                <a:spcPts val="400"/>
              </a:spcAft>
            </a:pPr>
            <a:r>
              <a:rPr sz="1200" b="0" i="1">
                <a:solidFill>
                  <a:srgbClr val="475569"/>
                </a:solidFill>
              </a:rPr>
              <a:t>React and Flask front ends call the FastAPI layer and the shared core; models and data are files on disk (no SQL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Placement predictor</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Calibrated probabilities with a transparent decision at 0.5.</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Skill-gap feedback</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Tips against the company's CGPA, aptitude and technical cutoffs.</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Company-role recommendation</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Top-5 alternatives with estimated gain and match rate.</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Officer and recruiter tools</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Metrics, SHAP, PCA, branch rates and a filtered shortlist.</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Five seeds, confusion matrices and a label-free check of the hybrid rule.</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Reproducibility</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Scripts regenerate the data, models, metrics, figures and tests.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234440"/>
            <a:ext cx="5440680" cy="5029200"/>
          </a:xfrm>
          <a:prstGeom prst="rect">
            <a:avLst/>
          </a:prstGeom>
          <a:noFill/>
        </p:spPr>
        <p:txBody>
          <a:bodyPr wrap="square" lIns="0" rIns="0" tIns="0" bIns="0" anchor="t">
            <a:spAutoFit/>
          </a:bodyPr>
          <a:lstStyle/>
          <a:p>
            <a:pPr algn="l">
              <a:spcAft>
                <a:spcPts val="400"/>
              </a:spcAft>
            </a:pPr>
            <a:r>
              <a:rPr sz="1050" b="0" i="0">
                <a:solidFill>
                  <a:srgbClr val="0F172A"/>
                </a:solidFill>
              </a:rPr>
              <a:t>[1] M. Prasanna Kumari, B. Punith, M. Srinath, P. Koushik and Y. Gourav, "Student placement prediction system using machine learning," Int. J. Eng. Technol. Manage. Sci. (IJETMS), vol. 10, no. 3, pp. 47-51, May-Jun. 2026, doi: 10.46647/ijetms.2026.v10i03.008.</a:t>
            </a:r>
          </a:p>
          <a:p>
            <a:pPr algn="l">
              <a:spcAft>
                <a:spcPts val="400"/>
              </a:spcAft>
            </a:pPr>
            <a:r>
              <a:rPr sz="1050" b="0" i="0">
                <a:solidFill>
                  <a:srgbClr val="0F172A"/>
                </a:solidFill>
              </a:rPr>
              <a:t>[2] M. Heidari Fard and E. Tabrizi, "A hybrid machine learning approach for graduate admission prediction and combined university-program recommendation," arXiv:2603.29881 [cs.IR], Feb. 2026.</a:t>
            </a:r>
          </a:p>
          <a:p>
            <a:pPr algn="l">
              <a:spcAft>
                <a:spcPts val="400"/>
              </a:spcAft>
            </a:pPr>
            <a:r>
              <a:rPr sz="1050" b="0" i="0">
                <a:solidFill>
                  <a:srgbClr val="0F172A"/>
                </a:solidFill>
              </a:rPr>
              <a:t>[3] T. Chen and C. Guestrin, "XGBoost: A scalable tree boosting system," in Proc. 22nd ACM SIGKDD Int. Conf. Knowl. Discovery Data Mining, San Francisco, CA, USA, Aug. 2016, pp. 785-794.</a:t>
            </a:r>
          </a:p>
          <a:p>
            <a:pPr algn="l">
              <a:spcAft>
                <a:spcPts val="400"/>
              </a:spcAft>
            </a:pPr>
            <a:r>
              <a:rPr sz="1050" b="0" i="0">
                <a:solidFill>
                  <a:srgbClr val="0F172A"/>
                </a:solidFill>
              </a:rPr>
              <a:t>[4] J. C. Platt, "Probabilistic outputs for support vector machines and comparisons to regularized likelihood methods," in Advances in Large Margin Classifiers, A. J. Smola, P. Bartlett, B. Scholkopf and D. Schuurmans, Eds. Cambridge, MA, USA: MIT Press, 1999, pp. 61-74.</a:t>
            </a:r>
          </a:p>
          <a:p>
            <a:pPr algn="l">
              <a:spcAft>
                <a:spcPts val="400"/>
              </a:spcAft>
            </a:pPr>
            <a:r>
              <a:rPr sz="1050" b="0" i="0">
                <a:solidFill>
                  <a:srgbClr val="0F172A"/>
                </a:solidFill>
              </a:rPr>
              <a:t>[5] S. M. Lundberg and S.-I. Lee, "A unified approach to interpreting model predictions," in Advances in Neural Information Processing Systems 30 (NIPS 2017), Long Beach, CA, USA, Dec. 2017, pp. 4765-4774.</a:t>
            </a:r>
          </a:p>
          <a:p>
            <a:pPr algn="l">
              <a:spcAft>
                <a:spcPts val="400"/>
              </a:spcAft>
            </a:pPr>
            <a:r>
              <a:rPr sz="1050" b="0" i="0">
                <a:solidFill>
                  <a:srgbClr val="0F172A"/>
                </a:solidFill>
              </a:rPr>
              <a:t>[6] F. Pedregosa et al., "Scikit-learn: Machine learning in Python," J. Mach. Learn. Res., vol. 12, pp. 2825-2830, Oct. 2011.</a:t>
            </a:r>
          </a:p>
        </p:txBody>
      </p:sp>
      <p:sp>
        <p:nvSpPr>
          <p:cNvPr id="27" name="TextBox 26"/>
          <p:cNvSpPr txBox="1"/>
          <p:nvPr/>
        </p:nvSpPr>
        <p:spPr>
          <a:xfrm>
            <a:off x="6199632" y="1234440"/>
            <a:ext cx="5440680" cy="5029200"/>
          </a:xfrm>
          <a:prstGeom prst="rect">
            <a:avLst/>
          </a:prstGeom>
          <a:noFill/>
        </p:spPr>
        <p:txBody>
          <a:bodyPr wrap="square" lIns="0" rIns="0" tIns="0" bIns="0" anchor="t">
            <a:spAutoFit/>
          </a:bodyPr>
          <a:lstStyle/>
          <a:p>
            <a:pPr algn="l">
              <a:spcAft>
                <a:spcPts val="400"/>
              </a:spcAft>
            </a:pPr>
            <a:r>
              <a:rPr sz="1050" b="0" i="0">
                <a:solidFill>
                  <a:srgbClr val="0F172A"/>
                </a:solidFill>
              </a:rPr>
              <a:t>[15] M. H. Baffa, M. A. Miyim and A. S. Dauda, "Machine learning for predicting students' employability," UMYU Scientifica, vol. 2, no. 1, pp. 1-9, Mar. 2023, doi: 10.56919/usci.2123_001.</a:t>
            </a:r>
          </a:p>
          <a:p>
            <a:pPr algn="l">
              <a:spcAft>
                <a:spcPts val="400"/>
              </a:spcAft>
            </a:pPr>
            <a:r>
              <a:rPr sz="1050" b="0" i="0">
                <a:solidFill>
                  <a:srgbClr val="0F172A"/>
                </a:solidFill>
              </a:rPr>
              <a:t>[17] A. Gupta, S. Gupta, P. K. Mall, S. Srivastava, A. S. Saluja, N. Yadav, V. Narayan, M. K. Verma and S. Sriramulu, "ML-CPC: A pathway for machine learning based campus placement classification," J. Electr. Syst., vol. 20, no. 3s, 2024, doi: 10.52783/jes.1521.</a:t>
            </a:r>
          </a:p>
          <a:p>
            <a:pPr algn="l">
              <a:spcAft>
                <a:spcPts val="400"/>
              </a:spcAft>
            </a:pPr>
            <a:r>
              <a:rPr sz="1050" b="0" i="0">
                <a:solidFill>
                  <a:srgbClr val="0F172A"/>
                </a:solidFill>
              </a:rPr>
              <a:t>[18] A. Pathak, M. Matcha, M. Gopisetti and S. Joshi, "A machine learning framework for predicting student placement outcomes," Ing. Syst. Inf. (ISI), vol. 30, no. 7, pp. 1715-1721, Jul. 2025, doi: 10.18280/isi.300704.</a:t>
            </a:r>
          </a:p>
          <a:p>
            <a:pPr algn="l">
              <a:spcAft>
                <a:spcPts val="400"/>
              </a:spcAft>
            </a:pPr>
            <a:r>
              <a:rPr sz="1050" b="0" i="0">
                <a:solidFill>
                  <a:srgbClr val="0F172A"/>
                </a:solidFill>
              </a:rPr>
              <a:t>[19] A. D. P. Kumar, V. Kuchhadia, G. Charan, G. Sreeja and N. Pavan, "Predicting student employability using machine learning: A comparative study of classification algorithms," in Proc. Int. Conf. Comput. Sci. Commun. Eng. (ICCSCE 2025), Hyderabad, India, Apr. 2025, pp. 799-812, doi: 10.2991/978-94-6463-858-5_68.</a:t>
            </a:r>
          </a:p>
          <a:p>
            <a:pPr algn="l">
              <a:spcAft>
                <a:spcPts val="400"/>
              </a:spcAft>
            </a:pPr>
            <a:r>
              <a:rPr sz="1050" b="0" i="0">
                <a:solidFill>
                  <a:srgbClr val="0F172A"/>
                </a:solidFill>
              </a:rPr>
              <a:t>[21] S. K. Thangavel, P. D. Bkaratki and A. Sankar, "Student placement analyzer: A recommendation system using machine learning," in Proc. 4th Int. Conf. Adv. Comput. Commun. Syst. (ICACCS), IEEE, 2017 (authors as listed in the Amrita University publication record).</a:t>
            </a:r>
          </a:p>
          <a:p>
            <a:pPr algn="l">
              <a:spcAft>
                <a:spcPts val="400"/>
              </a:spcAft>
            </a:pPr>
            <a:r>
              <a:rPr sz="1050" b="0" i="0">
                <a:solidFill>
                  <a:srgbClr val="0F172A"/>
                </a:solidFill>
              </a:rPr>
              <a:t>[23] C. Romero and S. Ventura, "Educational data mining: A review of the state of the art," IEEE Trans. Syst., Man, Cybern. C, Appl. Rev., vol. 40, no. 6, pp. 601-618, Nov. 2010.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Placement">
  <a:themeElements>
    <a:clrScheme name="Placement">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Place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lacement">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Campus Placement System: Review 1</dc:title>
  <dc:subject>Batch C5 (CSE-C)</dc:subject>
  <dc:creator>Mopidevi Bhagyasri, Pamulaparthi Harsha Vardan Reddy, Mohammad Faruk Baba, Prahalladh Terati</dc:creator>
  <cp:lastModifiedBy/>
  <cp:revision>1</cp:revision>
  <dcterms:created xsi:type="dcterms:W3CDTF">2026-10-13T12:36:40Z</dcterms:created>
  <dcterms:modified xsi:type="dcterms:W3CDTF">2026-10-13T12:36:40Z</dcterms:modified>
  <cp:keywords>campus placement, XGBoost, kNN, recommendation, educational data mining</cp:keywords>
  <dc:description/>
</cp:coreProperties>
</file>