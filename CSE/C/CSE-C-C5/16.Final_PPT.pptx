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media/image-1-1.jpg" ContentType="image/jpg"/>
  <Override PartName="/ppt/media/image-10-1.jpg" ContentType="image/jpg"/>
  <Override PartName="/ppt/media/image-11-1.jpg" ContentType="image/jpg"/>
  <Override PartName="/ppt/media/image-12-1.jpg" ContentType="image/jpg"/>
  <Override PartName="/ppt/media/image-13-1.jpg" ContentType="image/jpg"/>
  <Override PartName="/ppt/media/image-14-1.jpg" ContentType="image/jpg"/>
  <Override PartName="/ppt/media/image-15-1.jpg" ContentType="image/jpg"/>
  <Override PartName="/ppt/media/image-16-1.jpg" ContentType="image/jpg"/>
  <Override PartName="/ppt/media/image-17-1.jpg" ContentType="image/jpg"/>
  <Override PartName="/ppt/media/image-18-1.jpg" ContentType="image/jpg"/>
  <Override PartName="/ppt/media/image-19-1.jpg" ContentType="image/jpg"/>
  <Override PartName="/ppt/media/image-2-1.jpg" ContentType="image/jpg"/>
  <Override PartName="/ppt/media/image-20-1.jpg" ContentType="image/jpg"/>
  <Override PartName="/ppt/media/image-21-1.jpg" ContentType="image/jpg"/>
  <Override PartName="/ppt/media/image-22-1.jpg" ContentType="image/jpg"/>
  <Override PartName="/ppt/media/image-23-1.jpg" ContentType="image/jpg"/>
  <Override PartName="/ppt/media/image-24-1.jpg" ContentType="image/jpg"/>
  <Override PartName="/ppt/media/image-25-1.jpg" ContentType="image/jpg"/>
  <Override PartName="/ppt/media/image-26-1.jpg" ContentType="image/jpg"/>
  <Override PartName="/ppt/media/image-27-1.jpg" ContentType="image/jpg"/>
  <Override PartName="/ppt/media/image-28-1.jpg" ContentType="image/jpg"/>
  <Override PartName="/ppt/media/image-3-1.jpg" ContentType="image/jpg"/>
  <Override PartName="/ppt/media/image-4-1.jpg" ContentType="image/jpg"/>
  <Override PartName="/ppt/media/image-5-1.jpg" ContentType="image/jpg"/>
  <Override PartName="/ppt/media/image-6-1.jpg" ContentType="image/jpg"/>
  <Override PartName="/ppt/media/image-7-1.jpg" ContentType="image/jpg"/>
  <Override PartName="/ppt/media/image-8-1.jpg" ContentType="image/jpg"/>
  <Override PartName="/ppt/media/image-9-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Placed rate by target tier</c:v>
                </c:pt>
              </c:strCache>
            </c:strRef>
          </c:tx>
          <c:spPr>
            <a:solidFill>
              <a:srgbClr val="2E75B6"/>
            </a:solidFill>
          </c:spPr>
          <c:cat>
            <c:strRef>
              <c:f>Sheet1!$A$2:$A$4</c:f>
              <c:strCache>
                <c:ptCount val="3"/>
                <c:pt idx="0">
                  <c:v>Tier 1</c:v>
                </c:pt>
                <c:pt idx="1">
                  <c:v>Tier 2</c:v>
                </c:pt>
                <c:pt idx="2">
                  <c:v>Tier 3</c:v>
                </c:pt>
              </c:strCache>
            </c:strRef>
          </c:cat>
          <c:val>
            <c:numRef>
              <c:f>Sheet1!$B$2:$B$4</c:f>
              <c:numCache>
                <c:formatCode>General</c:formatCode>
                <c:ptCount val="3"/>
                <c:pt idx="0">
                  <c:v>0.096</c:v>
                </c:pt>
                <c:pt idx="1">
                  <c:v>0.495</c:v>
                </c:pt>
                <c:pt idx="2">
                  <c:v>0.816</c:v>
                </c:pt>
              </c:numCache>
            </c:numRef>
          </c:val>
        </c:ser>
        <c:dLbls>
          <c:numFmt formatCode="0.0%" sourceLinked="0"/>
          <c:txPr>
            <a:bodyPr/>
            <a:lstStyle/>
            <a:p>
              <a:pPr>
                <a:defRPr sz="10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5DCE6"/>
            </a:solidFill>
          </a:ln>
        </c:spPr>
        <c:crossAx val="-2113994440"/>
        <c:crosses val="autoZero"/>
        <c:auto val="1"/>
        <c:lblAlgn val="ctr"/>
        <c:lblOffset val="100"/>
        <c:noMultiLvlLbl val="0"/>
      </c:catAx>
      <c:valAx>
        <c:axId val="-2113994440"/>
        <c:scaling>
          <c:max val="1.0"/>
          <c:min val="0.0"/>
        </c:scaling>
        <c:delete val="0"/>
        <c:axPos val="l"/>
        <c:majorGridlines>
          <c:spPr>
            <a:ln>
              <a:solidFill>
                <a:srgbClr val="D5DCE6"/>
              </a:solidFill>
            </a:ln>
          </c:spPr>
        </c:majorGridlines>
        <c:numFmt formatCode="0.0%" sourceLinked="0"/>
        <c:majorTickMark val="out"/>
        <c:minorTickMark val="none"/>
        <c:tickLblPos val="nextTo"/>
        <c:spPr>
          <a:ln>
            <a:noFill/>
          </a:ln>
        </c:spPr>
        <c:crossAx val="-2068027336"/>
        <c:crosses val="autoZero"/>
      </c:valAx>
    </c:plotArea>
    <c:dispBlanksAs val="gap"/>
  </c:chart>
  <c:txPr>
    <a:bodyPr/>
    <a:lstStyle/>
    <a:p>
      <a:pPr>
        <a:defRPr sz="11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team and the project: a placement-prediction and company-recommendation system with officer and recruiter tools.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agenda follows the report: problem, design, method, results, comparison, screens, conclusion.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first two bullets, then the headline numbers with their protocol and the honest caveat about the hybrid.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batch's declared base paper reports no numbers, so numeric context comes from the admissions paper whose hybrid method the code adapts. Both are cited.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Representative work. Where a work's figures were not checked they are not quoted. Four further titles from the project survey could not be verified online and are listed in the report as unverified.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Five gaps. We address the first three directly, measure the fourth, and state the fifth as a limitation.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statement has three parts: estimate, explain and recommend, and serve three user groups.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six objectives of the proposal. The conclusion reports for each whether it was met; objective 1 (collect real records) was met only with synthetic data.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proposed system in one line of boxes, then four properties that matter.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Interfaces on the left, one shared core in the middle, files on the right.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Workflow and measurements. The shipped pickles reproduce the stored metrics; a fresh retrain drifts by at most 0.011.</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Dataset, features and model in one view. The dataset is synthetic; the tier effect is a property of the generator, not a finding about real placements.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serving rule in src/recommend.py. The threshold behaviour is analysed on slide 19.</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Sequence of one prediction request and the use cases of student, officer, recruiter and developer.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Honest point: the project stores files, not rows.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Highlights: validation, reuse of the original code, rule-based tips and the known limits.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table is the headline result. Stress the reading: the data is synthetic, so Logistic Regression is strong, and the hybrid gain depends on using the labels.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Rows are the true class, columns the prediction. The hybrid's recall gain disappears without labels. The recommendation gains are estimates from the same model.</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decision threshold trades precision for recall; accuracy hardly moves. The kNN refinement band makes no measurable difference. SHAP shows the gap features dominate, as the generator intended.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46 scripted checks plus the 15-check smoke test. Recommendation takes 3 to 8 s; caching the models is the obvious fix and was not done.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State plainly that the datasets differ. The accuracy numbers are context, not a ranking.</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Real screenshots of the running application. Point out that recommendations lean to easier Tier-3 companies because the ranking maximises probability.</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dashboard shows shipped metrics (the label-based hybrid); the label-free check is in this deck and the report.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Recruiter shortlist and the company board. The placed tags are the synthetic labels.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 explicit about which objectives were met and which were not.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Concrete next steps, ordered by value.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Selected references; the complete numbered list is in the report.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 Id="rId4" Type="http://schemas.openxmlformats.org/officeDocument/2006/relationships/chart" Target="../charts/chart1.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3.png"/><Relationship Id="rId3" Type="http://schemas.openxmlformats.org/officeDocument/2006/relationships/slideLayout" Target="../slideLayouts/slideLayout1.xml"/><Relationship Id="rId4" Type="http://schemas.openxmlformats.org/officeDocument/2006/relationships/notesSlide" Target="../notesSlides/notesSlide14.xml"/><Relationship Id="rId5"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5.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7.png"/><Relationship Id="rId3" Type="http://schemas.openxmlformats.org/officeDocument/2006/relationships/image" Target="../media/image6.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9.png"/><Relationship Id="rId3" Type="http://schemas.openxmlformats.org/officeDocument/2006/relationships/image" Target="../media/image8.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image" Target="../media/image11.png"/><Relationship Id="rId3" Type="http://schemas.openxmlformats.org/officeDocument/2006/relationships/image" Target="../media/image10.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image" Target="../media/image13.png"/><Relationship Id="rId3" Type="http://schemas.openxmlformats.org/officeDocument/2006/relationships/image" Target="../media/image12.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image" Target="../media/image15.png"/><Relationship Id="rId3" Type="http://schemas.openxmlformats.org/officeDocument/2006/relationships/image" Target="../media/image14.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548640" y="1373177"/>
            <a:ext cx="11064240" cy="1005840"/>
          </a:xfrm>
          <a:prstGeom prst="rect">
            <a:avLst/>
          </a:prstGeom>
          <a:noFill/>
          <a:ln/>
        </p:spPr>
        <p:txBody>
          <a:bodyPr wrap="square" rtlCol="0" anchor="ctr"/>
          <a:lstStyle/>
          <a:p>
            <a:pPr algn="ctr" indent="0" marL="0">
              <a:buNone/>
            </a:pPr>
            <a:r>
              <a:rPr lang="en-US" sz="2800" b="1" dirty="0">
                <a:solidFill>
                  <a:srgbClr val="1F3864"/>
                </a:solidFill>
                <a:latin typeface="Calibri" pitchFamily="34" charset="0"/>
                <a:ea typeface="Calibri" pitchFamily="34" charset="-122"/>
                <a:cs typeface="Calibri" pitchFamily="34" charset="-120"/>
              </a:rPr>
              <a:t>Smart Campus Placement System</a:t>
            </a:r>
            <a:endParaRPr lang="en-US" sz="3200" dirty="0"/>
          </a:p>
        </p:txBody>
      </p:sp>
      <p:sp>
        <p:nvSpPr>
          <p:cNvPr id="5" name="Text 2"/>
          <p:cNvSpPr/>
          <p:nvPr/>
        </p:nvSpPr>
        <p:spPr>
          <a:xfrm>
            <a:off x="548640" y="2379017"/>
            <a:ext cx="11064240" cy="457200"/>
          </a:xfrm>
          <a:prstGeom prst="rect">
            <a:avLst/>
          </a:prstGeom>
          <a:noFill/>
          <a:ln/>
        </p:spPr>
        <p:txBody>
          <a:bodyPr wrap="square" rtlCol="0" anchor="ctr"/>
          <a:lstStyle/>
          <a:p>
            <a:pPr algn="ctr" indent="0" marL="0">
              <a:buNone/>
            </a:pPr>
            <a:r>
              <a:rPr lang="en-US" sz="2000" dirty="0">
                <a:solidFill>
                  <a:srgbClr val="2E75B6"/>
                </a:solidFill>
                <a:latin typeface="Calibri" pitchFamily="34" charset="0"/>
                <a:ea typeface="Calibri" pitchFamily="34" charset="-122"/>
                <a:cs typeface="Calibri" pitchFamily="34" charset="-120"/>
              </a:rPr>
              <a:t>Final Review  ·  Smart Campus Placement System</a:t>
            </a:r>
            <a:endParaRPr lang="en-US" sz="2000" dirty="0"/>
          </a:p>
        </p:txBody>
      </p:sp>
      <p:sp>
        <p:nvSpPr>
          <p:cNvPr id="6" name="Text 3"/>
          <p:cNvSpPr/>
          <p:nvPr/>
        </p:nvSpPr>
        <p:spPr>
          <a:xfrm>
            <a:off x="731520" y="3110537"/>
            <a:ext cx="5486400" cy="365760"/>
          </a:xfrm>
          <a:prstGeom prst="rect">
            <a:avLst/>
          </a:prstGeom>
          <a:noFill/>
          <a:ln/>
        </p:spPr>
        <p:txBody>
          <a:bodyPr wrap="square" rtlCol="0" anchor="ctr"/>
          <a:lstStyle/>
          <a:p>
            <a:pPr indent="0" marL="0">
              <a:buNone/>
            </a:pPr>
            <a:r>
              <a:rPr lang="en-US" sz="1800" b="1" dirty="0">
                <a:solidFill>
                  <a:srgbClr val="1F3864"/>
                </a:solidFill>
                <a:latin typeface="Calibri" pitchFamily="34" charset="0"/>
                <a:ea typeface="Calibri" pitchFamily="34" charset="-122"/>
                <a:cs typeface="Calibri" pitchFamily="34" charset="-120"/>
              </a:rPr>
              <a:t>Team Details : Batch C5</a:t>
            </a:r>
            <a:endParaRPr lang="en-US" sz="1800" dirty="0"/>
          </a:p>
        </p:txBody>
      </p:sp>
      <p:sp>
        <p:nvSpPr>
          <p:cNvPr id="7" name="Text 4"/>
          <p:cNvSpPr/>
          <p:nvPr/>
        </p:nvSpPr>
        <p:spPr>
          <a:xfrm>
            <a:off x="731520" y="3522017"/>
            <a:ext cx="5486400" cy="1645920"/>
          </a:xfrm>
          <a:prstGeom prst="rect">
            <a:avLst/>
          </a:prstGeom>
          <a:noFill/>
          <a:ln/>
        </p:spPr>
        <p:txBody>
          <a:bodyPr wrap="square" rtlCol="0" anchor="t"/>
          <a:lstStyle/>
          <a:p>
            <a:pPr indent="0" marL="0">
              <a:buNone/>
            </a:pPr>
            <a:r>
              <a:rPr lang="en-US" sz="1600" dirty="0">
                <a:solidFill>
                  <a:srgbClr val="222222"/>
                </a:solidFill>
                <a:latin typeface="Calibri" pitchFamily="34" charset="0"/>
                <a:ea typeface="Calibri" pitchFamily="34" charset="-122"/>
                <a:cs typeface="Calibri" pitchFamily="34" charset="-120"/>
              </a:rPr>
              <a:t>23K91A05F9   Mopidevi Bhagyasri</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23K91A05J0   Pamulaparthi Harsha Vardan Reddy</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23K91A05F3   Mohammad Faruk Baba</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23K91A05J8   Prahalladh Terati</a:t>
            </a:r>
            <a:endParaRPr lang="en-US" sz="1600" dirty="0"/>
          </a:p>
        </p:txBody>
      </p:sp>
      <p:sp>
        <p:nvSpPr>
          <p:cNvPr id="8" name="Text 5"/>
          <p:cNvSpPr/>
          <p:nvPr/>
        </p:nvSpPr>
        <p:spPr>
          <a:xfrm>
            <a:off x="6675120" y="3110537"/>
            <a:ext cx="4937760" cy="1371600"/>
          </a:xfrm>
          <a:prstGeom prst="rect">
            <a:avLst/>
          </a:prstGeom>
          <a:noFill/>
          <a:ln/>
        </p:spPr>
        <p:txBody>
          <a:bodyPr wrap="square" rtlCol="0" anchor="t"/>
          <a:lstStyle/>
          <a:p>
            <a:pPr indent="0" marL="0">
              <a:buNone/>
            </a:pPr>
            <a:r>
              <a:rPr lang="en-US" sz="1600" b="1" dirty="0">
                <a:solidFill>
                  <a:srgbClr val="1F3864"/>
                </a:solidFill>
                <a:latin typeface="Calibri" pitchFamily="34" charset="0"/>
                <a:ea typeface="Calibri" pitchFamily="34" charset="-122"/>
                <a:cs typeface="Calibri" pitchFamily="34" charset="-120"/>
              </a:rPr>
              <a:t>Under the Esteemed Guidance of</a:t>
            </a:r>
            <a:endParaRPr lang="en-US" sz="1600" dirty="0"/>
          </a:p>
          <a:p>
            <a:pPr indent="0" marL="0">
              <a:buNone/>
            </a:pPr>
            <a:r>
              <a:rPr lang="en-US" sz="1600" b="1" dirty="0">
                <a:solidFill>
                  <a:srgbClr val="1F3864"/>
                </a:solidFill>
                <a:latin typeface="Calibri" pitchFamily="34" charset="0"/>
                <a:ea typeface="Calibri" pitchFamily="34" charset="-122"/>
                <a:cs typeface="Calibri" pitchFamily="34" charset="-120"/>
              </a:rPr>
              <a:t>S Usha Devi</a:t>
            </a:r>
            <a:endParaRPr lang="en-US" sz="1600" dirty="0"/>
          </a:p>
          <a:p>
            <a:pPr indent="0" marL="0">
              <a:buNone/>
            </a:pPr>
            <a:r>
              <a:rPr lang="en-US" sz="1600" b="1" dirty="0">
                <a:solidFill>
                  <a:srgbClr val="1F3864"/>
                </a:solidFill>
                <a:latin typeface="Calibri" pitchFamily="34" charset="0"/>
                <a:ea typeface="Calibri" pitchFamily="34" charset="-122"/>
                <a:cs typeface="Calibri" pitchFamily="34" charset="-120"/>
              </a:rPr>
              <a:t>[DESIGNATION], Department of CSE</a:t>
            </a:r>
            <a:endParaRPr lang="en-US" sz="1600" dirty="0"/>
          </a:p>
        </p:txBody>
      </p:sp>
      <p:sp>
        <p:nvSpPr>
          <p:cNvPr id="9" name="Text 6"/>
          <p:cNvSpPr/>
          <p:nvPr/>
        </p:nvSpPr>
        <p:spPr>
          <a:xfrm>
            <a:off x="548640" y="6035040"/>
            <a:ext cx="11064240" cy="320040"/>
          </a:xfrm>
          <a:prstGeom prst="rect">
            <a:avLst/>
          </a:prstGeom>
          <a:noFill/>
          <a:ln/>
        </p:spPr>
        <p:txBody>
          <a:bodyPr wrap="square" rtlCol="0" anchor="ctr"/>
          <a:lstStyle/>
          <a:p>
            <a:pPr algn="ctr" indent="0" marL="0">
              <a:buNone/>
            </a:pPr>
            <a:r>
              <a:rPr lang="en-US" sz="1200" dirty="0">
                <a:solidFill>
                  <a:srgbClr val="595959"/>
                </a:solidFill>
                <a:latin typeface="Calibri" pitchFamily="34" charset="0"/>
                <a:ea typeface="Calibri" pitchFamily="34" charset="-122"/>
                <a:cs typeface="Calibri" pitchFamily="34" charset="-120"/>
              </a:rPr>
              <a:t>DEPARTMENT OF COMPUTER SCIENCE AND ENGINEERING  ·  TKR College of Engineering &amp; Technology  ·  Academic Year [ACADEMIC YEAR]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Table of Contents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C5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a:t>
            </a:r>
            <a:endParaRPr lang="en-US" sz="1000" dirty="0"/>
          </a:p>
        </p:txBody>
      </p:sp>
      <p:sp>
        <p:nvSpPr>
          <p:cNvPr id="7" name="Text 4"/>
          <p:cNvSpPr/>
          <p:nvPr/>
        </p:nvSpPr>
        <p:spPr>
          <a:xfrm>
            <a:off x="548640" y="1738937"/>
            <a:ext cx="11064240" cy="4524703"/>
          </a:xfrm>
          <a:prstGeom prst="rect">
            <a:avLst/>
          </a:prstGeom>
          <a:noFill/>
          <a:ln/>
        </p:spPr>
        <p:txBody>
          <a:bodyPr wrap="square" rtlCol="0" anchor="t"/>
          <a:lstStyle/>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Abstract</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Base Paper &amp; Literature Survey</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Research Gap, Problem Statement &amp; Objectives</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Proposed System &amp; Architecture</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Methodology, Dataset &amp; Model</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Decision Workflow, Interaction &amp; Storage</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Implementation Highlights</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Results, Confusion Matrices &amp; Threshold Analysis</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Performance &amp; Testing</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Comparison with Base Papers</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Output Screens</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Conclusion, Future Scope &amp; References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Abstract</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C5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3</a:t>
            </a:r>
            <a:endParaRPr lang="en-US" sz="1000" dirty="0"/>
          </a:p>
        </p:txBody>
      </p:sp>
      <p:sp>
        <p:nvSpPr>
          <p:cNvPr id="7" name="TextBox 6"/>
          <p:cNvSpPr txBox="1"/>
          <p:nvPr/>
        </p:nvSpPr>
        <p:spPr>
          <a:xfrm>
            <a:off x="502920" y="1737360"/>
            <a:ext cx="11155680" cy="4480560"/>
          </a:xfrm>
          <a:prstGeom prst="rect">
            <a:avLst/>
          </a:prstGeom>
          <a:noFill/>
        </p:spPr>
        <p:txBody>
          <a:bodyPr wrap="square" lIns="0" rIns="0" tIns="0" bIns="0" anchor="t">
            <a:spAutoFit/>
          </a:bodyPr>
          <a:lstStyle/>
          <a:p>
            <a:pPr algn="l" marL="256032" indent="-201168">
              <a:spcAft>
                <a:spcPts val="1000"/>
              </a:spcAft>
              <a:buChar char="•"/>
            </a:pPr>
            <a:r>
              <a:rPr sz="1700" b="0" i="0">
                <a:solidFill>
                  <a:srgbClr val="222222"/>
                </a:solidFill>
                <a:latin typeface="Calibri"/>
                <a:ea typeface="Calibri"/>
                <a:cs typeface="Calibri"/>
              </a:rPr>
              <a:t>Placement cells keep student records but do no predictive analysis: students learn their readiness late, shortlisting is manual and nobody says which skill or company to target.</a:t>
            </a:r>
          </a:p>
          <a:p>
            <a:pPr algn="l" marL="256032" indent="-201168">
              <a:spcAft>
                <a:spcPts val="1000"/>
              </a:spcAft>
              <a:buChar char="•"/>
            </a:pPr>
            <a:r>
              <a:rPr sz="1700" b="0" i="0">
                <a:solidFill>
                  <a:srgbClr val="222222"/>
                </a:solidFill>
                <a:latin typeface="Calibri"/>
                <a:ea typeface="Calibri"/>
                <a:cs typeface="Calibri"/>
              </a:rPr>
              <a:t>The Smart Campus Placement System estimates the probability that a student is placed at a chosen company and role (24 features, calibrated XGBoost, kNN refinement of borderline cases), gives skill-gap tips, recommends company-role pairs, and offers an officer dashboard and a recruiter shortlist.</a:t>
            </a:r>
          </a:p>
          <a:p>
            <a:pPr algn="l" marL="256032" indent="-201168">
              <a:spcAft>
                <a:spcPts val="1000"/>
              </a:spcAft>
              <a:buChar char="•"/>
            </a:pPr>
            <a:r>
              <a:rPr sz="1700" b="0" i="0">
                <a:solidFill>
                  <a:srgbClr val="222222"/>
                </a:solidFill>
                <a:latin typeface="Calibri"/>
                <a:ea typeface="Calibri"/>
                <a:cs typeface="Calibri"/>
              </a:rPr>
              <a:t>On a </a:t>
            </a:r>
            <a:r>
              <a:rPr sz="1700" b="1" i="0">
                <a:solidFill>
                  <a:srgbClr val="222222"/>
                </a:solidFill>
                <a:latin typeface="Calibri"/>
                <a:ea typeface="Calibri"/>
                <a:cs typeface="Calibri"/>
              </a:rPr>
              <a:t>synthetic</a:t>
            </a:r>
            <a:r>
              <a:rPr sz="1700" b="0" i="0">
                <a:solidFill>
                  <a:srgbClr val="222222"/>
                </a:solidFill>
                <a:latin typeface="Calibri"/>
                <a:ea typeface="Calibri"/>
                <a:cs typeface="Calibri"/>
              </a:rPr>
              <a:t> 3,000-student dataset (450 test students) XGBoost + Platt reaches </a:t>
            </a:r>
            <a:r>
              <a:rPr sz="1700" b="1" i="0">
                <a:solidFill>
                  <a:srgbClr val="222222"/>
                </a:solidFill>
                <a:latin typeface="Calibri"/>
                <a:ea typeface="Calibri"/>
                <a:cs typeface="Calibri"/>
              </a:rPr>
              <a:t>80.67%</a:t>
            </a:r>
            <a:r>
              <a:rPr sz="1700" b="0" i="0">
                <a:solidFill>
                  <a:srgbClr val="222222"/>
                </a:solidFill>
                <a:latin typeface="Calibri"/>
                <a:ea typeface="Calibri"/>
                <a:cs typeface="Calibri"/>
              </a:rPr>
              <a:t> accuracy (AUC 0.8928); the hybrid reaches 84.0% only when the true labels choose the refined rows, and 80.89% without them.</a:t>
            </a:r>
          </a:p>
          <a:p>
            <a:pPr algn="l" marL="256032" indent="-201168">
              <a:spcAft>
                <a:spcPts val="1000"/>
              </a:spcAft>
              <a:buChar char="•"/>
            </a:pPr>
            <a:r>
              <a:rPr sz="1700" b="0" i="0">
                <a:solidFill>
                  <a:srgbClr val="222222"/>
                </a:solidFill>
                <a:latin typeface="Calibri"/>
                <a:ea typeface="Calibri"/>
                <a:cs typeface="Calibri"/>
              </a:rPr>
              <a:t>A FastAPI service and React interface wrap the original code; 46 scripted checks pass; a prediction takes about 66 ms, a recommendation about 5.4 s.</a:t>
            </a:r>
          </a:p>
          <a:p>
            <a:pPr algn="l" marL="256032" indent="-201168">
              <a:spcAft>
                <a:spcPts val="400"/>
              </a:spcAft>
              <a:buChar char="•"/>
            </a:pPr>
            <a:r>
              <a:rPr sz="1700" b="0" i="0">
                <a:solidFill>
                  <a:srgbClr val="222222"/>
                </a:solidFill>
                <a:latin typeface="Calibri"/>
                <a:ea typeface="Calibri"/>
                <a:cs typeface="Calibri"/>
              </a:rPr>
              <a:t>Not done: real placement data, login, database storage and real-outcome validation of recommendations.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Base Papers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C5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4</a:t>
            </a:r>
            <a:endParaRPr lang="en-US" sz="1000" dirty="0"/>
          </a:p>
        </p:txBody>
      </p:sp>
      <p:sp>
        <p:nvSpPr>
          <p:cNvPr id="7" name="TextBox 6"/>
          <p:cNvSpPr txBox="1"/>
          <p:nvPr/>
        </p:nvSpPr>
        <p:spPr>
          <a:xfrm>
            <a:off x="502920" y="1691640"/>
            <a:ext cx="11155680" cy="868680"/>
          </a:xfrm>
          <a:prstGeom prst="rect">
            <a:avLst/>
          </a:prstGeom>
          <a:noFill/>
        </p:spPr>
        <p:txBody>
          <a:bodyPr wrap="square" lIns="0" rIns="0" tIns="0" bIns="0" anchor="t">
            <a:spAutoFit/>
          </a:bodyPr>
          <a:lstStyle/>
          <a:p>
            <a:pPr algn="l">
              <a:spcAft>
                <a:spcPts val="400"/>
              </a:spcAft>
            </a:pPr>
            <a:r>
              <a:rPr sz="1200" b="0" i="0">
                <a:solidFill>
                  <a:srgbClr val="1F3864"/>
                </a:solidFill>
                <a:latin typeface="Calibri"/>
                <a:ea typeface="Calibri"/>
                <a:cs typeface="Calibri"/>
              </a:rPr>
              <a:t>M. Prasanna Kumari, B. Punith, M. Srinath, P. Koushik and Y. Gourav, "Student placement prediction system using machine learning," Int. J. Eng. Technol. Manage. Sci. (IJETMS), vol. 10, no. 3, pp. 47-51, May-Jun. 2026, doi: 10.46647/ijetms.2026.v10i03.008.</a:t>
            </a:r>
          </a:p>
        </p:txBody>
      </p:sp>
      <p:graphicFrame>
        <p:nvGraphicFramePr>
          <p:cNvPr id="8" name="Table 7"/>
          <p:cNvGraphicFramePr>
            <a:graphicFrameLocks noGrp="1"/>
          </p:cNvGraphicFramePr>
          <p:nvPr/>
        </p:nvGraphicFramePr>
        <p:xfrm>
          <a:off x="502920" y="2651760"/>
          <a:ext cx="11155680" cy="3566160"/>
        </p:xfrm>
        <a:graphic>
          <a:graphicData uri="http://schemas.openxmlformats.org/drawingml/2006/table">
            <a:tbl>
              <a:tblPr firstRow="0" bandRow="0">
                <a:tableStyleId>{5C22544A-7EE6-4342-B048-85BDC9FD1C3A}</a:tableStyleId>
              </a:tblPr>
              <a:tblGrid>
                <a:gridCol w="1737360"/>
                <a:gridCol w="4480560"/>
                <a:gridCol w="4937760"/>
              </a:tblGrid>
              <a:tr h="713232">
                <a:tc>
                  <a:txBody>
                    <a:bodyPr wrap="square"/>
                    <a:lstStyle/>
                    <a:p>
                      <a:pPr algn="ctr"/>
                      <a:r>
                        <a:rPr sz="1300" b="1">
                          <a:solidFill>
                            <a:srgbClr val="1F3864"/>
                          </a:solidFill>
                          <a:latin typeface="Calibri"/>
                          <a:ea typeface="Calibri"/>
                          <a:cs typeface="Calibri"/>
                        </a:rPr>
                        <a:t>Aspect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300" b="1">
                          <a:solidFill>
                            <a:srgbClr val="1F3864"/>
                          </a:solidFill>
                          <a:latin typeface="Calibri"/>
                          <a:ea typeface="Calibri"/>
                          <a:cs typeface="Calibri"/>
                        </a:rPr>
                        <a:t>Declared base paper [1] (IJETMS 2026)</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300" b="1">
                          <a:solidFill>
                            <a:srgbClr val="1F3864"/>
                          </a:solidFill>
                          <a:latin typeface="Calibri"/>
                          <a:ea typeface="Calibri"/>
                          <a:cs typeface="Calibri"/>
                        </a:rPr>
                        <a:t>Technique source [2] (arXiv:2603.29881)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713232">
                <a:tc>
                  <a:txBody>
                    <a:bodyPr wrap="square"/>
                    <a:lstStyle/>
                    <a:p>
                      <a:pPr algn="l"/>
                      <a:r>
                        <a:rPr sz="1300" b="1">
                          <a:solidFill>
                            <a:srgbClr val="222222"/>
                          </a:solidFill>
                          <a:latin typeface="Calibri"/>
                          <a:ea typeface="Calibri"/>
                          <a:cs typeface="Calibri"/>
                        </a:rPr>
                        <a:t>Task / data</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300" b="0">
                          <a:solidFill>
                            <a:srgbClr val="222222"/>
                          </a:solidFill>
                          <a:latin typeface="Calibri"/>
                          <a:ea typeface="Calibri"/>
                          <a:cs typeface="Calibri"/>
                        </a:rPr>
                        <a:t>Placement prediction; synthetic records, 80:20 split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300" b="0">
                          <a:solidFill>
                            <a:srgbClr val="222222"/>
                          </a:solidFill>
                          <a:latin typeface="Calibri"/>
                          <a:ea typeface="Calibri"/>
                          <a:cs typeface="Calibri"/>
                        </a:rPr>
                        <a:t>Graduate admission prediction; 13,000 real GradCafe records, 70/15/15</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713232">
                <a:tc>
                  <a:txBody>
                    <a:bodyPr wrap="square"/>
                    <a:lstStyle/>
                    <a:p>
                      <a:pPr algn="l"/>
                      <a:r>
                        <a:rPr sz="1300" b="1">
                          <a:solidFill>
                            <a:srgbClr val="222222"/>
                          </a:solidFill>
                          <a:latin typeface="Calibri"/>
                          <a:ea typeface="Calibri"/>
                          <a:cs typeface="Calibri"/>
                        </a:rPr>
                        <a:t>Method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300" b="0">
                          <a:solidFill>
                            <a:srgbClr val="222222"/>
                          </a:solidFill>
                          <a:latin typeface="Calibri"/>
                          <a:ea typeface="Calibri"/>
                          <a:cs typeface="Calibri"/>
                        </a:rPr>
                        <a:t>Logistic Regression, Random Forest, Gradient Boosting; Streamlit app, batch CSV, PDF report, e-mail</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300" b="0">
                          <a:solidFill>
                            <a:srgbClr val="222222"/>
                          </a:solidFill>
                          <a:latin typeface="Calibri"/>
                          <a:ea typeface="Calibri"/>
                          <a:cs typeface="Calibri"/>
                        </a:rPr>
                        <a:t>XGBoost + Platt; kNN / SVM refinement of residual cases; university-program recommendation; SHAP</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713232">
                <a:tc>
                  <a:txBody>
                    <a:bodyPr wrap="square"/>
                    <a:lstStyle/>
                    <a:p>
                      <a:pPr algn="l"/>
                      <a:r>
                        <a:rPr sz="1300" b="1">
                          <a:solidFill>
                            <a:srgbClr val="222222"/>
                          </a:solidFill>
                          <a:latin typeface="Calibri"/>
                          <a:ea typeface="Calibri"/>
                          <a:cs typeface="Calibri"/>
                        </a:rPr>
                        <a:t>Reported results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300" b="0">
                          <a:solidFill>
                            <a:srgbClr val="222222"/>
                          </a:solidFill>
                          <a:latin typeface="Calibri"/>
                          <a:ea typeface="Calibri"/>
                          <a:cs typeface="Calibri"/>
                        </a:rPr>
                        <a:t>None numeric (only the split and model names)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300" b="0">
                          <a:solidFill>
                            <a:srgbClr val="222222"/>
                          </a:solidFill>
                          <a:latin typeface="Calibri"/>
                          <a:ea typeface="Calibri"/>
                          <a:cs typeface="Calibri"/>
                        </a:rPr>
                        <a:t>XGBoost 0.7241; XGBoost + kNN hybrid 0.8723; Brier 0.1864; recommendation +65.1% mean acceptance probability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713232">
                <a:tc>
                  <a:txBody>
                    <a:bodyPr wrap="square"/>
                    <a:lstStyle/>
                    <a:p>
                      <a:pPr algn="l"/>
                      <a:r>
                        <a:rPr sz="1300" b="1">
                          <a:solidFill>
                            <a:srgbClr val="222222"/>
                          </a:solidFill>
                          <a:latin typeface="Calibri"/>
                          <a:ea typeface="Calibri"/>
                          <a:cs typeface="Calibri"/>
                        </a:rPr>
                        <a:t>Stated limits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300" b="0">
                          <a:solidFill>
                            <a:srgbClr val="222222"/>
                          </a:solidFill>
                          <a:latin typeface="Calibri"/>
                          <a:ea typeface="Calibri"/>
                          <a:cs typeface="Calibri"/>
                        </a:rPr>
                        <a:t>No company recommendation; no numbers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300" b="0">
                          <a:solidFill>
                            <a:srgbClr val="222222"/>
                          </a:solidFill>
                          <a:latin typeface="Calibri"/>
                          <a:ea typeface="Calibri"/>
                          <a:cs typeface="Calibri"/>
                        </a:rPr>
                        <a:t>Residual set uses true labels; US-centric self-reported data</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Literature Survey</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C5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5</a:t>
            </a:r>
            <a:endParaRPr lang="en-US" sz="1000" dirty="0"/>
          </a:p>
        </p:txBody>
      </p:sp>
      <p:graphicFrame>
        <p:nvGraphicFramePr>
          <p:cNvPr id="7" name="Table 6"/>
          <p:cNvGraphicFramePr>
            <a:graphicFrameLocks noGrp="1"/>
          </p:cNvGraphicFramePr>
          <p:nvPr/>
        </p:nvGraphicFramePr>
        <p:xfrm>
          <a:off x="502920" y="1691640"/>
          <a:ext cx="11155680" cy="3968496"/>
        </p:xfrm>
        <a:graphic>
          <a:graphicData uri="http://schemas.openxmlformats.org/drawingml/2006/table">
            <a:tbl>
              <a:tblPr firstRow="0" bandRow="0">
                <a:tableStyleId>{5C22544A-7EE6-4342-B048-85BDC9FD1C3A}</a:tableStyleId>
              </a:tblPr>
              <a:tblGrid>
                <a:gridCol w="1737360"/>
                <a:gridCol w="2651760"/>
                <a:gridCol w="1828800"/>
                <a:gridCol w="2651760"/>
                <a:gridCol w="2286000"/>
              </a:tblGrid>
              <a:tr h="566928">
                <a:tc>
                  <a:txBody>
                    <a:bodyPr wrap="square"/>
                    <a:lstStyle/>
                    <a:p>
                      <a:pPr algn="ctr"/>
                      <a:r>
                        <a:rPr sz="950" b="1">
                          <a:solidFill>
                            <a:srgbClr val="1F3864"/>
                          </a:solidFill>
                          <a:latin typeface="Calibri"/>
                          <a:ea typeface="Calibri"/>
                          <a:cs typeface="Calibri"/>
                        </a:rPr>
                        <a:t>Author / Year</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950" b="1">
                          <a:solidFill>
                            <a:srgbClr val="1F3864"/>
                          </a:solidFill>
                          <a:latin typeface="Calibri"/>
                          <a:ea typeface="Calibri"/>
                          <a:cs typeface="Calibri"/>
                        </a:rPr>
                        <a:t>Methodology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950" b="1">
                          <a:solidFill>
                            <a:srgbClr val="1F3864"/>
                          </a:solidFill>
                          <a:latin typeface="Calibri"/>
                          <a:ea typeface="Calibri"/>
                          <a:cs typeface="Calibri"/>
                        </a:rPr>
                        <a:t>Dataset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950" b="1">
                          <a:solidFill>
                            <a:srgbClr val="1F3864"/>
                          </a:solidFill>
                          <a:latin typeface="Calibri"/>
                          <a:ea typeface="Calibri"/>
                          <a:cs typeface="Calibri"/>
                        </a:rPr>
                        <a:t>Key Results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950" b="1">
                          <a:solidFill>
                            <a:srgbClr val="1F3864"/>
                          </a:solidFill>
                          <a:latin typeface="Calibri"/>
                          <a:ea typeface="Calibri"/>
                          <a:cs typeface="Calibri"/>
                        </a:rPr>
                        <a:t>Limitations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566928">
                <a:tc>
                  <a:txBody>
                    <a:bodyPr wrap="square"/>
                    <a:lstStyle/>
                    <a:p>
                      <a:pPr algn="l"/>
                      <a:r>
                        <a:rPr sz="950" b="1">
                          <a:solidFill>
                            <a:srgbClr val="222222"/>
                          </a:solidFill>
                          <a:latin typeface="Calibri"/>
                          <a:ea typeface="Calibri"/>
                          <a:cs typeface="Calibri"/>
                        </a:rPr>
                        <a:t>Prasanna Kumari et al. 2026 [1]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950" b="0">
                          <a:solidFill>
                            <a:srgbClr val="222222"/>
                          </a:solidFill>
                          <a:latin typeface="Calibri"/>
                          <a:ea typeface="Calibri"/>
                          <a:cs typeface="Calibri"/>
                        </a:rPr>
                        <a:t>Logistic Regression, Random Forest and Gradient Boosting on student attributes; Streamlit app with batch CSV prediction, skill-gap analysis, PDF report and e-mail</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950" b="0">
                          <a:solidFill>
                            <a:srgbClr val="222222"/>
                          </a:solidFill>
                          <a:latin typeface="Calibri"/>
                          <a:ea typeface="Calibri"/>
                          <a:cs typeface="Calibri"/>
                        </a:rPr>
                        <a:t>Synthetic student records (size not stated); 80:20 split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950" b="0">
                          <a:solidFill>
                            <a:srgbClr val="222222"/>
                          </a:solidFill>
                          <a:latin typeface="Calibri"/>
                          <a:ea typeface="Calibri"/>
                          <a:cs typeface="Calibri"/>
                        </a:rPr>
                        <a:t>No accuracy, F1 or AUC is reported in the paper</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950" b="0">
                          <a:solidFill>
                            <a:srgbClr val="222222"/>
                          </a:solidFill>
                          <a:latin typeface="Calibri"/>
                          <a:ea typeface="Calibri"/>
                          <a:cs typeface="Calibri"/>
                        </a:rPr>
                        <a:t>No numeric evaluation; no company recommendation; synthetic data</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66928">
                <a:tc>
                  <a:txBody>
                    <a:bodyPr wrap="square"/>
                    <a:lstStyle/>
                    <a:p>
                      <a:pPr algn="l"/>
                      <a:r>
                        <a:rPr sz="950" b="1">
                          <a:solidFill>
                            <a:srgbClr val="222222"/>
                          </a:solidFill>
                          <a:latin typeface="Calibri"/>
                          <a:ea typeface="Calibri"/>
                          <a:cs typeface="Calibri"/>
                        </a:rPr>
                        <a:t>Heidari Fard and Tabrizi 2026 [2]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950" b="0">
                          <a:solidFill>
                            <a:srgbClr val="222222"/>
                          </a:solidFill>
                          <a:latin typeface="Calibri"/>
                          <a:ea typeface="Calibri"/>
                          <a:cs typeface="Calibri"/>
                        </a:rPr>
                        <a:t>XGBoost with Platt calibration; kNN / SVM refinement of residual (misclassified or borderline) cases; university-program recommendation with feasibility filters; SHAP</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950" b="0">
                          <a:solidFill>
                            <a:srgbClr val="222222"/>
                          </a:solidFill>
                          <a:latin typeface="Calibri"/>
                          <a:ea typeface="Calibri"/>
                          <a:cs typeface="Calibri"/>
                        </a:rPr>
                        <a:t>13,000 real GradCafe admission records, 2021-2025, enriched with QS rankings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950" b="0">
                          <a:solidFill>
                            <a:srgbClr val="222222"/>
                          </a:solidFill>
                          <a:latin typeface="Calibri"/>
                          <a:ea typeface="Calibri"/>
                          <a:cs typeface="Calibri"/>
                        </a:rPr>
                        <a:t>XGBoost 0.7241 accuracy; XGBoost + kNN hybrid 0.8723; Brier 0.1864; recommendation raised mean acceptance probability by 65.1%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950" b="0">
                          <a:solidFill>
                            <a:srgbClr val="222222"/>
                          </a:solidFill>
                          <a:latin typeface="Calibri"/>
                          <a:ea typeface="Calibri"/>
                          <a:cs typeface="Calibri"/>
                        </a:rPr>
                        <a:t>Residual set uses true labels; US-centric self-reported data; admissions, not placements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566928">
                <a:tc>
                  <a:txBody>
                    <a:bodyPr wrap="square"/>
                    <a:lstStyle/>
                    <a:p>
                      <a:pPr algn="l"/>
                      <a:r>
                        <a:rPr sz="950" b="1">
                          <a:solidFill>
                            <a:srgbClr val="222222"/>
                          </a:solidFill>
                          <a:latin typeface="Calibri"/>
                          <a:ea typeface="Calibri"/>
                          <a:cs typeface="Calibri"/>
                        </a:rPr>
                        <a:t>Thangavel et al. 2017 [21]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950" b="0">
                          <a:solidFill>
                            <a:srgbClr val="222222"/>
                          </a:solidFill>
                          <a:latin typeface="Calibri"/>
                          <a:ea typeface="Calibri"/>
                          <a:cs typeface="Calibri"/>
                        </a:rPr>
                        <a:t>Decision-tree classifiers on historical student data; predicts one of five placement statuses (Dream, Core, Mass Recruiter, Not Eligible, Not Interested)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950" b="0">
                          <a:solidFill>
                            <a:srgbClr val="222222"/>
                          </a:solidFill>
                          <a:latin typeface="Calibri"/>
                          <a:ea typeface="Calibri"/>
                          <a:cs typeface="Calibri"/>
                        </a:rPr>
                        <a:t>Historical student records (size not read)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950" b="0">
                          <a:solidFill>
                            <a:srgbClr val="222222"/>
                          </a:solidFill>
                          <a:latin typeface="Calibri"/>
                          <a:ea typeface="Calibri"/>
                          <a:cs typeface="Calibri"/>
                        </a:rPr>
                        <a:t>Abstract only: identifies students needing technical and interpersonal support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950" b="0">
                          <a:solidFill>
                            <a:srgbClr val="222222"/>
                          </a:solidFill>
                          <a:latin typeface="Calibri"/>
                          <a:ea typeface="Calibri"/>
                          <a:cs typeface="Calibri"/>
                        </a:rPr>
                        <a:t>Categorical status, no probability; no company-level recommendation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66928">
                <a:tc>
                  <a:txBody>
                    <a:bodyPr wrap="square"/>
                    <a:lstStyle/>
                    <a:p>
                      <a:pPr algn="l"/>
                      <a:r>
                        <a:rPr sz="950" b="1">
                          <a:solidFill>
                            <a:srgbClr val="222222"/>
                          </a:solidFill>
                          <a:latin typeface="Calibri"/>
                          <a:ea typeface="Calibri"/>
                          <a:cs typeface="Calibri"/>
                        </a:rPr>
                        <a:t>Khandale and Bhoite 2019 [22]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950" b="0">
                          <a:solidFill>
                            <a:srgbClr val="222222"/>
                          </a:solidFill>
                          <a:latin typeface="Calibri"/>
                          <a:ea typeface="Calibri"/>
                          <a:cs typeface="Calibri"/>
                        </a:rPr>
                        <a:t>Logistic, SVM, kNN, decision tree, random forest, bagging, boosting and voting compared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950" b="0">
                          <a:solidFill>
                            <a:srgbClr val="222222"/>
                          </a:solidFill>
                          <a:latin typeface="Calibri"/>
                          <a:ea typeface="Calibri"/>
                          <a:cs typeface="Calibri"/>
                        </a:rPr>
                        <a:t>Past placed / unplaced student records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950" b="0">
                          <a:solidFill>
                            <a:srgbClr val="222222"/>
                          </a:solidFill>
                          <a:latin typeface="Calibri"/>
                          <a:ea typeface="Calibri"/>
                          <a:cs typeface="Calibri"/>
                        </a:rPr>
                        <a:t>About 78% accuracy for XGBoost and for AdaBoost (abstract)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950" b="0">
                          <a:solidFill>
                            <a:srgbClr val="222222"/>
                          </a:solidFill>
                          <a:latin typeface="Calibri"/>
                          <a:ea typeface="Calibri"/>
                          <a:cs typeface="Calibri"/>
                        </a:rPr>
                        <a:t>Moderate accuracy; full results table not read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566928">
                <a:tc>
                  <a:txBody>
                    <a:bodyPr wrap="square"/>
                    <a:lstStyle/>
                    <a:p>
                      <a:pPr algn="l"/>
                      <a:r>
                        <a:rPr sz="950" b="1">
                          <a:solidFill>
                            <a:srgbClr val="222222"/>
                          </a:solidFill>
                          <a:latin typeface="Calibri"/>
                          <a:ea typeface="Calibri"/>
                          <a:cs typeface="Calibri"/>
                        </a:rPr>
                        <a:t>Baffa et al. 2023 [15]</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950" b="0">
                          <a:solidFill>
                            <a:srgbClr val="222222"/>
                          </a:solidFill>
                          <a:latin typeface="Calibri"/>
                          <a:ea typeface="Calibri"/>
                          <a:cs typeface="Calibri"/>
                        </a:rPr>
                        <a:t>Logistic regression, decision tree and random forest for graduate employability from CGPA, work-experience score, union group and gender</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950" b="0">
                          <a:solidFill>
                            <a:srgbClr val="222222"/>
                          </a:solidFill>
                          <a:latin typeface="Calibri"/>
                          <a:ea typeface="Calibri"/>
                          <a:cs typeface="Calibri"/>
                        </a:rPr>
                        <a:t>218 Computer Science graduates, 2016-2021, one university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950" b="0">
                          <a:solidFill>
                            <a:srgbClr val="222222"/>
                          </a:solidFill>
                          <a:latin typeface="Calibri"/>
                          <a:ea typeface="Calibri"/>
                          <a:cs typeface="Calibri"/>
                        </a:rPr>
                        <a:t>Random forest 98% accuracy, F1 0.99</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950" b="0">
                          <a:solidFill>
                            <a:srgbClr val="222222"/>
                          </a:solidFill>
                          <a:latin typeface="Calibri"/>
                          <a:ea typeface="Calibri"/>
                          <a:cs typeface="Calibri"/>
                        </a:rPr>
                        <a:t>Tiny single-department dataset; six variables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66928">
                <a:tc>
                  <a:txBody>
                    <a:bodyPr wrap="square"/>
                    <a:lstStyle/>
                    <a:p>
                      <a:pPr algn="l"/>
                      <a:r>
                        <a:rPr sz="950" b="1">
                          <a:solidFill>
                            <a:srgbClr val="222222"/>
                          </a:solidFill>
                          <a:latin typeface="Calibri"/>
                          <a:ea typeface="Calibri"/>
                          <a:cs typeface="Calibri"/>
                        </a:rPr>
                        <a:t>Pathak et al. 2025 [18]</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950" b="0">
                          <a:solidFill>
                            <a:srgbClr val="222222"/>
                          </a:solidFill>
                          <a:latin typeface="Calibri"/>
                          <a:ea typeface="Calibri"/>
                          <a:cs typeface="Calibri"/>
                        </a:rPr>
                        <a:t>Voting classifier with hyper-parameter search and cross-validation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950" b="0">
                          <a:solidFill>
                            <a:srgbClr val="222222"/>
                          </a:solidFill>
                          <a:latin typeface="Calibri"/>
                          <a:ea typeface="Calibri"/>
                          <a:cs typeface="Calibri"/>
                        </a:rPr>
                        <a:t>Public Kaggle placement dataset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950" b="0">
                          <a:solidFill>
                            <a:srgbClr val="222222"/>
                          </a:solidFill>
                          <a:latin typeface="Calibri"/>
                          <a:ea typeface="Calibri"/>
                          <a:cs typeface="Calibri"/>
                        </a:rPr>
                        <a:t>Accuracy 0.8923, precision 0.9430, recall 0.8567, F1 0.8978, AUC 0.9433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950" b="0">
                          <a:solidFill>
                            <a:srgbClr val="222222"/>
                          </a:solidFill>
                          <a:latin typeface="Calibri"/>
                          <a:ea typeface="Calibri"/>
                          <a:cs typeface="Calibri"/>
                        </a:rPr>
                        <a:t>Public tabular benchmark; no recommendation layer</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Research Gap</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C5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6</a:t>
            </a:r>
            <a:endParaRPr lang="en-US" sz="1000" dirty="0"/>
          </a:p>
        </p:txBody>
      </p:sp>
      <p:sp>
        <p:nvSpPr>
          <p:cNvPr id="7" name="TextBox 6"/>
          <p:cNvSpPr txBox="1"/>
          <p:nvPr/>
        </p:nvSpPr>
        <p:spPr>
          <a:xfrm>
            <a:off x="502920" y="1783080"/>
            <a:ext cx="11155680" cy="4389120"/>
          </a:xfrm>
          <a:prstGeom prst="rect">
            <a:avLst/>
          </a:prstGeom>
          <a:noFill/>
        </p:spPr>
        <p:txBody>
          <a:bodyPr wrap="square" lIns="0" rIns="0" tIns="0" bIns="0" anchor="t">
            <a:spAutoFit/>
          </a:bodyPr>
          <a:lstStyle/>
          <a:p>
            <a:pPr algn="l" marL="256032" indent="-201168">
              <a:spcAft>
                <a:spcPts val="1200"/>
              </a:spcAft>
              <a:buChar char="•"/>
            </a:pPr>
            <a:r>
              <a:rPr sz="1900" b="1" i="0">
                <a:solidFill>
                  <a:srgbClr val="222222"/>
                </a:solidFill>
                <a:latin typeface="Calibri"/>
                <a:ea typeface="Calibri"/>
                <a:cs typeface="Calibri"/>
              </a:rPr>
              <a:t>Prediction only:</a:t>
            </a:r>
            <a:r>
              <a:rPr sz="1900" b="0" i="0">
                <a:solidFill>
                  <a:srgbClr val="222222"/>
                </a:solidFill>
                <a:latin typeface="Calibri"/>
                <a:ea typeface="Calibri"/>
                <a:cs typeface="Calibri"/>
              </a:rPr>
              <a:t> placement predictors rarely recommend which company and role a student should target.</a:t>
            </a:r>
          </a:p>
          <a:p>
            <a:pPr algn="l" marL="256032" indent="-201168">
              <a:spcAft>
                <a:spcPts val="1200"/>
              </a:spcAft>
              <a:buChar char="•"/>
            </a:pPr>
            <a:r>
              <a:rPr sz="1900" b="1" i="0">
                <a:solidFill>
                  <a:srgbClr val="222222"/>
                </a:solidFill>
                <a:latin typeface="Calibri"/>
                <a:ea typeface="Calibri"/>
                <a:cs typeface="Calibri"/>
              </a:rPr>
              <a:t>Actionable feedback:</a:t>
            </a:r>
            <a:r>
              <a:rPr sz="1900" b="0" i="0">
                <a:solidFill>
                  <a:srgbClr val="222222"/>
                </a:solidFill>
                <a:latin typeface="Calibri"/>
                <a:ea typeface="Calibri"/>
                <a:cs typeface="Calibri"/>
              </a:rPr>
              <a:t> few give the student the specific gaps against a company's requirements.</a:t>
            </a:r>
          </a:p>
          <a:p>
            <a:pPr algn="l" marL="256032" indent="-201168">
              <a:spcAft>
                <a:spcPts val="1200"/>
              </a:spcAft>
              <a:buChar char="•"/>
            </a:pPr>
            <a:r>
              <a:rPr sz="1900" b="1" i="0">
                <a:solidFill>
                  <a:srgbClr val="222222"/>
                </a:solidFill>
                <a:latin typeface="Calibri"/>
                <a:ea typeface="Calibri"/>
                <a:cs typeface="Calibri"/>
              </a:rPr>
              <a:t>Calibrated probabilities:</a:t>
            </a:r>
            <a:r>
              <a:rPr sz="1900" b="0" i="0">
                <a:solidFill>
                  <a:srgbClr val="222222"/>
                </a:solidFill>
                <a:latin typeface="Calibri"/>
                <a:ea typeface="Calibri"/>
                <a:cs typeface="Calibri"/>
              </a:rPr>
              <a:t> a recommendation ranking needs reliable probabilities; calibration is seldom reported.</a:t>
            </a:r>
          </a:p>
          <a:p>
            <a:pPr algn="l" marL="256032" indent="-201168">
              <a:spcAft>
                <a:spcPts val="1200"/>
              </a:spcAft>
              <a:buChar char="•"/>
            </a:pPr>
            <a:r>
              <a:rPr sz="1900" b="1" i="0">
                <a:solidFill>
                  <a:srgbClr val="222222"/>
                </a:solidFill>
                <a:latin typeface="Calibri"/>
                <a:ea typeface="Calibri"/>
                <a:cs typeface="Calibri"/>
              </a:rPr>
              <a:t>Honest evaluation:</a:t>
            </a:r>
            <a:r>
              <a:rPr sz="1900" b="0" i="0">
                <a:solidFill>
                  <a:srgbClr val="222222"/>
                </a:solidFill>
                <a:latin typeface="Calibri"/>
                <a:ea typeface="Calibri"/>
                <a:cs typeface="Calibri"/>
              </a:rPr>
              <a:t> results often lack several seeds, a confusion matrix, or a check that a refinement rule works without labels.</a:t>
            </a:r>
          </a:p>
          <a:p>
            <a:pPr algn="l" marL="256032" indent="-201168">
              <a:spcAft>
                <a:spcPts val="400"/>
              </a:spcAft>
              <a:buChar char="•"/>
            </a:pPr>
            <a:r>
              <a:rPr sz="1900" b="1" i="0">
                <a:solidFill>
                  <a:srgbClr val="222222"/>
                </a:solidFill>
                <a:latin typeface="Calibri"/>
                <a:ea typeface="Calibri"/>
                <a:cs typeface="Calibri"/>
              </a:rPr>
              <a:t>Real data:</a:t>
            </a:r>
            <a:r>
              <a:rPr sz="1900" b="0" i="0">
                <a:solidFill>
                  <a:srgbClr val="222222"/>
                </a:solidFill>
                <a:latin typeface="Calibri"/>
                <a:ea typeface="Calibri"/>
                <a:cs typeface="Calibri"/>
              </a:rPr>
              <a:t> placement records are private, so published work, including the base paper, uses synthetic data.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Problem Statement</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C5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7</a:t>
            </a:r>
            <a:endParaRPr lang="en-US" sz="1000" dirty="0"/>
          </a:p>
        </p:txBody>
      </p:sp>
      <p:sp>
        <p:nvSpPr>
          <p:cNvPr id="7" name="Rounded Rectangle 6"/>
          <p:cNvSpPr/>
          <p:nvPr/>
        </p:nvSpPr>
        <p:spPr>
          <a:xfrm>
            <a:off x="502920" y="1783080"/>
            <a:ext cx="11155680" cy="1828800"/>
          </a:xfrm>
          <a:prstGeom prst="roundRect">
            <a:avLst>
              <a:gd name="adj" fmla="val 4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1828800"/>
            <a:ext cx="10607040" cy="1737360"/>
          </a:xfrm>
          <a:prstGeom prst="rect">
            <a:avLst/>
          </a:prstGeom>
          <a:noFill/>
        </p:spPr>
        <p:txBody>
          <a:bodyPr wrap="square" lIns="0" rIns="0" tIns="0" bIns="0" anchor="ctr">
            <a:spAutoFit/>
          </a:bodyPr>
          <a:lstStyle/>
          <a:p>
            <a:pPr algn="l">
              <a:spcAft>
                <a:spcPts val="400"/>
              </a:spcAft>
            </a:pPr>
            <a:r>
              <a:rPr sz="1700" b="0" i="0">
                <a:solidFill>
                  <a:srgbClr val="222222"/>
                </a:solidFill>
                <a:latin typeface="Calibri"/>
                <a:ea typeface="Calibri"/>
                <a:cs typeface="Calibri"/>
              </a:rPr>
              <a:t>Given a student's academic record, skill and aptitude scores and a target company and role, estimate the probability that the student is placed, explain which gaps against the company's requirements hold it back, recommend company-role alternatives where the estimated probability is higher, and give placement officers and recruiters dashboards and shortlists - through a web application that a placement cell can run on an ordinary PC, with accuracy reported honestly on the data actually available.</a:t>
            </a:r>
          </a:p>
        </p:txBody>
      </p:sp>
      <p:sp>
        <p:nvSpPr>
          <p:cNvPr id="9" name="Rounded Rectangle 8"/>
          <p:cNvSpPr/>
          <p:nvPr/>
        </p:nvSpPr>
        <p:spPr>
          <a:xfrm>
            <a:off x="502920" y="3931920"/>
            <a:ext cx="3566160" cy="1554480"/>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5800" y="4023360"/>
            <a:ext cx="3200400" cy="365760"/>
          </a:xfrm>
          <a:prstGeom prst="rect">
            <a:avLst/>
          </a:prstGeom>
          <a:noFill/>
        </p:spPr>
        <p:txBody>
          <a:bodyPr wrap="square" lIns="0" rIns="0" tIns="0" bIns="0" anchor="t">
            <a:spAutoFit/>
          </a:bodyPr>
          <a:lstStyle/>
          <a:p>
            <a:pPr algn="l">
              <a:spcAft>
                <a:spcPts val="400"/>
              </a:spcAft>
            </a:pPr>
            <a:r>
              <a:rPr sz="1700" b="1" i="0">
                <a:solidFill>
                  <a:srgbClr val="1F3864"/>
                </a:solidFill>
                <a:latin typeface="Calibri"/>
                <a:ea typeface="Calibri"/>
                <a:cs typeface="Calibri"/>
              </a:rPr>
              <a:t>Input</a:t>
            </a:r>
          </a:p>
        </p:txBody>
      </p:sp>
      <p:sp>
        <p:nvSpPr>
          <p:cNvPr id="11" name="TextBox 10"/>
          <p:cNvSpPr txBox="1"/>
          <p:nvPr/>
        </p:nvSpPr>
        <p:spPr>
          <a:xfrm>
            <a:off x="685800" y="4480560"/>
            <a:ext cx="3200400" cy="914400"/>
          </a:xfrm>
          <a:prstGeom prst="rect">
            <a:avLst/>
          </a:prstGeom>
          <a:noFill/>
        </p:spPr>
        <p:txBody>
          <a:bodyPr wrap="square" lIns="0" rIns="0" tIns="0" bIns="0" anchor="t">
            <a:spAutoFit/>
          </a:bodyPr>
          <a:lstStyle/>
          <a:p>
            <a:pPr algn="l">
              <a:spcAft>
                <a:spcPts val="400"/>
              </a:spcAft>
            </a:pPr>
            <a:r>
              <a:rPr sz="1400" b="0" i="0">
                <a:solidFill>
                  <a:srgbClr val="222222"/>
                </a:solidFill>
                <a:latin typeface="Calibri"/>
                <a:ea typeface="Calibri"/>
                <a:cs typeface="Calibri"/>
              </a:rPr>
              <a:t>Academics, aptitude and technical scores, projects, internships, backlogs, target company and role</a:t>
            </a:r>
          </a:p>
        </p:txBody>
      </p:sp>
      <p:sp>
        <p:nvSpPr>
          <p:cNvPr id="12" name="Rounded Rectangle 11"/>
          <p:cNvSpPr/>
          <p:nvPr/>
        </p:nvSpPr>
        <p:spPr>
          <a:xfrm>
            <a:off x="4251959" y="3931920"/>
            <a:ext cx="3566160" cy="1554480"/>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434840" y="4023360"/>
            <a:ext cx="3200400" cy="365760"/>
          </a:xfrm>
          <a:prstGeom prst="rect">
            <a:avLst/>
          </a:prstGeom>
          <a:noFill/>
        </p:spPr>
        <p:txBody>
          <a:bodyPr wrap="square" lIns="0" rIns="0" tIns="0" bIns="0" anchor="t">
            <a:spAutoFit/>
          </a:bodyPr>
          <a:lstStyle/>
          <a:p>
            <a:pPr algn="l">
              <a:spcAft>
                <a:spcPts val="400"/>
              </a:spcAft>
            </a:pPr>
            <a:r>
              <a:rPr sz="1700" b="1" i="0">
                <a:solidFill>
                  <a:srgbClr val="1F3864"/>
                </a:solidFill>
                <a:latin typeface="Calibri"/>
                <a:ea typeface="Calibri"/>
                <a:cs typeface="Calibri"/>
              </a:rPr>
              <a:t>Output</a:t>
            </a:r>
          </a:p>
        </p:txBody>
      </p:sp>
      <p:sp>
        <p:nvSpPr>
          <p:cNvPr id="14" name="TextBox 13"/>
          <p:cNvSpPr txBox="1"/>
          <p:nvPr/>
        </p:nvSpPr>
        <p:spPr>
          <a:xfrm>
            <a:off x="4434840" y="4480560"/>
            <a:ext cx="3200400" cy="914400"/>
          </a:xfrm>
          <a:prstGeom prst="rect">
            <a:avLst/>
          </a:prstGeom>
          <a:noFill/>
        </p:spPr>
        <p:txBody>
          <a:bodyPr wrap="square" lIns="0" rIns="0" tIns="0" bIns="0" anchor="t">
            <a:spAutoFit/>
          </a:bodyPr>
          <a:lstStyle/>
          <a:p>
            <a:pPr algn="l">
              <a:spcAft>
                <a:spcPts val="400"/>
              </a:spcAft>
            </a:pPr>
            <a:r>
              <a:rPr sz="1400" b="0" i="0">
                <a:solidFill>
                  <a:srgbClr val="222222"/>
                </a:solidFill>
                <a:latin typeface="Calibri"/>
                <a:ea typeface="Calibri"/>
                <a:cs typeface="Calibri"/>
              </a:rPr>
              <a:t>Probability, label, skill-gap tips and top-5 company-role pairs</a:t>
            </a:r>
          </a:p>
        </p:txBody>
      </p:sp>
      <p:sp>
        <p:nvSpPr>
          <p:cNvPr id="15" name="Rounded Rectangle 14"/>
          <p:cNvSpPr/>
          <p:nvPr/>
        </p:nvSpPr>
        <p:spPr>
          <a:xfrm>
            <a:off x="8001000" y="3931920"/>
            <a:ext cx="3566160" cy="1554480"/>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183879" y="4023360"/>
            <a:ext cx="3200400" cy="365760"/>
          </a:xfrm>
          <a:prstGeom prst="rect">
            <a:avLst/>
          </a:prstGeom>
          <a:noFill/>
        </p:spPr>
        <p:txBody>
          <a:bodyPr wrap="square" lIns="0" rIns="0" tIns="0" bIns="0" anchor="t">
            <a:spAutoFit/>
          </a:bodyPr>
          <a:lstStyle/>
          <a:p>
            <a:pPr algn="l">
              <a:spcAft>
                <a:spcPts val="400"/>
              </a:spcAft>
            </a:pPr>
            <a:r>
              <a:rPr sz="1700" b="1" i="0">
                <a:solidFill>
                  <a:srgbClr val="1F3864"/>
                </a:solidFill>
                <a:latin typeface="Calibri"/>
                <a:ea typeface="Calibri"/>
                <a:cs typeface="Calibri"/>
              </a:rPr>
              <a:t>Users</a:t>
            </a:r>
          </a:p>
        </p:txBody>
      </p:sp>
      <p:sp>
        <p:nvSpPr>
          <p:cNvPr id="17" name="TextBox 16"/>
          <p:cNvSpPr txBox="1"/>
          <p:nvPr/>
        </p:nvSpPr>
        <p:spPr>
          <a:xfrm>
            <a:off x="8183879" y="4480560"/>
            <a:ext cx="3200400" cy="914400"/>
          </a:xfrm>
          <a:prstGeom prst="rect">
            <a:avLst/>
          </a:prstGeom>
          <a:noFill/>
        </p:spPr>
        <p:txBody>
          <a:bodyPr wrap="square" lIns="0" rIns="0" tIns="0" bIns="0" anchor="t">
            <a:spAutoFit/>
          </a:bodyPr>
          <a:lstStyle/>
          <a:p>
            <a:pPr algn="l">
              <a:spcAft>
                <a:spcPts val="400"/>
              </a:spcAft>
            </a:pPr>
            <a:r>
              <a:rPr sz="1400" b="0" i="0">
                <a:solidFill>
                  <a:srgbClr val="222222"/>
                </a:solidFill>
                <a:latin typeface="Calibri"/>
                <a:ea typeface="Calibri"/>
                <a:cs typeface="Calibri"/>
              </a:rPr>
              <a:t>Students, placement officers, recruiters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Objectives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C5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8</a:t>
            </a:r>
            <a:endParaRPr lang="en-US" sz="1000" dirty="0"/>
          </a:p>
        </p:txBody>
      </p:sp>
      <p:sp>
        <p:nvSpPr>
          <p:cNvPr id="7" name="TextBox 6"/>
          <p:cNvSpPr txBox="1"/>
          <p:nvPr/>
        </p:nvSpPr>
        <p:spPr>
          <a:xfrm>
            <a:off x="502920" y="1783080"/>
            <a:ext cx="11155680" cy="4480560"/>
          </a:xfrm>
          <a:prstGeom prst="rect">
            <a:avLst/>
          </a:prstGeom>
          <a:noFill/>
        </p:spPr>
        <p:txBody>
          <a:bodyPr wrap="square" lIns="0" rIns="0" tIns="0" bIns="0" anchor="t">
            <a:spAutoFit/>
          </a:bodyPr>
          <a:lstStyle/>
          <a:p>
            <a:pPr algn="l">
              <a:spcAft>
                <a:spcPts val="1200"/>
              </a:spcAft>
            </a:pPr>
            <a:r>
              <a:rPr sz="2000" b="0" i="0">
                <a:solidFill>
                  <a:srgbClr val="222222"/>
                </a:solidFill>
                <a:latin typeface="Calibri"/>
                <a:ea typeface="Calibri"/>
                <a:cs typeface="Calibri"/>
              </a:rPr>
              <a:t>1.  Collect student academic records, technical skills, aptitude scores and historical placement outcomes.</a:t>
            </a:r>
          </a:p>
          <a:p>
            <a:pPr algn="l">
              <a:spcAft>
                <a:spcPts val="1200"/>
              </a:spcAft>
            </a:pPr>
            <a:r>
              <a:rPr sz="2000" b="0" i="0">
                <a:solidFill>
                  <a:srgbClr val="222222"/>
                </a:solidFill>
                <a:latin typeface="Calibri"/>
                <a:ea typeface="Calibri"/>
                <a:cs typeface="Calibri"/>
              </a:rPr>
              <a:t>2.  Clean and encode the data and address imbalance between placed and unplaced students.</a:t>
            </a:r>
          </a:p>
          <a:p>
            <a:pPr algn="l">
              <a:spcAft>
                <a:spcPts val="1200"/>
              </a:spcAft>
            </a:pPr>
            <a:r>
              <a:rPr sz="2000" b="0" i="0">
                <a:solidFill>
                  <a:srgbClr val="222222"/>
                </a:solidFill>
                <a:latin typeface="Calibri"/>
                <a:ea typeface="Calibri"/>
                <a:cs typeface="Calibri"/>
              </a:rPr>
              <a:t>3.  Train and compare classifiers to predict placement eligibility for each student.</a:t>
            </a:r>
          </a:p>
          <a:p>
            <a:pPr algn="l">
              <a:spcAft>
                <a:spcPts val="1200"/>
              </a:spcAft>
            </a:pPr>
            <a:r>
              <a:rPr sz="2000" b="0" i="0">
                <a:solidFill>
                  <a:srgbClr val="222222"/>
                </a:solidFill>
                <a:latin typeface="Calibri"/>
                <a:ea typeface="Calibri"/>
                <a:cs typeface="Calibri"/>
              </a:rPr>
              <a:t>4.  Recommend suitable companies by matching student profiles against recruiter requirements.</a:t>
            </a:r>
          </a:p>
          <a:p>
            <a:pPr algn="l">
              <a:spcAft>
                <a:spcPts val="1200"/>
              </a:spcAft>
            </a:pPr>
            <a:r>
              <a:rPr sz="2000" b="0" i="0">
                <a:solidFill>
                  <a:srgbClr val="222222"/>
                </a:solidFill>
                <a:latin typeface="Calibri"/>
                <a:ea typeface="Calibri"/>
                <a:cs typeface="Calibri"/>
              </a:rPr>
              <a:t>5.  Identify the skill gaps that most reduce a student's placement probability.</a:t>
            </a:r>
          </a:p>
          <a:p>
            <a:pPr algn="l">
              <a:spcAft>
                <a:spcPts val="1200"/>
              </a:spcAft>
            </a:pPr>
            <a:r>
              <a:rPr sz="2000" b="0" i="0">
                <a:solidFill>
                  <a:srgbClr val="222222"/>
                </a:solidFill>
                <a:latin typeface="Calibri"/>
                <a:ea typeface="Calibri"/>
                <a:cs typeface="Calibri"/>
              </a:rPr>
              <a:t>6.  Provide dashboards for placement officers and evaluate using accuracy, precision and recall.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Proposed System</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C5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9</a:t>
            </a:r>
            <a:endParaRPr lang="en-US" sz="1000" dirty="0"/>
          </a:p>
        </p:txBody>
      </p:sp>
      <p:sp>
        <p:nvSpPr>
          <p:cNvPr id="7" name="Rounded Rectangle 6"/>
          <p:cNvSpPr/>
          <p:nvPr/>
        </p:nvSpPr>
        <p:spPr>
          <a:xfrm>
            <a:off x="502920" y="1828800"/>
            <a:ext cx="1975103" cy="100584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FFFFFF"/>
                </a:solidFill>
                <a:latin typeface="Calibri"/>
                <a:ea typeface="Calibri"/>
                <a:cs typeface="Calibri"/>
              </a:rPr>
              <a:t>Profile + company + role</a:t>
            </a:r>
          </a:p>
        </p:txBody>
      </p:sp>
      <p:sp>
        <p:nvSpPr>
          <p:cNvPr id="8" name="Right Arrow 7"/>
          <p:cNvSpPr/>
          <p:nvPr/>
        </p:nvSpPr>
        <p:spPr>
          <a:xfrm>
            <a:off x="2537460" y="22128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798063" y="1828800"/>
            <a:ext cx="1975103" cy="1005840"/>
          </a:xfrm>
          <a:prstGeom prst="roundRect">
            <a:avLst>
              <a:gd name="adj" fmla="val 8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FFFFFF"/>
                </a:solidFill>
                <a:latin typeface="Calibri"/>
                <a:ea typeface="Calibri"/>
                <a:cs typeface="Calibri"/>
              </a:rPr>
              <a:t>24 features</a:t>
            </a:r>
          </a:p>
        </p:txBody>
      </p:sp>
      <p:sp>
        <p:nvSpPr>
          <p:cNvPr id="10" name="Right Arrow 9"/>
          <p:cNvSpPr/>
          <p:nvPr/>
        </p:nvSpPr>
        <p:spPr>
          <a:xfrm>
            <a:off x="4832603" y="22128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93207" y="1828800"/>
            <a:ext cx="1975103" cy="1005840"/>
          </a:xfrm>
          <a:prstGeom prst="roundRect">
            <a:avLst>
              <a:gd name="adj" fmla="val 8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FFFFFF"/>
                </a:solidFill>
                <a:latin typeface="Calibri"/>
                <a:ea typeface="Calibri"/>
                <a:cs typeface="Calibri"/>
              </a:rPr>
              <a:t>XGBoost + Platt</a:t>
            </a:r>
          </a:p>
        </p:txBody>
      </p:sp>
      <p:sp>
        <p:nvSpPr>
          <p:cNvPr id="12" name="Right Arrow 11"/>
          <p:cNvSpPr/>
          <p:nvPr/>
        </p:nvSpPr>
        <p:spPr>
          <a:xfrm>
            <a:off x="7127747" y="22128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88352" y="1828800"/>
            <a:ext cx="1975103" cy="1005840"/>
          </a:xfrm>
          <a:prstGeom prst="roundRect">
            <a:avLst>
              <a:gd name="adj" fmla="val 8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FFFFFF"/>
                </a:solidFill>
                <a:latin typeface="Calibri"/>
                <a:ea typeface="Calibri"/>
                <a:cs typeface="Calibri"/>
              </a:rPr>
              <a:t>kNN on borderline</a:t>
            </a:r>
          </a:p>
        </p:txBody>
      </p:sp>
      <p:sp>
        <p:nvSpPr>
          <p:cNvPr id="14" name="Right Arrow 13"/>
          <p:cNvSpPr/>
          <p:nvPr/>
        </p:nvSpPr>
        <p:spPr>
          <a:xfrm>
            <a:off x="9422892" y="22128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683496" y="1828800"/>
            <a:ext cx="1975103" cy="1005840"/>
          </a:xfrm>
          <a:prstGeom prst="roundRect">
            <a:avLst>
              <a:gd name="adj" fmla="val 8000"/>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FFFFFF"/>
                </a:solidFill>
                <a:latin typeface="Calibri"/>
                <a:ea typeface="Calibri"/>
                <a:cs typeface="Calibri"/>
              </a:rPr>
              <a:t>Probability, tips, top-5</a:t>
            </a:r>
          </a:p>
        </p:txBody>
      </p:sp>
      <p:sp>
        <p:nvSpPr>
          <p:cNvPr id="16" name="TextBox 15"/>
          <p:cNvSpPr txBox="1"/>
          <p:nvPr/>
        </p:nvSpPr>
        <p:spPr>
          <a:xfrm>
            <a:off x="502920" y="3200400"/>
            <a:ext cx="11155680" cy="3017520"/>
          </a:xfrm>
          <a:prstGeom prst="rect">
            <a:avLst/>
          </a:prstGeom>
          <a:noFill/>
        </p:spPr>
        <p:txBody>
          <a:bodyPr wrap="square" lIns="0" rIns="0" tIns="0" bIns="0" anchor="t">
            <a:spAutoFit/>
          </a:bodyPr>
          <a:lstStyle/>
          <a:p>
            <a:pPr algn="l" marL="256032" indent="-201168">
              <a:spcAft>
                <a:spcPts val="1000"/>
              </a:spcAft>
              <a:buChar char="•"/>
            </a:pPr>
            <a:r>
              <a:rPr sz="1800" b="0" i="0">
                <a:solidFill>
                  <a:srgbClr val="222222"/>
                </a:solidFill>
                <a:latin typeface="Calibri"/>
                <a:ea typeface="Calibri"/>
                <a:cs typeface="Calibri"/>
              </a:rPr>
              <a:t>Features include the gaps between the student's CGPA, aptitude and technical scores and the target company's cutoffs.</a:t>
            </a:r>
          </a:p>
          <a:p>
            <a:pPr algn="l" marL="256032" indent="-201168">
              <a:spcAft>
                <a:spcPts val="1000"/>
              </a:spcAft>
              <a:buChar char="•"/>
            </a:pPr>
            <a:r>
              <a:rPr sz="1800" b="0" i="0">
                <a:solidFill>
                  <a:srgbClr val="222222"/>
                </a:solidFill>
                <a:latin typeface="Calibri"/>
                <a:ea typeface="Calibri"/>
                <a:cs typeface="Calibri"/>
              </a:rPr>
              <a:t>Calibrated XGBoost; when the probability is between 0.4 and 0.6 it is blended with a kNN estimate; ready if p &gt;= 0.5.</a:t>
            </a:r>
          </a:p>
          <a:p>
            <a:pPr algn="l" marL="256032" indent="-201168">
              <a:spcAft>
                <a:spcPts val="1000"/>
              </a:spcAft>
              <a:buChar char="•"/>
            </a:pPr>
            <a:r>
              <a:rPr sz="1800" b="0" i="0">
                <a:solidFill>
                  <a:srgbClr val="222222"/>
                </a:solidFill>
                <a:latin typeface="Calibri"/>
                <a:ea typeface="Calibri"/>
                <a:cs typeface="Calibri"/>
              </a:rPr>
              <a:t>Recommendation filters feasible companies (CGPA proximity, aptitude, backlogs, tier) and ranks company-role pairs.</a:t>
            </a:r>
          </a:p>
          <a:p>
            <a:pPr algn="l" marL="256032" indent="-201168">
              <a:spcAft>
                <a:spcPts val="400"/>
              </a:spcAft>
              <a:buChar char="•"/>
            </a:pPr>
            <a:r>
              <a:rPr sz="1800" b="0" i="0">
                <a:solidFill>
                  <a:srgbClr val="222222"/>
                </a:solidFill>
                <a:latin typeface="Calibri"/>
                <a:ea typeface="Calibri"/>
                <a:cs typeface="Calibri"/>
              </a:rPr>
              <a:t>FastAPI service over the unchanged Python core; React interface and the original Flask pages.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System Architecture</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C5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10</a:t>
            </a:r>
            <a:endParaRPr lang="en-US" sz="1000" dirty="0"/>
          </a:p>
        </p:txBody>
      </p:sp>
      <p:pic>
        <p:nvPicPr>
          <p:cNvPr id="7" name="Picture 6" descr="01_system_architecture.png"/>
          <p:cNvPicPr>
            <a:picLocks noChangeAspect="1"/>
          </p:cNvPicPr>
          <p:nvPr/>
        </p:nvPicPr>
        <p:blipFill>
          <a:blip r:embed="rId2"/>
          <a:stretch>
            <a:fillRect/>
          </a:stretch>
        </p:blipFill>
        <p:spPr>
          <a:xfrm>
            <a:off x="1586424" y="1691640"/>
            <a:ext cx="5422511" cy="4572000"/>
          </a:xfrm>
          <a:prstGeom prst="rect">
            <a:avLst/>
          </a:prstGeom>
        </p:spPr>
      </p:pic>
      <p:sp>
        <p:nvSpPr>
          <p:cNvPr id="8" name="TextBox 7"/>
          <p:cNvSpPr txBox="1"/>
          <p:nvPr/>
        </p:nvSpPr>
        <p:spPr>
          <a:xfrm>
            <a:off x="8321040" y="1828800"/>
            <a:ext cx="3383280" cy="4297680"/>
          </a:xfrm>
          <a:prstGeom prst="rect">
            <a:avLst/>
          </a:prstGeom>
          <a:noFill/>
        </p:spPr>
        <p:txBody>
          <a:bodyPr wrap="square" lIns="0" rIns="0" tIns="0" bIns="0" anchor="t">
            <a:spAutoFit/>
          </a:bodyPr>
          <a:lstStyle/>
          <a:p>
            <a:pPr algn="l" marL="256032" indent="-201168">
              <a:spcAft>
                <a:spcPts val="800"/>
              </a:spcAft>
              <a:buChar char="•"/>
            </a:pPr>
            <a:r>
              <a:rPr sz="1600" b="0" i="0">
                <a:solidFill>
                  <a:srgbClr val="222222"/>
                </a:solidFill>
                <a:latin typeface="Calibri"/>
                <a:ea typeface="Calibri"/>
                <a:cs typeface="Calibri"/>
              </a:rPr>
              <a:t>Presentation: React app (5405) and Flask pages (5000)</a:t>
            </a:r>
          </a:p>
          <a:p>
            <a:pPr algn="l" marL="256032" indent="-201168">
              <a:spcAft>
                <a:spcPts val="800"/>
              </a:spcAft>
              <a:buChar char="•"/>
            </a:pPr>
            <a:r>
              <a:rPr sz="1600" b="0" i="0">
                <a:solidFill>
                  <a:srgbClr val="222222"/>
                </a:solidFill>
                <a:latin typeface="Calibri"/>
                <a:ea typeface="Calibri"/>
                <a:cs typeface="Calibri"/>
              </a:rPr>
              <a:t>Application: FastAPI (8405), 9 endpoints</a:t>
            </a:r>
          </a:p>
          <a:p>
            <a:pPr algn="l" marL="256032" indent="-201168">
              <a:spcAft>
                <a:spcPts val="800"/>
              </a:spcAft>
              <a:buChar char="•"/>
            </a:pPr>
            <a:r>
              <a:rPr sz="1600" b="0" i="0">
                <a:solidFill>
                  <a:srgbClr val="222222"/>
                </a:solidFill>
                <a:latin typeface="Calibri"/>
                <a:ea typeface="Calibri"/>
                <a:cs typeface="Calibri"/>
              </a:rPr>
              <a:t>Core: features, training, prediction, recommendation</a:t>
            </a:r>
          </a:p>
          <a:p>
            <a:pPr algn="l" marL="256032" indent="-201168">
              <a:spcAft>
                <a:spcPts val="400"/>
              </a:spcAft>
              <a:buChar char="•"/>
            </a:pPr>
            <a:r>
              <a:rPr sz="1600" b="0" i="0">
                <a:solidFill>
                  <a:srgbClr val="222222"/>
                </a:solidFill>
                <a:latin typeface="Calibri"/>
                <a:ea typeface="Calibri"/>
                <a:cs typeface="Calibri"/>
              </a:rPr>
              <a:t>Storage: CSV data and pickled models, no SQL database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Methodology</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C5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11</a:t>
            </a:r>
            <a:endParaRPr lang="en-US" sz="1000" dirty="0"/>
          </a:p>
        </p:txBody>
      </p:sp>
      <p:sp>
        <p:nvSpPr>
          <p:cNvPr id="7" name="Rounded Rectangle 6"/>
          <p:cNvSpPr/>
          <p:nvPr/>
        </p:nvSpPr>
        <p:spPr>
          <a:xfrm>
            <a:off x="502920" y="1783080"/>
            <a:ext cx="1436914" cy="109728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latin typeface="Calibri"/>
                <a:ea typeface="Calibri"/>
                <a:cs typeface="Calibri"/>
              </a:rPr>
              <a:t>Synthetic generator</a:t>
            </a:r>
          </a:p>
        </p:txBody>
      </p:sp>
      <p:sp>
        <p:nvSpPr>
          <p:cNvPr id="8" name="Right Arrow 7"/>
          <p:cNvSpPr/>
          <p:nvPr/>
        </p:nvSpPr>
        <p:spPr>
          <a:xfrm>
            <a:off x="1930690" y="22128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122714" y="1783080"/>
            <a:ext cx="1436914" cy="109728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latin typeface="Calibri"/>
                <a:ea typeface="Calibri"/>
                <a:cs typeface="Calibri"/>
              </a:rPr>
              <a:t>24 features</a:t>
            </a:r>
          </a:p>
        </p:txBody>
      </p:sp>
      <p:sp>
        <p:nvSpPr>
          <p:cNvPr id="10" name="Right Arrow 9"/>
          <p:cNvSpPr/>
          <p:nvPr/>
        </p:nvSpPr>
        <p:spPr>
          <a:xfrm>
            <a:off x="3550484" y="22128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742508" y="1783080"/>
            <a:ext cx="1436914" cy="1097280"/>
          </a:xfrm>
          <a:prstGeom prst="roundRect">
            <a:avLst>
              <a:gd name="adj" fmla="val 8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latin typeface="Calibri"/>
                <a:ea typeface="Calibri"/>
                <a:cs typeface="Calibri"/>
              </a:rPr>
              <a:t>70/15/15 split</a:t>
            </a:r>
          </a:p>
        </p:txBody>
      </p:sp>
      <p:sp>
        <p:nvSpPr>
          <p:cNvPr id="12" name="Right Arrow 11"/>
          <p:cNvSpPr/>
          <p:nvPr/>
        </p:nvSpPr>
        <p:spPr>
          <a:xfrm>
            <a:off x="5170278" y="22128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362302" y="1783080"/>
            <a:ext cx="1436914" cy="1097280"/>
          </a:xfrm>
          <a:prstGeom prst="roundRect">
            <a:avLst>
              <a:gd name="adj" fmla="val 8000"/>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latin typeface="Calibri"/>
                <a:ea typeface="Calibri"/>
                <a:cs typeface="Calibri"/>
              </a:rPr>
              <a:t>6 baselines</a:t>
            </a:r>
          </a:p>
        </p:txBody>
      </p:sp>
      <p:sp>
        <p:nvSpPr>
          <p:cNvPr id="14" name="Right Arrow 13"/>
          <p:cNvSpPr/>
          <p:nvPr/>
        </p:nvSpPr>
        <p:spPr>
          <a:xfrm>
            <a:off x="6790073" y="22128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982097" y="1783080"/>
            <a:ext cx="1436914" cy="1097280"/>
          </a:xfrm>
          <a:prstGeom prst="roundRect">
            <a:avLst>
              <a:gd name="adj" fmla="val 8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latin typeface="Calibri"/>
                <a:ea typeface="Calibri"/>
                <a:cs typeface="Calibri"/>
              </a:rPr>
              <a:t>Platt calibration</a:t>
            </a:r>
          </a:p>
        </p:txBody>
      </p:sp>
      <p:sp>
        <p:nvSpPr>
          <p:cNvPr id="16" name="Right Arrow 15"/>
          <p:cNvSpPr/>
          <p:nvPr/>
        </p:nvSpPr>
        <p:spPr>
          <a:xfrm>
            <a:off x="8409867" y="22128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601891" y="1783080"/>
            <a:ext cx="1436914" cy="1097280"/>
          </a:xfrm>
          <a:prstGeom prst="roundRect">
            <a:avLst>
              <a:gd name="adj" fmla="val 8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latin typeface="Calibri"/>
                <a:ea typeface="Calibri"/>
                <a:cs typeface="Calibri"/>
              </a:rPr>
              <a:t>Residual hybrid</a:t>
            </a:r>
          </a:p>
        </p:txBody>
      </p:sp>
      <p:sp>
        <p:nvSpPr>
          <p:cNvPr id="18" name="Right Arrow 17"/>
          <p:cNvSpPr/>
          <p:nvPr/>
        </p:nvSpPr>
        <p:spPr>
          <a:xfrm>
            <a:off x="10029661" y="22128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221685" y="1783080"/>
            <a:ext cx="1436914" cy="109728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latin typeface="Calibri"/>
                <a:ea typeface="Calibri"/>
                <a:cs typeface="Calibri"/>
              </a:rPr>
              <a:t>metrics + plots</a:t>
            </a:r>
          </a:p>
        </p:txBody>
      </p:sp>
      <p:sp>
        <p:nvSpPr>
          <p:cNvPr id="20" name="TextBox 19"/>
          <p:cNvSpPr txBox="1"/>
          <p:nvPr/>
        </p:nvSpPr>
        <p:spPr>
          <a:xfrm>
            <a:off x="502920" y="3200400"/>
            <a:ext cx="11155680" cy="3017520"/>
          </a:xfrm>
          <a:prstGeom prst="rect">
            <a:avLst/>
          </a:prstGeom>
          <a:noFill/>
        </p:spPr>
        <p:txBody>
          <a:bodyPr wrap="square" lIns="0" rIns="0" tIns="0" bIns="0" anchor="t">
            <a:spAutoFit/>
          </a:bodyPr>
          <a:lstStyle/>
          <a:p>
            <a:pPr algn="l" marL="256032" indent="-201168">
              <a:spcAft>
                <a:spcPts val="1000"/>
              </a:spcAft>
              <a:buChar char="•"/>
            </a:pPr>
            <a:r>
              <a:rPr sz="1800" b="0" i="0">
                <a:solidFill>
                  <a:srgbClr val="222222"/>
                </a:solidFill>
                <a:latin typeface="Calibri"/>
                <a:ea typeface="Calibri"/>
                <a:cs typeface="Calibri"/>
              </a:rPr>
              <a:t>One feature function for training, the API and the recommender: no train/serve mismatch.</a:t>
            </a:r>
          </a:p>
          <a:p>
            <a:pPr algn="l" marL="256032" indent="-201168">
              <a:spcAft>
                <a:spcPts val="1000"/>
              </a:spcAft>
              <a:buChar char="•"/>
            </a:pPr>
            <a:r>
              <a:rPr sz="1800" b="0" i="0">
                <a:solidFill>
                  <a:srgbClr val="222222"/>
                </a:solidFill>
                <a:latin typeface="Calibri"/>
                <a:ea typeface="Calibri"/>
                <a:cs typeface="Calibri"/>
              </a:rPr>
              <a:t>Stratified 70 / 15 / 15 split with seed 42; maps and scaler fitted on the training part only; 9-fold CV for XGBoost.</a:t>
            </a:r>
          </a:p>
          <a:p>
            <a:pPr algn="l" marL="256032" indent="-201168">
              <a:spcAft>
                <a:spcPts val="1000"/>
              </a:spcAft>
              <a:buChar char="•"/>
            </a:pPr>
            <a:r>
              <a:rPr sz="1800" b="0" i="0">
                <a:solidFill>
                  <a:srgbClr val="222222"/>
                </a:solidFill>
                <a:latin typeface="Calibri"/>
                <a:ea typeface="Calibri"/>
                <a:cs typeface="Calibri"/>
              </a:rPr>
              <a:t>Extra measurements: confusion matrices, label-free hybrid, borderline-band and threshold sweeps, five seeds, SHAP, recommender gains, latency.</a:t>
            </a:r>
          </a:p>
          <a:p>
            <a:pPr algn="l" marL="256032" indent="-201168">
              <a:spcAft>
                <a:spcPts val="400"/>
              </a:spcAft>
              <a:buChar char="•"/>
            </a:pPr>
            <a:r>
              <a:rPr sz="1800" b="0" i="0">
                <a:solidFill>
                  <a:srgbClr val="222222"/>
                </a:solidFill>
                <a:latin typeface="Calibri"/>
                <a:ea typeface="Calibri"/>
                <a:cs typeface="Calibri"/>
              </a:rPr>
              <a:t>The shipped model files reproduce models/metrics.json exactly; every extra number comes from scripts/run_experiments.py.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Dataset, Features &amp; Model</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C5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12</a:t>
            </a:r>
            <a:endParaRPr lang="en-US" sz="1000" dirty="0"/>
          </a:p>
        </p:txBody>
      </p:sp>
      <p:sp>
        <p:nvSpPr>
          <p:cNvPr id="7" name="Rounded Rectangle 6"/>
          <p:cNvSpPr/>
          <p:nvPr/>
        </p:nvSpPr>
        <p:spPr>
          <a:xfrm>
            <a:off x="502920" y="173736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02920" y="1737360"/>
            <a:ext cx="73152" cy="10058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5800" y="1792224"/>
            <a:ext cx="2377440" cy="553212"/>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3,000</a:t>
            </a:r>
          </a:p>
        </p:txBody>
      </p:sp>
      <p:sp>
        <p:nvSpPr>
          <p:cNvPr id="10" name="TextBox 9"/>
          <p:cNvSpPr txBox="1"/>
          <p:nvPr/>
        </p:nvSpPr>
        <p:spPr>
          <a:xfrm>
            <a:off x="685800" y="232074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synthetic students, 19 columns</a:t>
            </a:r>
          </a:p>
        </p:txBody>
      </p:sp>
      <p:sp>
        <p:nvSpPr>
          <p:cNvPr id="11" name="Rounded Rectangle 10"/>
          <p:cNvSpPr/>
          <p:nvPr/>
        </p:nvSpPr>
        <p:spPr>
          <a:xfrm>
            <a:off x="502920" y="288036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502920" y="2880360"/>
            <a:ext cx="73152" cy="100584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85800" y="2935224"/>
            <a:ext cx="2377440" cy="553212"/>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30</a:t>
            </a:r>
          </a:p>
        </p:txBody>
      </p:sp>
      <p:sp>
        <p:nvSpPr>
          <p:cNvPr id="14" name="TextBox 13"/>
          <p:cNvSpPr txBox="1"/>
          <p:nvPr/>
        </p:nvSpPr>
        <p:spPr>
          <a:xfrm>
            <a:off x="685800" y="346374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invented companies (7 / 15 / 8 by tier)</a:t>
            </a:r>
          </a:p>
        </p:txBody>
      </p:sp>
      <p:sp>
        <p:nvSpPr>
          <p:cNvPr id="15" name="Rounded Rectangle 14"/>
          <p:cNvSpPr/>
          <p:nvPr/>
        </p:nvSpPr>
        <p:spPr>
          <a:xfrm>
            <a:off x="502920" y="402336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02920" y="4023360"/>
            <a:ext cx="73152" cy="100584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85800" y="4078224"/>
            <a:ext cx="2377440" cy="553212"/>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24</a:t>
            </a:r>
          </a:p>
        </p:txBody>
      </p:sp>
      <p:sp>
        <p:nvSpPr>
          <p:cNvPr id="18" name="TextBox 17"/>
          <p:cNvSpPr txBox="1"/>
          <p:nvPr/>
        </p:nvSpPr>
        <p:spPr>
          <a:xfrm>
            <a:off x="685800" y="460674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features: 5 freq-encoded, 19 z-scored</a:t>
            </a:r>
          </a:p>
        </p:txBody>
      </p:sp>
      <p:graphicFrame>
        <p:nvGraphicFramePr>
          <p:cNvPr id="19" name="Chart 18"/>
          <p:cNvGraphicFramePr>
            <a:graphicFrameLocks noGrp="1"/>
          </p:cNvGraphicFramePr>
          <p:nvPr/>
        </p:nvGraphicFramePr>
        <p:xfrm>
          <a:off x="3383280" y="1691640"/>
          <a:ext cx="4389120" cy="2926080"/>
        </p:xfrm>
        <a:graphic>
          <a:graphicData uri="http://schemas.openxmlformats.org/drawingml/2006/chart">
            <c:chart xmlns:c="http://schemas.openxmlformats.org/drawingml/2006/chart" r:id="rId4"/>
          </a:graphicData>
        </a:graphic>
      </p:graphicFrame>
      <p:graphicFrame>
        <p:nvGraphicFramePr>
          <p:cNvPr id="20" name="Table 19"/>
          <p:cNvGraphicFramePr>
            <a:graphicFrameLocks noGrp="1"/>
          </p:cNvGraphicFramePr>
          <p:nvPr/>
        </p:nvGraphicFramePr>
        <p:xfrm>
          <a:off x="7955279" y="1737360"/>
          <a:ext cx="3749040" cy="2286000"/>
        </p:xfrm>
        <a:graphic>
          <a:graphicData uri="http://schemas.openxmlformats.org/drawingml/2006/table">
            <a:tbl>
              <a:tblPr firstRow="0" bandRow="0">
                <a:tableStyleId>{5C22544A-7EE6-4342-B048-85BDC9FD1C3A}</a:tableStyleId>
              </a:tblPr>
              <a:tblGrid>
                <a:gridCol w="1463040"/>
                <a:gridCol w="2286000"/>
              </a:tblGrid>
              <a:tr h="457200">
                <a:tc>
                  <a:txBody>
                    <a:bodyPr wrap="square"/>
                    <a:lstStyle/>
                    <a:p>
                      <a:pPr algn="ctr"/>
                      <a:r>
                        <a:rPr sz="1100" b="1">
                          <a:solidFill>
                            <a:srgbClr val="1F3864"/>
                          </a:solidFill>
                          <a:latin typeface="Calibri"/>
                          <a:ea typeface="Calibri"/>
                          <a:cs typeface="Calibri"/>
                        </a:rPr>
                        <a:t>Component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Setting</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457200">
                <a:tc>
                  <a:txBody>
                    <a:bodyPr wrap="square"/>
                    <a:lstStyle/>
                    <a:p>
                      <a:pPr algn="l"/>
                      <a:r>
                        <a:rPr sz="1100" b="1">
                          <a:solidFill>
                            <a:srgbClr val="222222"/>
                          </a:solidFill>
                          <a:latin typeface="Calibri"/>
                          <a:ea typeface="Calibri"/>
                          <a:cs typeface="Calibri"/>
                        </a:rPr>
                        <a:t>XGBoost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100 trees, depth 8, lr 0.1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57200">
                <a:tc>
                  <a:txBody>
                    <a:bodyPr wrap="square"/>
                    <a:lstStyle/>
                    <a:p>
                      <a:pPr algn="l"/>
                      <a:r>
                        <a:rPr sz="1100" b="1">
                          <a:solidFill>
                            <a:srgbClr val="222222"/>
                          </a:solidFill>
                          <a:latin typeface="Calibri"/>
                          <a:ea typeface="Calibri"/>
                          <a:cs typeface="Calibri"/>
                        </a:rPr>
                        <a:t>Calibration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Platt, cv = 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457200">
                <a:tc>
                  <a:txBody>
                    <a:bodyPr wrap="square"/>
                    <a:lstStyle/>
                    <a:p>
                      <a:pPr algn="l"/>
                      <a:r>
                        <a:rPr sz="1100" b="1">
                          <a:solidFill>
                            <a:srgbClr val="222222"/>
                          </a:solidFill>
                          <a:latin typeface="Calibri"/>
                          <a:ea typeface="Calibri"/>
                          <a:cs typeface="Calibri"/>
                        </a:rPr>
                        <a:t>Local model</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kNN k = 9</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57200">
                <a:tc>
                  <a:txBody>
                    <a:bodyPr wrap="square"/>
                    <a:lstStyle/>
                    <a:p>
                      <a:pPr algn="l"/>
                      <a:r>
                        <a:rPr sz="1100" b="1">
                          <a:solidFill>
                            <a:srgbClr val="222222"/>
                          </a:solidFill>
                          <a:latin typeface="Calibri"/>
                          <a:ea typeface="Calibri"/>
                          <a:cs typeface="Calibri"/>
                        </a:rPr>
                        <a:t>Split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2,100 / 450 / 450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bl>
          </a:graphicData>
        </a:graphic>
      </p:graphicFrame>
      <p:sp>
        <p:nvSpPr>
          <p:cNvPr id="21" name="TextBox 20"/>
          <p:cNvSpPr txBox="1"/>
          <p:nvPr/>
        </p:nvSpPr>
        <p:spPr>
          <a:xfrm>
            <a:off x="7955279" y="4206240"/>
            <a:ext cx="3749039" cy="2011680"/>
          </a:xfrm>
          <a:prstGeom prst="rect">
            <a:avLst/>
          </a:prstGeom>
          <a:noFill/>
        </p:spPr>
        <p:txBody>
          <a:bodyPr wrap="square" lIns="0" rIns="0" tIns="0" bIns="0" anchor="t">
            <a:spAutoFit/>
          </a:bodyPr>
          <a:lstStyle/>
          <a:p>
            <a:pPr algn="l" marL="256032" indent="-201168">
              <a:spcAft>
                <a:spcPts val="400"/>
              </a:spcAft>
              <a:buChar char="•"/>
            </a:pPr>
            <a:r>
              <a:rPr sz="1300" b="0" i="0">
                <a:solidFill>
                  <a:srgbClr val="222222"/>
                </a:solidFill>
                <a:latin typeface="Calibri"/>
                <a:ea typeface="Calibri"/>
                <a:cs typeface="Calibri"/>
              </a:rPr>
              <a:t>Placed 59.7%; no missing values; no resampling.</a:t>
            </a:r>
          </a:p>
          <a:p>
            <a:pPr algn="l" marL="256032" indent="-201168">
              <a:spcAft>
                <a:spcPts val="400"/>
              </a:spcAft>
              <a:buChar char="•"/>
            </a:pPr>
            <a:r>
              <a:rPr sz="1300" b="0" i="0">
                <a:solidFill>
                  <a:srgbClr val="222222"/>
                </a:solidFill>
                <a:latin typeface="Calibri"/>
                <a:ea typeface="Calibri"/>
                <a:cs typeface="Calibri"/>
              </a:rPr>
              <a:t>Labels come from a logistic rule plus noise, so linear models do well.</a:t>
            </a:r>
          </a:p>
          <a:p>
            <a:pPr algn="l" marL="256032" indent="-201168">
              <a:spcAft>
                <a:spcPts val="400"/>
              </a:spcAft>
              <a:buChar char="•"/>
            </a:pPr>
            <a:r>
              <a:rPr sz="1300" b="0" i="0">
                <a:solidFill>
                  <a:srgbClr val="222222"/>
                </a:solidFill>
                <a:latin typeface="Calibri"/>
                <a:ea typeface="Calibri"/>
                <a:cs typeface="Calibri"/>
              </a:rPr>
              <a:t>The company table is invented, not recruiter data.</a:t>
            </a:r>
          </a:p>
        </p:txBody>
      </p:sp>
      <p:sp>
        <p:nvSpPr>
          <p:cNvPr id="22" name="TextBox 21"/>
          <p:cNvSpPr txBox="1"/>
          <p:nvPr/>
        </p:nvSpPr>
        <p:spPr>
          <a:xfrm>
            <a:off x="502920" y="5212080"/>
            <a:ext cx="7315200" cy="914400"/>
          </a:xfrm>
          <a:prstGeom prst="rect">
            <a:avLst/>
          </a:prstGeom>
          <a:noFill/>
        </p:spPr>
        <p:txBody>
          <a:bodyPr wrap="square" lIns="0" rIns="0" tIns="0" bIns="0" anchor="t">
            <a:spAutoFit/>
          </a:bodyPr>
          <a:lstStyle/>
          <a:p>
            <a:pPr algn="l">
              <a:spcAft>
                <a:spcPts val="400"/>
              </a:spcAft>
            </a:pPr>
            <a:r>
              <a:rPr sz="1200" b="0" i="0">
                <a:solidFill>
                  <a:srgbClr val="1F3864"/>
                </a:solidFill>
                <a:latin typeface="Calibri"/>
                <a:ea typeface="Calibri"/>
                <a:cs typeface="Calibri"/>
              </a:rPr>
              <a:t>Placed rate by tier (Tier 1 9.6%, Tier 2 49.5%, Tier 3 81.6%) follows how the generator was built; 9-fold CV accuracy of XGBoost is 0.8147.</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Decision Workflow</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C5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13</a:t>
            </a:r>
            <a:endParaRPr lang="en-US" sz="1000" dirty="0"/>
          </a:p>
        </p:txBody>
      </p:sp>
      <p:pic>
        <p:nvPicPr>
          <p:cNvPr id="7" name="Picture 6" descr="10_core_algorithm_flowchart.png"/>
          <p:cNvPicPr>
            <a:picLocks noChangeAspect="1"/>
          </p:cNvPicPr>
          <p:nvPr/>
        </p:nvPicPr>
        <p:blipFill>
          <a:blip r:embed="rId2"/>
          <a:stretch>
            <a:fillRect/>
          </a:stretch>
        </p:blipFill>
        <p:spPr>
          <a:xfrm>
            <a:off x="545347" y="1645920"/>
            <a:ext cx="4487144" cy="4663440"/>
          </a:xfrm>
          <a:prstGeom prst="rect">
            <a:avLst/>
          </a:prstGeom>
        </p:spPr>
      </p:pic>
      <p:sp>
        <p:nvSpPr>
          <p:cNvPr id="8" name="TextBox 7"/>
          <p:cNvSpPr txBox="1"/>
          <p:nvPr/>
        </p:nvSpPr>
        <p:spPr>
          <a:xfrm>
            <a:off x="5394960" y="1828800"/>
            <a:ext cx="6309360" cy="4389120"/>
          </a:xfrm>
          <a:prstGeom prst="rect">
            <a:avLst/>
          </a:prstGeom>
          <a:noFill/>
        </p:spPr>
        <p:txBody>
          <a:bodyPr wrap="square" lIns="0" rIns="0" tIns="0" bIns="0" anchor="t">
            <a:spAutoFit/>
          </a:bodyPr>
          <a:lstStyle/>
          <a:p>
            <a:pPr algn="l" marL="256032" indent="-201168">
              <a:spcAft>
                <a:spcPts val="1200"/>
              </a:spcAft>
              <a:buChar char="•"/>
            </a:pPr>
            <a:r>
              <a:rPr sz="1800" b="0" i="0">
                <a:solidFill>
                  <a:srgbClr val="222222"/>
                </a:solidFill>
                <a:latin typeface="Calibri"/>
                <a:ea typeface="Calibri"/>
                <a:cs typeface="Calibri"/>
              </a:rPr>
              <a:t>Probability: calibrated XGBoost output (Platt scaling).</a:t>
            </a:r>
          </a:p>
          <a:p>
            <a:pPr algn="l" marL="256032" indent="-201168">
              <a:spcAft>
                <a:spcPts val="1200"/>
              </a:spcAft>
              <a:buChar char="•"/>
            </a:pPr>
            <a:r>
              <a:rPr sz="1800" b="0" i="0">
                <a:solidFill>
                  <a:srgbClr val="222222"/>
                </a:solidFill>
                <a:latin typeface="Calibri"/>
                <a:ea typeface="Calibri"/>
                <a:cs typeface="Calibri"/>
              </a:rPr>
              <a:t>Refine: if p is in [0.4, 0.6], p = 0.5 p + 0.5 kNN probability.</a:t>
            </a:r>
          </a:p>
          <a:p>
            <a:pPr algn="l" marL="256032" indent="-201168">
              <a:spcAft>
                <a:spcPts val="1200"/>
              </a:spcAft>
              <a:buChar char="•"/>
            </a:pPr>
            <a:r>
              <a:rPr sz="1800" b="0" i="0">
                <a:solidFill>
                  <a:srgbClr val="222222"/>
                </a:solidFill>
                <a:latin typeface="Calibri"/>
                <a:ea typeface="Calibri"/>
                <a:cs typeface="Calibri"/>
              </a:rPr>
              <a:t>Decide: placement ready if p &gt;= 0.5, otherwise needs improvement plus tips.</a:t>
            </a:r>
          </a:p>
          <a:p>
            <a:pPr algn="l" marL="256032" indent="-201168">
              <a:spcAft>
                <a:spcPts val="400"/>
              </a:spcAft>
              <a:buChar char="•"/>
            </a:pPr>
            <a:r>
              <a:rPr sz="1800" b="0" i="0">
                <a:solidFill>
                  <a:srgbClr val="222222"/>
                </a:solidFill>
                <a:latin typeface="Calibri"/>
                <a:ea typeface="Calibri"/>
                <a:cs typeface="Calibri"/>
              </a:rPr>
              <a:t>Recommend: the same prediction is called for every feasible company and role; top 5 by score = p + 0.05 proximity + location bonus.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User – System Interaction</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C5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14</a:t>
            </a:r>
            <a:endParaRPr lang="en-US" sz="1000" dirty="0"/>
          </a:p>
        </p:txBody>
      </p:sp>
      <p:pic>
        <p:nvPicPr>
          <p:cNvPr id="7" name="Picture 6" descr="07_sequence_prediction.png"/>
          <p:cNvPicPr>
            <a:picLocks noChangeAspect="1"/>
          </p:cNvPicPr>
          <p:nvPr/>
        </p:nvPicPr>
        <p:blipFill>
          <a:blip r:embed="rId2"/>
          <a:stretch>
            <a:fillRect/>
          </a:stretch>
        </p:blipFill>
        <p:spPr>
          <a:xfrm>
            <a:off x="502919" y="1786716"/>
            <a:ext cx="6035040" cy="4381847"/>
          </a:xfrm>
          <a:prstGeom prst="rect">
            <a:avLst/>
          </a:prstGeom>
        </p:spPr>
      </p:pic>
      <p:pic>
        <p:nvPicPr>
          <p:cNvPr id="8" name="Picture 7" descr="08_use_case.png"/>
          <p:cNvPicPr>
            <a:picLocks noChangeAspect="1"/>
          </p:cNvPicPr>
          <p:nvPr/>
        </p:nvPicPr>
        <p:blipFill>
          <a:blip r:embed="rId5"/>
          <a:stretch>
            <a:fillRect/>
          </a:stretch>
        </p:blipFill>
        <p:spPr>
          <a:xfrm>
            <a:off x="6766560" y="2185065"/>
            <a:ext cx="4937760" cy="358514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Database Design (file store)</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C5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15</a:t>
            </a:r>
            <a:endParaRPr lang="en-US" sz="1000" dirty="0"/>
          </a:p>
        </p:txBody>
      </p:sp>
      <p:pic>
        <p:nvPicPr>
          <p:cNvPr id="7" name="Picture 6" descr="09_er_diagram.png"/>
          <p:cNvPicPr>
            <a:picLocks noChangeAspect="1"/>
          </p:cNvPicPr>
          <p:nvPr/>
        </p:nvPicPr>
        <p:blipFill>
          <a:blip r:embed="rId2"/>
          <a:stretch>
            <a:fillRect/>
          </a:stretch>
        </p:blipFill>
        <p:spPr>
          <a:xfrm>
            <a:off x="1421974" y="1645920"/>
            <a:ext cx="4562691" cy="4114800"/>
          </a:xfrm>
          <a:prstGeom prst="rect">
            <a:avLst/>
          </a:prstGeom>
        </p:spPr>
      </p:pic>
      <p:graphicFrame>
        <p:nvGraphicFramePr>
          <p:cNvPr id="8" name="Table 7"/>
          <p:cNvGraphicFramePr>
            <a:graphicFrameLocks noGrp="1"/>
          </p:cNvGraphicFramePr>
          <p:nvPr/>
        </p:nvGraphicFramePr>
        <p:xfrm>
          <a:off x="7132320" y="1737360"/>
          <a:ext cx="4572000" cy="3950208"/>
        </p:xfrm>
        <a:graphic>
          <a:graphicData uri="http://schemas.openxmlformats.org/drawingml/2006/table">
            <a:tbl>
              <a:tblPr firstRow="0" bandRow="0">
                <a:tableStyleId>{5C22544A-7EE6-4342-B048-85BDC9FD1C3A}</a:tableStyleId>
              </a:tblPr>
              <a:tblGrid>
                <a:gridCol w="2468880"/>
                <a:gridCol w="2103120"/>
              </a:tblGrid>
              <a:tr h="438912">
                <a:tc>
                  <a:txBody>
                    <a:bodyPr wrap="square"/>
                    <a:lstStyle/>
                    <a:p>
                      <a:pPr algn="ctr"/>
                      <a:r>
                        <a:rPr sz="1100" b="1">
                          <a:solidFill>
                            <a:srgbClr val="1F3864"/>
                          </a:solidFill>
                          <a:latin typeface="Calibri"/>
                          <a:ea typeface="Calibri"/>
                          <a:cs typeface="Calibri"/>
                        </a:rPr>
                        <a:t>Store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Content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438912">
                <a:tc>
                  <a:txBody>
                    <a:bodyPr wrap="square"/>
                    <a:lstStyle/>
                    <a:p>
                      <a:pPr algn="l"/>
                      <a:r>
                        <a:rPr sz="1100" b="1">
                          <a:solidFill>
                            <a:srgbClr val="222222"/>
                          </a:solidFill>
                          <a:latin typeface="Calibri"/>
                          <a:ea typeface="Calibri"/>
                          <a:cs typeface="Calibri"/>
                        </a:rPr>
                        <a:t>data/placement_dataset.csv</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3,000 students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38912">
                <a:tc>
                  <a:txBody>
                    <a:bodyPr wrap="square"/>
                    <a:lstStyle/>
                    <a:p>
                      <a:pPr algn="l"/>
                      <a:r>
                        <a:rPr sz="1100" b="1">
                          <a:solidFill>
                            <a:srgbClr val="222222"/>
                          </a:solidFill>
                          <a:latin typeface="Calibri"/>
                          <a:ea typeface="Calibri"/>
                          <a:cs typeface="Calibri"/>
                        </a:rPr>
                        <a:t>data/companies.csv</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30 companies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438912">
                <a:tc>
                  <a:txBody>
                    <a:bodyPr wrap="square"/>
                    <a:lstStyle/>
                    <a:p>
                      <a:pPr algn="l"/>
                      <a:r>
                        <a:rPr sz="1100" b="1">
                          <a:solidFill>
                            <a:srgbClr val="222222"/>
                          </a:solidFill>
                          <a:latin typeface="Calibri"/>
                          <a:ea typeface="Calibri"/>
                          <a:cs typeface="Calibri"/>
                        </a:rPr>
                        <a:t>models/xgb_calibrated.pkl</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calibrated XGBoost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38912">
                <a:tc>
                  <a:txBody>
                    <a:bodyPr wrap="square"/>
                    <a:lstStyle/>
                    <a:p>
                      <a:pPr algn="l"/>
                      <a:r>
                        <a:rPr sz="1100" b="1">
                          <a:solidFill>
                            <a:srgbClr val="222222"/>
                          </a:solidFill>
                          <a:latin typeface="Calibri"/>
                          <a:ea typeface="Calibri"/>
                          <a:cs typeface="Calibri"/>
                        </a:rPr>
                        <a:t>models/knn_residual.pkl</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kNN (k = 9)</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438912">
                <a:tc>
                  <a:txBody>
                    <a:bodyPr wrap="square"/>
                    <a:lstStyle/>
                    <a:p>
                      <a:pPr algn="l"/>
                      <a:r>
                        <a:rPr sz="1100" b="1">
                          <a:solidFill>
                            <a:srgbClr val="222222"/>
                          </a:solidFill>
                          <a:latin typeface="Calibri"/>
                          <a:ea typeface="Calibri"/>
                          <a:cs typeface="Calibri"/>
                        </a:rPr>
                        <a:t>models/svm_residual.pkl</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SVM (RBF)</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38912">
                <a:tc>
                  <a:txBody>
                    <a:bodyPr wrap="square"/>
                    <a:lstStyle/>
                    <a:p>
                      <a:pPr algn="l"/>
                      <a:r>
                        <a:rPr sz="1100" b="1">
                          <a:solidFill>
                            <a:srgbClr val="222222"/>
                          </a:solidFill>
                          <a:latin typeface="Calibri"/>
                          <a:ea typeface="Calibri"/>
                          <a:cs typeface="Calibri"/>
                        </a:rPr>
                        <a:t>models/preprocess.pkl</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maps and scaler</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438912">
                <a:tc>
                  <a:txBody>
                    <a:bodyPr wrap="square"/>
                    <a:lstStyle/>
                    <a:p>
                      <a:pPr algn="l"/>
                      <a:r>
                        <a:rPr sz="1100" b="1">
                          <a:solidFill>
                            <a:srgbClr val="222222"/>
                          </a:solidFill>
                          <a:latin typeface="Calibri"/>
                          <a:ea typeface="Calibri"/>
                          <a:cs typeface="Calibri"/>
                        </a:rPr>
                        <a:t>models/metrics.json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9 models x 5 metrics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38912">
                <a:tc>
                  <a:txBody>
                    <a:bodyPr wrap="square"/>
                    <a:lstStyle/>
                    <a:p>
                      <a:pPr algn="l"/>
                      <a:r>
                        <a:rPr sz="1100" b="1">
                          <a:solidFill>
                            <a:srgbClr val="222222"/>
                          </a:solidFill>
                          <a:latin typeface="Calibri"/>
                          <a:ea typeface="Calibri"/>
                          <a:cs typeface="Calibri"/>
                        </a:rPr>
                        <a:t>static/*.png</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SHAP, PCA, histogram</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bl>
          </a:graphicData>
        </a:graphic>
      </p:graphicFrame>
      <p:sp>
        <p:nvSpPr>
          <p:cNvPr id="9" name="TextBox 8"/>
          <p:cNvSpPr txBox="1"/>
          <p:nvPr/>
        </p:nvSpPr>
        <p:spPr>
          <a:xfrm>
            <a:off x="502920" y="5852160"/>
            <a:ext cx="11155680" cy="457200"/>
          </a:xfrm>
          <a:prstGeom prst="rect">
            <a:avLst/>
          </a:prstGeom>
          <a:noFill/>
        </p:spPr>
        <p:txBody>
          <a:bodyPr wrap="square" lIns="0" rIns="0" tIns="0" bIns="0" anchor="t">
            <a:spAutoFit/>
          </a:bodyPr>
          <a:lstStyle/>
          <a:p>
            <a:pPr algn="l">
              <a:spcAft>
                <a:spcPts val="400"/>
              </a:spcAft>
            </a:pPr>
            <a:r>
              <a:rPr sz="1300" b="0" i="1">
                <a:solidFill>
                  <a:srgbClr val="1F3864"/>
                </a:solidFill>
                <a:latin typeface="Calibri"/>
                <a:ea typeface="Calibri"/>
                <a:cs typeface="Calibri"/>
              </a:rPr>
              <a:t>There is no SQL database (the batch description mentions MySQL): the ER diagram models the CSV and pickle files.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Implementation Highlights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C5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16</a:t>
            </a:r>
            <a:endParaRPr lang="en-US" sz="1000" dirty="0"/>
          </a:p>
        </p:txBody>
      </p:sp>
      <p:sp>
        <p:nvSpPr>
          <p:cNvPr id="7" name="Rounded Rectangle 6"/>
          <p:cNvSpPr/>
          <p:nvPr/>
        </p:nvSpPr>
        <p:spPr>
          <a:xfrm>
            <a:off x="502920" y="173736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02920" y="1737360"/>
            <a:ext cx="73152" cy="10058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5800" y="1792224"/>
            <a:ext cx="2377440" cy="553212"/>
          </a:xfrm>
          <a:prstGeom prst="rect">
            <a:avLst/>
          </a:prstGeom>
          <a:noFill/>
        </p:spPr>
        <p:txBody>
          <a:bodyPr wrap="square" lIns="0" rIns="0" tIns="0" bIns="0" anchor="ctr">
            <a:spAutoFit/>
          </a:bodyPr>
          <a:lstStyle/>
          <a:p>
            <a:pPr algn="l">
              <a:spcAft>
                <a:spcPts val="400"/>
              </a:spcAft>
            </a:pPr>
            <a:r>
              <a:rPr sz="2800" b="1" i="0">
                <a:solidFill>
                  <a:srgbClr val="1F3864"/>
                </a:solidFill>
                <a:latin typeface="Calibri"/>
                <a:ea typeface="Calibri"/>
                <a:cs typeface="Calibri"/>
              </a:rPr>
              <a:t>9</a:t>
            </a:r>
          </a:p>
        </p:txBody>
      </p:sp>
      <p:sp>
        <p:nvSpPr>
          <p:cNvPr id="10" name="TextBox 9"/>
          <p:cNvSpPr txBox="1"/>
          <p:nvPr/>
        </p:nvSpPr>
        <p:spPr>
          <a:xfrm>
            <a:off x="685800" y="232074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REST endpoints (+ /docs)</a:t>
            </a:r>
          </a:p>
        </p:txBody>
      </p:sp>
      <p:sp>
        <p:nvSpPr>
          <p:cNvPr id="11" name="Rounded Rectangle 10"/>
          <p:cNvSpPr/>
          <p:nvPr/>
        </p:nvSpPr>
        <p:spPr>
          <a:xfrm>
            <a:off x="3337560" y="173736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337560" y="1737360"/>
            <a:ext cx="73152" cy="100584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520440" y="1792224"/>
            <a:ext cx="2377440" cy="553212"/>
          </a:xfrm>
          <a:prstGeom prst="rect">
            <a:avLst/>
          </a:prstGeom>
          <a:noFill/>
        </p:spPr>
        <p:txBody>
          <a:bodyPr wrap="square" lIns="0" rIns="0" tIns="0" bIns="0" anchor="ctr">
            <a:spAutoFit/>
          </a:bodyPr>
          <a:lstStyle/>
          <a:p>
            <a:pPr algn="l">
              <a:spcAft>
                <a:spcPts val="400"/>
              </a:spcAft>
            </a:pPr>
            <a:r>
              <a:rPr sz="2800" b="1" i="0">
                <a:solidFill>
                  <a:srgbClr val="1F3864"/>
                </a:solidFill>
                <a:latin typeface="Calibri"/>
                <a:ea typeface="Calibri"/>
                <a:cs typeface="Calibri"/>
              </a:rPr>
              <a:t>46</a:t>
            </a:r>
          </a:p>
        </p:txBody>
      </p:sp>
      <p:sp>
        <p:nvSpPr>
          <p:cNvPr id="14" name="TextBox 13"/>
          <p:cNvSpPr txBox="1"/>
          <p:nvPr/>
        </p:nvSpPr>
        <p:spPr>
          <a:xfrm>
            <a:off x="3520440" y="232074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scripted checks, all pass</a:t>
            </a:r>
          </a:p>
        </p:txBody>
      </p:sp>
      <p:sp>
        <p:nvSpPr>
          <p:cNvPr id="15" name="Rounded Rectangle 14"/>
          <p:cNvSpPr/>
          <p:nvPr/>
        </p:nvSpPr>
        <p:spPr>
          <a:xfrm>
            <a:off x="6172200" y="173736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172200" y="1737360"/>
            <a:ext cx="73152" cy="100584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55080" y="1792224"/>
            <a:ext cx="2377440" cy="553212"/>
          </a:xfrm>
          <a:prstGeom prst="rect">
            <a:avLst/>
          </a:prstGeom>
          <a:noFill/>
        </p:spPr>
        <p:txBody>
          <a:bodyPr wrap="square" lIns="0" rIns="0" tIns="0" bIns="0" anchor="ctr">
            <a:spAutoFit/>
          </a:bodyPr>
          <a:lstStyle/>
          <a:p>
            <a:pPr algn="l">
              <a:spcAft>
                <a:spcPts val="400"/>
              </a:spcAft>
            </a:pPr>
            <a:r>
              <a:rPr sz="2800" b="1" i="0">
                <a:solidFill>
                  <a:srgbClr val="1F3864"/>
                </a:solidFill>
                <a:latin typeface="Calibri"/>
                <a:ea typeface="Calibri"/>
                <a:cs typeface="Calibri"/>
              </a:rPr>
              <a:t>6</a:t>
            </a:r>
          </a:p>
        </p:txBody>
      </p:sp>
      <p:sp>
        <p:nvSpPr>
          <p:cNvPr id="18" name="TextBox 17"/>
          <p:cNvSpPr txBox="1"/>
          <p:nvPr/>
        </p:nvSpPr>
        <p:spPr>
          <a:xfrm>
            <a:off x="6355080" y="232074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React pages</a:t>
            </a:r>
          </a:p>
        </p:txBody>
      </p:sp>
      <p:sp>
        <p:nvSpPr>
          <p:cNvPr id="19" name="Rounded Rectangle 18"/>
          <p:cNvSpPr/>
          <p:nvPr/>
        </p:nvSpPr>
        <p:spPr>
          <a:xfrm>
            <a:off x="9006840" y="173736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006840" y="1737360"/>
            <a:ext cx="73152" cy="100584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189720" y="1792224"/>
            <a:ext cx="2377440" cy="553212"/>
          </a:xfrm>
          <a:prstGeom prst="rect">
            <a:avLst/>
          </a:prstGeom>
          <a:noFill/>
        </p:spPr>
        <p:txBody>
          <a:bodyPr wrap="square" lIns="0" rIns="0" tIns="0" bIns="0" anchor="ctr">
            <a:spAutoFit/>
          </a:bodyPr>
          <a:lstStyle/>
          <a:p>
            <a:pPr algn="l">
              <a:spcAft>
                <a:spcPts val="400"/>
              </a:spcAft>
            </a:pPr>
            <a:r>
              <a:rPr sz="2800" b="1" i="0">
                <a:solidFill>
                  <a:srgbClr val="1F3864"/>
                </a:solidFill>
                <a:latin typeface="Calibri"/>
                <a:ea typeface="Calibri"/>
                <a:cs typeface="Calibri"/>
              </a:rPr>
              <a:t>1</a:t>
            </a:r>
          </a:p>
        </p:txBody>
      </p:sp>
      <p:sp>
        <p:nvSpPr>
          <p:cNvPr id="22" name="TextBox 21"/>
          <p:cNvSpPr txBox="1"/>
          <p:nvPr/>
        </p:nvSpPr>
        <p:spPr>
          <a:xfrm>
            <a:off x="9189720" y="232074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command to start (run.bat)</a:t>
            </a:r>
          </a:p>
        </p:txBody>
      </p:sp>
      <p:sp>
        <p:nvSpPr>
          <p:cNvPr id="23" name="TextBox 22"/>
          <p:cNvSpPr txBox="1"/>
          <p:nvPr/>
        </p:nvSpPr>
        <p:spPr>
          <a:xfrm>
            <a:off x="502920" y="3017520"/>
            <a:ext cx="11155680" cy="3200400"/>
          </a:xfrm>
          <a:prstGeom prst="rect">
            <a:avLst/>
          </a:prstGeom>
          <a:noFill/>
        </p:spPr>
        <p:txBody>
          <a:bodyPr wrap="square" lIns="0" rIns="0" tIns="0" bIns="0" anchor="t">
            <a:spAutoFit/>
          </a:bodyPr>
          <a:lstStyle/>
          <a:p>
            <a:pPr algn="l" marL="256032" indent="-201168">
              <a:spcAft>
                <a:spcPts val="900"/>
              </a:spcAft>
              <a:buChar char="•"/>
            </a:pPr>
            <a:r>
              <a:rPr sz="1700" b="0" i="0">
                <a:solidFill>
                  <a:srgbClr val="222222"/>
                </a:solidFill>
                <a:latin typeface="Calibri"/>
                <a:ea typeface="Calibri"/>
                <a:cs typeface="Calibri"/>
              </a:rPr>
              <a:t>Pydantic validation: CGPA 0-10, scores 0-100, counts 0-20; unknown company gives 404, bad range 422, missing models 503.</a:t>
            </a:r>
          </a:p>
          <a:p>
            <a:pPr algn="l" marL="256032" indent="-201168">
              <a:spcAft>
                <a:spcPts val="900"/>
              </a:spcAft>
              <a:buChar char="•"/>
            </a:pPr>
            <a:r>
              <a:rPr sz="1700" b="0" i="0">
                <a:solidFill>
                  <a:srgbClr val="222222"/>
                </a:solidFill>
                <a:latin typeface="Calibri"/>
                <a:ea typeface="Calibri"/>
                <a:cs typeface="Calibri"/>
              </a:rPr>
              <a:t>The FastAPI layer imports the original src.recommend functions, so the Flask and React interfaces give identical numbers.</a:t>
            </a:r>
          </a:p>
          <a:p>
            <a:pPr algn="l" marL="256032" indent="-201168">
              <a:spcAft>
                <a:spcPts val="900"/>
              </a:spcAft>
              <a:buChar char="•"/>
            </a:pPr>
            <a:r>
              <a:rPr sz="1700" b="0" i="0">
                <a:solidFill>
                  <a:srgbClr val="222222"/>
                </a:solidFill>
                <a:latin typeface="Calibri"/>
                <a:ea typeface="Calibri"/>
                <a:cs typeface="Calibri"/>
              </a:rPr>
              <a:t>Skill-gap tips are cutoff rules (CGPA, aptitude, technical, internship); the officer dashboard shows metrics, SHAP, PCA and branch rates.</a:t>
            </a:r>
          </a:p>
          <a:p>
            <a:pPr algn="l" marL="256032" indent="-201168">
              <a:spcAft>
                <a:spcPts val="400"/>
              </a:spcAft>
              <a:buChar char="•"/>
            </a:pPr>
            <a:r>
              <a:rPr sz="1700" b="0" i="0">
                <a:solidFill>
                  <a:srgbClr val="222222"/>
                </a:solidFill>
                <a:latin typeface="Calibri"/>
                <a:ea typeface="Calibri"/>
                <a:cs typeface="Calibri"/>
              </a:rPr>
              <a:t>CORS allows only the front-end origin; there is no authentication, rate limiting or database (documented limits).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Results – Model Performance (450 test students, seed 42)</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C5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17</a:t>
            </a:r>
            <a:endParaRPr lang="en-US" sz="1000" dirty="0"/>
          </a:p>
        </p:txBody>
      </p:sp>
      <p:graphicFrame>
        <p:nvGraphicFramePr>
          <p:cNvPr id="7" name="Table 6"/>
          <p:cNvGraphicFramePr>
            <a:graphicFrameLocks noGrp="1"/>
          </p:cNvGraphicFramePr>
          <p:nvPr/>
        </p:nvGraphicFramePr>
        <p:xfrm>
          <a:off x="502920" y="1691640"/>
          <a:ext cx="7772400" cy="3291840"/>
        </p:xfrm>
        <a:graphic>
          <a:graphicData uri="http://schemas.openxmlformats.org/drawingml/2006/table">
            <a:tbl>
              <a:tblPr firstRow="0" bandRow="0">
                <a:tableStyleId>{5C22544A-7EE6-4342-B048-85BDC9FD1C3A}</a:tableStyleId>
              </a:tblPr>
              <a:tblGrid>
                <a:gridCol w="2377440"/>
                <a:gridCol w="960120"/>
                <a:gridCol w="960120"/>
                <a:gridCol w="868680"/>
                <a:gridCol w="868680"/>
                <a:gridCol w="1737360"/>
              </a:tblGrid>
              <a:tr h="411480">
                <a:tc>
                  <a:txBody>
                    <a:bodyPr wrap="square"/>
                    <a:lstStyle/>
                    <a:p>
                      <a:pPr algn="ctr"/>
                      <a:r>
                        <a:rPr sz="1200" b="1">
                          <a:solidFill>
                            <a:srgbClr val="1F3864"/>
                          </a:solidFill>
                          <a:latin typeface="Calibri"/>
                          <a:ea typeface="Calibri"/>
                          <a:cs typeface="Calibri"/>
                        </a:rPr>
                        <a:t>Model</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Accuracy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ROC-AUC</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F1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Recall</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5-seed accuracy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411480">
                <a:tc>
                  <a:txBody>
                    <a:bodyPr wrap="square"/>
                    <a:lstStyle/>
                    <a:p>
                      <a:pPr algn="l"/>
                      <a:r>
                        <a:rPr sz="1200" b="1">
                          <a:solidFill>
                            <a:srgbClr val="222222"/>
                          </a:solidFill>
                          <a:latin typeface="Calibri"/>
                          <a:ea typeface="Calibri"/>
                          <a:cs typeface="Calibri"/>
                        </a:rPr>
                        <a:t>Logistic Regression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0.8289</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0.9106</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0.8577</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0.8657</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0.8231 ± 0.0194</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11480">
                <a:tc>
                  <a:txBody>
                    <a:bodyPr wrap="square"/>
                    <a:lstStyle/>
                    <a:p>
                      <a:pPr algn="l"/>
                      <a:r>
                        <a:rPr sz="1200" b="1">
                          <a:solidFill>
                            <a:srgbClr val="222222"/>
                          </a:solidFill>
                          <a:latin typeface="Calibri"/>
                          <a:ea typeface="Calibri"/>
                          <a:cs typeface="Calibri"/>
                        </a:rPr>
                        <a:t>Random Forest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200" b="0">
                          <a:solidFill>
                            <a:srgbClr val="222222"/>
                          </a:solidFill>
                          <a:latin typeface="Calibri"/>
                          <a:ea typeface="Calibri"/>
                          <a:cs typeface="Calibri"/>
                        </a:rPr>
                        <a:t>0.8067</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200" b="0">
                          <a:solidFill>
                            <a:srgbClr val="222222"/>
                          </a:solidFill>
                          <a:latin typeface="Calibri"/>
                          <a:ea typeface="Calibri"/>
                          <a:cs typeface="Calibri"/>
                        </a:rPr>
                        <a:t>0.8918</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200" b="0">
                          <a:solidFill>
                            <a:srgbClr val="222222"/>
                          </a:solidFill>
                          <a:latin typeface="Calibri"/>
                          <a:ea typeface="Calibri"/>
                          <a:cs typeface="Calibri"/>
                        </a:rPr>
                        <a:t>0.8404</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200" b="0">
                          <a:solidFill>
                            <a:srgbClr val="222222"/>
                          </a:solidFill>
                          <a:latin typeface="Calibri"/>
                          <a:ea typeface="Calibri"/>
                          <a:cs typeface="Calibri"/>
                        </a:rPr>
                        <a:t>0.8545</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200" b="0">
                          <a:solidFill>
                            <a:srgbClr val="222222"/>
                          </a:solidFill>
                          <a:latin typeface="Calibri"/>
                          <a:ea typeface="Calibri"/>
                          <a:cs typeface="Calibri"/>
                        </a:rPr>
                        <a:t>0.8004 ± 0.0216</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411480">
                <a:tc>
                  <a:txBody>
                    <a:bodyPr wrap="square"/>
                    <a:lstStyle/>
                    <a:p>
                      <a:pPr algn="l"/>
                      <a:r>
                        <a:rPr sz="1200" b="1">
                          <a:solidFill>
                            <a:srgbClr val="222222"/>
                          </a:solidFill>
                          <a:latin typeface="Calibri"/>
                          <a:ea typeface="Calibri"/>
                          <a:cs typeface="Calibri"/>
                        </a:rPr>
                        <a:t>SVM (RBF)</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0.8289</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0.8855</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0.8597</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0.8806</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0.8129 ± 0.0169</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11480">
                <a:tc>
                  <a:txBody>
                    <a:bodyPr wrap="square"/>
                    <a:lstStyle/>
                    <a:p>
                      <a:pPr algn="l"/>
                      <a:r>
                        <a:rPr sz="1200" b="1">
                          <a:solidFill>
                            <a:srgbClr val="222222"/>
                          </a:solidFill>
                          <a:latin typeface="Calibri"/>
                          <a:ea typeface="Calibri"/>
                          <a:cs typeface="Calibri"/>
                        </a:rPr>
                        <a:t>kNN (k = 9)</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200" b="0">
                          <a:solidFill>
                            <a:srgbClr val="222222"/>
                          </a:solidFill>
                          <a:latin typeface="Calibri"/>
                          <a:ea typeface="Calibri"/>
                          <a:cs typeface="Calibri"/>
                        </a:rPr>
                        <a:t>0.7978</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200" b="0">
                          <a:solidFill>
                            <a:srgbClr val="222222"/>
                          </a:solidFill>
                          <a:latin typeface="Calibri"/>
                          <a:ea typeface="Calibri"/>
                          <a:cs typeface="Calibri"/>
                        </a:rPr>
                        <a:t>0.8638</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200" b="0">
                          <a:solidFill>
                            <a:srgbClr val="222222"/>
                          </a:solidFill>
                          <a:latin typeface="Calibri"/>
                          <a:ea typeface="Calibri"/>
                          <a:cs typeface="Calibri"/>
                        </a:rPr>
                        <a:t>0.8378</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200" b="0">
                          <a:solidFill>
                            <a:srgbClr val="222222"/>
                          </a:solidFill>
                          <a:latin typeface="Calibri"/>
                          <a:ea typeface="Calibri"/>
                          <a:cs typeface="Calibri"/>
                        </a:rPr>
                        <a:t>0.8769</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200" b="0">
                          <a:solidFill>
                            <a:srgbClr val="222222"/>
                          </a:solidFill>
                          <a:latin typeface="Calibri"/>
                          <a:ea typeface="Calibri"/>
                          <a:cs typeface="Calibri"/>
                        </a:rPr>
                        <a:t>0.7960 ± 0.0208</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411480">
                <a:tc>
                  <a:txBody>
                    <a:bodyPr wrap="square"/>
                    <a:lstStyle/>
                    <a:p>
                      <a:pPr algn="l"/>
                      <a:r>
                        <a:rPr sz="1200" b="1">
                          <a:solidFill>
                            <a:srgbClr val="222222"/>
                          </a:solidFill>
                          <a:latin typeface="Calibri"/>
                          <a:ea typeface="Calibri"/>
                          <a:cs typeface="Calibri"/>
                        </a:rPr>
                        <a:t>XGBoost + Platt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0.8067</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0.8928</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0.8404</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0.8545</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0.8138 ± 0.0115</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11480">
                <a:tc>
                  <a:txBody>
                    <a:bodyPr wrap="square"/>
                    <a:lstStyle/>
                    <a:p>
                      <a:pPr algn="l"/>
                      <a:r>
                        <a:rPr sz="1200" b="1">
                          <a:solidFill>
                            <a:srgbClr val="222222"/>
                          </a:solidFill>
                          <a:latin typeface="Calibri"/>
                          <a:ea typeface="Calibri"/>
                          <a:cs typeface="Calibri"/>
                        </a:rPr>
                        <a:t>Hybrid (labels used)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200" b="0">
                          <a:solidFill>
                            <a:srgbClr val="222222"/>
                          </a:solidFill>
                          <a:latin typeface="Calibri"/>
                          <a:ea typeface="Calibri"/>
                          <a:cs typeface="Calibri"/>
                        </a:rPr>
                        <a:t>0.8400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200" b="0">
                          <a:solidFill>
                            <a:srgbClr val="222222"/>
                          </a:solidFill>
                          <a:latin typeface="Calibri"/>
                          <a:ea typeface="Calibri"/>
                          <a:cs typeface="Calibri"/>
                        </a:rPr>
                        <a:t>0.8968</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200" b="0">
                          <a:solidFill>
                            <a:srgbClr val="222222"/>
                          </a:solidFill>
                          <a:latin typeface="Calibri"/>
                          <a:ea typeface="Calibri"/>
                          <a:cs typeface="Calibri"/>
                        </a:rPr>
                        <a:t>0.8710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200" b="0">
                          <a:solidFill>
                            <a:srgbClr val="222222"/>
                          </a:solidFill>
                          <a:latin typeface="Calibri"/>
                          <a:ea typeface="Calibri"/>
                          <a:cs typeface="Calibri"/>
                        </a:rPr>
                        <a:t>0.9067</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200" b="0">
                          <a:solidFill>
                            <a:srgbClr val="222222"/>
                          </a:solidFill>
                          <a:latin typeface="Calibri"/>
                          <a:ea typeface="Calibri"/>
                          <a:cs typeface="Calibri"/>
                        </a:rPr>
                        <a:t>0.8391 ± 0.0154</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411480">
                <a:tc>
                  <a:txBody>
                    <a:bodyPr wrap="square"/>
                    <a:lstStyle/>
                    <a:p>
                      <a:pPr algn="l"/>
                      <a:r>
                        <a:rPr sz="1200" b="1">
                          <a:solidFill>
                            <a:srgbClr val="222222"/>
                          </a:solidFill>
                          <a:latin typeface="Calibri"/>
                          <a:ea typeface="Calibri"/>
                          <a:cs typeface="Calibri"/>
                        </a:rPr>
                        <a:t>Hybrid (label-free)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0.8089</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0.8954</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0.8442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0.8694</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0.8142 ± 0.0180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bl>
          </a:graphicData>
        </a:graphic>
      </p:graphicFrame>
      <p:sp>
        <p:nvSpPr>
          <p:cNvPr id="8" name="TextBox 7"/>
          <p:cNvSpPr txBox="1"/>
          <p:nvPr/>
        </p:nvSpPr>
        <p:spPr>
          <a:xfrm>
            <a:off x="502920" y="5074920"/>
            <a:ext cx="7772400" cy="1280160"/>
          </a:xfrm>
          <a:prstGeom prst="rect">
            <a:avLst/>
          </a:prstGeom>
          <a:noFill/>
        </p:spPr>
        <p:txBody>
          <a:bodyPr wrap="square" lIns="0" rIns="0" tIns="0" bIns="0" anchor="t">
            <a:spAutoFit/>
          </a:bodyPr>
          <a:lstStyle/>
          <a:p>
            <a:pPr algn="l">
              <a:spcAft>
                <a:spcPts val="400"/>
              </a:spcAft>
            </a:pPr>
            <a:r>
              <a:rPr sz="1200" b="0" i="0">
                <a:solidFill>
                  <a:srgbClr val="1F3864"/>
                </a:solidFill>
                <a:latin typeface="Calibri"/>
                <a:ea typeface="Calibri"/>
                <a:cs typeface="Calibri"/>
              </a:rPr>
              <a:t>Shipped models (models/metrics.json). The five-seed column is a retrain on five random splits (mean ± sd); one seed differs from the shipped model by at most 0.011. Differences of one to two points are within one standard deviation.</a:t>
            </a:r>
          </a:p>
        </p:txBody>
      </p:sp>
      <p:sp>
        <p:nvSpPr>
          <p:cNvPr id="9" name="Rounded Rectangle 8"/>
          <p:cNvSpPr/>
          <p:nvPr/>
        </p:nvSpPr>
        <p:spPr>
          <a:xfrm>
            <a:off x="8595360" y="1691640"/>
            <a:ext cx="3108960" cy="4480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796528" y="1874520"/>
            <a:ext cx="502920" cy="502920"/>
          </a:xfrm>
          <a:prstGeom prst="ellipse">
            <a:avLst/>
          </a:prstGeom>
          <a:solidFill>
            <a:srgbClr val="2E75B6"/>
          </a:solidFill>
          <a:ln w="952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i</a:t>
            </a:r>
          </a:p>
        </p:txBody>
      </p:sp>
      <p:sp>
        <p:nvSpPr>
          <p:cNvPr id="11" name="TextBox 10"/>
          <p:cNvSpPr txBox="1"/>
          <p:nvPr/>
        </p:nvSpPr>
        <p:spPr>
          <a:xfrm>
            <a:off x="9436608" y="1847088"/>
            <a:ext cx="2103120" cy="548640"/>
          </a:xfrm>
          <a:prstGeom prst="rect">
            <a:avLst/>
          </a:prstGeom>
          <a:noFill/>
        </p:spPr>
        <p:txBody>
          <a:bodyPr wrap="square" lIns="0" rIns="0" tIns="0" bIns="0" anchor="ctr">
            <a:spAutoFit/>
          </a:bodyPr>
          <a:lstStyle/>
          <a:p>
            <a:pPr algn="l">
              <a:spcAft>
                <a:spcPts val="400"/>
              </a:spcAft>
            </a:pPr>
            <a:r>
              <a:rPr sz="1600" b="1" i="0">
                <a:solidFill>
                  <a:srgbClr val="0F172A"/>
                </a:solidFill>
              </a:rPr>
              <a:t>Reading</a:t>
            </a:r>
          </a:p>
        </p:txBody>
      </p:sp>
      <p:sp>
        <p:nvSpPr>
          <p:cNvPr id="12" name="TextBox 11"/>
          <p:cNvSpPr txBox="1"/>
          <p:nvPr/>
        </p:nvSpPr>
        <p:spPr>
          <a:xfrm>
            <a:off x="8796528" y="2560320"/>
            <a:ext cx="2706624" cy="3474720"/>
          </a:xfrm>
          <a:prstGeom prst="rect">
            <a:avLst/>
          </a:prstGeom>
          <a:noFill/>
        </p:spPr>
        <p:txBody>
          <a:bodyPr wrap="square" lIns="0" rIns="0" tIns="0" bIns="0" anchor="t">
            <a:spAutoFit/>
          </a:bodyPr>
          <a:lstStyle/>
          <a:p>
            <a:pPr algn="l">
              <a:spcAft>
                <a:spcPts val="400"/>
              </a:spcAft>
            </a:pPr>
            <a:r>
              <a:rPr sz="1300" b="0" i="0">
                <a:solidFill>
                  <a:srgbClr val="475569"/>
                </a:solidFill>
              </a:rPr>
              <a:t>Logistic Regression has the best AUC (0.9106) because the labels come from a logistic rule. The label-based hybrid is the best accuracy (0.8400) but the label-free one equals XGBoost + Platt (0.8089 vs 0.8067).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Confusion Matrices &amp; Recommendation Gain</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C5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18</a:t>
            </a:r>
            <a:endParaRPr lang="en-US" sz="1000" dirty="0"/>
          </a:p>
        </p:txBody>
      </p:sp>
      <p:pic>
        <p:nvPicPr>
          <p:cNvPr id="7" name="Picture 6" descr="confusion_matrices.png"/>
          <p:cNvPicPr>
            <a:picLocks noChangeAspect="1"/>
          </p:cNvPicPr>
          <p:nvPr/>
        </p:nvPicPr>
        <p:blipFill>
          <a:blip r:embed="rId3"/>
          <a:stretch>
            <a:fillRect/>
          </a:stretch>
        </p:blipFill>
        <p:spPr>
          <a:xfrm>
            <a:off x="502920" y="1724069"/>
            <a:ext cx="6858000" cy="2312581"/>
          </a:xfrm>
          <a:prstGeom prst="rect">
            <a:avLst/>
          </a:prstGeom>
        </p:spPr>
      </p:pic>
      <p:sp>
        <p:nvSpPr>
          <p:cNvPr id="8" name="TextBox 7"/>
          <p:cNvSpPr txBox="1"/>
          <p:nvPr/>
        </p:nvSpPr>
        <p:spPr>
          <a:xfrm>
            <a:off x="502920" y="4206240"/>
            <a:ext cx="6858000" cy="2103120"/>
          </a:xfrm>
          <a:prstGeom prst="rect">
            <a:avLst/>
          </a:prstGeom>
          <a:noFill/>
        </p:spPr>
        <p:txBody>
          <a:bodyPr wrap="square" lIns="0" rIns="0" tIns="0" bIns="0" anchor="t">
            <a:spAutoFit/>
          </a:bodyPr>
          <a:lstStyle/>
          <a:p>
            <a:pPr algn="l" marL="256032" indent="-201168">
              <a:spcAft>
                <a:spcPts val="400"/>
              </a:spcAft>
              <a:buChar char="•"/>
            </a:pPr>
            <a:r>
              <a:rPr sz="1400" b="0" i="0">
                <a:solidFill>
                  <a:srgbClr val="222222"/>
                </a:solidFill>
                <a:latin typeface="Calibri"/>
                <a:ea typeface="Calibri"/>
                <a:cs typeface="Calibri"/>
              </a:rPr>
              <a:t>XGBoost + Platt: 39 placed students missed, 48 false alarms.</a:t>
            </a:r>
          </a:p>
          <a:p>
            <a:pPr algn="l" marL="256032" indent="-201168">
              <a:spcAft>
                <a:spcPts val="400"/>
              </a:spcAft>
              <a:buChar char="•"/>
            </a:pPr>
            <a:r>
              <a:rPr sz="1400" b="0" i="0">
                <a:solidFill>
                  <a:srgbClr val="222222"/>
                </a:solidFill>
                <a:latin typeface="Calibri"/>
                <a:ea typeface="Calibri"/>
                <a:cs typeface="Calibri"/>
              </a:rPr>
              <a:t>Hybrid with labels: 25 missed (recall 0.9067): 72 of the 87 XGBoost errors are chosen for refinement only because the label shows they are wrong.</a:t>
            </a:r>
          </a:p>
          <a:p>
            <a:pPr algn="l" marL="256032" indent="-201168">
              <a:spcAft>
                <a:spcPts val="400"/>
              </a:spcAft>
              <a:buChar char="•"/>
            </a:pPr>
            <a:r>
              <a:rPr sz="1400" b="0" i="0">
                <a:solidFill>
                  <a:srgbClr val="222222"/>
                </a:solidFill>
                <a:latin typeface="Calibri"/>
                <a:ea typeface="Calibri"/>
                <a:cs typeface="Calibri"/>
              </a:rPr>
              <a:t>Hybrid serving rule (label-free): 36 missed, 50 false alarms; kNN is right on 54.8% of the 31 borderline rows against 51.6% for XGBoost.</a:t>
            </a:r>
          </a:p>
        </p:txBody>
      </p:sp>
      <p:pic>
        <p:nvPicPr>
          <p:cNvPr id="9" name="Picture 8" descr="reco_gain.png"/>
          <p:cNvPicPr>
            <a:picLocks noChangeAspect="1"/>
          </p:cNvPicPr>
          <p:nvPr/>
        </p:nvPicPr>
        <p:blipFill>
          <a:blip r:embed="rId2"/>
          <a:stretch>
            <a:fillRect/>
          </a:stretch>
        </p:blipFill>
        <p:spPr>
          <a:xfrm>
            <a:off x="7613724" y="1691640"/>
            <a:ext cx="4066390" cy="2468880"/>
          </a:xfrm>
          <a:prstGeom prst="rect">
            <a:avLst/>
          </a:prstGeom>
        </p:spPr>
      </p:pic>
      <p:sp>
        <p:nvSpPr>
          <p:cNvPr id="10" name="TextBox 9"/>
          <p:cNvSpPr txBox="1"/>
          <p:nvPr/>
        </p:nvSpPr>
        <p:spPr>
          <a:xfrm>
            <a:off x="7589520" y="4206240"/>
            <a:ext cx="4114800" cy="2103120"/>
          </a:xfrm>
          <a:prstGeom prst="rect">
            <a:avLst/>
          </a:prstGeom>
          <a:noFill/>
        </p:spPr>
        <p:txBody>
          <a:bodyPr wrap="square" lIns="0" rIns="0" tIns="0" bIns="0" anchor="t">
            <a:spAutoFit/>
          </a:bodyPr>
          <a:lstStyle/>
          <a:p>
            <a:pPr algn="l" marL="256032" indent="-201168">
              <a:spcAft>
                <a:spcPts val="400"/>
              </a:spcAft>
              <a:buChar char="•"/>
            </a:pPr>
            <a:r>
              <a:rPr sz="1300" b="0" i="0">
                <a:solidFill>
                  <a:srgbClr val="222222"/>
                </a:solidFill>
                <a:latin typeface="Calibri"/>
                <a:ea typeface="Calibri"/>
                <a:cs typeface="Calibri"/>
              </a:rPr>
              <a:t>Recommendation on 60 test students rated below 0.5: 52 get a better option; mean base 0.222, top-1 0.643. The histogram covers the 56 with at least one feasible company.</a:t>
            </a:r>
          </a:p>
          <a:p>
            <a:pPr algn="l" marL="256032" indent="-201168">
              <a:spcAft>
                <a:spcPts val="400"/>
              </a:spcAft>
              <a:buChar char="•"/>
            </a:pPr>
            <a:r>
              <a:rPr sz="1300" b="0" i="0">
                <a:solidFill>
                  <a:srgbClr val="222222"/>
                </a:solidFill>
                <a:latin typeface="Calibri"/>
                <a:ea typeface="Calibri"/>
                <a:cs typeface="Calibri"/>
              </a:rPr>
              <a:t>Top pick reaches 0.5 for 39 of 60. Gains are model estimates, not realised placements; picks lean to Tier-3 companies.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Threshold, Band &amp; Feature Analysis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C5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19</a:t>
            </a:r>
            <a:endParaRPr lang="en-US" sz="1000" dirty="0"/>
          </a:p>
        </p:txBody>
      </p:sp>
      <p:pic>
        <p:nvPicPr>
          <p:cNvPr id="7" name="Picture 6" descr="threshold_sweep.png"/>
          <p:cNvPicPr>
            <a:picLocks noChangeAspect="1"/>
          </p:cNvPicPr>
          <p:nvPr/>
        </p:nvPicPr>
        <p:blipFill>
          <a:blip r:embed="rId3"/>
          <a:stretch>
            <a:fillRect/>
          </a:stretch>
        </p:blipFill>
        <p:spPr>
          <a:xfrm>
            <a:off x="502920" y="1711234"/>
            <a:ext cx="4754880" cy="2886891"/>
          </a:xfrm>
          <a:prstGeom prst="rect">
            <a:avLst/>
          </a:prstGeom>
        </p:spPr>
      </p:pic>
      <p:pic>
        <p:nvPicPr>
          <p:cNvPr id="8" name="Picture 7" descr="shap_top10.png"/>
          <p:cNvPicPr>
            <a:picLocks noChangeAspect="1"/>
          </p:cNvPicPr>
          <p:nvPr/>
        </p:nvPicPr>
        <p:blipFill>
          <a:blip r:embed="rId2"/>
          <a:stretch>
            <a:fillRect/>
          </a:stretch>
        </p:blipFill>
        <p:spPr>
          <a:xfrm>
            <a:off x="6085572" y="1691640"/>
            <a:ext cx="4928134" cy="2926080"/>
          </a:xfrm>
          <a:prstGeom prst="rect">
            <a:avLst/>
          </a:prstGeom>
        </p:spPr>
      </p:pic>
      <p:graphicFrame>
        <p:nvGraphicFramePr>
          <p:cNvPr id="9" name="Table 8"/>
          <p:cNvGraphicFramePr>
            <a:graphicFrameLocks noGrp="1"/>
          </p:cNvGraphicFramePr>
          <p:nvPr/>
        </p:nvGraphicFramePr>
        <p:xfrm>
          <a:off x="502920" y="4754880"/>
          <a:ext cx="10972800" cy="1097280"/>
        </p:xfrm>
        <a:graphic>
          <a:graphicData uri="http://schemas.openxmlformats.org/drawingml/2006/table">
            <a:tbl>
              <a:tblPr firstRow="0" bandRow="0">
                <a:tableStyleId>{5C22544A-7EE6-4342-B048-85BDC9FD1C3A}</a:tableStyleId>
              </a:tblPr>
              <a:tblGrid>
                <a:gridCol w="2743200"/>
                <a:gridCol w="1371600"/>
                <a:gridCol w="1371600"/>
                <a:gridCol w="1371600"/>
                <a:gridCol w="1371600"/>
                <a:gridCol w="1371600"/>
                <a:gridCol w="1371600"/>
              </a:tblGrid>
              <a:tr h="365760">
                <a:tc>
                  <a:txBody>
                    <a:bodyPr wrap="square"/>
                    <a:lstStyle/>
                    <a:p>
                      <a:pPr algn="ctr"/>
                      <a:r>
                        <a:rPr sz="1100" b="1">
                          <a:solidFill>
                            <a:srgbClr val="1F3864"/>
                          </a:solidFill>
                          <a:latin typeface="Calibri"/>
                          <a:ea typeface="Calibri"/>
                          <a:cs typeface="Calibri"/>
                        </a:rPr>
                        <a:t>Refinement band (kNN replaces p)</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none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0.45-0.55</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0.40-0.60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0.35-0.65</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0.30-0.70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0.20-0.80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365760">
                <a:tc>
                  <a:txBody>
                    <a:bodyPr wrap="square"/>
                    <a:lstStyle/>
                    <a:p>
                      <a:pPr algn="l"/>
                      <a:r>
                        <a:rPr sz="1100" b="1">
                          <a:solidFill>
                            <a:srgbClr val="222222"/>
                          </a:solidFill>
                          <a:latin typeface="Calibri"/>
                          <a:ea typeface="Calibri"/>
                          <a:cs typeface="Calibri"/>
                        </a:rPr>
                        <a:t>Rows replaced of 450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100" b="0">
                          <a:solidFill>
                            <a:srgbClr val="222222"/>
                          </a:solidFill>
                          <a:latin typeface="Calibri"/>
                          <a:ea typeface="Calibri"/>
                          <a:cs typeface="Calibri"/>
                        </a:rPr>
                        <a:t>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100" b="0">
                          <a:solidFill>
                            <a:srgbClr val="222222"/>
                          </a:solidFill>
                          <a:latin typeface="Calibri"/>
                          <a:ea typeface="Calibri"/>
                          <a:cs typeface="Calibri"/>
                        </a:rPr>
                        <a:t>13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100" b="0">
                          <a:solidFill>
                            <a:srgbClr val="222222"/>
                          </a:solidFill>
                          <a:latin typeface="Calibri"/>
                          <a:ea typeface="Calibri"/>
                          <a:cs typeface="Calibri"/>
                        </a:rPr>
                        <a:t>31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100" b="0">
                          <a:solidFill>
                            <a:srgbClr val="222222"/>
                          </a:solidFill>
                          <a:latin typeface="Calibri"/>
                          <a:ea typeface="Calibri"/>
                          <a:cs typeface="Calibri"/>
                        </a:rPr>
                        <a:t>45</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100" b="0">
                          <a:solidFill>
                            <a:srgbClr val="222222"/>
                          </a:solidFill>
                          <a:latin typeface="Calibri"/>
                          <a:ea typeface="Calibri"/>
                          <a:cs typeface="Calibri"/>
                        </a:rPr>
                        <a:t>73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100" b="0">
                          <a:solidFill>
                            <a:srgbClr val="222222"/>
                          </a:solidFill>
                          <a:latin typeface="Calibri"/>
                          <a:ea typeface="Calibri"/>
                          <a:cs typeface="Calibri"/>
                        </a:rPr>
                        <a:t>133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365760">
                <a:tc>
                  <a:txBody>
                    <a:bodyPr wrap="square"/>
                    <a:lstStyle/>
                    <a:p>
                      <a:pPr algn="l"/>
                      <a:r>
                        <a:rPr sz="1100" b="1">
                          <a:solidFill>
                            <a:srgbClr val="222222"/>
                          </a:solidFill>
                          <a:latin typeface="Calibri"/>
                          <a:ea typeface="Calibri"/>
                          <a:cs typeface="Calibri"/>
                        </a:rPr>
                        <a:t>Accuracy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100" b="0">
                          <a:solidFill>
                            <a:srgbClr val="222222"/>
                          </a:solidFill>
                          <a:latin typeface="Calibri"/>
                          <a:ea typeface="Calibri"/>
                          <a:cs typeface="Calibri"/>
                        </a:rPr>
                        <a:t>0.8067</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100" b="0">
                          <a:solidFill>
                            <a:srgbClr val="222222"/>
                          </a:solidFill>
                          <a:latin typeface="Calibri"/>
                          <a:ea typeface="Calibri"/>
                          <a:cs typeface="Calibri"/>
                        </a:rPr>
                        <a:t>0.8022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100" b="0">
                          <a:solidFill>
                            <a:srgbClr val="222222"/>
                          </a:solidFill>
                          <a:latin typeface="Calibri"/>
                          <a:ea typeface="Calibri"/>
                          <a:cs typeface="Calibri"/>
                        </a:rPr>
                        <a:t>0.8089</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100" b="0">
                          <a:solidFill>
                            <a:srgbClr val="222222"/>
                          </a:solidFill>
                          <a:latin typeface="Calibri"/>
                          <a:ea typeface="Calibri"/>
                          <a:cs typeface="Calibri"/>
                        </a:rPr>
                        <a:t>0.8067</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100" b="0">
                          <a:solidFill>
                            <a:srgbClr val="222222"/>
                          </a:solidFill>
                          <a:latin typeface="Calibri"/>
                          <a:ea typeface="Calibri"/>
                          <a:cs typeface="Calibri"/>
                        </a:rPr>
                        <a:t>0.8067</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100" b="0">
                          <a:solidFill>
                            <a:srgbClr val="222222"/>
                          </a:solidFill>
                          <a:latin typeface="Calibri"/>
                          <a:ea typeface="Calibri"/>
                          <a:cs typeface="Calibri"/>
                        </a:rPr>
                        <a:t>0.8067</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bl>
          </a:graphicData>
        </a:graphic>
      </p:graphicFrame>
      <p:sp>
        <p:nvSpPr>
          <p:cNvPr id="10" name="TextBox 9"/>
          <p:cNvSpPr txBox="1"/>
          <p:nvPr/>
        </p:nvSpPr>
        <p:spPr>
          <a:xfrm>
            <a:off x="502920" y="5943600"/>
            <a:ext cx="11155680" cy="457200"/>
          </a:xfrm>
          <a:prstGeom prst="rect">
            <a:avLst/>
          </a:prstGeom>
          <a:noFill/>
        </p:spPr>
        <p:txBody>
          <a:bodyPr wrap="square" lIns="0" rIns="0" tIns="0" bIns="0" anchor="t">
            <a:spAutoFit/>
          </a:bodyPr>
          <a:lstStyle/>
          <a:p>
            <a:pPr algn="l">
              <a:spcAft>
                <a:spcPts val="400"/>
              </a:spcAft>
            </a:pPr>
            <a:r>
              <a:rPr sz="1100" b="0" i="0">
                <a:solidFill>
                  <a:srgbClr val="1F3864"/>
                </a:solidFill>
                <a:latin typeface="Calibri"/>
                <a:ea typeface="Calibri"/>
                <a:cs typeface="Calibri"/>
              </a:rPr>
              <a:t>Accuracy is flat (0.793-0.807) across thresholds 0.30-0.70 while precision rises 0.776 to 0.869 and recall falls 0.918 to 0.791; widening the band changes accuracy by at most 0.4 points. SHAP: CGPA gap, backlogs, technical gap, aptitude gap lead.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Performance &amp; Testing</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C5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20</a:t>
            </a:r>
            <a:endParaRPr lang="en-US" sz="1000" dirty="0"/>
          </a:p>
        </p:txBody>
      </p:sp>
      <p:sp>
        <p:nvSpPr>
          <p:cNvPr id="7" name="Rounded Rectangle 6"/>
          <p:cNvSpPr/>
          <p:nvPr/>
        </p:nvSpPr>
        <p:spPr>
          <a:xfrm>
            <a:off x="502920" y="1737360"/>
            <a:ext cx="2651760" cy="105156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02920" y="1737360"/>
            <a:ext cx="73152" cy="105156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5800" y="1792224"/>
            <a:ext cx="2377440" cy="578358"/>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66 ms</a:t>
            </a:r>
          </a:p>
        </p:txBody>
      </p:sp>
      <p:sp>
        <p:nvSpPr>
          <p:cNvPr id="10" name="TextBox 9"/>
          <p:cNvSpPr txBox="1"/>
          <p:nvPr/>
        </p:nvSpPr>
        <p:spPr>
          <a:xfrm>
            <a:off x="685800" y="2347264"/>
            <a:ext cx="2377440" cy="420623"/>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predict_for, in process (mean)</a:t>
            </a:r>
          </a:p>
        </p:txBody>
      </p:sp>
      <p:sp>
        <p:nvSpPr>
          <p:cNvPr id="11" name="Rounded Rectangle 10"/>
          <p:cNvSpPr/>
          <p:nvPr/>
        </p:nvSpPr>
        <p:spPr>
          <a:xfrm>
            <a:off x="3337560" y="1737360"/>
            <a:ext cx="2651760" cy="105156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337560" y="1737360"/>
            <a:ext cx="73152" cy="105156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520440" y="1792224"/>
            <a:ext cx="2377440" cy="578358"/>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66 ms</a:t>
            </a:r>
          </a:p>
        </p:txBody>
      </p:sp>
      <p:sp>
        <p:nvSpPr>
          <p:cNvPr id="14" name="TextBox 13"/>
          <p:cNvSpPr txBox="1"/>
          <p:nvPr/>
        </p:nvSpPr>
        <p:spPr>
          <a:xfrm>
            <a:off x="3520440" y="2347264"/>
            <a:ext cx="2377440" cy="420623"/>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POST /api/predict (mean, HTTP)</a:t>
            </a:r>
          </a:p>
        </p:txBody>
      </p:sp>
      <p:sp>
        <p:nvSpPr>
          <p:cNvPr id="15" name="Rounded Rectangle 14"/>
          <p:cNvSpPr/>
          <p:nvPr/>
        </p:nvSpPr>
        <p:spPr>
          <a:xfrm>
            <a:off x="6172200" y="1737360"/>
            <a:ext cx="2651760" cy="105156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172200" y="1737360"/>
            <a:ext cx="73152" cy="105156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55080" y="1792224"/>
            <a:ext cx="2377440" cy="578358"/>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28 ms</a:t>
            </a:r>
          </a:p>
        </p:txBody>
      </p:sp>
      <p:sp>
        <p:nvSpPr>
          <p:cNvPr id="18" name="TextBox 17"/>
          <p:cNvSpPr txBox="1"/>
          <p:nvPr/>
        </p:nvSpPr>
        <p:spPr>
          <a:xfrm>
            <a:off x="6355080" y="2347264"/>
            <a:ext cx="2377440" cy="420623"/>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POST shortlist (mean)</a:t>
            </a:r>
          </a:p>
        </p:txBody>
      </p:sp>
      <p:sp>
        <p:nvSpPr>
          <p:cNvPr id="19" name="Rounded Rectangle 18"/>
          <p:cNvSpPr/>
          <p:nvPr/>
        </p:nvSpPr>
        <p:spPr>
          <a:xfrm>
            <a:off x="9006840" y="1737360"/>
            <a:ext cx="2651760" cy="105156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006840" y="1737360"/>
            <a:ext cx="73152" cy="105156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189720" y="1792224"/>
            <a:ext cx="2377440" cy="578358"/>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5.4 s</a:t>
            </a:r>
          </a:p>
        </p:txBody>
      </p:sp>
      <p:sp>
        <p:nvSpPr>
          <p:cNvPr id="22" name="TextBox 21"/>
          <p:cNvSpPr txBox="1"/>
          <p:nvPr/>
        </p:nvSpPr>
        <p:spPr>
          <a:xfrm>
            <a:off x="9189720" y="2347264"/>
            <a:ext cx="2377440" cy="420623"/>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POST /api/recommend (mean, n = 8)</a:t>
            </a:r>
          </a:p>
        </p:txBody>
      </p:sp>
      <p:graphicFrame>
        <p:nvGraphicFramePr>
          <p:cNvPr id="23" name="Table 22"/>
          <p:cNvGraphicFramePr>
            <a:graphicFrameLocks noGrp="1"/>
          </p:cNvGraphicFramePr>
          <p:nvPr/>
        </p:nvGraphicFramePr>
        <p:xfrm>
          <a:off x="502920" y="3017520"/>
          <a:ext cx="11155680" cy="2743200"/>
        </p:xfrm>
        <a:graphic>
          <a:graphicData uri="http://schemas.openxmlformats.org/drawingml/2006/table">
            <a:tbl>
              <a:tblPr firstRow="0" bandRow="0">
                <a:tableStyleId>{5C22544A-7EE6-4342-B048-85BDC9FD1C3A}</a:tableStyleId>
              </a:tblPr>
              <a:tblGrid>
                <a:gridCol w="2377440"/>
                <a:gridCol w="6583680"/>
                <a:gridCol w="2194560"/>
              </a:tblGrid>
              <a:tr h="457200">
                <a:tc>
                  <a:txBody>
                    <a:bodyPr wrap="square"/>
                    <a:lstStyle/>
                    <a:p>
                      <a:pPr algn="ctr"/>
                      <a:r>
                        <a:rPr sz="1300" b="1">
                          <a:solidFill>
                            <a:srgbClr val="1F3864"/>
                          </a:solidFill>
                          <a:latin typeface="Calibri"/>
                          <a:ea typeface="Calibri"/>
                          <a:cs typeface="Calibri"/>
                        </a:rPr>
                        <a:t>Test layer</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300" b="1">
                          <a:solidFill>
                            <a:srgbClr val="1F3864"/>
                          </a:solidFill>
                          <a:latin typeface="Calibri"/>
                          <a:ea typeface="Calibri"/>
                          <a:cs typeface="Calibri"/>
                        </a:rPr>
                        <a:t>What it covers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300" b="1">
                          <a:solidFill>
                            <a:srgbClr val="1F3864"/>
                          </a:solidFill>
                          <a:latin typeface="Calibri"/>
                          <a:ea typeface="Calibri"/>
                          <a:cs typeface="Calibri"/>
                        </a:rPr>
                        <a:t>Result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457200">
                <a:tc>
                  <a:txBody>
                    <a:bodyPr wrap="square"/>
                    <a:lstStyle/>
                    <a:p>
                      <a:pPr algn="l"/>
                      <a:r>
                        <a:rPr sz="1300" b="1">
                          <a:solidFill>
                            <a:srgbClr val="222222"/>
                          </a:solidFill>
                          <a:latin typeface="Calibri"/>
                          <a:ea typeface="Calibri"/>
                          <a:cs typeface="Calibri"/>
                        </a:rPr>
                        <a:t>Unit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300" b="0">
                          <a:solidFill>
                            <a:srgbClr val="222222"/>
                          </a:solidFill>
                          <a:latin typeface="Calibri"/>
                          <a:ea typeface="Calibri"/>
                          <a:cs typeface="Calibri"/>
                        </a:rPr>
                        <a:t>tier deltas, 24-feature matrix, determinism, monotonicity, recommendation filters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300" b="0">
                          <a:solidFill>
                            <a:srgbClr val="222222"/>
                          </a:solidFill>
                          <a:latin typeface="Calibri"/>
                          <a:ea typeface="Calibri"/>
                          <a:cs typeface="Calibri"/>
                        </a:rPr>
                        <a:t>10 / 10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57200">
                <a:tc>
                  <a:txBody>
                    <a:bodyPr wrap="square"/>
                    <a:lstStyle/>
                    <a:p>
                      <a:pPr algn="l"/>
                      <a:r>
                        <a:rPr sz="1300" b="1">
                          <a:solidFill>
                            <a:srgbClr val="222222"/>
                          </a:solidFill>
                          <a:latin typeface="Calibri"/>
                          <a:ea typeface="Calibri"/>
                          <a:cs typeface="Calibri"/>
                        </a:rPr>
                        <a:t>Integration and functional</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300" b="0">
                          <a:solidFill>
                            <a:srgbClr val="222222"/>
                          </a:solidFill>
                          <a:latin typeface="Calibri"/>
                          <a:ea typeface="Calibri"/>
                          <a:cs typeface="Calibri"/>
                        </a:rPr>
                        <a:t>all 9 endpoints, predict, recommend, shortlist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300" b="0">
                          <a:solidFill>
                            <a:srgbClr val="222222"/>
                          </a:solidFill>
                          <a:latin typeface="Calibri"/>
                          <a:ea typeface="Calibri"/>
                          <a:cs typeface="Calibri"/>
                        </a:rPr>
                        <a:t>14 / 14</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457200">
                <a:tc>
                  <a:txBody>
                    <a:bodyPr wrap="square"/>
                    <a:lstStyle/>
                    <a:p>
                      <a:pPr algn="l"/>
                      <a:r>
                        <a:rPr sz="1300" b="1">
                          <a:solidFill>
                            <a:srgbClr val="222222"/>
                          </a:solidFill>
                          <a:latin typeface="Calibri"/>
                          <a:ea typeface="Calibri"/>
                          <a:cs typeface="Calibri"/>
                        </a:rPr>
                        <a:t>Validation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300" b="0">
                          <a:solidFill>
                            <a:srgbClr val="222222"/>
                          </a:solidFill>
                          <a:latin typeface="Calibri"/>
                          <a:ea typeface="Calibri"/>
                          <a:cs typeface="Calibri"/>
                        </a:rPr>
                        <a:t>out-of-range, missing and unknown values, boundary profiles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300" b="0">
                          <a:solidFill>
                            <a:srgbClr val="222222"/>
                          </a:solidFill>
                          <a:latin typeface="Calibri"/>
                          <a:ea typeface="Calibri"/>
                          <a:cs typeface="Calibri"/>
                        </a:rPr>
                        <a:t>13 / 13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57200">
                <a:tc>
                  <a:txBody>
                    <a:bodyPr wrap="square"/>
                    <a:lstStyle/>
                    <a:p>
                      <a:pPr algn="l"/>
                      <a:r>
                        <a:rPr sz="1300" b="1">
                          <a:solidFill>
                            <a:srgbClr val="222222"/>
                          </a:solidFill>
                          <a:latin typeface="Calibri"/>
                          <a:ea typeface="Calibri"/>
                          <a:cs typeface="Calibri"/>
                        </a:rPr>
                        <a:t>Security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300" b="0">
                          <a:solidFill>
                            <a:srgbClr val="222222"/>
                          </a:solidFill>
                          <a:latin typeface="Calibri"/>
                          <a:ea typeface="Calibri"/>
                          <a:cs typeface="Calibri"/>
                        </a:rPr>
                        <a:t>injection-like input, path traversal, CORS, 100 kB input, undefined routes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300" b="0">
                          <a:solidFill>
                            <a:srgbClr val="222222"/>
                          </a:solidFill>
                          <a:latin typeface="Calibri"/>
                          <a:ea typeface="Calibri"/>
                          <a:cs typeface="Calibri"/>
                        </a:rPr>
                        <a:t>9 / 9</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457200">
                <a:tc>
                  <a:txBody>
                    <a:bodyPr wrap="square"/>
                    <a:lstStyle/>
                    <a:p>
                      <a:pPr algn="l"/>
                      <a:r>
                        <a:rPr sz="1300" b="1">
                          <a:solidFill>
                            <a:srgbClr val="222222"/>
                          </a:solidFill>
                          <a:latin typeface="Calibri"/>
                          <a:ea typeface="Calibri"/>
                          <a:cs typeface="Calibri"/>
                        </a:rPr>
                        <a:t>Smoke test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300" b="0">
                          <a:solidFill>
                            <a:srgbClr val="222222"/>
                          </a:solidFill>
                          <a:latin typeface="Calibri"/>
                          <a:ea typeface="Calibri"/>
                          <a:cs typeface="Calibri"/>
                        </a:rPr>
                        <a:t>running server, every endpoint the React app uses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300" b="0">
                          <a:solidFill>
                            <a:srgbClr val="222222"/>
                          </a:solidFill>
                          <a:latin typeface="Calibri"/>
                          <a:ea typeface="Calibri"/>
                          <a:cs typeface="Calibri"/>
                        </a:rPr>
                        <a:t>15 / 15</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bl>
          </a:graphicData>
        </a:graphic>
      </p:graphicFrame>
      <p:sp>
        <p:nvSpPr>
          <p:cNvPr id="24" name="TextBox 23"/>
          <p:cNvSpPr txBox="1"/>
          <p:nvPr/>
        </p:nvSpPr>
        <p:spPr>
          <a:xfrm>
            <a:off x="502920" y="5852160"/>
            <a:ext cx="11155680" cy="457200"/>
          </a:xfrm>
          <a:prstGeom prst="rect">
            <a:avLst/>
          </a:prstGeom>
          <a:noFill/>
        </p:spPr>
        <p:txBody>
          <a:bodyPr wrap="square" lIns="0" rIns="0" tIns="0" bIns="0" anchor="t">
            <a:spAutoFit/>
          </a:bodyPr>
          <a:lstStyle/>
          <a:p>
            <a:pPr algn="l">
              <a:spcAft>
                <a:spcPts val="400"/>
              </a:spcAft>
            </a:pPr>
            <a:r>
              <a:rPr sz="1200" b="0" i="1">
                <a:solidFill>
                  <a:srgbClr val="1F3864"/>
                </a:solidFill>
                <a:latin typeface="Calibri"/>
                <a:ea typeface="Calibri"/>
                <a:cs typeface="Calibri"/>
              </a:rPr>
              <a:t>Sequential calls on 127.0.0.1, Intel Core i5-12500, CPU only. Recommendation is slow because four pickle files are reloaded per call. Not tested: real data, load, automated browser tests. No authentication exists.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Comparison with Base Papers (context only – data differ)</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C5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21</a:t>
            </a:r>
            <a:endParaRPr lang="en-US" sz="1000" dirty="0"/>
          </a:p>
        </p:txBody>
      </p:sp>
      <p:graphicFrame>
        <p:nvGraphicFramePr>
          <p:cNvPr id="7" name="Table 6"/>
          <p:cNvGraphicFramePr>
            <a:graphicFrameLocks noGrp="1"/>
          </p:cNvGraphicFramePr>
          <p:nvPr/>
        </p:nvGraphicFramePr>
        <p:xfrm>
          <a:off x="502920" y="1691640"/>
          <a:ext cx="11155680" cy="4096512"/>
        </p:xfrm>
        <a:graphic>
          <a:graphicData uri="http://schemas.openxmlformats.org/drawingml/2006/table">
            <a:tbl>
              <a:tblPr firstRow="0" bandRow="0">
                <a:tableStyleId>{5C22544A-7EE6-4342-B048-85BDC9FD1C3A}</a:tableStyleId>
              </a:tblPr>
              <a:tblGrid>
                <a:gridCol w="1554480"/>
                <a:gridCol w="2560320"/>
                <a:gridCol w="2926080"/>
                <a:gridCol w="4114800"/>
              </a:tblGrid>
              <a:tr h="512064">
                <a:tc>
                  <a:txBody>
                    <a:bodyPr wrap="square"/>
                    <a:lstStyle/>
                    <a:p>
                      <a:pPr algn="ctr"/>
                      <a:r>
                        <a:rPr sz="1200" b="1">
                          <a:solidFill>
                            <a:srgbClr val="1F3864"/>
                          </a:solidFill>
                          <a:latin typeface="Calibri"/>
                          <a:ea typeface="Calibri"/>
                          <a:cs typeface="Calibri"/>
                        </a:rPr>
                        <a:t>Aspect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IJETMS paper [1]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arXiv paper [2]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This project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512064">
                <a:tc>
                  <a:txBody>
                    <a:bodyPr wrap="square"/>
                    <a:lstStyle/>
                    <a:p>
                      <a:pPr algn="l"/>
                      <a:r>
                        <a:rPr sz="1200" b="1">
                          <a:solidFill>
                            <a:srgbClr val="222222"/>
                          </a:solidFill>
                          <a:latin typeface="Calibri"/>
                          <a:ea typeface="Calibri"/>
                          <a:cs typeface="Calibri"/>
                        </a:rPr>
                        <a:t>Task</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Placement prediction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Admission prediction + recommendation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Placement prediction + company-role recommendation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12064">
                <a:tc>
                  <a:txBody>
                    <a:bodyPr wrap="square"/>
                    <a:lstStyle/>
                    <a:p>
                      <a:pPr algn="l"/>
                      <a:r>
                        <a:rPr sz="1200" b="1">
                          <a:solidFill>
                            <a:srgbClr val="222222"/>
                          </a:solidFill>
                          <a:latin typeface="Calibri"/>
                          <a:ea typeface="Calibri"/>
                          <a:cs typeface="Calibri"/>
                        </a:rPr>
                        <a:t>Data</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Synthetic, size not stated; 80:20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13,000 real records; 70/15/15</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3,000 synthetic students; 70/15/15</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512064">
                <a:tc>
                  <a:txBody>
                    <a:bodyPr wrap="square"/>
                    <a:lstStyle/>
                    <a:p>
                      <a:pPr algn="l"/>
                      <a:r>
                        <a:rPr sz="1200" b="1">
                          <a:solidFill>
                            <a:srgbClr val="222222"/>
                          </a:solidFill>
                          <a:latin typeface="Calibri"/>
                          <a:ea typeface="Calibri"/>
                          <a:cs typeface="Calibri"/>
                        </a:rPr>
                        <a:t>Models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LR, RF, Gradient Boosting</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7 baselines; XGBoost + kNN / SVM</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6 baselines; calibrated XGBoost + kNN / SVM</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12064">
                <a:tc>
                  <a:txBody>
                    <a:bodyPr wrap="square"/>
                    <a:lstStyle/>
                    <a:p>
                      <a:pPr algn="l"/>
                      <a:r>
                        <a:rPr sz="1200" b="1">
                          <a:solidFill>
                            <a:srgbClr val="222222"/>
                          </a:solidFill>
                          <a:latin typeface="Calibri"/>
                          <a:ea typeface="Calibri"/>
                          <a:cs typeface="Calibri"/>
                        </a:rPr>
                        <a:t>Accuracy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not reported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XGBoost 0.7241; hybrid 0.8723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XGBoost 0.8089; hybrid 0.8400 (labels) / 0.8089 (label-free)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512064">
                <a:tc>
                  <a:txBody>
                    <a:bodyPr wrap="square"/>
                    <a:lstStyle/>
                    <a:p>
                      <a:pPr algn="l"/>
                      <a:r>
                        <a:rPr sz="1200" b="1">
                          <a:solidFill>
                            <a:srgbClr val="222222"/>
                          </a:solidFill>
                          <a:latin typeface="Calibri"/>
                          <a:ea typeface="Calibri"/>
                          <a:cs typeface="Calibri"/>
                        </a:rPr>
                        <a:t>Brier score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not reported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0.1864 (Platt)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0.1352 (Platt)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12064">
                <a:tc>
                  <a:txBody>
                    <a:bodyPr wrap="square"/>
                    <a:lstStyle/>
                    <a:p>
                      <a:pPr algn="l"/>
                      <a:r>
                        <a:rPr sz="1200" b="1">
                          <a:solidFill>
                            <a:srgbClr val="222222"/>
                          </a:solidFill>
                          <a:latin typeface="Calibri"/>
                          <a:ea typeface="Calibri"/>
                          <a:cs typeface="Calibri"/>
                        </a:rPr>
                        <a:t>Explainability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feature importance, skill gap</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SHAP</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SHAP ranking + cutoff-rule tips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512064">
                <a:tc>
                  <a:txBody>
                    <a:bodyPr wrap="square"/>
                    <a:lstStyle/>
                    <a:p>
                      <a:pPr algn="l"/>
                      <a:r>
                        <a:rPr sz="1200" b="1">
                          <a:solidFill>
                            <a:srgbClr val="222222"/>
                          </a:solidFill>
                          <a:latin typeface="Calibri"/>
                          <a:ea typeface="Calibri"/>
                          <a:cs typeface="Calibri"/>
                        </a:rPr>
                        <a:t>Deliverable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Streamlit app, PDF, e-mail</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method only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Flask + FastAPI + React, officer and recruiter tools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bl>
          </a:graphicData>
        </a:graphic>
      </p:graphicFrame>
      <p:sp>
        <p:nvSpPr>
          <p:cNvPr id="8" name="TextBox 7"/>
          <p:cNvSpPr txBox="1"/>
          <p:nvPr/>
        </p:nvSpPr>
        <p:spPr>
          <a:xfrm>
            <a:off x="502920" y="5943600"/>
            <a:ext cx="11155680" cy="411480"/>
          </a:xfrm>
          <a:prstGeom prst="rect">
            <a:avLst/>
          </a:prstGeom>
          <a:noFill/>
        </p:spPr>
        <p:txBody>
          <a:bodyPr wrap="square" lIns="0" rIns="0" tIns="0" bIns="0" anchor="t">
            <a:spAutoFit/>
          </a:bodyPr>
          <a:lstStyle/>
          <a:p>
            <a:pPr algn="l">
              <a:spcAft>
                <a:spcPts val="400"/>
              </a:spcAft>
            </a:pPr>
            <a:r>
              <a:rPr sz="1200" b="0" i="1">
                <a:solidFill>
                  <a:srgbClr val="1F3864"/>
                </a:solidFill>
                <a:latin typeface="Calibri"/>
                <a:ea typeface="Calibri"/>
                <a:cs typeface="Calibri"/>
              </a:rPr>
              <a:t>Different data and conditions: our data is synthetic and rule-generated (even Logistic Regression scores 0.8289), the paper's real data is noisier. No superiority is claimed.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Output – Eligibility and Recommendations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C5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22</a:t>
            </a:r>
            <a:endParaRPr lang="en-US" sz="1000" dirty="0"/>
          </a:p>
        </p:txBody>
      </p:sp>
      <p:pic>
        <p:nvPicPr>
          <p:cNvPr id="7" name="Picture 6" descr="02_predict.png"/>
          <p:cNvPicPr>
            <a:picLocks noChangeAspect="1"/>
          </p:cNvPicPr>
          <p:nvPr/>
        </p:nvPicPr>
        <p:blipFill>
          <a:blip r:embed="rId3"/>
          <a:stretch>
            <a:fillRect/>
          </a:stretch>
        </p:blipFill>
        <p:spPr>
          <a:xfrm>
            <a:off x="502920" y="1691640"/>
            <a:ext cx="5486400" cy="3429000"/>
          </a:xfrm>
          <a:prstGeom prst="rect">
            <a:avLst/>
          </a:prstGeom>
          <a:ln w="9525">
            <a:solidFill>
              <a:srgbClr val="D5DCE6"/>
            </a:solidFill>
          </a:ln>
        </p:spPr>
      </p:pic>
      <p:pic>
        <p:nvPicPr>
          <p:cNvPr id="8" name="Picture 7" descr="03_recommend.png"/>
          <p:cNvPicPr>
            <a:picLocks noChangeAspect="1"/>
          </p:cNvPicPr>
          <p:nvPr/>
        </p:nvPicPr>
        <p:blipFill>
          <a:blip r:embed="rId2"/>
          <a:stretch>
            <a:fillRect/>
          </a:stretch>
        </p:blipFill>
        <p:spPr>
          <a:xfrm>
            <a:off x="6217920" y="1691640"/>
            <a:ext cx="5486400" cy="3429000"/>
          </a:xfrm>
          <a:prstGeom prst="rect">
            <a:avLst/>
          </a:prstGeom>
          <a:ln w="9525">
            <a:solidFill>
              <a:srgbClr val="D5DCE6"/>
            </a:solidFill>
          </a:ln>
        </p:spPr>
      </p:pic>
      <p:sp>
        <p:nvSpPr>
          <p:cNvPr id="9" name="TextBox 8"/>
          <p:cNvSpPr txBox="1"/>
          <p:nvPr/>
        </p:nvSpPr>
        <p:spPr>
          <a:xfrm>
            <a:off x="502920" y="5303520"/>
            <a:ext cx="11155680" cy="914400"/>
          </a:xfrm>
          <a:prstGeom prst="rect">
            <a:avLst/>
          </a:prstGeom>
          <a:noFill/>
        </p:spPr>
        <p:txBody>
          <a:bodyPr wrap="square" lIns="0" rIns="0" tIns="0" bIns="0" anchor="t">
            <a:spAutoFit/>
          </a:bodyPr>
          <a:lstStyle/>
          <a:p>
            <a:pPr algn="l">
              <a:spcAft>
                <a:spcPts val="400"/>
              </a:spcAft>
            </a:pPr>
            <a:r>
              <a:rPr sz="1200" b="0" i="0">
                <a:solidFill>
                  <a:srgbClr val="1F3864"/>
                </a:solidFill>
                <a:latin typeface="Calibri"/>
                <a:ea typeface="Calibri"/>
                <a:cs typeface="Calibri"/>
              </a:rPr>
              <a:t>Left: Microsoft SDE for CGPA 8.4, aptitude 84, technical 79 gives 22.2%, needs improvement; the cutoff panel shows technical 79 below 82 and the tip. Right: for a CGPA 7.5 student targeting Google SDE (10.8%) the top picks are ValueLabs and Infosys at about 90%.</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Output – Officer Dashboard and SHAP</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C5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23</a:t>
            </a:r>
            <a:endParaRPr lang="en-US" sz="1000" dirty="0"/>
          </a:p>
        </p:txBody>
      </p:sp>
      <p:pic>
        <p:nvPicPr>
          <p:cNvPr id="7" name="Picture 6" descr="04_dashboard.png"/>
          <p:cNvPicPr>
            <a:picLocks noChangeAspect="1"/>
          </p:cNvPicPr>
          <p:nvPr/>
        </p:nvPicPr>
        <p:blipFill>
          <a:blip r:embed="rId3"/>
          <a:stretch>
            <a:fillRect/>
          </a:stretch>
        </p:blipFill>
        <p:spPr>
          <a:xfrm>
            <a:off x="502920" y="1691640"/>
            <a:ext cx="5486400" cy="3429000"/>
          </a:xfrm>
          <a:prstGeom prst="rect">
            <a:avLst/>
          </a:prstGeom>
          <a:ln w="9525">
            <a:solidFill>
              <a:srgbClr val="D5DCE6"/>
            </a:solidFill>
          </a:ln>
        </p:spPr>
      </p:pic>
      <p:pic>
        <p:nvPicPr>
          <p:cNvPr id="8" name="Picture 7" descr="05_dashboard_shap.png"/>
          <p:cNvPicPr>
            <a:picLocks noChangeAspect="1"/>
          </p:cNvPicPr>
          <p:nvPr/>
        </p:nvPicPr>
        <p:blipFill>
          <a:blip r:embed="rId2"/>
          <a:stretch>
            <a:fillRect/>
          </a:stretch>
        </p:blipFill>
        <p:spPr>
          <a:xfrm>
            <a:off x="6217920" y="1691640"/>
            <a:ext cx="5486400" cy="3429000"/>
          </a:xfrm>
          <a:prstGeom prst="rect">
            <a:avLst/>
          </a:prstGeom>
          <a:ln w="9525">
            <a:solidFill>
              <a:srgbClr val="D5DCE6"/>
            </a:solidFill>
          </a:ln>
        </p:spPr>
      </p:pic>
      <p:sp>
        <p:nvSpPr>
          <p:cNvPr id="9" name="TextBox 8"/>
          <p:cNvSpPr txBox="1"/>
          <p:nvPr/>
        </p:nvSpPr>
        <p:spPr>
          <a:xfrm>
            <a:off x="502920" y="5303520"/>
            <a:ext cx="11155680" cy="914400"/>
          </a:xfrm>
          <a:prstGeom prst="rect">
            <a:avLst/>
          </a:prstGeom>
          <a:noFill/>
        </p:spPr>
        <p:txBody>
          <a:bodyPr wrap="square" lIns="0" rIns="0" tIns="0" bIns="0" anchor="t">
            <a:spAutoFit/>
          </a:bodyPr>
          <a:lstStyle/>
          <a:p>
            <a:pPr algn="l">
              <a:spcAft>
                <a:spcPts val="400"/>
              </a:spcAft>
            </a:pPr>
            <a:r>
              <a:rPr sz="1200" b="0" i="0">
                <a:solidFill>
                  <a:srgbClr val="1F3864"/>
                </a:solidFill>
                <a:latin typeface="Calibri"/>
                <a:ea typeface="Calibri"/>
                <a:cs typeface="Calibri"/>
              </a:rPr>
              <a:t>Left: 3,000 students, placed rate 59.7%, hybrid AUC 0.8968, 9-fold CV 0.8147, Brier 0.1352, model comparison and placed rate by branch. Right: mean |SHAP| of all 24 features; the gap features lead.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Output – Recruiter Shortlist and Companies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C5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24</a:t>
            </a:r>
            <a:endParaRPr lang="en-US" sz="1000" dirty="0"/>
          </a:p>
        </p:txBody>
      </p:sp>
      <p:pic>
        <p:nvPicPr>
          <p:cNvPr id="7" name="Picture 6" descr="06_recruiter.png"/>
          <p:cNvPicPr>
            <a:picLocks noChangeAspect="1"/>
          </p:cNvPicPr>
          <p:nvPr/>
        </p:nvPicPr>
        <p:blipFill>
          <a:blip r:embed="rId3"/>
          <a:stretch>
            <a:fillRect/>
          </a:stretch>
        </p:blipFill>
        <p:spPr>
          <a:xfrm>
            <a:off x="502920" y="1691640"/>
            <a:ext cx="5486400" cy="3429000"/>
          </a:xfrm>
          <a:prstGeom prst="rect">
            <a:avLst/>
          </a:prstGeom>
          <a:ln w="9525">
            <a:solidFill>
              <a:srgbClr val="D5DCE6"/>
            </a:solidFill>
          </a:ln>
        </p:spPr>
      </p:pic>
      <p:pic>
        <p:nvPicPr>
          <p:cNvPr id="8" name="Picture 7" descr="07_companies.png"/>
          <p:cNvPicPr>
            <a:picLocks noChangeAspect="1"/>
          </p:cNvPicPr>
          <p:nvPr/>
        </p:nvPicPr>
        <p:blipFill>
          <a:blip r:embed="rId2"/>
          <a:stretch>
            <a:fillRect/>
          </a:stretch>
        </p:blipFill>
        <p:spPr>
          <a:xfrm>
            <a:off x="6217920" y="1691640"/>
            <a:ext cx="5486400" cy="3429000"/>
          </a:xfrm>
          <a:prstGeom prst="rect">
            <a:avLst/>
          </a:prstGeom>
          <a:ln w="9525">
            <a:solidFill>
              <a:srgbClr val="D5DCE6"/>
            </a:solidFill>
          </a:ln>
        </p:spPr>
      </p:pic>
      <p:sp>
        <p:nvSpPr>
          <p:cNvPr id="9" name="TextBox 8"/>
          <p:cNvSpPr txBox="1"/>
          <p:nvPr/>
        </p:nvSpPr>
        <p:spPr>
          <a:xfrm>
            <a:off x="502920" y="5303520"/>
            <a:ext cx="11155680" cy="914400"/>
          </a:xfrm>
          <a:prstGeom prst="rect">
            <a:avLst/>
          </a:prstGeom>
          <a:noFill/>
        </p:spPr>
        <p:txBody>
          <a:bodyPr wrap="square" lIns="0" rIns="0" tIns="0" bIns="0" anchor="t">
            <a:spAutoFit/>
          </a:bodyPr>
          <a:lstStyle/>
          <a:p>
            <a:pPr algn="l">
              <a:spcAft>
                <a:spcPts val="400"/>
              </a:spcAft>
            </a:pPr>
            <a:r>
              <a:rPr sz="1200" b="0" i="0">
                <a:solidFill>
                  <a:srgbClr val="1F3864"/>
                </a:solidFill>
                <a:latin typeface="Calibri"/>
                <a:ea typeface="Calibri"/>
                <a:cs typeface="Calibri"/>
              </a:rPr>
              <a:t>Left: minimum CGPA 7.5 and aptitude 65 match 1,394 students; the top 50 by CGPA are listed with their historical placed tag. Right: the 30-company table with tier, cutoffs, package, location and hiring rate (invented values).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Conclusion</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C5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25</a:t>
            </a:r>
            <a:endParaRPr lang="en-US" sz="1000" dirty="0"/>
          </a:p>
        </p:txBody>
      </p:sp>
      <p:sp>
        <p:nvSpPr>
          <p:cNvPr id="7" name="TextBox 6"/>
          <p:cNvSpPr txBox="1"/>
          <p:nvPr/>
        </p:nvSpPr>
        <p:spPr>
          <a:xfrm>
            <a:off x="502920" y="1783080"/>
            <a:ext cx="11155680" cy="4480560"/>
          </a:xfrm>
          <a:prstGeom prst="rect">
            <a:avLst/>
          </a:prstGeom>
          <a:noFill/>
        </p:spPr>
        <p:txBody>
          <a:bodyPr wrap="square" lIns="0" rIns="0" tIns="0" bIns="0" anchor="t">
            <a:spAutoFit/>
          </a:bodyPr>
          <a:lstStyle/>
          <a:p>
            <a:pPr algn="l" marL="256032" indent="-201168">
              <a:spcAft>
                <a:spcPts val="1000"/>
              </a:spcAft>
              <a:buChar char="•"/>
            </a:pPr>
            <a:r>
              <a:rPr sz="2100" b="1" i="0">
                <a:solidFill>
                  <a:srgbClr val="222222"/>
                </a:solidFill>
                <a:latin typeface="Calibri"/>
                <a:ea typeface="Calibri"/>
                <a:cs typeface="Calibri"/>
              </a:rPr>
              <a:t>Delivered:</a:t>
            </a:r>
            <a:r>
              <a:rPr sz="2100" b="0" i="0">
                <a:solidFill>
                  <a:srgbClr val="222222"/>
                </a:solidFill>
                <a:latin typeface="Calibri"/>
                <a:ea typeface="Calibri"/>
                <a:cs typeface="Calibri"/>
              </a:rPr>
              <a:t> a working placement system: 24-feature pipeline, calibrated XGBoost with kNN refinement, skill-gap tips, company-role recommendation, officer dashboard, recruiter shortlist, FastAPI and React interfaces, and 46 passing checks.</a:t>
            </a:r>
          </a:p>
          <a:p>
            <a:pPr algn="l" marL="256032" indent="-201168">
              <a:spcAft>
                <a:spcPts val="1000"/>
              </a:spcAft>
              <a:buChar char="•"/>
            </a:pPr>
            <a:r>
              <a:rPr sz="2100" b="1" i="0">
                <a:solidFill>
                  <a:srgbClr val="222222"/>
                </a:solidFill>
                <a:latin typeface="Calibri"/>
                <a:ea typeface="Calibri"/>
                <a:cs typeface="Calibri"/>
              </a:rPr>
              <a:t>Measured:</a:t>
            </a:r>
            <a:r>
              <a:rPr sz="2100" b="0" i="0">
                <a:solidFill>
                  <a:srgbClr val="222222"/>
                </a:solidFill>
                <a:latin typeface="Calibri"/>
                <a:ea typeface="Calibri"/>
                <a:cs typeface="Calibri"/>
              </a:rPr>
              <a:t> 80.67% accuracy and AUC 0.8928 for XGBoost + Platt on 450 synthetic test students; the hybrid's 84.0% needs true labels, 80.89% without; Logistic Regression has the best AUC.</a:t>
            </a:r>
          </a:p>
          <a:p>
            <a:pPr algn="l" marL="256032" indent="-201168">
              <a:spcAft>
                <a:spcPts val="1000"/>
              </a:spcAft>
              <a:buChar char="•"/>
            </a:pPr>
            <a:r>
              <a:rPr sz="2100" b="1" i="0">
                <a:solidFill>
                  <a:srgbClr val="222222"/>
                </a:solidFill>
                <a:latin typeface="Calibri"/>
                <a:ea typeface="Calibri"/>
                <a:cs typeface="Calibri"/>
              </a:rPr>
              <a:t>Objectives:</a:t>
            </a:r>
            <a:r>
              <a:rPr sz="2100" b="0" i="0">
                <a:solidFill>
                  <a:srgbClr val="222222"/>
                </a:solidFill>
                <a:latin typeface="Calibri"/>
                <a:ea typeface="Calibri"/>
                <a:cs typeface="Calibri"/>
              </a:rPr>
              <a:t> 3, 4, 5 and 6 met; 2 met for encoding (no resampling needed); 1 only with synthetic data.</a:t>
            </a:r>
          </a:p>
          <a:p>
            <a:pPr algn="l" marL="256032" indent="-201168">
              <a:spcAft>
                <a:spcPts val="400"/>
              </a:spcAft>
              <a:buChar char="•"/>
            </a:pPr>
            <a:r>
              <a:rPr sz="2100" b="1" i="0">
                <a:solidFill>
                  <a:srgbClr val="222222"/>
                </a:solidFill>
                <a:latin typeface="Calibri"/>
                <a:ea typeface="Calibri"/>
                <a:cs typeface="Calibri"/>
              </a:rPr>
              <a:t>Limits:</a:t>
            </a:r>
            <a:r>
              <a:rPr sz="2100" b="0" i="0">
                <a:solidFill>
                  <a:srgbClr val="222222"/>
                </a:solidFill>
                <a:latin typeface="Calibri"/>
                <a:ea typeface="Calibri"/>
                <a:cs typeface="Calibri"/>
              </a:rPr>
              <a:t> synthetic data and invented companies, no real-outcome validation, 3-8 s recommendations, no login or database. Not a decision tool for real students.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Future Scope</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C5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26</a:t>
            </a:r>
            <a:endParaRPr lang="en-US" sz="1000" dirty="0"/>
          </a:p>
        </p:txBody>
      </p:sp>
      <p:sp>
        <p:nvSpPr>
          <p:cNvPr id="7" name="TextBox 6"/>
          <p:cNvSpPr txBox="1"/>
          <p:nvPr/>
        </p:nvSpPr>
        <p:spPr>
          <a:xfrm>
            <a:off x="502920" y="1783080"/>
            <a:ext cx="11155680" cy="4480560"/>
          </a:xfrm>
          <a:prstGeom prst="rect">
            <a:avLst/>
          </a:prstGeom>
          <a:noFill/>
        </p:spPr>
        <p:txBody>
          <a:bodyPr wrap="square" lIns="0" rIns="0" tIns="0" bIns="0" anchor="t">
            <a:spAutoFit/>
          </a:bodyPr>
          <a:lstStyle/>
          <a:p>
            <a:pPr algn="l" marL="256032" indent="-201168">
              <a:spcAft>
                <a:spcPts val="1200"/>
              </a:spcAft>
              <a:buChar char="•"/>
            </a:pPr>
            <a:r>
              <a:rPr sz="2200" b="0" i="0">
                <a:solidFill>
                  <a:srgbClr val="222222"/>
                </a:solidFill>
                <a:latin typeface="Calibri"/>
                <a:ea typeface="Calibri"/>
                <a:cs typeface="Calibri"/>
              </a:rPr>
              <a:t>Train and evaluate on real, anonymised placement records with a time-based split.</a:t>
            </a:r>
          </a:p>
          <a:p>
            <a:pPr algn="l" marL="256032" indent="-201168">
              <a:spcAft>
                <a:spcPts val="1200"/>
              </a:spcAft>
              <a:buChar char="•"/>
            </a:pPr>
            <a:r>
              <a:rPr sz="2200" b="0" i="0">
                <a:solidFill>
                  <a:srgbClr val="222222"/>
                </a:solidFill>
                <a:latin typeface="Calibri"/>
                <a:ea typeface="Calibri"/>
                <a:cs typeface="Calibri"/>
              </a:rPr>
              <a:t>Cache the model files per process so a recommendation takes well under a second.</a:t>
            </a:r>
          </a:p>
          <a:p>
            <a:pPr algn="l" marL="256032" indent="-201168">
              <a:spcAft>
                <a:spcPts val="1200"/>
              </a:spcAft>
              <a:buChar char="•"/>
            </a:pPr>
            <a:r>
              <a:rPr sz="2200" b="0" i="0">
                <a:solidFill>
                  <a:srgbClr val="222222"/>
                </a:solidFill>
                <a:latin typeface="Calibri"/>
                <a:ea typeface="Calibri"/>
                <a:cs typeface="Calibri"/>
              </a:rPr>
              <a:t>Validate categories, add login and roles, and store data in a database as the batch plan describes.</a:t>
            </a:r>
          </a:p>
          <a:p>
            <a:pPr algn="l" marL="256032" indent="-201168">
              <a:spcAft>
                <a:spcPts val="1200"/>
              </a:spcAft>
              <a:buChar char="•"/>
            </a:pPr>
            <a:r>
              <a:rPr sz="2200" b="0" i="0">
                <a:solidFill>
                  <a:srgbClr val="222222"/>
                </a:solidFill>
                <a:latin typeface="Calibri"/>
                <a:ea typeface="Calibri"/>
                <a:cs typeface="Calibri"/>
              </a:rPr>
              <a:t>Batch CSV prediction, PDF reports and per-student SHAP explanations.</a:t>
            </a:r>
          </a:p>
          <a:p>
            <a:pPr algn="l" marL="256032" indent="-201168">
              <a:spcAft>
                <a:spcPts val="400"/>
              </a:spcAft>
              <a:buChar char="•"/>
            </a:pPr>
            <a:r>
              <a:rPr sz="2200" b="0" i="0">
                <a:solidFill>
                  <a:srgbClr val="222222"/>
                </a:solidFill>
                <a:latin typeface="Calibri"/>
                <a:ea typeface="Calibri"/>
                <a:cs typeface="Calibri"/>
              </a:rPr>
              <a:t>Check recommendations against realised outcomes; balance probability with package and fit.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References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C5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27</a:t>
            </a:r>
            <a:endParaRPr lang="en-US" sz="1000" dirty="0"/>
          </a:p>
        </p:txBody>
      </p:sp>
      <p:sp>
        <p:nvSpPr>
          <p:cNvPr id="7" name="TextBox 6"/>
          <p:cNvSpPr txBox="1"/>
          <p:nvPr/>
        </p:nvSpPr>
        <p:spPr>
          <a:xfrm>
            <a:off x="502920" y="1691640"/>
            <a:ext cx="5486400" cy="4572000"/>
          </a:xfrm>
          <a:prstGeom prst="rect">
            <a:avLst/>
          </a:prstGeom>
          <a:noFill/>
        </p:spPr>
        <p:txBody>
          <a:bodyPr wrap="square" lIns="0" rIns="0" tIns="0" bIns="0" anchor="t">
            <a:spAutoFit/>
          </a:bodyPr>
          <a:lstStyle/>
          <a:p>
            <a:pPr algn="l">
              <a:spcAft>
                <a:spcPts val="400"/>
              </a:spcAft>
            </a:pPr>
            <a:r>
              <a:rPr sz="1100" b="0" i="0">
                <a:solidFill>
                  <a:srgbClr val="222222"/>
                </a:solidFill>
                <a:latin typeface="Calibri"/>
                <a:ea typeface="Calibri"/>
                <a:cs typeface="Calibri"/>
              </a:rPr>
              <a:t>[1] M. Prasanna Kumari, B. Punith, M. Srinath, P. Koushik and Y. Gourav, "Student placement prediction system using machine learning," Int. J. Eng. Technol. Manage. Sci. (IJETMS), vol. 10, no. 3, pp. 47-51, May-Jun. 2026, doi: 10.46647/ijetms.2026.v10i03.008.</a:t>
            </a:r>
          </a:p>
          <a:p>
            <a:pPr algn="l">
              <a:spcAft>
                <a:spcPts val="400"/>
              </a:spcAft>
            </a:pPr>
            <a:r>
              <a:rPr sz="1100" b="0" i="0">
                <a:solidFill>
                  <a:srgbClr val="222222"/>
                </a:solidFill>
                <a:latin typeface="Calibri"/>
                <a:ea typeface="Calibri"/>
                <a:cs typeface="Calibri"/>
              </a:rPr>
              <a:t>[2] M. Heidari Fard and E. Tabrizi, "A hybrid machine learning approach for graduate admission prediction and combined university-program recommendation," arXiv:2603.29881 [cs.IR], Feb. 2026.</a:t>
            </a:r>
          </a:p>
          <a:p>
            <a:pPr algn="l">
              <a:spcAft>
                <a:spcPts val="400"/>
              </a:spcAft>
            </a:pPr>
            <a:r>
              <a:rPr sz="1100" b="0" i="0">
                <a:solidFill>
                  <a:srgbClr val="222222"/>
                </a:solidFill>
                <a:latin typeface="Calibri"/>
                <a:ea typeface="Calibri"/>
                <a:cs typeface="Calibri"/>
              </a:rPr>
              <a:t>[3] T. Chen and C. Guestrin, "XGBoost: A scalable tree boosting system," in Proc. 22nd ACM SIGKDD Int. Conf. Knowl. Discovery Data Mining, San Francisco, CA, USA, Aug. 2016, pp. 785-794.</a:t>
            </a:r>
          </a:p>
          <a:p>
            <a:pPr algn="l">
              <a:spcAft>
                <a:spcPts val="400"/>
              </a:spcAft>
            </a:pPr>
            <a:r>
              <a:rPr sz="1100" b="0" i="0">
                <a:solidFill>
                  <a:srgbClr val="222222"/>
                </a:solidFill>
                <a:latin typeface="Calibri"/>
                <a:ea typeface="Calibri"/>
                <a:cs typeface="Calibri"/>
              </a:rPr>
              <a:t>[4] J. C. Platt, "Probabilistic outputs for support vector machines and comparisons to regularized likelihood methods," in Advances in Large Margin Classifiers, A. J. Smola, P. Bartlett, B. Scholkopf and D. Schuurmans, Eds. Cambridge, MA, USA: MIT Press, 1999, pp. 61-74.</a:t>
            </a:r>
          </a:p>
          <a:p>
            <a:pPr algn="l">
              <a:spcAft>
                <a:spcPts val="400"/>
              </a:spcAft>
            </a:pPr>
            <a:r>
              <a:rPr sz="1100" b="0" i="0">
                <a:solidFill>
                  <a:srgbClr val="222222"/>
                </a:solidFill>
                <a:latin typeface="Calibri"/>
                <a:ea typeface="Calibri"/>
                <a:cs typeface="Calibri"/>
              </a:rPr>
              <a:t>[5] S. M. Lundberg and S.-I. Lee, "A unified approach to interpreting model predictions," in Advances in Neural Information Processing Systems 30 (NIPS 2017), Long Beach, CA, USA, Dec. 2017, pp. 4765-4774.</a:t>
            </a:r>
          </a:p>
          <a:p>
            <a:pPr algn="l">
              <a:spcAft>
                <a:spcPts val="400"/>
              </a:spcAft>
            </a:pPr>
            <a:r>
              <a:rPr sz="1100" b="0" i="0">
                <a:solidFill>
                  <a:srgbClr val="222222"/>
                </a:solidFill>
                <a:latin typeface="Calibri"/>
                <a:ea typeface="Calibri"/>
                <a:cs typeface="Calibri"/>
              </a:rPr>
              <a:t>[6] F. Pedregosa et al., "Scikit-learn: Machine learning in Python," J. Mach. Learn. Res., vol. 12, pp. 2825-2830, Oct. 2011.</a:t>
            </a:r>
          </a:p>
          <a:p>
            <a:pPr algn="l">
              <a:spcAft>
                <a:spcPts val="400"/>
              </a:spcAft>
            </a:pPr>
            <a:r>
              <a:rPr sz="1100" b="0" i="0">
                <a:solidFill>
                  <a:srgbClr val="222222"/>
                </a:solidFill>
                <a:latin typeface="Calibri"/>
                <a:ea typeface="Calibri"/>
                <a:cs typeface="Calibri"/>
              </a:rPr>
              <a:t>[8] G. W. Brier, "Verification of forecasts expressed in terms of probability," Mon. Weather Rev., vol. 78, no. 1, pp. 1-3, Jan. 1950.</a:t>
            </a:r>
          </a:p>
          <a:p>
            <a:pPr algn="l">
              <a:spcAft>
                <a:spcPts val="400"/>
              </a:spcAft>
            </a:pPr>
            <a:r>
              <a:rPr sz="1100" b="0" i="0">
                <a:solidFill>
                  <a:srgbClr val="222222"/>
                </a:solidFill>
                <a:latin typeface="Calibri"/>
                <a:ea typeface="Calibri"/>
                <a:cs typeface="Calibri"/>
              </a:rPr>
              <a:t>[9] A. Niculescu-Mizil and R. Caruana, "Predicting good probabilities with supervised learning," in Proc. 22nd Int. Conf. Mach. Learn. (ICML), Bonn, Germany, Aug. 2005, pp. 625-632.</a:t>
            </a:r>
          </a:p>
        </p:txBody>
      </p:sp>
      <p:sp>
        <p:nvSpPr>
          <p:cNvPr id="8" name="TextBox 7"/>
          <p:cNvSpPr txBox="1"/>
          <p:nvPr/>
        </p:nvSpPr>
        <p:spPr>
          <a:xfrm>
            <a:off x="6217920" y="1691640"/>
            <a:ext cx="5486400" cy="4572000"/>
          </a:xfrm>
          <a:prstGeom prst="rect">
            <a:avLst/>
          </a:prstGeom>
          <a:noFill/>
        </p:spPr>
        <p:txBody>
          <a:bodyPr wrap="square" lIns="0" rIns="0" tIns="0" bIns="0" anchor="t">
            <a:spAutoFit/>
          </a:bodyPr>
          <a:lstStyle/>
          <a:p>
            <a:pPr algn="l">
              <a:spcAft>
                <a:spcPts val="400"/>
              </a:spcAft>
            </a:pPr>
            <a:r>
              <a:rPr sz="1100" b="0" i="0">
                <a:solidFill>
                  <a:srgbClr val="222222"/>
                </a:solidFill>
                <a:latin typeface="Calibri"/>
                <a:ea typeface="Calibri"/>
                <a:cs typeface="Calibri"/>
              </a:rPr>
              <a:t>[13] J. B. Schafer, J. A. Konstan and J. Riedl, "E-commerce recommendation applications," Data Min. Knowl. Discov., vol. 5, no. 1-2, pp. 115-153, Jan. 2001, doi: 10.1023/A:1009804230409.</a:t>
            </a:r>
          </a:p>
          <a:p>
            <a:pPr algn="l">
              <a:spcAft>
                <a:spcPts val="400"/>
              </a:spcAft>
            </a:pPr>
            <a:r>
              <a:rPr sz="1100" b="0" i="0">
                <a:solidFill>
                  <a:srgbClr val="222222"/>
                </a:solidFill>
                <a:latin typeface="Calibri"/>
                <a:ea typeface="Calibri"/>
                <a:cs typeface="Calibri"/>
              </a:rPr>
              <a:t>[15] M. H. Baffa, M. A. Miyim and A. S. Dauda, "Machine learning for predicting students' employability," UMYU Scientifica, vol. 2, no. 1, pp. 1-9, Mar. 2023, doi: 10.56919/usci.2123_001.</a:t>
            </a:r>
          </a:p>
          <a:p>
            <a:pPr algn="l">
              <a:spcAft>
                <a:spcPts val="400"/>
              </a:spcAft>
            </a:pPr>
            <a:r>
              <a:rPr sz="1100" b="0" i="0">
                <a:solidFill>
                  <a:srgbClr val="222222"/>
                </a:solidFill>
                <a:latin typeface="Calibri"/>
                <a:ea typeface="Calibri"/>
                <a:cs typeface="Calibri"/>
              </a:rPr>
              <a:t>[17] A. Gupta, S. Gupta, P. K. Mall, S. Srivastava, A. S. Saluja, N. Yadav, V. Narayan, M. K. Verma and S. Sriramulu, "ML-CPC: A pathway for machine learning based campus placement classification," J. Electr. Syst., vol. 20, no. 3s, 2024, doi: 10.52783/jes.1521.</a:t>
            </a:r>
          </a:p>
          <a:p>
            <a:pPr algn="l">
              <a:spcAft>
                <a:spcPts val="400"/>
              </a:spcAft>
            </a:pPr>
            <a:r>
              <a:rPr sz="1100" b="0" i="0">
                <a:solidFill>
                  <a:srgbClr val="222222"/>
                </a:solidFill>
                <a:latin typeface="Calibri"/>
                <a:ea typeface="Calibri"/>
                <a:cs typeface="Calibri"/>
              </a:rPr>
              <a:t>[18] A. Pathak, M. Matcha, M. Gopisetti and S. Joshi, "A machine learning framework for predicting student placement outcomes," Ing. Syst. Inf. (ISI), vol. 30, no. 7, pp. 1715-1721, Jul. 2025, doi: 10.18280/isi.300704.</a:t>
            </a:r>
          </a:p>
          <a:p>
            <a:pPr algn="l">
              <a:spcAft>
                <a:spcPts val="400"/>
              </a:spcAft>
            </a:pPr>
            <a:r>
              <a:rPr sz="1100" b="0" i="0">
                <a:solidFill>
                  <a:srgbClr val="222222"/>
                </a:solidFill>
                <a:latin typeface="Calibri"/>
                <a:ea typeface="Calibri"/>
                <a:cs typeface="Calibri"/>
              </a:rPr>
              <a:t>[19] A. D. P. Kumar, V. Kuchhadia, G. Charan, G. Sreeja and N. Pavan, "Predicting student employability using machine learning: A comparative study of classification algorithms," in Proc. Int. Conf. Comput. Sci. Commun. Eng. (ICCSCE 2025), Hyderabad, India, Apr. 2025, pp. 799-812, doi: 10.2991/978-94-6463-858-5_68.</a:t>
            </a:r>
          </a:p>
          <a:p>
            <a:pPr algn="l">
              <a:spcAft>
                <a:spcPts val="400"/>
              </a:spcAft>
            </a:pPr>
            <a:r>
              <a:rPr sz="1100" b="0" i="0">
                <a:solidFill>
                  <a:srgbClr val="222222"/>
                </a:solidFill>
                <a:latin typeface="Calibri"/>
                <a:ea typeface="Calibri"/>
                <a:cs typeface="Calibri"/>
              </a:rPr>
              <a:t>[21] S. K. Thangavel, P. D. Bkaratki and A. Sankar, "Student placement analyzer: A recommendation system using machine learning," in Proc. 4th Int. Conf. Adv. Comput. Commun. Syst. (ICACCS), IEEE, 2017 (authors as listed in the Amrita University publication record).</a:t>
            </a:r>
          </a:p>
          <a:p>
            <a:pPr algn="l">
              <a:spcAft>
                <a:spcPts val="400"/>
              </a:spcAft>
            </a:pPr>
            <a:r>
              <a:rPr sz="1100" b="0" i="0">
                <a:solidFill>
                  <a:srgbClr val="222222"/>
                </a:solidFill>
                <a:latin typeface="Calibri"/>
                <a:ea typeface="Calibri"/>
                <a:cs typeface="Calibri"/>
              </a:rPr>
              <a:t>[23] C. Romero and S. Ventura, "Educational data mining: A review of the state of the art," IEEE Trans. Syst., Man, Cybern. C, Appl. Rev., vol. 40, no. 6, pp. 601-618, Nov. 2010.</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2743200"/>
            <a:ext cx="11247120" cy="914400"/>
          </a:xfrm>
          <a:prstGeom prst="rect">
            <a:avLst/>
          </a:prstGeom>
          <a:noFill/>
          <a:ln/>
        </p:spPr>
        <p:txBody>
          <a:bodyPr wrap="square" rtlCol="0" anchor="ctr"/>
          <a:lstStyle/>
          <a:p>
            <a:pPr algn="ctr" indent="0" marL="0">
              <a:buNone/>
            </a:pPr>
            <a:r>
              <a:rPr lang="en-US" sz="4800" b="1" dirty="0">
                <a:solidFill>
                  <a:srgbClr val="1F3864"/>
                </a:solidFill>
                <a:latin typeface="Calibri" pitchFamily="34" charset="0"/>
                <a:ea typeface="Calibri" pitchFamily="34" charset="-122"/>
                <a:cs typeface="Calibri" pitchFamily="34" charset="-120"/>
              </a:rPr>
              <a:t>THANK YOU</a:t>
            </a:r>
            <a:endParaRPr lang="en-US" sz="4800" dirty="0"/>
          </a:p>
        </p:txBody>
      </p:sp>
      <p:sp>
        <p:nvSpPr>
          <p:cNvPr id="5" name="Text 2"/>
          <p:cNvSpPr/>
          <p:nvPr/>
        </p:nvSpPr>
        <p:spPr>
          <a:xfrm>
            <a:off x="457200" y="3657600"/>
            <a:ext cx="11247120" cy="548640"/>
          </a:xfrm>
          <a:prstGeom prst="rect">
            <a:avLst/>
          </a:prstGeom>
          <a:noFill/>
          <a:ln/>
        </p:spPr>
        <p:txBody>
          <a:bodyPr wrap="square" rtlCol="0" anchor="ctr"/>
          <a:lstStyle/>
          <a:p>
            <a:pPr algn="ctr" indent="0" marL="0">
              <a:buNone/>
            </a:pPr>
            <a:r>
              <a:rPr lang="en-US" sz="2200" dirty="0">
                <a:solidFill>
                  <a:srgbClr val="2E75B6"/>
                </a:solidFill>
                <a:latin typeface="Calibri" pitchFamily="34" charset="0"/>
                <a:ea typeface="Calibri" pitchFamily="34" charset="-122"/>
                <a:cs typeface="Calibri" pitchFamily="34" charset="-120"/>
              </a:rPr>
              <a:t>Questions &amp; Suggestions</a:t>
            </a:r>
            <a:endParaRPr lang="en-US" sz="2200" dirty="0"/>
          </a:p>
        </p:txBody>
      </p:sp>
      <p:sp>
        <p:nvSpPr>
          <p:cNvPr id="6" name="Text 3"/>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C5  |  Final Review</a:t>
            </a:r>
            <a:endParaRPr lang="en-US" sz="1000" dirty="0"/>
          </a:p>
        </p:txBody>
      </p:sp>
      <p:sp>
        <p:nvSpPr>
          <p:cNvPr id="7" name="Text 4"/>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theme/theme1.xml><?xml version="1.0" encoding="utf-8"?>
<a:theme xmlns:a="http://schemas.openxmlformats.org/drawingml/2006/main" name="Placement">
  <a:themeElements>
    <a:clrScheme name="Placement">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lacement">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lacement">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Campus Placement System - Final Review</dc:title>
  <dc:subject>Smart Campus Placement System</dc:subject>
  <dc:creator>Batch C5, Dept. of CSE, TKRCET</dc:creator>
  <cp:lastModifiedBy/>
  <cp:revision>1</cp:revision>
  <dcterms:created xsi:type="dcterms:W3CDTF">2026-10-07T05:03:03Z</dcterms:created>
  <dcterms:modified xsi:type="dcterms:W3CDTF">2026-10-07T05:03:03Z</dcterms:modified>
  <dc:description/>
  <cp:keywords>campus placement, XGBoost, kNN, recommendation</cp:keywords>
</cp:coreProperties>
</file>