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Before (as reported)</c:v>
                </c:pt>
              </c:strCache>
            </c:strRef>
          </c:tx>
          <c:spPr>
            <a:solidFill>
              <a:srgbClr val="EB6834"/>
            </a:solidFill>
          </c:spPr>
          <c:cat>
            <c:strRef>
              <c:f>Sheet1!$A$2:$A$4</c:f>
              <c:strCache>
                <c:ptCount val="3"/>
                <c:pt idx="0">
                  <c:v>Tamil</c:v>
                </c:pt>
                <c:pt idx="1">
                  <c:v>Malay</c:v>
                </c:pt>
                <c:pt idx="2">
                  <c:v>Mandarin</c:v>
                </c:pt>
              </c:strCache>
            </c:strRef>
          </c:cat>
          <c:val>
            <c:numRef>
              <c:f>Sheet1!$B$2:$B$4</c:f>
              <c:numCache>
                <c:formatCode>General</c:formatCode>
                <c:ptCount val="3"/>
                <c:pt idx="0">
                  <c:v>9.6</c:v>
                </c:pt>
                <c:pt idx="1">
                  <c:v>3.4</c:v>
                </c:pt>
                <c:pt idx="2">
                  <c:v>10.7</c:v>
                </c:pt>
              </c:numCache>
            </c:numRef>
          </c:val>
        </c:ser>
        <c:ser>
          <c:idx val="1"/>
          <c:order val="1"/>
          <c:tx>
            <c:strRef>
              <c:f>Sheet1!$C$1</c:f>
              <c:strCache>
                <c:ptCount val="1"/>
                <c:pt idx="0">
                  <c:v>With MultiGen (as reported)</c:v>
                </c:pt>
              </c:strCache>
            </c:strRef>
          </c:tx>
          <c:spPr>
            <a:solidFill>
              <a:srgbClr val="2A78D6"/>
            </a:solidFill>
          </c:spPr>
          <c:cat>
            <c:strRef>
              <c:f>Sheet1!$A$2:$A$4</c:f>
              <c:strCache>
                <c:ptCount val="3"/>
                <c:pt idx="0">
                  <c:v>Tamil</c:v>
                </c:pt>
                <c:pt idx="1">
                  <c:v>Malay</c:v>
                </c:pt>
                <c:pt idx="2">
                  <c:v>Mandarin</c:v>
                </c:pt>
              </c:strCache>
            </c:strRef>
          </c:cat>
          <c:val>
            <c:numRef>
              <c:f>Sheet1!$C$2:$C$4</c:f>
              <c:numCache>
                <c:formatCode>General</c:formatCode>
                <c:ptCount val="3"/>
                <c:pt idx="0">
                  <c:v>2.1</c:v>
                </c:pt>
                <c:pt idx="1">
                  <c:v>2.3</c:v>
                </c:pt>
                <c:pt idx="2">
                  <c:v>4.0</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3.0"/>
          <c:min val="0.0"/>
        </c:scaling>
        <c:delete val="0"/>
        <c:axPos val="l"/>
        <c:majorGridlines>
          <c:spPr>
            <a:ln>
              <a:solidFill>
                <a:srgbClr val="D5DCE6"/>
              </a:solidFill>
            </a:ln>
          </c:spPr>
        </c:majorGridlines>
        <c:numFmt formatCode="0.0" sourceLinked="0"/>
        <c:majorTickMark val="out"/>
        <c:minorTickMark val="none"/>
        <c:tickLblPos val="nextTo"/>
        <c:spPr>
          <a:ln>
            <a:noFill/>
          </a:ln>
        </c:spPr>
        <c:crossAx val="-2068027336"/>
        <c:crosses val="autoZero"/>
      </c:valAx>
    </c:plotArea>
    <c:legend>
      <c:legendPos val="b"/>
      <c:overlay val="0"/>
    </c:legend>
    <c:dispBlanksAs val="gap"/>
  </c:chart>
  <c:txPr>
    <a:bodyPr/>
    <a:lstStyle/>
    <a:p>
      <a:pPr>
        <a:defRPr sz="11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StoryVox turns a story idea into a story in a chosen language and reads it aloud, using pretrained models on a laptop CPU, and measures how well each step works.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The review covers why the problem matters and what is missing in current work, then what we built and what we measured.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the manual effort of multilingual stories, the three-model cascade, and what is delivered and measured.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SAM Translator is a translation system; StoryVox is a generation-plus-narration pipeline. We compare ideas and compute cost, never scores: SAM reports BLEU, we report round-trip error rates.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lists five items; items 2, 4 and 5 could not be located online, so only their titles appear. All other rows were checked against the papers or their abstract pages.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published figures on other data; our own measurements are in the later slides and are not placed on one scale with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the workflow is manual or stitched from separate tools; research covers the parts but not the joined, measured pipeline.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limitations are the batch problem statement; the last line is from the base paper analysis.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states the gap as joining controllable story generation to multilingual narration in one pipeline aimed at education. Gaps 3 to 5 come from our reading of how speech papers report results.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The need is one system that writes a story and narrates it in the chosen language.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We say plainly later which are met.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and the app that wraps them. No model is trained: all three are pretrained and used as they are.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top to bottom: the app calls the API, the API calls the services, which call the three models and the database.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Because the system is already built, this slide reports measured outcomes. Narration works well; story generation with the small model is the weak link. Objective status: 1 achieved; 4 achieved for 12 languages; 2, 5 and 6 partly; 3 not as translation.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a cascade and not an end-to-end model (no training budget; pretrained parts exist); why only 12 languages have MMS narration (Italian, Chinese and Japanese checkpoints do not exist on the Hub); why the 0.6B story model (it runs on a CPU laptop).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StoryVox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400" b="1" dirty="0">
                <a:solidFill>
                  <a:srgbClr val="FFFFFF"/>
                </a:solidFill>
                <a:latin typeface="Cambria" pitchFamily="34" charset="0"/>
                <a:ea typeface="Cambria" pitchFamily="34" charset="-122"/>
                <a:cs typeface="Cambria" pitchFamily="34" charset="-120"/>
              </a:rPr>
              <a:t>Multilingual Story Generation and Speech System</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Prompt-to-story generation with a small instruction-tuned language model and multilingual neural narration</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Lingala Sindhu  23K91A05D3</a:t>
            </a:r>
            <a:endParaRPr lang="en-US" sz="1500" dirty="0"/>
          </a:p>
          <a:p>
            <a:pPr indent="0" marL="0">
              <a:buNone/>
            </a:pPr>
            <a:r>
              <a:rPr lang="en-US" sz="1500" dirty="0">
                <a:solidFill>
                  <a:srgbClr val="FFFFFF"/>
                </a:solidFill>
              </a:rPr>
              <a:t>Padige Ajay  23K91A05H8</a:t>
            </a:r>
            <a:endParaRPr lang="en-US" sz="1500" dirty="0"/>
          </a:p>
          <a:p>
            <a:pPr indent="0" marL="0">
              <a:buNone/>
            </a:pPr>
            <a:r>
              <a:rPr lang="en-US" sz="1500" dirty="0">
                <a:solidFill>
                  <a:srgbClr val="FFFFFF"/>
                </a:solidFill>
              </a:rPr>
              <a:t>Mahek Ansari  23K91A05D8</a:t>
            </a:r>
            <a:endParaRPr lang="en-US" sz="1500" dirty="0"/>
          </a:p>
          <a:p>
            <a:pPr indent="0" marL="0">
              <a:buNone/>
            </a:pPr>
            <a:r>
              <a:rPr lang="en-US" sz="1500" dirty="0">
                <a:solidFill>
                  <a:srgbClr val="FFFFFF"/>
                </a:solidFill>
              </a:rPr>
              <a:t>Maheshwaram Hari Krishna  23K91A05D9</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A Tejaswini,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C2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 and evidence</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approaches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Outcomes measured so far</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from a story idea to spoken stories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566160"/>
          </a:xfrm>
          <a:prstGeom prst="rect">
            <a:avLst/>
          </a:prstGeom>
          <a:noFill/>
        </p:spPr>
        <p:txBody>
          <a:bodyPr wrap="square" lIns="0" rIns="0" tIns="0" bIns="0" anchor="t">
            <a:spAutoFit/>
          </a:bodyPr>
          <a:lstStyle/>
          <a:p>
            <a:pPr algn="l">
              <a:spcAft>
                <a:spcPts val="400"/>
              </a:spcAft>
            </a:pPr>
            <a:r>
              <a:rPr sz="1900" b="0" i="0">
                <a:solidFill>
                  <a:srgbClr val="475569"/>
                </a:solidFill>
              </a:rPr>
              <a:t>Storytelling supports education and entertainment, but producing stories in several languages needs writers and narrators for each one. Generic speech sounds mechanical, and tools do either text or speech, not both.</a:t>
            </a:r>
          </a:p>
        </p:txBody>
      </p:sp>
      <p:sp>
        <p:nvSpPr>
          <p:cNvPr id="30" name="Rounded Rectangle 29"/>
          <p:cNvSpPr/>
          <p:nvPr/>
        </p:nvSpPr>
        <p:spPr>
          <a:xfrm>
            <a:off x="4334255"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566160"/>
          </a:xfrm>
          <a:prstGeom prst="rect">
            <a:avLst/>
          </a:prstGeom>
          <a:noFill/>
        </p:spPr>
        <p:txBody>
          <a:bodyPr wrap="square" lIns="0" rIns="0" tIns="0" bIns="0" anchor="t">
            <a:spAutoFit/>
          </a:bodyPr>
          <a:lstStyle/>
          <a:p>
            <a:pPr algn="l">
              <a:spcAft>
                <a:spcPts val="400"/>
              </a:spcAft>
            </a:pPr>
            <a:r>
              <a:rPr sz="1900" b="0" i="0">
                <a:solidFill>
                  <a:srgbClr val="475569"/>
                </a:solidFill>
              </a:rPr>
              <a:t>One pipeline: a small instruction-tuned language model (Qwen3-0.6B) writes the story, a per-language VITS model from the MMS project narrates it, and a speech recogniser (Whisper-small) checks the result by transcribing it back.</a:t>
            </a:r>
          </a:p>
        </p:txBody>
      </p:sp>
      <p:sp>
        <p:nvSpPr>
          <p:cNvPr id="34" name="Rounded Rectangle 33"/>
          <p:cNvSpPr/>
          <p:nvPr/>
        </p:nvSpPr>
        <p:spPr>
          <a:xfrm>
            <a:off x="8119871"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566160"/>
          </a:xfrm>
          <a:prstGeom prst="rect">
            <a:avLst/>
          </a:prstGeom>
          <a:noFill/>
        </p:spPr>
        <p:txBody>
          <a:bodyPr wrap="square" lIns="0" rIns="0" tIns="0" bIns="0" anchor="t">
            <a:spAutoFit/>
          </a:bodyPr>
          <a:lstStyle/>
          <a:p>
            <a:pPr algn="l">
              <a:spcAft>
                <a:spcPts val="400"/>
              </a:spcAft>
            </a:pPr>
            <a:r>
              <a:rPr sz="1900" b="0" i="0">
                <a:solidFill>
                  <a:srgbClr val="475569"/>
                </a:solidFill>
              </a:rPr>
              <a:t>StoryVox: a FastAPI service (11 routes) and a 5-page React app with a SQLite library. It covers 15 languages, 8 styles and 3 lengths, runs on a CPU laptop, and is measured with real-time factor, WER and CER.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300" b="0" i="0">
                <a:solidFill>
                  <a:srgbClr val="0F172A"/>
                </a:solidFill>
              </a:rPr>
              <a:t>C. Tran and S. Sakti, "SAM Translator: Self-paced learning and mixture-of-experts for cross-lingual text-to-speech translation," IEEE Access, vol. 14, pp. 2742-2752, 2026, doi: 10.1109/ACCESS.2025.3644647.</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650" b="0" i="0">
                <a:solidFill>
                  <a:srgbClr val="475569"/>
                </a:solidFill>
              </a:rPr>
              <a:t>mBART text-to-unit model with self-paced learning (easy samples first), sparse mixture-of-experts layers (8 experts, top-2) and self-training on filtered synthetic pairs; HuBERT units are turned into speech by Grad-TTS.</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Data and reported results</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650" b="0" i="0">
                <a:solidFill>
                  <a:srgbClr val="475569"/>
                </a:solidFill>
              </a:rPr>
              <a:t>CVSS-C (21 source languages to English speech) and CoVoST-2. BLEU of the transcript improves by 2-3% (high-resource) and 7-10% (low-resource) over mBART; self-training adds about 21.6% for Welsh.</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Limits and our use</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650" b="0" i="0">
                <a:solidFill>
                  <a:srgbClr val="475569"/>
                </a:solidFill>
              </a:rPr>
              <a:t>Target is English only, it translates but does not write stories, and it needs a 1.7B-parameter model on an A100 for 1.5-2 days. StoryVox keeps the goal (multilingual speech, judged by ASR) and none of the techniques.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005840"/>
          <a:ext cx="11091672" cy="5157216"/>
        </p:xfrm>
        <a:graphic>
          <a:graphicData uri="http://schemas.openxmlformats.org/drawingml/2006/table">
            <a:tbl>
              <a:tblPr firstRow="0" bandRow="0">
                <a:tableStyleId>{5C22544A-7EE6-4342-B048-85BDC9FD1C3A}</a:tableStyleId>
              </a:tblPr>
              <a:tblGrid>
                <a:gridCol w="2103120"/>
                <a:gridCol w="594360"/>
                <a:gridCol w="4297680"/>
                <a:gridCol w="4096512"/>
              </a:tblGrid>
              <a:tr h="429768">
                <a:tc>
                  <a:txBody>
                    <a:bodyPr wrap="square"/>
                    <a:lstStyle/>
                    <a:p>
                      <a:pPr algn="ctr"/>
                      <a:r>
                        <a:rPr sz="11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Year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Reported result / limitation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29768">
                <a:tc>
                  <a:txBody>
                    <a:bodyPr wrap="square"/>
                    <a:lstStyle/>
                    <a:p>
                      <a:pPr algn="l"/>
                      <a:r>
                        <a:rPr sz="1050" b="0">
                          <a:solidFill>
                            <a:srgbClr val="0F172A"/>
                          </a:solidFill>
                        </a:rPr>
                        <a:t>Tran and Sakti [1] (base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5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SAM Translator: mBART text-to-unit model with self-paced learning, sparse mixture-of-experts and self-training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BLEU gains of +2-3% (high-resource) to +7-10% (low-resource) on CVSS-C; target side English only; 1.7B parameters, A100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9768">
                <a:tc>
                  <a:txBody>
                    <a:bodyPr wrap="square"/>
                    <a:lstStyle/>
                    <a:p>
                      <a:pPr algn="l"/>
                      <a:r>
                        <a:rPr sz="1050" b="0">
                          <a:solidFill>
                            <a:srgbClr val="0F172A"/>
                          </a:solidFill>
                        </a:rPr>
                        <a:t>Zhu et al. [6]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5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OmniVoice: zero-shot TTS, masked-diffusion LM, 646 languages, 581k hours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Average CER 4.00%, RTF 0.0319 on a GPU; speech only, no story text; 8 GPUs for 9.7 days of training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29768">
                <a:tc>
                  <a:txBody>
                    <a:bodyPr wrap="square"/>
                    <a:lstStyle/>
                    <a:p>
                      <a:pPr algn="l"/>
                      <a:r>
                        <a:rPr sz="1050" b="0">
                          <a:solidFill>
                            <a:srgbClr val="0F172A"/>
                          </a:solidFill>
                        </a:rPr>
                        <a:t>Gao et al. [7]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5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MultiGen: child-friendly multilingual speech from an LLM speech-token model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CER Tamil 9.6 to 2.1, Malay 3.4 to 2.3 (%); three languages, private child-speech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9768">
                <a:tc>
                  <a:txBody>
                    <a:bodyPr wrap="square"/>
                    <a:lstStyle/>
                    <a:p>
                      <a:pPr algn="l"/>
                      <a:r>
                        <a:rPr sz="1050" b="0">
                          <a:solidFill>
                            <a:srgbClr val="0F172A"/>
                          </a:solidFill>
                        </a:rPr>
                        <a:t>Park, Nakamura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5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EmoSSLSphere: multilingual emotional TTS with spherical emotion vectors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Better intelligibility and expressiveness; English and Japanese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29768">
                <a:tc>
                  <a:txBody>
                    <a:bodyPr wrap="square"/>
                    <a:lstStyle/>
                    <a:p>
                      <a:pPr algn="l"/>
                      <a:r>
                        <a:rPr sz="1050" b="0">
                          <a:solidFill>
                            <a:srgbClr val="0F172A"/>
                          </a:solidFill>
                        </a:rPr>
                        <a:t>Arif et al. [8]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5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Kahaani: LLM co-creative storytelling with speech, music and video</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Interactive system for children; multilingual narration not reported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9768">
                <a:tc>
                  <a:txBody>
                    <a:bodyPr wrap="square"/>
                    <a:lstStyle/>
                    <a:p>
                      <a:pPr algn="l"/>
                      <a:r>
                        <a:rPr sz="1050" b="0">
                          <a:solidFill>
                            <a:srgbClr val="0F172A"/>
                          </a:solidFill>
                        </a:rPr>
                        <a:t>Kim et al. [9]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50" b="0">
                          <a:solidFill>
                            <a:srgbClr val="0F172A"/>
                          </a:solidFill>
                        </a:rPr>
                        <a:t>2021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VITS: end-to-end TTS with a conditional VAE, flow and adversarial training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MOS close to recordings on LJ Speech; one language per checkpoint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29768">
                <a:tc>
                  <a:txBody>
                    <a:bodyPr wrap="square"/>
                    <a:lstStyle/>
                    <a:p>
                      <a:pPr algn="l"/>
                      <a:r>
                        <a:rPr sz="1050" b="0">
                          <a:solidFill>
                            <a:srgbClr val="0F172A"/>
                          </a:solidFill>
                        </a:rPr>
                        <a:t>Pratap et al. [10]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5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MMS: wav2vec 2.0 pre-training plus ASR and VITS TTS for 1,107 languages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One single-speaker TTS model per language; some scripts need romanisation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9768">
                <a:tc>
                  <a:txBody>
                    <a:bodyPr wrap="square"/>
                    <a:lstStyle/>
                    <a:p>
                      <a:pPr algn="l"/>
                      <a:r>
                        <a:rPr sz="1050" b="0">
                          <a:solidFill>
                            <a:srgbClr val="0F172A"/>
                          </a:solidFill>
                        </a:rPr>
                        <a:t>Radford et al. [11]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50" b="0">
                          <a:solidFill>
                            <a:srgbClr val="0F172A"/>
                          </a:solidFill>
                        </a:rPr>
                        <a:t>2023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Whisper: weakly supervised multilingual ASR on 680,000 hours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Robust zero-shot transcription; error differs by language; may hallucinate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29768">
                <a:tc>
                  <a:txBody>
                    <a:bodyPr wrap="square"/>
                    <a:lstStyle/>
                    <a:p>
                      <a:pPr algn="l"/>
                      <a:r>
                        <a:rPr sz="1050" b="0">
                          <a:solidFill>
                            <a:srgbClr val="0F172A"/>
                          </a:solidFill>
                        </a:rPr>
                        <a:t>Yang et al. [12]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5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Qwen3: open LLM family, 0.6B to 235B, 119 languages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The 0.6B model is far weaker than the flagship and needs its chat template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9768">
                <a:tc>
                  <a:txBody>
                    <a:bodyPr wrap="square"/>
                    <a:lstStyle/>
                    <a:p>
                      <a:pPr algn="l"/>
                      <a:r>
                        <a:rPr sz="1050" b="0">
                          <a:solidFill>
                            <a:srgbClr val="0F172A"/>
                          </a:solidFill>
                        </a:rPr>
                        <a:t>Eldan, Li [19]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50" b="0">
                          <a:solidFill>
                            <a:srgbClr val="0F172A"/>
                          </a:solidFill>
                        </a:rPr>
                        <a:t>2023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TinyStories: small models on simple synthetic stories write fluent English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English only; restricted vocabulary and domain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29768">
                <a:tc>
                  <a:txBody>
                    <a:bodyPr wrap="square"/>
                    <a:lstStyle/>
                    <a:p>
                      <a:pPr algn="l"/>
                      <a:r>
                        <a:rPr sz="1050" b="0">
                          <a:solidFill>
                            <a:srgbClr val="0F172A"/>
                          </a:solidFill>
                        </a:rPr>
                        <a:t>Batch survey [2], [4], [5]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50" b="0">
                          <a:solidFill>
                            <a:srgbClr val="0F172A"/>
                          </a:solidFill>
                        </a:rPr>
                        <a:t>2025-26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Three further titles from the batch survey (multilingual story and speech, TTS with RAG, motion generation)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Not located online; listed by title only, nothing quoted from them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pretrained speech models work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6035040" cy="4297680"/>
        </p:xfrm>
        <a:graphic>
          <a:graphicData uri="http://schemas.openxmlformats.org/drawingml/2006/chart">
            <c:chart xmlns:c="http://schemas.openxmlformats.org/drawingml/2006/chart" r:id="rId3"/>
          </a:graphicData>
        </a:graphic>
      </p:graphicFrame>
      <p:sp>
        <p:nvSpPr>
          <p:cNvPr id="27" name="TextBox 26"/>
          <p:cNvSpPr txBox="1"/>
          <p:nvPr/>
        </p:nvSpPr>
        <p:spPr>
          <a:xfrm>
            <a:off x="548640" y="5669280"/>
            <a:ext cx="6035040" cy="731520"/>
          </a:xfrm>
          <a:prstGeom prst="rect">
            <a:avLst/>
          </a:prstGeom>
          <a:noFill/>
        </p:spPr>
        <p:txBody>
          <a:bodyPr wrap="square" lIns="0" rIns="0" tIns="0" bIns="0" anchor="t">
            <a:spAutoFit/>
          </a:bodyPr>
          <a:lstStyle/>
          <a:p>
            <a:pPr algn="l">
              <a:spcAft>
                <a:spcPts val="400"/>
              </a:spcAft>
            </a:pPr>
            <a:r>
              <a:rPr sz="1100" b="0" i="1">
                <a:solidFill>
                  <a:srgbClr val="475569"/>
                </a:solidFill>
              </a:rPr>
              <a:t>Character error rate in %, from Gao et al. [7]; the paper's private child-speech data, not ours.</a:t>
            </a:r>
          </a:p>
        </p:txBody>
      </p:sp>
      <p:sp>
        <p:nvSpPr>
          <p:cNvPr id="28" name="TextBox 27"/>
          <p:cNvSpPr txBox="1"/>
          <p:nvPr/>
        </p:nvSpPr>
        <p:spPr>
          <a:xfrm>
            <a:off x="6858000" y="1325880"/>
            <a:ext cx="4800600" cy="4937760"/>
          </a:xfrm>
          <a:prstGeom prst="rect">
            <a:avLst/>
          </a:prstGeom>
          <a:noFill/>
        </p:spPr>
        <p:txBody>
          <a:bodyPr wrap="square" lIns="0" rIns="0" tIns="0" bIns="0" anchor="t">
            <a:spAutoFit/>
          </a:bodyPr>
          <a:lstStyle/>
          <a:p>
            <a:pPr algn="l">
              <a:spcAft>
                <a:spcPts val="800"/>
              </a:spcAft>
            </a:pPr>
            <a:r>
              <a:rPr sz="1500" b="1" i="0">
                <a:solidFill>
                  <a:srgbClr val="0F172A"/>
                </a:solidFill>
              </a:rPr>
              <a:t>What the literature shows</a:t>
            </a:r>
          </a:p>
          <a:p>
            <a:pPr algn="l" marL="256032" indent="-201168">
              <a:spcAft>
                <a:spcPts val="800"/>
              </a:spcAft>
              <a:buChar char="•"/>
            </a:pPr>
            <a:r>
              <a:rPr sz="1500" b="0" i="0">
                <a:solidFill>
                  <a:srgbClr val="0F172A"/>
                </a:solidFill>
              </a:rPr>
              <a:t>OmniVoice reaches an average CER of 4.00% against 5.11% for the ground-truth recordings, at RTF 0.0319 on a GPU [6].</a:t>
            </a:r>
          </a:p>
          <a:p>
            <a:pPr algn="l" marL="256032" indent="-201168">
              <a:spcAft>
                <a:spcPts val="800"/>
              </a:spcAft>
              <a:buChar char="•"/>
            </a:pPr>
            <a:r>
              <a:rPr sz="1500" b="0" i="0">
                <a:solidFill>
                  <a:srgbClr val="0F172A"/>
                </a:solidFill>
              </a:rPr>
              <a:t>MMS offers one VITS model for each of 1,107 languages; its ASR halves Whisper's word error rate on 54 FLEURS languages [10].</a:t>
            </a:r>
          </a:p>
          <a:p>
            <a:pPr algn="l" marL="256032" indent="-201168">
              <a:spcAft>
                <a:spcPts val="800"/>
              </a:spcAft>
              <a:buChar char="•"/>
            </a:pPr>
            <a:r>
              <a:rPr sz="1500" b="0" i="0">
                <a:solidFill>
                  <a:srgbClr val="0F172A"/>
                </a:solidFill>
              </a:rPr>
              <a:t>Tiny models write fluent short English stories when the domain is simple [19].</a:t>
            </a:r>
          </a:p>
          <a:p>
            <a:pPr algn="l" marL="256032" indent="-201168">
              <a:spcAft>
                <a:spcPts val="400"/>
              </a:spcAft>
              <a:buChar char="•"/>
            </a:pPr>
            <a:r>
              <a:rPr sz="1500" b="0" i="0">
                <a:solidFill>
                  <a:srgbClr val="0F172A"/>
                </a:solidFill>
              </a:rPr>
              <a:t>Caveat: all of this is on other data and hardware, so none of it is a baseline for our numbers.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Writer drafts the story</a:t>
            </a:r>
          </a:p>
        </p:txBody>
      </p:sp>
      <p:sp>
        <p:nvSpPr>
          <p:cNvPr id="27" name="Right Arrow 26"/>
          <p:cNvSpPr/>
          <p:nvPr/>
        </p:nvSpPr>
        <p:spPr>
          <a:xfrm>
            <a:off x="2542946"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849270"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Translator for each language</a:t>
            </a:r>
          </a:p>
        </p:txBody>
      </p:sp>
      <p:sp>
        <p:nvSpPr>
          <p:cNvPr id="29" name="Right Arrow 28"/>
          <p:cNvSpPr/>
          <p:nvPr/>
        </p:nvSpPr>
        <p:spPr>
          <a:xfrm>
            <a:off x="4843576"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149900"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Separate TTS tool</a:t>
            </a:r>
          </a:p>
        </p:txBody>
      </p:sp>
      <p:sp>
        <p:nvSpPr>
          <p:cNvPr id="31" name="Right Arrow 30"/>
          <p:cNvSpPr/>
          <p:nvPr/>
        </p:nvSpPr>
        <p:spPr>
          <a:xfrm>
            <a:off x="7144207"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450531"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Narrator corrects audio</a:t>
            </a:r>
          </a:p>
        </p:txBody>
      </p:sp>
      <p:sp>
        <p:nvSpPr>
          <p:cNvPr id="33" name="Right Arrow 32"/>
          <p:cNvSpPr/>
          <p:nvPr/>
        </p:nvSpPr>
        <p:spPr>
          <a:xfrm>
            <a:off x="9444837"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751161"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One file per language</a:t>
            </a:r>
          </a:p>
        </p:txBody>
      </p:sp>
      <p:sp>
        <p:nvSpPr>
          <p:cNvPr id="35" name="Rounded Rectangle 34"/>
          <p:cNvSpPr/>
          <p:nvPr/>
        </p:nvSpPr>
        <p:spPr>
          <a:xfrm>
            <a:off x="548640"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749808" y="2880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7" name="TextBox 36"/>
          <p:cNvSpPr txBox="1"/>
          <p:nvPr/>
        </p:nvSpPr>
        <p:spPr>
          <a:xfrm>
            <a:off x="1389888"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Manual and separate tools</a:t>
            </a:r>
          </a:p>
        </p:txBody>
      </p:sp>
      <p:sp>
        <p:nvSpPr>
          <p:cNvPr id="38" name="TextBox 37"/>
          <p:cNvSpPr txBox="1"/>
          <p:nvPr/>
        </p:nvSpPr>
        <p:spPr>
          <a:xfrm>
            <a:off x="749808" y="3566160"/>
            <a:ext cx="5038344" cy="2468879"/>
          </a:xfrm>
          <a:prstGeom prst="rect">
            <a:avLst/>
          </a:prstGeom>
          <a:noFill/>
        </p:spPr>
        <p:txBody>
          <a:bodyPr wrap="square" lIns="0" rIns="0" tIns="0" bIns="0" anchor="t">
            <a:spAutoFit/>
          </a:bodyPr>
          <a:lstStyle/>
          <a:p>
            <a:pPr algn="l">
              <a:spcAft>
                <a:spcPts val="400"/>
              </a:spcAft>
            </a:pPr>
            <a:r>
              <a:rPr sz="1900" b="0" i="0">
                <a:solidFill>
                  <a:srgbClr val="475569"/>
                </a:solidFill>
              </a:rPr>
              <a:t>A writer and a narrator are needed for every language.
Text generators and speech synthesisers are different products, joined by hand.
Generic TTS sounds mechanical for storytelling.</a:t>
            </a:r>
          </a:p>
        </p:txBody>
      </p:sp>
      <p:sp>
        <p:nvSpPr>
          <p:cNvPr id="39" name="Rounded Rectangle 38"/>
          <p:cNvSpPr/>
          <p:nvPr/>
        </p:nvSpPr>
        <p:spPr>
          <a:xfrm>
            <a:off x="6199632"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6400800" y="2880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41" name="TextBox 40"/>
          <p:cNvSpPr txBox="1"/>
          <p:nvPr/>
        </p:nvSpPr>
        <p:spPr>
          <a:xfrm>
            <a:off x="7040880"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Research systems</a:t>
            </a:r>
          </a:p>
        </p:txBody>
      </p:sp>
      <p:sp>
        <p:nvSpPr>
          <p:cNvPr id="42" name="TextBox 41"/>
          <p:cNvSpPr txBox="1"/>
          <p:nvPr/>
        </p:nvSpPr>
        <p:spPr>
          <a:xfrm>
            <a:off x="6400800" y="3566160"/>
            <a:ext cx="5038344" cy="2468879"/>
          </a:xfrm>
          <a:prstGeom prst="rect">
            <a:avLst/>
          </a:prstGeom>
          <a:noFill/>
        </p:spPr>
        <p:txBody>
          <a:bodyPr wrap="square" lIns="0" rIns="0" tIns="0" bIns="0" anchor="t">
            <a:spAutoFit/>
          </a:bodyPr>
          <a:lstStyle/>
          <a:p>
            <a:pPr algn="l">
              <a:spcAft>
                <a:spcPts val="400"/>
              </a:spcAft>
            </a:pPr>
            <a:r>
              <a:rPr sz="1900" b="0" i="0">
                <a:solidFill>
                  <a:srgbClr val="475569"/>
                </a:solidFill>
              </a:rPr>
              <a:t>Speech translation [1], massively multilingual TTS [6], [10] and LLM storytelling [8] each solve one part.
None is a locally runnable story-to-speech app with an honest end-to-end measurement.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Effort per language</a:t>
            </a:r>
          </a:p>
        </p:txBody>
      </p:sp>
      <p:sp>
        <p:nvSpPr>
          <p:cNvPr id="29" name="TextBox 28"/>
          <p:cNvSpPr txBox="1"/>
          <p:nvPr/>
        </p:nvSpPr>
        <p:spPr>
          <a:xfrm>
            <a:off x="749808" y="2194560"/>
            <a:ext cx="5038344" cy="960119"/>
          </a:xfrm>
          <a:prstGeom prst="rect">
            <a:avLst/>
          </a:prstGeom>
          <a:noFill/>
        </p:spPr>
        <p:txBody>
          <a:bodyPr wrap="square" lIns="0" rIns="0" tIns="0" bIns="0" anchor="t">
            <a:spAutoFit/>
          </a:bodyPr>
          <a:lstStyle/>
          <a:p>
            <a:pPr algn="l">
              <a:spcAft>
                <a:spcPts val="400"/>
              </a:spcAft>
            </a:pPr>
            <a:r>
              <a:rPr sz="1800" b="0" i="0">
                <a:solidFill>
                  <a:srgbClr val="475569"/>
                </a:solidFill>
              </a:rPr>
              <a:t>Producing multilingual stories manually requires writers and narrators for every language.</a:t>
            </a:r>
          </a:p>
        </p:txBody>
      </p:sp>
      <p:sp>
        <p:nvSpPr>
          <p:cNvPr id="30" name="Rounded Rectangle 29"/>
          <p:cNvSpPr/>
          <p:nvPr/>
        </p:nvSpPr>
        <p:spPr>
          <a:xfrm>
            <a:off x="6199631"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Mechanical voices</a:t>
            </a:r>
          </a:p>
        </p:txBody>
      </p:sp>
      <p:sp>
        <p:nvSpPr>
          <p:cNvPr id="33" name="TextBox 32"/>
          <p:cNvSpPr txBox="1"/>
          <p:nvPr/>
        </p:nvSpPr>
        <p:spPr>
          <a:xfrm>
            <a:off x="6400799" y="2194560"/>
            <a:ext cx="5038344" cy="960119"/>
          </a:xfrm>
          <a:prstGeom prst="rect">
            <a:avLst/>
          </a:prstGeom>
          <a:noFill/>
        </p:spPr>
        <p:txBody>
          <a:bodyPr wrap="square" lIns="0" rIns="0" tIns="0" bIns="0" anchor="t">
            <a:spAutoFit/>
          </a:bodyPr>
          <a:lstStyle/>
          <a:p>
            <a:pPr algn="l">
              <a:spcAft>
                <a:spcPts val="400"/>
              </a:spcAft>
            </a:pPr>
            <a:r>
              <a:rPr sz="1800" b="0" i="0">
                <a:solidFill>
                  <a:srgbClr val="475569"/>
                </a:solidFill>
              </a:rPr>
              <a:t>Generic text-to-speech sounds mechanical and is unsuited to narrative delivery.</a:t>
            </a:r>
          </a:p>
        </p:txBody>
      </p:sp>
      <p:sp>
        <p:nvSpPr>
          <p:cNvPr id="34" name="Rounded Rectangle 33"/>
          <p:cNvSpPr/>
          <p:nvPr/>
        </p:nvSpPr>
        <p:spPr>
          <a:xfrm>
            <a:off x="548640"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365760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Low-resource languages</a:t>
            </a:r>
          </a:p>
        </p:txBody>
      </p:sp>
      <p:sp>
        <p:nvSpPr>
          <p:cNvPr id="37" name="TextBox 36"/>
          <p:cNvSpPr txBox="1"/>
          <p:nvPr/>
        </p:nvSpPr>
        <p:spPr>
          <a:xfrm>
            <a:off x="749808" y="4343400"/>
            <a:ext cx="5038344" cy="960119"/>
          </a:xfrm>
          <a:prstGeom prst="rect">
            <a:avLst/>
          </a:prstGeom>
          <a:noFill/>
        </p:spPr>
        <p:txBody>
          <a:bodyPr wrap="square" lIns="0" rIns="0" tIns="0" bIns="0" anchor="t">
            <a:spAutoFit/>
          </a:bodyPr>
          <a:lstStyle/>
          <a:p>
            <a:pPr algn="l">
              <a:spcAft>
                <a:spcPts val="400"/>
              </a:spcAft>
            </a:pPr>
            <a:r>
              <a:rPr sz="1800" b="0" i="0">
                <a:solidFill>
                  <a:srgbClr val="475569"/>
                </a:solidFill>
              </a:rPr>
              <a:t>Indian and other low-resource languages have limited synthesis support and poor voice quality.</a:t>
            </a:r>
          </a:p>
        </p:txBody>
      </p:sp>
      <p:sp>
        <p:nvSpPr>
          <p:cNvPr id="38" name="Rounded Rectangle 37"/>
          <p:cNvSpPr/>
          <p:nvPr/>
        </p:nvSpPr>
        <p:spPr>
          <a:xfrm>
            <a:off x="6199631"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365760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Text or speech, not both</a:t>
            </a:r>
          </a:p>
        </p:txBody>
      </p:sp>
      <p:sp>
        <p:nvSpPr>
          <p:cNvPr id="41" name="TextBox 40"/>
          <p:cNvSpPr txBox="1"/>
          <p:nvPr/>
        </p:nvSpPr>
        <p:spPr>
          <a:xfrm>
            <a:off x="6400799" y="4343400"/>
            <a:ext cx="5038344" cy="960119"/>
          </a:xfrm>
          <a:prstGeom prst="rect">
            <a:avLst/>
          </a:prstGeom>
          <a:noFill/>
        </p:spPr>
        <p:txBody>
          <a:bodyPr wrap="square" lIns="0" rIns="0" tIns="0" bIns="0" anchor="t">
            <a:spAutoFit/>
          </a:bodyPr>
          <a:lstStyle/>
          <a:p>
            <a:pPr algn="l">
              <a:spcAft>
                <a:spcPts val="400"/>
              </a:spcAft>
            </a:pPr>
            <a:r>
              <a:rPr sz="1800" b="0" i="0">
                <a:solidFill>
                  <a:srgbClr val="475569"/>
                </a:solidFill>
              </a:rPr>
              <a:t>Existing tools handle either text generation or speech synthesis, not both together.</a:t>
            </a:r>
          </a:p>
        </p:txBody>
      </p:sp>
      <p:sp>
        <p:nvSpPr>
          <p:cNvPr id="42" name="Rounded Rectangle 41"/>
          <p:cNvSpPr/>
          <p:nvPr/>
        </p:nvSpPr>
        <p:spPr>
          <a:xfrm>
            <a:off x="548640" y="5715000"/>
            <a:ext cx="11091672" cy="685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715000"/>
            <a:ext cx="10698480" cy="685800"/>
          </a:xfrm>
          <a:prstGeom prst="rect">
            <a:avLst/>
          </a:prstGeom>
          <a:noFill/>
        </p:spPr>
        <p:txBody>
          <a:bodyPr wrap="square" lIns="0" rIns="0" tIns="0" bIns="0" anchor="ctr">
            <a:spAutoFit/>
          </a:bodyPr>
          <a:lstStyle/>
          <a:p>
            <a:pPr algn="l">
              <a:spcAft>
                <a:spcPts val="400"/>
              </a:spcAft>
            </a:pPr>
            <a:r>
              <a:rPr sz="1400" b="0" i="0">
                <a:solidFill>
                  <a:srgbClr val="0F172A"/>
                </a:solidFill>
              </a:rPr>
              <a:t>The base paper adds: English-only target speech, no story generation or content control, and a GPU-scale model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Oval 25"/>
          <p:cNvSpPr/>
          <p:nvPr/>
        </p:nvSpPr>
        <p:spPr>
          <a:xfrm>
            <a:off x="548640" y="1280160"/>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27" name="TextBox 26"/>
          <p:cNvSpPr txBox="1"/>
          <p:nvPr/>
        </p:nvSpPr>
        <p:spPr>
          <a:xfrm>
            <a:off x="1417320" y="1188720"/>
            <a:ext cx="10195560" cy="914400"/>
          </a:xfrm>
          <a:prstGeom prst="rect">
            <a:avLst/>
          </a:prstGeom>
          <a:noFill/>
        </p:spPr>
        <p:txBody>
          <a:bodyPr wrap="square" lIns="0" rIns="0" tIns="0" bIns="0" anchor="ctr">
            <a:spAutoFit/>
          </a:bodyPr>
          <a:lstStyle/>
          <a:p>
            <a:pPr algn="l">
              <a:spcAft>
                <a:spcPts val="400"/>
              </a:spcAft>
            </a:pPr>
            <a:r>
              <a:rPr sz="1700" b="0" i="0">
                <a:solidFill>
                  <a:srgbClr val="0F172A"/>
                </a:solidFill>
              </a:rPr>
              <a:t>No surveyed system joins controllable story generation (language, style, length) to multilingual narration in one application that runs locally [6], [7], [8]</a:t>
            </a:r>
          </a:p>
        </p:txBody>
      </p:sp>
      <p:sp>
        <p:nvSpPr>
          <p:cNvPr id="28" name="Oval 27"/>
          <p:cNvSpPr/>
          <p:nvPr/>
        </p:nvSpPr>
        <p:spPr>
          <a:xfrm>
            <a:off x="548640" y="2304288"/>
            <a:ext cx="566928" cy="566928"/>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29" name="TextBox 28"/>
          <p:cNvSpPr txBox="1"/>
          <p:nvPr/>
        </p:nvSpPr>
        <p:spPr>
          <a:xfrm>
            <a:off x="1417320" y="2212848"/>
            <a:ext cx="10195560" cy="914400"/>
          </a:xfrm>
          <a:prstGeom prst="rect">
            <a:avLst/>
          </a:prstGeom>
          <a:noFill/>
        </p:spPr>
        <p:txBody>
          <a:bodyPr wrap="square" lIns="0" rIns="0" tIns="0" bIns="0" anchor="ctr">
            <a:spAutoFit/>
          </a:bodyPr>
          <a:lstStyle/>
          <a:p>
            <a:pPr algn="l">
              <a:spcAft>
                <a:spcPts val="400"/>
              </a:spcAft>
            </a:pPr>
            <a:r>
              <a:rPr sz="1700" b="0" i="0">
                <a:solidFill>
                  <a:srgbClr val="0F172A"/>
                </a:solidFill>
              </a:rPr>
              <a:t>The base paper translates speech into English only and has no story content or control; it needs a 1.7B-parameter model and an A100 GPU [1]</a:t>
            </a:r>
          </a:p>
        </p:txBody>
      </p:sp>
      <p:sp>
        <p:nvSpPr>
          <p:cNvPr id="30" name="Oval 29"/>
          <p:cNvSpPr/>
          <p:nvPr/>
        </p:nvSpPr>
        <p:spPr>
          <a:xfrm>
            <a:off x="548640" y="3328416"/>
            <a:ext cx="566928" cy="566928"/>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31" name="TextBox 30"/>
          <p:cNvSpPr txBox="1"/>
          <p:nvPr/>
        </p:nvSpPr>
        <p:spPr>
          <a:xfrm>
            <a:off x="1417320" y="3236976"/>
            <a:ext cx="10195560" cy="914400"/>
          </a:xfrm>
          <a:prstGeom prst="rect">
            <a:avLst/>
          </a:prstGeom>
          <a:noFill/>
        </p:spPr>
        <p:txBody>
          <a:bodyPr wrap="square" lIns="0" rIns="0" tIns="0" bIns="0" anchor="ctr">
            <a:spAutoFit/>
          </a:bodyPr>
          <a:lstStyle/>
          <a:p>
            <a:pPr algn="l">
              <a:spcAft>
                <a:spcPts val="400"/>
              </a:spcAft>
            </a:pPr>
            <a:r>
              <a:rPr sz="1700" b="0" i="0">
                <a:solidFill>
                  <a:srgbClr val="0F172A"/>
                </a:solidFill>
              </a:rPr>
              <a:t>Speech papers report MOS or CER on read sentences; none tells a user whether a story requested in Hindi or Korean really comes out in that language and is intelligible when spoken</a:t>
            </a:r>
          </a:p>
        </p:txBody>
      </p:sp>
      <p:sp>
        <p:nvSpPr>
          <p:cNvPr id="32" name="Oval 31"/>
          <p:cNvSpPr/>
          <p:nvPr/>
        </p:nvSpPr>
        <p:spPr>
          <a:xfrm>
            <a:off x="548640" y="4352544"/>
            <a:ext cx="566928" cy="566928"/>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4</a:t>
            </a:r>
          </a:p>
        </p:txBody>
      </p:sp>
      <p:sp>
        <p:nvSpPr>
          <p:cNvPr id="33" name="TextBox 32"/>
          <p:cNvSpPr txBox="1"/>
          <p:nvPr/>
        </p:nvSpPr>
        <p:spPr>
          <a:xfrm>
            <a:off x="1417320" y="4261104"/>
            <a:ext cx="10195560" cy="914400"/>
          </a:xfrm>
          <a:prstGeom prst="rect">
            <a:avLst/>
          </a:prstGeom>
          <a:noFill/>
        </p:spPr>
        <p:txBody>
          <a:bodyPr wrap="square" lIns="0" rIns="0" tIns="0" bIns="0" anchor="ctr">
            <a:spAutoFit/>
          </a:bodyPr>
          <a:lstStyle/>
          <a:p>
            <a:pPr algn="l">
              <a:spcAft>
                <a:spcPts val="400"/>
              </a:spcAft>
            </a:pPr>
            <a:r>
              <a:rPr sz="1700" b="0" i="0">
                <a:solidFill>
                  <a:srgbClr val="0F172A"/>
                </a:solidFill>
              </a:rPr>
              <a:t>Large systems rely on GPUs [1], [6]; a laptop-CPU pipeline with a small story model [12] is rarely measured end to end</a:t>
            </a:r>
          </a:p>
        </p:txBody>
      </p:sp>
      <p:sp>
        <p:nvSpPr>
          <p:cNvPr id="34" name="Oval 33"/>
          <p:cNvSpPr/>
          <p:nvPr/>
        </p:nvSpPr>
        <p:spPr>
          <a:xfrm>
            <a:off x="548640" y="5376672"/>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5</a:t>
            </a:r>
          </a:p>
        </p:txBody>
      </p:sp>
      <p:sp>
        <p:nvSpPr>
          <p:cNvPr id="35" name="TextBox 34"/>
          <p:cNvSpPr txBox="1"/>
          <p:nvPr/>
        </p:nvSpPr>
        <p:spPr>
          <a:xfrm>
            <a:off x="1417320" y="5285232"/>
            <a:ext cx="10195560" cy="914400"/>
          </a:xfrm>
          <a:prstGeom prst="rect">
            <a:avLst/>
          </a:prstGeom>
          <a:noFill/>
        </p:spPr>
        <p:txBody>
          <a:bodyPr wrap="square" lIns="0" rIns="0" tIns="0" bIns="0" anchor="ctr">
            <a:spAutoFit/>
          </a:bodyPr>
          <a:lstStyle/>
          <a:p>
            <a:pPr algn="l">
              <a:spcAft>
                <a:spcPts val="400"/>
              </a:spcAft>
            </a:pPr>
            <a:r>
              <a:rPr sz="1700" b="0" i="0">
                <a:solidFill>
                  <a:srgbClr val="0F172A"/>
                </a:solidFill>
              </a:rPr>
              <a:t>A speech recogniser can act as an objective judge of narration [11], but story pipelines seldom report round-trip WER/CER and timing together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8346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606040"/>
          </a:xfrm>
          <a:prstGeom prst="rect">
            <a:avLst/>
          </a:prstGeom>
          <a:noFill/>
        </p:spPr>
        <p:txBody>
          <a:bodyPr wrap="square" lIns="0" rIns="0" tIns="0" bIns="0" anchor="ctr">
            <a:spAutoFit/>
          </a:bodyPr>
          <a:lstStyle/>
          <a:p>
            <a:pPr algn="l" marL="256032" indent="-201168">
              <a:spcAft>
                <a:spcPts val="800"/>
              </a:spcAft>
              <a:buChar char="•"/>
            </a:pPr>
            <a:r>
              <a:rPr sz="1800" b="0" i="0">
                <a:solidFill>
                  <a:srgbClr val="0F172A"/>
                </a:solidFill>
              </a:rPr>
              <a:t>Producing multilingual stories manually requires writers and narrators for every language</a:t>
            </a:r>
          </a:p>
          <a:p>
            <a:pPr algn="l" marL="256032" indent="-201168">
              <a:spcAft>
                <a:spcPts val="800"/>
              </a:spcAft>
              <a:buChar char="•"/>
            </a:pPr>
            <a:r>
              <a:rPr sz="1800" b="0" i="0">
                <a:solidFill>
                  <a:srgbClr val="0F172A"/>
                </a:solidFill>
              </a:rPr>
              <a:t>Generic text-to-speech sounds mechanical and is unsuited to narrative delivery</a:t>
            </a:r>
          </a:p>
          <a:p>
            <a:pPr algn="l" marL="256032" indent="-201168">
              <a:spcAft>
                <a:spcPts val="800"/>
              </a:spcAft>
              <a:buChar char="•"/>
            </a:pPr>
            <a:r>
              <a:rPr sz="1800" b="0" i="0">
                <a:solidFill>
                  <a:srgbClr val="0F172A"/>
                </a:solidFill>
              </a:rPr>
              <a:t>Low-resource Indian languages have limited synthesis support and poor voice quality</a:t>
            </a:r>
          </a:p>
          <a:p>
            <a:pPr algn="l" marL="256032" indent="-201168">
              <a:spcAft>
                <a:spcPts val="800"/>
              </a:spcAft>
              <a:buChar char="•"/>
            </a:pPr>
            <a:r>
              <a:rPr sz="1800" b="0" i="0">
                <a:solidFill>
                  <a:srgbClr val="0F172A"/>
                </a:solidFill>
              </a:rPr>
              <a:t>Existing tools handle either text generation or speech synthesis, not both together</a:t>
            </a:r>
          </a:p>
          <a:p>
            <a:pPr algn="l" marL="256032" indent="-201168">
              <a:spcAft>
                <a:spcPts val="800"/>
              </a:spcAft>
              <a:buChar char="•"/>
            </a:pPr>
            <a:r>
              <a:rPr sz="1800" b="0" i="0">
                <a:solidFill>
                  <a:srgbClr val="0F172A"/>
                </a:solidFill>
              </a:rPr>
              <a:t>Need: a single system that generates a story from a prompt and narrates it naturally in the user's chosen language</a:t>
            </a:r>
          </a:p>
        </p:txBody>
      </p:sp>
      <p:sp>
        <p:nvSpPr>
          <p:cNvPr id="28" name="Rounded Rectangle 27"/>
          <p:cNvSpPr/>
          <p:nvPr/>
        </p:nvSpPr>
        <p:spPr>
          <a:xfrm>
            <a:off x="548640"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892040"/>
            <a:ext cx="3108960" cy="1234440"/>
          </a:xfrm>
          <a:prstGeom prst="rect">
            <a:avLst/>
          </a:prstGeom>
          <a:noFill/>
        </p:spPr>
        <p:txBody>
          <a:bodyPr wrap="square" lIns="0" rIns="0" tIns="0" bIns="0" anchor="t">
            <a:spAutoFit/>
          </a:bodyPr>
          <a:lstStyle/>
          <a:p>
            <a:pPr algn="l">
              <a:spcAft>
                <a:spcPts val="400"/>
              </a:spcAft>
            </a:pPr>
            <a:r>
              <a:rPr sz="1500" b="0" i="0">
                <a:solidFill>
                  <a:srgbClr val="475569"/>
                </a:solidFill>
              </a:rPr>
              <a:t>A story idea (up to 2,000 characters), one of 15 languages, one of 8 styles and one of 3 lengths</a:t>
            </a:r>
          </a:p>
        </p:txBody>
      </p:sp>
      <p:sp>
        <p:nvSpPr>
          <p:cNvPr id="31" name="Rounded Rectangle 30"/>
          <p:cNvSpPr/>
          <p:nvPr/>
        </p:nvSpPr>
        <p:spPr>
          <a:xfrm>
            <a:off x="4334255"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892040"/>
            <a:ext cx="3108960" cy="1234440"/>
          </a:xfrm>
          <a:prstGeom prst="rect">
            <a:avLst/>
          </a:prstGeom>
          <a:noFill/>
        </p:spPr>
        <p:txBody>
          <a:bodyPr wrap="square" lIns="0" rIns="0" tIns="0" bIns="0" anchor="t">
            <a:spAutoFit/>
          </a:bodyPr>
          <a:lstStyle/>
          <a:p>
            <a:pPr algn="l">
              <a:spcAft>
                <a:spcPts val="400"/>
              </a:spcAft>
            </a:pPr>
            <a:r>
              <a:rPr sz="1500" b="0" i="0">
                <a:solidFill>
                  <a:srgbClr val="475569"/>
                </a:solidFill>
              </a:rPr>
              <a:t>Story text with a title, a narration WAV, a saved library entry, and an evaluation report</a:t>
            </a:r>
          </a:p>
        </p:txBody>
      </p:sp>
      <p:sp>
        <p:nvSpPr>
          <p:cNvPr id="34" name="Rounded Rectangle 33"/>
          <p:cNvSpPr/>
          <p:nvPr/>
        </p:nvSpPr>
        <p:spPr>
          <a:xfrm>
            <a:off x="8119871"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Measures</a:t>
            </a:r>
          </a:p>
        </p:txBody>
      </p:sp>
      <p:sp>
        <p:nvSpPr>
          <p:cNvPr id="36" name="TextBox 35"/>
          <p:cNvSpPr txBox="1"/>
          <p:nvPr/>
        </p:nvSpPr>
        <p:spPr>
          <a:xfrm>
            <a:off x="8348471" y="4892040"/>
            <a:ext cx="3108960" cy="1234440"/>
          </a:xfrm>
          <a:prstGeom prst="rect">
            <a:avLst/>
          </a:prstGeom>
          <a:noFill/>
        </p:spPr>
        <p:txBody>
          <a:bodyPr wrap="square" lIns="0" rIns="0" tIns="0" bIns="0" anchor="t">
            <a:spAutoFit/>
          </a:bodyPr>
          <a:lstStyle/>
          <a:p>
            <a:pPr algn="l">
              <a:spcAft>
                <a:spcPts val="400"/>
              </a:spcAft>
            </a:pPr>
            <a:r>
              <a:rPr sz="1500" b="0" i="0">
                <a:solidFill>
                  <a:srgbClr val="475569"/>
                </a:solidFill>
              </a:rPr>
              <a:t>Real-time factor, WER and CER of the round trip, prompt-story similarity, ROUGE-L, latency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480560"/>
          </a:xfrm>
          <a:prstGeom prst="rect">
            <a:avLst/>
          </a:prstGeom>
          <a:noFill/>
        </p:spPr>
        <p:txBody>
          <a:bodyPr wrap="square" lIns="0" rIns="0" tIns="0" bIns="0" anchor="t">
            <a:spAutoFit/>
          </a:bodyPr>
          <a:lstStyle/>
          <a:p>
            <a:pPr algn="l">
              <a:spcAft>
                <a:spcPts val="1400"/>
              </a:spcAft>
            </a:pPr>
            <a:r>
              <a:rPr sz="2100" b="0" i="0">
                <a:solidFill>
                  <a:srgbClr val="0F172A"/>
                </a:solidFill>
              </a:rPr>
              <a:t>1.  Accept a user prompt specifying theme, characters and target language</a:t>
            </a:r>
          </a:p>
          <a:p>
            <a:pPr algn="l">
              <a:spcAft>
                <a:spcPts val="1400"/>
              </a:spcAft>
            </a:pPr>
            <a:r>
              <a:rPr sz="2100" b="0" i="0">
                <a:solidFill>
                  <a:srgbClr val="0F172A"/>
                </a:solidFill>
              </a:rPr>
              <a:t>2.  Generate coherent narrative text using a language model, with controls for length and reading level</a:t>
            </a:r>
          </a:p>
          <a:p>
            <a:pPr algn="l">
              <a:spcAft>
                <a:spcPts val="1400"/>
              </a:spcAft>
            </a:pPr>
            <a:r>
              <a:rPr sz="2100" b="0" i="0">
                <a:solidFill>
                  <a:srgbClr val="0F172A"/>
                </a:solidFill>
              </a:rPr>
              <a:t>3.  Translate the generated story into the selected target languages while preserving meaning</a:t>
            </a:r>
          </a:p>
          <a:p>
            <a:pPr algn="l">
              <a:spcAft>
                <a:spcPts val="1400"/>
              </a:spcAft>
            </a:pPr>
            <a:r>
              <a:rPr sz="2100" b="0" i="0">
                <a:solidFill>
                  <a:srgbClr val="0F172A"/>
                </a:solidFill>
              </a:rPr>
              <a:t>4.  Convert the story text into natural speech using multilingual text-to-speech synthesis</a:t>
            </a:r>
          </a:p>
          <a:p>
            <a:pPr algn="l">
              <a:spcAft>
                <a:spcPts val="1400"/>
              </a:spcAft>
            </a:pPr>
            <a:r>
              <a:rPr sz="2100" b="0" i="0">
                <a:solidFill>
                  <a:srgbClr val="0F172A"/>
                </a:solidFill>
              </a:rPr>
              <a:t>5.  Provide playback with adjustable voice, speed and language selection</a:t>
            </a:r>
          </a:p>
          <a:p>
            <a:pPr algn="l">
              <a:spcAft>
                <a:spcPts val="1400"/>
              </a:spcAft>
            </a:pPr>
            <a:r>
              <a:rPr sz="2100" b="0" i="0">
                <a:solidFill>
                  <a:srgbClr val="0F172A"/>
                </a:solidFill>
              </a:rPr>
              <a:t>6.  Evaluate narrative coherence, translation quality and speech naturalness through user rating</a:t>
            </a:r>
          </a:p>
        </p:txBody>
      </p:sp>
      <p:sp>
        <p:nvSpPr>
          <p:cNvPr id="27" name="TextBox 26"/>
          <p:cNvSpPr txBox="1"/>
          <p:nvPr/>
        </p:nvSpPr>
        <p:spPr>
          <a:xfrm>
            <a:off x="548640" y="5806440"/>
            <a:ext cx="11091672" cy="640080"/>
          </a:xfrm>
          <a:prstGeom prst="rect">
            <a:avLst/>
          </a:prstGeom>
          <a:noFill/>
        </p:spPr>
        <p:txBody>
          <a:bodyPr wrap="square" lIns="0" rIns="0" tIns="0" bIns="0" anchor="t">
            <a:spAutoFit/>
          </a:bodyPr>
          <a:lstStyle/>
          <a:p>
            <a:pPr algn="l">
              <a:spcAft>
                <a:spcPts val="400"/>
              </a:spcAft>
            </a:pPr>
            <a:r>
              <a:rPr sz="1300" b="0" i="1">
                <a:solidFill>
                  <a:srgbClr val="475569"/>
                </a:solidFill>
              </a:rPr>
              <a:t>Slide 14 states which objectives are met, partly met or not met in the system as built.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Prompt</a:t>
            </a:r>
          </a:p>
        </p:txBody>
      </p:sp>
      <p:sp>
        <p:nvSpPr>
          <p:cNvPr id="29" name="TextBox 28"/>
          <p:cNvSpPr txBox="1"/>
          <p:nvPr/>
        </p:nvSpPr>
        <p:spPr>
          <a:xfrm>
            <a:off x="749808" y="2194560"/>
            <a:ext cx="2231136" cy="2377440"/>
          </a:xfrm>
          <a:prstGeom prst="rect">
            <a:avLst/>
          </a:prstGeom>
          <a:noFill/>
        </p:spPr>
        <p:txBody>
          <a:bodyPr wrap="square" lIns="0" rIns="0" tIns="0" bIns="0" anchor="t">
            <a:spAutoFit/>
          </a:bodyPr>
          <a:lstStyle/>
          <a:p>
            <a:pPr algn="l">
              <a:spcAft>
                <a:spcPts val="400"/>
              </a:spcAft>
            </a:pPr>
            <a:r>
              <a:rPr sz="1600" b="0" i="0">
                <a:solidFill>
                  <a:srgbClr val="475569"/>
                </a:solidFill>
              </a:rPr>
              <a:t>The idea, language, style and length become one instruction with a 'Title:' first-line rule and a paragraph target of 3, 5 or 8.</a:t>
            </a:r>
          </a:p>
        </p:txBody>
      </p:sp>
      <p:sp>
        <p:nvSpPr>
          <p:cNvPr id="30" name="Rounded Rectangle 29"/>
          <p:cNvSpPr/>
          <p:nvPr/>
        </p:nvSpPr>
        <p:spPr>
          <a:xfrm>
            <a:off x="3364992"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Write</a:t>
            </a:r>
          </a:p>
        </p:txBody>
      </p:sp>
      <p:sp>
        <p:nvSpPr>
          <p:cNvPr id="33" name="TextBox 32"/>
          <p:cNvSpPr txBox="1"/>
          <p:nvPr/>
        </p:nvSpPr>
        <p:spPr>
          <a:xfrm>
            <a:off x="3566160" y="2194560"/>
            <a:ext cx="2231136" cy="2377440"/>
          </a:xfrm>
          <a:prstGeom prst="rect">
            <a:avLst/>
          </a:prstGeom>
          <a:noFill/>
        </p:spPr>
        <p:txBody>
          <a:bodyPr wrap="square" lIns="0" rIns="0" tIns="0" bIns="0" anchor="t">
            <a:spAutoFit/>
          </a:bodyPr>
          <a:lstStyle/>
          <a:p>
            <a:pPr algn="l">
              <a:spcAft>
                <a:spcPts val="400"/>
              </a:spcAft>
            </a:pPr>
            <a:r>
              <a:rPr sz="1600" b="0" i="0">
                <a:solidFill>
                  <a:srgbClr val="475569"/>
                </a:solidFill>
              </a:rPr>
              <a:t>Qwen3-0.6B generates 220, 420 or 700 tokens (temperature 0.8, top-p 0.9). If the output is under 20 words or the model fails, an offline composer answers.</a:t>
            </a:r>
          </a:p>
        </p:txBody>
      </p:sp>
      <p:sp>
        <p:nvSpPr>
          <p:cNvPr id="34" name="Rounded Rectangle 33"/>
          <p:cNvSpPr/>
          <p:nvPr/>
        </p:nvSpPr>
        <p:spPr>
          <a:xfrm>
            <a:off x="6181344"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Narrate</a:t>
            </a:r>
          </a:p>
        </p:txBody>
      </p:sp>
      <p:sp>
        <p:nvSpPr>
          <p:cNvPr id="37" name="TextBox 36"/>
          <p:cNvSpPr txBox="1"/>
          <p:nvPr/>
        </p:nvSpPr>
        <p:spPr>
          <a:xfrm>
            <a:off x="6382512" y="2194560"/>
            <a:ext cx="2231136" cy="2377440"/>
          </a:xfrm>
          <a:prstGeom prst="rect">
            <a:avLst/>
          </a:prstGeom>
          <a:noFill/>
        </p:spPr>
        <p:txBody>
          <a:bodyPr wrap="square" lIns="0" rIns="0" tIns="0" bIns="0" anchor="t">
            <a:spAutoFit/>
          </a:bodyPr>
          <a:lstStyle/>
          <a:p>
            <a:pPr algn="l">
              <a:spcAft>
                <a:spcPts val="400"/>
              </a:spcAft>
            </a:pPr>
            <a:r>
              <a:rPr sz="1600" b="0" i="0">
                <a:solidFill>
                  <a:srgbClr val="475569"/>
                </a:solidFill>
              </a:rPr>
              <a:t>MMS-TTS (VITS) speaks the text in 380-character chunks at 16 kHz; an OS voice is the fallback. The WAV and a library row are saved.</a:t>
            </a:r>
          </a:p>
        </p:txBody>
      </p:sp>
      <p:sp>
        <p:nvSpPr>
          <p:cNvPr id="38" name="Rounded Rectangle 37"/>
          <p:cNvSpPr/>
          <p:nvPr/>
        </p:nvSpPr>
        <p:spPr>
          <a:xfrm>
            <a:off x="8997696"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Evaluate</a:t>
            </a:r>
          </a:p>
        </p:txBody>
      </p:sp>
      <p:sp>
        <p:nvSpPr>
          <p:cNvPr id="41" name="TextBox 40"/>
          <p:cNvSpPr txBox="1"/>
          <p:nvPr/>
        </p:nvSpPr>
        <p:spPr>
          <a:xfrm>
            <a:off x="9198864" y="2194560"/>
            <a:ext cx="2231136" cy="2377440"/>
          </a:xfrm>
          <a:prstGeom prst="rect">
            <a:avLst/>
          </a:prstGeom>
          <a:noFill/>
        </p:spPr>
        <p:txBody>
          <a:bodyPr wrap="square" lIns="0" rIns="0" tIns="0" bIns="0" anchor="t">
            <a:spAutoFit/>
          </a:bodyPr>
          <a:lstStyle/>
          <a:p>
            <a:pPr algn="l">
              <a:spcAft>
                <a:spcPts val="400"/>
              </a:spcAft>
            </a:pPr>
            <a:r>
              <a:rPr sz="1600" b="0" i="0">
                <a:solidFill>
                  <a:srgbClr val="475569"/>
                </a:solidFill>
              </a:rPr>
              <a:t>Whisper-small transcribes the audio back; WER, CER, real-time factor, similarity and ROUGE-L are computed and stored.</a:t>
            </a:r>
          </a:p>
        </p:txBody>
      </p:sp>
      <p:sp>
        <p:nvSpPr>
          <p:cNvPr id="42" name="Rounded Rectangle 41"/>
          <p:cNvSpPr/>
          <p:nvPr/>
        </p:nvSpPr>
        <p:spPr>
          <a:xfrm>
            <a:off x="548640" y="4892040"/>
            <a:ext cx="11091672" cy="1280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51663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UI</a:t>
            </a:r>
          </a:p>
        </p:txBody>
      </p:sp>
      <p:sp>
        <p:nvSpPr>
          <p:cNvPr id="44" name="TextBox 43"/>
          <p:cNvSpPr txBox="1"/>
          <p:nvPr/>
        </p:nvSpPr>
        <p:spPr>
          <a:xfrm>
            <a:off x="1645920" y="5029200"/>
            <a:ext cx="9784080" cy="411480"/>
          </a:xfrm>
          <a:prstGeom prst="rect">
            <a:avLst/>
          </a:prstGeom>
          <a:noFill/>
        </p:spPr>
        <p:txBody>
          <a:bodyPr wrap="square" lIns="0" rIns="0" tIns="0" bIns="0" anchor="t">
            <a:spAutoFit/>
          </a:bodyPr>
          <a:lstStyle/>
          <a:p>
            <a:pPr algn="l">
              <a:spcAft>
                <a:spcPts val="400"/>
              </a:spcAft>
            </a:pPr>
            <a:r>
              <a:rPr sz="1600" b="1" i="0">
                <a:solidFill>
                  <a:srgbClr val="0F172A"/>
                </a:solidFill>
              </a:rPr>
              <a:t>FastAPI service + React app for the whole pipeline</a:t>
            </a:r>
          </a:p>
        </p:txBody>
      </p:sp>
      <p:sp>
        <p:nvSpPr>
          <p:cNvPr id="45" name="TextBox 44"/>
          <p:cNvSpPr txBox="1"/>
          <p:nvPr/>
        </p:nvSpPr>
        <p:spPr>
          <a:xfrm>
            <a:off x="1645920" y="5440680"/>
            <a:ext cx="9784080" cy="685800"/>
          </a:xfrm>
          <a:prstGeom prst="rect">
            <a:avLst/>
          </a:prstGeom>
          <a:noFill/>
        </p:spPr>
        <p:txBody>
          <a:bodyPr wrap="square" lIns="0" rIns="0" tIns="0" bIns="0" anchor="t">
            <a:spAutoFit/>
          </a:bodyPr>
          <a:lstStyle/>
          <a:p>
            <a:pPr algn="l">
              <a:spcAft>
                <a:spcPts val="400"/>
              </a:spcAft>
            </a:pPr>
            <a:r>
              <a:rPr sz="1400" b="0" i="0">
                <a:solidFill>
                  <a:srgbClr val="475569"/>
                </a:solidFill>
              </a:rPr>
              <a:t>Studio (write and narrate), History (library with playback), Story detail and Evaluation pages. Everything runs locally after the one-time model download; no GPU is required.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storyvox_r1_01.png"/>
          <p:cNvPicPr>
            <a:picLocks noChangeAspect="1"/>
          </p:cNvPicPr>
          <p:nvPr/>
        </p:nvPicPr>
        <p:blipFill>
          <a:blip r:embed="rId1"/>
          <a:stretch>
            <a:fillRect/>
          </a:stretch>
        </p:blipFill>
        <p:spPr>
          <a:xfrm>
            <a:off x="548640" y="1210899"/>
            <a:ext cx="7498079" cy="5167721"/>
          </a:xfrm>
          <a:prstGeom prst="rect">
            <a:avLst/>
          </a:prstGeom>
        </p:spPr>
      </p:pic>
      <p:sp>
        <p:nvSpPr>
          <p:cNvPr id="27" name="TextBox 26"/>
          <p:cNvSpPr txBox="1"/>
          <p:nvPr/>
        </p:nvSpPr>
        <p:spPr>
          <a:xfrm>
            <a:off x="8275320" y="1371600"/>
            <a:ext cx="3383280" cy="4754880"/>
          </a:xfrm>
          <a:prstGeom prst="rect">
            <a:avLst/>
          </a:prstGeom>
          <a:noFill/>
        </p:spPr>
        <p:txBody>
          <a:bodyPr wrap="square" lIns="0" rIns="0" tIns="0" bIns="0" anchor="t">
            <a:spAutoFit/>
          </a:bodyPr>
          <a:lstStyle/>
          <a:p>
            <a:pPr algn="l">
              <a:spcAft>
                <a:spcPts val="800"/>
              </a:spcAft>
            </a:pPr>
            <a:r>
              <a:rPr sz="1500" b="1" i="0">
                <a:solidFill>
                  <a:srgbClr val="0F172A"/>
                </a:solidFill>
              </a:rPr>
              <a:t>Layers</a:t>
            </a:r>
          </a:p>
          <a:p>
            <a:pPr algn="l" marL="256032" indent="-201168">
              <a:spcAft>
                <a:spcPts val="400"/>
              </a:spcAft>
              <a:buChar char="•"/>
            </a:pPr>
            <a:r>
              <a:rPr sz="1500" b="0" i="0">
                <a:solidFill>
                  <a:srgbClr val="0F172A"/>
                </a:solidFill>
              </a:rPr>
              <a:t>React app on port 5402 (the API also serves the built bundle).</a:t>
            </a:r>
          </a:p>
          <a:p>
            <a:pPr algn="l" marL="256032" indent="-201168">
              <a:spcAft>
                <a:spcPts val="400"/>
              </a:spcAft>
              <a:buChar char="•"/>
            </a:pPr>
            <a:r>
              <a:rPr sz="1500" b="0" i="0">
                <a:solidFill>
                  <a:srgbClr val="0F172A"/>
                </a:solidFill>
              </a:rPr>
              <a:t>FastAPI on port 8402: 11 routes plus an SPA fallback.</a:t>
            </a:r>
          </a:p>
          <a:p>
            <a:pPr algn="l" marL="256032" indent="-201168">
              <a:spcAft>
                <a:spcPts val="400"/>
              </a:spcAft>
              <a:buChar char="•"/>
            </a:pPr>
            <a:r>
              <a:rPr sz="1500" b="0" i="0">
                <a:solidFill>
                  <a:srgbClr val="0F172A"/>
                </a:solidFill>
              </a:rPr>
              <a:t>Services: story generator, TTS provider chain, ASR and evaluation.</a:t>
            </a:r>
          </a:p>
          <a:p>
            <a:pPr algn="l" marL="256032" indent="-201168">
              <a:spcAft>
                <a:spcPts val="400"/>
              </a:spcAft>
              <a:buChar char="•"/>
            </a:pPr>
            <a:r>
              <a:rPr sz="1500" b="0" i="0">
                <a:solidFill>
                  <a:srgbClr val="0F172A"/>
                </a:solidFill>
              </a:rPr>
              <a:t>SQLite with three tables (stories, audio_outputs, evaluations); WAV files on disk.</a:t>
            </a:r>
          </a:p>
          <a:p>
            <a:pPr algn="l" marL="256032" indent="-201168">
              <a:spcAft>
                <a:spcPts val="400"/>
              </a:spcAft>
              <a:buChar char="•"/>
            </a:pPr>
            <a:r>
              <a:rPr sz="1500" b="0" i="0">
                <a:solidFill>
                  <a:srgbClr val="0F172A"/>
                </a:solidFill>
              </a:rPr>
              <a:t>Hugging Face models downloaded once, then used offline.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Outcomes measured so far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platform</a:t>
            </a:r>
          </a:p>
        </p:txBody>
      </p:sp>
      <p:sp>
        <p:nvSpPr>
          <p:cNvPr id="29" name="TextBox 28"/>
          <p:cNvSpPr txBox="1"/>
          <p:nvPr/>
        </p:nvSpPr>
        <p:spPr>
          <a:xfrm>
            <a:off x="749808" y="2240280"/>
            <a:ext cx="3118104" cy="1417319"/>
          </a:xfrm>
          <a:prstGeom prst="rect">
            <a:avLst/>
          </a:prstGeom>
          <a:noFill/>
        </p:spPr>
        <p:txBody>
          <a:bodyPr wrap="square" lIns="0" rIns="0" tIns="0" bIns="0" anchor="t">
            <a:spAutoFit/>
          </a:bodyPr>
          <a:lstStyle/>
          <a:p>
            <a:pPr algn="l">
              <a:spcAft>
                <a:spcPts val="400"/>
              </a:spcAft>
            </a:pPr>
            <a:r>
              <a:rPr sz="1400" b="0" i="0">
                <a:solidFill>
                  <a:srgbClr val="475569"/>
                </a:solidFill>
              </a:rPr>
              <a:t>11 routes, 5 pages, 15 languages, 8 styles, 3 lengths; 29 of 29 tests pass (8 original, 21 added).</a:t>
            </a:r>
          </a:p>
        </p:txBody>
      </p:sp>
      <p:sp>
        <p:nvSpPr>
          <p:cNvPr id="30" name="Rounded Rectangle 29"/>
          <p:cNvSpPr/>
          <p:nvPr/>
        </p:nvSpPr>
        <p:spPr>
          <a:xfrm>
            <a:off x="4334255"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Narration</a:t>
            </a:r>
          </a:p>
        </p:txBody>
      </p:sp>
      <p:sp>
        <p:nvSpPr>
          <p:cNvPr id="33" name="TextBox 32"/>
          <p:cNvSpPr txBox="1"/>
          <p:nvPr/>
        </p:nvSpPr>
        <p:spPr>
          <a:xfrm>
            <a:off x="4535423" y="2240280"/>
            <a:ext cx="3118104" cy="1417319"/>
          </a:xfrm>
          <a:prstGeom prst="rect">
            <a:avLst/>
          </a:prstGeom>
          <a:noFill/>
        </p:spPr>
        <p:txBody>
          <a:bodyPr wrap="square" lIns="0" rIns="0" tIns="0" bIns="0" anchor="t">
            <a:spAutoFit/>
          </a:bodyPr>
          <a:lstStyle/>
          <a:p>
            <a:pPr algn="l">
              <a:spcAft>
                <a:spcPts val="400"/>
              </a:spcAft>
            </a:pPr>
            <a:r>
              <a:rPr sz="1400" b="0" i="0">
                <a:solidFill>
                  <a:srgbClr val="475569"/>
                </a:solidFill>
              </a:rPr>
              <a:t>12 languages use MMS: mean RTF 0.247, mean CER 8.8%. English WER 20.6%, CER 9.1% (10 FLEURS sentences).</a:t>
            </a:r>
          </a:p>
        </p:txBody>
      </p:sp>
      <p:sp>
        <p:nvSpPr>
          <p:cNvPr id="34" name="Rounded Rectangle 33"/>
          <p:cNvSpPr/>
          <p:nvPr/>
        </p:nvSpPr>
        <p:spPr>
          <a:xfrm>
            <a:off x="8119871"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Story language</a:t>
            </a:r>
          </a:p>
        </p:txBody>
      </p:sp>
      <p:sp>
        <p:nvSpPr>
          <p:cNvPr id="37" name="TextBox 36"/>
          <p:cNvSpPr txBox="1"/>
          <p:nvPr/>
        </p:nvSpPr>
        <p:spPr>
          <a:xfrm>
            <a:off x="8321040" y="2240280"/>
            <a:ext cx="3118104" cy="1417319"/>
          </a:xfrm>
          <a:prstGeom prst="rect">
            <a:avLst/>
          </a:prstGeom>
          <a:noFill/>
        </p:spPr>
        <p:txBody>
          <a:bodyPr wrap="square" lIns="0" rIns="0" tIns="0" bIns="0" anchor="t">
            <a:spAutoFit/>
          </a:bodyPr>
          <a:lstStyle/>
          <a:p>
            <a:pPr algn="l">
              <a:spcAft>
                <a:spcPts val="400"/>
              </a:spcAft>
            </a:pPr>
            <a:r>
              <a:rPr sz="1400" b="0" i="0">
                <a:solidFill>
                  <a:srgbClr val="475569"/>
                </a:solidFill>
              </a:rPr>
              <a:t>The shipped prompt gives target-language text in only 3 of 17 test cases; the chat template gives 8. Titles often read 'Untitled Story'.</a:t>
            </a:r>
          </a:p>
        </p:txBody>
      </p:sp>
      <p:sp>
        <p:nvSpPr>
          <p:cNvPr id="38" name="Rounded Rectangle 37"/>
          <p:cNvSpPr/>
          <p:nvPr/>
        </p:nvSpPr>
        <p:spPr>
          <a:xfrm>
            <a:off x="548640"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1605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Language mismatch</a:t>
            </a:r>
          </a:p>
        </p:txBody>
      </p:sp>
      <p:sp>
        <p:nvSpPr>
          <p:cNvPr id="41" name="TextBox 40"/>
          <p:cNvSpPr txBox="1"/>
          <p:nvPr/>
        </p:nvSpPr>
        <p:spPr>
          <a:xfrm>
            <a:off x="749808" y="4846320"/>
            <a:ext cx="5038344" cy="1188719"/>
          </a:xfrm>
          <a:prstGeom prst="rect">
            <a:avLst/>
          </a:prstGeom>
          <a:noFill/>
        </p:spPr>
        <p:txBody>
          <a:bodyPr wrap="square" lIns="0" rIns="0" tIns="0" bIns="0" anchor="t">
            <a:spAutoFit/>
          </a:bodyPr>
          <a:lstStyle/>
          <a:p>
            <a:pPr algn="l">
              <a:spcAft>
                <a:spcPts val="400"/>
              </a:spcAft>
            </a:pPr>
            <a:r>
              <a:rPr sz="1600" b="0" i="0">
                <a:solidFill>
                  <a:srgbClr val="475569"/>
                </a:solidFill>
              </a:rPr>
              <a:t>4 of 4 non-English API stories came out in English; the Hindi voice produced 4.4 s of audio for 185 words.</a:t>
            </a:r>
          </a:p>
        </p:txBody>
      </p:sp>
      <p:sp>
        <p:nvSpPr>
          <p:cNvPr id="42" name="Rounded Rectangle 41"/>
          <p:cNvSpPr/>
          <p:nvPr/>
        </p:nvSpPr>
        <p:spPr>
          <a:xfrm>
            <a:off x="6199631"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00799" y="4160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7040879"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Not implemented</a:t>
            </a:r>
          </a:p>
        </p:txBody>
      </p:sp>
      <p:sp>
        <p:nvSpPr>
          <p:cNvPr id="45" name="TextBox 44"/>
          <p:cNvSpPr txBox="1"/>
          <p:nvPr/>
        </p:nvSpPr>
        <p:spPr>
          <a:xfrm>
            <a:off x="6400799" y="4846320"/>
            <a:ext cx="5038344" cy="1188719"/>
          </a:xfrm>
          <a:prstGeom prst="rect">
            <a:avLst/>
          </a:prstGeom>
          <a:noFill/>
        </p:spPr>
        <p:txBody>
          <a:bodyPr wrap="square" lIns="0" rIns="0" tIns="0" bIns="0" anchor="t">
            <a:spAutoFit/>
          </a:bodyPr>
          <a:lstStyle/>
          <a:p>
            <a:pPr algn="l">
              <a:spcAft>
                <a:spcPts val="400"/>
              </a:spcAft>
            </a:pPr>
            <a:r>
              <a:rPr sz="1600" b="0" i="0">
                <a:solidFill>
                  <a:srgbClr val="475569"/>
                </a:solidFill>
              </a:rPr>
              <a:t>No translation module, voice or speed selection, user rating or reference-audio upload. Italian, Chinese and Japanese have no MMS checkpoint.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097280"/>
            <a:ext cx="11091672" cy="5394960"/>
          </a:xfrm>
          <a:prstGeom prst="rect">
            <a:avLst/>
          </a:prstGeom>
          <a:noFill/>
        </p:spPr>
        <p:txBody>
          <a:bodyPr wrap="square" lIns="0" rIns="0" tIns="0" bIns="0" anchor="t">
            <a:spAutoFit/>
          </a:bodyPr>
          <a:lstStyle/>
          <a:p>
            <a:pPr algn="l">
              <a:spcAft>
                <a:spcPts val="300"/>
              </a:spcAft>
            </a:pPr>
            <a:r>
              <a:rPr sz="1200" b="0" i="0">
                <a:solidFill>
                  <a:srgbClr val="0F172A"/>
                </a:solidFill>
              </a:rPr>
              <a:t>[1] C. Tran and S. Sakti, "SAM Translator: Self-paced learning and mixture-of-experts for cross-lingual text-to-speech translation," IEEE Access, vol. 14, pp. 2742-2752, 2026, doi: 10.1109/ACCESS.2025.3644647.</a:t>
            </a:r>
          </a:p>
          <a:p>
            <a:pPr algn="l">
              <a:spcAft>
                <a:spcPts val="300"/>
              </a:spcAft>
            </a:pPr>
            <a:r>
              <a:rPr sz="1200" b="0" i="0">
                <a:solidFill>
                  <a:srgbClr val="0F172A"/>
                </a:solidFill>
              </a:rPr>
              <a:t>[2] "AI-based multilingual story generation and speech synthesis system," International Journal of Data Science and IoT Management System, 2026 (title only; not located online).</a:t>
            </a:r>
          </a:p>
          <a:p>
            <a:pPr algn="l">
              <a:spcAft>
                <a:spcPts val="300"/>
              </a:spcAft>
            </a:pPr>
            <a:r>
              <a:rPr sz="1200" b="0" i="0">
                <a:solidFill>
                  <a:srgbClr val="0F172A"/>
                </a:solidFill>
              </a:rPr>
              <a:t>[3] J. Park and K. Nakamura, "EmoSSLSphere: Multilingual emotional speech synthesis with spherical vectors and discrete speech tokens," in Proc. 13th ISCA Speech Synthesis Workshop (SSW), 2025, arXiv:2508.11273.</a:t>
            </a:r>
          </a:p>
          <a:p>
            <a:pPr algn="l">
              <a:spcAft>
                <a:spcPts val="300"/>
              </a:spcAft>
            </a:pPr>
            <a:r>
              <a:rPr sz="1200" b="0" i="0">
                <a:solidFill>
                  <a:srgbClr val="0F172A"/>
                </a:solidFill>
              </a:rPr>
              <a:t>[4] "Multilingual text-to-speech system for programming languages using RAG and neural speech synthesis," Progressive Computational Intelligence, Information Technology and Networking, 2026 (title only; not located online).</a:t>
            </a:r>
          </a:p>
          <a:p>
            <a:pPr algn="l">
              <a:spcAft>
                <a:spcPts val="300"/>
              </a:spcAft>
            </a:pPr>
            <a:r>
              <a:rPr sz="1200" b="0" i="0">
                <a:solidFill>
                  <a:srgbClr val="0F172A"/>
                </a:solidFill>
              </a:rPr>
              <a:t>[5] "Vividtalker: Improving zero-shot text-driven motion generation in the framework of speech-text-guided motion synthesis," 2025 (title only; not located online).</a:t>
            </a:r>
          </a:p>
          <a:p>
            <a:pPr algn="l">
              <a:spcAft>
                <a:spcPts val="300"/>
              </a:spcAft>
            </a:pPr>
            <a:r>
              <a:rPr sz="1200" b="0" i="0">
                <a:solidFill>
                  <a:srgbClr val="0F172A"/>
                </a:solidFill>
              </a:rPr>
              <a:t>[6] H. Zhu, L. Ye, W. Kang, Z. Yao, L. Guo, F. Kuang, Z. Han, W. Zhuang, L. Lin and D. Povey, "OmniVoice: Towards omnilingual zero-shot text-to-speech with diffusion language models," arXiv:2604.00688, Apr. 2026.</a:t>
            </a:r>
          </a:p>
          <a:p>
            <a:pPr algn="l">
              <a:spcAft>
                <a:spcPts val="300"/>
              </a:spcAft>
            </a:pPr>
            <a:r>
              <a:rPr sz="1200" b="0" i="0">
                <a:solidFill>
                  <a:srgbClr val="0F172A"/>
                </a:solidFill>
              </a:rPr>
              <a:t>[7] X. Gao, H. Zhang and N. F. Chen, "MultiGen: Child-friendly multilingual speech generator with LLMs," in Companion Proc. 27th Int. Conf. Multimodal Interaction (ICMI Companion '25), Canberra, Australia, Oct. 2025, doi: 10.1145/3747327.3764897.</a:t>
            </a:r>
          </a:p>
          <a:p>
            <a:pPr algn="l">
              <a:spcAft>
                <a:spcPts val="300"/>
              </a:spcAft>
            </a:pPr>
            <a:r>
              <a:rPr sz="1200" b="0" i="0">
                <a:solidFill>
                  <a:srgbClr val="0F172A"/>
                </a:solidFill>
              </a:rPr>
              <a:t>[8] S. Arif, M. S. Haroon, A. J. Khan, T. Arif, A. A. Raza and A. Athar, "Kahaani: A multimodal co-creative storytelling system," arXiv:2409.11261, 2024 (rev. Feb. 2026).</a:t>
            </a:r>
          </a:p>
          <a:p>
            <a:pPr algn="l">
              <a:spcAft>
                <a:spcPts val="300"/>
              </a:spcAft>
            </a:pPr>
            <a:r>
              <a:rPr sz="1200" b="0" i="0">
                <a:solidFill>
                  <a:srgbClr val="0F172A"/>
                </a:solidFill>
              </a:rPr>
              <a:t>[9] J. Kim, J. Kong and J. Son, "Conditional variational autoencoder with adversarial learning for end-to-end text-to-speech," in Proc. 38th Int. Conf. Machine Learning (ICML), PMLR vol. 139, Jul. 2021, pp. 5530-5540.</a:t>
            </a:r>
          </a:p>
          <a:p>
            <a:pPr algn="l">
              <a:spcAft>
                <a:spcPts val="300"/>
              </a:spcAft>
            </a:pPr>
            <a:r>
              <a:rPr sz="1200" b="0" i="0">
                <a:solidFill>
                  <a:srgbClr val="0F172A"/>
                </a:solidFill>
              </a:rPr>
              <a:t>[10] V. Pratap et al., "Scaling speech technology to 1,000+ languages," Journal of Machine Learning Research, vol. 25, no. 97, pp. 1-52, 2024.</a:t>
            </a:r>
          </a:p>
          <a:p>
            <a:pPr algn="l">
              <a:spcAft>
                <a:spcPts val="300"/>
              </a:spcAft>
            </a:pPr>
            <a:r>
              <a:rPr sz="1200" b="0" i="0">
                <a:solidFill>
                  <a:srgbClr val="0F172A"/>
                </a:solidFill>
              </a:rPr>
              <a:t>[11] A. Radford, J. W. Kim, T. Xu, G. Brockman, C. McLeavey and I. Sutskever, "Robust speech recognition via large-scale weak supervision," in Proc. 40th Int. Conf. Machine Learning (ICML), PMLR vol. 202, 2023, pp. 28492-28518.</a:t>
            </a:r>
          </a:p>
          <a:p>
            <a:pPr algn="l">
              <a:spcAft>
                <a:spcPts val="300"/>
              </a:spcAft>
            </a:pPr>
            <a:r>
              <a:rPr sz="1200" b="0" i="0">
                <a:solidFill>
                  <a:srgbClr val="0F172A"/>
                </a:solidFill>
              </a:rPr>
              <a:t>[12] A. Yang et al., "Qwen3 technical report," arXiv:2505.09388, May 2025.</a:t>
            </a:r>
          </a:p>
          <a:p>
            <a:pPr algn="l">
              <a:spcAft>
                <a:spcPts val="300"/>
              </a:spcAft>
            </a:pPr>
            <a:r>
              <a:rPr sz="1200" b="0" i="0">
                <a:solidFill>
                  <a:srgbClr val="0F172A"/>
                </a:solidFill>
              </a:rPr>
              <a:t>[16] A. Conneau, M. Ma, S. Khanuja, Y. Zhang, V. Axelrod, S. Dalmia, J. Riesa, C. Rivera and A. Bapna, "FLEURS: Few-shot learning evaluation of universal representations of speech," in Proc. IEEE Spoken Language Technology Workshop (SLT), 2022, arXiv:2205.12446.</a:t>
            </a:r>
          </a:p>
          <a:p>
            <a:pPr algn="l">
              <a:spcAft>
                <a:spcPts val="300"/>
              </a:spcAft>
            </a:pPr>
            <a:r>
              <a:rPr sz="1200" b="0" i="0">
                <a:solidFill>
                  <a:srgbClr val="0F172A"/>
                </a:solidFill>
              </a:rPr>
              <a:t>[19] R. Eldan and Y. Li, "TinyStories: How small can language models be and still speak coherent English?," arXiv:2305.07759, 2023.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toryVox">
  <a:themeElements>
    <a:clrScheme name="StoryVox">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StoryVo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toryVox">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Multilingual Story Generation and Speech System: Review 1</dc:title>
  <dc:subject>Batch C2 (CSE-C)</dc:subject>
  <dc:creator>Lingala Sindhu, Padige Ajay, Mahek Ansari, Maheshwaram Hari Krishna</dc:creator>
  <cp:lastModifiedBy/>
  <cp:revision>1</cp:revision>
  <dcterms:created xsi:type="dcterms:W3CDTF">2026-10-13T12:36:40Z</dcterms:created>
  <dcterms:modified xsi:type="dcterms:W3CDTF">2026-10-13T12:36:40Z</dcterms:modified>
  <cp:keywords>multilingual story generation, text-to-speech, MMS-TTS, Qwen3, Whisper, speech evaluation</cp:keywords>
  <dc:description/>
</cp:coreProperties>
</file>