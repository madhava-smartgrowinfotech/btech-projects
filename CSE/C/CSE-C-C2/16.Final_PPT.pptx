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0-1.jpg" ContentType="image/jpg"/>
  <Override PartName="/ppt/media/image-11-1.jpg" ContentType="image/jpg"/>
  <Override PartName="/ppt/media/image-12-1.jpg" ContentType="image/jpg"/>
  <Override PartName="/ppt/media/image-13-1.jpg" ContentType="image/jpg"/>
  <Override PartName="/ppt/media/image-14-1.jpg" ContentType="image/jpg"/>
  <Override PartName="/ppt/media/image-15-1.jpg" ContentType="image/jpg"/>
  <Override PartName="/ppt/media/image-16-1.jpg" ContentType="image/jpg"/>
  <Override PartName="/ppt/media/image-17-1.jpg" ContentType="image/jpg"/>
  <Override PartName="/ppt/media/image-18-1.jpg" ContentType="image/jpg"/>
  <Override PartName="/ppt/media/image-19-1.jpg" ContentType="image/jpg"/>
  <Override PartName="/ppt/media/image-2-1.jpg" ContentType="image/jpg"/>
  <Override PartName="/ppt/media/image-20-1.jpg" ContentType="image/jpg"/>
  <Override PartName="/ppt/media/image-21-1.jpg" ContentType="image/jpg"/>
  <Override PartName="/ppt/media/image-22-1.jpg" ContentType="image/jpg"/>
  <Override PartName="/ppt/media/image-23-1.jpg" ContentType="image/jpg"/>
  <Override PartName="/ppt/media/image-24-1.jpg" ContentType="image/jpg"/>
  <Override PartName="/ppt/media/image-25-1.jpg" ContentType="image/jpg"/>
  <Override PartName="/ppt/media/image-26-1.jpg" ContentType="image/jpg"/>
  <Override PartName="/ppt/media/image-27-1.jpg" ContentType="image/jpg"/>
  <Override PartName="/ppt/media/image-28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 and StoryVox: a local pipeline from a story idea to a story and its narration in 15 languages, measured honestly on a laptop 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agenda follows the report: problem, design, method, results, comparison, screens,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Give the product, then the honest result: narration works and is fast enough; the small story model mostly ignores the requested language; three objectives are not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Tran and Sakti, IEEE Access 2026, the base paper named in the batch documents. StoryVox shares the goal of multilingual speech output and the ASR round trip as a check; it trains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Eight of the fifteen surveyed works. Speech models, an ASR judge and a small story model are all published and reusable; none joins them for story narration and measures the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gap is the join and the measurement, not any single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explicit: translation, voice/speed choice and user rating were objectives but are not in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chains. The fallbacks are why a missing checkpoint produced speech in the wrong voice instead of an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tiers on one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Method in one picture. There is no training configuration: these are inference 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FLEURS is read speech of Wikipedia-style sentences, so it measures narration clarity, not story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two decisions that shape results: when the composer replaces the model, and when the OS voice replaces MMS.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Sequence of one generate-and-narrate request, and the use cases the product supports. There is no use case for translation, voice choice or rating.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tables. The ER diagram mirrors app/models.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Strengths on the left, defects found while measuring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Ten FLEURS sentences per language through the app's own services. 12 MMS languages are scored; the hatched bars are the fallback voice.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main weakness: the 0.6B model, given the shipped raw prompt, ignores the language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Left: per language, was it spoken, how clear, and did the story match. Right: the stories made through the API, scored by a separate script because the app's evaluation fails on long audio.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chat template removes instruction echo and raises language match but is not what the product ships. Time grows about linearly with the token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Cheap endpoints answer in milliseconds; the time is in the two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plainly: no score is comparable. SAM is trained, translates into English and reports BLEU; StoryVox trains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captures of the running app with the stories generated during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Success on the left, failure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dash is the defect, not missing data: the app's evaluation cannot transcribe story-length audio.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 explicit about which objectives were met, partly met or not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Limitations first, then future work drawn from the measured defects.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Selected references; the complete numbered list is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5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16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18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20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1373177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Story Generation and Speech System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2379017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 ·  StoryVox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11053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 : Batch C2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522017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23K91A05D3   LINGALA SINDHU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23K91A05H8   PADIGE AJAY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23K91A05D8   MAHEK ANSARI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23K91A05D9   MAHESHWARAM HARI KRISHNA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75120" y="3110537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Esteemed Guidance of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Tejaswini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[DESIGNATION], Department of CSE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 ·  TKR College of Engineering &amp; Technology  ·  Academic Year [ACADEMIC YEAR]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738937"/>
            <a:ext cx="11064240" cy="45247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&amp; Literature Survey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Gap, Problem Statement &amp; Objectives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&amp; Architecture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Data &amp; Models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Workflow, Interaction &amp; Data Design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Narration, Language Match, Parameter Analysis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Future Scope &amp; References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115568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 learner or listener who wants a story in their own language, spoken aloud, has to chain a writing tool, a translator and a voice. StoryVox joins the steps in one local application: a story idea goes to a small language model (Qwen3-0.6B), the text goes to a per-language neural voice (MMS-TTS), and a recogniser (Whisper-small) checks the round trip.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Narration is the strong part: on 10 FLEURS sentences per language, the 12 languages narrated by MMS run at a mean real-time factor of 0.247 on a CPU, with a mean normalised CER of 8.8% (best Spanish 2.1%, worst Hindi 17.9%).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Generation is the weak part: with the shipped prompt the 0.6B model answered in the requested language for only 3 of 17 prompts (the chat-template experiment: 8); all 4 of 4 non-English stories made through the API came out in English and were read by the foreign voice.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Translation, voice or speed selection and user ratings, listed in the objectives, are not implemented. The app's own evaluation shows no WER/CER for story-length audio.</a:t>
            </a:r>
          </a:p>
          <a:p>
            <a:pPr algn="l" marL="256032" indent="-201168">
              <a:spcAft>
                <a:spcPts val="9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29 pytest tests pass; 11 real screenshots; every number comes from runs on the project's own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C. Tran and S. Sakti, "SAM Translator: Self-paced learning and mixture-of-experts for cross-lingual text-to-speech translation," IEEE Access, vol. 14, pp. 2742-2752, 2026, doi: 10.1109/ACCESS.2025.3644647.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377440"/>
          <a:ext cx="11155680" cy="3840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4480"/>
                <a:gridCol w="9601200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Base paper: SAM Translator, cross-lingual text-to-speech translation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Method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mBART text-to-unit model with a sparse mixture of 8 experts (top-2 routing), self-paced learning (SPL) and data-augmented self-training (DAST); HuBERT units + Grad-TTS vocoder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CVSS-C (21 source languages to English speech) and CoVoST-2; BLEU of the ASR transcript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611M-parameter baseline, 1.7B-parameter MoE; one A100 80 GB, about 1.5-2 days of training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Reported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SPL improved 18 of 21 languages; relative BLEU gains about +2-3% (high-resource) and +7-10% (low-resource); naturalness 4.12 vs 4.15 (10 listeners)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Stated limits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English is the only target; it translates but does not write stories or take style / length controls; DAST with 15K pairs lowered some languages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200"/>
          <a:ext cx="11155680" cy="45262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86000"/>
                <a:gridCol w="4572000"/>
                <a:gridCol w="429768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Approach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Limitation relevant here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Zhu et al., OmniVoice [6]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Zero-shot TTS: non-autoregressive masked-diffusion language model over 8-codebook acoustic tokens, bidirectional...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Trained on 8 H800 GPUs for 9.66 days; speech generation only, no story text; the authors flag misuse risk of voice...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Gao, Zhang and Chen, MultiGen [7]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Child-friendly multilingual speech generator: LLM speech-token model fine-tuned from CosyVoice-300M with child...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Three languages; relies on collected child-speech data that is not public; no story generation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Arif et al., Kahaani [8]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Co-creative storytelling for children: LLM story co-creation with text-to-speech, text-to-music and text-to-video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English-language learning focus; the arXiv page does not report multilingual narration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Kim, Kong and Son, VITS [9]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End-to-end TTS: conditional VAE with normalising flow, adversarial training and a stochastic duration predictor, so...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Single language per checkpoint; quality depends on the training corpus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Pratap et al., MMS [10]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Massively multilingual speech: wav2vec 2.0 pre-training, ASR and VITS-based TTS checkpoints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Per-language checkpoints are single-speaker and narrow in domain; some scripts need romanisation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Radford et al., Whisper [11]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Encoder-decoder Transformer ASR trained with weak supervision on web audio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Error rates differ widely between languages; can hallucinate on poor audio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Yang et al., Qwen3 [12]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Open decoder-only language-model family with dense and mixture-of-experts variants and a thinking / non-thinking switch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The smallest model (0.6B) is far weaker than the flagship; needs the chat template to follow instructions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Eldan and Li, TinyStories [19]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Shows that very small language models trained on synthetic children's stories produce fluent, consistent short stories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English only; the stories come from a restricted vocabulary and domain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Problem Statement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486400" cy="44805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Research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512064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Speech-translation papers report BLEU on benchmark corpora; TTS papers report MOS or CER on read sentences.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LLM + speech systems for children exist, but are not published as a locally runnable tool with a measured pipeline.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Nothing tells a user whether a story requested in Hindi or Korean comes out in that language, is intelligible when spoken, and finishes in practical time on a laptop CPU.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486400" cy="4480560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12064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0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Writing, translating and voicing a story are separate tools, each with its own account, cost and language coverage.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 learner or listener needs one system: idea in, story in the chosen language out, spoken, saved and checkable.</a:t>
            </a:r>
          </a:p>
          <a:p>
            <a:pPr algn="l" marL="256032" indent="-201168">
              <a:spcAft>
                <a:spcPts val="1000"/>
              </a:spcAft>
              <a:buChar char="•"/>
            </a:pPr>
            <a:r>
              <a:rPr sz="16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It must run without a cloud account, keep text and audio on the machine, and report honest quality numbers.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and Their Status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45920"/>
          <a:ext cx="11155680" cy="39684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57200"/>
                <a:gridCol w="4206240"/>
                <a:gridCol w="2103120"/>
                <a:gridCol w="438912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#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Objective (batch documents)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Status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What exists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Accept a user prompt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Achieved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Studio page, 2,000-character limit, validated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Story with length and reading-level controls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Partly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 lengths and 8 styles; no reading-level control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Translate into target languages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Not implemented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 translation module; the language is requested in the prompt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Convert the story to speech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Achieved (12 of 15)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MMS-TTS for 12 languages; it, zh, ja use an OS voice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Playback with adjustable voice, speed, language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Partly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Browser player and WAV download; no voice or speed choice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Evaluate coherence, translation, naturalness via user rating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Partly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Automated WER/CER, similarity, ROUGE-L, RTF; no user rating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71500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Also not implemented: reference-audio upload / voice cloning. Status is stated against the code, not the abstract.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Story pipeline (Studio)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Idea + language, style, length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70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07919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Prompt builder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75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12919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Qwen3-0.6B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80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19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Parse title / body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85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22920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MMS-TTS narration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790175" y="223570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27919" y="196596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Save + play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9260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Evaluation pipeline (Evaluation page)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Fixed prompts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170175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407919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Story + narration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075175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12919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Whisper-small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80175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19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WER / CER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885175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22920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Similarity, ROUGE-L, RTF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790175" y="356158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27919" y="3291840"/>
            <a:ext cx="163068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Saved JSON + CSV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389120"/>
            <a:ext cx="111556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7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Two fallbacks keep the app working: an offline composer replaces a model output under 20 words or a failed pipeline; an OS voice replaces a missing speech checkpoint.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Text, audio and the SQLite library stay on the machine; models are downloaded once from Hugging Face.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model is trained or fine-tuned: StoryVox is a cascade of pretrained models behind a web application.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7" name="Picture 6" descr="01_system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703277"/>
            <a:ext cx="6583680" cy="45487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69480" y="1783080"/>
            <a:ext cx="448056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Web app: React 19 + Vite, port 5402; 5 pages (Landing, Studio, History, Story detail, Evaluation)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API: FastAPI + Uvicorn, port 8402; 11 routes plus a single-page-app fallback; no sign-in (single-user tool)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Services: story generator, TTS providers, ASR, evaluation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Storage: SQLite (stories, audio_outputs, evaluations); WAV files and evaluation JSON / CSV on disk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Models run in-process on the CPU after a one-time download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7" name="Picture 6" descr="02_high_level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05029"/>
            <a:ext cx="6675120" cy="37623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737360"/>
            <a:ext cx="42976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Prompt: instruction text built from idea, language, style and length (220 / 420 / 700 new tokens); raw text, no chat template.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Sampling: temperature 0.8, top-p 0.9.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Narration: text split into chunks of up to 380 characters, one VITS call each, peak-normalised to 0.9, joined with 0.25 s pauses, 16 kHz.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3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Check: Whisper-small transcript against the source text (WER, CER); RTF = synthesis time / audio duration.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Models and Tools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73152" cy="914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00784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languages x 10 FLEURS sentences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164592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2560320" y="1645920"/>
            <a:ext cx="73152" cy="9144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43200" y="1700784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17 x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1762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story prompts x conditions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164592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617720" y="1645920"/>
            <a:ext cx="73152" cy="9144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800600" y="1700784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17627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models trained or tuned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02920" y="2743200"/>
          <a:ext cx="6400800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40"/>
                <a:gridCol w="49377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Item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Detail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Story model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Qwen/Qwen3-0.6B (transformers pipeline) + offline composer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Speech models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facebook/mms-tts-* (VITS), 12 languages; OS voice for it, zh, ja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Recogniser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openai/whisper-small; jiwer WER / CER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Similarity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multilingual MiniLM (TF-IDF proxy offline); ROUGE-L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Test 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FLEURS test split (CC BY 4.0), first 10 length-filtered sentences per language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Machine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i5-12500, 12 threads, 15.7 GB RAM, CPU only; Python 3.11.9, torch 2.14.1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20" name="Picture 19" descr="12_mode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744010"/>
            <a:ext cx="4480560" cy="309565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269480" y="512064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No training data exist in this project; every model is used as published.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Workflow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7" name="Picture 6" descr="10_flowchart_algorith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883" y="1600200"/>
            <a:ext cx="5497032" cy="4297680"/>
          </a:xfrm>
          <a:prstGeom prst="rect">
            <a:avLst/>
          </a:prstGeom>
        </p:spPr>
      </p:pic>
      <p:pic>
        <p:nvPicPr>
          <p:cNvPr id="8" name="Picture 7" descr="11_flowchart_tts_evalu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619319"/>
            <a:ext cx="5577840" cy="42594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9436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Story path: model output, parse, fall back to the composer if under 20 words.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59436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Narration and evaluation path: MMS, then OS voice; Whisper scores the audio.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- System Interaction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7" name="Picture 6" descr="07_sequenc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37" y="1645920"/>
            <a:ext cx="5343525" cy="4663440"/>
          </a:xfrm>
          <a:prstGeom prst="rect">
            <a:avLst/>
          </a:prstGeom>
        </p:spPr>
      </p:pic>
      <p:pic>
        <p:nvPicPr>
          <p:cNvPr id="8" name="Picture 7" descr="08_use_c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224485"/>
            <a:ext cx="5212080" cy="35063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7" name="Picture 6" descr="09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50907"/>
            <a:ext cx="6583680" cy="38305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577840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stories 1-to-many audio_outputs; evaluations stand alone. SQLite foreign keys are declared but not switched on, so deletion removes the audio rows in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737360"/>
            <a:ext cx="438912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stories: prompt, title, text, language, style, length, word count, generation time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audio_outputs: WAV path, duration, sample rate, TTS model, synthesis time, RTF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evaluations: type, language, sample count, metrics JSON, created time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Files: data/audio/*.wav and data/evaluations/*.json + CSV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73152" cy="914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11 routes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REST API + SPA fallback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45920"/>
            <a:ext cx="73152" cy="9144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29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8 API + 21 unit, all 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45920"/>
            <a:ext cx="73152" cy="9144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15 / 8 /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languages / styles / lengths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45920"/>
            <a:ext cx="2651760" cy="91440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45920"/>
            <a:ext cx="73152" cy="91440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19" y="1700784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CPU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21762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GPU needed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834640"/>
            <a:ext cx="54864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TTSProvider abstract class: MMS (VITS) first, OS voice second; each can be replaced.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chunk_text keeps sentences whole, splits on '.', '!', '?' and the Devanagari danda.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Silence check: a narration that is silent is rejected, never saved.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Models are loaded once and cached; the first request pays the load.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834640"/>
            <a:ext cx="54864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Validation: language, style and length are checked; empty or over-long prompts return HTTP 422.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Audio route resolves paths inside the audio folder only (escape attempts rejected).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Evaluation reloads the similarity model on every call and reads audio with a plain Whisper call, which rejects clips over 30 s.</a:t>
            </a:r>
          </a:p>
          <a:p>
            <a:pPr algn="l" marL="256032" indent="-201168">
              <a:spcAft>
                <a:spcPts val="700"/>
              </a:spcAft>
              <a:buChar char="•"/>
            </a:pPr>
            <a:r>
              <a:rPr sz="14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ffmpeg and uroman are needed but not in requirements.txt.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- Narration Speed and Intelligibility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2651760" cy="86868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73152" cy="868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655064"/>
            <a:ext cx="2377440" cy="4777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0.247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0403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mean RTF, 12 MMS languages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00200"/>
            <a:ext cx="2651760" cy="86868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37560" y="1600200"/>
            <a:ext cx="73152" cy="86868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20440" y="1655064"/>
            <a:ext cx="2377440" cy="4777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8.8%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0403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mean normalised CER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00200"/>
            <a:ext cx="2651760" cy="86868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600200"/>
            <a:ext cx="73152" cy="8686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55080" y="1655064"/>
            <a:ext cx="2377440" cy="4777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20.6% / 9.1%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0403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English WER / CER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600200"/>
            <a:ext cx="2651760" cy="86868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006840" y="1600200"/>
            <a:ext cx="73152" cy="86868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19" y="1655064"/>
            <a:ext cx="2377440" cy="4777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0.46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2104034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Korean RTF (slowest MMS)</a:t>
            </a:r>
          </a:p>
        </p:txBody>
      </p:sp>
      <p:pic>
        <p:nvPicPr>
          <p:cNvPr id="23" name="Picture 22" descr="f01_rtf_by_langu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720340"/>
            <a:ext cx="5669280" cy="2834640"/>
          </a:xfrm>
          <a:prstGeom prst="rect">
            <a:avLst/>
          </a:prstGeom>
        </p:spPr>
      </p:pic>
      <p:pic>
        <p:nvPicPr>
          <p:cNvPr id="24" name="Picture 23" descr="f02_wer_cer_by_langu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9233" y="2606040"/>
            <a:ext cx="5655212" cy="30632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02920" y="576072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RTF below 1 means faster than real time. WER/CER mix the speech model's error with Whisper-small's own, whose floor was not measured separately. Italian, Chinese and Japanese bars are the OS fallback voice.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- Did the Story Come Out in the Requested Language?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7" name="Picture 6" descr="f07_language_ma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810" y="1600200"/>
            <a:ext cx="986790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892040"/>
            <a:ext cx="11155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5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Shipped path (A): the requested language in 3 of 17 stories (English only). Chat template (B, experiment): 8 of 17 - English, Spanish, German, Portuguese, Dutch, Chinese. Offline composer (C): English only.</a:t>
            </a:r>
          </a:p>
          <a:p>
            <a:pPr algn="l" marL="256032" indent="-201168">
              <a:spcAft>
                <a:spcPts val="5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Through the API, 4 of 4 non-English stories (hi, fr, de, es) were English text, so the French, German and Spanish voices read English.</a:t>
            </a:r>
          </a:p>
          <a:p>
            <a:pPr algn="l" marL="256032" indent="-201168">
              <a:spcAft>
                <a:spcPts val="5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Language detection is unreliable on very short text; chat-template output in Hindi, Arabic, Korean and others was English on inspection too.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- Per-Language Outcome (Confusion-Matrix Equivalent)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554480"/>
          <a:ext cx="5486400" cy="45354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48640"/>
                <a:gridCol w="640080"/>
                <a:gridCol w="731520"/>
                <a:gridCol w="640080"/>
                <a:gridCol w="640080"/>
                <a:gridCol w="640080"/>
                <a:gridCol w="822960"/>
                <a:gridCol w="822960"/>
              </a:tblGrid>
              <a:tr h="28346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Lang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Voice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Spoken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RTF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Story 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Story B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10/10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0.23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0.21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0.09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hi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10/10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0.23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0.46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0.18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10/10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0.23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0.08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0.02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10/10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0.23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0.16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0.06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10/10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0.22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0.21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0.09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10/10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0.16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0.49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0.14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10/10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0.23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0.14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0.06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ru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10/10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0.23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0.23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0.06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10/10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0.22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0.31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0.09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10/10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0.23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0.28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0.08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10/10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0.23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0.33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0.12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10/10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0.23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0.31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0.08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zh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2/10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3.33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0.85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ja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OS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1/10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4.98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-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1.00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ko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MMS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10/10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0.46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0.28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0.12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20840" y="15544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Story-length audio (API stories, chunked Whisper)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720840" y="1920240"/>
          <a:ext cx="4572000" cy="24871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40080"/>
                <a:gridCol w="822960"/>
                <a:gridCol w="777240"/>
                <a:gridCol w="868680"/>
                <a:gridCol w="731520"/>
                <a:gridCol w="73152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Req.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Text in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Words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Audio 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WER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CER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181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0.28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133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0.15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0.08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hi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185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1.00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1.00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140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0.60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0.52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156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1.34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1.15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191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72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0.91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0.69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335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118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0.32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0.28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720840" y="4572000"/>
            <a:ext cx="5029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5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English stories: mean WER 0.25, CER 0.21.</a:t>
            </a:r>
          </a:p>
          <a:p>
            <a:pPr algn="l" marL="256032" indent="-201168">
              <a:spcAft>
                <a:spcPts val="5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Hindi voice made 4.4 s of audio from 185 English words; fr / de / es WER 0.6-1.3.</a:t>
            </a:r>
          </a:p>
          <a:p>
            <a:pPr algn="l" marL="256032" indent="-201168">
              <a:spcAft>
                <a:spcPts val="500"/>
              </a:spcAft>
              <a:buChar char="•"/>
            </a:pPr>
            <a:r>
              <a:rPr sz="12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app's own evaluation reports no WER/CER for these clips (over 30 s).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Analysis - Prompt Path and Story Length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7" name="Picture 6" descr="f03_story_condi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21206"/>
            <a:ext cx="5760720" cy="2335427"/>
          </a:xfrm>
          <a:prstGeom prst="rect">
            <a:avLst/>
          </a:prstGeom>
        </p:spPr>
      </p:pic>
      <p:pic>
        <p:nvPicPr>
          <p:cNvPr id="8" name="Picture 7" descr="f04_length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320" y="1600200"/>
            <a:ext cx="5364480" cy="3017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4069080"/>
            <a:ext cx="56692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500"/>
              </a:spcAft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A (shipped): 22.7 s, instruction echo 0.097, distinct-2 0.79.</a:t>
            </a:r>
          </a:p>
          <a:p>
            <a:pPr algn="l" marL="256032" indent="-201168">
              <a:spcAft>
                <a:spcPts val="500"/>
              </a:spcAft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B (chat template): 21.5 s, echo 0.006, distinct-2 0.96.</a:t>
            </a:r>
          </a:p>
          <a:p>
            <a:pPr algn="l" marL="256032" indent="-201168">
              <a:spcAft>
                <a:spcPts val="500"/>
              </a:spcAft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 (composer): instant, 96 words; similarity 0.68 only because it quotes the idea.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4709160"/>
            <a:ext cx="53949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500"/>
              </a:spcAft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Length: Short 37 s (175 words, 59 s audio); Medium 60 s (316 words, 96 s audio); Long 80 s (418 words, 137 s audio).</a:t>
            </a:r>
          </a:p>
          <a:p>
            <a:pPr algn="l" marL="256032" indent="-201168">
              <a:spcAft>
                <a:spcPts val="500"/>
              </a:spcAft>
              <a:buChar char="•"/>
            </a:pPr>
            <a:r>
              <a:rPr sz="12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Chunk size (380 characters) and temperature were fixed, not swept.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Testing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pic>
        <p:nvPicPr>
          <p:cNvPr id="7" name="Picture 6" descr="f05_api_late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645919"/>
            <a:ext cx="5852160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92240" y="1600200"/>
            <a:ext cx="2514600" cy="86868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92240" y="1600200"/>
            <a:ext cx="73152" cy="86868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0" y="1655064"/>
            <a:ext cx="2240280" cy="4777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29 /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04034"/>
            <a:ext cx="2240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pytest tests pass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600200"/>
            <a:ext cx="2514600" cy="86868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9144000" y="1600200"/>
            <a:ext cx="73152" cy="8686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0" y="1655064"/>
            <a:ext cx="2240280" cy="4777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42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104034"/>
            <a:ext cx="2240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first (cold) generate call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606040"/>
            <a:ext cx="2514600" cy="86868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492240" y="2606040"/>
            <a:ext cx="73152" cy="868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75120" y="2660904"/>
            <a:ext cx="2240280" cy="4777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23-67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109874"/>
            <a:ext cx="2240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warm generate + narrate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2606040"/>
            <a:ext cx="2514600" cy="868680"/>
          </a:xfrm>
          <a:prstGeom prst="roundRect">
            <a:avLst>
              <a:gd name="adj" fmla="val 5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9144000" y="2606040"/>
            <a:ext cx="73152" cy="868680"/>
          </a:xfrm>
          <a:prstGeom prst="rect">
            <a:avLst/>
          </a:prstGeom>
          <a:solidFill>
            <a:srgbClr val="6B5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0" y="2660904"/>
            <a:ext cx="2240280" cy="4777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1.9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109874"/>
            <a:ext cx="2240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median list 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754880"/>
            <a:ext cx="111556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5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Short story end to end 37 s on a CPU (generation 22 s, narration 15 s); narration RTF about 0.25.</a:t>
            </a:r>
          </a:p>
          <a:p>
            <a:pPr algn="l" marL="256032" indent="-201168">
              <a:spcAft>
                <a:spcPts val="5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Tests use stubbed models (validation, helpers, composer in 15 languages, API edge cases); the real models are exercised by the experiment scripts, not by pytest.</a:t>
            </a:r>
          </a:p>
          <a:p>
            <a:pPr algn="l" marL="256032" indent="-201168">
              <a:spcAft>
                <a:spcPts val="500"/>
              </a:spcAft>
              <a:buChar char="•"/>
            </a:pPr>
            <a:r>
              <a:rPr sz="13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Not done: load test, security audit, user study.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 Paper (context only - nothing is score-comparable)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45920"/>
          <a:ext cx="11155680" cy="380390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4572000"/>
                <a:gridCol w="47548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SAM Translator (base paper)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StoryVox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Task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Speech translation into English speech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Story generation + narration in 15 languages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Method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mBART + SPL + 8-expert MoE + DAST (trained)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Pretrained Qwen3-0.6B + MMS-TTS cascade (nothing trained)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Scale / compute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611M and 1.7B parameters; A100, 1.5-2 days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0.6B story model + small VITS models; laptop CPU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Data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CVSS-C, CoVoST-2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FLEURS test sentences (10 per language)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Metric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BLEU of the ASR transcript; MOS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TTS-to-ASR WER / CER, RTF, language match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SPL helped 18 of 21 languages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MMS: RTF 0.247, CER 8.8%; story language match 3/17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Shared idea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Transcribe the speech with an ASR model to check it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Same round-trip check, with Whisper-small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577840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The two work on different tasks, data and metrics, so no score is compared. The comparison is of design: an end-to-end trained model against a cascade of pretrained models, and the cost each needs.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- Studio and Story Library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7" name="Picture 6" descr="03_studio_result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504" y="1600200"/>
            <a:ext cx="481035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04_history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664" y="1600200"/>
            <a:ext cx="481035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11480" y="516636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Studio: a Medium English adventure with audio player, WAV download and 'voice facebook/mms-tts-eng' (335 words, about 2 min). The title is 'Untitled Story'.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516636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Library: seven real stories (English, Spanish, German, French, Hindi) with play, download and delete.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- Story Pages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pic>
        <p:nvPicPr>
          <p:cNvPr id="7" name="Picture 6" descr="05_story_detail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504" y="1600200"/>
            <a:ext cx="481035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10_story_detail_hindi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664" y="1600200"/>
            <a:ext cx="481035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11480" y="516636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Story detail for an English story with its narration.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516636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Hindi request: the text is English and the Hindi voice speaks 4.4 s of audio for 185 words - the language-mismatch failure, shown as it appeared.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- Evaluation Page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7" name="Picture 6" descr="06_evaluation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504" y="1600200"/>
            <a:ext cx="481035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pic>
        <p:nvPicPr>
          <p:cNvPr id="8" name="Picture 7" descr="08_evaluation_samples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664" y="1600200"/>
            <a:ext cx="4810350" cy="3429000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11480" y="516636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Evaluation run of 5 samples: similarity 0.524; WER and CER show a dash because Whisper rejected the clips over 30 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516636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Per-sample rows: model, latency, RTF and the ASR error for each sample.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StoryVox is a working, tested local application that joins story generation and multilingual narration; its measurements show narration is the reliable half and generation with a 0.6B model is the weak half.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514600"/>
          <a:ext cx="11155680" cy="3200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57200"/>
                <a:gridCol w="3840480"/>
                <a:gridCol w="685800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#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Objective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</a:rPr>
                        <a:t>Outcome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DEEA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Accept a user prompt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Length and reading-level controls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Partly: 3 lengths, 8 styles; no reading level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Translate into target languages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Not met: no translation module; model mostly answers in English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Convert to speech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Met for 12 languages (RTF 0.25, CER 8.8%); it, zh, ja use an OS voice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Adjustable voice, speed, language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Partly: player and download only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Evaluate with user rating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Partly: automated metrics only; WER/CER missing for long audio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Key finding: language selection works in the speech step but not in the story step.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Scope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486400" cy="44805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Known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51206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Qwen3-0.6B ignores the language request with the shipped prompt; titles often 'Untitled Story'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MMS checkpoint for it, zh, ja; OS voice gives 2/10 zh and 1/10 ja sentences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Evaluation cannot score audio over 30 s; ffmpeg and uroman undeclared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10 sentences per language; Whisper's own error floor not separated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No human rating of story quality; metrics are proxies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Tests use stubs; CPU only; broken project .venv on the test machine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486400" cy="4480560"/>
          </a:xfrm>
          <a:prstGeom prst="roundRect">
            <a:avLst>
              <a:gd name="adj" fmla="val 4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1206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Use the chat template, a larger story model, or generate in English and translate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Chunked ASR (chunk_length_s=30) in the evaluation; declare ffmpeg and uroman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Voice and speed controls; other TTS engines for it, zh, ja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User rating of coherence and naturalness; reading-level control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Cache the similarity model; add a GPU path and a load test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Reference-audio voice cloning; authentication and multi-user mode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098857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C2  |  Final Review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4864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[1] C. Tran and S. Sakti, "SAM Translator: Self-paced learning and mixture-of-experts for cross-lingual text-to-speech translation," IEEE Access, vol. 14, pp. 2742-2752, 2026, doi: 10.1109/ACCESS.2025.3644647.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[6] H. Zhu, L. Ye, W. Kang, Z. Yao, L. Guo, F. Kuang, Z. Han, W. Zhuang, L. Lin and D. Povey, "OmniVoice: Towards omnilingual zero-shot text-to-speech with diffusion language models," arXiv:2604.00688, Apr. 2026.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[7] X. Gao, H. Zhang and N. F. Chen, "MultiGen: Child-friendly multilingual speech generator with LLMs," in Companion Proc. 27th Int. Conf. Multimodal Interaction (ICMI Companion '25), Canberra, Australia, Oct. 2025, doi: 10.1145/3747327.3764897.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[8] S. Arif, M. S. Haroon, A. J. Khan, T. Arif, A. A. Raza and A. Athar, "Kahaani: A multimodal co-creative storytelling system," arXiv:2409.11261, 2024 (rev. Feb. 2026).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[9] J. Kim, J. Kong and J. Son, "Conditional variational autoencoder with adversarial learning for end-to-end text-to-speech," in Proc. 38th Int. Conf. Machine Learning (ICML), PMLR vol. 139, Jul. 2021, pp. 5530-5540.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[10] V. Pratap et al., "Scaling speech technology to 1,000+ languages," Journal of Machine Learning Research, vol. 25, no. 97, pp. 1-52, 2024.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[11] A. Radford, J. W. Kim, T. Xu, G. Brockman, C. McLeavey and I. Sutskever, "Robust speech recognition via large-scale weak supervision," in Proc. 40th Int. Conf. Machine Learning (ICML), PMLR vol. 202, 2023, pp. 28492-28518.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[12] A. Yang et al., "Qwen3 technical report," arXiv:2505.09388, May 2025.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[14] N. Reimers and I. Gurevych, "Making monolingual sentence embeddings multilingual using knowledge distillation," in Proc. Conf. Empirical Methods in Natural Language Processing (EMNLP), 2020, pp. 4512-4525.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[16] A. Conneau, M. Ma, S. Khanuja, Y. Zhang, V. Axelrod, S. Dalmia, J. Riesa, C. Rivera and A. Bapna, "FLEURS: Few-shot learning evaluation of universal representations of speech," in Proc. IEEE Spoken Language Technology Workshop (SLT), 2022, arXiv:2205.12446.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[19] R. Eldan and Y. Li, "TinyStories: How small can language models be and still speak coherent English?," arXiv:2305.07759, 2023.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[21] A. Holtzman, J. Buys, L. Du, M. Forbes and Y. Choi, "The curious case of neural text degeneration," in Proc. 8th Int. Conf. Learning Representations (ICLR), 2020.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[29] W.-N. Hsu, B. Bolte, Y.-H. H. Tsai, K. Lakhotia, R. Salakhutdinov and A. Mohamed, "HuBERT: Self-supervised speech representation learning by masked prediction of hidden units," IEEE/ACM Trans. Audio, Speech, and Language Processing, vol. 29, pp. 3451-3460, 2021.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[30] Y. Liu, J. Gu, N. Goyal, X. Li, S. Edunov, M. Ghazvininejad, M. Lewis and L. Zettlemoyer, "Multilingual denoising pre-training for neural machine translation," Trans. Association for Computational Linguistics, vol. 8, pp. 726-742, 2020.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[32] N. Shazeer, A. Mirhoseini, K. Maziarz, A. Davis, Q. Le, G. Hinton and J. Dean, "Outrageously large neural networks: The sparsely-gated mixture-of-experts layer," in Proc. 5th Int. Conf. Learning Representations (ICLR), 2017.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[18] A. Vaswani et al., "Attention is all you need," in Proc. Advances in Neural Information Processing Systems (NIPS), 2017, pp. 5998-6008.</a:t>
            </a:r>
          </a:p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The full numbered list of 33 references, including the batch survey titles [2]-[5], is in the report.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vaishanavi\CSE-D\CSE-D-D1\doc_generator\college_bann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9608" y="73152"/>
            <a:ext cx="8412480" cy="870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979985"/>
            <a:ext cx="11457432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Batch C2  |  Final Review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oryVox">
  <a:themeElements>
    <a:clrScheme name="StoryVo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oryVox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StoryVox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Multilingual Story Generation and Speech System - Final Review</dc:title>
  <dc:subject>StoryVox</dc:subject>
  <dc:creator>Batch C2, Dept. of CSE, TKRCET</dc:creator>
  <cp:lastModifiedBy>Batch C2, Dept. of CSE, TKRCET</cp:lastModifiedBy>
  <cp:revision>1</cp:revision>
  <dcterms:created xsi:type="dcterms:W3CDTF">2026-10-07T05:03:03Z</dcterms:created>
  <dcterms:modified xsi:type="dcterms:W3CDTF">2026-10-07T05:03:03Z</dcterms:modified>
  <dc:description/>
  <cp:keywords>story generation, multilingual text-to-speech, MMS-TTS, Qwen3, Whisper</cp:keywords>
</cp:coreProperties>
</file>