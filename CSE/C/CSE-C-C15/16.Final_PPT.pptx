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10-1.jpg" ContentType="image/jpg"/>
  <Override PartName="/ppt/media/image-11-1.jpg" ContentType="image/jpg"/>
  <Override PartName="/ppt/media/image-12-1.jpg" ContentType="image/jpg"/>
  <Override PartName="/ppt/media/image-13-1.jpg" ContentType="image/jpg"/>
  <Override PartName="/ppt/media/image-14-1.jpg" ContentType="image/jpg"/>
  <Override PartName="/ppt/media/image-15-1.jpg" ContentType="image/jpg"/>
  <Override PartName="/ppt/media/image-16-1.jpg" ContentType="image/jpg"/>
  <Override PartName="/ppt/media/image-17-1.jpg" ContentType="image/jpg"/>
  <Override PartName="/ppt/media/image-18-1.jpg" ContentType="image/jpg"/>
  <Override PartName="/ppt/media/image-19-1.jpg" ContentType="image/jpg"/>
  <Override PartName="/ppt/media/image-2-1.jpg" ContentType="image/jpg"/>
  <Override PartName="/ppt/media/image-20-1.jpg" ContentType="image/jpg"/>
  <Override PartName="/ppt/media/image-21-1.jpg" ContentType="image/jpg"/>
  <Override PartName="/ppt/media/image-22-1.jpg" ContentType="image/jpg"/>
  <Override PartName="/ppt/media/image-23-1.jpg" ContentType="image/jpg"/>
  <Override PartName="/ppt/media/image-24-1.jpg" ContentType="image/jpg"/>
  <Override PartName="/ppt/media/image-25-1.jpg" ContentType="image/jpg"/>
  <Override PartName="/ppt/media/image-26-1.jpg" ContentType="image/jpg"/>
  <Override PartName="/ppt/media/image-27-1.jpg" ContentType="image/jpg"/>
  <Override PartName="/ppt/media/image-28-1.jpg" ContentType="image/jpg"/>
  <Override PartName="/ppt/media/image-3-1.jpg" ContentType="image/jpg"/>
  <Override PartName="/ppt/media/image-4-1.jpg" ContentType="image/jpg"/>
  <Override PartName="/ppt/media/image-5-1.jpg" ContentType="image/jpg"/>
  <Override PartName="/ppt/media/image-6-1.jpg" ContentType="image/jpg"/>
  <Override PartName="/ppt/media/image-7-1.jpg" ContentType="image/jpg"/>
  <Override PartName="/ppt/media/image-8-1.jpg" ContentType="image/jpg"/>
  <Override PartName="/ppt/media/image-9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team and SentinelFlow: a working real-time DDoS detection and adaptive mitigation system, with an honest evaluation on real CICIDS2017 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agenda follows the report: problem, design, method, results, comparison, screens,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Product first, then the headline honest results: synthetic-trained model does not transfer, retraining fixes it, severity layer removes false alarms, and the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Trigui et al., IEEE Access 2026. The paper stops at offline detection; closing the loop to mitigation and measuring it is what SentinelFlow adds.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Rows marked title-only could not be verified beyond their bibliographic records, so no result is quoted. All other figures come from the PDFs or abstracts we 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gap from the batch survey: closing the loop from real-time detection to adaptive mitigation with measured latency, and measuring false-positive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batch's problem statement and need, then the input and output of the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six objectives from the batch document. The conclusion slide gives the status of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proposed system as two chains. Be explicit that mitigation is an application-level denylist, not a network-level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tiers in one process. The React login is a browser-side demo gate; the API itself has no authentication and is localhost-only.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Offline training once, then a repeating online cycle. The extra measurements were added so that every claim rests on real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shipped model was trained on a labelled synthetic fallback. The real file is used only for evaluation and retraining in the documentation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one function every window passes through. Weights and thresholds are rule-based and visible on the Threat Detail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Sequence of one window in Simulation Mode and the use cases of the administrator.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ER diagram of the database and the class diagram of the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Highlights and honest absences.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central honest finding. 99.71 percent on the synthetic split does not carry over; the same forest retrained on real flows reaches 99.94 percent.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Confusion matrices for the three situations, the precision/recall/F1 table, and a comparison with other classifiers on the same real split (the base paper compared classifiers too).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Window length is the key parameter: at 2 s and 5 s the forest alone raises many false alarms; the severity thresholds absorb most of them. The distributed-risk score alone is a weak detector.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Decision latency is dominated by forest inference with the saved n_jobs=-1. Detection to mitigation here means from the finished feature vector to the decision; a window must close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plainly that datasets and protocols differ. Their 100 percent is on SDN and CIC-DDoS2023; ours is CICIDS2017 DDoS-day 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Real captures of the running console. The overview banner is the genuine capture error; live capture could not be run on this machine.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detection log and the explanation drawer. Each verdict lists its factors.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Quarantines count down and expire. The model page warns that the displayed metrics describe synthetic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 explicit about which objectives were met, partly met or not met.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Limitations first, then concrete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Selected references; the complete numbered list is in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Relationship Id="rId5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Relationship Id="rId5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11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13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17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19.png"/><Relationship Id="rId3" Type="http://schemas.openxmlformats.org/officeDocument/2006/relationships/image" Target="../media/image1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21.png"/><Relationship Id="rId3" Type="http://schemas.openxmlformats.org/officeDocument/2006/relationships/image" Target="../media/image20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1373177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Attack Detection and Mitigation (Real-Time DDoS Detection and Adaptive Mitigation Framework Using Machine Learning)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2379017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 ·  SentinelFlow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3110537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Details : Batch C15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3522017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23K91A05E3   MALLELA PALLAVI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24K95A0514   KATTOJU DURGABHAVANI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23K91A05H3   NIMMALA RAKSHITHA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23K91A05K0   PRODHATOOR SHASHI PREETHAM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675120" y="3110537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Esteemed Guidance of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Meenakshi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[DESIGNATION], Department of CSE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  ·  [COLLEGE NAME]  ·  Academic Year [ACADEMIC YEAR]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 &amp; Literature Survey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Gap, Problem Statement &amp; Objectives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&amp; Architecture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Methodology, Data &amp; Algorithm Workflow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&amp; Data Design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Highlights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Real-Data Check, Confusion Matrix, Classifiers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Analysis: Window Length &amp; Severity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Testing &amp; Comparison with Base Paper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Conclusion, Limitations, Future Scope &amp; References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11155680" cy="466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7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DDoS attacks flood a service from many sources; detection without action leaves it down, and blocking legitimate users is itself a denial of service. SentinelFlow classifies rolling traffic windows (Scapy or a built-in simulator) with a 200-tree Random Forest, scores how distributed the traffic is, assigns an explainable severity and quarantines the worst sources temporarily, with automatic recovery.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Honest result: the shipped model was trained on a synthetic fallback. It scores 99.71% on its own split but 71.8% accuracy (63.4% recall, 17.2% false positives) on 225,745 real CICIDS2017 DDoS-day flows.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Retrained on those flows with the same features and settings the forest reaches 99.94% over five seeds (99.74% on a chronological block split).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Window length matters: at 5 s windows the forest alone flags 13.6% of benign windows; the severity layer cuts that to 0.27%.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95 pytest tests and 25 smoke checks pass. Mitigation is application-level only (the OS firewall is never touched) and live capture could not be run end to end here (no Npcap).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M. M. Trigui, M. S. Islam, M. D. Gambo, M. S. Alam and T. Helmy, "Resource-aware ensemble framework for DDoS detection in SDN via novel game-theoretic feature selection," IEEE Access, vol. 14, pp. 1666-1676, 2026, doi: 10.1109/ACCESS.2025.3618519.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377440"/>
          <a:ext cx="11155680" cy="38404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37360"/>
                <a:gridCol w="9418320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Aspect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Base paper: resource-aware ensemble framework for DDoS detection in SDN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Method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Random Forest importance combined with the Banzhaf Power Index for feature selection; XGBoost, RF, Gradient Boosting, SVM, kNN, AdaBoost, Naive Bayes; four hard-voting ensembles (clf1-clf4)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SDN flow dataset (104,345 records, 23 features) and a CIC-DDoS2023 subset (1,754,109 rows, 47 features); separate models per dataset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Reported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All four ensembles reach 100% accuracy, precision, recall and F1 on both datasets; differences lie in resources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Resources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clf3 and clf4 (SVM) need over 4,000 s to train on the SDN data; clf2 (kNN) over 150 s to classify the SDN test set; clf1 is the lightest and is recommended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Stated future work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Multi-class detection, online learning, federated SDN, a sidecar next to the controller, live testbeds and production traces; mitigation is only outlined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00200"/>
          <a:ext cx="11155679" cy="45262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651760"/>
                <a:gridCol w="640080"/>
                <a:gridCol w="4114800"/>
                <a:gridCol w="3749039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Work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Year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Approach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Finding / limitation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Trigui et al. [1] (base paper)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RF + Banzhaf feature selection; seven classifiers; four hard-voting ensembles; SDN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100 % on SDN flows and CIC-DDoS2023; SVM/kNN ensembles slow; no live mitigation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Swileh et al. [6]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Carpet-bombing DDoS in SDN: RAG + FAISS + LLM, no supervised training; Mininet + Ryu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Accuracy 99.94 % (Gemma-4-31B-IT), about 2 s per request; needs an LLM service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Raghavendran, Robinson [3]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WISNE-SDN IoT controller; KNN, XGBoost, Naive Bayes on a testbed dataset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97 % (KNN), 100 % (XGB) from the abstract; testbed data, detection only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Jadric, Mladenovic [4]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Double deep Q-networks for DDoS detection and mitigation (title only)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Batch survey item; abstract not available, results not quoted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Rahman [7]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Logistic regression, decision tree, SVM on a CIC dataset sample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SVM 0.971, decision tree 0.827, logistic regression 0.593; detection only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Alduailij et al. [16]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Mutual information + RF feature importance; ensemble voting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99 % on CICIDS2017 and CIC-DDoS2019 (as reported in the base paper)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Becerra-Suarez et al. [18]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Tree learners and deep networks with data processing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99.97 % accuracy, 99.98 % F1 (as reported in the base paper)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Engelen et al. [9]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Audit of CICIDS2017: labelling and flow-construction problems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Warns that CICIDS2017 results need care; relevant to every claim made on this dataset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800"/>
              </a:spcAft>
              <a:buChar char="•"/>
            </a:pPr>
            <a:r>
              <a:rPr sz="2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surveyed work applies ensemble detection within software-defined networks; closing the loop from real-time detection to automatic, adaptive mitigation with measured response latency is the gap named in the batch survey.</a:t>
            </a:r>
          </a:p>
          <a:p>
            <a:pPr algn="l" marL="256032" indent="-201168">
              <a:spcAft>
                <a:spcPts val="1800"/>
              </a:spcAft>
              <a:buChar char="•"/>
            </a:pPr>
            <a:r>
              <a:rPr sz="2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Reported accuracies of 99-100 % come from offline evaluations on one dataset at a time; few works run a live (or live-like) capture-to-action loop on a commodity host.</a:t>
            </a:r>
          </a:p>
          <a:p>
            <a:pPr algn="l" marL="256032" indent="-201168">
              <a:spcAft>
                <a:spcPts val="1800"/>
              </a:spcAft>
              <a:buChar char="•"/>
            </a:pPr>
            <a:r>
              <a:rPr sz="2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False-positive cost is rarely measured at the level where it hurts (a legitimate source quarantined), and carpet-bombing traffic that spreads across many destinations is seldom scored with a distributed-traffic signal.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11155680" cy="2286000"/>
          </a:xfrm>
          <a:prstGeom prst="roundRect">
            <a:avLst>
              <a:gd name="adj" fmla="val 4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2194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Signature-based defences cannot detect novel or modified attack patterns.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Detection without mitigation leaves the service unavailable while the attack continues.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Blocking legitimate users through false positives is itself a denial of service.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Attack traffic must be classified fast enough to act before resources are exhausted.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20624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27939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70916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Rolling windows of packets (Scapy capture or simulator) reduced to ten flow features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59" y="420624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4840" y="427939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70916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Benign/Attack label, distributed-risk score, severity with factors, quarantine or advice, history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420624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183879" y="427939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Need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470916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 framework that detects DDoS traffic in real time and applies adaptive mitigation without blocking legitimate users.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1115568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1.  Acquire a benchmark intrusion dataset and extract network flow features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2.  Capture live traffic and compute the same features in real time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3.  Train a classifier to distinguish DDoS traffic from legitimate traffic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4.  Implement adaptive mitigation that rate-limits or blocks identified attack sources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5.  Build a dashboard showing live traffic, detection events and mitigation actions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6.  Evaluate detection accuracy, false positive rate and time from detection to mitigation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Per-window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6596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Scapy / simulator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170175" y="223570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07919" y="196596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10-s window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075175" y="223570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12919" y="196596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 features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80175" y="223570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19" y="196596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Random Forest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885175" y="223570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22920" y="196596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Risk + severity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790175" y="223570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027919" y="196596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Action + SQLite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92608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Mitigation and presentation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29184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Low: monitor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170175" y="356158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407919" y="329184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Medium: advise rate limit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075175" y="356158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12919" y="329184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High: quarantine top 3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980175" y="356158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17919" y="329184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Critical: 2x duration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885175" y="356158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22920" y="329184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Auto recovery 40 s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790175" y="356158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027919" y="329184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Flask + React console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389120"/>
            <a:ext cx="1115568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7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Distributed-risk layer scores source diversity, destination diversity, rate pressure and baseline deviation: the carpet-bombing signature the forest does not see.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Severity is explainable: every contributing factor is listed next to the verdict, and a benign window can never exceed Medium.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Safe by design: quarantine lives inside SentinelFlow, expires on its own and never touches the OS firewall; Simulation Mode emits no packets.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7" name="Picture 6" descr="01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429" y="1645920"/>
            <a:ext cx="5890661" cy="4663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69480" y="1783080"/>
            <a:ext cx="448056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Console: React 19 + Vite, port 5415; nine pages plus the legacy dashboard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API: Flask, port 8415; 12 JSON endpoints, polled every 2 s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Pipeline modules: monitoring, ml, security; one shared process_window()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State: SQLite (4 tables), joblib model, JSON and PNG results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 authentication on the API; it binds to 127.0.0.1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7" name="Picture 6" descr="02_high_level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1706568"/>
            <a:ext cx="6675120" cy="435926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06640" y="1737360"/>
            <a:ext cx="429768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Training: clean and map CICIDS2017 flows to ten features (forward = sent, backward = received), add 6,000 simulator windows, stratified 80/20, 200 trees, seed 42.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Online: 10-s windows (2-120 s allowed), same schema, model loaded once.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Added for the evaluation: real-flow check, five seeds, classifier comparison, window-length study, latency and API probes.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Models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356616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73152" cy="9144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00784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24,000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7627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rows behind the shipped model: synthetic flows + 6,000 windows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645920"/>
            <a:ext cx="356616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297680" y="1645920"/>
            <a:ext cx="73152" cy="9144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80560" y="1700784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225,745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17627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real CICIDS2017 Friday DDoS-day flows (evaluation)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645920"/>
            <a:ext cx="356616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092440" y="1645920"/>
            <a:ext cx="73152" cy="9144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75319" y="1700784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17627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flow features shared by training and live windows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02920" y="2743200"/>
          <a:ext cx="6492240" cy="2743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11680"/>
                <a:gridCol w="1828800"/>
                <a:gridCol w="2651760"/>
              </a:tblGrid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Size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Used for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Synthetic fallback flows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18,000 + 6,000 windows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shipped model (CICIDS2017 unreachable at build time)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CICIDS2017 Friday-DDoS [8]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97,718 benign / 128,027 DDoS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real-data check, retraining, classifier comparison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Simulator windows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4,000 per length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window-length and severity study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Models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RF 200 trees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shipped; plus DT, HistGB, GaussianNB, LogReg on real flows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pic>
        <p:nvPicPr>
          <p:cNvPr id="20" name="Picture 19" descr="f04_feature_importance_compa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3039512"/>
            <a:ext cx="4480560" cy="205913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02920" y="562356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Importance differs: the shipped forest weights sent_packets (0.21) and received_packets (0.18) most; the forest retrained on real flows relies on average sent packet size (0.23), sent packets and sent bytes. Dataset licence: 'other' (Hugging Face mirror card); the CSV is not committed.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Algorithm and Severity Logic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7" name="Picture 6" descr="10_flowchart_core_algorith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514" y="1600200"/>
            <a:ext cx="4075611" cy="4754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46320" y="1691640"/>
            <a:ext cx="68580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Distributed risk = 0.30 x sources/30 + 0.30 x destinations/15 + 0.25 x rate/1500 + 0.15 x baseline deviation (each capped at 1); Medium from 0.4, High from 0.7.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Severity score: +30 for an Attack label, +15 / +8 for confidence of 90% / 75%, rate steps at 400 / 1,200 / 3,000 packets/s, +10 / +20 for risk of 0.4 / 0.7, +8 for wide spread, +5 / +10 for 2 / 3 persistent windows.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Thresholds: Medium 28, High 50, Critical 70; a Benign window is capped at 45.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High and Critical quarantine the three busiest non-protected sources for 40 s (80 s for Critical); expiry marks the row 'recovered'.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Errors (capture failure, missing model, invalid features) return an error record and store nothing.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– System Interaction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7" name="Picture 6" descr="07_sequence_main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522" y="1645920"/>
            <a:ext cx="5362955" cy="4663440"/>
          </a:xfrm>
          <a:prstGeom prst="rect">
            <a:avLst/>
          </a:prstGeom>
        </p:spPr>
      </p:pic>
      <p:pic>
        <p:nvPicPr>
          <p:cNvPr id="8" name="Picture 7" descr="08_use_c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867988"/>
            <a:ext cx="5212080" cy="421930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Class Design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pic>
        <p:nvPicPr>
          <p:cNvPr id="7" name="Picture 6" descr="09_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08785"/>
            <a:ext cx="5669280" cy="3897630"/>
          </a:xfrm>
          <a:prstGeom prst="rect">
            <a:avLst/>
          </a:prstGeom>
        </p:spPr>
      </p:pic>
      <p:pic>
        <p:nvPicPr>
          <p:cNvPr id="8" name="Picture 7" descr="06_uml_cla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3448" y="1600200"/>
            <a:ext cx="4032504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576072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SQLite holds four tables (detections, mitigations, health_samples, settings) with no foreign keys; the settings table exists but the API keeps settings in memory. Four real classes plus function modules drawn as &lt;&lt;module&gt;&gt;.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Highlights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73152" cy="10058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4650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7502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JSON endpoints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69164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37560" y="1691640"/>
            <a:ext cx="73152" cy="10058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20440" y="174650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95 + 25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27502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pytest tests + smoke checks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73152" cy="10058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55080" y="174650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27502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React screens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69164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006840" y="1691640"/>
            <a:ext cx="73152" cy="100584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89720" y="174650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3.3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27502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median /api/status over HTTP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2971800"/>
            <a:ext cx="1115568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One process_window() serves live capture and Simulation Mode, so the demo exercises the real model, severity and mitigation code.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Settings are validated (window 2-120 s, quarantine 5-3600 s); a second Start returns 409; capture failures surface the real reason (Npcap missing).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Threat Detail lists every severity factor and the distributed-risk components for any stored window.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run.bat prepares the environment, starts the API (8415) and the console (5415); Docker files exist but were not run here.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Not present: OS-level blocking, API authentication, tested live capture, multi-class detection.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– Synthetic Split versus Real Flows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73152" cy="10058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0078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99.71%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2930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shipped model, own synthetic test (4,800 rows)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64592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37560" y="1645920"/>
            <a:ext cx="73152" cy="10058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20440" y="170078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71.8%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22930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shipped model on 225,745 real flows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4592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1645920"/>
            <a:ext cx="73152" cy="10058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55080" y="170078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99.94%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22930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retrained RF on real flows, 5-seed mean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64592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006840" y="1645920"/>
            <a:ext cx="73152" cy="100584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89720" y="170078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99.74%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22930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retrained, chronological block split</a:t>
            </a:r>
          </a:p>
        </p:txBody>
      </p:sp>
      <p:pic>
        <p:nvPicPr>
          <p:cNvPr id="23" name="Picture 22" descr="f01_domain_g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2363" y="2743200"/>
            <a:ext cx="4750473" cy="29260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040880" y="2788920"/>
            <a:ext cx="466344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6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On real flows the shipped model keeps only 63.4% recall and raises 17.2% false positives; ROC-AUC is 86.1%, so the 0.5 threshold, not the ranking, is the main problem.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Retraining with the product's own features and settings gives 99.94% (±0.01), FPR 0.06%.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Caveats: one attack type, random flow splits overlap in time, and CICIDS2017 labels have known flaws [9].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76072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A flow-trained forest applied to simulator windows calls every window benign (recall 0.0%, ROC-AUC 100%): flow-scale and window-scale features differ, which is why the product adds window rows to training.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Matrices &amp; Classifier Comparison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pic>
        <p:nvPicPr>
          <p:cNvPr id="7" name="Picture 6" descr="f06_confusion_matr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44" y="1600200"/>
            <a:ext cx="6104510" cy="21031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3794760"/>
          <a:ext cx="6537960" cy="15544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03120"/>
                <a:gridCol w="886968"/>
                <a:gridCol w="886968"/>
                <a:gridCol w="886968"/>
                <a:gridCol w="886968"/>
                <a:gridCol w="886968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Experiment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Acc.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Prec.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Recall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F1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FPR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Shipped, own split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99.71%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99.96%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99.46%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99.71%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0.04%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Shipped, real flows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71.79%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82.84%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63.40%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71.83%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17.21%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Retrained RF, seed 42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99.94%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99.96%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99.94%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99.95%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0.05%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Block split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99.74%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99.57%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99.77%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99.67%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0.28%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pic>
        <p:nvPicPr>
          <p:cNvPr id="9" name="Picture 8" descr="f03_classifie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686534"/>
            <a:ext cx="4251960" cy="165613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52360" y="3611880"/>
            <a:ext cx="425196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500"/>
              </a:spcAft>
              <a:buChar char="•"/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Same real split: decision tree 99.94%, RF 99.94%, HistGradientBoosting 99.95%; logistic regression 98.59%; Gaussian NB 72.9%.</a:t>
            </a:r>
          </a:p>
          <a:p>
            <a:pPr algn="l" marL="256032" indent="-201168">
              <a:spcAft>
                <a:spcPts val="500"/>
              </a:spcAft>
              <a:buChar char="•"/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Counts and bytes alone give 99.91%: the DDoS day separates on size and count.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Random Forest is kept for the product: tree models tie, the RF gives a calibrated confidence for severity.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577840"/>
            <a:ext cx="6766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False-positive rate = FP / (FP + TN). Shipped on its own split: 1 false positive and 13 false negatives in 4,800 windows.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Analysis – Window Length and Severity Thresholds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pic>
        <p:nvPicPr>
          <p:cNvPr id="7" name="Picture 6" descr="f02_window_size_eff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19" y="1627785"/>
            <a:ext cx="5760720" cy="2367988"/>
          </a:xfrm>
          <a:prstGeom prst="rect">
            <a:avLst/>
          </a:prstGeom>
        </p:spPr>
      </p:pic>
      <p:pic>
        <p:nvPicPr>
          <p:cNvPr id="8" name="Picture 7" descr="f07_severity_by_sty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1692" y="1600200"/>
            <a:ext cx="4481734" cy="242316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4160520"/>
          <a:ext cx="6400800" cy="14630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731520"/>
                <a:gridCol w="1097280"/>
                <a:gridCol w="1371600"/>
                <a:gridCol w="1463040"/>
                <a:gridCol w="173736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Window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RF label: FPR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High/Critical: FPR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High/Critical: recall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Risk &gt;= 0.7 alone: recall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 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46.0%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6.77%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100.0%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31.9%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 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13.6%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0.27%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100.0%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19.2%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10 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0.0%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0.00%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97.0%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9.0%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0" y="4114800"/>
            <a:ext cx="43891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400"/>
              </a:spcAft>
              <a:buChar char="•"/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4,000 simulator windows per length (35% attack); model calibrated on 10 s windows.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severity layer removes most false alarms; at 10 s, 44 weaker attack windows stay at Medium.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10 s RF accuracy is 100% only because training rows came from the same generator.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risk score alone is precise but misses most attacks.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76072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Left chart: false positives on benign windows and attack windows reaching High/Critical. Right chart: severity per traffic style at 5 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Testing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265176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73152" cy="9144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00784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217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7627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features to mitigation decision, median (p95 489)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645920"/>
            <a:ext cx="265176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37560" y="1645920"/>
            <a:ext cx="73152" cy="9144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20440" y="1700784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313 vs 33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17627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one-window inference, n_jobs=-1 (as saved) vs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45920"/>
            <a:ext cx="265176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1645920"/>
            <a:ext cx="73152" cy="9144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55080" y="1700784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3.3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17627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/api/status median, 100 calls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645920"/>
            <a:ext cx="265176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006840" y="1645920"/>
            <a:ext cx="73152" cy="91440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89720" y="1700784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25/25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17627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malformed-input probes handled</a:t>
            </a:r>
          </a:p>
        </p:txBody>
      </p:sp>
      <p:pic>
        <p:nvPicPr>
          <p:cNvPr id="23" name="Picture 22" descr="f08_latency_breakd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351" y="2651760"/>
            <a:ext cx="5523857" cy="2103120"/>
          </a:xfrm>
          <a:prstGeom prst="rect">
            <a:avLst/>
          </a:prstGeom>
        </p:spPr>
      </p:pic>
      <p:pic>
        <p:nvPicPr>
          <p:cNvPr id="24" name="Picture 23" descr="f09_api_latenc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7463" y="2651760"/>
            <a:ext cx="3870193" cy="2103120"/>
          </a:xfrm>
          <a:prstGeom prst="rect">
            <a:avLst/>
          </a:prstGeom>
        </p:spPr>
      </p:pic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02920" y="4846320"/>
          <a:ext cx="11155680" cy="10972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931920"/>
                <a:gridCol w="722376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Check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Result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pytest (units + API, scratch SQLite)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95 of 95 passed; smoke test 25 of 25 backend checks on the running server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Not tested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live capture end to end (no Npcap), load, concurrent users, Docker build, real attack timeline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502920" y="603504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Measured on an i5-12500 with the CPU at 100% from other jobs, so absolute times are upper bounds. The real delay is the window length (10 s default).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Base Paper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45920"/>
          <a:ext cx="9509760" cy="396849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280160"/>
                <a:gridCol w="4023360"/>
                <a:gridCol w="4206240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Aspect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Base paper [1]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SentinelFlow (this project)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SDN flows (104,345 rows) and CIC-DDoS2023 subset (1.75 M rows)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CICIDS2017 DDoS day (225,745 flows) and a synthetic fallback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Features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23 and 47 columns, RF + Banzhaf selection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10 fixed flow features shared with live windows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Models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Seven classifiers, four voting ensembles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One 200-tree RF; DT, HistGB, NB, LogReg compared (RF 99.94%)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Result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100% on both datasets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99.94% retrained on real flows; 71.8% for the shipped synthetic model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Resources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SVM ensembles over 4,000 s training; kNN over 150 s inference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RF trains in 6.9 s; model 1.24 MB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Mitigation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Future work (throttling or blackholing outlined)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Implemented: application-level quarantine with recovery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149840" y="1691640"/>
            <a:ext cx="164592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Datasets and protocols differ: indicative only.</a:t>
            </a:r>
          </a:p>
          <a:p>
            <a:pPr algn="l">
              <a:spcAft>
                <a:spcPts val="8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Our result is lower than 100%.</a:t>
            </a:r>
          </a:p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No superiority is claimed.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76072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Not taken from the base paper: Banzhaf feature selection and voting ensembles. Added against it: severity, mitigation, recovery, a simulator and an evaluation that separates synthetic from real data.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Landing Page and Threat Overview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pic>
        <p:nvPicPr>
          <p:cNvPr id="7" name="Picture 6" descr="01_landing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45920"/>
            <a:ext cx="5486400" cy="34290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8" name="Picture 7" descr="04_overview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5254" y="1645920"/>
            <a:ext cx="5451730" cy="38862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5623560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Left: landing page with live counters from the API (attack/benign windows, F1 and ROC-AUC of the shipped model). Right: threat overview (Simulation Mode data scored by the real model); the red banner is the real 'capture problem' message because Npcap is not installed.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Detections and Threat Detail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pic>
        <p:nvPicPr>
          <p:cNvPr id="7" name="Picture 6" descr="05_detections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54" y="1645920"/>
            <a:ext cx="5451730" cy="38862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8" name="Picture 7" descr="06_threat_detail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5254" y="1645920"/>
            <a:ext cx="5451730" cy="38862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5623560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Left: every scored window with prediction, confidence and severity (Simulation Mode data scored by the real model). Right: Threat Detail of one window with measured traffic, distributed-risk components and the severity factors behind the verdict.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Mitigation Center and Model Performance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pic>
        <p:nvPicPr>
          <p:cNvPr id="7" name="Picture 6" descr="09_mitigation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54" y="1645920"/>
            <a:ext cx="5451730" cy="38862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8" name="Picture 7" descr="10_model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5254" y="1645920"/>
            <a:ext cx="5451730" cy="38862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5623560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Left: active quarantines with countdowns and automatic recovery (Simulation Mode data scored by the real model); application-level only. Right: Model page with the shipped metrics and the 'synthetic training data' warning.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Objectives vs Outcomes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11155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3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 working, tested detection and mitigation system (95 tests, 25 smoke checks); retrained on real flows the forest reaches 99.94%, but the shipped synthetic-trained model scores 71.8% on them.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severity layer cuts false alarms (5 s windows: 13.6% to 0.27%); mitigation is an application-level quarantine; live capture is untested.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697480"/>
          <a:ext cx="11155680" cy="332841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57200"/>
                <a:gridCol w="3566160"/>
                <a:gridCol w="7132320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#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Objective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Outcome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Acquire dataset, extract flow features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Partly: pipeline reads CICIDS2017; shipped model synthetic; real file evaluated here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Capture live traffic, same features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Implemented (Scapy); not verified live; verified via simulator and unit tests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Train DDoS classifier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Achieved: 99.94% on real flows after retraining; shipped model 71.8%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Adaptive mitigation (rate limit / block)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Partly: quarantine with auto recovery inside the app; rate limiting only advised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Dashboard of traffic, detections, mitigation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Achieved: nine-page React console plus legacy dashboard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Evaluate accuracy, FPR, detection-to-mitigation time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Achieved offline (FPR 0.06% real; 0.27% pipeline at 5 s); decision 217 ms, no real attack timeline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Scope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5486400" cy="46634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Known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512064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Shipped model trained on synthetic data; landing page shows 99.71% without that caveat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One real attack type (DDoS day); CICIDS2017 label flaws; random splits overlap in time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Calibrated on 10 s windows; short windows raise false alarms before severity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Quarantine never changes the OS firewall; no packet is dropped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Live capture untested (no Npcap); saved n_jobs=-1 slows inference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API has no authentication; interface setting not length-checked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 real attack timeline, SDN deployment or multi-class detection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486400" cy="4663440"/>
          </a:xfrm>
          <a:prstGeom prst="roundRect">
            <a:avLst>
              <a:gd name="adj" fmla="val 4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Future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512064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Retrain on real labelled captures and ship the real-data model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Train on several window lengths; set n_jobs=1 for single-window inference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Optional OS-firewall or SDN rule installation behind an explicit opt-in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Test live capture with Npcap and a controlled traffic generator; measure real recovery time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Multi-class attacks, online learning and a sidecar next to an SDN controller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Authentication, input-length checks and use of the settings table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Retest on newer datasets such as CIC-DDoS2023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5486400" cy="466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[1] M. M. Trigui, M. S. Islam, M. D. Gambo, M. S. Alam and T. Helmy, "Resource-aware ensemble framework for DDoS detection in SDN via novel game-theoretic feature selection," IEEE Access, vol. 14, pp. 1666-1676, 2026, doi: 10.1109/ACCESS.2025.3618519.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[3] N. Raghavendran and Y. H. Robinson, "IoT-based WISNE-SDN detection and DDoS attack mitigation using machine learning techniques," PeerJ Comput. Sci., vol. 12, Art. no. e3572, Feb. 2026, doi: 10.7717/peerj-cs.3572.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[6] M. N. Swileh, S. Zhang and K. Lei, "Intelligent detection and mitigation of carpet-bombing DDoS attacks in SDN using retrieval-augmented generation and large language models," arXiv:2605.26307, May 2026.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[7] M. A. Rahman, "Detection of distributed denial of service attacks based on machine learning algorithms," arXiv:2502.00975, Feb. 2025.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[8] I. Sharafaldin, A. Habibi Lashkari and A. A. Ghorbani, "Toward generating a new intrusion detection dataset and intrusion traffic characterization," in Proc. 4th Int. Conf. Inf. Syst. Secur. Privacy (ICISSP), Funchal, Portugal, Jan. 2018, pp. 108-116, doi: 10.5220/0006639801080116.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[9] G. Engelen, V. Rimmer and W. Joosen, "Troubleshooting an intrusion detection dataset: The CICIDS2017 case study," in Proc. 2021 IEEE Secur. Privacy Workshops (SPW), May 2021, pp. 7-12, doi: 10.1109/SPW53761.2021.00009.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[10] R. Sommer and V. Paxson, "Outside the closed world: On using machine learning for network intrusion detection," in Proc. 2010 IEEE Symp. Secur. Privacy, 2010, pp. 305-316, doi: 10.1109/SP.2010.25.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66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[11] J. Mirkovic and P. Reiher, "A taxonomy of DDoS attack and DDoS defense mechanisms," ACM SIGCOMM Comput. Commun. Rev., vol. 34, no. 2, pp. 39-53, Apr. 2004, doi: 10.1145/997150.997156.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[12] L. Breiman, "Random forests," Mach. Learn., vol. 45, no. 1, pp. 5-32, Oct. 2001, doi: 10.1023/A:1010933404324.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[13] F. Pedregosa et al., "Scikit-learn: Machine learning in Python," J. Mach. Learn. Res., vol. 12, pp. 2825-2830, 2011.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[15] A. Zaman, S. A. Khan, N. Mohammad, A. A. Ateya, S. Ahmad and M. A. ElAffendi, "Distributed denial of service attack detection in software-defined networks using decision tree algorithms," Future Internet, vol. 17, no. 4, p. 136, Mar. 2025, doi: 10.3390/fi17040136.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[16] M. Alduailij, Q. W. Khan, M. Tahir, M. Sardaraz, M. Alduailij and F. Malik, "Machine-learning-based DDoS attack detection using mutual information and random forest feature importance method," Symmetry, vol. 14, no. 6, p. 1095, May 2022, doi: 10.3390/sym14061095.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[18] F. L. Becerra-Suarez, I. Fernandez-Roman and M. G. Forero, "Improvement of distributed denial of service attack detection through machine learning and data processing," Mathematics, vol. 12, no. 9, p. 1294, Apr. 2024, doi: 10.3390/math12091294.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[25] P. Biondi et al., "Scapy: Interactive packet manipulation program," software documentation. [Online]. Available: https://scapy.net</a:t>
            </a:r>
          </a:p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full numbered list of 29 references is in the report.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27432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Suggestions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C15  |  Final Review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ntinelFlow">
  <a:themeElements>
    <a:clrScheme name="SentinelFlow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entinelFlow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SentinelFlow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DDoS Attack Detection and Mitigation - Final Review</dc:title>
  <dc:subject>SentinelFlow</dc:subject>
  <dc:creator>Batch C15, Dept. of CSE</dc:creator>
  <cp:lastModifiedBy>Batch C15, Dept. of CSE</cp:lastModifiedBy>
  <cp:revision>1</cp:revision>
  <dcterms:created xsi:type="dcterms:W3CDTF">2026-10-07T05:03:03Z</dcterms:created>
  <dcterms:modified xsi:type="dcterms:W3CDTF">2026-10-07T05:03:03Z</dcterms:modified>
  <dc:description/>
  <cp:keywords>DDoS detection, Random Forest, CICIDS2017, Scapy, adaptive mitigation, carpet bombing</cp:keywords>
</cp:coreProperties>
</file>