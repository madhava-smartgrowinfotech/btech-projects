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Reported accuracy, %</c:v>
                </c:pt>
              </c:strCache>
            </c:strRef>
          </c:tx>
          <c:spPr>
            <a:solidFill>
              <a:srgbClr val="2A78D6"/>
            </a:solidFill>
          </c:spPr>
          <c:dPt>
            <c:idx val="7"/>
            <c:spPr>
              <a:solidFill>
                <a:srgbClr val="EB6834"/>
              </a:solidFill>
            </c:spPr>
          </c:dPt>
          <c:dPt>
            <c:idx val="8"/>
            <c:spPr>
              <a:solidFill>
                <a:srgbClr val="EB6834"/>
              </a:solidFill>
            </c:spPr>
          </c:dPt>
          <c:cat>
            <c:strRef>
              <c:f>Sheet1!$A$2:$A$10</c:f>
              <c:strCache>
                <c:ptCount val="9"/>
                <c:pt idx="0">
                  <c:v>Base paper
ensembles</c:v>
                </c:pt>
                <c:pt idx="1">
                  <c:v>Swileh
RAG + LLM</c:v>
                </c:pt>
                <c:pt idx="2">
                  <c:v>Becerra-
Suarez</c:v>
                </c:pt>
                <c:pt idx="3">
                  <c:v>Alduailij</c:v>
                </c:pt>
                <c:pt idx="4">
                  <c:v>WISNE
XGBoost</c:v>
                </c:pt>
                <c:pt idx="5">
                  <c:v>WISNE
KNN</c:v>
                </c:pt>
                <c:pt idx="6">
                  <c:v>Rahman
SVM</c:v>
                </c:pt>
                <c:pt idx="7">
                  <c:v>Rahman
DT</c:v>
                </c:pt>
                <c:pt idx="8">
                  <c:v>Rahman
LR</c:v>
                </c:pt>
              </c:strCache>
            </c:strRef>
          </c:cat>
          <c:val>
            <c:numRef>
              <c:f>Sheet1!$B$2:$B$10</c:f>
              <c:numCache>
                <c:formatCode>General</c:formatCode>
                <c:ptCount val="9"/>
                <c:pt idx="0">
                  <c:v>100.0</c:v>
                </c:pt>
                <c:pt idx="1">
                  <c:v>99.94</c:v>
                </c:pt>
                <c:pt idx="2">
                  <c:v>99.97</c:v>
                </c:pt>
                <c:pt idx="3">
                  <c:v>99.0</c:v>
                </c:pt>
                <c:pt idx="4">
                  <c:v>100.0</c:v>
                </c:pt>
                <c:pt idx="5">
                  <c:v>97.0</c:v>
                </c:pt>
                <c:pt idx="6">
                  <c:v>97.1</c:v>
                </c:pt>
                <c:pt idx="7">
                  <c:v>82.7</c:v>
                </c:pt>
                <c:pt idx="8">
                  <c:v>59.3</c:v>
                </c:pt>
              </c:numCache>
            </c:numRef>
          </c:val>
        </c:ser>
        <c:dLbls>
          <c:numFmt formatCode="0.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0.0"/>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10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the batch asks for a framework that detects DDoS traffic in real time and mitigates it without blocking legitimate users; the base paper is a resource-aware ensemble detector for SDN, and SentinelFlow is the working product that closes the loop from detection to mitigation.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design details and measured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why detection alone is not enough, what the pipeline does, and what is delivered. Mitigation here means a temporary application-level quarantine; the operating-system firewall is never changed.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All figures on this slide are printed in the paper's text. Its own future work (online learning, testbeds, production traces, mitigation actions such as throttling) is where this project starts. Batch records name this paper as the base paper.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contains the base paper plus four recent works; the table adds the papers found in the archived folder and the dataset audit. Results are quoted only where we read them in the paper, in the abstract, or in the base paper's own related-work section.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numbers motivate the choice of a light tree ensemble that runs on a laptop. They come from different datasets and protocols, so they are not compared with each other. Our own measurements start in Review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Today's systems either alert a human or run inside an SDN controller testbed. Few run a capture, classify, act and recover loop on an ordinary host.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three come from the base paper and the related work; the fourth is a reminder that high accuracy on one dataset is not evidence for deployment.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Gap 1 is the batch survey's own statement. Gaps 2 and 3 come from comparing the papers: scores are offline, one dataset at a time, and false-positive cost and carpet-bombing spread are seldom measured.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in the batch's words: A framework that detects DDoS traffic in real time and applies adaptive mitigation without blocking legitimate users.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Review 2 reports honestly which were met: live capture, for instance, could not be tested end to end on the development machine.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console that wraps them. Mitigation is an application-level denylist inside SentinelFlow, which is the safe choice for a student prototype.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console calls the API, the API runs the shared per-window pipeline, and results are stored locally.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outcomes we committed to. The measured results, including where they are weaker than the headline numbers suggest, are presented in Review 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with notes on how each entry was checked,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a Random Forest rather than the base paper's ensembles (light, fast, explainable); why mitigation is a quarantine inside the application; what data the model is trained on (this is answered in Review 2: the shipped model used a synthetic fallback and was re-checked on real flows).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SentinelFlow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2800" b="1" dirty="0">
                <a:solidFill>
                  <a:srgbClr val="FFFFFF"/>
                </a:solidFill>
                <a:latin typeface="Cambria" pitchFamily="34" charset="0"/>
                <a:ea typeface="Cambria" pitchFamily="34" charset="-122"/>
                <a:cs typeface="Cambria" pitchFamily="34" charset="-120"/>
              </a:rPr>
              <a:t>DDoS Attack Detection and Mitigation</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Real-time DDoS detection with a Random Forest and adaptive, self-recovering mitigation</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Mallela Pallavi  23K91A05E3</a:t>
            </a:r>
            <a:endParaRPr lang="en-US" sz="1500" dirty="0"/>
          </a:p>
          <a:p>
            <a:pPr indent="0" marL="0">
              <a:buNone/>
            </a:pPr>
            <a:r>
              <a:rPr lang="en-US" sz="1500" dirty="0">
                <a:solidFill>
                  <a:srgbClr val="FFFFFF"/>
                </a:solidFill>
              </a:rPr>
              <a:t>Kattoju Durgabhavani  24K95A0514</a:t>
            </a:r>
            <a:endParaRPr lang="en-US" sz="1500" dirty="0"/>
          </a:p>
          <a:p>
            <a:pPr indent="0" marL="0">
              <a:buNone/>
            </a:pPr>
            <a:r>
              <a:rPr lang="en-US" sz="1500" dirty="0">
                <a:solidFill>
                  <a:srgbClr val="FFFFFF"/>
                </a:solidFill>
              </a:rPr>
              <a:t>Nimmala Rakshitha  23K91A05H3</a:t>
            </a:r>
            <a:endParaRPr lang="en-US" sz="1500" dirty="0"/>
          </a:p>
          <a:p>
            <a:pPr indent="0" marL="0">
              <a:buNone/>
            </a:pPr>
            <a:r>
              <a:rPr lang="en-US" sz="1500" dirty="0">
                <a:solidFill>
                  <a:srgbClr val="FFFFFF"/>
                </a:solidFill>
              </a:rPr>
              <a:t>Prodhatoor Shashi Preetham  23K91A05K0</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V Meenakshi,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[COLLEGE NAME]  ·  Batch C15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detection is not enough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1900" b="0" i="0">
                <a:solidFill>
                  <a:srgbClr val="475569"/>
                </a:solidFill>
              </a:rPr>
              <a:t>A DDoS attack sends traffic from many sources and leaves legitimate users without the service. Signature rules miss new patterns, detection without action leaves the service down, and blocking a legitimate source is itself a denial of service.</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1900" b="0" i="0">
                <a:solidFill>
                  <a:srgbClr val="475569"/>
                </a:solidFill>
              </a:rPr>
              <a:t>Capture traffic in rolling windows, reduce each window to ten flow features, classify it with a Random Forest, score how widely the traffic is spread over sources and destinations, rate its severity, and quarantine the worst sources for a short time.</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1900" b="0" i="0">
                <a:solidFill>
                  <a:srgbClr val="475569"/>
                </a:solidFill>
              </a:rPr>
              <a:t>SentinelFlow: Scapy or a safe simulator feeding a Random Forest, an explainable severity layer, temporary quarantine with automatic recovery, a SQLite history and a React console, evaluated on CICIDS2017.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M. M. Trigui, M. S. Islam, M. D. Gambo, M. S. Alam and T. Helmy, "Resource-aware ensemble framework for DDoS detection in SDN via novel game-theoretic feature selection," IEEE Access, vol. 14, pp. 1666-1676, 2026, doi: 10.1109/ACCESS.2025.3618519.</a:t>
            </a:r>
          </a:p>
        </p:txBody>
      </p:sp>
      <p:sp>
        <p:nvSpPr>
          <p:cNvPr id="28" name="Rounded Rectangle 27"/>
          <p:cNvSpPr/>
          <p:nvPr/>
        </p:nvSpPr>
        <p:spPr>
          <a:xfrm>
            <a:off x="548640"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743199"/>
          </a:xfrm>
          <a:prstGeom prst="rect">
            <a:avLst/>
          </a:prstGeom>
          <a:noFill/>
        </p:spPr>
        <p:txBody>
          <a:bodyPr wrap="square" lIns="0" rIns="0" tIns="0" bIns="0" anchor="t">
            <a:spAutoFit/>
          </a:bodyPr>
          <a:lstStyle/>
          <a:p>
            <a:pPr algn="l">
              <a:spcAft>
                <a:spcPts val="400"/>
              </a:spcAft>
            </a:pPr>
            <a:r>
              <a:rPr sz="1600" b="0" i="0">
                <a:solidFill>
                  <a:srgbClr val="475569"/>
                </a:solidFill>
              </a:rPr>
              <a:t>A hybrid feature selector that combines Random Forest importance with the Banzhaf Power Index; seven classifiers (XGBoost, RF, Gradient Boosting, SVM, kNN, AdaBoost, Naive Bayes) and four hard-voting ensembles for DDoS detection in software-defined networks.</a:t>
            </a:r>
          </a:p>
        </p:txBody>
      </p:sp>
      <p:sp>
        <p:nvSpPr>
          <p:cNvPr id="32" name="Rounded Rectangle 31"/>
          <p:cNvSpPr/>
          <p:nvPr/>
        </p:nvSpPr>
        <p:spPr>
          <a:xfrm>
            <a:off x="4334255"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Reported results</a:t>
            </a:r>
          </a:p>
        </p:txBody>
      </p:sp>
      <p:sp>
        <p:nvSpPr>
          <p:cNvPr id="35" name="TextBox 34"/>
          <p:cNvSpPr txBox="1"/>
          <p:nvPr/>
        </p:nvSpPr>
        <p:spPr>
          <a:xfrm>
            <a:off x="4535423" y="3383280"/>
            <a:ext cx="3118104" cy="2743199"/>
          </a:xfrm>
          <a:prstGeom prst="rect">
            <a:avLst/>
          </a:prstGeom>
          <a:noFill/>
        </p:spPr>
        <p:txBody>
          <a:bodyPr wrap="square" lIns="0" rIns="0" tIns="0" bIns="0" anchor="t">
            <a:spAutoFit/>
          </a:bodyPr>
          <a:lstStyle/>
          <a:p>
            <a:pPr algn="l">
              <a:spcAft>
                <a:spcPts val="400"/>
              </a:spcAft>
            </a:pPr>
            <a:r>
              <a:rPr sz="1600" b="0" i="0">
                <a:solidFill>
                  <a:srgbClr val="475569"/>
                </a:solidFill>
              </a:rPr>
              <a:t>All four ensembles reach 100 % accuracy, precision, recall and F1 on an SDN flow dataset (104,345 records) and a CIC-DDoS2023 subset (1,754,109 rows). Training time, inference time, memory and model size are profiled: the SVM and kNN ensembles are slow.</a:t>
            </a:r>
          </a:p>
        </p:txBody>
      </p:sp>
      <p:sp>
        <p:nvSpPr>
          <p:cNvPr id="36" name="Rounded Rectangle 35"/>
          <p:cNvSpPr/>
          <p:nvPr/>
        </p:nvSpPr>
        <p:spPr>
          <a:xfrm>
            <a:off x="8119871"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Relevance and limits</a:t>
            </a:r>
          </a:p>
        </p:txBody>
      </p:sp>
      <p:sp>
        <p:nvSpPr>
          <p:cNvPr id="39" name="TextBox 38"/>
          <p:cNvSpPr txBox="1"/>
          <p:nvPr/>
        </p:nvSpPr>
        <p:spPr>
          <a:xfrm>
            <a:off x="8321040" y="3383280"/>
            <a:ext cx="3118104" cy="2743199"/>
          </a:xfrm>
          <a:prstGeom prst="rect">
            <a:avLst/>
          </a:prstGeom>
          <a:noFill/>
        </p:spPr>
        <p:txBody>
          <a:bodyPr wrap="square" lIns="0" rIns="0" tIns="0" bIns="0" anchor="t">
            <a:spAutoFit/>
          </a:bodyPr>
          <a:lstStyle/>
          <a:p>
            <a:pPr algn="l">
              <a:spcAft>
                <a:spcPts val="400"/>
              </a:spcAft>
            </a:pPr>
            <a:r>
              <a:rPr sz="1600" b="0" i="0">
                <a:solidFill>
                  <a:srgbClr val="475569"/>
                </a:solidFill>
              </a:rPr>
              <a:t>Same family of method as SentinelFlow (Random Forest on flow features). The paper evaluates offline; mitigation, online learning and live testbeds are listed as future work. This project builds that missing live loop.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097280"/>
          <a:ext cx="11091672" cy="5230368"/>
        </p:xfrm>
        <a:graphic>
          <a:graphicData uri="http://schemas.openxmlformats.org/drawingml/2006/table">
            <a:tbl>
              <a:tblPr firstRow="0" bandRow="0">
                <a:tableStyleId>{5C22544A-7EE6-4342-B048-85BDC9FD1C3A}</a:tableStyleId>
              </a:tblPr>
              <a:tblGrid>
                <a:gridCol w="2331720"/>
                <a:gridCol w="548640"/>
                <a:gridCol w="4297680"/>
                <a:gridCol w="3913632"/>
              </a:tblGrid>
              <a:tr h="475488">
                <a:tc>
                  <a:txBody>
                    <a:bodyPr wrap="square"/>
                    <a:lstStyle/>
                    <a:p>
                      <a:pPr algn="ctr"/>
                      <a:r>
                        <a:rPr sz="115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75488">
                <a:tc>
                  <a:txBody>
                    <a:bodyPr wrap="square"/>
                    <a:lstStyle/>
                    <a:p>
                      <a:pPr algn="l"/>
                      <a:r>
                        <a:rPr sz="1100" b="0">
                          <a:solidFill>
                            <a:srgbClr val="0F172A"/>
                          </a:solidFill>
                        </a:rPr>
                        <a:t>Trigui et al. [1]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RF + Banzhaf feature selection; seven classifiers; four hard-voting ensembles; SDN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100 % on SDN flows and CIC-DDoS2023; SVM/kNN ensembles slow; no live mitigation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100" b="0">
                          <a:solidFill>
                            <a:srgbClr val="0F172A"/>
                          </a:solidFill>
                        </a:rPr>
                        <a:t>Swileh et al.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Carpet-bombing DDoS in SDN: RAG + FAISS + LLM, no supervised training; Mininet + Ryu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Accuracy 99.94 % (Gemma-4-31B-IT), about 2 s per request; needs an LLM service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100" b="0">
                          <a:solidFill>
                            <a:srgbClr val="0F172A"/>
                          </a:solidFill>
                        </a:rPr>
                        <a:t>Raghavendran, Robinson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WISNE-SDN IoT controller; KNN, XGBoost, Naive Bayes on a testbed dataset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97 % (KNN), 100 % (XGB) from the abstract; testbed data, detection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100" b="0">
                          <a:solidFill>
                            <a:srgbClr val="0F172A"/>
                          </a:solidFill>
                        </a:rPr>
                        <a:t>Jadric, Mladenovic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Double deep Q-networks for DDoS detection and mitigation (title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Batch survey item; abstract not available, results not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100" b="0">
                          <a:solidFill>
                            <a:srgbClr val="0F172A"/>
                          </a:solidFill>
                        </a:rPr>
                        <a:t>Alashhab et al. [14]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Ensemble online machine learning for DDoS detection and mitigation in SDN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Cited by the base paper; record verified, results not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100" b="0">
                          <a:solidFill>
                            <a:srgbClr val="0F172A"/>
                          </a:solidFill>
                        </a:rPr>
                        <a:t>Rahman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Logistic regression, decision tree, SVM on a CIC dataset sample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SVM 0.971, decision tree 0.827, logistic regression 0.593; detection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100" b="0">
                          <a:solidFill>
                            <a:srgbClr val="0F172A"/>
                          </a:solidFill>
                        </a:rPr>
                        <a:t>Zaman et al. [15]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Decision-tree algorithms for DDoS detection in SDN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Cited by the base paper; record verified, results not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100" b="0">
                          <a:solidFill>
                            <a:srgbClr val="0F172A"/>
                          </a:solidFill>
                        </a:rPr>
                        <a:t>Alduailij et al. [16]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Mutual information + RF feature importance; ensemble voting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99 % on CICIDS2017 and CIC-DDoS2019 (as reported in the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100" b="0">
                          <a:solidFill>
                            <a:srgbClr val="0F172A"/>
                          </a:solidFill>
                        </a:rPr>
                        <a:t>Becerra-Suarez et al. [18]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Tree learners and deep networks with data processing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99.97 % accuracy, 99.98 % F1 (as reported in the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100" b="0">
                          <a:solidFill>
                            <a:srgbClr val="0F172A"/>
                          </a:solidFill>
                        </a:rPr>
                        <a:t>Engelen et al. [9]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Audit of CICIDS2017: labelling and flow-construction problems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Warns that CICIDS2017 results need care; relevant to every claim made on this dataset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7" name="TextBox 26"/>
          <p:cNvSpPr txBox="1"/>
          <p:nvPr/>
        </p:nvSpPr>
        <p:spPr>
          <a:xfrm>
            <a:off x="548640" y="6355080"/>
            <a:ext cx="11091672" cy="320040"/>
          </a:xfrm>
          <a:prstGeom prst="rect">
            <a:avLst/>
          </a:prstGeom>
          <a:noFill/>
        </p:spPr>
        <p:txBody>
          <a:bodyPr wrap="square" lIns="0" rIns="0" tIns="0" bIns="0" anchor="t">
            <a:spAutoFit/>
          </a:bodyPr>
          <a:lstStyle/>
          <a:p>
            <a:pPr algn="l">
              <a:spcAft>
                <a:spcPts val="400"/>
              </a:spcAft>
            </a:pPr>
            <a:r>
              <a:rPr sz="1100" b="0" i="1">
                <a:solidFill>
                  <a:srgbClr val="475569"/>
                </a:solidFill>
              </a:rPr>
              <a:t>Batch survey items [2] and [5] are known by title and record only; their results could not be verified and are not quoted.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from the literature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34440"/>
          <a:ext cx="6400800" cy="4526280"/>
        </p:xfrm>
        <a:graphic>
          <a:graphicData uri="http://schemas.openxmlformats.org/drawingml/2006/chart">
            <c:chart xmlns:c="http://schemas.openxmlformats.org/drawingml/2006/chart" r:id="rId3"/>
          </a:graphicData>
        </a:graphic>
      </p:graphicFrame>
      <p:sp>
        <p:nvSpPr>
          <p:cNvPr id="27" name="TextBox 26"/>
          <p:cNvSpPr txBox="1"/>
          <p:nvPr/>
        </p:nvSpPr>
        <p:spPr>
          <a:xfrm>
            <a:off x="548640" y="5806440"/>
            <a:ext cx="6400800" cy="640080"/>
          </a:xfrm>
          <a:prstGeom prst="rect">
            <a:avLst/>
          </a:prstGeom>
          <a:noFill/>
        </p:spPr>
        <p:txBody>
          <a:bodyPr wrap="square" lIns="0" rIns="0" tIns="0" bIns="0" anchor="t">
            <a:spAutoFit/>
          </a:bodyPr>
          <a:lstStyle/>
          <a:p>
            <a:pPr algn="l">
              <a:spcAft>
                <a:spcPts val="400"/>
              </a:spcAft>
            </a:pPr>
            <a:r>
              <a:rPr sz="1150" b="0" i="1">
                <a:solidFill>
                  <a:srgbClr val="475569"/>
                </a:solidFill>
              </a:rPr>
              <a:t>Accuracy as reported by each source on its own data; the datasets differ, so the bars are not a ranking. Rahman's logistic regression and decision tree show a weak model on the same data.</a:t>
            </a:r>
          </a:p>
        </p:txBody>
      </p:sp>
      <p:sp>
        <p:nvSpPr>
          <p:cNvPr id="28" name="TextBox 27"/>
          <p:cNvSpPr txBox="1"/>
          <p:nvPr/>
        </p:nvSpPr>
        <p:spPr>
          <a:xfrm>
            <a:off x="7223760" y="1325880"/>
            <a:ext cx="4434840" cy="4937760"/>
          </a:xfrm>
          <a:prstGeom prst="rect">
            <a:avLst/>
          </a:prstGeom>
          <a:noFill/>
        </p:spPr>
        <p:txBody>
          <a:bodyPr wrap="square" lIns="0" rIns="0" tIns="0" bIns="0" anchor="t">
            <a:spAutoFit/>
          </a:bodyPr>
          <a:lstStyle/>
          <a:p>
            <a:pPr algn="l">
              <a:spcAft>
                <a:spcPts val="800"/>
              </a:spcAft>
            </a:pPr>
            <a:r>
              <a:rPr sz="1400" b="1" i="0">
                <a:solidFill>
                  <a:srgbClr val="0F172A"/>
                </a:solidFill>
              </a:rPr>
              <a:t>What the literature shows</a:t>
            </a:r>
          </a:p>
          <a:p>
            <a:pPr algn="l" marL="256032" indent="-201168">
              <a:spcAft>
                <a:spcPts val="800"/>
              </a:spcAft>
              <a:buChar char="•"/>
            </a:pPr>
            <a:r>
              <a:rPr sz="1400" b="0" i="0">
                <a:solidFill>
                  <a:srgbClr val="0F172A"/>
                </a:solidFill>
              </a:rPr>
              <a:t>Tree-based learners reach 97-100 % on public DDoS data [1], [3], [7].</a:t>
            </a:r>
          </a:p>
          <a:p>
            <a:pPr algn="l" marL="256032" indent="-201168">
              <a:spcAft>
                <a:spcPts val="800"/>
              </a:spcAft>
              <a:buChar char="•"/>
            </a:pPr>
            <a:r>
              <a:rPr sz="1400" b="0" i="0">
                <a:solidFill>
                  <a:srgbClr val="0F172A"/>
                </a:solidFill>
              </a:rPr>
              <a:t>A retrieval-and-LLM detector reaches 99.94 % on carpet-bombing traffic but needs about 2 s per request and an LLM service [6].</a:t>
            </a:r>
          </a:p>
          <a:p>
            <a:pPr algn="l" marL="256032" indent="-201168">
              <a:spcAft>
                <a:spcPts val="800"/>
              </a:spcAft>
              <a:buChar char="•"/>
            </a:pPr>
            <a:r>
              <a:rPr sz="1400" b="0" i="0">
                <a:solidFill>
                  <a:srgbClr val="0F172A"/>
                </a:solidFill>
              </a:rPr>
              <a:t>The heaviest ensembles (SVM, kNN) take over 4,000 s to train or 150 s to classify one test set [1].</a:t>
            </a:r>
          </a:p>
          <a:p>
            <a:pPr algn="l" marL="256032" indent="-201168">
              <a:spcAft>
                <a:spcPts val="400"/>
              </a:spcAft>
              <a:buChar char="•"/>
            </a:pPr>
            <a:r>
              <a:rPr sz="1400" b="0" i="0">
                <a:solidFill>
                  <a:srgbClr val="0F172A"/>
                </a:solidFill>
              </a:rPr>
              <a:t>CICIDS2017 itself has labelling problems that affect reported scores [9].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Network traffic</a:t>
            </a:r>
          </a:p>
        </p:txBody>
      </p:sp>
      <p:sp>
        <p:nvSpPr>
          <p:cNvPr id="27" name="Right Arrow 26"/>
          <p:cNvSpPr/>
          <p:nvPr/>
        </p:nvSpPr>
        <p:spPr>
          <a:xfrm>
            <a:off x="3106674"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Signature or threshold IDS, or offline ML classifier</a:t>
            </a:r>
          </a:p>
        </p:txBody>
      </p:sp>
      <p:sp>
        <p:nvSpPr>
          <p:cNvPr id="29" name="Right Arrow 28"/>
          <p:cNvSpPr/>
          <p:nvPr/>
        </p:nvSpPr>
        <p:spPr>
          <a:xfrm>
            <a:off x="5993892"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Alert to an operator</a:t>
            </a:r>
          </a:p>
        </p:txBody>
      </p:sp>
      <p:sp>
        <p:nvSpPr>
          <p:cNvPr id="31" name="Right Arrow 30"/>
          <p:cNvSpPr/>
          <p:nvPr/>
        </p:nvSpPr>
        <p:spPr>
          <a:xfrm>
            <a:off x="8881110"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Manual response</a:t>
            </a:r>
          </a:p>
        </p:txBody>
      </p:sp>
      <p:sp>
        <p:nvSpPr>
          <p:cNvPr id="33" name="Rounded Rectangle 32"/>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Rules, thresholds and classical ML</a:t>
            </a:r>
          </a:p>
        </p:txBody>
      </p:sp>
      <p:sp>
        <p:nvSpPr>
          <p:cNvPr id="36" name="TextBox 35"/>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Early SDN detectors count flows or packet rates against thresholds [23]; supervised learners (SVM, decision trees, Random Forest) classify flow records [7], [15], [16].
Taxonomies of attack and defence are in [11].</a:t>
            </a:r>
          </a:p>
        </p:txBody>
      </p:sp>
      <p:sp>
        <p:nvSpPr>
          <p:cNvPr id="37" name="Rounded Rectangle 36"/>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Ensembles, deep and LLM-based detectors</a:t>
            </a:r>
          </a:p>
        </p:txBody>
      </p:sp>
      <p:sp>
        <p:nvSpPr>
          <p:cNvPr id="40" name="TextBox 39"/>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Ensembles and feature selection raise accuracy [1], [19], [18]; online ensembles add mitigation in SDN [14]; a retrieval-augmented LLM targets carpet bombing [6].
Most are evaluated offline or inside an emulated SDN.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Offline evaluation</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Reported 99-100 % scores come from offline splits of one dataset at a time; the base paper itself lists live testbeds and production traces as future work [1].</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Detection without action</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A classifier that only raises an alert leaves the service down; the base paper describes a sidecar that could throttle flows but does not implement it [1].</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Heavy models</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SVM and kNN ensembles need thousands of seconds to train or minutes to classify [1]; the LLM detector needs about 2 s per request and a hosted model [6].</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Dataset caveats</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CICIDS2017 has known labelling and flow-construction problems [9]; models trained on closed-world data degrade on real traffic [10].</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300" b="0" i="0">
                <a:solidFill>
                  <a:srgbClr val="0F172A"/>
                </a:solidFill>
              </a:rPr>
              <a:t>A false positive on a legitimate source is itself a denial of service, yet the cost of false alarms is rarely reported next to accuracy. Survey items known by title only are not quoted [2], [5].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600200"/>
            <a:ext cx="640080" cy="64008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1</a:t>
            </a:r>
          </a:p>
        </p:txBody>
      </p:sp>
      <p:sp>
        <p:nvSpPr>
          <p:cNvPr id="27" name="TextBox 26"/>
          <p:cNvSpPr txBox="1"/>
          <p:nvPr/>
        </p:nvSpPr>
        <p:spPr>
          <a:xfrm>
            <a:off x="1463040" y="1280160"/>
            <a:ext cx="10149840" cy="1463040"/>
          </a:xfrm>
          <a:prstGeom prst="rect">
            <a:avLst/>
          </a:prstGeom>
          <a:noFill/>
        </p:spPr>
        <p:txBody>
          <a:bodyPr wrap="square" lIns="0" rIns="0" tIns="0" bIns="0" anchor="ctr">
            <a:spAutoFit/>
          </a:bodyPr>
          <a:lstStyle/>
          <a:p>
            <a:pPr algn="l">
              <a:spcAft>
                <a:spcPts val="400"/>
              </a:spcAft>
            </a:pPr>
            <a:r>
              <a:rPr sz="1700" b="0" i="0">
                <a:solidFill>
                  <a:srgbClr val="0F172A"/>
                </a:solidFill>
              </a:rPr>
              <a:t>The surveyed work applies ensemble detection within software-defined networks; closing the loop from real-time detection to automatic, adaptive mitigation with measured response latency is the gap named in the batch survey.</a:t>
            </a:r>
          </a:p>
        </p:txBody>
      </p:sp>
      <p:sp>
        <p:nvSpPr>
          <p:cNvPr id="28" name="Oval 27"/>
          <p:cNvSpPr/>
          <p:nvPr/>
        </p:nvSpPr>
        <p:spPr>
          <a:xfrm>
            <a:off x="548640" y="3200400"/>
            <a:ext cx="640080" cy="64008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2</a:t>
            </a:r>
          </a:p>
        </p:txBody>
      </p:sp>
      <p:sp>
        <p:nvSpPr>
          <p:cNvPr id="29" name="TextBox 28"/>
          <p:cNvSpPr txBox="1"/>
          <p:nvPr/>
        </p:nvSpPr>
        <p:spPr>
          <a:xfrm>
            <a:off x="1463040" y="2880360"/>
            <a:ext cx="10149840" cy="1463040"/>
          </a:xfrm>
          <a:prstGeom prst="rect">
            <a:avLst/>
          </a:prstGeom>
          <a:noFill/>
        </p:spPr>
        <p:txBody>
          <a:bodyPr wrap="square" lIns="0" rIns="0" tIns="0" bIns="0" anchor="ctr">
            <a:spAutoFit/>
          </a:bodyPr>
          <a:lstStyle/>
          <a:p>
            <a:pPr algn="l">
              <a:spcAft>
                <a:spcPts val="400"/>
              </a:spcAft>
            </a:pPr>
            <a:r>
              <a:rPr sz="1700" b="0" i="0">
                <a:solidFill>
                  <a:srgbClr val="0F172A"/>
                </a:solidFill>
              </a:rPr>
              <a:t>Reported accuracies of 99-100 % come from offline evaluations on one dataset at a time; few works run a live (or live-like) capture-to-action loop on a commodity host.</a:t>
            </a:r>
          </a:p>
        </p:txBody>
      </p:sp>
      <p:sp>
        <p:nvSpPr>
          <p:cNvPr id="30" name="Oval 29"/>
          <p:cNvSpPr/>
          <p:nvPr/>
        </p:nvSpPr>
        <p:spPr>
          <a:xfrm>
            <a:off x="548640" y="4800600"/>
            <a:ext cx="640080" cy="64008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3</a:t>
            </a:r>
          </a:p>
        </p:txBody>
      </p:sp>
      <p:sp>
        <p:nvSpPr>
          <p:cNvPr id="31" name="TextBox 30"/>
          <p:cNvSpPr txBox="1"/>
          <p:nvPr/>
        </p:nvSpPr>
        <p:spPr>
          <a:xfrm>
            <a:off x="1463040" y="4480560"/>
            <a:ext cx="10149840" cy="1463040"/>
          </a:xfrm>
          <a:prstGeom prst="rect">
            <a:avLst/>
          </a:prstGeom>
          <a:noFill/>
        </p:spPr>
        <p:txBody>
          <a:bodyPr wrap="square" lIns="0" rIns="0" tIns="0" bIns="0" anchor="ctr">
            <a:spAutoFit/>
          </a:bodyPr>
          <a:lstStyle/>
          <a:p>
            <a:pPr algn="l">
              <a:spcAft>
                <a:spcPts val="400"/>
              </a:spcAft>
            </a:pPr>
            <a:r>
              <a:rPr sz="1700" b="0" i="0">
                <a:solidFill>
                  <a:srgbClr val="0F172A"/>
                </a:solidFill>
              </a:rPr>
              <a:t>False-positive cost is rarely measured at the level where it hurts (a legitimate source quarantined), and carpet-bombing traffic that spreads across many destinations is seldom scored with a distributed-traffic signal.</a:t>
            </a:r>
          </a:p>
        </p:txBody>
      </p:sp>
      <p:sp>
        <p:nvSpPr>
          <p:cNvPr id="32" name="Rounded Rectangle 31"/>
          <p:cNvSpPr/>
          <p:nvPr/>
        </p:nvSpPr>
        <p:spPr>
          <a:xfrm>
            <a:off x="548640" y="5943600"/>
            <a:ext cx="11091672" cy="548640"/>
          </a:xfrm>
          <a:prstGeom prst="roundRect">
            <a:avLst>
              <a:gd name="adj" fmla="val 3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77240" y="5943600"/>
            <a:ext cx="10607040" cy="548640"/>
          </a:xfrm>
          <a:prstGeom prst="rect">
            <a:avLst/>
          </a:prstGeom>
          <a:noFill/>
        </p:spPr>
        <p:txBody>
          <a:bodyPr wrap="square" lIns="0" rIns="0" tIns="0" bIns="0" anchor="ctr">
            <a:spAutoFit/>
          </a:bodyPr>
          <a:lstStyle/>
          <a:p>
            <a:pPr algn="l">
              <a:spcAft>
                <a:spcPts val="400"/>
              </a:spcAft>
            </a:pPr>
            <a:r>
              <a:rPr sz="1400" b="1" i="0">
                <a:solidFill>
                  <a:srgbClr val="0F172A"/>
                </a:solidFill>
              </a:rPr>
              <a:t>Gap addressed here: a measured capture, classify, assess, act and recover loop with false-positive cost reported.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800" b="0" i="0">
                <a:solidFill>
                  <a:srgbClr val="0F172A"/>
                </a:solidFill>
              </a:rPr>
              <a:t>Signature-based defences cannot detect novel or modified attack patterns.</a:t>
            </a:r>
          </a:p>
          <a:p>
            <a:pPr algn="l" marL="256032" indent="-201168">
              <a:spcAft>
                <a:spcPts val="800"/>
              </a:spcAft>
              <a:buChar char="•"/>
            </a:pPr>
            <a:r>
              <a:rPr sz="1800" b="0" i="0">
                <a:solidFill>
                  <a:srgbClr val="0F172A"/>
                </a:solidFill>
              </a:rPr>
              <a:t>Detection without mitigation leaves the service unavailable while the attack continues.</a:t>
            </a:r>
          </a:p>
          <a:p>
            <a:pPr algn="l" marL="256032" indent="-201168">
              <a:spcAft>
                <a:spcPts val="800"/>
              </a:spcAft>
              <a:buChar char="•"/>
            </a:pPr>
            <a:r>
              <a:rPr sz="1800" b="0" i="0">
                <a:solidFill>
                  <a:srgbClr val="0F172A"/>
                </a:solidFill>
              </a:rPr>
              <a:t>Blocking legitimate users through false positives is itself a denial of service.</a:t>
            </a:r>
          </a:p>
          <a:p>
            <a:pPr algn="l" marL="256032" indent="-201168">
              <a:spcAft>
                <a:spcPts val="800"/>
              </a:spcAft>
              <a:buChar char="•"/>
            </a:pPr>
            <a:r>
              <a:rPr sz="1800" b="0" i="0">
                <a:solidFill>
                  <a:srgbClr val="0F172A"/>
                </a:solidFill>
              </a:rPr>
              <a:t>Attack traffic must be classified fast enough to act before resources are exhausted.</a:t>
            </a:r>
          </a:p>
        </p:txBody>
      </p:sp>
      <p:sp>
        <p:nvSpPr>
          <p:cNvPr id="28" name="Rounded Rectangle 27"/>
          <p:cNvSpPr/>
          <p:nvPr/>
        </p:nvSpPr>
        <p:spPr>
          <a:xfrm>
            <a:off x="548640"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234440"/>
          </a:xfrm>
          <a:prstGeom prst="rect">
            <a:avLst/>
          </a:prstGeom>
          <a:noFill/>
        </p:spPr>
        <p:txBody>
          <a:bodyPr wrap="square" lIns="0" rIns="0" tIns="0" bIns="0" anchor="t">
            <a:spAutoFit/>
          </a:bodyPr>
          <a:lstStyle/>
          <a:p>
            <a:pPr algn="l">
              <a:spcAft>
                <a:spcPts val="400"/>
              </a:spcAft>
            </a:pPr>
            <a:r>
              <a:rPr sz="1500" b="0" i="0">
                <a:solidFill>
                  <a:srgbClr val="475569"/>
                </a:solidFill>
              </a:rPr>
              <a:t>Packets on a network interface (or simulated packets), grouped into rolling windows of 2-120 s, ten flow features per window</a:t>
            </a:r>
          </a:p>
        </p:txBody>
      </p:sp>
      <p:sp>
        <p:nvSpPr>
          <p:cNvPr id="31" name="Rounded Rectangle 30"/>
          <p:cNvSpPr/>
          <p:nvPr/>
        </p:nvSpPr>
        <p:spPr>
          <a:xfrm>
            <a:off x="4334255"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234440"/>
          </a:xfrm>
          <a:prstGeom prst="rect">
            <a:avLst/>
          </a:prstGeom>
          <a:noFill/>
        </p:spPr>
        <p:txBody>
          <a:bodyPr wrap="square" lIns="0" rIns="0" tIns="0" bIns="0" anchor="t">
            <a:spAutoFit/>
          </a:bodyPr>
          <a:lstStyle/>
          <a:p>
            <a:pPr algn="l">
              <a:spcAft>
                <a:spcPts val="400"/>
              </a:spcAft>
            </a:pPr>
            <a:r>
              <a:rPr sz="1500" b="0" i="0">
                <a:solidFill>
                  <a:srgbClr val="475569"/>
                </a:solidFill>
              </a:rPr>
              <a:t>Benign or Attack with a confidence, a severity from Low to Critical with its factors, and a temporary quarantine of the worst sources</a:t>
            </a:r>
          </a:p>
        </p:txBody>
      </p:sp>
      <p:sp>
        <p:nvSpPr>
          <p:cNvPr id="34" name="Rounded Rectangle 33"/>
          <p:cNvSpPr/>
          <p:nvPr/>
        </p:nvSpPr>
        <p:spPr>
          <a:xfrm>
            <a:off x="8119871"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Measures</a:t>
            </a:r>
          </a:p>
        </p:txBody>
      </p:sp>
      <p:sp>
        <p:nvSpPr>
          <p:cNvPr id="36" name="TextBox 35"/>
          <p:cNvSpPr txBox="1"/>
          <p:nvPr/>
        </p:nvSpPr>
        <p:spPr>
          <a:xfrm>
            <a:off x="8348471" y="4892040"/>
            <a:ext cx="3108960" cy="1234440"/>
          </a:xfrm>
          <a:prstGeom prst="rect">
            <a:avLst/>
          </a:prstGeom>
          <a:noFill/>
        </p:spPr>
        <p:txBody>
          <a:bodyPr wrap="square" lIns="0" rIns="0" tIns="0" bIns="0" anchor="t">
            <a:spAutoFit/>
          </a:bodyPr>
          <a:lstStyle/>
          <a:p>
            <a:pPr algn="l">
              <a:spcAft>
                <a:spcPts val="400"/>
              </a:spcAft>
            </a:pPr>
            <a:r>
              <a:rPr sz="1500" b="0" i="0">
                <a:solidFill>
                  <a:srgbClr val="475569"/>
                </a:solidFill>
              </a:rPr>
              <a:t>Accuracy, precision, recall, F1, false-positive rate and time from detection to mitigation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400"/>
              </a:spcAft>
            </a:pPr>
            <a:r>
              <a:rPr sz="2100" b="0" i="0">
                <a:solidFill>
                  <a:srgbClr val="0F172A"/>
                </a:solidFill>
              </a:rPr>
              <a:t>1.  Acquire a benchmark intrusion dataset and extract network flow features</a:t>
            </a:r>
          </a:p>
          <a:p>
            <a:pPr algn="l">
              <a:spcAft>
                <a:spcPts val="1400"/>
              </a:spcAft>
            </a:pPr>
            <a:r>
              <a:rPr sz="2100" b="0" i="0">
                <a:solidFill>
                  <a:srgbClr val="0F172A"/>
                </a:solidFill>
              </a:rPr>
              <a:t>2.  Capture live traffic and compute the same features in real time</a:t>
            </a:r>
          </a:p>
          <a:p>
            <a:pPr algn="l">
              <a:spcAft>
                <a:spcPts val="1400"/>
              </a:spcAft>
            </a:pPr>
            <a:r>
              <a:rPr sz="2100" b="0" i="0">
                <a:solidFill>
                  <a:srgbClr val="0F172A"/>
                </a:solidFill>
              </a:rPr>
              <a:t>3.  Train a classifier to distinguish DDoS traffic from legitimate traffic</a:t>
            </a:r>
          </a:p>
          <a:p>
            <a:pPr algn="l">
              <a:spcAft>
                <a:spcPts val="1400"/>
              </a:spcAft>
            </a:pPr>
            <a:r>
              <a:rPr sz="2100" b="0" i="0">
                <a:solidFill>
                  <a:srgbClr val="0F172A"/>
                </a:solidFill>
              </a:rPr>
              <a:t>4.  Implement adaptive mitigation that rate-limits or blocks identified attack sources</a:t>
            </a:r>
          </a:p>
          <a:p>
            <a:pPr algn="l">
              <a:spcAft>
                <a:spcPts val="1400"/>
              </a:spcAft>
            </a:pPr>
            <a:r>
              <a:rPr sz="2100" b="0" i="0">
                <a:solidFill>
                  <a:srgbClr val="0F172A"/>
                </a:solidFill>
              </a:rPr>
              <a:t>5.  Build a dashboard showing live traffic, detection events and mitigation actions</a:t>
            </a:r>
          </a:p>
          <a:p>
            <a:pPr algn="l">
              <a:spcAft>
                <a:spcPts val="1400"/>
              </a:spcAft>
            </a:pPr>
            <a:r>
              <a:rPr sz="2100" b="0" i="0">
                <a:solidFill>
                  <a:srgbClr val="0F172A"/>
                </a:solidFill>
              </a:rPr>
              <a:t>6.  Evaluate detection accuracy, false positive rate and time from detection to mitigation</a:t>
            </a:r>
          </a:p>
        </p:txBody>
      </p:sp>
      <p:sp>
        <p:nvSpPr>
          <p:cNvPr id="27" name="TextBox 26"/>
          <p:cNvSpPr txBox="1"/>
          <p:nvPr/>
        </p:nvSpPr>
        <p:spPr>
          <a:xfrm>
            <a:off x="548640" y="5806440"/>
            <a:ext cx="11091672" cy="640080"/>
          </a:xfrm>
          <a:prstGeom prst="rect">
            <a:avLst/>
          </a:prstGeom>
          <a:noFill/>
        </p:spPr>
        <p:txBody>
          <a:bodyPr wrap="square" lIns="0" rIns="0" tIns="0" bIns="0" anchor="t">
            <a:spAutoFit/>
          </a:bodyPr>
          <a:lstStyle/>
          <a:p>
            <a:pPr algn="l">
              <a:spcAft>
                <a:spcPts val="400"/>
              </a:spcAft>
            </a:pPr>
            <a:r>
              <a:rPr sz="1400" b="0" i="1">
                <a:solidFill>
                  <a:srgbClr val="475569"/>
                </a:solidFill>
              </a:rPr>
              <a:t>How far each objective was met is reported in Review 2 and the final review, including the parts that were only partly achieved.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Capture</a:t>
            </a:r>
          </a:p>
        </p:txBody>
      </p:sp>
      <p:sp>
        <p:nvSpPr>
          <p:cNvPr id="29" name="TextBox 28"/>
          <p:cNvSpPr txBox="1"/>
          <p:nvPr/>
        </p:nvSpPr>
        <p:spPr>
          <a:xfrm>
            <a:off x="749808"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Scapy sniffs a chosen interface for a rolling window (10 s by default); a built-in simulator generates benign, flood, carpet-bombing and slow traffic for demonstrations without sending any packets.</a:t>
            </a:r>
          </a:p>
        </p:txBody>
      </p:sp>
      <p:sp>
        <p:nvSpPr>
          <p:cNvPr id="30" name="Rounded Rectangle 29"/>
          <p:cNvSpPr/>
          <p:nvPr/>
        </p:nvSpPr>
        <p:spPr>
          <a:xfrm>
            <a:off x="3364992"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Classify</a:t>
            </a:r>
          </a:p>
        </p:txBody>
      </p:sp>
      <p:sp>
        <p:nvSpPr>
          <p:cNvPr id="33" name="TextBox 32"/>
          <p:cNvSpPr txBox="1"/>
          <p:nvPr/>
        </p:nvSpPr>
        <p:spPr>
          <a:xfrm>
            <a:off x="3566160"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Ten features per window (packets, bytes, rates, average sizes, sent and received) go to a 200-tree Random Forest trained on CICIDS2017-style flows.</a:t>
            </a:r>
          </a:p>
        </p:txBody>
      </p:sp>
      <p:sp>
        <p:nvSpPr>
          <p:cNvPr id="34" name="Rounded Rectangle 33"/>
          <p:cNvSpPr/>
          <p:nvPr/>
        </p:nvSpPr>
        <p:spPr>
          <a:xfrm>
            <a:off x="6181344"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Assess</a:t>
            </a:r>
          </a:p>
        </p:txBody>
      </p:sp>
      <p:sp>
        <p:nvSpPr>
          <p:cNvPr id="37" name="TextBox 36"/>
          <p:cNvSpPr txBox="1"/>
          <p:nvPr/>
        </p:nvSpPr>
        <p:spPr>
          <a:xfrm>
            <a:off x="6382512"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A transparent score of source and destination spread, rate and baseline deviation, then a severity with its listed factors.</a:t>
            </a:r>
          </a:p>
        </p:txBody>
      </p:sp>
      <p:sp>
        <p:nvSpPr>
          <p:cNvPr id="38" name="Rounded Rectangle 37"/>
          <p:cNvSpPr/>
          <p:nvPr/>
        </p:nvSpPr>
        <p:spPr>
          <a:xfrm>
            <a:off x="8997696"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Act</a:t>
            </a:r>
          </a:p>
        </p:txBody>
      </p:sp>
      <p:sp>
        <p:nvSpPr>
          <p:cNvPr id="41" name="TextBox 40"/>
          <p:cNvSpPr txBox="1"/>
          <p:nvPr/>
        </p:nvSpPr>
        <p:spPr>
          <a:xfrm>
            <a:off x="9198864"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High and Critical windows quarantine the top three sources for 40 s (80 s for Critical); quarantines expire and recover by themselves.</a:t>
            </a:r>
          </a:p>
        </p:txBody>
      </p:sp>
      <p:sp>
        <p:nvSpPr>
          <p:cNvPr id="42" name="Rounded Rectangle 41"/>
          <p:cNvSpPr/>
          <p:nvPr/>
        </p:nvSpPr>
        <p:spPr>
          <a:xfrm>
            <a:off x="548640" y="4892040"/>
            <a:ext cx="11091672" cy="1280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663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UI</a:t>
            </a:r>
          </a:p>
        </p:txBody>
      </p:sp>
      <p:sp>
        <p:nvSpPr>
          <p:cNvPr id="44" name="TextBox 43"/>
          <p:cNvSpPr txBox="1"/>
          <p:nvPr/>
        </p:nvSpPr>
        <p:spPr>
          <a:xfrm>
            <a:off x="1645920" y="502920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Flask API + SQLite history + React console (9 pages)</a:t>
            </a:r>
          </a:p>
        </p:txBody>
      </p:sp>
      <p:sp>
        <p:nvSpPr>
          <p:cNvPr id="45" name="TextBox 44"/>
          <p:cNvSpPr txBox="1"/>
          <p:nvPr/>
        </p:nvSpPr>
        <p:spPr>
          <a:xfrm>
            <a:off x="1645920" y="5440680"/>
            <a:ext cx="9784080" cy="685800"/>
          </a:xfrm>
          <a:prstGeom prst="rect">
            <a:avLst/>
          </a:prstGeom>
          <a:noFill/>
        </p:spPr>
        <p:txBody>
          <a:bodyPr wrap="square" lIns="0" rIns="0" tIns="0" bIns="0" anchor="t">
            <a:spAutoFit/>
          </a:bodyPr>
          <a:lstStyle/>
          <a:p>
            <a:pPr algn="l">
              <a:spcAft>
                <a:spcPts val="400"/>
              </a:spcAft>
            </a:pPr>
            <a:r>
              <a:rPr sz="1400" b="0" i="0">
                <a:solidFill>
                  <a:srgbClr val="475569"/>
                </a:solidFill>
              </a:rPr>
              <a:t>Defensive only: no attack generation, no scanning, and the operating-system firewall is never changed by the application.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sf_deck_r1_01.png"/>
          <p:cNvPicPr>
            <a:picLocks noChangeAspect="1"/>
          </p:cNvPicPr>
          <p:nvPr/>
        </p:nvPicPr>
        <p:blipFill>
          <a:blip r:embed="rId1"/>
          <a:stretch>
            <a:fillRect/>
          </a:stretch>
        </p:blipFill>
        <p:spPr>
          <a:xfrm>
            <a:off x="883454" y="1097280"/>
            <a:ext cx="6828450" cy="5394960"/>
          </a:xfrm>
          <a:prstGeom prst="rect">
            <a:avLst/>
          </a:prstGeom>
        </p:spPr>
      </p:pic>
      <p:sp>
        <p:nvSpPr>
          <p:cNvPr id="27" name="TextBox 26"/>
          <p:cNvSpPr txBox="1"/>
          <p:nvPr/>
        </p:nvSpPr>
        <p:spPr>
          <a:xfrm>
            <a:off x="8321040" y="1371600"/>
            <a:ext cx="3383280" cy="4754880"/>
          </a:xfrm>
          <a:prstGeom prst="rect">
            <a:avLst/>
          </a:prstGeom>
          <a:noFill/>
        </p:spPr>
        <p:txBody>
          <a:bodyPr wrap="square" lIns="0" rIns="0" tIns="0" bIns="0" anchor="t">
            <a:spAutoFit/>
          </a:bodyPr>
          <a:lstStyle/>
          <a:p>
            <a:pPr algn="l">
              <a:spcAft>
                <a:spcPts val="800"/>
              </a:spcAft>
            </a:pPr>
            <a:r>
              <a:rPr sz="1400" b="1" i="0">
                <a:solidFill>
                  <a:srgbClr val="0F172A"/>
                </a:solidFill>
              </a:rPr>
              <a:t>Four tiers</a:t>
            </a:r>
          </a:p>
          <a:p>
            <a:pPr algn="l" marL="256032" indent="-201168">
              <a:spcAft>
                <a:spcPts val="400"/>
              </a:spcAft>
              <a:buChar char="•"/>
            </a:pPr>
            <a:r>
              <a:rPr sz="1400" b="0" i="0">
                <a:solidFill>
                  <a:srgbClr val="0F172A"/>
                </a:solidFill>
              </a:rPr>
              <a:t>Browser: React and Vite console (port 5415).</a:t>
            </a:r>
          </a:p>
          <a:p>
            <a:pPr algn="l" marL="256032" indent="-201168">
              <a:spcAft>
                <a:spcPts val="400"/>
              </a:spcAft>
              <a:buChar char="•"/>
            </a:pPr>
            <a:r>
              <a:rPr sz="1400" b="0" i="0">
                <a:solidFill>
                  <a:srgbClr val="0F172A"/>
                </a:solidFill>
              </a:rPr>
              <a:t>Flask API (port 8415), twelve JSON endpoints, input checks.</a:t>
            </a:r>
          </a:p>
          <a:p>
            <a:pPr algn="l" marL="256032" indent="-201168">
              <a:spcAft>
                <a:spcPts val="400"/>
              </a:spcAft>
              <a:buChar char="•"/>
            </a:pPr>
            <a:r>
              <a:rPr sz="1400" b="0" i="0">
                <a:solidFill>
                  <a:srgbClr val="0F172A"/>
                </a:solidFill>
              </a:rPr>
              <a:t>Pipeline: capture or simulator, aggregator, Random Forest, distributed risk, severity, mitigation.</a:t>
            </a:r>
          </a:p>
          <a:p>
            <a:pPr algn="l" marL="256032" indent="-201168">
              <a:spcAft>
                <a:spcPts val="400"/>
              </a:spcAft>
              <a:buChar char="•"/>
            </a:pPr>
            <a:r>
              <a:rPr sz="1400" b="0" i="0">
                <a:solidFill>
                  <a:srgbClr val="0F172A"/>
                </a:solidFill>
              </a:rPr>
              <a:t>State: SQLite database, model file and result files; nothing leaves the machine.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product</a:t>
            </a:r>
          </a:p>
        </p:txBody>
      </p:sp>
      <p:sp>
        <p:nvSpPr>
          <p:cNvPr id="29" name="TextBox 28"/>
          <p:cNvSpPr txBox="1"/>
          <p:nvPr/>
        </p:nvSpPr>
        <p:spPr>
          <a:xfrm>
            <a:off x="749808" y="2240280"/>
            <a:ext cx="3118104" cy="1417319"/>
          </a:xfrm>
          <a:prstGeom prst="rect">
            <a:avLst/>
          </a:prstGeom>
          <a:noFill/>
        </p:spPr>
        <p:txBody>
          <a:bodyPr wrap="square" lIns="0" rIns="0" tIns="0" bIns="0" anchor="t">
            <a:spAutoFit/>
          </a:bodyPr>
          <a:lstStyle/>
          <a:p>
            <a:pPr algn="l">
              <a:spcAft>
                <a:spcPts val="400"/>
              </a:spcAft>
            </a:pPr>
            <a:r>
              <a:rPr sz="1700" b="0" i="0">
                <a:solidFill>
                  <a:srgbClr val="475569"/>
                </a:solidFill>
              </a:rPr>
              <a:t>A console that shows live or simulated windows, detections, health, quarantines and model metrics, backed by a tested API.</a:t>
            </a:r>
          </a:p>
        </p:txBody>
      </p:sp>
      <p:sp>
        <p:nvSpPr>
          <p:cNvPr id="30" name="Rounded Rectangle 29"/>
          <p:cNvSpPr/>
          <p:nvPr/>
        </p:nvSpPr>
        <p:spPr>
          <a:xfrm>
            <a:off x="4334255"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evaluation</a:t>
            </a:r>
          </a:p>
        </p:txBody>
      </p:sp>
      <p:sp>
        <p:nvSpPr>
          <p:cNvPr id="33" name="TextBox 32"/>
          <p:cNvSpPr txBox="1"/>
          <p:nvPr/>
        </p:nvSpPr>
        <p:spPr>
          <a:xfrm>
            <a:off x="4535423" y="2240280"/>
            <a:ext cx="3118104" cy="1417319"/>
          </a:xfrm>
          <a:prstGeom prst="rect">
            <a:avLst/>
          </a:prstGeom>
          <a:noFill/>
        </p:spPr>
        <p:txBody>
          <a:bodyPr wrap="square" lIns="0" rIns="0" tIns="0" bIns="0" anchor="t">
            <a:spAutoFit/>
          </a:bodyPr>
          <a:lstStyle/>
          <a:p>
            <a:pPr algn="l">
              <a:spcAft>
                <a:spcPts val="400"/>
              </a:spcAft>
            </a:pPr>
            <a:r>
              <a:rPr sz="1700" b="0" i="0">
                <a:solidFill>
                  <a:srgbClr val="475569"/>
                </a:solidFill>
              </a:rPr>
              <a:t>Accuracy, precision, recall, F1 and false-positive rate on real CICIDS2017 flows, kept separate from synthetic results.</a:t>
            </a:r>
          </a:p>
        </p:txBody>
      </p:sp>
      <p:sp>
        <p:nvSpPr>
          <p:cNvPr id="34" name="Rounded Rectangle 33"/>
          <p:cNvSpPr/>
          <p:nvPr/>
        </p:nvSpPr>
        <p:spPr>
          <a:xfrm>
            <a:off x="8119871"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Explainable response</a:t>
            </a:r>
          </a:p>
        </p:txBody>
      </p:sp>
      <p:sp>
        <p:nvSpPr>
          <p:cNvPr id="37" name="TextBox 36"/>
          <p:cNvSpPr txBox="1"/>
          <p:nvPr/>
        </p:nvSpPr>
        <p:spPr>
          <a:xfrm>
            <a:off x="8321040" y="2240280"/>
            <a:ext cx="3118104" cy="1417319"/>
          </a:xfrm>
          <a:prstGeom prst="rect">
            <a:avLst/>
          </a:prstGeom>
          <a:noFill/>
        </p:spPr>
        <p:txBody>
          <a:bodyPr wrap="square" lIns="0" rIns="0" tIns="0" bIns="0" anchor="t">
            <a:spAutoFit/>
          </a:bodyPr>
          <a:lstStyle/>
          <a:p>
            <a:pPr algn="l">
              <a:spcAft>
                <a:spcPts val="400"/>
              </a:spcAft>
            </a:pPr>
            <a:r>
              <a:rPr sz="1700" b="0" i="0">
                <a:solidFill>
                  <a:srgbClr val="475569"/>
                </a:solidFill>
              </a:rPr>
              <a:t>Every severity comes with its contributing factors and a recommended action; quarantines recover automatically.</a:t>
            </a:r>
          </a:p>
        </p:txBody>
      </p:sp>
      <p:sp>
        <p:nvSpPr>
          <p:cNvPr id="38" name="Rounded Rectangle 37"/>
          <p:cNvSpPr/>
          <p:nvPr/>
        </p:nvSpPr>
        <p:spPr>
          <a:xfrm>
            <a:off x="548640"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605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Safe demonstration</a:t>
            </a:r>
          </a:p>
        </p:txBody>
      </p:sp>
      <p:sp>
        <p:nvSpPr>
          <p:cNvPr id="41" name="TextBox 40"/>
          <p:cNvSpPr txBox="1"/>
          <p:nvPr/>
        </p:nvSpPr>
        <p:spPr>
          <a:xfrm>
            <a:off x="749808" y="4846320"/>
            <a:ext cx="5038344" cy="1188719"/>
          </a:xfrm>
          <a:prstGeom prst="rect">
            <a:avLst/>
          </a:prstGeom>
          <a:noFill/>
        </p:spPr>
        <p:txBody>
          <a:bodyPr wrap="square" lIns="0" rIns="0" tIns="0" bIns="0" anchor="t">
            <a:spAutoFit/>
          </a:bodyPr>
          <a:lstStyle/>
          <a:p>
            <a:pPr algn="l">
              <a:spcAft>
                <a:spcPts val="400"/>
              </a:spcAft>
            </a:pPr>
            <a:r>
              <a:rPr sz="1800" b="0" i="0">
                <a:solidFill>
                  <a:srgbClr val="475569"/>
                </a:solidFill>
              </a:rPr>
              <a:t>Simulation Mode runs the identical pipeline without emitting traffic and is always labelled as simulation.</a:t>
            </a:r>
          </a:p>
        </p:txBody>
      </p:sp>
      <p:sp>
        <p:nvSpPr>
          <p:cNvPr id="42" name="Rounded Rectangle 41"/>
          <p:cNvSpPr/>
          <p:nvPr/>
        </p:nvSpPr>
        <p:spPr>
          <a:xfrm>
            <a:off x="6199631"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60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Stated limits</a:t>
            </a:r>
          </a:p>
        </p:txBody>
      </p:sp>
      <p:sp>
        <p:nvSpPr>
          <p:cNvPr id="45" name="TextBox 44"/>
          <p:cNvSpPr txBox="1"/>
          <p:nvPr/>
        </p:nvSpPr>
        <p:spPr>
          <a:xfrm>
            <a:off x="6400799" y="4846320"/>
            <a:ext cx="5038344" cy="1188719"/>
          </a:xfrm>
          <a:prstGeom prst="rect">
            <a:avLst/>
          </a:prstGeom>
          <a:noFill/>
        </p:spPr>
        <p:txBody>
          <a:bodyPr wrap="square" lIns="0" rIns="0" tIns="0" bIns="0" anchor="t">
            <a:spAutoFit/>
          </a:bodyPr>
          <a:lstStyle/>
          <a:p>
            <a:pPr algn="l">
              <a:spcAft>
                <a:spcPts val="400"/>
              </a:spcAft>
            </a:pPr>
            <a:r>
              <a:rPr sz="1800" b="0" i="0">
                <a:solidFill>
                  <a:srgbClr val="475569"/>
                </a:solidFill>
              </a:rPr>
              <a:t>Live capture needs Npcap and Administrator rights; mitigation is application-level; each limit is documented, not hidden.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43000"/>
            <a:ext cx="11091672" cy="5303520"/>
          </a:xfrm>
          <a:prstGeom prst="rect">
            <a:avLst/>
          </a:prstGeom>
          <a:noFill/>
        </p:spPr>
        <p:txBody>
          <a:bodyPr wrap="square" lIns="0" rIns="0" tIns="0" bIns="0" anchor="t">
            <a:spAutoFit/>
          </a:bodyPr>
          <a:lstStyle/>
          <a:p>
            <a:pPr algn="l">
              <a:spcAft>
                <a:spcPts val="600"/>
              </a:spcAft>
            </a:pPr>
            <a:r>
              <a:rPr sz="1300" b="0" i="0">
                <a:solidFill>
                  <a:srgbClr val="0F172A"/>
                </a:solidFill>
              </a:rPr>
              <a:t>[1] M. M. Trigui, M. S. Islam, M. D. Gambo, M. S. Alam and T. Helmy, "Resource-aware ensemble framework for DDoS detection in SDN via novel game-theoretic feature selection," IEEE Access, vol. 14, pp. 1666-1676, 2026, doi: 10.1109/ACCESS.2025.3618519.</a:t>
            </a:r>
          </a:p>
          <a:p>
            <a:pPr algn="l">
              <a:spcAft>
                <a:spcPts val="600"/>
              </a:spcAft>
            </a:pPr>
            <a:r>
              <a:rPr sz="1300" b="0" i="0">
                <a:solidFill>
                  <a:srgbClr val="0F172A"/>
                </a:solidFill>
              </a:rPr>
              <a:t>[3] N. Raghavendran and Y. H. Robinson, "IoT-based WISNE-SDN detection and DDoS attack mitigation using machine learning techniques," PeerJ Comput. Sci., vol. 12, Art. no. e3572, Feb. 2026, doi: 10.7717/peerj-cs.3572.</a:t>
            </a:r>
          </a:p>
          <a:p>
            <a:pPr algn="l">
              <a:spcAft>
                <a:spcPts val="600"/>
              </a:spcAft>
            </a:pPr>
            <a:r>
              <a:rPr sz="1300" b="0" i="0">
                <a:solidFill>
                  <a:srgbClr val="0F172A"/>
                </a:solidFill>
              </a:rPr>
              <a:t>[4] M. Jadric and S. Mladenovic, "DDoS attack detection and mitigation using double deep Q-networks," in Proc. 2025 Int. Conf. Software, Telecommun. Comput. Netw. (SoftCOM), Split, Croatia, Sep. 2025, pp. 1-6, doi: 10.23919/SoftCOM66362.2025.11197364.</a:t>
            </a:r>
          </a:p>
          <a:p>
            <a:pPr algn="l">
              <a:spcAft>
                <a:spcPts val="600"/>
              </a:spcAft>
            </a:pPr>
            <a:r>
              <a:rPr sz="1300" b="0" i="0">
                <a:solidFill>
                  <a:srgbClr val="0F172A"/>
                </a:solidFill>
              </a:rPr>
              <a:t>[6] M. N. Swileh, S. Zhang and K. Lei, "Intelligent detection and mitigation of carpet-bombing DDoS attacks in SDN using retrieval-augmented generation and large language models," arXiv:2605.26307, May 2026.</a:t>
            </a:r>
          </a:p>
          <a:p>
            <a:pPr algn="l">
              <a:spcAft>
                <a:spcPts val="600"/>
              </a:spcAft>
            </a:pPr>
            <a:r>
              <a:rPr sz="1300" b="0" i="0">
                <a:solidFill>
                  <a:srgbClr val="0F172A"/>
                </a:solidFill>
              </a:rPr>
              <a:t>[7] M. A. Rahman, "Detection of distributed denial of service attacks based on machine learning algorithms," arXiv:2502.00975, Feb. 2025.</a:t>
            </a:r>
          </a:p>
          <a:p>
            <a:pPr algn="l">
              <a:spcAft>
                <a:spcPts val="600"/>
              </a:spcAft>
            </a:pPr>
            <a:r>
              <a:rPr sz="1300" b="0" i="0">
                <a:solidFill>
                  <a:srgbClr val="0F172A"/>
                </a:solidFill>
              </a:rPr>
              <a:t>[8] I. Sharafaldin, A. Habibi Lashkari and A. A. Ghorbani, "Toward generating a new intrusion detection dataset and intrusion traffic characterization," in Proc. 4th Int. Conf. Inf. Syst. Secur. Privacy (ICISSP), Funchal, Portugal, Jan. 2018, pp. 108-116, doi: 10.5220/0006639801080116.</a:t>
            </a:r>
          </a:p>
          <a:p>
            <a:pPr algn="l">
              <a:spcAft>
                <a:spcPts val="600"/>
              </a:spcAft>
            </a:pPr>
            <a:r>
              <a:rPr sz="1300" b="0" i="0">
                <a:solidFill>
                  <a:srgbClr val="0F172A"/>
                </a:solidFill>
              </a:rPr>
              <a:t>[9] G. Engelen, V. Rimmer and W. Joosen, "Troubleshooting an intrusion detection dataset: The CICIDS2017 case study," in Proc. 2021 IEEE Secur. Privacy Workshops (SPW), May 2021, pp. 7-12, doi: 10.1109/SPW53761.2021.00009.</a:t>
            </a:r>
          </a:p>
          <a:p>
            <a:pPr algn="l">
              <a:spcAft>
                <a:spcPts val="600"/>
              </a:spcAft>
            </a:pPr>
            <a:r>
              <a:rPr sz="1300" b="0" i="0">
                <a:solidFill>
                  <a:srgbClr val="0F172A"/>
                </a:solidFill>
              </a:rPr>
              <a:t>[10] R. Sommer and V. Paxson, "Outside the closed world: On using machine learning for network intrusion detection," in Proc. 2010 IEEE Symp. Secur. Privacy, 2010, pp. 305-316, doi: 10.1109/SP.2010.25.</a:t>
            </a:r>
          </a:p>
          <a:p>
            <a:pPr algn="l">
              <a:spcAft>
                <a:spcPts val="600"/>
              </a:spcAft>
            </a:pPr>
            <a:r>
              <a:rPr sz="1300" b="0" i="0">
                <a:solidFill>
                  <a:srgbClr val="0F172A"/>
                </a:solidFill>
              </a:rPr>
              <a:t>[12] L. Breiman, "Random forests," Mach. Learn., vol. 45, no. 1, pp. 5-32, Oct. 2001, doi: 10.1023/A:1010933404324.</a:t>
            </a:r>
          </a:p>
          <a:p>
            <a:pPr algn="l">
              <a:spcAft>
                <a:spcPts val="600"/>
              </a:spcAft>
            </a:pPr>
            <a:r>
              <a:rPr sz="1300" b="0" i="0">
                <a:solidFill>
                  <a:srgbClr val="0F172A"/>
                </a:solidFill>
              </a:rPr>
              <a:t>[14] A. A. Alashhab, M. S. Zahid, B. Isyaku, A. A. Elnour, W. Nagmeldin, A. Abdelmaboud, T. A. A. Abdullah and U. D. Maiwada, "Enhancing DDoS attack detection and mitigation in SDN using an ensemble online machine learning model," IEEE Access, vol. 12, pp. 51630-51649, 2024, doi: 10.1109/ACCESS.2024.3384398.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entinelFlow">
  <a:themeElements>
    <a:clrScheme name="SentinelFlow">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Sentinel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entinelFlow">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DDoS Attack Detection and Mitigation (Real-Time DDoS Detection and Adaptive Mitigation Framework Using Machine Learning): Review 1</dc:title>
  <dc:subject>Batch C15 (CSE-C)</dc:subject>
  <dc:creator>Mallela Pallavi, Kattoju Durgabhavani, Nimmala Rakshitha, Prodhatoor Shashi Preetham</dc:creator>
  <cp:lastModifiedBy/>
  <cp:revision>1</cp:revision>
  <dcterms:created xsi:type="dcterms:W3CDTF">2026-10-13T12:36:40Z</dcterms:created>
  <dcterms:modified xsi:type="dcterms:W3CDTF">2026-10-13T12:36:40Z</dcterms:modified>
  <cp:keywords>DDoS detection, Random Forest, CICIDS2017, Scapy, adaptive mitigation, carpet-bombing</cp:keywords>
  <dc:description/>
</cp:coreProperties>
</file>