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3623e47-5b1a-7aef-5476-75bff30165c3}">
          <p14:sldIdLst>
            <p14:sldId id="256"/>
            <p14:sldId id="257"/>
            <p14:sldId id="258"/>
          </p14:sldIdLst>
        </p14:section>
        <p14:section name="Design" id="{ee3f979a-aefa-c88f-8568-1021737ba133}">
          <p14:sldIdLst>
            <p14:sldId id="259"/>
            <p14:sldId id="260"/>
            <p14:sldId id="261"/>
            <p14:sldId id="262"/>
            <p14:sldId id="263"/>
            <p14:sldId id="264"/>
            <p14:sldId id="265"/>
            <p14:sldId id="266"/>
            <p14:sldId id="267"/>
            <p14:sldId id="268"/>
          </p14:sldIdLst>
        </p14:section>
        <p14:section name="Progress" id="{cf39a97a-7fb0-4c7a-0650-0fb3a5c44815}">
          <p14:sldIdLst>
            <p14:sldId id="269"/>
            <p14:sldId id="270"/>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review shows how SentinelFlow is designed and built, what is implemented, the first measured results and the open items. Introduce the four team members and the guide. The headline for this review is honest: the pipeline works, the shipped model was trained on a synthetic fallback, and we re-checked it on real CICIDS2017 flows.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Agenda for the design and progress review.</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Recap of Review 1. We say plainly what is borrowed (a tree-based detector on flow features) and what is added (the live detection to mitigation loop).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same process_window() function handles live and simulated windows, so Simulation Mode exercises the real classifier, severity and mitigation code.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Offline training happens once; every window then costs a feature aggregation, one forest prediction and a few rule evaluations.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product's own training script falls back to synthetic data when CICIDS2017 cannot be downloaded, and records that in metrics.json. For this review the real file was downloaded separately and the shipped model and a retrained model were tested on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ml/preprocessing.py and monitoring/traffic_aggregator.py. The flow-to-window scale gap was measured: the forest retrained on real flows only had zero attack recall on simulator windows.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base paper compares seven classifiers and four ensembles; we compare five single classifiers on the same real split, and the tree-based ones are indistinguishable.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Everything in the result slides was produced by scripts/run_experiments.py and scripts/measure_api.py; the shipped artefacts were never overwritten.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mirrors security/distributed_analysis.py, severity.py and mitigation.py. Local and loopback addresses are never quarantined; the operating-system firewall is never touched.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Level 1: capture and aggregate, classify, risk and severity, mitigate; the API, health sampler and training run alongside.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Honest point: the settings table exists but the API keeps settings in memory, and a quarantine row is linked to its detection only by reason text and time.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Versions are those installed on the development machine. The model file was saved with scikit-learn 1.9.0 and loads under 1.9.1 with a warning.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State of the code base. The last three rows are the honest gaps against the batch objectives.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 explicit: 99.71 percent is a synthetic-data number. On real flows the shipped model has a 17.2 percent false-positive rate. The severity layer keeps most benign windows below High; at 10 s windows 44 weaker attack windows stay at Medium.</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Real screenshots. Every screen labels Simulation Mode; the Model screen warns that the metrics describe the synthetic fallback dataset.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Tests run against a scratch database; the probes and latency come from a scratch copy of the backend over real HTTP. Latency numbers were taken while other jobs used the whole CPU, so they are upper bounds.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Each challenge was met by a design choice or by measuring it and saying so in the report.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Plan to the final review. The first two items address the biggest gaps found by the real-data check.</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Likely questions: why the shipped model uses synthetic data; how the real-flow result compares with the base paper (different datasets, indicative only); what mitigation really does (an application-level quarantine, no firewall change); why live capture was not shown.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SentinelFlow  ·  Review 2</a:t>
            </a:r>
            <a:endParaRPr lang="en-US" sz="1000" dirty="0"/>
          </a:p>
        </p:txBody>
      </p:sp>
      <p:sp>
        <p:nvSpPr>
          <p:cNvPr id="3" name="Text 1"/>
          <p:cNvSpPr/>
          <p:nvPr>
            <p:ph idx="101" type="title" hasCustomPrompt="1"/>
          </p:nvPr>
        </p:nvSpPr>
        <p:spPr>
          <a:xfrm>
            <a:off x="548640" y="320040"/>
            <a:ext cx="11094415" cy="777240"/>
          </a:xfrm>
          <a:prstGeom prst="rect">
            <a:avLst/>
          </a:prstGeom>
          <a:noFill/>
          <a:ln/>
        </p:spPr>
        <p:txBody>
          <a:bodyPr wrap="square" rtlCol="0"/>
          <a:lstStyle>
            <a:lvl1pPr algn="l" indent="0" marL="0">
              <a:buNone/>
              <a:defRPr lang="en-US" sz="3200" b="1" dirty="0">
                <a:solidFill>
                  <a:srgbClr val="1B2A4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3.xml"/><Relationship Id="rId3" Type="http://schemas.openxmlformats.org/officeDocument/2006/relationships/notesSlide" Target="../notesSlides/notesSlide1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7" Type="http://schemas.openxmlformats.org/officeDocument/2006/relationships/slideLayout" Target="../slideLayouts/slideLayout3.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3.xml"/><Relationship Id="rId3" Type="http://schemas.openxmlformats.org/officeDocument/2006/relationships/notesSlide" Target="../notesSlides/notesSlide15.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0.png"/><Relationship Id="rId3" Type="http://schemas.openxmlformats.org/officeDocument/2006/relationships/slideLayout" Target="../slideLayouts/slideLayout3.xml"/><Relationship Id="rId4" Type="http://schemas.openxmlformats.org/officeDocument/2006/relationships/notesSlide" Target="../notesSlides/notesSlide16.xml"/><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7" Type="http://schemas.openxmlformats.org/officeDocument/2006/relationships/slideLayout" Target="../slideLayouts/slideLayout3.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lIns="0" tIns="0" rIns="0" bIns="0" rtlCol="0" anchor="b"/>
          <a:lstStyle/>
          <a:p>
            <a:pPr algn="l" indent="0" marL="0">
              <a:buNone/>
            </a:pPr>
            <a:r>
              <a:rPr lang="en-US" sz="2800" b="1" dirty="0">
                <a:solidFill>
                  <a:srgbClr val="FFFFFF"/>
                </a:solidFill>
                <a:latin typeface="Cambria" pitchFamily="34" charset="0"/>
                <a:ea typeface="Cambria" pitchFamily="34" charset="-122"/>
                <a:cs typeface="Cambria" pitchFamily="34" charset="-120"/>
              </a:rPr>
              <a:t>DDoS Attack Detection and Mitigation</a:t>
            </a: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lIns="0" tIns="0" rIns="0" bIns="0" rtlCol="0" anchor="t"/>
          <a:lstStyle/>
          <a:p>
            <a:pPr algn="l" indent="0" marL="0">
              <a:buNone/>
            </a:pPr>
            <a:r>
              <a:rPr lang="en-US" sz="1800" dirty="0">
                <a:solidFill>
                  <a:srgbClr val="CADCFC"/>
                </a:solidFill>
                <a:latin typeface="Calibri" pitchFamily="34" charset="0"/>
                <a:ea typeface="Calibri" pitchFamily="34" charset="-122"/>
                <a:cs typeface="Calibri" pitchFamily="34" charset="-120"/>
              </a:rPr>
              <a:t>Design, methodology and progress: Random Forest detection, distributed-risk severity and self-recovering quarantine</a:t>
            </a:r>
            <a:endParaRPr lang="en-US" sz="2000" dirty="0"/>
          </a:p>
        </p:txBody>
      </p:sp>
      <p:sp>
        <p:nvSpPr>
          <p:cNvPr id="4" name="review label"/>
          <p:cNvSpPr txBox="1"/>
          <p:nvPr/>
        </p:nvSpPr>
        <p:spPr>
          <a:xfrm>
            <a:off x="548640" y="640080"/>
            <a:ext cx="7315200" cy="365760"/>
          </a:xfrm>
          <a:prstGeom prst="rect">
            <a:avLst/>
          </a:prstGeom>
          <a:noFill/>
          <a:ln/>
        </p:spPr>
        <p:txBody>
          <a:bodyPr wrap="square" lIns="0" tIns="0" rIns="0" bIns="0" rtlCol="0" anchor="ctr"/>
          <a:lstStyle/>
          <a:p>
            <a:pPr indent="0" marL="0">
              <a:buNone/>
            </a:pPr>
            <a:r>
              <a:rPr lang="en-US" sz="1400" b="1" spc="200" kern="0" dirty="0">
                <a:solidFill>
                  <a:srgbClr val="EDA100"/>
                </a:solidFill>
              </a:rPr>
              <a:t>REVIEW 2  ·  DESIGN, METHODOLOGY AND PROGRESS</a:t>
            </a:r>
            <a:endParaRPr lang="en-US" sz="1400" dirty="0"/>
          </a:p>
        </p:txBody>
      </p:sp>
      <p:sp>
        <p:nvSpPr>
          <p:cNvPr id="5" name="Text 3"/>
          <p:cNvSpPr txBox="1"/>
          <p:nvPr/>
        </p:nvSpPr>
        <p:spPr>
          <a:xfrm>
            <a:off x="548640" y="4160520"/>
            <a:ext cx="5120640" cy="320040"/>
          </a:xfrm>
          <a:prstGeom prst="rect">
            <a:avLst/>
          </a:prstGeom>
          <a:noFill/>
          <a:ln/>
        </p:spPr>
        <p:txBody>
          <a:bodyPr wrap="square" lIns="0" tIns="0" rIns="0" bIns="0" rtlCol="0" anchor="ctr"/>
          <a:lstStyle/>
          <a:p>
            <a:pPr indent="0" marL="0">
              <a:buNone/>
            </a:pPr>
            <a:r>
              <a:rPr lang="en-US" sz="1400" dirty="0">
                <a:solidFill>
                  <a:srgbClr val="CADCFC"/>
                </a:solidFill>
              </a:rPr>
              <a:t>Presented by</a:t>
            </a:r>
            <a:endParaRPr lang="en-US" sz="1400" dirty="0"/>
          </a:p>
        </p:txBody>
      </p:sp>
      <p:sp>
        <p:nvSpPr>
          <p:cNvPr id="6" name="team"/>
          <p:cNvSpPr txBox="1"/>
          <p:nvPr/>
        </p:nvSpPr>
        <p:spPr>
          <a:xfrm>
            <a:off x="548640" y="4480560"/>
            <a:ext cx="5120640" cy="1280160"/>
          </a:xfrm>
          <a:prstGeom prst="rect">
            <a:avLst/>
          </a:prstGeom>
          <a:noFill/>
          <a:ln/>
        </p:spPr>
        <p:txBody>
          <a:bodyPr wrap="square" lIns="0" tIns="0" rIns="0" bIns="0" rtlCol="0" anchor="t"/>
          <a:lstStyle/>
          <a:p>
            <a:pPr indent="0" marL="0">
              <a:buNone/>
            </a:pPr>
            <a:r>
              <a:rPr lang="en-US" sz="1500" dirty="0">
                <a:solidFill>
                  <a:srgbClr val="FFFFFF"/>
                </a:solidFill>
              </a:rPr>
              <a:t>Mallela Pallavi  23K91A05E3</a:t>
            </a:r>
            <a:endParaRPr lang="en-US" sz="1500" dirty="0"/>
          </a:p>
          <a:p>
            <a:pPr indent="0" marL="0">
              <a:buNone/>
            </a:pPr>
            <a:r>
              <a:rPr lang="en-US" sz="1500" dirty="0">
                <a:solidFill>
                  <a:srgbClr val="FFFFFF"/>
                </a:solidFill>
              </a:rPr>
              <a:t>Kattoju Durgabhavani  24K95A0514</a:t>
            </a:r>
            <a:endParaRPr lang="en-US" sz="1500" dirty="0"/>
          </a:p>
          <a:p>
            <a:pPr indent="0" marL="0">
              <a:buNone/>
            </a:pPr>
            <a:r>
              <a:rPr lang="en-US" sz="1500" dirty="0">
                <a:solidFill>
                  <a:srgbClr val="FFFFFF"/>
                </a:solidFill>
              </a:rPr>
              <a:t>Nimmala Rakshitha  23K91A05H3</a:t>
            </a:r>
            <a:endParaRPr lang="en-US" sz="1500" dirty="0"/>
          </a:p>
          <a:p>
            <a:pPr indent="0" marL="0">
              <a:buNone/>
            </a:pPr>
            <a:r>
              <a:rPr lang="en-US" sz="1500" dirty="0">
                <a:solidFill>
                  <a:srgbClr val="FFFFFF"/>
                </a:solidFill>
              </a:rPr>
              <a:t>Prodhatoor Shashi Preetham  23K91A05K0</a:t>
            </a:r>
            <a:endParaRPr lang="en-US" sz="1500" dirty="0"/>
          </a:p>
        </p:txBody>
      </p:sp>
      <p:sp>
        <p:nvSpPr>
          <p:cNvPr id="7" name="Text 5"/>
          <p:cNvSpPr txBox="1"/>
          <p:nvPr/>
        </p:nvSpPr>
        <p:spPr>
          <a:xfrm>
            <a:off x="6400800" y="4160520"/>
            <a:ext cx="5212080" cy="320040"/>
          </a:xfrm>
          <a:prstGeom prst="rect">
            <a:avLst/>
          </a:prstGeom>
          <a:noFill/>
          <a:ln/>
        </p:spPr>
        <p:txBody>
          <a:bodyPr wrap="square" lIns="0" tIns="0" rIns="0" bIns="0" rtlCol="0" anchor="ctr"/>
          <a:lstStyle/>
          <a:p>
            <a:pPr indent="0" marL="0">
              <a:buNone/>
            </a:pPr>
            <a:r>
              <a:rPr lang="en-US" sz="1400" dirty="0">
                <a:solidFill>
                  <a:srgbClr val="CADCFC"/>
                </a:solidFill>
              </a:rPr>
              <a:t>Under the guidance of</a:t>
            </a:r>
            <a:endParaRPr lang="en-US" sz="1400" dirty="0"/>
          </a:p>
        </p:txBody>
      </p:sp>
      <p:sp>
        <p:nvSpPr>
          <p:cNvPr id="8" name="Text 6"/>
          <p:cNvSpPr txBox="1"/>
          <p:nvPr/>
        </p:nvSpPr>
        <p:spPr>
          <a:xfrm>
            <a:off x="6400800" y="4480560"/>
            <a:ext cx="5212080" cy="365760"/>
          </a:xfrm>
          <a:prstGeom prst="rect">
            <a:avLst/>
          </a:prstGeom>
          <a:noFill/>
          <a:ln/>
        </p:spPr>
        <p:txBody>
          <a:bodyPr wrap="square" lIns="0" tIns="0" rIns="0" bIns="0" rtlCol="0" anchor="ctr"/>
          <a:lstStyle/>
          <a:p>
            <a:pPr indent="0" marL="0">
              <a:buNone/>
            </a:pPr>
            <a:r>
              <a:rPr lang="en-US" sz="1500" dirty="0">
                <a:solidFill>
                  <a:srgbClr val="FFFFFF"/>
                </a:solidFill>
              </a:rPr>
              <a:t>V Meenakshi, [DESIGNATION]</a:t>
            </a:r>
            <a:endParaRPr lang="en-US" sz="1500" dirty="0"/>
          </a:p>
        </p:txBody>
      </p:sp>
      <p:sp>
        <p:nvSpPr>
          <p:cNvPr id="9" name="Text 7"/>
          <p:cNvSpPr txBox="1"/>
          <p:nvPr/>
        </p:nvSpPr>
        <p:spPr>
          <a:xfrm>
            <a:off x="6400800" y="4983480"/>
            <a:ext cx="5212080" cy="777240"/>
          </a:xfrm>
          <a:prstGeom prst="rect">
            <a:avLst/>
          </a:prstGeom>
          <a:noFill/>
          <a:ln/>
        </p:spPr>
        <p:txBody>
          <a:bodyPr wrap="square" lIns="0" tIns="0" rIns="0" bIns="0" rtlCol="0" anchor="t"/>
          <a:lstStyle/>
          <a:p>
            <a:pPr indent="0" marL="0">
              <a:buNone/>
            </a:pPr>
            <a:r>
              <a:rPr lang="en-US" sz="1300" dirty="0">
                <a:solidFill>
                  <a:srgbClr val="CADCFC"/>
                </a:solidFill>
              </a:rPr>
              <a:t>Department of Computer Science and Engineering</a:t>
            </a:r>
            <a:endParaRPr lang="en-US" sz="1300" dirty="0"/>
          </a:p>
          <a:p>
            <a:pPr indent="0" marL="0">
              <a:buNone/>
            </a:pPr>
            <a:r>
              <a:rPr lang="en-US" sz="1300" dirty="0">
                <a:solidFill>
                  <a:srgbClr val="CADCFC"/>
                </a:solidFill>
              </a:rPr>
              <a:t>[COLLEGE NAME]  ·  Batch C15 (CSE-C)  ·  [ACADEMIC YEAR]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Contents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2</a:t>
            </a:fld>
            <a:endParaRPr lang="en-US"/>
          </a:p>
        </p:txBody>
      </p:sp>
      <p:sp>
        <p:nvSpPr>
          <p:cNvPr id="26" name="Rounded Rectangle 25"/>
          <p:cNvSpPr/>
          <p:nvPr/>
        </p:nvSpPr>
        <p:spPr>
          <a:xfrm>
            <a:off x="548640"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77240" y="15453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01</a:t>
            </a:r>
          </a:p>
        </p:txBody>
      </p:sp>
      <p:sp>
        <p:nvSpPr>
          <p:cNvPr id="28" name="TextBox 27"/>
          <p:cNvSpPr txBox="1"/>
          <p:nvPr/>
        </p:nvSpPr>
        <p:spPr>
          <a:xfrm>
            <a:off x="777240"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Recap and architecture</a:t>
            </a:r>
          </a:p>
        </p:txBody>
      </p:sp>
      <p:sp>
        <p:nvSpPr>
          <p:cNvPr id="29" name="Rounded Rectangle 28"/>
          <p:cNvSpPr/>
          <p:nvPr/>
        </p:nvSpPr>
        <p:spPr>
          <a:xfrm>
            <a:off x="4334255"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562855" y="15453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02</a:t>
            </a:r>
          </a:p>
        </p:txBody>
      </p:sp>
      <p:sp>
        <p:nvSpPr>
          <p:cNvPr id="31" name="TextBox 30"/>
          <p:cNvSpPr txBox="1"/>
          <p:nvPr/>
        </p:nvSpPr>
        <p:spPr>
          <a:xfrm>
            <a:off x="4562855"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Methodology and data</a:t>
            </a:r>
          </a:p>
        </p:txBody>
      </p:sp>
      <p:sp>
        <p:nvSpPr>
          <p:cNvPr id="32" name="Rounded Rectangle 31"/>
          <p:cNvSpPr/>
          <p:nvPr/>
        </p:nvSpPr>
        <p:spPr>
          <a:xfrm>
            <a:off x="8119871"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348471" y="15453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03</a:t>
            </a:r>
          </a:p>
        </p:txBody>
      </p:sp>
      <p:sp>
        <p:nvSpPr>
          <p:cNvPr id="34" name="TextBox 33"/>
          <p:cNvSpPr txBox="1"/>
          <p:nvPr/>
        </p:nvSpPr>
        <p:spPr>
          <a:xfrm>
            <a:off x="8348471"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Preprocessing and model</a:t>
            </a:r>
          </a:p>
        </p:txBody>
      </p:sp>
      <p:sp>
        <p:nvSpPr>
          <p:cNvPr id="35" name="Rounded Rectangle 34"/>
          <p:cNvSpPr/>
          <p:nvPr/>
        </p:nvSpPr>
        <p:spPr>
          <a:xfrm>
            <a:off x="548640"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77240" y="31455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04</a:t>
            </a:r>
          </a:p>
        </p:txBody>
      </p:sp>
      <p:sp>
        <p:nvSpPr>
          <p:cNvPr id="37" name="TextBox 36"/>
          <p:cNvSpPr txBox="1"/>
          <p:nvPr/>
        </p:nvSpPr>
        <p:spPr>
          <a:xfrm>
            <a:off x="777240"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Training and decision logic</a:t>
            </a:r>
          </a:p>
        </p:txBody>
      </p:sp>
      <p:sp>
        <p:nvSpPr>
          <p:cNvPr id="38" name="Rounded Rectangle 37"/>
          <p:cNvSpPr/>
          <p:nvPr/>
        </p:nvSpPr>
        <p:spPr>
          <a:xfrm>
            <a:off x="4334255"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4562855" y="31455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05</a:t>
            </a:r>
          </a:p>
        </p:txBody>
      </p:sp>
      <p:sp>
        <p:nvSpPr>
          <p:cNvPr id="40" name="TextBox 39"/>
          <p:cNvSpPr txBox="1"/>
          <p:nvPr/>
        </p:nvSpPr>
        <p:spPr>
          <a:xfrm>
            <a:off x="4562855"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Data flow, database and UML</a:t>
            </a:r>
          </a:p>
        </p:txBody>
      </p:sp>
      <p:sp>
        <p:nvSpPr>
          <p:cNvPr id="41" name="Rounded Rectangle 40"/>
          <p:cNvSpPr/>
          <p:nvPr/>
        </p:nvSpPr>
        <p:spPr>
          <a:xfrm>
            <a:off x="8119871"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348471" y="31455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06</a:t>
            </a:r>
          </a:p>
        </p:txBody>
      </p:sp>
      <p:sp>
        <p:nvSpPr>
          <p:cNvPr id="43" name="TextBox 42"/>
          <p:cNvSpPr txBox="1"/>
          <p:nvPr/>
        </p:nvSpPr>
        <p:spPr>
          <a:xfrm>
            <a:off x="8348471"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Technology stack</a:t>
            </a:r>
          </a:p>
        </p:txBody>
      </p:sp>
      <p:sp>
        <p:nvSpPr>
          <p:cNvPr id="44" name="Rounded Rectangle 43"/>
          <p:cNvSpPr/>
          <p:nvPr/>
        </p:nvSpPr>
        <p:spPr>
          <a:xfrm>
            <a:off x="548640"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77240" y="47457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07</a:t>
            </a:r>
          </a:p>
        </p:txBody>
      </p:sp>
      <p:sp>
        <p:nvSpPr>
          <p:cNvPr id="46" name="TextBox 45"/>
          <p:cNvSpPr txBox="1"/>
          <p:nvPr/>
        </p:nvSpPr>
        <p:spPr>
          <a:xfrm>
            <a:off x="777240"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Progress and preliminary results</a:t>
            </a:r>
          </a:p>
        </p:txBody>
      </p:sp>
      <p:sp>
        <p:nvSpPr>
          <p:cNvPr id="47" name="Rounded Rectangle 46"/>
          <p:cNvSpPr/>
          <p:nvPr/>
        </p:nvSpPr>
        <p:spPr>
          <a:xfrm>
            <a:off x="4334255"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4562855" y="47457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08</a:t>
            </a:r>
          </a:p>
        </p:txBody>
      </p:sp>
      <p:sp>
        <p:nvSpPr>
          <p:cNvPr id="49" name="TextBox 48"/>
          <p:cNvSpPr txBox="1"/>
          <p:nvPr/>
        </p:nvSpPr>
        <p:spPr>
          <a:xfrm>
            <a:off x="4562855"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Output screens and testing</a:t>
            </a:r>
          </a:p>
        </p:txBody>
      </p:sp>
      <p:sp>
        <p:nvSpPr>
          <p:cNvPr id="50" name="Rounded Rectangle 49"/>
          <p:cNvSpPr/>
          <p:nvPr/>
        </p:nvSpPr>
        <p:spPr>
          <a:xfrm>
            <a:off x="8119871"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8348471" y="47457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09</a:t>
            </a:r>
          </a:p>
        </p:txBody>
      </p:sp>
      <p:sp>
        <p:nvSpPr>
          <p:cNvPr id="52" name="TextBox 51"/>
          <p:cNvSpPr txBox="1"/>
          <p:nvPr/>
        </p:nvSpPr>
        <p:spPr>
          <a:xfrm>
            <a:off x="8348471"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Challenges and next steps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Recap: problem and proposed system</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3</a:t>
            </a:fld>
            <a:endParaRPr lang="en-US"/>
          </a:p>
        </p:txBody>
      </p:sp>
      <p:sp>
        <p:nvSpPr>
          <p:cNvPr id="26" name="Rounded Rectangle 25"/>
          <p:cNvSpPr/>
          <p:nvPr/>
        </p:nvSpPr>
        <p:spPr>
          <a:xfrm>
            <a:off x="548640" y="1463040"/>
            <a:ext cx="3520440" cy="43891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64592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28" name="TextBox 27"/>
          <p:cNvSpPr txBox="1"/>
          <p:nvPr/>
        </p:nvSpPr>
        <p:spPr>
          <a:xfrm>
            <a:off x="1389888" y="161848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Problem</a:t>
            </a:r>
          </a:p>
        </p:txBody>
      </p:sp>
      <p:sp>
        <p:nvSpPr>
          <p:cNvPr id="29" name="TextBox 28"/>
          <p:cNvSpPr txBox="1"/>
          <p:nvPr/>
        </p:nvSpPr>
        <p:spPr>
          <a:xfrm>
            <a:off x="749808" y="2331720"/>
            <a:ext cx="3118104" cy="3383279"/>
          </a:xfrm>
          <a:prstGeom prst="rect">
            <a:avLst/>
          </a:prstGeom>
          <a:noFill/>
        </p:spPr>
        <p:txBody>
          <a:bodyPr wrap="square" lIns="0" rIns="0" tIns="0" bIns="0" anchor="t">
            <a:spAutoFit/>
          </a:bodyPr>
          <a:lstStyle/>
          <a:p>
            <a:pPr algn="l">
              <a:spcAft>
                <a:spcPts val="400"/>
              </a:spcAft>
            </a:pPr>
            <a:r>
              <a:rPr sz="1700" b="0" i="0">
                <a:solidFill>
                  <a:srgbClr val="475569"/>
                </a:solidFill>
              </a:rPr>
              <a:t>A DDoS attack floods a service from many sources. Detection without action leaves the service down, and blocking legitimate users through false positives is itself a denial of service. Signature rules miss new patterns.</a:t>
            </a:r>
          </a:p>
        </p:txBody>
      </p:sp>
      <p:sp>
        <p:nvSpPr>
          <p:cNvPr id="30" name="Rounded Rectangle 29"/>
          <p:cNvSpPr/>
          <p:nvPr/>
        </p:nvSpPr>
        <p:spPr>
          <a:xfrm>
            <a:off x="4334255" y="1463040"/>
            <a:ext cx="3520440" cy="43891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35423" y="164592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i</a:t>
            </a:r>
          </a:p>
        </p:txBody>
      </p:sp>
      <p:sp>
        <p:nvSpPr>
          <p:cNvPr id="32" name="TextBox 31"/>
          <p:cNvSpPr txBox="1"/>
          <p:nvPr/>
        </p:nvSpPr>
        <p:spPr>
          <a:xfrm>
            <a:off x="5175503" y="161848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Proposed system</a:t>
            </a:r>
          </a:p>
        </p:txBody>
      </p:sp>
      <p:sp>
        <p:nvSpPr>
          <p:cNvPr id="33" name="TextBox 32"/>
          <p:cNvSpPr txBox="1"/>
          <p:nvPr/>
        </p:nvSpPr>
        <p:spPr>
          <a:xfrm>
            <a:off x="4535423" y="2331720"/>
            <a:ext cx="3118104" cy="3383279"/>
          </a:xfrm>
          <a:prstGeom prst="rect">
            <a:avLst/>
          </a:prstGeom>
          <a:noFill/>
        </p:spPr>
        <p:txBody>
          <a:bodyPr wrap="square" lIns="0" rIns="0" tIns="0" bIns="0" anchor="t">
            <a:spAutoFit/>
          </a:bodyPr>
          <a:lstStyle/>
          <a:p>
            <a:pPr algn="l">
              <a:spcAft>
                <a:spcPts val="400"/>
              </a:spcAft>
            </a:pPr>
            <a:r>
              <a:rPr sz="1700" b="0" i="0">
                <a:solidFill>
                  <a:srgbClr val="475569"/>
                </a:solidFill>
              </a:rPr>
              <a:t>SentinelFlow turns rolling traffic windows into ten features, classifies them with a Random Forest, scores distributed risk and severity with listed factors, quarantines the worst sources temporarily and lets them recover, and shows everything on a React console.</a:t>
            </a:r>
          </a:p>
        </p:txBody>
      </p:sp>
      <p:sp>
        <p:nvSpPr>
          <p:cNvPr id="34" name="Rounded Rectangle 33"/>
          <p:cNvSpPr/>
          <p:nvPr/>
        </p:nvSpPr>
        <p:spPr>
          <a:xfrm>
            <a:off x="8119871" y="1463040"/>
            <a:ext cx="3520440" cy="43891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321040" y="164592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B</a:t>
            </a:r>
          </a:p>
        </p:txBody>
      </p:sp>
      <p:sp>
        <p:nvSpPr>
          <p:cNvPr id="36" name="TextBox 35"/>
          <p:cNvSpPr txBox="1"/>
          <p:nvPr/>
        </p:nvSpPr>
        <p:spPr>
          <a:xfrm>
            <a:off x="8961119" y="161848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Base paper link [1]</a:t>
            </a:r>
          </a:p>
        </p:txBody>
      </p:sp>
      <p:sp>
        <p:nvSpPr>
          <p:cNvPr id="37" name="TextBox 36"/>
          <p:cNvSpPr txBox="1"/>
          <p:nvPr/>
        </p:nvSpPr>
        <p:spPr>
          <a:xfrm>
            <a:off x="8321040" y="2331720"/>
            <a:ext cx="3118104" cy="3383279"/>
          </a:xfrm>
          <a:prstGeom prst="rect">
            <a:avLst/>
          </a:prstGeom>
          <a:noFill/>
        </p:spPr>
        <p:txBody>
          <a:bodyPr wrap="square" lIns="0" rIns="0" tIns="0" bIns="0" anchor="t">
            <a:spAutoFit/>
          </a:bodyPr>
          <a:lstStyle/>
          <a:p>
            <a:pPr algn="l">
              <a:spcAft>
                <a:spcPts val="400"/>
              </a:spcAft>
            </a:pPr>
            <a:r>
              <a:rPr sz="1700" b="0" i="0">
                <a:solidFill>
                  <a:srgbClr val="475569"/>
                </a:solidFill>
              </a:rPr>
              <a:t>Trigui et al. (IEEE Access, 2026) build an RF + Banzhaf feature-selection ensemble for SDN DDoS detection and report 100 % offline; mitigation and live testing are future work. SentinelFlow implements the closed loop; it does not implement Banzhaf selection or voting ensembles.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System architecture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4</a:t>
            </a:fld>
            <a:endParaRPr lang="en-US"/>
          </a:p>
        </p:txBody>
      </p:sp>
      <p:pic>
        <p:nvPicPr>
          <p:cNvPr id="26" name="Picture 25" descr="sf_deck_r2_01.png"/>
          <p:cNvPicPr>
            <a:picLocks noChangeAspect="1"/>
          </p:cNvPicPr>
          <p:nvPr/>
        </p:nvPicPr>
        <p:blipFill>
          <a:blip r:embed="rId1"/>
          <a:stretch>
            <a:fillRect/>
          </a:stretch>
        </p:blipFill>
        <p:spPr>
          <a:xfrm>
            <a:off x="548640" y="1193972"/>
            <a:ext cx="6583679" cy="5201574"/>
          </a:xfrm>
          <a:prstGeom prst="rect">
            <a:avLst/>
          </a:prstGeom>
        </p:spPr>
      </p:pic>
      <p:sp>
        <p:nvSpPr>
          <p:cNvPr id="27" name="TextBox 26"/>
          <p:cNvSpPr txBox="1"/>
          <p:nvPr/>
        </p:nvSpPr>
        <p:spPr>
          <a:xfrm>
            <a:off x="7315200" y="1325880"/>
            <a:ext cx="4343400" cy="4937760"/>
          </a:xfrm>
          <a:prstGeom prst="rect">
            <a:avLst/>
          </a:prstGeom>
          <a:noFill/>
        </p:spPr>
        <p:txBody>
          <a:bodyPr wrap="square" lIns="0" rIns="0" tIns="0" bIns="0" anchor="t">
            <a:spAutoFit/>
          </a:bodyPr>
          <a:lstStyle/>
          <a:p>
            <a:pPr algn="l">
              <a:spcAft>
                <a:spcPts val="800"/>
              </a:spcAft>
            </a:pPr>
            <a:r>
              <a:rPr sz="1500" b="1" i="0">
                <a:solidFill>
                  <a:srgbClr val="0F172A"/>
                </a:solidFill>
              </a:rPr>
              <a:t>Four tiers, one process</a:t>
            </a:r>
          </a:p>
          <a:p>
            <a:pPr algn="l" marL="256032" indent="-201168">
              <a:spcAft>
                <a:spcPts val="400"/>
              </a:spcAft>
              <a:buChar char="•"/>
            </a:pPr>
            <a:r>
              <a:rPr sz="1500" b="0" i="0">
                <a:solidFill>
                  <a:srgbClr val="0F172A"/>
                </a:solidFill>
              </a:rPr>
              <a:t>Console: React 19 + Vite on port 5415, nine pages (landing, login, overview, detections, analytics, network health, mitigation, model, settings).</a:t>
            </a:r>
          </a:p>
          <a:p>
            <a:pPr algn="l" marL="256032" indent="-201168">
              <a:spcAft>
                <a:spcPts val="400"/>
              </a:spcAft>
              <a:buChar char="•"/>
            </a:pPr>
            <a:r>
              <a:rPr sz="1500" b="0" i="0">
                <a:solidFill>
                  <a:srgbClr val="0F172A"/>
                </a:solidFill>
              </a:rPr>
              <a:t>API: Flask on port 8415, twelve JSON endpoints; invalid input returns HTTP 400 with a message.</a:t>
            </a:r>
          </a:p>
          <a:p>
            <a:pPr algn="l" marL="256032" indent="-201168">
              <a:spcAft>
                <a:spcPts val="400"/>
              </a:spcAft>
              <a:buChar char="•"/>
            </a:pPr>
            <a:r>
              <a:rPr sz="1500" b="0" i="0">
                <a:solidFill>
                  <a:srgbClr val="0F172A"/>
                </a:solidFill>
              </a:rPr>
              <a:t>Pipeline: monitoring, ml and security packages share one per-window function, process_window().</a:t>
            </a:r>
          </a:p>
          <a:p>
            <a:pPr algn="l" marL="256032" indent="-201168">
              <a:spcAft>
                <a:spcPts val="400"/>
              </a:spcAft>
              <a:buChar char="•"/>
            </a:pPr>
            <a:r>
              <a:rPr sz="1500" b="0" i="0">
                <a:solidFill>
                  <a:srgbClr val="0F172A"/>
                </a:solidFill>
              </a:rPr>
              <a:t>State: SQLite plus joblib and JSON files. The REST API has no authentication and binds to 127.0.0.1.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Methodology: train offline, then one pass per window</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5</a:t>
            </a:fld>
            <a:endParaRPr lang="en-US"/>
          </a:p>
        </p:txBody>
      </p:sp>
      <p:pic>
        <p:nvPicPr>
          <p:cNvPr id="26" name="Picture 25" descr="sf_deck_r2_02.png"/>
          <p:cNvPicPr>
            <a:picLocks noChangeAspect="1"/>
          </p:cNvPicPr>
          <p:nvPr/>
        </p:nvPicPr>
        <p:blipFill>
          <a:blip r:embed="rId3"/>
          <a:stretch>
            <a:fillRect/>
          </a:stretch>
        </p:blipFill>
        <p:spPr>
          <a:xfrm>
            <a:off x="548640" y="1316609"/>
            <a:ext cx="6766560" cy="4407662"/>
          </a:xfrm>
          <a:prstGeom prst="rect">
            <a:avLst/>
          </a:prstGeom>
        </p:spPr>
      </p:pic>
      <p:sp>
        <p:nvSpPr>
          <p:cNvPr id="27" name="Rounded Rectangle 26"/>
          <p:cNvSpPr/>
          <p:nvPr/>
        </p:nvSpPr>
        <p:spPr>
          <a:xfrm>
            <a:off x="7589520" y="1280160"/>
            <a:ext cx="4050791" cy="15087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726679" y="1344168"/>
            <a:ext cx="3794760" cy="365760"/>
          </a:xfrm>
          <a:prstGeom prst="rect">
            <a:avLst/>
          </a:prstGeom>
          <a:noFill/>
        </p:spPr>
        <p:txBody>
          <a:bodyPr wrap="square" lIns="0" rIns="0" tIns="0" bIns="0" anchor="t">
            <a:spAutoFit/>
          </a:bodyPr>
          <a:lstStyle/>
          <a:p>
            <a:pPr algn="l">
              <a:spcAft>
                <a:spcPts val="400"/>
              </a:spcAft>
            </a:pPr>
            <a:r>
              <a:rPr sz="1500" b="1" i="0">
                <a:solidFill>
                  <a:srgbClr val="0F172A"/>
                </a:solidFill>
              </a:rPr>
              <a:t>Train</a:t>
            </a:r>
          </a:p>
        </p:txBody>
      </p:sp>
      <p:sp>
        <p:nvSpPr>
          <p:cNvPr id="29" name="TextBox 28"/>
          <p:cNvSpPr txBox="1"/>
          <p:nvPr/>
        </p:nvSpPr>
        <p:spPr>
          <a:xfrm>
            <a:off x="7726679" y="1664207"/>
            <a:ext cx="3794760" cy="1097280"/>
          </a:xfrm>
          <a:prstGeom prst="rect">
            <a:avLst/>
          </a:prstGeom>
          <a:noFill/>
        </p:spPr>
        <p:txBody>
          <a:bodyPr wrap="square" lIns="0" rIns="0" tIns="0" bIns="0" anchor="t">
            <a:spAutoFit/>
          </a:bodyPr>
          <a:lstStyle/>
          <a:p>
            <a:pPr algn="l">
              <a:spcAft>
                <a:spcPts val="400"/>
              </a:spcAft>
            </a:pPr>
            <a:r>
              <a:rPr sz="1250" b="0" i="0">
                <a:solidFill>
                  <a:srgbClr val="475569"/>
                </a:solidFill>
              </a:rPr>
              <a:t>CICIDS2017 CSVs (or a synthetic fallback), mapped to ten features, plus 6,000 aggregated simulator windows; 200-tree Random Forest.</a:t>
            </a:r>
          </a:p>
        </p:txBody>
      </p:sp>
      <p:sp>
        <p:nvSpPr>
          <p:cNvPr id="30" name="Rounded Rectangle 29"/>
          <p:cNvSpPr/>
          <p:nvPr/>
        </p:nvSpPr>
        <p:spPr>
          <a:xfrm>
            <a:off x="7589520" y="2907791"/>
            <a:ext cx="4050791" cy="15087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726679" y="2971799"/>
            <a:ext cx="3794760" cy="365760"/>
          </a:xfrm>
          <a:prstGeom prst="rect">
            <a:avLst/>
          </a:prstGeom>
          <a:noFill/>
        </p:spPr>
        <p:txBody>
          <a:bodyPr wrap="square" lIns="0" rIns="0" tIns="0" bIns="0" anchor="t">
            <a:spAutoFit/>
          </a:bodyPr>
          <a:lstStyle/>
          <a:p>
            <a:pPr algn="l">
              <a:spcAft>
                <a:spcPts val="400"/>
              </a:spcAft>
            </a:pPr>
            <a:r>
              <a:rPr sz="1500" b="1" i="0">
                <a:solidFill>
                  <a:srgbClr val="0F172A"/>
                </a:solidFill>
              </a:rPr>
              <a:t>Monitor</a:t>
            </a:r>
          </a:p>
        </p:txBody>
      </p:sp>
      <p:sp>
        <p:nvSpPr>
          <p:cNvPr id="32" name="TextBox 31"/>
          <p:cNvSpPr txBox="1"/>
          <p:nvPr/>
        </p:nvSpPr>
        <p:spPr>
          <a:xfrm>
            <a:off x="7726679" y="3291839"/>
            <a:ext cx="3794760" cy="1097280"/>
          </a:xfrm>
          <a:prstGeom prst="rect">
            <a:avLst/>
          </a:prstGeom>
          <a:noFill/>
        </p:spPr>
        <p:txBody>
          <a:bodyPr wrap="square" lIns="0" rIns="0" tIns="0" bIns="0" anchor="t">
            <a:spAutoFit/>
          </a:bodyPr>
          <a:lstStyle/>
          <a:p>
            <a:pPr algn="l">
              <a:spcAft>
                <a:spcPts val="400"/>
              </a:spcAft>
            </a:pPr>
            <a:r>
              <a:rPr sz="1250" b="0" i="0">
                <a:solidFill>
                  <a:srgbClr val="475569"/>
                </a:solidFill>
              </a:rPr>
              <a:t>Window of packets, ten features, RF label and confidence, distributed risk, severity, action.</a:t>
            </a:r>
          </a:p>
        </p:txBody>
      </p:sp>
      <p:sp>
        <p:nvSpPr>
          <p:cNvPr id="33" name="Rounded Rectangle 32"/>
          <p:cNvSpPr/>
          <p:nvPr/>
        </p:nvSpPr>
        <p:spPr>
          <a:xfrm>
            <a:off x="7589520" y="4535424"/>
            <a:ext cx="4050791" cy="15087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7726679" y="4599432"/>
            <a:ext cx="3794760" cy="365760"/>
          </a:xfrm>
          <a:prstGeom prst="rect">
            <a:avLst/>
          </a:prstGeom>
          <a:noFill/>
        </p:spPr>
        <p:txBody>
          <a:bodyPr wrap="square" lIns="0" rIns="0" tIns="0" bIns="0" anchor="t">
            <a:spAutoFit/>
          </a:bodyPr>
          <a:lstStyle/>
          <a:p>
            <a:pPr algn="l">
              <a:spcAft>
                <a:spcPts val="400"/>
              </a:spcAft>
            </a:pPr>
            <a:r>
              <a:rPr sz="1500" b="1" i="0">
                <a:solidFill>
                  <a:srgbClr val="0F172A"/>
                </a:solidFill>
              </a:rPr>
              <a:t>Evaluate</a:t>
            </a:r>
          </a:p>
        </p:txBody>
      </p:sp>
      <p:sp>
        <p:nvSpPr>
          <p:cNvPr id="35" name="TextBox 34"/>
          <p:cNvSpPr txBox="1"/>
          <p:nvPr/>
        </p:nvSpPr>
        <p:spPr>
          <a:xfrm>
            <a:off x="7726679" y="4919472"/>
            <a:ext cx="3794760" cy="1097280"/>
          </a:xfrm>
          <a:prstGeom prst="rect">
            <a:avLst/>
          </a:prstGeom>
          <a:noFill/>
        </p:spPr>
        <p:txBody>
          <a:bodyPr wrap="square" lIns="0" rIns="0" tIns="0" bIns="0" anchor="t">
            <a:spAutoFit/>
          </a:bodyPr>
          <a:lstStyle/>
          <a:p>
            <a:pPr algn="l">
              <a:spcAft>
                <a:spcPts val="400"/>
              </a:spcAft>
            </a:pPr>
            <a:r>
              <a:rPr sz="1250" b="0" i="0">
                <a:solidFill>
                  <a:srgbClr val="475569"/>
                </a:solidFill>
              </a:rPr>
              <a:t>Accuracy, precision, recall, F1, false-positive rate; real flows, synthetic split and window pipeline at 2, 5 and 10 s.</a:t>
            </a:r>
          </a:p>
        </p:txBody>
      </p:sp>
      <p:sp>
        <p:nvSpPr>
          <p:cNvPr id="36" name="TextBox 35"/>
          <p:cNvSpPr txBox="1"/>
          <p:nvPr/>
        </p:nvSpPr>
        <p:spPr>
          <a:xfrm>
            <a:off x="548640" y="5897880"/>
            <a:ext cx="6766560" cy="411480"/>
          </a:xfrm>
          <a:prstGeom prst="rect">
            <a:avLst/>
          </a:prstGeom>
          <a:noFill/>
        </p:spPr>
        <p:txBody>
          <a:bodyPr wrap="square" lIns="0" rIns="0" tIns="0" bIns="0" anchor="t">
            <a:spAutoFit/>
          </a:bodyPr>
          <a:lstStyle/>
          <a:p>
            <a:pPr algn="ctr">
              <a:spcAft>
                <a:spcPts val="400"/>
              </a:spcAft>
            </a:pPr>
            <a:r>
              <a:rPr sz="1200" b="0" i="1">
                <a:solidFill>
                  <a:srgbClr val="475569"/>
                </a:solidFill>
              </a:rPr>
              <a:t>High-level workflow of ml/train_model.py and the monitoring cycle.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Data: synthetic training set and real CICIDS2017 check</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6</a:t>
            </a:fld>
            <a:endParaRPr lang="en-US"/>
          </a:p>
        </p:txBody>
      </p:sp>
      <p:sp>
        <p:nvSpPr>
          <p:cNvPr id="26" name="Rounded Rectangle 25"/>
          <p:cNvSpPr/>
          <p:nvPr/>
        </p:nvSpPr>
        <p:spPr>
          <a:xfrm>
            <a:off x="548640"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548640" y="1280160"/>
            <a:ext cx="73152" cy="11430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49808"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24,000</a:t>
            </a:r>
          </a:p>
        </p:txBody>
      </p:sp>
      <p:sp>
        <p:nvSpPr>
          <p:cNvPr id="29" name="TextBox 28"/>
          <p:cNvSpPr txBox="1"/>
          <p:nvPr/>
        </p:nvSpPr>
        <p:spPr>
          <a:xfrm>
            <a:off x="749808" y="1943100"/>
            <a:ext cx="2331720" cy="434340"/>
          </a:xfrm>
          <a:prstGeom prst="rect">
            <a:avLst/>
          </a:prstGeom>
          <a:noFill/>
        </p:spPr>
        <p:txBody>
          <a:bodyPr wrap="square" lIns="0" rIns="0" tIns="0" bIns="0" anchor="t">
            <a:spAutoFit/>
          </a:bodyPr>
          <a:lstStyle/>
          <a:p>
            <a:pPr algn="l">
              <a:spcAft>
                <a:spcPts val="400"/>
              </a:spcAft>
            </a:pPr>
            <a:r>
              <a:rPr sz="1100" b="0" i="0">
                <a:solidFill>
                  <a:srgbClr val="475569"/>
                </a:solidFill>
              </a:rPr>
              <a:t>rows in the shipped training run (19,200 train, 4,800 test)</a:t>
            </a:r>
          </a:p>
        </p:txBody>
      </p:sp>
      <p:sp>
        <p:nvSpPr>
          <p:cNvPr id="30" name="Rounded Rectangle 29"/>
          <p:cNvSpPr/>
          <p:nvPr/>
        </p:nvSpPr>
        <p:spPr>
          <a:xfrm>
            <a:off x="3374136"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3374136" y="1280160"/>
            <a:ext cx="73152" cy="1143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575304"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6,000</a:t>
            </a:r>
          </a:p>
        </p:txBody>
      </p:sp>
      <p:sp>
        <p:nvSpPr>
          <p:cNvPr id="33" name="TextBox 32"/>
          <p:cNvSpPr txBox="1"/>
          <p:nvPr/>
        </p:nvSpPr>
        <p:spPr>
          <a:xfrm>
            <a:off x="3575304" y="1943100"/>
            <a:ext cx="2331720" cy="434340"/>
          </a:xfrm>
          <a:prstGeom prst="rect">
            <a:avLst/>
          </a:prstGeom>
          <a:noFill/>
        </p:spPr>
        <p:txBody>
          <a:bodyPr wrap="square" lIns="0" rIns="0" tIns="0" bIns="0" anchor="t">
            <a:spAutoFit/>
          </a:bodyPr>
          <a:lstStyle/>
          <a:p>
            <a:pPr algn="l">
              <a:spcAft>
                <a:spcPts val="400"/>
              </a:spcAft>
            </a:pPr>
            <a:r>
              <a:rPr sz="1100" b="0" i="0">
                <a:solidFill>
                  <a:srgbClr val="475569"/>
                </a:solidFill>
              </a:rPr>
              <a:t>of them aggregated simulator windows (3,000 benign, 3,000 attack)</a:t>
            </a:r>
          </a:p>
        </p:txBody>
      </p:sp>
      <p:sp>
        <p:nvSpPr>
          <p:cNvPr id="34" name="Rounded Rectangle 33"/>
          <p:cNvSpPr/>
          <p:nvPr/>
        </p:nvSpPr>
        <p:spPr>
          <a:xfrm>
            <a:off x="6199631"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199631" y="1280160"/>
            <a:ext cx="73152" cy="11430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799"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225,745</a:t>
            </a:r>
          </a:p>
        </p:txBody>
      </p:sp>
      <p:sp>
        <p:nvSpPr>
          <p:cNvPr id="37" name="TextBox 36"/>
          <p:cNvSpPr txBox="1"/>
          <p:nvPr/>
        </p:nvSpPr>
        <p:spPr>
          <a:xfrm>
            <a:off x="6400799" y="1943100"/>
            <a:ext cx="2331720" cy="434340"/>
          </a:xfrm>
          <a:prstGeom prst="rect">
            <a:avLst/>
          </a:prstGeom>
          <a:noFill/>
        </p:spPr>
        <p:txBody>
          <a:bodyPr wrap="square" lIns="0" rIns="0" tIns="0" bIns="0" anchor="t">
            <a:spAutoFit/>
          </a:bodyPr>
          <a:lstStyle/>
          <a:p>
            <a:pPr algn="l">
              <a:spcAft>
                <a:spcPts val="400"/>
              </a:spcAft>
            </a:pPr>
            <a:r>
              <a:rPr sz="1100" b="0" i="0">
                <a:solidFill>
                  <a:srgbClr val="475569"/>
                </a:solidFill>
              </a:rPr>
              <a:t>real CICIDS2017 flows used for the check (Friday DDoS day)</a:t>
            </a:r>
          </a:p>
        </p:txBody>
      </p:sp>
      <p:sp>
        <p:nvSpPr>
          <p:cNvPr id="38" name="Rounded Rectangle 37"/>
          <p:cNvSpPr/>
          <p:nvPr/>
        </p:nvSpPr>
        <p:spPr>
          <a:xfrm>
            <a:off x="9025128"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9025128" y="1280160"/>
            <a:ext cx="73152" cy="114300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226296"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97.7k / 128.0k</a:t>
            </a:r>
          </a:p>
        </p:txBody>
      </p:sp>
      <p:sp>
        <p:nvSpPr>
          <p:cNvPr id="41" name="TextBox 40"/>
          <p:cNvSpPr txBox="1"/>
          <p:nvPr/>
        </p:nvSpPr>
        <p:spPr>
          <a:xfrm>
            <a:off x="9226296" y="1943100"/>
            <a:ext cx="2331720" cy="434340"/>
          </a:xfrm>
          <a:prstGeom prst="rect">
            <a:avLst/>
          </a:prstGeom>
          <a:noFill/>
        </p:spPr>
        <p:txBody>
          <a:bodyPr wrap="square" lIns="0" rIns="0" tIns="0" bIns="0" anchor="t">
            <a:spAutoFit/>
          </a:bodyPr>
          <a:lstStyle/>
          <a:p>
            <a:pPr algn="l">
              <a:spcAft>
                <a:spcPts val="400"/>
              </a:spcAft>
            </a:pPr>
            <a:r>
              <a:rPr sz="1100" b="0" i="0">
                <a:solidFill>
                  <a:srgbClr val="475569"/>
                </a:solidFill>
              </a:rPr>
              <a:t>benign / DDoS flows in the real file</a:t>
            </a:r>
          </a:p>
        </p:txBody>
      </p:sp>
      <p:graphicFrame>
        <p:nvGraphicFramePr>
          <p:cNvPr id="42" name="Table 41"/>
          <p:cNvGraphicFramePr>
            <a:graphicFrameLocks noGrp="1"/>
          </p:cNvGraphicFramePr>
          <p:nvPr/>
        </p:nvGraphicFramePr>
        <p:xfrm>
          <a:off x="548640" y="2697480"/>
          <a:ext cx="11091672" cy="3621024"/>
        </p:xfrm>
        <a:graphic>
          <a:graphicData uri="http://schemas.openxmlformats.org/drawingml/2006/table">
            <a:tbl>
              <a:tblPr firstRow="0" bandRow="0">
                <a:tableStyleId>{5C22544A-7EE6-4342-B048-85BDC9FD1C3A}</a:tableStyleId>
              </a:tblPr>
              <a:tblGrid>
                <a:gridCol w="1188720"/>
                <a:gridCol w="4846320"/>
                <a:gridCol w="5056632"/>
              </a:tblGrid>
              <a:tr h="603504">
                <a:tc>
                  <a:txBody>
                    <a:bodyPr wrap="square"/>
                    <a:lstStyle/>
                    <a:p>
                      <a:pPr algn="ctr"/>
                      <a:r>
                        <a:rPr sz="1200" b="1">
                          <a:solidFill>
                            <a:srgbClr val="FFFFFF"/>
                          </a:solidFill>
                        </a:rPr>
                        <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00" b="1">
                          <a:solidFill>
                            <a:srgbClr val="FFFFFF"/>
                          </a:solidFill>
                        </a:rPr>
                        <a:t>Shipped model's training data</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00" b="1">
                          <a:solidFill>
                            <a:srgbClr val="FFFFFF"/>
                          </a:solidFill>
                        </a:rPr>
                        <a:t>Real-data check (this review)</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603504">
                <a:tc>
                  <a:txBody>
                    <a:bodyPr wrap="square"/>
                    <a:lstStyle/>
                    <a:p>
                      <a:pPr algn="l"/>
                      <a:r>
                        <a:rPr sz="1200" b="1">
                          <a:solidFill>
                            <a:srgbClr val="0F172A"/>
                          </a:solidFill>
                        </a:rPr>
                        <a:t>Source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Synthetic flows in CICIDS2017 column layout (CICIDS2017 was unreachable at build time) + simulator windows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CICIDS2017 Friday-Afternoon-DDos CSV, Hugging Face mirror c01dsnap/CIC-IDS2017; licence 'other'; Sharafaldin et al. [8]</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03504">
                <a:tc>
                  <a:txBody>
                    <a:bodyPr wrap="square"/>
                    <a:lstStyle/>
                    <a:p>
                      <a:pPr algn="l"/>
                      <a:r>
                        <a:rPr sz="1200" b="1">
                          <a:solidFill>
                            <a:srgbClr val="0F172A"/>
                          </a:solidFill>
                        </a:rPr>
                        <a:t>Labels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Benign / Attack by construction (12,000 each)</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BENIGN 97,718, DDoS 128,027 as labelled by the dataset authors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03504">
                <a:tc>
                  <a:txBody>
                    <a:bodyPr wrap="square"/>
                    <a:lstStyle/>
                    <a:p>
                      <a:pPr algn="l"/>
                      <a:r>
                        <a:rPr sz="1200" b="1">
                          <a:solidFill>
                            <a:srgbClr val="0F172A"/>
                          </a:solidFill>
                        </a:rPr>
                        <a:t>Features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Ten: sent / received packets, bytes, packets per s, bytes per s, average sizes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Same ten, mapped by the product's own ml/preprocessing.py (forward = sent, backward = received)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03504">
                <a:tc>
                  <a:txBody>
                    <a:bodyPr wrap="square"/>
                    <a:lstStyle/>
                    <a:p>
                      <a:pPr algn="l"/>
                      <a:r>
                        <a:rPr sz="1200" b="1">
                          <a:solidFill>
                            <a:srgbClr val="0F172A"/>
                          </a:solidFill>
                        </a:rPr>
                        <a:t>Split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Stratified 80/20, seed 42</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Shipped model scored on all flows; retrained forest on stratified 80/20 over 5 seeds and on a 70/30 block split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03504">
                <a:tc>
                  <a:txBody>
                    <a:bodyPr wrap="square"/>
                    <a:lstStyle/>
                    <a:p>
                      <a:pPr algn="l"/>
                      <a:r>
                        <a:rPr sz="1200" b="1">
                          <a:solidFill>
                            <a:srgbClr val="0F172A"/>
                          </a:solidFill>
                        </a:rPr>
                        <a:t>Caveat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99.71 % is measured on the synthetic split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One attack type; known label problems in CICIDS2017 [9]; file not committed to the repository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Preprocessing and feature schema</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7</a:t>
            </a:fld>
            <a:endParaRPr lang="en-US"/>
          </a:p>
        </p:txBody>
      </p:sp>
      <p:sp>
        <p:nvSpPr>
          <p:cNvPr id="26" name="Rounded Rectangle 25"/>
          <p:cNvSpPr/>
          <p:nvPr/>
        </p:nvSpPr>
        <p:spPr>
          <a:xfrm>
            <a:off x="548640" y="1325880"/>
            <a:ext cx="1680972" cy="91440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rPr>
              <a:t>Raw flows / packets</a:t>
            </a:r>
          </a:p>
        </p:txBody>
      </p:sp>
      <p:sp>
        <p:nvSpPr>
          <p:cNvPr id="27" name="Right Arrow 26"/>
          <p:cNvSpPr/>
          <p:nvPr/>
        </p:nvSpPr>
        <p:spPr>
          <a:xfrm>
            <a:off x="2229612" y="1664207"/>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2430780" y="1325880"/>
            <a:ext cx="1680972" cy="914400"/>
          </a:xfrm>
          <a:prstGeom prst="roundRect">
            <a:avLst>
              <a:gd name="adj" fmla="val 8000"/>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rPr>
              <a:t>Clean: drop inf, NaN</a:t>
            </a:r>
          </a:p>
        </p:txBody>
      </p:sp>
      <p:sp>
        <p:nvSpPr>
          <p:cNvPr id="29" name="Right Arrow 28"/>
          <p:cNvSpPr/>
          <p:nvPr/>
        </p:nvSpPr>
        <p:spPr>
          <a:xfrm>
            <a:off x="4111752" y="1664207"/>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312920" y="1325880"/>
            <a:ext cx="1680972" cy="914400"/>
          </a:xfrm>
          <a:prstGeom prst="roundRect">
            <a:avLst>
              <a:gd name="adj" fmla="val 8000"/>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rPr>
              <a:t>Map to 10 features</a:t>
            </a:r>
          </a:p>
        </p:txBody>
      </p:sp>
      <p:sp>
        <p:nvSpPr>
          <p:cNvPr id="31" name="Right Arrow 30"/>
          <p:cNvSpPr/>
          <p:nvPr/>
        </p:nvSpPr>
        <p:spPr>
          <a:xfrm>
            <a:off x="5993892" y="1664207"/>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195060" y="1325880"/>
            <a:ext cx="1680972" cy="914400"/>
          </a:xfrm>
          <a:prstGeom prst="roundRect">
            <a:avLst>
              <a:gd name="adj" fmla="val 8000"/>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rPr>
              <a:t>Add window rows</a:t>
            </a:r>
          </a:p>
        </p:txBody>
      </p:sp>
      <p:sp>
        <p:nvSpPr>
          <p:cNvPr id="33" name="Right Arrow 32"/>
          <p:cNvSpPr/>
          <p:nvPr/>
        </p:nvSpPr>
        <p:spPr>
          <a:xfrm>
            <a:off x="7876032" y="1664207"/>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077200" y="1325880"/>
            <a:ext cx="1680972" cy="914400"/>
          </a:xfrm>
          <a:prstGeom prst="roundRect">
            <a:avLst>
              <a:gd name="adj" fmla="val 8000"/>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rPr>
              <a:t>Stratified 80/20</a:t>
            </a:r>
          </a:p>
        </p:txBody>
      </p:sp>
      <p:sp>
        <p:nvSpPr>
          <p:cNvPr id="35" name="Right Arrow 34"/>
          <p:cNvSpPr/>
          <p:nvPr/>
        </p:nvSpPr>
        <p:spPr>
          <a:xfrm>
            <a:off x="9758172" y="1664207"/>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959340" y="1325880"/>
            <a:ext cx="1680972" cy="914400"/>
          </a:xfrm>
          <a:prstGeom prst="roundRect">
            <a:avLst>
              <a:gd name="adj" fmla="val 8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rPr>
              <a:t>Random Forest</a:t>
            </a:r>
          </a:p>
        </p:txBody>
      </p:sp>
      <p:sp>
        <p:nvSpPr>
          <p:cNvPr id="37" name="Rounded Rectangle 36"/>
          <p:cNvSpPr/>
          <p:nvPr/>
        </p:nvSpPr>
        <p:spPr>
          <a:xfrm>
            <a:off x="548640" y="2560320"/>
            <a:ext cx="544068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548640" y="2560320"/>
            <a:ext cx="73152" cy="1143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749808" y="2651760"/>
            <a:ext cx="5166360" cy="628650"/>
          </a:xfrm>
          <a:prstGeom prst="rect">
            <a:avLst/>
          </a:prstGeom>
          <a:noFill/>
        </p:spPr>
        <p:txBody>
          <a:bodyPr wrap="square" lIns="0" rIns="0" tIns="0" bIns="0" anchor="ctr">
            <a:spAutoFit/>
          </a:bodyPr>
          <a:lstStyle/>
          <a:p>
            <a:pPr algn="l">
              <a:spcAft>
                <a:spcPts val="400"/>
              </a:spcAft>
            </a:pPr>
            <a:r>
              <a:rPr sz="2800" b="1" i="0">
                <a:solidFill>
                  <a:srgbClr val="0F172A"/>
                </a:solidFill>
              </a:rPr>
              <a:t>10</a:t>
            </a:r>
          </a:p>
        </p:txBody>
      </p:sp>
      <p:sp>
        <p:nvSpPr>
          <p:cNvPr id="40" name="TextBox 39"/>
          <p:cNvSpPr txBox="1"/>
          <p:nvPr/>
        </p:nvSpPr>
        <p:spPr>
          <a:xfrm>
            <a:off x="749808" y="3223260"/>
            <a:ext cx="5166360" cy="434340"/>
          </a:xfrm>
          <a:prstGeom prst="rect">
            <a:avLst/>
          </a:prstGeom>
          <a:noFill/>
        </p:spPr>
        <p:txBody>
          <a:bodyPr wrap="square" lIns="0" rIns="0" tIns="0" bIns="0" anchor="t">
            <a:spAutoFit/>
          </a:bodyPr>
          <a:lstStyle/>
          <a:p>
            <a:pPr algn="l">
              <a:spcAft>
                <a:spcPts val="400"/>
              </a:spcAft>
            </a:pPr>
            <a:r>
              <a:rPr sz="1200" b="0" i="0">
                <a:solidFill>
                  <a:srgbClr val="475569"/>
                </a:solidFill>
              </a:rPr>
              <a:t>features: sent and received packets, bytes, rates and average sizes</a:t>
            </a:r>
          </a:p>
        </p:txBody>
      </p:sp>
      <p:sp>
        <p:nvSpPr>
          <p:cNvPr id="41" name="Rounded Rectangle 40"/>
          <p:cNvSpPr/>
          <p:nvPr/>
        </p:nvSpPr>
        <p:spPr>
          <a:xfrm>
            <a:off x="6217920" y="2560320"/>
            <a:ext cx="544068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17920" y="2560320"/>
            <a:ext cx="73152" cy="11430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6419088" y="2651760"/>
            <a:ext cx="5166360" cy="628650"/>
          </a:xfrm>
          <a:prstGeom prst="rect">
            <a:avLst/>
          </a:prstGeom>
          <a:noFill/>
        </p:spPr>
        <p:txBody>
          <a:bodyPr wrap="square" lIns="0" rIns="0" tIns="0" bIns="0" anchor="ctr">
            <a:spAutoFit/>
          </a:bodyPr>
          <a:lstStyle/>
          <a:p>
            <a:pPr algn="l">
              <a:spcAft>
                <a:spcPts val="400"/>
              </a:spcAft>
            </a:pPr>
            <a:r>
              <a:rPr sz="2800" b="1" i="0">
                <a:solidFill>
                  <a:srgbClr val="0F172A"/>
                </a:solidFill>
              </a:rPr>
              <a:t>10 s</a:t>
            </a:r>
          </a:p>
        </p:txBody>
      </p:sp>
      <p:sp>
        <p:nvSpPr>
          <p:cNvPr id="44" name="TextBox 43"/>
          <p:cNvSpPr txBox="1"/>
          <p:nvPr/>
        </p:nvSpPr>
        <p:spPr>
          <a:xfrm>
            <a:off x="6419088" y="3223260"/>
            <a:ext cx="5166360" cy="434340"/>
          </a:xfrm>
          <a:prstGeom prst="rect">
            <a:avLst/>
          </a:prstGeom>
          <a:noFill/>
        </p:spPr>
        <p:txBody>
          <a:bodyPr wrap="square" lIns="0" rIns="0" tIns="0" bIns="0" anchor="t">
            <a:spAutoFit/>
          </a:bodyPr>
          <a:lstStyle/>
          <a:p>
            <a:pPr algn="l">
              <a:spcAft>
                <a:spcPts val="400"/>
              </a:spcAft>
            </a:pPr>
            <a:r>
              <a:rPr sz="1200" b="0" i="0">
                <a:solidFill>
                  <a:srgbClr val="475569"/>
                </a:solidFill>
              </a:rPr>
              <a:t>default window; the model was calibrated on 10 s windows</a:t>
            </a:r>
          </a:p>
        </p:txBody>
      </p:sp>
      <p:sp>
        <p:nvSpPr>
          <p:cNvPr id="45" name="TextBox 44"/>
          <p:cNvSpPr txBox="1"/>
          <p:nvPr/>
        </p:nvSpPr>
        <p:spPr>
          <a:xfrm>
            <a:off x="548640" y="3931920"/>
            <a:ext cx="11091672" cy="2468880"/>
          </a:xfrm>
          <a:prstGeom prst="rect">
            <a:avLst/>
          </a:prstGeom>
          <a:noFill/>
        </p:spPr>
        <p:txBody>
          <a:bodyPr wrap="square" lIns="0" rIns="0" tIns="0" bIns="0" anchor="t">
            <a:spAutoFit/>
          </a:bodyPr>
          <a:lstStyle/>
          <a:p>
            <a:pPr algn="l" marL="256032" indent="-201168">
              <a:spcAft>
                <a:spcPts val="900"/>
              </a:spcAft>
              <a:buChar char="•"/>
            </a:pPr>
            <a:r>
              <a:rPr sz="1600" b="0" i="0">
                <a:solidFill>
                  <a:srgbClr val="0F172A"/>
                </a:solidFill>
              </a:rPr>
              <a:t>Flows: forward packets and bytes become 'sent', backward become 'received'; rates are counts over the flow duration; averages are bytes over packets (0 when there are none).</a:t>
            </a:r>
          </a:p>
          <a:p>
            <a:pPr algn="l" marL="256032" indent="-201168">
              <a:spcAft>
                <a:spcPts val="900"/>
              </a:spcAft>
              <a:buChar char="•"/>
            </a:pPr>
            <a:r>
              <a:rPr sz="1600" b="0" i="0">
                <a:solidFill>
                  <a:srgbClr val="0F172A"/>
                </a:solidFill>
              </a:rPr>
              <a:t>Windows: packets whose destination is a local address are 'received', those from a local address are 'sent'; the same schema keeps training and inference identical.</a:t>
            </a:r>
          </a:p>
          <a:p>
            <a:pPr algn="l" marL="256032" indent="-201168">
              <a:spcAft>
                <a:spcPts val="900"/>
              </a:spcAft>
              <a:buChar char="•"/>
            </a:pPr>
            <a:r>
              <a:rPr sz="1600" b="0" i="0">
                <a:solidFill>
                  <a:srgbClr val="0F172A"/>
                </a:solidFill>
              </a:rPr>
              <a:t>Every prediction validates names, order, NaN / infinity and negative values before the forest sees them.</a:t>
            </a:r>
          </a:p>
          <a:p>
            <a:pPr algn="l" marL="256032" indent="-201168">
              <a:spcAft>
                <a:spcPts val="900"/>
              </a:spcAft>
              <a:buChar char="•"/>
            </a:pPr>
            <a:r>
              <a:rPr sz="1600" b="0" i="0">
                <a:solidFill>
                  <a:srgbClr val="0F172A"/>
                </a:solidFill>
              </a:rPr>
              <a:t>Known limit: a flow and a 10-second window differ in scale, so 6,000 simulator windows are added to training; a forest trained on flows alone called every simulated window benign.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Model: 200-tree Random Forest on ten features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8</a:t>
            </a:fld>
            <a:endParaRPr lang="en-US"/>
          </a:p>
        </p:txBody>
      </p:sp>
      <p:pic>
        <p:nvPicPr>
          <p:cNvPr id="26" name="Picture 25" descr="sf_deck_r2_f04.png"/>
          <p:cNvPicPr>
            <a:picLocks noChangeAspect="1"/>
          </p:cNvPicPr>
          <p:nvPr/>
        </p:nvPicPr>
        <p:blipFill>
          <a:blip r:embed="rId1"/>
          <a:stretch>
            <a:fillRect/>
          </a:stretch>
        </p:blipFill>
        <p:spPr>
          <a:xfrm>
            <a:off x="548640" y="1751337"/>
            <a:ext cx="6949440" cy="3172445"/>
          </a:xfrm>
          <a:prstGeom prst="rect">
            <a:avLst/>
          </a:prstGeom>
        </p:spPr>
      </p:pic>
      <p:sp>
        <p:nvSpPr>
          <p:cNvPr id="27" name="TextBox 26"/>
          <p:cNvSpPr txBox="1"/>
          <p:nvPr/>
        </p:nvSpPr>
        <p:spPr>
          <a:xfrm>
            <a:off x="548640" y="5486400"/>
            <a:ext cx="6949440" cy="731520"/>
          </a:xfrm>
          <a:prstGeom prst="rect">
            <a:avLst/>
          </a:prstGeom>
          <a:noFill/>
        </p:spPr>
        <p:txBody>
          <a:bodyPr wrap="square" lIns="0" rIns="0" tIns="0" bIns="0" anchor="t">
            <a:spAutoFit/>
          </a:bodyPr>
          <a:lstStyle/>
          <a:p>
            <a:pPr algn="ctr">
              <a:spcAft>
                <a:spcPts val="400"/>
              </a:spcAft>
            </a:pPr>
            <a:r>
              <a:rPr sz="1200" b="0" i="1">
                <a:solidFill>
                  <a:srgbClr val="475569"/>
                </a:solidFill>
              </a:rPr>
              <a:t>Gini importance of the shipped forest (synthetic data) and of a forest retrained on real flows: the real forest relies on average packet sizes and sent bytes.</a:t>
            </a:r>
          </a:p>
        </p:txBody>
      </p:sp>
      <p:sp>
        <p:nvSpPr>
          <p:cNvPr id="28" name="TextBox 27"/>
          <p:cNvSpPr txBox="1"/>
          <p:nvPr/>
        </p:nvSpPr>
        <p:spPr>
          <a:xfrm>
            <a:off x="7772400" y="1325880"/>
            <a:ext cx="3886200" cy="4937760"/>
          </a:xfrm>
          <a:prstGeom prst="rect">
            <a:avLst/>
          </a:prstGeom>
          <a:noFill/>
        </p:spPr>
        <p:txBody>
          <a:bodyPr wrap="square" lIns="0" rIns="0" tIns="0" bIns="0" anchor="t">
            <a:spAutoFit/>
          </a:bodyPr>
          <a:lstStyle/>
          <a:p>
            <a:pPr algn="l" marL="256032" indent="-201168">
              <a:spcAft>
                <a:spcPts val="800"/>
              </a:spcAft>
              <a:buChar char="•"/>
            </a:pPr>
            <a:r>
              <a:rPr sz="1400" b="1" i="0">
                <a:solidFill>
                  <a:srgbClr val="0F172A"/>
                </a:solidFill>
              </a:rPr>
              <a:t>Why a Random Forest</a:t>
            </a:r>
            <a:r>
              <a:rPr sz="1400" b="0" i="0">
                <a:solidFill>
                  <a:srgbClr val="0F172A"/>
                </a:solidFill>
              </a:rPr>
              <a:t>: handles non-linear count and size features, trains in seconds, no feature scaling, and gives importances to explain.</a:t>
            </a:r>
          </a:p>
          <a:p>
            <a:pPr algn="l" marL="256032" indent="-201168">
              <a:spcAft>
                <a:spcPts val="800"/>
              </a:spcAft>
              <a:buChar char="•"/>
            </a:pPr>
            <a:r>
              <a:rPr sz="1400" b="1" i="0">
                <a:solidFill>
                  <a:srgbClr val="0F172A"/>
                </a:solidFill>
              </a:rPr>
              <a:t>On real flows</a:t>
            </a:r>
            <a:r>
              <a:rPr sz="1400" b="0" i="0">
                <a:solidFill>
                  <a:srgbClr val="0F172A"/>
                </a:solidFill>
              </a:rPr>
              <a:t> the same forest scores 99.94 % (5 seeds); a decision tree and gradient boosting are equal within 0.01 points; Gaussian Naive Bayes reaches 72.9 %.</a:t>
            </a:r>
          </a:p>
          <a:p>
            <a:pPr algn="l" marL="256032" indent="-201168">
              <a:spcAft>
                <a:spcPts val="400"/>
              </a:spcAft>
              <a:buChar char="•"/>
            </a:pPr>
            <a:r>
              <a:rPr sz="1400" b="1" i="0">
                <a:solidFill>
                  <a:srgbClr val="0F172A"/>
                </a:solidFill>
              </a:rPr>
              <a:t>Size</a:t>
            </a:r>
            <a:r>
              <a:rPr sz="1400" b="0" i="0">
                <a:solidFill>
                  <a:srgbClr val="0F172A"/>
                </a:solidFill>
              </a:rPr>
              <a:t>: shipped model 2.74 MB, loads in 0.113 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Training and evaluation configuration</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9</a:t>
            </a:fld>
            <a:endParaRPr lang="en-US"/>
          </a:p>
        </p:txBody>
      </p:sp>
      <p:graphicFrame>
        <p:nvGraphicFramePr>
          <p:cNvPr id="26" name="Table 25"/>
          <p:cNvGraphicFramePr>
            <a:graphicFrameLocks noGrp="1"/>
          </p:cNvGraphicFramePr>
          <p:nvPr/>
        </p:nvGraphicFramePr>
        <p:xfrm>
          <a:off x="548640" y="1325880"/>
          <a:ext cx="11091672" cy="4608576"/>
        </p:xfrm>
        <a:graphic>
          <a:graphicData uri="http://schemas.openxmlformats.org/drawingml/2006/table">
            <a:tbl>
              <a:tblPr firstRow="0" bandRow="0">
                <a:tableStyleId>{5C22544A-7EE6-4342-B048-85BDC9FD1C3A}</a:tableStyleId>
              </a:tblPr>
              <a:tblGrid>
                <a:gridCol w="2286000"/>
                <a:gridCol w="8805672"/>
              </a:tblGrid>
              <a:tr h="658368">
                <a:tc>
                  <a:txBody>
                    <a:bodyPr wrap="square"/>
                    <a:lstStyle/>
                    <a:p>
                      <a:pPr algn="ctr"/>
                      <a:r>
                        <a:rPr sz="1350" b="1">
                          <a:solidFill>
                            <a:srgbClr val="FFFFFF"/>
                          </a:solidFill>
                        </a:rPr>
                        <a:t>Setting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350" b="1">
                          <a:solidFill>
                            <a:srgbClr val="FFFFFF"/>
                          </a:solidFill>
                        </a:rPr>
                        <a:t>Value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658368">
                <a:tc>
                  <a:txBody>
                    <a:bodyPr wrap="square"/>
                    <a:lstStyle/>
                    <a:p>
                      <a:pPr algn="l"/>
                      <a:r>
                        <a:rPr sz="1350" b="1">
                          <a:solidFill>
                            <a:srgbClr val="0F172A"/>
                          </a:solidFill>
                        </a:rPr>
                        <a:t>Classifier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50" b="0">
                          <a:solidFill>
                            <a:srgbClr val="0F172A"/>
                          </a:solidFill>
                        </a:rPr>
                        <a:t>scikit-learn RandomForestClassifier: 200 trees, no depth limit, class_weight balanced, seed 42, n_jobs = -1</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58368">
                <a:tc>
                  <a:txBody>
                    <a:bodyPr wrap="square"/>
                    <a:lstStyle/>
                    <a:p>
                      <a:pPr algn="l"/>
                      <a:r>
                        <a:rPr sz="1350" b="1">
                          <a:solidFill>
                            <a:srgbClr val="0F172A"/>
                          </a:solidFill>
                        </a:rPr>
                        <a:t>Shipped training run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50" b="0">
                          <a:solidFill>
                            <a:srgbClr val="0F172A"/>
                          </a:solidFill>
                        </a:rPr>
                        <a:t>19,200 train / 4,800 test rows (stratified 80/20), trained in 22.2 s; artefacts in models/ and results/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58368">
                <a:tc>
                  <a:txBody>
                    <a:bodyPr wrap="square"/>
                    <a:lstStyle/>
                    <a:p>
                      <a:pPr algn="l"/>
                      <a:r>
                        <a:rPr sz="1350" b="1">
                          <a:solidFill>
                            <a:srgbClr val="0F172A"/>
                          </a:solidFill>
                        </a:rPr>
                        <a:t>Real-data experiments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50" b="0">
                          <a:solidFill>
                            <a:srgbClr val="0F172A"/>
                          </a:solidFill>
                        </a:rPr>
                        <a:t>RF retrained with the same settings on real flows: 5 seeds (42, 1, 2, 3, 4) and a 70/30 block split; baselines DT, HistGradientBoosting, GaussianNB, logistic regression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58368">
                <a:tc>
                  <a:txBody>
                    <a:bodyPr wrap="square"/>
                    <a:lstStyle/>
                    <a:p>
                      <a:pPr algn="l"/>
                      <a:r>
                        <a:rPr sz="1350" b="1">
                          <a:solidFill>
                            <a:srgbClr val="0F172A"/>
                          </a:solidFill>
                        </a:rPr>
                        <a:t>Window pipeline test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50" b="0">
                          <a:solidFill>
                            <a:srgbClr val="0F172A"/>
                          </a:solidFill>
                        </a:rPr>
                        <a:t>4,000 simulator windows per length (2, 5, 10 s; 35 % attack), rolling baseline of 12 windows, persistence, severity as in app.py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58368">
                <a:tc>
                  <a:txBody>
                    <a:bodyPr wrap="square"/>
                    <a:lstStyle/>
                    <a:p>
                      <a:pPr algn="l"/>
                      <a:r>
                        <a:rPr sz="1350" b="1">
                          <a:solidFill>
                            <a:srgbClr val="0F172A"/>
                          </a:solidFill>
                        </a:rPr>
                        <a:t>Latency run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50" b="0">
                          <a:solidFill>
                            <a:srgbClr val="0F172A"/>
                          </a:solidFill>
                        </a:rPr>
                        <a:t>600 windows; single-window inference; REST calls over 127.0.0.1</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58368">
                <a:tc>
                  <a:txBody>
                    <a:bodyPr wrap="square"/>
                    <a:lstStyle/>
                    <a:p>
                      <a:pPr algn="l"/>
                      <a:r>
                        <a:rPr sz="1350" b="1">
                          <a:solidFill>
                            <a:srgbClr val="0F172A"/>
                          </a:solidFill>
                        </a:rPr>
                        <a:t>Machine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50" b="0">
                          <a:solidFill>
                            <a:srgbClr val="0F172A"/>
                          </a:solidFill>
                        </a:rPr>
                        <a:t>Core i5-12500, 15.7 GB RAM, no GPU, Windows 11; Python 3.11.9, scikit-learn 1.9.1; other jobs kept the CPU at 100 % during timing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
        <p:nvSpPr>
          <p:cNvPr id="27" name="TextBox 26"/>
          <p:cNvSpPr txBox="1"/>
          <p:nvPr/>
        </p:nvSpPr>
        <p:spPr>
          <a:xfrm>
            <a:off x="548640" y="6126480"/>
            <a:ext cx="11091672" cy="365760"/>
          </a:xfrm>
          <a:prstGeom prst="rect">
            <a:avLst/>
          </a:prstGeom>
          <a:noFill/>
        </p:spPr>
        <p:txBody>
          <a:bodyPr wrap="square" lIns="0" rIns="0" tIns="0" bIns="0" anchor="t">
            <a:spAutoFit/>
          </a:bodyPr>
          <a:lstStyle/>
          <a:p>
            <a:pPr algn="l">
              <a:spcAft>
                <a:spcPts val="400"/>
              </a:spcAft>
            </a:pPr>
            <a:r>
              <a:rPr sz="1200" b="0" i="1">
                <a:solidFill>
                  <a:srgbClr val="475569"/>
                </a:solidFill>
              </a:rPr>
              <a:t>Hyper-parameters are those of ml/train_model.py; no tuning was done for this review.</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Decision logic: risk, severity and mitigation</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a:t>
            </a:fld>
            <a:endParaRPr lang="en-US"/>
          </a:p>
        </p:txBody>
      </p:sp>
      <p:pic>
        <p:nvPicPr>
          <p:cNvPr id="26" name="Picture 25" descr="sf_deck_r2_10.png"/>
          <p:cNvPicPr>
            <a:picLocks noChangeAspect="1"/>
          </p:cNvPicPr>
          <p:nvPr/>
        </p:nvPicPr>
        <p:blipFill>
          <a:blip r:embed="rId1"/>
          <a:stretch>
            <a:fillRect/>
          </a:stretch>
        </p:blipFill>
        <p:spPr>
          <a:xfrm>
            <a:off x="698306" y="1188720"/>
            <a:ext cx="4455546" cy="5212080"/>
          </a:xfrm>
          <a:prstGeom prst="rect">
            <a:avLst/>
          </a:prstGeom>
        </p:spPr>
      </p:pic>
      <p:graphicFrame>
        <p:nvGraphicFramePr>
          <p:cNvPr id="27" name="Table 26"/>
          <p:cNvGraphicFramePr>
            <a:graphicFrameLocks noGrp="1"/>
          </p:cNvGraphicFramePr>
          <p:nvPr/>
        </p:nvGraphicFramePr>
        <p:xfrm>
          <a:off x="5486400" y="1280160"/>
          <a:ext cx="6153912" cy="4937760"/>
        </p:xfrm>
        <a:graphic>
          <a:graphicData uri="http://schemas.openxmlformats.org/drawingml/2006/table">
            <a:tbl>
              <a:tblPr firstRow="0" bandRow="0">
                <a:tableStyleId>{5C22544A-7EE6-4342-B048-85BDC9FD1C3A}</a:tableStyleId>
              </a:tblPr>
              <a:tblGrid>
                <a:gridCol w="1417320"/>
                <a:gridCol w="4736592"/>
              </a:tblGrid>
              <a:tr h="822960">
                <a:tc>
                  <a:txBody>
                    <a:bodyPr wrap="square"/>
                    <a:lstStyle/>
                    <a:p>
                      <a:pPr algn="ctr"/>
                      <a:r>
                        <a:rPr sz="1300" b="1">
                          <a:solidFill>
                            <a:srgbClr val="FFFFFF"/>
                          </a:solidFill>
                        </a:rPr>
                        <a:t>Step</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300" b="1">
                          <a:solidFill>
                            <a:srgbClr val="FFFFFF"/>
                          </a:solidFill>
                        </a:rPr>
                        <a:t>Rule (from the code)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822960">
                <a:tc>
                  <a:txBody>
                    <a:bodyPr wrap="square"/>
                    <a:lstStyle/>
                    <a:p>
                      <a:pPr algn="l"/>
                      <a:r>
                        <a:rPr sz="1300" b="1">
                          <a:solidFill>
                            <a:srgbClr val="0F172A"/>
                          </a:solidFill>
                        </a:rPr>
                        <a:t>Distributed risk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0.30 min(src/30,1) + 0.30 min(dst/15,1) + 0.25 min(rate/1500,1) + 0.15 baseline deviation; Medium from 0.4, High from 0.7</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822960">
                <a:tc>
                  <a:txBody>
                    <a:bodyPr wrap="square"/>
                    <a:lstStyle/>
                    <a:p>
                      <a:pPr algn="l"/>
                      <a:r>
                        <a:rPr sz="1300" b="1">
                          <a:solidFill>
                            <a:srgbClr val="0F172A"/>
                          </a:solidFill>
                        </a:rPr>
                        <a:t>Persistence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consecutive windows with Attack or risk &gt;= 0.7</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822960">
                <a:tc>
                  <a:txBody>
                    <a:bodyPr wrap="square"/>
                    <a:lstStyle/>
                    <a:p>
                      <a:pPr algn="l"/>
                      <a:r>
                        <a:rPr sz="1300" b="1">
                          <a:solidFill>
                            <a:srgbClr val="0F172A"/>
                          </a:solidFill>
                        </a:rPr>
                        <a:t>Severity score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Attack +30; confidence &gt;= 0.9 +15; rate &gt;= 3,000 pkt/s +20; risk &gt;= 0.7 +20; wide spread +8; persistence &gt;= 3 +10; benign capped at 45</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822960">
                <a:tc>
                  <a:txBody>
                    <a:bodyPr wrap="square"/>
                    <a:lstStyle/>
                    <a:p>
                      <a:pPr algn="l"/>
                      <a:r>
                        <a:rPr sz="1300" b="1">
                          <a:solidFill>
                            <a:srgbClr val="0F172A"/>
                          </a:solidFill>
                        </a:rPr>
                        <a:t>Levels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Medium &gt;= 28, High &gt;= 50, Critical &gt;= 70</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822960">
                <a:tc>
                  <a:txBody>
                    <a:bodyPr wrap="square"/>
                    <a:lstStyle/>
                    <a:p>
                      <a:pPr algn="l"/>
                      <a:r>
                        <a:rPr sz="1300" b="1">
                          <a:solidFill>
                            <a:srgbClr val="0F172A"/>
                          </a:solidFill>
                        </a:rPr>
                        <a:t>Action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Low: monitor. Medium: recommend rate limit. High / Critical: quarantine the top 3 non-protected sources for 40 s (80 s for Critical), then recover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Data flow and modules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11</a:t>
            </a:fld>
            <a:endParaRPr lang="en-US"/>
          </a:p>
        </p:txBody>
      </p:sp>
      <p:pic>
        <p:nvPicPr>
          <p:cNvPr id="26" name="Picture 25" descr="sf_deck_r2_04.png"/>
          <p:cNvPicPr>
            <a:picLocks noChangeAspect="1"/>
          </p:cNvPicPr>
          <p:nvPr/>
        </p:nvPicPr>
        <p:blipFill>
          <a:blip r:embed="rId1"/>
          <a:stretch>
            <a:fillRect/>
          </a:stretch>
        </p:blipFill>
        <p:spPr>
          <a:xfrm>
            <a:off x="548640" y="1670311"/>
            <a:ext cx="6400800" cy="4203177"/>
          </a:xfrm>
          <a:prstGeom prst="rect">
            <a:avLst/>
          </a:prstGeom>
        </p:spPr>
      </p:pic>
      <p:graphicFrame>
        <p:nvGraphicFramePr>
          <p:cNvPr id="27" name="Table 26"/>
          <p:cNvGraphicFramePr>
            <a:graphicFrameLocks noGrp="1"/>
          </p:cNvGraphicFramePr>
          <p:nvPr/>
        </p:nvGraphicFramePr>
        <p:xfrm>
          <a:off x="7223760" y="1280160"/>
          <a:ext cx="4416552" cy="4279392"/>
        </p:xfrm>
        <a:graphic>
          <a:graphicData uri="http://schemas.openxmlformats.org/drawingml/2006/table">
            <a:tbl>
              <a:tblPr firstRow="0" bandRow="0">
                <a:tableStyleId>{5C22544A-7EE6-4342-B048-85BDC9FD1C3A}</a:tableStyleId>
              </a:tblPr>
              <a:tblGrid>
                <a:gridCol w="1737360"/>
                <a:gridCol w="2679192"/>
              </a:tblGrid>
              <a:tr h="475488">
                <a:tc>
                  <a:txBody>
                    <a:bodyPr wrap="square"/>
                    <a:lstStyle/>
                    <a:p>
                      <a:pPr algn="ctr"/>
                      <a:r>
                        <a:rPr sz="1200" b="1">
                          <a:solidFill>
                            <a:srgbClr val="FFFFFF"/>
                          </a:solidFill>
                        </a:rPr>
                        <a:t>Module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00" b="1">
                          <a:solidFill>
                            <a:srgbClr val="FFFFFF"/>
                          </a:solidFill>
                        </a:rPr>
                        <a:t>Role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475488">
                <a:tc>
                  <a:txBody>
                    <a:bodyPr wrap="square"/>
                    <a:lstStyle/>
                    <a:p>
                      <a:pPr algn="l"/>
                      <a:r>
                        <a:rPr sz="1200" b="1">
                          <a:solidFill>
                            <a:srgbClr val="0F172A"/>
                          </a:solidFill>
                        </a:rPr>
                        <a:t>monitoring/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capture, simulator, aggregator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75488">
                <a:tc>
                  <a:txBody>
                    <a:bodyPr wrap="square"/>
                    <a:lstStyle/>
                    <a:p>
                      <a:pPr algn="l"/>
                      <a:r>
                        <a:rPr sz="1200" b="1">
                          <a:solidFill>
                            <a:srgbClr val="0F172A"/>
                          </a:solidFill>
                        </a:rPr>
                        <a:t>ml/</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features, preprocessing, training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75488">
                <a:tc>
                  <a:txBody>
                    <a:bodyPr wrap="square"/>
                    <a:lstStyle/>
                    <a:p>
                      <a:pPr algn="l"/>
                      <a:r>
                        <a:rPr sz="1200" b="1">
                          <a:solidFill>
                            <a:srgbClr val="0F172A"/>
                          </a:solidFill>
                        </a:rPr>
                        <a:t>security/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detector, risk, severity, mitigation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75488">
                <a:tc>
                  <a:txBody>
                    <a:bodyPr wrap="square"/>
                    <a:lstStyle/>
                    <a:p>
                      <a:pPr algn="l"/>
                      <a:r>
                        <a:rPr sz="1200" b="1">
                          <a:solidFill>
                            <a:srgbClr val="0F172A"/>
                          </a:solidFill>
                        </a:rPr>
                        <a:t>database/db.py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SQLite, four tables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75488">
                <a:tc>
                  <a:txBody>
                    <a:bodyPr wrap="square"/>
                    <a:lstStyle/>
                    <a:p>
                      <a:pPr algn="l"/>
                      <a:r>
                        <a:rPr sz="1200" b="1">
                          <a:solidFill>
                            <a:srgbClr val="0F172A"/>
                          </a:solidFill>
                        </a:rPr>
                        <a:t>app.py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12 endpoints, process_window</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75488">
                <a:tc>
                  <a:txBody>
                    <a:bodyPr wrap="square"/>
                    <a:lstStyle/>
                    <a:p>
                      <a:pPr algn="l"/>
                      <a:r>
                        <a:rPr sz="1200" b="1">
                          <a:solidFill>
                            <a:srgbClr val="0F172A"/>
                          </a:solidFill>
                        </a:rPr>
                        <a:t>frontend/src</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React pages and polling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75488">
                <a:tc>
                  <a:txBody>
                    <a:bodyPr wrap="square"/>
                    <a:lstStyle/>
                    <a:p>
                      <a:pPr algn="l"/>
                      <a:r>
                        <a:rPr sz="1200" b="1">
                          <a:solidFill>
                            <a:srgbClr val="0F172A"/>
                          </a:solidFill>
                        </a:rPr>
                        <a:t>tests/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95 pytest tests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75488">
                <a:tc>
                  <a:txBody>
                    <a:bodyPr wrap="square"/>
                    <a:lstStyle/>
                    <a:p>
                      <a:pPr algn="l"/>
                      <a:r>
                        <a:rPr sz="1200" b="1">
                          <a:solidFill>
                            <a:srgbClr val="0F172A"/>
                          </a:solidFill>
                        </a:rPr>
                        <a:t>scripts/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smoke, experiments, API probes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
        <p:nvSpPr>
          <p:cNvPr id="28" name="TextBox 27"/>
          <p:cNvSpPr txBox="1"/>
          <p:nvPr/>
        </p:nvSpPr>
        <p:spPr>
          <a:xfrm>
            <a:off x="7223760" y="5760720"/>
            <a:ext cx="4416552" cy="548640"/>
          </a:xfrm>
          <a:prstGeom prst="rect">
            <a:avLst/>
          </a:prstGeom>
          <a:noFill/>
        </p:spPr>
        <p:txBody>
          <a:bodyPr wrap="square" lIns="0" rIns="0" tIns="0" bIns="0" anchor="t">
            <a:spAutoFit/>
          </a:bodyPr>
          <a:lstStyle/>
          <a:p>
            <a:pPr algn="l">
              <a:spcAft>
                <a:spcPts val="400"/>
              </a:spcAft>
            </a:pPr>
            <a:r>
              <a:rPr sz="1150" b="0" i="1">
                <a:solidFill>
                  <a:srgbClr val="475569"/>
                </a:solidFill>
              </a:rPr>
              <a:t>Level-1 data flow diagram: seven processes, four stores.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Database and UML</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12</a:t>
            </a:fld>
            <a:endParaRPr lang="en-US"/>
          </a:p>
        </p:txBody>
      </p:sp>
      <p:pic>
        <p:nvPicPr>
          <p:cNvPr id="26" name="Picture 25" descr="sf_deck_r2_09.png"/>
          <p:cNvPicPr>
            <a:picLocks noChangeAspect="1"/>
          </p:cNvPicPr>
          <p:nvPr/>
        </p:nvPicPr>
        <p:blipFill>
          <a:blip r:embed="rId1"/>
          <a:stretch>
            <a:fillRect/>
          </a:stretch>
        </p:blipFill>
        <p:spPr>
          <a:xfrm>
            <a:off x="548640" y="1341585"/>
            <a:ext cx="6400800" cy="4174829"/>
          </a:xfrm>
          <a:prstGeom prst="rect">
            <a:avLst/>
          </a:prstGeom>
        </p:spPr>
      </p:pic>
      <p:pic>
        <p:nvPicPr>
          <p:cNvPr id="27" name="Picture 26" descr="sf_deck_r2_06.png"/>
          <p:cNvPicPr>
            <a:picLocks noChangeAspect="1"/>
          </p:cNvPicPr>
          <p:nvPr/>
        </p:nvPicPr>
        <p:blipFill>
          <a:blip r:embed="rId4"/>
          <a:stretch>
            <a:fillRect/>
          </a:stretch>
        </p:blipFill>
        <p:spPr>
          <a:xfrm>
            <a:off x="7132320" y="1204814"/>
            <a:ext cx="4572000" cy="4722690"/>
          </a:xfrm>
          <a:prstGeom prst="rect">
            <a:avLst/>
          </a:prstGeom>
        </p:spPr>
      </p:pic>
      <p:sp>
        <p:nvSpPr>
          <p:cNvPr id="28" name="TextBox 27"/>
          <p:cNvSpPr txBox="1"/>
          <p:nvPr/>
        </p:nvSpPr>
        <p:spPr>
          <a:xfrm>
            <a:off x="548640" y="5760720"/>
            <a:ext cx="6400800" cy="640080"/>
          </a:xfrm>
          <a:prstGeom prst="rect">
            <a:avLst/>
          </a:prstGeom>
          <a:noFill/>
        </p:spPr>
        <p:txBody>
          <a:bodyPr wrap="square" lIns="0" rIns="0" tIns="0" bIns="0" anchor="t">
            <a:spAutoFit/>
          </a:bodyPr>
          <a:lstStyle/>
          <a:p>
            <a:pPr algn="l">
              <a:spcAft>
                <a:spcPts val="400"/>
              </a:spcAft>
            </a:pPr>
            <a:r>
              <a:rPr sz="1150" b="0" i="1">
                <a:solidFill>
                  <a:srgbClr val="475569"/>
                </a:solidFill>
              </a:rPr>
              <a:t>SQLite database: detections, mitigations, health_samples and settings; no foreign keys are declared.</a:t>
            </a:r>
          </a:p>
        </p:txBody>
      </p:sp>
      <p:sp>
        <p:nvSpPr>
          <p:cNvPr id="29" name="TextBox 28"/>
          <p:cNvSpPr txBox="1"/>
          <p:nvPr/>
        </p:nvSpPr>
        <p:spPr>
          <a:xfrm>
            <a:off x="7132320" y="5989320"/>
            <a:ext cx="4572000" cy="457200"/>
          </a:xfrm>
          <a:prstGeom prst="rect">
            <a:avLst/>
          </a:prstGeom>
          <a:noFill/>
        </p:spPr>
        <p:txBody>
          <a:bodyPr wrap="square" lIns="0" rIns="0" tIns="0" bIns="0" anchor="t">
            <a:spAutoFit/>
          </a:bodyPr>
          <a:lstStyle/>
          <a:p>
            <a:pPr algn="l">
              <a:spcAft>
                <a:spcPts val="400"/>
              </a:spcAft>
            </a:pPr>
            <a:r>
              <a:rPr sz="1150" b="0" i="1">
                <a:solidFill>
                  <a:srgbClr val="475569"/>
                </a:solidFill>
              </a:rPr>
              <a:t>Classes and module interfaces present in the code.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Technology stack</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13</a:t>
            </a:fld>
            <a:endParaRPr lang="en-US"/>
          </a:p>
        </p:txBody>
      </p:sp>
      <p:graphicFrame>
        <p:nvGraphicFramePr>
          <p:cNvPr id="26" name="Table 25"/>
          <p:cNvGraphicFramePr>
            <a:graphicFrameLocks noGrp="1"/>
          </p:cNvGraphicFramePr>
          <p:nvPr/>
        </p:nvGraphicFramePr>
        <p:xfrm>
          <a:off x="548640" y="1325880"/>
          <a:ext cx="11091672" cy="4992624"/>
        </p:xfrm>
        <a:graphic>
          <a:graphicData uri="http://schemas.openxmlformats.org/drawingml/2006/table">
            <a:tbl>
              <a:tblPr firstRow="0" bandRow="0">
                <a:tableStyleId>{5C22544A-7EE6-4342-B048-85BDC9FD1C3A}</a:tableStyleId>
              </a:tblPr>
              <a:tblGrid>
                <a:gridCol w="2377440"/>
                <a:gridCol w="8714232"/>
              </a:tblGrid>
              <a:tr h="713232">
                <a:tc>
                  <a:txBody>
                    <a:bodyPr wrap="square"/>
                    <a:lstStyle/>
                    <a:p>
                      <a:pPr algn="ctr"/>
                      <a:r>
                        <a:rPr sz="1500" b="1">
                          <a:solidFill>
                            <a:srgbClr val="FFFFFF"/>
                          </a:solidFill>
                        </a:rPr>
                        <a:t>Layer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500" b="1">
                          <a:solidFill>
                            <a:srgbClr val="FFFFFF"/>
                          </a:solidFill>
                        </a:rPr>
                        <a:t>Technology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713232">
                <a:tc>
                  <a:txBody>
                    <a:bodyPr wrap="square"/>
                    <a:lstStyle/>
                    <a:p>
                      <a:pPr algn="l"/>
                      <a:r>
                        <a:rPr sz="1500" b="1">
                          <a:solidFill>
                            <a:srgbClr val="0F172A"/>
                          </a:solidFill>
                        </a:rPr>
                        <a:t>Language and API</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500" b="0">
                          <a:solidFill>
                            <a:srgbClr val="0F172A"/>
                          </a:solidFill>
                        </a:rPr>
                        <a:t>Python 3.11.9, Flask 3.1.3 (threaded), python-dotenv; ports 8415 and 5415 from .env</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713232">
                <a:tc>
                  <a:txBody>
                    <a:bodyPr wrap="square"/>
                    <a:lstStyle/>
                    <a:p>
                      <a:pPr algn="l"/>
                      <a:r>
                        <a:rPr sz="1500" b="1">
                          <a:solidFill>
                            <a:srgbClr val="0F172A"/>
                          </a:solidFill>
                        </a:rPr>
                        <a:t>Machine learning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500" b="0">
                          <a:solidFill>
                            <a:srgbClr val="0F172A"/>
                          </a:solidFill>
                        </a:rPr>
                        <a:t>scikit-learn 1.9.1 (RandomForest), pandas 3.1.0, NumPy 2.4.6, joblib 1.6.0, matplotlib 3.11.2 for result plots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713232">
                <a:tc>
                  <a:txBody>
                    <a:bodyPr wrap="square"/>
                    <a:lstStyle/>
                    <a:p>
                      <a:pPr algn="l"/>
                      <a:r>
                        <a:rPr sz="1500" b="1">
                          <a:solidFill>
                            <a:srgbClr val="0F172A"/>
                          </a:solidFill>
                        </a:rPr>
                        <a:t>Traffic and host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500" b="0">
                          <a:solidFill>
                            <a:srgbClr val="0F172A"/>
                          </a:solidFill>
                        </a:rPr>
                        <a:t>Scapy 2.8.0 (sniff, needs Npcap on Windows), psutil 7.2.2 (CPU, memory, network counters)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713232">
                <a:tc>
                  <a:txBody>
                    <a:bodyPr wrap="square"/>
                    <a:lstStyle/>
                    <a:p>
                      <a:pPr algn="l"/>
                      <a:r>
                        <a:rPr sz="1500" b="1">
                          <a:solidFill>
                            <a:srgbClr val="0F172A"/>
                          </a:solidFill>
                        </a:rPr>
                        <a:t>Storage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500" b="0">
                          <a:solidFill>
                            <a:srgbClr val="0F172A"/>
                          </a:solidFill>
                        </a:rPr>
                        <a:t>SQLite (standard library) with a lock; model and metrics as joblib, JSON and PNG files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713232">
                <a:tc>
                  <a:txBody>
                    <a:bodyPr wrap="square"/>
                    <a:lstStyle/>
                    <a:p>
                      <a:pPr algn="l"/>
                      <a:r>
                        <a:rPr sz="1500" b="1">
                          <a:solidFill>
                            <a:srgbClr val="0F172A"/>
                          </a:solidFill>
                        </a:rPr>
                        <a:t>Front end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500" b="0">
                          <a:solidFill>
                            <a:srgbClr val="0F172A"/>
                          </a:solidFill>
                        </a:rPr>
                        <a:t>React 19, Vite 8, Tailwind 4, Recharts 3, React Router 7, axios, Framer Motion, three.js backdrop</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713232">
                <a:tc>
                  <a:txBody>
                    <a:bodyPr wrap="square"/>
                    <a:lstStyle/>
                    <a:p>
                      <a:pPr algn="l"/>
                      <a:r>
                        <a:rPr sz="1500" b="1">
                          <a:solidFill>
                            <a:srgbClr val="0F172A"/>
                          </a:solidFill>
                        </a:rPr>
                        <a:t>Testing and run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500" b="0">
                          <a:solidFill>
                            <a:srgbClr val="0F172A"/>
                          </a:solidFill>
                        </a:rPr>
                        <a:t>pytest 9.1.1 (95 tests), smoke script, API probe script; run.bat or Docker (dashboard, inference, simulation)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Implementation progress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14</a:t>
            </a:fld>
            <a:endParaRPr lang="en-US"/>
          </a:p>
        </p:txBody>
      </p:sp>
      <p:graphicFrame>
        <p:nvGraphicFramePr>
          <p:cNvPr id="26" name="Table 25"/>
          <p:cNvGraphicFramePr>
            <a:graphicFrameLocks noGrp="1"/>
          </p:cNvGraphicFramePr>
          <p:nvPr/>
        </p:nvGraphicFramePr>
        <p:xfrm>
          <a:off x="548640" y="1280160"/>
          <a:ext cx="11091672" cy="5120640"/>
        </p:xfrm>
        <a:graphic>
          <a:graphicData uri="http://schemas.openxmlformats.org/drawingml/2006/table">
            <a:tbl>
              <a:tblPr firstRow="0" bandRow="0">
                <a:tableStyleId>{5C22544A-7EE6-4342-B048-85BDC9FD1C3A}</a:tableStyleId>
              </a:tblPr>
              <a:tblGrid>
                <a:gridCol w="4937760"/>
                <a:gridCol w="1737360"/>
                <a:gridCol w="4416552"/>
              </a:tblGrid>
              <a:tr h="640080">
                <a:tc>
                  <a:txBody>
                    <a:bodyPr wrap="square"/>
                    <a:lstStyle/>
                    <a:p>
                      <a:pPr algn="ctr"/>
                      <a:r>
                        <a:rPr sz="1300" b="1">
                          <a:solidFill>
                            <a:srgbClr val="FFFFFF"/>
                          </a:solidFill>
                        </a:rPr>
                        <a:t>Component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300" b="1">
                          <a:solidFill>
                            <a:srgbClr val="FFFFFF"/>
                          </a:solidFill>
                        </a:rPr>
                        <a:t>Status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300" b="1">
                          <a:solidFill>
                            <a:srgbClr val="FFFFFF"/>
                          </a:solidFill>
                        </a:rPr>
                        <a:t>Evidence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640080">
                <a:tc>
                  <a:txBody>
                    <a:bodyPr wrap="square"/>
                    <a:lstStyle/>
                    <a:p>
                      <a:pPr algn="l"/>
                      <a:r>
                        <a:rPr sz="1300" b="0">
                          <a:solidFill>
                            <a:srgbClr val="0F172A"/>
                          </a:solidFill>
                        </a:rPr>
                        <a:t>Aggregator, Random Forest, distributed risk, severity, mitigation with expiry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95/95 pytest tests cover each module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40080">
                <a:tc>
                  <a:txBody>
                    <a:bodyPr wrap="square"/>
                    <a:lstStyle/>
                    <a:p>
                      <a:pPr algn="l"/>
                      <a:r>
                        <a:rPr sz="1300" b="0">
                          <a:solidFill>
                            <a:srgbClr val="0F172A"/>
                          </a:solidFill>
                        </a:rPr>
                        <a:t>Flask API (12 endpoints), SQLite storage, React console (9 pages)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25/25 smoke checks; 25/25 malformed-input probes handled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40080">
                <a:tc>
                  <a:txBody>
                    <a:bodyPr wrap="square"/>
                    <a:lstStyle/>
                    <a:p>
                      <a:pPr algn="l"/>
                      <a:r>
                        <a:rPr sz="1300" b="0">
                          <a:solidFill>
                            <a:srgbClr val="0F172A"/>
                          </a:solidFill>
                        </a:rPr>
                        <a:t>Simulation Mode through the identical pipeline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first detection 4.6 s after Start at 2 s windows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40080">
                <a:tc>
                  <a:txBody>
                    <a:bodyPr wrap="square"/>
                    <a:lstStyle/>
                    <a:p>
                      <a:pPr algn="l"/>
                      <a:r>
                        <a:rPr sz="1300" b="0">
                          <a:solidFill>
                            <a:srgbClr val="0F172A"/>
                          </a:solidFill>
                        </a:rPr>
                        <a:t>Live Scapy capture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Implemented, not verified live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Npcap not installed here; error path verified (capture_error reported, mode returns to stopped)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40080">
                <a:tc>
                  <a:txBody>
                    <a:bodyPr wrap="square"/>
                    <a:lstStyle/>
                    <a:p>
                      <a:pPr algn="l"/>
                      <a:r>
                        <a:rPr sz="1300" b="0">
                          <a:solidFill>
                            <a:srgbClr val="0F172A"/>
                          </a:solidFill>
                        </a:rPr>
                        <a:t>Training on real CICIDS2017</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Partly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script supports it; shipped model used the synthetic fallback; real-data check run separately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40080">
                <a:tc>
                  <a:txBody>
                    <a:bodyPr wrap="square"/>
                    <a:lstStyle/>
                    <a:p>
                      <a:pPr algn="l"/>
                      <a:r>
                        <a:rPr sz="1300" b="0">
                          <a:solidFill>
                            <a:srgbClr val="0F172A"/>
                          </a:solidFill>
                        </a:rPr>
                        <a:t>Enforcement beyond the application (firewall, rate limiting)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Not 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apply_os_firewall_block is a stub; rate limiting is only recommended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40080">
                <a:tc>
                  <a:txBody>
                    <a:bodyPr wrap="square"/>
                    <a:lstStyle/>
                    <a:p>
                      <a:pPr algn="l"/>
                      <a:r>
                        <a:rPr sz="1300" b="0">
                          <a:solidFill>
                            <a:srgbClr val="0F172A"/>
                          </a:solidFill>
                        </a:rPr>
                        <a:t>Authentication, multi-attack classes, real testbed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Not 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API is localhost-only; binary labels; no SDN deployment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Preliminary results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15</a:t>
            </a:fld>
            <a:endParaRPr lang="en-US"/>
          </a:p>
        </p:txBody>
      </p:sp>
      <p:sp>
        <p:nvSpPr>
          <p:cNvPr id="26" name="Rounded Rectangle 25"/>
          <p:cNvSpPr/>
          <p:nvPr/>
        </p:nvSpPr>
        <p:spPr>
          <a:xfrm>
            <a:off x="548640" y="1234440"/>
            <a:ext cx="2606040" cy="11887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548640" y="1234440"/>
            <a:ext cx="73152" cy="118872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49808" y="1325880"/>
            <a:ext cx="2331720" cy="653796"/>
          </a:xfrm>
          <a:prstGeom prst="rect">
            <a:avLst/>
          </a:prstGeom>
          <a:noFill/>
        </p:spPr>
        <p:txBody>
          <a:bodyPr wrap="square" lIns="0" rIns="0" tIns="0" bIns="0" anchor="ctr">
            <a:spAutoFit/>
          </a:bodyPr>
          <a:lstStyle/>
          <a:p>
            <a:pPr algn="l">
              <a:spcAft>
                <a:spcPts val="400"/>
              </a:spcAft>
            </a:pPr>
            <a:r>
              <a:rPr sz="2400" b="1" i="0">
                <a:solidFill>
                  <a:srgbClr val="0F172A"/>
                </a:solidFill>
              </a:rPr>
              <a:t>99.71%</a:t>
            </a:r>
          </a:p>
        </p:txBody>
      </p:sp>
      <p:sp>
        <p:nvSpPr>
          <p:cNvPr id="29" name="TextBox 28"/>
          <p:cNvSpPr txBox="1"/>
          <p:nvPr/>
        </p:nvSpPr>
        <p:spPr>
          <a:xfrm>
            <a:off x="749808" y="1923897"/>
            <a:ext cx="2331720" cy="451713"/>
          </a:xfrm>
          <a:prstGeom prst="rect">
            <a:avLst/>
          </a:prstGeom>
          <a:noFill/>
        </p:spPr>
        <p:txBody>
          <a:bodyPr wrap="square" lIns="0" rIns="0" tIns="0" bIns="0" anchor="t">
            <a:spAutoFit/>
          </a:bodyPr>
          <a:lstStyle/>
          <a:p>
            <a:pPr algn="l">
              <a:spcAft>
                <a:spcPts val="400"/>
              </a:spcAft>
            </a:pPr>
            <a:r>
              <a:rPr sz="1050" b="0" i="0">
                <a:solidFill>
                  <a:srgbClr val="475569"/>
                </a:solidFill>
              </a:rPr>
              <a:t>shipped model on its own synthetic split (4,800 rows)</a:t>
            </a:r>
          </a:p>
        </p:txBody>
      </p:sp>
      <p:sp>
        <p:nvSpPr>
          <p:cNvPr id="30" name="Rounded Rectangle 29"/>
          <p:cNvSpPr/>
          <p:nvPr/>
        </p:nvSpPr>
        <p:spPr>
          <a:xfrm>
            <a:off x="3374136" y="1234440"/>
            <a:ext cx="2606040" cy="11887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3374136" y="1234440"/>
            <a:ext cx="73152" cy="118872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575304" y="1325880"/>
            <a:ext cx="2331720" cy="653796"/>
          </a:xfrm>
          <a:prstGeom prst="rect">
            <a:avLst/>
          </a:prstGeom>
          <a:noFill/>
        </p:spPr>
        <p:txBody>
          <a:bodyPr wrap="square" lIns="0" rIns="0" tIns="0" bIns="0" anchor="ctr">
            <a:spAutoFit/>
          </a:bodyPr>
          <a:lstStyle/>
          <a:p>
            <a:pPr algn="l">
              <a:spcAft>
                <a:spcPts val="400"/>
              </a:spcAft>
            </a:pPr>
            <a:r>
              <a:rPr sz="2400" b="1" i="0">
                <a:solidFill>
                  <a:srgbClr val="0F172A"/>
                </a:solidFill>
              </a:rPr>
              <a:t>71.8%</a:t>
            </a:r>
          </a:p>
        </p:txBody>
      </p:sp>
      <p:sp>
        <p:nvSpPr>
          <p:cNvPr id="33" name="TextBox 32"/>
          <p:cNvSpPr txBox="1"/>
          <p:nvPr/>
        </p:nvSpPr>
        <p:spPr>
          <a:xfrm>
            <a:off x="3575304" y="1923897"/>
            <a:ext cx="2331720" cy="451713"/>
          </a:xfrm>
          <a:prstGeom prst="rect">
            <a:avLst/>
          </a:prstGeom>
          <a:noFill/>
        </p:spPr>
        <p:txBody>
          <a:bodyPr wrap="square" lIns="0" rIns="0" tIns="0" bIns="0" anchor="t">
            <a:spAutoFit/>
          </a:bodyPr>
          <a:lstStyle/>
          <a:p>
            <a:pPr algn="l">
              <a:spcAft>
                <a:spcPts val="400"/>
              </a:spcAft>
            </a:pPr>
            <a:r>
              <a:rPr sz="1050" b="0" i="0">
                <a:solidFill>
                  <a:srgbClr val="475569"/>
                </a:solidFill>
              </a:rPr>
              <a:t>same model on 225,745 real CICIDS2017 flows (recall 63.4 %)</a:t>
            </a:r>
          </a:p>
        </p:txBody>
      </p:sp>
      <p:sp>
        <p:nvSpPr>
          <p:cNvPr id="34" name="Rounded Rectangle 33"/>
          <p:cNvSpPr/>
          <p:nvPr/>
        </p:nvSpPr>
        <p:spPr>
          <a:xfrm>
            <a:off x="6199631" y="1234440"/>
            <a:ext cx="2606040" cy="11887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199631" y="1234440"/>
            <a:ext cx="73152" cy="118872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799" y="1325880"/>
            <a:ext cx="2331720" cy="653796"/>
          </a:xfrm>
          <a:prstGeom prst="rect">
            <a:avLst/>
          </a:prstGeom>
          <a:noFill/>
        </p:spPr>
        <p:txBody>
          <a:bodyPr wrap="square" lIns="0" rIns="0" tIns="0" bIns="0" anchor="ctr">
            <a:spAutoFit/>
          </a:bodyPr>
          <a:lstStyle/>
          <a:p>
            <a:pPr algn="l">
              <a:spcAft>
                <a:spcPts val="400"/>
              </a:spcAft>
            </a:pPr>
            <a:r>
              <a:rPr sz="2400" b="1" i="0">
                <a:solidFill>
                  <a:srgbClr val="0F172A"/>
                </a:solidFill>
              </a:rPr>
              <a:t>99.94%</a:t>
            </a:r>
          </a:p>
        </p:txBody>
      </p:sp>
      <p:sp>
        <p:nvSpPr>
          <p:cNvPr id="37" name="TextBox 36"/>
          <p:cNvSpPr txBox="1"/>
          <p:nvPr/>
        </p:nvSpPr>
        <p:spPr>
          <a:xfrm>
            <a:off x="6400799" y="1923897"/>
            <a:ext cx="2331720" cy="451713"/>
          </a:xfrm>
          <a:prstGeom prst="rect">
            <a:avLst/>
          </a:prstGeom>
          <a:noFill/>
        </p:spPr>
        <p:txBody>
          <a:bodyPr wrap="square" lIns="0" rIns="0" tIns="0" bIns="0" anchor="t">
            <a:spAutoFit/>
          </a:bodyPr>
          <a:lstStyle/>
          <a:p>
            <a:pPr algn="l">
              <a:spcAft>
                <a:spcPts val="400"/>
              </a:spcAft>
            </a:pPr>
            <a:r>
              <a:rPr sz="1050" b="0" i="0">
                <a:solidFill>
                  <a:srgbClr val="475569"/>
                </a:solidFill>
              </a:rPr>
              <a:t>forest retrained on real flows, 5-seed mean (FPR 0.06 %)</a:t>
            </a:r>
          </a:p>
        </p:txBody>
      </p:sp>
      <p:sp>
        <p:nvSpPr>
          <p:cNvPr id="38" name="Rounded Rectangle 37"/>
          <p:cNvSpPr/>
          <p:nvPr/>
        </p:nvSpPr>
        <p:spPr>
          <a:xfrm>
            <a:off x="9025128" y="1234440"/>
            <a:ext cx="2606040" cy="11887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9025128" y="1234440"/>
            <a:ext cx="73152" cy="11887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226296" y="1325880"/>
            <a:ext cx="2331720" cy="653796"/>
          </a:xfrm>
          <a:prstGeom prst="rect">
            <a:avLst/>
          </a:prstGeom>
          <a:noFill/>
        </p:spPr>
        <p:txBody>
          <a:bodyPr wrap="square" lIns="0" rIns="0" tIns="0" bIns="0" anchor="ctr">
            <a:spAutoFit/>
          </a:bodyPr>
          <a:lstStyle/>
          <a:p>
            <a:pPr algn="l">
              <a:spcAft>
                <a:spcPts val="400"/>
              </a:spcAft>
            </a:pPr>
            <a:r>
              <a:rPr sz="2400" b="1" i="0">
                <a:solidFill>
                  <a:srgbClr val="0F172A"/>
                </a:solidFill>
              </a:rPr>
              <a:t>0.27%</a:t>
            </a:r>
          </a:p>
        </p:txBody>
      </p:sp>
      <p:sp>
        <p:nvSpPr>
          <p:cNvPr id="41" name="TextBox 40"/>
          <p:cNvSpPr txBox="1"/>
          <p:nvPr/>
        </p:nvSpPr>
        <p:spPr>
          <a:xfrm>
            <a:off x="9226296" y="1923897"/>
            <a:ext cx="2331720" cy="451713"/>
          </a:xfrm>
          <a:prstGeom prst="rect">
            <a:avLst/>
          </a:prstGeom>
          <a:noFill/>
        </p:spPr>
        <p:txBody>
          <a:bodyPr wrap="square" lIns="0" rIns="0" tIns="0" bIns="0" anchor="t">
            <a:spAutoFit/>
          </a:bodyPr>
          <a:lstStyle/>
          <a:p>
            <a:pPr algn="l">
              <a:spcAft>
                <a:spcPts val="400"/>
              </a:spcAft>
            </a:pPr>
            <a:r>
              <a:rPr sz="1050" b="0" i="0">
                <a:solidFill>
                  <a:srgbClr val="475569"/>
                </a:solidFill>
              </a:rPr>
              <a:t>false positives at 5 s windows with severity (RF label alone 13.6 %)</a:t>
            </a:r>
          </a:p>
        </p:txBody>
      </p:sp>
      <p:pic>
        <p:nvPicPr>
          <p:cNvPr id="42" name="Picture 41" descr="sf_deck_r2_f01.png"/>
          <p:cNvPicPr>
            <a:picLocks noChangeAspect="1"/>
          </p:cNvPicPr>
          <p:nvPr/>
        </p:nvPicPr>
        <p:blipFill>
          <a:blip r:embed="rId1"/>
          <a:stretch>
            <a:fillRect/>
          </a:stretch>
        </p:blipFill>
        <p:spPr>
          <a:xfrm>
            <a:off x="810357" y="2560320"/>
            <a:ext cx="4962965" cy="3017520"/>
          </a:xfrm>
          <a:prstGeom prst="rect">
            <a:avLst/>
          </a:prstGeom>
        </p:spPr>
      </p:pic>
      <p:pic>
        <p:nvPicPr>
          <p:cNvPr id="43" name="Picture 42" descr="sf_deck_r2_f02.png"/>
          <p:cNvPicPr>
            <a:picLocks noChangeAspect="1"/>
          </p:cNvPicPr>
          <p:nvPr/>
        </p:nvPicPr>
        <p:blipFill>
          <a:blip r:embed="rId4"/>
          <a:stretch>
            <a:fillRect/>
          </a:stretch>
        </p:blipFill>
        <p:spPr>
          <a:xfrm>
            <a:off x="6172200" y="2949766"/>
            <a:ext cx="5486400" cy="2238627"/>
          </a:xfrm>
          <a:prstGeom prst="rect">
            <a:avLst/>
          </a:prstGeom>
        </p:spPr>
      </p:pic>
      <p:sp>
        <p:nvSpPr>
          <p:cNvPr id="44" name="TextBox 43"/>
          <p:cNvSpPr txBox="1"/>
          <p:nvPr/>
        </p:nvSpPr>
        <p:spPr>
          <a:xfrm>
            <a:off x="548640" y="5669280"/>
            <a:ext cx="11091672" cy="822960"/>
          </a:xfrm>
          <a:prstGeom prst="rect">
            <a:avLst/>
          </a:prstGeom>
          <a:noFill/>
        </p:spPr>
        <p:txBody>
          <a:bodyPr wrap="square" lIns="0" rIns="0" tIns="0" bIns="0" anchor="t">
            <a:spAutoFit/>
          </a:bodyPr>
          <a:lstStyle/>
          <a:p>
            <a:pPr algn="l">
              <a:spcAft>
                <a:spcPts val="400"/>
              </a:spcAft>
            </a:pPr>
            <a:r>
              <a:rPr sz="1250" b="0" i="0">
                <a:solidFill>
                  <a:srgbClr val="475569"/>
                </a:solidFill>
              </a:rPr>
              <a:t>The synthetic score does not transfer to real flows; retraining with the same features fixes that on this attack type. Window length matters: the model was calibrated on 10 s windows. The base paper's 100 % is on different datasets and is not directly comparable. Recall at High/Critical: 100 % at 2 s, 100 % at 5 s, 97.0 % at 10 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Output screens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16</a:t>
            </a:fld>
            <a:endParaRPr lang="en-US"/>
          </a:p>
        </p:txBody>
      </p:sp>
      <p:pic>
        <p:nvPicPr>
          <p:cNvPr id="26" name="Picture 25" descr="04_overview.png"/>
          <p:cNvPicPr>
            <a:picLocks noChangeAspect="1"/>
          </p:cNvPicPr>
          <p:nvPr/>
        </p:nvPicPr>
        <p:blipFill>
          <a:blip r:embed="rId2"/>
          <a:stretch>
            <a:fillRect/>
          </a:stretch>
        </p:blipFill>
        <p:spPr>
          <a:xfrm>
            <a:off x="686714" y="1188720"/>
            <a:ext cx="3335731" cy="2084832"/>
          </a:xfrm>
          <a:prstGeom prst="rect">
            <a:avLst/>
          </a:prstGeom>
          <a:ln w="9525">
            <a:solidFill>
              <a:srgbClr val="D5DCE6"/>
            </a:solidFill>
          </a:ln>
        </p:spPr>
      </p:pic>
      <p:sp>
        <p:nvSpPr>
          <p:cNvPr id="27" name="TextBox 26"/>
          <p:cNvSpPr txBox="1"/>
          <p:nvPr/>
        </p:nvSpPr>
        <p:spPr>
          <a:xfrm>
            <a:off x="548640" y="3310128"/>
            <a:ext cx="3611880" cy="274320"/>
          </a:xfrm>
          <a:prstGeom prst="rect">
            <a:avLst/>
          </a:prstGeom>
          <a:noFill/>
        </p:spPr>
        <p:txBody>
          <a:bodyPr wrap="square" lIns="0" rIns="0" tIns="0" bIns="0" anchor="t">
            <a:spAutoFit/>
          </a:bodyPr>
          <a:lstStyle/>
          <a:p>
            <a:pPr algn="ctr">
              <a:spcAft>
                <a:spcPts val="400"/>
              </a:spcAft>
            </a:pPr>
            <a:r>
              <a:rPr sz="1100" b="0" i="1">
                <a:solidFill>
                  <a:srgbClr val="475569"/>
                </a:solidFill>
              </a:rPr>
              <a:t>Overview: session control, capture-problem banner, live cards</a:t>
            </a:r>
          </a:p>
        </p:txBody>
      </p:sp>
      <p:pic>
        <p:nvPicPr>
          <p:cNvPr id="28" name="Picture 27" descr="05_detections.png"/>
          <p:cNvPicPr>
            <a:picLocks noChangeAspect="1"/>
          </p:cNvPicPr>
          <p:nvPr/>
        </p:nvPicPr>
        <p:blipFill>
          <a:blip r:embed="rId1"/>
          <a:stretch>
            <a:fillRect/>
          </a:stretch>
        </p:blipFill>
        <p:spPr>
          <a:xfrm>
            <a:off x="4472330" y="1188720"/>
            <a:ext cx="3335731" cy="2084832"/>
          </a:xfrm>
          <a:prstGeom prst="rect">
            <a:avLst/>
          </a:prstGeom>
          <a:ln w="9525">
            <a:solidFill>
              <a:srgbClr val="D5DCE6"/>
            </a:solidFill>
          </a:ln>
        </p:spPr>
      </p:pic>
      <p:sp>
        <p:nvSpPr>
          <p:cNvPr id="29" name="TextBox 28"/>
          <p:cNvSpPr txBox="1"/>
          <p:nvPr/>
        </p:nvSpPr>
        <p:spPr>
          <a:xfrm>
            <a:off x="4334256" y="3310128"/>
            <a:ext cx="3611880" cy="274320"/>
          </a:xfrm>
          <a:prstGeom prst="rect">
            <a:avLst/>
          </a:prstGeom>
          <a:noFill/>
        </p:spPr>
        <p:txBody>
          <a:bodyPr wrap="square" lIns="0" rIns="0" tIns="0" bIns="0" anchor="t">
            <a:spAutoFit/>
          </a:bodyPr>
          <a:lstStyle/>
          <a:p>
            <a:pPr algn="ctr">
              <a:spcAft>
                <a:spcPts val="400"/>
              </a:spcAft>
            </a:pPr>
            <a:r>
              <a:rPr sz="1100" b="0" i="1">
                <a:solidFill>
                  <a:srgbClr val="475569"/>
                </a:solidFill>
              </a:rPr>
              <a:t>Detections: every scored window</a:t>
            </a:r>
          </a:p>
        </p:txBody>
      </p:sp>
      <p:pic>
        <p:nvPicPr>
          <p:cNvPr id="30" name="Picture 29" descr="06_threat_detail.png"/>
          <p:cNvPicPr>
            <a:picLocks noChangeAspect="1"/>
          </p:cNvPicPr>
          <p:nvPr/>
        </p:nvPicPr>
        <p:blipFill>
          <a:blip r:embed="rId5"/>
          <a:stretch>
            <a:fillRect/>
          </a:stretch>
        </p:blipFill>
        <p:spPr>
          <a:xfrm>
            <a:off x="8257946" y="1188720"/>
            <a:ext cx="3335731" cy="2084832"/>
          </a:xfrm>
          <a:prstGeom prst="rect">
            <a:avLst/>
          </a:prstGeom>
          <a:ln w="9525">
            <a:solidFill>
              <a:srgbClr val="D5DCE6"/>
            </a:solidFill>
          </a:ln>
        </p:spPr>
      </p:pic>
      <p:sp>
        <p:nvSpPr>
          <p:cNvPr id="31" name="TextBox 30"/>
          <p:cNvSpPr txBox="1"/>
          <p:nvPr/>
        </p:nvSpPr>
        <p:spPr>
          <a:xfrm>
            <a:off x="8119872" y="3310128"/>
            <a:ext cx="3611880" cy="274320"/>
          </a:xfrm>
          <a:prstGeom prst="rect">
            <a:avLst/>
          </a:prstGeom>
          <a:noFill/>
        </p:spPr>
        <p:txBody>
          <a:bodyPr wrap="square" lIns="0" rIns="0" tIns="0" bIns="0" anchor="t">
            <a:spAutoFit/>
          </a:bodyPr>
          <a:lstStyle/>
          <a:p>
            <a:pPr algn="ctr">
              <a:spcAft>
                <a:spcPts val="400"/>
              </a:spcAft>
            </a:pPr>
            <a:r>
              <a:rPr sz="1100" b="0" i="1">
                <a:solidFill>
                  <a:srgbClr val="475569"/>
                </a:solidFill>
              </a:rPr>
              <a:t>Threat detail: verdict, traffic, risk, factors</a:t>
            </a:r>
          </a:p>
        </p:txBody>
      </p:sp>
      <p:pic>
        <p:nvPicPr>
          <p:cNvPr id="32" name="Picture 31" descr="07_analytics.png"/>
          <p:cNvPicPr>
            <a:picLocks noChangeAspect="1"/>
          </p:cNvPicPr>
          <p:nvPr/>
        </p:nvPicPr>
        <p:blipFill>
          <a:blip r:embed="rId6"/>
          <a:stretch>
            <a:fillRect/>
          </a:stretch>
        </p:blipFill>
        <p:spPr>
          <a:xfrm>
            <a:off x="686714" y="3712464"/>
            <a:ext cx="3335731" cy="2084832"/>
          </a:xfrm>
          <a:prstGeom prst="rect">
            <a:avLst/>
          </a:prstGeom>
          <a:ln w="9525">
            <a:solidFill>
              <a:srgbClr val="D5DCE6"/>
            </a:solidFill>
          </a:ln>
        </p:spPr>
      </p:pic>
      <p:sp>
        <p:nvSpPr>
          <p:cNvPr id="33" name="TextBox 32"/>
          <p:cNvSpPr txBox="1"/>
          <p:nvPr/>
        </p:nvSpPr>
        <p:spPr>
          <a:xfrm>
            <a:off x="548640" y="5833872"/>
            <a:ext cx="3611880" cy="274320"/>
          </a:xfrm>
          <a:prstGeom prst="rect">
            <a:avLst/>
          </a:prstGeom>
          <a:noFill/>
        </p:spPr>
        <p:txBody>
          <a:bodyPr wrap="square" lIns="0" rIns="0" tIns="0" bIns="0" anchor="t">
            <a:spAutoFit/>
          </a:bodyPr>
          <a:lstStyle/>
          <a:p>
            <a:pPr algn="ctr">
              <a:spcAft>
                <a:spcPts val="400"/>
              </a:spcAft>
            </a:pPr>
            <a:r>
              <a:rPr sz="1100" b="0" i="1">
                <a:solidFill>
                  <a:srgbClr val="475569"/>
                </a:solidFill>
              </a:rPr>
              <a:t>Analytics: benign vs attack, severity</a:t>
            </a:r>
          </a:p>
        </p:txBody>
      </p:sp>
      <p:pic>
        <p:nvPicPr>
          <p:cNvPr id="34" name="Picture 33" descr="09_mitigation.png"/>
          <p:cNvPicPr>
            <a:picLocks noChangeAspect="1"/>
          </p:cNvPicPr>
          <p:nvPr/>
        </p:nvPicPr>
        <p:blipFill>
          <a:blip r:embed="rId7"/>
          <a:stretch>
            <a:fillRect/>
          </a:stretch>
        </p:blipFill>
        <p:spPr>
          <a:xfrm>
            <a:off x="4472330" y="3712464"/>
            <a:ext cx="3335731" cy="2084832"/>
          </a:xfrm>
          <a:prstGeom prst="rect">
            <a:avLst/>
          </a:prstGeom>
          <a:ln w="9525">
            <a:solidFill>
              <a:srgbClr val="D5DCE6"/>
            </a:solidFill>
          </a:ln>
        </p:spPr>
      </p:pic>
      <p:sp>
        <p:nvSpPr>
          <p:cNvPr id="35" name="TextBox 34"/>
          <p:cNvSpPr txBox="1"/>
          <p:nvPr/>
        </p:nvSpPr>
        <p:spPr>
          <a:xfrm>
            <a:off x="4334256" y="5833872"/>
            <a:ext cx="3611880" cy="274320"/>
          </a:xfrm>
          <a:prstGeom prst="rect">
            <a:avLst/>
          </a:prstGeom>
          <a:noFill/>
        </p:spPr>
        <p:txBody>
          <a:bodyPr wrap="square" lIns="0" rIns="0" tIns="0" bIns="0" anchor="t">
            <a:spAutoFit/>
          </a:bodyPr>
          <a:lstStyle/>
          <a:p>
            <a:pPr algn="ctr">
              <a:spcAft>
                <a:spcPts val="400"/>
              </a:spcAft>
            </a:pPr>
            <a:r>
              <a:rPr sz="1100" b="0" i="1">
                <a:solidFill>
                  <a:srgbClr val="475569"/>
                </a:solidFill>
              </a:rPr>
              <a:t>Mitigation: active quarantines with countdown</a:t>
            </a:r>
          </a:p>
        </p:txBody>
      </p:sp>
      <p:pic>
        <p:nvPicPr>
          <p:cNvPr id="36" name="Picture 35" descr="10_model.png"/>
          <p:cNvPicPr>
            <a:picLocks noChangeAspect="1"/>
          </p:cNvPicPr>
          <p:nvPr/>
        </p:nvPicPr>
        <p:blipFill>
          <a:blip r:embed="rId8"/>
          <a:stretch>
            <a:fillRect/>
          </a:stretch>
        </p:blipFill>
        <p:spPr>
          <a:xfrm>
            <a:off x="8257946" y="3712464"/>
            <a:ext cx="3335731" cy="2084832"/>
          </a:xfrm>
          <a:prstGeom prst="rect">
            <a:avLst/>
          </a:prstGeom>
          <a:ln w="9525">
            <a:solidFill>
              <a:srgbClr val="D5DCE6"/>
            </a:solidFill>
          </a:ln>
        </p:spPr>
      </p:pic>
      <p:sp>
        <p:nvSpPr>
          <p:cNvPr id="37" name="TextBox 36"/>
          <p:cNvSpPr txBox="1"/>
          <p:nvPr/>
        </p:nvSpPr>
        <p:spPr>
          <a:xfrm>
            <a:off x="8119872" y="5833872"/>
            <a:ext cx="3611880" cy="274320"/>
          </a:xfrm>
          <a:prstGeom prst="rect">
            <a:avLst/>
          </a:prstGeom>
          <a:noFill/>
        </p:spPr>
        <p:txBody>
          <a:bodyPr wrap="square" lIns="0" rIns="0" tIns="0" bIns="0" anchor="t">
            <a:spAutoFit/>
          </a:bodyPr>
          <a:lstStyle/>
          <a:p>
            <a:pPr algn="ctr">
              <a:spcAft>
                <a:spcPts val="400"/>
              </a:spcAft>
            </a:pPr>
            <a:r>
              <a:rPr sz="1100" b="0" i="1">
                <a:solidFill>
                  <a:srgbClr val="475569"/>
                </a:solidFill>
              </a:rPr>
              <a:t>Model: metrics with synthetic-data warning</a:t>
            </a:r>
          </a:p>
        </p:txBody>
      </p:sp>
      <p:sp>
        <p:nvSpPr>
          <p:cNvPr id="38" name="TextBox 37"/>
          <p:cNvSpPr txBox="1"/>
          <p:nvPr/>
        </p:nvSpPr>
        <p:spPr>
          <a:xfrm>
            <a:off x="548640" y="6144768"/>
            <a:ext cx="11091672" cy="274320"/>
          </a:xfrm>
          <a:prstGeom prst="rect">
            <a:avLst/>
          </a:prstGeom>
          <a:noFill/>
        </p:spPr>
        <p:txBody>
          <a:bodyPr wrap="square" lIns="0" rIns="0" tIns="0" bIns="0" anchor="t">
            <a:spAutoFit/>
          </a:bodyPr>
          <a:lstStyle/>
          <a:p>
            <a:pPr algn="l">
              <a:spcAft>
                <a:spcPts val="400"/>
              </a:spcAft>
            </a:pPr>
            <a:r>
              <a:rPr sz="1100" b="0" i="1">
                <a:solidFill>
                  <a:srgbClr val="475569"/>
                </a:solidFill>
              </a:rPr>
              <a:t>Real captures of the running console at 1440 x 900 in Simulation Mode: simulated windows scored by the real model.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Initial testing and observations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17</a:t>
            </a:fld>
            <a:endParaRPr lang="en-US"/>
          </a:p>
        </p:txBody>
      </p:sp>
      <p:sp>
        <p:nvSpPr>
          <p:cNvPr id="26" name="Rounded Rectangle 25"/>
          <p:cNvSpPr/>
          <p:nvPr/>
        </p:nvSpPr>
        <p:spPr>
          <a:xfrm>
            <a:off x="548640"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548640" y="1280160"/>
            <a:ext cx="73152" cy="11430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49808"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95 / 95</a:t>
            </a:r>
          </a:p>
        </p:txBody>
      </p:sp>
      <p:sp>
        <p:nvSpPr>
          <p:cNvPr id="29" name="TextBox 28"/>
          <p:cNvSpPr txBox="1"/>
          <p:nvPr/>
        </p:nvSpPr>
        <p:spPr>
          <a:xfrm>
            <a:off x="749808" y="1943100"/>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pytest tests passed (scratch database)</a:t>
            </a:r>
          </a:p>
        </p:txBody>
      </p:sp>
      <p:sp>
        <p:nvSpPr>
          <p:cNvPr id="30" name="Rounded Rectangle 29"/>
          <p:cNvSpPr/>
          <p:nvPr/>
        </p:nvSpPr>
        <p:spPr>
          <a:xfrm>
            <a:off x="3374136"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3374136" y="1280160"/>
            <a:ext cx="73152" cy="1143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575304"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25 / 25</a:t>
            </a:r>
          </a:p>
        </p:txBody>
      </p:sp>
      <p:sp>
        <p:nvSpPr>
          <p:cNvPr id="33" name="TextBox 32"/>
          <p:cNvSpPr txBox="1"/>
          <p:nvPr/>
        </p:nvSpPr>
        <p:spPr>
          <a:xfrm>
            <a:off x="3575304" y="1943100"/>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smoke checks passed against the live API</a:t>
            </a:r>
          </a:p>
        </p:txBody>
      </p:sp>
      <p:sp>
        <p:nvSpPr>
          <p:cNvPr id="34" name="Rounded Rectangle 33"/>
          <p:cNvSpPr/>
          <p:nvPr/>
        </p:nvSpPr>
        <p:spPr>
          <a:xfrm>
            <a:off x="6199631"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199631" y="1280160"/>
            <a:ext cx="73152" cy="11430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799"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3.5 ms</a:t>
            </a:r>
          </a:p>
        </p:txBody>
      </p:sp>
      <p:sp>
        <p:nvSpPr>
          <p:cNvPr id="37" name="TextBox 36"/>
          <p:cNvSpPr txBox="1"/>
          <p:nvPr/>
        </p:nvSpPr>
        <p:spPr>
          <a:xfrm>
            <a:off x="6400799" y="1943100"/>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median of GET /api/status over HTTP (127.0.0.1)</a:t>
            </a:r>
          </a:p>
        </p:txBody>
      </p:sp>
      <p:sp>
        <p:nvSpPr>
          <p:cNvPr id="38" name="Rounded Rectangle 37"/>
          <p:cNvSpPr/>
          <p:nvPr/>
        </p:nvSpPr>
        <p:spPr>
          <a:xfrm>
            <a:off x="9025128"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9025128" y="1280160"/>
            <a:ext cx="73152" cy="114300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226296"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25 / 25</a:t>
            </a:r>
          </a:p>
        </p:txBody>
      </p:sp>
      <p:sp>
        <p:nvSpPr>
          <p:cNvPr id="41" name="TextBox 40"/>
          <p:cNvSpPr txBox="1"/>
          <p:nvPr/>
        </p:nvSpPr>
        <p:spPr>
          <a:xfrm>
            <a:off x="9226296" y="1943100"/>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malformed-input and abuse probes handled</a:t>
            </a:r>
          </a:p>
        </p:txBody>
      </p:sp>
      <p:graphicFrame>
        <p:nvGraphicFramePr>
          <p:cNvPr id="42" name="Table 41"/>
          <p:cNvGraphicFramePr>
            <a:graphicFrameLocks noGrp="1"/>
          </p:cNvGraphicFramePr>
          <p:nvPr/>
        </p:nvGraphicFramePr>
        <p:xfrm>
          <a:off x="548640" y="2651760"/>
          <a:ext cx="11091672" cy="3291840"/>
        </p:xfrm>
        <a:graphic>
          <a:graphicData uri="http://schemas.openxmlformats.org/drawingml/2006/table">
            <a:tbl>
              <a:tblPr firstRow="0" bandRow="0">
                <a:tableStyleId>{5C22544A-7EE6-4342-B048-85BDC9FD1C3A}</a:tableStyleId>
              </a:tblPr>
              <a:tblGrid>
                <a:gridCol w="5852160"/>
                <a:gridCol w="5239512"/>
              </a:tblGrid>
              <a:tr h="658368">
                <a:tc>
                  <a:txBody>
                    <a:bodyPr wrap="square"/>
                    <a:lstStyle/>
                    <a:p>
                      <a:pPr algn="ctr"/>
                      <a:r>
                        <a:rPr sz="1200" b="1">
                          <a:solidFill>
                            <a:srgbClr val="FFFFFF"/>
                          </a:solidFill>
                        </a:rPr>
                        <a:t>Observation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00" b="1">
                          <a:solidFill>
                            <a:srgbClr val="FFFFFF"/>
                          </a:solidFill>
                        </a:rPr>
                        <a:t>Action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658368">
                <a:tc>
                  <a:txBody>
                    <a:bodyPr wrap="square"/>
                    <a:lstStyle/>
                    <a:p>
                      <a:pPr algn="l"/>
                      <a:r>
                        <a:rPr sz="1200" b="0">
                          <a:solidFill>
                            <a:srgbClr val="0F172A"/>
                          </a:solidFill>
                        </a:rPr>
                        <a:t>At 2 s windows the RF label alone flags 46 % of benign windows as attacks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Severity layer reduces actionable false positives to 6.8 %; 10 s default recommended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58368">
                <a:tc>
                  <a:txBody>
                    <a:bodyPr wrap="square"/>
                    <a:lstStyle/>
                    <a:p>
                      <a:pPr algn="l"/>
                      <a:r>
                        <a:rPr sz="1200" b="0">
                          <a:solidFill>
                            <a:srgbClr val="0F172A"/>
                          </a:solidFill>
                        </a:rPr>
                        <a:t>Single-window inference takes 313 ms with the saved n_jobs = -1 against 33 ms with 1 (host at 100 % CPU)</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Reported; setting n_jobs = 1 is a listed fix</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58368">
                <a:tc>
                  <a:txBody>
                    <a:bodyPr wrap="square"/>
                    <a:lstStyle/>
                    <a:p>
                      <a:pPr algn="l"/>
                      <a:r>
                        <a:rPr sz="1200" b="0">
                          <a:solidFill>
                            <a:srgbClr val="0F172A"/>
                          </a:solidFill>
                        </a:rPr>
                        <a:t>The interface setting accepts a 5,000-character string; the landing page shows 99.71 % without the synthetic caveat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Logged as defects; not changed in this review</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58368">
                <a:tc>
                  <a:txBody>
                    <a:bodyPr wrap="square"/>
                    <a:lstStyle/>
                    <a:p>
                      <a:pPr algn="l"/>
                      <a:r>
                        <a:rPr sz="1200" b="0">
                          <a:solidFill>
                            <a:srgbClr val="0F172A"/>
                          </a:solidFill>
                        </a:rPr>
                        <a:t>Live capture start without Npcap returns a clear reason through /api/status instead of crashing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Simulation Mode used for demonstrations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Challenges and corrective actions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18</a:t>
            </a:fld>
            <a:endParaRPr lang="en-US"/>
          </a:p>
        </p:txBody>
      </p:sp>
      <p:graphicFrame>
        <p:nvGraphicFramePr>
          <p:cNvPr id="26" name="Table 25"/>
          <p:cNvGraphicFramePr>
            <a:graphicFrameLocks noGrp="1"/>
          </p:cNvGraphicFramePr>
          <p:nvPr/>
        </p:nvGraphicFramePr>
        <p:xfrm>
          <a:off x="548640" y="1371600"/>
          <a:ext cx="11091672" cy="4828032"/>
        </p:xfrm>
        <a:graphic>
          <a:graphicData uri="http://schemas.openxmlformats.org/drawingml/2006/table">
            <a:tbl>
              <a:tblPr firstRow="0" bandRow="0">
                <a:tableStyleId>{5C22544A-7EE6-4342-B048-85BDC9FD1C3A}</a:tableStyleId>
              </a:tblPr>
              <a:tblGrid>
                <a:gridCol w="5394960"/>
                <a:gridCol w="5696712"/>
              </a:tblGrid>
              <a:tr h="804672">
                <a:tc>
                  <a:txBody>
                    <a:bodyPr wrap="square"/>
                    <a:lstStyle/>
                    <a:p>
                      <a:pPr algn="ctr"/>
                      <a:r>
                        <a:rPr sz="1400" b="1">
                          <a:solidFill>
                            <a:srgbClr val="FFFFFF"/>
                          </a:solidFill>
                        </a:rPr>
                        <a:t>Challenge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400" b="1">
                          <a:solidFill>
                            <a:srgbClr val="FFFFFF"/>
                          </a:solidFill>
                        </a:rPr>
                        <a:t>Corrective action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804672">
                <a:tc>
                  <a:txBody>
                    <a:bodyPr wrap="square"/>
                    <a:lstStyle/>
                    <a:p>
                      <a:pPr algn="l"/>
                      <a:r>
                        <a:rPr sz="1400" b="0">
                          <a:solidFill>
                            <a:srgbClr val="0F172A"/>
                          </a:solidFill>
                        </a:rPr>
                        <a:t>CICIDS2017 could not be downloaded when the product was built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Labelled synthetic fallback in the product; real file obtained later and used for an honest re-check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804672">
                <a:tc>
                  <a:txBody>
                    <a:bodyPr wrap="square"/>
                    <a:lstStyle/>
                    <a:p>
                      <a:pPr algn="l"/>
                      <a:r>
                        <a:rPr sz="1400" b="0">
                          <a:solidFill>
                            <a:srgbClr val="0F172A"/>
                          </a:solidFill>
                        </a:rPr>
                        <a:t>A flow and a 10-second window have different scales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6,000 aggregated simulator windows added to training; the gap is measured and reported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804672">
                <a:tc>
                  <a:txBody>
                    <a:bodyPr wrap="square"/>
                    <a:lstStyle/>
                    <a:p>
                      <a:pPr algn="l"/>
                      <a:r>
                        <a:rPr sz="1400" b="0">
                          <a:solidFill>
                            <a:srgbClr val="0F172A"/>
                          </a:solidFill>
                        </a:rPr>
                        <a:t>Accuracy depends on window length (46 % false positives at 2 s for the RF label alone)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Severity layer with factors and persistence; 10 s default; results given for 2, 5 and 10 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804672">
                <a:tc>
                  <a:txBody>
                    <a:bodyPr wrap="square"/>
                    <a:lstStyle/>
                    <a:p>
                      <a:pPr algn="l"/>
                      <a:r>
                        <a:rPr sz="1400" b="0">
                          <a:solidFill>
                            <a:srgbClr val="0F172A"/>
                          </a:solidFill>
                        </a:rPr>
                        <a:t>Npcap is not installed, so live capture cannot run on the development PC</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Simulation Mode drives the identical pipeline; the capture error path is tested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804672">
                <a:tc>
                  <a:txBody>
                    <a:bodyPr wrap="square"/>
                    <a:lstStyle/>
                    <a:p>
                      <a:pPr algn="l"/>
                      <a:r>
                        <a:rPr sz="1400" b="0">
                          <a:solidFill>
                            <a:srgbClr val="0F172A"/>
                          </a:solidFill>
                        </a:rPr>
                        <a:t>CPU shared with other jobs; saved forest uses n_jobs = -1</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Latency reported as upper bounds with the n_jobs comparison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Next steps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19</a:t>
            </a:fld>
            <a:endParaRPr lang="en-US"/>
          </a:p>
        </p:txBody>
      </p:sp>
      <p:sp>
        <p:nvSpPr>
          <p:cNvPr id="26" name="Rounded Rectangle 25"/>
          <p:cNvSpPr/>
          <p:nvPr/>
        </p:nvSpPr>
        <p:spPr>
          <a:xfrm>
            <a:off x="548640" y="1463040"/>
            <a:ext cx="2606040" cy="3566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64592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618488"/>
            <a:ext cx="1600200" cy="548640"/>
          </a:xfrm>
          <a:prstGeom prst="rect">
            <a:avLst/>
          </a:prstGeom>
          <a:noFill/>
        </p:spPr>
        <p:txBody>
          <a:bodyPr wrap="square" lIns="0" rIns="0" tIns="0" bIns="0" anchor="ctr">
            <a:spAutoFit/>
          </a:bodyPr>
          <a:lstStyle/>
          <a:p>
            <a:pPr algn="l">
              <a:spcAft>
                <a:spcPts val="400"/>
              </a:spcAft>
            </a:pPr>
            <a:r>
              <a:rPr sz="1600" b="1" i="0">
                <a:solidFill>
                  <a:srgbClr val="0F172A"/>
                </a:solidFill>
              </a:rPr>
              <a:t>Train on real data</a:t>
            </a:r>
          </a:p>
        </p:txBody>
      </p:sp>
      <p:sp>
        <p:nvSpPr>
          <p:cNvPr id="29" name="TextBox 28"/>
          <p:cNvSpPr txBox="1"/>
          <p:nvPr/>
        </p:nvSpPr>
        <p:spPr>
          <a:xfrm>
            <a:off x="749808" y="2331720"/>
            <a:ext cx="2203704" cy="2560320"/>
          </a:xfrm>
          <a:prstGeom prst="rect">
            <a:avLst/>
          </a:prstGeom>
          <a:noFill/>
        </p:spPr>
        <p:txBody>
          <a:bodyPr wrap="square" lIns="0" rIns="0" tIns="0" bIns="0" anchor="t">
            <a:spAutoFit/>
          </a:bodyPr>
          <a:lstStyle/>
          <a:p>
            <a:pPr algn="l">
              <a:spcAft>
                <a:spcPts val="400"/>
              </a:spcAft>
            </a:pPr>
            <a:r>
              <a:rPr sz="1700" b="0" i="0">
                <a:solidFill>
                  <a:srgbClr val="475569"/>
                </a:solidFill>
              </a:rPr>
              <a:t>Retrain the shipped model with the real CICIDS2017 files in data/raw, add the other attack days and multi-class labels, and report the gap honestly.</a:t>
            </a:r>
          </a:p>
        </p:txBody>
      </p:sp>
      <p:sp>
        <p:nvSpPr>
          <p:cNvPr id="30" name="Rounded Rectangle 29"/>
          <p:cNvSpPr/>
          <p:nvPr/>
        </p:nvSpPr>
        <p:spPr>
          <a:xfrm>
            <a:off x="3374136" y="1463040"/>
            <a:ext cx="2606040" cy="3566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3575304" y="164592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4215384" y="1618488"/>
            <a:ext cx="1600200" cy="548640"/>
          </a:xfrm>
          <a:prstGeom prst="rect">
            <a:avLst/>
          </a:prstGeom>
          <a:noFill/>
        </p:spPr>
        <p:txBody>
          <a:bodyPr wrap="square" lIns="0" rIns="0" tIns="0" bIns="0" anchor="ctr">
            <a:spAutoFit/>
          </a:bodyPr>
          <a:lstStyle/>
          <a:p>
            <a:pPr algn="l">
              <a:spcAft>
                <a:spcPts val="400"/>
              </a:spcAft>
            </a:pPr>
            <a:r>
              <a:rPr sz="1600" b="1" i="0">
                <a:solidFill>
                  <a:srgbClr val="0F172A"/>
                </a:solidFill>
              </a:rPr>
              <a:t>Fix window sensitivity</a:t>
            </a:r>
          </a:p>
        </p:txBody>
      </p:sp>
      <p:sp>
        <p:nvSpPr>
          <p:cNvPr id="33" name="TextBox 32"/>
          <p:cNvSpPr txBox="1"/>
          <p:nvPr/>
        </p:nvSpPr>
        <p:spPr>
          <a:xfrm>
            <a:off x="3575304" y="2331720"/>
            <a:ext cx="2203704" cy="2560320"/>
          </a:xfrm>
          <a:prstGeom prst="rect">
            <a:avLst/>
          </a:prstGeom>
          <a:noFill/>
        </p:spPr>
        <p:txBody>
          <a:bodyPr wrap="square" lIns="0" rIns="0" tIns="0" bIns="0" anchor="t">
            <a:spAutoFit/>
          </a:bodyPr>
          <a:lstStyle/>
          <a:p>
            <a:pPr algn="l">
              <a:spcAft>
                <a:spcPts val="400"/>
              </a:spcAft>
            </a:pPr>
            <a:r>
              <a:rPr sz="1700" b="0" i="0">
                <a:solidFill>
                  <a:srgbClr val="475569"/>
                </a:solidFill>
              </a:rPr>
              <a:t>Make features independent of window length, set n_jobs = 1, and re-measure at 2, 5 and 10 s.</a:t>
            </a:r>
          </a:p>
        </p:txBody>
      </p:sp>
      <p:sp>
        <p:nvSpPr>
          <p:cNvPr id="34" name="Rounded Rectangle 33"/>
          <p:cNvSpPr/>
          <p:nvPr/>
        </p:nvSpPr>
        <p:spPr>
          <a:xfrm>
            <a:off x="6199631" y="1463040"/>
            <a:ext cx="2606040" cy="3566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6400799" y="164592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7040879" y="1618488"/>
            <a:ext cx="1600200" cy="548640"/>
          </a:xfrm>
          <a:prstGeom prst="rect">
            <a:avLst/>
          </a:prstGeom>
          <a:noFill/>
        </p:spPr>
        <p:txBody>
          <a:bodyPr wrap="square" lIns="0" rIns="0" tIns="0" bIns="0" anchor="ctr">
            <a:spAutoFit/>
          </a:bodyPr>
          <a:lstStyle/>
          <a:p>
            <a:pPr algn="l">
              <a:spcAft>
                <a:spcPts val="400"/>
              </a:spcAft>
            </a:pPr>
            <a:r>
              <a:rPr sz="1600" b="1" i="0">
                <a:solidFill>
                  <a:srgbClr val="0F172A"/>
                </a:solidFill>
              </a:rPr>
              <a:t>Real enforcement</a:t>
            </a:r>
          </a:p>
        </p:txBody>
      </p:sp>
      <p:sp>
        <p:nvSpPr>
          <p:cNvPr id="37" name="TextBox 36"/>
          <p:cNvSpPr txBox="1"/>
          <p:nvPr/>
        </p:nvSpPr>
        <p:spPr>
          <a:xfrm>
            <a:off x="6400799" y="2331720"/>
            <a:ext cx="2203704" cy="2560320"/>
          </a:xfrm>
          <a:prstGeom prst="rect">
            <a:avLst/>
          </a:prstGeom>
          <a:noFill/>
        </p:spPr>
        <p:txBody>
          <a:bodyPr wrap="square" lIns="0" rIns="0" tIns="0" bIns="0" anchor="t">
            <a:spAutoFit/>
          </a:bodyPr>
          <a:lstStyle/>
          <a:p>
            <a:pPr algn="l">
              <a:spcAft>
                <a:spcPts val="400"/>
              </a:spcAft>
            </a:pPr>
            <a:r>
              <a:rPr sz="1700" b="0" i="0">
                <a:solidFill>
                  <a:srgbClr val="475569"/>
                </a:solidFill>
              </a:rPr>
              <a:t>Add an opt-in firewall or rate-limit action and measure recovery of a real service.</a:t>
            </a:r>
          </a:p>
        </p:txBody>
      </p:sp>
      <p:sp>
        <p:nvSpPr>
          <p:cNvPr id="38" name="Rounded Rectangle 37"/>
          <p:cNvSpPr/>
          <p:nvPr/>
        </p:nvSpPr>
        <p:spPr>
          <a:xfrm>
            <a:off x="9025128" y="1463040"/>
            <a:ext cx="2606040" cy="3566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9226296" y="164592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9866376" y="1618488"/>
            <a:ext cx="1600200" cy="548640"/>
          </a:xfrm>
          <a:prstGeom prst="rect">
            <a:avLst/>
          </a:prstGeom>
          <a:noFill/>
        </p:spPr>
        <p:txBody>
          <a:bodyPr wrap="square" lIns="0" rIns="0" tIns="0" bIns="0" anchor="ctr">
            <a:spAutoFit/>
          </a:bodyPr>
          <a:lstStyle/>
          <a:p>
            <a:pPr algn="l">
              <a:spcAft>
                <a:spcPts val="400"/>
              </a:spcAft>
            </a:pPr>
            <a:r>
              <a:rPr sz="1600" b="1" i="0">
                <a:solidFill>
                  <a:srgbClr val="0F172A"/>
                </a:solidFill>
              </a:rPr>
              <a:t>Live test and hardening</a:t>
            </a:r>
          </a:p>
        </p:txBody>
      </p:sp>
      <p:sp>
        <p:nvSpPr>
          <p:cNvPr id="41" name="TextBox 40"/>
          <p:cNvSpPr txBox="1"/>
          <p:nvPr/>
        </p:nvSpPr>
        <p:spPr>
          <a:xfrm>
            <a:off x="9226296" y="2331720"/>
            <a:ext cx="2203704" cy="2560320"/>
          </a:xfrm>
          <a:prstGeom prst="rect">
            <a:avLst/>
          </a:prstGeom>
          <a:noFill/>
        </p:spPr>
        <p:txBody>
          <a:bodyPr wrap="square" lIns="0" rIns="0" tIns="0" bIns="0" anchor="t">
            <a:spAutoFit/>
          </a:bodyPr>
          <a:lstStyle/>
          <a:p>
            <a:pPr algn="l">
              <a:spcAft>
                <a:spcPts val="400"/>
              </a:spcAft>
            </a:pPr>
            <a:r>
              <a:rPr sz="1700" b="0" i="0">
                <a:solidFill>
                  <a:srgbClr val="475569"/>
                </a:solidFill>
              </a:rPr>
              <a:t>Install Npcap and test live capture end to end; add authentication and length checks.</a:t>
            </a:r>
          </a:p>
        </p:txBody>
      </p:sp>
      <p:sp>
        <p:nvSpPr>
          <p:cNvPr id="42" name="Rounded Rectangle 41"/>
          <p:cNvSpPr/>
          <p:nvPr/>
        </p:nvSpPr>
        <p:spPr>
          <a:xfrm>
            <a:off x="548640" y="5257800"/>
            <a:ext cx="11091672" cy="868680"/>
          </a:xfrm>
          <a:prstGeom prst="roundRect">
            <a:avLst>
              <a:gd name="adj" fmla="val 3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777240" y="5394960"/>
            <a:ext cx="10607040" cy="640080"/>
          </a:xfrm>
          <a:prstGeom prst="rect">
            <a:avLst/>
          </a:prstGeom>
          <a:noFill/>
        </p:spPr>
        <p:txBody>
          <a:bodyPr wrap="square" lIns="0" rIns="0" tIns="0" bIns="0" anchor="ctr">
            <a:spAutoFit/>
          </a:bodyPr>
          <a:lstStyle/>
          <a:p>
            <a:pPr algn="l">
              <a:spcAft>
                <a:spcPts val="400"/>
              </a:spcAft>
            </a:pPr>
            <a:r>
              <a:rPr sz="1600" b="0" i="0">
                <a:solidFill>
                  <a:srgbClr val="0F172A"/>
                </a:solidFill>
              </a:rPr>
              <a:t>Priority: items 1 and 2 close the largest honest gaps - a model trained on real traffic and a detector that does not depend on window length.</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Questions and suggestions are welcome.</a:t>
            </a: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SentinelFlow">
  <a:themeElements>
    <a:clrScheme name="SentinelFlow">
      <a:dk1>
        <a:srgbClr val="0F172A"/>
      </a:dk1>
      <a:lt1>
        <a:srgbClr val="FFFFFF"/>
      </a:lt1>
      <a:dk2>
        <a:srgbClr val="1B2A41"/>
      </a:dk2>
      <a:lt2>
        <a:srgbClr val="EEF2F7"/>
      </a:lt2>
      <a:accent1>
        <a:srgbClr val="2A78D6"/>
      </a:accent1>
      <a:accent2>
        <a:srgbClr val="EB6834"/>
      </a:accent2>
      <a:accent3>
        <a:srgbClr val="1BAF7A"/>
      </a:accent3>
      <a:accent4>
        <a:srgbClr val="EDA100"/>
      </a:accent4>
      <a:accent5>
        <a:srgbClr val="6250D6"/>
      </a:accent5>
      <a:accent6>
        <a:srgbClr val="E34948"/>
      </a:accent6>
      <a:hlink>
        <a:srgbClr val="2A78D6"/>
      </a:hlink>
      <a:folHlink>
        <a:srgbClr val="6250D6"/>
      </a:folHlink>
    </a:clrScheme>
    <a:fontScheme name="SentinelFlo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SentinelFlow">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DDoS Attack Detection and Mitigation (Real-Time DDoS Detection and Adaptive Mitigation Framework Using Machine Learning): Review 2</dc:title>
  <dc:subject>Batch C15 (CSE-C)</dc:subject>
  <dc:creator>Mallela Pallavi, Kattoju Durgabhavani, Nimmala Rakshitha, Prodhatoor Shashi Preetham</dc:creator>
  <cp:lastModifiedBy/>
  <cp:revision>1</cp:revision>
  <dcterms:created xsi:type="dcterms:W3CDTF">2026-10-13T12:40:05Z</dcterms:created>
  <dcterms:modified xsi:type="dcterms:W3CDTF">2026-10-13T12:40:05Z</dcterms:modified>
  <cp:keywords>DDoS detection, Random Forest, CICIDS2017, Scapy, adaptive mitigation, carpet-bombing</cp:keywords>
  <dc:description/>
</cp:coreProperties>
</file>