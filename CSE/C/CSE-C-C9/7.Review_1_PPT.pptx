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f0aec94-eb0f-294a-de05-1614c3997827}">
          <p14:sldIdLst>
            <p14:sldId id="256"/>
            <p14:sldId id="257"/>
            <p14:sldId id="258"/>
          </p14:sldIdLst>
        </p14:section>
        <p14:section name="Research" id="{c5b655bf-1c78-45d9-2d43-c8947840fc05}">
          <p14:sldIdLst>
            <p14:sldId id="259"/>
            <p14:sldId id="260"/>
            <p14:sldId id="261"/>
          </p14:sldIdLst>
        </p14:section>
        <p14:section name="Problem" id="{c83c02f1-f6cc-56f3-d67e-57d82ce85a28}">
          <p14:sldIdLst>
            <p14:sldId id="262"/>
            <p14:sldId id="263"/>
            <p14:sldId id="264"/>
            <p14:sldId id="265"/>
            <p14:sldId id="266"/>
          </p14:sldIdLst>
        </p14:section>
        <p14:section name="Proposed solution" id="{0d7ed7fb-f0c3-288f-402c-2a68d644f815}">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AUC</c:v>
                </c:pt>
              </c:strCache>
            </c:strRef>
          </c:tx>
          <c:spPr>
            <a:solidFill>
              <a:srgbClr val="2A78D6"/>
            </a:solidFill>
          </c:spPr>
          <c:cat>
            <c:strRef>
              <c:f>Sheet1!$A$2:$A$6</c:f>
              <c:strCache>
                <c:ptCount val="5"/>
                <c:pt idx="0">
                  <c:v>Altman Z''
score</c:v>
                </c:pt>
                <c:pt idx="1">
                  <c:v>Logistic
Regression</c:v>
                </c:pt>
                <c:pt idx="2">
                  <c:v>Random
Forest</c:v>
                </c:pt>
                <c:pt idx="3">
                  <c:v>Gradient
Boosting</c:v>
                </c:pt>
                <c:pt idx="4">
                  <c:v>XGBoost</c:v>
                </c:pt>
              </c:strCache>
            </c:strRef>
          </c:cat>
          <c:val>
            <c:numRef>
              <c:f>Sheet1!$B$2:$B$6</c:f>
              <c:numCache>
                <c:formatCode>General</c:formatCode>
                <c:ptCount val="5"/>
                <c:pt idx="0">
                  <c:v>0.68</c:v>
                </c:pt>
                <c:pt idx="1">
                  <c:v>0.776</c:v>
                </c:pt>
                <c:pt idx="2">
                  <c:v>0.831</c:v>
                </c:pt>
                <c:pt idx="3">
                  <c:v>0.84</c:v>
                </c:pt>
                <c:pt idx="4">
                  <c:v>0.842</c:v>
                </c:pt>
              </c:numCache>
            </c:numRef>
          </c:val>
        </c:ser>
        <c:dLbls>
          <c:numFmt formatCode="0.00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0"/>
          <c:min val="0.0"/>
        </c:scaling>
        <c:delete val="0"/>
        <c:axPos val="l"/>
        <c:majorGridlines>
          <c:spPr>
            <a:ln>
              <a:solidFill>
                <a:srgbClr val="D5DCE6"/>
              </a:solidFill>
            </a:ln>
          </c:spPr>
        </c:majorGridlines>
        <c:numFmt formatCode="0.000" sourceLinked="0"/>
        <c:majorTickMark val="out"/>
        <c:minorTickMark val="none"/>
        <c:tickLblPos val="nextTo"/>
        <c:spPr>
          <a:ln>
            <a:noFill/>
          </a:ln>
        </c:spPr>
        <c:crossAx val="-2068027336"/>
        <c:crosses val="autoZero"/>
      </c:valAx>
    </c:plotArea>
    <c:dispBlanksAs val="gap"/>
  </c:chart>
  <c:txPr>
    <a:bodyPr/>
    <a:lstStyle/>
    <a:p>
      <a:pPr>
        <a:defRPr sz="12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the title. One sentence: we build a web tool that takes a person's demographic and financial details, returns a financial profile and risk band, shows which factors drove it, and gives a 12-month economic outlook.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This review is about why the problem matters and what is missing in current work, not yet about results.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sentences: the problem, our idea, the deliverable. Emphasise explanation: every number comes with the factors that produced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citation. The base paper extends explainable ML to organisations (hospitals). The gap, and our project, is extending the same approach to individual profiling where demographic context carries much of the signal.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pattern: explainable and ensemble models for organisations, sovereigns and firms; robustness and privacy studies on credit data; benchmarks showing trees beat deep models on tabular data. Results marked as summarised in the base paper are quoted from its own related-work section. Three further entries of the batch survey (financial cycles, a 2024 editorial and a multimodal system) could not be verified and are listed only in the report's reference list.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Values are the base paper's AUC under hospital-level Group K-Fold: Z'' 0.680, LR 0.776, RF 0.831, GB 0.840, XGBoost 0.842. This is evidence from a different dataset and motivates our model families; our own numbers come in later reviews.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today's typical path. Static scores describe the present and are hard to defend; research models stop at a number in a notebook.</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four limitations restate the problem statement from the batch documents. Each maps to a design decision: more inputs, tree ensembles, forecast, SHAP.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Explainable machine learning for financial distress has been developed for organisations and sovereigns, while work on individuals concentrates on accuracy and uses a narrow set of financial parameters. None of the surveyed works combines individual demographic profiling, a per-person explanation, a forecast of economic conditions and a usable web interface in one reproducible system. This project fills that gap on public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statement slowly. Three parts: identify the profile, explain it, put it in an economic context.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from the project proposal: dataset, preprocessing, classification and risk, forecasting, explainability, evaluation and deployment.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stages and the application around them. The forecast uses a documented synthetic series, because the census data has no time dimension; this is stated again in later reviews.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diagram left to right: the user interface, the Flask routes, the services that load the model and run SHAP, and the stored artifacts.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expected outcomes, not results. We will report whatever the held-out test split shows, including weaknesses.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Full references are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income as the target (public individual-level data); why XGBoost; why a synthetic forecast series; what about fairness (a stated limitation).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FinSight AI  ·  Review 1</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AI-Based Financial Identification Based On Demography and Financial Forecasting</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An explainable machine-learning system that profiles an individual's financial position from demographic and financial inputs, explains every result with SHAP and forecasts economic conditions</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1  ·  PROBLEM IDENTIFICATION AND RESEARCH</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MOHD AHMED  23K91A05F7</a:t>
            </a:r>
            <a:endParaRPr lang="en-US" sz="1500" dirty="0"/>
          </a:p>
          <a:p>
            <a:pPr indent="0" marL="0">
              <a:buNone/>
            </a:pPr>
            <a:r>
              <a:rPr lang="en-US" sz="1500" dirty="0">
                <a:solidFill>
                  <a:srgbClr val="FFFFFF"/>
                </a:solidFill>
              </a:rPr>
              <a:t>MANNE UPENDER  23K91A05E6</a:t>
            </a:r>
            <a:endParaRPr lang="en-US" sz="1500" dirty="0"/>
          </a:p>
          <a:p>
            <a:pPr indent="0" marL="0">
              <a:buNone/>
            </a:pPr>
            <a:r>
              <a:rPr lang="en-US" sz="1500" dirty="0">
                <a:solidFill>
                  <a:srgbClr val="FFFFFF"/>
                </a:solidFill>
              </a:rPr>
              <a:t>PADALA RAJESH  23K91A05H7</a:t>
            </a:r>
            <a:endParaRPr lang="en-US" sz="1500" dirty="0"/>
          </a:p>
          <a:p>
            <a:pPr indent="0" marL="0">
              <a:buNone/>
            </a:pPr>
            <a:r>
              <a:rPr lang="en-US" sz="1500" dirty="0">
                <a:solidFill>
                  <a:srgbClr val="FFFFFF"/>
                </a:solidFill>
              </a:rPr>
              <a:t>MADAGOUNI HARSHAVARDHAN GOUD  23K91A05D5</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Guide: B SRIKANTH</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TKR College of Engineering and Technology (Autonomous)  ·  Batch C9 (CSE-C)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Abstract and overview</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Base paper</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Literature survey</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Existing approaches and limitations</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Research gap</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Problem statement and objectives</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Proposed approach and architecture</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Expected outcomes</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Abstract: a financial profile that explains itself</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206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problem</a:t>
            </a:r>
          </a:p>
        </p:txBody>
      </p:sp>
      <p:sp>
        <p:nvSpPr>
          <p:cNvPr id="29" name="TextBox 28"/>
          <p:cNvSpPr txBox="1"/>
          <p:nvPr/>
        </p:nvSpPr>
        <p:spPr>
          <a:xfrm>
            <a:off x="749808" y="2240280"/>
            <a:ext cx="3118104" cy="3200399"/>
          </a:xfrm>
          <a:prstGeom prst="rect">
            <a:avLst/>
          </a:prstGeom>
          <a:noFill/>
        </p:spPr>
        <p:txBody>
          <a:bodyPr wrap="square" lIns="0" rIns="0" tIns="0" bIns="0" anchor="t">
            <a:spAutoFit/>
          </a:bodyPr>
          <a:lstStyle/>
          <a:p>
            <a:pPr algn="l">
              <a:spcAft>
                <a:spcPts val="400"/>
              </a:spcAft>
            </a:pPr>
            <a:r>
              <a:rPr sz="1700" b="0" i="0">
                <a:solidFill>
                  <a:srgbClr val="475569"/>
                </a:solidFill>
              </a:rPr>
              <a:t>Financial decisions rest on a narrow set of financial parameters and a static score. Non-linear interactions between demographic and financial factors are missed, the present is described but the future is not, and an unexplained decision cannot be defended.</a:t>
            </a:r>
          </a:p>
        </p:txBody>
      </p:sp>
      <p:sp>
        <p:nvSpPr>
          <p:cNvPr id="30" name="Rounded Rectangle 29"/>
          <p:cNvSpPr/>
          <p:nvPr/>
        </p:nvSpPr>
        <p:spPr>
          <a:xfrm>
            <a:off x="4334255" y="1371600"/>
            <a:ext cx="3520440" cy="4206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Our idea</a:t>
            </a:r>
          </a:p>
        </p:txBody>
      </p:sp>
      <p:sp>
        <p:nvSpPr>
          <p:cNvPr id="33" name="TextBox 32"/>
          <p:cNvSpPr txBox="1"/>
          <p:nvPr/>
        </p:nvSpPr>
        <p:spPr>
          <a:xfrm>
            <a:off x="4535423" y="2240280"/>
            <a:ext cx="3118104" cy="3200399"/>
          </a:xfrm>
          <a:prstGeom prst="rect">
            <a:avLst/>
          </a:prstGeom>
          <a:noFill/>
        </p:spPr>
        <p:txBody>
          <a:bodyPr wrap="square" lIns="0" rIns="0" tIns="0" bIns="0" anchor="t">
            <a:spAutoFit/>
          </a:bodyPr>
          <a:lstStyle/>
          <a:p>
            <a:pPr algn="l">
              <a:spcAft>
                <a:spcPts val="400"/>
              </a:spcAft>
            </a:pPr>
            <a:r>
              <a:rPr sz="1700" b="0" i="0">
                <a:solidFill>
                  <a:srgbClr val="475569"/>
                </a:solidFill>
              </a:rPr>
              <a:t>Learn the interactions with tree-ensemble models (Logistic Regression, Random Forest, Gradient Boosting, XGBoost), explain every assessment with SHAP, and add a Holt-Winters forecast and a what-if scenario.</a:t>
            </a:r>
          </a:p>
        </p:txBody>
      </p:sp>
      <p:sp>
        <p:nvSpPr>
          <p:cNvPr id="34" name="Rounded Rectangle 33"/>
          <p:cNvSpPr/>
          <p:nvPr/>
        </p:nvSpPr>
        <p:spPr>
          <a:xfrm>
            <a:off x="8119871" y="1371600"/>
            <a:ext cx="3520440" cy="4206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The deliverable</a:t>
            </a:r>
          </a:p>
        </p:txBody>
      </p:sp>
      <p:sp>
        <p:nvSpPr>
          <p:cNvPr id="37" name="TextBox 36"/>
          <p:cNvSpPr txBox="1"/>
          <p:nvPr/>
        </p:nvSpPr>
        <p:spPr>
          <a:xfrm>
            <a:off x="8321040" y="2240280"/>
            <a:ext cx="3118104" cy="3200399"/>
          </a:xfrm>
          <a:prstGeom prst="rect">
            <a:avLst/>
          </a:prstGeom>
          <a:noFill/>
        </p:spPr>
        <p:txBody>
          <a:bodyPr wrap="square" lIns="0" rIns="0" tIns="0" bIns="0" anchor="t">
            <a:spAutoFit/>
          </a:bodyPr>
          <a:lstStyle/>
          <a:p>
            <a:pPr algn="l">
              <a:spcAft>
                <a:spcPts val="400"/>
              </a:spcAft>
            </a:pPr>
            <a:r>
              <a:rPr sz="1700" b="0" i="0">
                <a:solidFill>
                  <a:srgbClr val="475569"/>
                </a:solidFill>
              </a:rPr>
              <a:t>A Flask API with a React web interface: enter a profile, receive a profile class (Emerging, Developing or Established), a risk band, the factors behind it and a 12-month economic outlook.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Base paper</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
        <p:nvSpPr>
          <p:cNvPr id="26" name="Rounded Rectangle 25"/>
          <p:cNvSpPr/>
          <p:nvPr/>
        </p:nvSpPr>
        <p:spPr>
          <a:xfrm>
            <a:off x="548640" y="1280160"/>
            <a:ext cx="11091672" cy="1005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49808" y="1353312"/>
            <a:ext cx="10698480" cy="868680"/>
          </a:xfrm>
          <a:prstGeom prst="rect">
            <a:avLst/>
          </a:prstGeom>
          <a:noFill/>
        </p:spPr>
        <p:txBody>
          <a:bodyPr wrap="square" lIns="0" rIns="0" tIns="0" bIns="0" anchor="ctr">
            <a:spAutoFit/>
          </a:bodyPr>
          <a:lstStyle/>
          <a:p>
            <a:pPr algn="l">
              <a:spcAft>
                <a:spcPts val="400"/>
              </a:spcAft>
            </a:pPr>
            <a:r>
              <a:rPr sz="1300" b="0" i="0">
                <a:solidFill>
                  <a:srgbClr val="0F172A"/>
                </a:solidFill>
              </a:rPr>
              <a:t>Y. Kim and E. J. Sun, "An Explainable Machine Learning Framework for Organizational Financial Distress Detection: Evidence From Korean Hospital Panel Data," IEEE Access, vol. 14, pp. 100337-100350, 2026, doi: 10.1109/ACCESS.2026.3709346.</a:t>
            </a:r>
          </a:p>
        </p:txBody>
      </p:sp>
      <p:sp>
        <p:nvSpPr>
          <p:cNvPr id="28" name="Rounded Rectangle 27"/>
          <p:cNvSpPr/>
          <p:nvPr/>
        </p:nvSpPr>
        <p:spPr>
          <a:xfrm>
            <a:off x="548640"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749808" y="2697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F</a:t>
            </a:r>
          </a:p>
        </p:txBody>
      </p:sp>
      <p:sp>
        <p:nvSpPr>
          <p:cNvPr id="30" name="TextBox 29"/>
          <p:cNvSpPr txBox="1"/>
          <p:nvPr/>
        </p:nvSpPr>
        <p:spPr>
          <a:xfrm>
            <a:off x="1389888"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Framework</a:t>
            </a:r>
          </a:p>
        </p:txBody>
      </p:sp>
      <p:sp>
        <p:nvSpPr>
          <p:cNvPr id="31" name="TextBox 30"/>
          <p:cNvSpPr txBox="1"/>
          <p:nvPr/>
        </p:nvSpPr>
        <p:spPr>
          <a:xfrm>
            <a:off x="749808" y="3383280"/>
            <a:ext cx="3118104" cy="2651760"/>
          </a:xfrm>
          <a:prstGeom prst="rect">
            <a:avLst/>
          </a:prstGeom>
          <a:noFill/>
        </p:spPr>
        <p:txBody>
          <a:bodyPr wrap="square" lIns="0" rIns="0" tIns="0" bIns="0" anchor="t">
            <a:spAutoFit/>
          </a:bodyPr>
          <a:lstStyle/>
          <a:p>
            <a:pPr algn="l">
              <a:spcAft>
                <a:spcPts val="400"/>
              </a:spcAft>
            </a:pPr>
            <a:r>
              <a:rPr sz="1400" b="0" i="0">
                <a:solidFill>
                  <a:srgbClr val="475569"/>
                </a:solidFill>
              </a:rPr>
              <a:t>Four stages: domain-adaptive feature engineering, multi-model training (Logistic Regression, Random Forest, Gradient Boosting, XGBoost, MLP), SHAP global and local interpretation, and domain-specific validation (hospital-level Group K-Fold, temporal hold-out).</a:t>
            </a:r>
          </a:p>
        </p:txBody>
      </p:sp>
      <p:sp>
        <p:nvSpPr>
          <p:cNvPr id="32" name="Rounded Rectangle 31"/>
          <p:cNvSpPr/>
          <p:nvPr/>
        </p:nvSpPr>
        <p:spPr>
          <a:xfrm>
            <a:off x="4334255"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4535423" y="2697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R</a:t>
            </a:r>
          </a:p>
        </p:txBody>
      </p:sp>
      <p:sp>
        <p:nvSpPr>
          <p:cNvPr id="34" name="TextBox 33"/>
          <p:cNvSpPr txBox="1"/>
          <p:nvPr/>
        </p:nvSpPr>
        <p:spPr>
          <a:xfrm>
            <a:off x="5175503"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Data and reported results</a:t>
            </a:r>
          </a:p>
        </p:txBody>
      </p:sp>
      <p:sp>
        <p:nvSpPr>
          <p:cNvPr id="35" name="TextBox 34"/>
          <p:cNvSpPr txBox="1"/>
          <p:nvPr/>
        </p:nvSpPr>
        <p:spPr>
          <a:xfrm>
            <a:off x="4535423" y="3383280"/>
            <a:ext cx="3118104" cy="2651760"/>
          </a:xfrm>
          <a:prstGeom prst="rect">
            <a:avLst/>
          </a:prstGeom>
          <a:noFill/>
        </p:spPr>
        <p:txBody>
          <a:bodyPr wrap="square" lIns="0" rIns="0" tIns="0" bIns="0" anchor="t">
            <a:spAutoFit/>
          </a:bodyPr>
          <a:lstStyle/>
          <a:p>
            <a:pPr algn="l">
              <a:spcAft>
                <a:spcPts val="400"/>
              </a:spcAft>
            </a:pPr>
            <a:r>
              <a:rPr sz="1400" b="0" i="0">
                <a:solidFill>
                  <a:srgbClr val="475569"/>
                </a:solidFill>
              </a:rPr>
              <a:t>165 Korean hospitals, 825 hospital-year rows (2019-2023), 236 line items reduced to 11 features; target is a deficit (net income below zero). XGBoost AUC 0.842, Gradient Boosting 0.840, Random Forest 0.831, Logistic Regression 0.776; 2023 hold-out 0.780.</a:t>
            </a:r>
          </a:p>
        </p:txBody>
      </p:sp>
      <p:sp>
        <p:nvSpPr>
          <p:cNvPr id="36" name="Rounded Rectangle 35"/>
          <p:cNvSpPr/>
          <p:nvPr/>
        </p:nvSpPr>
        <p:spPr>
          <a:xfrm>
            <a:off x="8119871" y="2514600"/>
            <a:ext cx="3520440" cy="3657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Oval 36"/>
          <p:cNvSpPr/>
          <p:nvPr/>
        </p:nvSpPr>
        <p:spPr>
          <a:xfrm>
            <a:off x="8321040" y="2697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L</a:t>
            </a:r>
          </a:p>
        </p:txBody>
      </p:sp>
      <p:sp>
        <p:nvSpPr>
          <p:cNvPr id="38" name="TextBox 37"/>
          <p:cNvSpPr txBox="1"/>
          <p:nvPr/>
        </p:nvSpPr>
        <p:spPr>
          <a:xfrm>
            <a:off x="8961119" y="2670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Limits stated by the authors</a:t>
            </a:r>
          </a:p>
        </p:txBody>
      </p:sp>
      <p:sp>
        <p:nvSpPr>
          <p:cNvPr id="39" name="TextBox 38"/>
          <p:cNvSpPr txBox="1"/>
          <p:nvPr/>
        </p:nvSpPr>
        <p:spPr>
          <a:xfrm>
            <a:off x="8321040" y="3383280"/>
            <a:ext cx="3118104" cy="2651760"/>
          </a:xfrm>
          <a:prstGeom prst="rect">
            <a:avLst/>
          </a:prstGeom>
          <a:noFill/>
        </p:spPr>
        <p:txBody>
          <a:bodyPr wrap="square" lIns="0" rIns="0" tIns="0" bIns="0" anchor="t">
            <a:spAutoFit/>
          </a:bodyPr>
          <a:lstStyle/>
          <a:p>
            <a:pPr algn="l">
              <a:spcAft>
                <a:spcPts val="400"/>
              </a:spcAft>
            </a:pPr>
            <a:r>
              <a:rPr sz="1400" b="0" i="0">
                <a:solidFill>
                  <a:srgbClr val="475569"/>
                </a:solidFill>
              </a:rPr>
              <a:t>SHAP shows associations, not causes; compositional cost ratios make single attributions unstable; ensembles cannot extrapolate beyond training values; the setting is organisations with structured disclosures, not individuals.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Literature survey</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graphicFrame>
        <p:nvGraphicFramePr>
          <p:cNvPr id="26" name="Table 25"/>
          <p:cNvGraphicFramePr>
            <a:graphicFrameLocks noGrp="1"/>
          </p:cNvGraphicFramePr>
          <p:nvPr/>
        </p:nvGraphicFramePr>
        <p:xfrm>
          <a:off x="548640" y="1188720"/>
          <a:ext cx="11091672" cy="4937760"/>
        </p:xfrm>
        <a:graphic>
          <a:graphicData uri="http://schemas.openxmlformats.org/drawingml/2006/table">
            <a:tbl>
              <a:tblPr firstRow="0" bandRow="0">
                <a:tableStyleId>{5C22544A-7EE6-4342-B048-85BDC9FD1C3A}</a:tableStyleId>
              </a:tblPr>
              <a:tblGrid>
                <a:gridCol w="2011680"/>
                <a:gridCol w="3383280"/>
                <a:gridCol w="2468880"/>
                <a:gridCol w="3227832"/>
              </a:tblGrid>
              <a:tr h="548640">
                <a:tc>
                  <a:txBody>
                    <a:bodyPr wrap="square"/>
                    <a:lstStyle/>
                    <a:p>
                      <a:pPr algn="ctr"/>
                      <a:r>
                        <a:rPr sz="1200" b="1">
                          <a:solidFill>
                            <a:srgbClr val="FFFFFF"/>
                          </a:solidFill>
                        </a:rPr>
                        <a:t>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Approach</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Reported result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48640">
                <a:tc>
                  <a:txBody>
                    <a:bodyPr wrap="square"/>
                    <a:lstStyle/>
                    <a:p>
                      <a:pPr algn="l"/>
                      <a:r>
                        <a:rPr sz="1050" b="0">
                          <a:solidFill>
                            <a:srgbClr val="0F172A"/>
                          </a:solidFill>
                        </a:rPr>
                        <a:t>Kim and Sun [1] (base)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Four-stage explainable ML: feature engineering, LR / RF / GB / XGBoost / MLP, SHAP, domain validation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165 Korean hospitals, 825 hospital-year rows, 2019-2023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XGBoost AUC 0.842 (hospital-level Group K-Fold); 0.780 on 2023 hold-out; Altman Z'' 0.680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050" b="0">
                          <a:solidFill>
                            <a:srgbClr val="0F172A"/>
                          </a:solidFill>
                        </a:rPr>
                        <a:t>Abid [2]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Five ML and four deep models forecasting CDS-implied default probability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Sovereign credit data for Egypt, Morocco and Saudi Arabia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Linear regression best; RNN and GRU competitive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050" b="0">
                          <a:solidFill>
                            <a:srgbClr val="0F172A"/>
                          </a:solidFill>
                        </a:rPr>
                        <a:t>Maurino [3]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Effect of missing values, noise, outliers and label errors on 10 credit-risk models (Pucktrick library)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One open-source credit-risk dataset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Some errors can raise F1 (up to 17% for specific models); noise and mislabelling generally hurt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050" b="0">
                          <a:solidFill>
                            <a:srgbClr val="0F172A"/>
                          </a:solidFill>
                        </a:rPr>
                        <a:t>Zhang et al. [4]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PrivacyCredit: privacy-preserving credit-risk learning with alternative data (vertical federated learning)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Real credit data linked with alternative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Same performance as the insecure plaintext combination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050" b="0">
                          <a:solidFill>
                            <a:srgbClr val="0F172A"/>
                          </a:solidFill>
                        </a:rPr>
                        <a:t>Barboza et al. [10]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Comparison of ensembles with statistical models for bankruptcy prediction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Listed firms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Ensembles outperform traditional statistical models (as summarised in the base paper)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050" b="0">
                          <a:solidFill>
                            <a:srgbClr val="0F172A"/>
                          </a:solidFill>
                        </a:rPr>
                        <a:t>Bussmann et al. [17]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Shapley values to explain credit-risk models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SME lending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Explanations for credit decisions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48640">
                <a:tc>
                  <a:txBody>
                    <a:bodyPr wrap="square"/>
                    <a:lstStyle/>
                    <a:p>
                      <a:pPr algn="l"/>
                      <a:r>
                        <a:rPr sz="1050" b="0">
                          <a:solidFill>
                            <a:srgbClr val="0F172A"/>
                          </a:solidFill>
                        </a:rPr>
                        <a:t>Gramegna and Giudici [18]</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SHAP and LIME compared for discriminative power in credit risk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Credit-risk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050" b="0">
                          <a:solidFill>
                            <a:srgbClr val="0F172A"/>
                          </a:solidFill>
                        </a:rPr>
                        <a:t>Evaluates explanation methods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48640">
                <a:tc>
                  <a:txBody>
                    <a:bodyPr wrap="square"/>
                    <a:lstStyle/>
                    <a:p>
                      <a:pPr algn="l"/>
                      <a:r>
                        <a:rPr sz="1050" b="0">
                          <a:solidFill>
                            <a:srgbClr val="0F172A"/>
                          </a:solidFill>
                        </a:rPr>
                        <a:t>Grinsztajn et al. [23]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Benchmark of tree-based models against deep learning on tabular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Many tabular datasets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050" b="0">
                          <a:solidFill>
                            <a:srgbClr val="0F172A"/>
                          </a:solidFill>
                        </a:rPr>
                        <a:t>Tree-based models still outperform deep models on typical tabular data</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Supporting evidence: ensembles beat linear baselines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graphicFrame>
        <p:nvGraphicFramePr>
          <p:cNvPr id="26" name="Chart 25"/>
          <p:cNvGraphicFramePr>
            <a:graphicFrameLocks noGrp="1"/>
          </p:cNvGraphicFramePr>
          <p:nvPr/>
        </p:nvGraphicFramePr>
        <p:xfrm>
          <a:off x="548640" y="1280160"/>
          <a:ext cx="6949440" cy="4754880"/>
        </p:xfrm>
        <a:graphic>
          <a:graphicData uri="http://schemas.openxmlformats.org/drawingml/2006/chart">
            <c:chart xmlns:c="http://schemas.openxmlformats.org/drawingml/2006/chart" r:id="rId3"/>
          </a:graphicData>
        </a:graphic>
      </p:graphicFrame>
      <p:sp>
        <p:nvSpPr>
          <p:cNvPr id="27" name="Rounded Rectangle 26"/>
          <p:cNvSpPr/>
          <p:nvPr/>
        </p:nvSpPr>
        <p:spPr>
          <a:xfrm>
            <a:off x="7772400" y="1371600"/>
            <a:ext cx="3867912" cy="2240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973568"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9" name="TextBox 28"/>
          <p:cNvSpPr txBox="1"/>
          <p:nvPr/>
        </p:nvSpPr>
        <p:spPr>
          <a:xfrm>
            <a:off x="8613648" y="1527048"/>
            <a:ext cx="2862072" cy="548640"/>
          </a:xfrm>
          <a:prstGeom prst="rect">
            <a:avLst/>
          </a:prstGeom>
          <a:noFill/>
        </p:spPr>
        <p:txBody>
          <a:bodyPr wrap="square" lIns="0" rIns="0" tIns="0" bIns="0" anchor="ctr">
            <a:spAutoFit/>
          </a:bodyPr>
          <a:lstStyle/>
          <a:p>
            <a:pPr algn="l">
              <a:spcAft>
                <a:spcPts val="400"/>
              </a:spcAft>
            </a:pPr>
            <a:r>
              <a:rPr sz="1600" b="1" i="0">
                <a:solidFill>
                  <a:srgbClr val="0F172A"/>
                </a:solidFill>
              </a:rPr>
              <a:t>Takeaway</a:t>
            </a:r>
          </a:p>
        </p:txBody>
      </p:sp>
      <p:sp>
        <p:nvSpPr>
          <p:cNvPr id="30" name="TextBox 29"/>
          <p:cNvSpPr txBox="1"/>
          <p:nvPr/>
        </p:nvSpPr>
        <p:spPr>
          <a:xfrm>
            <a:off x="7973568" y="2240280"/>
            <a:ext cx="3465576" cy="1234440"/>
          </a:xfrm>
          <a:prstGeom prst="rect">
            <a:avLst/>
          </a:prstGeom>
          <a:noFill/>
        </p:spPr>
        <p:txBody>
          <a:bodyPr wrap="square" lIns="0" rIns="0" tIns="0" bIns="0" anchor="t">
            <a:spAutoFit/>
          </a:bodyPr>
          <a:lstStyle/>
          <a:p>
            <a:pPr algn="l">
              <a:spcAft>
                <a:spcPts val="400"/>
              </a:spcAft>
            </a:pPr>
            <a:r>
              <a:rPr sz="1400" b="0" i="0">
                <a:solidFill>
                  <a:srgbClr val="475569"/>
                </a:solidFill>
              </a:rPr>
              <a:t>On the base paper's hospital data, nonlinear ensembles lift AUC by about 0.07 over Logistic Regression and 0.16 over the classic Altman score.</a:t>
            </a:r>
          </a:p>
        </p:txBody>
      </p:sp>
      <p:sp>
        <p:nvSpPr>
          <p:cNvPr id="31" name="Rounded Rectangle 30"/>
          <p:cNvSpPr/>
          <p:nvPr/>
        </p:nvSpPr>
        <p:spPr>
          <a:xfrm>
            <a:off x="7772400" y="3794760"/>
            <a:ext cx="3867912" cy="22402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7973568" y="397764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33" name="TextBox 32"/>
          <p:cNvSpPr txBox="1"/>
          <p:nvPr/>
        </p:nvSpPr>
        <p:spPr>
          <a:xfrm>
            <a:off x="8613648" y="3950208"/>
            <a:ext cx="2862072" cy="548640"/>
          </a:xfrm>
          <a:prstGeom prst="rect">
            <a:avLst/>
          </a:prstGeom>
          <a:noFill/>
        </p:spPr>
        <p:txBody>
          <a:bodyPr wrap="square" lIns="0" rIns="0" tIns="0" bIns="0" anchor="ctr">
            <a:spAutoFit/>
          </a:bodyPr>
          <a:lstStyle/>
          <a:p>
            <a:pPr algn="l">
              <a:spcAft>
                <a:spcPts val="400"/>
              </a:spcAft>
            </a:pPr>
            <a:r>
              <a:rPr sz="1600" b="1" i="0">
                <a:solidFill>
                  <a:srgbClr val="0F172A"/>
                </a:solidFill>
              </a:rPr>
              <a:t>Caveat</a:t>
            </a:r>
          </a:p>
        </p:txBody>
      </p:sp>
      <p:sp>
        <p:nvSpPr>
          <p:cNvPr id="34" name="TextBox 33"/>
          <p:cNvSpPr txBox="1"/>
          <p:nvPr/>
        </p:nvSpPr>
        <p:spPr>
          <a:xfrm>
            <a:off x="7973568" y="4663440"/>
            <a:ext cx="3465576" cy="1234440"/>
          </a:xfrm>
          <a:prstGeom prst="rect">
            <a:avLst/>
          </a:prstGeom>
          <a:noFill/>
        </p:spPr>
        <p:txBody>
          <a:bodyPr wrap="square" lIns="0" rIns="0" tIns="0" bIns="0" anchor="t">
            <a:spAutoFit/>
          </a:bodyPr>
          <a:lstStyle/>
          <a:p>
            <a:pPr algn="l">
              <a:spcAft>
                <a:spcPts val="400"/>
              </a:spcAft>
            </a:pPr>
            <a:r>
              <a:rPr sz="1400" b="0" i="0">
                <a:solidFill>
                  <a:srgbClr val="475569"/>
                </a:solidFill>
              </a:rPr>
              <a:t>The three ensembles are not significantly different from one another (DeLong tests), so the choice among them rests on practicality and explainability.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Existing system and current approaches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
        <p:nvSpPr>
          <p:cNvPr id="26" name="Rounded Rectangle 25"/>
          <p:cNvSpPr/>
          <p:nvPr/>
        </p:nvSpPr>
        <p:spPr>
          <a:xfrm>
            <a:off x="548640"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Applicant data collected</a:t>
            </a:r>
          </a:p>
        </p:txBody>
      </p:sp>
      <p:sp>
        <p:nvSpPr>
          <p:cNvPr id="27" name="Right Arrow 26"/>
          <p:cNvSpPr/>
          <p:nvPr/>
        </p:nvSpPr>
        <p:spPr>
          <a:xfrm>
            <a:off x="3106674"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435858"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Few parameters scored</a:t>
            </a:r>
          </a:p>
        </p:txBody>
      </p:sp>
      <p:sp>
        <p:nvSpPr>
          <p:cNvPr id="29" name="Right Arrow 28"/>
          <p:cNvSpPr/>
          <p:nvPr/>
        </p:nvSpPr>
        <p:spPr>
          <a:xfrm>
            <a:off x="5993892"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323076"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Single static score</a:t>
            </a:r>
          </a:p>
        </p:txBody>
      </p:sp>
      <p:sp>
        <p:nvSpPr>
          <p:cNvPr id="31" name="Right Arrow 30"/>
          <p:cNvSpPr/>
          <p:nvPr/>
        </p:nvSpPr>
        <p:spPr>
          <a:xfrm>
            <a:off x="8881110" y="180136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10294" y="1417320"/>
            <a:ext cx="2430018" cy="10058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600" b="1">
                <a:solidFill>
                  <a:srgbClr val="FFFFFF"/>
                </a:solidFill>
              </a:rPr>
              <a:t>Decision, rarely explained</a:t>
            </a:r>
          </a:p>
        </p:txBody>
      </p:sp>
      <p:sp>
        <p:nvSpPr>
          <p:cNvPr id="33" name="Rounded Rectangle 32"/>
          <p:cNvSpPr/>
          <p:nvPr/>
        </p:nvSpPr>
        <p:spPr>
          <a:xfrm>
            <a:off x="548640" y="2834640"/>
            <a:ext cx="5440680"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49808" y="30175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35" name="TextBox 34"/>
          <p:cNvSpPr txBox="1"/>
          <p:nvPr/>
        </p:nvSpPr>
        <p:spPr>
          <a:xfrm>
            <a:off x="1389888" y="299008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Traditional scoring</a:t>
            </a:r>
          </a:p>
        </p:txBody>
      </p:sp>
      <p:sp>
        <p:nvSpPr>
          <p:cNvPr id="36" name="TextBox 35"/>
          <p:cNvSpPr txBox="1"/>
          <p:nvPr/>
        </p:nvSpPr>
        <p:spPr>
          <a:xfrm>
            <a:off x="749808" y="3703320"/>
            <a:ext cx="5038344" cy="2240279"/>
          </a:xfrm>
          <a:prstGeom prst="rect">
            <a:avLst/>
          </a:prstGeom>
          <a:noFill/>
        </p:spPr>
        <p:txBody>
          <a:bodyPr wrap="square" lIns="0" rIns="0" tIns="0" bIns="0" anchor="t">
            <a:spAutoFit/>
          </a:bodyPr>
          <a:lstStyle/>
          <a:p>
            <a:pPr algn="l">
              <a:spcAft>
                <a:spcPts val="400"/>
              </a:spcAft>
            </a:pPr>
            <a:r>
              <a:rPr sz="1700" b="0" i="0">
                <a:solidFill>
                  <a:srgbClr val="475569"/>
                </a:solidFill>
              </a:rPr>
              <a:t>Linear and rule-based scores such as the Altman Z-score or logistic scorecards use a handful of financial ratios. They are transparent but cannot capture non-linear interactions, and ignore demographic context.</a:t>
            </a:r>
          </a:p>
        </p:txBody>
      </p:sp>
      <p:sp>
        <p:nvSpPr>
          <p:cNvPr id="37" name="Rounded Rectangle 36"/>
          <p:cNvSpPr/>
          <p:nvPr/>
        </p:nvSpPr>
        <p:spPr>
          <a:xfrm>
            <a:off x="6199632" y="2834640"/>
            <a:ext cx="5440680" cy="324612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400800" y="30175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9" name="TextBox 38"/>
          <p:cNvSpPr txBox="1"/>
          <p:nvPr/>
        </p:nvSpPr>
        <p:spPr>
          <a:xfrm>
            <a:off x="7040880" y="299008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Research models</a:t>
            </a:r>
          </a:p>
        </p:txBody>
      </p:sp>
      <p:sp>
        <p:nvSpPr>
          <p:cNvPr id="40" name="TextBox 39"/>
          <p:cNvSpPr txBox="1"/>
          <p:nvPr/>
        </p:nvSpPr>
        <p:spPr>
          <a:xfrm>
            <a:off x="6400800" y="3703320"/>
            <a:ext cx="5038344" cy="2240279"/>
          </a:xfrm>
          <a:prstGeom prst="rect">
            <a:avLst/>
          </a:prstGeom>
          <a:noFill/>
        </p:spPr>
        <p:txBody>
          <a:bodyPr wrap="square" lIns="0" rIns="0" tIns="0" bIns="0" anchor="t">
            <a:spAutoFit/>
          </a:bodyPr>
          <a:lstStyle/>
          <a:p>
            <a:pPr algn="l">
              <a:spcAft>
                <a:spcPts val="400"/>
              </a:spcAft>
            </a:pPr>
            <a:r>
              <a:rPr sz="1700" b="0" i="0">
                <a:solidFill>
                  <a:srgbClr val="475569"/>
                </a:solidFill>
              </a:rPr>
              <a:t>Papers train ensembles and deep networks and report an AUC. Code is usually a notebook: no per-person explanation, no forecast and no interface that a user or analyst can open.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Limitations of existing methods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sp>
        <p:nvSpPr>
          <p:cNvPr id="26" name="Rounded Rectangle 25"/>
          <p:cNvSpPr/>
          <p:nvPr/>
        </p:nvSpPr>
        <p:spPr>
          <a:xfrm>
            <a:off x="548640" y="137160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Narrow parameters</a:t>
            </a:r>
          </a:p>
        </p:txBody>
      </p:sp>
      <p:sp>
        <p:nvSpPr>
          <p:cNvPr id="29" name="TextBox 28"/>
          <p:cNvSpPr txBox="1"/>
          <p:nvPr/>
        </p:nvSpPr>
        <p:spPr>
          <a:xfrm>
            <a:off x="749808" y="2240280"/>
            <a:ext cx="5038344" cy="1280160"/>
          </a:xfrm>
          <a:prstGeom prst="rect">
            <a:avLst/>
          </a:prstGeom>
          <a:noFill/>
        </p:spPr>
        <p:txBody>
          <a:bodyPr wrap="square" lIns="0" rIns="0" tIns="0" bIns="0" anchor="t">
            <a:spAutoFit/>
          </a:bodyPr>
          <a:lstStyle/>
          <a:p>
            <a:pPr algn="l">
              <a:spcAft>
                <a:spcPts val="400"/>
              </a:spcAft>
            </a:pPr>
            <a:r>
              <a:rPr sz="1700" b="0" i="0">
                <a:solidFill>
                  <a:srgbClr val="475569"/>
                </a:solidFill>
              </a:rPr>
              <a:t>A limited set of financial ratios misses demographic factors such as age, occupation, education and region.</a:t>
            </a:r>
          </a:p>
        </p:txBody>
      </p:sp>
      <p:sp>
        <p:nvSpPr>
          <p:cNvPr id="30" name="Rounded Rectangle 29"/>
          <p:cNvSpPr/>
          <p:nvPr/>
        </p:nvSpPr>
        <p:spPr>
          <a:xfrm>
            <a:off x="6199631" y="137160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00799"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7040879" y="152704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Linear structure</a:t>
            </a:r>
          </a:p>
        </p:txBody>
      </p:sp>
      <p:sp>
        <p:nvSpPr>
          <p:cNvPr id="33" name="TextBox 32"/>
          <p:cNvSpPr txBox="1"/>
          <p:nvPr/>
        </p:nvSpPr>
        <p:spPr>
          <a:xfrm>
            <a:off x="6400799" y="2240280"/>
            <a:ext cx="5038344" cy="1280160"/>
          </a:xfrm>
          <a:prstGeom prst="rect">
            <a:avLst/>
          </a:prstGeom>
          <a:noFill/>
        </p:spPr>
        <p:txBody>
          <a:bodyPr wrap="square" lIns="0" rIns="0" tIns="0" bIns="0" anchor="t">
            <a:spAutoFit/>
          </a:bodyPr>
          <a:lstStyle/>
          <a:p>
            <a:pPr algn="l">
              <a:spcAft>
                <a:spcPts val="400"/>
              </a:spcAft>
            </a:pPr>
            <a:r>
              <a:rPr sz="1700" b="0" i="0">
                <a:solidFill>
                  <a:srgbClr val="475569"/>
                </a:solidFill>
              </a:rPr>
              <a:t>Statistical scores assume additive effects and miss non-linear interactions that tree ensembles capture.</a:t>
            </a:r>
          </a:p>
        </p:txBody>
      </p:sp>
      <p:sp>
        <p:nvSpPr>
          <p:cNvPr id="34" name="Rounded Rectangle 33"/>
          <p:cNvSpPr/>
          <p:nvPr/>
        </p:nvSpPr>
        <p:spPr>
          <a:xfrm>
            <a:off x="548640" y="384048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749808" y="40233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1389888" y="3995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Present only</a:t>
            </a:r>
          </a:p>
        </p:txBody>
      </p:sp>
      <p:sp>
        <p:nvSpPr>
          <p:cNvPr id="37" name="TextBox 36"/>
          <p:cNvSpPr txBox="1"/>
          <p:nvPr/>
        </p:nvSpPr>
        <p:spPr>
          <a:xfrm>
            <a:off x="749808" y="4709160"/>
            <a:ext cx="5038344" cy="1280160"/>
          </a:xfrm>
          <a:prstGeom prst="rect">
            <a:avLst/>
          </a:prstGeom>
          <a:noFill/>
        </p:spPr>
        <p:txBody>
          <a:bodyPr wrap="square" lIns="0" rIns="0" tIns="0" bIns="0" anchor="t">
            <a:spAutoFit/>
          </a:bodyPr>
          <a:lstStyle/>
          <a:p>
            <a:pPr algn="l">
              <a:spcAft>
                <a:spcPts val="400"/>
              </a:spcAft>
            </a:pPr>
            <a:r>
              <a:rPr sz="1700" b="0" i="0">
                <a:solidFill>
                  <a:srgbClr val="475569"/>
                </a:solidFill>
              </a:rPr>
              <a:t>A static score describes where someone is today; it gives no view of how conditions may change.</a:t>
            </a:r>
          </a:p>
        </p:txBody>
      </p:sp>
      <p:sp>
        <p:nvSpPr>
          <p:cNvPr id="38" name="Rounded Rectangle 37"/>
          <p:cNvSpPr/>
          <p:nvPr/>
        </p:nvSpPr>
        <p:spPr>
          <a:xfrm>
            <a:off x="6199631" y="3840480"/>
            <a:ext cx="544068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400799" y="40233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7040879" y="3995928"/>
            <a:ext cx="4434840" cy="548640"/>
          </a:xfrm>
          <a:prstGeom prst="rect">
            <a:avLst/>
          </a:prstGeom>
          <a:noFill/>
        </p:spPr>
        <p:txBody>
          <a:bodyPr wrap="square" lIns="0" rIns="0" tIns="0" bIns="0" anchor="ctr">
            <a:spAutoFit/>
          </a:bodyPr>
          <a:lstStyle/>
          <a:p>
            <a:pPr algn="l">
              <a:spcAft>
                <a:spcPts val="400"/>
              </a:spcAft>
            </a:pPr>
            <a:r>
              <a:rPr sz="1600" b="1" i="0">
                <a:solidFill>
                  <a:srgbClr val="0F172A"/>
                </a:solidFill>
              </a:rPr>
              <a:t>No explanation</a:t>
            </a:r>
          </a:p>
        </p:txBody>
      </p:sp>
      <p:sp>
        <p:nvSpPr>
          <p:cNvPr id="41" name="TextBox 40"/>
          <p:cNvSpPr txBox="1"/>
          <p:nvPr/>
        </p:nvSpPr>
        <p:spPr>
          <a:xfrm>
            <a:off x="6400799" y="4709160"/>
            <a:ext cx="5038344" cy="1280160"/>
          </a:xfrm>
          <a:prstGeom prst="rect">
            <a:avLst/>
          </a:prstGeom>
          <a:noFill/>
        </p:spPr>
        <p:txBody>
          <a:bodyPr wrap="square" lIns="0" rIns="0" tIns="0" bIns="0" anchor="t">
            <a:spAutoFit/>
          </a:bodyPr>
          <a:lstStyle/>
          <a:p>
            <a:pPr algn="l">
              <a:spcAft>
                <a:spcPts val="400"/>
              </a:spcAft>
            </a:pPr>
            <a:r>
              <a:rPr sz="1700" b="0" i="0">
                <a:solidFill>
                  <a:srgbClr val="475569"/>
                </a:solidFill>
              </a:rPr>
              <a:t>A bare score cannot be justified to the customer or a regulator, and research code has no usable interface.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Research gap</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
        <p:nvSpPr>
          <p:cNvPr id="26" name="Rounded Rectangle 25"/>
          <p:cNvSpPr/>
          <p:nvPr/>
        </p:nvSpPr>
        <p:spPr>
          <a:xfrm>
            <a:off x="548640" y="1325880"/>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48640" y="1325880"/>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Population</a:t>
            </a:r>
          </a:p>
        </p:txBody>
      </p:sp>
      <p:sp>
        <p:nvSpPr>
          <p:cNvPr id="28" name="TextBox 27"/>
          <p:cNvSpPr txBox="1"/>
          <p:nvPr/>
        </p:nvSpPr>
        <p:spPr>
          <a:xfrm>
            <a:off x="3200400" y="1325880"/>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Explainable ML for financial distress targets organisations and sovereigns; individual profiling from demographics is far less covered.</a:t>
            </a:r>
          </a:p>
        </p:txBody>
      </p:sp>
      <p:sp>
        <p:nvSpPr>
          <p:cNvPr id="29" name="Rounded Rectangle 28"/>
          <p:cNvSpPr/>
          <p:nvPr/>
        </p:nvSpPr>
        <p:spPr>
          <a:xfrm>
            <a:off x="548640" y="2313432"/>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48640" y="2313432"/>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Explanation</a:t>
            </a:r>
          </a:p>
        </p:txBody>
      </p:sp>
      <p:sp>
        <p:nvSpPr>
          <p:cNvPr id="31" name="TextBox 30"/>
          <p:cNvSpPr txBox="1"/>
          <p:nvPr/>
        </p:nvSpPr>
        <p:spPr>
          <a:xfrm>
            <a:off x="3200400" y="2313432"/>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Accuracy is the usual headline; a per-person explanation that a non-expert can read is rarely part of the tool.</a:t>
            </a:r>
          </a:p>
        </p:txBody>
      </p:sp>
      <p:sp>
        <p:nvSpPr>
          <p:cNvPr id="32" name="Rounded Rectangle 31"/>
          <p:cNvSpPr/>
          <p:nvPr/>
        </p:nvSpPr>
        <p:spPr>
          <a:xfrm>
            <a:off x="548640" y="3300984"/>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48640" y="3300984"/>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Future view</a:t>
            </a:r>
          </a:p>
        </p:txBody>
      </p:sp>
      <p:sp>
        <p:nvSpPr>
          <p:cNvPr id="34" name="TextBox 33"/>
          <p:cNvSpPr txBox="1"/>
          <p:nvPr/>
        </p:nvSpPr>
        <p:spPr>
          <a:xfrm>
            <a:off x="3200400" y="3300984"/>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Models describe the present position; a forecast of economic conditions is seldom combined with the profile.</a:t>
            </a:r>
          </a:p>
        </p:txBody>
      </p:sp>
      <p:sp>
        <p:nvSpPr>
          <p:cNvPr id="35" name="Rounded Rectangle 34"/>
          <p:cNvSpPr/>
          <p:nvPr/>
        </p:nvSpPr>
        <p:spPr>
          <a:xfrm>
            <a:off x="548640" y="4288536"/>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48640" y="4288536"/>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Usability</a:t>
            </a:r>
          </a:p>
        </p:txBody>
      </p:sp>
      <p:sp>
        <p:nvSpPr>
          <p:cNvPr id="37" name="TextBox 36"/>
          <p:cNvSpPr txBox="1"/>
          <p:nvPr/>
        </p:nvSpPr>
        <p:spPr>
          <a:xfrm>
            <a:off x="3200400" y="4288536"/>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Few works deliver the model as a reproducible, tested application with a validated input form.</a:t>
            </a:r>
          </a:p>
        </p:txBody>
      </p:sp>
      <p:sp>
        <p:nvSpPr>
          <p:cNvPr id="38" name="Rounded Rectangle 37"/>
          <p:cNvSpPr/>
          <p:nvPr/>
        </p:nvSpPr>
        <p:spPr>
          <a:xfrm>
            <a:off x="548640" y="5276088"/>
            <a:ext cx="2377440" cy="822960"/>
          </a:xfrm>
          <a:prstGeom prst="roundRect">
            <a:avLst>
              <a:gd name="adj" fmla="val 6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48640" y="5276088"/>
            <a:ext cx="2377440" cy="822960"/>
          </a:xfrm>
          <a:prstGeom prst="rect">
            <a:avLst/>
          </a:prstGeom>
          <a:noFill/>
        </p:spPr>
        <p:txBody>
          <a:bodyPr wrap="square" lIns="0" rIns="0" tIns="0" bIns="0" anchor="ctr">
            <a:spAutoFit/>
          </a:bodyPr>
          <a:lstStyle/>
          <a:p>
            <a:pPr algn="ctr">
              <a:spcAft>
                <a:spcPts val="400"/>
              </a:spcAft>
            </a:pPr>
            <a:r>
              <a:rPr sz="1600" b="1" i="0">
                <a:solidFill>
                  <a:srgbClr val="FFFFFF"/>
                </a:solidFill>
              </a:rPr>
              <a:t>Honest scope</a:t>
            </a:r>
          </a:p>
        </p:txBody>
      </p:sp>
      <p:sp>
        <p:nvSpPr>
          <p:cNvPr id="40" name="TextBox 39"/>
          <p:cNvSpPr txBox="1"/>
          <p:nvPr/>
        </p:nvSpPr>
        <p:spPr>
          <a:xfrm>
            <a:off x="3200400" y="5276088"/>
            <a:ext cx="8412480" cy="822960"/>
          </a:xfrm>
          <a:prstGeom prst="rect">
            <a:avLst/>
          </a:prstGeom>
          <a:noFill/>
        </p:spPr>
        <p:txBody>
          <a:bodyPr wrap="square" lIns="0" rIns="0" tIns="0" bIns="0" anchor="ctr">
            <a:spAutoFit/>
          </a:bodyPr>
          <a:lstStyle/>
          <a:p>
            <a:pPr algn="l">
              <a:spcAft>
                <a:spcPts val="400"/>
              </a:spcAft>
            </a:pPr>
            <a:r>
              <a:rPr sz="1700" b="0" i="0">
                <a:solidFill>
                  <a:srgbClr val="0F172A"/>
                </a:solidFill>
              </a:rPr>
              <a:t>Claims about credit or distress are often made from proxy data without saying so; limits must be stated.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Problem statement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
        <p:nvSpPr>
          <p:cNvPr id="26" name="Rounded Rectangle 25"/>
          <p:cNvSpPr/>
          <p:nvPr/>
        </p:nvSpPr>
        <p:spPr>
          <a:xfrm>
            <a:off x="548640" y="1325880"/>
            <a:ext cx="11091672" cy="2514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68680" y="1463040"/>
            <a:ext cx="10469880" cy="2286000"/>
          </a:xfrm>
          <a:prstGeom prst="rect">
            <a:avLst/>
          </a:prstGeom>
          <a:noFill/>
        </p:spPr>
        <p:txBody>
          <a:bodyPr wrap="square" lIns="0" rIns="0" tIns="0" bIns="0" anchor="ctr">
            <a:spAutoFit/>
          </a:bodyPr>
          <a:lstStyle/>
          <a:p>
            <a:pPr algn="l">
              <a:spcAft>
                <a:spcPts val="400"/>
              </a:spcAft>
            </a:pPr>
            <a:r>
              <a:rPr sz="2000" b="0" i="0">
                <a:solidFill>
                  <a:srgbClr val="0F172A"/>
                </a:solidFill>
              </a:rPr>
              <a:t>Given an individual's demographic and financial details, </a:t>
            </a:r>
            <a:r>
              <a:rPr sz="2000" b="1" i="0">
                <a:solidFill>
                  <a:srgbClr val="0F172A"/>
                </a:solidFill>
              </a:rPr>
              <a:t>identify a financial profile and risk band</a:t>
            </a:r>
            <a:r>
              <a:rPr sz="2000" b="0" i="0">
                <a:solidFill>
                  <a:srgbClr val="0F172A"/>
                </a:solidFill>
              </a:rPr>
              <a:t>, show </a:t>
            </a:r>
            <a:r>
              <a:rPr sz="2000" b="1" i="0">
                <a:solidFill>
                  <a:srgbClr val="0F172A"/>
                </a:solidFill>
              </a:rPr>
              <a:t>which factors drove the assessment</a:t>
            </a:r>
            <a:r>
              <a:rPr sz="2000" b="0" i="0">
                <a:solidFill>
                  <a:srgbClr val="0F172A"/>
                </a:solidFill>
              </a:rPr>
              <a:t>, and </a:t>
            </a:r>
            <a:r>
              <a:rPr sz="2000" b="1" i="0">
                <a:solidFill>
                  <a:srgbClr val="0F172A"/>
                </a:solidFill>
              </a:rPr>
              <a:t>forecast how economic conditions may move</a:t>
            </a:r>
            <a:r>
              <a:rPr sz="2000" b="0" i="0">
                <a:solidFill>
                  <a:srgbClr val="0F172A"/>
                </a:solidFill>
              </a:rPr>
              <a:t>, through a web interface, with output a non-expert can read and a regulator can question.</a:t>
            </a:r>
          </a:p>
        </p:txBody>
      </p:sp>
      <p:sp>
        <p:nvSpPr>
          <p:cNvPr id="28" name="Rounded Rectangle 27"/>
          <p:cNvSpPr/>
          <p:nvPr/>
        </p:nvSpPr>
        <p:spPr>
          <a:xfrm>
            <a:off x="548640" y="4114800"/>
            <a:ext cx="3520440" cy="15544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777240"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Input</a:t>
            </a:r>
          </a:p>
        </p:txBody>
      </p:sp>
      <p:sp>
        <p:nvSpPr>
          <p:cNvPr id="30" name="TextBox 29"/>
          <p:cNvSpPr txBox="1"/>
          <p:nvPr/>
        </p:nvSpPr>
        <p:spPr>
          <a:xfrm>
            <a:off x="777240" y="4663440"/>
            <a:ext cx="3108960" cy="914400"/>
          </a:xfrm>
          <a:prstGeom prst="rect">
            <a:avLst/>
          </a:prstGeom>
          <a:noFill/>
        </p:spPr>
        <p:txBody>
          <a:bodyPr wrap="square" lIns="0" rIns="0" tIns="0" bIns="0" anchor="t">
            <a:spAutoFit/>
          </a:bodyPr>
          <a:lstStyle/>
          <a:p>
            <a:pPr algn="l">
              <a:spcAft>
                <a:spcPts val="400"/>
              </a:spcAft>
            </a:pPr>
            <a:r>
              <a:rPr sz="1400" b="0" i="0">
                <a:solidFill>
                  <a:srgbClr val="475569"/>
                </a:solidFill>
              </a:rPr>
              <a:t>Age, education, occupation, household, country, hours, gains and losses (12 fields)</a:t>
            </a:r>
          </a:p>
        </p:txBody>
      </p:sp>
      <p:sp>
        <p:nvSpPr>
          <p:cNvPr id="31" name="Rounded Rectangle 30"/>
          <p:cNvSpPr/>
          <p:nvPr/>
        </p:nvSpPr>
        <p:spPr>
          <a:xfrm>
            <a:off x="4334255" y="4114800"/>
            <a:ext cx="3520440" cy="15544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562855"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Output</a:t>
            </a:r>
          </a:p>
        </p:txBody>
      </p:sp>
      <p:sp>
        <p:nvSpPr>
          <p:cNvPr id="33" name="TextBox 32"/>
          <p:cNvSpPr txBox="1"/>
          <p:nvPr/>
        </p:nvSpPr>
        <p:spPr>
          <a:xfrm>
            <a:off x="4562855" y="4663440"/>
            <a:ext cx="3108960" cy="914400"/>
          </a:xfrm>
          <a:prstGeom prst="rect">
            <a:avLst/>
          </a:prstGeom>
          <a:noFill/>
        </p:spPr>
        <p:txBody>
          <a:bodyPr wrap="square" lIns="0" rIns="0" tIns="0" bIns="0" anchor="t">
            <a:spAutoFit/>
          </a:bodyPr>
          <a:lstStyle/>
          <a:p>
            <a:pPr algn="l">
              <a:spcAft>
                <a:spcPts val="400"/>
              </a:spcAft>
            </a:pPr>
            <a:r>
              <a:rPr sz="1400" b="0" i="0">
                <a:solidFill>
                  <a:srgbClr val="475569"/>
                </a:solidFill>
              </a:rPr>
              <a:t>Profile class, risk band, strength score, SHAP drivers, insights</a:t>
            </a:r>
          </a:p>
        </p:txBody>
      </p:sp>
      <p:sp>
        <p:nvSpPr>
          <p:cNvPr id="34" name="Rounded Rectangle 33"/>
          <p:cNvSpPr/>
          <p:nvPr/>
        </p:nvSpPr>
        <p:spPr>
          <a:xfrm>
            <a:off x="8119871" y="4114800"/>
            <a:ext cx="3520440" cy="15544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48471" y="4224528"/>
            <a:ext cx="3108960" cy="365760"/>
          </a:xfrm>
          <a:prstGeom prst="rect">
            <a:avLst/>
          </a:prstGeom>
          <a:noFill/>
        </p:spPr>
        <p:txBody>
          <a:bodyPr wrap="square" lIns="0" rIns="0" tIns="0" bIns="0" anchor="t">
            <a:spAutoFit/>
          </a:bodyPr>
          <a:lstStyle/>
          <a:p>
            <a:pPr algn="l">
              <a:spcAft>
                <a:spcPts val="400"/>
              </a:spcAft>
            </a:pPr>
            <a:r>
              <a:rPr sz="1800" b="1" i="0">
                <a:solidFill>
                  <a:srgbClr val="0F172A"/>
                </a:solidFill>
              </a:rPr>
              <a:t>Context</a:t>
            </a:r>
          </a:p>
        </p:txBody>
      </p:sp>
      <p:sp>
        <p:nvSpPr>
          <p:cNvPr id="36" name="TextBox 35"/>
          <p:cNvSpPr txBox="1"/>
          <p:nvPr/>
        </p:nvSpPr>
        <p:spPr>
          <a:xfrm>
            <a:off x="8348471" y="4663440"/>
            <a:ext cx="3108960" cy="914400"/>
          </a:xfrm>
          <a:prstGeom prst="rect">
            <a:avLst/>
          </a:prstGeom>
          <a:noFill/>
        </p:spPr>
        <p:txBody>
          <a:bodyPr wrap="square" lIns="0" rIns="0" tIns="0" bIns="0" anchor="t">
            <a:spAutoFit/>
          </a:bodyPr>
          <a:lstStyle/>
          <a:p>
            <a:pPr algn="l">
              <a:spcAft>
                <a:spcPts val="400"/>
              </a:spcAft>
            </a:pPr>
            <a:r>
              <a:rPr sz="1400" b="0" i="0">
                <a:solidFill>
                  <a:srgbClr val="475569"/>
                </a:solidFill>
              </a:rPr>
              <a:t>12-month forecast and what-if comparison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Objectives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
        <p:nvSpPr>
          <p:cNvPr id="26" name="TextBox 25"/>
          <p:cNvSpPr txBox="1"/>
          <p:nvPr/>
        </p:nvSpPr>
        <p:spPr>
          <a:xfrm>
            <a:off x="548640" y="1280160"/>
            <a:ext cx="11091672" cy="4846320"/>
          </a:xfrm>
          <a:prstGeom prst="rect">
            <a:avLst/>
          </a:prstGeom>
          <a:noFill/>
        </p:spPr>
        <p:txBody>
          <a:bodyPr wrap="square" lIns="0" rIns="0" tIns="0" bIns="0" anchor="t">
            <a:spAutoFit/>
          </a:bodyPr>
          <a:lstStyle/>
          <a:p>
            <a:pPr algn="l">
              <a:spcAft>
                <a:spcPts val="1100"/>
              </a:spcAft>
            </a:pPr>
            <a:r>
              <a:rPr sz="2200" b="0" i="0">
                <a:solidFill>
                  <a:srgbClr val="0F172A"/>
                </a:solidFill>
              </a:rPr>
              <a:t>1.  Collect a dataset combining demographic attributes with financial and transactional parameters.</a:t>
            </a:r>
          </a:p>
          <a:p>
            <a:pPr algn="l">
              <a:spcAft>
                <a:spcPts val="1100"/>
              </a:spcAft>
            </a:pPr>
            <a:r>
              <a:rPr sz="2200" b="0" i="0">
                <a:solidFill>
                  <a:srgbClr val="0F172A"/>
                </a:solidFill>
              </a:rPr>
              <a:t>2.  Preprocess the data, handle missing values and encode categorical demographic fields.</a:t>
            </a:r>
          </a:p>
          <a:p>
            <a:pPr algn="l">
              <a:spcAft>
                <a:spcPts val="1100"/>
              </a:spcAft>
            </a:pPr>
            <a:r>
              <a:rPr sz="2200" b="0" i="0">
                <a:solidFill>
                  <a:srgbClr val="0F172A"/>
                </a:solidFill>
              </a:rPr>
              <a:t>3.  Train models to classify financial profile and estimate credit or distress risk.</a:t>
            </a:r>
          </a:p>
          <a:p>
            <a:pPr algn="l">
              <a:spcAft>
                <a:spcPts val="1100"/>
              </a:spcAft>
            </a:pPr>
            <a:r>
              <a:rPr sz="2200" b="0" i="0">
                <a:solidFill>
                  <a:srgbClr val="0F172A"/>
                </a:solidFill>
              </a:rPr>
              <a:t>4.  Build a forecasting component that projects future financial position.</a:t>
            </a:r>
          </a:p>
          <a:p>
            <a:pPr algn="l">
              <a:spcAft>
                <a:spcPts val="1100"/>
              </a:spcAft>
            </a:pPr>
            <a:r>
              <a:rPr sz="2200" b="0" i="0">
                <a:solidFill>
                  <a:srgbClr val="0F172A"/>
                </a:solidFill>
              </a:rPr>
              <a:t>5.  Add an explainability layer showing which factors drove each assessment.</a:t>
            </a:r>
          </a:p>
          <a:p>
            <a:pPr algn="l">
              <a:spcAft>
                <a:spcPts val="1100"/>
              </a:spcAft>
            </a:pPr>
            <a:r>
              <a:rPr sz="2200" b="0" i="0">
                <a:solidFill>
                  <a:srgbClr val="0F172A"/>
                </a:solidFill>
              </a:rPr>
              <a:t>6.  Evaluate using accuracy, precision, recall and ROC-AUC, and deploy through a web interface.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Proposed approach</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
        <p:nvSpPr>
          <p:cNvPr id="26" name="Rounded Rectangle 25"/>
          <p:cNvSpPr/>
          <p:nvPr/>
        </p:nvSpPr>
        <p:spPr>
          <a:xfrm>
            <a:off x="548640"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087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Prepare</a:t>
            </a:r>
          </a:p>
        </p:txBody>
      </p:sp>
      <p:sp>
        <p:nvSpPr>
          <p:cNvPr id="29" name="TextBox 28"/>
          <p:cNvSpPr txBox="1"/>
          <p:nvPr/>
        </p:nvSpPr>
        <p:spPr>
          <a:xfrm>
            <a:off x="749808" y="2194560"/>
            <a:ext cx="2231136" cy="2103120"/>
          </a:xfrm>
          <a:prstGeom prst="rect">
            <a:avLst/>
          </a:prstGeom>
          <a:noFill/>
        </p:spPr>
        <p:txBody>
          <a:bodyPr wrap="square" lIns="0" rIns="0" tIns="0" bIns="0" anchor="t">
            <a:spAutoFit/>
          </a:bodyPr>
          <a:lstStyle/>
          <a:p>
            <a:pPr algn="l">
              <a:spcAft>
                <a:spcPts val="400"/>
              </a:spcAft>
            </a:pPr>
            <a:r>
              <a:rPr sz="1400" b="0" i="0">
                <a:solidFill>
                  <a:srgbClr val="475569"/>
                </a:solidFill>
              </a:rPr>
              <a:t>UCI Adult / Census Income (48,842 individuals); missing values imputed; categories one-hot encoded; 12 derived features.</a:t>
            </a:r>
          </a:p>
        </p:txBody>
      </p:sp>
      <p:sp>
        <p:nvSpPr>
          <p:cNvPr id="30" name="Rounded Rectangle 29"/>
          <p:cNvSpPr/>
          <p:nvPr/>
        </p:nvSpPr>
        <p:spPr>
          <a:xfrm>
            <a:off x="3364992"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66160" y="15087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06240"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Model</a:t>
            </a:r>
          </a:p>
        </p:txBody>
      </p:sp>
      <p:sp>
        <p:nvSpPr>
          <p:cNvPr id="33" name="TextBox 32"/>
          <p:cNvSpPr txBox="1"/>
          <p:nvPr/>
        </p:nvSpPr>
        <p:spPr>
          <a:xfrm>
            <a:off x="3566160" y="2194560"/>
            <a:ext cx="2231136" cy="2103120"/>
          </a:xfrm>
          <a:prstGeom prst="rect">
            <a:avLst/>
          </a:prstGeom>
          <a:noFill/>
        </p:spPr>
        <p:txBody>
          <a:bodyPr wrap="square" lIns="0" rIns="0" tIns="0" bIns="0" anchor="t">
            <a:spAutoFit/>
          </a:bodyPr>
          <a:lstStyle/>
          <a:p>
            <a:pPr algn="l">
              <a:spcAft>
                <a:spcPts val="400"/>
              </a:spcAft>
            </a:pPr>
            <a:r>
              <a:rPr sz="1400" b="0" i="0">
                <a:solidFill>
                  <a:srgbClr val="475569"/>
                </a:solidFill>
              </a:rPr>
              <a:t>Compare Logistic Regression, Random Forest, Gradient Boosting and XGBoost; select by ROC-AUC with stratified cross-validation.</a:t>
            </a:r>
          </a:p>
        </p:txBody>
      </p:sp>
      <p:sp>
        <p:nvSpPr>
          <p:cNvPr id="34" name="Rounded Rectangle 33"/>
          <p:cNvSpPr/>
          <p:nvPr/>
        </p:nvSpPr>
        <p:spPr>
          <a:xfrm>
            <a:off x="6181344"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382512" y="150876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22592"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Explain</a:t>
            </a:r>
          </a:p>
        </p:txBody>
      </p:sp>
      <p:sp>
        <p:nvSpPr>
          <p:cNvPr id="37" name="TextBox 36"/>
          <p:cNvSpPr txBox="1"/>
          <p:nvPr/>
        </p:nvSpPr>
        <p:spPr>
          <a:xfrm>
            <a:off x="6382512" y="2194560"/>
            <a:ext cx="2231136" cy="2103120"/>
          </a:xfrm>
          <a:prstGeom prst="rect">
            <a:avLst/>
          </a:prstGeom>
          <a:noFill/>
        </p:spPr>
        <p:txBody>
          <a:bodyPr wrap="square" lIns="0" rIns="0" tIns="0" bIns="0" anchor="t">
            <a:spAutoFit/>
          </a:bodyPr>
          <a:lstStyle/>
          <a:p>
            <a:pPr algn="l">
              <a:spcAft>
                <a:spcPts val="400"/>
              </a:spcAft>
            </a:pPr>
            <a:r>
              <a:rPr sz="1400" b="0" i="0">
                <a:solidFill>
                  <a:srgbClr val="475569"/>
                </a:solidFill>
              </a:rPr>
              <a:t>SHAP TreeExplainer: global importance and live per-person contributions in plain language.</a:t>
            </a:r>
          </a:p>
        </p:txBody>
      </p:sp>
      <p:sp>
        <p:nvSpPr>
          <p:cNvPr id="38" name="Rounded Rectangle 37"/>
          <p:cNvSpPr/>
          <p:nvPr/>
        </p:nvSpPr>
        <p:spPr>
          <a:xfrm>
            <a:off x="8997696" y="1325880"/>
            <a:ext cx="2633472" cy="310896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198864" y="15087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38944" y="1481328"/>
            <a:ext cx="1627631" cy="548640"/>
          </a:xfrm>
          <a:prstGeom prst="rect">
            <a:avLst/>
          </a:prstGeom>
          <a:noFill/>
        </p:spPr>
        <p:txBody>
          <a:bodyPr wrap="square" lIns="0" rIns="0" tIns="0" bIns="0" anchor="ctr">
            <a:spAutoFit/>
          </a:bodyPr>
          <a:lstStyle/>
          <a:p>
            <a:pPr algn="l">
              <a:spcAft>
                <a:spcPts val="400"/>
              </a:spcAft>
            </a:pPr>
            <a:r>
              <a:rPr sz="1600" b="1" i="0">
                <a:solidFill>
                  <a:srgbClr val="0F172A"/>
                </a:solidFill>
              </a:rPr>
              <a:t>Forecast</a:t>
            </a:r>
          </a:p>
        </p:txBody>
      </p:sp>
      <p:sp>
        <p:nvSpPr>
          <p:cNvPr id="41" name="TextBox 40"/>
          <p:cNvSpPr txBox="1"/>
          <p:nvPr/>
        </p:nvSpPr>
        <p:spPr>
          <a:xfrm>
            <a:off x="9198864" y="2194560"/>
            <a:ext cx="2231136" cy="2103120"/>
          </a:xfrm>
          <a:prstGeom prst="rect">
            <a:avLst/>
          </a:prstGeom>
          <a:noFill/>
        </p:spPr>
        <p:txBody>
          <a:bodyPr wrap="square" lIns="0" rIns="0" tIns="0" bIns="0" anchor="t">
            <a:spAutoFit/>
          </a:bodyPr>
          <a:lstStyle/>
          <a:p>
            <a:pPr algn="l">
              <a:spcAft>
                <a:spcPts val="400"/>
              </a:spcAft>
            </a:pPr>
            <a:r>
              <a:rPr sz="1400" b="0" i="0">
                <a:solidFill>
                  <a:srgbClr val="475569"/>
                </a:solidFill>
              </a:rPr>
              <a:t>Holt-Winters model for a 12-month economic index; what-if scenarios for a changed profile.</a:t>
            </a:r>
          </a:p>
        </p:txBody>
      </p:sp>
      <p:sp>
        <p:nvSpPr>
          <p:cNvPr id="42" name="Rounded Rectangle 41"/>
          <p:cNvSpPr/>
          <p:nvPr/>
        </p:nvSpPr>
        <p:spPr>
          <a:xfrm>
            <a:off x="548640" y="4663440"/>
            <a:ext cx="11091672" cy="13716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77240" y="4937760"/>
            <a:ext cx="640080" cy="640080"/>
          </a:xfrm>
          <a:prstGeom prst="ellipse">
            <a:avLst/>
          </a:prstGeom>
          <a:solidFill>
            <a:srgbClr val="1B2A41"/>
          </a:solidFill>
          <a:ln w="9525">
            <a:solidFill>
              <a:srgbClr val="1B2A41"/>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rPr>
              <a:t>W</a:t>
            </a:r>
          </a:p>
        </p:txBody>
      </p:sp>
      <p:sp>
        <p:nvSpPr>
          <p:cNvPr id="44" name="TextBox 43"/>
          <p:cNvSpPr txBox="1"/>
          <p:nvPr/>
        </p:nvSpPr>
        <p:spPr>
          <a:xfrm>
            <a:off x="1645920" y="4846320"/>
            <a:ext cx="9784080" cy="457200"/>
          </a:xfrm>
          <a:prstGeom prst="rect">
            <a:avLst/>
          </a:prstGeom>
          <a:noFill/>
        </p:spPr>
        <p:txBody>
          <a:bodyPr wrap="square" lIns="0" rIns="0" tIns="0" bIns="0" anchor="t">
            <a:spAutoFit/>
          </a:bodyPr>
          <a:lstStyle/>
          <a:p>
            <a:pPr algn="l">
              <a:spcAft>
                <a:spcPts val="400"/>
              </a:spcAft>
            </a:pPr>
            <a:r>
              <a:rPr sz="1700" b="1" i="0">
                <a:solidFill>
                  <a:srgbClr val="0F172A"/>
                </a:solidFill>
              </a:rPr>
              <a:t>Web application</a:t>
            </a:r>
          </a:p>
        </p:txBody>
      </p:sp>
      <p:sp>
        <p:nvSpPr>
          <p:cNvPr id="45" name="TextBox 44"/>
          <p:cNvSpPr txBox="1"/>
          <p:nvPr/>
        </p:nvSpPr>
        <p:spPr>
          <a:xfrm>
            <a:off x="1645920" y="5303520"/>
            <a:ext cx="9784080" cy="685800"/>
          </a:xfrm>
          <a:prstGeom prst="rect">
            <a:avLst/>
          </a:prstGeom>
          <a:noFill/>
        </p:spPr>
        <p:txBody>
          <a:bodyPr wrap="square" lIns="0" rIns="0" tIns="0" bIns="0" anchor="t">
            <a:spAutoFit/>
          </a:bodyPr>
          <a:lstStyle/>
          <a:p>
            <a:pPr algn="l">
              <a:spcAft>
                <a:spcPts val="400"/>
              </a:spcAft>
            </a:pPr>
            <a:r>
              <a:rPr sz="1500" b="0" i="0">
                <a:solidFill>
                  <a:srgbClr val="475569"/>
                </a:solidFill>
              </a:rPr>
              <a:t>Flask JSON API (validation, prediction, what-if, forecast) behind a React interface with a sample login, dashboard, explainability, forecast and performance screens.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High-level proposed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pic>
        <p:nvPicPr>
          <p:cNvPr id="26" name="Picture 25" descr="01_system_architecture.png"/>
          <p:cNvPicPr>
            <a:picLocks noChangeAspect="1"/>
          </p:cNvPicPr>
          <p:nvPr/>
        </p:nvPicPr>
        <p:blipFill>
          <a:blip r:embed="rId1"/>
          <a:stretch>
            <a:fillRect/>
          </a:stretch>
        </p:blipFill>
        <p:spPr>
          <a:xfrm>
            <a:off x="1124829" y="1188720"/>
            <a:ext cx="6254261" cy="5029200"/>
          </a:xfrm>
          <a:prstGeom prst="rect">
            <a:avLst/>
          </a:prstGeom>
        </p:spPr>
      </p:pic>
      <p:sp>
        <p:nvSpPr>
          <p:cNvPr id="27" name="TextBox 26"/>
          <p:cNvSpPr txBox="1"/>
          <p:nvPr/>
        </p:nvSpPr>
        <p:spPr>
          <a:xfrm>
            <a:off x="8229600" y="1371600"/>
            <a:ext cx="3474720" cy="4754880"/>
          </a:xfrm>
          <a:prstGeom prst="rect">
            <a:avLst/>
          </a:prstGeom>
          <a:noFill/>
        </p:spPr>
        <p:txBody>
          <a:bodyPr wrap="square" lIns="0" rIns="0" tIns="0" bIns="0" anchor="t">
            <a:spAutoFit/>
          </a:bodyPr>
          <a:lstStyle/>
          <a:p>
            <a:pPr algn="l">
              <a:spcAft>
                <a:spcPts val="800"/>
              </a:spcAft>
            </a:pPr>
            <a:r>
              <a:rPr sz="1600" b="1" i="0">
                <a:solidFill>
                  <a:srgbClr val="0F172A"/>
                </a:solidFill>
              </a:rPr>
              <a:t>Four tiers</a:t>
            </a:r>
          </a:p>
          <a:p>
            <a:pPr algn="l" marL="256032" indent="-201168">
              <a:spcAft>
                <a:spcPts val="900"/>
              </a:spcAft>
              <a:buChar char="•"/>
            </a:pPr>
            <a:r>
              <a:rPr sz="1600" b="0" i="0">
                <a:solidFill>
                  <a:srgbClr val="0F172A"/>
                </a:solidFill>
              </a:rPr>
              <a:t>Presentation: React single-page app.</a:t>
            </a:r>
          </a:p>
          <a:p>
            <a:pPr algn="l" marL="256032" indent="-201168">
              <a:spcAft>
                <a:spcPts val="900"/>
              </a:spcAft>
              <a:buChar char="•"/>
            </a:pPr>
            <a:r>
              <a:rPr sz="1600" b="0" i="0">
                <a:solidFill>
                  <a:srgbClr val="0F172A"/>
                </a:solidFill>
              </a:rPr>
              <a:t>Application: Flask routes, JSON API and input validation.</a:t>
            </a:r>
          </a:p>
          <a:p>
            <a:pPr algn="l" marL="256032" indent="-201168">
              <a:spcAft>
                <a:spcPts val="900"/>
              </a:spcAft>
              <a:buChar char="•"/>
            </a:pPr>
            <a:r>
              <a:rPr sz="1600" b="0" i="0">
                <a:solidFill>
                  <a:srgbClr val="0F172A"/>
                </a:solidFill>
              </a:rPr>
              <a:t>Model and service tier: predictor, SHAP, what-if, forecast.</a:t>
            </a:r>
          </a:p>
          <a:p>
            <a:pPr algn="l" marL="256032" indent="-201168">
              <a:spcAft>
                <a:spcPts val="900"/>
              </a:spcAft>
              <a:buChar char="•"/>
            </a:pPr>
            <a:r>
              <a:rPr sz="1600" b="0" i="0">
                <a:solidFill>
                  <a:srgbClr val="0F172A"/>
                </a:solidFill>
              </a:rPr>
              <a:t>Data: model files, JSON artifacts and the UCI Adult data.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Expected outcomes and contributions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
        <p:nvSpPr>
          <p:cNvPr id="26" name="Rounded Rectangle 25"/>
          <p:cNvSpPr/>
          <p:nvPr/>
        </p:nvSpPr>
        <p:spPr>
          <a:xfrm>
            <a:off x="548640"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Working classifier</a:t>
            </a:r>
          </a:p>
        </p:txBody>
      </p:sp>
      <p:sp>
        <p:nvSpPr>
          <p:cNvPr id="29" name="TextBox 28"/>
          <p:cNvSpPr txBox="1"/>
          <p:nvPr/>
        </p:nvSpPr>
        <p:spPr>
          <a:xfrm>
            <a:off x="749808" y="224028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A trained model selected from four candidates on a held-out test split.</a:t>
            </a:r>
          </a:p>
        </p:txBody>
      </p:sp>
      <p:sp>
        <p:nvSpPr>
          <p:cNvPr id="30" name="Rounded Rectangle 29"/>
          <p:cNvSpPr/>
          <p:nvPr/>
        </p:nvSpPr>
        <p:spPr>
          <a:xfrm>
            <a:off x="4334255"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Visible reasoning</a:t>
            </a:r>
          </a:p>
        </p:txBody>
      </p:sp>
      <p:sp>
        <p:nvSpPr>
          <p:cNvPr id="33" name="TextBox 32"/>
          <p:cNvSpPr txBox="1"/>
          <p:nvPr/>
        </p:nvSpPr>
        <p:spPr>
          <a:xfrm>
            <a:off x="4535423" y="224028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SHAP drivers and plain-language insights for every assessment.</a:t>
            </a:r>
          </a:p>
        </p:txBody>
      </p:sp>
      <p:sp>
        <p:nvSpPr>
          <p:cNvPr id="34" name="Rounded Rectangle 33"/>
          <p:cNvSpPr/>
          <p:nvPr/>
        </p:nvSpPr>
        <p:spPr>
          <a:xfrm>
            <a:off x="8119871" y="137160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Honest evaluation</a:t>
            </a:r>
          </a:p>
        </p:txBody>
      </p:sp>
      <p:sp>
        <p:nvSpPr>
          <p:cNvPr id="37" name="TextBox 36"/>
          <p:cNvSpPr txBox="1"/>
          <p:nvPr/>
        </p:nvSpPr>
        <p:spPr>
          <a:xfrm>
            <a:off x="8321040" y="224028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Metrics stated with their protocol, including limits and weak points.</a:t>
            </a:r>
          </a:p>
        </p:txBody>
      </p:sp>
      <p:sp>
        <p:nvSpPr>
          <p:cNvPr id="38" name="Rounded Rectangle 37"/>
          <p:cNvSpPr/>
          <p:nvPr/>
        </p:nvSpPr>
        <p:spPr>
          <a:xfrm>
            <a:off x="548640"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749808" y="402336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1389888"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Usable system</a:t>
            </a:r>
          </a:p>
        </p:txBody>
      </p:sp>
      <p:sp>
        <p:nvSpPr>
          <p:cNvPr id="41" name="TextBox 40"/>
          <p:cNvSpPr txBox="1"/>
          <p:nvPr/>
        </p:nvSpPr>
        <p:spPr>
          <a:xfrm>
            <a:off x="749808" y="470916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Web application with validated input, dashboard and what-if screen.</a:t>
            </a:r>
          </a:p>
        </p:txBody>
      </p:sp>
      <p:sp>
        <p:nvSpPr>
          <p:cNvPr id="42" name="Rounded Rectangle 41"/>
          <p:cNvSpPr/>
          <p:nvPr/>
        </p:nvSpPr>
        <p:spPr>
          <a:xfrm>
            <a:off x="4334255"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4535423" y="4023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5</a:t>
            </a:r>
          </a:p>
        </p:txBody>
      </p:sp>
      <p:sp>
        <p:nvSpPr>
          <p:cNvPr id="44" name="TextBox 43"/>
          <p:cNvSpPr txBox="1"/>
          <p:nvPr/>
        </p:nvSpPr>
        <p:spPr>
          <a:xfrm>
            <a:off x="5175503"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Economic context</a:t>
            </a:r>
          </a:p>
        </p:txBody>
      </p:sp>
      <p:sp>
        <p:nvSpPr>
          <p:cNvPr id="45" name="TextBox 44"/>
          <p:cNvSpPr txBox="1"/>
          <p:nvPr/>
        </p:nvSpPr>
        <p:spPr>
          <a:xfrm>
            <a:off x="4535423" y="470916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A 12-month forecast with an interval, labelled with its data source.</a:t>
            </a:r>
          </a:p>
        </p:txBody>
      </p:sp>
      <p:sp>
        <p:nvSpPr>
          <p:cNvPr id="46" name="Rounded Rectangle 45"/>
          <p:cNvSpPr/>
          <p:nvPr/>
        </p:nvSpPr>
        <p:spPr>
          <a:xfrm>
            <a:off x="8119871" y="3840480"/>
            <a:ext cx="3520440" cy="2286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8321040" y="402336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6</a:t>
            </a:r>
          </a:p>
        </p:txBody>
      </p:sp>
      <p:sp>
        <p:nvSpPr>
          <p:cNvPr id="48" name="TextBox 47"/>
          <p:cNvSpPr txBox="1"/>
          <p:nvPr/>
        </p:nvSpPr>
        <p:spPr>
          <a:xfrm>
            <a:off x="8961119" y="399592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Quality</a:t>
            </a:r>
          </a:p>
        </p:txBody>
      </p:sp>
      <p:sp>
        <p:nvSpPr>
          <p:cNvPr id="49" name="TextBox 48"/>
          <p:cNvSpPr txBox="1"/>
          <p:nvPr/>
        </p:nvSpPr>
        <p:spPr>
          <a:xfrm>
            <a:off x="8321040" y="4709160"/>
            <a:ext cx="3118104" cy="1280160"/>
          </a:xfrm>
          <a:prstGeom prst="rect">
            <a:avLst/>
          </a:prstGeom>
          <a:noFill/>
        </p:spPr>
        <p:txBody>
          <a:bodyPr wrap="square" lIns="0" rIns="0" tIns="0" bIns="0" anchor="t">
            <a:spAutoFit/>
          </a:bodyPr>
          <a:lstStyle/>
          <a:p>
            <a:pPr algn="l">
              <a:spcAft>
                <a:spcPts val="400"/>
              </a:spcAft>
            </a:pPr>
            <a:r>
              <a:rPr sz="1600" b="0" i="0">
                <a:solidFill>
                  <a:srgbClr val="475569"/>
                </a:solidFill>
              </a:rPr>
              <a:t>Automated tests for the API, validation and feature code.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References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TextBox 25"/>
          <p:cNvSpPr txBox="1"/>
          <p:nvPr/>
        </p:nvSpPr>
        <p:spPr>
          <a:xfrm>
            <a:off x="548640" y="1188720"/>
            <a:ext cx="11091672" cy="5120640"/>
          </a:xfrm>
          <a:prstGeom prst="rect">
            <a:avLst/>
          </a:prstGeom>
          <a:noFill/>
        </p:spPr>
        <p:txBody>
          <a:bodyPr wrap="square" lIns="0" rIns="0" tIns="0" bIns="0" anchor="t">
            <a:spAutoFit/>
          </a:bodyPr>
          <a:lstStyle/>
          <a:p>
            <a:pPr algn="l">
              <a:spcAft>
                <a:spcPts val="500"/>
              </a:spcAft>
            </a:pPr>
            <a:r>
              <a:rPr sz="1300" b="0" i="0">
                <a:solidFill>
                  <a:srgbClr val="0F172A"/>
                </a:solidFill>
              </a:rPr>
              <a:t>[1] Y. Kim and E. J. Sun, "An explainable machine learning framework for organizational financial distress detection: Evidence from Korean hospital panel data," IEEE Access, vol. 14, pp. 100337-100350, 2026, doi: 10.1109/ACCESS.2026.3709346.</a:t>
            </a:r>
          </a:p>
          <a:p>
            <a:pPr algn="l">
              <a:spcAft>
                <a:spcPts val="500"/>
              </a:spcAft>
            </a:pPr>
            <a:r>
              <a:rPr sz="1300" b="0" i="0">
                <a:solidFill>
                  <a:srgbClr val="0F172A"/>
                </a:solidFill>
              </a:rPr>
              <a:t>[2] A. Abid, "Forecasting sovereign credit risk amidst a political crisis: A machine learning and deep learning approach," J. Risk Financial Manag., vol. 18, no. 6, Art. no. 300, Jun. 2025, doi: 10.3390/jrfm18060300.</a:t>
            </a:r>
          </a:p>
          <a:p>
            <a:pPr algn="l">
              <a:spcAft>
                <a:spcPts val="500"/>
              </a:spcAft>
            </a:pPr>
            <a:r>
              <a:rPr sz="1300" b="0" i="0">
                <a:solidFill>
                  <a:srgbClr val="0F172A"/>
                </a:solidFill>
              </a:rPr>
              <a:t>[3] A. Maurino, "How data quality affects machine learning models for credit risk assessment," in Proc. Workshop AI Data Sci. Digit. Finance, held with ACM Int. Conf. AI Finance (ICAIF), Singapore, 2025.</a:t>
            </a:r>
          </a:p>
          <a:p>
            <a:pPr algn="l">
              <a:spcAft>
                <a:spcPts val="500"/>
              </a:spcAft>
            </a:pPr>
            <a:r>
              <a:rPr sz="1300" b="0" i="0">
                <a:solidFill>
                  <a:srgbClr val="0F172A"/>
                </a:solidFill>
              </a:rPr>
              <a:t>[4] H. Zhang, J. Xu, J. He, and X. Fang, "Privacy-preserving credit risk prediction with alternative data," arXiv:2606.10333, Jun. 2026.</a:t>
            </a:r>
          </a:p>
          <a:p>
            <a:pPr algn="l">
              <a:spcAft>
                <a:spcPts val="500"/>
              </a:spcAft>
            </a:pPr>
            <a:r>
              <a:rPr sz="1300" b="0" i="0">
                <a:solidFill>
                  <a:srgbClr val="0F172A"/>
                </a:solidFill>
              </a:rPr>
              <a:t>[9] T. Chen and C. Guestrin, "XGBoost: A scalable tree boosting system," in Proc. 22nd ACM SIGKDD Int. Conf. Knowl. Discovery Data Mining, Aug. 2016, pp. 785-794.</a:t>
            </a:r>
          </a:p>
          <a:p>
            <a:pPr algn="l">
              <a:spcAft>
                <a:spcPts val="500"/>
              </a:spcAft>
            </a:pPr>
            <a:r>
              <a:rPr sz="1300" b="0" i="0">
                <a:solidFill>
                  <a:srgbClr val="0F172A"/>
                </a:solidFill>
              </a:rPr>
              <a:t>[14] S. M. Lundberg and S.-I. Lee, "A unified approach to interpreting model predictions," in Proc. Adv. Neural Inf. Process. Syst., vol. 30, 2017, pp. 4765-4774.</a:t>
            </a:r>
          </a:p>
          <a:p>
            <a:pPr algn="l">
              <a:spcAft>
                <a:spcPts val="500"/>
              </a:spcAft>
            </a:pPr>
            <a:r>
              <a:rPr sz="1300" b="0" i="0">
                <a:solidFill>
                  <a:srgbClr val="0F172A"/>
                </a:solidFill>
              </a:rPr>
              <a:t>[15] S. M. Lundberg et al., "From local explanations to global understanding with explainable AI for trees," Nature Mach. Intell., vol. 2, no. 1, pp. 56-67, Jan. 2020.</a:t>
            </a:r>
          </a:p>
          <a:p>
            <a:pPr algn="l">
              <a:spcAft>
                <a:spcPts val="500"/>
              </a:spcAft>
            </a:pPr>
            <a:r>
              <a:rPr sz="1300" b="0" i="0">
                <a:solidFill>
                  <a:srgbClr val="0F172A"/>
                </a:solidFill>
              </a:rPr>
              <a:t>[32] UCI Machine Learning Repository, "Adult (Census Income) data set." [Online]. Available: https://archive.ics.uci.edu/dataset/20/census+income</a:t>
            </a:r>
          </a:p>
          <a:p>
            <a:pPr algn="l">
              <a:spcAft>
                <a:spcPts val="500"/>
              </a:spcAft>
            </a:pPr>
            <a:r>
              <a:rPr sz="1300" b="0" i="0">
                <a:solidFill>
                  <a:srgbClr val="0F172A"/>
                </a:solidFill>
              </a:rPr>
              <a:t>[33] P. R. Winters, "Forecasting sales by exponentially weighted moving averages," Manage. Sci., vol. 6, no. 3, pp. 324-342, Apr. 1960.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FinSightAI">
  <a:themeElements>
    <a:clrScheme name="FinSightAI">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FinSight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FinSightA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Financial Identification Based On Demography and Financial Forecasting: Review 1</dc:title>
  <dc:subject>Batch C9 (CSE-C)</dc:subject>
  <dc:creator>MOHD AHMED, MANNE UPENDER, PADALA RAJESH, MADAGOUNI HARSHAVARDHAN GOUD</dc:creator>
  <cp:lastModifiedBy/>
  <cp:revision>1</cp:revision>
  <dcterms:created xsi:type="dcterms:W3CDTF">2026-10-13T12:36:40Z</dcterms:created>
  <dcterms:modified xsi:type="dcterms:W3CDTF">2026-10-13T12:36:40Z</dcterms:modified>
  <cp:keywords>financial identification, demographic analytics, economic forecasting, XGBoost, SHAP</cp:keywords>
  <dc:description/>
  <cp:category/>
</cp:coreProperties>
</file>