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Test split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Sheet1!$A$2:$A$3</c:f>
              <c:strCache>
                <c:ptCount val="2"/>
                <c:pt idx="0">
                  <c:v>&lt;=50K</c:v>
                </c:pt>
                <c:pt idx="1">
                  <c:v>&gt;50K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7431</c:v>
                </c:pt>
                <c:pt idx="1">
                  <c:v>2338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Sheet1!$A$2:$A$5</c:f>
              <c:strCache>
                <c:ptCount val="4"/>
                <c:pt idx="0">
                  <c:v>Logistic Regression</c:v>
                </c:pt>
                <c:pt idx="1">
                  <c:v>Random Forest</c:v>
                </c:pt>
                <c:pt idx="2">
                  <c:v>Gradient Boosting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0.914</c:v>
                </c:pt>
                <c:pt idx="1">
                  <c:v>0.91</c:v>
                </c:pt>
                <c:pt idx="2">
                  <c:v>0.9247</c:v>
                </c:pt>
                <c:pt idx="3">
                  <c:v>0.9319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Sheet1!$A$2:$A$5</c:f>
              <c:strCache>
                <c:ptCount val="4"/>
                <c:pt idx="0">
                  <c:v>Logistic Regression</c:v>
                </c:pt>
                <c:pt idx="1">
                  <c:v>Random Forest</c:v>
                </c:pt>
                <c:pt idx="2">
                  <c:v>Gradient Boosting</c:v>
                </c:pt>
                <c:pt idx="3">
                  <c:v>XGBoost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0.676</c:v>
                </c:pt>
                <c:pt idx="1">
                  <c:v>0.6849</c:v>
                </c:pt>
                <c:pt idx="2">
                  <c:v>0.6944</c:v>
                </c:pt>
                <c:pt idx="3">
                  <c:v>0.7236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.0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review shows how the system is designed and built: the data and model, what has been implemented, the first measured results and the open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 for the design and progress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One-minute recap of Review 1: the base paper is about organisations; we apply the same framework to individuals and deliver it as a tested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tiers. The online path only loads what scripts/train.py wrote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training script is one command and writes every number to disk. Preprocessing lives in the pipelines used at prediction time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UCI Adult: one row per person, so a stratified split does not leak individuals. Income is a proxy, which is stated as a limit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derived column is computed from the raw fields only; the same function runs at training and at prediction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model families like the base paper (minus its MLP). Hyperparameters were set once, not searched; selection is by ROC-AUC. The 24 % share is noted as a mild imbalance.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whole evaluation protocol on one slide. Selection on the test AUC with no separate validation set is noted as a limitation; the CV ranking agrees.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Band cut-offs are fixed in profile_from_proba. On the test split they give Emerging 7.2 %, Developing 44.0 % and Established 85.2 % actual income-above-50K 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Level-1 data flow: six processes, one of them offline. Levels 0 and 2 are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batch brief mentions MySQL; the delivered system deliberately stores no personal data, so there is no RDBMS. Requests and responses are the entities.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open source and local; no external service is called at run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of the code base. The honest gaps are real macroeconomic data, persistence and a fairness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First measured numbers, all from artifacts/metrics.json and model_comparison.json. The final review adds confusion matrices, the threshold sweep and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screenshots from the running application with the trained model and live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suite runs offline against the real model. Latency was measured on 127.0.0.1 with 40 calls each, CPU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challenge was met by a concrete change or an explicit statement of the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Plan to the final review. The extensions at the right are out of scope for this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 why XGBoost; why a synthetic forecast; why income as the target; what about fairness.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AI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Financial Identification Based On Demography and Financial Forecasting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methodology and progress: a trained XGBoost profile classifier with SHAP explanations, a Holt-Winters forecast, a Flask API and a React interface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MOHD AHMED  23K91A05F7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MANNE UPENDER  23K91A05E6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PADALA RAJESH  23K91A05H7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MADAGOUNI HARSHAVARDHAN GOUD  23K91A05D5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Guide: B SRIKANTH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and Technology (Autonomous)  ·  Batch C9 (CSE-C)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Recap and 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62855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Methodology and dataset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48471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Preprocessing and model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Training and decision logic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5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62855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5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Data flow, data model and UML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1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48471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Implementation progress and results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5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62855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5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Output screens and testing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1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48471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Challenges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42976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Financial assessment uses few parameters and a static score; non-linear demographic effects are missed, the future is not considered and the result cannot be explained.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42976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Twelve validated inputs become engineered features; an XGBoost model gives a strength score, profile and risk band; SHAP explains it; Holt-Winters adds a 12-month outlook; a what-if screen compares scenarios.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42976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 link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Reuses the explainable-ML framework of the Korean hospital study (feature engineering, four model families, SHAP) for individuals. Group K-Fold, temporal validation and counterfactual analysis do not apply to one-row-per-person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Picture 25" descr="01_system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669" y="1188720"/>
            <a:ext cx="6254261" cy="5029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955279" y="1371600"/>
            <a:ext cx="370332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F172A"/>
                </a:solidFill>
              </a:rPr>
              <a:t>Four tiers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Presentation: React single-page app on port 5409; original Jinja pages on 8409.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Application: Flask on port 8409, routes, JSON API, validation.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Model and service tier: predictor, SHAP, what-if, forecast loader.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Data: pickled pipelines, JSON artifacts, UCI Adult CSV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end-to-end workflow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UCI Adult data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960734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61902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Clean + 12 derived features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573997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775165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Stratified 80/20 split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187260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88428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Pipeline x4 models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800523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01691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5-fold CV + test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413786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14954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Select by ROC-AUC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027049" y="18699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228217" y="1371600"/>
            <a:ext cx="1412094" cy="12344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SHAP + forecast + JSON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017520"/>
            <a:ext cx="3520440" cy="29260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</a:rPr>
              <a:t>Leakage-safe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370332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Imputation, one-hot encoding and scaling sit inside each scikit-learn Pipeline, so they are fitted on training folds only.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34255" y="3017520"/>
            <a:ext cx="3520440" cy="29260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62855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</a:rPr>
              <a:t>Stratified, one row per person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5" y="370332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A stratified 80/20 split and 5-fold CV preserve the 24 % positive share; no entity-grouped or temporal split applies to this data.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19871" y="3017520"/>
            <a:ext cx="3520440" cy="29260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348471" y="3154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</a:rPr>
              <a:t>Reproducible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1" y="370332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Seed 42 everywhere; train.py writes metrics, validation, SHAP, forecast and plots to JSON/PNG, re-derived by report_metrics.py.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48,842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records, UCI Adult / Census Income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8328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8444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raw columns (14 inputs + income)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39,073 / 9,769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stratified train / test split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52560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5372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23.9%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earn more than 50K (positive class)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548640" y="2697480"/>
          <a:ext cx="5760720" cy="356616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6583680" y="2743200"/>
            <a:ext cx="50292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Public data (UCI, Kohavi 1996), 32,561 + 16,281 rows; target income above 50K is used as a financial-profile signal, not a credit label.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Missing values marked '?': workclass 2,799, occupation 2,809, native-country 857.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0F172A"/>
                </a:solidFill>
              </a:rPr>
              <a:t>The data are 1994 US census records and have no time dimension, so forecasting uses a separate, documented synthetic index.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and feature engineering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035454" cy="86868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'?' to missing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597810" y="16413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812694" y="1325880"/>
            <a:ext cx="2035454" cy="86868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Median / 'Unknown' impute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861864" y="16413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76748" y="1325880"/>
            <a:ext cx="2035454" cy="8686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12 derived features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125919" y="16413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40803" y="1325880"/>
            <a:ext cx="2035454" cy="86868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One-hot encode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389973" y="16413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04857" y="1325880"/>
            <a:ext cx="2035454" cy="86868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Scale (LR only)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548640" y="2468880"/>
          <a:ext cx="8229600" cy="3520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57600"/>
                <a:gridCol w="457200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Derived feature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net-capital, capital-intensity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gains minus losses; gains plus losses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log-capital-gain / -loss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log(1 + value), for the linear 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hours-band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Part-time &lt;30, Full-time 30-40, Extended 41-60, Very-long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age-band, education-tier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5 age bands; Secondary, Higher-secondary, Tertiary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region, employment-stability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from native country; from workclass and hours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has-capital-gain / -loss, capital-position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</a:rPr>
                        <a:t>flags; Net-loss, No-capital, Moderate-gain, High-gain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36" name="Rounded Rectangle 35"/>
          <p:cNvSpPr/>
          <p:nvPr/>
        </p:nvSpPr>
        <p:spPr>
          <a:xfrm>
            <a:off x="9006840" y="2468880"/>
            <a:ext cx="2633472" cy="35204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9208008" y="26517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48088" y="2624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</a:rPr>
              <a:t>Feature set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08008" y="3337560"/>
            <a:ext cx="2231136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</a:rPr>
              <a:t>10 numeric and 16 categorical features feed the ColumnTransformer. The census weight fnlwgt has no meaning for a new user and is imputed with the training median.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compared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5669280"/>
                <a:gridCol w="3044952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Configuration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Logistic Regression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C = 1.0, max_iter 2000, standardised numerics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Interpretable linear baseline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Random Forest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300 trees, unlimited depth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Bagged-tree comparator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Gradient Boosting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scikit-learn defaults, random_state 42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Boosted-tree comparator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XGBoost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400 trees, depth 6, learning rate 0.05, subsample 0.9, colsample 0.9, lambda 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Selected: best ROC-AUC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48640" y="4754880"/>
            <a:ext cx="3520440" cy="12801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48640" y="4754880"/>
            <a:ext cx="73152" cy="12801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9808" y="4846320"/>
            <a:ext cx="3246120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No tuning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497372"/>
            <a:ext cx="3246120" cy="486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hyperparameters fixed in advance, as in the base paper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42816" y="4754880"/>
            <a:ext cx="3520440" cy="12801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4242816" y="4754880"/>
            <a:ext cx="73152" cy="12801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443983" y="4846320"/>
            <a:ext cx="3246120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No rebalancing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3983" y="5497372"/>
            <a:ext cx="3246120" cy="486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24 % positive class kept as is; threshold analysis instead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36992" y="4754880"/>
            <a:ext cx="3703320" cy="12801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936992" y="4754880"/>
            <a:ext cx="73152" cy="12801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138160" y="4846320"/>
            <a:ext cx="3429000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</a:rPr>
              <a:t>Tree models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5497372"/>
            <a:ext cx="3429000" cy="486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chosen for non-linearity and exact TreeSHAP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and evaluation configuration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6085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8165592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Split / seed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stratified 80/20 on the target, random_state 42: train 39,073, test 9,769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Cross-validation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5-fold stratified, shuffled, scored by ROC-AUC on the training split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Primary metric / threshold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ROC-AUC for selection; accuracy, precision, recall, F1 at probability 0.5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SHAP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TreeExplainer (tree_path_dependent) on a 500-row sample for global importance; live per request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Forecast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Holt-Winters, additive trend and seasonality (12), 12-month horizon, 95% band from residual sd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</a:rPr>
                        <a:t>Hardware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Intel Core i5-12500 (12th Gen), 15.7 GB RAM, CPU only; Python 3.11.9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Picture 25" descr="10_core_algorithm_flow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202" y="1188720"/>
            <a:ext cx="4793194" cy="50749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60720" y="1371600"/>
            <a:ext cx="58521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Validate first.</a:t>
            </a:r>
            <a:r>
              <a:rPr sz="1500" b="0" i="0">
                <a:solidFill>
                  <a:srgbClr val="0F172A"/>
                </a:solidFill>
              </a:rPr>
              <a:t> All 12 fields present, in the allowed set and range; otherwise HTTP 400 with messages and no model call.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Score.</a:t>
            </a:r>
            <a:r>
              <a:rPr sz="1500" b="0" i="0">
                <a:solidFill>
                  <a:srgbClr val="0F172A"/>
                </a:solidFill>
              </a:rPr>
              <a:t> p = P(income &gt; 50K) from the Pipeline, shown as the financial-strength score.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1" i="0">
                <a:solidFill>
                  <a:srgbClr val="0F172A"/>
                </a:solidFill>
              </a:rPr>
              <a:t>Explain.</a:t>
            </a:r>
            <a:r>
              <a:rPr sz="1500" b="0" i="0">
                <a:solidFill>
                  <a:srgbClr val="0F172A"/>
                </a:solidFill>
              </a:rPr>
              <a:t> Live SHAP: top five strengthening and weakening factors, in plain language.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760720" y="4251960"/>
          <a:ext cx="585216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182880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Score 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Profile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Risk band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p &gt;= 0.60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</a:rPr>
                        <a:t>Established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</a:rPr>
                        <a:t>Low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0.35 &lt;= p &lt; 0.60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</a:rPr>
                        <a:t>Developing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</a:rPr>
                        <a:t>Moderate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p &lt; 0.35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</a:rPr>
                        <a:t>High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Picture 25" descr="04_dfd_level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3265" y="1188720"/>
            <a:ext cx="5174428" cy="5074920"/>
          </a:xfrm>
          <a:prstGeom prst="rect">
            <a:avLst/>
          </a:prstGeom>
        </p:spPr>
      </p:pic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406640" y="1371600"/>
          <a:ext cx="4233672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23160"/>
                <a:gridCol w="181051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app/routes.py, api.py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pages and JSON routes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app/utils/validation.py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input checks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app/services/predictor.py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predict, SHAP, insights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app/services/whatif.py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baseline vs scenario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scripts/feature_engineering.py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cleaning, features, encoder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scripts/train.py, forecast.py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offline training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frontend/src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</a:rPr>
                        <a:t>React screens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and UML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Picture 25" descr="09_er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75648"/>
            <a:ext cx="5486400" cy="4306702"/>
          </a:xfrm>
          <a:prstGeom prst="rect">
            <a:avLst/>
          </a:prstGeom>
        </p:spPr>
      </p:pic>
      <p:pic>
        <p:nvPicPr>
          <p:cNvPr id="27" name="Picture 26" descr="06_uml_class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234440"/>
            <a:ext cx="4389120" cy="43891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57150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No relational database: trained pipelines are .pkl files, evaluation output is JSON, the what-if baseline is kept in browser session storage and nothing about a person is stored. The UML draws modules as classes because the code is function-oriented.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480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8714232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Data and ML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pandas, NumPy, scikit-learn 1.9.1, XGBoost 3.2.0, statsmodels 0.15.0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Explainability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SHAP 0.51.0 (TreeExplainer), matplotlib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API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Flask 3.1.3 (JSON API and original Jinja pages), joblib model loading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Front end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React 19, Vite, React Router, Recharts, Framer Motion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Testing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pytest, Flask test client, scripts/smoke_test.py, Playwright screen capture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F172A"/>
                          </a:solidFill>
                        </a:rPr>
                        <a:t>Run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</a:rPr>
                        <a:t>run.bat creates the venv, trains if needed, builds the front end; API 8409, front end 5409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7548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480560"/>
                <a:gridCol w="2194560"/>
                <a:gridCol w="4416552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Cleaning, 12 derived features, encoders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scripts/feature_engineering.py, 2 tests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Four-model training, CV, selection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scripts/train.py, artifacts/*.json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SHAP global and live local explanations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predictor.py, shap_global.json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Holt-Winters 12-month forecast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 (synthetic data)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forecast.json, 12 points + 95% band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Flask API (16 routes), validation, what-if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7 API/page tests, smoke test 35/35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React interface (11 pages), sample login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19 real screenshots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Real macro indicators, database, fairness audit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Not implemented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listed as future 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results: held-out test split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87.8%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accuracy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8328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8444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0.932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ROC-AUC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0.724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F1 (threshold 0.5)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52560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5372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0F172A"/>
                </a:solidFill>
              </a:rPr>
              <a:t>0.929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5-fold CV AUC (sd 0.0011)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548640" y="2651760"/>
          <a:ext cx="6949440" cy="361188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3" name="Rounded Rectangle 42"/>
          <p:cNvSpPr/>
          <p:nvPr/>
        </p:nvSpPr>
        <p:spPr>
          <a:xfrm>
            <a:off x="7772400" y="2697480"/>
            <a:ext cx="3867912" cy="3429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7973568" y="28803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13648" y="2852928"/>
            <a:ext cx="286207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Reading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73568" y="3566160"/>
            <a:ext cx="3465576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XGBoost leads on every headline metric. n = 9,769 test records; at 0.5 recall is 66.6% and precision 79.2%. Protocol and caveats (income is not credit, test-set selection) are on the next slides.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Picture 25" descr="04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143571"/>
            <a:ext cx="3611880" cy="2257425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548640" y="3438144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Dashboard</a:t>
            </a:r>
          </a:p>
        </p:txBody>
      </p:sp>
      <p:pic>
        <p:nvPicPr>
          <p:cNvPr id="28" name="Picture 27" descr="05_assessm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8536" y="1143571"/>
            <a:ext cx="3611880" cy="2257425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4288536" y="3438144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Assessment form</a:t>
            </a:r>
          </a:p>
        </p:txBody>
      </p:sp>
      <p:pic>
        <p:nvPicPr>
          <p:cNvPr id="30" name="Picture 29" descr="14_result-establish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431" y="1143571"/>
            <a:ext cx="3611880" cy="2257425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8028431" y="3438144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Result with SHAP drivers</a:t>
            </a:r>
          </a:p>
        </p:txBody>
      </p:sp>
      <p:pic>
        <p:nvPicPr>
          <p:cNvPr id="32" name="Picture 31" descr="07_explainabil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39" y="3767899"/>
            <a:ext cx="3611880" cy="2257425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548640" y="6062472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Explainability</a:t>
            </a:r>
          </a:p>
        </p:txBody>
      </p:sp>
      <p:pic>
        <p:nvPicPr>
          <p:cNvPr id="34" name="Picture 33" descr="08_foreca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8536" y="3767899"/>
            <a:ext cx="3611880" cy="2257425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5" name="TextBox 34"/>
          <p:cNvSpPr txBox="1"/>
          <p:nvPr/>
        </p:nvSpPr>
        <p:spPr>
          <a:xfrm>
            <a:off x="4288536" y="6062472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12-month forecast</a:t>
            </a:r>
          </a:p>
        </p:txBody>
      </p:sp>
      <p:pic>
        <p:nvPicPr>
          <p:cNvPr id="36" name="Picture 35" descr="09_whati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8431" y="3767899"/>
            <a:ext cx="3611880" cy="2257425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7" name="TextBox 36"/>
          <p:cNvSpPr txBox="1"/>
          <p:nvPr/>
        </p:nvSpPr>
        <p:spPr>
          <a:xfrm>
            <a:off x="8028431" y="6062472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1">
                <a:solidFill>
                  <a:srgbClr val="475569"/>
                </a:solidFill>
              </a:rPr>
              <a:t>What-if comparison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testing and observations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132588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pytest tests passed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383280" y="1325880"/>
            <a:ext cx="73152" cy="1143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8444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35/35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live smoke-test checks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1908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69 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median POST /api/predict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325880"/>
            <a:ext cx="2651760" cy="1143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052560" y="1325880"/>
            <a:ext cx="73152" cy="11430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253728" y="1417320"/>
            <a:ext cx="237744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</a:rPr>
              <a:t>136 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1988819"/>
            <a:ext cx="2377440" cy="434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median POST /api/whatif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548640" y="2834640"/>
          <a:ext cx="11091672" cy="31089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971032"/>
              </a:tblGrid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Observation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Saved pipelines were written by an older scikit-learn / XGBoost and warn on load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Metrics were re-derived from the loaded models and match exactly; versions are documented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Invalid input (age 7, -5) reaches the API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Server-side validation returns HTTP 400 with a message; the form shows it (screen 13)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Large what-if changes move the score by about 98 points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Result is labelled a model simulation, not a causal prediction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4389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971032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Corrective action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Census data has no time dimension, so it cannot forecast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Separate monthly index, documented as synthetic, modelled with Holt-Winters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Income is a proxy, not creditworthiness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Profile and risk band wording; limit stated on every analysis screen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Positive class is 23.9%; recall 66.6% at 0.5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Threshold analysis shows the precision-recall trade-off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Sex, race and marital status are inputs and influential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Disclosed as a fairness limitation; audit listed as future 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Docker files cover only the Flask pages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</a:rPr>
                        <a:t>Documented; run.bat starts both servers locally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265176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64592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33172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Confusion matrices, threshold sweep, calibration and observed rates per profile band on the test split.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1463040"/>
            <a:ext cx="265176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84448" y="164592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452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Compare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233172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Set the results against the base paper, stating where data and protocol differ.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463040"/>
            <a:ext cx="265176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419088" y="164592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Document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233172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Final report, paper and deck with every figure regenerated from JSON.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463040"/>
            <a:ext cx="2651760" cy="4023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253728" y="164592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93808" y="1618488"/>
            <a:ext cx="164591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Extend (future)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2331720"/>
            <a:ext cx="2249424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475569"/>
                </a:solidFill>
              </a:rPr>
              <a:t>Real macro indicators, fairness audit, persistence, tuning and external validation.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SightAI">
  <a:themeElements>
    <a:clrScheme name="FinSightAI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FinSight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FinSightA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Financial Identification Based On Demography and Financial Forecasting: Review 2</dc:title>
  <dc:subject>Batch C9 (CSE-C)</dc:subject>
  <dc:creator>MOHD AHMED, MANNE UPENDER, PADALA RAJESH, MADAGOUNI HARSHAVARDHAN GOUD</dc:creator>
  <cp:lastModifiedBy/>
  <cp:revision>1</cp:revision>
  <dcterms:created xsi:type="dcterms:W3CDTF">2026-10-13T12:40:05Z</dcterms:created>
  <dcterms:modified xsi:type="dcterms:W3CDTF">2026-10-13T12:40:05Z</dcterms:modified>
  <cp:keywords>financial identification, demographic analytics, economic forecasting, XGBoost, SHAP</cp:keywords>
  <dc:description/>
  <cp:category/>
</cp:coreProperties>
</file>