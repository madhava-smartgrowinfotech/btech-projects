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split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</c:f>
              <c:strCache>
                <c:ptCount val="2"/>
                <c:pt idx="0">
                  <c:v>&lt;=50K</c:v>
                </c:pt>
                <c:pt idx="1">
                  <c:v>&gt;50K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7431</c:v>
                </c:pt>
                <c:pt idx="1">
                  <c:v>2338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FinSight AI, an explainable financial-profile and forecasting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the headline numbers with their protocol (stratified held-out split).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a framework for organisations. We keep its four stages and apply them to individuals, where validation by entity or time does not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 on explainable and ensemble credit-risk models. Results marked as summarised in the base paper come from its own related-work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Explainable machine learning for financial distress has been developed for organisations and sovereigns, while work on individuals concentrates on accuracy and uses a narrow set of financial parameters. None of the surveyed works combines individual demographic profiling, a per-person explanation, a forecast of economic conditions and a usable web interface in one reproducible system. This project fills that gap on public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identify, explain, give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states for each whether it was met in full or in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row of boxes, then the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tiers; the online path only loads artifacts written by the offline training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 and the reasons for the validation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and model families in one view. The data are 1994 US records; income above 50K is used as a financial-profile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prediction route as a decision. The right-hand table shows that the bands are meaningful: the share who actually earn above 50K rises from 7.2 % to 85.2 %.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assessment and the use cases of the user and the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brief mentions MySQL; the delivered system stores no personal data on purpose, so the data model is request, response and JSON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validation, single model load, live SHAP wording, simulation labelling, artifacts as the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Protocol: stratified 80/20 split, seed 42; CV on the training split. XGBoost leads on every headline metric. The model was selected on the test AUC; the CV ranking is the same. Right: global SHAP importance, led by marital status = Married-civ-spouse, age, years of education, investment gains and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true class, columns the prediction. The model misses 780 of 2,338 high-income people and wrongly flags 410 of 7,431 others: recall is the weak side at the default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Lowering the threshold to 0.35 lifts recall to 78.1 % and F1 to 0.733 at the cost of precision (69.0 %). The application uses the 0.35 and 0.60 cut-offs for the profile bands, not a yes/no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measured on 127.0.0.1 with 40 calls each on Intel Core i5-12500 (12th Gen), CPU only. The forecast back-test only shows that the method recovers its own synthetic generator; it says nothing about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datasets and protocols differ. Where results are comparable in kind: XGBoost beats the linear baseline in both studies, by about 0.07 AUC in the base paper and 0.02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the validated assessment form. Right: the result with the profile, risk band, strength score and the SHAP factors that strengthen or weaken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global SHAP. Right: baseline versus scenario; the large jump is a model simulation, not a causal prediction, and extrapolates from sparse high-gain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forecast screen is labelled as an illustrative series. Back-test on its own generator: MAE 1.43, MAPE 1.00 %.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of six objectives were met in full or in part; none is claimed beyond what the data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 numbered as in the report; the complete list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Financial Identification Based On Demography and Financial Forecasting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23K91A05F7   Mohd Ahmed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23K91A05E6   Manne Upender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23K91A05H7   Padala Rajesh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23K91A05D5   Madagouni Harshavardhan Goud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Srikanth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Threshold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Financial assessment relies on narrow parameters and static scores: non-linear demographic effects are missed, the future is ignored and results cannot be explained.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FinSight AI turns 12 demographic and financial inputs into a profile (Emerging, Developing, Established), a risk band and a strength score, explains it with live SHAP drivers, adds a what-if comparison and a 12-month Holt-Winters outlook.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Four models were compared on 48,842 UCI Adult records inside leakage-safe pipelines; XGBoost was selected: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87.8%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accuracy,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0.932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ROC-AUC, F1 0.724 on 9,769 held-out records (CV AUC 0.929).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Served by a Flask API and a React interface; 9 automated tests and a 35-check smoke test pass; a prediction takes a median 69 ms on a CPU.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 income is a proxy, not creditworthiness; the forecast series is synthetic; sex, race and marital status are model inputs and no fairness audit was done.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Y. Kim and E. J. Sun, "An Explainable Machine Learning Framework for Organizational Financial Distress Detection: Evidence From Korean Hospital Panel Data," IEEE Access, vol. 14, pp. 100337-100350, 2026, doi: 10.1109/ACCESS.2026.3709346.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15568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Framework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stages: domain-adaptive feature engineering, multi-model training, SHAP global and local interpretation, domain-specific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165 Korean hospitals, 825 hospital-year rows (2019-2023), 236 line items reduced to 11 features; deficit target (41.2 % positive)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Group K-Fold AUC: XGBoost 0.842, Gradient Boosting 0.840, Random Forest 0.831, Logistic Regression 0.776, MLP 0.772; 2023 hold-out 0.780; Altman Z'' 0.680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SHAP: material cost ratio (0.777) and labor cost ratio (0.729) dominate; counterfactual subsidy analysis and fixed-effects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SHAP is associational; compositional ratios destabilise single attributions; ensembles cannot extrapolate; organisations, not individuals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560320"/>
                <a:gridCol w="1920240"/>
                <a:gridCol w="2834640"/>
                <a:gridCol w="210312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Kim and Sun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Four-stage explainable ML: feature engineering, LR / RF / GB / XGBoost / MLP, SHAP, domain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165 Korean hospitals, 825 hospital-year rows, 2019-2023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AUC 0.842 (hospital-level Group K-Fold); 0.780 on 2023 hold-out; Altman Z'' 0.680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Organisations, not individuals; small panel; SHAP is associational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Abid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Five ML and four deep models forecasting CDS-implied default probability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Sovereign credit data for Egypt, Morocco and Saudi Arabia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 best; RNN and GRU competitive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countries; sovereign risk, not individual profiles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Maurino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Effect of missing values, noise, outliers and label errors on 10 credit-risk models (Pucktrick library)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open-source credit-risk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Some errors can raise F1 (up to 17% for specific models); noise and mislabelling generally hurt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Binary task, one dataset; fairness not studied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Zhang et al.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PrivacyCredit: privacy-preserving credit-risk learning with alternative data (vertical federated learning)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credit data linked with alternative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performance as the insecure plaintext combination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partner data; no demographic explanation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Barboza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Comparison of ensembles with statistical models for bankruptcy 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Listed firms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Ensembles outperform traditional statistical models (as summarised in the 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Corporate 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Grinsztajn et al. [23]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Benchmark of tree-based models against deep learning on tabular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Many tabular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Tree-based models still outperform deep models on typical tabular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General benchmark, not finance-specific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Population: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explainable ML for financial distress targets organisations and sovereigns; individual demographic profiling is far less covered.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Explanation: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accuracy is the usual headline; per-person explanations a non-expert can read are rarely part of the tool.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Future view: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models describe the present; a forecast of economic conditions is seldom combined with the profile.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Usability: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works deliver a reproducible, tested application with a validated input form.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scope: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proxy targets are often presented as credit risk; the limits should be stated.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an individual's demographic and financial details,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identify a financial profile and risk band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show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which factors drove it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 how economic conditions may move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through a web interface a non-expert can read and a regulator can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12 validated demographic and financial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Profile, risk band, strength score, SHAP drivers,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12-month forecast and what-if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Collect a dataset combining demographic attributes with financial and transactional parameters.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Preprocess the data, handle missing values and encode categorical demographic fields.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Train models to classify financial profile and estimate credit or distress risk.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Build a forecasting component that projects future financial position.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Add an explainability layer showing which factors drove each assessment.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using accuracy, precision, recall and ROC-AUC, and deploy through a web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Validated inputs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engineering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 score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 explanation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Forecast + what-if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Twelve inputs are validated server-side, engineered into 26 columns and scored by the best of four models selected on a held-out split.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 p becomes a profile and risk band (Established p &gt;= 0.60, Developing 0.35 to 0.60, Emerging below 0.35) with a plain-language explanation.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Holt-Winters 12-month outlook with a 95 % band and a what-if screen that compares a baseline with a changed scenario, both labelled as simulation.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Flask JSON API and React interface with a sample login; informational use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53" y="1691640"/>
            <a:ext cx="568569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2918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 React SPA (5409), Jinja pages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 Flask API (8409), validation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predictor, SHAP, what-if, forecast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 .pkl pipelines, JSON artifacts, UCI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UCI Adult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Clean + derive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Stratified split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pipelines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5-fold CV + 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 + forecast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JSON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Imputation, one-hot encoding and scaling live inside each scikit-learn Pipeline (fitted on training data only).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Stratified 80/20 split (seed 42): 39,073 train, 9,769 test; 5-fold stratified CV scored by ROC-AUC; selection by ROC-AUC.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row per person, so entity-grouped and temporal validation of the base paper do not apply; the forecast is validated separately by a hold-out of 12 months.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metric, SHAP value and plot is written to JSON/PNG and re-derived by scripts/report_metrics.py.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48,842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UCI Adult records (1994 census)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26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14 raw + 12 derived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earn more than 50K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383280" y="1691640"/>
          <a:ext cx="420624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0" y="1737360"/>
          <a:ext cx="393192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 1.0, scaled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300 trees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Gradient Boosting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defaults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400 trees, depth 6, lr 0.05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383280" y="45720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Derived: net capital, capital intensity, log gains and losses, hours / age bands, education tier, region, employment stability, capital position.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Missing '?' values (workclass 2,799; occupation 2,809; country 857) imputed inside the pipeline; census weight fnlwgt median-imputed.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41" y="1645920"/>
            <a:ext cx="440455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828800"/>
            <a:ext cx="6309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Validate: all 12 fields present, in the allowed set and range; otherwise HTTP 400 and no model call.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Score: p = P(income &gt; 50K) from the selected pipeline; strength = 100 p, risk = 100 (1 - p).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Explain: live TreeSHAP; top five positive and negative contributions become sentences.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94960" y="4572000"/>
          <a:ext cx="630936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371600"/>
                <a:gridCol w="109728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Score 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Profile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Actual &gt;50K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 &gt;= 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Established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1,605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85.2%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0.35 to 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Developing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1,041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 &lt; 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7,123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4" y="1645920"/>
            <a:ext cx="5062311" cy="4663440"/>
          </a:xfrm>
          <a:prstGeom prst="rect">
            <a:avLst/>
          </a:prstGeom>
        </p:spPr>
      </p:pic>
      <p:pic>
        <p:nvPicPr>
          <p:cNvPr id="8" name="Picture 7" descr="08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19" y="1770419"/>
            <a:ext cx="5486400" cy="44144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(no relational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59" y="1645920"/>
            <a:ext cx="5707880" cy="4480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1737360"/>
          <a:ext cx="466344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Stored 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Trained pipelines (4 + best)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models/*.pkl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Metrics, validation, SHAP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artifacts/*.json, *.png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 series + 95% band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artifacts/forecast.json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What-if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sessionStorage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Theme, demo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localStorage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Person's inputs /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stored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Flask routes (pages + JSON)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command to start (run.bat)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Server-side validation of every field (required, allowed set, numeric range) with clear 400 messages; the form shows them inline.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 and explainer are loaded once at start-up; live SHAP per request, with one-hot features read correctly ('absence of occupation = Sales').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What-if re-runs the same pipeline for baseline and scenario and reports score, profile and risk changes, labelled non-causal.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Forecast and performance screens read the JSON artifacts written by training, so the screens always match the evaluated model.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Sample login is a browser-only demo gate and not real authentication.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(held-out test split)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68096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914400"/>
                <a:gridCol w="960120"/>
                <a:gridCol w="822960"/>
                <a:gridCol w="731520"/>
                <a:gridCol w="914400"/>
                <a:gridCol w="14173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CV 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0.913 ± 0.001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0.637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0.908 ± 0.002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Gradient Boosting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0.920 ± 0.002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*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0.666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0.929 ± 0.001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4340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* selected model. n = 9,769 (2,338 positive). PR-AUC 0.838, Brier score 0.086, specificity 0.945.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2194560" cy="11430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73152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4901183"/>
            <a:ext cx="19202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0.932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09259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XGBoost ROC-AUC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846320"/>
            <a:ext cx="2194560" cy="11430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834640" y="484632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4901183"/>
            <a:ext cx="19202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509259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4846320"/>
            <a:ext cx="2194560" cy="11430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166360" y="484632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49240" y="4901183"/>
            <a:ext cx="19202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66.6%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509259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recall at 0.5</a:t>
            </a:r>
          </a:p>
        </p:txBody>
      </p:sp>
      <p:pic>
        <p:nvPicPr>
          <p:cNvPr id="21" name="Picture 20" descr="shap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07642"/>
            <a:ext cx="3383280" cy="16769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Per-class Metrics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378" y="1645920"/>
            <a:ext cx="9094763" cy="30175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800600"/>
          <a:ext cx="9784080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554480"/>
                <a:gridCol w="2377440"/>
                <a:gridCol w="155448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Class (XGBoost)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Predicted correctly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&lt;=50K (negative)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7,431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7,021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&gt;50K (positive)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2,338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1,558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0.666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24160" y="4800600"/>
            <a:ext cx="1371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410 false positives, 780 false negatives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Calibration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3" y="1600200"/>
            <a:ext cx="4612952" cy="3108960"/>
          </a:xfrm>
          <a:prstGeom prst="rect">
            <a:avLst/>
          </a:prstGeom>
        </p:spPr>
      </p:pic>
      <p:pic>
        <p:nvPicPr>
          <p:cNvPr id="8" name="Picture 7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88" y="1600200"/>
            <a:ext cx="3268262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29800" y="1737360"/>
            <a:ext cx="19202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Predicted and observed rates track closely: 0.021 vs 0.022 in the lowest bin, 0.984 vs 0.987 in the highest; the largest gap is 0.447 vs 0.406.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846320"/>
          <a:ext cx="1115568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463040"/>
                <a:gridCol w="1828800"/>
                <a:gridCol w="1463040"/>
                <a:gridCol w="1645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0.50 (default)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0.70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0.653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0.666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69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predict (p95 117 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136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what-if (two predictions)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forecast / performance 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52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in-process prediction incl. SHAP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17520"/>
          <a:ext cx="1115568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6400800"/>
                <a:gridCol w="25603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derived features, missing-value handling in the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/ page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health, 7 pages, hard-coded-output check, invalid input, /api/predict, /api/forecast, what-if, artifacts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on 8409 and proxy on 5409: options, dashboard, explain, performance, forecast, predict, what-if,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35/35 checks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 back-test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fit 2015-2024, predict 2025 of the synthetic series: MAE 1.43, MAPE 1.00 %, naive MAE 4.50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 check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load or concurrency tests, browser matrix, user study, security 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as a limit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problems)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480560"/>
                <a:gridCol w="448056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 and target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Organisational distress: hospital deficit (net income &lt; 0), 41.2 % positive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Individual profile: income &gt; 50K, 23.9 % positive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165 hospitals, 825 hospital-year rows, 11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48,842 individuals, 26 columns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Hospital-level Group K-Fold; temporal 2019-22 to 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Stratified 80/20 + 5-fold CV (one row per person)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0.842 (Group K-Fold); 0.780 temporal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0.932 test; 0.929 CV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 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Top SHAP feature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material cost ratio (0.777)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marital status = Married-civ-spouse (1.012)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Beyond 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Counterfactual subsidy analysis, fixed-effects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Forecast, what-if, working web application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a like-for-like comparison: different entities, target, size and validation. The higher AUC here reflects a larger, differently defined and easier problem, not a better method; the comparable finding is that boosted trees beat Logistic Regression in both studies.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Assessment and Result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5_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4_result-establis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Assessment form with 12 validated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Result: Established profile, Low risk, 99.9 % strength, live SHAP factors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Explainability and What-if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7_explain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9_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Global SHAP importance and beeswarm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What-if: gains 2,174 to 80,000 and hours 40 to 50 move the score from 1.1 % to 99.5 %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Forecast and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8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12-month Holt-Winters forecast on the synthetic index (141.7 to 146.6, +3.46 %)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6635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 comparison, validation protocol and statistics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an end-to-end explainable financial-profile system: validation, feature engineering, four compared models, SHAP explanations, what-if, forecast, API, React interface, tests and documentation.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XGBoost reaches 87.8% accuracy, 0.932 ROC-AUC and F1 0.724 on 9,769 held-out records; the bands separate people well (observed &gt;50K rate 7.2% / 44.0% / 85.2%).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 dataset (met in part: no transaction data), 2 preprocessing (met), 3 classification and risk (met in part: income proxy), 4 forecast (met in part: synthetic series), 5 explainability (met), 6 evaluation and deployment (met).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boosted trees beat the linear baseline by about 0.02 AUC here (Random Forest does not); recall of the high-income class (66.6 % at 0.5) is the weak point and trades against precision.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income is not creditworthiness; no fairness audit; no real macro data; not financial advice.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macroeconomic indicators (inflation, lending rates, GDP) and real time series to replace the synthetic index; panel or temporal models.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fairness audit of sex, race and marital-status effects with mitigation (for example equalised odds) before any use on people.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credit-specific target (repayment or default) on consented data, with calibration and external validation on current populations.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Hyperparameter search, a separate validation set and significance tests (DeLong) for model selection.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Persistence with user accounts, audit log and containerised deployment of the full stack.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5778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Y. Kim and E. J. Sun, "An explainable machine learning framework for organizational financial distress detection: Evidence from Korean hospital panel data," IEEE Access, vol. 14, pp. 100337-100350, 2026, doi: 10.1109/ACCESS.2026.3709346.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A. Abid, "Forecasting sovereign credit risk amidst a political crisis: A machine learning and deep learning approach," J. Risk Financial Manag., vol. 18, no. 6, Art. no. 300, Jun. 2025, doi: 10.3390/jrfm18060300.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A. Maurino, "How data quality affects machine learning models for credit risk assessment," in Proc. Workshop AI Data Sci. Digit. Finance, held with ACM Int. Conf. AI Finance (ICAIF), Singapore, 2025.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H. Zhang, J. Xu, J. He, and X. Fang, "Privacy-preserving credit risk prediction with alternative data," arXiv:2606.10333, Jun. 2026.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E. I. Altman, "Financial ratios, discriminant analysis and the prediction of corporate bankruptcy," J. Finance, vol. 23, no. 4, pp. 589-609, Sep. 1968.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L. Breiman, "Random forests," Mach. Learn., vol. 45, no. 1, pp. 5-32, 2001.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J. H. Friedman, "Greedy function approximation: A gradient boosting machine," Ann. Statist., vol. 29, no. 5, pp. 1189-1232, Oct. 2001.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T. Chen and C. Guestrin, "XGBoost: A scalable tree boosting system," in Proc. 22nd ACM SIGKDD Int. Conf. Knowl. Discovery Data Mining, Aug. 2016, pp. 785-794.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F. Barboza, H. Kimura, and E. Altman, "Machine learning models and bankruptcy prediction," Expert Syst. Appl., vol. 83, pp. 405-417, Oct. 2017.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5778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S. M. Lundberg and S.-I. Lee, "A unified approach to interpreting model predictions," in Proc. Adv. Neural Inf. Process. Syst., vol. 30, 2017, pp. 4765-4774.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S. M. Lundberg et al., "From local explanations to global understanding with explainable AI for trees," Nature Mach. Intell., vol. 2, no. 1, pp. 56-67, Jan. 2020.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N. Bussmann, P. Giudici, D. Marinelli, and J. Papenbrock, "Explainable machine learning in credit risk management," Comput. Econ., vol. 57, no. 1, pp. 203-216, Jan. 2021.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A. Gramegna and P. Giudici, "SHAP and LIME: An evaluation of discriminative power in credit risk," Frontiers Artif. Intell., vol. 4, Art. no. 752558, Sep. 2021.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L. Grinsztajn, E. Oyallon, and G. Varoquaux, "Why do tree-based models still outperform deep learning on typical tabular data?" in Proc. Adv. Neural Inf. Process. Syst., 2022, pp. 507-520.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F. Pedregosa et al., "Scikit-learn: Machine learning in Python," J. Mach. Learn. Res., vol. 12, pp. 2825-2830, 2011.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[31] R. Kohavi, "Scaling up the accuracy of Naive-Bayes classifiers: A decision-tree hybrid," in Proc. 2nd Int. Conf. Knowl. Discovery Data Mining (KDD), 1996, pp. 202-207.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[33] P. R. Winters, "Forecasting sales by exponentially weighted moving averages," Manage. Sci., vol. 6, no. 3, pp. 324-342, Apr. 1960.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[40] N. Mehrabi, F. Morstatter, N. Saxena, K. Lerman, and A. Galstyan, "A survey on bias and fairness in machine learning," ACM Comput. Surv., vol. 54, no. 6, Art. no. 115, 2021.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C9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SightAI">
  <a:themeElements>
    <a:clrScheme name="FinSight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nSightAI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inSight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Financial Identification Based On Demography and Financial Forecasting - Final Review</dc:title>
  <dc:subject>FinSight AI</dc:subject>
  <dc:creator>Batch C9, Dept. of CSE, TKRCET</dc:creator>
  <cp:lastModifiedBy/>
  <cp:revision>1</cp:revision>
  <dcterms:created xsi:type="dcterms:W3CDTF">2026-10-07T05:03:03Z</dcterms:created>
  <dcterms:modified xsi:type="dcterms:W3CDTF">2026-10-07T05:03:03Z</dcterms:modified>
  <dc:description/>
  <cp:keywords>financial identification, demographic analytics, economic forecasting, XGBoost, SHAP</cp:keywords>
  <cp:category/>
</cp:coreProperties>
</file>