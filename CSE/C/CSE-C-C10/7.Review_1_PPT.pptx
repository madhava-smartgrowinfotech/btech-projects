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Balanced accuracy</c:v>
                </c:pt>
              </c:strCache>
            </c:strRef>
          </c:tx>
          <c:spPr>
            <a:solidFill>
              <a:srgbClr val="2A78D6"/>
            </a:solidFill>
          </c:spPr>
          <c:dPt>
            <c:idx val="3"/>
            <c:spPr>
              <a:solidFill>
                <a:srgbClr val="EB6834"/>
              </a:solidFill>
            </c:spPr>
          </c:dPt>
          <c:dPt>
            <c:idx val="4"/>
            <c:spPr>
              <a:solidFill>
                <a:srgbClr val="EB6834"/>
              </a:solidFill>
            </c:spPr>
          </c:dPt>
          <c:cat>
            <c:strRef>
              <c:f>Sheet1!$A$2:$A$6</c:f>
              <c:strCache>
                <c:ptCount val="5"/>
                <c:pt idx="0">
                  <c:v>Logistic
Regression</c:v>
                </c:pt>
                <c:pt idx="1">
                  <c:v>XGBoost</c:v>
                </c:pt>
                <c:pt idx="2">
                  <c:v>Random
Forest</c:v>
                </c:pt>
                <c:pt idx="3">
                  <c:v>kNN-ICL
(k = 50)</c:v>
                </c:pt>
                <c:pt idx="4">
                  <c:v>Fused LLM
(20,172 train)</c:v>
                </c:pt>
              </c:strCache>
            </c:strRef>
          </c:cat>
          <c:val>
            <c:numRef>
              <c:f>Sheet1!$B$2:$B$6</c:f>
              <c:numCache>
                <c:formatCode>General</c:formatCode>
                <c:ptCount val="5"/>
                <c:pt idx="0">
                  <c:v>0.631</c:v>
                </c:pt>
                <c:pt idx="1">
                  <c:v>0.618</c:v>
                </c:pt>
                <c:pt idx="2">
                  <c:v>0.634</c:v>
                </c:pt>
                <c:pt idx="3">
                  <c:v>0.713</c:v>
                </c:pt>
                <c:pt idx="4">
                  <c:v>0.743</c:v>
                </c:pt>
              </c:numCache>
            </c:numRef>
          </c:val>
        </c:ser>
        <c:dLbls>
          <c:numFmt formatCode="0.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0.9"/>
          <c:min val="0.0"/>
        </c:scaling>
        <c:delete val="0"/>
        <c:axPos val="l"/>
        <c:majorGridlines>
          <c:spPr>
            <a:ln>
              <a:solidFill>
                <a:srgbClr val="D5DCE6"/>
              </a:solidFill>
            </a:ln>
          </c:spPr>
        </c:majorGridlines>
        <c:numFmt formatCode="0.0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VenturePulse reads a startup's funding, team and sector indicators plus a short description and returns SUCCESS or FAILURE with a confidence, the comparable historical startups and the features behind the estimate.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problem, the idea of combining structured signals, text and retrieval of comparable startups, and the deliverable: a complete application, not only a model script.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reports that ensembles predict startup success best, at 85 to 92 percent accuracy, but gives no dataset size or table, so its figures cannot be reproduced exactly. Our project keeps its model family and adds retrieval-based evidence, explanations and a measured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ensembles are the usual winners on structured startup data; the 2026 retrieval paper shows that giving a model similar past startups helps in small-data settings; the interpretable-ML paper insists on leakage-safe splits. Works [4]-[15] are known here only through the base paper's reference list, so no finding beyond that summary is claimed. The batch survey also lists two further items whose authors we could not verify; they appear in the report's reference list with that caveat.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Values are quoted from the 2026 retrieval paper: balanced accuracy 0.631 LR, 0.634 RF, 0.618 XGBoost, 0.713 kNN-ICL at 50 shots, 0.743 for the fused LLM trained on 20,172 startups. We reuse its protocol (five repeated stratified 80/20 splits, balanced accuracy) and its retrieval idea, without an LLM.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path is judgement-led. Machine-learning predictors exist, but their outputs are often unexplained and their evaluation protocols are not always clear.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from the project's problem statement and the survey. Each maps to a design decision: balanced handling of the rare class, a stated leakage check, retrieval evidence and feature drivers.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states the gap as: systematic feature engineering around funding velocity and team composition, with explicit handling of the rare-success class. We add three more from reading the papers: evidence with the answer, text plus structure, and honest evaluation.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Input is structured indicators plus optional text, output is a two-way outcome with evidence, and the system keeps measured statistics that can be inspected.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The later reviews report which were met; collecting founder and market data (objectives 1 and 2) is the part limited by the public data available.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from raw indicators to an explained prediction, and the application around them. The model comparison is kept so the choice of classifier is measured, not assumed.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the browser sends the startup profile to the FastAPI service, which calls the prediction and retrieval modules; the fitted artefacts are files on disk and there is no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targets, not results. We report whatever the held-out data shows, including a lower accuracy than the published 85-92 % if that is what the data gives.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classifier plus retrieval; why logistic regression may serve; where the data comes from; how leakage is checked; what success and failure mean in the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VenturePulse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2800" b="1" dirty="0">
                <a:solidFill>
                  <a:srgbClr val="FFFFFF"/>
                </a:solidFill>
                <a:latin typeface="Cambria" pitchFamily="34" charset="0"/>
                <a:ea typeface="Cambria" pitchFamily="34" charset="-122"/>
                <a:cs typeface="Cambria" pitchFamily="34" charset="-120"/>
              </a:rPr>
              <a:t>An Efficient Novel Approach for Predicting Startup Company Success Rates Using Advanced Machine Learning Paradigms</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Structured funding signals and a short business description are fused to estimate startup outcome, with comparable historical startups and feature drivers shown as evidence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Orchu Shirisha  23K91A05H6</a:t>
            </a:r>
            <a:endParaRPr lang="en-US" sz="1500" dirty="0"/>
          </a:p>
          <a:p>
            <a:pPr indent="0" marL="0">
              <a:buNone/>
            </a:pPr>
            <a:r>
              <a:rPr lang="en-US" sz="1500" dirty="0">
                <a:solidFill>
                  <a:srgbClr val="FFFFFF"/>
                </a:solidFill>
              </a:rPr>
              <a:t>Mudavath Raghavendar  23K91A05G1</a:t>
            </a:r>
            <a:endParaRPr lang="en-US" sz="1500" dirty="0"/>
          </a:p>
          <a:p>
            <a:pPr indent="0" marL="0">
              <a:buNone/>
            </a:pPr>
            <a:r>
              <a:rPr lang="en-US" sz="1500" dirty="0">
                <a:solidFill>
                  <a:srgbClr val="FFFFFF"/>
                </a:solidFill>
              </a:rPr>
              <a:t>Majgi Vaishnavi  23K91A05E0</a:t>
            </a:r>
            <a:endParaRPr lang="en-US" sz="1500" dirty="0"/>
          </a:p>
          <a:p>
            <a:pPr indent="0" marL="0">
              <a:buNone/>
            </a:pPr>
            <a:r>
              <a:rPr lang="en-US" sz="1500" dirty="0">
                <a:solidFill>
                  <a:srgbClr val="FFFFFF"/>
                </a:solidFill>
              </a:rPr>
              <a:t>Polishetty Poojitha  23K91A05J4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P Prasanna,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C10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an evidence-based early signal for startups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Most startups fail, and investors and founders judge prospects largely on experience and intuition. Success is rare in the data, so naive models under-predict it, and a bare prediction gives a founder nothing to act on.</a:t>
            </a:r>
          </a:p>
        </p:txBody>
      </p:sp>
      <p:sp>
        <p:nvSpPr>
          <p:cNvPr id="30" name="Rounded Rectangle 29"/>
          <p:cNvSpPr/>
          <p:nvPr/>
        </p:nvSpPr>
        <p:spPr>
          <a:xfrm>
            <a:off x="4334255"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Learn from historical startups: structured signals (funding, rounds, milestones, relationships, sector, location) plus a text embedding of the business description. Compare Logistic Regression, Decision Tree, Random Forest and boosting, and retrieve comparable startups.</a:t>
            </a:r>
          </a:p>
        </p:txBody>
      </p:sp>
      <p:sp>
        <p:nvSpPr>
          <p:cNvPr id="34" name="Rounded Rectangle 33"/>
          <p:cNvSpPr/>
          <p:nvPr/>
        </p:nvSpPr>
        <p:spPr>
          <a:xfrm>
            <a:off x="8119871" y="1371600"/>
            <a:ext cx="3520440" cy="4480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474720"/>
          </a:xfrm>
          <a:prstGeom prst="rect">
            <a:avLst/>
          </a:prstGeom>
          <a:noFill/>
        </p:spPr>
        <p:txBody>
          <a:bodyPr wrap="square" lIns="0" rIns="0" tIns="0" bIns="0" anchor="t">
            <a:spAutoFit/>
          </a:bodyPr>
          <a:lstStyle/>
          <a:p>
            <a:pPr algn="l">
              <a:spcAft>
                <a:spcPts val="400"/>
              </a:spcAft>
            </a:pPr>
            <a:r>
              <a:rPr sz="1800" b="0" i="0">
                <a:solidFill>
                  <a:srgbClr val="475569"/>
                </a:solidFill>
              </a:rPr>
              <a:t>VenturePulse, a local web application: SUCCESS or FAILURE with confidence, the top features behind it, a table of comparable historical startups, and pages for model comparison and data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M. Panjwani, P. Shrivastava, P. Hande, G. Meshram, N. Verma and D. Gotmare, "Startup success prediction using machine learning and ensemble techniques," IJRASET, vol. 14, no. IV, Apr. 2026, doi: 10.22214/ijraset.2026.80226.</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Logistic Regression, Random Forest, SVM and Gradient Boosting on funding history, team size, industry and location. Mean/mode imputation, encoding, standard scaling and ADASYN oversampling; 70:30 split; Flask web application.</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Ensembles (Random Forest, Gradient Boosting) perform best, with overall accuracy between 85 and 92 %. SVM works well but is slower; Logistic Regression is the baseline. No dataset size or per-model table is given.</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What we take, what differs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Taken: the model family, imbalance handling, several metrics, a web front end. Added: text embedding with comparable-startup retrieval, feature-level explanations, ROC-AUC, and a stated leakage check. The paper itself names look-ahead bias and missing text data as open problems.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280160"/>
          <a:ext cx="11091671" cy="4864608"/>
        </p:xfrm>
        <a:graphic>
          <a:graphicData uri="http://schemas.openxmlformats.org/drawingml/2006/table">
            <a:tbl>
              <a:tblPr firstRow="0" bandRow="0">
                <a:tableStyleId>{5C22544A-7EE6-4342-B048-85BDC9FD1C3A}</a:tableStyleId>
              </a:tblPr>
              <a:tblGrid>
                <a:gridCol w="2468880"/>
                <a:gridCol w="3749039"/>
                <a:gridCol w="2560320"/>
                <a:gridCol w="2313432"/>
              </a:tblGrid>
              <a:tr h="694944">
                <a:tc>
                  <a:txBody>
                    <a:bodyPr wrap="square"/>
                    <a:lstStyle/>
                    <a:p>
                      <a:pPr algn="ctr"/>
                      <a:r>
                        <a:rPr sz="13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Reported result / 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94944">
                <a:tc>
                  <a:txBody>
                    <a:bodyPr wrap="square"/>
                    <a:lstStyle/>
                    <a:p>
                      <a:pPr algn="l"/>
                      <a:r>
                        <a:rPr sz="1200" b="0">
                          <a:solidFill>
                            <a:srgbClr val="0F172A"/>
                          </a:solidFill>
                        </a:rPr>
                        <a:t>Panjwani et al. 2026 [1]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LR, RF, SVM, Gradient Boosting; ADASYN; Flask app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Crunchbase / Kaggle data, size not stated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Ensembles best, accuracy 85-92 %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94944">
                <a:tc>
                  <a:txBody>
                    <a:bodyPr wrap="square"/>
                    <a:lstStyle/>
                    <a:p>
                      <a:pPr algn="l"/>
                      <a:r>
                        <a:rPr sz="1200" b="0">
                          <a:solidFill>
                            <a:srgbClr val="0F172A"/>
                          </a:solidFill>
                        </a:rPr>
                        <a:t>Maarouf et al. 2026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kNN retrieval of similar startups as examples for an LLM; compared with LR, RF, XGBoost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4,034 Crunchbase startups, 35.15 % successful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Balanced accuracy 0.713 vs 0.631 (LR), 0.634 (RF), 0.618 (XGBoost)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94944">
                <a:tc>
                  <a:txBody>
                    <a:bodyPr wrap="square"/>
                    <a:lstStyle/>
                    <a:p>
                      <a:pPr algn="l"/>
                      <a:r>
                        <a:rPr sz="1200" b="0">
                          <a:solidFill>
                            <a:srgbClr val="0F172A"/>
                          </a:solidFill>
                        </a:rPr>
                        <a:t>Mashhadi et al. 2026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Interpretable tree ensembles, inverse weights, SMOTE-NC, SHAP, temporal splits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Crunchbase firm-quarter panel 2010-2023 + patents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AUROC 0.921 (patents), 0.817 (funding), 0.872 (exit)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94944">
                <a:tc>
                  <a:txBody>
                    <a:bodyPr wrap="square"/>
                    <a:lstStyle/>
                    <a:p>
                      <a:pPr algn="l"/>
                      <a:r>
                        <a:rPr sz="1200" b="0">
                          <a:solidFill>
                            <a:srgbClr val="0F172A"/>
                          </a:solidFill>
                        </a:rPr>
                        <a:t>Bidgoli et al. 2024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RF, Gradient Boosting, SVM, LR compared (as summarised by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Startup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Ensembles above 80 % accuracy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94944">
                <a:tc>
                  <a:txBody>
                    <a:bodyPr wrap="square"/>
                    <a:lstStyle/>
                    <a:p>
                      <a:pPr algn="l"/>
                      <a:r>
                        <a:rPr sz="1200" b="0">
                          <a:solidFill>
                            <a:srgbClr val="0F172A"/>
                          </a:solidFill>
                        </a:rPr>
                        <a:t>Zbikowski, Antosiuk 2021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Bias-free success prediction from Crunchbase (as summarised by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Crunchbase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Warns that look-ahead bias inflates accuracy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94944">
                <a:tc>
                  <a:txBody>
                    <a:bodyPr wrap="square"/>
                    <a:lstStyle/>
                    <a:p>
                      <a:pPr algn="l"/>
                      <a:r>
                        <a:rPr sz="1200" b="0">
                          <a:solidFill>
                            <a:srgbClr val="0F172A"/>
                          </a:solidFill>
                        </a:rPr>
                        <a:t>Gius 2025 [16]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Judge disagreement in venture competitions as a predictor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67 venture competitions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More disagreement, higher success chance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retrieval helps on small data</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949440" cy="4846320"/>
        </p:xfrm>
        <a:graphic>
          <a:graphicData uri="http://schemas.openxmlformats.org/drawingml/2006/chart">
            <c:chart xmlns:c="http://schemas.openxmlformats.org/drawingml/2006/chart" r:id="rId3"/>
          </a:graphicData>
        </a:graphic>
      </p:graphicFrame>
      <p:sp>
        <p:nvSpPr>
          <p:cNvPr id="27" name="Rounded Rectangle 26"/>
          <p:cNvSpPr/>
          <p:nvPr/>
        </p:nvSpPr>
        <p:spPr>
          <a:xfrm>
            <a:off x="7772400" y="1325880"/>
            <a:ext cx="3867912" cy="23774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973568"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9" name="TextBox 28"/>
          <p:cNvSpPr txBox="1"/>
          <p:nvPr/>
        </p:nvSpPr>
        <p:spPr>
          <a:xfrm>
            <a:off x="8613648" y="148132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Takeaway</a:t>
            </a:r>
          </a:p>
        </p:txBody>
      </p:sp>
      <p:sp>
        <p:nvSpPr>
          <p:cNvPr id="30" name="TextBox 29"/>
          <p:cNvSpPr txBox="1"/>
          <p:nvPr/>
        </p:nvSpPr>
        <p:spPr>
          <a:xfrm>
            <a:off x="7973568" y="2194560"/>
            <a:ext cx="3465576" cy="1371600"/>
          </a:xfrm>
          <a:prstGeom prst="rect">
            <a:avLst/>
          </a:prstGeom>
          <a:noFill/>
        </p:spPr>
        <p:txBody>
          <a:bodyPr wrap="square" lIns="0" rIns="0" tIns="0" bIns="0" anchor="t">
            <a:spAutoFit/>
          </a:bodyPr>
          <a:lstStyle/>
          <a:p>
            <a:pPr algn="l">
              <a:spcAft>
                <a:spcPts val="400"/>
              </a:spcAft>
            </a:pPr>
            <a:r>
              <a:rPr sz="1300" b="0" i="0">
                <a:solidFill>
                  <a:srgbClr val="475569"/>
                </a:solidFill>
              </a:rPr>
              <a:t>On 4,034 Crunchbase startups with 5 stratified 80/20 splits, showing a model the most similar past startups (kNN-ICL) beats supervised baselines by about 8 points of balanced accuracy [2].</a:t>
            </a:r>
          </a:p>
        </p:txBody>
      </p:sp>
      <p:sp>
        <p:nvSpPr>
          <p:cNvPr id="31" name="Rounded Rectangle 30"/>
          <p:cNvSpPr/>
          <p:nvPr/>
        </p:nvSpPr>
        <p:spPr>
          <a:xfrm>
            <a:off x="7772400" y="3840480"/>
            <a:ext cx="3867912"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73568" y="4023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3" name="TextBox 32"/>
          <p:cNvSpPr txBox="1"/>
          <p:nvPr/>
        </p:nvSpPr>
        <p:spPr>
          <a:xfrm>
            <a:off x="8613648" y="399592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Caveat</a:t>
            </a:r>
          </a:p>
        </p:txBody>
      </p:sp>
      <p:sp>
        <p:nvSpPr>
          <p:cNvPr id="34" name="TextBox 33"/>
          <p:cNvSpPr txBox="1"/>
          <p:nvPr/>
        </p:nvSpPr>
        <p:spPr>
          <a:xfrm>
            <a:off x="7973568" y="4709160"/>
            <a:ext cx="3465576" cy="1280160"/>
          </a:xfrm>
          <a:prstGeom prst="rect">
            <a:avLst/>
          </a:prstGeom>
          <a:noFill/>
        </p:spPr>
        <p:txBody>
          <a:bodyPr wrap="square" lIns="0" rIns="0" tIns="0" bIns="0" anchor="t">
            <a:spAutoFit/>
          </a:bodyPr>
          <a:lstStyle/>
          <a:p>
            <a:pPr algn="l">
              <a:spcAft>
                <a:spcPts val="400"/>
              </a:spcAft>
            </a:pPr>
            <a:r>
              <a:rPr sz="1300" b="0" i="0">
                <a:solidFill>
                  <a:srgbClr val="475569"/>
                </a:solidFill>
              </a:rPr>
              <a:t>All bars are values reported in [2] on its own data. They are not our results, and the base paper's 85-92 % is accuracy on an unstated dataset, so no ranking against it is implied.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Founder pitch / data room</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Investor judgement</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Due diligence</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Funding decision</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Subjective assessment</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1700" b="0" i="0">
                <a:solidFill>
                  <a:srgbClr val="475569"/>
                </a:solidFill>
              </a:rPr>
              <a:t>Investors and founders rely on experience, intuition and personal networks. The judgement is hard to repeat, differs between people and is open to bias.</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Published ML predictors</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1700" b="0" i="0">
                <a:solidFill>
                  <a:srgbClr val="475569"/>
                </a:solidFill>
              </a:rPr>
              <a:t>Classifiers on funding, team and sector features reach good scores, but are often reported without dataset sizes, leakage checks or reasons, and give a founder no comparable cases.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Subjective, inconsistent</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1600" b="0" i="0">
                <a:solidFill>
                  <a:srgbClr val="475569"/>
                </a:solidFill>
              </a:rPr>
              <a:t>Startup success is judged subjectively, leading to inconsistent investment decisions.</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Look-ahead bias</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1600" b="0" i="0">
                <a:solidFill>
                  <a:srgbClr val="475569"/>
                </a:solidFill>
              </a:rPr>
              <a:t>Failure causes become obvious only after capital is committed; models trained on information recorded after the outcome look better than they are [1], [9].</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Rare success, little data</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1600" b="0" i="0">
                <a:solidFill>
                  <a:srgbClr val="475569"/>
                </a:solidFill>
              </a:rPr>
              <a:t>Success is rare in many datasets, so naive models under-predict the positive class, and early-stage data is scarce.</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stated drivers</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1600" b="0" i="0">
                <a:solidFill>
                  <a:srgbClr val="475569"/>
                </a:solidFill>
              </a:rPr>
              <a:t>A prediction without drivers or comparable cases gives a founder nothing to act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Feature engineering</a:t>
            </a:r>
          </a:p>
        </p:txBody>
      </p:sp>
      <p:sp>
        <p:nvSpPr>
          <p:cNvPr id="28" name="TextBox 27"/>
          <p:cNvSpPr txBox="1"/>
          <p:nvPr/>
        </p:nvSpPr>
        <p:spPr>
          <a:xfrm>
            <a:off x="3200400" y="1325880"/>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Systematic features around funding velocity and team composition are missing from the surveyed work.</a:t>
            </a:r>
          </a:p>
        </p:txBody>
      </p:sp>
      <p:sp>
        <p:nvSpPr>
          <p:cNvPr id="29" name="Rounded Rectangle 28"/>
          <p:cNvSpPr/>
          <p:nvPr/>
        </p:nvSpPr>
        <p:spPr>
          <a:xfrm>
            <a:off x="548640" y="2313432"/>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Rare success class</a:t>
            </a:r>
          </a:p>
        </p:txBody>
      </p:sp>
      <p:sp>
        <p:nvSpPr>
          <p:cNvPr id="31" name="TextBox 30"/>
          <p:cNvSpPr txBox="1"/>
          <p:nvPr/>
        </p:nvSpPr>
        <p:spPr>
          <a:xfrm>
            <a:off x="3200400" y="2313432"/>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Explicit, compared handling of class imbalance (weights, oversampling, thresholds) is not shown with numbers.</a:t>
            </a:r>
          </a:p>
        </p:txBody>
      </p:sp>
      <p:sp>
        <p:nvSpPr>
          <p:cNvPr id="32" name="Rounded Rectangle 31"/>
          <p:cNvSpPr/>
          <p:nvPr/>
        </p:nvSpPr>
        <p:spPr>
          <a:xfrm>
            <a:off x="548640" y="3300984"/>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Evidence with answer</a:t>
            </a:r>
          </a:p>
        </p:txBody>
      </p:sp>
      <p:sp>
        <p:nvSpPr>
          <p:cNvPr id="34" name="TextBox 33"/>
          <p:cNvSpPr txBox="1"/>
          <p:nvPr/>
        </p:nvSpPr>
        <p:spPr>
          <a:xfrm>
            <a:off x="3200400" y="3300984"/>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Predictions are rarely shown together with comparable historical startups and the features that drive them.</a:t>
            </a:r>
          </a:p>
        </p:txBody>
      </p:sp>
      <p:sp>
        <p:nvSpPr>
          <p:cNvPr id="35" name="Rounded Rectangle 34"/>
          <p:cNvSpPr/>
          <p:nvPr/>
        </p:nvSpPr>
        <p:spPr>
          <a:xfrm>
            <a:off x="548640" y="4288536"/>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Text and structure</a:t>
            </a:r>
          </a:p>
        </p:txBody>
      </p:sp>
      <p:sp>
        <p:nvSpPr>
          <p:cNvPr id="37" name="TextBox 36"/>
          <p:cNvSpPr txBox="1"/>
          <p:nvPr/>
        </p:nvSpPr>
        <p:spPr>
          <a:xfrm>
            <a:off x="3200400" y="4288536"/>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The base paper lists restricted use of text and poor integration of data sources as open gaps.</a:t>
            </a:r>
          </a:p>
        </p:txBody>
      </p:sp>
      <p:sp>
        <p:nvSpPr>
          <p:cNvPr id="38" name="Rounded Rectangle 37"/>
          <p:cNvSpPr/>
          <p:nvPr/>
        </p:nvSpPr>
        <p:spPr>
          <a:xfrm>
            <a:off x="548640" y="5276088"/>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Honest evaluation</a:t>
            </a:r>
          </a:p>
        </p:txBody>
      </p:sp>
      <p:sp>
        <p:nvSpPr>
          <p:cNvPr id="40" name="TextBox 39"/>
          <p:cNvSpPr txBox="1"/>
          <p:nvPr/>
        </p:nvSpPr>
        <p:spPr>
          <a:xfrm>
            <a:off x="3200400" y="5276088"/>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Dataset size, leakage and protocol are often unstated; scores need baselines and stated limits.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286000"/>
          </a:xfrm>
          <a:prstGeom prst="rect">
            <a:avLst/>
          </a:prstGeom>
          <a:noFill/>
        </p:spPr>
        <p:txBody>
          <a:bodyPr wrap="square" lIns="0" rIns="0" tIns="0" bIns="0" anchor="ctr">
            <a:spAutoFit/>
          </a:bodyPr>
          <a:lstStyle/>
          <a:p>
            <a:pPr algn="l">
              <a:spcAft>
                <a:spcPts val="400"/>
              </a:spcAft>
            </a:pPr>
            <a:r>
              <a:rPr sz="1800" b="0" i="0">
                <a:solidFill>
                  <a:srgbClr val="0F172A"/>
                </a:solidFill>
              </a:rPr>
              <a:t>Given the funding history, team and ecosystem indicators, sector, location and (optionally) a short business description of an early-stage startup, estimate whether it is more likely to reach SUCCESS (acquisition or IPO) or FAILURE (closure), report a confidence score, name the features and the comparable historical startups that drive the estimate, and state plainly how reliable such an estimate is.</a:t>
            </a:r>
          </a:p>
        </p:txBody>
      </p:sp>
      <p:sp>
        <p:nvSpPr>
          <p:cNvPr id="28" name="Rounded Rectangle 27"/>
          <p:cNvSpPr/>
          <p:nvPr/>
        </p:nvSpPr>
        <p:spPr>
          <a:xfrm>
            <a:off x="548640" y="4114800"/>
            <a:ext cx="3520440" cy="14173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0624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17720"/>
            <a:ext cx="3108960" cy="868680"/>
          </a:xfrm>
          <a:prstGeom prst="rect">
            <a:avLst/>
          </a:prstGeom>
          <a:noFill/>
        </p:spPr>
        <p:txBody>
          <a:bodyPr wrap="square" lIns="0" rIns="0" tIns="0" bIns="0" anchor="t">
            <a:spAutoFit/>
          </a:bodyPr>
          <a:lstStyle/>
          <a:p>
            <a:pPr algn="l">
              <a:spcAft>
                <a:spcPts val="400"/>
              </a:spcAft>
            </a:pPr>
            <a:r>
              <a:rPr sz="1400" b="0" i="0">
                <a:solidFill>
                  <a:srgbClr val="475569"/>
                </a:solidFill>
              </a:rPr>
              <a:t>Funding, rounds, milestones, relationships, investor flags, state, industry and an optional short description</a:t>
            </a:r>
          </a:p>
        </p:txBody>
      </p:sp>
      <p:sp>
        <p:nvSpPr>
          <p:cNvPr id="31" name="Rounded Rectangle 30"/>
          <p:cNvSpPr/>
          <p:nvPr/>
        </p:nvSpPr>
        <p:spPr>
          <a:xfrm>
            <a:off x="4334255" y="4114800"/>
            <a:ext cx="3520440" cy="14173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0624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17720"/>
            <a:ext cx="3108960" cy="868680"/>
          </a:xfrm>
          <a:prstGeom prst="rect">
            <a:avLst/>
          </a:prstGeom>
          <a:noFill/>
        </p:spPr>
        <p:txBody>
          <a:bodyPr wrap="square" lIns="0" rIns="0" tIns="0" bIns="0" anchor="t">
            <a:spAutoFit/>
          </a:bodyPr>
          <a:lstStyle/>
          <a:p>
            <a:pPr algn="l">
              <a:spcAft>
                <a:spcPts val="400"/>
              </a:spcAft>
            </a:pPr>
            <a:r>
              <a:rPr sz="1400" b="0" i="0">
                <a:solidFill>
                  <a:srgbClr val="475569"/>
                </a:solidFill>
              </a:rPr>
              <a:t>SUCCESS or FAILURE, probabilities, risk label, comparable startups, top feature drivers</a:t>
            </a:r>
          </a:p>
        </p:txBody>
      </p:sp>
      <p:sp>
        <p:nvSpPr>
          <p:cNvPr id="34" name="Rounded Rectangle 33"/>
          <p:cNvSpPr/>
          <p:nvPr/>
        </p:nvSpPr>
        <p:spPr>
          <a:xfrm>
            <a:off x="8119871" y="4114800"/>
            <a:ext cx="3520440" cy="14173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0624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617720"/>
            <a:ext cx="3108960" cy="868680"/>
          </a:xfrm>
          <a:prstGeom prst="rect">
            <a:avLst/>
          </a:prstGeom>
          <a:noFill/>
        </p:spPr>
        <p:txBody>
          <a:bodyPr wrap="square" lIns="0" rIns="0" tIns="0" bIns="0" anchor="t">
            <a:spAutoFit/>
          </a:bodyPr>
          <a:lstStyle/>
          <a:p>
            <a:pPr algn="l">
              <a:spcAft>
                <a:spcPts val="400"/>
              </a:spcAft>
            </a:pPr>
            <a:r>
              <a:rPr sz="1400" b="0" i="0">
                <a:solidFill>
                  <a:srgbClr val="475569"/>
                </a:solidFill>
              </a:rPr>
              <a:t>Model comparison, confusion matrix, feature importance, dataset insights</a:t>
            </a:r>
          </a:p>
        </p:txBody>
      </p:sp>
      <p:sp>
        <p:nvSpPr>
          <p:cNvPr id="37" name="TextBox 36"/>
          <p:cNvSpPr txBox="1"/>
          <p:nvPr/>
        </p:nvSpPr>
        <p:spPr>
          <a:xfrm>
            <a:off x="548640" y="5715000"/>
            <a:ext cx="11091672" cy="457200"/>
          </a:xfrm>
          <a:prstGeom prst="rect">
            <a:avLst/>
          </a:prstGeom>
          <a:noFill/>
        </p:spPr>
        <p:txBody>
          <a:bodyPr wrap="square" lIns="0" rIns="0" tIns="0" bIns="0" anchor="t">
            <a:spAutoFit/>
          </a:bodyPr>
          <a:lstStyle/>
          <a:p>
            <a:pPr algn="l">
              <a:spcAft>
                <a:spcPts val="400"/>
              </a:spcAft>
            </a:pPr>
            <a:r>
              <a:rPr sz="1400" b="0" i="1">
                <a:solidFill>
                  <a:srgbClr val="475569"/>
                </a:solidFill>
              </a:rPr>
              <a:t>Need: a machine learning model that predicts startup success early from structured indicators and names the factors driving each prediction.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846320"/>
          </a:xfrm>
          <a:prstGeom prst="rect">
            <a:avLst/>
          </a:prstGeom>
          <a:noFill/>
        </p:spPr>
        <p:txBody>
          <a:bodyPr wrap="square" lIns="0" rIns="0" tIns="0" bIns="0" anchor="t">
            <a:spAutoFit/>
          </a:bodyPr>
          <a:lstStyle/>
          <a:p>
            <a:pPr algn="l">
              <a:spcAft>
                <a:spcPts val="1200"/>
              </a:spcAft>
            </a:pPr>
            <a:r>
              <a:rPr sz="2200" b="0" i="0">
                <a:solidFill>
                  <a:srgbClr val="0F172A"/>
                </a:solidFill>
              </a:rPr>
              <a:t>1.  Collect a startup dataset covering funding history, team background, sector, location and outcome.</a:t>
            </a:r>
          </a:p>
          <a:p>
            <a:pPr algn="l">
              <a:spcAft>
                <a:spcPts val="1200"/>
              </a:spcAft>
            </a:pPr>
            <a:r>
              <a:rPr sz="2200" b="0" i="0">
                <a:solidFill>
                  <a:srgbClr val="0F172A"/>
                </a:solidFill>
              </a:rPr>
              <a:t>2.  Clean the data and engineer features capturing funding velocity, team experience and market context.</a:t>
            </a:r>
          </a:p>
          <a:p>
            <a:pPr algn="l">
              <a:spcAft>
                <a:spcPts val="1200"/>
              </a:spcAft>
            </a:pPr>
            <a:r>
              <a:rPr sz="2200" b="0" i="0">
                <a:solidFill>
                  <a:srgbClr val="0F172A"/>
                </a:solidFill>
              </a:rPr>
              <a:t>3.  Address class imbalance between successful and failed startups.</a:t>
            </a:r>
          </a:p>
          <a:p>
            <a:pPr algn="l">
              <a:spcAft>
                <a:spcPts val="1200"/>
              </a:spcAft>
            </a:pPr>
            <a:r>
              <a:rPr sz="2200" b="0" i="0">
                <a:solidFill>
                  <a:srgbClr val="0F172A"/>
                </a:solidFill>
              </a:rPr>
              <a:t>4.  Train and compare Logistic Regression, Decision Tree, Random Forest and boosting ensembles.</a:t>
            </a:r>
          </a:p>
          <a:p>
            <a:pPr algn="l">
              <a:spcAft>
                <a:spcPts val="1200"/>
              </a:spcAft>
            </a:pPr>
            <a:r>
              <a:rPr sz="2200" b="0" i="0">
                <a:solidFill>
                  <a:srgbClr val="0F172A"/>
                </a:solidFill>
              </a:rPr>
              <a:t>5.  Identify the features that most strongly separate successful from failed startups.</a:t>
            </a:r>
          </a:p>
          <a:p>
            <a:pPr algn="l">
              <a:spcAft>
                <a:spcPts val="1200"/>
              </a:spcAft>
            </a:pPr>
            <a:r>
              <a:rPr sz="2200" b="0" i="0">
                <a:solidFill>
                  <a:srgbClr val="0F172A"/>
                </a:solidFill>
              </a:rPr>
              <a:t>6.  Evaluate using accuracy, precision, recall, F1-score and ROC-AUC.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Prepare</a:t>
            </a:r>
          </a:p>
        </p:txBody>
      </p:sp>
      <p:sp>
        <p:nvSpPr>
          <p:cNvPr id="29" name="TextBox 28"/>
          <p:cNvSpPr txBox="1"/>
          <p:nvPr/>
        </p:nvSpPr>
        <p:spPr>
          <a:xfrm>
            <a:off x="749808" y="2194560"/>
            <a:ext cx="2231136" cy="2103120"/>
          </a:xfrm>
          <a:prstGeom prst="rect">
            <a:avLst/>
          </a:prstGeom>
          <a:noFill/>
        </p:spPr>
        <p:txBody>
          <a:bodyPr wrap="square" lIns="0" rIns="0" tIns="0" bIns="0" anchor="t">
            <a:spAutoFit/>
          </a:bodyPr>
          <a:lstStyle/>
          <a:p>
            <a:pPr algn="l">
              <a:spcAft>
                <a:spcPts val="400"/>
              </a:spcAft>
            </a:pPr>
            <a:r>
              <a:rPr sz="1500" b="0" i="0">
                <a:solidFill>
                  <a:srgbClr val="475569"/>
                </a:solidFill>
              </a:rPr>
              <a:t>De-duplicate, map acquired/IPO to SUCCESS and closed to FAILURE, impute, scale, one-hot encode and add log funding: 37 structured features.</a:t>
            </a:r>
          </a:p>
        </p:txBody>
      </p:sp>
      <p:sp>
        <p:nvSpPr>
          <p:cNvPr id="30" name="Rounded Rectangle 29"/>
          <p:cNvSpPr/>
          <p:nvPr/>
        </p:nvSpPr>
        <p:spPr>
          <a:xfrm>
            <a:off x="3364992"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Represent</a:t>
            </a:r>
          </a:p>
        </p:txBody>
      </p:sp>
      <p:sp>
        <p:nvSpPr>
          <p:cNvPr id="33" name="TextBox 32"/>
          <p:cNvSpPr txBox="1"/>
          <p:nvPr/>
        </p:nvSpPr>
        <p:spPr>
          <a:xfrm>
            <a:off x="3566160" y="2194560"/>
            <a:ext cx="2231136" cy="2103120"/>
          </a:xfrm>
          <a:prstGeom prst="rect">
            <a:avLst/>
          </a:prstGeom>
          <a:noFill/>
        </p:spPr>
        <p:txBody>
          <a:bodyPr wrap="square" lIns="0" rIns="0" tIns="0" bIns="0" anchor="t">
            <a:spAutoFit/>
          </a:bodyPr>
          <a:lstStyle/>
          <a:p>
            <a:pPr algn="l">
              <a:spcAft>
                <a:spcPts val="400"/>
              </a:spcAft>
            </a:pPr>
            <a:r>
              <a:rPr sz="1500" b="0" i="0">
                <a:solidFill>
                  <a:srgbClr val="475569"/>
                </a:solidFill>
              </a:rPr>
              <a:t>Embed the description with all-MiniLM-L6-v2 (384 dimensions, company name masked) and fuse with the structured vector, weight 0.5 each.</a:t>
            </a:r>
          </a:p>
        </p:txBody>
      </p:sp>
      <p:sp>
        <p:nvSpPr>
          <p:cNvPr id="34" name="Rounded Rectangle 33"/>
          <p:cNvSpPr/>
          <p:nvPr/>
        </p:nvSpPr>
        <p:spPr>
          <a:xfrm>
            <a:off x="6181344"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Predict</a:t>
            </a:r>
          </a:p>
        </p:txBody>
      </p:sp>
      <p:sp>
        <p:nvSpPr>
          <p:cNvPr id="37" name="TextBox 36"/>
          <p:cNvSpPr txBox="1"/>
          <p:nvPr/>
        </p:nvSpPr>
        <p:spPr>
          <a:xfrm>
            <a:off x="6382512" y="2194560"/>
            <a:ext cx="2231136" cy="2103120"/>
          </a:xfrm>
          <a:prstGeom prst="rect">
            <a:avLst/>
          </a:prstGeom>
          <a:noFill/>
        </p:spPr>
        <p:txBody>
          <a:bodyPr wrap="square" lIns="0" rIns="0" tIns="0" bIns="0" anchor="t">
            <a:spAutoFit/>
          </a:bodyPr>
          <a:lstStyle/>
          <a:p>
            <a:pPr algn="l">
              <a:spcAft>
                <a:spcPts val="400"/>
              </a:spcAft>
            </a:pPr>
            <a:r>
              <a:rPr sz="1500" b="0" i="0">
                <a:solidFill>
                  <a:srgbClr val="475569"/>
                </a:solidFill>
              </a:rPr>
              <a:t>Logistic Regression, Decision Tree, Random Forest and XGBoost with class weights; the best by balanced accuracy over 5 stratified 80/20 splits serves.</a:t>
            </a:r>
          </a:p>
        </p:txBody>
      </p:sp>
      <p:sp>
        <p:nvSpPr>
          <p:cNvPr id="38" name="Rounded Rectangle 37"/>
          <p:cNvSpPr/>
          <p:nvPr/>
        </p:nvSpPr>
        <p:spPr>
          <a:xfrm>
            <a:off x="8997696"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Explain</a:t>
            </a:r>
          </a:p>
        </p:txBody>
      </p:sp>
      <p:sp>
        <p:nvSpPr>
          <p:cNvPr id="41" name="TextBox 40"/>
          <p:cNvSpPr txBox="1"/>
          <p:nvPr/>
        </p:nvSpPr>
        <p:spPr>
          <a:xfrm>
            <a:off x="9198864" y="2194560"/>
            <a:ext cx="2231136" cy="2103120"/>
          </a:xfrm>
          <a:prstGeom prst="rect">
            <a:avLst/>
          </a:prstGeom>
          <a:noFill/>
        </p:spPr>
        <p:txBody>
          <a:bodyPr wrap="square" lIns="0" rIns="0" tIns="0" bIns="0" anchor="t">
            <a:spAutoFit/>
          </a:bodyPr>
          <a:lstStyle/>
          <a:p>
            <a:pPr algn="l">
              <a:spcAft>
                <a:spcPts val="400"/>
              </a:spcAft>
            </a:pPr>
            <a:r>
              <a:rPr sz="1500" b="0" i="0">
                <a:solidFill>
                  <a:srgbClr val="475569"/>
                </a:solidFill>
              </a:rPr>
              <a:t>Balanced top-k cosine retrieval of comparable startups (training rows only), top-5 feature drivers and a risk label.</a:t>
            </a:r>
          </a:p>
        </p:txBody>
      </p:sp>
      <p:sp>
        <p:nvSpPr>
          <p:cNvPr id="42" name="Rounded Rectangle 41"/>
          <p:cNvSpPr/>
          <p:nvPr/>
        </p:nvSpPr>
        <p:spPr>
          <a:xfrm>
            <a:off x="548640" y="466344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49377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V</a:t>
            </a:r>
          </a:p>
        </p:txBody>
      </p:sp>
      <p:sp>
        <p:nvSpPr>
          <p:cNvPr id="44" name="TextBox 43"/>
          <p:cNvSpPr txBox="1"/>
          <p:nvPr/>
        </p:nvSpPr>
        <p:spPr>
          <a:xfrm>
            <a:off x="1645920" y="4846320"/>
            <a:ext cx="9784080" cy="457200"/>
          </a:xfrm>
          <a:prstGeom prst="rect">
            <a:avLst/>
          </a:prstGeom>
          <a:noFill/>
        </p:spPr>
        <p:txBody>
          <a:bodyPr wrap="square" lIns="0" rIns="0" tIns="0" bIns="0" anchor="t">
            <a:spAutoFit/>
          </a:bodyPr>
          <a:lstStyle/>
          <a:p>
            <a:pPr algn="l">
              <a:spcAft>
                <a:spcPts val="400"/>
              </a:spcAft>
            </a:pPr>
            <a:r>
              <a:rPr sz="1700" b="1" i="0">
                <a:solidFill>
                  <a:srgbClr val="0F172A"/>
                </a:solidFill>
              </a:rPr>
              <a:t>Application</a:t>
            </a:r>
          </a:p>
        </p:txBody>
      </p:sp>
      <p:sp>
        <p:nvSpPr>
          <p:cNvPr id="45" name="TextBox 44"/>
          <p:cNvSpPr txBox="1"/>
          <p:nvPr/>
        </p:nvSpPr>
        <p:spPr>
          <a:xfrm>
            <a:off x="1645920" y="5303520"/>
            <a:ext cx="9784080" cy="685800"/>
          </a:xfrm>
          <a:prstGeom prst="rect">
            <a:avLst/>
          </a:prstGeom>
          <a:noFill/>
        </p:spPr>
        <p:txBody>
          <a:bodyPr wrap="square" lIns="0" rIns="0" tIns="0" bIns="0" anchor="t">
            <a:spAutoFit/>
          </a:bodyPr>
          <a:lstStyle/>
          <a:p>
            <a:pPr algn="l">
              <a:spcAft>
                <a:spcPts val="400"/>
              </a:spcAft>
            </a:pPr>
            <a:r>
              <a:rPr sz="1500" b="0" i="0">
                <a:solidFill>
                  <a:srgbClr val="475569"/>
                </a:solidFill>
              </a:rPr>
              <a:t>VenturePulse: React interface over a FastAPI service, running locally with no external prediction service. Analyse a startup, compare models, and browse data insights.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3125686" y="1188720"/>
            <a:ext cx="5910146" cy="4846320"/>
          </a:xfrm>
          <a:prstGeom prst="rect">
            <a:avLst/>
          </a:prstGeom>
        </p:spPr>
      </p:pic>
      <p:sp>
        <p:nvSpPr>
          <p:cNvPr id="27" name="TextBox 26"/>
          <p:cNvSpPr txBox="1"/>
          <p:nvPr/>
        </p:nvSpPr>
        <p:spPr>
          <a:xfrm>
            <a:off x="548640" y="6053328"/>
            <a:ext cx="11091672" cy="274320"/>
          </a:xfrm>
          <a:prstGeom prst="rect">
            <a:avLst/>
          </a:prstGeom>
          <a:noFill/>
        </p:spPr>
        <p:txBody>
          <a:bodyPr wrap="square" lIns="0" rIns="0" tIns="0" bIns="0" anchor="t">
            <a:spAutoFit/>
          </a:bodyPr>
          <a:lstStyle/>
          <a:p>
            <a:pPr algn="ctr">
              <a:spcAft>
                <a:spcPts val="400"/>
              </a:spcAft>
            </a:pPr>
            <a:r>
              <a:rPr sz="1200" b="0" i="1">
                <a:solidFill>
                  <a:srgbClr val="475569"/>
                </a:solidFill>
              </a:rPr>
              <a:t>Browser UI, FastAPI service, the ML modules (preprocessing, embeddings, retrieval, models) and the saved model artefacts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predictor</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 trained, compared set of four classifiers with the best one serving predictions.</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Measured comparison</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Accuracy, precision, recall, F1 and ROC-AUC with mean and spread over repeated splits.</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Imbalance handled</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Class weighting compared with oversampling and decision thresholds.</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Drivers named</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Feature importance and per-prediction contributions.</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Evidence shown</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Comparable historical startups with similarity, outcome and funding.</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limits</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Data source, leakage-like fields and untested parts stated plainly.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234440"/>
            <a:ext cx="11091672" cy="5029200"/>
          </a:xfrm>
          <a:prstGeom prst="rect">
            <a:avLst/>
          </a:prstGeom>
          <a:noFill/>
        </p:spPr>
        <p:txBody>
          <a:bodyPr wrap="square" lIns="0" rIns="0" tIns="0" bIns="0" anchor="t">
            <a:spAutoFit/>
          </a:bodyPr>
          <a:lstStyle/>
          <a:p>
            <a:pPr algn="l">
              <a:spcAft>
                <a:spcPts val="500"/>
              </a:spcAft>
            </a:pPr>
            <a:r>
              <a:rPr sz="1400" b="0" i="0">
                <a:solidFill>
                  <a:srgbClr val="0F172A"/>
                </a:solidFill>
              </a:rPr>
              <a:t>[1] M. Panjwani, P. Shrivastava, P. Hande, G. Meshram, N. Verma and D. Gotmare, "Startup success prediction using machine learning and ensemble techniques," Int. J. Res. Appl. Sci. Eng. Technol. (IJRASET), vol. 14, no. IV, Apr. 2026, doi: 10.22214/ijraset.2026.80226.</a:t>
            </a:r>
          </a:p>
          <a:p>
            <a:pPr algn="l">
              <a:spcAft>
                <a:spcPts val="500"/>
              </a:spcAft>
            </a:pPr>
            <a:r>
              <a:rPr sz="1400" b="0" i="0">
                <a:solidFill>
                  <a:srgbClr val="0F172A"/>
                </a:solidFill>
              </a:rPr>
              <a:t>[2] A. Maarouf, A. Bakiaj and S. Feuerriegel, "Predicting startup success using large language models: A novel in-context learning approach," arXiv:2601.16568, Jan. 2026.</a:t>
            </a:r>
          </a:p>
          <a:p>
            <a:pPr algn="l">
              <a:spcAft>
                <a:spcPts val="500"/>
              </a:spcAft>
            </a:pPr>
            <a:r>
              <a:rPr sz="1400" b="0" i="0">
                <a:solidFill>
                  <a:srgbClr val="0F172A"/>
                </a:solidFill>
              </a:rPr>
              <a:t>[3] S. Mashhadi, A. Saghezchi and V. G. Kashani, "Interpretable machine learning for predicting startup funding, patenting, and exits," arXiv:2510.09465, 2026.</a:t>
            </a:r>
          </a:p>
          <a:p>
            <a:pPr algn="l">
              <a:spcAft>
                <a:spcPts val="500"/>
              </a:spcAft>
            </a:pPr>
            <a:r>
              <a:rPr sz="1400" b="0" i="0">
                <a:solidFill>
                  <a:srgbClr val="0F172A"/>
                </a:solidFill>
              </a:rPr>
              <a:t>[7] M. Razaghzadeh Bidgoli, I. Raeesi Vanani and M. Goodarzi, "Predicting the success of startups using a machine learning approach," J. Innov. Entrepreneurship, vol. 13, 2024.</a:t>
            </a:r>
          </a:p>
          <a:p>
            <a:pPr algn="l">
              <a:spcAft>
                <a:spcPts val="500"/>
              </a:spcAft>
            </a:pPr>
            <a:r>
              <a:rPr sz="1400" b="0" i="0">
                <a:solidFill>
                  <a:srgbClr val="0F172A"/>
                </a:solidFill>
              </a:rPr>
              <a:t>[9] K. Zbikowski and P. Antosiuk, "A machine learning, bias-free approach for predicting business success using Crunchbase data," Inf. Process. Manage., vol. 58, no. 2, 2021.</a:t>
            </a:r>
          </a:p>
          <a:p>
            <a:pPr algn="l">
              <a:spcAft>
                <a:spcPts val="500"/>
              </a:spcAft>
            </a:pPr>
            <a:r>
              <a:rPr sz="1400" b="0" i="0">
                <a:solidFill>
                  <a:srgbClr val="0F172A"/>
                </a:solidFill>
              </a:rPr>
              <a:t>[11] G. Ross, S. Das, D. Sciro and H. Raza, "CapitalVX: A machine learning model for startup selection and exit prediction," J. Finance Data Sci., vol. 7, pp. 94-114, 2021.</a:t>
            </a:r>
          </a:p>
          <a:p>
            <a:pPr algn="l">
              <a:spcAft>
                <a:spcPts val="500"/>
              </a:spcAft>
            </a:pPr>
            <a:r>
              <a:rPr sz="1400" b="0" i="0">
                <a:solidFill>
                  <a:srgbClr val="0F172A"/>
                </a:solidFill>
              </a:rPr>
              <a:t>[16] L. Gius, "Disagreement predicts startup success: Evidence from venture competitions," Strategy Sci., vol. 10, no. 2, pp. 93-108, Jun. 2025, doi: 10.1287/stsc.2024.0169.</a:t>
            </a:r>
          </a:p>
          <a:p>
            <a:pPr algn="l">
              <a:spcAft>
                <a:spcPts val="500"/>
              </a:spcAft>
            </a:pPr>
            <a:r>
              <a:rPr sz="1400" b="0" i="0">
                <a:solidFill>
                  <a:srgbClr val="0F172A"/>
                </a:solidFill>
              </a:rPr>
              <a:t>[18] L. Breiman, "Random forests," Mach. Learn., vol. 45, no. 1, pp. 5-32, Oct. 2001.</a:t>
            </a:r>
          </a:p>
          <a:p>
            <a:pPr algn="l">
              <a:spcAft>
                <a:spcPts val="500"/>
              </a:spcAft>
            </a:pPr>
            <a:r>
              <a:rPr sz="1400" b="0" i="0">
                <a:solidFill>
                  <a:srgbClr val="0F172A"/>
                </a:solidFill>
              </a:rPr>
              <a:t>[22] H. He and E. A. Garcia, "Learning from imbalanced data," IEEE Trans. Knowl. Data Eng., vol. 21, no. 9, pp. 1263-1284, Sep. 2009.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VenturePulse">
  <a:themeElements>
    <a:clrScheme name="VenturePulse">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Venture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VenturePuls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Efficient Novel Approach for Predicting Startup Company Success Rates Using Advanced Machine Learning Paradigms: Review 1</dc:title>
  <dc:subject>Batch C10 (CSE-C)</dc:subject>
  <dc:creator>Orchu Shirisha, Mudavath Raghavendar, Majgi Vaishnavi, Polishetty Poojitha</dc:creator>
  <cp:lastModifiedBy/>
  <cp:revision>1</cp:revision>
  <dcterms:created xsi:type="dcterms:W3CDTF">2026-10-13T12:36:40Z</dcterms:created>
  <dcterms:modified xsi:type="dcterms:W3CDTF">2026-10-13T12:36:40Z</dcterms:modified>
  <cp:keywords>Startup Success Prediction; Machine Learning; Predictive Analytics; Business Analytics; Classification Algorithms; Random Forest; Decision Tree; Logistic Regression; Feature Engineering; Artificial Intelligence</cp:keywords>
  <dc:description/>
</cp:coreProperties>
</file>