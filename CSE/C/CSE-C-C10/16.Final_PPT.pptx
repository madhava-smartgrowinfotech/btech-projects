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project: VenturePulse, a startup outcome predictor that returns a prediction, the comparable historical startups and the feature drivers.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pipeline bullet, then the real-data headline with its protocol, then say plainly that the shipped app uses synthetic data and that the 85-92 % level was not reproduced.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structured-data ensemble comparison with a Flask interface. We adopt its model set and its metrics; we add retrieved evidence, a React application and a measured, honest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work; figures for [1]-[3], [16], [17] come from the papers or confirmed pages, entries marked via [1] are known only through the base paper's reference 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gaps. We build for the second and fifth and test the third and fourth honestly; the stated gap about team data is only partly addressed because no team-experience field exists.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predict, show the evidence and drivers, and report honestly how reliable the estimate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reports which were met: objectives 1 and 2 only partly (no founder or team-experience data exist in either dataset).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pipeline as a row of boxes, then four properties that matter.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tiers plus file storage; the services layer loads the artefacts into an in-memory state on first use and trains if they are missing.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method and, as important, the studies that test whether the headline numbers can be trusted.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datasets, never mixed up. The representation chart is from the synthetic table, where text carries the label by construction.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algorithm. The last bullet is a result from the extra studies: retrieval is competitive with the linear model without any 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one prediction request and the use cases. Sign-in is a demo account that only gates the React screens.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the product stores files, not rows.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lazy artefact loading, strict input validation, demo token and explained results.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ensembles beat the linear model, balanced accuracy 0.746, ROC-AUC about 0.81. The leakage ablation says the real numbers are an upper bound for early-stage prediction.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are the true class. The imbalance in this table is the reverse of the batch objective's assumption: success is the majority.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Threshold and feature analysis. The default 0.5 is not special; the choice moves recall and precision, not balanced accuracy.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Inference is fast enough for interactive use; the MiniLM embedding dominates the predict latency. The tests cover the library and the API, not the browser.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datasets and protocols differ; no superiority or inferiority claim is possible from these numbers.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app. The data note on the dashboard tells the user that the synthetic fallback is in use.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real prediction: outcome, drivers, evidence split and comparable startups. Say again that the model behind this screen was trained on the synthetic fallback.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Analytics screens read their numbers from the stored evaluation of the served model, so they show synthetic-data statistics.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the system works; the real-data numbers are an upper bound and the 85-92 % level of the base paper was not reproduced.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the first three follow directly from the findings.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with their report numbers; the complete numbered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An Efficient Novel Approach for Predicting Startup Company Success Rates Using Advanced Machine Learning Paradigms</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VenturePulse</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C10</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23K91A05H6   Orchu Shirisha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23K91A05G1   Mudavath Raghavendar</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23K91A05E0   Majgi Vaishnavi</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23K91A05J4   Polishetty Poojitha</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P Prasanna</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[COLLEGE NAME]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Methodology, Datasets &amp; Model</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Decision Logic, Interaction &amp; Data Design</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Results, Confusion Matrix &amp; Threshold Analysis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Performance &amp; Testing</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Comparison with the Base Papers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7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Most startups fail and investors judge prospects largely by experience and intuition; a data-driven early signal that names its drivers is missing.</a:t>
            </a:r>
          </a:p>
          <a:p>
            <a:pPr algn="l" marL="256032" indent="-201168">
              <a:spcAft>
                <a:spcPts val="1000"/>
              </a:spcAft>
              <a:buChar char="•"/>
            </a:pPr>
            <a:r>
              <a:rPr sz="1800" b="0" i="0">
                <a:solidFill>
                  <a:srgbClr val="222222"/>
                </a:solidFill>
                <a:latin typeface="Calibri"/>
                <a:ea typeface="Calibri"/>
                <a:cs typeface="Calibri"/>
              </a:rPr>
              <a:t>VenturePulse scales funding, rounds, milestones, relationships, investor flags, state and industry, embeds an optional business description (MiniLM, 384-d) and fuses both. It returns SUCCESS or FAILURE with a confidence, the comparable historical startups and the top feature drivers.</a:t>
            </a:r>
          </a:p>
          <a:p>
            <a:pPr algn="l" marL="256032" indent="-201168">
              <a:spcAft>
                <a:spcPts val="1000"/>
              </a:spcAft>
              <a:buChar char="•"/>
            </a:pPr>
            <a:r>
              <a:rPr sz="1800" b="0" i="0">
                <a:solidFill>
                  <a:srgbClr val="222222"/>
                </a:solidFill>
                <a:latin typeface="Calibri"/>
                <a:ea typeface="Calibri"/>
                <a:cs typeface="Calibri"/>
              </a:rPr>
              <a:t>On the real public table (922 start-ups, structured columns only, 5 x 80/20 splits) Random Forest and XGBoost reach balanced accuracy 0.746 and ROC-AUC 0.816 / 0.806; the base paper's 85-92 % accuracy is not reproduced (best 77.5 %).</a:t>
            </a:r>
          </a:p>
          <a:p>
            <a:pPr algn="l" marL="256032" indent="-201168">
              <a:spcAft>
                <a:spcPts val="1000"/>
              </a:spcAft>
              <a:buChar char="•"/>
            </a:pPr>
            <a:r>
              <a:rPr sz="1800" b="0" i="0">
                <a:solidFill>
                  <a:srgbClr val="222222"/>
                </a:solidFill>
                <a:latin typeface="Calibri"/>
                <a:ea typeface="Calibri"/>
                <a:cs typeface="Calibri"/>
              </a:rPr>
              <a:t>The shipped app runs on a synthetic fallback table (1,400 rows), whose scores (LR balanced accuracy 0.749) are a pipeline check, not evidence.</a:t>
            </a:r>
          </a:p>
          <a:p>
            <a:pPr algn="l" marL="256032" indent="-201168">
              <a:spcAft>
                <a:spcPts val="400"/>
              </a:spcAft>
              <a:buChar char="•"/>
            </a:pPr>
            <a:r>
              <a:rPr sz="1800" b="0" i="0">
                <a:solidFill>
                  <a:srgbClr val="222222"/>
                </a:solidFill>
                <a:latin typeface="Calibri"/>
                <a:ea typeface="Calibri"/>
                <a:cs typeface="Calibri"/>
              </a:rPr>
              <a:t>A FastAPI service and a React web app complete the system; 51 automated checks pass.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86868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M. Panjwani, P. Shrivastava, P. Hande, G. Meshram, N. Verma and D. Gotmare, "Startup success prediction using machine learning and ensemble techniques," IJRASET, vol. 14, no. IV, Apr. 2026, doi: 10.22214/ijraset.2026.80226.</a:t>
            </a:r>
          </a:p>
        </p:txBody>
      </p:sp>
      <p:graphicFrame>
        <p:nvGraphicFramePr>
          <p:cNvPr id="8" name="Table 7"/>
          <p:cNvGraphicFramePr>
            <a:graphicFrameLocks noGrp="1"/>
          </p:cNvGraphicFramePr>
          <p:nvPr/>
        </p:nvGraphicFramePr>
        <p:xfrm>
          <a:off x="502920" y="2651760"/>
          <a:ext cx="11155680" cy="3566160"/>
        </p:xfrm>
        <a:graphic>
          <a:graphicData uri="http://schemas.openxmlformats.org/drawingml/2006/table">
            <a:tbl>
              <a:tblPr firstRow="0" bandRow="0">
                <a:tableStyleId>{5C22544A-7EE6-4342-B048-85BDC9FD1C3A}</a:tableStyleId>
              </a:tblPr>
              <a:tblGrid>
                <a:gridCol w="1828800"/>
                <a:gridCol w="9326880"/>
              </a:tblGrid>
              <a:tr h="713232">
                <a:tc>
                  <a:txBody>
                    <a:bodyPr wrap="square"/>
                    <a:lstStyle/>
                    <a:p>
                      <a:pPr algn="ctr"/>
                      <a:r>
                        <a:rPr sz="14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400" b="1">
                          <a:solidFill>
                            <a:srgbClr val="1F3864"/>
                          </a:solidFill>
                          <a:latin typeface="Calibri"/>
                          <a:ea typeface="Calibri"/>
                          <a:cs typeface="Calibri"/>
                        </a:rPr>
                        <a:t>Base paper (Panjwani et al., IJRASET, 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713232">
                <a:tc>
                  <a:txBody>
                    <a:bodyPr wrap="square"/>
                    <a:lstStyle/>
                    <a:p>
                      <a:pPr algn="l"/>
                      <a:r>
                        <a:rPr sz="14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Logistic Regression, Random Forest, SVM and Gradient Boosting on funding, team size, industry and location features; mean/mode imputation, one-hot or label encoding, standard scaling, ADASYN oversampling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400" b="1">
                          <a:solidFill>
                            <a:srgbClr val="222222"/>
                          </a:solidFill>
                          <a:latin typeface="Calibri"/>
                          <a:ea typeface="Calibri"/>
                          <a:cs typeface="Calibri"/>
                        </a:rPr>
                        <a:t>Data and protocol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Public Crunchbase and Kaggle startup data (size not stated); 70:30 train / test split; hyper-parameter tuning; Flask back end with an HTML / CSS / JavaScript front end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13232">
                <a:tc>
                  <a:txBody>
                    <a:bodyPr wrap="square"/>
                    <a:lstStyle/>
                    <a:p>
                      <a:pPr algn="l"/>
                      <a:r>
                        <a:rPr sz="14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Ensembles (Random Forest, Gradient Boosting) best, accuracy 85-92 %; SVM slower; Logistic Regression the weaker baseline; no per-model table, no ROC-AUC values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4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Data quality and imbalance, no real-time data, external market conditions not modelled; future work: deep learning, real-time data, text and social media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91640"/>
          <a:ext cx="11155680" cy="4535424"/>
        </p:xfrm>
        <a:graphic>
          <a:graphicData uri="http://schemas.openxmlformats.org/drawingml/2006/table">
            <a:tbl>
              <a:tblPr firstRow="0" bandRow="0">
                <a:tableStyleId>{5C22544A-7EE6-4342-B048-85BDC9FD1C3A}</a:tableStyleId>
              </a:tblPr>
              <a:tblGrid>
                <a:gridCol w="2103120"/>
                <a:gridCol w="2743200"/>
                <a:gridCol w="2286000"/>
                <a:gridCol w="2194560"/>
                <a:gridCol w="1828800"/>
              </a:tblGrid>
              <a:tr h="566928">
                <a:tc>
                  <a:txBody>
                    <a:bodyPr wrap="square"/>
                    <a:lstStyle/>
                    <a:p>
                      <a:pPr algn="ctr"/>
                      <a:r>
                        <a:rPr sz="1100" b="1">
                          <a:solidFill>
                            <a:srgbClr val="1F3864"/>
                          </a:solidFill>
                          <a:latin typeface="Calibri"/>
                          <a:ea typeface="Calibri"/>
                          <a:cs typeface="Calibri"/>
                        </a:rPr>
                        <a:t>Author / 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Methodology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Dataset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Key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Limitations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100" b="1">
                          <a:solidFill>
                            <a:srgbClr val="222222"/>
                          </a:solidFill>
                          <a:latin typeface="Calibri"/>
                          <a:ea typeface="Calibri"/>
                          <a:cs typeface="Calibri"/>
                        </a:rPr>
                        <a:t>Panjwani et al. 2026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LR, RF, SVM, GB; ADASYN; 70:30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Crunchbase / Kaggle, size not stated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Ensembles 85-92 %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No table, no ROC-AUC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Maarouf et al. 2026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kNN in-context learning with an LLM vs LR, RF, XGBoost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4,034 Crunchbase startups, 35.15 % success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Balanced acc. 0.713 vs LR 0.631, RF 0.634, XGB 0.618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Needs an LLM and text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00" b="1">
                          <a:solidFill>
                            <a:srgbClr val="222222"/>
                          </a:solidFill>
                          <a:latin typeface="Calibri"/>
                          <a:ea typeface="Calibri"/>
                          <a:cs typeface="Calibri"/>
                        </a:rPr>
                        <a:t>Mashhadi et al. 2026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Interpretable ML, inverse weights, SMOTE-NC, SHAP, temporal splits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Crunchbase firm-quarter panel 2010-2023 + USPTO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AUROC 0.921 / 0.817 / 0.872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Panel data not available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Bidgoli et al. 2024 [7] (via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RF, GB, SVM, LR compared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As summarised by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Ensembles above 80 %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Not re-read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00" b="1">
                          <a:solidFill>
                            <a:srgbClr val="222222"/>
                          </a:solidFill>
                          <a:latin typeface="Calibri"/>
                          <a:ea typeface="Calibri"/>
                          <a:cs typeface="Calibri"/>
                        </a:rPr>
                        <a:t>Zbikowski, Antosiuk 2021 [9] (via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Bias-free prediction from Crunchbase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As summarised by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Look-ahead bias inflates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Not re-read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100" b="1">
                          <a:solidFill>
                            <a:srgbClr val="222222"/>
                          </a:solidFill>
                          <a:latin typeface="Calibri"/>
                          <a:ea typeface="Calibri"/>
                          <a:cs typeface="Calibri"/>
                        </a:rPr>
                        <a:t>Gius 2025 [16]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Judge disagreement as predictor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67 venture competitions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Disagreement predicts success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Not a classifier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100" b="1">
                          <a:solidFill>
                            <a:srgbClr val="222222"/>
                          </a:solidFill>
                          <a:latin typeface="Calibri"/>
                          <a:ea typeface="Calibri"/>
                          <a:cs typeface="Calibri"/>
                        </a:rPr>
                        <a:t>Bhandari 2025 [17]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Survey, correlation, regression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120 respondents, Nepal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Venture capital positively associated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Small survey, association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83080"/>
            <a:ext cx="11155680" cy="4389120"/>
          </a:xfrm>
          <a:prstGeom prst="rect">
            <a:avLst/>
          </a:prstGeom>
          <a:noFill/>
        </p:spPr>
        <p:txBody>
          <a:bodyPr wrap="square" lIns="0" rIns="0" tIns="0" bIns="0" anchor="t">
            <a:spAutoFit/>
          </a:bodyPr>
          <a:lstStyle/>
          <a:p>
            <a:pPr algn="l" marL="256032" indent="-201168">
              <a:spcAft>
                <a:spcPts val="1200"/>
              </a:spcAft>
              <a:buChar char="•"/>
            </a:pPr>
            <a:r>
              <a:rPr sz="1800" b="1" i="0">
                <a:solidFill>
                  <a:srgbClr val="222222"/>
                </a:solidFill>
                <a:latin typeface="Calibri"/>
                <a:ea typeface="Calibri"/>
                <a:cs typeface="Calibri"/>
              </a:rPr>
              <a:t>Stated gap:</a:t>
            </a:r>
            <a:r>
              <a:rPr sz="1800" b="0" i="0">
                <a:solidFill>
                  <a:srgbClr val="222222"/>
                </a:solidFill>
                <a:latin typeface="Calibri"/>
                <a:ea typeface="Calibri"/>
                <a:cs typeface="Calibri"/>
              </a:rPr>
              <a:t> The surveyed work applies ensemble methods to startup success prediction. The gap is systematic feature engineering around funding velocity and team composition, with explicit handling of the rare-success class.</a:t>
            </a:r>
          </a:p>
          <a:p>
            <a:pPr algn="l" marL="256032" indent="-201168">
              <a:spcAft>
                <a:spcPts val="1200"/>
              </a:spcAft>
              <a:buChar char="•"/>
            </a:pPr>
            <a:r>
              <a:rPr sz="1800" b="1" i="0">
                <a:solidFill>
                  <a:srgbClr val="222222"/>
                </a:solidFill>
                <a:latin typeface="Calibri"/>
                <a:ea typeface="Calibri"/>
                <a:cs typeface="Calibri"/>
              </a:rPr>
              <a:t>Evidence, not just a label:</a:t>
            </a:r>
            <a:r>
              <a:rPr sz="1800" b="0" i="0">
                <a:solidFill>
                  <a:srgbClr val="222222"/>
                </a:solidFill>
                <a:latin typeface="Calibri"/>
                <a:ea typeface="Calibri"/>
                <a:cs typeface="Calibri"/>
              </a:rPr>
              <a:t> most systems output a probability only; founders and investors need the comparable cases and the drivers behind it.</a:t>
            </a:r>
          </a:p>
          <a:p>
            <a:pPr algn="l" marL="256032" indent="-201168">
              <a:spcAft>
                <a:spcPts val="1200"/>
              </a:spcAft>
              <a:buChar char="•"/>
            </a:pPr>
            <a:r>
              <a:rPr sz="1800" b="1" i="0">
                <a:solidFill>
                  <a:srgbClr val="222222"/>
                </a:solidFill>
                <a:latin typeface="Calibri"/>
                <a:ea typeface="Calibri"/>
                <a:cs typeface="Calibri"/>
              </a:rPr>
              <a:t>Leakage and imbalance are rarely tested:</a:t>
            </a:r>
            <a:r>
              <a:rPr sz="1800" b="0" i="0">
                <a:solidFill>
                  <a:srgbClr val="222222"/>
                </a:solidFill>
                <a:latin typeface="Calibri"/>
                <a:ea typeface="Calibri"/>
                <a:cs typeface="Calibri"/>
              </a:rPr>
              <a:t> fields recorded after the outcome window and class prevalence both change what a score means.</a:t>
            </a:r>
          </a:p>
          <a:p>
            <a:pPr algn="l" marL="256032" indent="-201168">
              <a:spcAft>
                <a:spcPts val="1200"/>
              </a:spcAft>
              <a:buChar char="•"/>
            </a:pPr>
            <a:r>
              <a:rPr sz="1800" b="1" i="0">
                <a:solidFill>
                  <a:srgbClr val="222222"/>
                </a:solidFill>
                <a:latin typeface="Calibri"/>
                <a:ea typeface="Calibri"/>
                <a:cs typeface="Calibri"/>
              </a:rPr>
              <a:t>Fair baselines:</a:t>
            </a:r>
            <a:r>
              <a:rPr sz="1800" b="0" i="0">
                <a:solidFill>
                  <a:srgbClr val="222222"/>
                </a:solidFill>
                <a:latin typeface="Calibri"/>
                <a:ea typeface="Calibri"/>
                <a:cs typeface="Calibri"/>
              </a:rPr>
              <a:t> a trained-free retrieval baseline and a simple linear model are seldom reported next to the ensembles.</a:t>
            </a:r>
          </a:p>
          <a:p>
            <a:pPr algn="l" marL="256032" indent="-201168">
              <a:spcAft>
                <a:spcPts val="400"/>
              </a:spcAft>
              <a:buChar char="•"/>
            </a:pPr>
            <a:r>
              <a:rPr sz="1800" b="1" i="0">
                <a:solidFill>
                  <a:srgbClr val="222222"/>
                </a:solidFill>
                <a:latin typeface="Calibri"/>
                <a:ea typeface="Calibri"/>
                <a:cs typeface="Calibri"/>
              </a:rPr>
              <a:t>Usability:</a:t>
            </a:r>
            <a:r>
              <a:rPr sz="1800" b="0" i="0">
                <a:solidFill>
                  <a:srgbClr val="222222"/>
                </a:solidFill>
                <a:latin typeface="Calibri"/>
                <a:ea typeface="Calibri"/>
                <a:cs typeface="Calibri"/>
              </a:rPr>
              <a:t> few works package the predictor so that a non-expert can enter a startup profile and read the result.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83080"/>
            <a:ext cx="11155680" cy="19202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10607040" cy="1828800"/>
          </a:xfrm>
          <a:prstGeom prst="rect">
            <a:avLst/>
          </a:prstGeom>
          <a:noFill/>
        </p:spPr>
        <p:txBody>
          <a:bodyPr wrap="square" lIns="0" rIns="0" tIns="0" bIns="0" anchor="ctr">
            <a:spAutoFit/>
          </a:bodyPr>
          <a:lstStyle/>
          <a:p>
            <a:pPr algn="l">
              <a:spcAft>
                <a:spcPts val="400"/>
              </a:spcAft>
            </a:pPr>
            <a:r>
              <a:rPr sz="1600" b="0" i="0">
                <a:solidFill>
                  <a:srgbClr val="222222"/>
                </a:solidFill>
                <a:latin typeface="Calibri"/>
                <a:ea typeface="Calibri"/>
                <a:cs typeface="Calibri"/>
              </a:rPr>
              <a:t>Given the funding history, team and ecosystem indicators, sector, location and (optionally) a short business description of an early-stage startup, estimate whether it is more likely to reach SUCCESS (acquisition or IPO) or FAILURE (closure), report a confidence score, name the features and the comparable historical startups that drive the estimate, and state plainly how reliable such an estimate is.</a:t>
            </a:r>
          </a:p>
        </p:txBody>
      </p:sp>
      <p:sp>
        <p:nvSpPr>
          <p:cNvPr id="9" name="Rounded Rectangle 8"/>
          <p:cNvSpPr/>
          <p:nvPr/>
        </p:nvSpPr>
        <p:spPr>
          <a:xfrm>
            <a:off x="502920" y="3977639"/>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690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52628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Funding, rounds, milestones, relationships, investor flags, state, industry, optional description</a:t>
            </a:r>
          </a:p>
        </p:txBody>
      </p:sp>
      <p:sp>
        <p:nvSpPr>
          <p:cNvPr id="12" name="Rounded Rectangle 11"/>
          <p:cNvSpPr/>
          <p:nvPr/>
        </p:nvSpPr>
        <p:spPr>
          <a:xfrm>
            <a:off x="4251959" y="3977639"/>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0690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52628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SUCCESS / FAILURE, confidence, risk label, comparable startups, top feature drivers</a:t>
            </a:r>
          </a:p>
        </p:txBody>
      </p:sp>
      <p:sp>
        <p:nvSpPr>
          <p:cNvPr id="15" name="Rounded Rectangle 14"/>
          <p:cNvSpPr/>
          <p:nvPr/>
        </p:nvSpPr>
        <p:spPr>
          <a:xfrm>
            <a:off x="8001000" y="3977639"/>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06908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Evidence</a:t>
            </a:r>
          </a:p>
        </p:txBody>
      </p:sp>
      <p:sp>
        <p:nvSpPr>
          <p:cNvPr id="17" name="TextBox 16"/>
          <p:cNvSpPr txBox="1"/>
          <p:nvPr/>
        </p:nvSpPr>
        <p:spPr>
          <a:xfrm>
            <a:off x="8183879" y="452628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Held-out metrics on real and synthetic data, ablations, latency, tests</a:t>
            </a:r>
          </a:p>
        </p:txBody>
      </p:sp>
      <p:sp>
        <p:nvSpPr>
          <p:cNvPr id="18" name="TextBox 17"/>
          <p:cNvSpPr txBox="1"/>
          <p:nvPr/>
        </p:nvSpPr>
        <p:spPr>
          <a:xfrm>
            <a:off x="502920" y="5623560"/>
            <a:ext cx="11155680" cy="45720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Need: Startup success is judged subjectively, leading to inconsistent investment decisions; the project needs a machine learning model that predicts startup success early and names the factors behind each prediction.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a:spcAft>
                <a:spcPts val="1200"/>
              </a:spcAft>
            </a:pPr>
            <a:r>
              <a:rPr sz="2000" b="0" i="0">
                <a:solidFill>
                  <a:srgbClr val="222222"/>
                </a:solidFill>
                <a:latin typeface="Calibri"/>
                <a:ea typeface="Calibri"/>
                <a:cs typeface="Calibri"/>
              </a:rPr>
              <a:t>1.  Collect a startup dataset covering funding history, team background, sector, location and outcome.</a:t>
            </a:r>
          </a:p>
          <a:p>
            <a:pPr algn="l">
              <a:spcAft>
                <a:spcPts val="1200"/>
              </a:spcAft>
            </a:pPr>
            <a:r>
              <a:rPr sz="2000" b="0" i="0">
                <a:solidFill>
                  <a:srgbClr val="222222"/>
                </a:solidFill>
                <a:latin typeface="Calibri"/>
                <a:ea typeface="Calibri"/>
                <a:cs typeface="Calibri"/>
              </a:rPr>
              <a:t>2.  Clean the data and engineer features capturing funding velocity, team experience and market context.</a:t>
            </a:r>
          </a:p>
          <a:p>
            <a:pPr algn="l">
              <a:spcAft>
                <a:spcPts val="1200"/>
              </a:spcAft>
            </a:pPr>
            <a:r>
              <a:rPr sz="2000" b="0" i="0">
                <a:solidFill>
                  <a:srgbClr val="222222"/>
                </a:solidFill>
                <a:latin typeface="Calibri"/>
                <a:ea typeface="Calibri"/>
                <a:cs typeface="Calibri"/>
              </a:rPr>
              <a:t>3.  Address class imbalance between successful and failed startups.</a:t>
            </a:r>
          </a:p>
          <a:p>
            <a:pPr algn="l">
              <a:spcAft>
                <a:spcPts val="1200"/>
              </a:spcAft>
            </a:pPr>
            <a:r>
              <a:rPr sz="2000" b="0" i="0">
                <a:solidFill>
                  <a:srgbClr val="222222"/>
                </a:solidFill>
                <a:latin typeface="Calibri"/>
                <a:ea typeface="Calibri"/>
                <a:cs typeface="Calibri"/>
              </a:rPr>
              <a:t>4.  Train and compare Logistic Regression, Decision Tree, Random Forest and boosting ensembles.</a:t>
            </a:r>
          </a:p>
          <a:p>
            <a:pPr algn="l">
              <a:spcAft>
                <a:spcPts val="1200"/>
              </a:spcAft>
            </a:pPr>
            <a:r>
              <a:rPr sz="2000" b="0" i="0">
                <a:solidFill>
                  <a:srgbClr val="222222"/>
                </a:solidFill>
                <a:latin typeface="Calibri"/>
                <a:ea typeface="Calibri"/>
                <a:cs typeface="Calibri"/>
              </a:rPr>
              <a:t>5.  Identify the features that most strongly separate successful from failed startups.</a:t>
            </a:r>
          </a:p>
          <a:p>
            <a:pPr algn="l">
              <a:spcAft>
                <a:spcPts val="1200"/>
              </a:spcAft>
            </a:pPr>
            <a:r>
              <a:rPr sz="2000" b="0" i="0">
                <a:solidFill>
                  <a:srgbClr val="222222"/>
                </a:solidFill>
                <a:latin typeface="Calibri"/>
                <a:ea typeface="Calibri"/>
                <a:cs typeface="Calibri"/>
              </a:rPr>
              <a:t>6.  Evaluate using accuracy, precision, recall, F1-score and ROC-AUC.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82880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Startup profile</a:t>
            </a:r>
          </a:p>
        </p:txBody>
      </p:sp>
      <p:sp>
        <p:nvSpPr>
          <p:cNvPr id="8" name="Right Arrow 7"/>
          <p:cNvSpPr/>
          <p:nvPr/>
        </p:nvSpPr>
        <p:spPr>
          <a:xfrm>
            <a:off x="253746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82880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Scale + one-hot (37)</a:t>
            </a:r>
          </a:p>
        </p:txBody>
      </p:sp>
      <p:sp>
        <p:nvSpPr>
          <p:cNvPr id="10" name="Right Arrow 9"/>
          <p:cNvSpPr/>
          <p:nvPr/>
        </p:nvSpPr>
        <p:spPr>
          <a:xfrm>
            <a:off x="483260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82880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MiniLM text (384)</a:t>
            </a:r>
          </a:p>
        </p:txBody>
      </p:sp>
      <p:sp>
        <p:nvSpPr>
          <p:cNvPr id="12" name="Right Arrow 11"/>
          <p:cNvSpPr/>
          <p:nvPr/>
        </p:nvSpPr>
        <p:spPr>
          <a:xfrm>
            <a:off x="712774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82880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Fuse, alpha 0.5</a:t>
            </a:r>
          </a:p>
        </p:txBody>
      </p:sp>
      <p:sp>
        <p:nvSpPr>
          <p:cNvPr id="14" name="Right Arrow 13"/>
          <p:cNvSpPr/>
          <p:nvPr/>
        </p:nvSpPr>
        <p:spPr>
          <a:xfrm>
            <a:off x="9422892"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82880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ea typeface="Calibri"/>
                <a:cs typeface="Calibri"/>
              </a:rPr>
              <a:t>Classifier + retrieval</a:t>
            </a:r>
          </a:p>
        </p:txBody>
      </p:sp>
      <p:sp>
        <p:nvSpPr>
          <p:cNvPr id="16" name="TextBox 15"/>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Structured block: median / most-frequent imputation, StandardScaler, one-hot state and industry, log funding; text block: description cleaned, company name masked, embedded with all-MiniLM-L6-v2.</a:t>
            </a:r>
          </a:p>
          <a:p>
            <a:pPr algn="l" marL="256032" indent="-201168">
              <a:spcAft>
                <a:spcPts val="1000"/>
              </a:spcAft>
              <a:buChar char="•"/>
            </a:pPr>
            <a:r>
              <a:rPr sz="1700" b="0" i="0">
                <a:solidFill>
                  <a:srgbClr val="222222"/>
                </a:solidFill>
                <a:latin typeface="Calibri"/>
                <a:ea typeface="Calibri"/>
                <a:cs typeface="Calibri"/>
              </a:rPr>
              <a:t>Fused vector [0.5 s, 0.5 t], L2-normalised; cosine retrieval of k comparable startups from the TRAINING rows only, half SUCCESS and half FAILURE.</a:t>
            </a:r>
          </a:p>
          <a:p>
            <a:pPr algn="l" marL="256032" indent="-201168">
              <a:spcAft>
                <a:spcPts val="1000"/>
              </a:spcAft>
              <a:buChar char="•"/>
            </a:pPr>
            <a:r>
              <a:rPr sz="1700" b="0" i="0">
                <a:solidFill>
                  <a:srgbClr val="222222"/>
                </a:solidFill>
                <a:latin typeface="Calibri"/>
                <a:ea typeface="Calibri"/>
                <a:cs typeface="Calibri"/>
              </a:rPr>
              <a:t>Logistic Regression, Decision Tree, Random Forest and XGBoost are compared; the best by balanced accuracy serves predictions with a risk label.</a:t>
            </a:r>
          </a:p>
          <a:p>
            <a:pPr algn="l" marL="256032" indent="-201168">
              <a:spcAft>
                <a:spcPts val="400"/>
              </a:spcAft>
              <a:buChar char="•"/>
            </a:pPr>
            <a:r>
              <a:rPr sz="1700" b="0" i="0">
                <a:solidFill>
                  <a:srgbClr val="222222"/>
                </a:solidFill>
                <a:latin typeface="Calibri"/>
                <a:ea typeface="Calibri"/>
                <a:cs typeface="Calibri"/>
              </a:rPr>
              <a:t>FastAPI service over the library; React app with Dashboard, Analyze, Model performance and Startup insights screens.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1509875" y="1691639"/>
            <a:ext cx="5575609" cy="4572000"/>
          </a:xfrm>
          <a:prstGeom prst="rect">
            <a:avLst/>
          </a:prstGeom>
        </p:spPr>
      </p:pic>
      <p:sp>
        <p:nvSpPr>
          <p:cNvPr id="8" name="TextBox 7"/>
          <p:cNvSpPr txBox="1"/>
          <p:nvPr/>
        </p:nvSpPr>
        <p:spPr>
          <a:xfrm>
            <a:off x="8321040" y="1828800"/>
            <a:ext cx="3383280" cy="4297680"/>
          </a:xfrm>
          <a:prstGeom prst="rect">
            <a:avLst/>
          </a:prstGeom>
          <a:noFill/>
        </p:spPr>
        <p:txBody>
          <a:bodyPr wrap="square" lIns="0" rIns="0" tIns="0" bIns="0" anchor="t">
            <a:spAutoFit/>
          </a:bodyPr>
          <a:lstStyle/>
          <a:p>
            <a:pPr algn="l" marL="256032" indent="-201168">
              <a:spcAft>
                <a:spcPts val="800"/>
              </a:spcAft>
              <a:buChar char="•"/>
            </a:pPr>
            <a:r>
              <a:rPr sz="1500" b="0" i="0">
                <a:solidFill>
                  <a:srgbClr val="222222"/>
                </a:solidFill>
                <a:latin typeface="Calibri"/>
                <a:ea typeface="Calibri"/>
                <a:cs typeface="Calibri"/>
              </a:rPr>
              <a:t>Presentation: React app (port 5410) plus the original Jinja pages</a:t>
            </a:r>
          </a:p>
          <a:p>
            <a:pPr algn="l" marL="256032" indent="-201168">
              <a:spcAft>
                <a:spcPts val="800"/>
              </a:spcAft>
              <a:buChar char="•"/>
            </a:pPr>
            <a:r>
              <a:rPr sz="1500" b="0" i="0">
                <a:solidFill>
                  <a:srgbClr val="222222"/>
                </a:solidFill>
                <a:latin typeface="Calibri"/>
                <a:ea typeface="Calibri"/>
                <a:cs typeface="Calibri"/>
              </a:rPr>
              <a:t>Application: FastAPI (port 8410), 8 JSON endpoints, artefacts loaded once</a:t>
            </a:r>
          </a:p>
          <a:p>
            <a:pPr algn="l" marL="256032" indent="-201168">
              <a:spcAft>
                <a:spcPts val="800"/>
              </a:spcAft>
              <a:buChar char="•"/>
            </a:pPr>
            <a:r>
              <a:rPr sz="1500" b="0" i="0">
                <a:solidFill>
                  <a:srgbClr val="222222"/>
                </a:solidFill>
                <a:latin typeface="Calibri"/>
                <a:ea typeface="Calibri"/>
                <a:cs typeface="Calibri"/>
              </a:rPr>
              <a:t>ML layer: dataset, preprocessing, embeddings, retrieval, models, evaluation</a:t>
            </a:r>
          </a:p>
          <a:p>
            <a:pPr algn="l" marL="256032" indent="-201168">
              <a:spcAft>
                <a:spcPts val="400"/>
              </a:spcAft>
              <a:buChar char="•"/>
            </a:pPr>
            <a:r>
              <a:rPr sz="1500" b="0" i="0">
                <a:solidFill>
                  <a:srgbClr val="222222"/>
                </a:solidFill>
                <a:latin typeface="Calibri"/>
                <a:ea typeface="Calibri"/>
                <a:cs typeface="Calibri"/>
              </a:rPr>
              <a:t>Storage: joblib / npz / pkl files in models/; no database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Load table</a:t>
            </a:r>
          </a:p>
        </p:txBody>
      </p:sp>
      <p:sp>
        <p:nvSpPr>
          <p:cNvPr id="8" name="Right Arrow 7"/>
          <p:cNvSpPr/>
          <p:nvPr/>
        </p:nvSpPr>
        <p:spPr>
          <a:xfrm>
            <a:off x="193069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Dedup + target map</a:t>
            </a:r>
          </a:p>
        </p:txBody>
      </p:sp>
      <p:sp>
        <p:nvSpPr>
          <p:cNvPr id="10" name="Right Arrow 9"/>
          <p:cNvSpPr/>
          <p:nvPr/>
        </p:nvSpPr>
        <p:spPr>
          <a:xfrm>
            <a:off x="3550484"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8308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Preprocess</a:t>
            </a:r>
          </a:p>
        </p:txBody>
      </p:sp>
      <p:sp>
        <p:nvSpPr>
          <p:cNvPr id="12" name="Right Arrow 11"/>
          <p:cNvSpPr/>
          <p:nvPr/>
        </p:nvSpPr>
        <p:spPr>
          <a:xfrm>
            <a:off x="5170278"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8308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5 x 80/20 splits</a:t>
            </a:r>
          </a:p>
        </p:txBody>
      </p:sp>
      <p:sp>
        <p:nvSpPr>
          <p:cNvPr id="14" name="Right Arrow 13"/>
          <p:cNvSpPr/>
          <p:nvPr/>
        </p:nvSpPr>
        <p:spPr>
          <a:xfrm>
            <a:off x="679007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8308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Train 4-5 models</a:t>
            </a:r>
          </a:p>
        </p:txBody>
      </p:sp>
      <p:sp>
        <p:nvSpPr>
          <p:cNvPr id="16" name="Right Arrow 15"/>
          <p:cNvSpPr/>
          <p:nvPr/>
        </p:nvSpPr>
        <p:spPr>
          <a:xfrm>
            <a:off x="840986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8308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Metrics</a:t>
            </a:r>
          </a:p>
        </p:txBody>
      </p:sp>
      <p:sp>
        <p:nvSpPr>
          <p:cNvPr id="18" name="Right Arrow 17"/>
          <p:cNvSpPr/>
          <p:nvPr/>
        </p:nvSpPr>
        <p:spPr>
          <a:xfrm>
            <a:off x="10029661"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ea typeface="Calibri"/>
                <a:cs typeface="Calibri"/>
              </a:rPr>
              <a:t>Best model</a:t>
            </a:r>
          </a:p>
        </p:txBody>
      </p:sp>
      <p:sp>
        <p:nvSpPr>
          <p:cNvPr id="20" name="TextBox 19"/>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700" b="0" i="0">
                <a:solidFill>
                  <a:srgbClr val="222222"/>
                </a:solidFill>
                <a:latin typeface="Calibri"/>
                <a:ea typeface="Calibri"/>
                <a:cs typeface="Calibri"/>
              </a:rPr>
              <a:t>Target: acquired / IPO = SUCCESS, closed = FAILURE; duplicates removed; preprocessing is fitted on the training part only.</a:t>
            </a:r>
          </a:p>
          <a:p>
            <a:pPr algn="l" marL="256032" indent="-201168">
              <a:spcAft>
                <a:spcPts val="1000"/>
              </a:spcAft>
              <a:buChar char="•"/>
            </a:pPr>
            <a:r>
              <a:rPr sz="1700" b="0" i="0">
                <a:solidFill>
                  <a:srgbClr val="222222"/>
                </a:solidFill>
                <a:latin typeface="Calibri"/>
                <a:ea typeface="Calibri"/>
                <a:cs typeface="Calibri"/>
              </a:rPr>
              <a:t>Protocol: 5 repeated StratifiedShuffleSplit (80 / 20, seed 42); mean ± std; balanced accuracy is the primary metric, with accuracy, precision, recall, F1 and (real-data study) ROC-AUC.</a:t>
            </a:r>
          </a:p>
          <a:p>
            <a:pPr algn="l" marL="256032" indent="-201168">
              <a:spcAft>
                <a:spcPts val="1000"/>
              </a:spcAft>
              <a:buChar char="•"/>
            </a:pPr>
            <a:r>
              <a:rPr sz="1700" b="0" i="0">
                <a:solidFill>
                  <a:srgbClr val="222222"/>
                </a:solidFill>
                <a:latin typeface="Calibri"/>
                <a:ea typeface="Calibri"/>
                <a:cs typeface="Calibri"/>
              </a:rPr>
              <a:t>Two tables: the 1,400-row synthetic fallback that the app serves, and the real public table (922 rows) used for all real measurements.</a:t>
            </a:r>
          </a:p>
          <a:p>
            <a:pPr algn="l" marL="256032" indent="-201168">
              <a:spcAft>
                <a:spcPts val="400"/>
              </a:spcAft>
              <a:buChar char="•"/>
            </a:pPr>
            <a:r>
              <a:rPr sz="1700" b="0" i="0">
                <a:solidFill>
                  <a:srgbClr val="222222"/>
                </a:solidFill>
                <a:latin typeface="Calibri"/>
                <a:ea typeface="Calibri"/>
                <a:cs typeface="Calibri"/>
              </a:rPr>
              <a:t>Extra studies on the real table: class-imbalance strategies, threshold sweep, calibration, forest size, 70:30 protocol, synthetic-to-real transfer, leakage ablation, retrieval-only classifier.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Features &amp; Model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922</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real table: 596 success / 326 failure (64.6 % success)</a:t>
            </a:r>
          </a:p>
        </p:txBody>
      </p:sp>
      <p:sp>
        <p:nvSpPr>
          <p:cNvPr id="11" name="Rounded Rectangle 10"/>
          <p:cNvSpPr/>
          <p:nvPr/>
        </p:nvSpPr>
        <p:spPr>
          <a:xfrm>
            <a:off x="502920" y="2880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80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935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1,400</a:t>
            </a:r>
          </a:p>
        </p:txBody>
      </p:sp>
      <p:sp>
        <p:nvSpPr>
          <p:cNvPr id="14" name="TextBox 13"/>
          <p:cNvSpPr txBox="1"/>
          <p:nvPr/>
        </p:nvSpPr>
        <p:spPr>
          <a:xfrm>
            <a:off x="685800" y="3463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synthetic fallback: 595 / 805</a:t>
            </a:r>
          </a:p>
        </p:txBody>
      </p:sp>
      <p:sp>
        <p:nvSpPr>
          <p:cNvPr id="15" name="Rounded Rectangle 14"/>
          <p:cNvSpPr/>
          <p:nvPr/>
        </p:nvSpPr>
        <p:spPr>
          <a:xfrm>
            <a:off x="502920" y="4023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4023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4078224"/>
            <a:ext cx="2377440" cy="553212"/>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37 + 384</a:t>
            </a:r>
          </a:p>
        </p:txBody>
      </p:sp>
      <p:sp>
        <p:nvSpPr>
          <p:cNvPr id="18" name="TextBox 17"/>
          <p:cNvSpPr txBox="1"/>
          <p:nvPr/>
        </p:nvSpPr>
        <p:spPr>
          <a:xfrm>
            <a:off x="685800" y="4606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structured features + MiniLM text dimensions</a:t>
            </a:r>
          </a:p>
        </p:txBody>
      </p:sp>
      <p:pic>
        <p:nvPicPr>
          <p:cNvPr id="19" name="Picture 18" descr="f13_class_balance.png"/>
          <p:cNvPicPr>
            <a:picLocks noChangeAspect="1"/>
          </p:cNvPicPr>
          <p:nvPr/>
        </p:nvPicPr>
        <p:blipFill>
          <a:blip r:embed="rId4"/>
          <a:stretch>
            <a:fillRect/>
          </a:stretch>
        </p:blipFill>
        <p:spPr>
          <a:xfrm>
            <a:off x="3383280" y="1726372"/>
            <a:ext cx="4023360" cy="2445135"/>
          </a:xfrm>
          <a:prstGeom prst="rect">
            <a:avLst/>
          </a:prstGeom>
        </p:spPr>
      </p:pic>
      <p:pic>
        <p:nvPicPr>
          <p:cNvPr id="20" name="Picture 19" descr="f09_representation_study.png"/>
          <p:cNvPicPr>
            <a:picLocks noChangeAspect="1"/>
          </p:cNvPicPr>
          <p:nvPr/>
        </p:nvPicPr>
        <p:blipFill>
          <a:blip r:embed="rId5"/>
          <a:stretch>
            <a:fillRect/>
          </a:stretch>
        </p:blipFill>
        <p:spPr>
          <a:xfrm>
            <a:off x="8108880" y="1691640"/>
            <a:ext cx="3076079" cy="2514600"/>
          </a:xfrm>
          <a:prstGeom prst="rect">
            <a:avLst/>
          </a:prstGeom>
        </p:spPr>
      </p:pic>
      <p:sp>
        <p:nvSpPr>
          <p:cNvPr id="21" name="TextBox 20"/>
          <p:cNvSpPr txBox="1"/>
          <p:nvPr/>
        </p:nvSpPr>
        <p:spPr>
          <a:xfrm>
            <a:off x="3383280" y="4343400"/>
            <a:ext cx="8321040" cy="1920240"/>
          </a:xfrm>
          <a:prstGeom prst="rect">
            <a:avLst/>
          </a:prstGeom>
          <a:noFill/>
        </p:spPr>
        <p:txBody>
          <a:bodyPr wrap="square" lIns="0" rIns="0" tIns="0" bIns="0" anchor="t">
            <a:spAutoFit/>
          </a:bodyPr>
          <a:lstStyle/>
          <a:p>
            <a:pPr algn="l" marL="256032" indent="-201168">
              <a:spcAft>
                <a:spcPts val="500"/>
              </a:spcAft>
              <a:buChar char="•"/>
            </a:pPr>
            <a:r>
              <a:rPr sz="1200" b="0" i="0">
                <a:solidFill>
                  <a:srgbClr val="222222"/>
                </a:solidFill>
                <a:latin typeface="Calibri"/>
                <a:ea typeface="Calibri"/>
                <a:cs typeface="Calibri"/>
              </a:rPr>
              <a:t>Real table: US start-ups, structured columns only, no description text; success (acquired) is the MAJORITY class. Synthetic table: same schema plus template descriptions that differ by class, so the text channel leaks the label.</a:t>
            </a:r>
          </a:p>
          <a:p>
            <a:pPr algn="l" marL="256032" indent="-201168">
              <a:spcAft>
                <a:spcPts val="500"/>
              </a:spcAft>
              <a:buChar char="•"/>
            </a:pPr>
            <a:r>
              <a:rPr sz="1200" b="0" i="0">
                <a:solidFill>
                  <a:srgbClr val="222222"/>
                </a:solidFill>
                <a:latin typeface="Calibri"/>
                <a:ea typeface="Calibri"/>
                <a:cs typeface="Calibri"/>
              </a:rPr>
              <a:t>Models: Logistic Regression (balanced, C=1), Decision Tree (depth 8), Random Forest (300 trees), XGBoost (400 trees, depth 6, lr 0.05); HistGradientBoosting in the study.</a:t>
            </a:r>
          </a:p>
          <a:p>
            <a:pPr algn="l" marL="256032" indent="-201168">
              <a:spcAft>
                <a:spcPts val="400"/>
              </a:spcAft>
              <a:buChar char="•"/>
            </a:pPr>
            <a:r>
              <a:rPr sz="1200" b="0" i="0">
                <a:solidFill>
                  <a:srgbClr val="222222"/>
                </a:solidFill>
                <a:latin typeface="Calibri"/>
                <a:ea typeface="Calibri"/>
                <a:cs typeface="Calibri"/>
              </a:rPr>
              <a:t>Kaggle needs a login, so the identical 923-row CSV came from a public GitHub copy.</a:t>
            </a:r>
          </a:p>
        </p:txBody>
      </p:sp>
      <p:sp>
        <p:nvSpPr>
          <p:cNvPr id="22" name="TextBox 21"/>
          <p:cNvSpPr txBox="1"/>
          <p:nvPr/>
        </p:nvSpPr>
        <p:spPr>
          <a:xfrm>
            <a:off x="502920" y="5166360"/>
            <a:ext cx="2743200" cy="109728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Means over 5 splits; real test folds hold 185 rows.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core_algorithm_flowchart.png"/>
          <p:cNvPicPr>
            <a:picLocks noChangeAspect="1"/>
          </p:cNvPicPr>
          <p:nvPr/>
        </p:nvPicPr>
        <p:blipFill>
          <a:blip r:embed="rId2"/>
          <a:stretch>
            <a:fillRect/>
          </a:stretch>
        </p:blipFill>
        <p:spPr>
          <a:xfrm>
            <a:off x="725450" y="1645920"/>
            <a:ext cx="4126938" cy="4663440"/>
          </a:xfrm>
          <a:prstGeom prst="rect">
            <a:avLst/>
          </a:prstGeom>
        </p:spPr>
      </p:pic>
      <p:sp>
        <p:nvSpPr>
          <p:cNvPr id="8" name="TextBox 7"/>
          <p:cNvSpPr txBox="1"/>
          <p:nvPr/>
        </p:nvSpPr>
        <p:spPr>
          <a:xfrm>
            <a:off x="5394960" y="1828800"/>
            <a:ext cx="6309360" cy="4389120"/>
          </a:xfrm>
          <a:prstGeom prst="rect">
            <a:avLst/>
          </a:prstGeom>
          <a:noFill/>
        </p:spPr>
        <p:txBody>
          <a:bodyPr wrap="square" lIns="0" rIns="0" tIns="0" bIns="0" anchor="t">
            <a:spAutoFit/>
          </a:bodyPr>
          <a:lstStyle/>
          <a:p>
            <a:pPr algn="l" marL="256032" indent="-201168">
              <a:spcAft>
                <a:spcPts val="900"/>
              </a:spcAft>
              <a:buChar char="•"/>
            </a:pPr>
            <a:r>
              <a:rPr sz="1500" b="0" i="0">
                <a:solidFill>
                  <a:srgbClr val="222222"/>
                </a:solidFill>
                <a:latin typeface="Calibri"/>
                <a:ea typeface="Calibri"/>
                <a:cs typeface="Calibri"/>
              </a:rPr>
              <a:t>The profile is validated (ranges, k in {10, 20, 30, 50}, description up to 2,000 characters), scaled and embedded, then fused.</a:t>
            </a:r>
          </a:p>
          <a:p>
            <a:pPr algn="l" marL="256032" indent="-201168">
              <a:spcAft>
                <a:spcPts val="900"/>
              </a:spcAft>
              <a:buChar char="•"/>
            </a:pPr>
            <a:r>
              <a:rPr sz="1500" b="0" i="0">
                <a:solidFill>
                  <a:srgbClr val="222222"/>
                </a:solidFill>
                <a:latin typeface="Calibri"/>
                <a:ea typeface="Calibri"/>
                <a:cs typeface="Calibri"/>
              </a:rPr>
              <a:t>The served classifier returns P(success); outcome = the larger probability, confidence = max(P).</a:t>
            </a:r>
          </a:p>
          <a:p>
            <a:pPr algn="l" marL="256032" indent="-201168">
              <a:spcAft>
                <a:spcPts val="900"/>
              </a:spcAft>
              <a:buChar char="•"/>
            </a:pPr>
            <a:r>
              <a:rPr sz="1500" b="0" i="0">
                <a:solidFill>
                  <a:srgbClr val="222222"/>
                </a:solidFill>
                <a:latin typeface="Calibri"/>
                <a:ea typeface="Calibri"/>
                <a:cs typeface="Calibri"/>
              </a:rPr>
              <a:t>Retrieval returns k training startups by cosine similarity with a half / half class quota; the weighted vote is sum(sim x label) / sum(sim).</a:t>
            </a:r>
          </a:p>
          <a:p>
            <a:pPr algn="l" marL="256032" indent="-201168">
              <a:spcAft>
                <a:spcPts val="900"/>
              </a:spcAft>
              <a:buChar char="•"/>
            </a:pPr>
            <a:r>
              <a:rPr sz="1500" b="0" i="0">
                <a:solidFill>
                  <a:srgbClr val="222222"/>
                </a:solidFill>
                <a:latin typeface="Calibri"/>
                <a:ea typeface="Calibri"/>
                <a:cs typeface="Calibri"/>
              </a:rPr>
              <a:t>Risk label: Lower risk if SUCCESS with confidence at least 0.70, Moderate risk from 0.55, otherwise Higher uncertainty.</a:t>
            </a:r>
          </a:p>
          <a:p>
            <a:pPr algn="l" marL="256032" indent="-201168">
              <a:spcAft>
                <a:spcPts val="400"/>
              </a:spcAft>
              <a:buChar char="•"/>
            </a:pPr>
            <a:r>
              <a:rPr sz="1500" b="0" i="0">
                <a:solidFill>
                  <a:srgbClr val="222222"/>
                </a:solidFill>
                <a:latin typeface="Calibri"/>
                <a:ea typeface="Calibri"/>
                <a:cs typeface="Calibri"/>
              </a:rPr>
              <a:t>On the real table, retrieval alone (no trained model) scores balanced accuracy 0.700-0.714 and ROC-AUC 0.769-0.789: equal to Logistic Regression, below Random Forest.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diagram.png"/>
          <p:cNvPicPr>
            <a:picLocks noChangeAspect="1"/>
          </p:cNvPicPr>
          <p:nvPr/>
        </p:nvPicPr>
        <p:blipFill>
          <a:blip r:embed="rId2"/>
          <a:stretch>
            <a:fillRect/>
          </a:stretch>
        </p:blipFill>
        <p:spPr>
          <a:xfrm>
            <a:off x="1013214" y="1645920"/>
            <a:ext cx="5014451" cy="4663440"/>
          </a:xfrm>
          <a:prstGeom prst="rect">
            <a:avLst/>
          </a:prstGeom>
        </p:spPr>
      </p:pic>
      <p:pic>
        <p:nvPicPr>
          <p:cNvPr id="8" name="Picture 7" descr="08_use_case_diagram.png"/>
          <p:cNvPicPr>
            <a:picLocks noChangeAspect="1"/>
          </p:cNvPicPr>
          <p:nvPr/>
        </p:nvPicPr>
        <p:blipFill>
          <a:blip r:embed="rId5"/>
          <a:stretch>
            <a:fillRect/>
          </a:stretch>
        </p:blipFill>
        <p:spPr>
          <a:xfrm>
            <a:off x="6766560" y="2397556"/>
            <a:ext cx="4937760" cy="31601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 Design (file based)</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1467015" y="1645920"/>
            <a:ext cx="4472608" cy="4114800"/>
          </a:xfrm>
          <a:prstGeom prst="rect">
            <a:avLst/>
          </a:prstGeom>
        </p:spPr>
      </p:pic>
      <p:graphicFrame>
        <p:nvGraphicFramePr>
          <p:cNvPr id="8" name="Table 7"/>
          <p:cNvGraphicFramePr>
            <a:graphicFrameLocks noGrp="1"/>
          </p:cNvGraphicFramePr>
          <p:nvPr/>
        </p:nvGraphicFramePr>
        <p:xfrm>
          <a:off x="7132320" y="1737360"/>
          <a:ext cx="4572000" cy="3200400"/>
        </p:xfrm>
        <a:graphic>
          <a:graphicData uri="http://schemas.openxmlformats.org/drawingml/2006/table">
            <a:tbl>
              <a:tblPr firstRow="0" bandRow="0">
                <a:tableStyleId>{5C22544A-7EE6-4342-B048-85BDC9FD1C3A}</a:tableStyleId>
              </a:tblPr>
              <a:tblGrid>
                <a:gridCol w="2377440"/>
                <a:gridCol w="2194560"/>
              </a:tblGrid>
              <a:tr h="457200">
                <a:tc>
                  <a:txBody>
                    <a:bodyPr wrap="square"/>
                    <a:lstStyle/>
                    <a:p>
                      <a:pPr algn="ctr"/>
                      <a:r>
                        <a:rPr sz="1100" b="1">
                          <a:solidFill>
                            <a:srgbClr val="1F3864"/>
                          </a:solidFill>
                          <a:latin typeface="Calibri"/>
                          <a:ea typeface="Calibri"/>
                          <a:cs typeface="Calibri"/>
                        </a:rPr>
                        <a:t>Store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Content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57200">
                <a:tc>
                  <a:txBody>
                    <a:bodyPr wrap="square"/>
                    <a:lstStyle/>
                    <a:p>
                      <a:pPr algn="l"/>
                      <a:r>
                        <a:rPr sz="1100" b="1">
                          <a:solidFill>
                            <a:srgbClr val="222222"/>
                          </a:solidFill>
                          <a:latin typeface="Calibri"/>
                          <a:ea typeface="Calibri"/>
                          <a:cs typeface="Calibri"/>
                        </a:rPr>
                        <a:t>best_model.joblib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served classifier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preprocessor.joblib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fitted scaler / encoder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train_fused.npz</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fused vectors for retrieval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text_embeddings.npz</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cached MiniLM vectors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57200">
                <a:tc>
                  <a:txBody>
                    <a:bodyPr wrap="square"/>
                    <a:lstStyle/>
                    <a:p>
                      <a:pPr algn="l"/>
                      <a:r>
                        <a:rPr sz="1100" b="1">
                          <a:solidFill>
                            <a:srgbClr val="222222"/>
                          </a:solidFill>
                          <a:latin typeface="Calibri"/>
                          <a:ea typeface="Calibri"/>
                          <a:cs typeface="Calibri"/>
                        </a:rPr>
                        <a:t>train_frame.pkl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training records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57200">
                <a:tc>
                  <a:txBody>
                    <a:bodyPr wrap="square"/>
                    <a:lstStyle/>
                    <a:p>
                      <a:pPr algn="l"/>
                      <a:r>
                        <a:rPr sz="1100" b="1">
                          <a:solidFill>
                            <a:srgbClr val="222222"/>
                          </a:solidFill>
                          <a:latin typeface="Calibri"/>
                          <a:ea typeface="Calibri"/>
                          <a:cs typeface="Calibri"/>
                        </a:rPr>
                        <a:t>metadata.json, evaluation_results.json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dataset flags, metrics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9" name="TextBox 8"/>
          <p:cNvSpPr txBox="1"/>
          <p:nvPr/>
        </p:nvSpPr>
        <p:spPr>
          <a:xfrm>
            <a:off x="502920" y="5806440"/>
            <a:ext cx="11155680" cy="45720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There is no SQL database: the diagram models the artefact files and the in-memory state. Predictions are not stored.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8</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JSON endpoints (+ 5 original pages)</a:t>
            </a:r>
          </a:p>
        </p:txBody>
      </p:sp>
      <p:sp>
        <p:nvSpPr>
          <p:cNvPr id="11" name="Rounded Rectangle 10"/>
          <p:cNvSpPr/>
          <p:nvPr/>
        </p:nvSpPr>
        <p:spPr>
          <a:xfrm>
            <a:off x="333756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51</a:t>
            </a:r>
          </a:p>
        </p:txBody>
      </p:sp>
      <p:sp>
        <p:nvSpPr>
          <p:cNvPr id="14" name="TextBox 13"/>
          <p:cNvSpPr txBox="1"/>
          <p:nvPr/>
        </p:nvSpPr>
        <p:spPr>
          <a:xfrm>
            <a:off x="352044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automated checks</a:t>
            </a:r>
          </a:p>
        </p:txBody>
      </p:sp>
      <p:sp>
        <p:nvSpPr>
          <p:cNvPr id="15" name="Rounded Rectangle 14"/>
          <p:cNvSpPr/>
          <p:nvPr/>
        </p:nvSpPr>
        <p:spPr>
          <a:xfrm>
            <a:off x="617220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6</a:t>
            </a:r>
          </a:p>
        </p:txBody>
      </p:sp>
      <p:sp>
        <p:nvSpPr>
          <p:cNvPr id="18" name="TextBox 17"/>
          <p:cNvSpPr txBox="1"/>
          <p:nvPr/>
        </p:nvSpPr>
        <p:spPr>
          <a:xfrm>
            <a:off x="635508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screens</a:t>
            </a:r>
          </a:p>
        </p:txBody>
      </p:sp>
      <p:sp>
        <p:nvSpPr>
          <p:cNvPr id="19" name="Rounded Rectangle 18"/>
          <p:cNvSpPr/>
          <p:nvPr/>
        </p:nvSpPr>
        <p:spPr>
          <a:xfrm>
            <a:off x="900684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a:t>
            </a:r>
          </a:p>
        </p:txBody>
      </p:sp>
      <p:sp>
        <p:nvSpPr>
          <p:cNvPr id="22" name="TextBox 21"/>
          <p:cNvSpPr txBox="1"/>
          <p:nvPr/>
        </p:nvSpPr>
        <p:spPr>
          <a:xfrm>
            <a:off x="918972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command to start (run.bat)</a:t>
            </a:r>
          </a:p>
        </p:txBody>
      </p:sp>
      <p:sp>
        <p:nvSpPr>
          <p:cNvPr id="23" name="TextBox 22"/>
          <p:cNvSpPr txBox="1"/>
          <p:nvPr/>
        </p:nvSpPr>
        <p:spPr>
          <a:xfrm>
            <a:off x="502920" y="3017520"/>
            <a:ext cx="11155680" cy="3200400"/>
          </a:xfrm>
          <a:prstGeom prst="rect">
            <a:avLst/>
          </a:prstGeom>
          <a:noFill/>
        </p:spPr>
        <p:txBody>
          <a:bodyPr wrap="square" lIns="0" rIns="0" tIns="0" bIns="0" anchor="t">
            <a:spAutoFit/>
          </a:bodyPr>
          <a:lstStyle/>
          <a:p>
            <a:pPr algn="l" marL="256032" indent="-201168">
              <a:spcAft>
                <a:spcPts val="900"/>
              </a:spcAft>
              <a:buChar char="•"/>
            </a:pPr>
            <a:r>
              <a:rPr sz="1700" b="0" i="0">
                <a:solidFill>
                  <a:srgbClr val="222222"/>
                </a:solidFill>
                <a:latin typeface="Calibri"/>
                <a:ea typeface="Calibri"/>
                <a:cs typeface="Calibri"/>
              </a:rPr>
              <a:t>Models, preprocessor and training frame are loaded once into an in-memory state; if an artefact is missing the training pipeline runs on first start.</a:t>
            </a:r>
          </a:p>
          <a:p>
            <a:pPr algn="l" marL="256032" indent="-201168">
              <a:spcAft>
                <a:spcPts val="900"/>
              </a:spcAft>
              <a:buChar char="•"/>
            </a:pPr>
            <a:r>
              <a:rPr sz="1700" b="0" i="0">
                <a:solidFill>
                  <a:srgbClr val="222222"/>
                </a:solidFill>
                <a:latin typeface="Calibri"/>
                <a:ea typeface="Calibri"/>
                <a:cs typeface="Calibri"/>
              </a:rPr>
              <a:t>Validation: Pydantic ranges on every numeric field (for example funding 0 to 1e10, rounds 0 to 20), k whitelist, description length cap; invalid input returns 422.</a:t>
            </a:r>
          </a:p>
          <a:p>
            <a:pPr algn="l" marL="256032" indent="-201168">
              <a:spcAft>
                <a:spcPts val="900"/>
              </a:spcAft>
              <a:buChar char="•"/>
            </a:pPr>
            <a:r>
              <a:rPr sz="1700" b="0" i="0">
                <a:solidFill>
                  <a:srgbClr val="222222"/>
                </a:solidFill>
                <a:latin typeface="Calibri"/>
                <a:ea typeface="Calibri"/>
                <a:cs typeface="Calibri"/>
              </a:rPr>
              <a:t>Demo sign-in issues an HMAC-signed token valid for 12 hours; a changed signature character is rejected (401).</a:t>
            </a:r>
          </a:p>
          <a:p>
            <a:pPr algn="l" marL="256032" indent="-201168">
              <a:spcAft>
                <a:spcPts val="400"/>
              </a:spcAft>
              <a:buChar char="•"/>
            </a:pPr>
            <a:r>
              <a:rPr sz="1700" b="0" i="0">
                <a:solidFill>
                  <a:srgbClr val="222222"/>
                </a:solidFill>
                <a:latin typeface="Calibri"/>
                <a:ea typeface="Calibri"/>
                <a:cs typeface="Calibri"/>
              </a:rPr>
              <a:t>Each result shows outcome, probabilities, risk label, the top-5 signed feature terms and up to k comparable startups with similarity, funding and summary.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Model Performance (real table, 5 x 80/20)</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0.746</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balanced accuracy, RF and XGBoost (0.746)</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0.816</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ROC-AUC, Random Forest (XGBoost 0.806)</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0.775</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best accuracy, XGBoost (RF 0.773)</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0.709</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balanced accuracy, Logistic Regression (AUC 0.789)</a:t>
            </a:r>
          </a:p>
        </p:txBody>
      </p:sp>
      <p:pic>
        <p:nvPicPr>
          <p:cNvPr id="23" name="Picture 22" descr="f01_model_comparison_real.png"/>
          <p:cNvPicPr>
            <a:picLocks noChangeAspect="1"/>
          </p:cNvPicPr>
          <p:nvPr/>
        </p:nvPicPr>
        <p:blipFill>
          <a:blip r:embed="rId4"/>
          <a:stretch>
            <a:fillRect/>
          </a:stretch>
        </p:blipFill>
        <p:spPr>
          <a:xfrm>
            <a:off x="1062457" y="2834640"/>
            <a:ext cx="5830364" cy="3429000"/>
          </a:xfrm>
          <a:prstGeom prst="rect">
            <a:avLst/>
          </a:prstGeom>
        </p:spPr>
      </p:pic>
      <p:sp>
        <p:nvSpPr>
          <p:cNvPr id="24" name="TextBox 23"/>
          <p:cNvSpPr txBox="1"/>
          <p:nvPr/>
        </p:nvSpPr>
        <p:spPr>
          <a:xfrm>
            <a:off x="7680960" y="2880360"/>
            <a:ext cx="4023360" cy="3383280"/>
          </a:xfrm>
          <a:prstGeom prst="rect">
            <a:avLst/>
          </a:prstGeom>
          <a:noFill/>
        </p:spPr>
        <p:txBody>
          <a:bodyPr wrap="square" lIns="0" rIns="0" tIns="0" bIns="0" anchor="t">
            <a:spAutoFit/>
          </a:bodyPr>
          <a:lstStyle/>
          <a:p>
            <a:pPr algn="l" marL="256032" indent="-201168">
              <a:spcAft>
                <a:spcPts val="600"/>
              </a:spcAft>
              <a:buChar char="•"/>
            </a:pPr>
            <a:r>
              <a:rPr sz="1300" b="0" i="0">
                <a:solidFill>
                  <a:srgbClr val="222222"/>
                </a:solidFill>
                <a:latin typeface="Calibri"/>
                <a:ea typeface="Calibri"/>
                <a:cs typeface="Calibri"/>
              </a:rPr>
              <a:t>RF, XGBoost and HistGradientBoosting are within one standard deviation of each other; all beat Logistic Regression and the Decision Tree.</a:t>
            </a:r>
          </a:p>
          <a:p>
            <a:pPr algn="l" marL="256032" indent="-201168">
              <a:spcAft>
                <a:spcPts val="600"/>
              </a:spcAft>
              <a:buChar char="•"/>
            </a:pPr>
            <a:r>
              <a:rPr sz="1300" b="0" i="0">
                <a:solidFill>
                  <a:srgbClr val="222222"/>
                </a:solidFill>
                <a:latin typeface="Calibri"/>
                <a:ea typeface="Calibri"/>
                <a:cs typeface="Calibri"/>
              </a:rPr>
              <a:t>Without the four post-hoc fields (relationships, milestones, milestone ages) ROC-AUC falls from 0.82 to 0.72 (RF) and 0.70 (XGBoost).</a:t>
            </a:r>
          </a:p>
          <a:p>
            <a:pPr algn="l" marL="256032" indent="-201168">
              <a:spcAft>
                <a:spcPts val="400"/>
              </a:spcAft>
              <a:buChar char="•"/>
            </a:pPr>
            <a:r>
              <a:rPr sz="1300" b="0" i="0">
                <a:solidFill>
                  <a:srgbClr val="222222"/>
                </a:solidFill>
                <a:latin typeface="Calibri"/>
                <a:ea typeface="Calibri"/>
                <a:cs typeface="Calibri"/>
              </a:rPr>
              <a:t>Shipped app on synthetic data: LR 0.749; not real-world evidence.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Class-Imbalance Study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2_confusion_matrix_rf.png"/>
          <p:cNvPicPr>
            <a:picLocks noChangeAspect="1"/>
          </p:cNvPicPr>
          <p:nvPr/>
        </p:nvPicPr>
        <p:blipFill>
          <a:blip r:embed="rId3"/>
          <a:stretch>
            <a:fillRect/>
          </a:stretch>
        </p:blipFill>
        <p:spPr>
          <a:xfrm>
            <a:off x="843836" y="1691640"/>
            <a:ext cx="3707286" cy="3566160"/>
          </a:xfrm>
          <a:prstGeom prst="rect">
            <a:avLst/>
          </a:prstGeom>
        </p:spPr>
      </p:pic>
      <p:pic>
        <p:nvPicPr>
          <p:cNvPr id="8" name="Picture 7" descr="f06_imbalance_strategies.png"/>
          <p:cNvPicPr>
            <a:picLocks noChangeAspect="1"/>
          </p:cNvPicPr>
          <p:nvPr/>
        </p:nvPicPr>
        <p:blipFill>
          <a:blip r:embed="rId2"/>
          <a:stretch>
            <a:fillRect/>
          </a:stretch>
        </p:blipFill>
        <p:spPr>
          <a:xfrm>
            <a:off x="5120640" y="1961803"/>
            <a:ext cx="6583680" cy="3025832"/>
          </a:xfrm>
          <a:prstGeom prst="rect">
            <a:avLst/>
          </a:prstGeom>
        </p:spPr>
      </p:pic>
      <p:sp>
        <p:nvSpPr>
          <p:cNvPr id="9" name="TextBox 8"/>
          <p:cNvSpPr txBox="1"/>
          <p:nvPr/>
        </p:nvSpPr>
        <p:spPr>
          <a:xfrm>
            <a:off x="502920" y="5349240"/>
            <a:ext cx="11155680" cy="96012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Random Forest, mean per fold of 185 test rows: 42.6 failures and 100.4 successes right; 22.4 failures called SUCCESS, 19.6 successes called FAILURE. Logistic Regression: 48.4 / 80.8 right, 39.2 successes missed.</a:t>
            </a:r>
          </a:p>
          <a:p>
            <a:pPr algn="l" marL="256032" indent="-201168">
              <a:spcAft>
                <a:spcPts val="400"/>
              </a:spcAft>
              <a:buChar char="•"/>
            </a:pPr>
            <a:r>
              <a:rPr sz="1300" b="0" i="0">
                <a:solidFill>
                  <a:srgbClr val="222222"/>
                </a:solidFill>
                <a:latin typeface="Calibri"/>
                <a:ea typeface="Calibri"/>
                <a:cs typeface="Calibri"/>
              </a:rPr>
              <a:t>Failure is the minority class here (35.4 %). Class weights and oversampling do not raise ROC-AUC (RF 0.820 none, 0.816 weighted, 0.816 oversampled); they trade recall of the majority success class for precision.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Threshold Analysis &amp; Feature Importance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3_threshold_sweep.png"/>
          <p:cNvPicPr>
            <a:picLocks noChangeAspect="1"/>
          </p:cNvPicPr>
          <p:nvPr/>
        </p:nvPicPr>
        <p:blipFill>
          <a:blip r:embed="rId3"/>
          <a:stretch>
            <a:fillRect/>
          </a:stretch>
        </p:blipFill>
        <p:spPr>
          <a:xfrm>
            <a:off x="589744" y="1691640"/>
            <a:ext cx="5221311" cy="3383280"/>
          </a:xfrm>
          <a:prstGeom prst="rect">
            <a:avLst/>
          </a:prstGeom>
        </p:spPr>
      </p:pic>
      <p:pic>
        <p:nvPicPr>
          <p:cNvPr id="8" name="Picture 7" descr="f04_feature_importance.png"/>
          <p:cNvPicPr>
            <a:picLocks noChangeAspect="1"/>
          </p:cNvPicPr>
          <p:nvPr/>
        </p:nvPicPr>
        <p:blipFill>
          <a:blip r:embed="rId2"/>
          <a:stretch>
            <a:fillRect/>
          </a:stretch>
        </p:blipFill>
        <p:spPr>
          <a:xfrm>
            <a:off x="6126480" y="2156296"/>
            <a:ext cx="5577840" cy="2453967"/>
          </a:xfrm>
          <a:prstGeom prst="rect">
            <a:avLst/>
          </a:prstGeom>
        </p:spPr>
      </p:pic>
      <p:sp>
        <p:nvSpPr>
          <p:cNvPr id="9" name="TextBox 8"/>
          <p:cNvSpPr txBox="1"/>
          <p:nvPr/>
        </p:nvSpPr>
        <p:spPr>
          <a:xfrm>
            <a:off x="502920" y="5166360"/>
            <a:ext cx="11155680" cy="118872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Logistic Regression threshold sweep: balanced accuracy is flat at about 0.71 between thresholds 0.30 and 0.50 (peak 0.714 at 0.45) while recall of success falls from 0.875 to 0.673 and precision rises from 0.781 to 0.830.</a:t>
            </a:r>
          </a:p>
          <a:p>
            <a:pPr algn="l" marL="256032" indent="-201168">
              <a:spcAft>
                <a:spcPts val="400"/>
              </a:spcAft>
              <a:buChar char="•"/>
            </a:pPr>
            <a:r>
              <a:rPr sz="1300" b="0" i="0">
                <a:solidFill>
                  <a:srgbClr val="222222"/>
                </a:solidFill>
                <a:latin typeface="Calibri"/>
                <a:ea typeface="Calibri"/>
                <a:cs typeface="Calibri"/>
              </a:rPr>
              <a:t>Random Forest ranks relationships first (Gini 0.162, permutation 0.060 AUC drop), then milestones, last-milestone age and funding amount; Logistic Regression weights are led by state, top-500 and industry dummies, so the two rankings disagree.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148 ms</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POST /predict, k=10, median (p95 594 ms)</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198 ms</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POST /predict, k=50, median (p95 583 ms)</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3.0 ms</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GET /api/health median; insights 14.5 ms</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139 s</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whole real-data study on CPU</a:t>
            </a:r>
          </a:p>
        </p:txBody>
      </p:sp>
      <p:graphicFrame>
        <p:nvGraphicFramePr>
          <p:cNvPr id="23" name="Table 22"/>
          <p:cNvGraphicFramePr>
            <a:graphicFrameLocks noGrp="1"/>
          </p:cNvGraphicFramePr>
          <p:nvPr/>
        </p:nvGraphicFramePr>
        <p:xfrm>
          <a:off x="502920" y="2926080"/>
          <a:ext cx="11155680" cy="2103120"/>
        </p:xfrm>
        <a:graphic>
          <a:graphicData uri="http://schemas.openxmlformats.org/drawingml/2006/table">
            <a:tbl>
              <a:tblPr firstRow="0" bandRow="0">
                <a:tableStyleId>{5C22544A-7EE6-4342-B048-85BDC9FD1C3A}</a:tableStyleId>
              </a:tblPr>
              <a:tblGrid>
                <a:gridCol w="2194560"/>
                <a:gridCol w="6766560"/>
                <a:gridCol w="2194560"/>
              </a:tblGrid>
              <a:tr h="420624">
                <a:tc>
                  <a:txBody>
                    <a:bodyPr wrap="square"/>
                    <a:lstStyle/>
                    <a:p>
                      <a:pPr algn="ctr"/>
                      <a:r>
                        <a:rPr sz="1300" b="1">
                          <a:solidFill>
                            <a:srgbClr val="1F3864"/>
                          </a:solidFill>
                          <a:latin typeface="Calibri"/>
                          <a:ea typeface="Calibri"/>
                          <a:cs typeface="Calibri"/>
                        </a:rPr>
                        <a:t>Test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What it covers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20624">
                <a:tc>
                  <a:txBody>
                    <a:bodyPr wrap="square"/>
                    <a:lstStyle/>
                    <a:p>
                      <a:pPr algn="l"/>
                      <a:r>
                        <a:rPr sz="1300" b="1">
                          <a:solidFill>
                            <a:srgbClr val="222222"/>
                          </a:solidFill>
                          <a:latin typeface="Calibri"/>
                          <a:ea typeface="Calibri"/>
                          <a:cs typeface="Calibri"/>
                        </a:rPr>
                        <a:t>Unit tests (pytest)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health, dataset, preprocessing, embeddings and fusion, retrieval, predict, pages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7 / 7 passed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300" b="1">
                          <a:solidFill>
                            <a:srgbClr val="222222"/>
                          </a:solidFill>
                          <a:latin typeface="Calibri"/>
                          <a:ea typeface="Calibri"/>
                          <a:cs typeface="Calibri"/>
                        </a:rPr>
                        <a:t>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running server: endpoints, login, token, predict, invalid input, pages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15 / 15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20624">
                <a:tc>
                  <a:txBody>
                    <a:bodyPr wrap="square"/>
                    <a:lstStyle/>
                    <a:p>
                      <a:pPr algn="l"/>
                      <a:r>
                        <a:rPr sz="1300" b="1">
                          <a:solidFill>
                            <a:srgbClr val="222222"/>
                          </a:solidFill>
                          <a:latin typeface="Calibri"/>
                          <a:ea typeface="Calibri"/>
                          <a:cs typeface="Calibri"/>
                        </a:rPr>
                        <a:t>API edge tests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limits, k whitelist, empty body, unknown categories, forms, auth, tampered token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29 / 29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20624">
                <a:tc>
                  <a:txBody>
                    <a:bodyPr wrap="square"/>
                    <a:lstStyle/>
                    <a:p>
                      <a:pPr algn="l"/>
                      <a:r>
                        <a:rPr sz="1300" b="1">
                          <a:solidFill>
                            <a:srgbClr val="222222"/>
                          </a:solidFill>
                          <a:latin typeface="Calibri"/>
                          <a:ea typeface="Calibri"/>
                          <a:cs typeface="Calibri"/>
                        </a:rPr>
                        <a:t>Total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automated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51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4" name="TextBox 23"/>
          <p:cNvSpPr txBox="1"/>
          <p:nvPr/>
        </p:nvSpPr>
        <p:spPr>
          <a:xfrm>
            <a:off x="502920" y="5166360"/>
            <a:ext cx="11155680" cy="1097280"/>
          </a:xfrm>
          <a:prstGeom prst="rect">
            <a:avLst/>
          </a:prstGeom>
          <a:noFill/>
        </p:spPr>
        <p:txBody>
          <a:bodyPr wrap="square" lIns="0" rIns="0" tIns="0" bIns="0" anchor="t">
            <a:spAutoFit/>
          </a:bodyPr>
          <a:lstStyle/>
          <a:p>
            <a:pPr algn="l" marL="256032" indent="-201168">
              <a:spcAft>
                <a:spcPts val="400"/>
              </a:spcAft>
              <a:buChar char="•"/>
            </a:pPr>
            <a:r>
              <a:rPr sz="1300" b="0" i="0">
                <a:solidFill>
                  <a:srgbClr val="222222"/>
                </a:solidFill>
                <a:latin typeface="Calibri"/>
                <a:ea typeface="Calibri"/>
                <a:cs typeface="Calibri"/>
              </a:rPr>
              <a:t>Measured on 127.0.0.1 with a warm model on an Intel Core i5-12500 (CPU only); the first request pays the model-load cost.</a:t>
            </a:r>
          </a:p>
          <a:p>
            <a:pPr algn="l" marL="256032" indent="-201168">
              <a:spcAft>
                <a:spcPts val="400"/>
              </a:spcAft>
              <a:buChar char="•"/>
            </a:pPr>
            <a:r>
              <a:rPr sz="1300" b="0" i="0">
                <a:solidFill>
                  <a:srgbClr val="222222"/>
                </a:solidFill>
                <a:latin typeface="Calibri"/>
                <a:ea typeface="Calibri"/>
                <a:cs typeface="Calibri"/>
              </a:rPr>
              <a:t>Not tested: load or stress, multi-user use, a security audit, a user study, React component tests.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Papers (context only – different data)</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91640"/>
          <a:ext cx="11155679" cy="3621024"/>
        </p:xfrm>
        <a:graphic>
          <a:graphicData uri="http://schemas.openxmlformats.org/drawingml/2006/table">
            <a:tbl>
              <a:tblPr firstRow="0" bandRow="0">
                <a:tableStyleId>{5C22544A-7EE6-4342-B048-85BDC9FD1C3A}</a:tableStyleId>
              </a:tblPr>
              <a:tblGrid>
                <a:gridCol w="1371600"/>
                <a:gridCol w="2834640"/>
                <a:gridCol w="3200400"/>
                <a:gridCol w="3749039"/>
              </a:tblGrid>
              <a:tr h="603504">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Maarouf et al.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This project (VenturePulse)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603504">
                <a:tc>
                  <a:txBody>
                    <a:bodyPr wrap="square"/>
                    <a:lstStyle/>
                    <a:p>
                      <a:pPr algn="l"/>
                      <a:r>
                        <a:rPr sz="12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Crunchbase / Kaggle, size not stated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4,034 Crunchbase startups, 35.15 % success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Real table 922 rows (64.6 % success); app on synthetic 1,400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200" b="1">
                          <a:solidFill>
                            <a:srgbClr val="222222"/>
                          </a:solidFill>
                          <a:latin typeface="Calibri"/>
                          <a:ea typeface="Calibri"/>
                          <a:cs typeface="Calibri"/>
                        </a:rPr>
                        <a:t>Protocol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70:30 split, ADASYN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5 x 80/20 stratified, balanced 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5 x 80/20 (and 5 x 70:30), balanced accuracy, ROC-AUC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03504">
                <a:tc>
                  <a:txBody>
                    <a:bodyPr wrap="square"/>
                    <a:lstStyle/>
                    <a:p>
                      <a:pPr algn="l"/>
                      <a:r>
                        <a:rPr sz="1200" b="1">
                          <a:solidFill>
                            <a:srgbClr val="222222"/>
                          </a:solidFill>
                          <a:latin typeface="Calibri"/>
                          <a:ea typeface="Calibri"/>
                          <a:cs typeface="Calibri"/>
                        </a:rPr>
                        <a:t>Models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LR, RF, SVM, Gradient Boosting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kNN-ICL (LLM) vs LR, RF, XGBoost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LR, DT, RF, XGBoost, HistGB + balanced retrieval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03504">
                <a:tc>
                  <a:txBody>
                    <a:bodyPr wrap="square"/>
                    <a:lstStyle/>
                    <a:p>
                      <a:pPr algn="l"/>
                      <a:r>
                        <a:rPr sz="1200" b="1">
                          <a:solidFill>
                            <a:srgbClr val="222222"/>
                          </a:solidFill>
                          <a:latin typeface="Calibri"/>
                          <a:ea typeface="Calibri"/>
                          <a:cs typeface="Calibri"/>
                        </a:rPr>
                        <a:t>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Accuracy 85-92 % (best ensembles)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Balanced acc. 0.713 vs 0.631 / 0.634 / 0.618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RF / XGB balanced acc. 0.746, accuracy 0.773 / 0.775; RF 0.796 on 70:30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03504">
                <a:tc>
                  <a:txBody>
                    <a:bodyPr wrap="square"/>
                    <a:lstStyle/>
                    <a:p>
                      <a:pPr algn="l"/>
                      <a:r>
                        <a:rPr sz="1200" b="1">
                          <a:solidFill>
                            <a:srgbClr val="222222"/>
                          </a:solidFill>
                          <a:latin typeface="Calibri"/>
                          <a:ea typeface="Calibri"/>
                          <a:cs typeface="Calibri"/>
                        </a:rPr>
                        <a:t>Compute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Flask, local or cloud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LLM prompts, no training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CPU only, local; predict median 148-199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440680"/>
            <a:ext cx="11155680" cy="91440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The ensemble ranking of [1] is reproduced, its 85-92 % accuracy is not (best 77.5 % on 80/20), but its data and table are unspecified. Datasets differ from [2] (their descriptions are text; the real table here has none) and from the temporal Crunchbase panel of [3] (AUROC 0.872 for exits), so the figures are context, not a ranking.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Dashboard &amp; Analyze Form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4_dashboard.png"/>
          <p:cNvPicPr>
            <a:picLocks noChangeAspect="1"/>
          </p:cNvPicPr>
          <p:nvPr/>
        </p:nvPicPr>
        <p:blipFill>
          <a:blip r:embed="rId3"/>
          <a:stretch>
            <a:fillRect/>
          </a:stretch>
        </p:blipFill>
        <p:spPr>
          <a:xfrm>
            <a:off x="870565" y="1691640"/>
            <a:ext cx="4751109" cy="3840480"/>
          </a:xfrm>
          <a:prstGeom prst="rect">
            <a:avLst/>
          </a:prstGeom>
          <a:ln w="9525">
            <a:solidFill>
              <a:srgbClr val="D5DCE6"/>
            </a:solidFill>
          </a:ln>
        </p:spPr>
      </p:pic>
      <p:pic>
        <p:nvPicPr>
          <p:cNvPr id="8" name="Picture 7" descr="06_analyze_form_filled.png"/>
          <p:cNvPicPr>
            <a:picLocks noChangeAspect="1"/>
          </p:cNvPicPr>
          <p:nvPr/>
        </p:nvPicPr>
        <p:blipFill>
          <a:blip r:embed="rId2"/>
          <a:stretch>
            <a:fillRect/>
          </a:stretch>
        </p:blipFill>
        <p:spPr>
          <a:xfrm>
            <a:off x="6465501" y="1691640"/>
            <a:ext cx="4991237" cy="3840480"/>
          </a:xfrm>
          <a:prstGeom prst="rect">
            <a:avLst/>
          </a:prstGeom>
          <a:ln w="9525">
            <a:solidFill>
              <a:srgbClr val="D5DCE6"/>
            </a:solidFill>
          </a:ln>
        </p:spPr>
      </p:pic>
      <p:sp>
        <p:nvSpPr>
          <p:cNvPr id="9" name="TextBox 8"/>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the dashboard of the running app after demo sign-in: 1,400 historical startups (595 / 805), the best model and a data note that the synthetic fallback is in use. Right: the Analyze form filled with a real submission (software startup, CA, USD 2.50 M over 2 rounds, 6 relationships, 3 milestones, VC and round 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Prediction Result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result_top.png"/>
          <p:cNvPicPr>
            <a:picLocks noChangeAspect="1"/>
          </p:cNvPicPr>
          <p:nvPr/>
        </p:nvPicPr>
        <p:blipFill>
          <a:blip r:embed="rId3"/>
          <a:stretch>
            <a:fillRect/>
          </a:stretch>
        </p:blipFill>
        <p:spPr>
          <a:xfrm>
            <a:off x="502920" y="2278380"/>
            <a:ext cx="5486400" cy="2667000"/>
          </a:xfrm>
          <a:prstGeom prst="rect">
            <a:avLst/>
          </a:prstGeom>
          <a:ln w="9525">
            <a:solidFill>
              <a:srgbClr val="D5DCE6"/>
            </a:solidFill>
          </a:ln>
        </p:spPr>
      </p:pic>
      <p:pic>
        <p:nvPicPr>
          <p:cNvPr id="8" name="Picture 7" descr="result_bottom.png"/>
          <p:cNvPicPr>
            <a:picLocks noChangeAspect="1"/>
          </p:cNvPicPr>
          <p:nvPr/>
        </p:nvPicPr>
        <p:blipFill>
          <a:blip r:embed="rId2"/>
          <a:stretch>
            <a:fillRect/>
          </a:stretch>
        </p:blipFill>
        <p:spPr>
          <a:xfrm>
            <a:off x="6487823" y="1691640"/>
            <a:ext cx="4946593" cy="3840480"/>
          </a:xfrm>
          <a:prstGeom prst="rect">
            <a:avLst/>
          </a:prstGeom>
          <a:ln w="9525">
            <a:solidFill>
              <a:srgbClr val="D5DCE6"/>
            </a:solidFill>
          </a:ln>
        </p:spPr>
      </p:pic>
      <p:sp>
        <p:nvSpPr>
          <p:cNvPr id="9" name="TextBox 8"/>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(top of the page): SUCCESS at 83.3 % confidence from Logistic Regression, labelled Lower risk, the signed key features and the 25 / 25 evidence split of k=50. Right (rest of the page): the comparable startups (top similarity 0.580) and the submitted inputs. The prediction is an analytical estimate from a model trained on synthetic data, not a guarantee.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Model Performance &amp; Startup Insights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perf_top.png"/>
          <p:cNvPicPr>
            <a:picLocks noChangeAspect="1"/>
          </p:cNvPicPr>
          <p:nvPr/>
        </p:nvPicPr>
        <p:blipFill>
          <a:blip r:embed="rId3"/>
          <a:stretch>
            <a:fillRect/>
          </a:stretch>
        </p:blipFill>
        <p:spPr>
          <a:xfrm>
            <a:off x="1034003" y="1691640"/>
            <a:ext cx="4424232" cy="3840480"/>
          </a:xfrm>
          <a:prstGeom prst="rect">
            <a:avLst/>
          </a:prstGeom>
          <a:ln w="9525">
            <a:solidFill>
              <a:srgbClr val="D5DCE6"/>
            </a:solidFill>
          </a:ln>
        </p:spPr>
      </p:pic>
      <p:pic>
        <p:nvPicPr>
          <p:cNvPr id="8" name="Picture 7" descr="insights_top.png"/>
          <p:cNvPicPr>
            <a:picLocks noChangeAspect="1"/>
          </p:cNvPicPr>
          <p:nvPr/>
        </p:nvPicPr>
        <p:blipFill>
          <a:blip r:embed="rId2"/>
          <a:stretch>
            <a:fillRect/>
          </a:stretch>
        </p:blipFill>
        <p:spPr>
          <a:xfrm>
            <a:off x="6749003" y="1691640"/>
            <a:ext cx="4424232" cy="3840480"/>
          </a:xfrm>
          <a:prstGeom prst="rect">
            <a:avLst/>
          </a:prstGeom>
          <a:ln w="9525">
            <a:solidFill>
              <a:srgbClr val="D5DCE6"/>
            </a:solidFill>
          </a:ln>
        </p:spPr>
      </p:pic>
      <p:sp>
        <p:nvSpPr>
          <p:cNvPr id="9" name="TextBox 8"/>
          <p:cNvSpPr txBox="1"/>
          <p:nvPr/>
        </p:nvSpPr>
        <p:spPr>
          <a:xfrm>
            <a:off x="502920" y="5623560"/>
            <a:ext cx="11155680" cy="73152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Left: the model comparison table, balanced-accuracy and F1 charts, precision-recall plot and confusion matrix of the served model (synthetic data: balanced accuracy 0.749 ± 0.025). Right: dataset insights, success rate by industry, median funding by outcome and correlations with success (top of each page).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900"/>
              </a:spcAft>
              <a:buChar char="•"/>
            </a:pPr>
            <a:r>
              <a:rPr sz="1800" b="1" i="0">
                <a:solidFill>
                  <a:srgbClr val="222222"/>
                </a:solidFill>
                <a:latin typeface="Calibri"/>
                <a:ea typeface="Calibri"/>
                <a:cs typeface="Calibri"/>
              </a:rPr>
              <a:t>Delivered:</a:t>
            </a:r>
            <a:r>
              <a:rPr sz="1800" b="0" i="0">
                <a:solidFill>
                  <a:srgbClr val="222222"/>
                </a:solidFill>
                <a:latin typeface="Calibri"/>
                <a:ea typeface="Calibri"/>
                <a:cs typeface="Calibri"/>
              </a:rPr>
              <a:t> a working startup-outcome predictor: preprocessing, MiniLM text embedding, fused retrieval of comparable startups, four compared classifiers, explanations, a FastAPI service and a React app.</a:t>
            </a:r>
          </a:p>
          <a:p>
            <a:pPr algn="l" marL="256032" indent="-201168">
              <a:spcAft>
                <a:spcPts val="900"/>
              </a:spcAft>
              <a:buChar char="•"/>
            </a:pPr>
            <a:r>
              <a:rPr sz="1800" b="1" i="0">
                <a:solidFill>
                  <a:srgbClr val="222222"/>
                </a:solidFill>
                <a:latin typeface="Calibri"/>
                <a:ea typeface="Calibri"/>
                <a:cs typeface="Calibri"/>
              </a:rPr>
              <a:t>Measured (real table, structured features):</a:t>
            </a:r>
            <a:r>
              <a:rPr sz="1800" b="0" i="0">
                <a:solidFill>
                  <a:srgbClr val="222222"/>
                </a:solidFill>
                <a:latin typeface="Calibri"/>
                <a:ea typeface="Calibri"/>
                <a:cs typeface="Calibri"/>
              </a:rPr>
              <a:t> RF / XGBoost balanced accuracy 0.746, ROC-AUC 0.816 / 0.806; ensembles beat Logistic Regression; 51 automated checks pass; predict median 148-199 ms.</a:t>
            </a:r>
          </a:p>
          <a:p>
            <a:pPr algn="l" marL="256032" indent="-201168">
              <a:spcAft>
                <a:spcPts val="900"/>
              </a:spcAft>
              <a:buChar char="•"/>
            </a:pPr>
            <a:r>
              <a:rPr sz="1800" b="1" i="0">
                <a:solidFill>
                  <a:srgbClr val="222222"/>
                </a:solidFill>
                <a:latin typeface="Calibri"/>
                <a:ea typeface="Calibri"/>
                <a:cs typeface="Calibri"/>
              </a:rPr>
              <a:t>Objectives:</a:t>
            </a:r>
            <a:r>
              <a:rPr sz="1800" b="0" i="0">
                <a:solidFill>
                  <a:srgbClr val="222222"/>
                </a:solidFill>
                <a:latin typeface="Calibri"/>
                <a:ea typeface="Calibri"/>
                <a:cs typeface="Calibri"/>
              </a:rPr>
              <a:t> 3, 4, 5 and 6 met (6 with the caveat that ROC-AUC was not recorded for the shipped fused model); 1 and 2 only partly: no founder, team-experience or market data exist in either dataset.</a:t>
            </a:r>
          </a:p>
          <a:p>
            <a:pPr algn="l" marL="256032" indent="-201168">
              <a:spcAft>
                <a:spcPts val="400"/>
              </a:spcAft>
              <a:buChar char="•"/>
            </a:pPr>
            <a:r>
              <a:rPr sz="1800" b="1" i="0">
                <a:solidFill>
                  <a:srgbClr val="222222"/>
                </a:solidFill>
                <a:latin typeface="Calibri"/>
                <a:ea typeface="Calibri"/>
                <a:cs typeface="Calibri"/>
              </a:rPr>
              <a:t>Limits:</a:t>
            </a:r>
            <a:r>
              <a:rPr sz="1800" b="0" i="0">
                <a:solidFill>
                  <a:srgbClr val="222222"/>
                </a:solidFill>
                <a:latin typeface="Calibri"/>
                <a:ea typeface="Calibri"/>
                <a:cs typeface="Calibri"/>
              </a:rPr>
              <a:t> the shipped model is trained on synthetic data; the text channel is untested on real data; post-hoc fields inflate AUC by about 0.1; no temporal split; 922 rows from one US table; not investment advice.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200"/>
              </a:spcAft>
              <a:buChar char="•"/>
            </a:pPr>
            <a:r>
              <a:rPr sz="1900" b="0" i="0">
                <a:solidFill>
                  <a:srgbClr val="222222"/>
                </a:solidFill>
                <a:latin typeface="Calibri"/>
                <a:ea typeface="Calibri"/>
                <a:cs typeface="Calibri"/>
              </a:rPr>
              <a:t>Retrain the served model on the real table and re-run the study with a temporal split once dated records are available.</a:t>
            </a:r>
          </a:p>
          <a:p>
            <a:pPr algn="l" marL="256032" indent="-201168">
              <a:spcAft>
                <a:spcPts val="1200"/>
              </a:spcAft>
              <a:buChar char="•"/>
            </a:pPr>
            <a:r>
              <a:rPr sz="1900" b="0" i="0">
                <a:solidFill>
                  <a:srgbClr val="222222"/>
                </a:solidFill>
                <a:latin typeface="Calibri"/>
                <a:ea typeface="Calibri"/>
                <a:cs typeface="Calibri"/>
              </a:rPr>
              <a:t>Collect founder-experience, team and market-context fields and real business descriptions to test the text half of the fusion properly.</a:t>
            </a:r>
          </a:p>
          <a:p>
            <a:pPr algn="l" marL="256032" indent="-201168">
              <a:spcAft>
                <a:spcPts val="1200"/>
              </a:spcAft>
              <a:buChar char="•"/>
            </a:pPr>
            <a:r>
              <a:rPr sz="1900" b="0" i="0">
                <a:solidFill>
                  <a:srgbClr val="222222"/>
                </a:solidFill>
                <a:latin typeface="Calibri"/>
                <a:ea typeface="Calibri"/>
                <a:cs typeface="Calibri"/>
              </a:rPr>
              <a:t>Calibrate the probabilities, add SHAP-style explanations and report PR-AUC with confidence intervals and significance tests.</a:t>
            </a:r>
          </a:p>
          <a:p>
            <a:pPr algn="l" marL="256032" indent="-201168">
              <a:spcAft>
                <a:spcPts val="1200"/>
              </a:spcAft>
              <a:buChar char="•"/>
            </a:pPr>
            <a:r>
              <a:rPr sz="1900" b="0" i="0">
                <a:solidFill>
                  <a:srgbClr val="222222"/>
                </a:solidFill>
                <a:latin typeface="Calibri"/>
                <a:ea typeface="Calibri"/>
                <a:cs typeface="Calibri"/>
              </a:rPr>
              <a:t>Add HistGradientBoosting and the retrieval-only classifier to the app, with a user-selectable decision threshold.</a:t>
            </a:r>
          </a:p>
          <a:p>
            <a:pPr algn="l" marL="256032" indent="-201168">
              <a:spcAft>
                <a:spcPts val="400"/>
              </a:spcAft>
              <a:buChar char="•"/>
            </a:pPr>
            <a:r>
              <a:rPr sz="1900" b="0" i="0">
                <a:solidFill>
                  <a:srgbClr val="222222"/>
                </a:solidFill>
                <a:latin typeface="Calibri"/>
                <a:ea typeface="Calibri"/>
                <a:cs typeface="Calibri"/>
              </a:rPr>
              <a:t>Replace the demo sign-in with real accounts, add load tests and a user study with investors or founders.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91640"/>
            <a:ext cx="5486400" cy="4572000"/>
          </a:xfrm>
          <a:prstGeom prst="rect">
            <a:avLst/>
          </a:prstGeom>
          <a:noFill/>
        </p:spPr>
        <p:txBody>
          <a:bodyPr wrap="square" lIns="0" rIns="0" tIns="0" bIns="0" anchor="t">
            <a:spAutoFit/>
          </a:bodyPr>
          <a:lstStyle/>
          <a:p>
            <a:pPr algn="l">
              <a:spcAft>
                <a:spcPts val="300"/>
              </a:spcAft>
            </a:pPr>
            <a:r>
              <a:rPr sz="1050" b="0" i="0">
                <a:solidFill>
                  <a:srgbClr val="222222"/>
                </a:solidFill>
                <a:latin typeface="Calibri"/>
                <a:ea typeface="Calibri"/>
                <a:cs typeface="Calibri"/>
              </a:rPr>
              <a:t>[1] M. Panjwani, P. Shrivastava, P. Hande, G. Meshram, N. Verma and D. Gotmare, "Startup success prediction using machine learning and ensemble techniques," Int. J. Res. Appl. Sci. Eng. Technol. (IJRASET), vol. 14, no. IV, Apr. 2026, doi: 10.22214/ijraset.2026.80226.</a:t>
            </a:r>
          </a:p>
          <a:p>
            <a:pPr algn="l">
              <a:spcAft>
                <a:spcPts val="300"/>
              </a:spcAft>
            </a:pPr>
            <a:r>
              <a:rPr sz="1050" b="0" i="0">
                <a:solidFill>
                  <a:srgbClr val="222222"/>
                </a:solidFill>
                <a:latin typeface="Calibri"/>
                <a:ea typeface="Calibri"/>
                <a:cs typeface="Calibri"/>
              </a:rPr>
              <a:t>[2] A. Maarouf, A. Bakiaj and S. Feuerriegel, "Predicting startup success using large language models: A novel in-context learning approach," arXiv:2601.16568, Jan. 2026.</a:t>
            </a:r>
          </a:p>
          <a:p>
            <a:pPr algn="l">
              <a:spcAft>
                <a:spcPts val="300"/>
              </a:spcAft>
            </a:pPr>
            <a:r>
              <a:rPr sz="1050" b="0" i="0">
                <a:solidFill>
                  <a:srgbClr val="222222"/>
                </a:solidFill>
                <a:latin typeface="Calibri"/>
                <a:ea typeface="Calibri"/>
                <a:cs typeface="Calibri"/>
              </a:rPr>
              <a:t>[3] S. Mashhadi, A. Saghezchi and V. G. Kashani, "Interpretable machine learning for predicting startup funding, patenting, and exits," arXiv:2510.09465, 2026.</a:t>
            </a:r>
          </a:p>
          <a:p>
            <a:pPr algn="l">
              <a:spcAft>
                <a:spcPts val="300"/>
              </a:spcAft>
            </a:pPr>
            <a:r>
              <a:rPr sz="1050" b="0" i="0">
                <a:solidFill>
                  <a:srgbClr val="222222"/>
                </a:solidFill>
                <a:latin typeface="Calibri"/>
                <a:ea typeface="Calibri"/>
                <a:cs typeface="Calibri"/>
              </a:rPr>
              <a:t>[7] M. Razaghzadeh Bidgoli, I. Raeesi Vanani and M. Goodarzi, "Predicting the success of startups using a machine learning approach," J. Innov. Entrepreneurship, vol. 13, 2024.</a:t>
            </a:r>
          </a:p>
          <a:p>
            <a:pPr algn="l">
              <a:spcAft>
                <a:spcPts val="300"/>
              </a:spcAft>
            </a:pPr>
            <a:r>
              <a:rPr sz="1050" b="0" i="0">
                <a:solidFill>
                  <a:srgbClr val="222222"/>
                </a:solidFill>
                <a:latin typeface="Calibri"/>
                <a:ea typeface="Calibri"/>
                <a:cs typeface="Calibri"/>
              </a:rPr>
              <a:t>[9] K. Zbikowski and P. Antosiuk, "A machine learning, bias-free approach for predicting business success using Crunchbase data," Inf. Process. Manage., vol. 58, no. 2, 2021.</a:t>
            </a:r>
          </a:p>
          <a:p>
            <a:pPr algn="l">
              <a:spcAft>
                <a:spcPts val="300"/>
              </a:spcAft>
            </a:pPr>
            <a:r>
              <a:rPr sz="1050" b="0" i="0">
                <a:solidFill>
                  <a:srgbClr val="222222"/>
                </a:solidFill>
                <a:latin typeface="Calibri"/>
                <a:ea typeface="Calibri"/>
                <a:cs typeface="Calibri"/>
              </a:rPr>
              <a:t>[16] L. Gius, "Disagreement predicts startup success: Evidence from venture competitions," Strategy Sci., vol. 10, no. 2, pp. 93-108, Jun. 2025, doi: 10.1287/stsc.2024.0169.</a:t>
            </a:r>
          </a:p>
          <a:p>
            <a:pPr algn="l">
              <a:spcAft>
                <a:spcPts val="300"/>
              </a:spcAft>
            </a:pPr>
            <a:r>
              <a:rPr sz="1050" b="0" i="0">
                <a:solidFill>
                  <a:srgbClr val="222222"/>
                </a:solidFill>
                <a:latin typeface="Calibri"/>
                <a:ea typeface="Calibri"/>
                <a:cs typeface="Calibri"/>
              </a:rPr>
              <a:t>[17] I. B. Bhandari, "Impact of venture capital on startup success and economic growth in Nepal," Nepalese J. Finance, vol. 12, no. 1, Jan. 2025.</a:t>
            </a:r>
          </a:p>
        </p:txBody>
      </p:sp>
      <p:sp>
        <p:nvSpPr>
          <p:cNvPr id="8" name="TextBox 7"/>
          <p:cNvSpPr txBox="1"/>
          <p:nvPr/>
        </p:nvSpPr>
        <p:spPr>
          <a:xfrm>
            <a:off x="6217920" y="1691640"/>
            <a:ext cx="5486400" cy="4572000"/>
          </a:xfrm>
          <a:prstGeom prst="rect">
            <a:avLst/>
          </a:prstGeom>
          <a:noFill/>
        </p:spPr>
        <p:txBody>
          <a:bodyPr wrap="square" lIns="0" rIns="0" tIns="0" bIns="0" anchor="t">
            <a:spAutoFit/>
          </a:bodyPr>
          <a:lstStyle/>
          <a:p>
            <a:pPr algn="l">
              <a:spcAft>
                <a:spcPts val="300"/>
              </a:spcAft>
            </a:pPr>
            <a:r>
              <a:rPr sz="1050" b="0" i="0">
                <a:solidFill>
                  <a:srgbClr val="222222"/>
                </a:solidFill>
                <a:latin typeface="Calibri"/>
                <a:ea typeface="Calibri"/>
                <a:cs typeface="Calibri"/>
              </a:rPr>
              <a:t>[18] L. Breiman, "Random forests," Mach. Learn., vol. 45, no. 1, pp. 5-32, Oct. 2001.</a:t>
            </a:r>
          </a:p>
          <a:p>
            <a:pPr algn="l">
              <a:spcAft>
                <a:spcPts val="300"/>
              </a:spcAft>
            </a:pPr>
            <a:r>
              <a:rPr sz="1050" b="0" i="0">
                <a:solidFill>
                  <a:srgbClr val="222222"/>
                </a:solidFill>
                <a:latin typeface="Calibri"/>
                <a:ea typeface="Calibri"/>
                <a:cs typeface="Calibri"/>
              </a:rPr>
              <a:t>[19] T. Chen and C. Guestrin, "XGBoost: A scalable tree boosting system," in Proc. 22nd ACM SIGKDD Int. Conf. Knowl. Discovery Data Mining, San Francisco, CA, USA, 2016, pp. 785-794.</a:t>
            </a:r>
          </a:p>
          <a:p>
            <a:pPr algn="l">
              <a:spcAft>
                <a:spcPts val="300"/>
              </a:spcAft>
            </a:pPr>
            <a:r>
              <a:rPr sz="1050" b="0" i="0">
                <a:solidFill>
                  <a:srgbClr val="222222"/>
                </a:solidFill>
                <a:latin typeface="Calibri"/>
                <a:ea typeface="Calibri"/>
                <a:cs typeface="Calibri"/>
              </a:rPr>
              <a:t>[21] F. Pedregosa et al., "Scikit-learn: Machine learning in Python," J. Mach. Learn. Res., vol. 12, pp. 2825-2830, 2011.</a:t>
            </a:r>
          </a:p>
          <a:p>
            <a:pPr algn="l">
              <a:spcAft>
                <a:spcPts val="300"/>
              </a:spcAft>
            </a:pPr>
            <a:r>
              <a:rPr sz="1050" b="0" i="0">
                <a:solidFill>
                  <a:srgbClr val="222222"/>
                </a:solidFill>
                <a:latin typeface="Calibri"/>
                <a:ea typeface="Calibri"/>
                <a:cs typeface="Calibri"/>
              </a:rPr>
              <a:t>[22] H. He and E. A. Garcia, "Learning from imbalanced data," IEEE Trans. Knowl. Data Eng., vol. 21, no. 9, pp. 1263-1284, Sep. 2009.</a:t>
            </a:r>
          </a:p>
          <a:p>
            <a:pPr algn="l">
              <a:spcAft>
                <a:spcPts val="300"/>
              </a:spcAft>
            </a:pPr>
            <a:r>
              <a:rPr sz="1050" b="0" i="0">
                <a:solidFill>
                  <a:srgbClr val="222222"/>
                </a:solidFill>
                <a:latin typeface="Calibri"/>
                <a:ea typeface="Calibri"/>
                <a:cs typeface="Calibri"/>
              </a:rPr>
              <a:t>[25] N. Reimers and I. Gurevych, "Sentence-BERT: Sentence embeddings using Siamese BERT-networks," in Proc. Conf. Empirical Methods Natural Lang. Process. (EMNLP-IJCNLP), Hong Kong, 2019, pp. 3982-3992.</a:t>
            </a:r>
          </a:p>
          <a:p>
            <a:pPr algn="l">
              <a:spcAft>
                <a:spcPts val="300"/>
              </a:spcAft>
            </a:pPr>
            <a:r>
              <a:rPr sz="1050" b="0" i="0">
                <a:solidFill>
                  <a:srgbClr val="222222"/>
                </a:solidFill>
                <a:latin typeface="Calibri"/>
                <a:ea typeface="Calibri"/>
                <a:cs typeface="Calibri"/>
              </a:rPr>
              <a:t>[29] S. Kaufman, S. Rosset, C. Perlich and O. Stitelman, "Leakage in data mining: Formulation, detection, and avoidance," ACM Trans. Knowl. Discovery Data, vol. 6, no. 4, Art. no. 15, 2012.</a:t>
            </a:r>
          </a:p>
          <a:p>
            <a:pPr algn="l">
              <a:spcAft>
                <a:spcPts val="300"/>
              </a:spcAft>
            </a:pPr>
            <a:r>
              <a:rPr sz="1050" b="0" i="0">
                <a:solidFill>
                  <a:srgbClr val="222222"/>
                </a:solidFill>
                <a:latin typeface="Calibri"/>
                <a:ea typeface="Calibri"/>
                <a:cs typeface="Calibri"/>
              </a:rPr>
              <a:t>[32] M. KC, "Startup success prediction," Kaggle dataset (public domain), https://www.kaggle.com/datasets/manishkc06/startup-success-prediction.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C10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VenturePulse">
  <a:themeElements>
    <a:clrScheme name="VenturePuls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enturePuls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VenturePuls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Efficient Novel Approach for Predicting Startup Company Success Rates Using Advanced Machine Learning Paradigms - Final Review</dc:title>
  <dc:subject>VenturePulse</dc:subject>
  <dc:creator>Batch C10, Dept. of CSE</dc:creator>
  <cp:lastModifiedBy/>
  <cp:revision>1</cp:revision>
  <dcterms:created xsi:type="dcterms:W3CDTF">2026-10-07T05:03:03Z</dcterms:created>
  <dcterms:modified xsi:type="dcterms:W3CDTF">2026-10-07T05:03:03Z</dcterms:modified>
  <dc:description/>
  <cp:keywords>startup success prediction, machine learning, ensemble models, retrieval</cp:keywords>
</cp:coreProperties>
</file>