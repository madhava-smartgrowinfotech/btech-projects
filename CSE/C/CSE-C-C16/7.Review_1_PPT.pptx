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Reported accuracy, %</c:v>
                </c:pt>
              </c:strCache>
            </c:strRef>
          </c:tx>
          <c:spPr>
            <a:solidFill>
              <a:srgbClr val="2A78D6"/>
            </a:solidFill>
          </c:spPr>
          <c:dPt>
            <c:idx val="3"/>
            <c:spPr>
              <a:solidFill>
                <a:srgbClr val="EB6834"/>
              </a:solidFill>
            </c:spPr>
          </c:dPt>
          <c:dPt>
            <c:idx val="4"/>
            <c:spPr>
              <a:solidFill>
                <a:srgbClr val="EB6834"/>
              </a:solidFill>
            </c:spPr>
          </c:dPt>
          <c:cat>
            <c:strRef>
              <c:f>Sheet1!$A$2:$A$6</c:f>
              <c:strCache>
                <c:ptCount val="5"/>
                <c:pt idx="0">
                  <c:v>PlantVillage
GoogLeNet / AlexNet
[6]</c:v>
                </c:pt>
                <c:pt idx="1">
                  <c:v>PD36-C
87 k lab-style
[2]</c:v>
                </c:pt>
                <c:pt idx="2">
                  <c:v>CNN validation
70 k images
[3]</c:v>
                </c:pt>
                <c:pt idx="3">
                  <c:v>PlantDoc
cropped leaves
best [4]</c:v>
                </c:pt>
                <c:pt idx="4">
                  <c:v>PlantDoc
raw photos
VGG16 best [4]</c:v>
                </c:pt>
              </c:strCache>
            </c:strRef>
          </c:cat>
          <c:val>
            <c:numRef>
              <c:f>Sheet1!$B$2:$B$6</c:f>
              <c:numCache>
                <c:formatCode>General</c:formatCode>
                <c:ptCount val="5"/>
                <c:pt idx="0">
                  <c:v>99.35</c:v>
                </c:pt>
                <c:pt idx="1">
                  <c:v>99.53</c:v>
                </c:pt>
                <c:pt idx="2">
                  <c:v>96.4</c:v>
                </c:pt>
                <c:pt idx="3">
                  <c:v>70.53</c:v>
                </c:pt>
                <c:pt idx="4">
                  <c:v>29.73</c:v>
                </c:pt>
              </c:numCache>
            </c:numRef>
          </c:val>
        </c:ser>
        <c:dLbls>
          <c:numFmt formatCode="0.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115.0"/>
          <c:min val="0.0"/>
        </c:scaling>
        <c:delete val="0"/>
        <c:axPos val="l"/>
        <c:majorGridlines>
          <c:spPr>
            <a:ln>
              <a:solidFill>
                <a:srgbClr val="D5DCE6"/>
              </a:solidFill>
            </a:ln>
          </c:spPr>
        </c:majorGridlines>
        <c:numFmt formatCode="0.0" sourceLinked="0"/>
        <c:majorTickMark val="out"/>
        <c:minorTickMark val="none"/>
        <c:tickLblPos val="nextTo"/>
        <c:spPr>
          <a:ln>
            <a:noFill/>
          </a:ln>
        </c:spPr>
        <c:crossAx val="-2068027336"/>
        <c:crosses val="autoZero"/>
      </c:valAx>
    </c:plotArea>
    <c:dispBlanksAs val="gap"/>
  </c:chart>
  <c:txPr>
    <a:bodyPr/>
    <a:lstStyle/>
    <a:p>
      <a:pPr>
        <a:defRPr sz="12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title. One sentence: a farmer photographs a leaf, chooses the crop and receives the likely disease, how severe it is, and what to do about it, in a web application that also runs on a modest laptop.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This review is about why the problem matters and what is missing in current work; measured results come in the later reviews.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points: the problem, the diagnose-then-advise idea, and the deliverable, a complete application and not only a model script.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citation. The base paper is about creating training data for in-field classification, not about advice. The batch note states the gap we address: reliable classification joined to treatment and fertiliser advice in the farmer's language. Numbers will not be comparable with ours: task, crops, data and hardware differ.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pattern: models on clean laboratory images report 96 to 99 percent; the one field-photo benchmark, PlantDoc, shows far lower numbers. None of the surveyed works delivers treatment advice in several languages. Four further 2024 to 2026 sources named in the batch survey could not be verified and are listed as such in the report.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Values quoted from the papers: 99.35 percent (Mohanty), 99.53 (PD36-C), 96.4 validation (Kanakala and Ningappa), 70.53 and 29.73 (PlantDoc benchmark). The point is that the data decides the number, so we plan to evaluate on PlantDoc, the field-photo set.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Today's path is scouting and occasional expert visits. Automatic classifiers exist, but they classify and do not advise.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limitations from the problem statement and the survey. Each maps to a design decision: diagnosis plus advice, a three-language interface, and honest testing on field photos.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batch survey states the gap as: The surveyed work addresses leaf image generation and classification. The gap is joining reliable disease classification to actionable, multilingual treatment and fertiliser recommendation.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statement slowly. Input is one photo and a crop; output is a diagnosis with advice; and the system keeps a history. The last clause matters: we promise to report accuracy on field photographs honestly.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from the proposal. The later reviews report which were met.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steps from photo to advice, and the application around them. The diagnosis engine is the part to be measured honestly; the advice comes from a curated knowledge base.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diagram: the browser calls the FastAPI service, which uses the diagnosis and knowledge modules and stores scans in SQLite and images on disk.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targets, not results. Field-photo accuracy is expected to be much lower than the laboratory numbers in the literature, and we will report whatever the held-out test data shows.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numbered list is in the project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a heuristic or CNN; why PlantDoc; how the advice is validated; why only three interface languages.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AgriVision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2800" b="1" dirty="0">
                <a:solidFill>
                  <a:srgbClr val="FFFFFF"/>
                </a:solidFill>
                <a:latin typeface="Cambria" pitchFamily="34" charset="0"/>
                <a:ea typeface="Cambria" pitchFamily="34" charset="-122"/>
                <a:cs typeface="Cambria" pitchFamily="34" charset="-120"/>
              </a:rPr>
              <a:t>AI Powered Crop Disease Detection and Recommendation System for Sustainable Development</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1800" dirty="0">
                <a:solidFill>
                  <a:srgbClr val="CADCFC"/>
                </a:solidFill>
                <a:latin typeface="Calibri" pitchFamily="34" charset="0"/>
                <a:ea typeface="Calibri" pitchFamily="34" charset="-122"/>
                <a:cs typeface="Calibri" pitchFamily="34" charset="-120"/>
              </a:rPr>
              <a:t>A leaf-photograph diagnosis web application with knowledge-based treatment advice in English, Hindi and Marathi</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400" dirty="0">
                <a:solidFill>
                  <a:srgbClr val="FFFFFF"/>
                </a:solidFill>
              </a:rPr>
              <a:t>Pishke Vishal  23K91A05J2</a:t>
            </a:r>
            <a:endParaRPr lang="en-US" sz="1500" dirty="0"/>
          </a:p>
          <a:p>
            <a:pPr indent="0" marL="0">
              <a:buNone/>
            </a:pPr>
            <a:r>
              <a:rPr lang="en-US" sz="1400" dirty="0">
                <a:solidFill>
                  <a:srgbClr val="FFFFFF"/>
                </a:solidFill>
              </a:rPr>
              <a:t>Kyatham Nithisha  23K91A05D1</a:t>
            </a:r>
            <a:endParaRPr lang="en-US" sz="1500" dirty="0"/>
          </a:p>
          <a:p>
            <a:pPr indent="0" marL="0">
              <a:buNone/>
            </a:pPr>
            <a:r>
              <a:rPr lang="en-US" sz="1400" dirty="0">
                <a:solidFill>
                  <a:srgbClr val="FFFFFF"/>
                </a:solidFill>
              </a:rPr>
              <a:t>Mekala Tharun Kuruma  23K91A05F1</a:t>
            </a:r>
            <a:endParaRPr lang="en-US" sz="1500" dirty="0"/>
          </a:p>
          <a:p>
            <a:pPr indent="0" marL="0">
              <a:buNone/>
            </a:pPr>
            <a:r>
              <a:rPr lang="en-US" sz="1400" dirty="0">
                <a:solidFill>
                  <a:srgbClr val="FFFFFF"/>
                </a:solidFill>
              </a:rPr>
              <a:t>Nakka Sreenith  23K91A05H0</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V Krishna Teja,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[COLLEGE NAME]  ·  Batch C16 (CSE-C)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Abstract and overview</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Base paper</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Literature survey and evidence</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Existing approaches and limitations</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Research gap</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Problem statement and objectives</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Proposed approach and architecture</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Expected outcomes</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from a leaf photograph to treatment advice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problem</a:t>
            </a:r>
          </a:p>
        </p:txBody>
      </p:sp>
      <p:sp>
        <p:nvSpPr>
          <p:cNvPr id="29" name="TextBox 28"/>
          <p:cNvSpPr txBox="1"/>
          <p:nvPr/>
        </p:nvSpPr>
        <p:spPr>
          <a:xfrm>
            <a:off x="749808" y="2240280"/>
            <a:ext cx="3118104" cy="3474720"/>
          </a:xfrm>
          <a:prstGeom prst="rect">
            <a:avLst/>
          </a:prstGeom>
          <a:noFill/>
        </p:spPr>
        <p:txBody>
          <a:bodyPr wrap="square" lIns="0" rIns="0" tIns="0" bIns="0" anchor="t">
            <a:spAutoFit/>
          </a:bodyPr>
          <a:lstStyle/>
          <a:p>
            <a:pPr algn="l">
              <a:spcAft>
                <a:spcPts val="400"/>
              </a:spcAft>
            </a:pPr>
            <a:r>
              <a:rPr sz="2000" b="0" i="0">
                <a:solidFill>
                  <a:srgbClr val="475569"/>
                </a:solidFill>
              </a:rPr>
              <a:t>Crop disease cuts yield and income, and farmers often cannot identify it early. Expert advice is not at hand when the decision is needed, and many tools only classify the disease or speak only English.</a:t>
            </a:r>
          </a:p>
        </p:txBody>
      </p:sp>
      <p:sp>
        <p:nvSpPr>
          <p:cNvPr id="30" name="Rounded Rectangle 29"/>
          <p:cNvSpPr/>
          <p:nvPr/>
        </p:nvSpPr>
        <p:spPr>
          <a:xfrm>
            <a:off x="4334255"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Our idea</a:t>
            </a:r>
          </a:p>
        </p:txBody>
      </p:sp>
      <p:sp>
        <p:nvSpPr>
          <p:cNvPr id="33" name="TextBox 32"/>
          <p:cNvSpPr txBox="1"/>
          <p:nvPr/>
        </p:nvSpPr>
        <p:spPr>
          <a:xfrm>
            <a:off x="4535423" y="2240280"/>
            <a:ext cx="3118104" cy="3474720"/>
          </a:xfrm>
          <a:prstGeom prst="rect">
            <a:avLst/>
          </a:prstGeom>
          <a:noFill/>
        </p:spPr>
        <p:txBody>
          <a:bodyPr wrap="square" lIns="0" rIns="0" tIns="0" bIns="0" anchor="t">
            <a:spAutoFit/>
          </a:bodyPr>
          <a:lstStyle/>
          <a:p>
            <a:pPr algn="l">
              <a:spcAft>
                <a:spcPts val="400"/>
              </a:spcAft>
            </a:pPr>
            <a:r>
              <a:rPr sz="2000" b="0" i="0">
                <a:solidFill>
                  <a:srgbClr val="475569"/>
                </a:solidFill>
              </a:rPr>
              <a:t>Let the farmer upload a leaf photo and choose the crop. A diagnosis engine names the disease, and a knowledge base returns severity, chemical, organic and cultural treatment and prevention advice.</a:t>
            </a:r>
          </a:p>
        </p:txBody>
      </p:sp>
      <p:sp>
        <p:nvSpPr>
          <p:cNvPr id="34" name="Rounded Rectangle 33"/>
          <p:cNvSpPr/>
          <p:nvPr/>
        </p:nvSpPr>
        <p:spPr>
          <a:xfrm>
            <a:off x="8119871"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deliverable</a:t>
            </a:r>
          </a:p>
        </p:txBody>
      </p:sp>
      <p:sp>
        <p:nvSpPr>
          <p:cNvPr id="37" name="TextBox 36"/>
          <p:cNvSpPr txBox="1"/>
          <p:nvPr/>
        </p:nvSpPr>
        <p:spPr>
          <a:xfrm>
            <a:off x="8321040" y="2240280"/>
            <a:ext cx="3118104" cy="3474720"/>
          </a:xfrm>
          <a:prstGeom prst="rect">
            <a:avLst/>
          </a:prstGeom>
          <a:noFill/>
        </p:spPr>
        <p:txBody>
          <a:bodyPr wrap="square" lIns="0" rIns="0" tIns="0" bIns="0" anchor="t">
            <a:spAutoFit/>
          </a:bodyPr>
          <a:lstStyle/>
          <a:p>
            <a:pPr algn="l">
              <a:spcAft>
                <a:spcPts val="400"/>
              </a:spcAft>
            </a:pPr>
            <a:r>
              <a:rPr sz="2000" b="0" i="0">
                <a:solidFill>
                  <a:srgbClr val="475569"/>
                </a:solidFill>
              </a:rPr>
              <a:t>AgriVision: a web application with sign-in, scan history, CSV and PDF reports, a dashboard and analytics, a disease guide for 38 classes, and an interface in English, Hindi and Marathi.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
        <p:nvSpPr>
          <p:cNvPr id="26" name="Rounded Rectangle 25"/>
          <p:cNvSpPr/>
          <p:nvPr/>
        </p:nvSpPr>
        <p:spPr>
          <a:xfrm>
            <a:off x="548640" y="1280160"/>
            <a:ext cx="11091672" cy="1005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9808" y="1353312"/>
            <a:ext cx="10698480" cy="868680"/>
          </a:xfrm>
          <a:prstGeom prst="rect">
            <a:avLst/>
          </a:prstGeom>
          <a:noFill/>
        </p:spPr>
        <p:txBody>
          <a:bodyPr wrap="square" lIns="0" rIns="0" tIns="0" bIns="0" anchor="ctr">
            <a:spAutoFit/>
          </a:bodyPr>
          <a:lstStyle/>
          <a:p>
            <a:pPr algn="l">
              <a:spcAft>
                <a:spcPts val="400"/>
              </a:spcAft>
            </a:pPr>
            <a:r>
              <a:rPr sz="1400" b="0" i="0">
                <a:solidFill>
                  <a:srgbClr val="0F172A"/>
                </a:solidFill>
              </a:rPr>
              <a:t>N. Pakka, T. Wilkerson, L. Chen and N.-F. Tzeng, "Foliagen: Framework for crop foliage image generation from individual leaf images," IEEE Access, 2026, doi: 10.1109/ACCESS.2026.3727421.</a:t>
            </a:r>
          </a:p>
        </p:txBody>
      </p:sp>
      <p:sp>
        <p:nvSpPr>
          <p:cNvPr id="28" name="Rounded Rectangle 27"/>
          <p:cNvSpPr/>
          <p:nvPr/>
        </p:nvSpPr>
        <p:spPr>
          <a:xfrm>
            <a:off x="548640" y="2514600"/>
            <a:ext cx="3520440" cy="3749039"/>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49808" y="2697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M</a:t>
            </a:r>
          </a:p>
        </p:txBody>
      </p:sp>
      <p:sp>
        <p:nvSpPr>
          <p:cNvPr id="30" name="TextBox 29"/>
          <p:cNvSpPr txBox="1"/>
          <p:nvPr/>
        </p:nvSpPr>
        <p:spPr>
          <a:xfrm>
            <a:off x="1389888"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Method</a:t>
            </a:r>
          </a:p>
        </p:txBody>
      </p:sp>
      <p:sp>
        <p:nvSpPr>
          <p:cNvPr id="31" name="TextBox 30"/>
          <p:cNvSpPr txBox="1"/>
          <p:nvPr/>
        </p:nvSpPr>
        <p:spPr>
          <a:xfrm>
            <a:off x="749808" y="3383280"/>
            <a:ext cx="3118104" cy="2743199"/>
          </a:xfrm>
          <a:prstGeom prst="rect">
            <a:avLst/>
          </a:prstGeom>
          <a:noFill/>
        </p:spPr>
        <p:txBody>
          <a:bodyPr wrap="square" lIns="0" rIns="0" tIns="0" bIns="0" anchor="t">
            <a:spAutoFit/>
          </a:bodyPr>
          <a:lstStyle/>
          <a:p>
            <a:pPr algn="l">
              <a:spcAft>
                <a:spcPts val="400"/>
              </a:spcAft>
            </a:pPr>
            <a:r>
              <a:rPr sz="1700" b="0" i="0">
                <a:solidFill>
                  <a:srgbClr val="475569"/>
                </a:solidFill>
              </a:rPr>
              <a:t>Foliagen builds annotated foliage images from single-leaf photos: background removal, leaves placed by plant structure, a chosen share of diseased leaves. The images train and fine-tune known classifiers.</a:t>
            </a:r>
          </a:p>
        </p:txBody>
      </p:sp>
      <p:sp>
        <p:nvSpPr>
          <p:cNvPr id="32" name="Rounded Rectangle 31"/>
          <p:cNvSpPr/>
          <p:nvPr/>
        </p:nvSpPr>
        <p:spPr>
          <a:xfrm>
            <a:off x="4334255" y="2514600"/>
            <a:ext cx="3520440" cy="3749039"/>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535423" y="2697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R</a:t>
            </a:r>
          </a:p>
        </p:txBody>
      </p:sp>
      <p:sp>
        <p:nvSpPr>
          <p:cNvPr id="34" name="TextBox 33"/>
          <p:cNvSpPr txBox="1"/>
          <p:nvPr/>
        </p:nvSpPr>
        <p:spPr>
          <a:xfrm>
            <a:off x="5175503"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Data and reported results</a:t>
            </a:r>
          </a:p>
        </p:txBody>
      </p:sp>
      <p:sp>
        <p:nvSpPr>
          <p:cNvPr id="35" name="TextBox 34"/>
          <p:cNvSpPr txBox="1"/>
          <p:nvPr/>
        </p:nvSpPr>
        <p:spPr>
          <a:xfrm>
            <a:off x="4535423" y="3383280"/>
            <a:ext cx="3118104" cy="2743199"/>
          </a:xfrm>
          <a:prstGeom prst="rect">
            <a:avLst/>
          </a:prstGeom>
          <a:noFill/>
        </p:spPr>
        <p:txBody>
          <a:bodyPr wrap="square" lIns="0" rIns="0" tIns="0" bIns="0" anchor="t">
            <a:spAutoFit/>
          </a:bodyPr>
          <a:lstStyle/>
          <a:p>
            <a:pPr algn="l">
              <a:spcAft>
                <a:spcPts val="400"/>
              </a:spcAft>
            </a:pPr>
            <a:r>
              <a:rPr sz="1700" b="0" i="0">
                <a:solidFill>
                  <a:srgbClr val="475569"/>
                </a:solidFill>
              </a:rPr>
              <a:t>Soybean and tomato, from ASDID, a Kaggle soybean set and PlantVillage. Adding 5 % of a natural foliage set to the generated data reaches up to 98 % accuracy on natural foliage; trained on GPUs.</a:t>
            </a:r>
          </a:p>
        </p:txBody>
      </p:sp>
      <p:sp>
        <p:nvSpPr>
          <p:cNvPr id="36" name="Rounded Rectangle 35"/>
          <p:cNvSpPr/>
          <p:nvPr/>
        </p:nvSpPr>
        <p:spPr>
          <a:xfrm>
            <a:off x="8119871" y="2514600"/>
            <a:ext cx="3520440" cy="3749039"/>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321040" y="2697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L</a:t>
            </a:r>
          </a:p>
        </p:txBody>
      </p:sp>
      <p:sp>
        <p:nvSpPr>
          <p:cNvPr id="38" name="TextBox 37"/>
          <p:cNvSpPr txBox="1"/>
          <p:nvPr/>
        </p:nvSpPr>
        <p:spPr>
          <a:xfrm>
            <a:off x="8961119"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What we take, what differs</a:t>
            </a:r>
          </a:p>
        </p:txBody>
      </p:sp>
      <p:sp>
        <p:nvSpPr>
          <p:cNvPr id="39" name="TextBox 38"/>
          <p:cNvSpPr txBox="1"/>
          <p:nvPr/>
        </p:nvSpPr>
        <p:spPr>
          <a:xfrm>
            <a:off x="8321040" y="3383280"/>
            <a:ext cx="3118104" cy="2743199"/>
          </a:xfrm>
          <a:prstGeom prst="rect">
            <a:avLst/>
          </a:prstGeom>
          <a:noFill/>
        </p:spPr>
        <p:txBody>
          <a:bodyPr wrap="square" lIns="0" rIns="0" tIns="0" bIns="0" anchor="t">
            <a:spAutoFit/>
          </a:bodyPr>
          <a:lstStyle/>
          <a:p>
            <a:pPr algn="l">
              <a:spcAft>
                <a:spcPts val="400"/>
              </a:spcAft>
            </a:pPr>
            <a:r>
              <a:rPr sz="1700" b="0" i="0">
                <a:solidFill>
                  <a:srgbClr val="475569"/>
                </a:solidFill>
              </a:rPr>
              <a:t>Taken: the point that field images matter and that data scarcity is the obstacle. Different: we do not generate images; we join classification to actionable, multilingual advice in an application.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graphicFrame>
        <p:nvGraphicFramePr>
          <p:cNvPr id="26" name="Table 25"/>
          <p:cNvGraphicFramePr>
            <a:graphicFrameLocks noGrp="1"/>
          </p:cNvGraphicFramePr>
          <p:nvPr/>
        </p:nvGraphicFramePr>
        <p:xfrm>
          <a:off x="548640" y="1280160"/>
          <a:ext cx="11091672" cy="4608576"/>
        </p:xfrm>
        <a:graphic>
          <a:graphicData uri="http://schemas.openxmlformats.org/drawingml/2006/table">
            <a:tbl>
              <a:tblPr firstRow="0" bandRow="0">
                <a:tableStyleId>{5C22544A-7EE6-4342-B048-85BDC9FD1C3A}</a:tableStyleId>
              </a:tblPr>
              <a:tblGrid>
                <a:gridCol w="2468880"/>
                <a:gridCol w="3566160"/>
                <a:gridCol w="2743200"/>
                <a:gridCol w="2313432"/>
              </a:tblGrid>
              <a:tr h="658368">
                <a:tc>
                  <a:txBody>
                    <a:bodyPr wrap="square"/>
                    <a:lstStyle/>
                    <a:p>
                      <a:pPr algn="ctr"/>
                      <a:r>
                        <a:rPr sz="1300" b="1">
                          <a:solidFill>
                            <a:srgbClr val="FFFFFF"/>
                          </a:solidFill>
                        </a:rPr>
                        <a:t>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Approach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Reported result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58368">
                <a:tc>
                  <a:txBody>
                    <a:bodyPr wrap="square"/>
                    <a:lstStyle/>
                    <a:p>
                      <a:pPr algn="l"/>
                      <a:r>
                        <a:rPr sz="1200" b="0">
                          <a:solidFill>
                            <a:srgbClr val="0F172A"/>
                          </a:solidFill>
                        </a:rPr>
                        <a:t>Pakka et al. 2026 [1] (base)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Foliagen: generated foliage images train classifiers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Soybean and tomato leaf sets, UAV foliage set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Up to 98 % accuracy with 5 % real foliage added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200" b="0">
                          <a:solidFill>
                            <a:srgbClr val="0F172A"/>
                          </a:solidFill>
                        </a:rPr>
                        <a:t>Sherifi et al. 2026 [2]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PD36-C: compact 1.25 M-parameter CNN, offline desktop app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87 k lab-style images, 38 classes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99.53 % test accuracy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58368">
                <a:tc>
                  <a:txBody>
                    <a:bodyPr wrap="square"/>
                    <a:lstStyle/>
                    <a:p>
                      <a:pPr algn="l"/>
                      <a:r>
                        <a:rPr sz="1200" b="0">
                          <a:solidFill>
                            <a:srgbClr val="0F172A"/>
                          </a:solidFill>
                        </a:rPr>
                        <a:t>Kanakala and Ningappa 2025 [3]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CNN and LSTM leaf classifiers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70,295 train / 17,572 validation, 38 classes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CNN 96.4 % validation, LSTM 93.43 %</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200" b="0">
                          <a:solidFill>
                            <a:srgbClr val="0F172A"/>
                          </a:solidFill>
                        </a:rPr>
                        <a:t>Singh et al. 2020 [4]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PlantDoc: field photographs, benchmark CNNs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2,598 web photos, 27 classes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44.5 to 70.5 % (cropped), 13.7 to 29.7 % (raw)</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58368">
                <a:tc>
                  <a:txBody>
                    <a:bodyPr wrap="square"/>
                    <a:lstStyle/>
                    <a:p>
                      <a:pPr algn="l"/>
                      <a:r>
                        <a:rPr sz="1200" b="0">
                          <a:solidFill>
                            <a:srgbClr val="0F172A"/>
                          </a:solidFill>
                        </a:rPr>
                        <a:t>Mohanty et al. 2016 [6]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AlexNet, GoogLeNet on PlantVillage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54 k lab images, 38 classes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99.35 % on held-out lab images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200" b="0">
                          <a:solidFill>
                            <a:srgbClr val="0F172A"/>
                          </a:solidFill>
                        </a:rPr>
                        <a:t>Barbedo 2018 [8]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Why deep models fail on new conditions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Review and tests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Accuracy drops without varied training 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 field photographs are much harder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graphicFrame>
        <p:nvGraphicFramePr>
          <p:cNvPr id="26" name="Chart 25"/>
          <p:cNvGraphicFramePr>
            <a:graphicFrameLocks noGrp="1"/>
          </p:cNvGraphicFramePr>
          <p:nvPr/>
        </p:nvGraphicFramePr>
        <p:xfrm>
          <a:off x="548640" y="1280160"/>
          <a:ext cx="7223760" cy="4937760"/>
        </p:xfrm>
        <a:graphic>
          <a:graphicData uri="http://schemas.openxmlformats.org/drawingml/2006/chart">
            <c:chart xmlns:c="http://schemas.openxmlformats.org/drawingml/2006/chart" r:id="rId3"/>
          </a:graphicData>
        </a:graphic>
      </p:graphicFrame>
      <p:sp>
        <p:nvSpPr>
          <p:cNvPr id="27" name="Rounded Rectangle 26"/>
          <p:cNvSpPr/>
          <p:nvPr/>
        </p:nvSpPr>
        <p:spPr>
          <a:xfrm>
            <a:off x="8046720" y="1325880"/>
            <a:ext cx="3593592"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8247888" y="15087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9" name="TextBox 28"/>
          <p:cNvSpPr txBox="1"/>
          <p:nvPr/>
        </p:nvSpPr>
        <p:spPr>
          <a:xfrm>
            <a:off x="8887968" y="1481328"/>
            <a:ext cx="2587752" cy="548640"/>
          </a:xfrm>
          <a:prstGeom prst="rect">
            <a:avLst/>
          </a:prstGeom>
          <a:noFill/>
        </p:spPr>
        <p:txBody>
          <a:bodyPr wrap="square" lIns="0" rIns="0" tIns="0" bIns="0" anchor="ctr">
            <a:spAutoFit/>
          </a:bodyPr>
          <a:lstStyle/>
          <a:p>
            <a:pPr algn="l">
              <a:spcAft>
                <a:spcPts val="400"/>
              </a:spcAft>
            </a:pPr>
            <a:r>
              <a:rPr sz="1600" b="1" i="0">
                <a:solidFill>
                  <a:srgbClr val="0F172A"/>
                </a:solidFill>
              </a:rPr>
              <a:t>Takeaway</a:t>
            </a:r>
          </a:p>
        </p:txBody>
      </p:sp>
      <p:sp>
        <p:nvSpPr>
          <p:cNvPr id="30" name="TextBox 29"/>
          <p:cNvSpPr txBox="1"/>
          <p:nvPr/>
        </p:nvSpPr>
        <p:spPr>
          <a:xfrm>
            <a:off x="8247888" y="2194560"/>
            <a:ext cx="3191256" cy="1417319"/>
          </a:xfrm>
          <a:prstGeom prst="rect">
            <a:avLst/>
          </a:prstGeom>
          <a:noFill/>
        </p:spPr>
        <p:txBody>
          <a:bodyPr wrap="square" lIns="0" rIns="0" tIns="0" bIns="0" anchor="t">
            <a:spAutoFit/>
          </a:bodyPr>
          <a:lstStyle/>
          <a:p>
            <a:pPr algn="l">
              <a:spcAft>
                <a:spcPts val="400"/>
              </a:spcAft>
            </a:pPr>
            <a:r>
              <a:rPr sz="1400" b="0" i="0">
                <a:solidFill>
                  <a:srgbClr val="475569"/>
                </a:solidFill>
              </a:rPr>
              <a:t>Laboratory-style leaf images give accuracy near 99 %. The same kind of model on web-scraped field photos falls to 30 to 70 %, so a farmer-facing tool must be judged on field photos.</a:t>
            </a:r>
          </a:p>
        </p:txBody>
      </p:sp>
      <p:sp>
        <p:nvSpPr>
          <p:cNvPr id="31" name="Rounded Rectangle 30"/>
          <p:cNvSpPr/>
          <p:nvPr/>
        </p:nvSpPr>
        <p:spPr>
          <a:xfrm>
            <a:off x="8046720" y="3886200"/>
            <a:ext cx="3593592" cy="2331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247888" y="40690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3" name="TextBox 32"/>
          <p:cNvSpPr txBox="1"/>
          <p:nvPr/>
        </p:nvSpPr>
        <p:spPr>
          <a:xfrm>
            <a:off x="8887968" y="4041648"/>
            <a:ext cx="2587752" cy="548640"/>
          </a:xfrm>
          <a:prstGeom prst="rect">
            <a:avLst/>
          </a:prstGeom>
          <a:noFill/>
        </p:spPr>
        <p:txBody>
          <a:bodyPr wrap="square" lIns="0" rIns="0" tIns="0" bIns="0" anchor="ctr">
            <a:spAutoFit/>
          </a:bodyPr>
          <a:lstStyle/>
          <a:p>
            <a:pPr algn="l">
              <a:spcAft>
                <a:spcPts val="400"/>
              </a:spcAft>
            </a:pPr>
            <a:r>
              <a:rPr sz="1600" b="1" i="0">
                <a:solidFill>
                  <a:srgbClr val="0F172A"/>
                </a:solidFill>
              </a:rPr>
              <a:t>Caveat</a:t>
            </a:r>
          </a:p>
        </p:txBody>
      </p:sp>
      <p:sp>
        <p:nvSpPr>
          <p:cNvPr id="34" name="TextBox 33"/>
          <p:cNvSpPr txBox="1"/>
          <p:nvPr/>
        </p:nvSpPr>
        <p:spPr>
          <a:xfrm>
            <a:off x="8247888" y="4754880"/>
            <a:ext cx="3191256" cy="1325879"/>
          </a:xfrm>
          <a:prstGeom prst="rect">
            <a:avLst/>
          </a:prstGeom>
          <a:noFill/>
        </p:spPr>
        <p:txBody>
          <a:bodyPr wrap="square" lIns="0" rIns="0" tIns="0" bIns="0" anchor="t">
            <a:spAutoFit/>
          </a:bodyPr>
          <a:lstStyle/>
          <a:p>
            <a:pPr algn="l">
              <a:spcAft>
                <a:spcPts val="400"/>
              </a:spcAft>
            </a:pPr>
            <a:r>
              <a:rPr sz="1400" b="0" i="0">
                <a:solidFill>
                  <a:srgbClr val="475569"/>
                </a:solidFill>
              </a:rPr>
              <a:t>Figures are as printed in each paper, on different data and splits; they are not a ranking. Our own measurements follow in the later reviews.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approaches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Spots appear on leaves</a:t>
            </a:r>
          </a:p>
        </p:txBody>
      </p:sp>
      <p:sp>
        <p:nvSpPr>
          <p:cNvPr id="27" name="Right Arrow 26"/>
          <p:cNvSpPr/>
          <p:nvPr/>
        </p:nvSpPr>
        <p:spPr>
          <a:xfrm>
            <a:off x="3106674"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435858"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Farmer guesses or waits</a:t>
            </a:r>
          </a:p>
        </p:txBody>
      </p:sp>
      <p:sp>
        <p:nvSpPr>
          <p:cNvPr id="29" name="Right Arrow 28"/>
          <p:cNvSpPr/>
          <p:nvPr/>
        </p:nvSpPr>
        <p:spPr>
          <a:xfrm>
            <a:off x="5993892"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23076"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Expert visit, if any</a:t>
            </a:r>
          </a:p>
        </p:txBody>
      </p:sp>
      <p:sp>
        <p:nvSpPr>
          <p:cNvPr id="31" name="Right Arrow 30"/>
          <p:cNvSpPr/>
          <p:nvPr/>
        </p:nvSpPr>
        <p:spPr>
          <a:xfrm>
            <a:off x="8881110"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10294"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Treatment, often late</a:t>
            </a:r>
          </a:p>
        </p:txBody>
      </p:sp>
      <p:sp>
        <p:nvSpPr>
          <p:cNvPr id="33" name="Rounded Rectangle 32"/>
          <p:cNvSpPr/>
          <p:nvPr/>
        </p:nvSpPr>
        <p:spPr>
          <a:xfrm>
            <a:off x="548640" y="2834640"/>
            <a:ext cx="5440680"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749808" y="30175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35" name="TextBox 34"/>
          <p:cNvSpPr txBox="1"/>
          <p:nvPr/>
        </p:nvSpPr>
        <p:spPr>
          <a:xfrm>
            <a:off x="1389888" y="299008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Visual scouting and expert advice</a:t>
            </a:r>
          </a:p>
        </p:txBody>
      </p:sp>
      <p:sp>
        <p:nvSpPr>
          <p:cNvPr id="36" name="TextBox 35"/>
          <p:cNvSpPr txBox="1"/>
          <p:nvPr/>
        </p:nvSpPr>
        <p:spPr>
          <a:xfrm>
            <a:off x="749808" y="3703320"/>
            <a:ext cx="5038344" cy="2377440"/>
          </a:xfrm>
          <a:prstGeom prst="rect">
            <a:avLst/>
          </a:prstGeom>
          <a:noFill/>
        </p:spPr>
        <p:txBody>
          <a:bodyPr wrap="square" lIns="0" rIns="0" tIns="0" bIns="0" anchor="t">
            <a:spAutoFit/>
          </a:bodyPr>
          <a:lstStyle/>
          <a:p>
            <a:pPr algn="l">
              <a:spcAft>
                <a:spcPts val="400"/>
              </a:spcAft>
            </a:pPr>
            <a:r>
              <a:rPr sz="1700" b="0" i="0">
                <a:solidFill>
                  <a:srgbClr val="475569"/>
                </a:solidFill>
              </a:rPr>
              <a:t>Accurate when an agronomist is present, but experts are rarely available at the right place and time, and the delay lets the disease spread through the field.</a:t>
            </a:r>
          </a:p>
        </p:txBody>
      </p:sp>
      <p:sp>
        <p:nvSpPr>
          <p:cNvPr id="37" name="Rounded Rectangle 36"/>
          <p:cNvSpPr/>
          <p:nvPr/>
        </p:nvSpPr>
        <p:spPr>
          <a:xfrm>
            <a:off x="6199632" y="2834640"/>
            <a:ext cx="5440680"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6400800" y="30175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9" name="TextBox 38"/>
          <p:cNvSpPr txBox="1"/>
          <p:nvPr/>
        </p:nvSpPr>
        <p:spPr>
          <a:xfrm>
            <a:off x="7040880" y="299008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Automatic leaf classifiers</a:t>
            </a:r>
          </a:p>
        </p:txBody>
      </p:sp>
      <p:sp>
        <p:nvSpPr>
          <p:cNvPr id="40" name="TextBox 39"/>
          <p:cNvSpPr txBox="1"/>
          <p:nvPr/>
        </p:nvSpPr>
        <p:spPr>
          <a:xfrm>
            <a:off x="6400800" y="3703320"/>
            <a:ext cx="5038344" cy="2377440"/>
          </a:xfrm>
          <a:prstGeom prst="rect">
            <a:avLst/>
          </a:prstGeom>
          <a:noFill/>
        </p:spPr>
        <p:txBody>
          <a:bodyPr wrap="square" lIns="0" rIns="0" tIns="0" bIns="0" anchor="t">
            <a:spAutoFit/>
          </a:bodyPr>
          <a:lstStyle/>
          <a:p>
            <a:pPr algn="l">
              <a:spcAft>
                <a:spcPts val="400"/>
              </a:spcAft>
            </a:pPr>
            <a:r>
              <a:rPr sz="1700" b="0" i="0">
                <a:solidFill>
                  <a:srgbClr val="475569"/>
                </a:solidFill>
              </a:rPr>
              <a:t>CNN classifiers name the disease from a photo, but most stop there: no treatment guidance, English-only text, and training on clean laboratory images.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
        <p:nvSpPr>
          <p:cNvPr id="26" name="Rounded Rectangle 25"/>
          <p:cNvSpPr/>
          <p:nvPr/>
        </p:nvSpPr>
        <p:spPr>
          <a:xfrm>
            <a:off x="548640" y="137160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Late identification</a:t>
            </a:r>
          </a:p>
        </p:txBody>
      </p:sp>
      <p:sp>
        <p:nvSpPr>
          <p:cNvPr id="29" name="TextBox 28"/>
          <p:cNvSpPr txBox="1"/>
          <p:nvPr/>
        </p:nvSpPr>
        <p:spPr>
          <a:xfrm>
            <a:off x="749808" y="2240280"/>
            <a:ext cx="5038344" cy="1280160"/>
          </a:xfrm>
          <a:prstGeom prst="rect">
            <a:avLst/>
          </a:prstGeom>
          <a:noFill/>
        </p:spPr>
        <p:txBody>
          <a:bodyPr wrap="square" lIns="0" rIns="0" tIns="0" bIns="0" anchor="t">
            <a:spAutoFit/>
          </a:bodyPr>
          <a:lstStyle/>
          <a:p>
            <a:pPr algn="l">
              <a:spcAft>
                <a:spcPts val="400"/>
              </a:spcAft>
            </a:pPr>
            <a:r>
              <a:rPr sz="1700" b="0" i="0">
                <a:solidFill>
                  <a:srgbClr val="475569"/>
                </a:solidFill>
              </a:rPr>
              <a:t>Farmers cannot identify disease early enough to prevent yield loss.</a:t>
            </a:r>
          </a:p>
        </p:txBody>
      </p:sp>
      <p:sp>
        <p:nvSpPr>
          <p:cNvPr id="30" name="Rounded Rectangle 29"/>
          <p:cNvSpPr/>
          <p:nvPr/>
        </p:nvSpPr>
        <p:spPr>
          <a:xfrm>
            <a:off x="6199631" y="137160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400799"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7040879" y="152704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No expert at hand</a:t>
            </a:r>
          </a:p>
        </p:txBody>
      </p:sp>
      <p:sp>
        <p:nvSpPr>
          <p:cNvPr id="33" name="TextBox 32"/>
          <p:cNvSpPr txBox="1"/>
          <p:nvPr/>
        </p:nvSpPr>
        <p:spPr>
          <a:xfrm>
            <a:off x="6400799" y="2240280"/>
            <a:ext cx="5038344" cy="1280160"/>
          </a:xfrm>
          <a:prstGeom prst="rect">
            <a:avLst/>
          </a:prstGeom>
          <a:noFill/>
        </p:spPr>
        <p:txBody>
          <a:bodyPr wrap="square" lIns="0" rIns="0" tIns="0" bIns="0" anchor="t">
            <a:spAutoFit/>
          </a:bodyPr>
          <a:lstStyle/>
          <a:p>
            <a:pPr algn="l">
              <a:spcAft>
                <a:spcPts val="400"/>
              </a:spcAft>
            </a:pPr>
            <a:r>
              <a:rPr sz="1700" b="0" i="0">
                <a:solidFill>
                  <a:srgbClr val="475569"/>
                </a:solidFill>
              </a:rPr>
              <a:t>Agricultural expertise is not available at the time and place the decision is needed.</a:t>
            </a:r>
          </a:p>
        </p:txBody>
      </p:sp>
      <p:sp>
        <p:nvSpPr>
          <p:cNvPr id="34" name="Rounded Rectangle 33"/>
          <p:cNvSpPr/>
          <p:nvPr/>
        </p:nvSpPr>
        <p:spPr>
          <a:xfrm>
            <a:off x="548640" y="384048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749808" y="40233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1389888" y="3995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Classification only</a:t>
            </a:r>
          </a:p>
        </p:txBody>
      </p:sp>
      <p:sp>
        <p:nvSpPr>
          <p:cNvPr id="37" name="TextBox 36"/>
          <p:cNvSpPr txBox="1"/>
          <p:nvPr/>
        </p:nvSpPr>
        <p:spPr>
          <a:xfrm>
            <a:off x="749808" y="4709160"/>
            <a:ext cx="5038344" cy="1280160"/>
          </a:xfrm>
          <a:prstGeom prst="rect">
            <a:avLst/>
          </a:prstGeom>
          <a:noFill/>
        </p:spPr>
        <p:txBody>
          <a:bodyPr wrap="square" lIns="0" rIns="0" tIns="0" bIns="0" anchor="t">
            <a:spAutoFit/>
          </a:bodyPr>
          <a:lstStyle/>
          <a:p>
            <a:pPr algn="l">
              <a:spcAft>
                <a:spcPts val="400"/>
              </a:spcAft>
            </a:pPr>
            <a:r>
              <a:rPr sz="1700" b="0" i="0">
                <a:solidFill>
                  <a:srgbClr val="475569"/>
                </a:solidFill>
              </a:rPr>
              <a:t>Existing tools classify disease but provide no treatment guidance.</a:t>
            </a:r>
          </a:p>
        </p:txBody>
      </p:sp>
      <p:sp>
        <p:nvSpPr>
          <p:cNvPr id="38" name="Rounded Rectangle 37"/>
          <p:cNvSpPr/>
          <p:nvPr/>
        </p:nvSpPr>
        <p:spPr>
          <a:xfrm>
            <a:off x="6199631" y="384048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400799" y="40233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7040879" y="3995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Language and field gap</a:t>
            </a:r>
          </a:p>
        </p:txBody>
      </p:sp>
      <p:sp>
        <p:nvSpPr>
          <p:cNvPr id="41" name="TextBox 40"/>
          <p:cNvSpPr txBox="1"/>
          <p:nvPr/>
        </p:nvSpPr>
        <p:spPr>
          <a:xfrm>
            <a:off x="6400799" y="4709160"/>
            <a:ext cx="5038344" cy="1280160"/>
          </a:xfrm>
          <a:prstGeom prst="rect">
            <a:avLst/>
          </a:prstGeom>
          <a:noFill/>
        </p:spPr>
        <p:txBody>
          <a:bodyPr wrap="square" lIns="0" rIns="0" tIns="0" bIns="0" anchor="t">
            <a:spAutoFit/>
          </a:bodyPr>
          <a:lstStyle/>
          <a:p>
            <a:pPr algn="l">
              <a:spcAft>
                <a:spcPts val="400"/>
              </a:spcAft>
            </a:pPr>
            <a:r>
              <a:rPr sz="1700" b="0" i="0">
                <a:solidFill>
                  <a:srgbClr val="475569"/>
                </a:solidFill>
              </a:rPr>
              <a:t>Advice only in English is unusable for many farmers, and models trained on laboratory images do not carry over to field photographs.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
        <p:nvSpPr>
          <p:cNvPr id="26" name="Rounded Rectangle 25"/>
          <p:cNvSpPr/>
          <p:nvPr/>
        </p:nvSpPr>
        <p:spPr>
          <a:xfrm>
            <a:off x="548640" y="1325880"/>
            <a:ext cx="256032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1325880"/>
            <a:ext cx="2560320" cy="822960"/>
          </a:xfrm>
          <a:prstGeom prst="rect">
            <a:avLst/>
          </a:prstGeom>
          <a:noFill/>
        </p:spPr>
        <p:txBody>
          <a:bodyPr wrap="square" lIns="0" rIns="0" tIns="0" bIns="0" anchor="ctr">
            <a:spAutoFit/>
          </a:bodyPr>
          <a:lstStyle/>
          <a:p>
            <a:pPr algn="ctr">
              <a:spcAft>
                <a:spcPts val="400"/>
              </a:spcAft>
            </a:pPr>
            <a:r>
              <a:rPr sz="1600" b="1" i="0">
                <a:solidFill>
                  <a:srgbClr val="FFFFFF"/>
                </a:solidFill>
              </a:rPr>
              <a:t>Advice, not just labels</a:t>
            </a:r>
          </a:p>
        </p:txBody>
      </p:sp>
      <p:sp>
        <p:nvSpPr>
          <p:cNvPr id="28" name="TextBox 27"/>
          <p:cNvSpPr txBox="1"/>
          <p:nvPr/>
        </p:nvSpPr>
        <p:spPr>
          <a:xfrm>
            <a:off x="3383280" y="1325880"/>
            <a:ext cx="8229600" cy="822960"/>
          </a:xfrm>
          <a:prstGeom prst="rect">
            <a:avLst/>
          </a:prstGeom>
          <a:noFill/>
        </p:spPr>
        <p:txBody>
          <a:bodyPr wrap="square" lIns="0" rIns="0" tIns="0" bIns="0" anchor="ctr">
            <a:spAutoFit/>
          </a:bodyPr>
          <a:lstStyle/>
          <a:p>
            <a:pPr algn="l">
              <a:spcAft>
                <a:spcPts val="400"/>
              </a:spcAft>
            </a:pPr>
            <a:r>
              <a:rPr sz="1700" b="0" i="0">
                <a:solidFill>
                  <a:srgbClr val="0F172A"/>
                </a:solidFill>
              </a:rPr>
              <a:t>Surveyed work addresses leaf image generation and classification; treatment and fertiliser advice is left out.</a:t>
            </a:r>
          </a:p>
        </p:txBody>
      </p:sp>
      <p:sp>
        <p:nvSpPr>
          <p:cNvPr id="29" name="Rounded Rectangle 28"/>
          <p:cNvSpPr/>
          <p:nvPr/>
        </p:nvSpPr>
        <p:spPr>
          <a:xfrm>
            <a:off x="548640" y="2313432"/>
            <a:ext cx="256032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48640" y="2313432"/>
            <a:ext cx="2560320" cy="822960"/>
          </a:xfrm>
          <a:prstGeom prst="rect">
            <a:avLst/>
          </a:prstGeom>
          <a:noFill/>
        </p:spPr>
        <p:txBody>
          <a:bodyPr wrap="square" lIns="0" rIns="0" tIns="0" bIns="0" anchor="ctr">
            <a:spAutoFit/>
          </a:bodyPr>
          <a:lstStyle/>
          <a:p>
            <a:pPr algn="ctr">
              <a:spcAft>
                <a:spcPts val="400"/>
              </a:spcAft>
            </a:pPr>
            <a:r>
              <a:rPr sz="1600" b="1" i="0">
                <a:solidFill>
                  <a:srgbClr val="FFFFFF"/>
                </a:solidFill>
              </a:rPr>
              <a:t>Local language</a:t>
            </a:r>
          </a:p>
        </p:txBody>
      </p:sp>
      <p:sp>
        <p:nvSpPr>
          <p:cNvPr id="31" name="TextBox 30"/>
          <p:cNvSpPr txBox="1"/>
          <p:nvPr/>
        </p:nvSpPr>
        <p:spPr>
          <a:xfrm>
            <a:off x="3383280" y="2313432"/>
            <a:ext cx="8229600" cy="822960"/>
          </a:xfrm>
          <a:prstGeom prst="rect">
            <a:avLst/>
          </a:prstGeom>
          <a:noFill/>
        </p:spPr>
        <p:txBody>
          <a:bodyPr wrap="square" lIns="0" rIns="0" tIns="0" bIns="0" anchor="ctr">
            <a:spAutoFit/>
          </a:bodyPr>
          <a:lstStyle/>
          <a:p>
            <a:pPr algn="l">
              <a:spcAft>
                <a:spcPts val="400"/>
              </a:spcAft>
            </a:pPr>
            <a:r>
              <a:rPr sz="1700" b="0" i="0">
                <a:solidFill>
                  <a:srgbClr val="0F172A"/>
                </a:solidFill>
              </a:rPr>
              <a:t>Interfaces and advice are usually English only; Hindi and Marathi readers are not served.</a:t>
            </a:r>
          </a:p>
        </p:txBody>
      </p:sp>
      <p:sp>
        <p:nvSpPr>
          <p:cNvPr id="32" name="Rounded Rectangle 31"/>
          <p:cNvSpPr/>
          <p:nvPr/>
        </p:nvSpPr>
        <p:spPr>
          <a:xfrm>
            <a:off x="548640" y="3300984"/>
            <a:ext cx="256032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48640" y="3300984"/>
            <a:ext cx="2560320" cy="822960"/>
          </a:xfrm>
          <a:prstGeom prst="rect">
            <a:avLst/>
          </a:prstGeom>
          <a:noFill/>
        </p:spPr>
        <p:txBody>
          <a:bodyPr wrap="square" lIns="0" rIns="0" tIns="0" bIns="0" anchor="ctr">
            <a:spAutoFit/>
          </a:bodyPr>
          <a:lstStyle/>
          <a:p>
            <a:pPr algn="ctr">
              <a:spcAft>
                <a:spcPts val="400"/>
              </a:spcAft>
            </a:pPr>
            <a:r>
              <a:rPr sz="1600" b="1" i="0">
                <a:solidFill>
                  <a:srgbClr val="FFFFFF"/>
                </a:solidFill>
              </a:rPr>
              <a:t>Field photographs</a:t>
            </a:r>
          </a:p>
        </p:txBody>
      </p:sp>
      <p:sp>
        <p:nvSpPr>
          <p:cNvPr id="34" name="TextBox 33"/>
          <p:cNvSpPr txBox="1"/>
          <p:nvPr/>
        </p:nvSpPr>
        <p:spPr>
          <a:xfrm>
            <a:off x="3383280" y="3300984"/>
            <a:ext cx="8229600" cy="822960"/>
          </a:xfrm>
          <a:prstGeom prst="rect">
            <a:avLst/>
          </a:prstGeom>
          <a:noFill/>
        </p:spPr>
        <p:txBody>
          <a:bodyPr wrap="square" lIns="0" rIns="0" tIns="0" bIns="0" anchor="ctr">
            <a:spAutoFit/>
          </a:bodyPr>
          <a:lstStyle/>
          <a:p>
            <a:pPr algn="l">
              <a:spcAft>
                <a:spcPts val="400"/>
              </a:spcAft>
            </a:pPr>
            <a:r>
              <a:rPr sz="1700" b="0" i="0">
                <a:solidFill>
                  <a:srgbClr val="0F172A"/>
                </a:solidFill>
              </a:rPr>
              <a:t>Reliable classification on web or phone photographs is much harder than on laboratory sets and must be measured.</a:t>
            </a:r>
          </a:p>
        </p:txBody>
      </p:sp>
      <p:sp>
        <p:nvSpPr>
          <p:cNvPr id="35" name="Rounded Rectangle 34"/>
          <p:cNvSpPr/>
          <p:nvPr/>
        </p:nvSpPr>
        <p:spPr>
          <a:xfrm>
            <a:off x="548640" y="4288536"/>
            <a:ext cx="256032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48640" y="4288536"/>
            <a:ext cx="2560320" cy="822960"/>
          </a:xfrm>
          <a:prstGeom prst="rect">
            <a:avLst/>
          </a:prstGeom>
          <a:noFill/>
        </p:spPr>
        <p:txBody>
          <a:bodyPr wrap="square" lIns="0" rIns="0" tIns="0" bIns="0" anchor="ctr">
            <a:spAutoFit/>
          </a:bodyPr>
          <a:lstStyle/>
          <a:p>
            <a:pPr algn="ctr">
              <a:spcAft>
                <a:spcPts val="400"/>
              </a:spcAft>
            </a:pPr>
            <a:r>
              <a:rPr sz="1600" b="1" i="0">
                <a:solidFill>
                  <a:srgbClr val="FFFFFF"/>
                </a:solidFill>
              </a:rPr>
              <a:t>One usable tool</a:t>
            </a:r>
          </a:p>
        </p:txBody>
      </p:sp>
      <p:sp>
        <p:nvSpPr>
          <p:cNvPr id="37" name="TextBox 36"/>
          <p:cNvSpPr txBox="1"/>
          <p:nvPr/>
        </p:nvSpPr>
        <p:spPr>
          <a:xfrm>
            <a:off x="3383280" y="4288536"/>
            <a:ext cx="8229600" cy="822960"/>
          </a:xfrm>
          <a:prstGeom prst="rect">
            <a:avLst/>
          </a:prstGeom>
          <a:noFill/>
        </p:spPr>
        <p:txBody>
          <a:bodyPr wrap="square" lIns="0" rIns="0" tIns="0" bIns="0" anchor="ctr">
            <a:spAutoFit/>
          </a:bodyPr>
          <a:lstStyle/>
          <a:p>
            <a:pPr algn="l">
              <a:spcAft>
                <a:spcPts val="400"/>
              </a:spcAft>
            </a:pPr>
            <a:r>
              <a:rPr sz="1700" b="0" i="0">
                <a:solidFill>
                  <a:srgbClr val="0F172A"/>
                </a:solidFill>
              </a:rPr>
              <a:t>Diagnosis, advice, history and reports are rarely joined in one application that runs on modest hardware.</a:t>
            </a:r>
          </a:p>
        </p:txBody>
      </p:sp>
      <p:sp>
        <p:nvSpPr>
          <p:cNvPr id="38" name="Rounded Rectangle 37"/>
          <p:cNvSpPr/>
          <p:nvPr/>
        </p:nvSpPr>
        <p:spPr>
          <a:xfrm>
            <a:off x="548640" y="5276088"/>
            <a:ext cx="256032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48640" y="5276088"/>
            <a:ext cx="2560320" cy="822960"/>
          </a:xfrm>
          <a:prstGeom prst="rect">
            <a:avLst/>
          </a:prstGeom>
          <a:noFill/>
        </p:spPr>
        <p:txBody>
          <a:bodyPr wrap="square" lIns="0" rIns="0" tIns="0" bIns="0" anchor="ctr">
            <a:spAutoFit/>
          </a:bodyPr>
          <a:lstStyle/>
          <a:p>
            <a:pPr algn="ctr">
              <a:spcAft>
                <a:spcPts val="400"/>
              </a:spcAft>
            </a:pPr>
            <a:r>
              <a:rPr sz="1600" b="1" i="0">
                <a:solidFill>
                  <a:srgbClr val="FFFFFF"/>
                </a:solidFill>
              </a:rPr>
              <a:t>Honest evaluation</a:t>
            </a:r>
          </a:p>
        </p:txBody>
      </p:sp>
      <p:sp>
        <p:nvSpPr>
          <p:cNvPr id="40" name="TextBox 39"/>
          <p:cNvSpPr txBox="1"/>
          <p:nvPr/>
        </p:nvSpPr>
        <p:spPr>
          <a:xfrm>
            <a:off x="3383280" y="5276088"/>
            <a:ext cx="8229600" cy="822960"/>
          </a:xfrm>
          <a:prstGeom prst="rect">
            <a:avLst/>
          </a:prstGeom>
          <a:noFill/>
        </p:spPr>
        <p:txBody>
          <a:bodyPr wrap="square" lIns="0" rIns="0" tIns="0" bIns="0" anchor="ctr">
            <a:spAutoFit/>
          </a:bodyPr>
          <a:lstStyle/>
          <a:p>
            <a:pPr algn="l">
              <a:spcAft>
                <a:spcPts val="400"/>
              </a:spcAft>
            </a:pPr>
            <a:r>
              <a:rPr sz="1700" b="0" i="0">
                <a:solidFill>
                  <a:srgbClr val="0F172A"/>
                </a:solidFill>
              </a:rPr>
              <a:t>Scores are rarely given per class, with baselines, seeds and the cost of running the system.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
        <p:nvSpPr>
          <p:cNvPr id="26" name="Rounded Rectangle 25"/>
          <p:cNvSpPr/>
          <p:nvPr/>
        </p:nvSpPr>
        <p:spPr>
          <a:xfrm>
            <a:off x="548640" y="1325880"/>
            <a:ext cx="11091672" cy="2514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8680" y="1463040"/>
            <a:ext cx="10469880" cy="2286000"/>
          </a:xfrm>
          <a:prstGeom prst="rect">
            <a:avLst/>
          </a:prstGeom>
          <a:noFill/>
        </p:spPr>
        <p:txBody>
          <a:bodyPr wrap="square" lIns="0" rIns="0" tIns="0" bIns="0" anchor="ctr">
            <a:spAutoFit/>
          </a:bodyPr>
          <a:lstStyle/>
          <a:p>
            <a:pPr algn="l">
              <a:spcAft>
                <a:spcPts val="400"/>
              </a:spcAft>
            </a:pPr>
            <a:r>
              <a:rPr sz="1800" b="0" i="0">
                <a:solidFill>
                  <a:srgbClr val="0F172A"/>
                </a:solidFill>
              </a:rPr>
              <a:t>Given one photograph of a crop leaf and the crop the farmer chose, name the most likely disease (or 'healthy'), say how severe it is, and return treatment and prevention advice from a knowledge base, through a web application a non-expert can use, with the interface in English, Hindi or Marathi - and report honestly how accurate the diagnosis is on field photographs.</a:t>
            </a:r>
          </a:p>
        </p:txBody>
      </p:sp>
      <p:sp>
        <p:nvSpPr>
          <p:cNvPr id="28" name="Rounded Rectangle 27"/>
          <p:cNvSpPr/>
          <p:nvPr/>
        </p:nvSpPr>
        <p:spPr>
          <a:xfrm>
            <a:off x="548640" y="4114800"/>
            <a:ext cx="3520440" cy="1371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224528"/>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Input</a:t>
            </a:r>
          </a:p>
        </p:txBody>
      </p:sp>
      <p:sp>
        <p:nvSpPr>
          <p:cNvPr id="30" name="TextBox 29"/>
          <p:cNvSpPr txBox="1"/>
          <p:nvPr/>
        </p:nvSpPr>
        <p:spPr>
          <a:xfrm>
            <a:off x="777240" y="4663440"/>
            <a:ext cx="3108960" cy="731520"/>
          </a:xfrm>
          <a:prstGeom prst="rect">
            <a:avLst/>
          </a:prstGeom>
          <a:noFill/>
        </p:spPr>
        <p:txBody>
          <a:bodyPr wrap="square" lIns="0" rIns="0" tIns="0" bIns="0" anchor="t">
            <a:spAutoFit/>
          </a:bodyPr>
          <a:lstStyle/>
          <a:p>
            <a:pPr algn="l">
              <a:spcAft>
                <a:spcPts val="400"/>
              </a:spcAft>
            </a:pPr>
            <a:r>
              <a:rPr sz="1400" b="0" i="0">
                <a:solidFill>
                  <a:srgbClr val="475569"/>
                </a:solidFill>
              </a:rPr>
              <a:t>One leaf photo (JPG, PNG, WEBP, up to 10 MB) and the crop</a:t>
            </a:r>
          </a:p>
        </p:txBody>
      </p:sp>
      <p:sp>
        <p:nvSpPr>
          <p:cNvPr id="31" name="Rounded Rectangle 30"/>
          <p:cNvSpPr/>
          <p:nvPr/>
        </p:nvSpPr>
        <p:spPr>
          <a:xfrm>
            <a:off x="4334255" y="4114800"/>
            <a:ext cx="3520440" cy="1371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62855" y="4224528"/>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Output</a:t>
            </a:r>
          </a:p>
        </p:txBody>
      </p:sp>
      <p:sp>
        <p:nvSpPr>
          <p:cNvPr id="33" name="TextBox 32"/>
          <p:cNvSpPr txBox="1"/>
          <p:nvPr/>
        </p:nvSpPr>
        <p:spPr>
          <a:xfrm>
            <a:off x="4562855" y="4663440"/>
            <a:ext cx="3108960" cy="731520"/>
          </a:xfrm>
          <a:prstGeom prst="rect">
            <a:avLst/>
          </a:prstGeom>
          <a:noFill/>
        </p:spPr>
        <p:txBody>
          <a:bodyPr wrap="square" lIns="0" rIns="0" tIns="0" bIns="0" anchor="t">
            <a:spAutoFit/>
          </a:bodyPr>
          <a:lstStyle/>
          <a:p>
            <a:pPr algn="l">
              <a:spcAft>
                <a:spcPts val="400"/>
              </a:spcAft>
            </a:pPr>
            <a:r>
              <a:rPr sz="1400" b="0" i="0">
                <a:solidFill>
                  <a:srgbClr val="475569"/>
                </a:solidFill>
              </a:rPr>
              <a:t>Disease or healthy, top-3 list, severity, treatments, prevention</a:t>
            </a:r>
          </a:p>
        </p:txBody>
      </p:sp>
      <p:sp>
        <p:nvSpPr>
          <p:cNvPr id="34" name="Rounded Rectangle 33"/>
          <p:cNvSpPr/>
          <p:nvPr/>
        </p:nvSpPr>
        <p:spPr>
          <a:xfrm>
            <a:off x="8119871" y="4114800"/>
            <a:ext cx="3520440" cy="1371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48471" y="4224528"/>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Record</a:t>
            </a:r>
          </a:p>
        </p:txBody>
      </p:sp>
      <p:sp>
        <p:nvSpPr>
          <p:cNvPr id="36" name="TextBox 35"/>
          <p:cNvSpPr txBox="1"/>
          <p:nvPr/>
        </p:nvSpPr>
        <p:spPr>
          <a:xfrm>
            <a:off x="8348471" y="4663440"/>
            <a:ext cx="3108960" cy="731520"/>
          </a:xfrm>
          <a:prstGeom prst="rect">
            <a:avLst/>
          </a:prstGeom>
          <a:noFill/>
        </p:spPr>
        <p:txBody>
          <a:bodyPr wrap="square" lIns="0" rIns="0" tIns="0" bIns="0" anchor="t">
            <a:spAutoFit/>
          </a:bodyPr>
          <a:lstStyle/>
          <a:p>
            <a:pPr algn="l">
              <a:spcAft>
                <a:spcPts val="400"/>
              </a:spcAft>
            </a:pPr>
            <a:r>
              <a:rPr sz="1400" b="0" i="0">
                <a:solidFill>
                  <a:srgbClr val="475569"/>
                </a:solidFill>
              </a:rPr>
              <a:t>Scan history, CSV and PDF reports, dashboard and analytics</a:t>
            </a:r>
          </a:p>
        </p:txBody>
      </p:sp>
      <p:sp>
        <p:nvSpPr>
          <p:cNvPr id="37" name="TextBox 36"/>
          <p:cNvSpPr txBox="1"/>
          <p:nvPr/>
        </p:nvSpPr>
        <p:spPr>
          <a:xfrm>
            <a:off x="548640" y="5669280"/>
            <a:ext cx="11091672" cy="640080"/>
          </a:xfrm>
          <a:prstGeom prst="rect">
            <a:avLst/>
          </a:prstGeom>
          <a:noFill/>
        </p:spPr>
        <p:txBody>
          <a:bodyPr wrap="square" lIns="0" rIns="0" tIns="0" bIns="0" anchor="t">
            <a:spAutoFit/>
          </a:bodyPr>
          <a:lstStyle/>
          <a:p>
            <a:pPr algn="l">
              <a:spcAft>
                <a:spcPts val="400"/>
              </a:spcAft>
            </a:pPr>
            <a:r>
              <a:rPr sz="1400" b="0" i="1">
                <a:solidFill>
                  <a:srgbClr val="475569"/>
                </a:solidFill>
              </a:rPr>
              <a:t>Need: a system that identifies crop disease from a leaf photograph and returns treatment advice in the farmer's own language.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
        <p:nvSpPr>
          <p:cNvPr id="26" name="TextBox 25"/>
          <p:cNvSpPr txBox="1"/>
          <p:nvPr/>
        </p:nvSpPr>
        <p:spPr>
          <a:xfrm>
            <a:off x="548640" y="1280160"/>
            <a:ext cx="11091672" cy="4937760"/>
          </a:xfrm>
          <a:prstGeom prst="rect">
            <a:avLst/>
          </a:prstGeom>
          <a:noFill/>
        </p:spPr>
        <p:txBody>
          <a:bodyPr wrap="square" lIns="0" rIns="0" tIns="0" bIns="0" anchor="t">
            <a:spAutoFit/>
          </a:bodyPr>
          <a:lstStyle/>
          <a:p>
            <a:pPr algn="l">
              <a:spcAft>
                <a:spcPts val="1200"/>
              </a:spcAft>
            </a:pPr>
            <a:r>
              <a:rPr sz="2100" b="0" i="0">
                <a:solidFill>
                  <a:srgbClr val="0F172A"/>
                </a:solidFill>
              </a:rPr>
              <a:t>1.  Assemble a labelled dataset of healthy and diseased crop leaf images across target crops.</a:t>
            </a:r>
          </a:p>
          <a:p>
            <a:pPr algn="l">
              <a:spcAft>
                <a:spcPts val="1200"/>
              </a:spcAft>
            </a:pPr>
            <a:r>
              <a:rPr sz="2100" b="0" i="0">
                <a:solidFill>
                  <a:srgbClr val="0F172A"/>
                </a:solidFill>
              </a:rPr>
              <a:t>2.  Preprocess and augment the images to handle variation in lighting, angle and background.</a:t>
            </a:r>
          </a:p>
          <a:p>
            <a:pPr algn="l">
              <a:spcAft>
                <a:spcPts val="1200"/>
              </a:spcAft>
            </a:pPr>
            <a:r>
              <a:rPr sz="2100" b="0" i="0">
                <a:solidFill>
                  <a:srgbClr val="0F172A"/>
                </a:solidFill>
              </a:rPr>
              <a:t>3.  Train a CNN model to classify leaf images into specific disease categories.</a:t>
            </a:r>
          </a:p>
          <a:p>
            <a:pPr algn="l">
              <a:spcAft>
                <a:spcPts val="1200"/>
              </a:spcAft>
            </a:pPr>
            <a:r>
              <a:rPr sz="2100" b="0" i="0">
                <a:solidFill>
                  <a:srgbClr val="0F172A"/>
                </a:solidFill>
              </a:rPr>
              <a:t>4.  Map each identified disease to a treatment and fertiliser recommendation.</a:t>
            </a:r>
          </a:p>
          <a:p>
            <a:pPr algn="l">
              <a:spcAft>
                <a:spcPts val="1200"/>
              </a:spcAft>
            </a:pPr>
            <a:r>
              <a:rPr sz="2100" b="0" i="0">
                <a:solidFill>
                  <a:srgbClr val="0F172A"/>
                </a:solidFill>
              </a:rPr>
              <a:t>5.  Deliver diagnosis and advice through a web interface with multilingual support.</a:t>
            </a:r>
          </a:p>
          <a:p>
            <a:pPr algn="l">
              <a:spcAft>
                <a:spcPts val="1200"/>
              </a:spcAft>
            </a:pPr>
            <a:r>
              <a:rPr sz="2100" b="0" i="0">
                <a:solidFill>
                  <a:srgbClr val="0F172A"/>
                </a:solidFill>
              </a:rPr>
              <a:t>6.  Evaluate classification accuracy per disease class and validate recommendations against agronomic guidance.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
        <p:nvSpPr>
          <p:cNvPr id="26" name="Rounded Rectangle 25"/>
          <p:cNvSpPr/>
          <p:nvPr/>
        </p:nvSpPr>
        <p:spPr>
          <a:xfrm>
            <a:off x="548640" y="1325880"/>
            <a:ext cx="2633472" cy="3291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Capture</a:t>
            </a:r>
          </a:p>
        </p:txBody>
      </p:sp>
      <p:sp>
        <p:nvSpPr>
          <p:cNvPr id="29" name="TextBox 28"/>
          <p:cNvSpPr txBox="1"/>
          <p:nvPr/>
        </p:nvSpPr>
        <p:spPr>
          <a:xfrm>
            <a:off x="749808" y="2194560"/>
            <a:ext cx="2231136" cy="2286000"/>
          </a:xfrm>
          <a:prstGeom prst="rect">
            <a:avLst/>
          </a:prstGeom>
          <a:noFill/>
        </p:spPr>
        <p:txBody>
          <a:bodyPr wrap="square" lIns="0" rIns="0" tIns="0" bIns="0" anchor="t">
            <a:spAutoFit/>
          </a:bodyPr>
          <a:lstStyle/>
          <a:p>
            <a:pPr algn="l">
              <a:spcAft>
                <a:spcPts val="400"/>
              </a:spcAft>
            </a:pPr>
            <a:r>
              <a:rPr sz="1500" b="0" i="0">
                <a:solidFill>
                  <a:srgbClr val="475569"/>
                </a:solidFill>
              </a:rPr>
              <a:t>The farmer uploads a leaf photo (or uses the camera) and picks the crop, which narrows the candidate diseases.</a:t>
            </a:r>
          </a:p>
        </p:txBody>
      </p:sp>
      <p:sp>
        <p:nvSpPr>
          <p:cNvPr id="30" name="Rounded Rectangle 29"/>
          <p:cNvSpPr/>
          <p:nvPr/>
        </p:nvSpPr>
        <p:spPr>
          <a:xfrm>
            <a:off x="3364992" y="1325880"/>
            <a:ext cx="2633472" cy="3291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66160" y="15087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06240"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Diagnose</a:t>
            </a:r>
          </a:p>
        </p:txBody>
      </p:sp>
      <p:sp>
        <p:nvSpPr>
          <p:cNvPr id="33" name="TextBox 32"/>
          <p:cNvSpPr txBox="1"/>
          <p:nvPr/>
        </p:nvSpPr>
        <p:spPr>
          <a:xfrm>
            <a:off x="3566160" y="2194560"/>
            <a:ext cx="2231136" cy="2286000"/>
          </a:xfrm>
          <a:prstGeom prst="rect">
            <a:avLst/>
          </a:prstGeom>
          <a:noFill/>
        </p:spPr>
        <p:txBody>
          <a:bodyPr wrap="square" lIns="0" rIns="0" tIns="0" bIns="0" anchor="t">
            <a:spAutoFit/>
          </a:bodyPr>
          <a:lstStyle/>
          <a:p>
            <a:pPr algn="l">
              <a:spcAft>
                <a:spcPts val="400"/>
              </a:spcAft>
            </a:pPr>
            <a:r>
              <a:rPr sz="1500" b="0" i="0">
                <a:solidFill>
                  <a:srgbClr val="475569"/>
                </a:solidFill>
              </a:rPr>
              <a:t>A diagnosis engine scores the 38 classes of the label set and returns a top-3 list. A CNN trained on PlantDoc is the planned engine.</a:t>
            </a:r>
          </a:p>
        </p:txBody>
      </p:sp>
      <p:sp>
        <p:nvSpPr>
          <p:cNvPr id="34" name="Rounded Rectangle 33"/>
          <p:cNvSpPr/>
          <p:nvPr/>
        </p:nvSpPr>
        <p:spPr>
          <a:xfrm>
            <a:off x="6181344" y="1325880"/>
            <a:ext cx="2633472" cy="3291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382512"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22592"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Advise</a:t>
            </a:r>
          </a:p>
        </p:txBody>
      </p:sp>
      <p:sp>
        <p:nvSpPr>
          <p:cNvPr id="37" name="TextBox 36"/>
          <p:cNvSpPr txBox="1"/>
          <p:nvPr/>
        </p:nvSpPr>
        <p:spPr>
          <a:xfrm>
            <a:off x="6382512" y="2194560"/>
            <a:ext cx="2231136" cy="2286000"/>
          </a:xfrm>
          <a:prstGeom prst="rect">
            <a:avLst/>
          </a:prstGeom>
          <a:noFill/>
        </p:spPr>
        <p:txBody>
          <a:bodyPr wrap="square" lIns="0" rIns="0" tIns="0" bIns="0" anchor="t">
            <a:spAutoFit/>
          </a:bodyPr>
          <a:lstStyle/>
          <a:p>
            <a:pPr algn="l">
              <a:spcAft>
                <a:spcPts val="400"/>
              </a:spcAft>
            </a:pPr>
            <a:r>
              <a:rPr sz="1500" b="0" i="0">
                <a:solidFill>
                  <a:srgbClr val="475569"/>
                </a:solidFill>
              </a:rPr>
              <a:t>A knowledge base returns symptoms, lifecycle, severity, and chemical, organic and cultural treatment with prevention.</a:t>
            </a:r>
          </a:p>
        </p:txBody>
      </p:sp>
      <p:sp>
        <p:nvSpPr>
          <p:cNvPr id="38" name="Rounded Rectangle 37"/>
          <p:cNvSpPr/>
          <p:nvPr/>
        </p:nvSpPr>
        <p:spPr>
          <a:xfrm>
            <a:off x="8997696" y="1325880"/>
            <a:ext cx="2633472" cy="3291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98864" y="15087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38944"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Deliver</a:t>
            </a:r>
          </a:p>
        </p:txBody>
      </p:sp>
      <p:sp>
        <p:nvSpPr>
          <p:cNvPr id="41" name="TextBox 40"/>
          <p:cNvSpPr txBox="1"/>
          <p:nvPr/>
        </p:nvSpPr>
        <p:spPr>
          <a:xfrm>
            <a:off x="9198864" y="2194560"/>
            <a:ext cx="2231136" cy="2286000"/>
          </a:xfrm>
          <a:prstGeom prst="rect">
            <a:avLst/>
          </a:prstGeom>
          <a:noFill/>
        </p:spPr>
        <p:txBody>
          <a:bodyPr wrap="square" lIns="0" rIns="0" tIns="0" bIns="0" anchor="t">
            <a:spAutoFit/>
          </a:bodyPr>
          <a:lstStyle/>
          <a:p>
            <a:pPr algn="l">
              <a:spcAft>
                <a:spcPts val="400"/>
              </a:spcAft>
            </a:pPr>
            <a:r>
              <a:rPr sz="1500" b="0" i="0">
                <a:solidFill>
                  <a:srgbClr val="475569"/>
                </a:solidFill>
              </a:rPr>
              <a:t>A web interface in English, Hindi and Marathi with history, CSV and PDF export, dashboard and analytics.</a:t>
            </a:r>
          </a:p>
        </p:txBody>
      </p:sp>
      <p:sp>
        <p:nvSpPr>
          <p:cNvPr id="42" name="Rounded Rectangle 41"/>
          <p:cNvSpPr/>
          <p:nvPr/>
        </p:nvSpPr>
        <p:spPr>
          <a:xfrm>
            <a:off x="548640" y="4846320"/>
            <a:ext cx="11091672" cy="1371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77240" y="5120640"/>
            <a:ext cx="640080" cy="640080"/>
          </a:xfrm>
          <a:prstGeom prst="ellipse">
            <a:avLst/>
          </a:prstGeom>
          <a:solidFill>
            <a:srgbClr val="1B2A41"/>
          </a:solidFill>
          <a:ln w="9525">
            <a:solidFill>
              <a:srgbClr val="1B2A4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W</a:t>
            </a:r>
          </a:p>
        </p:txBody>
      </p:sp>
      <p:sp>
        <p:nvSpPr>
          <p:cNvPr id="44" name="TextBox 43"/>
          <p:cNvSpPr txBox="1"/>
          <p:nvPr/>
        </p:nvSpPr>
        <p:spPr>
          <a:xfrm>
            <a:off x="1645920" y="5029200"/>
            <a:ext cx="9784080" cy="457200"/>
          </a:xfrm>
          <a:prstGeom prst="rect">
            <a:avLst/>
          </a:prstGeom>
          <a:noFill/>
        </p:spPr>
        <p:txBody>
          <a:bodyPr wrap="square" lIns="0" rIns="0" tIns="0" bIns="0" anchor="t">
            <a:spAutoFit/>
          </a:bodyPr>
          <a:lstStyle/>
          <a:p>
            <a:pPr algn="l">
              <a:spcAft>
                <a:spcPts val="400"/>
              </a:spcAft>
            </a:pPr>
            <a:r>
              <a:rPr sz="1700" b="1" i="0">
                <a:solidFill>
                  <a:srgbClr val="0F172A"/>
                </a:solidFill>
              </a:rPr>
              <a:t>Application</a:t>
            </a:r>
          </a:p>
        </p:txBody>
      </p:sp>
      <p:sp>
        <p:nvSpPr>
          <p:cNvPr id="45" name="TextBox 44"/>
          <p:cNvSpPr txBox="1"/>
          <p:nvPr/>
        </p:nvSpPr>
        <p:spPr>
          <a:xfrm>
            <a:off x="1645920" y="5486400"/>
            <a:ext cx="9784080" cy="685800"/>
          </a:xfrm>
          <a:prstGeom prst="rect">
            <a:avLst/>
          </a:prstGeom>
          <a:noFill/>
        </p:spPr>
        <p:txBody>
          <a:bodyPr wrap="square" lIns="0" rIns="0" tIns="0" bIns="0" anchor="t">
            <a:spAutoFit/>
          </a:bodyPr>
          <a:lstStyle/>
          <a:p>
            <a:pPr algn="l">
              <a:spcAft>
                <a:spcPts val="400"/>
              </a:spcAft>
            </a:pPr>
            <a:r>
              <a:rPr sz="1500" b="0" i="0">
                <a:solidFill>
                  <a:srgbClr val="475569"/>
                </a:solidFill>
              </a:rPr>
              <a:t>AgriVision: a React web app over a FastAPI service, a Python diagnosis module and a SQLite database. One command (run.bat) starts it on a Windows laptop with no GPU.</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Picture 25" descr="01_system_architecture.png"/>
          <p:cNvPicPr>
            <a:picLocks noChangeAspect="1"/>
          </p:cNvPicPr>
          <p:nvPr/>
        </p:nvPicPr>
        <p:blipFill>
          <a:blip r:embed="rId1"/>
          <a:stretch>
            <a:fillRect/>
          </a:stretch>
        </p:blipFill>
        <p:spPr>
          <a:xfrm>
            <a:off x="3051810" y="1188720"/>
            <a:ext cx="6057900" cy="4846320"/>
          </a:xfrm>
          <a:prstGeom prst="rect">
            <a:avLst/>
          </a:prstGeom>
        </p:spPr>
      </p:pic>
      <p:sp>
        <p:nvSpPr>
          <p:cNvPr id="27" name="TextBox 26"/>
          <p:cNvSpPr txBox="1"/>
          <p:nvPr/>
        </p:nvSpPr>
        <p:spPr>
          <a:xfrm>
            <a:off x="548640" y="6053328"/>
            <a:ext cx="11091672" cy="274320"/>
          </a:xfrm>
          <a:prstGeom prst="rect">
            <a:avLst/>
          </a:prstGeom>
          <a:noFill/>
        </p:spPr>
        <p:txBody>
          <a:bodyPr wrap="square" lIns="0" rIns="0" tIns="0" bIns="0" anchor="t">
            <a:spAutoFit/>
          </a:bodyPr>
          <a:lstStyle/>
          <a:p>
            <a:pPr algn="ctr">
              <a:spcAft>
                <a:spcPts val="400"/>
              </a:spcAft>
            </a:pPr>
            <a:r>
              <a:rPr sz="1200" b="0" i="1">
                <a:solidFill>
                  <a:srgbClr val="475569"/>
                </a:solidFill>
              </a:rPr>
              <a:t>Browser UI, FastAPI service, the diagnosis and knowledge modules, SQLite and the image store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Expected outcomes and contributions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
        <p:nvSpPr>
          <p:cNvPr id="26" name="Rounded Rectangle 25"/>
          <p:cNvSpPr/>
          <p:nvPr/>
        </p:nvSpPr>
        <p:spPr>
          <a:xfrm>
            <a:off x="548640"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Working application</a:t>
            </a:r>
          </a:p>
        </p:txBody>
      </p:sp>
      <p:sp>
        <p:nvSpPr>
          <p:cNvPr id="29" name="TextBox 28"/>
          <p:cNvSpPr txBox="1"/>
          <p:nvPr/>
        </p:nvSpPr>
        <p:spPr>
          <a:xfrm>
            <a:off x="749808" y="224028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Sign-in, diagnosis, advice, history, exports and analytics running locally.</a:t>
            </a:r>
          </a:p>
        </p:txBody>
      </p:sp>
      <p:sp>
        <p:nvSpPr>
          <p:cNvPr id="30" name="Rounded Rectangle 29"/>
          <p:cNvSpPr/>
          <p:nvPr/>
        </p:nvSpPr>
        <p:spPr>
          <a:xfrm>
            <a:off x="4334255"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Advice for 38 classes</a:t>
            </a:r>
          </a:p>
        </p:txBody>
      </p:sp>
      <p:sp>
        <p:nvSpPr>
          <p:cNvPr id="33" name="TextBox 32"/>
          <p:cNvSpPr txBox="1"/>
          <p:nvPr/>
        </p:nvSpPr>
        <p:spPr>
          <a:xfrm>
            <a:off x="4535423" y="224028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A knowledge base of symptoms, severity and treatments for the label set.</a:t>
            </a:r>
          </a:p>
        </p:txBody>
      </p:sp>
      <p:sp>
        <p:nvSpPr>
          <p:cNvPr id="34" name="Rounded Rectangle 33"/>
          <p:cNvSpPr/>
          <p:nvPr/>
        </p:nvSpPr>
        <p:spPr>
          <a:xfrm>
            <a:off x="8119871"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Trained classifier</a:t>
            </a:r>
          </a:p>
        </p:txBody>
      </p:sp>
      <p:sp>
        <p:nvSpPr>
          <p:cNvPr id="37" name="TextBox 36"/>
          <p:cNvSpPr txBox="1"/>
          <p:nvPr/>
        </p:nvSpPr>
        <p:spPr>
          <a:xfrm>
            <a:off x="8321040" y="224028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A CNN trained on PlantDoc, scored on a held-out test split, per class and over several seeds.</a:t>
            </a:r>
          </a:p>
        </p:txBody>
      </p:sp>
      <p:sp>
        <p:nvSpPr>
          <p:cNvPr id="38" name="Rounded Rectangle 37"/>
          <p:cNvSpPr/>
          <p:nvPr/>
        </p:nvSpPr>
        <p:spPr>
          <a:xfrm>
            <a:off x="548640"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749808" y="40233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1389888"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Three-language interface</a:t>
            </a:r>
          </a:p>
        </p:txBody>
      </p:sp>
      <p:sp>
        <p:nvSpPr>
          <p:cNvPr id="41" name="TextBox 40"/>
          <p:cNvSpPr txBox="1"/>
          <p:nvPr/>
        </p:nvSpPr>
        <p:spPr>
          <a:xfrm>
            <a:off x="749808" y="470916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English, Hindi and Marathi interface strings; advice text may stay English at first.</a:t>
            </a:r>
          </a:p>
        </p:txBody>
      </p:sp>
      <p:sp>
        <p:nvSpPr>
          <p:cNvPr id="42" name="Rounded Rectangle 41"/>
          <p:cNvSpPr/>
          <p:nvPr/>
        </p:nvSpPr>
        <p:spPr>
          <a:xfrm>
            <a:off x="4334255"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4535423" y="40233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5</a:t>
            </a:r>
          </a:p>
        </p:txBody>
      </p:sp>
      <p:sp>
        <p:nvSpPr>
          <p:cNvPr id="44" name="TextBox 43"/>
          <p:cNvSpPr txBox="1"/>
          <p:nvPr/>
        </p:nvSpPr>
        <p:spPr>
          <a:xfrm>
            <a:off x="5175503"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Honest evaluation</a:t>
            </a:r>
          </a:p>
        </p:txBody>
      </p:sp>
      <p:sp>
        <p:nvSpPr>
          <p:cNvPr id="45" name="TextBox 44"/>
          <p:cNvSpPr txBox="1"/>
          <p:nvPr/>
        </p:nvSpPr>
        <p:spPr>
          <a:xfrm>
            <a:off x="4535423" y="470916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Baselines, per-class scores and run cost reported, including any shortfall.</a:t>
            </a:r>
          </a:p>
        </p:txBody>
      </p:sp>
      <p:sp>
        <p:nvSpPr>
          <p:cNvPr id="46" name="Rounded Rectangle 45"/>
          <p:cNvSpPr/>
          <p:nvPr/>
        </p:nvSpPr>
        <p:spPr>
          <a:xfrm>
            <a:off x="8119871"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8321040" y="40233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6</a:t>
            </a:r>
          </a:p>
        </p:txBody>
      </p:sp>
      <p:sp>
        <p:nvSpPr>
          <p:cNvPr id="48" name="TextBox 47"/>
          <p:cNvSpPr txBox="1"/>
          <p:nvPr/>
        </p:nvSpPr>
        <p:spPr>
          <a:xfrm>
            <a:off x="8961119"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Tested code</a:t>
            </a:r>
          </a:p>
        </p:txBody>
      </p:sp>
      <p:sp>
        <p:nvSpPr>
          <p:cNvPr id="49" name="TextBox 48"/>
          <p:cNvSpPr txBox="1"/>
          <p:nvPr/>
        </p:nvSpPr>
        <p:spPr>
          <a:xfrm>
            <a:off x="8321040" y="470916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Automated tests of the API, the knowledge base and the edge cases.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TextBox 25"/>
          <p:cNvSpPr txBox="1"/>
          <p:nvPr/>
        </p:nvSpPr>
        <p:spPr>
          <a:xfrm>
            <a:off x="548640" y="1234440"/>
            <a:ext cx="11091672" cy="5029200"/>
          </a:xfrm>
          <a:prstGeom prst="rect">
            <a:avLst/>
          </a:prstGeom>
          <a:noFill/>
        </p:spPr>
        <p:txBody>
          <a:bodyPr wrap="square" lIns="0" rIns="0" tIns="0" bIns="0" anchor="t">
            <a:spAutoFit/>
          </a:bodyPr>
          <a:lstStyle/>
          <a:p>
            <a:pPr algn="l">
              <a:spcAft>
                <a:spcPts val="500"/>
              </a:spcAft>
            </a:pPr>
            <a:r>
              <a:rPr sz="1300" b="0" i="0">
                <a:solidFill>
                  <a:srgbClr val="0F172A"/>
                </a:solidFill>
              </a:rPr>
              <a:t>[1] N. Pakka, T. Wilkerson, L. Chen and N.-F. Tzeng, "Foliagen: Framework for crop foliage image generation from individual leaf images," IEEE Access, 2026, doi: 10.1109/ACCESS.2026.3727421.</a:t>
            </a:r>
          </a:p>
          <a:p>
            <a:pPr algn="l">
              <a:spcAft>
                <a:spcPts val="500"/>
              </a:spcAft>
            </a:pPr>
            <a:r>
              <a:rPr sz="1300" b="0" i="0">
                <a:solidFill>
                  <a:srgbClr val="0F172A"/>
                </a:solidFill>
              </a:rPr>
              <a:t>[2] S. Sherifi, E. Rustemi, S. Ismaili, E. Rufati and F. Idrizi, "A compact and efficient 1.251 million parameter machine learning CNN model PD36-C for plant disease detection: A case study," arXiv:2604.11332, Apr. 2026.</a:t>
            </a:r>
          </a:p>
          <a:p>
            <a:pPr algn="l">
              <a:spcAft>
                <a:spcPts val="500"/>
              </a:spcAft>
            </a:pPr>
            <a:r>
              <a:rPr sz="1300" b="0" i="0">
                <a:solidFill>
                  <a:srgbClr val="0F172A"/>
                </a:solidFill>
              </a:rPr>
              <a:t>[3] S. Kanakala and S. Ningappa, "Detection and classification of diseases in multi-crop leaves using LSTM and CNN models," J. Innovative Image Processing, vol. 7, no. 1, pp. 161-181, Mar. 2025, doi: 10.36548/jiip.2025.1.008.</a:t>
            </a:r>
          </a:p>
          <a:p>
            <a:pPr algn="l">
              <a:spcAft>
                <a:spcPts val="500"/>
              </a:spcAft>
            </a:pPr>
            <a:r>
              <a:rPr sz="1300" b="0" i="0">
                <a:solidFill>
                  <a:srgbClr val="0F172A"/>
                </a:solidFill>
              </a:rPr>
              <a:t>[4] D. Singh, N. Jain, P. Jain, P. Kayal, S. Kumawat and N. Batra, "PlantDoc: A dataset for visual plant disease detection," in Proc. 7th ACM IKDD CoDS and 25th COMAD, Hyderabad, India, 2020, pp. 249-253; arXiv:1911.10317.</a:t>
            </a:r>
          </a:p>
          <a:p>
            <a:pPr algn="l">
              <a:spcAft>
                <a:spcPts val="500"/>
              </a:spcAft>
            </a:pPr>
            <a:r>
              <a:rPr sz="1300" b="0" i="0">
                <a:solidFill>
                  <a:srgbClr val="0F172A"/>
                </a:solidFill>
              </a:rPr>
              <a:t>[5] D. P. Hughes and M. Salathe, "An open access repository of images on plant health to enable the development of mobile disease diagnostics," arXiv:1511.08060, 2015.</a:t>
            </a:r>
          </a:p>
          <a:p>
            <a:pPr algn="l">
              <a:spcAft>
                <a:spcPts val="500"/>
              </a:spcAft>
            </a:pPr>
            <a:r>
              <a:rPr sz="1300" b="0" i="0">
                <a:solidFill>
                  <a:srgbClr val="0F172A"/>
                </a:solidFill>
              </a:rPr>
              <a:t>[6] S. P. Mohanty, D. P. Hughes and M. Salathe, "Using deep learning for image-based plant disease detection," Frontiers in Plant Science, vol. 7, Art. no. 1419, 2016.</a:t>
            </a:r>
          </a:p>
          <a:p>
            <a:pPr algn="l">
              <a:spcAft>
                <a:spcPts val="500"/>
              </a:spcAft>
            </a:pPr>
            <a:r>
              <a:rPr sz="1300" b="0" i="0">
                <a:solidFill>
                  <a:srgbClr val="0F172A"/>
                </a:solidFill>
              </a:rPr>
              <a:t>[8] J. G. A. Barbedo, "Factors influencing the use of deep learning for plant disease recognition," Biosystems Engineering, vol. 172, pp. 84-91, 2018.</a:t>
            </a:r>
          </a:p>
          <a:p>
            <a:pPr algn="l">
              <a:spcAft>
                <a:spcPts val="500"/>
              </a:spcAft>
            </a:pPr>
            <a:r>
              <a:rPr sz="1300" b="0" i="0">
                <a:solidFill>
                  <a:srgbClr val="0F172A"/>
                </a:solidFill>
              </a:rPr>
              <a:t>[9] M. Sandler, A. Howard, M. Zhu, A. Zhmoginov and L.-C. Chen, "MobileNetV2: Inverted residuals and linear bottlenecks," in Proc. IEEE/CVF Conf. Comput. Vision Pattern Recognit. (CVPR), 2018, pp. 4510-4520.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AgriVision">
  <a:themeElements>
    <a:clrScheme name="AgriVision">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AgriVis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AgriVision">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Powered Crop Disease Detection and Recommendation System for Sustainable Development: Review 1</dc:title>
  <dc:subject>Batch C16 (CSE-C)</dc:subject>
  <dc:creator>Pishke Vishal, Kyatham Nithisha, Mekala Tharun Kuruma, Nakka Sreenith</dc:creator>
  <cp:lastModifiedBy/>
  <cp:revision>1</cp:revision>
  <dcterms:created xsi:type="dcterms:W3CDTF">2026-10-13T12:36:40Z</dcterms:created>
  <dcterms:modified xsi:type="dcterms:W3CDTF">2026-10-13T12:36:40Z</dcterms:modified>
  <cp:keywords>Crop Disease Detection; Agricultural AI; Computer Vision; Leaf Disease Classification; Fertilizer Recommendation; Yield Prediction; Sustainable Agriculture; Multilingual Farming Support</cp:keywords>
  <dc:description/>
</cp:coreProperties>
</file>