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project: AgriVision, a leaf-photograph diagnosis and treatment-advice web application, and a measured study of how well it recognises disease on field photographs.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agenda follows the report: problem, design, method, results, comparison, screens,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system, then the honest measurement: the shipped heuristic is close to chance, a transfer-learning model reaches about 50 percent on this hard dataset.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 paper is about data generation for foliage classifiers. We take its motivation, not its method, and say so.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Lab-style datasets give 96 to 99 percent; the PlantDoc authors show that field photos give 14 to 70 percent.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gaps. We build for the second to fourth and measure the first and fifth.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statement has three parts: diagnose from a photo, return advice in the farmer's language, and report the accuracy honestly.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proposal. The conclusion states which were met.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pipeline as a row of boxes, then four properties. Say plainly that the shipped engine is a heuristic.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tiers plus storage; the API layer imports the original Flask modules rather than reimplementing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paths. The offline path is how every accuracy figure in this deck was measured.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Small, imbalanced field data. Note the parameter count of the compact CNN differs from its docstring.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heart of the shipped engine. The confidence formula explains why almost every photo shows about 97 percent.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Sequence of a scan through React, FastAPI, the engine, the knowledge base and SQLite; then the use cases.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tables. Deleting a scan removes the row and the image file.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exists in the repository. The engine row is the important 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result slide. Read the heuristic row first and then the MobileNetV2 row; the compact CNN of the training script does not learn the task.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Confusions concentrate among similar spot diseases of tomato and pepper; the compact CNN only separates a few classes.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Protocol effects. The big lever is the pre-trained backbone, not the training schedule.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Tests pass for the plumbing; the defects are about the engine and defaults. Do not hide them.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claim to beat any of these. The closest comparison is the PlantDoc paper, and our reference MobileNetV2 lies in its range.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correct case. Only 25 of the 160 photos the heuristic can answer are right, so this is the exception.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real failures captured from the running application.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application chrome works in three languages; the knowledge base text does not yet.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explicit: the application works, the engine in it does not diagnose reliably yet.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two follow directly from the findings.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13.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15.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AI Powered Crop Disease Detection and Recommendation System for Sustainable Development</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  ·  AgriVision</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C16</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23K91A05J2   Pishke Vishal</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23K91A05D1   Kyatham Nithisha</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23K91A05F1   Mekala Tharun Kuruma</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23K91A05H0   Nakka Sreenith</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V Krishna Teja</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  [COLLEGE NAME]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Abstract</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Base Paper &amp; Literature Survey</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Research Gap, Problem Statement &amp; Objectives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Proposed System &amp; Architecture</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Methodology, Dataset &amp; Models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Decision Logic, Interaction &amp; Database Design</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Implementation Highlights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Results, Confusion Matrix &amp; Parameter Analysis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Performance, Testing &amp; Defects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Comparison with Base Paper</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Output Screens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Conclusion, Future Scope &amp; 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marL="256032" indent="-201168">
              <a:spcAft>
                <a:spcPts val="1400"/>
              </a:spcAft>
              <a:buChar char="•"/>
            </a:pPr>
            <a:r>
              <a:rPr sz="1950" b="0" i="0">
                <a:solidFill>
                  <a:srgbClr val="222222"/>
                </a:solidFill>
                <a:latin typeface="Calibri"/>
                <a:ea typeface="Calibri"/>
                <a:cs typeface="Calibri"/>
              </a:rPr>
              <a:t>Crop disease costs farmers a large share of their harvest and the expert who could name it is rarely at the field in time.</a:t>
            </a:r>
          </a:p>
          <a:p>
            <a:pPr algn="l" marL="256032" indent="-201168">
              <a:spcAft>
                <a:spcPts val="1400"/>
              </a:spcAft>
              <a:buChar char="•"/>
            </a:pPr>
            <a:r>
              <a:rPr sz="1950" b="0" i="0">
                <a:solidFill>
                  <a:srgbClr val="222222"/>
                </a:solidFill>
                <a:latin typeface="Calibri"/>
                <a:ea typeface="Calibri"/>
                <a:cs typeface="Calibri"/>
              </a:rPr>
              <a:t>AgriVision lets a farmer upload a leaf photo, pick the crop and read the most likely disease, its severity and chemical, organic and cultural treatment advice for 38 classes, in an interface available in English, Hindi and Marathi (React + FastAPI + SQLite).</a:t>
            </a:r>
          </a:p>
          <a:p>
            <a:pPr algn="l" marL="256032" indent="-201168">
              <a:spcAft>
                <a:spcPts val="1400"/>
              </a:spcAft>
              <a:buChar char="•"/>
            </a:pPr>
            <a:r>
              <a:rPr sz="1950" b="0" i="0">
                <a:solidFill>
                  <a:srgbClr val="222222"/>
                </a:solidFill>
                <a:latin typeface="Calibri"/>
                <a:ea typeface="Calibri"/>
                <a:cs typeface="Calibri"/>
              </a:rPr>
              <a:t>Measured on PlantDoc field photos (2,342 train, 236 test): the engine shipped in the app is a colour/texture heuristic and is right on </a:t>
            </a:r>
            <a:r>
              <a:rPr sz="1950" b="1" i="0">
                <a:solidFill>
                  <a:srgbClr val="222222"/>
                </a:solidFill>
                <a:latin typeface="Calibri"/>
                <a:ea typeface="Calibri"/>
                <a:cs typeface="Calibri"/>
              </a:rPr>
              <a:t>9.1 ± 1.0%</a:t>
            </a:r>
            <a:r>
              <a:rPr sz="1950" b="0" i="0">
                <a:solidFill>
                  <a:srgbClr val="222222"/>
                </a:solidFill>
                <a:latin typeface="Calibri"/>
                <a:ea typeface="Calibri"/>
                <a:cs typeface="Calibri"/>
              </a:rPr>
              <a:t> of photos with the crop chosen and fails on 32.2% (a crop-option defect); the compact CNN of the training script reaches 12.0 ± 0.5%; a reference MobileNetV2 reaches </a:t>
            </a:r>
            <a:r>
              <a:rPr sz="1950" b="1" i="0">
                <a:solidFill>
                  <a:srgbClr val="222222"/>
                </a:solidFill>
                <a:latin typeface="Calibri"/>
                <a:ea typeface="Calibri"/>
                <a:cs typeface="Calibri"/>
              </a:rPr>
              <a:t>50.3 ± 0.9%</a:t>
            </a:r>
            <a:r>
              <a:rPr sz="1950" b="0" i="0">
                <a:solidFill>
                  <a:srgbClr val="222222"/>
                </a:solidFill>
                <a:latin typeface="Calibri"/>
                <a:ea typeface="Calibri"/>
                <a:cs typeface="Calibri"/>
              </a:rPr>
              <a:t> (not yet in the app).</a:t>
            </a:r>
          </a:p>
          <a:p>
            <a:pPr algn="l" marL="256032" indent="-201168">
              <a:spcAft>
                <a:spcPts val="1400"/>
              </a:spcAft>
              <a:buChar char="•"/>
            </a:pPr>
            <a:r>
              <a:rPr sz="1950" b="0" i="0">
                <a:solidFill>
                  <a:srgbClr val="222222"/>
                </a:solidFill>
                <a:latin typeface="Calibri"/>
                <a:ea typeface="Calibri"/>
                <a:cs typeface="Calibri"/>
              </a:rPr>
              <a:t>39 API checks pass; further tests record five defects. Fertiliser, yield and weather advice from the original proposal are not implemented.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Box 6"/>
          <p:cNvSpPr txBox="1"/>
          <p:nvPr/>
        </p:nvSpPr>
        <p:spPr>
          <a:xfrm>
            <a:off x="502920" y="1691640"/>
            <a:ext cx="11155680" cy="68580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N. Pakka, T. Wilkerson, L. Chen and N.-F. Tzeng, "Foliagen: Framework for crop foliage image generation from individual leaf images," IEEE Access, 2026, doi: 10.1109/ACCESS.2026.3727421.</a:t>
            </a:r>
          </a:p>
        </p:txBody>
      </p:sp>
      <p:graphicFrame>
        <p:nvGraphicFramePr>
          <p:cNvPr id="8" name="Table 7"/>
          <p:cNvGraphicFramePr>
            <a:graphicFrameLocks noGrp="1"/>
          </p:cNvGraphicFramePr>
          <p:nvPr/>
        </p:nvGraphicFramePr>
        <p:xfrm>
          <a:off x="502920" y="2468880"/>
          <a:ext cx="11155680" cy="3584448"/>
        </p:xfrm>
        <a:graphic>
          <a:graphicData uri="http://schemas.openxmlformats.org/drawingml/2006/table">
            <a:tbl>
              <a:tblPr firstRow="0" bandRow="0">
                <a:tableStyleId>{5C22544A-7EE6-4342-B048-85BDC9FD1C3A}</a:tableStyleId>
              </a:tblPr>
              <a:tblGrid>
                <a:gridCol w="1554480"/>
                <a:gridCol w="9601200"/>
              </a:tblGrid>
              <a:tr h="512064">
                <a:tc>
                  <a:txBody>
                    <a:bodyPr wrap="square"/>
                    <a:lstStyle/>
                    <a:p>
                      <a:pPr algn="ctr"/>
                      <a:r>
                        <a:rPr sz="125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50" b="1">
                          <a:solidFill>
                            <a:srgbClr val="1F3864"/>
                          </a:solidFill>
                          <a:latin typeface="Calibri"/>
                          <a:ea typeface="Calibri"/>
                          <a:cs typeface="Calibri"/>
                        </a:rPr>
                        <a:t>Foliagen (Pakka et al., IEEE Access, 2026)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12064">
                <a:tc>
                  <a:txBody>
                    <a:bodyPr wrap="square"/>
                    <a:lstStyle/>
                    <a:p>
                      <a:pPr algn="l"/>
                      <a:r>
                        <a:rPr sz="1250" b="1">
                          <a:solidFill>
                            <a:srgbClr val="222222"/>
                          </a:solidFill>
                          <a:latin typeface="Calibri"/>
                          <a:ea typeface="Calibri"/>
                          <a:cs typeface="Calibri"/>
                        </a:rPr>
                        <a:t>Aim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50" b="0">
                          <a:solidFill>
                            <a:srgbClr val="222222"/>
                          </a:solidFill>
                          <a:latin typeface="Calibri"/>
                          <a:ea typeface="Calibri"/>
                          <a:cs typeface="Calibri"/>
                        </a:rPr>
                        <a:t>Generate large, annotated crop foliage image sets from single-leaf photos, because annotated in-field foliage datasets are scarce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12064">
                <a:tc>
                  <a:txBody>
                    <a:bodyPr wrap="square"/>
                    <a:lstStyle/>
                    <a:p>
                      <a:pPr algn="l"/>
                      <a:r>
                        <a:rPr sz="1250" b="1">
                          <a:solidFill>
                            <a:srgbClr val="222222"/>
                          </a:solidFill>
                          <a:latin typeface="Calibri"/>
                          <a:ea typeface="Calibri"/>
                          <a:cs typeface="Calibri"/>
                        </a:rPr>
                        <a:t>Method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50" b="0">
                          <a:solidFill>
                            <a:srgbClr val="222222"/>
                          </a:solidFill>
                          <a:latin typeface="Calibri"/>
                          <a:ea typeface="Calibri"/>
                          <a:cs typeface="Calibri"/>
                        </a:rPr>
                        <a:t>Background removal (rembg), phyllotactic leaf placement per crop, a chosen disease rate gamma (1 to 20 %); no generative AI</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12064">
                <a:tc>
                  <a:txBody>
                    <a:bodyPr wrap="square"/>
                    <a:lstStyle/>
                    <a:p>
                      <a:pPr algn="l"/>
                      <a:r>
                        <a:rPr sz="125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50" b="0">
                          <a:solidFill>
                            <a:srgbClr val="222222"/>
                          </a:solidFill>
                          <a:latin typeface="Calibri"/>
                          <a:ea typeface="Calibri"/>
                          <a:cs typeface="Calibri"/>
                        </a:rPr>
                        <a:t>ASDID (10,722 soybean leaves, 7 diseases), a Kaggle soybean set, PlantVillage tomato; real foliage set MH-SoyaHealthVision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12064">
                <a:tc>
                  <a:txBody>
                    <a:bodyPr wrap="square"/>
                    <a:lstStyle/>
                    <a:p>
                      <a:pPr algn="l"/>
                      <a:r>
                        <a:rPr sz="1250" b="1">
                          <a:solidFill>
                            <a:srgbClr val="222222"/>
                          </a:solidFill>
                          <a:latin typeface="Calibri"/>
                          <a:ea typeface="Calibri"/>
                          <a:cs typeface="Calibri"/>
                        </a:rPr>
                        <a:t>Evaluation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50" b="0">
                          <a:solidFill>
                            <a:srgbClr val="222222"/>
                          </a:solidFill>
                          <a:latin typeface="Calibri"/>
                          <a:ea typeface="Calibri"/>
                          <a:cs typeface="Calibri"/>
                        </a:rPr>
                        <a:t>VGG19, ResNet50, DenseNet121, Swin Transformer, CBAM-ConvNeXt on 2 x RTX 6000 Ada GPUs; Adam 1e-4, batch 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12064">
                <a:tc>
                  <a:txBody>
                    <a:bodyPr wrap="square"/>
                    <a:lstStyle/>
                    <a:p>
                      <a:pPr algn="l"/>
                      <a:r>
                        <a:rPr sz="1250" b="1">
                          <a:solidFill>
                            <a:srgbClr val="222222"/>
                          </a:solidFill>
                          <a:latin typeface="Calibri"/>
                          <a:ea typeface="Calibri"/>
                          <a:cs typeface="Calibri"/>
                        </a:rPr>
                        <a:t>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50" b="0">
                          <a:solidFill>
                            <a:srgbClr val="222222"/>
                          </a:solidFill>
                          <a:latin typeface="Calibri"/>
                          <a:ea typeface="Calibri"/>
                          <a:cs typeface="Calibri"/>
                        </a:rPr>
                        <a:t>Up to 98 % accuracy on natural foliage when 5 % of it is added to generated data; pre-training on generated data helps fine-tuning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12064">
                <a:tc>
                  <a:txBody>
                    <a:bodyPr wrap="square"/>
                    <a:lstStyle/>
                    <a:p>
                      <a:pPr algn="l"/>
                      <a:r>
                        <a:rPr sz="1250" b="1">
                          <a:solidFill>
                            <a:srgbClr val="222222"/>
                          </a:solidFill>
                          <a:latin typeface="Calibri"/>
                          <a:ea typeface="Calibri"/>
                          <a:cs typeface="Calibri"/>
                        </a:rPr>
                        <a:t>Use here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50" b="0">
                          <a:solidFill>
                            <a:srgbClr val="222222"/>
                          </a:solidFill>
                          <a:latin typeface="Calibri"/>
                          <a:ea typeface="Calibri"/>
                          <a:cs typeface="Calibri"/>
                        </a:rPr>
                        <a:t>Motivates the gap (field photos, scarce data); the project does not implement Foliagen: it builds the diagnosis + advice application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7" name="Table 6"/>
          <p:cNvGraphicFramePr>
            <a:graphicFrameLocks noGrp="1"/>
          </p:cNvGraphicFramePr>
          <p:nvPr/>
        </p:nvGraphicFramePr>
        <p:xfrm>
          <a:off x="502920" y="1691640"/>
          <a:ext cx="11155680" cy="4224528"/>
        </p:xfrm>
        <a:graphic>
          <a:graphicData uri="http://schemas.openxmlformats.org/drawingml/2006/table">
            <a:tbl>
              <a:tblPr firstRow="0" bandRow="0">
                <a:tableStyleId>{5C22544A-7EE6-4342-B048-85BDC9FD1C3A}</a:tableStyleId>
              </a:tblPr>
              <a:tblGrid>
                <a:gridCol w="1920240"/>
                <a:gridCol w="2834640"/>
                <a:gridCol w="2194560"/>
                <a:gridCol w="2194560"/>
                <a:gridCol w="2011680"/>
              </a:tblGrid>
              <a:tr h="603504">
                <a:tc>
                  <a:txBody>
                    <a:bodyPr wrap="square"/>
                    <a:lstStyle/>
                    <a:p>
                      <a:pPr algn="ctr"/>
                      <a:r>
                        <a:rPr sz="1150" b="1">
                          <a:solidFill>
                            <a:srgbClr val="1F3864"/>
                          </a:solidFill>
                          <a:latin typeface="Calibri"/>
                          <a:ea typeface="Calibri"/>
                          <a:cs typeface="Calibri"/>
                        </a:rPr>
                        <a:t>Author / Year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50" b="1">
                          <a:solidFill>
                            <a:srgbClr val="1F3864"/>
                          </a:solidFill>
                          <a:latin typeface="Calibri"/>
                          <a:ea typeface="Calibri"/>
                          <a:cs typeface="Calibri"/>
                        </a:rPr>
                        <a:t>Methodology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50" b="1">
                          <a:solidFill>
                            <a:srgbClr val="1F3864"/>
                          </a:solidFill>
                          <a:latin typeface="Calibri"/>
                          <a:ea typeface="Calibri"/>
                          <a:cs typeface="Calibri"/>
                        </a:rPr>
                        <a:t>Dataset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50" b="1">
                          <a:solidFill>
                            <a:srgbClr val="1F3864"/>
                          </a:solidFill>
                          <a:latin typeface="Calibri"/>
                          <a:ea typeface="Calibri"/>
                          <a:cs typeface="Calibri"/>
                        </a:rPr>
                        <a:t>Key results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50" b="1">
                          <a:solidFill>
                            <a:srgbClr val="1F3864"/>
                          </a:solidFill>
                          <a:latin typeface="Calibri"/>
                          <a:ea typeface="Calibri"/>
                          <a:cs typeface="Calibri"/>
                        </a:rPr>
                        <a:t>Limitations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603504">
                <a:tc>
                  <a:txBody>
                    <a:bodyPr wrap="square"/>
                    <a:lstStyle/>
                    <a:p>
                      <a:pPr algn="l"/>
                      <a:r>
                        <a:rPr sz="1150" b="1">
                          <a:solidFill>
                            <a:srgbClr val="222222"/>
                          </a:solidFill>
                          <a:latin typeface="Calibri"/>
                          <a:ea typeface="Calibri"/>
                          <a:cs typeface="Calibri"/>
                        </a:rPr>
                        <a:t>Sherifi et al. 2026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PD36-C compact CNN, 1.25 M parameters, desktop app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87 k images, 38 classes (lab style)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99.53 % test 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Clean backgrounds; no advice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03504">
                <a:tc>
                  <a:txBody>
                    <a:bodyPr wrap="square"/>
                    <a:lstStyle/>
                    <a:p>
                      <a:pPr algn="l"/>
                      <a:r>
                        <a:rPr sz="1150" b="1">
                          <a:solidFill>
                            <a:srgbClr val="222222"/>
                          </a:solidFill>
                          <a:latin typeface="Calibri"/>
                          <a:ea typeface="Calibri"/>
                          <a:cs typeface="Calibri"/>
                        </a:rPr>
                        <a:t>Kanakala, Ningappa 2025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CNN and LSTM, Adam 1e-4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70,295 train / 17,572 val, 38 classes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CNN 96.4 % val; LSTM 93.43 %</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Random split of lab-style set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603504">
                <a:tc>
                  <a:txBody>
                    <a:bodyPr wrap="square"/>
                    <a:lstStyle/>
                    <a:p>
                      <a:pPr algn="l"/>
                      <a:r>
                        <a:rPr sz="1150" b="1">
                          <a:solidFill>
                            <a:srgbClr val="222222"/>
                          </a:solidFill>
                          <a:latin typeface="Calibri"/>
                          <a:ea typeface="Calibri"/>
                          <a:cs typeface="Calibri"/>
                        </a:rPr>
                        <a:t>Singh et al. 2020 [4]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PlantDoc benchmark: VGG16, InceptionV3, InceptionResNetV2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2,598 field photos, 27 classes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44.5-70.5 % (cropped), 13.7-29.7 % (raw)</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Small, hard, noisy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03504">
                <a:tc>
                  <a:txBody>
                    <a:bodyPr wrap="square"/>
                    <a:lstStyle/>
                    <a:p>
                      <a:pPr algn="l"/>
                      <a:r>
                        <a:rPr sz="1150" b="1">
                          <a:solidFill>
                            <a:srgbClr val="222222"/>
                          </a:solidFill>
                          <a:latin typeface="Calibri"/>
                          <a:ea typeface="Calibri"/>
                          <a:cs typeface="Calibri"/>
                        </a:rPr>
                        <a:t>Mohanty et al. 2016 [6]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AlexNet / GoogLeNet on PlantVillage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54,306 images, 14 crops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99.35 % held-out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Lab backgrounds; weak on other sources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603504">
                <a:tc>
                  <a:txBody>
                    <a:bodyPr wrap="square"/>
                    <a:lstStyle/>
                    <a:p>
                      <a:pPr algn="l"/>
                      <a:r>
                        <a:rPr sz="1150" b="1">
                          <a:solidFill>
                            <a:srgbClr val="222222"/>
                          </a:solidFill>
                          <a:latin typeface="Calibri"/>
                          <a:ea typeface="Calibri"/>
                          <a:cs typeface="Calibri"/>
                        </a:rPr>
                        <a:t>Ferentinos 2018 [7]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Five CNNs, lab and field backgrounds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87,848 images, 58 classes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99.53 % best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Mostly lab; no advice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03504">
                <a:tc>
                  <a:txBody>
                    <a:bodyPr wrap="square"/>
                    <a:lstStyle/>
                    <a:p>
                      <a:pPr algn="l"/>
                      <a:r>
                        <a:rPr sz="1150" b="1">
                          <a:solidFill>
                            <a:srgbClr val="222222"/>
                          </a:solidFill>
                          <a:latin typeface="Calibri"/>
                          <a:ea typeface="Calibri"/>
                          <a:cs typeface="Calibri"/>
                        </a:rPr>
                        <a:t>Barbedo 2018 [8]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Factors that limit deep learning on leaves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Review and experiments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Accuracy drops with condition variety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Describes, does not build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8" name="TextBox 7"/>
          <p:cNvSpPr txBox="1"/>
          <p:nvPr/>
        </p:nvSpPr>
        <p:spPr>
          <a:xfrm>
            <a:off x="502920" y="5943600"/>
            <a:ext cx="11155680" cy="365760"/>
          </a:xfrm>
          <a:prstGeom prst="rect">
            <a:avLst/>
          </a:prstGeom>
          <a:noFill/>
        </p:spPr>
        <p:txBody>
          <a:bodyPr wrap="square" lIns="0" rIns="0" tIns="0" bIns="0" anchor="t">
            <a:spAutoFit/>
          </a:bodyPr>
          <a:lstStyle/>
          <a:p>
            <a:pPr algn="l">
              <a:spcAft>
                <a:spcPts val="400"/>
              </a:spcAft>
            </a:pPr>
            <a:r>
              <a:rPr sz="1100" b="0" i="1">
                <a:solidFill>
                  <a:srgbClr val="1F3864"/>
                </a:solidFill>
                <a:latin typeface="Calibri"/>
                <a:ea typeface="Calibri"/>
                <a:cs typeface="Calibri"/>
              </a:rPr>
              <a:t>Four further survey papers named in the project proposal could not be verified; they are listed in the report as such and not quoted.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
        <p:nvSpPr>
          <p:cNvPr id="7" name="TextBox 6"/>
          <p:cNvSpPr txBox="1"/>
          <p:nvPr/>
        </p:nvSpPr>
        <p:spPr>
          <a:xfrm>
            <a:off x="502920" y="1783080"/>
            <a:ext cx="11155680" cy="4389120"/>
          </a:xfrm>
          <a:prstGeom prst="rect">
            <a:avLst/>
          </a:prstGeom>
          <a:noFill/>
        </p:spPr>
        <p:txBody>
          <a:bodyPr wrap="square" lIns="0" rIns="0" tIns="0" bIns="0" anchor="t">
            <a:spAutoFit/>
          </a:bodyPr>
          <a:lstStyle/>
          <a:p>
            <a:pPr algn="l" marL="256032" indent="-201168">
              <a:spcAft>
                <a:spcPts val="1200"/>
              </a:spcAft>
              <a:buChar char="•"/>
            </a:pPr>
            <a:r>
              <a:rPr sz="1800" b="1" i="0">
                <a:solidFill>
                  <a:srgbClr val="222222"/>
                </a:solidFill>
                <a:latin typeface="Calibri"/>
                <a:ea typeface="Calibri"/>
                <a:cs typeface="Calibri"/>
              </a:rPr>
              <a:t>Stated gap:</a:t>
            </a:r>
            <a:r>
              <a:rPr sz="1800" b="0" i="0">
                <a:solidFill>
                  <a:srgbClr val="222222"/>
                </a:solidFill>
                <a:latin typeface="Calibri"/>
                <a:ea typeface="Calibri"/>
                <a:cs typeface="Calibri"/>
              </a:rPr>
              <a:t> The surveyed work addresses leaf image generation and classification. The gap is joining reliable disease classification to actionable, multilingual treatment and fertiliser recommendation.</a:t>
            </a:r>
          </a:p>
          <a:p>
            <a:pPr algn="l" marL="256032" indent="-201168">
              <a:spcAft>
                <a:spcPts val="1200"/>
              </a:spcAft>
              <a:buChar char="•"/>
            </a:pPr>
            <a:r>
              <a:rPr sz="1800" b="1" i="0">
                <a:solidFill>
                  <a:srgbClr val="222222"/>
                </a:solidFill>
                <a:latin typeface="Calibri"/>
                <a:ea typeface="Calibri"/>
                <a:cs typeface="Calibri"/>
              </a:rPr>
              <a:t>Lab versus field:</a:t>
            </a:r>
            <a:r>
              <a:rPr sz="1800" b="0" i="0">
                <a:solidFill>
                  <a:srgbClr val="222222"/>
                </a:solidFill>
                <a:latin typeface="Calibri"/>
                <a:ea typeface="Calibri"/>
                <a:cs typeface="Calibri"/>
              </a:rPr>
              <a:t> classifiers with 96 to 99 % accuracy are trained and tested on laboratory images; on field photographs the same models fall far lower [4], [8].</a:t>
            </a:r>
          </a:p>
          <a:p>
            <a:pPr algn="l" marL="256032" indent="-201168">
              <a:spcAft>
                <a:spcPts val="1200"/>
              </a:spcAft>
              <a:buChar char="•"/>
            </a:pPr>
            <a:r>
              <a:rPr sz="1800" b="1" i="0">
                <a:solidFill>
                  <a:srgbClr val="222222"/>
                </a:solidFill>
                <a:latin typeface="Calibri"/>
                <a:ea typeface="Calibri"/>
                <a:cs typeface="Calibri"/>
              </a:rPr>
              <a:t>Label without advice:</a:t>
            </a:r>
            <a:r>
              <a:rPr sz="1800" b="0" i="0">
                <a:solidFill>
                  <a:srgbClr val="222222"/>
                </a:solidFill>
                <a:latin typeface="Calibri"/>
                <a:ea typeface="Calibri"/>
                <a:cs typeface="Calibri"/>
              </a:rPr>
              <a:t> the surveyed classifiers stop at the disease name [2], [3]; the base paper [1] produces training data, not guidance for the farmer.</a:t>
            </a:r>
          </a:p>
          <a:p>
            <a:pPr algn="l" marL="256032" indent="-201168">
              <a:spcAft>
                <a:spcPts val="1200"/>
              </a:spcAft>
              <a:buChar char="•"/>
            </a:pPr>
            <a:r>
              <a:rPr sz="1800" b="1" i="0">
                <a:solidFill>
                  <a:srgbClr val="222222"/>
                </a:solidFill>
                <a:latin typeface="Calibri"/>
                <a:ea typeface="Calibri"/>
                <a:cs typeface="Calibri"/>
              </a:rPr>
              <a:t>Language:</a:t>
            </a:r>
            <a:r>
              <a:rPr sz="1800" b="0" i="0">
                <a:solidFill>
                  <a:srgbClr val="222222"/>
                </a:solidFill>
                <a:latin typeface="Calibri"/>
                <a:ea typeface="Calibri"/>
                <a:cs typeface="Calibri"/>
              </a:rPr>
              <a:t> advice is given in English only, which is unusable for many farmers.</a:t>
            </a:r>
          </a:p>
          <a:p>
            <a:pPr algn="l" marL="256032" indent="-201168">
              <a:spcAft>
                <a:spcPts val="1200"/>
              </a:spcAft>
              <a:buChar char="•"/>
            </a:pPr>
            <a:r>
              <a:rPr sz="1800" b="1" i="0">
                <a:solidFill>
                  <a:srgbClr val="222222"/>
                </a:solidFill>
                <a:latin typeface="Calibri"/>
                <a:ea typeface="Calibri"/>
                <a:cs typeface="Calibri"/>
              </a:rPr>
              <a:t>Honest evaluation:</a:t>
            </a:r>
            <a:r>
              <a:rPr sz="1800" b="0" i="0">
                <a:solidFill>
                  <a:srgbClr val="222222"/>
                </a:solidFill>
                <a:latin typeface="Calibri"/>
                <a:ea typeface="Calibri"/>
                <a:cs typeface="Calibri"/>
              </a:rPr>
              <a:t> few applications report accuracy on field photos or document the defects of their own engine.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Rounded Rectangle 6"/>
          <p:cNvSpPr/>
          <p:nvPr/>
        </p:nvSpPr>
        <p:spPr>
          <a:xfrm>
            <a:off x="502920" y="1783080"/>
            <a:ext cx="11155680" cy="201168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10607040" cy="1920240"/>
          </a:xfrm>
          <a:prstGeom prst="rect">
            <a:avLst/>
          </a:prstGeom>
          <a:noFill/>
        </p:spPr>
        <p:txBody>
          <a:bodyPr wrap="square" lIns="0" rIns="0" tIns="0" bIns="0" anchor="ctr">
            <a:spAutoFit/>
          </a:bodyPr>
          <a:lstStyle/>
          <a:p>
            <a:pPr algn="l">
              <a:spcAft>
                <a:spcPts val="400"/>
              </a:spcAft>
            </a:pPr>
            <a:r>
              <a:rPr sz="1650" b="0" i="0">
                <a:solidFill>
                  <a:srgbClr val="222222"/>
                </a:solidFill>
                <a:latin typeface="Calibri"/>
                <a:ea typeface="Calibri"/>
                <a:cs typeface="Calibri"/>
              </a:rPr>
              <a:t>Given one photograph of a crop leaf and the crop the farmer chose, name the most likely disease (or 'healthy'), say how severe it is, and return treatment and prevention advice from a knowledge base, through a web application a non-expert can use, with the interface in English, Hindi or Marathi - and report honestly how accurate the diagnosis is on field photographs.</a:t>
            </a:r>
          </a:p>
        </p:txBody>
      </p:sp>
      <p:sp>
        <p:nvSpPr>
          <p:cNvPr id="9" name="Rounded Rectangle 8"/>
          <p:cNvSpPr/>
          <p:nvPr/>
        </p:nvSpPr>
        <p:spPr>
          <a:xfrm>
            <a:off x="502920" y="4023360"/>
            <a:ext cx="3566160" cy="146304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096512"/>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Input</a:t>
            </a:r>
          </a:p>
        </p:txBody>
      </p:sp>
      <p:sp>
        <p:nvSpPr>
          <p:cNvPr id="11" name="TextBox 10"/>
          <p:cNvSpPr txBox="1"/>
          <p:nvPr/>
        </p:nvSpPr>
        <p:spPr>
          <a:xfrm>
            <a:off x="685800" y="452628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One leaf photo (JPG, PNG, WEBP, up to 10 MB) and the crop chosen by the farmer</a:t>
            </a:r>
          </a:p>
        </p:txBody>
      </p:sp>
      <p:sp>
        <p:nvSpPr>
          <p:cNvPr id="12" name="Rounded Rectangle 11"/>
          <p:cNvSpPr/>
          <p:nvPr/>
        </p:nvSpPr>
        <p:spPr>
          <a:xfrm>
            <a:off x="4251959" y="4023360"/>
            <a:ext cx="3566160" cy="146304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4840" y="4096512"/>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Output</a:t>
            </a:r>
          </a:p>
        </p:txBody>
      </p:sp>
      <p:sp>
        <p:nvSpPr>
          <p:cNvPr id="14" name="TextBox 13"/>
          <p:cNvSpPr txBox="1"/>
          <p:nvPr/>
        </p:nvSpPr>
        <p:spPr>
          <a:xfrm>
            <a:off x="4434840" y="452628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Top-3 classes, severity, three treatments, prevention, saved to a history</a:t>
            </a:r>
          </a:p>
        </p:txBody>
      </p:sp>
      <p:sp>
        <p:nvSpPr>
          <p:cNvPr id="15" name="Rounded Rectangle 14"/>
          <p:cNvSpPr/>
          <p:nvPr/>
        </p:nvSpPr>
        <p:spPr>
          <a:xfrm>
            <a:off x="8001000" y="4023360"/>
            <a:ext cx="3566160" cy="146304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83879" y="4096512"/>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Evidence</a:t>
            </a:r>
          </a:p>
        </p:txBody>
      </p:sp>
      <p:sp>
        <p:nvSpPr>
          <p:cNvPr id="17" name="TextBox 16"/>
          <p:cNvSpPr txBox="1"/>
          <p:nvPr/>
        </p:nvSpPr>
        <p:spPr>
          <a:xfrm>
            <a:off x="8183879" y="452628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PlantDoc test split, three seeds, defects and gaps stated</a:t>
            </a:r>
          </a:p>
        </p:txBody>
      </p:sp>
      <p:sp>
        <p:nvSpPr>
          <p:cNvPr id="18" name="TextBox 17"/>
          <p:cNvSpPr txBox="1"/>
          <p:nvPr/>
        </p:nvSpPr>
        <p:spPr>
          <a:xfrm>
            <a:off x="502920" y="5669280"/>
            <a:ext cx="11155680" cy="54864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Need: a system that identifies crop disease from a leaf photograph and returns treatment advice in the farmer's own language.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a:spcAft>
                <a:spcPts val="1200"/>
              </a:spcAft>
            </a:pPr>
            <a:r>
              <a:rPr sz="2000" b="0" i="0">
                <a:solidFill>
                  <a:srgbClr val="222222"/>
                </a:solidFill>
                <a:latin typeface="Calibri"/>
                <a:ea typeface="Calibri"/>
                <a:cs typeface="Calibri"/>
              </a:rPr>
              <a:t>1.  Assemble a labelled dataset of healthy and diseased crop leaf images across target crops.</a:t>
            </a:r>
          </a:p>
          <a:p>
            <a:pPr algn="l">
              <a:spcAft>
                <a:spcPts val="1200"/>
              </a:spcAft>
            </a:pPr>
            <a:r>
              <a:rPr sz="2000" b="0" i="0">
                <a:solidFill>
                  <a:srgbClr val="222222"/>
                </a:solidFill>
                <a:latin typeface="Calibri"/>
                <a:ea typeface="Calibri"/>
                <a:cs typeface="Calibri"/>
              </a:rPr>
              <a:t>2.  Preprocess and augment the images to handle variation in lighting, angle and background.</a:t>
            </a:r>
          </a:p>
          <a:p>
            <a:pPr algn="l">
              <a:spcAft>
                <a:spcPts val="1200"/>
              </a:spcAft>
            </a:pPr>
            <a:r>
              <a:rPr sz="2000" b="0" i="0">
                <a:solidFill>
                  <a:srgbClr val="222222"/>
                </a:solidFill>
                <a:latin typeface="Calibri"/>
                <a:ea typeface="Calibri"/>
                <a:cs typeface="Calibri"/>
              </a:rPr>
              <a:t>3.  Train a CNN model to classify leaf images into specific disease categories.</a:t>
            </a:r>
          </a:p>
          <a:p>
            <a:pPr algn="l">
              <a:spcAft>
                <a:spcPts val="1200"/>
              </a:spcAft>
            </a:pPr>
            <a:r>
              <a:rPr sz="2000" b="0" i="0">
                <a:solidFill>
                  <a:srgbClr val="222222"/>
                </a:solidFill>
                <a:latin typeface="Calibri"/>
                <a:ea typeface="Calibri"/>
                <a:cs typeface="Calibri"/>
              </a:rPr>
              <a:t>4.  Map each identified disease to a treatment and fertiliser recommendation.</a:t>
            </a:r>
          </a:p>
          <a:p>
            <a:pPr algn="l">
              <a:spcAft>
                <a:spcPts val="1200"/>
              </a:spcAft>
            </a:pPr>
            <a:r>
              <a:rPr sz="2000" b="0" i="0">
                <a:solidFill>
                  <a:srgbClr val="222222"/>
                </a:solidFill>
                <a:latin typeface="Calibri"/>
                <a:ea typeface="Calibri"/>
                <a:cs typeface="Calibri"/>
              </a:rPr>
              <a:t>5.  Deliver diagnosis and advice through a web interface with multilingual support.</a:t>
            </a:r>
          </a:p>
          <a:p>
            <a:pPr algn="l">
              <a:spcAft>
                <a:spcPts val="1200"/>
              </a:spcAft>
            </a:pPr>
            <a:r>
              <a:rPr sz="2000" b="0" i="0">
                <a:solidFill>
                  <a:srgbClr val="222222"/>
                </a:solidFill>
                <a:latin typeface="Calibri"/>
                <a:ea typeface="Calibri"/>
                <a:cs typeface="Calibri"/>
              </a:rPr>
              <a:t>6.  Evaluate classification accuracy per disease class and validate recommendations against agronomic guidance.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Rounded Rectangle 6"/>
          <p:cNvSpPr/>
          <p:nvPr/>
        </p:nvSpPr>
        <p:spPr>
          <a:xfrm>
            <a:off x="502920" y="1828800"/>
            <a:ext cx="1975103" cy="10058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Leaf photo + crop</a:t>
            </a:r>
          </a:p>
        </p:txBody>
      </p:sp>
      <p:sp>
        <p:nvSpPr>
          <p:cNvPr id="8" name="Right Arrow 7"/>
          <p:cNvSpPr/>
          <p:nvPr/>
        </p:nvSpPr>
        <p:spPr>
          <a:xfrm>
            <a:off x="2537460"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98063" y="1828800"/>
            <a:ext cx="1975103" cy="100584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Validate, resize 256 px</a:t>
            </a:r>
          </a:p>
        </p:txBody>
      </p:sp>
      <p:sp>
        <p:nvSpPr>
          <p:cNvPr id="10" name="Right Arrow 9"/>
          <p:cNvSpPr/>
          <p:nvPr/>
        </p:nvSpPr>
        <p:spPr>
          <a:xfrm>
            <a:off x="4832603"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93207" y="1828800"/>
            <a:ext cx="1975103" cy="10058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Colour / texture features</a:t>
            </a:r>
          </a:p>
        </p:txBody>
      </p:sp>
      <p:sp>
        <p:nvSpPr>
          <p:cNvPr id="12" name="Right Arrow 11"/>
          <p:cNvSpPr/>
          <p:nvPr/>
        </p:nvSpPr>
        <p:spPr>
          <a:xfrm>
            <a:off x="7127747"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88352" y="1828800"/>
            <a:ext cx="1975103" cy="10058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Score + rank classes</a:t>
            </a:r>
          </a:p>
        </p:txBody>
      </p:sp>
      <p:sp>
        <p:nvSpPr>
          <p:cNvPr id="14" name="Right Arrow 13"/>
          <p:cNvSpPr/>
          <p:nvPr/>
        </p:nvSpPr>
        <p:spPr>
          <a:xfrm>
            <a:off x="9422892"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83496" y="1828800"/>
            <a:ext cx="1975103" cy="10058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Knowledge card + advice</a:t>
            </a:r>
          </a:p>
        </p:txBody>
      </p:sp>
      <p:sp>
        <p:nvSpPr>
          <p:cNvPr id="16" name="TextBox 15"/>
          <p:cNvSpPr txBox="1"/>
          <p:nvPr/>
        </p:nvSpPr>
        <p:spPr>
          <a:xfrm>
            <a:off x="502920" y="3200400"/>
            <a:ext cx="11155680" cy="3017520"/>
          </a:xfrm>
          <a:prstGeom prst="rect">
            <a:avLst/>
          </a:prstGeom>
          <a:noFill/>
        </p:spPr>
        <p:txBody>
          <a:bodyPr wrap="square" lIns="0" rIns="0" tIns="0" bIns="0" anchor="t">
            <a:spAutoFit/>
          </a:bodyPr>
          <a:lstStyle/>
          <a:p>
            <a:pPr algn="l" marL="256032" indent="-201168">
              <a:spcAft>
                <a:spcPts val="1000"/>
              </a:spcAft>
              <a:buChar char="•"/>
            </a:pPr>
            <a:r>
              <a:rPr sz="1700" b="0" i="0">
                <a:solidFill>
                  <a:srgbClr val="222222"/>
                </a:solidFill>
                <a:latin typeface="Calibri"/>
                <a:ea typeface="Calibri"/>
                <a:cs typeface="Calibri"/>
              </a:rPr>
              <a:t>React web app: sign-in, Detect, Result, History, Analytics, Dashboard, Disease guide, Profile; English, Hindi, Marathi interface; light and dark theme.</a:t>
            </a:r>
          </a:p>
          <a:p>
            <a:pPr algn="l" marL="256032" indent="-201168">
              <a:spcAft>
                <a:spcPts val="1000"/>
              </a:spcAft>
              <a:buChar char="•"/>
            </a:pPr>
            <a:r>
              <a:rPr sz="1700" b="0" i="0">
                <a:solidFill>
                  <a:srgbClr val="222222"/>
                </a:solidFill>
                <a:latin typeface="Calibri"/>
                <a:ea typeface="Calibri"/>
                <a:cs typeface="Calibri"/>
              </a:rPr>
              <a:t>FastAPI service (16 routes, bearer-token login) over the original Flask product: same detection engine, same knowledge base, same SQLite file.</a:t>
            </a:r>
          </a:p>
          <a:p>
            <a:pPr algn="l" marL="256032" indent="-201168">
              <a:spcAft>
                <a:spcPts val="1000"/>
              </a:spcAft>
              <a:buChar char="•"/>
            </a:pPr>
            <a:r>
              <a:rPr sz="1700" b="0" i="0">
                <a:solidFill>
                  <a:srgbClr val="222222"/>
                </a:solidFill>
                <a:latin typeface="Calibri"/>
                <a:ea typeface="Calibri"/>
                <a:cs typeface="Calibri"/>
              </a:rPr>
              <a:t>Engine as shipped: a colour/texture heuristic. A trained Keras or ONNX model placed in models/ would be loaded instead; the training script and the PlantDoc label map exist.</a:t>
            </a:r>
          </a:p>
          <a:p>
            <a:pPr algn="l" marL="256032" indent="-201168">
              <a:spcAft>
                <a:spcPts val="1000"/>
              </a:spcAft>
              <a:buChar char="•"/>
            </a:pPr>
            <a:r>
              <a:rPr sz="1700" b="0" i="0">
                <a:solidFill>
                  <a:srgbClr val="222222"/>
                </a:solidFill>
                <a:latin typeface="Calibri"/>
                <a:ea typeface="Calibri"/>
                <a:cs typeface="Calibri"/>
              </a:rPr>
              <a:t>Knowledge base: 38 classes, 14 crops; each disease has symptoms, severity, chemical, organic and cultural treatments and prevention.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pic>
        <p:nvPicPr>
          <p:cNvPr id="7" name="Picture 6" descr="01_system_architecture.png"/>
          <p:cNvPicPr>
            <a:picLocks noChangeAspect="1"/>
          </p:cNvPicPr>
          <p:nvPr/>
        </p:nvPicPr>
        <p:blipFill>
          <a:blip r:embed="rId2"/>
          <a:stretch>
            <a:fillRect/>
          </a:stretch>
        </p:blipFill>
        <p:spPr>
          <a:xfrm>
            <a:off x="571500" y="1691640"/>
            <a:ext cx="5715000" cy="4572000"/>
          </a:xfrm>
          <a:prstGeom prst="rect">
            <a:avLst/>
          </a:prstGeom>
        </p:spPr>
      </p:pic>
      <p:sp>
        <p:nvSpPr>
          <p:cNvPr id="8" name="TextBox 7"/>
          <p:cNvSpPr txBox="1"/>
          <p:nvPr/>
        </p:nvSpPr>
        <p:spPr>
          <a:xfrm>
            <a:off x="6583680" y="1828800"/>
            <a:ext cx="5120640" cy="4297680"/>
          </a:xfrm>
          <a:prstGeom prst="rect">
            <a:avLst/>
          </a:prstGeom>
          <a:noFill/>
        </p:spPr>
        <p:txBody>
          <a:bodyPr wrap="square" lIns="0" rIns="0" tIns="0" bIns="0" anchor="t">
            <a:spAutoFit/>
          </a:bodyPr>
          <a:lstStyle/>
          <a:p>
            <a:pPr algn="l" marL="256032" indent="-201168">
              <a:spcAft>
                <a:spcPts val="900"/>
              </a:spcAft>
              <a:buChar char="•"/>
            </a:pPr>
            <a:r>
              <a:rPr sz="1600" b="0" i="0">
                <a:solidFill>
                  <a:srgbClr val="222222"/>
                </a:solidFill>
                <a:latin typeface="Calibri"/>
                <a:ea typeface="Calibri"/>
                <a:cs typeface="Calibri"/>
              </a:rPr>
              <a:t>Presentation: React 18 + Vite + TypeScript + Tailwind, 12 page components, port 5416</a:t>
            </a:r>
          </a:p>
          <a:p>
            <a:pPr algn="l" marL="256032" indent="-201168">
              <a:spcAft>
                <a:spcPts val="900"/>
              </a:spcAft>
              <a:buChar char="•"/>
            </a:pPr>
            <a:r>
              <a:rPr sz="1600" b="0" i="0">
                <a:solidFill>
                  <a:srgbClr val="222222"/>
                </a:solidFill>
                <a:latin typeface="Calibri"/>
                <a:ea typeface="Calibri"/>
                <a:cs typeface="Calibri"/>
              </a:rPr>
              <a:t>Application: FastAPI, 16 routes under /api, HMAC bearer token, one JSON error shape, port 8416</a:t>
            </a:r>
          </a:p>
          <a:p>
            <a:pPr algn="l" marL="256032" indent="-201168">
              <a:spcAft>
                <a:spcPts val="900"/>
              </a:spcAft>
              <a:buChar char="•"/>
            </a:pPr>
            <a:r>
              <a:rPr sz="1600" b="0" i="0">
                <a:solidFill>
                  <a:srgbClr val="222222"/>
                </a:solidFill>
                <a:latin typeface="Calibri"/>
                <a:ea typeface="Calibri"/>
                <a:cs typeface="Calibri"/>
              </a:rPr>
              <a:t>Domain: agrivision/ inference engine and 38-class knowledge base, imported unchanged</a:t>
            </a:r>
          </a:p>
          <a:p>
            <a:pPr algn="l" marL="256032" indent="-201168">
              <a:spcAft>
                <a:spcPts val="900"/>
              </a:spcAft>
              <a:buChar char="•"/>
            </a:pPr>
            <a:r>
              <a:rPr sz="1600" b="0" i="0">
                <a:solidFill>
                  <a:srgbClr val="222222"/>
                </a:solidFill>
                <a:latin typeface="Calibri"/>
                <a:ea typeface="Calibri"/>
                <a:cs typeface="Calibri"/>
              </a:rPr>
              <a:t>Storage: SQLite (users, results) and an uploads folder; models/ is empty</a:t>
            </a:r>
          </a:p>
          <a:p>
            <a:pPr algn="l" marL="256032" indent="-201168">
              <a:spcAft>
                <a:spcPts val="900"/>
              </a:spcAft>
              <a:buChar char="•"/>
            </a:pPr>
            <a:r>
              <a:rPr sz="1600" b="0" i="0">
                <a:solidFill>
                  <a:srgbClr val="222222"/>
                </a:solidFill>
                <a:latin typeface="Calibri"/>
                <a:ea typeface="Calibri"/>
                <a:cs typeface="Calibri"/>
              </a:rPr>
              <a:t>Launch: run.bat builds the environment and starts both servers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pic>
        <p:nvPicPr>
          <p:cNvPr id="7" name="Picture 6" descr="02_high_level_workflow.png"/>
          <p:cNvPicPr>
            <a:picLocks noChangeAspect="1"/>
          </p:cNvPicPr>
          <p:nvPr/>
        </p:nvPicPr>
        <p:blipFill>
          <a:blip r:embed="rId2"/>
          <a:stretch>
            <a:fillRect/>
          </a:stretch>
        </p:blipFill>
        <p:spPr>
          <a:xfrm>
            <a:off x="502920" y="1695297"/>
            <a:ext cx="7132320" cy="4564684"/>
          </a:xfrm>
          <a:prstGeom prst="rect">
            <a:avLst/>
          </a:prstGeom>
        </p:spPr>
      </p:pic>
      <p:sp>
        <p:nvSpPr>
          <p:cNvPr id="8" name="TextBox 7"/>
          <p:cNvSpPr txBox="1"/>
          <p:nvPr/>
        </p:nvSpPr>
        <p:spPr>
          <a:xfrm>
            <a:off x="7863840" y="1828800"/>
            <a:ext cx="3840480" cy="4389120"/>
          </a:xfrm>
          <a:prstGeom prst="rect">
            <a:avLst/>
          </a:prstGeom>
          <a:noFill/>
        </p:spPr>
        <p:txBody>
          <a:bodyPr wrap="square" lIns="0" rIns="0" tIns="0" bIns="0" anchor="t">
            <a:spAutoFit/>
          </a:bodyPr>
          <a:lstStyle/>
          <a:p>
            <a:pPr algn="l" marL="256032" indent="-201168">
              <a:spcAft>
                <a:spcPts val="1000"/>
              </a:spcAft>
              <a:buChar char="•"/>
            </a:pPr>
            <a:r>
              <a:rPr sz="1500" b="0" i="0">
                <a:solidFill>
                  <a:srgbClr val="222222"/>
                </a:solidFill>
                <a:latin typeface="Calibri"/>
                <a:ea typeface="Calibri"/>
                <a:cs typeface="Calibri"/>
              </a:rPr>
              <a:t>Diagnosis path: upload checks, 256 px resize, six colour/texture features, candidate classes of the chosen crop, scored top-3, knowledge card.</a:t>
            </a:r>
          </a:p>
          <a:p>
            <a:pPr algn="l" marL="256032" indent="-201168">
              <a:spcAft>
                <a:spcPts val="1000"/>
              </a:spcAft>
              <a:buChar char="•"/>
            </a:pPr>
            <a:r>
              <a:rPr sz="1500" b="0" i="0">
                <a:solidFill>
                  <a:srgbClr val="222222"/>
                </a:solidFill>
                <a:latin typeface="Calibri"/>
                <a:ea typeface="Calibri"/>
                <a:cs typeface="Calibri"/>
              </a:rPr>
              <a:t>Learning path (offline): PlantDoc folders, 224 px cache, 10 % validation split, compact CNN or MobileNetV2, 3 seeds, test on 236 photos.</a:t>
            </a:r>
          </a:p>
          <a:p>
            <a:pPr algn="l" marL="256032" indent="-201168">
              <a:spcAft>
                <a:spcPts val="1000"/>
              </a:spcAft>
              <a:buChar char="•"/>
            </a:pPr>
            <a:r>
              <a:rPr sz="1500" b="0" i="0">
                <a:solidFill>
                  <a:srgbClr val="222222"/>
                </a:solidFill>
                <a:latin typeface="Calibri"/>
                <a:ea typeface="Calibri"/>
                <a:cs typeface="Calibri"/>
              </a:rPr>
              <a:t>The trained network is not copied into models/, so the app keeps the heuristic.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Dataset, Preprocessing &amp; Models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TextBox 6"/>
          <p:cNvSpPr txBox="1"/>
          <p:nvPr/>
        </p:nvSpPr>
        <p:spPr>
          <a:xfrm>
            <a:off x="502920" y="1737360"/>
            <a:ext cx="6400800" cy="4572000"/>
          </a:xfrm>
          <a:prstGeom prst="rect">
            <a:avLst/>
          </a:prstGeom>
          <a:noFill/>
        </p:spPr>
        <p:txBody>
          <a:bodyPr wrap="square" lIns="0" rIns="0" tIns="0" bIns="0" anchor="t">
            <a:spAutoFit/>
          </a:bodyPr>
          <a:lstStyle/>
          <a:p>
            <a:pPr algn="l" marL="256032" indent="-201168">
              <a:spcAft>
                <a:spcPts val="800"/>
              </a:spcAft>
              <a:buChar char="•"/>
            </a:pPr>
            <a:r>
              <a:rPr sz="1400" b="1" i="0">
                <a:solidFill>
                  <a:srgbClr val="222222"/>
                </a:solidFill>
                <a:latin typeface="Calibri"/>
                <a:ea typeface="Calibri"/>
                <a:cs typeface="Calibri"/>
              </a:rPr>
              <a:t>PlantDoc</a:t>
            </a:r>
            <a:r>
              <a:rPr sz="1400" b="0" i="0">
                <a:solidFill>
                  <a:srgbClr val="222222"/>
                </a:solidFill>
                <a:latin typeface="Calibri"/>
                <a:ea typeface="Calibri"/>
                <a:cs typeface="Calibri"/>
              </a:rPr>
              <a:t> (Singh et al.), CC-BY-4.0, web-scraped field photos: 2,342 train + 236 test, 28 train folders, 27 test folders (spider mites has 2 train photos, no test photo); 13 crops; 2 to 180 images per class.</a:t>
            </a:r>
          </a:p>
          <a:p>
            <a:pPr algn="l" marL="256032" indent="-201168">
              <a:spcAft>
                <a:spcPts val="800"/>
              </a:spcAft>
              <a:buChar char="•"/>
            </a:pPr>
            <a:r>
              <a:rPr sz="1400" b="1" i="0">
                <a:solidFill>
                  <a:srgbClr val="222222"/>
                </a:solidFill>
                <a:latin typeface="Calibri"/>
                <a:ea typeface="Calibri"/>
                <a:cs typeface="Calibri"/>
              </a:rPr>
              <a:t>Preprocessing:</a:t>
            </a:r>
            <a:r>
              <a:rPr sz="1400" b="0" i="0">
                <a:solidFill>
                  <a:srgbClr val="222222"/>
                </a:solidFill>
                <a:latin typeface="Calibri"/>
                <a:ea typeface="Calibri"/>
                <a:cs typeface="Calibri"/>
              </a:rPr>
              <a:t> resize to 224 x 224, 10 % stratified validation split; in-model flip, rotation 0.08, zoom 0.1, contrast 0.1. The app's heuristic resizes to 256.</a:t>
            </a:r>
          </a:p>
          <a:p>
            <a:pPr algn="l" marL="256032" indent="-201168">
              <a:spcAft>
                <a:spcPts val="800"/>
              </a:spcAft>
              <a:buChar char="•"/>
            </a:pPr>
            <a:r>
              <a:rPr sz="1400" b="1" i="0">
                <a:solidFill>
                  <a:srgbClr val="222222"/>
                </a:solidFill>
                <a:latin typeface="Calibri"/>
                <a:ea typeface="Calibri"/>
                <a:cs typeface="Calibri"/>
              </a:rPr>
              <a:t>Compact CNN</a:t>
            </a:r>
            <a:r>
              <a:rPr sz="1400" b="0" i="0">
                <a:solidFill>
                  <a:srgbClr val="222222"/>
                </a:solidFill>
                <a:latin typeface="Calibri"/>
                <a:ea typeface="Calibri"/>
                <a:cs typeface="Calibri"/>
              </a:rPr>
              <a:t> (train.py): 5 separable-convolution blocks, batch norm, GAP, dense 256; 189,655 parameters (the docstring says about 1.1 M); Adam 1e-3, batch 32.</a:t>
            </a:r>
          </a:p>
          <a:p>
            <a:pPr algn="l" marL="256032" indent="-201168">
              <a:spcAft>
                <a:spcPts val="800"/>
              </a:spcAft>
              <a:buChar char="•"/>
            </a:pPr>
            <a:r>
              <a:rPr sz="1400" b="1" i="0">
                <a:solidFill>
                  <a:srgbClr val="222222"/>
                </a:solidFill>
                <a:latin typeface="Calibri"/>
                <a:ea typeface="Calibri"/>
                <a:cs typeface="Calibri"/>
              </a:rPr>
              <a:t>MobileNetV2</a:t>
            </a:r>
            <a:r>
              <a:rPr sz="1400" b="0" i="0">
                <a:solidFill>
                  <a:srgbClr val="222222"/>
                </a:solidFill>
                <a:latin typeface="Calibri"/>
                <a:ea typeface="Calibri"/>
                <a:cs typeface="Calibri"/>
              </a:rPr>
              <a:t> reference: ImageNet weights, 2.29 M parameters; head trained, then top 30 layers fine-tuned at 1e-4.</a:t>
            </a:r>
          </a:p>
          <a:p>
            <a:pPr algn="l" marL="256032" indent="-201168">
              <a:spcAft>
                <a:spcPts val="800"/>
              </a:spcAft>
              <a:buChar char="•"/>
            </a:pPr>
            <a:r>
              <a:rPr sz="1400" b="1" i="0">
                <a:solidFill>
                  <a:srgbClr val="222222"/>
                </a:solidFill>
                <a:latin typeface="Calibri"/>
                <a:ea typeface="Calibri"/>
                <a:cs typeface="Calibri"/>
              </a:rPr>
              <a:t>Baselines:</a:t>
            </a:r>
            <a:r>
              <a:rPr sz="1400" b="0" i="0">
                <a:solidFill>
                  <a:srgbClr val="222222"/>
                </a:solidFill>
                <a:latin typeface="Calibri"/>
                <a:ea typeface="Calibri"/>
                <a:cs typeface="Calibri"/>
              </a:rPr>
              <a:t> random forest and logistic regression on colour histograms and edge statistics.</a:t>
            </a:r>
          </a:p>
        </p:txBody>
      </p:sp>
      <p:pic>
        <p:nvPicPr>
          <p:cNvPr id="8" name="Picture 7" descr="f09_class_distribution.png"/>
          <p:cNvPicPr>
            <a:picLocks noChangeAspect="1"/>
          </p:cNvPicPr>
          <p:nvPr/>
        </p:nvPicPr>
        <p:blipFill>
          <a:blip r:embed="rId4"/>
          <a:stretch>
            <a:fillRect/>
          </a:stretch>
        </p:blipFill>
        <p:spPr>
          <a:xfrm>
            <a:off x="7132320" y="1947829"/>
            <a:ext cx="4572000" cy="40596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Decision Logic of the Shipped Engine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pic>
        <p:nvPicPr>
          <p:cNvPr id="7" name="Picture 6" descr="10_core_algorithm_flowchart.png"/>
          <p:cNvPicPr>
            <a:picLocks noChangeAspect="1"/>
          </p:cNvPicPr>
          <p:nvPr/>
        </p:nvPicPr>
        <p:blipFill>
          <a:blip r:embed="rId2"/>
          <a:stretch>
            <a:fillRect/>
          </a:stretch>
        </p:blipFill>
        <p:spPr>
          <a:xfrm>
            <a:off x="502920" y="1673351"/>
            <a:ext cx="5120640" cy="4608576"/>
          </a:xfrm>
          <a:prstGeom prst="rect">
            <a:avLst/>
          </a:prstGeom>
        </p:spPr>
      </p:pic>
      <p:sp>
        <p:nvSpPr>
          <p:cNvPr id="8" name="TextBox 7"/>
          <p:cNvSpPr txBox="1"/>
          <p:nvPr/>
        </p:nvSpPr>
        <p:spPr>
          <a:xfrm>
            <a:off x="5943600" y="1783080"/>
            <a:ext cx="5760720" cy="4480560"/>
          </a:xfrm>
          <a:prstGeom prst="rect">
            <a:avLst/>
          </a:prstGeom>
          <a:noFill/>
        </p:spPr>
        <p:txBody>
          <a:bodyPr wrap="square" lIns="0" rIns="0" tIns="0" bIns="0" anchor="t">
            <a:spAutoFit/>
          </a:bodyPr>
          <a:lstStyle/>
          <a:p>
            <a:pPr algn="l" marL="256032" indent="-201168">
              <a:spcAft>
                <a:spcPts val="900"/>
              </a:spcAft>
              <a:buChar char="•"/>
            </a:pPr>
            <a:r>
              <a:rPr sz="1500" b="0" i="0">
                <a:solidFill>
                  <a:srgbClr val="222222"/>
                </a:solidFill>
                <a:latin typeface="Calibri"/>
                <a:ea typeface="Calibri"/>
                <a:cs typeface="Calibri"/>
              </a:rPr>
              <a:t>Features from a 256 px copy: green, brown, yellow, dark and white pixel shares and the global standard deviation.</a:t>
            </a:r>
          </a:p>
          <a:p>
            <a:pPr algn="l" marL="256032" indent="-201168">
              <a:spcAft>
                <a:spcPts val="900"/>
              </a:spcAft>
              <a:buChar char="•"/>
            </a:pPr>
            <a:r>
              <a:rPr sz="1500" b="0" i="0">
                <a:solidFill>
                  <a:srgbClr val="222222"/>
                </a:solidFill>
                <a:latin typeface="Calibri"/>
                <a:ea typeface="Calibri"/>
                <a:cs typeface="Calibri"/>
              </a:rPr>
              <a:t>Candidates: the classes of the chosen crop, or all 38 on 'general'.</a:t>
            </a:r>
          </a:p>
          <a:p>
            <a:pPr algn="l" marL="256032" indent="-201168">
              <a:spcAft>
                <a:spcPts val="900"/>
              </a:spcAft>
              <a:buChar char="•"/>
            </a:pPr>
            <a:r>
              <a:rPr sz="1500" b="0" i="0">
                <a:solidFill>
                  <a:srgbClr val="222222"/>
                </a:solidFill>
                <a:latin typeface="Calibri"/>
                <a:ea typeface="Calibri"/>
                <a:cs typeface="Calibri"/>
              </a:rPr>
              <a:t>Healthy score rewards green and penalises brown/yellow; disease scores reward brown, yellow, dark and white plus name cues (rust, blight, mildew, mosaic, mite).</a:t>
            </a:r>
          </a:p>
          <a:p>
            <a:pPr algn="l" marL="256032" indent="-201168">
              <a:spcAft>
                <a:spcPts val="900"/>
              </a:spcAft>
              <a:buChar char="•"/>
            </a:pPr>
            <a:r>
              <a:rPr sz="1500" b="0" i="0">
                <a:solidFill>
                  <a:srgbClr val="222222"/>
                </a:solidFill>
                <a:latin typeface="Calibri"/>
                <a:ea typeface="Calibri"/>
                <a:cs typeface="Calibri"/>
              </a:rPr>
              <a:t>Confidence is clamp(0.62 + 0.22 x score, 0.62, 0.99): it never reports low confidence.</a:t>
            </a:r>
          </a:p>
          <a:p>
            <a:pPr algn="l" marL="256032" indent="-201168">
              <a:spcAft>
                <a:spcPts val="900"/>
              </a:spcAft>
              <a:buChar char="•"/>
            </a:pPr>
            <a:r>
              <a:rPr sz="1500" b="0" i="0">
                <a:solidFill>
                  <a:srgbClr val="222222"/>
                </a:solidFill>
                <a:latin typeface="Calibri"/>
                <a:ea typeface="Calibri"/>
                <a:cs typeface="Calibri"/>
              </a:rPr>
              <a:t>With fewer than 3 candidate classes (10 of 19 crop keys; 9 of the 18 in the web form) the code raises IndexError and the API returns HTTP 400 (defect D1).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User–System Interaction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pic>
        <p:nvPicPr>
          <p:cNvPr id="7" name="Picture 6" descr="07_sequence_diagram.png"/>
          <p:cNvPicPr>
            <a:picLocks noChangeAspect="1"/>
          </p:cNvPicPr>
          <p:nvPr/>
        </p:nvPicPr>
        <p:blipFill>
          <a:blip r:embed="rId2"/>
          <a:stretch>
            <a:fillRect/>
          </a:stretch>
        </p:blipFill>
        <p:spPr>
          <a:xfrm>
            <a:off x="516301" y="1645920"/>
            <a:ext cx="5185317" cy="4251960"/>
          </a:xfrm>
          <a:prstGeom prst="rect">
            <a:avLst/>
          </a:prstGeom>
        </p:spPr>
      </p:pic>
      <p:pic>
        <p:nvPicPr>
          <p:cNvPr id="8" name="Picture 7" descr="08_use_case_diagram.png"/>
          <p:cNvPicPr>
            <a:picLocks noChangeAspect="1"/>
          </p:cNvPicPr>
          <p:nvPr/>
        </p:nvPicPr>
        <p:blipFill>
          <a:blip r:embed="rId5"/>
          <a:stretch>
            <a:fillRect/>
          </a:stretch>
        </p:blipFill>
        <p:spPr>
          <a:xfrm>
            <a:off x="5951014" y="1645920"/>
            <a:ext cx="5745891" cy="4251960"/>
          </a:xfrm>
          <a:prstGeom prst="rect">
            <a:avLst/>
          </a:prstGeom>
        </p:spPr>
      </p:pic>
      <p:sp>
        <p:nvSpPr>
          <p:cNvPr id="9" name="TextBox 8"/>
          <p:cNvSpPr txBox="1"/>
          <p:nvPr/>
        </p:nvSpPr>
        <p:spPr>
          <a:xfrm>
            <a:off x="502920" y="5943600"/>
            <a:ext cx="11155680" cy="457200"/>
          </a:xfrm>
          <a:prstGeom prst="rect">
            <a:avLst/>
          </a:prstGeom>
          <a:noFill/>
        </p:spPr>
        <p:txBody>
          <a:bodyPr wrap="square" lIns="0" rIns="0" tIns="0" bIns="0" anchor="t">
            <a:spAutoFit/>
          </a:bodyPr>
          <a:lstStyle/>
          <a:p>
            <a:pPr algn="ctr">
              <a:spcAft>
                <a:spcPts val="400"/>
              </a:spcAft>
            </a:pPr>
            <a:r>
              <a:rPr sz="1250" b="0" i="0">
                <a:solidFill>
                  <a:srgbClr val="1F3864"/>
                </a:solidFill>
                <a:latin typeface="Calibri"/>
                <a:ea typeface="Calibri"/>
                <a:cs typeface="Calibri"/>
              </a:rPr>
              <a:t>Left: one diagnosis from upload to result screen. Right: use cases of the farmer, the visitor and the offline model owner.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Database Design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pic>
        <p:nvPicPr>
          <p:cNvPr id="7" name="Picture 6" descr="09_er_diagram.png"/>
          <p:cNvPicPr>
            <a:picLocks noChangeAspect="1"/>
          </p:cNvPicPr>
          <p:nvPr/>
        </p:nvPicPr>
        <p:blipFill>
          <a:blip r:embed="rId2"/>
          <a:stretch>
            <a:fillRect/>
          </a:stretch>
        </p:blipFill>
        <p:spPr>
          <a:xfrm>
            <a:off x="502920" y="1698040"/>
            <a:ext cx="6766560" cy="4330598"/>
          </a:xfrm>
          <a:prstGeom prst="rect">
            <a:avLst/>
          </a:prstGeom>
        </p:spPr>
      </p:pic>
      <p:sp>
        <p:nvSpPr>
          <p:cNvPr id="8" name="TextBox 7"/>
          <p:cNvSpPr txBox="1"/>
          <p:nvPr/>
        </p:nvSpPr>
        <p:spPr>
          <a:xfrm>
            <a:off x="7498079" y="1828800"/>
            <a:ext cx="4206240" cy="4297680"/>
          </a:xfrm>
          <a:prstGeom prst="rect">
            <a:avLst/>
          </a:prstGeom>
          <a:noFill/>
        </p:spPr>
        <p:txBody>
          <a:bodyPr wrap="square" lIns="0" rIns="0" tIns="0" bIns="0" anchor="t">
            <a:spAutoFit/>
          </a:bodyPr>
          <a:lstStyle/>
          <a:p>
            <a:pPr algn="l" marL="256032" indent="-201168">
              <a:spcAft>
                <a:spcPts val="900"/>
              </a:spcAft>
              <a:buChar char="•"/>
            </a:pPr>
            <a:r>
              <a:rPr sz="1500" b="0" i="0">
                <a:solidFill>
                  <a:srgbClr val="222222"/>
                </a:solidFill>
                <a:latin typeface="Calibri"/>
                <a:ea typeface="Calibri"/>
                <a:cs typeface="Calibri"/>
              </a:rPr>
              <a:t>SQLite file shared by the Flask and FastAPI front ends; created by init_db(); a demo farmer is seeded.</a:t>
            </a:r>
          </a:p>
          <a:p>
            <a:pPr algn="l" marL="256032" indent="-201168">
              <a:spcAft>
                <a:spcPts val="900"/>
              </a:spcAft>
              <a:buChar char="•"/>
            </a:pPr>
            <a:r>
              <a:rPr sz="1500" b="0" i="0">
                <a:solidFill>
                  <a:srgbClr val="222222"/>
                </a:solidFill>
                <a:latin typeface="Calibri"/>
                <a:ea typeface="Calibri"/>
                <a:cs typeface="Calibri"/>
              </a:rPr>
              <a:t>users: 11 columns; passwords stored as scrypt salted hashes.</a:t>
            </a:r>
          </a:p>
          <a:p>
            <a:pPr algn="l" marL="256032" indent="-201168">
              <a:spcAft>
                <a:spcPts val="900"/>
              </a:spcAft>
              <a:buChar char="•"/>
            </a:pPr>
            <a:r>
              <a:rPr sz="1500" b="0" i="0">
                <a:solidFill>
                  <a:srgbClr val="222222"/>
                </a:solidFill>
                <a:latin typeface="Calibri"/>
                <a:ea typeface="Calibri"/>
                <a:cs typeface="Calibri"/>
              </a:rPr>
              <a:t>results: 12 columns, one row per scan, top-3 as JSON text; user_id is a foreign key.</a:t>
            </a:r>
          </a:p>
          <a:p>
            <a:pPr algn="l" marL="256032" indent="-201168">
              <a:spcAft>
                <a:spcPts val="900"/>
              </a:spcAft>
              <a:buChar char="•"/>
            </a:pPr>
            <a:r>
              <a:rPr sz="1500" b="0" i="0">
                <a:solidFill>
                  <a:srgbClr val="222222"/>
                </a:solidFill>
                <a:latin typeface="Calibri"/>
                <a:ea typeface="Calibri"/>
                <a:cs typeface="Calibri"/>
              </a:rPr>
              <a:t>The 38-class knowledge base is code (disease_db.py), not a table; images are files named by random UUID.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Highlights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graphicFrame>
        <p:nvGraphicFramePr>
          <p:cNvPr id="7" name="Table 6"/>
          <p:cNvGraphicFramePr>
            <a:graphicFrameLocks noGrp="1"/>
          </p:cNvGraphicFramePr>
          <p:nvPr/>
        </p:nvGraphicFramePr>
        <p:xfrm>
          <a:off x="502920" y="1783080"/>
          <a:ext cx="11155680" cy="4389120"/>
        </p:xfrm>
        <a:graphic>
          <a:graphicData uri="http://schemas.openxmlformats.org/drawingml/2006/table">
            <a:tbl>
              <a:tblPr firstRow="0" bandRow="0">
                <a:tableStyleId>{5C22544A-7EE6-4342-B048-85BDC9FD1C3A}</a:tableStyleId>
              </a:tblPr>
              <a:tblGrid>
                <a:gridCol w="2011680"/>
                <a:gridCol w="9144000"/>
              </a:tblGrid>
              <a:tr h="731520">
                <a:tc>
                  <a:txBody>
                    <a:bodyPr wrap="square"/>
                    <a:lstStyle/>
                    <a:p>
                      <a:pPr algn="ctr"/>
                      <a:r>
                        <a:rPr sz="1400" b="1">
                          <a:solidFill>
                            <a:srgbClr val="1F3864"/>
                          </a:solidFill>
                          <a:latin typeface="Calibri"/>
                          <a:ea typeface="Calibri"/>
                          <a:cs typeface="Calibri"/>
                        </a:rPr>
                        <a:t>Component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400" b="1">
                          <a:solidFill>
                            <a:srgbClr val="1F3864"/>
                          </a:solidFill>
                          <a:latin typeface="Calibri"/>
                          <a:ea typeface="Calibri"/>
                          <a:cs typeface="Calibri"/>
                        </a:rPr>
                        <a:t>What was built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731520">
                <a:tc>
                  <a:txBody>
                    <a:bodyPr wrap="square"/>
                    <a:lstStyle/>
                    <a:p>
                      <a:pPr algn="l"/>
                      <a:r>
                        <a:rPr sz="1400" b="1">
                          <a:solidFill>
                            <a:srgbClr val="222222"/>
                          </a:solidFill>
                          <a:latin typeface="Calibri"/>
                          <a:ea typeface="Calibri"/>
                          <a:cs typeface="Calibri"/>
                        </a:rPr>
                        <a:t>Front end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400" b="0">
                          <a:solidFill>
                            <a:srgbClr val="222222"/>
                          </a:solidFill>
                          <a:latin typeface="Calibri"/>
                          <a:ea typeface="Calibri"/>
                          <a:cs typeface="Calibri"/>
                        </a:rPr>
                        <a:t>React 18, Vite 8, TypeScript 5.9, Tailwind 4; 12 page components, 5,647 lines; axios + TanStack Query; EN / HI / MR interface strings; light and dark theme; phone layout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31520">
                <a:tc>
                  <a:txBody>
                    <a:bodyPr wrap="square"/>
                    <a:lstStyle/>
                    <a:p>
                      <a:pPr algn="l"/>
                      <a:r>
                        <a:rPr sz="1400" b="1">
                          <a:solidFill>
                            <a:srgbClr val="222222"/>
                          </a:solidFill>
                          <a:latin typeface="Calibri"/>
                          <a:ea typeface="Calibri"/>
                          <a:cs typeface="Calibri"/>
                        </a:rPr>
                        <a:t>API layer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400" b="0">
                          <a:solidFill>
                            <a:srgbClr val="222222"/>
                          </a:solidFill>
                          <a:latin typeface="Calibri"/>
                          <a:ea typeface="Calibri"/>
                          <a:cs typeface="Calibri"/>
                        </a:rPr>
                        <a:t>FastAPI, 437 lines, 16 routes; HMAC-signed bearer token (7 days); upload checks (type, 10 MB, empty); owner checks on every scan; CSV and PDF export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731520">
                <a:tc>
                  <a:txBody>
                    <a:bodyPr wrap="square"/>
                    <a:lstStyle/>
                    <a:p>
                      <a:pPr algn="l"/>
                      <a:r>
                        <a:rPr sz="1400" b="1">
                          <a:solidFill>
                            <a:srgbClr val="222222"/>
                          </a:solidFill>
                          <a:latin typeface="Calibri"/>
                          <a:ea typeface="Calibri"/>
                          <a:cs typeface="Calibri"/>
                        </a:rPr>
                        <a:t>Engine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400" b="0">
                          <a:solidFill>
                            <a:srgbClr val="222222"/>
                          </a:solidFill>
                          <a:latin typeface="Calibri"/>
                          <a:ea typeface="Calibri"/>
                          <a:cs typeface="Calibri"/>
                        </a:rPr>
                        <a:t>inference.py: heuristic, or Keras / ONNX model if models/ holds one; PlantDoc-to-38-class label map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31520">
                <a:tc>
                  <a:txBody>
                    <a:bodyPr wrap="square"/>
                    <a:lstStyle/>
                    <a:p>
                      <a:pPr algn="l"/>
                      <a:r>
                        <a:rPr sz="1400" b="1">
                          <a:solidFill>
                            <a:srgbClr val="222222"/>
                          </a:solidFill>
                          <a:latin typeface="Calibri"/>
                          <a:ea typeface="Calibri"/>
                          <a:cs typeface="Calibri"/>
                        </a:rPr>
                        <a:t>Knowledge base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400" b="0">
                          <a:solidFill>
                            <a:srgbClr val="222222"/>
                          </a:solidFill>
                          <a:latin typeface="Calibri"/>
                          <a:ea typeface="Calibri"/>
                          <a:cs typeface="Calibri"/>
                        </a:rPr>
                        <a:t>disease_db.py: 38 classes, 26 curated cards, 3 treatments each with cost text, severity, prevention, lifecycle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731520">
                <a:tc>
                  <a:txBody>
                    <a:bodyPr wrap="square"/>
                    <a:lstStyle/>
                    <a:p>
                      <a:pPr algn="l"/>
                      <a:r>
                        <a:rPr sz="140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400" b="0">
                          <a:solidFill>
                            <a:srgbClr val="222222"/>
                          </a:solidFill>
                          <a:latin typeface="Calibri"/>
                          <a:ea typeface="Calibri"/>
                          <a:cs typeface="Calibri"/>
                        </a:rPr>
                        <a:t>SQLite users + results, uploads folder; run.bat one-click start; own scripts: smoke, edge, UI checks, experiments (1,448 lines)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Accuracy of Every Engine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graphicFrame>
        <p:nvGraphicFramePr>
          <p:cNvPr id="7" name="Table 6"/>
          <p:cNvGraphicFramePr>
            <a:graphicFrameLocks noGrp="1"/>
          </p:cNvGraphicFramePr>
          <p:nvPr/>
        </p:nvGraphicFramePr>
        <p:xfrm>
          <a:off x="502920" y="1737360"/>
          <a:ext cx="5989320" cy="2944368"/>
        </p:xfrm>
        <a:graphic>
          <a:graphicData uri="http://schemas.openxmlformats.org/drawingml/2006/table">
            <a:tbl>
              <a:tblPr firstRow="0" bandRow="0">
                <a:tableStyleId>{5C22544A-7EE6-4342-B048-85BDC9FD1C3A}</a:tableStyleId>
              </a:tblPr>
              <a:tblGrid>
                <a:gridCol w="3017520"/>
                <a:gridCol w="1234440"/>
                <a:gridCol w="914400"/>
                <a:gridCol w="822960"/>
              </a:tblGrid>
              <a:tr h="420624">
                <a:tc>
                  <a:txBody>
                    <a:bodyPr wrap="square"/>
                    <a:lstStyle/>
                    <a:p>
                      <a:pPr algn="ctr"/>
                      <a:r>
                        <a:rPr sz="1200" b="1">
                          <a:solidFill>
                            <a:srgbClr val="1F3864"/>
                          </a:solidFill>
                          <a:latin typeface="Calibri"/>
                          <a:ea typeface="Calibri"/>
                          <a:cs typeface="Calibri"/>
                        </a:rPr>
                        <a:t>Engine (236 test photos)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Macro-F1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Top-3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20624">
                <a:tc>
                  <a:txBody>
                    <a:bodyPr wrap="square"/>
                    <a:lstStyle/>
                    <a:p>
                      <a:pPr algn="l"/>
                      <a:r>
                        <a:rPr sz="1200" b="1">
                          <a:solidFill>
                            <a:srgbClr val="222222"/>
                          </a:solidFill>
                          <a:latin typeface="Calibri"/>
                          <a:ea typeface="Calibri"/>
                          <a:cs typeface="Calibri"/>
                        </a:rPr>
                        <a:t>Shipped heuristic, crop chosen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9.1 ± 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0.090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34.9%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20624">
                <a:tc>
                  <a:txBody>
                    <a:bodyPr wrap="square"/>
                    <a:lstStyle/>
                    <a:p>
                      <a:pPr algn="l"/>
                      <a:r>
                        <a:rPr sz="1200" b="1">
                          <a:solidFill>
                            <a:srgbClr val="222222"/>
                          </a:solidFill>
                          <a:latin typeface="Calibri"/>
                          <a:ea typeface="Calibri"/>
                          <a:cs typeface="Calibri"/>
                        </a:rPr>
                        <a:t>Shipped heuristic, crop 'general'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1.3 ± 0.7%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0.014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4.2%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20624">
                <a:tc>
                  <a:txBody>
                    <a:bodyPr wrap="square"/>
                    <a:lstStyle/>
                    <a:p>
                      <a:pPr algn="l"/>
                      <a:r>
                        <a:rPr sz="1200" b="1">
                          <a:solidFill>
                            <a:srgbClr val="222222"/>
                          </a:solidFill>
                          <a:latin typeface="Calibri"/>
                          <a:ea typeface="Calibri"/>
                          <a:cs typeface="Calibri"/>
                        </a:rPr>
                        <a:t>Logistic regression (colour/texture)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13.1 %</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0.120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28.4 %</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20624">
                <a:tc>
                  <a:txBody>
                    <a:bodyPr wrap="square"/>
                    <a:lstStyle/>
                    <a:p>
                      <a:pPr algn="l"/>
                      <a:r>
                        <a:rPr sz="1200" b="1">
                          <a:solidFill>
                            <a:srgbClr val="222222"/>
                          </a:solidFill>
                          <a:latin typeface="Calibri"/>
                          <a:ea typeface="Calibri"/>
                          <a:cs typeface="Calibri"/>
                        </a:rPr>
                        <a:t>Compact CNN of train.py (3 seeds)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12.0 ± 0.5%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0.086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30.9%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20624">
                <a:tc>
                  <a:txBody>
                    <a:bodyPr wrap="square"/>
                    <a:lstStyle/>
                    <a:p>
                      <a:pPr algn="l"/>
                      <a:r>
                        <a:rPr sz="1200" b="1">
                          <a:solidFill>
                            <a:srgbClr val="222222"/>
                          </a:solidFill>
                          <a:latin typeface="Calibri"/>
                          <a:ea typeface="Calibri"/>
                          <a:cs typeface="Calibri"/>
                        </a:rPr>
                        <a:t>Random forest (colour/texture)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21.6 %</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0.199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36.0 %</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20624">
                <a:tc>
                  <a:txBody>
                    <a:bodyPr wrap="square"/>
                    <a:lstStyle/>
                    <a:p>
                      <a:pPr algn="l"/>
                      <a:r>
                        <a:rPr sz="1200" b="1">
                          <a:solidFill>
                            <a:srgbClr val="222222"/>
                          </a:solidFill>
                          <a:latin typeface="Calibri"/>
                          <a:ea typeface="Calibri"/>
                          <a:cs typeface="Calibri"/>
                        </a:rPr>
                        <a:t>MobileNetV2 fine-tuned (3 seeds)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50.3 ± 0.9%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0.490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79.8%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pic>
        <p:nvPicPr>
          <p:cNvPr id="8" name="Picture 7" descr="f01_model_comparison.png"/>
          <p:cNvPicPr>
            <a:picLocks noChangeAspect="1"/>
          </p:cNvPicPr>
          <p:nvPr/>
        </p:nvPicPr>
        <p:blipFill>
          <a:blip r:embed="rId4"/>
          <a:stretch>
            <a:fillRect/>
          </a:stretch>
        </p:blipFill>
        <p:spPr>
          <a:xfrm>
            <a:off x="6873649" y="1691640"/>
            <a:ext cx="4632141" cy="2194560"/>
          </a:xfrm>
          <a:prstGeom prst="rect">
            <a:avLst/>
          </a:prstGeom>
        </p:spPr>
      </p:pic>
      <p:sp>
        <p:nvSpPr>
          <p:cNvPr id="9" name="TextBox 8"/>
          <p:cNvSpPr txBox="1"/>
          <p:nvPr/>
        </p:nvSpPr>
        <p:spPr>
          <a:xfrm>
            <a:off x="502920" y="4846320"/>
            <a:ext cx="11155680" cy="1371600"/>
          </a:xfrm>
          <a:prstGeom prst="rect">
            <a:avLst/>
          </a:prstGeom>
          <a:noFill/>
        </p:spPr>
        <p:txBody>
          <a:bodyPr wrap="square" lIns="0" rIns="0" tIns="0" bIns="0" anchor="t">
            <a:spAutoFit/>
          </a:bodyPr>
          <a:lstStyle/>
          <a:p>
            <a:pPr algn="l" marL="256032" indent="-201168">
              <a:spcAft>
                <a:spcPts val="500"/>
              </a:spcAft>
              <a:buChar char="•"/>
            </a:pPr>
            <a:r>
              <a:rPr sz="1350" b="0" i="0">
                <a:solidFill>
                  <a:srgbClr val="222222"/>
                </a:solidFill>
                <a:latin typeface="Calibri"/>
                <a:ea typeface="Calibri"/>
                <a:cs typeface="Calibri"/>
              </a:rPr>
              <a:t>Chance is 36.0 % with the crop known and 2.6 % on 38 classes; always answering the most frequent class gives 5.1 %.</a:t>
            </a:r>
          </a:p>
          <a:p>
            <a:pPr algn="l" marL="256032" indent="-201168">
              <a:spcAft>
                <a:spcPts val="500"/>
              </a:spcAft>
              <a:buChar char="•"/>
            </a:pPr>
            <a:r>
              <a:rPr sz="1350" b="0" i="0">
                <a:solidFill>
                  <a:srgbClr val="222222"/>
                </a:solidFill>
                <a:latin typeface="Calibri"/>
                <a:ea typeface="Calibri"/>
                <a:cs typeface="Calibri"/>
              </a:rPr>
              <a:t>With hash seed 0 (what run.bat uses) the heuristic scores 10.6 % top-1; 32.2% of photos get no answer (defect D1).</a:t>
            </a:r>
          </a:p>
          <a:p>
            <a:pPr algn="l" marL="256032" indent="-201168">
              <a:spcAft>
                <a:spcPts val="500"/>
              </a:spcAft>
              <a:buChar char="•"/>
            </a:pPr>
            <a:r>
              <a:rPr sz="1350" b="0" i="0">
                <a:solidFill>
                  <a:srgbClr val="222222"/>
                </a:solidFill>
                <a:latin typeface="Calibri"/>
                <a:ea typeface="Calibri"/>
                <a:cs typeface="Calibri"/>
              </a:rPr>
              <a:t>Only the transfer-learning reference is clearly above chance, and it is not part of the shipped app.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Confusion Matrix &amp; Per-class F1</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pic>
        <p:nvPicPr>
          <p:cNvPr id="7" name="Picture 6" descr="f02_confusion_matrix_mobilenet.png"/>
          <p:cNvPicPr>
            <a:picLocks noChangeAspect="1"/>
          </p:cNvPicPr>
          <p:nvPr/>
        </p:nvPicPr>
        <p:blipFill>
          <a:blip r:embed="rId3"/>
          <a:stretch>
            <a:fillRect/>
          </a:stretch>
        </p:blipFill>
        <p:spPr>
          <a:xfrm>
            <a:off x="411480" y="1693025"/>
            <a:ext cx="4480560" cy="4112029"/>
          </a:xfrm>
          <a:prstGeom prst="rect">
            <a:avLst/>
          </a:prstGeom>
        </p:spPr>
      </p:pic>
      <p:pic>
        <p:nvPicPr>
          <p:cNvPr id="8" name="Picture 7" descr="f03_per_class_f1.png"/>
          <p:cNvPicPr>
            <a:picLocks noChangeAspect="1"/>
          </p:cNvPicPr>
          <p:nvPr/>
        </p:nvPicPr>
        <p:blipFill>
          <a:blip r:embed="rId2"/>
          <a:stretch>
            <a:fillRect/>
          </a:stretch>
        </p:blipFill>
        <p:spPr>
          <a:xfrm>
            <a:off x="4937760" y="1933201"/>
            <a:ext cx="4297680" cy="3631676"/>
          </a:xfrm>
          <a:prstGeom prst="rect">
            <a:avLst/>
          </a:prstGeom>
        </p:spPr>
      </p:pic>
      <p:sp>
        <p:nvSpPr>
          <p:cNvPr id="9" name="TextBox 8"/>
          <p:cNvSpPr txBox="1"/>
          <p:nvPr/>
        </p:nvSpPr>
        <p:spPr>
          <a:xfrm>
            <a:off x="9372600" y="1783080"/>
            <a:ext cx="2468880" cy="4206240"/>
          </a:xfrm>
          <a:prstGeom prst="rect">
            <a:avLst/>
          </a:prstGeom>
          <a:noFill/>
        </p:spPr>
        <p:txBody>
          <a:bodyPr wrap="square" lIns="0" rIns="0" tIns="0" bIns="0" anchor="t">
            <a:spAutoFit/>
          </a:bodyPr>
          <a:lstStyle/>
          <a:p>
            <a:pPr algn="l" marL="256032" indent="-201168">
              <a:spcAft>
                <a:spcPts val="600"/>
              </a:spcAft>
              <a:buChar char="•"/>
            </a:pPr>
            <a:r>
              <a:rPr sz="1250" b="0" i="0">
                <a:solidFill>
                  <a:srgbClr val="222222"/>
                </a:solidFill>
                <a:latin typeface="Calibri"/>
                <a:ea typeface="Calibri"/>
                <a:cs typeface="Calibri"/>
              </a:rPr>
              <a:t>MobileNetV2: healthy recall 85.6 ± 2.4%, diseased recall 90.9 ± 1.2%.</a:t>
            </a:r>
          </a:p>
          <a:p>
            <a:pPr algn="l" marL="256032" indent="-201168">
              <a:spcAft>
                <a:spcPts val="600"/>
              </a:spcAft>
              <a:buChar char="•"/>
            </a:pPr>
            <a:r>
              <a:rPr sz="1250" b="0" i="0">
                <a:solidFill>
                  <a:srgbClr val="222222"/>
                </a:solidFill>
                <a:latin typeface="Calibri"/>
                <a:ea typeface="Calibri"/>
                <a:cs typeface="Calibri"/>
              </a:rPr>
              <a:t>Best: Strawberry 1.00, grape black rot 0.93, grape 0.92, corn rust 0.89.</a:t>
            </a:r>
          </a:p>
          <a:p>
            <a:pPr algn="l" marL="256032" indent="-201168">
              <a:spcAft>
                <a:spcPts val="600"/>
              </a:spcAft>
              <a:buChar char="•"/>
            </a:pPr>
            <a:r>
              <a:rPr sz="1250" b="0" i="0">
                <a:solidFill>
                  <a:srgbClr val="222222"/>
                </a:solidFill>
                <a:latin typeface="Calibri"/>
                <a:ea typeface="Calibri"/>
                <a:cs typeface="Calibri"/>
              </a:rPr>
              <a:t>Zero F1: bell pepper leaf spot, tomato bacterial spot, tomato mosaic virus.</a:t>
            </a:r>
          </a:p>
          <a:p>
            <a:pPr algn="l" marL="256032" indent="-201168">
              <a:spcAft>
                <a:spcPts val="600"/>
              </a:spcAft>
              <a:buChar char="•"/>
            </a:pPr>
            <a:r>
              <a:rPr sz="1250" b="0" i="0">
                <a:solidFill>
                  <a:srgbClr val="222222"/>
                </a:solidFill>
                <a:latin typeface="Calibri"/>
                <a:ea typeface="Calibri"/>
                <a:cs typeface="Calibri"/>
              </a:rPr>
              <a:t>Spots on leaves look alike in photos.</a:t>
            </a:r>
          </a:p>
        </p:txBody>
      </p:sp>
      <p:sp>
        <p:nvSpPr>
          <p:cNvPr id="10" name="TextBox 9"/>
          <p:cNvSpPr txBox="1"/>
          <p:nvPr/>
        </p:nvSpPr>
        <p:spPr>
          <a:xfrm>
            <a:off x="411480" y="5852160"/>
            <a:ext cx="8869680" cy="45720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Seed 42, 236 test photos; the compact CNN's F1 is near zero on most classes.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Parameter Analysis: Protocol, Fine-tuning, Crop Choice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graphicFrame>
        <p:nvGraphicFramePr>
          <p:cNvPr id="7" name="Table 6"/>
          <p:cNvGraphicFramePr>
            <a:graphicFrameLocks noGrp="1"/>
          </p:cNvGraphicFramePr>
          <p:nvPr/>
        </p:nvGraphicFramePr>
        <p:xfrm>
          <a:off x="502920" y="1737360"/>
          <a:ext cx="7772400" cy="3200400"/>
        </p:xfrm>
        <a:graphic>
          <a:graphicData uri="http://schemas.openxmlformats.org/drawingml/2006/table">
            <a:tbl>
              <a:tblPr firstRow="0" bandRow="0">
                <a:tableStyleId>{5C22544A-7EE6-4342-B048-85BDC9FD1C3A}</a:tableStyleId>
              </a:tblPr>
              <a:tblGrid>
                <a:gridCol w="4206240"/>
                <a:gridCol w="2377440"/>
                <a:gridCol w="1188720"/>
              </a:tblGrid>
              <a:tr h="457200">
                <a:tc>
                  <a:txBody>
                    <a:bodyPr wrap="square"/>
                    <a:lstStyle/>
                    <a:p>
                      <a:pPr algn="ctr"/>
                      <a:r>
                        <a:rPr sz="1200" b="1">
                          <a:solidFill>
                            <a:srgbClr val="1F3864"/>
                          </a:solidFill>
                          <a:latin typeface="Calibri"/>
                          <a:ea typeface="Calibri"/>
                          <a:cs typeface="Calibri"/>
                        </a:rPr>
                        <a:t>Setting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Macro-F1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57200">
                <a:tc>
                  <a:txBody>
                    <a:bodyPr wrap="square"/>
                    <a:lstStyle/>
                    <a:p>
                      <a:pPr algn="l"/>
                      <a:r>
                        <a:rPr sz="1200" b="0">
                          <a:solidFill>
                            <a:srgbClr val="222222"/>
                          </a:solidFill>
                          <a:latin typeface="Calibri"/>
                          <a:ea typeface="Calibri"/>
                          <a:cs typeface="Calibri"/>
                        </a:rPr>
                        <a:t>Compact CNN, held-out validation (3 seeds)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12.0 ± 0.5%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0.086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200" b="0">
                          <a:solidFill>
                            <a:srgbClr val="222222"/>
                          </a:solidFill>
                          <a:latin typeface="Calibri"/>
                          <a:ea typeface="Calibri"/>
                          <a:cs typeface="Calibri"/>
                        </a:rPr>
                        <a:t>  shipped protocol: test folder as validation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13.6 %</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0.090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200" b="0">
                          <a:solidFill>
                            <a:srgbClr val="222222"/>
                          </a:solidFill>
                          <a:latin typeface="Calibri"/>
                          <a:ea typeface="Calibri"/>
                          <a:cs typeface="Calibri"/>
                        </a:rPr>
                        <a:t>  no LR decay, up to 100 epochs (seed 42)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12.7 %</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0.092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200" b="0">
                          <a:solidFill>
                            <a:srgbClr val="222222"/>
                          </a:solidFill>
                          <a:latin typeface="Calibri"/>
                          <a:ea typeface="Calibri"/>
                          <a:cs typeface="Calibri"/>
                        </a:rPr>
                        <a:t>MobileNetV2, head only (3 seeds)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48.7 ± 1.4%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0.467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200" b="0">
                          <a:solidFill>
                            <a:srgbClr val="222222"/>
                          </a:solidFill>
                          <a:latin typeface="Calibri"/>
                          <a:ea typeface="Calibri"/>
                          <a:cs typeface="Calibri"/>
                        </a:rPr>
                        <a:t>MobileNetV2, + top-30-layer fine-tune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50.3 ± 0.9%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0.490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200" b="0">
                          <a:solidFill>
                            <a:srgbClr val="222222"/>
                          </a:solidFill>
                          <a:latin typeface="Calibri"/>
                          <a:ea typeface="Calibri"/>
                          <a:cs typeface="Calibri"/>
                        </a:rPr>
                        <a:t>Heuristic: crop chosen / 'general'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9.1 ± 1.0% / 1.3 ± 0.7%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0.090 / 0.014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pic>
        <p:nvPicPr>
          <p:cNvPr id="8" name="Picture 7" descr="f04_cnn_training_curves.png"/>
          <p:cNvPicPr>
            <a:picLocks noChangeAspect="1"/>
          </p:cNvPicPr>
          <p:nvPr/>
        </p:nvPicPr>
        <p:blipFill>
          <a:blip r:embed="rId3"/>
          <a:stretch>
            <a:fillRect/>
          </a:stretch>
        </p:blipFill>
        <p:spPr>
          <a:xfrm>
            <a:off x="8412480" y="1819617"/>
            <a:ext cx="3383280" cy="1389964"/>
          </a:xfrm>
          <a:prstGeom prst="rect">
            <a:avLst/>
          </a:prstGeom>
        </p:spPr>
      </p:pic>
      <p:sp>
        <p:nvSpPr>
          <p:cNvPr id="9" name="TextBox 8"/>
          <p:cNvSpPr txBox="1"/>
          <p:nvPr/>
        </p:nvSpPr>
        <p:spPr>
          <a:xfrm>
            <a:off x="502920" y="5120640"/>
            <a:ext cx="11155680" cy="118872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Selecting the checkpoint on the test folder (the shipped script) inflates the CNN by 1.6 points on the seed measured; it did not change the conclusion.</a:t>
            </a:r>
          </a:p>
          <a:p>
            <a:pPr algn="l" marL="256032" indent="-201168">
              <a:spcAft>
                <a:spcPts val="400"/>
              </a:spcAft>
              <a:buChar char="•"/>
            </a:pPr>
            <a:r>
              <a:rPr sz="1300" b="0" i="0">
                <a:solidFill>
                  <a:srgbClr val="222222"/>
                </a:solidFill>
                <a:latin typeface="Calibri"/>
                <a:ea typeface="Calibri"/>
                <a:cs typeface="Calibri"/>
              </a:rPr>
              <a:t>The CNN under-fits (training accuracy 22.2 ± 2.8%), so longer training or no LR decay did not help; transfer learning adds about 38 points.</a:t>
            </a:r>
          </a:p>
          <a:p>
            <a:pPr algn="l" marL="256032" indent="-201168">
              <a:spcAft>
                <a:spcPts val="400"/>
              </a:spcAft>
              <a:buChar char="•"/>
            </a:pPr>
            <a:r>
              <a:rPr sz="1300" b="0" i="0">
                <a:solidFill>
                  <a:srgbClr val="222222"/>
                </a:solidFill>
                <a:latin typeface="Calibri"/>
                <a:ea typeface="Calibri"/>
                <a:cs typeface="Calibri"/>
              </a:rPr>
              <a:t>Fine-tuning adds only 1.6 points over the trained head; choosing the crop helps the heuristic but triggers defect D1.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Testing &amp; Defects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graphicFrame>
        <p:nvGraphicFramePr>
          <p:cNvPr id="7" name="Table 6"/>
          <p:cNvGraphicFramePr>
            <a:graphicFrameLocks noGrp="1"/>
          </p:cNvGraphicFramePr>
          <p:nvPr/>
        </p:nvGraphicFramePr>
        <p:xfrm>
          <a:off x="502920" y="1737360"/>
          <a:ext cx="6675120" cy="3520440"/>
        </p:xfrm>
        <a:graphic>
          <a:graphicData uri="http://schemas.openxmlformats.org/drawingml/2006/table">
            <a:tbl>
              <a:tblPr firstRow="0" bandRow="0">
                <a:tableStyleId>{5C22544A-7EE6-4342-B048-85BDC9FD1C3A}</a:tableStyleId>
              </a:tblPr>
              <a:tblGrid>
                <a:gridCol w="2468880"/>
                <a:gridCol w="4206240"/>
              </a:tblGrid>
              <a:tr h="502920">
                <a:tc>
                  <a:txBody>
                    <a:bodyPr wrap="square"/>
                    <a:lstStyle/>
                    <a:p>
                      <a:pPr algn="ctr"/>
                      <a:r>
                        <a:rPr sz="1200" b="1">
                          <a:solidFill>
                            <a:srgbClr val="1F3864"/>
                          </a:solidFill>
                          <a:latin typeface="Calibri"/>
                          <a:ea typeface="Calibri"/>
                          <a:cs typeface="Calibri"/>
                        </a:rPr>
                        <a:t>Check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02920">
                <a:tc>
                  <a:txBody>
                    <a:bodyPr wrap="square"/>
                    <a:lstStyle/>
                    <a:p>
                      <a:pPr algn="l"/>
                      <a:r>
                        <a:rPr sz="1200" b="1">
                          <a:solidFill>
                            <a:srgbClr val="222222"/>
                          </a:solidFill>
                          <a:latin typeface="Calibri"/>
                          <a:ea typeface="Calibri"/>
                          <a:cs typeface="Calibri"/>
                        </a:rPr>
                        <a:t>API smoke 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39 / 39 pass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200" b="1">
                          <a:solidFill>
                            <a:srgbClr val="222222"/>
                          </a:solidFill>
                          <a:latin typeface="Calibri"/>
                          <a:ea typeface="Calibri"/>
                          <a:cs typeface="Calibri"/>
                        </a:rPr>
                        <a:t>Unit, API edge and security tests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51 checks: 46 pass, 0 fail, 5 defects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200" b="1">
                          <a:solidFill>
                            <a:srgbClr val="222222"/>
                          </a:solidFill>
                          <a:latin typeface="Calibri"/>
                          <a:ea typeface="Calibri"/>
                          <a:cs typeface="Calibri"/>
                        </a:rPr>
                        <a:t>Browser UI checks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55 passed (frontend session; not re-run here)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200" b="1">
                          <a:solidFill>
                            <a:srgbClr val="222222"/>
                          </a:solidFill>
                          <a:latin typeface="Calibri"/>
                          <a:ea typeface="Calibri"/>
                          <a:cs typeface="Calibri"/>
                        </a:rPr>
                        <a:t>Detect, 100 real photos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median 23 ms, p95 82 ms (client, 127.0.0.1)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200" b="1">
                          <a:solidFill>
                            <a:srgbClr val="222222"/>
                          </a:solidFill>
                          <a:latin typeface="Calibri"/>
                          <a:ea typeface="Calibri"/>
                          <a:cs typeface="Calibri"/>
                        </a:rPr>
                        <a:t>Other API calls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median 3-14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200" b="1">
                          <a:solidFill>
                            <a:srgbClr val="222222"/>
                          </a:solidFill>
                          <a:latin typeface="Calibri"/>
                          <a:ea typeface="Calibri"/>
                          <a:cs typeface="Calibri"/>
                        </a:rPr>
                        <a:t>CPU inference per photo</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CNN 70 ms, MobileNetV2 89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8" name="Rounded Rectangle 7"/>
          <p:cNvSpPr/>
          <p:nvPr/>
        </p:nvSpPr>
        <p:spPr>
          <a:xfrm>
            <a:off x="7406640" y="1737360"/>
            <a:ext cx="4297680" cy="443484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589520" y="1828800"/>
            <a:ext cx="3977639" cy="4297680"/>
          </a:xfrm>
          <a:prstGeom prst="rect">
            <a:avLst/>
          </a:prstGeom>
          <a:noFill/>
        </p:spPr>
        <p:txBody>
          <a:bodyPr wrap="square" lIns="0" rIns="0" tIns="0" bIns="0" anchor="t">
            <a:spAutoFit/>
          </a:bodyPr>
          <a:lstStyle/>
          <a:p>
            <a:pPr algn="l">
              <a:spcAft>
                <a:spcPts val="500"/>
              </a:spcAft>
            </a:pPr>
            <a:r>
              <a:rPr sz="1500" b="1" i="0">
                <a:solidFill>
                  <a:srgbClr val="1F3864"/>
                </a:solidFill>
                <a:latin typeface="Calibri"/>
                <a:ea typeface="Calibri"/>
                <a:cs typeface="Calibri"/>
              </a:rPr>
              <a:t>Defects recorded</a:t>
            </a:r>
          </a:p>
          <a:p>
            <a:pPr algn="l">
              <a:spcAft>
                <a:spcPts val="600"/>
              </a:spcAft>
            </a:pPr>
            <a:r>
              <a:rPr sz="1400" b="0" i="0">
                <a:solidFill>
                  <a:srgbClr val="222222"/>
                </a:solidFill>
                <a:latin typeface="Calibri"/>
                <a:ea typeface="Calibri"/>
                <a:cs typeface="Calibri"/>
              </a:rPr>
              <a:t>D1 10 of 19 crop keys crash the engine (HTTP 400)</a:t>
            </a:r>
          </a:p>
          <a:p>
            <a:pPr algn="l">
              <a:spcAft>
                <a:spcPts val="600"/>
              </a:spcAft>
            </a:pPr>
            <a:r>
              <a:rPr sz="1400" b="0" i="0">
                <a:solidFill>
                  <a:srgbClr val="222222"/>
                </a:solidFill>
                <a:latin typeface="Calibri"/>
                <a:ea typeface="Calibri"/>
                <a:cs typeface="Calibri"/>
              </a:rPr>
              <a:t>D2 top-3 scores sum to up to 112 %</a:t>
            </a:r>
          </a:p>
          <a:p>
            <a:pPr algn="l">
              <a:spcAft>
                <a:spcPts val="600"/>
              </a:spcAft>
            </a:pPr>
            <a:r>
              <a:rPr sz="1400" b="0" i="0">
                <a:solidFill>
                  <a:srgbClr val="222222"/>
                </a:solidFill>
                <a:latin typeface="Calibri"/>
                <a:ea typeface="Calibri"/>
                <a:cs typeface="Calibri"/>
              </a:rPr>
              <a:t>D3 default token secret is public</a:t>
            </a:r>
          </a:p>
          <a:p>
            <a:pPr algn="l">
              <a:spcAft>
                <a:spcPts val="600"/>
              </a:spcAft>
            </a:pPr>
            <a:r>
              <a:rPr sz="1400" b="0" i="0">
                <a:solidFill>
                  <a:srgbClr val="222222"/>
                </a:solidFill>
                <a:latin typeface="Calibri"/>
                <a:ea typeface="Calibri"/>
                <a:cs typeface="Calibri"/>
              </a:rPr>
              <a:t>D4 no login rate limit</a:t>
            </a:r>
          </a:p>
          <a:p>
            <a:pPr algn="l">
              <a:spcAft>
                <a:spcPts val="600"/>
              </a:spcAft>
            </a:pPr>
            <a:r>
              <a:rPr sz="1400" b="0" i="0">
                <a:solidFill>
                  <a:srgbClr val="222222"/>
                </a:solidFill>
                <a:latin typeface="Calibri"/>
                <a:ea typeface="Calibri"/>
                <a:cs typeface="Calibri"/>
              </a:rPr>
              <a:t>D5 train.py validates on test, shifts grape labels</a:t>
            </a:r>
          </a:p>
          <a:p>
            <a:pPr algn="l">
              <a:spcAft>
                <a:spcPts val="600"/>
              </a:spcAft>
            </a:pPr>
            <a:r>
              <a:rPr sz="1400" b="0" i="0">
                <a:solidFill>
                  <a:srgbClr val="222222"/>
                </a:solidFill>
                <a:latin typeface="Calibri"/>
                <a:ea typeface="Calibri"/>
                <a:cs typeface="Calibri"/>
              </a:rPr>
              <a:t>D6 docstring says 1.1 M parameters, model has 189,655</a:t>
            </a:r>
          </a:p>
          <a:p>
            <a:pPr algn="l">
              <a:spcAft>
                <a:spcPts val="600"/>
              </a:spcAft>
            </a:pPr>
            <a:r>
              <a:rPr sz="1400" b="0" i="0">
                <a:solidFill>
                  <a:srgbClr val="222222"/>
                </a:solidFill>
                <a:latin typeface="Calibri"/>
                <a:ea typeface="Calibri"/>
                <a:cs typeface="Calibri"/>
              </a:rPr>
              <a:t>D7 reported latency padded by 40 ms</a:t>
            </a:r>
          </a:p>
        </p:txBody>
      </p:sp>
      <p:sp>
        <p:nvSpPr>
          <p:cNvPr id="10" name="TextBox 9"/>
          <p:cNvSpPr txBox="1"/>
          <p:nvPr/>
        </p:nvSpPr>
        <p:spPr>
          <a:xfrm>
            <a:off x="502920" y="5394960"/>
            <a:ext cx="6675120" cy="82296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Not measured: concurrent load, many users, a field trial, a user study. Security checks passed: hashed passwords, forged / expired tokens refused, owner checks, 10 MB limit, path traversal blocked.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 (context only)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7" name="Table 6"/>
          <p:cNvGraphicFramePr>
            <a:graphicFrameLocks noGrp="1"/>
          </p:cNvGraphicFramePr>
          <p:nvPr/>
        </p:nvGraphicFramePr>
        <p:xfrm>
          <a:off x="502920" y="1737360"/>
          <a:ext cx="11155680" cy="3401568"/>
        </p:xfrm>
        <a:graphic>
          <a:graphicData uri="http://schemas.openxmlformats.org/drawingml/2006/table">
            <a:tbl>
              <a:tblPr firstRow="0" bandRow="0">
                <a:tableStyleId>{5C22544A-7EE6-4342-B048-85BDC9FD1C3A}</a:tableStyleId>
              </a:tblPr>
              <a:tblGrid>
                <a:gridCol w="1828800"/>
                <a:gridCol w="2560320"/>
                <a:gridCol w="2377440"/>
                <a:gridCol w="1463040"/>
                <a:gridCol w="1828800"/>
                <a:gridCol w="1097280"/>
              </a:tblGrid>
              <a:tr h="566928">
                <a:tc>
                  <a:txBody>
                    <a:bodyPr wrap="square"/>
                    <a:lstStyle/>
                    <a:p>
                      <a:pPr algn="ctr"/>
                      <a:r>
                        <a:rPr sz="1150" b="1">
                          <a:solidFill>
                            <a:srgbClr val="1F3864"/>
                          </a:solidFill>
                          <a:latin typeface="Calibri"/>
                          <a:ea typeface="Calibri"/>
                          <a:cs typeface="Calibri"/>
                        </a:rPr>
                        <a:t>Work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50" b="1">
                          <a:solidFill>
                            <a:srgbClr val="1F3864"/>
                          </a:solidFill>
                          <a:latin typeface="Calibri"/>
                          <a:ea typeface="Calibri"/>
                          <a:cs typeface="Calibri"/>
                        </a:rPr>
                        <a:t>Task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50" b="1">
                          <a:solidFill>
                            <a:srgbClr val="1F3864"/>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50" b="1">
                          <a:solidFill>
                            <a:srgbClr val="1F3864"/>
                          </a:solidFill>
                          <a:latin typeface="Calibri"/>
                          <a:ea typeface="Calibri"/>
                          <a:cs typeface="Calibri"/>
                        </a:rPr>
                        <a:t>Hardware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50" b="1">
                          <a:solidFill>
                            <a:srgbClr val="1F3864"/>
                          </a:solidFill>
                          <a:latin typeface="Calibri"/>
                          <a:ea typeface="Calibri"/>
                          <a:cs typeface="Calibri"/>
                        </a:rPr>
                        <a:t>Reported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50" b="1">
                          <a:solidFill>
                            <a:srgbClr val="1F3864"/>
                          </a:solidFill>
                          <a:latin typeface="Calibri"/>
                          <a:ea typeface="Calibri"/>
                          <a:cs typeface="Calibri"/>
                        </a:rPr>
                        <a:t>Comparable?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150" b="1">
                          <a:solidFill>
                            <a:srgbClr val="222222"/>
                          </a:solidFill>
                          <a:latin typeface="Calibri"/>
                          <a:ea typeface="Calibri"/>
                          <a:cs typeface="Calibri"/>
                        </a:rPr>
                        <a:t>Foliagen [1] (base)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Generate foliage images; train classifiers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Soybean, tomato; generated + UAV set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2 x RTX 6000 Ada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Up to 98 % (5 % real added)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No</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150" b="1">
                          <a:solidFill>
                            <a:srgbClr val="222222"/>
                          </a:solidFill>
                          <a:latin typeface="Calibri"/>
                          <a:ea typeface="Calibri"/>
                          <a:cs typeface="Calibri"/>
                        </a:rPr>
                        <a:t>PD36-C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38-class CNN, 1.25 M parameters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87 k lab-style images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Not stated here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99.53 % 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No</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150" b="1">
                          <a:solidFill>
                            <a:srgbClr val="222222"/>
                          </a:solidFill>
                          <a:latin typeface="Calibri"/>
                          <a:ea typeface="Calibri"/>
                          <a:cs typeface="Calibri"/>
                        </a:rPr>
                        <a:t>Kanakala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CNN / LSTM, 38 classes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70,295 / 17,572 lab-style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Not stated here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CNN 96.4 % val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No</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150" b="1">
                          <a:solidFill>
                            <a:srgbClr val="222222"/>
                          </a:solidFill>
                          <a:latin typeface="Calibri"/>
                          <a:ea typeface="Calibri"/>
                          <a:cs typeface="Calibri"/>
                        </a:rPr>
                        <a:t>PlantDoc paper [4]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VGG16, Inception on field photos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2,598 photos, 27 classes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V100 GPU</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44.5-70.5 % cropped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50" b="0">
                          <a:solidFill>
                            <a:srgbClr val="222222"/>
                          </a:solidFill>
                          <a:latin typeface="Calibri"/>
                          <a:ea typeface="Calibri"/>
                          <a:cs typeface="Calibri"/>
                        </a:rPr>
                        <a:t>Closest 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150" b="1">
                          <a:solidFill>
                            <a:srgbClr val="222222"/>
                          </a:solidFill>
                          <a:latin typeface="Calibri"/>
                          <a:ea typeface="Calibri"/>
                          <a:cs typeface="Calibri"/>
                        </a:rPr>
                        <a:t>This project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Diagnosis + advice web app; measured engines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PlantDoc, 2,342 / 236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CPU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50.3 ± 0.9% (MobileNetV2); app 9.1 ± 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50" b="0">
                          <a:solidFill>
                            <a:srgbClr val="222222"/>
                          </a:solidFill>
                          <a:latin typeface="Calibri"/>
                          <a:ea typeface="Calibri"/>
                          <a:cs typeface="Calibri"/>
                        </a:rPr>
                        <a: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8" name="TextBox 7"/>
          <p:cNvSpPr txBox="1"/>
          <p:nvPr/>
        </p:nvSpPr>
        <p:spPr>
          <a:xfrm>
            <a:off x="502920" y="5440680"/>
            <a:ext cx="11155680" cy="822960"/>
          </a:xfrm>
          <a:prstGeom prst="rect">
            <a:avLst/>
          </a:prstGeom>
          <a:noFill/>
        </p:spPr>
        <p:txBody>
          <a:bodyPr wrap="square" lIns="0" rIns="0" tIns="0" bIns="0" anchor="t">
            <a:spAutoFit/>
          </a:bodyPr>
          <a:lstStyle/>
          <a:p>
            <a:pPr algn="l">
              <a:spcAft>
                <a:spcPts val="400"/>
              </a:spcAft>
            </a:pPr>
            <a:r>
              <a:rPr sz="1250" b="0" i="1">
                <a:solidFill>
                  <a:srgbClr val="1F3864"/>
                </a:solidFill>
                <a:latin typeface="Calibri"/>
                <a:ea typeface="Calibri"/>
                <a:cs typeface="Calibri"/>
              </a:rPr>
              <a:t>Numbers are not comparable: the base paper generates training data for foliage classification, the lab-style sets are far easier than field photos, and hardware differs. The honest reading is that on real field photographs the achievable accuracy without cropping or more data is about 50 %, in line with the PlantDoc authors' own results.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Detect and a Correct Diagnosis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pic>
        <p:nvPicPr>
          <p:cNvPr id="7" name="Picture 6" descr="07_detect_ready.png"/>
          <p:cNvPicPr>
            <a:picLocks noChangeAspect="1"/>
          </p:cNvPicPr>
          <p:nvPr/>
        </p:nvPicPr>
        <p:blipFill>
          <a:blip r:embed="rId3"/>
          <a:stretch>
            <a:fillRect/>
          </a:stretch>
        </p:blipFill>
        <p:spPr>
          <a:xfrm>
            <a:off x="502920" y="1691640"/>
            <a:ext cx="5486400" cy="3429000"/>
          </a:xfrm>
          <a:prstGeom prst="rect">
            <a:avLst/>
          </a:prstGeom>
          <a:ln w="9525">
            <a:solidFill>
              <a:srgbClr val="D5DCE6"/>
            </a:solidFill>
          </a:ln>
        </p:spPr>
      </p:pic>
      <p:pic>
        <p:nvPicPr>
          <p:cNvPr id="8" name="Picture 7" descr="15_result_correct.png"/>
          <p:cNvPicPr>
            <a:picLocks noChangeAspect="1"/>
          </p:cNvPicPr>
          <p:nvPr/>
        </p:nvPicPr>
        <p:blipFill>
          <a:blip r:embed="rId2"/>
          <a:stretch>
            <a:fillRect/>
          </a:stretch>
        </p:blipFill>
        <p:spPr>
          <a:xfrm>
            <a:off x="6217920" y="1691640"/>
            <a:ext cx="5486400" cy="3429000"/>
          </a:xfrm>
          <a:prstGeom prst="rect">
            <a:avLst/>
          </a:prstGeom>
          <a:ln w="9525">
            <a:solidFill>
              <a:srgbClr val="D5DCE6"/>
            </a:solidFill>
          </a:ln>
        </p:spPr>
      </p:pic>
      <p:sp>
        <p:nvSpPr>
          <p:cNvPr id="9" name="TextBox 8"/>
          <p:cNvSpPr txBox="1"/>
          <p:nvPr/>
        </p:nvSpPr>
        <p:spPr>
          <a:xfrm>
            <a:off x="502920" y="5257800"/>
            <a:ext cx="5486400" cy="1005840"/>
          </a:xfrm>
          <a:prstGeom prst="rect">
            <a:avLst/>
          </a:prstGeom>
          <a:noFill/>
        </p:spPr>
        <p:txBody>
          <a:bodyPr wrap="square" lIns="0" rIns="0" tIns="0" bIns="0" anchor="t">
            <a:spAutoFit/>
          </a:bodyPr>
          <a:lstStyle/>
          <a:p>
            <a:pPr algn="l">
              <a:spcAft>
                <a:spcPts val="400"/>
              </a:spcAft>
            </a:pPr>
            <a:r>
              <a:rPr sz="1250" b="0" i="0">
                <a:solidFill>
                  <a:srgbClr val="1F3864"/>
                </a:solidFill>
                <a:latin typeface="Calibri"/>
                <a:ea typeface="Calibri"/>
                <a:cs typeface="Calibri"/>
              </a:rPr>
              <a:t>Detect: a tomato late-blight photo from the PlantDoc test set is chosen with crop = Tomato; the 10 MB limit and the accepted formats are stated on the drop zone.</a:t>
            </a:r>
          </a:p>
        </p:txBody>
      </p:sp>
      <p:sp>
        <p:nvSpPr>
          <p:cNvPr id="10" name="TextBox 9"/>
          <p:cNvSpPr txBox="1"/>
          <p:nvPr/>
        </p:nvSpPr>
        <p:spPr>
          <a:xfrm>
            <a:off x="6217920" y="5257800"/>
            <a:ext cx="5486400" cy="1005840"/>
          </a:xfrm>
          <a:prstGeom prst="rect">
            <a:avLst/>
          </a:prstGeom>
          <a:noFill/>
        </p:spPr>
        <p:txBody>
          <a:bodyPr wrap="square" lIns="0" rIns="0" tIns="0" bIns="0" anchor="t">
            <a:spAutoFit/>
          </a:bodyPr>
          <a:lstStyle/>
          <a:p>
            <a:pPr algn="l">
              <a:spcAft>
                <a:spcPts val="400"/>
              </a:spcAft>
            </a:pPr>
            <a:r>
              <a:rPr sz="1250" b="0" i="0">
                <a:solidFill>
                  <a:srgbClr val="1F3864"/>
                </a:solidFill>
                <a:latin typeface="Calibri"/>
                <a:ea typeface="Calibri"/>
                <a:cs typeface="Calibri"/>
              </a:rPr>
              <a:t>Result: Potato early blight (high severity, urgent), top-3 list, treatments. Correct here; the score 97.2 % is a heuristic score, not a probability, as the amber note says.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Failure Cases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pic>
        <p:nvPicPr>
          <p:cNvPr id="7" name="Picture 6" descr="08_result.png"/>
          <p:cNvPicPr>
            <a:picLocks noChangeAspect="1"/>
          </p:cNvPicPr>
          <p:nvPr/>
        </p:nvPicPr>
        <p:blipFill>
          <a:blip r:embed="rId3"/>
          <a:stretch>
            <a:fillRect/>
          </a:stretch>
        </p:blipFill>
        <p:spPr>
          <a:xfrm>
            <a:off x="502920" y="1691640"/>
            <a:ext cx="5486400" cy="3429000"/>
          </a:xfrm>
          <a:prstGeom prst="rect">
            <a:avLst/>
          </a:prstGeom>
          <a:ln w="9525">
            <a:solidFill>
              <a:srgbClr val="D5DCE6"/>
            </a:solidFill>
          </a:ln>
        </p:spPr>
      </p:pic>
      <p:pic>
        <p:nvPicPr>
          <p:cNvPr id="8" name="Picture 7" descr="16_error_blueberry.png"/>
          <p:cNvPicPr>
            <a:picLocks noChangeAspect="1"/>
          </p:cNvPicPr>
          <p:nvPr/>
        </p:nvPicPr>
        <p:blipFill>
          <a:blip r:embed="rId2"/>
          <a:stretch>
            <a:fillRect/>
          </a:stretch>
        </p:blipFill>
        <p:spPr>
          <a:xfrm>
            <a:off x="6217920" y="1691640"/>
            <a:ext cx="5486400" cy="3429000"/>
          </a:xfrm>
          <a:prstGeom prst="rect">
            <a:avLst/>
          </a:prstGeom>
          <a:ln w="9525">
            <a:solidFill>
              <a:srgbClr val="D5DCE6"/>
            </a:solidFill>
          </a:ln>
        </p:spPr>
      </p:pic>
      <p:sp>
        <p:nvSpPr>
          <p:cNvPr id="9" name="TextBox 8"/>
          <p:cNvSpPr txBox="1"/>
          <p:nvPr/>
        </p:nvSpPr>
        <p:spPr>
          <a:xfrm>
            <a:off x="502920" y="5257800"/>
            <a:ext cx="5486400" cy="1005840"/>
          </a:xfrm>
          <a:prstGeom prst="rect">
            <a:avLst/>
          </a:prstGeom>
          <a:noFill/>
        </p:spPr>
        <p:txBody>
          <a:bodyPr wrap="square" lIns="0" rIns="0" tIns="0" bIns="0" anchor="t">
            <a:spAutoFit/>
          </a:bodyPr>
          <a:lstStyle/>
          <a:p>
            <a:pPr algn="l">
              <a:spcAft>
                <a:spcPts val="400"/>
              </a:spcAft>
            </a:pPr>
            <a:r>
              <a:rPr sz="1250" b="0" i="0">
                <a:solidFill>
                  <a:srgbClr val="1F3864"/>
                </a:solidFill>
                <a:latin typeface="Calibri"/>
                <a:ea typeface="Calibri"/>
                <a:cs typeface="Calibri"/>
              </a:rPr>
              <a:t>A tomato leaf with a large brown lesion is called Tomato healthy, 97.2 %. Five of the demo scans are lesioned leaves called healthy.</a:t>
            </a:r>
          </a:p>
        </p:txBody>
      </p:sp>
      <p:sp>
        <p:nvSpPr>
          <p:cNvPr id="10" name="TextBox 9"/>
          <p:cNvSpPr txBox="1"/>
          <p:nvPr/>
        </p:nvSpPr>
        <p:spPr>
          <a:xfrm>
            <a:off x="6217920" y="5257800"/>
            <a:ext cx="5486400" cy="1005840"/>
          </a:xfrm>
          <a:prstGeom prst="rect">
            <a:avLst/>
          </a:prstGeom>
          <a:noFill/>
        </p:spPr>
        <p:txBody>
          <a:bodyPr wrap="square" lIns="0" rIns="0" tIns="0" bIns="0" anchor="t">
            <a:spAutoFit/>
          </a:bodyPr>
          <a:lstStyle/>
          <a:p>
            <a:pPr algn="l">
              <a:spcAft>
                <a:spcPts val="400"/>
              </a:spcAft>
            </a:pPr>
            <a:r>
              <a:rPr sz="1250" b="0" i="0">
                <a:solidFill>
                  <a:srgbClr val="1F3864"/>
                </a:solidFill>
                <a:latin typeface="Calibri"/>
                <a:ea typeface="Calibri"/>
                <a:cs typeface="Calibri"/>
              </a:rPr>
              <a:t>Crop = Blueberry on a valid photo: 'The diagnosis failed. That file could not be read as an image' (defect D1, API status 400).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Dashboard and Languages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pic>
        <p:nvPicPr>
          <p:cNvPr id="7" name="Picture 6" descr="09_dashboard.png"/>
          <p:cNvPicPr>
            <a:picLocks noChangeAspect="1"/>
          </p:cNvPicPr>
          <p:nvPr/>
        </p:nvPicPr>
        <p:blipFill>
          <a:blip r:embed="rId3"/>
          <a:stretch>
            <a:fillRect/>
          </a:stretch>
        </p:blipFill>
        <p:spPr>
          <a:xfrm>
            <a:off x="502920" y="1691640"/>
            <a:ext cx="5486400" cy="3429000"/>
          </a:xfrm>
          <a:prstGeom prst="rect">
            <a:avLst/>
          </a:prstGeom>
          <a:ln w="9525">
            <a:solidFill>
              <a:srgbClr val="D5DCE6"/>
            </a:solidFill>
          </a:ln>
        </p:spPr>
      </p:pic>
      <p:pic>
        <p:nvPicPr>
          <p:cNvPr id="8" name="Picture 7" descr="17_dashboard_hindi.png"/>
          <p:cNvPicPr>
            <a:picLocks noChangeAspect="1"/>
          </p:cNvPicPr>
          <p:nvPr/>
        </p:nvPicPr>
        <p:blipFill>
          <a:blip r:embed="rId2"/>
          <a:stretch>
            <a:fillRect/>
          </a:stretch>
        </p:blipFill>
        <p:spPr>
          <a:xfrm>
            <a:off x="6217920" y="1691640"/>
            <a:ext cx="5486400" cy="3429000"/>
          </a:xfrm>
          <a:prstGeom prst="rect">
            <a:avLst/>
          </a:prstGeom>
          <a:ln w="9525">
            <a:solidFill>
              <a:srgbClr val="D5DCE6"/>
            </a:solidFill>
          </a:ln>
        </p:spPr>
      </p:pic>
      <p:sp>
        <p:nvSpPr>
          <p:cNvPr id="9" name="TextBox 8"/>
          <p:cNvSpPr txBox="1"/>
          <p:nvPr/>
        </p:nvSpPr>
        <p:spPr>
          <a:xfrm>
            <a:off x="502920" y="5257800"/>
            <a:ext cx="5486400" cy="1005840"/>
          </a:xfrm>
          <a:prstGeom prst="rect">
            <a:avLst/>
          </a:prstGeom>
          <a:noFill/>
        </p:spPr>
        <p:txBody>
          <a:bodyPr wrap="square" lIns="0" rIns="0" tIns="0" bIns="0" anchor="t">
            <a:spAutoFit/>
          </a:bodyPr>
          <a:lstStyle/>
          <a:p>
            <a:pPr algn="l">
              <a:spcAft>
                <a:spcPts val="400"/>
              </a:spcAft>
            </a:pPr>
            <a:r>
              <a:rPr sz="1250" b="0" i="0">
                <a:solidFill>
                  <a:srgbClr val="1F3864"/>
                </a:solidFill>
                <a:latin typeface="Calibri"/>
                <a:ea typeface="Calibri"/>
                <a:cs typeface="Calibri"/>
              </a:rPr>
              <a:t>Dashboard with real scans: totals, healthy count, high-severity count, disease rate, quick actions and recent detections.</a:t>
            </a:r>
          </a:p>
        </p:txBody>
      </p:sp>
      <p:sp>
        <p:nvSpPr>
          <p:cNvPr id="10" name="TextBox 9"/>
          <p:cNvSpPr txBox="1"/>
          <p:nvPr/>
        </p:nvSpPr>
        <p:spPr>
          <a:xfrm>
            <a:off x="6217920" y="5257800"/>
            <a:ext cx="5486400" cy="1005840"/>
          </a:xfrm>
          <a:prstGeom prst="rect">
            <a:avLst/>
          </a:prstGeom>
          <a:noFill/>
        </p:spPr>
        <p:txBody>
          <a:bodyPr wrap="square" lIns="0" rIns="0" tIns="0" bIns="0" anchor="t">
            <a:spAutoFit/>
          </a:bodyPr>
          <a:lstStyle/>
          <a:p>
            <a:pPr algn="l">
              <a:spcAft>
                <a:spcPts val="400"/>
              </a:spcAft>
            </a:pPr>
            <a:r>
              <a:rPr sz="1250" b="0" i="0">
                <a:solidFill>
                  <a:srgbClr val="1F3864"/>
                </a:solidFill>
                <a:latin typeface="Calibri"/>
                <a:ea typeface="Calibri"/>
                <a:cs typeface="Calibri"/>
              </a:rPr>
              <a:t>Hindi interface: menus, headings and statistics are translated; sentences and the disease text stay in English (partial multilingual support).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marL="256032" indent="-201168">
              <a:spcAft>
                <a:spcPts val="1200"/>
              </a:spcAft>
              <a:buChar char="•"/>
            </a:pPr>
            <a:r>
              <a:rPr sz="1900" b="1" i="0">
                <a:solidFill>
                  <a:srgbClr val="222222"/>
                </a:solidFill>
                <a:latin typeface="Calibri"/>
                <a:ea typeface="Calibri"/>
                <a:cs typeface="Calibri"/>
              </a:rPr>
              <a:t>Delivered:</a:t>
            </a:r>
            <a:r>
              <a:rPr sz="1900" b="0" i="0">
                <a:solidFill>
                  <a:srgbClr val="222222"/>
                </a:solidFill>
                <a:latin typeface="Calibri"/>
                <a:ea typeface="Calibri"/>
                <a:cs typeface="Calibri"/>
              </a:rPr>
              <a:t> a working web application: sign-in, leaf upload, top-3 diagnosis with severity, three treatment types and prevention for 38 classes, history, CSV / PDF export, dashboard, analytics and a three-language interface; FastAPI layer over the original Flask product.</a:t>
            </a:r>
          </a:p>
          <a:p>
            <a:pPr algn="l" marL="256032" indent="-201168">
              <a:spcAft>
                <a:spcPts val="1200"/>
              </a:spcAft>
              <a:buChar char="•"/>
            </a:pPr>
            <a:r>
              <a:rPr sz="1900" b="1" i="0">
                <a:solidFill>
                  <a:srgbClr val="222222"/>
                </a:solidFill>
                <a:latin typeface="Calibri"/>
                <a:ea typeface="Calibri"/>
                <a:cs typeface="Calibri"/>
              </a:rPr>
              <a:t>Measured:</a:t>
            </a:r>
            <a:r>
              <a:rPr sz="1900" b="0" i="0">
                <a:solidFill>
                  <a:srgbClr val="222222"/>
                </a:solidFill>
                <a:latin typeface="Calibri"/>
                <a:ea typeface="Calibri"/>
                <a:cs typeface="Calibri"/>
              </a:rPr>
              <a:t> the shipped heuristic reaches 9.1 ± 1.0% on PlantDoc test photos and fails on 32.2%; the shipped CNN recipe 12.0 ± 0.5%; MobileNetV2 50.3 ± 0.9%. 39 + 46 checks pass; 5 defects found.</a:t>
            </a:r>
          </a:p>
          <a:p>
            <a:pPr algn="l" marL="256032" indent="-201168">
              <a:spcAft>
                <a:spcPts val="1200"/>
              </a:spcAft>
              <a:buChar char="•"/>
            </a:pPr>
            <a:r>
              <a:rPr sz="1900" b="1" i="0">
                <a:solidFill>
                  <a:srgbClr val="222222"/>
                </a:solidFill>
                <a:latin typeface="Calibri"/>
                <a:ea typeface="Calibri"/>
                <a:cs typeface="Calibri"/>
              </a:rPr>
              <a:t>Objectives:</a:t>
            </a:r>
            <a:r>
              <a:rPr sz="1900" b="0" i="0">
                <a:solidFill>
                  <a:srgbClr val="222222"/>
                </a:solidFill>
                <a:latin typeface="Calibri"/>
                <a:ea typeface="Calibri"/>
                <a:cs typeface="Calibri"/>
              </a:rPr>
              <a:t> 1 met, 2 partly, 3 trained but not accurate and not shipped, 4 treatment mapping met (no fertiliser dose), 5 met for the web interface and partly for language, 6 per-class accuracy measured, advice not validated.</a:t>
            </a:r>
          </a:p>
          <a:p>
            <a:pPr algn="l" marL="256032" indent="-201168">
              <a:spcAft>
                <a:spcPts val="1200"/>
              </a:spcAft>
              <a:buChar char="•"/>
            </a:pPr>
            <a:r>
              <a:rPr sz="1900" b="1" i="0">
                <a:solidFill>
                  <a:srgbClr val="222222"/>
                </a:solidFill>
                <a:latin typeface="Calibri"/>
                <a:ea typeface="Calibri"/>
                <a:cs typeface="Calibri"/>
              </a:rPr>
              <a:t>Limits:</a:t>
            </a:r>
            <a:r>
              <a:rPr sz="1900" b="0" i="0">
                <a:solidFill>
                  <a:srgbClr val="222222"/>
                </a:solidFill>
                <a:latin typeface="Calibri"/>
                <a:ea typeface="Calibri"/>
                <a:cs typeface="Calibri"/>
              </a:rPr>
              <a:t> PlantDoc only, one small dataset, no field trial; advice not checked by an agronomist; not a substitute for an expert.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marL="256032" indent="-201168">
              <a:spcAft>
                <a:spcPts val="1400"/>
              </a:spcAft>
              <a:buChar char="•"/>
            </a:pPr>
            <a:r>
              <a:rPr sz="1900" b="0" i="0">
                <a:solidFill>
                  <a:srgbClr val="222222"/>
                </a:solidFill>
                <a:latin typeface="Calibri"/>
                <a:ea typeface="Calibri"/>
                <a:cs typeface="Calibri"/>
              </a:rPr>
              <a:t>Install a transfer-learning model (MobileNetV2 class, about 50 % here) in models/ and show its probabilities honestly; add Grad-CAM to show what the model looked at.</a:t>
            </a:r>
          </a:p>
          <a:p>
            <a:pPr algn="l" marL="256032" indent="-201168">
              <a:spcAft>
                <a:spcPts val="1400"/>
              </a:spcAft>
              <a:buChar char="•"/>
            </a:pPr>
            <a:r>
              <a:rPr sz="1900" b="0" i="0">
                <a:solidFill>
                  <a:srgbClr val="222222"/>
                </a:solidFill>
                <a:latin typeface="Calibri"/>
                <a:ea typeface="Calibri"/>
                <a:cs typeface="Calibri"/>
              </a:rPr>
              <a:t>Fix D1 to D7: fewer than three candidates, score normalisation, secret from the environment, login throttling, train.py labels and validation.</a:t>
            </a:r>
          </a:p>
          <a:p>
            <a:pPr algn="l" marL="256032" indent="-201168">
              <a:spcAft>
                <a:spcPts val="1400"/>
              </a:spcAft>
              <a:buChar char="•"/>
            </a:pPr>
            <a:r>
              <a:rPr sz="1900" b="0" i="0">
                <a:solidFill>
                  <a:srgbClr val="222222"/>
                </a:solidFill>
                <a:latin typeface="Calibri"/>
                <a:ea typeface="Calibri"/>
                <a:cs typeface="Calibri"/>
              </a:rPr>
              <a:t>More and better data: own field photographs, cropped leaves, more images for rare classes, Foliagen-style generated foliage for augmentation.</a:t>
            </a:r>
          </a:p>
          <a:p>
            <a:pPr algn="l" marL="256032" indent="-201168">
              <a:spcAft>
                <a:spcPts val="1400"/>
              </a:spcAft>
              <a:buChar char="•"/>
            </a:pPr>
            <a:r>
              <a:rPr sz="1900" b="0" i="0">
                <a:solidFill>
                  <a:srgbClr val="222222"/>
                </a:solidFill>
                <a:latin typeface="Calibri"/>
                <a:ea typeface="Calibri"/>
                <a:cs typeface="Calibri"/>
              </a:rPr>
              <a:t>Add the proposed fertiliser, yield and weather modules; translate the disease and treatment text into Hindi and Marathi.</a:t>
            </a:r>
          </a:p>
          <a:p>
            <a:pPr algn="l" marL="256032" indent="-201168">
              <a:spcAft>
                <a:spcPts val="1400"/>
              </a:spcAft>
              <a:buChar char="•"/>
            </a:pPr>
            <a:r>
              <a:rPr sz="1900" b="0" i="0">
                <a:solidFill>
                  <a:srgbClr val="222222"/>
                </a:solidFill>
                <a:latin typeface="Calibri"/>
                <a:ea typeface="Calibri"/>
                <a:cs typeface="Calibri"/>
              </a:rPr>
              <a:t>Agronomist review of every treatment and dose; a pilot with farmers; offline use on a phone.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Box 6"/>
          <p:cNvSpPr txBox="1"/>
          <p:nvPr/>
        </p:nvSpPr>
        <p:spPr>
          <a:xfrm>
            <a:off x="502920" y="1691640"/>
            <a:ext cx="5486400" cy="4572000"/>
          </a:xfrm>
          <a:prstGeom prst="rect">
            <a:avLst/>
          </a:prstGeom>
          <a:noFill/>
        </p:spPr>
        <p:txBody>
          <a:bodyPr wrap="square" lIns="0" rIns="0" tIns="0" bIns="0" anchor="t">
            <a:spAutoFit/>
          </a:bodyPr>
          <a:lstStyle/>
          <a:p>
            <a:pPr algn="l">
              <a:spcAft>
                <a:spcPts val="300"/>
              </a:spcAft>
            </a:pPr>
            <a:r>
              <a:rPr sz="1200" b="0" i="0">
                <a:solidFill>
                  <a:srgbClr val="222222"/>
                </a:solidFill>
                <a:latin typeface="Calibri"/>
                <a:ea typeface="Calibri"/>
                <a:cs typeface="Calibri"/>
              </a:rPr>
              <a:t>[1] N. Pakka, T. Wilkerson, L. Chen and N.-F. Tzeng, "Foliagen: Framework for crop foliage image generation from individual leaf images," IEEE Access, 2026, doi: 10.1109/ACCESS.2026.3727421.</a:t>
            </a:r>
          </a:p>
          <a:p>
            <a:pPr algn="l">
              <a:spcAft>
                <a:spcPts val="300"/>
              </a:spcAft>
            </a:pPr>
            <a:r>
              <a:rPr sz="1200" b="0" i="0">
                <a:solidFill>
                  <a:srgbClr val="222222"/>
                </a:solidFill>
                <a:latin typeface="Calibri"/>
                <a:ea typeface="Calibri"/>
                <a:cs typeface="Calibri"/>
              </a:rPr>
              <a:t>[2] S. Sherifi, E. Rustemi, S. Ismaili, E. Rufati and F. Idrizi, "A compact and efficient 1.251 million parameter machine learning CNN model PD36-C for plant disease detection: A case study," arXiv:2604.11332, Apr. 2026.</a:t>
            </a:r>
          </a:p>
          <a:p>
            <a:pPr algn="l">
              <a:spcAft>
                <a:spcPts val="300"/>
              </a:spcAft>
            </a:pPr>
            <a:r>
              <a:rPr sz="1200" b="0" i="0">
                <a:solidFill>
                  <a:srgbClr val="222222"/>
                </a:solidFill>
                <a:latin typeface="Calibri"/>
                <a:ea typeface="Calibri"/>
                <a:cs typeface="Calibri"/>
              </a:rPr>
              <a:t>[3] S. Kanakala and S. Ningappa, "Detection and classification of diseases in multi-crop leaves using LSTM and CNN models," J. Innovative Image Processing, vol. 7, no. 1, pp. 161-181, Mar. 2025, doi: 10.36548/jiip.2025.1.008.</a:t>
            </a:r>
          </a:p>
          <a:p>
            <a:pPr algn="l">
              <a:spcAft>
                <a:spcPts val="300"/>
              </a:spcAft>
            </a:pPr>
            <a:r>
              <a:rPr sz="1200" b="0" i="0">
                <a:solidFill>
                  <a:srgbClr val="222222"/>
                </a:solidFill>
                <a:latin typeface="Calibri"/>
                <a:ea typeface="Calibri"/>
                <a:cs typeface="Calibri"/>
              </a:rPr>
              <a:t>[4] D. Singh, N. Jain, P. Jain, P. Kayal, S. Kumawat and N. Batra, "PlantDoc: A dataset for visual plant disease detection," in Proc. 7th ACM IKDD CoDS and 25th COMAD, Hyderabad, India, 2020, pp. 249-253; arXiv:1911.10317.</a:t>
            </a:r>
          </a:p>
          <a:p>
            <a:pPr algn="l">
              <a:spcAft>
                <a:spcPts val="300"/>
              </a:spcAft>
            </a:pPr>
            <a:r>
              <a:rPr sz="1200" b="0" i="0">
                <a:solidFill>
                  <a:srgbClr val="222222"/>
                </a:solidFill>
                <a:latin typeface="Calibri"/>
                <a:ea typeface="Calibri"/>
                <a:cs typeface="Calibri"/>
              </a:rPr>
              <a:t>[5] D. P. Hughes and M. Salathe, "An open access repository of images on plant health to enable the development of mobile disease diagnostics," arXiv:1511.08060, 2015.</a:t>
            </a:r>
          </a:p>
          <a:p>
            <a:pPr algn="l">
              <a:spcAft>
                <a:spcPts val="300"/>
              </a:spcAft>
            </a:pPr>
            <a:r>
              <a:rPr sz="1200" b="0" i="0">
                <a:solidFill>
                  <a:srgbClr val="222222"/>
                </a:solidFill>
                <a:latin typeface="Calibri"/>
                <a:ea typeface="Calibri"/>
                <a:cs typeface="Calibri"/>
              </a:rPr>
              <a:t>[6] S. P. Mohanty, D. P. Hughes and M. Salathe, "Using deep learning for image-based plant disease detection," Frontiers in Plant Science, vol. 7, Art. no. 1419, 2016.</a:t>
            </a:r>
          </a:p>
          <a:p>
            <a:pPr algn="l">
              <a:spcAft>
                <a:spcPts val="300"/>
              </a:spcAft>
            </a:pPr>
            <a:r>
              <a:rPr sz="1200" b="0" i="0">
                <a:solidFill>
                  <a:srgbClr val="222222"/>
                </a:solidFill>
                <a:latin typeface="Calibri"/>
                <a:ea typeface="Calibri"/>
                <a:cs typeface="Calibri"/>
              </a:rPr>
              <a:t>[7] K. P. Ferentinos, "Deep learning models for plant disease detection and diagnosis," Computers and Electronics in Agriculture, vol. 145, pp. 311-318, 2018.</a:t>
            </a:r>
          </a:p>
        </p:txBody>
      </p:sp>
      <p:sp>
        <p:nvSpPr>
          <p:cNvPr id="8" name="TextBox 7"/>
          <p:cNvSpPr txBox="1"/>
          <p:nvPr/>
        </p:nvSpPr>
        <p:spPr>
          <a:xfrm>
            <a:off x="6217920" y="1691640"/>
            <a:ext cx="5486400" cy="4572000"/>
          </a:xfrm>
          <a:prstGeom prst="rect">
            <a:avLst/>
          </a:prstGeom>
          <a:noFill/>
        </p:spPr>
        <p:txBody>
          <a:bodyPr wrap="square" lIns="0" rIns="0" tIns="0" bIns="0" anchor="t">
            <a:spAutoFit/>
          </a:bodyPr>
          <a:lstStyle/>
          <a:p>
            <a:pPr algn="l">
              <a:spcAft>
                <a:spcPts val="300"/>
              </a:spcAft>
            </a:pPr>
            <a:r>
              <a:rPr sz="1200" b="0" i="0">
                <a:solidFill>
                  <a:srgbClr val="222222"/>
                </a:solidFill>
                <a:latin typeface="Calibri"/>
                <a:ea typeface="Calibri"/>
                <a:cs typeface="Calibri"/>
              </a:rPr>
              <a:t>[8] J. G. A. Barbedo, "Factors influencing the use of deep learning for plant disease recognition," Biosystems Engineering, vol. 172, pp. 84-91, 2018.</a:t>
            </a:r>
          </a:p>
          <a:p>
            <a:pPr algn="l">
              <a:spcAft>
                <a:spcPts val="300"/>
              </a:spcAft>
            </a:pPr>
            <a:r>
              <a:rPr sz="1200" b="0" i="0">
                <a:solidFill>
                  <a:srgbClr val="222222"/>
                </a:solidFill>
                <a:latin typeface="Calibri"/>
                <a:ea typeface="Calibri"/>
                <a:cs typeface="Calibri"/>
              </a:rPr>
              <a:t>[9] M. Sandler, A. Howard, M. Zhu, A. Zhmoginov and L.-C. Chen, "MobileNetV2: Inverted residuals and linear bottlenecks," in Proc. IEEE/CVF Conf. Comput. Vision Pattern Recognit. (CVPR), 2018, pp. 4510-4520.</a:t>
            </a:r>
          </a:p>
          <a:p>
            <a:pPr algn="l">
              <a:spcAft>
                <a:spcPts val="300"/>
              </a:spcAft>
            </a:pPr>
            <a:r>
              <a:rPr sz="1200" b="0" i="0">
                <a:solidFill>
                  <a:srgbClr val="222222"/>
                </a:solidFill>
                <a:latin typeface="Calibri"/>
                <a:ea typeface="Calibri"/>
                <a:cs typeface="Calibri"/>
              </a:rPr>
              <a:t>[12] D. P. Kingma and J. Ba, "Adam: A method for stochastic optimization," in Proc. 3rd Int. Conf. Learning Representations (ICLR), 2015; arXiv:1412.6980.</a:t>
            </a:r>
          </a:p>
          <a:p>
            <a:pPr algn="l">
              <a:spcAft>
                <a:spcPts val="300"/>
              </a:spcAft>
            </a:pPr>
            <a:r>
              <a:rPr sz="1200" b="0" i="0">
                <a:solidFill>
                  <a:srgbClr val="222222"/>
                </a:solidFill>
                <a:latin typeface="Calibri"/>
                <a:ea typeface="Calibri"/>
                <a:cs typeface="Calibri"/>
              </a:rPr>
              <a:t>[13] J. Deng, W. Dong, R. Socher, L.-J. Li, K. Li and L. Fei-Fei, "ImageNet: A large-scale hierarchical image database," in Proc. IEEE Conf. Comput. Vision Pattern Recognit. (CVPR), 2009, pp. 248-255.</a:t>
            </a:r>
          </a:p>
          <a:p>
            <a:pPr algn="l">
              <a:spcAft>
                <a:spcPts val="300"/>
              </a:spcAft>
            </a:pPr>
            <a:r>
              <a:rPr sz="1200" b="0" i="0">
                <a:solidFill>
                  <a:srgbClr val="222222"/>
                </a:solidFill>
                <a:latin typeface="Calibri"/>
                <a:ea typeface="Calibri"/>
                <a:cs typeface="Calibri"/>
              </a:rPr>
              <a:t>[19] F. Pedregosa et al., "Scikit-learn: Machine learning in Python," J. Mach. Learn. Res., vol. 12, pp. 2825-2830, 2011.</a:t>
            </a:r>
          </a:p>
          <a:p>
            <a:pPr algn="l">
              <a:spcAft>
                <a:spcPts val="300"/>
              </a:spcAft>
            </a:pPr>
            <a:r>
              <a:rPr sz="1200" b="0" i="0">
                <a:solidFill>
                  <a:srgbClr val="222222"/>
                </a:solidFill>
                <a:latin typeface="Calibri"/>
                <a:ea typeface="Calibri"/>
                <a:cs typeface="Calibri"/>
              </a:rPr>
              <a:t>[20] M. Abadi et al., "TensorFlow: A system for large-scale machine learning," in Proc. 12th USENIX Symp. Operating Systems Design and Implementation (OSDI), 2016, pp. 265-283.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C16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AgriVision">
  <a:themeElements>
    <a:clrScheme name="AgriVision">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griVision">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griVisio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Powered Crop Disease Detection and Recommendation System for Sustainable Development - Final Review</dc:title>
  <dc:subject>AgriVision</dc:subject>
  <dc:creator>Batch C16, Dept. of CSE</dc:creator>
  <cp:lastModifiedBy/>
  <cp:revision>1</cp:revision>
  <dcterms:created xsi:type="dcterms:W3CDTF">2026-10-07T05:03:03Z</dcterms:created>
  <dcterms:modified xsi:type="dcterms:W3CDTF">2026-10-07T05:03:03Z</dcterms:modified>
  <dc:description/>
  <cp:keywords>crop disease detection; leaf images; PlantDoc; treatment advice</cp:keywords>
</cp:coreProperties>
</file>