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f0aec94-eb0f-294a-de05-1614c3997827}">
          <p14:sldIdLst>
            <p14:sldId id="256"/>
            <p14:sldId id="257"/>
            <p14:sldId id="258"/>
          </p14:sldIdLst>
        </p14:section>
        <p14:section name="Research" id="{c5b655bf-1c78-45d9-2d43-c8947840fc05}">
          <p14:sldIdLst>
            <p14:sldId id="259"/>
            <p14:sldId id="260"/>
            <p14:sldId id="261"/>
          </p14:sldIdLst>
        </p14:section>
        <p14:section name="Problem" id="{c83c02f1-f6cc-56f3-d67e-57d82ce85a28}">
          <p14:sldIdLst>
            <p14:sldId id="262"/>
            <p14:sldId id="263"/>
            <p14:sldId id="264"/>
            <p14:sldId id="265"/>
            <p14:sldId id="266"/>
          </p14:sldIdLst>
        </p14:section>
        <p14:section name="Proposed solution" id="{0d7ed7fb-f0c3-288f-402c-2a68d644f815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Retrieval accuracy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Sheet1!$A$2:$A$3</c:f>
              <c:strCache>
                <c:ptCount val="2"/>
                <c:pt idx="0">
                  <c:v>Fine-tuned
BGE-M3 [5]</c:v>
                </c:pt>
                <c:pt idx="1">
                  <c:v>Multilingual
E5-Large [5]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0.976</c:v>
                </c:pt>
                <c:pt idx="1">
                  <c:v>0.897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.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the title. One sentence: SymptoTrackAI, implemented as the CareLens AI web application, turns symptoms written in everyday language into an answer built only from retrieved medical records, with evidence, a safety warning when needed and a private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Agenda. This review is about why the problem matters and what is missing in current work; design and results come in the later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points: the access and misinformation problem, the hybrid retrieval idea, and what is delivered: a complete application whose output is information, not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citation. The base paper is qualitative: it gives no numbers, so nothing can be compared quantitatively. It also claims long-term symptom tracking; what it actually describes is storing consultations, and this project does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pattern: chatbots built on machine learning or BERT, RAG over medical books or hospital manuals, a guideline-grounded demo (ClinicBot) and HyDE query expansion. Three more papers in the batch survey (items 2 to 4) could not be located, so they are listed in the report as not verified and not used for any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Retrieval quality depends on the embedding model: one published EMR chatbot reports 97.6 and 89.7 percent for two embedders on its own data. We do not reuse those numbers; this project measures its own retrieval on its own knowledge base. The base paper offers no numbers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Today people search or chat. Retrieval-based chatbots exist but are rarely measured, rarely explain a match and rarely include emergency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limitations. Each maps to a design decision: retrieval grounding, hybrid retrieval with measurement, a rule-based safety layer and local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batch survey states the gap as longitudinal symptom tracking and personalised insight on top of the retrieval pipeline. We address gaps 1 to 4 and 6; gap 5, trend analysis, is only partly addressed: consultations are stored and searchable, trends are not analysed.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statement slowly. The need is an assistant that answers only from a curated knowledge base, shows its sources and keeps a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from the proposal. Later reviews report which were met; objective 5, trends over time, will be only partly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stages from symptom text to a safe answer. The weights live in one configuration file; the fallbacks keep the app usable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Follow the diagram top to bottom: the browser sends the symptom text, the API runs the RAG pipeline, and the local files hold the knowledge base, the indexes and the users' consultations.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outcomes and contributions. The later reviews report measured results, including what could not be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references; the complete numbered list of 35 entries, with three marked as not verified, is in the project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 why BM25 next to dense search (exact symptom words); why a cross-encoder (precision on the top records); what the About page numbers mean (an upper bound on synthetic data); and what stops the assistant from diagnosing (retrieval-only answers and a disclaimer).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SymptoTrackAI  ·  Review 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SymptoTrackAI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Based Symptom Tracking and Health Monitoring System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1  ·  PROBLEM IDENTIFICATION AND RESEARCH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Mariyada Karthika Reddy  23K91A05E9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Nacharam Akshaya  23K91A05G6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Madoori Prabath Teja  23K91A05D6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Pulimadhi Keerthan  23K91A05K1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Dr. Ch. B. Naga Lakshmi,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&amp; Technology  ·  Batch C12 (CSE-C)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Abstract and overview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62855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48471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Literature survey and evidence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Existing system and limitations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5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62855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5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Research gap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1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48471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 statement and objectives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approach and architecture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5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62855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5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Expected outcomes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1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48471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Abstract: from symptoms to grounded guidance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The 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Healthcare suffers from delayed diagnosis and limited access. People search the web or ask general chatbots, which give frightening or ungrounded answers and keep no record of how symptoms evolve.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Our idea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A hybrid RAG pipeline: expand the query, retrieve with FAISS semantic search and BM25, fuse the scores, rerank with a cross-encoder, and write the answer only from the retrieved records, with a safety layer on top.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The deliverable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A local web application: accounts, a symptom assistant with evidence cards and emergency warnings, a private searchable consultation history and an About page with measured metrics. Information only, never a diagnosis.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11091672" cy="10058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9808" y="1353312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</a:rPr>
              <a:t>U. S. Madhury and M. Ramesh, "A hybrid retrieval-augmented generation framework for intelligent symptom monitoring and disease guidance," Int. J. Eng. Res. Sci. Technol., vol. 22, no. 3, pp. 702-707, 2026, doi: 10.62643/ijerst.2026.v22.n3.4170.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49808" y="2697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SymptoTrackAI framework: a symptom-disease knowledge base is embedded with the Sequence-NQ transformer and indexed with FAISS; the nearest records are passed to a RAG step that writes the guidance. A web app adds registration, login and a stored consultation log.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34255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4535423" y="2697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75503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Data and reported 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5423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A symptom-disease dataset with advice text, de-duplicated and indexed. The paper reports no accuracy, recall or latency figures: only qualitative 'experimental observations' and one example (constipation, stomach ache, high fever, swollen lymph nodes: Typhoid).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9871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321040" y="2697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19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Relevance to this project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Same product idea and same web-app modules. This project adds lexical BM25 retrieval, fusion, a cross-encoder reranker, a HyDE-style expansion, a safety layer and measured evaluation. The base paper has none of these.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34440"/>
          <a:ext cx="11091671" cy="48280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640080"/>
                <a:gridCol w="4114800"/>
                <a:gridCol w="4050791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Reported result / 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Madhury &amp; Ramesh [1] (base)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Sequence-NQ embeddings + FAISS + RAG over a symptom-disease base; login, history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No numbers reported; one Typhoid example; no ablation or latency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Divya et al. [7]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2018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AI self-diagnosis chatbot for symptom conversations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Described in [1] as effective; no figures read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Hsu &amp; Yu [9]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2022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Machine learning + natural-language understanding medical chatbot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Better than rule-based chatbots per [1]; no figures read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Peri et al. [11]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2024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RAG chatbot that chats with medical books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Grounds answers in retrieved text; no symptom log or safety layer reported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Son et al. [5]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2025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RAG chatbot over hospital EMR manuals, fine-tuned BGE-M3 / E5 embeddings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5,931 pairs; 97.6% / 89.7% retrieval accuracy; &lt;10 ms; admin, not symptoms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Nananukul &amp; Kejriwal [6]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ClinicBot: guideline extraction, evidence priority, citations (diabetes)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System demonstration; no accuracy table; one disease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Gao et al. HyDE [20]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2023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LLM writes a hypothetical answer that is embedded for retrieval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Needs an LLM; here replaced by a fixed template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evidence: why retrieval and grounding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548640" y="1280160"/>
          <a:ext cx="521208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035040" y="1325880"/>
            <a:ext cx="557784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1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RAG answers from retrieved documents rather than model memory [15]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Fine-tuned BGE-M3 reached 97.6% and Multilingual-E5 89.7% retrieval accuracy on 5,931 hospital question-document pairs, under 10 ms per query [5]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ClinicBot ranks guideline evidence by clinical significance and shows verifiable citations, because equal-weight RAG gives noisy context [6]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Hallucination in generated text is a documented risk that grounding aims to reduce [27]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The base paper itself reports no quantitative results [1]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580644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Hospital EMR-manual retrieval (5,931 pairs); a different task, shown as context, not as our result.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and current approaches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2430018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Person has symptoms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106674" y="17556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35858" y="1371600"/>
            <a:ext cx="2430018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Web search or chatbot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93892" y="17556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3076" y="1371600"/>
            <a:ext cx="2430018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Generic answer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881110" y="17556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10294" y="1371600"/>
            <a:ext cx="2430018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Unrecorded decision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2697480"/>
            <a:ext cx="5440680" cy="3474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749808" y="28803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9888" y="28529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Web search and general chatbots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3566160"/>
            <a:ext cx="5038344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People search the web and read pages that are not tied to their own symptoms
General chatbots answer from model memory without a medical source
Neither keeps a private record of earlier episodes.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2697480"/>
            <a:ext cx="5440680" cy="3474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6400800" y="288036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28529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Retrieval chatbots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566160"/>
            <a:ext cx="5038344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Symptom checkers return fixed lists with no explanation of why a condition matched
Dense-only retrieval chatbots miss exact symptom words and rank without a reranker
Consultations are not kept, so a person cannot look back at earlier episodes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existing methods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5440680" cy="1965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0876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4813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Generic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194560"/>
            <a:ext cx="5038344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Web search gives generic and alarming results that ignore the symptom description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1" y="1325880"/>
            <a:ext cx="5440680" cy="1965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6400799" y="15087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79" y="14813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Ungrounded answers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799" y="2194560"/>
            <a:ext cx="5038344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Ungrounded language models can hallucinate, which is unacceptable for health advice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474720"/>
            <a:ext cx="5440680" cy="1965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749808" y="365760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9888" y="363016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Unmeasured quality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4343400"/>
            <a:ext cx="5038344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Retrieval chatbots rarely report measured accuracy, latency or failure cases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9631" y="3474720"/>
            <a:ext cx="5440680" cy="1965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6400799" y="365760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79" y="363016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No emergency logic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799" y="4343400"/>
            <a:ext cx="5038344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Emergency symptoms get the same calm answer as a mild cold unless a rule layer exists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715000"/>
            <a:ext cx="11091672" cy="6858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77240" y="571500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</a:rPr>
              <a:t>Also: Cloud chatbots send private health text to external servers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548640" y="1371600"/>
            <a:ext cx="566928" cy="566928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1280160"/>
            <a:ext cx="10195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0F172A"/>
                </a:solidFill>
              </a:rPr>
              <a:t>The base paper reports no accuracy, recall or latency, so its retrieval quality is unverified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2194560"/>
            <a:ext cx="566928" cy="566928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2103120"/>
            <a:ext cx="10195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0F172A"/>
                </a:solidFill>
              </a:rPr>
              <a:t>It uses dense search only: exact symptom words are not matched lexically and nothing is reranked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2926080"/>
            <a:ext cx="10195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0F172A"/>
                </a:solidFill>
              </a:rPr>
              <a:t>General medical chatbots rarely show which retrieved record supports each answer</a:t>
            </a:r>
          </a:p>
        </p:txBody>
      </p:sp>
      <p:sp>
        <p:nvSpPr>
          <p:cNvPr id="32" name="Oval 31"/>
          <p:cNvSpPr/>
          <p:nvPr/>
        </p:nvSpPr>
        <p:spPr>
          <a:xfrm>
            <a:off x="548640" y="3840479"/>
            <a:ext cx="566928" cy="566928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3749039"/>
            <a:ext cx="10195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0F172A"/>
                </a:solidFill>
              </a:rPr>
              <a:t>Emergency wording needs a safety layer that a retrieval-only chatbot does not provide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572000"/>
            <a:ext cx="10195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0F172A"/>
                </a:solidFill>
              </a:rPr>
              <a:t>Consultations are stored, but progression and trends over time are not analysed</a:t>
            </a:r>
          </a:p>
        </p:txBody>
      </p:sp>
      <p:sp>
        <p:nvSpPr>
          <p:cNvPr id="36" name="Oval 35"/>
          <p:cNvSpPr/>
          <p:nvPr/>
        </p:nvSpPr>
        <p:spPr>
          <a:xfrm>
            <a:off x="548640" y="5486400"/>
            <a:ext cx="566928" cy="566928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5394960"/>
            <a:ext cx="10195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0F172A"/>
                </a:solidFill>
              </a:rPr>
              <a:t>No student-deployable tool joins hybrid retrieval, safety escalation and a private history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11091672" cy="26517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8680" y="1463040"/>
            <a:ext cx="1046988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2000" b="0" i="0">
                <a:solidFill>
                  <a:srgbClr val="0F172A"/>
                </a:solidFill>
              </a:rPr>
              <a:t>Self-diagnosis through general web search yields inaccurate and frightening results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2000" b="0" i="0">
                <a:solidFill>
                  <a:srgbClr val="0F172A"/>
                </a:solidFill>
              </a:rPr>
              <a:t>General chatbots answer from public data with no medical grounding or citation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2000" b="0" i="0">
                <a:solidFill>
                  <a:srgbClr val="0F172A"/>
                </a:solidFill>
              </a:rPr>
              <a:t>Symptoms are recorded as isolated events, so progression over time is never visible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2000" b="0" i="0">
                <a:solidFill>
                  <a:srgbClr val="0F172A"/>
                </a:solidFill>
              </a:rPr>
              <a:t>An ungrounded health answer can cause real harm if acted upon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2000" b="0" i="0">
                <a:solidFill>
                  <a:srgbClr val="0F172A"/>
                </a:solidFill>
              </a:rPr>
              <a:t>Need: an assistant that answers only from a curated knowledge base, cites it and keeps a history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251960"/>
            <a:ext cx="3520440" cy="1737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43616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0060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Symptoms typed in everyday language (3 to 2,000 characters) by a signed-in user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34255" y="4251960"/>
            <a:ext cx="3520440" cy="1737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62855" y="43616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2855" y="480060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Evidence-backed answer, possible-condition cards, safety flag and relevance label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4251960"/>
            <a:ext cx="3520440" cy="1737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348471" y="43616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1" y="480060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A private, searchable consultation history that the user can delete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80160"/>
            <a:ext cx="11091672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0"/>
              </a:spcAft>
            </a:pPr>
            <a:r>
              <a:rPr sz="2400" b="0" i="0">
                <a:solidFill>
                  <a:srgbClr val="0F172A"/>
                </a:solidFill>
              </a:rPr>
              <a:t>1.  Build a curated medical knowledge base and index it for semantic retrieval</a:t>
            </a:r>
          </a:p>
          <a:p>
            <a:pPr algn="l">
              <a:spcAft>
                <a:spcPts val="2000"/>
              </a:spcAft>
            </a:pPr>
            <a:r>
              <a:rPr sz="2400" b="0" i="0">
                <a:solidFill>
                  <a:srgbClr val="0F172A"/>
                </a:solidFill>
              </a:rPr>
              <a:t>2.  Accept symptoms in natural language and expand the query to improve recall</a:t>
            </a:r>
          </a:p>
          <a:p>
            <a:pPr algn="l">
              <a:spcAft>
                <a:spcPts val="2000"/>
              </a:spcAft>
            </a:pPr>
            <a:r>
              <a:rPr sz="2400" b="0" i="0">
                <a:solidFill>
                  <a:srgbClr val="0F172A"/>
                </a:solidFill>
              </a:rPr>
              <a:t>3.  Implement hybrid retrieval combining dense vector search with neural reranking</a:t>
            </a:r>
          </a:p>
          <a:p>
            <a:pPr algn="l">
              <a:spcAft>
                <a:spcPts val="2000"/>
              </a:spcAft>
            </a:pPr>
            <a:r>
              <a:rPr sz="2400" b="0" i="0">
                <a:solidFill>
                  <a:srgbClr val="0F172A"/>
                </a:solidFill>
              </a:rPr>
              <a:t>4.  Generate grounded responses that cite the retrieved source for every statement</a:t>
            </a:r>
          </a:p>
          <a:p>
            <a:pPr algn="l">
              <a:spcAft>
                <a:spcPts val="2000"/>
              </a:spcAft>
            </a:pPr>
            <a:r>
              <a:rPr sz="2400" b="0" i="0">
                <a:solidFill>
                  <a:srgbClr val="0F172A"/>
                </a:solidFill>
              </a:rPr>
              <a:t>5.  Track reported symptoms over time to reveal progression and trends</a:t>
            </a:r>
          </a:p>
          <a:p>
            <a:pPr algn="l">
              <a:spcAft>
                <a:spcPts val="2000"/>
              </a:spcAft>
            </a:pPr>
            <a:r>
              <a:rPr sz="2400" b="0" i="0">
                <a:solidFill>
                  <a:srgbClr val="0F172A"/>
                </a:solidFill>
              </a:rPr>
              <a:t>6.  Evaluate retrieval relevance, answer groundedness and response 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approach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33472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087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Expand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194560"/>
            <a:ext cx="2231136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Normalise the text and wrap it in a local HyDE-style template, with no external API.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1325880"/>
            <a:ext cx="2633472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66160" y="150876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Retrieve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2194560"/>
            <a:ext cx="2231136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MiniLM embeddings searched in FAISS, plus BM25 over the same record text: 15 candidates each.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1325880"/>
            <a:ext cx="2633472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382512" y="150876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Fuse and rerank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2194560"/>
            <a:ext cx="2231136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Min-max fusion 0.65 semantic + 0.35 lexical, then an MS-MARCO cross-encoder keeps the top 5 records.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7696" y="1325880"/>
            <a:ext cx="2633472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198864" y="150876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38944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Answer safely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4" y="2194560"/>
            <a:ext cx="2231136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Answer built from the records, emergency rules, a medication filter and a permanent disclaimer.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754880"/>
            <a:ext cx="11091672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777240" y="5029200"/>
            <a:ext cx="640080" cy="640080"/>
          </a:xfrm>
          <a:prstGeom prst="ellipse">
            <a:avLst/>
          </a:prstGeom>
          <a:solidFill>
            <a:srgbClr val="1B2A41"/>
          </a:solidFill>
          <a:ln w="952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45920" y="489204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fused = 0.65 x semantic + 0.35 x lexical (each min-max normalised over the candidate pool)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5303520"/>
            <a:ext cx="9784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FastAPI service and React web app over SQLite, bcrypt and signed-cookie accounts, all models local and CPU-only. Offline fallbacks: TF-IDF embeddings and an evidence-based answer.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proposed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pic>
        <p:nvPicPr>
          <p:cNvPr id="26" name="Picture 25" descr="01_system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20" y="1188720"/>
            <a:ext cx="5588000" cy="502919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589520" y="1371600"/>
            <a:ext cx="402336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0F172A"/>
                </a:solidFill>
              </a:rPr>
              <a:t>Layers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0F172A"/>
                </a:solidFill>
              </a:rPr>
              <a:t>Presentation: React and Vite web app (port 5412).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0F172A"/>
                </a:solidFill>
              </a:rPr>
              <a:t>Application: FastAPI service (port 8412) with auth, chat and history routes.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0F172A"/>
                </a:solidFill>
              </a:rPr>
              <a:t>RAG pipeline: expansion, FAISS and BM25 retrieval, fusion, rerank, generation, safety.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0F172A"/>
                </a:solidFill>
              </a:rPr>
              <a:t>Data: SQLite for users and consultations; knowledge base and indexes on local disk.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and contributions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2331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Working application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A working web app from symptom text to evidence-backed answer and stored history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2331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Measured retrieval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Hybrid retrieval measured against single retrievers and the offline fallback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2331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Safety escalation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Rule-based emergency escalation with a permanent non-diagnosis disclaimer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931920"/>
            <a:ext cx="544068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49808" y="411480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9888" y="408736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Honest limits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4800600"/>
            <a:ext cx="5038344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Measured latency and honest limits: synthetic knowledge base, no clinical review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1" y="3931920"/>
            <a:ext cx="544068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6400799" y="411480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79" y="408736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Information 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799" y="4800600"/>
            <a:ext cx="5038344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Information only: the assistant never replaces a clinician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188720"/>
            <a:ext cx="11091672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[1] U. S. Madhury and M. Ramesh, "A hybrid retrieval-augmented generation framework for intelligent symptom monitoring and disease guidance," Int. J. Eng. Res. Sci. Technol., vol. 22, no. 3, pp. 702-707, 2026, doi: 10.62643/ijerst.2026.v22.n3.4170.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[5] N. Son, I. Kang, I. Kim, K. Lee, S. Nam and D. Lee, "Development and evaluation of a retrieval-augmented generation-based electronic medical record chatbot system," Healthc. Inform. Res., vol. 31, no. 3, pp. 218-225, Jul. 2025, doi: 10.4258/hir.2025.31.3.218.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[6] N. Nananukul and M. Kejriwal, "ClinicBot: a guideline-grounded clinical chatbot with prioritized evidence RAG and verifiable citations," system demonstration, CAIS 2026, arXiv:2605.00846, 2026.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[8] S. S. Kumar, S. T. Ahmed, A. S. Fathima, M. Nishabai and S. Sophia, "Medical chatbot assistance for primary clinical guidance using machine learning techniques," Procedia Comput. Sci., vol. 233, pp. 279-287, 2024.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[9] I.-C. Hsu and J.-D. Yu, "A medical chatbot using machine learning and natural language understanding," Multimedia Tools Appl., vol. 81, no. 17, pp. 23777-23799, Jul. 2022.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[11] S. D. Bhavani Peri, S. Santhanalakshmi and R. Radha, "Chatbot to chat with medical books using retrieval-augmented generation model," in Proc. IEEE North Karnataka Subsection Flagship Int. Conf. (NKCon), Bagalkote, India, Sep. 2024, pp. 1-5, doi: 10.1109/NKCON62728.2024.10774900.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[14] S. H. Alqaidi, S. M. Albugami, W. S. Alzahrani, S. Badri and A. Wali, "Network-integrated medical chatbot for enhanced healthcare services," Telematics Informat. Rep., vol. 15, Art. no. 100153, Sep. 2024.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[17] J. Johnson, M. Douze and H. Jegou, "Billion-scale similarity search with GPUs," IEEE Trans. Big Data, vol. 7, no. 3, pp. 535-547, Jul. 2021.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[19] S. Robertson and H. Zaragoza, "The probabilistic relevance framework: BM25 and beyond," Found. Trends Inf. Retr., vol. 3, no. 4, pp. 333-389, 2009.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</a:rPr>
              <a:t>[20] L. Gao, X. Ma, J. Lin and J. Callan, "Precise zero-shot dense retrieval without relevance labels," in Proc. 61st Annu. Meeting Assoc. Comput. Linguistics (ACL), 2023, pp. 1762-1777.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mptoTrackAI">
  <a:themeElements>
    <a:clrScheme name="SymptoTrackAI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SymptoTrack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ymptoTrackA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SymptoTrackAI: Hybrid RAG Based Symptom Tracking and Health Monitoring System: Review 1</dc:title>
  <dc:subject>Batch C12 (CSE-C)</dc:subject>
  <dc:creator>Mariyada Karthika Reddy, Nacharam Akshaya, Madoori Prabath Teja, Pulimadhi Keerthan</dc:creator>
  <cp:lastModifiedBy/>
  <cp:revision>1</cp:revision>
  <dcterms:created xsi:type="dcterms:W3CDTF">2026-10-13T12:36:40Z</dcterms:created>
  <dcterms:modified xsi:type="dcterms:W3CDTF">2026-10-13T12:36:40Z</dcterms:modified>
  <cp:keywords>hybrid RAG, symptom monitoring, FAISS, BM25, cross-encoder, healthcare chatbot</cp:keywords>
  <dc:description/>
</cp:coreProperties>
</file>