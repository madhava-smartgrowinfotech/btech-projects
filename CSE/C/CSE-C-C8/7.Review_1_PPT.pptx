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f0aec94-eb0f-294a-de05-1614c3997827}">
          <p14:sldIdLst>
            <p14:sldId id="256"/>
            <p14:sldId id="257"/>
            <p14:sldId id="258"/>
          </p14:sldIdLst>
        </p14:section>
        <p14:section name="Research" id="{c5b655bf-1c78-45d9-2d43-c8947840fc05}">
          <p14:sldIdLst>
            <p14:sldId id="259"/>
            <p14:sldId id="260"/>
            <p14:sldId id="261"/>
          </p14:sldIdLst>
        </p14:section>
        <p14:section name="Problem" id="{c83c02f1-f6cc-56f3-d67e-57d82ce85a28}">
          <p14:sldIdLst>
            <p14:sldId id="262"/>
            <p14:sldId id="263"/>
            <p14:sldId id="264"/>
            <p14:sldId id="265"/>
            <p14:sldId id="266"/>
          </p14:sldIdLst>
        </p14:section>
        <p14:section name="Proposed solution" id="{0d7ed7fb-f0c3-288f-402c-2a68d644f815}">
          <p14:sldIdLst>
            <p14:sldId id="267"/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cases</c:v>
                </c:pt>
              </c:strCache>
            </c:strRef>
          </c:tx>
          <c:spPr>
            <a:solidFill>
              <a:srgbClr val="2A78D6"/>
            </a:solidFill>
          </c:spPr>
          <c:dPt>
            <c:idx val="1"/>
            <c:spPr>
              <a:solidFill>
                <a:srgbClr val="EB6834"/>
              </a:solidFill>
            </c:spPr>
          </c:dPt>
          <c:dPt>
            <c:idx val="2"/>
            <c:spPr>
              <a:solidFill>
                <a:srgbClr val="EB6834"/>
              </a:solidFill>
            </c:spPr>
          </c:dPt>
          <c:cat>
            <c:strRef>
              <c:f>Sheet1!$A$2:$A$4</c:f>
              <c:strCache>
                <c:ptCount val="3"/>
                <c:pt idx="0">
                  <c:v>Committee
disagreement
on outcomes [13]</c:v>
                </c:pt>
                <c:pt idx="1">
                  <c:v>Hidden text
steers ChatGPT
review [2]</c:v>
                </c:pt>
                <c:pt idx="2">
                  <c:v>Hidden text
steers Gemini
review [2]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0.23</c:v>
                </c:pt>
                <c:pt idx="1">
                  <c:v>0.78</c:v>
                </c:pt>
                <c:pt idx="2">
                  <c:v>0.86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CE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D5DCE6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team and the title. One sentence: PeerScope reads a research-paper PDF, gives a preliminary and clearly caveated assessment, and ranks candidate reviewers with a score whose every term can be inspected.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Agenda. This review is about why the problem matters and what is missing in current work; design and results come in the later reviews.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 points: the editorial bottleneck, the hybrid idea (assessment plus auditable matching), and what is delivered: a complete application whose final judgement stays with a human.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the citation. The base paper improves and audits the paper-reviewer affinity matrix; it does not assess submissions and left conflict of interest and capacity out of its experiments. PeerScope will be measured on a much smaller setup, so numbers are never compared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pattern: reviewer-assignment research (learned suitability, expertise models, embeddings, an auditable LLM-keyword pipeline), decision prediction from review corpora, LLM-written reviews, and integrity studies. Figures are quoted only where they were read from the paper or its record. The complete list of 32 verified references is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reasons for the design. Human review is itself noisy (NeurIPS 2021: about 23 percent disagreement between independent committees). And LLM reviewers can be steered by hidden text (78 and 86 percent in one study), which is why PeerScope keeps a deterministic fallback, processes locally and frames its output as decision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Today an editor chooses reviewers by memory, bidding or keyword search. Research tools exist for matching, screening and review writing, but they are separate and rarely explain themselves.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Five limitations from the literature survey. Each maps to a design decision later: visible score breakdown, availability and conflict terms in the score, local processing, and honest statements about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batch literature survey states the gap as combining auditable assignment with preliminary paper evaluation so both halves of the editorial workload are supported. We target gaps 1, 2, 3, 5 and 6; gap 4 shapes the responsible-use framing.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Read the statement slowly. The need is a framework that assesses submissions and assigns each to the most topically expert reviewer, as decision support for the editor.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six objectives from the proposal. Later reviews report which were met; the corpus of real publication profiles (1) and independent expert judgement (6) will be only partly met.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stages from PDF to explained recommendation. Rank reviewers: 0.55 similarity + 0.20 keyword + 0.15 method + 0.10 availability The weights live in one configuration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Follow the diagram top to bottom: the browser uploads the PDF, the API runs the pipeline of services, and the local files hold the directory, the stored analyses and the trained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Expected outcomes and contributions. The later reviews report measured results for the decision model and the matcher, including what could not be measured.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Selected references; the complete numbered list of 32 verified entries is in the project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Likely questions: why a classical classifier for the decision signal (the data is synthetic and the signal is only one input); how conflicts of interest are found (literal strings, stated limitation); why a local language model (confidentiality and no paid API).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PeerScope  ·  Review 1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3" Type="http://schemas.openxmlformats.org/officeDocument/2006/relationships/chart" Target="../charts/chart1.xml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 Evaluation Using Artificial Intelligence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AI Framework for Research Paper Evaluation and Reviewer Recommendation</a:t>
            </a:r>
            <a:endParaRPr lang="en-US" sz="2000" dirty="0"/>
          </a:p>
        </p:txBody>
      </p:sp>
      <p:sp>
        <p:nvSpPr>
          <p:cNvPr id="4" name="review label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DA100"/>
                </a:solidFill>
              </a:rPr>
              <a:t>REVIEW 1  ·  PROBLEM IDENTIFICATION AND RESEARCH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60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Presented by</a:t>
            </a:r>
            <a:endParaRPr lang="en-US" sz="1400" dirty="0"/>
          </a:p>
        </p:txBody>
      </p:sp>
      <p:sp>
        <p:nvSpPr>
          <p:cNvPr id="6" name="team"/>
          <p:cNvSpPr txBox="1"/>
          <p:nvPr/>
        </p:nvSpPr>
        <p:spPr>
          <a:xfrm>
            <a:off x="548640" y="44805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Mula Sreebindu  23K91A05G3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Puramshetty Vishnu Vardhan  23K91A05K2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K Sampoorna  24K95A0512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Korsa Shivashankar  24K95A0515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4160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Under the guidance of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4480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M Anupama, [DESIGNATION]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49834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Department of Computer Science and Engineering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TKR College of Engineering &amp; Technology  ·  Batch C8 (CSE-C)  ·  [ACADEMIC YEAR]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7240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Abstract and overview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34255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562855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A78D6"/>
                </a:solidFill>
                <a:latin typeface="Cambria"/>
                <a:ea typeface="Cambria"/>
                <a:cs typeface="Cambria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2855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Base paper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19871" y="14173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348471" y="15453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BAF7A"/>
                </a:solidFill>
                <a:latin typeface="Cambria"/>
                <a:ea typeface="Cambria"/>
                <a:cs typeface="Cambria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471" y="20756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Literature survey and evidence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77240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6B52D6"/>
                </a:solidFill>
                <a:latin typeface="Cambria"/>
                <a:ea typeface="Cambria"/>
                <a:cs typeface="Cambria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Existing system and limitations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34255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562855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62855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Research gap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19871" y="30175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348471" y="31455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A78D6"/>
                </a:solidFill>
                <a:latin typeface="Cambria"/>
                <a:ea typeface="Cambria"/>
                <a:cs typeface="Cambria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48471" y="3675887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Problem statement and objectives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77240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BAF7A"/>
                </a:solidFill>
                <a:latin typeface="Cambria"/>
                <a:ea typeface="Cambria"/>
                <a:cs typeface="Cambria"/>
              </a:rPr>
              <a:t>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Proposed approach and architecture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34255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4562855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6B52D6"/>
                </a:solidFill>
                <a:latin typeface="Cambria"/>
                <a:ea typeface="Cambria"/>
                <a:cs typeface="Cambria"/>
              </a:rPr>
              <a:t>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62855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Expected outcomes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19871" y="4617720"/>
            <a:ext cx="3520440" cy="132588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348471" y="4745736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B6834"/>
                </a:solidFill>
                <a:latin typeface="Cambria"/>
                <a:ea typeface="Cambria"/>
                <a:cs typeface="Cambria"/>
              </a:rPr>
              <a:t>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48471" y="5276088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Abstract: from a PDF to a reviewer ranking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3520440" cy="4480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55448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The problem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240280"/>
            <a:ext cx="3118104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475569"/>
                </a:solidFill>
              </a:rPr>
              <a:t>Journals and conferences receive more submissions than their reviewer pools can absorb. Reviewer choice is manual, keyword matching favours shared vocabulary over expertise, and first-pass screening is inconsistent.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34255" y="1371600"/>
            <a:ext cx="3520440" cy="4480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4535423" y="155448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75503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Our idea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5423" y="2240280"/>
            <a:ext cx="3118104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475569"/>
                </a:solidFill>
              </a:rPr>
              <a:t>Read the paper locally, describe it with structural signals, a trained decision signal and a local language-model critique, then rank reviewers with sentence embeddings, keyword and method overlap, availability and a conflict penalty.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1" y="1371600"/>
            <a:ext cx="3520440" cy="4480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8321040" y="155448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19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The deliverable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240280"/>
            <a:ext cx="3118104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475569"/>
                </a:solidFill>
              </a:rPr>
              <a:t>PeerScope, a local web application: PDF upload, preliminary assessment, related literature, an auditable reviewer ranking with its score breakdown, a reviewer directory, history and export. Decision support only.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paper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11091672" cy="100584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49808" y="1353312"/>
            <a:ext cx="106984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</a:rPr>
              <a:t>F. Bagheri, D. Buscaldi and D. Reforgiato Recupero, "LLM-assisted reviewer assignment via auditable expertise matching," IEEE Access, vol. 14, pp. 127834-127863, 2026, doi: 10.1109/ACCESS.2026.3724622.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2514600"/>
            <a:ext cx="3520440" cy="3657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749808" y="269748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9888" y="2670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Method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3383280"/>
            <a:ext cx="3118104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Language models only induce keywords: an ensemble of producer models proposes them, a judge model picks one list, then deterministic normalisation. Matchers compare TF-IDF, SBERT (all-MiniLM-L6-v2) and keyword-graph scores. An audit trail keeps every stage.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34255" y="2514600"/>
            <a:ext cx="3520440" cy="3657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4535423" y="269748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75503" y="2670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Data and reported results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35423" y="3383280"/>
            <a:ext cx="3118104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663 papers from 85 conferences, 1,989 assignments, 524 reviewer profiles. Best MRR@3 0.7778 (titles) and 0.7843 (abstracts). Most text-encoder differences are not statistically significant.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19871" y="2514600"/>
            <a:ext cx="3520440" cy="3657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8321040" y="269748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19" y="2670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Relevance to PeerScope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3383280"/>
            <a:ext cx="3118104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Same principle: an auditable matching score. Different scope: PeerScope adds paper assessment, availability and conflict terms inside the score, a directory and export, and runs locally. The base paper does not assess the paper itself.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48640" y="1234440"/>
          <a:ext cx="11091671" cy="482803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86000"/>
                <a:gridCol w="640080"/>
                <a:gridCol w="4114800"/>
                <a:gridCol w="4050791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Work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Year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Approach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Reported result / limitation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1B2A4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Bagheri et al. [1] (base)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</a:rPr>
                        <a:t>2026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LLM ensemble induces keywords; judge LLM picks; SBERT / KG matchers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663 papers, 524 reviewers; best MRR@3 0.7843; no paper assessment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Charlin et al. [10]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</a:rPr>
                        <a:t>2012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Learned paper-reviewer suitability scores + integer-program assignment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Learns from few provided scores; two conference datasets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Mimno &amp; McCallum [11]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</a:rPr>
                        <a:t>2007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Author-Persona-Topic expertise model vs language-model baselines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Judged on human relevance labels; APT beat the language-model baselines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Kang et al. PeerRead [22]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</a:rPr>
                        <a:t>2018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Accept/reject prediction from 14.7K drafts and 10.7K reviews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Up to 21% error reduction over majority; decision only, no matching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Liang et al. [24]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</a:rPr>
                        <a:t>2024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GPT-4 feedback on full PDFs vs human reviewers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Overlap 30.85% / 39.23% (humans 28.58% / 35.25%); no reviewer matching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Li et al. ReViewGraph [7]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</a:rPr>
                        <a:t>2025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LLM reviewer-author debates + graph network for accept/reject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ICLR accuracy 66-72%; costly agents; decisions only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6F8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Torrielli et al. [2]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</a:rPr>
                        <a:t>2026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Hidden instructions in manuscripts steer chatbot reviewers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F172A"/>
                          </a:solidFill>
                        </a:rPr>
                        <a:t>Followed in 78% (ChatGPT) and 86% (Gemini) of cases</a:t>
                      </a:r>
                    </a:p>
                  </a:txBody>
                  <a:tcPr marL="73152" marR="73152" marT="36576" marB="36576" anchor="ctr">
                    <a:lnL w="9525">
                      <a:solidFill>
                        <a:srgbClr val="D5DCE6"/>
                      </a:solidFill>
                    </a:lnL>
                    <a:lnR w="9525">
                      <a:solidFill>
                        <a:srgbClr val="D5DCE6"/>
                      </a:solidFill>
                    </a:lnR>
                    <a:lnT w="9525">
                      <a:solidFill>
                        <a:srgbClr val="D5DCE6"/>
                      </a:solidFill>
                    </a:lnT>
                    <a:lnB w="9525">
                      <a:solidFill>
                        <a:srgbClr val="D5DCE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Supporting evidence: why automation needs care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548640" y="1280160"/>
          <a:ext cx="5212080" cy="4754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6035040" y="1325880"/>
            <a:ext cx="5577840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01168">
              <a:spcAft>
                <a:spcPts val="1100"/>
              </a:spcAft>
              <a:buChar char="•"/>
            </a:pPr>
            <a:r>
              <a:rPr sz="1700" b="0" i="0">
                <a:solidFill>
                  <a:srgbClr val="0F172A"/>
                </a:solidFill>
              </a:rPr>
              <a:t>NeurIPS 2021 committees disagreed on about 23% of accept/reject outcomes [13]</a:t>
            </a:r>
          </a:p>
          <a:p>
            <a:pPr algn="l" marL="256032" indent="-201168">
              <a:spcAft>
                <a:spcPts val="1100"/>
              </a:spcAft>
              <a:buChar char="•"/>
            </a:pPr>
            <a:r>
              <a:rPr sz="1700" b="0" i="0">
                <a:solidFill>
                  <a:srgbClr val="0F172A"/>
                </a:solidFill>
              </a:rPr>
              <a:t>Hidden instructions steered chatbot reviewers in 78% (ChatGPT) and 86% (Gemini) of cases [2]</a:t>
            </a:r>
          </a:p>
          <a:p>
            <a:pPr algn="l" marL="256032" indent="-201168">
              <a:spcAft>
                <a:spcPts val="1100"/>
              </a:spcAft>
              <a:buChar char="•"/>
            </a:pPr>
            <a:r>
              <a:rPr sz="1700" b="0" i="0">
                <a:solidFill>
                  <a:srgbClr val="0F172A"/>
                </a:solidFill>
              </a:rPr>
              <a:t>Simple prompt injections reached up to 100% acceptance scores in LLM reviews [27]</a:t>
            </a:r>
          </a:p>
          <a:p>
            <a:pPr algn="l" marL="256032" indent="-201168">
              <a:spcAft>
                <a:spcPts val="1100"/>
              </a:spcAft>
              <a:buChar char="•"/>
            </a:pPr>
            <a:r>
              <a:rPr sz="1700" b="0" i="0">
                <a:solidFill>
                  <a:srgbClr val="0F172A"/>
                </a:solidFill>
              </a:rPr>
              <a:t>GPT-4 feedback overlapped human reviewers 30.85% vs 28.58% between two humans [24]</a:t>
            </a:r>
          </a:p>
          <a:p>
            <a:pPr algn="l" marL="256032" indent="-201168">
              <a:spcAft>
                <a:spcPts val="1100"/>
              </a:spcAft>
              <a:buChar char="•"/>
            </a:pPr>
            <a:r>
              <a:rPr sz="1700" b="0" i="0">
                <a:solidFill>
                  <a:srgbClr val="0F172A"/>
                </a:solidFill>
              </a:rPr>
              <a:t>Reviewer assignment studied for about thirty years; a recent systematic synthesis was missing [8]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5806440"/>
            <a:ext cx="5577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475569"/>
                </a:solidFill>
              </a:rPr>
              <a:t>Different studies and protocols; the bars are context, not a comparison.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 and current approaches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2430018" cy="100584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Submission arrives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106674" y="17556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35858" y="1371600"/>
            <a:ext cx="2430018" cy="100584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Editor picks reviewers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993892" y="17556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23076" y="1371600"/>
            <a:ext cx="2430018" cy="100584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Reviewers write reviews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8881110" y="1755648"/>
            <a:ext cx="201168" cy="237744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10294" y="1371600"/>
            <a:ext cx="2430018" cy="1005840"/>
          </a:xfrm>
          <a:prstGeom prst="roundRect">
            <a:avLst>
              <a:gd name="adj" fmla="val 8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Decision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2697480"/>
            <a:ext cx="5440680" cy="34747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749808" y="288036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89888" y="285292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Manual assignment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3566160"/>
            <a:ext cx="5038344" cy="2468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Editor or chair picks reviewers by memory, bidding or keyword search
Conflict and workload are checked by hand or left to a later step
A mismatched reviewer lowers review quality and delays the decision.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99632" y="2697480"/>
            <a:ext cx="5440680" cy="34747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6400800" y="288036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285292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Separate automated tools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3566160"/>
            <a:ext cx="5038344" cy="2468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 i="0">
                <a:solidFill>
                  <a:srgbClr val="475569"/>
                </a:solidFill>
              </a:rPr>
              <a:t>Dense-embedding matchers rank reviewers but give no readable reasons
Separate tools screen submissions; none is linked to reviewer choice
LLM review writers read the whole paper with no audit trail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of existing methods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5440680" cy="19659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50876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48132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Weak reviewer fit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194560"/>
            <a:ext cx="5038344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475569"/>
                </a:solidFill>
              </a:rPr>
              <a:t>Mismatched reviewers lower review quality and delay decisions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1" y="1325880"/>
            <a:ext cx="5440680" cy="19659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6400799" y="150876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79" y="148132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Opaque scores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799" y="2194560"/>
            <a:ext cx="5038344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475569"/>
                </a:solidFill>
              </a:rPr>
              <a:t>Embeddings are opaque: editors cannot see why a reviewer ranks first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3474720"/>
            <a:ext cx="5440680" cy="19659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749808" y="365760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89888" y="363016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Proxy labels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4343400"/>
            <a:ext cx="5038344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475569"/>
                </a:solidFill>
              </a:rPr>
              <a:t>Historical assignments used as labels are an imperfect proxy for expertise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99631" y="3474720"/>
            <a:ext cx="5440680" cy="19659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6400799" y="3657600"/>
            <a:ext cx="502920" cy="502920"/>
          </a:xfrm>
          <a:prstGeom prst="ellipse">
            <a:avLst/>
          </a:prstGeom>
          <a:solidFill>
            <a:srgbClr val="6B52D6"/>
          </a:solidFill>
          <a:ln w="9525">
            <a:solidFill>
              <a:srgbClr val="6B5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79" y="363016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Scarce real data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799" y="4343400"/>
            <a:ext cx="5038344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475569"/>
                </a:solidFill>
              </a:rPr>
              <a:t>Decision predictors need real review corpora that are rarely open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715000"/>
            <a:ext cx="11091672" cy="6858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77240" y="571500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F172A"/>
                </a:solidFill>
              </a:rPr>
              <a:t>Also: Uploading manuscripts to cloud AI conflicts with confidentiality rules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548640" y="1371600"/>
            <a:ext cx="566928" cy="566928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1280160"/>
            <a:ext cx="1019556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0F172A"/>
                </a:solidFill>
              </a:rPr>
              <a:t>Base paper scores reviewer affinity only; it never assesses the paper itself</a:t>
            </a:r>
          </a:p>
        </p:txBody>
      </p:sp>
      <p:sp>
        <p:nvSpPr>
          <p:cNvPr id="28" name="Oval 27"/>
          <p:cNvSpPr/>
          <p:nvPr/>
        </p:nvSpPr>
        <p:spPr>
          <a:xfrm>
            <a:off x="548640" y="2194560"/>
            <a:ext cx="566928" cy="566928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2103120"/>
            <a:ext cx="1019556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0F172A"/>
                </a:solidFill>
              </a:rPr>
              <a:t>Automated-review work predicts decisions or writes reviews but does not match reviewers</a:t>
            </a:r>
          </a:p>
        </p:txBody>
      </p:sp>
      <p:sp>
        <p:nvSpPr>
          <p:cNvPr id="30" name="Oval 29"/>
          <p:cNvSpPr/>
          <p:nvPr/>
        </p:nvSpPr>
        <p:spPr>
          <a:xfrm>
            <a:off x="548640" y="3017520"/>
            <a:ext cx="566928" cy="566928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2926080"/>
            <a:ext cx="1019556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0F172A"/>
                </a:solidFill>
              </a:rPr>
              <a:t>Conflict of interest and workload were left out of the base paper's experiments</a:t>
            </a:r>
          </a:p>
        </p:txBody>
      </p:sp>
      <p:sp>
        <p:nvSpPr>
          <p:cNvPr id="32" name="Oval 31"/>
          <p:cNvSpPr/>
          <p:nvPr/>
        </p:nvSpPr>
        <p:spPr>
          <a:xfrm>
            <a:off x="548640" y="3840479"/>
            <a:ext cx="566928" cy="566928"/>
          </a:xfrm>
          <a:prstGeom prst="ellipse">
            <a:avLst/>
          </a:prstGeom>
          <a:solidFill>
            <a:srgbClr val="6B52D6"/>
          </a:solidFill>
          <a:ln w="9525">
            <a:solidFill>
              <a:srgbClr val="6B5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3749039"/>
            <a:ext cx="1019556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0F172A"/>
                </a:solidFill>
              </a:rPr>
              <a:t>LLM reviewers can be steered by hidden text (78-86% compliance), so human oversight is needed</a:t>
            </a:r>
          </a:p>
        </p:txBody>
      </p:sp>
      <p:sp>
        <p:nvSpPr>
          <p:cNvPr id="34" name="Oval 33"/>
          <p:cNvSpPr/>
          <p:nvPr/>
        </p:nvSpPr>
        <p:spPr>
          <a:xfrm>
            <a:off x="548640" y="4663440"/>
            <a:ext cx="566928" cy="566928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4572000"/>
            <a:ext cx="1019556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0F172A"/>
                </a:solidFill>
              </a:rPr>
              <a:t>Embedding matchers are hard to audit; per-score breakdowns are rare</a:t>
            </a:r>
          </a:p>
        </p:txBody>
      </p:sp>
      <p:sp>
        <p:nvSpPr>
          <p:cNvPr id="36" name="Oval 35"/>
          <p:cNvSpPr/>
          <p:nvPr/>
        </p:nvSpPr>
        <p:spPr>
          <a:xfrm>
            <a:off x="548640" y="5486400"/>
            <a:ext cx="566928" cy="566928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20" y="5394960"/>
            <a:ext cx="1019556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0F172A"/>
                </a:solidFill>
              </a:rPr>
              <a:t>No student-deployable tool joins PDF intake, assessment and auditable matching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11091672" cy="26517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68680" y="1463040"/>
            <a:ext cx="10469880" cy="2423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56032" indent="-201168">
              <a:spcAft>
                <a:spcPts val="800"/>
              </a:spcAft>
              <a:buChar char="•"/>
            </a:pPr>
            <a:r>
              <a:rPr sz="2100" b="0" i="0">
                <a:solidFill>
                  <a:srgbClr val="0F172A"/>
                </a:solidFill>
              </a:rPr>
              <a:t>Reviewer assignment is manual and depends on the editor's personal knowledge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2100" b="0" i="0">
                <a:solidFill>
                  <a:srgbClr val="0F172A"/>
                </a:solidFill>
              </a:rPr>
              <a:t>Keyword matching picks reviewers who share vocabulary, not expertise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2100" b="0" i="0">
                <a:solidFill>
                  <a:srgbClr val="0F172A"/>
                </a:solidFill>
              </a:rPr>
              <a:t>Slow reviews delay the publication of valid research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2100" b="0" i="0">
                <a:solidFill>
                  <a:srgbClr val="0F172A"/>
                </a:solidFill>
              </a:rPr>
              <a:t>Review quality varies between reviewers with no consistency check</a:t>
            </a:r>
          </a:p>
          <a:p>
            <a:pPr algn="l" marL="256032" indent="-201168">
              <a:spcAft>
                <a:spcPts val="800"/>
              </a:spcAft>
              <a:buChar char="•"/>
            </a:pPr>
            <a:r>
              <a:rPr sz="2100" b="0" i="0">
                <a:solidFill>
                  <a:srgbClr val="0F172A"/>
                </a:solidFill>
              </a:rPr>
              <a:t>Need: assess submissions automatically and assign the most expert reviewer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251960"/>
            <a:ext cx="3520440" cy="17373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7240" y="436168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Input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800600"/>
            <a:ext cx="31089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A research-paper PDF (up to 20 MB) and a directory of reviewer profiles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34255" y="4251960"/>
            <a:ext cx="3520440" cy="17373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562855" y="436168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62855" y="4800600"/>
            <a:ext cx="31089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Preliminary assessment, related literature and a ranked list of reviewers with score breakdowns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1" y="4251960"/>
            <a:ext cx="3520440" cy="17373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348471" y="436168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F172A"/>
                </a:solidFill>
              </a:rPr>
              <a:t>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8471" y="4800600"/>
            <a:ext cx="31089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Stored analyses with JSON and PDF export; every number traceable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1280160"/>
            <a:ext cx="11091672" cy="4846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0"/>
              </a:spcAft>
            </a:pPr>
            <a:r>
              <a:rPr sz="2500" b="0" i="0">
                <a:solidFill>
                  <a:srgbClr val="0F172A"/>
                </a:solidFill>
              </a:rPr>
              <a:t>1.  Build a corpus of submitted papers and reviewer publication profiles</a:t>
            </a:r>
          </a:p>
          <a:p>
            <a:pPr algn="l">
              <a:spcAft>
                <a:spcPts val="2000"/>
              </a:spcAft>
            </a:pPr>
            <a:r>
              <a:rPr sz="2500" b="0" i="0">
                <a:solidFill>
                  <a:srgbClr val="0F172A"/>
                </a:solidFill>
              </a:rPr>
              <a:t>2.  Extract topics, methods and keywords from paper text with NLP</a:t>
            </a:r>
          </a:p>
          <a:p>
            <a:pPr algn="l">
              <a:spcAft>
                <a:spcPts val="2000"/>
              </a:spcAft>
            </a:pPr>
            <a:r>
              <a:rPr sz="2500" b="0" i="0">
                <a:solidFill>
                  <a:srgbClr val="0F172A"/>
                </a:solidFill>
              </a:rPr>
              <a:t>3.  Represent reviewer expertise as comparable vectors</a:t>
            </a:r>
          </a:p>
          <a:p>
            <a:pPr algn="l">
              <a:spcAft>
                <a:spcPts val="2000"/>
              </a:spcAft>
            </a:pPr>
            <a:r>
              <a:rPr sz="2500" b="0" i="0">
                <a:solidFill>
                  <a:srgbClr val="0F172A"/>
                </a:solidFill>
              </a:rPr>
              <a:t>4.  Rank candidate reviewers by semantic similarity for each paper</a:t>
            </a:r>
          </a:p>
          <a:p>
            <a:pPr algn="l">
              <a:spcAft>
                <a:spcPts val="2000"/>
              </a:spcAft>
            </a:pPr>
            <a:r>
              <a:rPr sz="2500" b="0" i="0">
                <a:solidFill>
                  <a:srgbClr val="0F172A"/>
                </a:solidFill>
              </a:rPr>
              <a:t>5.  Give a preliminary assessment: structure, novelty signals, completeness</a:t>
            </a:r>
          </a:p>
          <a:p>
            <a:pPr algn="l">
              <a:spcAft>
                <a:spcPts val="2000"/>
              </a:spcAft>
            </a:pPr>
            <a:r>
              <a:rPr sz="2500" b="0" i="0">
                <a:solidFill>
                  <a:srgbClr val="0F172A"/>
                </a:solidFill>
              </a:rPr>
              <a:t>6.  Evaluate assignment quality and conflict-of-interest handling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approach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25880"/>
            <a:ext cx="2633472" cy="32461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50876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481328"/>
            <a:ext cx="162763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Read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194560"/>
            <a:ext cx="2231136" cy="2240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PyMuPDF extracts text, sections and references locally; keywords, methods and topics come from NLP features.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64992" y="1325880"/>
            <a:ext cx="2633472" cy="32461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3566160" y="150876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1481328"/>
            <a:ext cx="162763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Assess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2194560"/>
            <a:ext cx="2231136" cy="2240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Structural signals, a TF-IDF and logistic-regression decision signal, a local language-model critique with a visible fallback, and related works from OpenAlex.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81344" y="1325880"/>
            <a:ext cx="2633472" cy="32461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6382512" y="150876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22592" y="1481328"/>
            <a:ext cx="162763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Match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2512" y="2194560"/>
            <a:ext cx="2231136" cy="2240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Sentence-embedding similarity, keyword and method overlap, availability, minus a conflict penalty.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97696" y="1325880"/>
            <a:ext cx="2633472" cy="32461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9198864" y="1508760"/>
            <a:ext cx="502920" cy="502920"/>
          </a:xfrm>
          <a:prstGeom prst="ellipse">
            <a:avLst/>
          </a:prstGeom>
          <a:solidFill>
            <a:srgbClr val="6B52D6"/>
          </a:solidFill>
          <a:ln w="9525">
            <a:solidFill>
              <a:srgbClr val="6B5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38944" y="1481328"/>
            <a:ext cx="162763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Explain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98864" y="2194560"/>
            <a:ext cx="2231136" cy="22402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475569"/>
                </a:solidFill>
              </a:rPr>
              <a:t>Every recommendation shows its score terms, matching words and conflict check; results are stored and exportable.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4754880"/>
            <a:ext cx="11091672" cy="137160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777240" y="5029200"/>
            <a:ext cx="640080" cy="640080"/>
          </a:xfrm>
          <a:prstGeom prst="ellipse">
            <a:avLst/>
          </a:prstGeom>
          <a:solidFill>
            <a:srgbClr val="1B2A41"/>
          </a:solidFill>
          <a:ln w="9525">
            <a:solidFill>
              <a:srgbClr val="1B2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45920" y="4892040"/>
            <a:ext cx="9784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Match score = 0.55 expertise + 0.20 keyword + 0.15 method + 0.10 availability - 0.60 conflict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45920" y="5303520"/>
            <a:ext cx="9784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475569"/>
                </a:solidFill>
              </a:rPr>
              <a:t>Scaled to 0-100. Delivered as a FastAPI service and a React web application over SQLite, with no paid API and no GPU; the final judgement stays with a human.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High-level proposed architecture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  <p:pic>
        <p:nvPicPr>
          <p:cNvPr id="26" name="Picture 25" descr="01_system_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8348" y="1188720"/>
            <a:ext cx="5987142" cy="5029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589520" y="1371600"/>
            <a:ext cx="402336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0F172A"/>
                </a:solidFill>
              </a:rPr>
              <a:t>Four tiers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700" b="0" i="0">
                <a:solidFill>
                  <a:srgbClr val="0F172A"/>
                </a:solidFill>
              </a:rPr>
              <a:t>Presentation: React and Vite web app (port 5408).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700" b="0" i="0">
                <a:solidFill>
                  <a:srgbClr val="0F172A"/>
                </a:solidFill>
              </a:rPr>
              <a:t>Application: FastAPI service (port 8408), PDF-only upload with size and header checks.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700" b="0" i="0">
                <a:solidFill>
                  <a:srgbClr val="0F172A"/>
                </a:solidFill>
              </a:rPr>
              <a:t>Services: extraction, features, decision signal, review, literature, embeddings, matching, export.</a:t>
            </a:r>
          </a:p>
          <a:p>
            <a:pPr algn="l" marL="256032" indent="-201168">
              <a:spcAft>
                <a:spcPts val="400"/>
              </a:spcAft>
              <a:buChar char="•"/>
            </a:pPr>
            <a:r>
              <a:rPr sz="1700" b="0" i="0">
                <a:solidFill>
                  <a:srgbClr val="0F172A"/>
                </a:solidFill>
              </a:rPr>
              <a:t>Data: SQLite, model files and cached models on the local disk; only the OpenAlex query leaves the machine.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 and contributions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371600"/>
            <a:ext cx="3520440" cy="23317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749808" y="155448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Working application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2240280"/>
            <a:ext cx="3118104" cy="1325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A working web app from PDF upload to reviewer ranking and export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34255" y="1371600"/>
            <a:ext cx="3520440" cy="23317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4535423" y="1554480"/>
            <a:ext cx="502920" cy="502920"/>
          </a:xfrm>
          <a:prstGeom prst="ellipse">
            <a:avLst/>
          </a:prstGeom>
          <a:solidFill>
            <a:srgbClr val="2A78D6"/>
          </a:solidFill>
          <a:ln w="95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75503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Auditable ranking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5423" y="2240280"/>
            <a:ext cx="3118104" cy="1325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Transparent, reproducible score breakdown for each recommended reviewer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1" y="1371600"/>
            <a:ext cx="3520440" cy="23317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8321040" y="1554480"/>
            <a:ext cx="502920" cy="502920"/>
          </a:xfrm>
          <a:prstGeom prst="ellipse">
            <a:avLst/>
          </a:prstGeom>
          <a:solidFill>
            <a:srgbClr val="1BAF7A"/>
          </a:solidFill>
          <a:ln w="952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19" y="152704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Screening aid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240280"/>
            <a:ext cx="3118104" cy="1325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Preliminary assessment that screens submissions before human review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3931920"/>
            <a:ext cx="5440680" cy="2194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749808" y="4114800"/>
            <a:ext cx="502920" cy="502920"/>
          </a:xfrm>
          <a:prstGeom prst="ellipse">
            <a:avLst/>
          </a:prstGeom>
          <a:solidFill>
            <a:srgbClr val="6B52D6"/>
          </a:solidFill>
          <a:ln w="9525">
            <a:solidFill>
              <a:srgbClr val="6B5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89888" y="408736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Measured, with gaps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" y="4800600"/>
            <a:ext cx="5038344" cy="1188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Measured results for the decision model and the matcher, gaps stated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99631" y="3931920"/>
            <a:ext cx="5440680" cy="219456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9525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6400799" y="4114800"/>
            <a:ext cx="502920" cy="502920"/>
          </a:xfrm>
          <a:prstGeom prst="ellipse">
            <a:avLst/>
          </a:prstGeom>
          <a:solidFill>
            <a:srgbClr val="EB6834"/>
          </a:solidFill>
          <a:ln w="952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79" y="4087368"/>
            <a:ext cx="4434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F172A"/>
                </a:solidFill>
              </a:rPr>
              <a:t>Human in the loop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799" y="4800600"/>
            <a:ext cx="5038344" cy="1188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475569"/>
                </a:solidFill>
              </a:rPr>
              <a:t>Decision support only: the final judgement stays with a human editor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1188720"/>
            <a:ext cx="11091672" cy="5120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</a:rPr>
              <a:t>[1] F. Bagheri, D. Buscaldi and D. Reforgiato Recupero, "LLM-assisted reviewer assignment via auditable expertise matching," IEEE Access, vol. 14, pp. 127834-127863, 2026, doi: 10.1109/ACCESS.2026.3724622.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</a:rPr>
              <a:t>[2] F. Torrielli, S. Locci, A. Rapp and L. Di Caro, "How to get your paper accepted by an AI reviewer: indirect prompt injection in peer review," Research Square preprint, Jan. 2026, doi: 10.21203/rs.3.rs-8432945/v1. (Published as "Exploiting large language models in peer review: indirect prompt injection attacks and integrity probes," Scientometrics, vol. 131, no. 7, pp. 4889-4951, 2026, doi: 10.1007/s11192-026-05695-x.)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</a:rPr>
              <a:t>[6] S. Wu, O. Jiang, Y. Zhao, T. Hu, Y. Ma, K. Zhang, M. Patwardhan and A. Cohan, "Can AI be a good peer reviewer? A survey of peer review process, evaluation, and the future," arXiv:2604.27924, Apr. 2026.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</a:rPr>
              <a:t>[7] S. Li, L. Fan, Y. Lin, Z. Li, X. Wei, S. Ni, H. Alinejad-Rokny and M. Yang, "Automatic paper reviewing with heterogeneous graph reasoning over LLM-simulated reviewer-author debates," arXiv:2511.08317, Nov. 2025 (AAAI 2026 copyright notice on the PDF).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</a:rPr>
              <a:t>[10] L. Charlin, R. S. Zemel and C. Boutilier, "A framework for optimizing paper matching," arXiv:1202.3706, Feb. 2012.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</a:rPr>
              <a:t>[11] D. Mimno and A. McCallum, "Expertise modeling for matching papers with reviewers," in Proc. 13th ACM SIGKDD Int. Conf. Knowl. Discovery Data Mining, 2007, pp. 500-509, doi: 10.1145/1281192.1281247.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</a:rPr>
              <a:t>[13] A. Beygelzimer, Y. N. Dauphin, P. Liang and J. W. Vaughan, "Has the machine learning review process become more arbitrary as the field has grown? The NeurIPS 2021 consistency experiment," arXiv:2306.03262, Jun. 2023.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</a:rPr>
              <a:t>[19] N. Reimers and I. Gurevych, "Sentence-BERT: sentence embeddings using Siamese BERT-networks," in Proc. EMNLP-IJCNLP, 2019, pp. 3980-3990, doi: 10.18653/v1/D19-1410.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</a:rPr>
              <a:t>[22] D. Kang, W. Ammar, B. Dalvi, M. van Zuylen, S. Kohlmeier, E. Hovy and R. Schwartz, "A dataset of peer reviews (PeerRead): collection, insights and NLP applications," in Proc. NAACL-HLT, 2018, pp. 1647-1661, doi: 10.18653/v1/N18-1149.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</a:rPr>
              <a:t>[24] W. Liang et al., "Can large language models provide useful feedback on research papers? A large-scale empirical analysis," NEJM AI, vol. 1, no. 8, Jul. 2024, doi: 10.1056/AIoa2400196.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9456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suggestions are welcome.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ADCF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erScope">
  <a:themeElements>
    <a:clrScheme name="PeerScope">
      <a:dk1>
        <a:srgbClr val="0F172A"/>
      </a:dk1>
      <a:lt1>
        <a:srgbClr val="FFFFFF"/>
      </a:lt1>
      <a:dk2>
        <a:srgbClr val="1B2A41"/>
      </a:dk2>
      <a:lt2>
        <a:srgbClr val="EEF2F7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6250D6"/>
      </a:accent5>
      <a:accent6>
        <a:srgbClr val="E34948"/>
      </a:accent6>
      <a:hlink>
        <a:srgbClr val="2A78D6"/>
      </a:hlink>
      <a:folHlink>
        <a:srgbClr val="6250D6"/>
      </a:folHlink>
    </a:clrScheme>
    <a:fontScheme name="PeerScop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eerScop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 Evaluation Using Artificial Intelligence (Hybrid AI Framework for Research Paper Evaluation and Reviewer Recommendation): Review 1</dc:title>
  <dc:subject>Batch C8 (CSE-C)</dc:subject>
  <dc:creator>Mula Sreebindu, Puramshetty Vishnu Vardhan, K Sampoorna, Korsa Shivashankar</dc:creator>
  <cp:lastModifiedBy/>
  <cp:revision>1</cp:revision>
  <dcterms:created xsi:type="dcterms:W3CDTF">2026-10-13T12:36:40Z</dcterms:created>
  <dcterms:modified xsi:type="dcterms:W3CDTF">2026-10-13T12:36:40Z</dcterms:modified>
  <cp:keywords>research paper evaluation, reviewer recommendation, NLP, sentence embeddings, peer review</cp:keywords>
  <dc:description/>
</cp:coreProperties>
</file>