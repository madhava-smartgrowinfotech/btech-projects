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media/image-1-1.jpg" ContentType="image/jpg"/>
  <Override PartName="/ppt/media/image-10-1.jpg" ContentType="image/jpg"/>
  <Override PartName="/ppt/media/image-11-1.jpg" ContentType="image/jpg"/>
  <Override PartName="/ppt/media/image-12-1.jpg" ContentType="image/jpg"/>
  <Override PartName="/ppt/media/image-13-1.jpg" ContentType="image/jpg"/>
  <Override PartName="/ppt/media/image-14-1.jpg" ContentType="image/jpg"/>
  <Override PartName="/ppt/media/image-15-1.jpg" ContentType="image/jpg"/>
  <Override PartName="/ppt/media/image-16-1.jpg" ContentType="image/jpg"/>
  <Override PartName="/ppt/media/image-17-1.jpg" ContentType="image/jpg"/>
  <Override PartName="/ppt/media/image-18-1.jpg" ContentType="image/jpg"/>
  <Override PartName="/ppt/media/image-19-1.jpg" ContentType="image/jpg"/>
  <Override PartName="/ppt/media/image-2-1.jpg" ContentType="image/jpg"/>
  <Override PartName="/ppt/media/image-20-1.jpg" ContentType="image/jpg"/>
  <Override PartName="/ppt/media/image-21-1.jpg" ContentType="image/jpg"/>
  <Override PartName="/ppt/media/image-22-1.jpg" ContentType="image/jpg"/>
  <Override PartName="/ppt/media/image-23-1.jpg" ContentType="image/jpg"/>
  <Override PartName="/ppt/media/image-24-1.jpg" ContentType="image/jpg"/>
  <Override PartName="/ppt/media/image-25-1.jpg" ContentType="image/jpg"/>
  <Override PartName="/ppt/media/image-26-1.jpg" ContentType="image/jpg"/>
  <Override PartName="/ppt/media/image-27-1.jpg" ContentType="image/jpg"/>
  <Override PartName="/ppt/media/image-28-1.jpg" ContentType="image/jpg"/>
  <Override PartName="/ppt/media/image-3-1.jpg" ContentType="image/jpg"/>
  <Override PartName="/ppt/media/image-4-1.jpg" ContentType="image/jpg"/>
  <Override PartName="/ppt/media/image-5-1.jpg" ContentType="image/jpg"/>
  <Override PartName="/ppt/media/image-6-1.jpg" ContentType="image/jpg"/>
  <Override PartName="/ppt/media/image-7-1.jpg" ContentType="image/jpg"/>
  <Override PartName="/ppt/media/image-8-1.jpg" ContentType="image/jpg"/>
  <Override PartName="/ppt/media/image-9-1.jpg" ContentType="image/jpg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</p:sldIdLst>
  <p:notesMasterIdLst>
    <p:notesMasterId r:id="rId3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notesMaster" Target="notesMasters/notesMaster1.xml"/><Relationship Id="rId31" Type="http://schemas.openxmlformats.org/officeDocument/2006/relationships/presProps" Target="presProps.xml"/><Relationship Id="rId32" Type="http://schemas.openxmlformats.org/officeDocument/2006/relationships/viewProps" Target="viewProps.xml"/><Relationship Id="rId33" Type="http://schemas.openxmlformats.org/officeDocument/2006/relationships/theme" Target="theme/theme1.xml"/><Relationship Id="rId34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Introduce the team and the project: PeerScope, a local application that assesses a research paper and ranks reviewers with an audit trail.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The agenda follows the report: problem, design, method, results, comparison, screens, conclusion.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Read the problem, then the system in one breath. Give each number with its protocol and end on the honest limits.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Bagheri et al., IEEE Access 2026. We adopt the auditable principle and the MiniLM encoder, add paper assessment, availability and conflict handling, and do not use an LLM ensemble.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Representative work in reviewer assignment, embeddings and automated review. Items whose text could not be read are marked in the report's reference list.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Six gaps drawn from the survey. We address the first, second, fifth and sixth directly; the third and fourth shape the design and the limits.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The statement has three parts: assess the paper, rank the reviewers transparently, and keep an inspectable record.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The six objectives of the proposal. The conclusion states the real status of each: 1 and 6 only partly met, 5 met except novelty.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The proposed system as one line of boxes and the five design rules behind 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Tiers and storage; all analysis runs on the local machine.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Workflow and the measurements added on top of the shipped model.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Be frank about the data: synthetic, and the label construction caps accuracy near 0.56. The reviewer pool is six demo profiles.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The core algorithm of the matcher, in app/services/matching.py.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Sequence of one analysis request and the use cases of the editor and the directory administrator.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Two SQLite tables plus file-based artefacts. The missing foreign key is deliberate: analyses are frozen snapshots.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Highlights: validation, degradation paths, directory management and one-command start.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Accuracy 0.55 sits next to the ceiling of about 0.56 set by the label construction; the model beats the majority baseline (0.44) and naive Bayes (0.46). On the four real papers it answered borderline every time.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Rows are the true class. The error is almost entirely borderline papers pushed to accept or reject. Raising the confidence threshold trades coverage for accuracy.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Top-1 0.95 with MiniLM, 0.75 with the offline fallback; both far above random (0.18). The probe is small and labelled by the team, so it is not comparable with the base paper.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The language model is about 97 percent of the time of a full analysis; everything else takes a few seconds.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State plainly that 0.95 top-1 on 40 team-written abstracts and 6 demo reviewers cannot be compared with MRR@3 on 663 real papers.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Real screenshots of a real analysis (ReViewGraph paper, arXiv 2511.08317). The AI text is shown unedited, including its mistakes.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Every recommendation exposes its terms. The low absolute scores are honest: the six demo reviewers do not cover this paper's topic.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The product itself says the accuracy comes from synthetic data. Dashboard shows real stored analyses.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Be explicit about which objectives were met and which were not, and what was never measured.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Concrete next steps, ordered by value.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Selected references; the complete numbered list is in the report.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Invite questions.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image" Target="../media/image-1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image" Target="../media/image-2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image" Target="../media/image-3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image" Target="../media/image-4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image" Target="../media/image-5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image" Target="../media/image-6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image" Target="../media/image-7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image" Target="../media/image-8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image" Target="../media/image-9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image" Target="../media/image-10-1.jpg"/><Relationship Id="rId2" Type="http://schemas.openxmlformats.org/officeDocument/2006/relationships/image" Target="../media/image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image" Target="../media/image-11-1.jp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image" Target="../media/image-12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Relationship Id="rId4" Type="http://schemas.openxmlformats.org/officeDocument/2006/relationships/image" Target="../media/image2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image" Target="../media/image-13-1.jpg"/><Relationship Id="rId2" Type="http://schemas.openxmlformats.org/officeDocument/2006/relationships/image" Target="../media/image3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image" Target="../media/image-14-1.jpg"/><Relationship Id="rId2" Type="http://schemas.openxmlformats.org/officeDocument/2006/relationships/image" Target="../media/image4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4.xml"/><Relationship Id="rId5" Type="http://schemas.openxmlformats.org/officeDocument/2006/relationships/image" Target="../media/image5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image" Target="../media/image-15-1.jpg"/><Relationship Id="rId2" Type="http://schemas.openxmlformats.org/officeDocument/2006/relationships/image" Target="../media/image6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image" Target="../media/image-16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image" Target="../media/image-17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Relationship Id="rId4" Type="http://schemas.openxmlformats.org/officeDocument/2006/relationships/image" Target="../media/image7.png"/><Relationship Id="rId5" Type="http://schemas.openxmlformats.org/officeDocument/2006/relationships/image" Target="../media/image8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image" Target="../media/image-18-1.jpg"/><Relationship Id="rId2" Type="http://schemas.openxmlformats.org/officeDocument/2006/relationships/image" Target="../media/image10.png"/><Relationship Id="rId3" Type="http://schemas.openxmlformats.org/officeDocument/2006/relationships/image" Target="../media/image9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image" Target="../media/image-19-1.jpg"/><Relationship Id="rId2" Type="http://schemas.openxmlformats.org/officeDocument/2006/relationships/image" Target="../media/image12.png"/><Relationship Id="rId3" Type="http://schemas.openxmlformats.org/officeDocument/2006/relationships/image" Target="../media/image11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image" Target="../media/image-20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image" Target="../media/image-21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image" Target="../media/image-22-1.jpg"/><Relationship Id="rId2" Type="http://schemas.openxmlformats.org/officeDocument/2006/relationships/image" Target="../media/image14.png"/><Relationship Id="rId3" Type="http://schemas.openxmlformats.org/officeDocument/2006/relationships/image" Target="../media/image1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image" Target="../media/image-23-1.jpg"/><Relationship Id="rId2" Type="http://schemas.openxmlformats.org/officeDocument/2006/relationships/image" Target="../media/image16.png"/><Relationship Id="rId3" Type="http://schemas.openxmlformats.org/officeDocument/2006/relationships/image" Target="../media/image15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3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image" Target="../media/image-24-1.jpg"/><Relationship Id="rId2" Type="http://schemas.openxmlformats.org/officeDocument/2006/relationships/image" Target="../media/image18.png"/><Relationship Id="rId3" Type="http://schemas.openxmlformats.org/officeDocument/2006/relationships/image" Target="../media/image17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4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image" Target="../media/image-25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5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image" Target="../media/image-26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6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image" Target="../media/image-27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image" Target="../media/image-28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D:\vaishanavi\CSE-D\CSE-D-D1\doc_generator\college_banner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89608" y="73152"/>
            <a:ext cx="8412480" cy="870257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365760" y="979985"/>
            <a:ext cx="11457432" cy="0"/>
          </a:xfrm>
          <a:prstGeom prst="line">
            <a:avLst/>
          </a:prstGeom>
          <a:noFill/>
          <a:ln w="19050">
            <a:solidFill>
              <a:srgbClr val="1F3864"/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548640" y="1373177"/>
            <a:ext cx="110642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Paper Evaluation Using Artificial Intelligence (Hybrid AI Framework for Research Paper Evaluation and Reviewer Recommendation)</a:t>
            </a:r>
            <a:endParaRPr lang="en-US" sz="3200" dirty="0"/>
          </a:p>
        </p:txBody>
      </p:sp>
      <p:sp>
        <p:nvSpPr>
          <p:cNvPr id="5" name="Text 2"/>
          <p:cNvSpPr/>
          <p:nvPr/>
        </p:nvSpPr>
        <p:spPr>
          <a:xfrm>
            <a:off x="548640" y="2379017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2E75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Review  ·  PeerScope</a:t>
            </a:r>
            <a:endParaRPr lang="en-US" sz="2000" dirty="0"/>
          </a:p>
        </p:txBody>
      </p:sp>
      <p:sp>
        <p:nvSpPr>
          <p:cNvPr id="6" name="Text 3"/>
          <p:cNvSpPr/>
          <p:nvPr/>
        </p:nvSpPr>
        <p:spPr>
          <a:xfrm>
            <a:off x="731520" y="3110537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Details : Batch C8</a:t>
            </a:r>
            <a:endParaRPr lang="en-US" sz="1800" dirty="0"/>
          </a:p>
        </p:txBody>
      </p:sp>
      <p:sp>
        <p:nvSpPr>
          <p:cNvPr id="7" name="Text 4"/>
          <p:cNvSpPr/>
          <p:nvPr/>
        </p:nvSpPr>
        <p:spPr>
          <a:xfrm>
            <a:off x="731520" y="3522017"/>
            <a:ext cx="5486400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23K91A05G3   Mula Sreebindu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23K91A05K2   Puramshetty Vishnu Vardhan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24K95A0512   K Sampoorna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24K95A0515   Korsa Shivashankar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6675120" y="3110537"/>
            <a:ext cx="493776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 the Esteemed Guidance of</a:t>
            </a:r>
            <a:endParaRPr lang="en-US" sz="1600" dirty="0"/>
          </a:p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 Anupama</a:t>
            </a:r>
            <a:endParaRPr lang="en-US" sz="1600" dirty="0"/>
          </a:p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[DESIGNATION], Department of CSE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548640" y="6035040"/>
            <a:ext cx="11064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DEPARTMENT OF COMPUTER SCIENCE AND ENGINEERING  ·  TKR College of Engineering &amp; Technology  ·  Academic Year [ACADEMIC YEAR]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D:\vaishanavi\CSE-D\CSE-D-D1\doc_generator\college_banner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89608" y="73152"/>
            <a:ext cx="8412480" cy="870257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365760" y="979985"/>
            <a:ext cx="11457432" cy="0"/>
          </a:xfrm>
          <a:prstGeom prst="line">
            <a:avLst/>
          </a:prstGeom>
          <a:noFill/>
          <a:ln w="19050">
            <a:solidFill>
              <a:srgbClr val="1F3864"/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457200" y="1098857"/>
            <a:ext cx="11247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 of Contents</a:t>
            </a:r>
            <a:endParaRPr lang="en-US" sz="2600" dirty="0"/>
          </a:p>
        </p:txBody>
      </p:sp>
      <p:sp>
        <p:nvSpPr>
          <p:cNvPr id="5" name="Text 2"/>
          <p:cNvSpPr/>
          <p:nvPr/>
        </p:nvSpPr>
        <p:spPr>
          <a:xfrm>
            <a:off x="36576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Dept. of CSE  |  Batch C8  |  Final Review</a:t>
            </a:r>
            <a:endParaRPr lang="en-US" sz="1000" dirty="0"/>
          </a:p>
        </p:txBody>
      </p:sp>
      <p:sp>
        <p:nvSpPr>
          <p:cNvPr id="6" name="Text 3"/>
          <p:cNvSpPr/>
          <p:nvPr/>
        </p:nvSpPr>
        <p:spPr>
          <a:xfrm>
            <a:off x="11155680" y="644652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  <p:sp>
        <p:nvSpPr>
          <p:cNvPr id="7" name="Text 4"/>
          <p:cNvSpPr/>
          <p:nvPr/>
        </p:nvSpPr>
        <p:spPr>
          <a:xfrm>
            <a:off x="548640" y="1738937"/>
            <a:ext cx="11064240" cy="4524703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Abstract</a:t>
            </a:r>
            <a:endParaRPr lang="en-US" sz="18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Paper &amp; Literature Survey</a:t>
            </a:r>
            <a:endParaRPr lang="en-US" sz="18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Gap, Problem Statement &amp; Objectives</a:t>
            </a:r>
            <a:endParaRPr lang="en-US" sz="18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Proposed System &amp; Architecture</a:t>
            </a:r>
            <a:endParaRPr lang="en-US" sz="18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Methodology, Dataset &amp; Models</a:t>
            </a:r>
            <a:endParaRPr lang="en-US" sz="18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Scoring Workflow, Interaction &amp; Storage</a:t>
            </a:r>
            <a:endParaRPr lang="en-US" sz="18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Implementation Highlights</a:t>
            </a:r>
            <a:endParaRPr lang="en-US" sz="18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Results: Decision Model, Reviewer Matching</a:t>
            </a:r>
            <a:endParaRPr lang="en-US" sz="18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Performance &amp; Testing</a:t>
            </a:r>
            <a:endParaRPr lang="en-US" sz="18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Comparison with Base Paper</a:t>
            </a:r>
            <a:endParaRPr lang="en-US" sz="18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 Screens</a:t>
            </a:r>
            <a:endParaRPr lang="en-US" sz="18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Conclusion, Future Scope &amp; References</a:t>
            </a:r>
            <a:endParaRPr lang="en-US" sz="1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D:\vaishanavi\CSE-D\CSE-D-D1\doc_generator\college_banner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89608" y="73152"/>
            <a:ext cx="8412480" cy="870257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365760" y="979985"/>
            <a:ext cx="11457432" cy="0"/>
          </a:xfrm>
          <a:prstGeom prst="line">
            <a:avLst/>
          </a:prstGeom>
          <a:noFill/>
          <a:ln w="19050">
            <a:solidFill>
              <a:srgbClr val="1F3864"/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457200" y="1098857"/>
            <a:ext cx="11247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Abstract</a:t>
            </a:r>
            <a:endParaRPr lang="en-US" sz="2600" dirty="0"/>
          </a:p>
        </p:txBody>
      </p:sp>
      <p:sp>
        <p:nvSpPr>
          <p:cNvPr id="5" name="Text 2"/>
          <p:cNvSpPr/>
          <p:nvPr/>
        </p:nvSpPr>
        <p:spPr>
          <a:xfrm>
            <a:off x="36576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Dept. of CSE  |  Batch C8  |  Final Review</a:t>
            </a:r>
            <a:endParaRPr lang="en-US" sz="1000" dirty="0"/>
          </a:p>
        </p:txBody>
      </p:sp>
      <p:sp>
        <p:nvSpPr>
          <p:cNvPr id="6" name="Text 3"/>
          <p:cNvSpPr/>
          <p:nvPr/>
        </p:nvSpPr>
        <p:spPr>
          <a:xfrm>
            <a:off x="11155680" y="644652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  <p:sp>
        <p:nvSpPr>
          <p:cNvPr id="7" name="TextBox 6"/>
          <p:cNvSpPr txBox="1"/>
          <p:nvPr/>
        </p:nvSpPr>
        <p:spPr>
          <a:xfrm>
            <a:off x="502920" y="1691640"/>
            <a:ext cx="11155680" cy="457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256032" indent="-201168">
              <a:spcAft>
                <a:spcPts val="900"/>
              </a:spcAft>
              <a:buChar char="•"/>
            </a:pPr>
            <a:r>
              <a:rPr sz="1600" b="0" i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Journals receive more submissions than their reviewer pools can absorb; assigning reviewers is manual, keyword matching favours shared vocabulary over expertise, and first-pass screening is inconsistent.</a:t>
            </a:r>
          </a:p>
          <a:p>
            <a:pPr algn="l" marL="256032" indent="-201168">
              <a:spcAft>
                <a:spcPts val="900"/>
              </a:spcAft>
              <a:buChar char="•"/>
            </a:pPr>
            <a:r>
              <a:rPr sz="1600" b="0" i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PeerScope reads a PDF locally, extracts sections and structural signals, adds a TF-IDF decision signal, a local Qwen2.5-1.5B critique and OpenAlex literature, then ranks reviewers with an auditable score: 0.55 embedding similarity + 0.20 keywords + 0.15 methods + 0.10 availability - 0.60 conflict.</a:t>
            </a:r>
          </a:p>
          <a:p>
            <a:pPr algn="l" marL="256032" indent="-201168">
              <a:spcAft>
                <a:spcPts val="900"/>
              </a:spcAft>
              <a:buChar char="•"/>
            </a:pPr>
            <a:r>
              <a:rPr sz="1600" b="0" i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Decision model: 55.0% accuracy on 280 synthetic test papers; the labels limit any text classifier to about 0.56, so this shows the pipeline, not real-world prediction.</a:t>
            </a:r>
          </a:p>
          <a:p>
            <a:pPr algn="l" marL="256032" indent="-201168">
              <a:spcAft>
                <a:spcPts val="900"/>
              </a:spcAft>
              <a:buChar char="•"/>
            </a:pPr>
            <a:r>
              <a:rPr sz="1600" b="0" i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Reviewer matching: first-choice reviewer acceptable in 95% (MiniLM) and 75% (TF-IDF fallback) on a team-written 40-abstract probe, 6 demo reviewers; 12 of 12 literal conflict links flagged.</a:t>
            </a:r>
          </a:p>
          <a:p>
            <a:pPr algn="l" marL="256032" indent="-201168">
              <a:spcAft>
                <a:spcPts val="900"/>
              </a:spcAft>
              <a:buChar char="•"/>
            </a:pPr>
            <a:r>
              <a:rPr sz="1600" b="0" i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Without the language model an analysis takes about 1.3 s; with it, about 9 minutes on a CPU. 7 of 7 tests and 24 of 24 smoke checks pass.</a:t>
            </a:r>
          </a:p>
          <a:p>
            <a:pPr algn="l" marL="256032" indent="-201168">
              <a:spcAft>
                <a:spcPts val="400"/>
              </a:spcAft>
              <a:buChar char="•"/>
            </a:pPr>
            <a:r>
              <a:rPr sz="1600" b="0" i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Not done: real peer-review data, independent expert labels, novelty scoring, a user study.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D:\vaishanavi\CSE-D\CSE-D-D1\doc_generator\college_banner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89608" y="73152"/>
            <a:ext cx="8412480" cy="870257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365760" y="979985"/>
            <a:ext cx="11457432" cy="0"/>
          </a:xfrm>
          <a:prstGeom prst="line">
            <a:avLst/>
          </a:prstGeom>
          <a:noFill/>
          <a:ln w="19050">
            <a:solidFill>
              <a:srgbClr val="1F3864"/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457200" y="1098857"/>
            <a:ext cx="11247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Paper</a:t>
            </a:r>
            <a:endParaRPr lang="en-US" sz="2600" dirty="0"/>
          </a:p>
        </p:txBody>
      </p:sp>
      <p:sp>
        <p:nvSpPr>
          <p:cNvPr id="5" name="Text 2"/>
          <p:cNvSpPr/>
          <p:nvPr/>
        </p:nvSpPr>
        <p:spPr>
          <a:xfrm>
            <a:off x="36576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Dept. of CSE  |  Batch C8  |  Final Review</a:t>
            </a:r>
            <a:endParaRPr lang="en-US" sz="1000" dirty="0"/>
          </a:p>
        </p:txBody>
      </p:sp>
      <p:sp>
        <p:nvSpPr>
          <p:cNvPr id="6" name="Text 3"/>
          <p:cNvSpPr/>
          <p:nvPr/>
        </p:nvSpPr>
        <p:spPr>
          <a:xfrm>
            <a:off x="11155680" y="644652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  <p:sp>
        <p:nvSpPr>
          <p:cNvPr id="7" name="TextBox 6"/>
          <p:cNvSpPr txBox="1"/>
          <p:nvPr/>
        </p:nvSpPr>
        <p:spPr>
          <a:xfrm>
            <a:off x="502920" y="1691640"/>
            <a:ext cx="1115568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 i="0">
                <a:solidFill>
                  <a:srgbClr val="1F3864"/>
                </a:solidFill>
                <a:latin typeface="Calibri"/>
                <a:ea typeface="Calibri"/>
                <a:cs typeface="Calibri"/>
              </a:rPr>
              <a:t>F. Bagheri, D. Buscaldi and D. Reforgiato Recupero, "LLM-assisted reviewer assignment via auditable expertise matching," IEEE Access, vol. 14, pp. 127834-127863, 2026, doi: 10.1109/ACCESS.2026.3724622.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502920" y="2468880"/>
          <a:ext cx="11155680" cy="3401568"/>
        </p:xfrm>
        <a:graphic>
          <a:graphicData uri="http://schemas.openxmlformats.org/drawingml/2006/table">
            <a:tbl>
              <a:tblPr firstRow="0" bandRow="0">
                <a:tableStyleId>{5C22544A-7EE6-4342-B048-85BDC9FD1C3A}</a:tableStyleId>
              </a:tblPr>
              <a:tblGrid>
                <a:gridCol w="1828800"/>
                <a:gridCol w="9326880"/>
              </a:tblGrid>
              <a:tr h="566928">
                <a:tc>
                  <a:txBody>
                    <a:bodyPr wrap="square"/>
                    <a:lstStyle/>
                    <a:p>
                      <a:pPr algn="ctr"/>
                      <a:r>
                        <a:rPr sz="1300" b="1">
                          <a:solidFill>
                            <a:srgbClr val="1F3864"/>
                          </a:solidFill>
                          <a:latin typeface="Calibri"/>
                          <a:ea typeface="Calibri"/>
                          <a:cs typeface="Calibri"/>
                        </a:rPr>
                        <a:t>Aspect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DEEA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1">
                          <a:solidFill>
                            <a:srgbClr val="1F3864"/>
                          </a:solidFill>
                          <a:latin typeface="Calibri"/>
                          <a:ea typeface="Calibri"/>
                          <a:cs typeface="Calibri"/>
                        </a:rPr>
                        <a:t>Base paper: LLM-assisted reviewer assignment via auditable expertise matching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DEEAF6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pPr algn="l"/>
                      <a:r>
                        <a:rPr sz="1300" b="1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Method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Ensemble of producer LLMs, a judge LLM and deterministic normalisation induce keywords; LLMs never rank reviewers. Matchers: TF-IDF, Jaccard, SBERT (all-MiniLM-L6-v2), cross-encoder re-ranking, keyword graphs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pPr algn="l"/>
                      <a:r>
                        <a:rPr sz="1300" b="1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Data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663 papers from 85 conferences, 1,989 assignments, 524 reviewers (Semantic Scholar profiles); relevance = historical assignments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2F2F2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pPr algn="l"/>
                      <a:r>
                        <a:rPr sz="1300" b="1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Reported results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Best MRR@3 0.7778 (titles, two-stage re-ranking) and 0.7843 (abstracts, KG edge-Jaccard); best P@3 0.4545 and MAP@3 0.3232 (summaries, keyword-aware SBERT)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pPr algn="l"/>
                      <a:r>
                        <a:rPr sz="1300" b="1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Auditability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Every stage stores prompts, model ids, keywords, score matrices and top-3 lists as an audit trail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2F2F2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pPr algn="l"/>
                      <a:r>
                        <a:rPr sz="1300" b="1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Stated limits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No expert judgements; conflict of interest and capacity not benchmarked; most text-encoder differences not significant; no assessment of the paper itself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D:\vaishanavi\CSE-D\CSE-D-D1\doc_generator\college_banner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89608" y="73152"/>
            <a:ext cx="8412480" cy="870257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365760" y="979985"/>
            <a:ext cx="11457432" cy="0"/>
          </a:xfrm>
          <a:prstGeom prst="line">
            <a:avLst/>
          </a:prstGeom>
          <a:noFill/>
          <a:ln w="19050">
            <a:solidFill>
              <a:srgbClr val="1F3864"/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457200" y="1098857"/>
            <a:ext cx="11247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Literature Survey</a:t>
            </a:r>
            <a:endParaRPr lang="en-US" sz="2600" dirty="0"/>
          </a:p>
        </p:txBody>
      </p:sp>
      <p:sp>
        <p:nvSpPr>
          <p:cNvPr id="5" name="Text 2"/>
          <p:cNvSpPr/>
          <p:nvPr/>
        </p:nvSpPr>
        <p:spPr>
          <a:xfrm>
            <a:off x="36576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Dept. of CSE  |  Batch C8  |  Final Review</a:t>
            </a:r>
            <a:endParaRPr lang="en-US" sz="1000" dirty="0"/>
          </a:p>
        </p:txBody>
      </p:sp>
      <p:sp>
        <p:nvSpPr>
          <p:cNvPr id="6" name="Text 3"/>
          <p:cNvSpPr/>
          <p:nvPr/>
        </p:nvSpPr>
        <p:spPr>
          <a:xfrm>
            <a:off x="11155680" y="644652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02920" y="1645920"/>
          <a:ext cx="11155680" cy="4526280"/>
        </p:xfrm>
        <a:graphic>
          <a:graphicData uri="http://schemas.openxmlformats.org/drawingml/2006/table">
            <a:tbl>
              <a:tblPr firstRow="0" bandRow="0">
                <a:tableStyleId>{5C22544A-7EE6-4342-B048-85BDC9FD1C3A}</a:tableStyleId>
              </a:tblPr>
              <a:tblGrid>
                <a:gridCol w="2103120"/>
                <a:gridCol w="640080"/>
                <a:gridCol w="4480560"/>
                <a:gridCol w="3931920"/>
              </a:tblGrid>
              <a:tr h="502920">
                <a:tc>
                  <a:txBody>
                    <a:bodyPr wrap="square"/>
                    <a:lstStyle/>
                    <a:p>
                      <a:pPr algn="ctr"/>
                      <a:r>
                        <a:rPr sz="1000" b="1">
                          <a:solidFill>
                            <a:srgbClr val="1F3864"/>
                          </a:solidFill>
                          <a:latin typeface="Calibri"/>
                          <a:ea typeface="Calibri"/>
                          <a:cs typeface="Calibri"/>
                        </a:rPr>
                        <a:t>Work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DEEA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>
                          <a:solidFill>
                            <a:srgbClr val="1F3864"/>
                          </a:solidFill>
                          <a:latin typeface="Calibri"/>
                          <a:ea typeface="Calibri"/>
                          <a:cs typeface="Calibri"/>
                        </a:rPr>
                        <a:t>Year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DEEA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>
                          <a:solidFill>
                            <a:srgbClr val="1F3864"/>
                          </a:solidFill>
                          <a:latin typeface="Calibri"/>
                          <a:ea typeface="Calibri"/>
                          <a:cs typeface="Calibri"/>
                        </a:rPr>
                        <a:t>Approach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DEEA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>
                          <a:solidFill>
                            <a:srgbClr val="1F3864"/>
                          </a:solidFill>
                          <a:latin typeface="Calibri"/>
                          <a:ea typeface="Calibri"/>
                          <a:cs typeface="Calibri"/>
                        </a:rPr>
                        <a:t>Data / finding / limitation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DEEAF6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pPr algn="l"/>
                      <a:r>
                        <a:rPr sz="1000" b="1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Bagheri et al. [1] (base)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2026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LLM ensemble induces keywords; judge LLM picks; SBERT / KG matchers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663 papers, 524 reviewers; best MRR@3 0.7843; no paper assessment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pPr algn="l"/>
                      <a:r>
                        <a:rPr sz="1000" b="1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Charlin et al. [10]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2012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Learned paper-reviewer suitability scores + integer-program assignment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Learns from few provided scores; two conference datasets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2F2F2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pPr algn="l"/>
                      <a:r>
                        <a:rPr sz="1000" b="1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Mimno &amp; McCallum [11]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2007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Author-Persona-Topic expertise model vs language-model baselines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Judged on human relevance labels; APT beat the language-model baselines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pPr algn="l"/>
                      <a:r>
                        <a:rPr sz="1000" b="1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Kang et al. PeerRead [22]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2018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Accept/reject prediction from 14.7K drafts and 10.7K reviews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Up to 21% error reduction over majority; decision only, no matching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2F2F2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pPr algn="l"/>
                      <a:r>
                        <a:rPr sz="1000" b="1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Liang et al. [24]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2024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GPT-4 feedback on full PDFs vs human reviewers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Overlap 30.85% / 39.23% (humans 28.58% / 35.25%); no reviewer matching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pPr algn="l"/>
                      <a:r>
                        <a:rPr sz="1000" b="1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Li et al. ReViewGraph [7]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2025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LLM reviewer-author debates + graph network for accept/reject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ICLR accuracy 66-72%; costly agents; decisions only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2F2F2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pPr algn="l"/>
                      <a:r>
                        <a:rPr sz="1000" b="1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Torrielli et al. [2]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2026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Hidden instructions in manuscripts steer chatbot reviewers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Followed in 78% (ChatGPT) and 86% (Gemini) of cases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pPr algn="l"/>
                      <a:r>
                        <a:rPr sz="1000" b="1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Reimers &amp; Gurevych SBERT [19]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2019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Siamese BERT sentence embeddings compared by cosine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Pair search over 10,000 sentences: ~65 h (BERT) to ~5 s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D:\vaishanavi\CSE-D\CSE-D-D1\doc_generator\college_banner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89608" y="73152"/>
            <a:ext cx="8412480" cy="870257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365760" y="979985"/>
            <a:ext cx="11457432" cy="0"/>
          </a:xfrm>
          <a:prstGeom prst="line">
            <a:avLst/>
          </a:prstGeom>
          <a:noFill/>
          <a:ln w="19050">
            <a:solidFill>
              <a:srgbClr val="1F3864"/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457200" y="1098857"/>
            <a:ext cx="11247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Gap</a:t>
            </a:r>
            <a:endParaRPr lang="en-US" sz="2600" dirty="0"/>
          </a:p>
        </p:txBody>
      </p:sp>
      <p:sp>
        <p:nvSpPr>
          <p:cNvPr id="5" name="Text 2"/>
          <p:cNvSpPr/>
          <p:nvPr/>
        </p:nvSpPr>
        <p:spPr>
          <a:xfrm>
            <a:off x="36576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Dept. of CSE  |  Batch C8  |  Final Review</a:t>
            </a:r>
            <a:endParaRPr lang="en-US" sz="1000" dirty="0"/>
          </a:p>
        </p:txBody>
      </p:sp>
      <p:sp>
        <p:nvSpPr>
          <p:cNvPr id="6" name="Text 3"/>
          <p:cNvSpPr/>
          <p:nvPr/>
        </p:nvSpPr>
        <p:spPr>
          <a:xfrm>
            <a:off x="11155680" y="644652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  <p:sp>
        <p:nvSpPr>
          <p:cNvPr id="7" name="TextBox 6"/>
          <p:cNvSpPr txBox="1"/>
          <p:nvPr/>
        </p:nvSpPr>
        <p:spPr>
          <a:xfrm>
            <a:off x="502920" y="1737360"/>
            <a:ext cx="11155680" cy="44805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256032" indent="-201168">
              <a:spcAft>
                <a:spcPts val="1600"/>
              </a:spcAft>
              <a:buChar char="•"/>
            </a:pPr>
            <a:r>
              <a:rPr sz="2100" b="0" i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Base paper scores reviewer affinity only; it never assesses the paper itself</a:t>
            </a:r>
          </a:p>
          <a:p>
            <a:pPr algn="l" marL="256032" indent="-201168">
              <a:spcAft>
                <a:spcPts val="1600"/>
              </a:spcAft>
              <a:buChar char="•"/>
            </a:pPr>
            <a:r>
              <a:rPr sz="2100" b="0" i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Automated-review work predicts decisions or writes reviews but does not match reviewers</a:t>
            </a:r>
          </a:p>
          <a:p>
            <a:pPr algn="l" marL="256032" indent="-201168">
              <a:spcAft>
                <a:spcPts val="1600"/>
              </a:spcAft>
              <a:buChar char="•"/>
            </a:pPr>
            <a:r>
              <a:rPr sz="2100" b="0" i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Conflict of interest and workload were left out of the base paper's experiments</a:t>
            </a:r>
          </a:p>
          <a:p>
            <a:pPr algn="l" marL="256032" indent="-201168">
              <a:spcAft>
                <a:spcPts val="1600"/>
              </a:spcAft>
              <a:buChar char="•"/>
            </a:pPr>
            <a:r>
              <a:rPr sz="2100" b="0" i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LLM reviewers can be steered by hidden text (78-86% compliance), so human oversight is needed</a:t>
            </a:r>
          </a:p>
          <a:p>
            <a:pPr algn="l" marL="256032" indent="-201168">
              <a:spcAft>
                <a:spcPts val="1600"/>
              </a:spcAft>
              <a:buChar char="•"/>
            </a:pPr>
            <a:r>
              <a:rPr sz="2100" b="0" i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Embedding matchers are hard to audit; per-score breakdowns are rare</a:t>
            </a:r>
          </a:p>
          <a:p>
            <a:pPr algn="l" marL="256032" indent="-201168">
              <a:spcAft>
                <a:spcPts val="1600"/>
              </a:spcAft>
              <a:buChar char="•"/>
            </a:pPr>
            <a:r>
              <a:rPr sz="2100" b="0" i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No student-deployable tool joins PDF intake, assessment and auditable matching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D:\vaishanavi\CSE-D\CSE-D-D1\doc_generator\college_banner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89608" y="73152"/>
            <a:ext cx="8412480" cy="870257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365760" y="979985"/>
            <a:ext cx="11457432" cy="0"/>
          </a:xfrm>
          <a:prstGeom prst="line">
            <a:avLst/>
          </a:prstGeom>
          <a:noFill/>
          <a:ln w="19050">
            <a:solidFill>
              <a:srgbClr val="1F3864"/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457200" y="1098857"/>
            <a:ext cx="11247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Statement</a:t>
            </a:r>
            <a:endParaRPr lang="en-US" sz="2600" dirty="0"/>
          </a:p>
        </p:txBody>
      </p:sp>
      <p:sp>
        <p:nvSpPr>
          <p:cNvPr id="5" name="Text 2"/>
          <p:cNvSpPr/>
          <p:nvPr/>
        </p:nvSpPr>
        <p:spPr>
          <a:xfrm>
            <a:off x="36576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Dept. of CSE  |  Batch C8  |  Final Review</a:t>
            </a:r>
            <a:endParaRPr lang="en-US" sz="1000" dirty="0"/>
          </a:p>
        </p:txBody>
      </p:sp>
      <p:sp>
        <p:nvSpPr>
          <p:cNvPr id="6" name="Text 3"/>
          <p:cNvSpPr/>
          <p:nvPr/>
        </p:nvSpPr>
        <p:spPr>
          <a:xfrm>
            <a:off x="11155680" y="644652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  <p:sp>
        <p:nvSpPr>
          <p:cNvPr id="7" name="Rounded Rectangle 6"/>
          <p:cNvSpPr/>
          <p:nvPr/>
        </p:nvSpPr>
        <p:spPr>
          <a:xfrm>
            <a:off x="502920" y="1737360"/>
            <a:ext cx="11155680" cy="2103120"/>
          </a:xfrm>
          <a:prstGeom prst="roundRect">
            <a:avLst>
              <a:gd name="adj" fmla="val 4000"/>
            </a:avLst>
          </a:prstGeom>
          <a:solidFill>
            <a:srgbClr val="DEEA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777240" y="1783080"/>
            <a:ext cx="10607040" cy="20116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 marL="256032" indent="-201168">
              <a:spcAft>
                <a:spcPts val="400"/>
              </a:spcAft>
              <a:buChar char="•"/>
            </a:pPr>
            <a:r>
              <a:rPr sz="1700" b="0" i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Reviewer assignment is manual and depends on the editor's personal knowledge</a:t>
            </a:r>
          </a:p>
          <a:p>
            <a:pPr algn="l" marL="256032" indent="-201168">
              <a:spcAft>
                <a:spcPts val="400"/>
              </a:spcAft>
              <a:buChar char="•"/>
            </a:pPr>
            <a:r>
              <a:rPr sz="1700" b="0" i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Keyword matching picks reviewers who share vocabulary, not expertise</a:t>
            </a:r>
          </a:p>
          <a:p>
            <a:pPr algn="l" marL="256032" indent="-201168">
              <a:spcAft>
                <a:spcPts val="400"/>
              </a:spcAft>
              <a:buChar char="•"/>
            </a:pPr>
            <a:r>
              <a:rPr sz="1700" b="0" i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Slow reviews delay the publication of valid research</a:t>
            </a:r>
          </a:p>
          <a:p>
            <a:pPr algn="l" marL="256032" indent="-201168">
              <a:spcAft>
                <a:spcPts val="400"/>
              </a:spcAft>
              <a:buChar char="•"/>
            </a:pPr>
            <a:r>
              <a:rPr sz="1700" b="0" i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Review quality varies between reviewers with no consistency check</a:t>
            </a:r>
          </a:p>
          <a:p>
            <a:pPr algn="l" marL="256032" indent="-201168">
              <a:spcAft>
                <a:spcPts val="400"/>
              </a:spcAft>
              <a:buChar char="•"/>
            </a:pPr>
            <a:r>
              <a:rPr sz="1700" b="0" i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Need: assess submissions automatically and assign the most expert reviewer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4114800"/>
            <a:ext cx="3566160" cy="1554480"/>
          </a:xfrm>
          <a:prstGeom prst="roundRect">
            <a:avLst>
              <a:gd name="adj" fmla="val 4000"/>
            </a:avLst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685800" y="4206240"/>
            <a:ext cx="3200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1" i="0">
                <a:solidFill>
                  <a:srgbClr val="1F3864"/>
                </a:solidFill>
                <a:latin typeface="Calibri"/>
                <a:ea typeface="Calibri"/>
                <a:cs typeface="Calibri"/>
              </a:rPr>
              <a:t>Input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4663440"/>
            <a:ext cx="32004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 i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Research-paper PDF (up to 20 MB) and a directory of reviewer profiles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251959" y="4114800"/>
            <a:ext cx="3566160" cy="1554480"/>
          </a:xfrm>
          <a:prstGeom prst="roundRect">
            <a:avLst>
              <a:gd name="adj" fmla="val 4000"/>
            </a:avLst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4434840" y="4206240"/>
            <a:ext cx="3200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1" i="0">
                <a:solidFill>
                  <a:srgbClr val="1F3864"/>
                </a:solidFill>
                <a:latin typeface="Calibri"/>
                <a:ea typeface="Calibri"/>
                <a:cs typeface="Calibri"/>
              </a:rPr>
              <a:t>Output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34840" y="4663440"/>
            <a:ext cx="32004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 i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Preliminary assessment and ranked reviewers with a visible score breakdown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01000" y="4114800"/>
            <a:ext cx="3566160" cy="1554480"/>
          </a:xfrm>
          <a:prstGeom prst="roundRect">
            <a:avLst>
              <a:gd name="adj" fmla="val 4000"/>
            </a:avLst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8183879" y="4206240"/>
            <a:ext cx="3200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1" i="0">
                <a:solidFill>
                  <a:srgbClr val="1F3864"/>
                </a:solidFill>
                <a:latin typeface="Calibri"/>
                <a:ea typeface="Calibri"/>
                <a:cs typeface="Calibri"/>
              </a:rPr>
              <a:t>Record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183879" y="4663440"/>
            <a:ext cx="32004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 i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Stored analyses, JSON and PDF export, measured model metrics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D:\vaishanavi\CSE-D\CSE-D-D1\doc_generator\college_banner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89608" y="73152"/>
            <a:ext cx="8412480" cy="870257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365760" y="979985"/>
            <a:ext cx="11457432" cy="0"/>
          </a:xfrm>
          <a:prstGeom prst="line">
            <a:avLst/>
          </a:prstGeom>
          <a:noFill/>
          <a:ln w="19050">
            <a:solidFill>
              <a:srgbClr val="1F3864"/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457200" y="1098857"/>
            <a:ext cx="11247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Objectives</a:t>
            </a:r>
            <a:endParaRPr lang="en-US" sz="2600" dirty="0"/>
          </a:p>
        </p:txBody>
      </p:sp>
      <p:sp>
        <p:nvSpPr>
          <p:cNvPr id="5" name="Text 2"/>
          <p:cNvSpPr/>
          <p:nvPr/>
        </p:nvSpPr>
        <p:spPr>
          <a:xfrm>
            <a:off x="36576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Dept. of CSE  |  Batch C8  |  Final Review</a:t>
            </a:r>
            <a:endParaRPr lang="en-US" sz="1000" dirty="0"/>
          </a:p>
        </p:txBody>
      </p:sp>
      <p:sp>
        <p:nvSpPr>
          <p:cNvPr id="6" name="Text 3"/>
          <p:cNvSpPr/>
          <p:nvPr/>
        </p:nvSpPr>
        <p:spPr>
          <a:xfrm>
            <a:off x="11155680" y="644652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00" dirty="0"/>
          </a:p>
        </p:txBody>
      </p:sp>
      <p:sp>
        <p:nvSpPr>
          <p:cNvPr id="7" name="TextBox 6"/>
          <p:cNvSpPr txBox="1"/>
          <p:nvPr/>
        </p:nvSpPr>
        <p:spPr>
          <a:xfrm>
            <a:off x="502920" y="1737360"/>
            <a:ext cx="11155680" cy="44805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1200"/>
              </a:spcAft>
            </a:pPr>
            <a:r>
              <a:rPr sz="2000" b="0" i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1.  Build a corpus of submitted papers and reviewer publication profiles</a:t>
            </a:r>
          </a:p>
          <a:p>
            <a:pPr algn="l">
              <a:spcAft>
                <a:spcPts val="1200"/>
              </a:spcAft>
            </a:pPr>
            <a:r>
              <a:rPr sz="2000" b="0" i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2.  Extract topics, methods and keywords from paper text with NLP</a:t>
            </a:r>
          </a:p>
          <a:p>
            <a:pPr algn="l">
              <a:spcAft>
                <a:spcPts val="1200"/>
              </a:spcAft>
            </a:pPr>
            <a:r>
              <a:rPr sz="2000" b="0" i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3.  Represent reviewer expertise as comparable vectors</a:t>
            </a:r>
          </a:p>
          <a:p>
            <a:pPr algn="l">
              <a:spcAft>
                <a:spcPts val="1200"/>
              </a:spcAft>
            </a:pPr>
            <a:r>
              <a:rPr sz="2000" b="0" i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4.  Rank candidate reviewers by semantic similarity for each paper</a:t>
            </a:r>
          </a:p>
          <a:p>
            <a:pPr algn="l">
              <a:spcAft>
                <a:spcPts val="1200"/>
              </a:spcAft>
            </a:pPr>
            <a:r>
              <a:rPr sz="2000" b="0" i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5.  Give a preliminary assessment: structure, novelty signals, completeness</a:t>
            </a:r>
          </a:p>
          <a:p>
            <a:pPr algn="l">
              <a:spcAft>
                <a:spcPts val="1200"/>
              </a:spcAft>
            </a:pPr>
            <a:r>
              <a:rPr sz="2000" b="0" i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6.  Evaluate assignment quality and conflict-of-interest handling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D:\vaishanavi\CSE-D\CSE-D-D1\doc_generator\college_banner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89608" y="73152"/>
            <a:ext cx="8412480" cy="870257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365760" y="979985"/>
            <a:ext cx="11457432" cy="0"/>
          </a:xfrm>
          <a:prstGeom prst="line">
            <a:avLst/>
          </a:prstGeom>
          <a:noFill/>
          <a:ln w="19050">
            <a:solidFill>
              <a:srgbClr val="1F3864"/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457200" y="1098857"/>
            <a:ext cx="11247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Proposed System</a:t>
            </a:r>
            <a:endParaRPr lang="en-US" sz="2600" dirty="0"/>
          </a:p>
        </p:txBody>
      </p:sp>
      <p:sp>
        <p:nvSpPr>
          <p:cNvPr id="5" name="Text 2"/>
          <p:cNvSpPr/>
          <p:nvPr/>
        </p:nvSpPr>
        <p:spPr>
          <a:xfrm>
            <a:off x="36576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Dept. of CSE  |  Batch C8  |  Final Review</a:t>
            </a:r>
            <a:endParaRPr lang="en-US" sz="1000" dirty="0"/>
          </a:p>
        </p:txBody>
      </p:sp>
      <p:sp>
        <p:nvSpPr>
          <p:cNvPr id="6" name="Text 3"/>
          <p:cNvSpPr/>
          <p:nvPr/>
        </p:nvSpPr>
        <p:spPr>
          <a:xfrm>
            <a:off x="11155680" y="644652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000" dirty="0"/>
          </a:p>
        </p:txBody>
      </p:sp>
      <p:sp>
        <p:nvSpPr>
          <p:cNvPr id="7" name="Rounded Rectangle 6"/>
          <p:cNvSpPr/>
          <p:nvPr/>
        </p:nvSpPr>
        <p:spPr>
          <a:xfrm>
            <a:off x="502920" y="1783080"/>
            <a:ext cx="1975103" cy="1005840"/>
          </a:xfrm>
          <a:prstGeom prst="roundRect">
            <a:avLst>
              <a:gd name="adj" fmla="val 8000"/>
            </a:avLst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PDF upload</a:t>
            </a:r>
          </a:p>
        </p:txBody>
      </p:sp>
      <p:sp>
        <p:nvSpPr>
          <p:cNvPr id="8" name="Right Arrow 7"/>
          <p:cNvSpPr/>
          <p:nvPr/>
        </p:nvSpPr>
        <p:spPr>
          <a:xfrm>
            <a:off x="2537460" y="2167128"/>
            <a:ext cx="201168" cy="237744"/>
          </a:xfrm>
          <a:prstGeom prst="rightArrow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2798063" y="1783080"/>
            <a:ext cx="1975103" cy="1005840"/>
          </a:xfrm>
          <a:prstGeom prst="roundRect">
            <a:avLst>
              <a:gd name="adj" fmla="val 8000"/>
            </a:avLst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Extract + signals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4832603" y="2167128"/>
            <a:ext cx="201168" cy="237744"/>
          </a:xfrm>
          <a:prstGeom prst="rightArrow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5093207" y="1783080"/>
            <a:ext cx="1975103" cy="1005840"/>
          </a:xfrm>
          <a:prstGeom prst="roundRect">
            <a:avLst>
              <a:gd name="adj" fmla="val 8000"/>
            </a:avLst>
          </a:prstGeom>
          <a:solidFill>
            <a:srgbClr val="1BAF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Decision + AI review</a:t>
            </a:r>
          </a:p>
        </p:txBody>
      </p:sp>
      <p:sp>
        <p:nvSpPr>
          <p:cNvPr id="12" name="Right Arrow 11"/>
          <p:cNvSpPr/>
          <p:nvPr/>
        </p:nvSpPr>
        <p:spPr>
          <a:xfrm>
            <a:off x="7127747" y="2167128"/>
            <a:ext cx="201168" cy="237744"/>
          </a:xfrm>
          <a:prstGeom prst="rightArrow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7388352" y="1783080"/>
            <a:ext cx="1975103" cy="1005840"/>
          </a:xfrm>
          <a:prstGeom prst="roundRect">
            <a:avLst>
              <a:gd name="adj" fmla="val 8000"/>
            </a:avLst>
          </a:prstGeom>
          <a:solidFill>
            <a:srgbClr val="EB68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Literature</a:t>
            </a:r>
          </a:p>
        </p:txBody>
      </p:sp>
      <p:sp>
        <p:nvSpPr>
          <p:cNvPr id="14" name="Right Arrow 13"/>
          <p:cNvSpPr/>
          <p:nvPr/>
        </p:nvSpPr>
        <p:spPr>
          <a:xfrm>
            <a:off x="9422892" y="2167128"/>
            <a:ext cx="201168" cy="237744"/>
          </a:xfrm>
          <a:prstGeom prst="rightArrow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9683496" y="1783080"/>
            <a:ext cx="1975103" cy="1005840"/>
          </a:xfrm>
          <a:prstGeom prst="roundRect">
            <a:avLst>
              <a:gd name="adj" fmla="val 8000"/>
            </a:avLst>
          </a:prstGeom>
          <a:solidFill>
            <a:srgbClr val="6B52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Rank reviewers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2920" y="3063240"/>
            <a:ext cx="11155680" cy="3200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256032" indent="-201168">
              <a:spcAft>
                <a:spcPts val="1000"/>
              </a:spcAft>
              <a:buChar char="•"/>
            </a:pPr>
            <a:r>
              <a:rPr sz="1700" b="0" i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Read the PDF locally: text, sections, references, structural signals</a:t>
            </a:r>
          </a:p>
          <a:p>
            <a:pPr algn="l" marL="256032" indent="-201168">
              <a:spcAft>
                <a:spcPts val="1000"/>
              </a:spcAft>
              <a:buChar char="•"/>
            </a:pPr>
            <a:r>
              <a:rPr sz="1700" b="0" i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Add a trained decision signal and a local AI critique with a visible fallback</a:t>
            </a:r>
          </a:p>
          <a:p>
            <a:pPr algn="l" marL="256032" indent="-201168">
              <a:spcAft>
                <a:spcPts val="1000"/>
              </a:spcAft>
              <a:buChar char="•"/>
            </a:pPr>
            <a:r>
              <a:rPr sz="1700" b="0" i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Ground the paper with related works from OpenAlex</a:t>
            </a:r>
          </a:p>
          <a:p>
            <a:pPr algn="l" marL="256032" indent="-201168">
              <a:spcAft>
                <a:spcPts val="1000"/>
              </a:spcAft>
              <a:buChar char="•"/>
            </a:pPr>
            <a:r>
              <a:rPr sz="1700" b="0" i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Rank reviewers: 0.55 similarity + 0.20 keyword + 0.15 method + 0.10 availability</a:t>
            </a:r>
          </a:p>
          <a:p>
            <a:pPr algn="l" marL="256032" indent="-201168">
              <a:spcAft>
                <a:spcPts val="1000"/>
              </a:spcAft>
              <a:buChar char="•"/>
            </a:pPr>
            <a:r>
              <a:rPr sz="1700" b="0" i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Subtract a conflict penalty and show every term of the score</a:t>
            </a:r>
          </a:p>
          <a:p>
            <a:pPr algn="l" marL="256032" indent="-201168">
              <a:spcAft>
                <a:spcPts val="400"/>
              </a:spcAft>
              <a:buChar char="•"/>
            </a:pPr>
            <a:r>
              <a:rPr sz="1700" b="0" i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Final editorial judgement stays with a human: every screen carries the decision-support disclaimer.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D:\vaishanavi\CSE-D\CSE-D-D1\doc_generator\college_banner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89608" y="73152"/>
            <a:ext cx="8412480" cy="870257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365760" y="979985"/>
            <a:ext cx="11457432" cy="0"/>
          </a:xfrm>
          <a:prstGeom prst="line">
            <a:avLst/>
          </a:prstGeom>
          <a:noFill/>
          <a:ln w="19050">
            <a:solidFill>
              <a:srgbClr val="1F3864"/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457200" y="1098857"/>
            <a:ext cx="11247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Architecture</a:t>
            </a:r>
            <a:endParaRPr lang="en-US" sz="2600" dirty="0"/>
          </a:p>
        </p:txBody>
      </p:sp>
      <p:sp>
        <p:nvSpPr>
          <p:cNvPr id="5" name="Text 2"/>
          <p:cNvSpPr/>
          <p:nvPr/>
        </p:nvSpPr>
        <p:spPr>
          <a:xfrm>
            <a:off x="36576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Dept. of CSE  |  Batch C8  |  Final Review</a:t>
            </a:r>
            <a:endParaRPr lang="en-US" sz="1000" dirty="0"/>
          </a:p>
        </p:txBody>
      </p:sp>
      <p:sp>
        <p:nvSpPr>
          <p:cNvPr id="6" name="Text 3"/>
          <p:cNvSpPr/>
          <p:nvPr/>
        </p:nvSpPr>
        <p:spPr>
          <a:xfrm>
            <a:off x="11155680" y="644652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  <p:pic>
        <p:nvPicPr>
          <p:cNvPr id="7" name="Picture 6" descr="01_system_architectu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67542" y="1645920"/>
            <a:ext cx="5551714" cy="466344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8412480" y="1828800"/>
            <a:ext cx="3291840" cy="4389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256032" indent="-201168">
              <a:spcAft>
                <a:spcPts val="800"/>
              </a:spcAft>
              <a:buChar char="•"/>
            </a:pPr>
            <a:r>
              <a:rPr sz="1500" b="0" i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Web app: React + Vite on port 5408</a:t>
            </a:r>
          </a:p>
          <a:p>
            <a:pPr algn="l" marL="256032" indent="-201168">
              <a:spcAft>
                <a:spcPts val="800"/>
              </a:spcAft>
              <a:buChar char="•"/>
            </a:pPr>
            <a:r>
              <a:rPr sz="1500" b="0" i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API: FastAPI on port 8408, 12 routes</a:t>
            </a:r>
          </a:p>
          <a:p>
            <a:pPr algn="l" marL="256032" indent="-201168">
              <a:spcAft>
                <a:spcPts val="800"/>
              </a:spcAft>
              <a:buChar char="•"/>
            </a:pPr>
            <a:r>
              <a:rPr sz="1500" b="0" i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Services: extraction, features, decision, review, literature, matching</a:t>
            </a:r>
          </a:p>
          <a:p>
            <a:pPr algn="l" marL="256032" indent="-201168">
              <a:spcAft>
                <a:spcPts val="800"/>
              </a:spcAft>
              <a:buChar char="•"/>
            </a:pPr>
            <a:r>
              <a:rPr sz="1500" b="0" i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Storage: SQLite (reviewers, analyses) and model files</a:t>
            </a:r>
          </a:p>
          <a:p>
            <a:pPr algn="l" marL="256032" indent="-201168">
              <a:spcAft>
                <a:spcPts val="400"/>
              </a:spcAft>
              <a:buChar char="•"/>
            </a:pPr>
            <a:r>
              <a:rPr sz="1500" b="0" i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Local first: only a title query leaves the machine (OpenAlex)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D:\vaishanavi\CSE-D\CSE-D-D1\doc_generator\college_banner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89608" y="73152"/>
            <a:ext cx="8412480" cy="870257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365760" y="979985"/>
            <a:ext cx="11457432" cy="0"/>
          </a:xfrm>
          <a:prstGeom prst="line">
            <a:avLst/>
          </a:prstGeom>
          <a:noFill/>
          <a:ln w="19050">
            <a:solidFill>
              <a:srgbClr val="1F3864"/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457200" y="1098857"/>
            <a:ext cx="11247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Methodology</a:t>
            </a:r>
            <a:endParaRPr lang="en-US" sz="2600" dirty="0"/>
          </a:p>
        </p:txBody>
      </p:sp>
      <p:sp>
        <p:nvSpPr>
          <p:cNvPr id="5" name="Text 2"/>
          <p:cNvSpPr/>
          <p:nvPr/>
        </p:nvSpPr>
        <p:spPr>
          <a:xfrm>
            <a:off x="36576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Dept. of CSE  |  Batch C8  |  Final Review</a:t>
            </a:r>
            <a:endParaRPr lang="en-US" sz="1000" dirty="0"/>
          </a:p>
        </p:txBody>
      </p:sp>
      <p:sp>
        <p:nvSpPr>
          <p:cNvPr id="6" name="Text 3"/>
          <p:cNvSpPr/>
          <p:nvPr/>
        </p:nvSpPr>
        <p:spPr>
          <a:xfrm>
            <a:off x="11155680" y="644652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000" dirty="0"/>
          </a:p>
        </p:txBody>
      </p:sp>
      <p:sp>
        <p:nvSpPr>
          <p:cNvPr id="7" name="Rounded Rectangle 6"/>
          <p:cNvSpPr/>
          <p:nvPr/>
        </p:nvSpPr>
        <p:spPr>
          <a:xfrm>
            <a:off x="502920" y="1737360"/>
            <a:ext cx="1436914" cy="1097280"/>
          </a:xfrm>
          <a:prstGeom prst="roundRect">
            <a:avLst>
              <a:gd name="adj" fmla="val 8000"/>
            </a:avLst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Read PDF</a:t>
            </a:r>
          </a:p>
        </p:txBody>
      </p:sp>
      <p:sp>
        <p:nvSpPr>
          <p:cNvPr id="8" name="Right Arrow 7"/>
          <p:cNvSpPr/>
          <p:nvPr/>
        </p:nvSpPr>
        <p:spPr>
          <a:xfrm>
            <a:off x="1930690" y="2167128"/>
            <a:ext cx="201168" cy="237744"/>
          </a:xfrm>
          <a:prstGeom prst="rightArrow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2122714" y="1737360"/>
            <a:ext cx="1436914" cy="1097280"/>
          </a:xfrm>
          <a:prstGeom prst="roundRect">
            <a:avLst>
              <a:gd name="adj" fmla="val 8000"/>
            </a:avLst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Sections + features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3550484" y="2167128"/>
            <a:ext cx="201168" cy="237744"/>
          </a:xfrm>
          <a:prstGeom prst="rightArrow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3742508" y="1737360"/>
            <a:ext cx="1436914" cy="1097280"/>
          </a:xfrm>
          <a:prstGeom prst="roundRect">
            <a:avLst>
              <a:gd name="adj" fmla="val 8000"/>
            </a:avLst>
          </a:prstGeom>
          <a:solidFill>
            <a:srgbClr val="1BAF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Decision signal</a:t>
            </a:r>
          </a:p>
        </p:txBody>
      </p:sp>
      <p:sp>
        <p:nvSpPr>
          <p:cNvPr id="12" name="Right Arrow 11"/>
          <p:cNvSpPr/>
          <p:nvPr/>
        </p:nvSpPr>
        <p:spPr>
          <a:xfrm>
            <a:off x="5170278" y="2167128"/>
            <a:ext cx="201168" cy="237744"/>
          </a:xfrm>
          <a:prstGeom prst="rightArrow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5362302" y="1737360"/>
            <a:ext cx="1436914" cy="1097280"/>
          </a:xfrm>
          <a:prstGeom prst="roundRect">
            <a:avLst>
              <a:gd name="adj" fmla="val 8000"/>
            </a:avLst>
          </a:prstGeom>
          <a:solidFill>
            <a:srgbClr val="EB68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AI review (3 steps)</a:t>
            </a:r>
          </a:p>
        </p:txBody>
      </p:sp>
      <p:sp>
        <p:nvSpPr>
          <p:cNvPr id="14" name="Right Arrow 13"/>
          <p:cNvSpPr/>
          <p:nvPr/>
        </p:nvSpPr>
        <p:spPr>
          <a:xfrm>
            <a:off x="6790073" y="2167128"/>
            <a:ext cx="201168" cy="237744"/>
          </a:xfrm>
          <a:prstGeom prst="rightArrow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6982097" y="1737360"/>
            <a:ext cx="1436914" cy="1097280"/>
          </a:xfrm>
          <a:prstGeom prst="roundRect">
            <a:avLst>
              <a:gd name="adj" fmla="val 8000"/>
            </a:avLst>
          </a:prstGeom>
          <a:solidFill>
            <a:srgbClr val="6B52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OpenAlex</a:t>
            </a:r>
          </a:p>
        </p:txBody>
      </p:sp>
      <p:sp>
        <p:nvSpPr>
          <p:cNvPr id="16" name="Right Arrow 15"/>
          <p:cNvSpPr/>
          <p:nvPr/>
        </p:nvSpPr>
        <p:spPr>
          <a:xfrm>
            <a:off x="8409867" y="2167128"/>
            <a:ext cx="201168" cy="237744"/>
          </a:xfrm>
          <a:prstGeom prst="rightArrow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8601891" y="1737360"/>
            <a:ext cx="1436914" cy="1097280"/>
          </a:xfrm>
          <a:prstGeom prst="roundRect">
            <a:avLst>
              <a:gd name="adj" fmla="val 8000"/>
            </a:avLst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Match + conflict</a:t>
            </a:r>
          </a:p>
        </p:txBody>
      </p:sp>
      <p:sp>
        <p:nvSpPr>
          <p:cNvPr id="18" name="Right Arrow 17"/>
          <p:cNvSpPr/>
          <p:nvPr/>
        </p:nvSpPr>
        <p:spPr>
          <a:xfrm>
            <a:off x="10029661" y="2167128"/>
            <a:ext cx="201168" cy="237744"/>
          </a:xfrm>
          <a:prstGeom prst="rightArrow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10221685" y="1737360"/>
            <a:ext cx="1436914" cy="1097280"/>
          </a:xfrm>
          <a:prstGeom prst="roundRect">
            <a:avLst>
              <a:gd name="adj" fmla="val 8000"/>
            </a:avLst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Store + export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2920" y="3108960"/>
            <a:ext cx="11155680" cy="3108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256032" indent="-201168">
              <a:spcAft>
                <a:spcPts val="900"/>
              </a:spcAft>
              <a:buChar char="•"/>
            </a:pPr>
            <a:r>
              <a:rPr sz="1600" b="0" i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Deterministic rules always run; the local language model adds text only when it loads, and a visible notice replaces it otherwise: nothing is fabricated.</a:t>
            </a:r>
          </a:p>
          <a:p>
            <a:pPr algn="l" marL="256032" indent="-201168">
              <a:spcAft>
                <a:spcPts val="900"/>
              </a:spcAft>
              <a:buChar char="•"/>
            </a:pPr>
            <a:r>
              <a:rPr sz="1600" b="0" i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Decision model: stratified 80/20 split, seed 42; extra measurements: five other splits, baselines, confidence threshold sweep.</a:t>
            </a:r>
          </a:p>
          <a:p>
            <a:pPr algn="l" marL="256032" indent="-201168">
              <a:spcAft>
                <a:spcPts val="900"/>
              </a:spcAft>
              <a:buChar char="•"/>
            </a:pPr>
            <a:r>
              <a:rPr sz="1600" b="0" i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Matching evaluated on 40 held-out probe abstracts across six areas: top-1, top-3 and MRR for four score configurations and two embedders.</a:t>
            </a:r>
          </a:p>
          <a:p>
            <a:pPr algn="l" marL="256032" indent="-201168">
              <a:spcAft>
                <a:spcPts val="900"/>
              </a:spcAft>
              <a:buChar char="•"/>
            </a:pPr>
            <a:r>
              <a:rPr sz="1600" b="0" i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Conflict handling tested by injecting 15 links into papers; false flags counted on 240 clean paper-reviewer pairs.</a:t>
            </a:r>
          </a:p>
          <a:p>
            <a:pPr algn="l" marL="256032" indent="-201168">
              <a:spcAft>
                <a:spcPts val="400"/>
              </a:spcAft>
              <a:buChar char="•"/>
            </a:pPr>
            <a:r>
              <a:rPr sz="1600" b="0" i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Every number is written by scripts/measure_metrics.py to docs/metrics/metrics.json.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D:\vaishanavi\CSE-D\CSE-D-D1\doc_generator\college_banner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89608" y="73152"/>
            <a:ext cx="8412480" cy="870257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365760" y="979985"/>
            <a:ext cx="11457432" cy="0"/>
          </a:xfrm>
          <a:prstGeom prst="line">
            <a:avLst/>
          </a:prstGeom>
          <a:noFill/>
          <a:ln w="19050">
            <a:solidFill>
              <a:srgbClr val="1F3864"/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457200" y="1098857"/>
            <a:ext cx="11247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 &amp; Models</a:t>
            </a:r>
            <a:endParaRPr lang="en-US" sz="2600" dirty="0"/>
          </a:p>
        </p:txBody>
      </p:sp>
      <p:sp>
        <p:nvSpPr>
          <p:cNvPr id="5" name="Text 2"/>
          <p:cNvSpPr/>
          <p:nvPr/>
        </p:nvSpPr>
        <p:spPr>
          <a:xfrm>
            <a:off x="36576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Dept. of CSE  |  Batch C8  |  Final Review</a:t>
            </a:r>
            <a:endParaRPr lang="en-US" sz="1000" dirty="0"/>
          </a:p>
        </p:txBody>
      </p:sp>
      <p:sp>
        <p:nvSpPr>
          <p:cNvPr id="6" name="Text 3"/>
          <p:cNvSpPr/>
          <p:nvPr/>
        </p:nvSpPr>
        <p:spPr>
          <a:xfrm>
            <a:off x="11155680" y="644652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000" dirty="0"/>
          </a:p>
        </p:txBody>
      </p:sp>
      <p:sp>
        <p:nvSpPr>
          <p:cNvPr id="7" name="Rounded Rectangle 6"/>
          <p:cNvSpPr/>
          <p:nvPr/>
        </p:nvSpPr>
        <p:spPr>
          <a:xfrm>
            <a:off x="502920" y="1737360"/>
            <a:ext cx="2651760" cy="960120"/>
          </a:xfrm>
          <a:prstGeom prst="roundRect">
            <a:avLst>
              <a:gd name="adj" fmla="val 5000"/>
            </a:avLst>
          </a:prstGeom>
          <a:solidFill>
            <a:srgbClr val="DEEA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ectangle 7"/>
          <p:cNvSpPr/>
          <p:nvPr/>
        </p:nvSpPr>
        <p:spPr>
          <a:xfrm>
            <a:off x="502920" y="1737360"/>
            <a:ext cx="73152" cy="960120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685800" y="1792224"/>
            <a:ext cx="2377440" cy="52806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600" b="1" i="0">
                <a:solidFill>
                  <a:srgbClr val="1F3864"/>
                </a:solidFill>
                <a:latin typeface="Calibri"/>
                <a:ea typeface="Calibri"/>
                <a:cs typeface="Calibri"/>
              </a:rPr>
              <a:t>1,400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2294229"/>
            <a:ext cx="237744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 i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synthetic labelled rows (fallback data)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02920" y="2834640"/>
            <a:ext cx="2651760" cy="960120"/>
          </a:xfrm>
          <a:prstGeom prst="roundRect">
            <a:avLst>
              <a:gd name="adj" fmla="val 5000"/>
            </a:avLst>
          </a:prstGeom>
          <a:solidFill>
            <a:srgbClr val="DEEA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Rectangle 11"/>
          <p:cNvSpPr/>
          <p:nvPr/>
        </p:nvSpPr>
        <p:spPr>
          <a:xfrm>
            <a:off x="502920" y="2834640"/>
            <a:ext cx="73152" cy="960120"/>
          </a:xfrm>
          <a:prstGeom prst="rect">
            <a:avLst/>
          </a:prstGeom>
          <a:solidFill>
            <a:srgbClr val="1BAF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685800" y="2889504"/>
            <a:ext cx="2377440" cy="52806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400" b="1" i="0">
                <a:solidFill>
                  <a:srgbClr val="1F3864"/>
                </a:solidFill>
                <a:latin typeface="Calibri"/>
                <a:ea typeface="Calibri"/>
                <a:cs typeface="Calibri"/>
              </a:rPr>
              <a:t>12,000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5800" y="3391509"/>
            <a:ext cx="237744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 i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TF-IDF features: 8k word + 4k char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02920" y="3931920"/>
            <a:ext cx="2651760" cy="960120"/>
          </a:xfrm>
          <a:prstGeom prst="roundRect">
            <a:avLst>
              <a:gd name="adj" fmla="val 5000"/>
            </a:avLst>
          </a:prstGeom>
          <a:solidFill>
            <a:srgbClr val="DEEA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Rectangle 15"/>
          <p:cNvSpPr/>
          <p:nvPr/>
        </p:nvSpPr>
        <p:spPr>
          <a:xfrm>
            <a:off x="502920" y="3931920"/>
            <a:ext cx="73152" cy="960120"/>
          </a:xfrm>
          <a:prstGeom prst="rect">
            <a:avLst/>
          </a:prstGeom>
          <a:solidFill>
            <a:srgbClr val="EB68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685800" y="3986783"/>
            <a:ext cx="2377440" cy="52806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400" b="1" i="0">
                <a:solidFill>
                  <a:srgbClr val="1F3864"/>
                </a:solidFill>
                <a:latin typeface="Calibri"/>
                <a:ea typeface="Calibri"/>
                <a:cs typeface="Calibri"/>
              </a:rPr>
              <a:t>1120 / 280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5800" y="4488789"/>
            <a:ext cx="237744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 i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train / test papers (80/20, seed 42)</a:t>
            </a:r>
          </a:p>
        </p:txBody>
      </p:sp>
      <p:pic>
        <p:nvPicPr>
          <p:cNvPr id="19" name="Picture 18" descr="f06_dataset_structur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81320" y="1691640"/>
            <a:ext cx="4158799" cy="2011680"/>
          </a:xfrm>
          <a:prstGeom prst="rect">
            <a:avLst/>
          </a:prstGeom>
        </p:spPr>
      </p:pic>
      <p:graphicFrame>
        <p:nvGraphicFramePr>
          <p:cNvPr id="20" name="Table 19"/>
          <p:cNvGraphicFramePr>
            <a:graphicFrameLocks noGrp="1"/>
          </p:cNvGraphicFramePr>
          <p:nvPr/>
        </p:nvGraphicFramePr>
        <p:xfrm>
          <a:off x="8321040" y="1737360"/>
          <a:ext cx="3474720" cy="2834640"/>
        </p:xfrm>
        <a:graphic>
          <a:graphicData uri="http://schemas.openxmlformats.org/drawingml/2006/table">
            <a:tbl>
              <a:tblPr firstRow="0" bandRow="0">
                <a:tableStyleId>{5C22544A-7EE6-4342-B048-85BDC9FD1C3A}</a:tableStyleId>
              </a:tblPr>
              <a:tblGrid>
                <a:gridCol w="1371600"/>
                <a:gridCol w="2103120"/>
              </a:tblGrid>
              <a:tr h="566928"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1F3864"/>
                          </a:solidFill>
                          <a:latin typeface="Calibri"/>
                          <a:ea typeface="Calibri"/>
                          <a:cs typeface="Calibri"/>
                        </a:rPr>
                        <a:t>Component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DEEA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1F3864"/>
                          </a:solidFill>
                          <a:latin typeface="Calibri"/>
                          <a:ea typeface="Calibri"/>
                          <a:cs typeface="Calibri"/>
                        </a:rPr>
                        <a:t>Choice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DEEAF6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Decision signal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LogisticRegression, balanced, C = 1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Embeddings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all-MiniLM-L6-v2 (TF-IDF fallback)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2F2F2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AI review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Qwen2.5-1.5B-Instruct, CPU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Literature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OpenAlex API, 6 works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  <p:sp>
        <p:nvSpPr>
          <p:cNvPr id="21" name="TextBox 20"/>
          <p:cNvSpPr txBox="1"/>
          <p:nvPr/>
        </p:nvSpPr>
        <p:spPr>
          <a:xfrm>
            <a:off x="3383280" y="3840480"/>
            <a:ext cx="4846320" cy="228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256032" indent="-201168">
              <a:spcAft>
                <a:spcPts val="400"/>
              </a:spcAft>
              <a:buChar char="•"/>
            </a:pPr>
            <a:r>
              <a:rPr sz="1300" b="0" i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Class counts: 362 accept, 619 borderline, 419 reject.</a:t>
            </a:r>
          </a:p>
          <a:p>
            <a:pPr algn="l" marL="256032" indent="-201168">
              <a:spcAft>
                <a:spcPts val="400"/>
              </a:spcAft>
              <a:buChar char="•"/>
            </a:pPr>
            <a:r>
              <a:rPr sz="1300" b="0" i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Each label comes from the same strength or weakness phrases that appear in the text; borderline is drawn from both groups, so accuracy cannot exceed about 0.56.</a:t>
            </a:r>
          </a:p>
          <a:p>
            <a:pPr algn="l" marL="256032" indent="-201168">
              <a:spcAft>
                <a:spcPts val="400"/>
              </a:spcAft>
              <a:buChar char="•"/>
            </a:pPr>
            <a:r>
              <a:rPr sz="1300" b="0" i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The public PeerRead probe returned no data, so this is the fallback.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02920" y="5074920"/>
            <a:ext cx="2743200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 i="1">
                <a:solidFill>
                  <a:srgbClr val="1F3864"/>
                </a:solidFill>
                <a:latin typeface="Calibri"/>
                <a:ea typeface="Calibri"/>
                <a:cs typeface="Calibri"/>
              </a:rPr>
              <a:t>Reviewer data: 6 labelled demo profiles (Reviewer Alpha to Zeta).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D:\vaishanavi\CSE-D\CSE-D-D1\doc_generator\college_banner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89608" y="73152"/>
            <a:ext cx="8412480" cy="870257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365760" y="979985"/>
            <a:ext cx="11457432" cy="0"/>
          </a:xfrm>
          <a:prstGeom prst="line">
            <a:avLst/>
          </a:prstGeom>
          <a:noFill/>
          <a:ln w="19050">
            <a:solidFill>
              <a:srgbClr val="1F3864"/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457200" y="1098857"/>
            <a:ext cx="11247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Reviewer Scoring Workflow</a:t>
            </a:r>
            <a:endParaRPr lang="en-US" sz="2600" dirty="0"/>
          </a:p>
        </p:txBody>
      </p:sp>
      <p:sp>
        <p:nvSpPr>
          <p:cNvPr id="5" name="Text 2"/>
          <p:cNvSpPr/>
          <p:nvPr/>
        </p:nvSpPr>
        <p:spPr>
          <a:xfrm>
            <a:off x="36576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Dept. of CSE  |  Batch C8  |  Final Review</a:t>
            </a:r>
            <a:endParaRPr lang="en-US" sz="1000" dirty="0"/>
          </a:p>
        </p:txBody>
      </p:sp>
      <p:sp>
        <p:nvSpPr>
          <p:cNvPr id="6" name="Text 3"/>
          <p:cNvSpPr/>
          <p:nvPr/>
        </p:nvSpPr>
        <p:spPr>
          <a:xfrm>
            <a:off x="11155680" y="644652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1000" dirty="0"/>
          </a:p>
        </p:txBody>
      </p:sp>
      <p:pic>
        <p:nvPicPr>
          <p:cNvPr id="7" name="Picture 6" descr="10_flowchart_matchin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3494" y="1645920"/>
            <a:ext cx="4239490" cy="466344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852160" y="1783080"/>
            <a:ext cx="5852160" cy="44805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256032" indent="-201168">
              <a:spcAft>
                <a:spcPts val="1000"/>
              </a:spcAft>
              <a:buChar char="•"/>
            </a:pPr>
            <a:r>
              <a:rPr sz="1600" b="0" i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Embed paper profile and every reviewer profile; cosine = expertise similarity.</a:t>
            </a:r>
          </a:p>
          <a:p>
            <a:pPr algn="l" marL="256032" indent="-201168">
              <a:spcAft>
                <a:spcPts val="1000"/>
              </a:spcAft>
              <a:buChar char="•"/>
            </a:pPr>
            <a:r>
              <a:rPr sz="1600" b="0" i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Keyword overlap, method / topic overlap, availability = 1 - load / maximum.</a:t>
            </a:r>
          </a:p>
          <a:p>
            <a:pPr algn="l" marL="256032" indent="-201168">
              <a:spcAft>
                <a:spcPts val="1000"/>
              </a:spcAft>
              <a:buChar char="•"/>
            </a:pPr>
            <a:r>
              <a:rPr sz="1600" b="0" i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Conflict check: conflict terms, full name or affiliation found in the paper text: penalty 0.60.</a:t>
            </a:r>
          </a:p>
          <a:p>
            <a:pPr algn="l" marL="256032" indent="-201168">
              <a:spcAft>
                <a:spcPts val="1000"/>
              </a:spcAft>
              <a:buChar char="•"/>
            </a:pPr>
            <a:r>
              <a:rPr sz="1600" b="0" i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Score x 100, clipped 0-100; Strong &gt;= 65, Good &gt;= 45, Possible &gt;= 25, else Weak.</a:t>
            </a:r>
          </a:p>
          <a:p>
            <a:pPr algn="l" marL="256032" indent="-201168">
              <a:spcAft>
                <a:spcPts val="400"/>
              </a:spcAft>
              <a:buChar char="•"/>
            </a:pPr>
            <a:r>
              <a:rPr sz="1600" b="0" i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The UI shows each term, its weight and the matching terms for every recommendation.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D:\vaishanavi\CSE-D\CSE-D-D1\doc_generator\college_banner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89608" y="73152"/>
            <a:ext cx="8412480" cy="870257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365760" y="979985"/>
            <a:ext cx="11457432" cy="0"/>
          </a:xfrm>
          <a:prstGeom prst="line">
            <a:avLst/>
          </a:prstGeom>
          <a:noFill/>
          <a:ln w="19050">
            <a:solidFill>
              <a:srgbClr val="1F3864"/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457200" y="1098857"/>
            <a:ext cx="11247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– System Interaction</a:t>
            </a:r>
            <a:endParaRPr lang="en-US" sz="2600" dirty="0"/>
          </a:p>
        </p:txBody>
      </p:sp>
      <p:sp>
        <p:nvSpPr>
          <p:cNvPr id="5" name="Text 2"/>
          <p:cNvSpPr/>
          <p:nvPr/>
        </p:nvSpPr>
        <p:spPr>
          <a:xfrm>
            <a:off x="36576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Dept. of CSE  |  Batch C8  |  Final Review</a:t>
            </a:r>
            <a:endParaRPr lang="en-US" sz="1000" dirty="0"/>
          </a:p>
        </p:txBody>
      </p:sp>
      <p:sp>
        <p:nvSpPr>
          <p:cNvPr id="6" name="Text 3"/>
          <p:cNvSpPr/>
          <p:nvPr/>
        </p:nvSpPr>
        <p:spPr>
          <a:xfrm>
            <a:off x="11155680" y="644652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1000" dirty="0"/>
          </a:p>
        </p:txBody>
      </p:sp>
      <p:pic>
        <p:nvPicPr>
          <p:cNvPr id="7" name="Picture 6" descr="07_sequence_analyz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18726" y="1645920"/>
            <a:ext cx="3952067" cy="4663440"/>
          </a:xfrm>
          <a:prstGeom prst="rect">
            <a:avLst/>
          </a:prstGeom>
        </p:spPr>
      </p:pic>
      <p:pic>
        <p:nvPicPr>
          <p:cNvPr id="8" name="Picture 7" descr="08_use_cas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223760" y="2275027"/>
            <a:ext cx="4480560" cy="3405225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D:\vaishanavi\CSE-D\CSE-D-D1\doc_generator\college_banner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89608" y="73152"/>
            <a:ext cx="8412480" cy="870257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365760" y="979985"/>
            <a:ext cx="11457432" cy="0"/>
          </a:xfrm>
          <a:prstGeom prst="line">
            <a:avLst/>
          </a:prstGeom>
          <a:noFill/>
          <a:ln w="19050">
            <a:solidFill>
              <a:srgbClr val="1F3864"/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457200" y="1098857"/>
            <a:ext cx="11247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 Design</a:t>
            </a:r>
            <a:endParaRPr lang="en-US" sz="2600" dirty="0"/>
          </a:p>
        </p:txBody>
      </p:sp>
      <p:sp>
        <p:nvSpPr>
          <p:cNvPr id="5" name="Text 2"/>
          <p:cNvSpPr/>
          <p:nvPr/>
        </p:nvSpPr>
        <p:spPr>
          <a:xfrm>
            <a:off x="36576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Dept. of CSE  |  Batch C8  |  Final Review</a:t>
            </a:r>
            <a:endParaRPr lang="en-US" sz="1000" dirty="0"/>
          </a:p>
        </p:txBody>
      </p:sp>
      <p:sp>
        <p:nvSpPr>
          <p:cNvPr id="6" name="Text 3"/>
          <p:cNvSpPr/>
          <p:nvPr/>
        </p:nvSpPr>
        <p:spPr>
          <a:xfrm>
            <a:off x="11155680" y="644652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1000" dirty="0"/>
          </a:p>
        </p:txBody>
      </p:sp>
      <p:pic>
        <p:nvPicPr>
          <p:cNvPr id="7" name="Picture 6" descr="09_er_diagra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6047" y="1645920"/>
            <a:ext cx="6234545" cy="4114800"/>
          </a:xfrm>
          <a:prstGeom prst="rect">
            <a:avLst/>
          </a:prstGeom>
        </p:spPr>
      </p:pic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7132320" y="1737360"/>
          <a:ext cx="4572000" cy="3657600"/>
        </p:xfrm>
        <a:graphic>
          <a:graphicData uri="http://schemas.openxmlformats.org/drawingml/2006/table">
            <a:tbl>
              <a:tblPr firstRow="0" bandRow="0">
                <a:tableStyleId>{5C22544A-7EE6-4342-B048-85BDC9FD1C3A}</a:tableStyleId>
              </a:tblPr>
              <a:tblGrid>
                <a:gridCol w="2194560"/>
                <a:gridCol w="2377440"/>
              </a:tblGrid>
              <a:tr h="457200"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1F3864"/>
                          </a:solidFill>
                          <a:latin typeface="Calibri"/>
                          <a:ea typeface="Calibri"/>
                          <a:cs typeface="Calibri"/>
                        </a:rPr>
                        <a:t>Store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DEEA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1F3864"/>
                          </a:solidFill>
                          <a:latin typeface="Calibri"/>
                          <a:ea typeface="Calibri"/>
                          <a:cs typeface="Calibri"/>
                        </a:rPr>
                        <a:t>Content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DEEAF6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table reviewers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11 columns: profile, load, conflict terms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table analyses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9 columns incl. result_json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2F2F2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processed_dataset.csv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1,400 synthetic rows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decision_model.joblib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logistic regression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2F2F2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tfidf_vectorizer.joblib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word + char vectoriser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metrics.json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measured metrics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2F2F2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models/hf_cache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Qwen weights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502920" y="5852160"/>
            <a:ext cx="111556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 i="1">
                <a:solidFill>
                  <a:srgbClr val="1F3864"/>
                </a:solidFill>
                <a:latin typeface="Calibri"/>
                <a:ea typeface="Calibri"/>
                <a:cs typeface="Calibri"/>
              </a:rPr>
              <a:t>No foreign key: an analysis stores the ranked reviewers inside its JSON, so later edits to the directory do not change past results.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D:\vaishanavi\CSE-D\CSE-D-D1\doc_generator\college_banner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89608" y="73152"/>
            <a:ext cx="8412480" cy="870257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365760" y="979985"/>
            <a:ext cx="11457432" cy="0"/>
          </a:xfrm>
          <a:prstGeom prst="line">
            <a:avLst/>
          </a:prstGeom>
          <a:noFill/>
          <a:ln w="19050">
            <a:solidFill>
              <a:srgbClr val="1F3864"/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457200" y="1098857"/>
            <a:ext cx="11247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Implementation Highlights</a:t>
            </a:r>
            <a:endParaRPr lang="en-US" sz="2600" dirty="0"/>
          </a:p>
        </p:txBody>
      </p:sp>
      <p:sp>
        <p:nvSpPr>
          <p:cNvPr id="5" name="Text 2"/>
          <p:cNvSpPr/>
          <p:nvPr/>
        </p:nvSpPr>
        <p:spPr>
          <a:xfrm>
            <a:off x="36576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Dept. of CSE  |  Batch C8  |  Final Review</a:t>
            </a:r>
            <a:endParaRPr lang="en-US" sz="1000" dirty="0"/>
          </a:p>
        </p:txBody>
      </p:sp>
      <p:sp>
        <p:nvSpPr>
          <p:cNvPr id="6" name="Text 3"/>
          <p:cNvSpPr/>
          <p:nvPr/>
        </p:nvSpPr>
        <p:spPr>
          <a:xfrm>
            <a:off x="11155680" y="644652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1000" dirty="0"/>
          </a:p>
        </p:txBody>
      </p:sp>
      <p:sp>
        <p:nvSpPr>
          <p:cNvPr id="7" name="Rounded Rectangle 6"/>
          <p:cNvSpPr/>
          <p:nvPr/>
        </p:nvSpPr>
        <p:spPr>
          <a:xfrm>
            <a:off x="502920" y="1737360"/>
            <a:ext cx="2651760" cy="1005840"/>
          </a:xfrm>
          <a:prstGeom prst="roundRect">
            <a:avLst>
              <a:gd name="adj" fmla="val 5000"/>
            </a:avLst>
          </a:prstGeom>
          <a:solidFill>
            <a:srgbClr val="DEEA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ectangle 7"/>
          <p:cNvSpPr/>
          <p:nvPr/>
        </p:nvSpPr>
        <p:spPr>
          <a:xfrm>
            <a:off x="502920" y="1737360"/>
            <a:ext cx="73152" cy="1005840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685800" y="1792224"/>
            <a:ext cx="2377440" cy="5532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 i="0">
                <a:solidFill>
                  <a:srgbClr val="1F3864"/>
                </a:solidFill>
                <a:latin typeface="Calibri"/>
                <a:ea typeface="Calibri"/>
                <a:cs typeface="Calibri"/>
              </a:rPr>
              <a:t>12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2320747"/>
            <a:ext cx="2377440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 i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REST routes (+ /docs)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337560" y="1737360"/>
            <a:ext cx="2651760" cy="1005840"/>
          </a:xfrm>
          <a:prstGeom prst="roundRect">
            <a:avLst>
              <a:gd name="adj" fmla="val 5000"/>
            </a:avLst>
          </a:prstGeom>
          <a:solidFill>
            <a:srgbClr val="DEEA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Rectangle 11"/>
          <p:cNvSpPr/>
          <p:nvPr/>
        </p:nvSpPr>
        <p:spPr>
          <a:xfrm>
            <a:off x="3337560" y="1737360"/>
            <a:ext cx="73152" cy="1005840"/>
          </a:xfrm>
          <a:prstGeom prst="rect">
            <a:avLst/>
          </a:prstGeom>
          <a:solidFill>
            <a:srgbClr val="1BAF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3520440" y="1792224"/>
            <a:ext cx="2377440" cy="5532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 i="0">
                <a:solidFill>
                  <a:srgbClr val="1F3864"/>
                </a:solidFill>
                <a:latin typeface="Calibri"/>
                <a:ea typeface="Calibri"/>
                <a:cs typeface="Calibri"/>
              </a:rPr>
              <a:t>7 + 24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520440" y="2320747"/>
            <a:ext cx="2377440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 i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pytest tests + smoke checks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72200" y="1737360"/>
            <a:ext cx="2651760" cy="1005840"/>
          </a:xfrm>
          <a:prstGeom prst="roundRect">
            <a:avLst>
              <a:gd name="adj" fmla="val 5000"/>
            </a:avLst>
          </a:prstGeom>
          <a:solidFill>
            <a:srgbClr val="DEEA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Rectangle 15"/>
          <p:cNvSpPr/>
          <p:nvPr/>
        </p:nvSpPr>
        <p:spPr>
          <a:xfrm>
            <a:off x="6172200" y="1737360"/>
            <a:ext cx="73152" cy="1005840"/>
          </a:xfrm>
          <a:prstGeom prst="rect">
            <a:avLst/>
          </a:prstGeom>
          <a:solidFill>
            <a:srgbClr val="EB68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6355080" y="1792224"/>
            <a:ext cx="2377440" cy="5532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 i="0">
                <a:solidFill>
                  <a:srgbClr val="1F3864"/>
                </a:solidFill>
                <a:latin typeface="Calibri"/>
                <a:ea typeface="Calibri"/>
                <a:cs typeface="Calibri"/>
              </a:rPr>
              <a:t>8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55080" y="2320747"/>
            <a:ext cx="2377440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 i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React pages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006840" y="1737360"/>
            <a:ext cx="2651760" cy="1005840"/>
          </a:xfrm>
          <a:prstGeom prst="roundRect">
            <a:avLst>
              <a:gd name="adj" fmla="val 5000"/>
            </a:avLst>
          </a:prstGeom>
          <a:solidFill>
            <a:srgbClr val="DEEA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Rectangle 19"/>
          <p:cNvSpPr/>
          <p:nvPr/>
        </p:nvSpPr>
        <p:spPr>
          <a:xfrm>
            <a:off x="9006840" y="1737360"/>
            <a:ext cx="73152" cy="1005840"/>
          </a:xfrm>
          <a:prstGeom prst="rect">
            <a:avLst/>
          </a:prstGeom>
          <a:solidFill>
            <a:srgbClr val="6B52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9189720" y="1792224"/>
            <a:ext cx="2377440" cy="5532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 i="0">
                <a:solidFill>
                  <a:srgbClr val="1F3864"/>
                </a:solidFill>
                <a:latin typeface="Calibri"/>
                <a:ea typeface="Calibri"/>
                <a:cs typeface="Calibri"/>
              </a:rPr>
              <a:t>1,449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189720" y="2320747"/>
            <a:ext cx="2377440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 i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lines of backend code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02920" y="3017520"/>
            <a:ext cx="11155680" cy="3200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256032" indent="-201168">
              <a:spcAft>
                <a:spcPts val="900"/>
              </a:spcAft>
              <a:buChar char="•"/>
            </a:pPr>
            <a:r>
              <a:rPr sz="1700" b="0" i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Upload validation: .pdf extension, content type, empty file, %PDF header, 20 MB limit (HTTP 413), warning when fewer than 50 words are extracted.</a:t>
            </a:r>
          </a:p>
          <a:p>
            <a:pPr algn="l" marL="256032" indent="-201168">
              <a:spcAft>
                <a:spcPts val="900"/>
              </a:spcAft>
              <a:buChar char="•"/>
            </a:pPr>
            <a:r>
              <a:rPr sz="1700" b="0" i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Graceful degradation: local model missing -&gt; visible notice and deterministic review; OpenAlex 8 s timeout -&gt; literature 'unavailable'; MiniLM missing -&gt; TF-IDF.</a:t>
            </a:r>
          </a:p>
          <a:p>
            <a:pPr algn="l" marL="256032" indent="-201168">
              <a:spcAft>
                <a:spcPts val="900"/>
              </a:spcAft>
              <a:buChar char="•"/>
            </a:pPr>
            <a:r>
              <a:rPr sz="1700" b="0" i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Reviewer directory with CRUD, activate / deactivate, CSV import and export; analysis history with JSON and PDF export (reportlab).</a:t>
            </a:r>
          </a:p>
          <a:p>
            <a:pPr algn="l" marL="256032" indent="-201168">
              <a:spcAft>
                <a:spcPts val="400"/>
              </a:spcAft>
              <a:buChar char="•"/>
            </a:pPr>
            <a:r>
              <a:rPr sz="1700" b="0" i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One command starts both servers (run.bat); a Docker image serves the API.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D:\vaishanavi\CSE-D\CSE-D-D1\doc_generator\college_banner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89608" y="73152"/>
            <a:ext cx="8412480" cy="870257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365760" y="979985"/>
            <a:ext cx="11457432" cy="0"/>
          </a:xfrm>
          <a:prstGeom prst="line">
            <a:avLst/>
          </a:prstGeom>
          <a:noFill/>
          <a:ln w="19050">
            <a:solidFill>
              <a:srgbClr val="1F3864"/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457200" y="1098857"/>
            <a:ext cx="11247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 – Decision Model (synthetic data)</a:t>
            </a:r>
            <a:endParaRPr lang="en-US" sz="2600" dirty="0"/>
          </a:p>
        </p:txBody>
      </p:sp>
      <p:sp>
        <p:nvSpPr>
          <p:cNvPr id="5" name="Text 2"/>
          <p:cNvSpPr/>
          <p:nvPr/>
        </p:nvSpPr>
        <p:spPr>
          <a:xfrm>
            <a:off x="36576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Dept. of CSE  |  Batch C8  |  Final Review</a:t>
            </a:r>
            <a:endParaRPr lang="en-US" sz="1000" dirty="0"/>
          </a:p>
        </p:txBody>
      </p:sp>
      <p:sp>
        <p:nvSpPr>
          <p:cNvPr id="6" name="Text 3"/>
          <p:cNvSpPr/>
          <p:nvPr/>
        </p:nvSpPr>
        <p:spPr>
          <a:xfrm>
            <a:off x="11155680" y="644652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1000" dirty="0"/>
          </a:p>
        </p:txBody>
      </p:sp>
      <p:sp>
        <p:nvSpPr>
          <p:cNvPr id="7" name="Rounded Rectangle 6"/>
          <p:cNvSpPr/>
          <p:nvPr/>
        </p:nvSpPr>
        <p:spPr>
          <a:xfrm>
            <a:off x="502920" y="1691640"/>
            <a:ext cx="2651760" cy="1005840"/>
          </a:xfrm>
          <a:prstGeom prst="roundRect">
            <a:avLst>
              <a:gd name="adj" fmla="val 5000"/>
            </a:avLst>
          </a:prstGeom>
          <a:solidFill>
            <a:srgbClr val="DEEA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ectangle 7"/>
          <p:cNvSpPr/>
          <p:nvPr/>
        </p:nvSpPr>
        <p:spPr>
          <a:xfrm>
            <a:off x="502920" y="1691640"/>
            <a:ext cx="73152" cy="1005840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685800" y="1746504"/>
            <a:ext cx="2377440" cy="5532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600" b="1" i="0">
                <a:solidFill>
                  <a:srgbClr val="1F3864"/>
                </a:solidFill>
                <a:latin typeface="Calibri"/>
                <a:ea typeface="Calibri"/>
                <a:cs typeface="Calibri"/>
              </a:rPr>
              <a:t>55.0%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2275027"/>
            <a:ext cx="2377440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 i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accuracy, n = 280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337560" y="1691640"/>
            <a:ext cx="2651760" cy="1005840"/>
          </a:xfrm>
          <a:prstGeom prst="roundRect">
            <a:avLst>
              <a:gd name="adj" fmla="val 5000"/>
            </a:avLst>
          </a:prstGeom>
          <a:solidFill>
            <a:srgbClr val="DEEA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Rectangle 11"/>
          <p:cNvSpPr/>
          <p:nvPr/>
        </p:nvSpPr>
        <p:spPr>
          <a:xfrm>
            <a:off x="3337560" y="1691640"/>
            <a:ext cx="73152" cy="1005840"/>
          </a:xfrm>
          <a:prstGeom prst="rect">
            <a:avLst/>
          </a:prstGeom>
          <a:solidFill>
            <a:srgbClr val="1BAF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3520440" y="1746504"/>
            <a:ext cx="2377440" cy="5532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600" b="1" i="0">
                <a:solidFill>
                  <a:srgbClr val="1F3864"/>
                </a:solidFill>
                <a:latin typeface="Calibri"/>
                <a:ea typeface="Calibri"/>
                <a:cs typeface="Calibri"/>
              </a:rPr>
              <a:t>0.509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520440" y="2275027"/>
            <a:ext cx="2377440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 i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macro F1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72200" y="1691640"/>
            <a:ext cx="2651760" cy="1005840"/>
          </a:xfrm>
          <a:prstGeom prst="roundRect">
            <a:avLst>
              <a:gd name="adj" fmla="val 5000"/>
            </a:avLst>
          </a:prstGeom>
          <a:solidFill>
            <a:srgbClr val="DEEA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Rectangle 15"/>
          <p:cNvSpPr/>
          <p:nvPr/>
        </p:nvSpPr>
        <p:spPr>
          <a:xfrm>
            <a:off x="6172200" y="1691640"/>
            <a:ext cx="73152" cy="1005840"/>
          </a:xfrm>
          <a:prstGeom prst="rect">
            <a:avLst/>
          </a:prstGeom>
          <a:solidFill>
            <a:srgbClr val="EB68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6355080" y="1746504"/>
            <a:ext cx="2377440" cy="5532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600" b="1" i="0">
                <a:solidFill>
                  <a:srgbClr val="1F3864"/>
                </a:solidFill>
                <a:latin typeface="Calibri"/>
                <a:ea typeface="Calibri"/>
                <a:cs typeface="Calibri"/>
              </a:rPr>
              <a:t>0.771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55080" y="2275027"/>
            <a:ext cx="2377440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 i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macro ROC-AUC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006840" y="1691640"/>
            <a:ext cx="2651760" cy="1005840"/>
          </a:xfrm>
          <a:prstGeom prst="roundRect">
            <a:avLst>
              <a:gd name="adj" fmla="val 5000"/>
            </a:avLst>
          </a:prstGeom>
          <a:solidFill>
            <a:srgbClr val="DEEA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Rectangle 19"/>
          <p:cNvSpPr/>
          <p:nvPr/>
        </p:nvSpPr>
        <p:spPr>
          <a:xfrm>
            <a:off x="9006840" y="1691640"/>
            <a:ext cx="73152" cy="1005840"/>
          </a:xfrm>
          <a:prstGeom prst="rect">
            <a:avLst/>
          </a:prstGeom>
          <a:solidFill>
            <a:srgbClr val="6B52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9189720" y="1746504"/>
            <a:ext cx="2377440" cy="5532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600" b="1" i="0">
                <a:solidFill>
                  <a:srgbClr val="1F3864"/>
                </a:solidFill>
                <a:latin typeface="Calibri"/>
                <a:ea typeface="Calibri"/>
                <a:cs typeface="Calibri"/>
              </a:rPr>
              <a:t>93.0%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189720" y="2275027"/>
            <a:ext cx="2377440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 i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accept vs reject only</a:t>
            </a:r>
          </a:p>
        </p:txBody>
      </p:sp>
      <p:pic>
        <p:nvPicPr>
          <p:cNvPr id="23" name="Picture 22" descr="f03_baselines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31227" y="2834640"/>
            <a:ext cx="5127065" cy="3017520"/>
          </a:xfrm>
          <a:prstGeom prst="rect">
            <a:avLst/>
          </a:prstGeom>
        </p:spPr>
      </p:pic>
      <p:pic>
        <p:nvPicPr>
          <p:cNvPr id="24" name="Picture 23" descr="f04_seed_study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541302" y="2834640"/>
            <a:ext cx="3891194" cy="2194560"/>
          </a:xfrm>
          <a:prstGeom prst="rect">
            <a:avLst/>
          </a:prstGeom>
        </p:spPr>
      </p:pic>
      <p:sp>
        <p:nvSpPr>
          <p:cNvPr id="25" name="TextBox 24"/>
          <p:cNvSpPr txBox="1"/>
          <p:nvPr/>
        </p:nvSpPr>
        <p:spPr>
          <a:xfrm>
            <a:off x="7269480" y="5029200"/>
            <a:ext cx="4434840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 i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Five splits: accuracy 0.545 +/- 0.028. Borderline recall 0.07: it cannot be told apart from text by construction.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02920" y="5897880"/>
            <a:ext cx="111556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 i="1">
                <a:solidFill>
                  <a:srgbClr val="1F3864"/>
                </a:solidFill>
                <a:latin typeface="Calibri"/>
                <a:ea typeface="Calibri"/>
                <a:cs typeface="Calibri"/>
              </a:rPr>
              <a:t>Dashed line: best accuracy any text rule can reach on these labels (~0.56). Shows the pipeline works; not evidence of predicting real peer-review decisions.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D:\vaishanavi\CSE-D\CSE-D-D1\doc_generator\college_banner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89608" y="73152"/>
            <a:ext cx="8412480" cy="870257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365760" y="979985"/>
            <a:ext cx="11457432" cy="0"/>
          </a:xfrm>
          <a:prstGeom prst="line">
            <a:avLst/>
          </a:prstGeom>
          <a:noFill/>
          <a:ln w="19050">
            <a:solidFill>
              <a:srgbClr val="1F3864"/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457200" y="1098857"/>
            <a:ext cx="11247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Confusion Matrix &amp; Confidence Threshold</a:t>
            </a:r>
            <a:endParaRPr lang="en-US" sz="2600" dirty="0"/>
          </a:p>
        </p:txBody>
      </p:sp>
      <p:sp>
        <p:nvSpPr>
          <p:cNvPr id="5" name="Text 2"/>
          <p:cNvSpPr/>
          <p:nvPr/>
        </p:nvSpPr>
        <p:spPr>
          <a:xfrm>
            <a:off x="36576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Dept. of CSE  |  Batch C8  |  Final Review</a:t>
            </a:r>
            <a:endParaRPr lang="en-US" sz="1000" dirty="0"/>
          </a:p>
        </p:txBody>
      </p:sp>
      <p:sp>
        <p:nvSpPr>
          <p:cNvPr id="6" name="Text 3"/>
          <p:cNvSpPr/>
          <p:nvPr/>
        </p:nvSpPr>
        <p:spPr>
          <a:xfrm>
            <a:off x="11155680" y="644652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1000" dirty="0"/>
          </a:p>
        </p:txBody>
      </p:sp>
      <p:pic>
        <p:nvPicPr>
          <p:cNvPr id="7" name="Picture 6" descr="f01_confusion_matrix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1909661"/>
            <a:ext cx="4572000" cy="3495877"/>
          </a:xfrm>
          <a:prstGeom prst="rect">
            <a:avLst/>
          </a:prstGeom>
        </p:spPr>
      </p:pic>
      <p:pic>
        <p:nvPicPr>
          <p:cNvPr id="8" name="Picture 7" descr="f05_threshol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75287" y="1691640"/>
            <a:ext cx="5057265" cy="32004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5303520" y="4983480"/>
            <a:ext cx="6400800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256032" indent="-201168">
              <a:spcAft>
                <a:spcPts val="400"/>
              </a:spcAft>
              <a:buChar char="•"/>
            </a:pPr>
            <a:r>
              <a:rPr sz="1300" b="0" i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Of 124 borderline papers 45 are predicted accept and 70 reject; accept and reject are almost never confused.</a:t>
            </a:r>
          </a:p>
          <a:p>
            <a:pPr algn="l" marL="256032" indent="-201168">
              <a:spcAft>
                <a:spcPts val="400"/>
              </a:spcAft>
              <a:buChar char="•"/>
            </a:pPr>
            <a:r>
              <a:rPr sz="1300" b="0" i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Confidence &gt;= 0.7 keeps 29% of papers at 70% accuracy (n = 82).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5760720"/>
            <a:ext cx="45720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 i="1">
                <a:solidFill>
                  <a:srgbClr val="1F3864"/>
                </a:solidFill>
                <a:latin typeface="Calibri"/>
                <a:ea typeface="Calibri"/>
                <a:cs typeface="Calibri"/>
              </a:rPr>
              <a:t>Rows: true class; columns: predicted.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D:\vaishanavi\CSE-D\CSE-D-D1\doc_generator\college_banner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89608" y="73152"/>
            <a:ext cx="8412480" cy="870257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365760" y="979985"/>
            <a:ext cx="11457432" cy="0"/>
          </a:xfrm>
          <a:prstGeom prst="line">
            <a:avLst/>
          </a:prstGeom>
          <a:noFill/>
          <a:ln w="19050">
            <a:solidFill>
              <a:srgbClr val="1F3864"/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457200" y="1098857"/>
            <a:ext cx="11247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 – Reviewer Matching &amp; Conflict Handling</a:t>
            </a:r>
            <a:endParaRPr lang="en-US" sz="2600" dirty="0"/>
          </a:p>
        </p:txBody>
      </p:sp>
      <p:sp>
        <p:nvSpPr>
          <p:cNvPr id="5" name="Text 2"/>
          <p:cNvSpPr/>
          <p:nvPr/>
        </p:nvSpPr>
        <p:spPr>
          <a:xfrm>
            <a:off x="36576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Dept. of CSE  |  Batch C8  |  Final Review</a:t>
            </a:r>
            <a:endParaRPr lang="en-US" sz="1000" dirty="0"/>
          </a:p>
        </p:txBody>
      </p:sp>
      <p:sp>
        <p:nvSpPr>
          <p:cNvPr id="6" name="Text 3"/>
          <p:cNvSpPr/>
          <p:nvPr/>
        </p:nvSpPr>
        <p:spPr>
          <a:xfrm>
            <a:off x="11155680" y="644652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</a:t>
            </a:r>
            <a:endParaRPr lang="en-US" sz="1000" dirty="0"/>
          </a:p>
        </p:txBody>
      </p:sp>
      <p:pic>
        <p:nvPicPr>
          <p:cNvPr id="7" name="Picture 6" descr="f07_matching_config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6753" y="1645920"/>
            <a:ext cx="5198733" cy="2286000"/>
          </a:xfrm>
          <a:prstGeom prst="rect">
            <a:avLst/>
          </a:prstGeom>
        </p:spPr>
      </p:pic>
      <p:pic>
        <p:nvPicPr>
          <p:cNvPr id="8" name="Picture 7" descr="f08_conflict_detec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07837" y="1645920"/>
            <a:ext cx="4398004" cy="2011680"/>
          </a:xfrm>
          <a:prstGeom prst="rect">
            <a:avLst/>
          </a:prstGeom>
        </p:spPr>
      </p:pic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502920" y="4114800"/>
          <a:ext cx="5120640" cy="1645920"/>
        </p:xfrm>
        <a:graphic>
          <a:graphicData uri="http://schemas.openxmlformats.org/drawingml/2006/table">
            <a:tbl>
              <a:tblPr firstRow="0" bandRow="0">
                <a:tableStyleId>{5C22544A-7EE6-4342-B048-85BDC9FD1C3A}</a:tableStyleId>
              </a:tblPr>
              <a:tblGrid>
                <a:gridCol w="2377440"/>
                <a:gridCol w="914400"/>
                <a:gridCol w="914400"/>
                <a:gridCol w="914400"/>
              </a:tblGrid>
              <a:tr h="329184"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1F3864"/>
                          </a:solidFill>
                          <a:latin typeface="Calibri"/>
                          <a:ea typeface="Calibri"/>
                          <a:cs typeface="Calibri"/>
                        </a:rPr>
                        <a:t>Embedder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DEEA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1F3864"/>
                          </a:solidFill>
                          <a:latin typeface="Calibri"/>
                          <a:ea typeface="Calibri"/>
                          <a:cs typeface="Calibri"/>
                        </a:rPr>
                        <a:t>Top-1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DEEA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1F3864"/>
                          </a:solidFill>
                          <a:latin typeface="Calibri"/>
                          <a:ea typeface="Calibri"/>
                          <a:cs typeface="Calibri"/>
                        </a:rPr>
                        <a:t>Top-3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DEEA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1F3864"/>
                          </a:solidFill>
                          <a:latin typeface="Calibri"/>
                          <a:ea typeface="Calibri"/>
                          <a:cs typeface="Calibri"/>
                        </a:rPr>
                        <a:t>MRR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DEEAF6"/>
                    </a:solidFill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MiniLM (hybrid)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0.95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0.97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0.96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TF-IDF fallback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0.75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0.93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0.84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2F2F2"/>
                    </a:solidFill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Lexical only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0.62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0.82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0.74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Random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0.18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0.53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-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6309360" y="3749039"/>
            <a:ext cx="5394960" cy="2560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256032" indent="-201168">
              <a:spcAft>
                <a:spcPts val="400"/>
              </a:spcAft>
              <a:buChar char="•"/>
            </a:pPr>
            <a:r>
              <a:rPr sz="1200" b="0" i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Semantic similarity alone scores 0.975 top-1; the hybrid 0.95; lexical overlap alone only 0.62.</a:t>
            </a:r>
          </a:p>
          <a:p>
            <a:pPr algn="l" marL="256032" indent="-201168">
              <a:spcAft>
                <a:spcPts val="400"/>
              </a:spcAft>
              <a:buChar char="•"/>
            </a:pPr>
            <a:r>
              <a:rPr sz="1200" b="0" i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Conflicts: 6/6 terms, 4/4 affiliations, 2/2 names flagged; paraphrased links 0/3 missed; false flags 0 of 240 clean pairs.</a:t>
            </a:r>
          </a:p>
          <a:p>
            <a:pPr algn="l" marL="256032" indent="-201168">
              <a:spcAft>
                <a:spcPts val="400"/>
              </a:spcAft>
              <a:buChar char="•"/>
            </a:pPr>
            <a:r>
              <a:rPr sz="1200" b="0" i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Ranking time: 86 ms for 6 reviewers, 5.2 s for 500 (embeds every profile each request).</a:t>
            </a:r>
          </a:p>
          <a:p>
            <a:pPr algn="l" marL="256032" indent="-201168">
              <a:spcAft>
                <a:spcPts val="400"/>
              </a:spcAft>
              <a:buChar char="•"/>
            </a:pPr>
            <a:r>
              <a:rPr sz="1200" b="0" i="1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Scope: team-written 40-abstract probe, 6 demo reviewers; labels are the team's own, so figures are optimistic.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D:\vaishanavi\CSE-D\CSE-D-D1\doc_generator\college_banner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89608" y="73152"/>
            <a:ext cx="8412480" cy="870257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365760" y="979985"/>
            <a:ext cx="11457432" cy="0"/>
          </a:xfrm>
          <a:prstGeom prst="line">
            <a:avLst/>
          </a:prstGeom>
          <a:noFill/>
          <a:ln w="19050">
            <a:solidFill>
              <a:srgbClr val="1F3864"/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457200" y="1098857"/>
            <a:ext cx="11247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Performance &amp; Testing</a:t>
            </a:r>
            <a:endParaRPr lang="en-US" sz="2600" dirty="0"/>
          </a:p>
        </p:txBody>
      </p:sp>
      <p:sp>
        <p:nvSpPr>
          <p:cNvPr id="5" name="Text 2"/>
          <p:cNvSpPr/>
          <p:nvPr/>
        </p:nvSpPr>
        <p:spPr>
          <a:xfrm>
            <a:off x="36576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Dept. of CSE  |  Batch C8  |  Final Review</a:t>
            </a:r>
            <a:endParaRPr lang="en-US" sz="1000" dirty="0"/>
          </a:p>
        </p:txBody>
      </p:sp>
      <p:sp>
        <p:nvSpPr>
          <p:cNvPr id="6" name="Text 3"/>
          <p:cNvSpPr/>
          <p:nvPr/>
        </p:nvSpPr>
        <p:spPr>
          <a:xfrm>
            <a:off x="11155680" y="644652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1000" dirty="0"/>
          </a:p>
        </p:txBody>
      </p:sp>
      <p:sp>
        <p:nvSpPr>
          <p:cNvPr id="7" name="Rounded Rectangle 6"/>
          <p:cNvSpPr/>
          <p:nvPr/>
        </p:nvSpPr>
        <p:spPr>
          <a:xfrm>
            <a:off x="502920" y="1691640"/>
            <a:ext cx="2651760" cy="1051560"/>
          </a:xfrm>
          <a:prstGeom prst="roundRect">
            <a:avLst>
              <a:gd name="adj" fmla="val 5000"/>
            </a:avLst>
          </a:prstGeom>
          <a:solidFill>
            <a:srgbClr val="DEEA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ectangle 7"/>
          <p:cNvSpPr/>
          <p:nvPr/>
        </p:nvSpPr>
        <p:spPr>
          <a:xfrm>
            <a:off x="502920" y="1691640"/>
            <a:ext cx="73152" cy="1051560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685800" y="1746504"/>
            <a:ext cx="2377440" cy="57835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600" b="1" i="0">
                <a:solidFill>
                  <a:srgbClr val="1F3864"/>
                </a:solidFill>
                <a:latin typeface="Calibri"/>
                <a:ea typeface="Calibri"/>
                <a:cs typeface="Calibri"/>
              </a:rPr>
              <a:t>2.4 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2301544"/>
            <a:ext cx="2377440" cy="42062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 i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PDF extraction (3 pages, first call)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337560" y="1691640"/>
            <a:ext cx="2651760" cy="1051560"/>
          </a:xfrm>
          <a:prstGeom prst="roundRect">
            <a:avLst>
              <a:gd name="adj" fmla="val 5000"/>
            </a:avLst>
          </a:prstGeom>
          <a:solidFill>
            <a:srgbClr val="DEEA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Rectangle 11"/>
          <p:cNvSpPr/>
          <p:nvPr/>
        </p:nvSpPr>
        <p:spPr>
          <a:xfrm>
            <a:off x="3337560" y="1691640"/>
            <a:ext cx="73152" cy="1051560"/>
          </a:xfrm>
          <a:prstGeom prst="rect">
            <a:avLst/>
          </a:prstGeom>
          <a:solidFill>
            <a:srgbClr val="1BAF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3520440" y="1746504"/>
            <a:ext cx="2377440" cy="57835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600" b="1" i="0">
                <a:solidFill>
                  <a:srgbClr val="1F3864"/>
                </a:solidFill>
                <a:latin typeface="Calibri"/>
                <a:ea typeface="Calibri"/>
                <a:cs typeface="Calibri"/>
              </a:rPr>
              <a:t>31 ms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520440" y="2301544"/>
            <a:ext cx="2377440" cy="42062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 i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decision signal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72200" y="1691640"/>
            <a:ext cx="2651760" cy="1051560"/>
          </a:xfrm>
          <a:prstGeom prst="roundRect">
            <a:avLst>
              <a:gd name="adj" fmla="val 5000"/>
            </a:avLst>
          </a:prstGeom>
          <a:solidFill>
            <a:srgbClr val="DEEA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Rectangle 15"/>
          <p:cNvSpPr/>
          <p:nvPr/>
        </p:nvSpPr>
        <p:spPr>
          <a:xfrm>
            <a:off x="6172200" y="1691640"/>
            <a:ext cx="73152" cy="1051560"/>
          </a:xfrm>
          <a:prstGeom prst="rect">
            <a:avLst/>
          </a:prstGeom>
          <a:solidFill>
            <a:srgbClr val="EB68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6355080" y="1746504"/>
            <a:ext cx="2377440" cy="57835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600" b="1" i="0">
                <a:solidFill>
                  <a:srgbClr val="1F3864"/>
                </a:solidFill>
                <a:latin typeface="Calibri"/>
                <a:ea typeface="Calibri"/>
                <a:cs typeface="Calibri"/>
              </a:rPr>
              <a:t>136 ms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55080" y="2301544"/>
            <a:ext cx="2377440" cy="42062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 i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reviewer matching (6 reviewers)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006840" y="1691640"/>
            <a:ext cx="2651760" cy="1051560"/>
          </a:xfrm>
          <a:prstGeom prst="roundRect">
            <a:avLst>
              <a:gd name="adj" fmla="val 5000"/>
            </a:avLst>
          </a:prstGeom>
          <a:solidFill>
            <a:srgbClr val="DEEA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Rectangle 19"/>
          <p:cNvSpPr/>
          <p:nvPr/>
        </p:nvSpPr>
        <p:spPr>
          <a:xfrm>
            <a:off x="9006840" y="1691640"/>
            <a:ext cx="73152" cy="1051560"/>
          </a:xfrm>
          <a:prstGeom prst="rect">
            <a:avLst/>
          </a:prstGeom>
          <a:solidFill>
            <a:srgbClr val="6B52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9189720" y="1746504"/>
            <a:ext cx="2377440" cy="57835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600" b="1" i="0">
                <a:solidFill>
                  <a:srgbClr val="1F3864"/>
                </a:solidFill>
                <a:latin typeface="Calibri"/>
                <a:ea typeface="Calibri"/>
                <a:cs typeface="Calibri"/>
              </a:rPr>
              <a:t>8.5 min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189720" y="2301544"/>
            <a:ext cx="2377440" cy="42062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 i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local AI review, 3 steps, CPU</a:t>
            </a:r>
          </a:p>
        </p:txBody>
      </p:sp>
      <p:graphicFrame>
        <p:nvGraphicFramePr>
          <p:cNvPr id="23" name="Table 22"/>
          <p:cNvGraphicFramePr>
            <a:graphicFrameLocks noGrp="1"/>
          </p:cNvGraphicFramePr>
          <p:nvPr/>
        </p:nvGraphicFramePr>
        <p:xfrm>
          <a:off x="502920" y="2926080"/>
          <a:ext cx="11155680" cy="2743200"/>
        </p:xfrm>
        <a:graphic>
          <a:graphicData uri="http://schemas.openxmlformats.org/drawingml/2006/table">
            <a:tbl>
              <a:tblPr firstRow="0" bandRow="0">
                <a:tableStyleId>{5C22544A-7EE6-4342-B048-85BDC9FD1C3A}</a:tableStyleId>
              </a:tblPr>
              <a:tblGrid>
                <a:gridCol w="2377440"/>
                <a:gridCol w="5486400"/>
                <a:gridCol w="3291840"/>
              </a:tblGrid>
              <a:tr h="457200"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1F3864"/>
                          </a:solidFill>
                          <a:latin typeface="Calibri"/>
                          <a:ea typeface="Calibri"/>
                          <a:cs typeface="Calibri"/>
                        </a:rPr>
                        <a:t>Test layer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DEEA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1F3864"/>
                          </a:solidFill>
                          <a:latin typeface="Calibri"/>
                          <a:ea typeface="Calibri"/>
                          <a:cs typeface="Calibri"/>
                        </a:rPr>
                        <a:t>What it covers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DEEA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1F3864"/>
                          </a:solidFill>
                          <a:latin typeface="Calibri"/>
                          <a:ea typeface="Calibri"/>
                          <a:cs typeface="Calibri"/>
                        </a:rPr>
                        <a:t>Result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DEEAF6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Unit and API (pytest)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extraction, features, matching, conflicts, decision service, API, CRUD, pipeline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7 of 7 passed in 34 s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Smoke test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running API and web app: CRUD, CSV, bad uploads, analysis, export, CORS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24 of 24 checks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2F2F2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HTTP latency (LLM off)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analysis of 3 / 30 pages; list and health calls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1.3 s / 1.2 s; 2.4 ms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HTTP latency (LLM on)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full analysis of 30 / 30 / 17 pages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534 s / 621 s / 946 s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2F2F2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Real PDFs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four papers through the pipeline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found 2 defects (title '?', roman headings)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4" name="TextBox 23"/>
          <p:cNvSpPr txBox="1"/>
          <p:nvPr/>
        </p:nvSpPr>
        <p:spPr>
          <a:xfrm>
            <a:off x="502920" y="5806440"/>
            <a:ext cx="1115568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 i="1">
                <a:solidFill>
                  <a:srgbClr val="1F3864"/>
                </a:solidFill>
                <a:latin typeface="Calibri"/>
                <a:ea typeface="Calibri"/>
                <a:cs typeface="Calibri"/>
              </a:rPr>
              <a:t>Intel Core i5-12500, 15.7 GB, CPU only. Tests ran with the language model disabled. Not tested: GPU, concurrent users, scanned PDFs, a user study.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D:\vaishanavi\CSE-D\CSE-D-D1\doc_generator\college_banner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89608" y="73152"/>
            <a:ext cx="8412480" cy="870257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365760" y="979985"/>
            <a:ext cx="11457432" cy="0"/>
          </a:xfrm>
          <a:prstGeom prst="line">
            <a:avLst/>
          </a:prstGeom>
          <a:noFill/>
          <a:ln w="19050">
            <a:solidFill>
              <a:srgbClr val="1F3864"/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457200" y="1098857"/>
            <a:ext cx="11247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Comparison with Base Paper (context only – different data and scope)</a:t>
            </a:r>
            <a:endParaRPr lang="en-US" sz="2600" dirty="0"/>
          </a:p>
        </p:txBody>
      </p:sp>
      <p:sp>
        <p:nvSpPr>
          <p:cNvPr id="5" name="Text 2"/>
          <p:cNvSpPr/>
          <p:nvPr/>
        </p:nvSpPr>
        <p:spPr>
          <a:xfrm>
            <a:off x="36576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Dept. of CSE  |  Batch C8  |  Final Review</a:t>
            </a:r>
            <a:endParaRPr lang="en-US" sz="1000" dirty="0"/>
          </a:p>
        </p:txBody>
      </p:sp>
      <p:sp>
        <p:nvSpPr>
          <p:cNvPr id="6" name="Text 3"/>
          <p:cNvSpPr/>
          <p:nvPr/>
        </p:nvSpPr>
        <p:spPr>
          <a:xfrm>
            <a:off x="11155680" y="644652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</a:t>
            </a:r>
            <a:endParaRPr lang="en-US" sz="1000" dirty="0"/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02920" y="1691640"/>
          <a:ext cx="11155680" cy="3968496"/>
        </p:xfrm>
        <a:graphic>
          <a:graphicData uri="http://schemas.openxmlformats.org/drawingml/2006/table">
            <a:tbl>
              <a:tblPr firstRow="0" bandRow="0">
                <a:tableStyleId>{5C22544A-7EE6-4342-B048-85BDC9FD1C3A}</a:tableStyleId>
              </a:tblPr>
              <a:tblGrid>
                <a:gridCol w="1737360"/>
                <a:gridCol w="4572000"/>
                <a:gridCol w="4846320"/>
              </a:tblGrid>
              <a:tr h="566928"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1F3864"/>
                          </a:solidFill>
                          <a:latin typeface="Calibri"/>
                          <a:ea typeface="Calibri"/>
                          <a:cs typeface="Calibri"/>
                        </a:rPr>
                        <a:t>Aspect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DEEA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1F3864"/>
                          </a:solidFill>
                          <a:latin typeface="Calibri"/>
                          <a:ea typeface="Calibri"/>
                          <a:cs typeface="Calibri"/>
                        </a:rPr>
                        <a:t>Base paper [1]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DEEA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1F3864"/>
                          </a:solidFill>
                          <a:latin typeface="Calibri"/>
                          <a:ea typeface="Calibri"/>
                          <a:cs typeface="Calibri"/>
                        </a:rPr>
                        <a:t>This project (PeerScope)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DEEAF6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Scope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Reviewer affinity scoring only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Paper assessment + reviewer ranking + directory, history, export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Keywords / model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LLM ensemble and judge induce keywords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Frequency and lexicon keywords; local LLM only writes the review text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2F2F2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Matcher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TF-IDF, Jaccard, SBERT (MiniLM), cross-encoder, keyword graphs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MiniLM cosine + keyword + method overlap + availability - conflict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Data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663 papers, 524 reviewers, 1,989 assignments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team-written 40-abstract probe, 6 demo reviewers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2F2F2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Reported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Best MRR@3 0.7778 (titles) / 0.7843 (abstracts)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Top-1 0.95, MRR 0.96 (not comparable)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Conflict / load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Not benchmarked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In the score; 12/12 literal links flagged, paraphrases missed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502920" y="5760720"/>
            <a:ext cx="1115568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 i="1">
                <a:solidFill>
                  <a:srgbClr val="1F3864"/>
                </a:solidFill>
                <a:latin typeface="Calibri"/>
                <a:ea typeface="Calibri"/>
                <a:cs typeface="Calibri"/>
              </a:rPr>
              <a:t>Different data, labels and task scope: the numbers are context, not a ranking; no superiority over the base paper is claimed.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D:\vaishanavi\CSE-D\CSE-D-D1\doc_generator\college_banner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89608" y="73152"/>
            <a:ext cx="8412480" cy="870257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365760" y="979985"/>
            <a:ext cx="11457432" cy="0"/>
          </a:xfrm>
          <a:prstGeom prst="line">
            <a:avLst/>
          </a:prstGeom>
          <a:noFill/>
          <a:ln w="19050">
            <a:solidFill>
              <a:srgbClr val="1F3864"/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457200" y="1098857"/>
            <a:ext cx="11247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 – Analysis Result and AI Review</a:t>
            </a:r>
            <a:endParaRPr lang="en-US" sz="2600" dirty="0"/>
          </a:p>
        </p:txBody>
      </p:sp>
      <p:sp>
        <p:nvSpPr>
          <p:cNvPr id="5" name="Text 2"/>
          <p:cNvSpPr/>
          <p:nvPr/>
        </p:nvSpPr>
        <p:spPr>
          <a:xfrm>
            <a:off x="36576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Dept. of CSE  |  Batch C8  |  Final Review</a:t>
            </a:r>
            <a:endParaRPr lang="en-US" sz="1000" dirty="0"/>
          </a:p>
        </p:txBody>
      </p:sp>
      <p:sp>
        <p:nvSpPr>
          <p:cNvPr id="6" name="Text 3"/>
          <p:cNvSpPr/>
          <p:nvPr/>
        </p:nvSpPr>
        <p:spPr>
          <a:xfrm>
            <a:off x="11155680" y="644652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</a:t>
            </a:r>
            <a:endParaRPr lang="en-US" sz="1000" dirty="0"/>
          </a:p>
        </p:txBody>
      </p:sp>
      <p:pic>
        <p:nvPicPr>
          <p:cNvPr id="7" name="Picture 6" descr="06_analyze_result_overview_83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1909043"/>
            <a:ext cx="5486399" cy="3405673"/>
          </a:xfrm>
          <a:prstGeom prst="rect">
            <a:avLst/>
          </a:prstGeom>
          <a:ln w="9525">
            <a:solidFill>
              <a:srgbClr val="D5DCE6"/>
            </a:solidFill>
          </a:ln>
        </p:spPr>
      </p:pic>
      <p:pic>
        <p:nvPicPr>
          <p:cNvPr id="8" name="Picture 7" descr="07_result_review_238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7920" y="2134772"/>
            <a:ext cx="5486400" cy="2954215"/>
          </a:xfrm>
          <a:prstGeom prst="rect">
            <a:avLst/>
          </a:prstGeom>
          <a:ln w="9525">
            <a:solidFill>
              <a:srgbClr val="D5DCE6"/>
            </a:solidFill>
          </a:ln>
        </p:spPr>
      </p:pic>
      <p:sp>
        <p:nvSpPr>
          <p:cNvPr id="9" name="TextBox 8"/>
          <p:cNvSpPr txBox="1"/>
          <p:nvPr/>
        </p:nvSpPr>
        <p:spPr>
          <a:xfrm>
            <a:off x="502920" y="5669280"/>
            <a:ext cx="1115568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 i="0">
                <a:solidFill>
                  <a:srgbClr val="1F3864"/>
                </a:solidFill>
                <a:latin typeface="Calibri"/>
                <a:ea typeface="Calibri"/>
                <a:cs typeface="Calibri"/>
              </a:rPr>
              <a:t>Left: a 17-page paper analysed: structural score 65.2, decision signal 'borderline' (58%), review generated by Qwen2.5-1.5B. Right: the AI synthesis, which can contain errors (here it misdescribes the paper's datasets).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D:\vaishanavi\CSE-D\CSE-D-D1\doc_generator\college_banner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89608" y="73152"/>
            <a:ext cx="8412480" cy="870257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365760" y="979985"/>
            <a:ext cx="11457432" cy="0"/>
          </a:xfrm>
          <a:prstGeom prst="line">
            <a:avLst/>
          </a:prstGeom>
          <a:noFill/>
          <a:ln w="19050">
            <a:solidFill>
              <a:srgbClr val="1F3864"/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457200" y="1098857"/>
            <a:ext cx="11247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 – Reviewer Ranking and Audit</a:t>
            </a:r>
            <a:endParaRPr lang="en-US" sz="2600" dirty="0"/>
          </a:p>
        </p:txBody>
      </p:sp>
      <p:sp>
        <p:nvSpPr>
          <p:cNvPr id="5" name="Text 2"/>
          <p:cNvSpPr/>
          <p:nvPr/>
        </p:nvSpPr>
        <p:spPr>
          <a:xfrm>
            <a:off x="36576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Dept. of CSE  |  Batch C8  |  Final Review</a:t>
            </a:r>
            <a:endParaRPr lang="en-US" sz="1000" dirty="0"/>
          </a:p>
        </p:txBody>
      </p:sp>
      <p:sp>
        <p:nvSpPr>
          <p:cNvPr id="6" name="Text 3"/>
          <p:cNvSpPr/>
          <p:nvPr/>
        </p:nvSpPr>
        <p:spPr>
          <a:xfrm>
            <a:off x="11155680" y="644652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</a:t>
            </a:r>
            <a:endParaRPr lang="en-US" sz="1000" dirty="0"/>
          </a:p>
        </p:txBody>
      </p:sp>
      <p:pic>
        <p:nvPicPr>
          <p:cNvPr id="7" name="Picture 6" descr="09_result_reviewers_114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1759633"/>
            <a:ext cx="5486400" cy="3704492"/>
          </a:xfrm>
          <a:prstGeom prst="rect">
            <a:avLst/>
          </a:prstGeom>
          <a:ln w="9525">
            <a:solidFill>
              <a:srgbClr val="D5DCE6"/>
            </a:solidFill>
          </a:ln>
        </p:spPr>
      </p:pic>
      <p:pic>
        <p:nvPicPr>
          <p:cNvPr id="8" name="Picture 7" descr="10_result_audit_110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7920" y="2392680"/>
            <a:ext cx="5486400" cy="2438400"/>
          </a:xfrm>
          <a:prstGeom prst="rect">
            <a:avLst/>
          </a:prstGeom>
          <a:ln w="9525">
            <a:solidFill>
              <a:srgbClr val="D5DCE6"/>
            </a:solidFill>
          </a:ln>
        </p:spPr>
      </p:pic>
      <p:sp>
        <p:nvSpPr>
          <p:cNvPr id="9" name="TextBox 8"/>
          <p:cNvSpPr txBox="1"/>
          <p:nvPr/>
        </p:nvSpPr>
        <p:spPr>
          <a:xfrm>
            <a:off x="502920" y="5669280"/>
            <a:ext cx="1115568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 i="0">
                <a:solidFill>
                  <a:srgbClr val="1F3864"/>
                </a:solidFill>
                <a:latin typeface="Calibri"/>
                <a:ea typeface="Calibri"/>
                <a:cs typeface="Calibri"/>
              </a:rPr>
              <a:t>Left: rank 1 reviewer with the score breakdown (0.55 x 0.260 + 0.15 x 0.275 + 0.10 x 1.0 = 28.4; low because no demo reviewer is close to this paper). Right: audit details and JSON / PDF export.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D:\vaishanavi\CSE-D\CSE-D-D1\doc_generator\college_banner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89608" y="73152"/>
            <a:ext cx="8412480" cy="870257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365760" y="979985"/>
            <a:ext cx="11457432" cy="0"/>
          </a:xfrm>
          <a:prstGeom prst="line">
            <a:avLst/>
          </a:prstGeom>
          <a:noFill/>
          <a:ln w="19050">
            <a:solidFill>
              <a:srgbClr val="1F3864"/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457200" y="1098857"/>
            <a:ext cx="11247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 – Model Performance and Dashboard</a:t>
            </a:r>
            <a:endParaRPr lang="en-US" sz="2600" dirty="0"/>
          </a:p>
        </p:txBody>
      </p:sp>
      <p:sp>
        <p:nvSpPr>
          <p:cNvPr id="5" name="Text 2"/>
          <p:cNvSpPr/>
          <p:nvPr/>
        </p:nvSpPr>
        <p:spPr>
          <a:xfrm>
            <a:off x="36576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Dept. of CSE  |  Batch C8  |  Final Review</a:t>
            </a:r>
            <a:endParaRPr lang="en-US" sz="1000" dirty="0"/>
          </a:p>
        </p:txBody>
      </p:sp>
      <p:sp>
        <p:nvSpPr>
          <p:cNvPr id="6" name="Text 3"/>
          <p:cNvSpPr/>
          <p:nvPr/>
        </p:nvSpPr>
        <p:spPr>
          <a:xfrm>
            <a:off x="11155680" y="644652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</a:t>
            </a:r>
            <a:endParaRPr lang="en-US" sz="1000" dirty="0"/>
          </a:p>
        </p:txBody>
      </p:sp>
      <p:pic>
        <p:nvPicPr>
          <p:cNvPr id="7" name="Picture 6" descr="13_model_performance_32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5827" y="1691640"/>
            <a:ext cx="4680585" cy="3840480"/>
          </a:xfrm>
          <a:prstGeom prst="rect">
            <a:avLst/>
          </a:prstGeom>
          <a:ln w="9525">
            <a:solidFill>
              <a:srgbClr val="D5DCE6"/>
            </a:solidFill>
          </a:ln>
        </p:spPr>
      </p:pic>
      <p:pic>
        <p:nvPicPr>
          <p:cNvPr id="8" name="Picture 7" descr="04_dashboar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7920" y="1897380"/>
            <a:ext cx="5486400" cy="3429000"/>
          </a:xfrm>
          <a:prstGeom prst="rect">
            <a:avLst/>
          </a:prstGeom>
          <a:ln w="9525">
            <a:solidFill>
              <a:srgbClr val="D5DCE6"/>
            </a:solidFill>
          </a:ln>
        </p:spPr>
      </p:pic>
      <p:sp>
        <p:nvSpPr>
          <p:cNvPr id="9" name="TextBox 8"/>
          <p:cNvSpPr txBox="1"/>
          <p:nvPr/>
        </p:nvSpPr>
        <p:spPr>
          <a:xfrm>
            <a:off x="502920" y="5669280"/>
            <a:ext cx="1115568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 i="0">
                <a:solidFill>
                  <a:srgbClr val="1F3864"/>
                </a:solidFill>
                <a:latin typeface="Calibri"/>
                <a:ea typeface="Calibri"/>
                <a:cs typeface="Calibri"/>
              </a:rPr>
              <a:t>Left: model page with the measured metrics and the synthetic-data warning. Right: dashboard with three stored analyses of real papers, the language model loaded and MiniLM embeddings.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D:\vaishanavi\CSE-D\CSE-D-D1\doc_generator\college_banner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89608" y="73152"/>
            <a:ext cx="8412480" cy="870257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365760" y="979985"/>
            <a:ext cx="11457432" cy="0"/>
          </a:xfrm>
          <a:prstGeom prst="line">
            <a:avLst/>
          </a:prstGeom>
          <a:noFill/>
          <a:ln w="19050">
            <a:solidFill>
              <a:srgbClr val="1F3864"/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457200" y="1098857"/>
            <a:ext cx="11247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2600" dirty="0"/>
          </a:p>
        </p:txBody>
      </p:sp>
      <p:sp>
        <p:nvSpPr>
          <p:cNvPr id="5" name="Text 2"/>
          <p:cNvSpPr/>
          <p:nvPr/>
        </p:nvSpPr>
        <p:spPr>
          <a:xfrm>
            <a:off x="36576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Dept. of CSE  |  Batch C8  |  Final Review</a:t>
            </a:r>
            <a:endParaRPr lang="en-US" sz="1000" dirty="0"/>
          </a:p>
        </p:txBody>
      </p:sp>
      <p:sp>
        <p:nvSpPr>
          <p:cNvPr id="6" name="Text 3"/>
          <p:cNvSpPr/>
          <p:nvPr/>
        </p:nvSpPr>
        <p:spPr>
          <a:xfrm>
            <a:off x="11155680" y="644652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</a:t>
            </a:r>
            <a:endParaRPr lang="en-US" sz="1000" dirty="0"/>
          </a:p>
        </p:txBody>
      </p:sp>
      <p:sp>
        <p:nvSpPr>
          <p:cNvPr id="7" name="TextBox 6"/>
          <p:cNvSpPr txBox="1"/>
          <p:nvPr/>
        </p:nvSpPr>
        <p:spPr>
          <a:xfrm>
            <a:off x="502920" y="1737360"/>
            <a:ext cx="11155680" cy="457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256032" indent="-201168">
              <a:spcAft>
                <a:spcPts val="900"/>
              </a:spcAft>
              <a:buChar char="•"/>
            </a:pPr>
            <a:r>
              <a:rPr sz="1900" b="1" i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Delivered:</a:t>
            </a:r>
            <a:r>
              <a:rPr sz="1900" b="0" i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 a working local application from PDF upload to assessment, literature context, auditable reviewer ranking, history and export, with 7 pytest tests and 24 smoke checks passing.</a:t>
            </a:r>
          </a:p>
          <a:p>
            <a:pPr algn="l" marL="256032" indent="-201168">
              <a:spcAft>
                <a:spcPts val="900"/>
              </a:spcAft>
              <a:buChar char="•"/>
            </a:pPr>
            <a:r>
              <a:rPr sz="1900" b="1" i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Measured:</a:t>
            </a:r>
            <a:r>
              <a:rPr sz="1900" b="0" i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 decision model 55.0% on synthetic data (ceiling ~0.56); reviewer matching top-1 0.95 / 0.75 on a team-written 40-abstract probe, 6 demo reviewers; conflict links 12/12 literal, 0/3 paraphrased.</a:t>
            </a:r>
          </a:p>
          <a:p>
            <a:pPr algn="l" marL="256032" indent="-201168">
              <a:spcAft>
                <a:spcPts val="900"/>
              </a:spcAft>
              <a:buChar char="•"/>
            </a:pPr>
            <a:r>
              <a:rPr sz="1900" b="1" i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Objectives:</a:t>
            </a:r>
            <a:r>
              <a:rPr sz="1900" b="0" i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 2, 3, 4 met; 5 met except novelty; 1 and 6 partly (demo profiles, team-labelled probe, no real expert judgement).</a:t>
            </a:r>
          </a:p>
          <a:p>
            <a:pPr algn="l" marL="256032" indent="-201168">
              <a:spcAft>
                <a:spcPts val="900"/>
              </a:spcAft>
              <a:buChar char="•"/>
            </a:pPr>
            <a:r>
              <a:rPr sz="1900" b="1" i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Limits:</a:t>
            </a:r>
            <a:r>
              <a:rPr sz="1900" b="0" i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 synthetic training data; six demo reviewers; novelty not assessed; literal conflict matching; minutes per analysis with the language model on a CPU; no user study.</a:t>
            </a:r>
          </a:p>
          <a:p>
            <a:pPr algn="l" marL="256032" indent="-201168">
              <a:spcAft>
                <a:spcPts val="400"/>
              </a:spcAft>
              <a:buChar char="•"/>
            </a:pPr>
            <a:r>
              <a:rPr sz="1900" b="1" i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Position:</a:t>
            </a:r>
            <a:r>
              <a:rPr sz="1900" b="0" i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 decision support only; the editor decides.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D:\vaishanavi\CSE-D\CSE-D-D1\doc_generator\college_banner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89608" y="73152"/>
            <a:ext cx="8412480" cy="870257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365760" y="979985"/>
            <a:ext cx="11457432" cy="0"/>
          </a:xfrm>
          <a:prstGeom prst="line">
            <a:avLst/>
          </a:prstGeom>
          <a:noFill/>
          <a:ln w="19050">
            <a:solidFill>
              <a:srgbClr val="1F3864"/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457200" y="1098857"/>
            <a:ext cx="11247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Scope</a:t>
            </a:r>
            <a:endParaRPr lang="en-US" sz="2600" dirty="0"/>
          </a:p>
        </p:txBody>
      </p:sp>
      <p:sp>
        <p:nvSpPr>
          <p:cNvPr id="5" name="Text 2"/>
          <p:cNvSpPr/>
          <p:nvPr/>
        </p:nvSpPr>
        <p:spPr>
          <a:xfrm>
            <a:off x="36576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Dept. of CSE  |  Batch C8  |  Final Review</a:t>
            </a:r>
            <a:endParaRPr lang="en-US" sz="1000" dirty="0"/>
          </a:p>
        </p:txBody>
      </p:sp>
      <p:sp>
        <p:nvSpPr>
          <p:cNvPr id="6" name="Text 3"/>
          <p:cNvSpPr/>
          <p:nvPr/>
        </p:nvSpPr>
        <p:spPr>
          <a:xfrm>
            <a:off x="11155680" y="644652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</a:t>
            </a:r>
            <a:endParaRPr lang="en-US" sz="1000" dirty="0"/>
          </a:p>
        </p:txBody>
      </p:sp>
      <p:sp>
        <p:nvSpPr>
          <p:cNvPr id="7" name="TextBox 6"/>
          <p:cNvSpPr txBox="1"/>
          <p:nvPr/>
        </p:nvSpPr>
        <p:spPr>
          <a:xfrm>
            <a:off x="502920" y="1737360"/>
            <a:ext cx="11155680" cy="457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256032" indent="-201168">
              <a:spcAft>
                <a:spcPts val="1000"/>
              </a:spcAft>
              <a:buChar char="•"/>
            </a:pPr>
            <a:r>
              <a:rPr sz="2000" b="0" i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Train and test the decision model on real peer-review records (e.g. PeerRead / OpenReview) and report accuracy on real decisions.</a:t>
            </a:r>
          </a:p>
          <a:p>
            <a:pPr algn="l" marL="256032" indent="-201168">
              <a:spcAft>
                <a:spcPts val="1000"/>
              </a:spcAft>
              <a:buChar char="•"/>
            </a:pPr>
            <a:r>
              <a:rPr sz="2000" b="0" i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Build reviewer profiles from real publication histories (OpenAlex, Semantic Scholar) and evaluate against expert or historical assignments.</a:t>
            </a:r>
          </a:p>
          <a:p>
            <a:pPr algn="l" marL="256032" indent="-201168">
              <a:spcAft>
                <a:spcPts val="1000"/>
              </a:spcAft>
              <a:buChar char="•"/>
            </a:pPr>
            <a:r>
              <a:rPr sz="2000" b="0" i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Fix the defects found: sanitise OpenAlex queries, recognise roman-numeral headings, fit the TF-IDF fallback on a stable corpus.</a:t>
            </a:r>
          </a:p>
          <a:p>
            <a:pPr algn="l" marL="256032" indent="-201168">
              <a:spcAft>
                <a:spcPts val="1000"/>
              </a:spcAft>
              <a:buChar char="•"/>
            </a:pPr>
            <a:r>
              <a:rPr sz="2000" b="0" i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Add a measured novelty signal from literature similarity; paraphrase-aware and co-authorship-aware conflict detection.</a:t>
            </a:r>
          </a:p>
          <a:p>
            <a:pPr algn="l" marL="256032" indent="-201168">
              <a:spcAft>
                <a:spcPts val="400"/>
              </a:spcAft>
              <a:buChar char="•"/>
            </a:pPr>
            <a:r>
              <a:rPr sz="2000" b="0" i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Cache reviewer embeddings or use an index for large pools; quantised or GPU model for faster reviews; sign-in and multi-user support.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D:\vaishanavi\CSE-D\CSE-D-D1\doc_generator\college_banner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89608" y="73152"/>
            <a:ext cx="8412480" cy="870257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365760" y="979985"/>
            <a:ext cx="11457432" cy="0"/>
          </a:xfrm>
          <a:prstGeom prst="line">
            <a:avLst/>
          </a:prstGeom>
          <a:noFill/>
          <a:ln w="19050">
            <a:solidFill>
              <a:srgbClr val="1F3864"/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457200" y="1098857"/>
            <a:ext cx="11247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References</a:t>
            </a:r>
            <a:endParaRPr lang="en-US" sz="2600" dirty="0"/>
          </a:p>
        </p:txBody>
      </p:sp>
      <p:sp>
        <p:nvSpPr>
          <p:cNvPr id="5" name="Text 2"/>
          <p:cNvSpPr/>
          <p:nvPr/>
        </p:nvSpPr>
        <p:spPr>
          <a:xfrm>
            <a:off x="36576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Dept. of CSE  |  Batch C8  |  Final Review</a:t>
            </a:r>
            <a:endParaRPr lang="en-US" sz="1000" dirty="0"/>
          </a:p>
        </p:txBody>
      </p:sp>
      <p:sp>
        <p:nvSpPr>
          <p:cNvPr id="6" name="Text 3"/>
          <p:cNvSpPr/>
          <p:nvPr/>
        </p:nvSpPr>
        <p:spPr>
          <a:xfrm>
            <a:off x="11155680" y="644652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27</a:t>
            </a:r>
            <a:endParaRPr lang="en-US" sz="1000" dirty="0"/>
          </a:p>
        </p:txBody>
      </p:sp>
      <p:sp>
        <p:nvSpPr>
          <p:cNvPr id="7" name="TextBox 6"/>
          <p:cNvSpPr txBox="1"/>
          <p:nvPr/>
        </p:nvSpPr>
        <p:spPr>
          <a:xfrm>
            <a:off x="502920" y="1645920"/>
            <a:ext cx="5486400" cy="46634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100" b="0" i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[1] F. Bagheri, D. Buscaldi and D. Reforgiato Recupero, "LLM-assisted reviewer assignment via auditable expertise matching," IEEE Access , vol. 14, pp. 127834-127863, 2026, doi: 10.1109/ACCESS.2026.3724622.</a:t>
            </a:r>
          </a:p>
          <a:p>
            <a:pPr algn="l">
              <a:spcAft>
                <a:spcPts val="500"/>
              </a:spcAft>
            </a:pPr>
            <a:r>
              <a:rPr sz="1100" b="0" i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[2] F. Torrielli, S. Locci, A. Rapp and L. Di Caro, "How to get your paper accepted by an AI reviewer: indirect prompt injection in peer review," Research Square preprint, Jan. 2026, doi: 10.21203/rs.3.rs-8432945/v1. (Published as "Exploiting large language models in peer review: indirect prompt injection attacks and integrity probes," Scientometrics , vol. 131, no. 7, pp. 4889-4951, 2026, doi: 10.1007/s11192-026-05695-x.)</a:t>
            </a:r>
          </a:p>
          <a:p>
            <a:pPr algn="l">
              <a:spcAft>
                <a:spcPts val="500"/>
              </a:spcAft>
            </a:pPr>
            <a:r>
              <a:rPr sz="1100" b="0" i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[6] S. Wu, O. Jiang, Y. Zhao, T. Hu, Y. Ma, K. Zhang, M. Patwardhan and A. Cohan, "Can AI be a good peer reviewer? A survey of peer review process, evaluation, and the future," arXiv:2604.27924, Apr. 2026.</a:t>
            </a:r>
          </a:p>
          <a:p>
            <a:pPr algn="l">
              <a:spcAft>
                <a:spcPts val="500"/>
              </a:spcAft>
            </a:pPr>
            <a:r>
              <a:rPr sz="1100" b="0" i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[7] S. Li, L. Fan, Y. Lin, Z. Li, X. Wei, S. Ni, H. Alinejad-Rokny and M. Yang, "Automatic paper reviewing with heterogeneous graph reasoning over LLM-simulated reviewer-author debates," arXiv:2511.08317, Nov. 2025 (AAAI 2026 copyright notice on the PDF).</a:t>
            </a:r>
          </a:p>
          <a:p>
            <a:pPr algn="l">
              <a:spcAft>
                <a:spcPts val="500"/>
              </a:spcAft>
            </a:pPr>
            <a:r>
              <a:rPr sz="1100" b="0" i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[10] L. Charlin, R. S. Zemel and C. Boutilier, "A framework for optimizing paper matching," arXiv:1202.3706, Feb. 2012.</a:t>
            </a:r>
          </a:p>
          <a:p>
            <a:pPr algn="l">
              <a:spcAft>
                <a:spcPts val="500"/>
              </a:spcAft>
            </a:pPr>
            <a:r>
              <a:rPr sz="1100" b="0" i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[11] D. Mimno and A. McCallum, "Expertise modeling for matching papers with reviewers," in Proc. 13th ACM SIGKDD Int. Conf. Knowl. Discovery Data Mining , 2007, pp. 500-509, doi: 10.1145/1281192.1281247.</a:t>
            </a:r>
          </a:p>
          <a:p>
            <a:pPr algn="l">
              <a:spcAft>
                <a:spcPts val="500"/>
              </a:spcAft>
            </a:pPr>
            <a:r>
              <a:rPr sz="1100" b="0" i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[13] A. Beygelzimer, Y. N. Dauphin, P. Liang and J. W. Vaughan, "Has the machine learning review process become more arbitrary as the field has grown? The NeurIPS 2021 consistency experiment," arXiv:2306.03262, Jun. 2023.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17920" y="1645920"/>
            <a:ext cx="5486400" cy="46634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100" b="0" i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[19] N. Reimers and I. Gurevych, "Sentence-BERT: sentence embeddings using Siamese BERT-networks," in Proc. EMNLP-IJCNLP , 2019, pp. 3980-3990, doi: 10.18653/v1/D19-1410.</a:t>
            </a:r>
          </a:p>
          <a:p>
            <a:pPr algn="l">
              <a:spcAft>
                <a:spcPts val="500"/>
              </a:spcAft>
            </a:pPr>
            <a:r>
              <a:rPr sz="1100" b="0" i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[20] W. Wang, F. Wei, L. Dong, H. Bao, N. Yang and M. Zhou, "MiniLM: deep self-attention distillation for task-agnostic compression of pre-trained transformers," arXiv:2002.10957, Feb. 2020.</a:t>
            </a:r>
          </a:p>
          <a:p>
            <a:pPr algn="l">
              <a:spcAft>
                <a:spcPts val="500"/>
              </a:spcAft>
            </a:pPr>
            <a:r>
              <a:rPr sz="1100" b="0" i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[22] D. Kang, W. Ammar, B. Dalvi, M. van Zuylen, S. Kohlmeier, E. Hovy and R. Schwartz, "A dataset of peer reviews (PeerRead): collection, insights and NLP applications," in Proc. NAACL-HLT , 2018, pp. 1647-1661, doi: 10.18653/v1/N18-1149.</a:t>
            </a:r>
          </a:p>
          <a:p>
            <a:pPr algn="l">
              <a:spcAft>
                <a:spcPts val="500"/>
              </a:spcAft>
            </a:pPr>
            <a:r>
              <a:rPr sz="1100" b="0" i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[24] W. Liang et al., "Can large language models provide useful feedback on research papers? A large-scale empirical analysis," NEJM AI , vol. 1, no. 8, Jul. 2024, doi: 10.1056/AIoa2400196.</a:t>
            </a:r>
          </a:p>
          <a:p>
            <a:pPr algn="l">
              <a:spcAft>
                <a:spcPts val="500"/>
              </a:spcAft>
            </a:pPr>
            <a:r>
              <a:rPr sz="1100" b="0" i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[27] J. Keuper, "Prompt injection attacks on LLM generated reviews of scientific publications," arXiv:2509.10248, Sep. 2025.</a:t>
            </a:r>
          </a:p>
          <a:p>
            <a:pPr algn="l">
              <a:spcAft>
                <a:spcPts val="500"/>
              </a:spcAft>
            </a:pPr>
            <a:r>
              <a:rPr sz="1100" b="0" i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[29] A. Yang et al. (Qwen Team), "Qwen2.5 technical report," arXiv:2412.15115, Dec. 2024.</a:t>
            </a:r>
          </a:p>
          <a:p>
            <a:pPr algn="l">
              <a:spcAft>
                <a:spcPts val="500"/>
              </a:spcAft>
            </a:pPr>
            <a:r>
              <a:rPr sz="1100" b="0" i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[32] J. Priem, H. Piwowar and R. Orr, "OpenAlex: a fully-open index of scholarly works, authors, venues, institutions, and concepts," arXiv:2205.01833, 2022.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D:\vaishanavi\CSE-D\CSE-D-D1\doc_generator\college_banner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89608" y="73152"/>
            <a:ext cx="8412480" cy="870257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365760" y="979985"/>
            <a:ext cx="11457432" cy="0"/>
          </a:xfrm>
          <a:prstGeom prst="line">
            <a:avLst/>
          </a:prstGeom>
          <a:noFill/>
          <a:ln w="19050">
            <a:solidFill>
              <a:srgbClr val="1F3864"/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457200" y="2743200"/>
            <a:ext cx="112471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</a:t>
            </a:r>
            <a:endParaRPr lang="en-US" sz="4800" dirty="0"/>
          </a:p>
        </p:txBody>
      </p:sp>
      <p:sp>
        <p:nvSpPr>
          <p:cNvPr id="5" name="Text 2"/>
          <p:cNvSpPr/>
          <p:nvPr/>
        </p:nvSpPr>
        <p:spPr>
          <a:xfrm>
            <a:off x="457200" y="3657600"/>
            <a:ext cx="11247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2E75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&amp; Suggestions</a:t>
            </a:r>
            <a:endParaRPr lang="en-US" sz="2200" dirty="0"/>
          </a:p>
        </p:txBody>
      </p:sp>
      <p:sp>
        <p:nvSpPr>
          <p:cNvPr id="6" name="Text 3"/>
          <p:cNvSpPr/>
          <p:nvPr/>
        </p:nvSpPr>
        <p:spPr>
          <a:xfrm>
            <a:off x="36576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Dept. of CSE  |  Batch C8  |  Final Review</a:t>
            </a:r>
            <a:endParaRPr lang="en-US" sz="1000" dirty="0"/>
          </a:p>
        </p:txBody>
      </p:sp>
      <p:sp>
        <p:nvSpPr>
          <p:cNvPr id="7" name="Text 4"/>
          <p:cNvSpPr/>
          <p:nvPr/>
        </p:nvSpPr>
        <p:spPr>
          <a:xfrm>
            <a:off x="11155680" y="644652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PeerScope">
  <a:themeElements>
    <a:clrScheme name="PeerScop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PeerScop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PeerScop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28</Slides>
  <Notes>28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28</vt:i4>
      </vt:variant>
    </vt:vector>
  </HeadingPairs>
  <TitlesOfParts>
    <vt:vector size="3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Paper Evaluation Using Artificial Intelligence - Final Review</dc:title>
  <dc:subject>PeerScope</dc:subject>
  <dc:creator>Batch C8, Dept. of CSE, TKRCET</dc:creator>
  <cp:lastModifiedBy>Batch D1, Dept. of CSE, TKRCET</cp:lastModifiedBy>
  <cp:revision>1</cp:revision>
  <dcterms:created xsi:type="dcterms:W3CDTF">2026-10-07T05:03:03Z</dcterms:created>
  <dcterms:modified xsi:type="dcterms:W3CDTF">2026-10-07T05:03:03Z</dcterms:modified>
  <dc:description/>
  <cp:keywords>research paper evaluation, reviewer recommendation, NLP, sentence embeddings, peer review</cp:keywords>
</cp:coreProperties>
</file>