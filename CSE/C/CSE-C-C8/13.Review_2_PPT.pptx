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PeerScope is designed and built: the data and models, what is implemented, the first measured results and the open items.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One-minute recap of Review 1: the editorial bottleneck, our hybrid approach, and how the base paper relates (shared principle, different scope and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routes live in app/main.py; the services are separate modules so each stage can be tested alone. Storage is local.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design principles: one pipeline, honest fallbacks, and numbers that come from a script. The same pipeline serves the live app and the measurements.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the dataset is synthetic, so the decision model demonstrates the pipeline and is not evidence of predicting real peer-review decisions. The matching probe is also team-made; independent expert labels were not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extraction is rule based. On the IEEE base paper itself the introduction heading was not detected and the title came out as the DOI line; this is listed as a defect.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models with separate jobs. The language model only writes the critique text; ranking never depends on it, which keeps the score auditable.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are from scripts/train_model.py. The five-split study re-trains in memory only. The spread shows the headline number is a noisy estimate.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weights live in app/config.py. Conflict detection is literal string matching, a limitation measured later: 12 of 12 literal links found, paraphrased ones missed.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Level-1 data flow: the upload becomes a paper profile, the profile is scored against the reviewer directory, and the result is stored and exported.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 services are plain function modules, drawn as classes in the UML for readability. The analyses table has no foreign key to reviewers.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3.11.9 on Windows. Everything is open source; run.bat creates the environment, trains the decision model if needed and starts both servers.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real publication histories, novelty assessment, and independent expert evaluation.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headline numbers, each with its caveat. 55.0 percent accuracy on synthetic data near the 0.56 ceiling; macro F1 0.509; matching top-1 0.95 with MiniLM and 0.75 with the TF-IDF fallback on the team's 40-abstract probe; 12 of 12 literal conflicts detected, none of the paraphrased ones.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of the running application with the local language model loaded, from an analysis of a real 17-page paper. Low absolute scores are expected: the demo reviewers do not work on this topic.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ran with the language model disabled so they are fast and repeatable. The observations come from running real PDFs and injected conflict cases, and each is documented rather than hidden.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and beyond. The first two items address the biggest honest gaps: synthetic training data and team-made labels.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classical classifier for the decision signal; how conflicts are detected (literal strings); what the language model is allowed to do (write a critique, never rank).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PeerScope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3.png"/><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Paper Evaluation Using Artificial Intelligence</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a local pipeline from PDF to assessment and an auditable reviewer ranking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Mula Sreebindu  23K91A05G3</a:t>
            </a:r>
            <a:endParaRPr lang="en-US" sz="1500" dirty="0"/>
          </a:p>
          <a:p>
            <a:pPr indent="0" marL="0">
              <a:buNone/>
            </a:pPr>
            <a:r>
              <a:rPr lang="en-US" sz="1500" dirty="0">
                <a:solidFill>
                  <a:srgbClr val="FFFFFF"/>
                </a:solidFill>
              </a:rPr>
              <a:t>Puramshetty Vishnu Vardhan  23K91A05K2</a:t>
            </a:r>
            <a:endParaRPr lang="en-US" sz="1500" dirty="0"/>
          </a:p>
          <a:p>
            <a:pPr indent="0" marL="0">
              <a:buNone/>
            </a:pPr>
            <a:r>
              <a:rPr lang="en-US" sz="1500" dirty="0">
                <a:solidFill>
                  <a:srgbClr val="FFFFFF"/>
                </a:solidFill>
              </a:rPr>
              <a:t>K Sampoorna  24K95A0512</a:t>
            </a:r>
            <a:endParaRPr lang="en-US" sz="1500" dirty="0"/>
          </a:p>
          <a:p>
            <a:pPr indent="0" marL="0">
              <a:buNone/>
            </a:pPr>
            <a:r>
              <a:rPr lang="en-US" sz="1500" dirty="0">
                <a:solidFill>
                  <a:srgbClr val="FFFFFF"/>
                </a:solidFill>
              </a:rPr>
              <a:t>Korsa Shivashankar  24K95A0515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M Anupama,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C8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models</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 and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Submissions outgrow reviewer pools. Editors choose reviewers from memory or keywords, matches are hard to explain, and first-pass screening of papers is inconsistent.</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PeerScope reads the PDF locally, adds a decision signal and a local AI critique, retrieves related work, and ranks reviewers with a score whose terms are all shown.</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Bagheri et al. make reviewer matching auditable with LLM keyword induction. PeerScope keeps the audit idea, adds paper assessment, availability and conflict terms, and runs locally. Results are not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01_system_architecture.png"/>
          <p:cNvPicPr>
            <a:picLocks noChangeAspect="1"/>
          </p:cNvPicPr>
          <p:nvPr/>
        </p:nvPicPr>
        <p:blipFill>
          <a:blip r:embed="rId1"/>
          <a:stretch>
            <a:fillRect/>
          </a:stretch>
        </p:blipFill>
        <p:spPr>
          <a:xfrm>
            <a:off x="746759" y="1188720"/>
            <a:ext cx="6096000" cy="5120640"/>
          </a:xfrm>
          <a:prstGeom prst="rect">
            <a:avLst/>
          </a:prstGeom>
        </p:spPr>
      </p:pic>
      <p:sp>
        <p:nvSpPr>
          <p:cNvPr id="27" name="TextBox 26"/>
          <p:cNvSpPr txBox="1"/>
          <p:nvPr/>
        </p:nvSpPr>
        <p:spPr>
          <a:xfrm>
            <a:off x="7315200" y="1371600"/>
            <a:ext cx="4297680" cy="484632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and Vite web app (port 5408), 8 pages.</a:t>
            </a:r>
          </a:p>
          <a:p>
            <a:pPr algn="l" marL="256032" indent="-201168">
              <a:spcAft>
                <a:spcPts val="400"/>
              </a:spcAft>
              <a:buChar char="•"/>
            </a:pPr>
            <a:r>
              <a:rPr sz="1600" b="0" i="0">
                <a:solidFill>
                  <a:srgbClr val="0F172A"/>
                </a:solidFill>
              </a:rPr>
              <a:t>Application: FastAPI (port 8408), 12 routes under /api, PDF-only upload with a 20 MB limit and header check.</a:t>
            </a:r>
          </a:p>
          <a:p>
            <a:pPr algn="l" marL="256032" indent="-201168">
              <a:spcAft>
                <a:spcPts val="400"/>
              </a:spcAft>
              <a:buChar char="•"/>
            </a:pPr>
            <a:r>
              <a:rPr sz="1600" b="0" i="0">
                <a:solidFill>
                  <a:srgbClr val="0F172A"/>
                </a:solidFill>
              </a:rPr>
              <a:t>Services: plain function modules orchestrated by pipeline.run_analysis.</a:t>
            </a:r>
          </a:p>
          <a:p>
            <a:pPr algn="l" marL="256032" indent="-201168">
              <a:spcAft>
                <a:spcPts val="400"/>
              </a:spcAft>
              <a:buChar char="•"/>
            </a:pPr>
            <a:r>
              <a:rPr sz="1600" b="0" i="0">
                <a:solidFill>
                  <a:srgbClr val="0F172A"/>
                </a:solidFill>
              </a:rPr>
              <a:t>Data: SQLite (reviewers, analyses), joblib model files, cached language models. Only the OpenAlex query leaves the machine.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
        <p:nvSpPr>
          <p:cNvPr id="26" name="Rounded Rectangle 25"/>
          <p:cNvSpPr/>
          <p:nvPr/>
        </p:nvSpPr>
        <p:spPr>
          <a:xfrm>
            <a:off x="548640"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PDF upload</a:t>
            </a:r>
          </a:p>
        </p:txBody>
      </p:sp>
      <p:sp>
        <p:nvSpPr>
          <p:cNvPr id="27" name="Right Arrow 26"/>
          <p:cNvSpPr/>
          <p:nvPr/>
        </p:nvSpPr>
        <p:spPr>
          <a:xfrm>
            <a:off x="196073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61902"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Extract + sections</a:t>
            </a:r>
          </a:p>
        </p:txBody>
      </p:sp>
      <p:sp>
        <p:nvSpPr>
          <p:cNvPr id="29" name="Right Arrow 28"/>
          <p:cNvSpPr/>
          <p:nvPr/>
        </p:nvSpPr>
        <p:spPr>
          <a:xfrm>
            <a:off x="3573997"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775165"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Features + signals</a:t>
            </a:r>
          </a:p>
        </p:txBody>
      </p:sp>
      <p:sp>
        <p:nvSpPr>
          <p:cNvPr id="31" name="Right Arrow 30"/>
          <p:cNvSpPr/>
          <p:nvPr/>
        </p:nvSpPr>
        <p:spPr>
          <a:xfrm>
            <a:off x="518726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388428" y="1371600"/>
            <a:ext cx="141209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Decision signal</a:t>
            </a:r>
          </a:p>
        </p:txBody>
      </p:sp>
      <p:sp>
        <p:nvSpPr>
          <p:cNvPr id="33" name="Right Arrow 32"/>
          <p:cNvSpPr/>
          <p:nvPr/>
        </p:nvSpPr>
        <p:spPr>
          <a:xfrm>
            <a:off x="6800523"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1691" y="1371600"/>
            <a:ext cx="141209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AI critique</a:t>
            </a:r>
          </a:p>
        </p:txBody>
      </p:sp>
      <p:sp>
        <p:nvSpPr>
          <p:cNvPr id="35" name="Right Arrow 34"/>
          <p:cNvSpPr/>
          <p:nvPr/>
        </p:nvSpPr>
        <p:spPr>
          <a:xfrm>
            <a:off x="8413786"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14954" y="1371600"/>
            <a:ext cx="1412094"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Literature</a:t>
            </a:r>
          </a:p>
        </p:txBody>
      </p:sp>
      <p:sp>
        <p:nvSpPr>
          <p:cNvPr id="37" name="Right Arrow 36"/>
          <p:cNvSpPr/>
          <p:nvPr/>
        </p:nvSpPr>
        <p:spPr>
          <a:xfrm>
            <a:off x="10027049"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28217"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Reviewer ranking</a:t>
            </a:r>
          </a:p>
        </p:txBody>
      </p:sp>
      <p:sp>
        <p:nvSpPr>
          <p:cNvPr id="39" name="Rounded Rectangle 38"/>
          <p:cNvSpPr/>
          <p:nvPr/>
        </p:nvSpPr>
        <p:spPr>
          <a:xfrm>
            <a:off x="548640"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One pipeline</a:t>
            </a:r>
          </a:p>
        </p:txBody>
      </p:sp>
      <p:sp>
        <p:nvSpPr>
          <p:cNvPr id="41" name="TextBox 40"/>
          <p:cNvSpPr txBox="1"/>
          <p:nvPr/>
        </p:nvSpPr>
        <p:spPr>
          <a:xfrm>
            <a:off x="777240" y="3566160"/>
            <a:ext cx="3108960" cy="2468880"/>
          </a:xfrm>
          <a:prstGeom prst="rect">
            <a:avLst/>
          </a:prstGeom>
          <a:noFill/>
        </p:spPr>
        <p:txBody>
          <a:bodyPr wrap="square" lIns="0" rIns="0" tIns="0" bIns="0" anchor="t">
            <a:spAutoFit/>
          </a:bodyPr>
          <a:lstStyle/>
          <a:p>
            <a:pPr algn="l">
              <a:spcAft>
                <a:spcPts val="400"/>
              </a:spcAft>
            </a:pPr>
            <a:r>
              <a:rPr sz="1800" b="0" i="0">
                <a:solidFill>
                  <a:srgbClr val="475569"/>
                </a:solidFill>
              </a:rPr>
              <a:t>A single function, run_analysis, calls every stage in order and stores the result, so the web app, the tests and the scripts exercise the same code.</a:t>
            </a:r>
          </a:p>
        </p:txBody>
      </p:sp>
      <p:sp>
        <p:nvSpPr>
          <p:cNvPr id="42" name="Rounded Rectangle 41"/>
          <p:cNvSpPr/>
          <p:nvPr/>
        </p:nvSpPr>
        <p:spPr>
          <a:xfrm>
            <a:off x="4334255"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62855"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Graceful degradation</a:t>
            </a:r>
          </a:p>
        </p:txBody>
      </p:sp>
      <p:sp>
        <p:nvSpPr>
          <p:cNvPr id="44" name="TextBox 43"/>
          <p:cNvSpPr txBox="1"/>
          <p:nvPr/>
        </p:nvSpPr>
        <p:spPr>
          <a:xfrm>
            <a:off x="4562855" y="3566160"/>
            <a:ext cx="3108960" cy="2468880"/>
          </a:xfrm>
          <a:prstGeom prst="rect">
            <a:avLst/>
          </a:prstGeom>
          <a:noFill/>
        </p:spPr>
        <p:txBody>
          <a:bodyPr wrap="square" lIns="0" rIns="0" tIns="0" bIns="0" anchor="t">
            <a:spAutoFit/>
          </a:bodyPr>
          <a:lstStyle/>
          <a:p>
            <a:pPr algn="l">
              <a:spcAft>
                <a:spcPts val="400"/>
              </a:spcAft>
            </a:pPr>
            <a:r>
              <a:rPr sz="1800" b="0" i="0">
                <a:solidFill>
                  <a:srgbClr val="475569"/>
                </a:solidFill>
              </a:rPr>
              <a:t>No language model: deterministic review with a visible notice. No internet: literature marked unavailable. No sentence-embedding model: TF-IDF fallback.</a:t>
            </a:r>
          </a:p>
        </p:txBody>
      </p:sp>
      <p:sp>
        <p:nvSpPr>
          <p:cNvPr id="45" name="Rounded Rectangle 44"/>
          <p:cNvSpPr/>
          <p:nvPr/>
        </p:nvSpPr>
        <p:spPr>
          <a:xfrm>
            <a:off x="8119871"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48471"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Measured, not typed</a:t>
            </a:r>
          </a:p>
        </p:txBody>
      </p:sp>
      <p:sp>
        <p:nvSpPr>
          <p:cNvPr id="47" name="TextBox 46"/>
          <p:cNvSpPr txBox="1"/>
          <p:nvPr/>
        </p:nvSpPr>
        <p:spPr>
          <a:xfrm>
            <a:off x="8348471" y="3566160"/>
            <a:ext cx="3108960" cy="2468880"/>
          </a:xfrm>
          <a:prstGeom prst="rect">
            <a:avLst/>
          </a:prstGeom>
          <a:noFill/>
        </p:spPr>
        <p:txBody>
          <a:bodyPr wrap="square" lIns="0" rIns="0" tIns="0" bIns="0" anchor="t">
            <a:spAutoFit/>
          </a:bodyPr>
          <a:lstStyle/>
          <a:p>
            <a:pPr algn="l">
              <a:spcAft>
                <a:spcPts val="400"/>
              </a:spcAft>
            </a:pPr>
            <a:r>
              <a:rPr sz="1800" b="0" i="0">
                <a:solidFill>
                  <a:srgbClr val="475569"/>
                </a:solidFill>
              </a:rPr>
              <a:t>scripts/measure_metrics.py writes every reported number to docs/metrics/metrics.json; figures are regenerated from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Datasets used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1,400</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synthetic labelled papers (decision model)</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classes: accept, borderline, reject</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1,120 / 280</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train / held-out test (stratified)</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40 + 6</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probe abstracts + demo reviewers</a:t>
            </a:r>
          </a:p>
        </p:txBody>
      </p:sp>
      <p:pic>
        <p:nvPicPr>
          <p:cNvPr id="42" name="Picture 41" descr="f06_dataset_structure.png"/>
          <p:cNvPicPr>
            <a:picLocks noChangeAspect="1"/>
          </p:cNvPicPr>
          <p:nvPr/>
        </p:nvPicPr>
        <p:blipFill>
          <a:blip r:embed="rId1"/>
          <a:stretch>
            <a:fillRect/>
          </a:stretch>
        </p:blipFill>
        <p:spPr>
          <a:xfrm>
            <a:off x="548640" y="2700895"/>
            <a:ext cx="6035040" cy="2919248"/>
          </a:xfrm>
          <a:prstGeom prst="rect">
            <a:avLst/>
          </a:prstGeom>
        </p:spPr>
      </p:pic>
      <p:sp>
        <p:nvSpPr>
          <p:cNvPr id="43" name="TextBox 42"/>
          <p:cNvSpPr txBox="1"/>
          <p:nvPr/>
        </p:nvSpPr>
        <p:spPr>
          <a:xfrm>
            <a:off x="6858000" y="2697480"/>
            <a:ext cx="4754880" cy="3566160"/>
          </a:xfrm>
          <a:prstGeom prst="rect">
            <a:avLst/>
          </a:prstGeom>
          <a:noFill/>
        </p:spPr>
        <p:txBody>
          <a:bodyPr wrap="square" lIns="0" rIns="0" tIns="0" bIns="0" anchor="t">
            <a:spAutoFit/>
          </a:bodyPr>
          <a:lstStyle/>
          <a:p>
            <a:pPr algn="l" marL="256032" indent="-201168">
              <a:spcAft>
                <a:spcPts val="1000"/>
              </a:spcAft>
              <a:buChar char="•"/>
            </a:pPr>
            <a:r>
              <a:rPr sz="1500" b="0" i="0">
                <a:solidFill>
                  <a:srgbClr val="0F172A"/>
                </a:solidFill>
              </a:rPr>
              <a:t>The public peer-review probe in prepare_dataset.py returned no data, so the project generated a labelled synthetic set (seed 42).</a:t>
            </a:r>
          </a:p>
          <a:p>
            <a:pPr algn="l" marL="256032" indent="-201168">
              <a:spcAft>
                <a:spcPts val="1000"/>
              </a:spcAft>
              <a:buChar char="•"/>
            </a:pPr>
            <a:r>
              <a:rPr sz="1500" b="0" i="0">
                <a:solidFill>
                  <a:srgbClr val="0F172A"/>
                </a:solidFill>
              </a:rPr>
              <a:t>Labels come from the same strength and weakness phrases that appear in the text, and borderline is drawn from both: no text classifier can exceed about 56% accuracy.</a:t>
            </a:r>
          </a:p>
          <a:p>
            <a:pPr algn="l" marL="256032" indent="-201168">
              <a:spcAft>
                <a:spcPts val="1000"/>
              </a:spcAft>
              <a:buChar char="•"/>
            </a:pPr>
            <a:r>
              <a:rPr sz="1500" b="0" i="0">
                <a:solidFill>
                  <a:srgbClr val="0F172A"/>
                </a:solidFill>
              </a:rPr>
              <a:t>Reviewer pool: six demo profiles. Matching probe: 40 abstracts written by the team, labelled by the team.</a:t>
            </a:r>
          </a:p>
        </p:txBody>
      </p:sp>
      <p:sp>
        <p:nvSpPr>
          <p:cNvPr id="44" name="TextBox 43"/>
          <p:cNvSpPr txBox="1"/>
          <p:nvPr/>
        </p:nvSpPr>
        <p:spPr>
          <a:xfrm>
            <a:off x="548640" y="5715000"/>
            <a:ext cx="6035040" cy="548640"/>
          </a:xfrm>
          <a:prstGeom prst="rect">
            <a:avLst/>
          </a:prstGeom>
          <a:noFill/>
        </p:spPr>
        <p:txBody>
          <a:bodyPr wrap="square" lIns="0" rIns="0" tIns="0" bIns="0" anchor="t">
            <a:spAutoFit/>
          </a:bodyPr>
          <a:lstStyle/>
          <a:p>
            <a:pPr algn="ctr">
              <a:spcAft>
                <a:spcPts val="400"/>
              </a:spcAft>
            </a:pPr>
            <a:r>
              <a:rPr sz="1200" b="0" i="1">
                <a:solidFill>
                  <a:srgbClr val="475569"/>
                </a:solidFill>
              </a:rPr>
              <a:t>Class counts and how the label relates to the text phrases.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preprocessing: from PDF to features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pic>
        <p:nvPicPr>
          <p:cNvPr id="26" name="Picture 25" descr="12_pdf_extraction_flow.png"/>
          <p:cNvPicPr>
            <a:picLocks noChangeAspect="1"/>
          </p:cNvPicPr>
          <p:nvPr/>
        </p:nvPicPr>
        <p:blipFill>
          <a:blip r:embed="rId3"/>
          <a:stretch>
            <a:fillRect/>
          </a:stretch>
        </p:blipFill>
        <p:spPr>
          <a:xfrm>
            <a:off x="548640" y="1580997"/>
            <a:ext cx="6309359" cy="4290364"/>
          </a:xfrm>
          <a:prstGeom prst="rect">
            <a:avLst/>
          </a:prstGeom>
        </p:spPr>
      </p:pic>
      <p:sp>
        <p:nvSpPr>
          <p:cNvPr id="27" name="TextBox 26"/>
          <p:cNvSpPr txBox="1"/>
          <p:nvPr/>
        </p:nvSpPr>
        <p:spPr>
          <a:xfrm>
            <a:off x="7132320" y="1371600"/>
            <a:ext cx="4480560" cy="4754880"/>
          </a:xfrm>
          <a:prstGeom prst="rect">
            <a:avLst/>
          </a:prstGeom>
          <a:noFill/>
        </p:spPr>
        <p:txBody>
          <a:bodyPr wrap="square" lIns="0" rIns="0" tIns="0" bIns="0" anchor="t">
            <a:spAutoFit/>
          </a:bodyPr>
          <a:lstStyle/>
          <a:p>
            <a:pPr algn="l">
              <a:spcAft>
                <a:spcPts val="900"/>
              </a:spcAft>
            </a:pPr>
            <a:r>
              <a:rPr sz="1500" b="0" i="0">
                <a:solidFill>
                  <a:srgbClr val="0F172A"/>
                </a:solidFill>
              </a:rPr>
              <a:t>1  PyMuPDF text of every page, whitespace normalised</a:t>
            </a:r>
          </a:p>
          <a:p>
            <a:pPr algn="l">
              <a:spcAft>
                <a:spcPts val="900"/>
              </a:spcAft>
            </a:pPr>
            <a:r>
              <a:rPr sz="1500" b="0" i="0">
                <a:solidFill>
                  <a:srgbClr val="0F172A"/>
                </a:solidFill>
              </a:rPr>
              <a:t>2  Title: first plausible line (12-220 characters, no final full stop)</a:t>
            </a:r>
          </a:p>
          <a:p>
            <a:pPr algn="l">
              <a:spcAft>
                <a:spcPts val="900"/>
              </a:spcAft>
            </a:pPr>
            <a:r>
              <a:rPr sz="1500" b="0" i="0">
                <a:solidFill>
                  <a:srgbClr val="0F172A"/>
                </a:solidFill>
              </a:rPr>
              <a:t>3  Nine sections found by heading patterns</a:t>
            </a:r>
          </a:p>
          <a:p>
            <a:pPr algn="l">
              <a:spcAft>
                <a:spcPts val="900"/>
              </a:spcAft>
            </a:pPr>
            <a:r>
              <a:rPr sz="1500" b="0" i="0">
                <a:solidFill>
                  <a:srgbClr val="0F172A"/>
                </a:solidFill>
              </a:rPr>
              <a:t>4  References parsed (up to 60)</a:t>
            </a:r>
          </a:p>
          <a:p>
            <a:pPr algn="l">
              <a:spcAft>
                <a:spcPts val="900"/>
              </a:spcAft>
            </a:pPr>
            <a:r>
              <a:rPr sz="1500" b="0" i="0">
                <a:solidFill>
                  <a:srgbClr val="0F172A"/>
                </a:solidFill>
              </a:rPr>
              <a:t>5  Frequency keywords, 21 method terms, 18 topic hints</a:t>
            </a:r>
          </a:p>
          <a:p>
            <a:pPr algn="l">
              <a:spcAft>
                <a:spcPts val="900"/>
              </a:spcAft>
            </a:pPr>
            <a:r>
              <a:rPr sz="1500" b="0" i="0">
                <a:solidFill>
                  <a:srgbClr val="0F172A"/>
                </a:solidFill>
              </a:rPr>
              <a:t>6  Four structural signals combined 0.35 / 0.25 / 0.25 / 0.15</a:t>
            </a:r>
          </a:p>
          <a:p>
            <a:pPr algn="l">
              <a:spcAft>
                <a:spcPts val="900"/>
              </a:spcAft>
            </a:pPr>
            <a:r>
              <a:rPr sz="1400" b="0" i="1">
                <a:solidFill>
                  <a:srgbClr val="475569"/>
                </a:solidFill>
              </a:rPr>
              <a:t>Known weakness: roman-numeral headings such as 'I. INTRODUCTION' are not detected.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used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graphicFrame>
        <p:nvGraphicFramePr>
          <p:cNvPr id="26" name="Table 25"/>
          <p:cNvGraphicFramePr>
            <a:graphicFrameLocks noGrp="1"/>
          </p:cNvGraphicFramePr>
          <p:nvPr/>
        </p:nvGraphicFramePr>
        <p:xfrm>
          <a:off x="548640" y="1371600"/>
          <a:ext cx="11091672" cy="3474720"/>
        </p:xfrm>
        <a:graphic>
          <a:graphicData uri="http://schemas.openxmlformats.org/drawingml/2006/table">
            <a:tbl>
              <a:tblPr firstRow="0" bandRow="0">
                <a:tableStyleId>{5C22544A-7EE6-4342-B048-85BDC9FD1C3A}</a:tableStyleId>
              </a:tblPr>
              <a:tblGrid>
                <a:gridCol w="2194560"/>
                <a:gridCol w="5486400"/>
                <a:gridCol w="3410712"/>
              </a:tblGrid>
              <a:tr h="868680">
                <a:tc>
                  <a:txBody>
                    <a:bodyPr wrap="square"/>
                    <a:lstStyle/>
                    <a:p>
                      <a:pPr algn="ctr"/>
                      <a:r>
                        <a:rPr sz="14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Configuration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68680">
                <a:tc>
                  <a:txBody>
                    <a:bodyPr wrap="square"/>
                    <a:lstStyle/>
                    <a:p>
                      <a:pPr algn="l"/>
                      <a:r>
                        <a:rPr sz="1400" b="1">
                          <a:solidFill>
                            <a:srgbClr val="0F172A"/>
                          </a:solidFill>
                        </a:rPr>
                        <a:t>Decision signal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TF-IDF words 1-2 (8,000) + characters 3-5 (4,000), logistic regression, balanced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accept / borderline / reject probabilities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68680">
                <a:tc>
                  <a:txBody>
                    <a:bodyPr wrap="square"/>
                    <a:lstStyle/>
                    <a:p>
                      <a:pPr algn="l"/>
                      <a:r>
                        <a:rPr sz="1400" b="1">
                          <a:solidFill>
                            <a:srgbClr val="0F172A"/>
                          </a:solidFill>
                        </a:rPr>
                        <a:t>Sentence embeddings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all-MiniLM-L6-v2 (TF-IDF fallback, 512 terms, when it cannot load)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expertise similarity paper vs reviewer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68680">
                <a:tc>
                  <a:txBody>
                    <a:bodyPr wrap="square"/>
                    <a:lstStyle/>
                    <a:p>
                      <a:pPr algn="l"/>
                      <a:r>
                        <a:rPr sz="1400" b="1">
                          <a:solidFill>
                            <a:srgbClr val="0F172A"/>
                          </a:solidFill>
                        </a:rPr>
                        <a:t>Local language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Qwen2.5-1.5B-Instruct on CPU, 32-bit floats (0.5B fallback); analyse, critique, synthesise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reviewer-style critique, never a ranking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Rounded Rectangle 26"/>
          <p:cNvSpPr/>
          <p:nvPr/>
        </p:nvSpPr>
        <p:spPr>
          <a:xfrm>
            <a:off x="548640" y="5120640"/>
            <a:ext cx="347472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512064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9808" y="5212079"/>
            <a:ext cx="3200400" cy="603504"/>
          </a:xfrm>
          <a:prstGeom prst="rect">
            <a:avLst/>
          </a:prstGeom>
          <a:noFill/>
        </p:spPr>
        <p:txBody>
          <a:bodyPr wrap="square" lIns="0" rIns="0" tIns="0" bIns="0" anchor="ctr">
            <a:spAutoFit/>
          </a:bodyPr>
          <a:lstStyle/>
          <a:p>
            <a:pPr algn="l">
              <a:spcAft>
                <a:spcPts val="400"/>
              </a:spcAft>
            </a:pPr>
            <a:r>
              <a:rPr sz="2600" b="1" i="0">
                <a:solidFill>
                  <a:srgbClr val="0F172A"/>
                </a:solidFill>
              </a:rPr>
              <a:t>12,000</a:t>
            </a:r>
          </a:p>
        </p:txBody>
      </p:sp>
      <p:sp>
        <p:nvSpPr>
          <p:cNvPr id="30" name="TextBox 29"/>
          <p:cNvSpPr txBox="1"/>
          <p:nvPr/>
        </p:nvSpPr>
        <p:spPr>
          <a:xfrm>
            <a:off x="749808" y="5757062"/>
            <a:ext cx="3200400" cy="416966"/>
          </a:xfrm>
          <a:prstGeom prst="rect">
            <a:avLst/>
          </a:prstGeom>
          <a:noFill/>
        </p:spPr>
        <p:txBody>
          <a:bodyPr wrap="square" lIns="0" rIns="0" tIns="0" bIns="0" anchor="t">
            <a:spAutoFit/>
          </a:bodyPr>
          <a:lstStyle/>
          <a:p>
            <a:pPr algn="l">
              <a:spcAft>
                <a:spcPts val="400"/>
              </a:spcAft>
            </a:pPr>
            <a:r>
              <a:rPr sz="1200" b="0" i="0">
                <a:solidFill>
                  <a:srgbClr val="475569"/>
                </a:solidFill>
              </a:rPr>
              <a:t>TF-IDF features in the decision model</a:t>
            </a:r>
          </a:p>
        </p:txBody>
      </p:sp>
      <p:sp>
        <p:nvSpPr>
          <p:cNvPr id="31" name="Rounded Rectangle 30"/>
          <p:cNvSpPr/>
          <p:nvPr/>
        </p:nvSpPr>
        <p:spPr>
          <a:xfrm>
            <a:off x="4297680" y="5120640"/>
            <a:ext cx="347472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297680" y="512064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98848" y="5212079"/>
            <a:ext cx="3200400" cy="603504"/>
          </a:xfrm>
          <a:prstGeom prst="rect">
            <a:avLst/>
          </a:prstGeom>
          <a:noFill/>
        </p:spPr>
        <p:txBody>
          <a:bodyPr wrap="square" lIns="0" rIns="0" tIns="0" bIns="0" anchor="ctr">
            <a:spAutoFit/>
          </a:bodyPr>
          <a:lstStyle/>
          <a:p>
            <a:pPr algn="l">
              <a:spcAft>
                <a:spcPts val="400"/>
              </a:spcAft>
            </a:pPr>
            <a:r>
              <a:rPr sz="2600" b="1" i="0">
                <a:solidFill>
                  <a:srgbClr val="0F172A"/>
                </a:solidFill>
              </a:rPr>
              <a:t>1.5 B</a:t>
            </a:r>
          </a:p>
        </p:txBody>
      </p:sp>
      <p:sp>
        <p:nvSpPr>
          <p:cNvPr id="34" name="TextBox 33"/>
          <p:cNvSpPr txBox="1"/>
          <p:nvPr/>
        </p:nvSpPr>
        <p:spPr>
          <a:xfrm>
            <a:off x="4498848" y="5757062"/>
            <a:ext cx="3200400" cy="416966"/>
          </a:xfrm>
          <a:prstGeom prst="rect">
            <a:avLst/>
          </a:prstGeom>
          <a:noFill/>
        </p:spPr>
        <p:txBody>
          <a:bodyPr wrap="square" lIns="0" rIns="0" tIns="0" bIns="0" anchor="t">
            <a:spAutoFit/>
          </a:bodyPr>
          <a:lstStyle/>
          <a:p>
            <a:pPr algn="l">
              <a:spcAft>
                <a:spcPts val="400"/>
              </a:spcAft>
            </a:pPr>
            <a:r>
              <a:rPr sz="1200" b="0" i="0">
                <a:solidFill>
                  <a:srgbClr val="475569"/>
                </a:solidFill>
              </a:rPr>
              <a:t>parameters in the local language model</a:t>
            </a:r>
          </a:p>
        </p:txBody>
      </p:sp>
      <p:sp>
        <p:nvSpPr>
          <p:cNvPr id="35" name="Rounded Rectangle 34"/>
          <p:cNvSpPr/>
          <p:nvPr/>
        </p:nvSpPr>
        <p:spPr>
          <a:xfrm>
            <a:off x="8046720" y="5120640"/>
            <a:ext cx="359359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046720" y="512064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47888" y="5212079"/>
            <a:ext cx="3319272" cy="603504"/>
          </a:xfrm>
          <a:prstGeom prst="rect">
            <a:avLst/>
          </a:prstGeom>
          <a:noFill/>
        </p:spPr>
        <p:txBody>
          <a:bodyPr wrap="square" lIns="0" rIns="0" tIns="0" bIns="0" anchor="ctr">
            <a:spAutoFit/>
          </a:bodyPr>
          <a:lstStyle/>
          <a:p>
            <a:pPr algn="l">
              <a:spcAft>
                <a:spcPts val="400"/>
              </a:spcAft>
            </a:pPr>
            <a:r>
              <a:rPr sz="2600" b="1" i="0">
                <a:solidFill>
                  <a:srgbClr val="0F172A"/>
                </a:solidFill>
              </a:rPr>
              <a:t>No GPU</a:t>
            </a:r>
          </a:p>
        </p:txBody>
      </p:sp>
      <p:sp>
        <p:nvSpPr>
          <p:cNvPr id="38" name="TextBox 37"/>
          <p:cNvSpPr txBox="1"/>
          <p:nvPr/>
        </p:nvSpPr>
        <p:spPr>
          <a:xfrm>
            <a:off x="8247888" y="5757062"/>
            <a:ext cx="3319272" cy="416966"/>
          </a:xfrm>
          <a:prstGeom prst="rect">
            <a:avLst/>
          </a:prstGeom>
          <a:noFill/>
        </p:spPr>
        <p:txBody>
          <a:bodyPr wrap="square" lIns="0" rIns="0" tIns="0" bIns="0" anchor="t">
            <a:spAutoFit/>
          </a:bodyPr>
          <a:lstStyle/>
          <a:p>
            <a:pPr algn="l">
              <a:spcAft>
                <a:spcPts val="400"/>
              </a:spcAft>
            </a:pPr>
            <a:r>
              <a:rPr sz="1200" b="0" i="0">
                <a:solidFill>
                  <a:srgbClr val="475569"/>
                </a:solidFill>
              </a:rPr>
              <a:t>everything runs on a CPU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 (decision model)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280160"/>
          <a:ext cx="11091672" cy="3017520"/>
        </p:xfrm>
        <a:graphic>
          <a:graphicData uri="http://schemas.openxmlformats.org/drawingml/2006/table">
            <a:tbl>
              <a:tblPr firstRow="0" bandRow="0">
                <a:tableStyleId>{5C22544A-7EE6-4342-B048-85BDC9FD1C3A}</a:tableStyleId>
              </a:tblPr>
              <a:tblGrid>
                <a:gridCol w="2377440"/>
                <a:gridCol w="8714232"/>
              </a:tblGrid>
              <a:tr h="502920">
                <a:tc>
                  <a:txBody>
                    <a:bodyPr wrap="square"/>
                    <a:lstStyle/>
                    <a:p>
                      <a:pPr algn="ctr"/>
                      <a:r>
                        <a:rPr sz="15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500" b="1">
                          <a:solidFill>
                            <a:srgbClr val="0F172A"/>
                          </a:solidFill>
                        </a:rPr>
                        <a:t>Data and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1,400 synthetic rows; 80 / 20 stratified, seed 42 (1,120 train / 280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500" b="1">
                          <a:solidFill>
                            <a:srgbClr val="0F172A"/>
                          </a:solidFill>
                        </a:rPr>
                        <a:t>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LogisticRegression, C = 1.0, max_iter = 1000, class_weight = balanced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500" b="1">
                          <a:solidFill>
                            <a:srgbClr val="0F172A"/>
                          </a:solidFill>
                        </a:rPr>
                        <a:t>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TF-IDF word 1-2 grams (8,000, English stop words) + character 3-5 grams (4,000) over title + text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500" b="1">
                          <a:solidFill>
                            <a:srgbClr val="0F172A"/>
                          </a:solidFill>
                        </a:rPr>
                        <a:t>Robustness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Five other splits: accuracy 0.545 +/- 0.028, macro F1 0.517 +/- 0.029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500" b="1">
                          <a:solidFill>
                            <a:srgbClr val="0F172A"/>
                          </a:solidFill>
                        </a:rPr>
                        <a:t>Hardware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12th Gen Intel Core(TM) i5-12500, 15.7 GB RAM, CPU only; training takes seconds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pic>
        <p:nvPicPr>
          <p:cNvPr id="27" name="Picture 26" descr="f04_seed_study.png"/>
          <p:cNvPicPr>
            <a:picLocks noChangeAspect="1"/>
          </p:cNvPicPr>
          <p:nvPr/>
        </p:nvPicPr>
        <p:blipFill>
          <a:blip r:embed="rId1"/>
          <a:stretch>
            <a:fillRect/>
          </a:stretch>
        </p:blipFill>
        <p:spPr>
          <a:xfrm>
            <a:off x="1366029" y="4434840"/>
            <a:ext cx="3485861" cy="1965960"/>
          </a:xfrm>
          <a:prstGeom prst="rect">
            <a:avLst/>
          </a:prstGeom>
        </p:spPr>
      </p:pic>
      <p:sp>
        <p:nvSpPr>
          <p:cNvPr id="28" name="TextBox 27"/>
          <p:cNvSpPr txBox="1"/>
          <p:nvPr/>
        </p:nvSpPr>
        <p:spPr>
          <a:xfrm>
            <a:off x="5943600" y="4663440"/>
            <a:ext cx="5669280" cy="1645920"/>
          </a:xfrm>
          <a:prstGeom prst="rect">
            <a:avLst/>
          </a:prstGeom>
          <a:noFill/>
        </p:spPr>
        <p:txBody>
          <a:bodyPr wrap="square" lIns="0" rIns="0" tIns="0" bIns="0" anchor="t">
            <a:spAutoFit/>
          </a:bodyPr>
          <a:lstStyle/>
          <a:p>
            <a:pPr algn="l">
              <a:spcAft>
                <a:spcPts val="400"/>
              </a:spcAft>
            </a:pPr>
            <a:r>
              <a:rPr sz="1600" b="0" i="0">
                <a:solidFill>
                  <a:srgbClr val="475569"/>
                </a:solidFill>
              </a:rPr>
              <a:t>Accuracy moves by about three points between splits, so one split's 0.55 is not a precise figure. Training and the five-split study both run in the measurement script; the shipped model files were not changed.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the auditable match score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10_flowchart_matching.png"/>
          <p:cNvPicPr>
            <a:picLocks noChangeAspect="1"/>
          </p:cNvPicPr>
          <p:nvPr/>
        </p:nvPicPr>
        <p:blipFill>
          <a:blip r:embed="rId1"/>
          <a:stretch>
            <a:fillRect/>
          </a:stretch>
        </p:blipFill>
        <p:spPr>
          <a:xfrm>
            <a:off x="598516" y="1188720"/>
            <a:ext cx="4655127" cy="5120640"/>
          </a:xfrm>
          <a:prstGeom prst="rect">
            <a:avLst/>
          </a:prstGeom>
        </p:spPr>
      </p:pic>
      <p:sp>
        <p:nvSpPr>
          <p:cNvPr id="27" name="TextBox 26"/>
          <p:cNvSpPr txBox="1"/>
          <p:nvPr/>
        </p:nvSpPr>
        <p:spPr>
          <a:xfrm>
            <a:off x="5669280" y="1371600"/>
            <a:ext cx="5943600" cy="4846320"/>
          </a:xfrm>
          <a:prstGeom prst="rect">
            <a:avLst/>
          </a:prstGeom>
          <a:noFill/>
        </p:spPr>
        <p:txBody>
          <a:bodyPr wrap="square" lIns="0" rIns="0" tIns="0" bIns="0" anchor="t">
            <a:spAutoFit/>
          </a:bodyPr>
          <a:lstStyle/>
          <a:p>
            <a:pPr algn="l" marL="256032" indent="-201168">
              <a:spcAft>
                <a:spcPts val="900"/>
              </a:spcAft>
              <a:buChar char="•"/>
            </a:pPr>
            <a:r>
              <a:rPr sz="1700" b="1" i="0">
                <a:solidFill>
                  <a:srgbClr val="0F172A"/>
                </a:solidFill>
              </a:rPr>
              <a:t>Score.</a:t>
            </a:r>
            <a:r>
              <a:rPr sz="1700" b="0" i="0">
                <a:solidFill>
                  <a:srgbClr val="0F172A"/>
                </a:solidFill>
              </a:rPr>
              <a:t> 0.55 x embedding similarity + 0.20 x keyword overlap + 0.15 x method / topic overlap + 0.10 x availability - 0.60 x conflict penalty, scaled to 0-100.</a:t>
            </a:r>
          </a:p>
          <a:p>
            <a:pPr algn="l" marL="256032" indent="-201168">
              <a:spcAft>
                <a:spcPts val="900"/>
              </a:spcAft>
              <a:buChar char="•"/>
            </a:pPr>
            <a:r>
              <a:rPr sz="1700" b="1" i="0">
                <a:solidFill>
                  <a:srgbClr val="0F172A"/>
                </a:solidFill>
              </a:rPr>
              <a:t>Bands.</a:t>
            </a:r>
            <a:r>
              <a:rPr sz="1700" b="0" i="0">
                <a:solidFill>
                  <a:srgbClr val="0F172A"/>
                </a:solidFill>
              </a:rPr>
              <a:t> Strong from 65, Good from 45, Possible from 25, otherwise Weak.</a:t>
            </a:r>
          </a:p>
          <a:p>
            <a:pPr algn="l" marL="256032" indent="-201168">
              <a:spcAft>
                <a:spcPts val="900"/>
              </a:spcAft>
              <a:buChar char="•"/>
            </a:pPr>
            <a:r>
              <a:rPr sz="1700" b="1" i="0">
                <a:solidFill>
                  <a:srgbClr val="0F172A"/>
                </a:solidFill>
              </a:rPr>
              <a:t>Availability.</a:t>
            </a:r>
            <a:r>
              <a:rPr sz="1700" b="0" i="0">
                <a:solidFill>
                  <a:srgbClr val="0F172A"/>
                </a:solidFill>
              </a:rPr>
              <a:t> 1 - current load / maximum load.</a:t>
            </a:r>
          </a:p>
          <a:p>
            <a:pPr algn="l" marL="256032" indent="-201168">
              <a:spcAft>
                <a:spcPts val="900"/>
              </a:spcAft>
              <a:buChar char="•"/>
            </a:pPr>
            <a:r>
              <a:rPr sz="1700" b="1" i="0">
                <a:solidFill>
                  <a:srgbClr val="0F172A"/>
                </a:solidFill>
              </a:rPr>
              <a:t>Conflict.</a:t>
            </a:r>
            <a:r>
              <a:rPr sz="1700" b="0" i="0">
                <a:solidFill>
                  <a:srgbClr val="0F172A"/>
                </a:solidFill>
              </a:rPr>
              <a:t> A listed conflict term, the reviewer's full name or affiliation found in the paper text applies the penalty.</a:t>
            </a:r>
          </a:p>
          <a:p>
            <a:pPr algn="l" marL="256032" indent="-201168">
              <a:spcAft>
                <a:spcPts val="400"/>
              </a:spcAft>
              <a:buChar char="•"/>
            </a:pPr>
            <a:r>
              <a:rPr sz="1700" b="1" i="0">
                <a:solidFill>
                  <a:srgbClr val="0F172A"/>
                </a:solidFill>
              </a:rPr>
              <a:t>Audit.</a:t>
            </a:r>
            <a:r>
              <a:rPr sz="1700" b="0" i="0">
                <a:solidFill>
                  <a:srgbClr val="0F172A"/>
                </a:solidFill>
              </a:rPr>
              <a:t> Every card shows each term, its weight, the matching words and a plain-language reason.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04_dfd_level1.png"/>
          <p:cNvPicPr>
            <a:picLocks noChangeAspect="1"/>
          </p:cNvPicPr>
          <p:nvPr/>
        </p:nvPicPr>
        <p:blipFill>
          <a:blip r:embed="rId1"/>
          <a:stretch>
            <a:fillRect/>
          </a:stretch>
        </p:blipFill>
        <p:spPr>
          <a:xfrm>
            <a:off x="822960" y="1188720"/>
            <a:ext cx="5120640" cy="5120640"/>
          </a:xfrm>
          <a:prstGeom prst="rect">
            <a:avLst/>
          </a:prstGeom>
        </p:spPr>
      </p:pic>
      <p:graphicFrame>
        <p:nvGraphicFramePr>
          <p:cNvPr id="27" name="Table 26"/>
          <p:cNvGraphicFramePr>
            <a:graphicFrameLocks noGrp="1"/>
          </p:cNvGraphicFramePr>
          <p:nvPr/>
        </p:nvGraphicFramePr>
        <p:xfrm>
          <a:off x="6492240" y="1280160"/>
          <a:ext cx="5148072" cy="4572000"/>
        </p:xfrm>
        <a:graphic>
          <a:graphicData uri="http://schemas.openxmlformats.org/drawingml/2006/table">
            <a:tbl>
              <a:tblPr firstRow="0" bandRow="0">
                <a:tableStyleId>{5C22544A-7EE6-4342-B048-85BDC9FD1C3A}</a:tableStyleId>
              </a:tblPr>
              <a:tblGrid>
                <a:gridCol w="2194560"/>
                <a:gridCol w="2953512"/>
              </a:tblGrid>
              <a:tr h="457200">
                <a:tc>
                  <a:txBody>
                    <a:bodyPr wrap="square"/>
                    <a:lstStyle/>
                    <a:p>
                      <a:pPr algn="ctr"/>
                      <a:r>
                        <a:rPr sz="13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300" b="0">
                          <a:solidFill>
                            <a:srgbClr val="0F172A"/>
                          </a:solidFill>
                        </a:rPr>
                        <a:t>pdf_extract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text, sections, references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0">
                          <a:solidFill>
                            <a:srgbClr val="0F172A"/>
                          </a:solidFill>
                        </a:rPr>
                        <a:t>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keywords, structural signals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0">
                          <a:solidFill>
                            <a:srgbClr val="0F172A"/>
                          </a:solidFill>
                        </a:rPr>
                        <a:t>ml_predict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decision signal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0">
                          <a:solidFill>
                            <a:srgbClr val="0F172A"/>
                          </a:solidFill>
                        </a:rPr>
                        <a:t>review_synthesis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rules + 3-step AI review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0">
                          <a:solidFill>
                            <a:srgbClr val="0F172A"/>
                          </a:solidFill>
                        </a:rPr>
                        <a:t>llm_service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lazy Qwen loading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0">
                          <a:solidFill>
                            <a:srgbClr val="0F172A"/>
                          </a:solidFill>
                        </a:rPr>
                        <a:t>literature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OpenAlex retrieval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0">
                          <a:solidFill>
                            <a:srgbClr val="0F172A"/>
                          </a:solidFill>
                        </a:rPr>
                        <a:t>embeddings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MiniLM / TF-IDF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0">
                          <a:solidFill>
                            <a:srgbClr val="0F172A"/>
                          </a:solidFill>
                        </a:rPr>
                        <a:t>matching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score, conflicts, ranking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0">
                          <a:solidFill>
                            <a:srgbClr val="0F172A"/>
                          </a:solidFill>
                        </a:rPr>
                        <a:t>export_service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JSON and PDF report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09_er_diagram.png"/>
          <p:cNvPicPr>
            <a:picLocks noChangeAspect="1"/>
          </p:cNvPicPr>
          <p:nvPr/>
        </p:nvPicPr>
        <p:blipFill>
          <a:blip r:embed="rId1"/>
          <a:stretch>
            <a:fillRect/>
          </a:stretch>
        </p:blipFill>
        <p:spPr>
          <a:xfrm>
            <a:off x="565265" y="1234440"/>
            <a:ext cx="5818909" cy="3840480"/>
          </a:xfrm>
          <a:prstGeom prst="rect">
            <a:avLst/>
          </a:prstGeom>
        </p:spPr>
      </p:pic>
      <p:pic>
        <p:nvPicPr>
          <p:cNvPr id="27" name="Picture 26" descr="06_uml_class.png"/>
          <p:cNvPicPr>
            <a:picLocks noChangeAspect="1"/>
          </p:cNvPicPr>
          <p:nvPr/>
        </p:nvPicPr>
        <p:blipFill>
          <a:blip r:embed="rId4"/>
          <a:stretch>
            <a:fillRect/>
          </a:stretch>
        </p:blipFill>
        <p:spPr>
          <a:xfrm>
            <a:off x="6909144" y="1188720"/>
            <a:ext cx="4378271" cy="5166360"/>
          </a:xfrm>
          <a:prstGeom prst="rect">
            <a:avLst/>
          </a:prstGeom>
        </p:spPr>
      </p:pic>
      <p:sp>
        <p:nvSpPr>
          <p:cNvPr id="28" name="TextBox 27"/>
          <p:cNvSpPr txBox="1"/>
          <p:nvPr/>
        </p:nvSpPr>
        <p:spPr>
          <a:xfrm>
            <a:off x="548640" y="5257800"/>
            <a:ext cx="5852160" cy="1097280"/>
          </a:xfrm>
          <a:prstGeom prst="rect">
            <a:avLst/>
          </a:prstGeom>
          <a:noFill/>
        </p:spPr>
        <p:txBody>
          <a:bodyPr wrap="square" lIns="0" rIns="0" tIns="0" bIns="0" anchor="t">
            <a:spAutoFit/>
          </a:bodyPr>
          <a:lstStyle/>
          <a:p>
            <a:pPr algn="l">
              <a:spcAft>
                <a:spcPts val="400"/>
              </a:spcAft>
            </a:pPr>
            <a:r>
              <a:rPr sz="1300" b="0" i="1">
                <a:solidFill>
                  <a:srgbClr val="475569"/>
                </a:solidFill>
              </a:rPr>
              <a:t>Two SQLite tables, no foreign key: an analysis stores the whole ranked result as JSON and copies the top reviewer's name. Trained models and the dataset are files.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71600"/>
          <a:ext cx="11091672" cy="4535424"/>
        </p:xfrm>
        <a:graphic>
          <a:graphicData uri="http://schemas.openxmlformats.org/drawingml/2006/table">
            <a:tbl>
              <a:tblPr firstRow="0" bandRow="0">
                <a:tableStyleId>{5C22544A-7EE6-4342-B048-85BDC9FD1C3A}</a:tableStyleId>
              </a:tblPr>
              <a:tblGrid>
                <a:gridCol w="2926080"/>
                <a:gridCol w="8165592"/>
              </a:tblGrid>
              <a:tr h="566928">
                <a:tc>
                  <a:txBody>
                    <a:bodyPr wrap="square"/>
                    <a:lstStyle/>
                    <a:p>
                      <a:pPr algn="ctr"/>
                      <a:r>
                        <a:rPr sz="15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500" b="1">
                          <a:solidFill>
                            <a:srgbClr val="0F172A"/>
                          </a:solidFill>
                        </a:rPr>
                        <a:t>Backend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Python 3.11.9, FastAPI 0.120.4, Uvicorn, Pydantic, SQLAlchemy 2.1.6, SQLite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PDF and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PyMuPDF (text extraction), reportlab 5.0.1 (PDF export)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scikit-learn 1.9.1, NumPy, pandas, joblib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Embeddings and language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sentence-transformers 6.2.0 (all-MiniLM-L6-v2), PyTorch 2.14.1, Transformers 5.20.2, Qwen2.5-1.5B-Instruct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Literature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OpenAlex public REST API through requests (8 s timeout, no key)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React 19, Vite 8, Recharts, Framer Motion, GSAP, three.js (port 5408)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pytest, FastAPI TestClient, httpx, Playwright browser walk, smoke script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937760"/>
        </p:xfrm>
        <a:graphic>
          <a:graphicData uri="http://schemas.openxmlformats.org/drawingml/2006/table">
            <a:tbl>
              <a:tblPr firstRow="0" bandRow="0">
                <a:tableStyleId>{5C22544A-7EE6-4342-B048-85BDC9FD1C3A}</a:tableStyleId>
              </a:tblPr>
              <a:tblGrid>
                <a:gridCol w="4572000"/>
                <a:gridCol w="1600200"/>
                <a:gridCol w="4919472"/>
              </a:tblGrid>
              <a:tr h="548640">
                <a:tc>
                  <a:txBody>
                    <a:bodyPr wrap="square"/>
                    <a:lstStyle/>
                    <a:p>
                      <a:pPr algn="ctr"/>
                      <a:r>
                        <a:rPr sz="13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300" b="0">
                          <a:solidFill>
                            <a:srgbClr val="0F172A"/>
                          </a:solidFill>
                        </a:rPr>
                        <a:t>PDF extraction, sections, 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4 real PDFs and a demo paper processed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Decision signal (TF-IDF + logistic regression)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synthetic data; accuracy 0.55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Local AI review with deterministic 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Qwen2.5-1.5B; 9-16 min per analysis on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Literature grounding (OpenAlex)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 1 defect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HTTP 400 when the title contains a question 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Reviewer matching and conflict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40-abstract probe; 12 of 12 literal conflicts found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API (12 routes) and web app (8 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24 of 24 smoke checks; 17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Real publication profiles, h-index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six demo reviewers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Novelty assessment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coverage chart shows a fixed placeholder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55.0%</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decision accuracy, synthetic test (n = 280)</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0.509</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macro F1 (borderline recall 0.07)</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95% / 75%</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matching top-1: MiniLM / TF-IDF fallback</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12 / 12</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literal conflicts found; 0 false flags</a:t>
            </a:r>
          </a:p>
        </p:txBody>
      </p:sp>
      <p:pic>
        <p:nvPicPr>
          <p:cNvPr id="42" name="Picture 41" descr="f01_confusion_matrix.png"/>
          <p:cNvPicPr>
            <a:picLocks noChangeAspect="1"/>
          </p:cNvPicPr>
          <p:nvPr/>
        </p:nvPicPr>
        <p:blipFill>
          <a:blip r:embed="rId1"/>
          <a:stretch>
            <a:fillRect/>
          </a:stretch>
        </p:blipFill>
        <p:spPr>
          <a:xfrm>
            <a:off x="548640" y="2676139"/>
            <a:ext cx="4480560" cy="3425960"/>
          </a:xfrm>
          <a:prstGeom prst="rect">
            <a:avLst/>
          </a:prstGeom>
        </p:spPr>
      </p:pic>
      <p:pic>
        <p:nvPicPr>
          <p:cNvPr id="43" name="Picture 42" descr="f07_matching_configs.png"/>
          <p:cNvPicPr>
            <a:picLocks noChangeAspect="1"/>
          </p:cNvPicPr>
          <p:nvPr/>
        </p:nvPicPr>
        <p:blipFill>
          <a:blip r:embed="rId4"/>
          <a:stretch>
            <a:fillRect/>
          </a:stretch>
        </p:blipFill>
        <p:spPr>
          <a:xfrm>
            <a:off x="5212080" y="2661792"/>
            <a:ext cx="6400800" cy="2814575"/>
          </a:xfrm>
          <a:prstGeom prst="rect">
            <a:avLst/>
          </a:prstGeom>
        </p:spPr>
      </p:pic>
      <p:sp>
        <p:nvSpPr>
          <p:cNvPr id="44" name="TextBox 43"/>
          <p:cNvSpPr txBox="1"/>
          <p:nvPr/>
        </p:nvSpPr>
        <p:spPr>
          <a:xfrm>
            <a:off x="5212080" y="5532120"/>
            <a:ext cx="6400800" cy="868680"/>
          </a:xfrm>
          <a:prstGeom prst="rect">
            <a:avLst/>
          </a:prstGeom>
          <a:noFill/>
        </p:spPr>
        <p:txBody>
          <a:bodyPr wrap="square" lIns="0" rIns="0" tIns="0" bIns="0" anchor="t">
            <a:spAutoFit/>
          </a:bodyPr>
          <a:lstStyle/>
          <a:p>
            <a:pPr algn="l">
              <a:spcAft>
                <a:spcPts val="400"/>
              </a:spcAft>
            </a:pPr>
            <a:r>
              <a:rPr sz="1200" b="0" i="0">
                <a:solidFill>
                  <a:srgbClr val="475569"/>
                </a:solidFill>
              </a:rPr>
              <a:t>Decision model: synthetic labels, so accuracy cannot exceed about 0.56; accept vs reject is 93% right. Matching: 40 abstracts written by the team, 6 demo reviewers; not comparable with the base paper.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c8_deck_s09.png"/>
          <p:cNvPicPr>
            <a:picLocks noChangeAspect="1"/>
          </p:cNvPicPr>
          <p:nvPr/>
        </p:nvPicPr>
        <p:blipFill>
          <a:blip r:embed="rId2"/>
          <a:stretch>
            <a:fillRect/>
          </a:stretch>
        </p:blipFill>
        <p:spPr>
          <a:xfrm>
            <a:off x="856753" y="1188720"/>
            <a:ext cx="5784573" cy="4434840"/>
          </a:xfrm>
          <a:prstGeom prst="rect">
            <a:avLst/>
          </a:prstGeom>
          <a:ln w="9525">
            <a:solidFill>
              <a:srgbClr val="D5DCE6"/>
            </a:solidFill>
          </a:ln>
        </p:spPr>
      </p:pic>
      <p:pic>
        <p:nvPicPr>
          <p:cNvPr id="27" name="Picture 26" descr="c8_deck_s06a.png"/>
          <p:cNvPicPr>
            <a:picLocks noChangeAspect="1"/>
          </p:cNvPicPr>
          <p:nvPr/>
        </p:nvPicPr>
        <p:blipFill>
          <a:blip r:embed="rId1"/>
          <a:stretch>
            <a:fillRect/>
          </a:stretch>
        </p:blipFill>
        <p:spPr>
          <a:xfrm>
            <a:off x="7178040" y="1219809"/>
            <a:ext cx="4462272" cy="669340"/>
          </a:xfrm>
          <a:prstGeom prst="rect">
            <a:avLst/>
          </a:prstGeom>
          <a:ln w="9525">
            <a:solidFill>
              <a:srgbClr val="D5DCE6"/>
            </a:solidFill>
          </a:ln>
        </p:spPr>
      </p:pic>
      <p:pic>
        <p:nvPicPr>
          <p:cNvPr id="28" name="Picture 27" descr="c8_deck_s06b.png"/>
          <p:cNvPicPr>
            <a:picLocks noChangeAspect="1"/>
          </p:cNvPicPr>
          <p:nvPr/>
        </p:nvPicPr>
        <p:blipFill>
          <a:blip r:embed="rId5"/>
          <a:stretch>
            <a:fillRect/>
          </a:stretch>
        </p:blipFill>
        <p:spPr>
          <a:xfrm>
            <a:off x="7178040" y="2105253"/>
            <a:ext cx="4462272" cy="1413052"/>
          </a:xfrm>
          <a:prstGeom prst="rect">
            <a:avLst/>
          </a:prstGeom>
          <a:ln w="9525">
            <a:solidFill>
              <a:srgbClr val="D5DCE6"/>
            </a:solidFill>
          </a:ln>
        </p:spPr>
      </p:pic>
      <p:pic>
        <p:nvPicPr>
          <p:cNvPr id="29" name="Picture 28" descr="c8_deck_s08.png"/>
          <p:cNvPicPr>
            <a:picLocks noChangeAspect="1"/>
          </p:cNvPicPr>
          <p:nvPr/>
        </p:nvPicPr>
        <p:blipFill>
          <a:blip r:embed="rId6"/>
          <a:stretch>
            <a:fillRect/>
          </a:stretch>
        </p:blipFill>
        <p:spPr>
          <a:xfrm>
            <a:off x="7184959" y="3703320"/>
            <a:ext cx="4448432" cy="2194560"/>
          </a:xfrm>
          <a:prstGeom prst="rect">
            <a:avLst/>
          </a:prstGeom>
          <a:ln w="9525">
            <a:solidFill>
              <a:srgbClr val="D5DCE6"/>
            </a:solidFill>
          </a:ln>
        </p:spPr>
      </p:pic>
      <p:sp>
        <p:nvSpPr>
          <p:cNvPr id="30" name="TextBox 29"/>
          <p:cNvSpPr txBox="1"/>
          <p:nvPr/>
        </p:nvSpPr>
        <p:spPr>
          <a:xfrm>
            <a:off x="548640" y="5715000"/>
            <a:ext cx="6400800" cy="685800"/>
          </a:xfrm>
          <a:prstGeom prst="rect">
            <a:avLst/>
          </a:prstGeom>
          <a:noFill/>
        </p:spPr>
        <p:txBody>
          <a:bodyPr wrap="square" lIns="0" rIns="0" tIns="0" bIns="0" anchor="t">
            <a:spAutoFit/>
          </a:bodyPr>
          <a:lstStyle/>
          <a:p>
            <a:pPr algn="l">
              <a:spcAft>
                <a:spcPts val="400"/>
              </a:spcAft>
            </a:pPr>
            <a:r>
              <a:rPr sz="1200" b="0" i="0">
                <a:solidFill>
                  <a:srgbClr val="475569"/>
                </a:solidFill>
              </a:rPr>
              <a:t>Real paper (ReViewGraph PDF): rank 1 scores only 28.4 of 100 because the demo reviewers are far from its topic; the breakdown shows why. Right: assessment and literature.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7 / 7</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24 / 24</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0</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console errors in the browser walk</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1.3 s</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analysis without the AI review (3 pages)</a:t>
            </a:r>
          </a:p>
        </p:txBody>
      </p:sp>
      <p:graphicFrame>
        <p:nvGraphicFramePr>
          <p:cNvPr id="42" name="Table 41"/>
          <p:cNvGraphicFramePr>
            <a:graphicFrameLocks noGrp="1"/>
          </p:cNvGraphicFramePr>
          <p:nvPr/>
        </p:nvGraphicFramePr>
        <p:xfrm>
          <a:off x="548640" y="2743200"/>
          <a:ext cx="11091672" cy="3218688"/>
        </p:xfrm>
        <a:graphic>
          <a:graphicData uri="http://schemas.openxmlformats.org/drawingml/2006/table">
            <a:tbl>
              <a:tblPr firstRow="0" bandRow="0">
                <a:tableStyleId>{5C22544A-7EE6-4342-B048-85BDC9FD1C3A}</a:tableStyleId>
              </a:tblPr>
              <a:tblGrid>
                <a:gridCol w="5760720"/>
                <a:gridCol w="5330952"/>
              </a:tblGrid>
              <a:tr h="804672">
                <a:tc>
                  <a:txBody>
                    <a:bodyPr wrap="square"/>
                    <a:lstStyle/>
                    <a:p>
                      <a:pPr algn="ctr"/>
                      <a:r>
                        <a:rPr sz="15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500" b="0">
                          <a:solidFill>
                            <a:srgbClr val="0F172A"/>
                          </a:solidFill>
                        </a:rPr>
                        <a:t>OpenAlex answers HTTP 400 when the extracted title has a question mark; the survey PDF got no literature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Shown as 'unavailable'; query clean-up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500" b="0">
                          <a:solidFill>
                            <a:srgbClr val="0F172A"/>
                          </a:solidFill>
                        </a:rPr>
                        <a:t>IEEE-format PDF: introduction not detected, title came out as the DOI 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Recorded as a defect; heading patterns to be extended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500" b="0">
                          <a:solidFill>
                            <a:srgbClr val="0F172A"/>
                          </a:solidFill>
                        </a:rPr>
                        <a:t>Paraphrased affiliations and first names are not flagged as conflicts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Stated limitation; literal links 12 of 12, 0 false flags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937760"/>
        </p:xfrm>
        <a:graphic>
          <a:graphicData uri="http://schemas.openxmlformats.org/drawingml/2006/table">
            <a:tbl>
              <a:tblPr firstRow="0" bandRow="0">
                <a:tableStyleId>{5C22544A-7EE6-4342-B048-85BDC9FD1C3A}</a:tableStyleId>
              </a:tblPr>
              <a:tblGrid>
                <a:gridCol w="5120640"/>
                <a:gridCol w="5971032"/>
              </a:tblGrid>
              <a:tr h="822960">
                <a:tc>
                  <a:txBody>
                    <a:bodyPr wrap="square"/>
                    <a:lstStyle/>
                    <a:p>
                      <a:pPr algn="ctr"/>
                      <a:r>
                        <a:rPr sz="16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6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600" b="0">
                          <a:solidFill>
                            <a:srgbClr val="0F172A"/>
                          </a:solidFill>
                        </a:rPr>
                        <a:t>No open peer-review corpus could be fetched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Labelled synthetic set, stated everywhere; ceiling analysis shows what it can show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600" b="0">
                          <a:solidFill>
                            <a:srgbClr val="0F172A"/>
                          </a:solidFill>
                        </a:rPr>
                        <a:t>The local language model is slow on a CPU (534-946 s per 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600" b="0">
                          <a:solidFill>
                            <a:srgbClr val="0F172A"/>
                          </a:solidFill>
                        </a:rPr>
                        <a:t>Lazy loading, rules-based review always shown, visible status badge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600" b="0">
                          <a:solidFill>
                            <a:srgbClr val="0F172A"/>
                          </a:solidFill>
                        </a:rPr>
                        <a:t>Offline or failing services (OpenAlex, embedding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Time-outs and fallbacks: literature 'unavailable', TF-IDF embeddings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600" b="0">
                          <a:solidFill>
                            <a:srgbClr val="0F172A"/>
                          </a:solidFill>
                        </a:rPr>
                        <a:t>TF-IDF fallback is fitted once and then frozen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600" b="0">
                          <a:solidFill>
                            <a:srgbClr val="0F172A"/>
                          </a:solidFill>
                        </a:rPr>
                        <a:t>Measured: top-1 75% against 95%; MiniLM preferred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600" b="0">
                          <a:solidFill>
                            <a:srgbClr val="0F172A"/>
                          </a:solidFill>
                        </a:rPr>
                        <a:t>Ranking re-embeds every reviewer per request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Measured: 86 ms for 6 reviewers, 5.2 s for 500; caching planned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data</a:t>
            </a:r>
          </a:p>
        </p:txBody>
      </p:sp>
      <p:sp>
        <p:nvSpPr>
          <p:cNvPr id="29" name="TextBox 28"/>
          <p:cNvSpPr txBox="1"/>
          <p:nvPr/>
        </p:nvSpPr>
        <p:spPr>
          <a:xfrm>
            <a:off x="749808" y="2331720"/>
            <a:ext cx="2203704" cy="3200399"/>
          </a:xfrm>
          <a:prstGeom prst="rect">
            <a:avLst/>
          </a:prstGeom>
          <a:noFill/>
        </p:spPr>
        <p:txBody>
          <a:bodyPr wrap="square" lIns="0" rIns="0" tIns="0" bIns="0" anchor="t">
            <a:spAutoFit/>
          </a:bodyPr>
          <a:lstStyle/>
          <a:p>
            <a:pPr algn="l">
              <a:spcAft>
                <a:spcPts val="400"/>
              </a:spcAft>
            </a:pPr>
            <a:r>
              <a:rPr sz="1900" b="0" i="0">
                <a:solidFill>
                  <a:srgbClr val="475569"/>
                </a:solidFill>
              </a:rPr>
              <a:t>Train and test the decision model on a real open review corpus, and build reviewer profiles from real publication histories.</a:t>
            </a:r>
          </a:p>
        </p:txBody>
      </p:sp>
      <p:sp>
        <p:nvSpPr>
          <p:cNvPr id="30" name="Rounded Rectangle 29"/>
          <p:cNvSpPr/>
          <p:nvPr/>
        </p:nvSpPr>
        <p:spPr>
          <a:xfrm>
            <a:off x="3374136"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Independent evaluation</a:t>
            </a:r>
          </a:p>
        </p:txBody>
      </p:sp>
      <p:sp>
        <p:nvSpPr>
          <p:cNvPr id="33" name="TextBox 32"/>
          <p:cNvSpPr txBox="1"/>
          <p:nvPr/>
        </p:nvSpPr>
        <p:spPr>
          <a:xfrm>
            <a:off x="3575304" y="2331720"/>
            <a:ext cx="2203704" cy="3200399"/>
          </a:xfrm>
          <a:prstGeom prst="rect">
            <a:avLst/>
          </a:prstGeom>
          <a:noFill/>
        </p:spPr>
        <p:txBody>
          <a:bodyPr wrap="square" lIns="0" rIns="0" tIns="0" bIns="0" anchor="t">
            <a:spAutoFit/>
          </a:bodyPr>
          <a:lstStyle/>
          <a:p>
            <a:pPr algn="l">
              <a:spcAft>
                <a:spcPts val="400"/>
              </a:spcAft>
            </a:pPr>
            <a:r>
              <a:rPr sz="1900" b="0" i="0">
                <a:solidFill>
                  <a:srgbClr val="475569"/>
                </a:solidFill>
              </a:rPr>
              <a:t>Judge the ranking against assignments or labels made by people outside the team, and report MRR and precision at 3.</a:t>
            </a:r>
          </a:p>
        </p:txBody>
      </p:sp>
      <p:sp>
        <p:nvSpPr>
          <p:cNvPr id="34" name="Rounded Rectangle 33"/>
          <p:cNvSpPr/>
          <p:nvPr/>
        </p:nvSpPr>
        <p:spPr>
          <a:xfrm>
            <a:off x="6199631"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a:t>
            </a:r>
          </a:p>
        </p:txBody>
      </p:sp>
      <p:sp>
        <p:nvSpPr>
          <p:cNvPr id="37" name="TextBox 36"/>
          <p:cNvSpPr txBox="1"/>
          <p:nvPr/>
        </p:nvSpPr>
        <p:spPr>
          <a:xfrm>
            <a:off x="6400799" y="2331720"/>
            <a:ext cx="2203704" cy="3200399"/>
          </a:xfrm>
          <a:prstGeom prst="rect">
            <a:avLst/>
          </a:prstGeom>
          <a:noFill/>
        </p:spPr>
        <p:txBody>
          <a:bodyPr wrap="square" lIns="0" rIns="0" tIns="0" bIns="0" anchor="t">
            <a:spAutoFit/>
          </a:bodyPr>
          <a:lstStyle/>
          <a:p>
            <a:pPr algn="l">
              <a:spcAft>
                <a:spcPts val="400"/>
              </a:spcAft>
            </a:pPr>
            <a:r>
              <a:rPr sz="1900" b="0" i="0">
                <a:solidFill>
                  <a:srgbClr val="475569"/>
                </a:solidFill>
              </a:rPr>
              <a:t>Clean the OpenAlex query, detect roman-numeral headings, cache reviewer embeddings, add authentication.</a:t>
            </a:r>
          </a:p>
        </p:txBody>
      </p:sp>
      <p:sp>
        <p:nvSpPr>
          <p:cNvPr id="38" name="Rounded Rectangle 37"/>
          <p:cNvSpPr/>
          <p:nvPr/>
        </p:nvSpPr>
        <p:spPr>
          <a:xfrm>
            <a:off x="9025128"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Extend</a:t>
            </a:r>
          </a:p>
        </p:txBody>
      </p:sp>
      <p:sp>
        <p:nvSpPr>
          <p:cNvPr id="41" name="TextBox 40"/>
          <p:cNvSpPr txBox="1"/>
          <p:nvPr/>
        </p:nvSpPr>
        <p:spPr>
          <a:xfrm>
            <a:off x="9226296" y="2331720"/>
            <a:ext cx="2203704" cy="3200399"/>
          </a:xfrm>
          <a:prstGeom prst="rect">
            <a:avLst/>
          </a:prstGeom>
          <a:noFill/>
        </p:spPr>
        <p:txBody>
          <a:bodyPr wrap="square" lIns="0" rIns="0" tIns="0" bIns="0" anchor="t">
            <a:spAutoFit/>
          </a:bodyPr>
          <a:lstStyle/>
          <a:p>
            <a:pPr algn="l">
              <a:spcAft>
                <a:spcPts val="400"/>
              </a:spcAft>
            </a:pPr>
            <a:r>
              <a:rPr sz="1900" b="0" i="0">
                <a:solidFill>
                  <a:srgbClr val="475569"/>
                </a:solidFill>
              </a:rPr>
              <a:t>Estimate novelty against retrieved literature, support scanned PDFs, try a smaller or quantised language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eerScope">
  <a:themeElements>
    <a:clrScheme name="PeerScop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eerScop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eerScop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 Evaluation Using Artificial Intelligence (Hybrid AI Framework for Research Paper Evaluation and Reviewer Recommendation): Review 2</dc:title>
  <dc:subject>Batch C8 (CSE-C)</dc:subject>
  <dc:creator>Mula Sreebindu, Puramshetty Vishnu Vardhan, K Sampoorna, Korsa Shivashankar</dc:creator>
  <cp:lastModifiedBy/>
  <cp:revision>1</cp:revision>
  <dcterms:created xsi:type="dcterms:W3CDTF">2026-10-13T12:40:05Z</dcterms:created>
  <dcterms:modified xsi:type="dcterms:W3CDTF">2026-10-13T12:40:05Z</dcterms:modified>
  <cp:keywords>research paper evaluation, reviewer recommendation, NLP, sentence embeddings, peer review</cp:keywords>
  <dc:description/>
</cp:coreProperties>
</file>