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Reported score (%)</c:v>
                </c:pt>
              </c:strCache>
            </c:strRef>
          </c:tx>
          <c:spPr>
            <a:solidFill>
              <a:srgbClr val="2A78D6"/>
            </a:solidFill>
          </c:spPr>
          <c:cat>
            <c:strRef>
              <c:f>Sheet1!$A$2:$A$6</c:f>
              <c:strCache>
                <c:ptCount val="5"/>
                <c:pt idx="0">
                  <c:v>BERT accuracy</c:v>
                </c:pt>
                <c:pt idx="1">
                  <c:v>BERT F1</c:v>
                </c:pt>
                <c:pt idx="2">
                  <c:v>IForest precision</c:v>
                </c:pt>
                <c:pt idx="3">
                  <c:v>IForest recall</c:v>
                </c:pt>
                <c:pt idx="4">
                  <c:v>IForest F1</c:v>
                </c:pt>
              </c:strCache>
            </c:strRef>
          </c:cat>
          <c:val>
            <c:numRef>
              <c:f>Sheet1!$B$2:$B$6</c:f>
              <c:numCache>
                <c:formatCode>General</c:formatCode>
                <c:ptCount val="5"/>
                <c:pt idx="0">
                  <c:v>92.3</c:v>
                </c:pt>
                <c:pt idx="1">
                  <c:v>91.1</c:v>
                </c:pt>
                <c:pt idx="2">
                  <c:v>93.0</c:v>
                </c:pt>
                <c:pt idx="3">
                  <c:v>94.0</c:v>
                </c:pt>
                <c:pt idx="4">
                  <c:v>94.0</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0.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FINJARVIS lets a person record or import transactions, labels them automatically, forecasts next month's spending, scores financial health and answers questions from their own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The review covers why the problem matters and what is missing in current work, then the approach, the architecture and the objectives against what was built.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from the project abstract: the personal finance problem, the customisable AI platform, and what was delivered (with the framework change from Flask and MySQL stated openly).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registered the IJRASET paper. Its four modules are the reference design. Our build deliberately uses simpler, explainable models, and that difference is stated now so no one expects BERT or LSTM results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Details are only what the papers themselves state. Two batch-survey titles could not be located online or read in full, so no results are quoted from them. The last three rows are standard method papers used as background.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published evidence on different data. We use it to show what the full multi-model design reports, not as a target we claim to match.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practice, from the project introduction, problem statement and the base paper's description of traditional tools.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limitations are the batch problem statement; the last line is what the recent papers leave open.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 4 is the survey conclusion of the batch: delivering the multi-model idea as an affordable, customisable web platform. The others come from reading the base paper and the recent papers.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platform that categorises automatically, forecasts, and gives advice grounded in the user's own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Objective 4 (anomaly detection) was not built; that is stated openly on the expected-outcomes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stack. The models are deliberately simple; the anomaly detector, reinforcement-learning budgeting and LSTM of the base paper are not part of the build.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dashboard calls the API, the API calls the services, the services use the ML modules and the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problem-identification review, but the product already exists, so the slide compares each objective with what was built. Anomaly detection was not built and is reported as a gap.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simple models instead of BERT and LSTM (small data, explainability, measured on the demo); what was not built (anomaly detection, reinforcement learning, loan tracker); why FastAPI and SQLite instead of Flask and MySQL.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FINJARVIS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AI Based Personal Finance Manager</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Track, categorise, forecast and advise from your own transactions</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Mekala Kalyan  23K91A05F0</a:t>
            </a:r>
            <a:endParaRPr lang="en-US" sz="1500" dirty="0"/>
          </a:p>
          <a:p>
            <a:pPr indent="0" marL="0">
              <a:buNone/>
            </a:pPr>
            <a:r>
              <a:rPr lang="en-US" sz="1500" dirty="0">
                <a:solidFill>
                  <a:srgbClr val="FFFFFF"/>
                </a:solidFill>
              </a:rPr>
              <a:t>Rajanala Sai Hemanth  23K91A05K3</a:t>
            </a:r>
            <a:endParaRPr lang="en-US" sz="1500" dirty="0"/>
          </a:p>
          <a:p>
            <a:pPr indent="0" marL="0">
              <a:buNone/>
            </a:pPr>
            <a:r>
              <a:rPr lang="en-US" sz="1500" dirty="0">
                <a:solidFill>
                  <a:srgbClr val="FFFFFF"/>
                </a:solidFill>
              </a:rPr>
              <a:t>Middala Surya Teja Reddy  23K91A05F2</a:t>
            </a:r>
            <a:endParaRPr lang="en-US" sz="1500" dirty="0"/>
          </a:p>
          <a:p>
            <a:pPr indent="0" marL="0">
              <a:buNone/>
            </a:pPr>
            <a:r>
              <a:rPr lang="en-US" sz="1500" dirty="0">
                <a:solidFill>
                  <a:srgbClr val="FFFFFF"/>
                </a:solidFill>
              </a:rPr>
              <a:t>Manga Akash  23K91A05E5</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 Padmavathi,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C11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an AI-assisted personal finance manager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Digital transactions, several income sources, recurring bills and investments make personal finance hard to track. Existing apps lack intelligent recommendations, customisation and affordability.</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A customisable, open web platform that tracks expenses, manages budgets and goals, and uses simple machine learning to categorise spending, forecast the next month and answer questions from the user's own data.</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FINJARVIS: a secure web application with a React dashboard and FastAPI service. The abstract proposed Flask and MySQL; the delivered build uses FastAPI and SQLite.</a:t>
            </a:r>
          </a:p>
        </p:txBody>
      </p:sp>
      <p:sp>
        <p:nvSpPr>
          <p:cNvPr id="38" name="TextBox 37"/>
          <p:cNvSpPr txBox="1"/>
          <p:nvPr/>
        </p:nvSpPr>
        <p:spPr>
          <a:xfrm>
            <a:off x="548640" y="6035040"/>
            <a:ext cx="11091672" cy="457200"/>
          </a:xfrm>
          <a:prstGeom prst="rect">
            <a:avLst/>
          </a:prstGeom>
          <a:noFill/>
        </p:spPr>
        <p:txBody>
          <a:bodyPr wrap="square" lIns="0" rIns="0" tIns="0" bIns="0" anchor="t">
            <a:spAutoFit/>
          </a:bodyPr>
          <a:lstStyle/>
          <a:p>
            <a:pPr algn="l">
              <a:spcAft>
                <a:spcPts val="400"/>
              </a:spcAft>
            </a:pPr>
            <a:r>
              <a:rPr sz="1200" b="0" i="1">
                <a:solidFill>
                  <a:srgbClr val="475569"/>
                </a:solidFill>
              </a:rPr>
              <a:t>Keywords: personal finance automation, expense forecasting, AI in financial planning, linear regression, smart alerts, data visualisation, budgeting assistance.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34440"/>
            <a:ext cx="11091672"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280160"/>
            <a:ext cx="10698480" cy="1005840"/>
          </a:xfrm>
          <a:prstGeom prst="rect">
            <a:avLst/>
          </a:prstGeom>
          <a:noFill/>
        </p:spPr>
        <p:txBody>
          <a:bodyPr wrap="square" lIns="0" rIns="0" tIns="0" bIns="0" anchor="ctr">
            <a:spAutoFit/>
          </a:bodyPr>
          <a:lstStyle/>
          <a:p>
            <a:pPr algn="l">
              <a:spcAft>
                <a:spcPts val="400"/>
              </a:spcAft>
            </a:pPr>
            <a:r>
              <a:rPr sz="1300" b="0" i="0">
                <a:solidFill>
                  <a:srgbClr val="0F172A"/>
                </a:solidFill>
              </a:rPr>
              <a:t>R. Kharat, S. Solapurkar, A. Tikkas, M. Uttarwar and A. Yadav, "A smart AI-based personal finance assistant: A multi-model approach for expense categorization, budgeting, forecasting and anomaly detection," International Journal for Research in Applied Science and Engineering Technology (IJRASET), vol. 13, no. XI, pp. 167-180, Nov. 2025, doi: 10.22214/ijraset.2025.75019.</a:t>
            </a:r>
          </a:p>
        </p:txBody>
      </p:sp>
      <p:sp>
        <p:nvSpPr>
          <p:cNvPr id="28" name="Rounded Rectangle 27"/>
          <p:cNvSpPr/>
          <p:nvPr/>
        </p:nvSpPr>
        <p:spPr>
          <a:xfrm>
            <a:off x="548640" y="2514600"/>
            <a:ext cx="3520440" cy="2880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1874519"/>
          </a:xfrm>
          <a:prstGeom prst="rect">
            <a:avLst/>
          </a:prstGeom>
          <a:noFill/>
        </p:spPr>
        <p:txBody>
          <a:bodyPr wrap="square" lIns="0" rIns="0" tIns="0" bIns="0" anchor="t">
            <a:spAutoFit/>
          </a:bodyPr>
          <a:lstStyle/>
          <a:p>
            <a:pPr algn="l">
              <a:spcAft>
                <a:spcPts val="400"/>
              </a:spcAft>
            </a:pPr>
            <a:r>
              <a:rPr sz="1350" b="0" i="0">
                <a:solidFill>
                  <a:srgbClr val="475569"/>
                </a:solidFill>
              </a:rPr>
              <a:t>Four modules in one Streamlit assistant: BERT expense categorisation (16 to 50 classes, SMOTE), Q-learning budget recommendation, LSTM savings forecasting and Isolation Forest anomaly detection.</a:t>
            </a:r>
          </a:p>
        </p:txBody>
      </p:sp>
      <p:sp>
        <p:nvSpPr>
          <p:cNvPr id="32" name="Rounded Rectangle 31"/>
          <p:cNvSpPr/>
          <p:nvPr/>
        </p:nvSpPr>
        <p:spPr>
          <a:xfrm>
            <a:off x="4334255" y="2514600"/>
            <a:ext cx="3520440" cy="2880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Reported results</a:t>
            </a:r>
          </a:p>
        </p:txBody>
      </p:sp>
      <p:sp>
        <p:nvSpPr>
          <p:cNvPr id="35" name="TextBox 34"/>
          <p:cNvSpPr txBox="1"/>
          <p:nvPr/>
        </p:nvSpPr>
        <p:spPr>
          <a:xfrm>
            <a:off x="4535423" y="3383280"/>
            <a:ext cx="3118104" cy="1874519"/>
          </a:xfrm>
          <a:prstGeom prst="rect">
            <a:avLst/>
          </a:prstGeom>
          <a:noFill/>
        </p:spPr>
        <p:txBody>
          <a:bodyPr wrap="square" lIns="0" rIns="0" tIns="0" bIns="0" anchor="t">
            <a:spAutoFit/>
          </a:bodyPr>
          <a:lstStyle/>
          <a:p>
            <a:pPr algn="l">
              <a:spcAft>
                <a:spcPts val="400"/>
              </a:spcAft>
            </a:pPr>
            <a:r>
              <a:rPr sz="1350" b="0" i="0">
                <a:solidFill>
                  <a:srgbClr val="475569"/>
                </a:solidFill>
              </a:rPr>
              <a:t>BERT accuracy 92.3 %, F1 91.1 % (80/20 split). LSTM RMSE 137.2, MAE 89.5, R2 0.63 on a synthetic savings series. Isolation Forest precision 93 %, recall 94 %. Data is synthetic or private.</a:t>
            </a:r>
          </a:p>
        </p:txBody>
      </p:sp>
      <p:sp>
        <p:nvSpPr>
          <p:cNvPr id="36" name="Rounded Rectangle 35"/>
          <p:cNvSpPr/>
          <p:nvPr/>
        </p:nvSpPr>
        <p:spPr>
          <a:xfrm>
            <a:off x="8119871" y="2514600"/>
            <a:ext cx="3520440" cy="2880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FINJARVIS takes and adds</a:t>
            </a:r>
          </a:p>
        </p:txBody>
      </p:sp>
      <p:sp>
        <p:nvSpPr>
          <p:cNvPr id="39" name="TextBox 38"/>
          <p:cNvSpPr txBox="1"/>
          <p:nvPr/>
        </p:nvSpPr>
        <p:spPr>
          <a:xfrm>
            <a:off x="8321040" y="3383280"/>
            <a:ext cx="3118104" cy="1874519"/>
          </a:xfrm>
          <a:prstGeom prst="rect">
            <a:avLst/>
          </a:prstGeom>
          <a:noFill/>
        </p:spPr>
        <p:txBody>
          <a:bodyPr wrap="square" lIns="0" rIns="0" tIns="0" bIns="0" anchor="t">
            <a:spAutoFit/>
          </a:bodyPr>
          <a:lstStyle/>
          <a:p>
            <a:pPr algn="l">
              <a:spcAft>
                <a:spcPts val="400"/>
              </a:spcAft>
            </a:pPr>
            <a:r>
              <a:rPr sz="1350" b="0" i="0">
                <a:solidFill>
                  <a:srgbClr val="475569"/>
                </a:solidFill>
              </a:rPr>
              <a:t>Takes the idea of one assistant for categorisation, budgeting and forecasting. Implements simple, inspectable versions (TF-IDF + logistic regression, linear trend, rule-based advice) as a runnable web platform and measures where they fail.</a:t>
            </a:r>
          </a:p>
        </p:txBody>
      </p:sp>
      <p:sp>
        <p:nvSpPr>
          <p:cNvPr id="40" name="Rounded Rectangle 39"/>
          <p:cNvSpPr/>
          <p:nvPr/>
        </p:nvSpPr>
        <p:spPr>
          <a:xfrm>
            <a:off x="548640" y="5532120"/>
            <a:ext cx="11091672" cy="7315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49808" y="5532120"/>
            <a:ext cx="10698480" cy="731520"/>
          </a:xfrm>
          <a:prstGeom prst="rect">
            <a:avLst/>
          </a:prstGeom>
          <a:noFill/>
        </p:spPr>
        <p:txBody>
          <a:bodyPr wrap="square" lIns="0" rIns="0" tIns="0" bIns="0" anchor="ctr">
            <a:spAutoFit/>
          </a:bodyPr>
          <a:lstStyle/>
          <a:p>
            <a:pPr algn="l">
              <a:spcAft>
                <a:spcPts val="400"/>
              </a:spcAft>
            </a:pPr>
            <a:r>
              <a:rPr sz="1200" b="0" i="0">
                <a:solidFill>
                  <a:srgbClr val="0F172A"/>
                </a:solidFill>
              </a:rPr>
              <a:t>Not implemented here: BERT, reinforcement learning, LSTM and Isolation Forest. The registered base paper is compared with the project's simpler modules in the final review; datasets differ, so its numbers are not put on one scale with ours.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097280"/>
          <a:ext cx="11091672" cy="5029200"/>
        </p:xfrm>
        <a:graphic>
          <a:graphicData uri="http://schemas.openxmlformats.org/drawingml/2006/table">
            <a:tbl>
              <a:tblPr firstRow="0" bandRow="0">
                <a:tableStyleId>{5C22544A-7EE6-4342-B048-85BDC9FD1C3A}</a:tableStyleId>
              </a:tblPr>
              <a:tblGrid>
                <a:gridCol w="2331720"/>
                <a:gridCol w="685800"/>
                <a:gridCol w="4160520"/>
                <a:gridCol w="3913632"/>
              </a:tblGrid>
              <a:tr h="457200">
                <a:tc>
                  <a:txBody>
                    <a:bodyPr wrap="square"/>
                    <a:lstStyle/>
                    <a:p>
                      <a:pPr algn="ctr"/>
                      <a:r>
                        <a:rPr sz="11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000" b="0">
                          <a:solidFill>
                            <a:srgbClr val="0F172A"/>
                          </a:solidFill>
                        </a:rPr>
                        <a:t>Kharat et al. [1]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BERT categoriser (50 classes), Q-learning budgets, LSTM savings forecast, Isolation Forest anomalies; Streamlit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BERT accuracy 92.3 %; LSTM R2 0.63; anomaly F1 94 %. Own synthetic/private data, 80/20 splits; not released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To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Goal-directed design and gamification for a youth finance app; interviews, survey, usability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Design study with small user samples; no categorisation or forecasting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Theerthala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Behavioural-finance data generation to fine-tune an 8B LLM advisor (19k samples)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Comparable to 14-32B models at about 80 % lower cost; judged by an LLM jury; no transaction pipeline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Dilip and Janaki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XGBoost + LSTM hybrid for expense prediction with SHAP explanations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Lists RMSE, MAE, MAPE, R2 as metrics but gives no numeric results in the text read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Abiya et al.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Isolation Forest and K-Means on synthetic transactions to find leakage and subscriptions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Reported better than rule-based budgeting; no metrics in the abstract; synthetic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Batch survey [6],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2025-26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AI budget planning and expense prediction; AI platform for tracking and budget automation (titles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Full texts not located or read; no figures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Devlin et al. [8]; Araci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BERT and its financial variant FinBERT: transfer learning for text classification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Needs labelled data and heavy compute (as the base paper itself notes)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Liu et al. [10]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2008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Isolation Forest: unsupervised anomaly detection by random partitioning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Contamination rate must be chosen; many false alarms if mis-set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Salton and Buckley [15]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1988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TF-IDF term weighting for text retrieval and classification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Bag of words: no context, unseen words carry no signal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Makridakis et al. [17]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Compares statistical and machine-learning forecasters on many series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Simple statistical methods are hard to beat on short, noisy series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from the 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035040" cy="448056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806440"/>
            <a:ext cx="6035040" cy="640080"/>
          </a:xfrm>
          <a:prstGeom prst="rect">
            <a:avLst/>
          </a:prstGeom>
          <a:noFill/>
        </p:spPr>
        <p:txBody>
          <a:bodyPr wrap="square" lIns="0" rIns="0" tIns="0" bIns="0" anchor="t">
            <a:spAutoFit/>
          </a:bodyPr>
          <a:lstStyle/>
          <a:p>
            <a:pPr algn="l">
              <a:spcAft>
                <a:spcPts val="400"/>
              </a:spcAft>
            </a:pPr>
            <a:r>
              <a:rPr sz="1100" b="0" i="1">
                <a:solidFill>
                  <a:srgbClr val="475569"/>
                </a:solidFill>
              </a:rPr>
              <a:t>Base paper [1]: reported scores on its own (synthetic or private) data; not reproduced or comparable with this project's data.</a:t>
            </a:r>
          </a:p>
        </p:txBody>
      </p:sp>
      <p:sp>
        <p:nvSpPr>
          <p:cNvPr id="28" name="TextBox 27"/>
          <p:cNvSpPr txBox="1"/>
          <p:nvPr/>
        </p:nvSpPr>
        <p:spPr>
          <a:xfrm>
            <a:off x="6858000" y="1325880"/>
            <a:ext cx="4800600" cy="4572000"/>
          </a:xfrm>
          <a:prstGeom prst="rect">
            <a:avLst/>
          </a:prstGeom>
          <a:noFill/>
        </p:spPr>
        <p:txBody>
          <a:bodyPr wrap="square" lIns="0" rIns="0" tIns="0" bIns="0" anchor="t">
            <a:spAutoFit/>
          </a:bodyPr>
          <a:lstStyle/>
          <a:p>
            <a:pPr algn="l">
              <a:spcAft>
                <a:spcPts val="800"/>
              </a:spcAft>
            </a:pPr>
            <a:r>
              <a:rPr sz="1500" b="1" i="0">
                <a:solidFill>
                  <a:srgbClr val="0F172A"/>
                </a:solidFill>
              </a:rPr>
              <a:t>What the literature shows</a:t>
            </a:r>
          </a:p>
          <a:p>
            <a:pPr algn="l" marL="256032" indent="-201168">
              <a:spcAft>
                <a:spcPts val="800"/>
              </a:spcAft>
              <a:buChar char="•"/>
            </a:pPr>
            <a:r>
              <a:rPr sz="1500" b="0" i="0">
                <a:solidFill>
                  <a:srgbClr val="0F172A"/>
                </a:solidFill>
              </a:rPr>
              <a:t>A fine-tuned BERT can separate 50 expense categories on its own data [1].</a:t>
            </a:r>
          </a:p>
          <a:p>
            <a:pPr algn="l" marL="256032" indent="-201168">
              <a:spcAft>
                <a:spcPts val="800"/>
              </a:spcAft>
              <a:buChar char="•"/>
            </a:pPr>
            <a:r>
              <a:rPr sz="1500" b="0" i="0">
                <a:solidFill>
                  <a:srgbClr val="0F172A"/>
                </a:solidFill>
              </a:rPr>
              <a:t>Savings forecasting by LSTM reached only R2 0.63, which the paper itself calls a challenge [1].</a:t>
            </a:r>
          </a:p>
          <a:p>
            <a:pPr algn="l" marL="256032" indent="-201168">
              <a:spcAft>
                <a:spcPts val="800"/>
              </a:spcAft>
              <a:buChar char="•"/>
            </a:pPr>
            <a:r>
              <a:rPr sz="1500" b="0" i="0">
                <a:solidFill>
                  <a:srgbClr val="0F172A"/>
                </a:solidFill>
              </a:rPr>
              <a:t>Simple statistical forecasters are hard to beat on short, noisy series [17].</a:t>
            </a:r>
          </a:p>
          <a:p>
            <a:pPr algn="l" marL="256032" indent="-201168">
              <a:spcAft>
                <a:spcPts val="400"/>
              </a:spcAft>
              <a:buChar char="•"/>
            </a:pPr>
            <a:r>
              <a:rPr sz="1500" b="0" i="0">
                <a:solidFill>
                  <a:srgbClr val="0F172A"/>
                </a:solidFill>
              </a:rPr>
              <a:t>Caveat: the base paper's data is not public, so its numbers cannot be checked or reused. This project reports only its own measurements.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practice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Note every spend by hand</a:t>
            </a:r>
          </a:p>
        </p:txBody>
      </p:sp>
      <p:sp>
        <p:nvSpPr>
          <p:cNvPr id="27" name="Right Arrow 26"/>
          <p:cNvSpPr/>
          <p:nvPr/>
        </p:nvSpPr>
        <p:spPr>
          <a:xfrm>
            <a:off x="2542946"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84927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Choose a category yourself</a:t>
            </a:r>
          </a:p>
        </p:txBody>
      </p:sp>
      <p:sp>
        <p:nvSpPr>
          <p:cNvPr id="29" name="Right Arrow 28"/>
          <p:cNvSpPr/>
          <p:nvPr/>
        </p:nvSpPr>
        <p:spPr>
          <a:xfrm>
            <a:off x="4843576"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14990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Review a past-only report</a:t>
            </a:r>
          </a:p>
        </p:txBody>
      </p:sp>
      <p:sp>
        <p:nvSpPr>
          <p:cNvPr id="31" name="Right Arrow 30"/>
          <p:cNvSpPr/>
          <p:nvPr/>
        </p:nvSpPr>
        <p:spPr>
          <a:xfrm>
            <a:off x="7144207"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450531"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Apply generic budget advice</a:t>
            </a:r>
          </a:p>
        </p:txBody>
      </p:sp>
      <p:sp>
        <p:nvSpPr>
          <p:cNvPr id="33" name="Right Arrow 32"/>
          <p:cNvSpPr/>
          <p:nvPr/>
        </p:nvSpPr>
        <p:spPr>
          <a:xfrm>
            <a:off x="9444837"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751161"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Spot odd charges late</a:t>
            </a:r>
          </a:p>
        </p:txBody>
      </p:sp>
      <p:sp>
        <p:nvSpPr>
          <p:cNvPr id="35" name="Rounded Rectangle 34"/>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7" name="TextBox 36"/>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For the user</a:t>
            </a:r>
          </a:p>
        </p:txBody>
      </p:sp>
      <p:sp>
        <p:nvSpPr>
          <p:cNvPr id="38" name="TextBox 37"/>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Manual expense recording is tedious and is abandoned within weeks.
Apps show what was spent but not what is coming.
Advice ignores the person's own income and commitments.</a:t>
            </a:r>
          </a:p>
        </p:txBody>
      </p:sp>
      <p:sp>
        <p:nvSpPr>
          <p:cNvPr id="39" name="Rounded Rectangle 38"/>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41" name="TextBox 40"/>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In current tools</a:t>
            </a:r>
          </a:p>
        </p:txBody>
      </p:sp>
      <p:sp>
        <p:nvSpPr>
          <p:cNvPr id="42" name="TextBox 41"/>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Rule-based keyword matching lacks context.
Static budgets do not adapt to behaviour.
Commercial finance apps can be costly and hard to customise.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entry</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Recording every transaction by hand is tedious; most users stop within weeks and the data becomes incomplete.</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Backward-looking</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Reports describe past spending. Nothing tells the user what next month is likely to cost.</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One-size-fits-all advice</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Generic budgeting tips ignore individual income patterns, commitments and savings goals.</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Late discovery of anomalies</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Unusual transactions are noticed only when the statement is reviewed much later.</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400" b="0" i="0">
                <a:solidFill>
                  <a:srgbClr val="0F172A"/>
                </a:solidFill>
              </a:rPr>
              <a:t>Research adds: heavy models on private data [1], design studies without prediction [2], and evaluations on synthetic data only [5].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28016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188720"/>
            <a:ext cx="10195560" cy="914400"/>
          </a:xfrm>
          <a:prstGeom prst="rect">
            <a:avLst/>
          </a:prstGeom>
          <a:noFill/>
        </p:spPr>
        <p:txBody>
          <a:bodyPr wrap="square" lIns="0" rIns="0" tIns="0" bIns="0" anchor="ctr">
            <a:spAutoFit/>
          </a:bodyPr>
          <a:lstStyle/>
          <a:p>
            <a:pPr algn="l">
              <a:spcAft>
                <a:spcPts val="400"/>
              </a:spcAft>
            </a:pPr>
            <a:r>
              <a:rPr sz="1550" b="0" i="0">
                <a:solidFill>
                  <a:srgbClr val="0F172A"/>
                </a:solidFill>
              </a:rPr>
              <a:t>The base paper's four-model design (BERT, Q-learning, LSTM, Isolation Forest) is evaluated on its own synthetic or private data with no released application [1]</a:t>
            </a:r>
          </a:p>
        </p:txBody>
      </p:sp>
      <p:sp>
        <p:nvSpPr>
          <p:cNvPr id="28" name="Oval 27"/>
          <p:cNvSpPr/>
          <p:nvPr/>
        </p:nvSpPr>
        <p:spPr>
          <a:xfrm>
            <a:off x="548640" y="230428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12848"/>
            <a:ext cx="10195560" cy="914400"/>
          </a:xfrm>
          <a:prstGeom prst="rect">
            <a:avLst/>
          </a:prstGeom>
          <a:noFill/>
        </p:spPr>
        <p:txBody>
          <a:bodyPr wrap="square" lIns="0" rIns="0" tIns="0" bIns="0" anchor="ctr">
            <a:spAutoFit/>
          </a:bodyPr>
          <a:lstStyle/>
          <a:p>
            <a:pPr algn="l">
              <a:spcAft>
                <a:spcPts val="400"/>
              </a:spcAft>
            </a:pPr>
            <a:r>
              <a:rPr sz="1550" b="0" i="0">
                <a:solidFill>
                  <a:srgbClr val="0F172A"/>
                </a:solidFill>
              </a:rPr>
              <a:t>Related 2026 systems report no numeric results, or test only on synthetic data [4], [5]</a:t>
            </a:r>
          </a:p>
        </p:txBody>
      </p:sp>
      <p:sp>
        <p:nvSpPr>
          <p:cNvPr id="30" name="Oval 29"/>
          <p:cNvSpPr/>
          <p:nvPr/>
        </p:nvSpPr>
        <p:spPr>
          <a:xfrm>
            <a:off x="548640" y="332841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36976"/>
            <a:ext cx="10195560" cy="914400"/>
          </a:xfrm>
          <a:prstGeom prst="rect">
            <a:avLst/>
          </a:prstGeom>
          <a:noFill/>
        </p:spPr>
        <p:txBody>
          <a:bodyPr wrap="square" lIns="0" rIns="0" tIns="0" bIns="0" anchor="ctr">
            <a:spAutoFit/>
          </a:bodyPr>
          <a:lstStyle/>
          <a:p>
            <a:pPr algn="l">
              <a:spcAft>
                <a:spcPts val="400"/>
              </a:spcAft>
            </a:pPr>
            <a:r>
              <a:rPr sz="1550" b="0" i="0">
                <a:solidFill>
                  <a:srgbClr val="0F172A"/>
                </a:solidFill>
              </a:rPr>
              <a:t>Design studies cover engagement and literacy but not automated categorisation or forecasting [2]</a:t>
            </a:r>
          </a:p>
        </p:txBody>
      </p:sp>
      <p:sp>
        <p:nvSpPr>
          <p:cNvPr id="32" name="Oval 31"/>
          <p:cNvSpPr/>
          <p:nvPr/>
        </p:nvSpPr>
        <p:spPr>
          <a:xfrm>
            <a:off x="548640" y="435254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261104"/>
            <a:ext cx="10195560" cy="914400"/>
          </a:xfrm>
          <a:prstGeom prst="rect">
            <a:avLst/>
          </a:prstGeom>
          <a:noFill/>
        </p:spPr>
        <p:txBody>
          <a:bodyPr wrap="square" lIns="0" rIns="0" tIns="0" bIns="0" anchor="ctr">
            <a:spAutoFit/>
          </a:bodyPr>
          <a:lstStyle/>
          <a:p>
            <a:pPr algn="l">
              <a:spcAft>
                <a:spcPts val="400"/>
              </a:spcAft>
            </a:pPr>
            <a:r>
              <a:rPr sz="1550" b="0" i="0">
                <a:solidFill>
                  <a:srgbClr val="0F172A"/>
                </a:solidFill>
              </a:rPr>
              <a:t>An affordable, open web platform that combines import, categorisation, forecasting, budget alerts and a dashboard is not reported (the batch survey gap)</a:t>
            </a:r>
          </a:p>
        </p:txBody>
      </p:sp>
      <p:sp>
        <p:nvSpPr>
          <p:cNvPr id="34" name="Oval 33"/>
          <p:cNvSpPr/>
          <p:nvPr/>
        </p:nvSpPr>
        <p:spPr>
          <a:xfrm>
            <a:off x="548640" y="537667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285232"/>
            <a:ext cx="10195560" cy="914400"/>
          </a:xfrm>
          <a:prstGeom prst="rect">
            <a:avLst/>
          </a:prstGeom>
          <a:noFill/>
        </p:spPr>
        <p:txBody>
          <a:bodyPr wrap="square" lIns="0" rIns="0" tIns="0" bIns="0" anchor="ctr">
            <a:spAutoFit/>
          </a:bodyPr>
          <a:lstStyle/>
          <a:p>
            <a:pPr algn="l">
              <a:spcAft>
                <a:spcPts val="400"/>
              </a:spcAft>
            </a:pPr>
            <a:r>
              <a:rPr sz="1550" b="0" i="0">
                <a:solidFill>
                  <a:srgbClr val="0F172A"/>
                </a:solidFill>
              </a:rPr>
              <a:t>Few works say how a simple categoriser or trend model behaves on inputs it has not seen; this project measures that and states the failures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Manual expense recording is tedious and is quickly abandoned by users</a:t>
            </a:r>
          </a:p>
          <a:p>
            <a:pPr algn="l" marL="256032" indent="-201168">
              <a:spcAft>
                <a:spcPts val="800"/>
              </a:spcAft>
              <a:buChar char="•"/>
            </a:pPr>
            <a:r>
              <a:rPr sz="1800" b="0" i="0">
                <a:solidFill>
                  <a:srgbClr val="0F172A"/>
                </a:solidFill>
              </a:rPr>
              <a:t>Existing applications report past spending but do not forecast what is coming</a:t>
            </a:r>
          </a:p>
          <a:p>
            <a:pPr algn="l" marL="256032" indent="-201168">
              <a:spcAft>
                <a:spcPts val="800"/>
              </a:spcAft>
              <a:buChar char="•"/>
            </a:pPr>
            <a:r>
              <a:rPr sz="1800" b="0" i="0">
                <a:solidFill>
                  <a:srgbClr val="0F172A"/>
                </a:solidFill>
              </a:rPr>
              <a:t>Generic budgeting advice ignores individual income patterns and commitments</a:t>
            </a:r>
          </a:p>
          <a:p>
            <a:pPr algn="l" marL="256032" indent="-201168">
              <a:spcAft>
                <a:spcPts val="800"/>
              </a:spcAft>
              <a:buChar char="•"/>
            </a:pPr>
            <a:r>
              <a:rPr sz="1800" b="0" i="0">
                <a:solidFill>
                  <a:srgbClr val="0F172A"/>
                </a:solidFill>
              </a:rPr>
              <a:t>Unusual transactions go unnoticed until the statement is reviewed much later</a:t>
            </a:r>
          </a:p>
          <a:p>
            <a:pPr algn="l" marL="256032" indent="-201168">
              <a:spcAft>
                <a:spcPts val="800"/>
              </a:spcAft>
              <a:buChar char="•"/>
            </a:pPr>
            <a:r>
              <a:rPr sz="1800" b="0" i="0">
                <a:solidFill>
                  <a:srgbClr val="0F172A"/>
                </a:solidFill>
              </a:rPr>
              <a:t>Need: a personal finance platform that categorises spending automatically, forecasts future expenditure, and gives advice grounded in the user's own data</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Registration details, manually entered or imported CSV/Excel transactions, budgets, goals and holdings</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Category per transaction, next-month forecast, 0-100 health score, budget alerts, answers and reports</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Categoriser accuracy, forecast error, correctness of answers, tests passed and response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300" b="0" i="0">
                <a:solidFill>
                  <a:srgbClr val="0F172A"/>
                </a:solidFill>
              </a:rPr>
              <a:t>1.  Build secure user accounts with transaction import and manual entry</a:t>
            </a:r>
          </a:p>
          <a:p>
            <a:pPr algn="l">
              <a:spcAft>
                <a:spcPts val="1400"/>
              </a:spcAft>
            </a:pPr>
            <a:r>
              <a:rPr sz="2300" b="0" i="0">
                <a:solidFill>
                  <a:srgbClr val="0F172A"/>
                </a:solidFill>
              </a:rPr>
              <a:t>2.  Categorise expenses automatically from transaction descriptions using text classification</a:t>
            </a:r>
          </a:p>
          <a:p>
            <a:pPr algn="l">
              <a:spcAft>
                <a:spcPts val="1400"/>
              </a:spcAft>
            </a:pPr>
            <a:r>
              <a:rPr sz="2300" b="0" i="0">
                <a:solidFill>
                  <a:srgbClr val="0F172A"/>
                </a:solidFill>
              </a:rPr>
              <a:t>3.  Forecast upcoming expenses and savings using time-series models over spending history</a:t>
            </a:r>
          </a:p>
          <a:p>
            <a:pPr algn="l">
              <a:spcAft>
                <a:spcPts val="1400"/>
              </a:spcAft>
            </a:pPr>
            <a:r>
              <a:rPr sz="2300" b="0" i="0">
                <a:solidFill>
                  <a:srgbClr val="0F172A"/>
                </a:solidFill>
              </a:rPr>
              <a:t>4.  Detect anomalous transactions that deviate from a user's established pattern</a:t>
            </a:r>
          </a:p>
          <a:p>
            <a:pPr algn="l">
              <a:spcAft>
                <a:spcPts val="1400"/>
              </a:spcAft>
            </a:pPr>
            <a:r>
              <a:rPr sz="2300" b="0" i="0">
                <a:solidFill>
                  <a:srgbClr val="0F172A"/>
                </a:solidFill>
              </a:rPr>
              <a:t>5.  Generate personalised budget recommendations and alerts on threshold breaches</a:t>
            </a:r>
          </a:p>
          <a:p>
            <a:pPr algn="l">
              <a:spcAft>
                <a:spcPts val="1400"/>
              </a:spcAft>
            </a:pPr>
            <a:r>
              <a:rPr sz="2300" b="0" i="0">
                <a:solidFill>
                  <a:srgbClr val="0F172A"/>
                </a:solidFill>
              </a:rPr>
              <a:t>6.  Visualise spending, category breakdown and forecasts on an interactive dashboard</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300" b="0" i="1">
                <a:solidFill>
                  <a:srgbClr val="475569"/>
                </a:solidFill>
              </a:rPr>
              <a:t>The next slides and the final report state which objectives were met, partly met or not met, with measurements.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Record and import</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Add, edit and search transactions, or import a CSV/Excel file with a preview; bad rows are skipped with a message. Every record belongs to one user.</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Categorise</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TF-IDF word 1-2-grams and logistic regression label each description; a keyword table is the fallback. A user's correction retrains the model.</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Forecast and score</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A least-squares trend over monthly totals predicts next month; six weighted components give an explainable 0-100 health score.</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Advise and report</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600" b="0" i="0">
                <a:solidFill>
                  <a:srgbClr val="475569"/>
                </a:solidFill>
              </a:rPr>
              <a:t>Budget alerts at 75, 90 and 100 % (checked when the dashboard is opened), goals, a rule-routed assistant answering from the user's data, and PDF, Excel and CSV reports.</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FastAPI service + React dashboard + SQLite database</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33 API routes, 6 tables, signed bearer tokens and bcrypt-hashed passwords. Simple, explainable models were chosen on purpose; where they are weak, the project measures and reports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573094" y="1097280"/>
            <a:ext cx="6900530" cy="5394960"/>
          </a:xfrm>
          <a:prstGeom prst="rect">
            <a:avLst/>
          </a:prstGeom>
        </p:spPr>
      </p:pic>
      <p:sp>
        <p:nvSpPr>
          <p:cNvPr id="27" name="TextBox 26"/>
          <p:cNvSpPr txBox="1"/>
          <p:nvPr/>
        </p:nvSpPr>
        <p:spPr>
          <a:xfrm>
            <a:off x="7680960" y="1371600"/>
            <a:ext cx="3977639" cy="4754880"/>
          </a:xfrm>
          <a:prstGeom prst="rect">
            <a:avLst/>
          </a:prstGeom>
          <a:noFill/>
        </p:spPr>
        <p:txBody>
          <a:bodyPr wrap="square" lIns="0" rIns="0" tIns="0" bIns="0" anchor="t">
            <a:spAutoFit/>
          </a:bodyPr>
          <a:lstStyle/>
          <a:p>
            <a:pPr algn="l">
              <a:spcAft>
                <a:spcPts val="800"/>
              </a:spcAft>
            </a:pPr>
            <a:r>
              <a:rPr sz="1500" b="1" i="0">
                <a:solidFill>
                  <a:srgbClr val="0F172A"/>
                </a:solidFill>
              </a:rPr>
              <a:t>Layers</a:t>
            </a:r>
          </a:p>
          <a:p>
            <a:pPr algn="l" marL="256032" indent="-201168">
              <a:spcAft>
                <a:spcPts val="400"/>
              </a:spcAft>
              <a:buChar char="•"/>
            </a:pPr>
            <a:r>
              <a:rPr sz="1500" b="0" i="0">
                <a:solidFill>
                  <a:srgbClr val="0F172A"/>
                </a:solidFill>
              </a:rPr>
              <a:t>React dashboard on port 5411.</a:t>
            </a:r>
          </a:p>
          <a:p>
            <a:pPr algn="l" marL="256032" indent="-201168">
              <a:spcAft>
                <a:spcPts val="400"/>
              </a:spcAft>
              <a:buChar char="•"/>
            </a:pPr>
            <a:r>
              <a:rPr sz="1500" b="0" i="0">
                <a:solidFill>
                  <a:srgbClr val="0F172A"/>
                </a:solidFill>
              </a:rPr>
              <a:t>FastAPI on port 8411: 33 routes, bearer-token guard.</a:t>
            </a:r>
          </a:p>
          <a:p>
            <a:pPr algn="l" marL="256032" indent="-201168">
              <a:spcAft>
                <a:spcPts val="400"/>
              </a:spcAft>
              <a:buChar char="•"/>
            </a:pPr>
            <a:r>
              <a:rPr sz="1500" b="0" i="0">
                <a:solidFill>
                  <a:srgbClr val="0F172A"/>
                </a:solidFill>
              </a:rPr>
              <a:t>Service layer: transactions, budgets, goals, investments, analytics, assistant, reports, import.</a:t>
            </a:r>
          </a:p>
          <a:p>
            <a:pPr algn="l" marL="256032" indent="-201168">
              <a:spcAft>
                <a:spcPts val="400"/>
              </a:spcAft>
              <a:buChar char="•"/>
            </a:pPr>
            <a:r>
              <a:rPr sz="1500" b="0" i="0">
                <a:solidFill>
                  <a:srgbClr val="0F172A"/>
                </a:solidFill>
              </a:rPr>
              <a:t>ML modules: expense classifier, spending prediction, financial health.</a:t>
            </a:r>
          </a:p>
          <a:p>
            <a:pPr algn="l" marL="256032" indent="-201168">
              <a:spcAft>
                <a:spcPts val="400"/>
              </a:spcAft>
              <a:buChar char="•"/>
            </a:pPr>
            <a:r>
              <a:rPr sz="1500" b="0" i="0">
                <a:solidFill>
                  <a:srgbClr val="0F172A"/>
                </a:solidFill>
              </a:rPr>
              <a:t>SQLAlchemy over one SQLite file with six tables.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objectives against what was built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4096512"/>
        </p:xfrm>
        <a:graphic>
          <a:graphicData uri="http://schemas.openxmlformats.org/drawingml/2006/table">
            <a:tbl>
              <a:tblPr firstRow="0" bandRow="0">
                <a:tableStyleId>{5C22544A-7EE6-4342-B048-85BDC9FD1C3A}</a:tableStyleId>
              </a:tblPr>
              <a:tblGrid>
                <a:gridCol w="3200400"/>
                <a:gridCol w="6309360"/>
                <a:gridCol w="1581912"/>
              </a:tblGrid>
              <a:tr h="585216">
                <a:tc>
                  <a:txBody>
                    <a:bodyPr wrap="square"/>
                    <a:lstStyle/>
                    <a:p>
                      <a:pPr algn="ctr"/>
                      <a:r>
                        <a:rPr sz="1400" b="1">
                          <a:solidFill>
                            <a:srgbClr val="FFFFFF"/>
                          </a:solidFill>
                        </a:rPr>
                        <a:t>Objective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What was built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85216">
                <a:tc>
                  <a:txBody>
                    <a:bodyPr wrap="square"/>
                    <a:lstStyle/>
                    <a:p>
                      <a:pPr algn="l"/>
                      <a:r>
                        <a:rPr sz="1400" b="1">
                          <a:solidFill>
                            <a:srgbClr val="0F172A"/>
                          </a:solidFill>
                        </a:rPr>
                        <a:t>1  Accounts, import and manual entry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Sign-up and login, bcrypt, signed tokens, CSV/Excel import with preview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Met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400" b="1">
                          <a:solidFill>
                            <a:srgbClr val="0F172A"/>
                          </a:solidFill>
                        </a:rPr>
                        <a:t>2  Automatic categorisation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TF-IDF + logistic regression on a 51-example seed list (not BERT)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Met, simple form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400" b="1">
                          <a:solidFill>
                            <a:srgbClr val="0F172A"/>
                          </a:solidFill>
                        </a:rPr>
                        <a:t>3  Time-series forecast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Linear trend over monthly expense totals; no ARIMA or LSTM; expenses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Partly met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400" b="1">
                          <a:solidFill>
                            <a:srgbClr val="0F172A"/>
                          </a:solidFill>
                        </a:rPr>
                        <a:t>4  Anomaly detection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Not built; only the largest expense in a window is shown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Not met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400" b="1">
                          <a:solidFill>
                            <a:srgbClr val="0F172A"/>
                          </a:solidFill>
                        </a:rPr>
                        <a:t>5  Budget advice and alerts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User-set budgets, alerts at 75/90/100 %, rule-based advice (no reinforcement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Partly met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400" b="1">
                          <a:solidFill>
                            <a:srgbClr val="0F172A"/>
                          </a:solidFill>
                        </a:rPr>
                        <a:t>6  Interactive dashboard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13 React pages with charts, health score and forecast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Met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TextBox 26"/>
          <p:cNvSpPr txBox="1"/>
          <p:nvPr/>
        </p:nvSpPr>
        <p:spPr>
          <a:xfrm>
            <a:off x="548640" y="5486400"/>
            <a:ext cx="11091672" cy="914400"/>
          </a:xfrm>
          <a:prstGeom prst="rect">
            <a:avLst/>
          </a:prstGeom>
          <a:noFill/>
        </p:spPr>
        <p:txBody>
          <a:bodyPr wrap="square" lIns="0" rIns="0" tIns="0" bIns="0" anchor="t">
            <a:spAutoFit/>
          </a:bodyPr>
          <a:lstStyle/>
          <a:p>
            <a:pPr algn="l">
              <a:spcAft>
                <a:spcPts val="400"/>
              </a:spcAft>
            </a:pPr>
            <a:r>
              <a:rPr sz="1400" b="0" i="1">
                <a:solidFill>
                  <a:srgbClr val="475569"/>
                </a:solidFill>
              </a:rPr>
              <a:t>Also stated now: no loan tracker and no scheduler were built, and the abstract's Flask and MySQL became FastAPI and SQLite. Measured results (accuracy, forecast error, tests, latency) follow in Review 2 and the final review.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5486400" cy="5303520"/>
          </a:xfrm>
          <a:prstGeom prst="rect">
            <a:avLst/>
          </a:prstGeom>
          <a:noFill/>
        </p:spPr>
        <p:txBody>
          <a:bodyPr wrap="square" lIns="0" rIns="0" tIns="0" bIns="0" anchor="t">
            <a:spAutoFit/>
          </a:bodyPr>
          <a:lstStyle/>
          <a:p>
            <a:pPr algn="l">
              <a:spcAft>
                <a:spcPts val="400"/>
              </a:spcAft>
            </a:pPr>
            <a:r>
              <a:rPr sz="1200" b="0" i="0">
                <a:solidFill>
                  <a:srgbClr val="0F172A"/>
                </a:solidFill>
              </a:rPr>
              <a:t>[1] R. Kharat, S. Solapurkar, A. Tikkas, M. Uttarwar and A. Yadav, "A smart AI-based personal finance assistant: A multi-model approach for expense categorization, budgeting, forecasting and anomaly detection," Int. J. Research in Applied Science and Engineering Technology (IJRASET), vol. 13, no. XI, pp. 167-180, Nov. 2025, doi: 10.22214/ijraset.2025.75019.</a:t>
            </a:r>
          </a:p>
          <a:p>
            <a:pPr algn="l">
              <a:spcAft>
                <a:spcPts val="400"/>
              </a:spcAft>
            </a:pPr>
            <a:r>
              <a:rPr sz="1200" b="0" i="0">
                <a:solidFill>
                  <a:srgbClr val="0F172A"/>
                </a:solidFill>
              </a:rPr>
              <a:t>[2] P. L. To, "Enhancing financial literacy and management through goal-directed design and gamification in personal finance application," arXiv:2601.08640, Jan. 2026.</a:t>
            </a:r>
          </a:p>
          <a:p>
            <a:pPr algn="l">
              <a:spcAft>
                <a:spcPts val="400"/>
              </a:spcAft>
            </a:pPr>
            <a:r>
              <a:rPr sz="1200" b="0" i="0">
                <a:solidFill>
                  <a:srgbClr val="0F172A"/>
                </a:solidFill>
              </a:rPr>
              <a:t>[3] A. Theerthala, "Synthesizing behaviorally-grounded reasoning chains: A data-generation framework for personal finance LLMs," arXiv:2509.14180 [cs.CL], Sep. 2025.</a:t>
            </a:r>
          </a:p>
          <a:p>
            <a:pPr algn="l">
              <a:spcAft>
                <a:spcPts val="400"/>
              </a:spcAft>
            </a:pPr>
            <a:r>
              <a:rPr sz="1200" b="0" i="0">
                <a:solidFill>
                  <a:srgbClr val="0F172A"/>
                </a:solidFill>
              </a:rPr>
              <a:t>[4] V. Dilip and R. S. Janaki, "FinSenseAI: An explainable AI-based personal finance recommendation and expense prediction system using hybrid machine learning models," Int. J. Innovative Science and Research Technology, vol. 11, no. 7, pp. 1637-1650, Jul. 2026, doi: 10.38124/ijisrt/26jul842.</a:t>
            </a:r>
          </a:p>
          <a:p>
            <a:pPr algn="l">
              <a:spcAft>
                <a:spcPts val="400"/>
              </a:spcAft>
            </a:pPr>
            <a:r>
              <a:rPr sz="1200" b="0" i="0">
                <a:solidFill>
                  <a:srgbClr val="0F172A"/>
                </a:solidFill>
              </a:rPr>
              <a:t>[5] F. R. Abiya, S. Parvathy, M. R. Devende, S. R. Ajmalsha and C. Viji, "Personal expense leakage detection and budget optimization using machine learning," Int. J. Research in Applied Science and Engineering Technology (IJRASET), Apr. 2026, doi: 10.22214/ijraset.2026.79467.</a:t>
            </a:r>
          </a:p>
          <a:p>
            <a:pPr algn="l">
              <a:spcAft>
                <a:spcPts val="400"/>
              </a:spcAft>
            </a:pPr>
            <a:r>
              <a:rPr sz="1200" b="0" i="0">
                <a:solidFill>
                  <a:srgbClr val="0F172A"/>
                </a:solidFill>
              </a:rPr>
              <a:t>[6] "AI-driven financial insights for personal budget planning: A smart approach to future expense prediction," in Proc. 2025 3rd Int. Conf. on Intelligent Data Communication Technologies and Internet of Things (IDCIoT), IEEE, 2025 (IEEE Xplore document 10914721; as listed in the batch survey, authors not verified).</a:t>
            </a:r>
          </a:p>
          <a:p>
            <a:pPr algn="l">
              <a:spcAft>
                <a:spcPts val="400"/>
              </a:spcAft>
            </a:pPr>
            <a:r>
              <a:rPr sz="1200" b="0" i="0">
                <a:solidFill>
                  <a:srgbClr val="0F172A"/>
                </a:solidFill>
              </a:rPr>
              <a:t>[7] "AI-driven finance management platform for intelligent expense tracking and budget automation," Int. Research J. of Modernization in Engineering Technology and Science, 2026 (as listed in the batch survey; not located, not verified).</a:t>
            </a:r>
          </a:p>
        </p:txBody>
      </p:sp>
      <p:sp>
        <p:nvSpPr>
          <p:cNvPr id="27" name="TextBox 26"/>
          <p:cNvSpPr txBox="1"/>
          <p:nvPr/>
        </p:nvSpPr>
        <p:spPr>
          <a:xfrm>
            <a:off x="6172200" y="1143000"/>
            <a:ext cx="5486400" cy="5303520"/>
          </a:xfrm>
          <a:prstGeom prst="rect">
            <a:avLst/>
          </a:prstGeom>
          <a:noFill/>
        </p:spPr>
        <p:txBody>
          <a:bodyPr wrap="square" lIns="0" rIns="0" tIns="0" bIns="0" anchor="t">
            <a:spAutoFit/>
          </a:bodyPr>
          <a:lstStyle/>
          <a:p>
            <a:pPr algn="l">
              <a:spcAft>
                <a:spcPts val="400"/>
              </a:spcAft>
            </a:pPr>
            <a:r>
              <a:rPr sz="1200" b="0" i="0">
                <a:solidFill>
                  <a:srgbClr val="0F172A"/>
                </a:solidFill>
              </a:rPr>
              <a:t>[8] J. Devlin, M.-W. Chang, K. Lee and K. Toutanova, "BERT: Pre-training of deep bidirectional transformers for language understanding," in Proc. NAACL-HLT, 2019, pp. 4171-4186.</a:t>
            </a:r>
          </a:p>
          <a:p>
            <a:pPr algn="l">
              <a:spcAft>
                <a:spcPts val="400"/>
              </a:spcAft>
            </a:pPr>
            <a:r>
              <a:rPr sz="1200" b="0" i="0">
                <a:solidFill>
                  <a:srgbClr val="0F172A"/>
                </a:solidFill>
              </a:rPr>
              <a:t>[9] D. Araci, "FinBERT: Financial sentiment analysis with pre-trained language models," arXiv:1908.10063, 2019.</a:t>
            </a:r>
          </a:p>
          <a:p>
            <a:pPr algn="l">
              <a:spcAft>
                <a:spcPts val="400"/>
              </a:spcAft>
            </a:pPr>
            <a:r>
              <a:rPr sz="1200" b="0" i="0">
                <a:solidFill>
                  <a:srgbClr val="0F172A"/>
                </a:solidFill>
              </a:rPr>
              <a:t>[10] F. T. Liu, K. M. Ting and Z.-H. Zhou, "Isolation forest," in Proc. 8th IEEE Int. Conf. on Data Mining (ICDM), 2008, pp. 413-422.</a:t>
            </a:r>
          </a:p>
          <a:p>
            <a:pPr algn="l">
              <a:spcAft>
                <a:spcPts val="400"/>
              </a:spcAft>
            </a:pPr>
            <a:r>
              <a:rPr sz="1200" b="0" i="0">
                <a:solidFill>
                  <a:srgbClr val="0F172A"/>
                </a:solidFill>
              </a:rPr>
              <a:t>[14] F. Pedregosa et al., "Scikit-learn: Machine learning in Python," J. Machine Learning Research, vol. 12, pp. 2825-2830, 2011.</a:t>
            </a:r>
          </a:p>
          <a:p>
            <a:pPr algn="l">
              <a:spcAft>
                <a:spcPts val="400"/>
              </a:spcAft>
            </a:pPr>
            <a:r>
              <a:rPr sz="1200" b="0" i="0">
                <a:solidFill>
                  <a:srgbClr val="0F172A"/>
                </a:solidFill>
              </a:rPr>
              <a:t>[15] G. Salton and C. Buckley, "Term-weighting approaches in automatic text retrieval," Information Processing &amp; Management, vol. 24, no. 5, pp. 513-523, 1988.</a:t>
            </a:r>
          </a:p>
          <a:p>
            <a:pPr algn="l">
              <a:spcAft>
                <a:spcPts val="400"/>
              </a:spcAft>
            </a:pPr>
            <a:r>
              <a:rPr sz="1200" b="0" i="0">
                <a:solidFill>
                  <a:srgbClr val="0F172A"/>
                </a:solidFill>
              </a:rPr>
              <a:t>[17] S. Makridakis, E. Spiliotis and V. Assimakopoulos, "Statistical and machine learning forecasting methods: Concerns and ways forward," PLoS ONE, vol. 13, no. 3, e0194889, 2018.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INJARVIS">
  <a:themeElements>
    <a:clrScheme name="FINJARVIS">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FINJARV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INJARV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Personal Finance Manager: Review 1</dc:title>
  <dc:subject>Batch C11 (CSE-C)</dc:subject>
  <dc:creator>Mekala Kalyan, Rajanala Sai Hemanth, Middala Surya Teja Reddy, Manga Akash</dc:creator>
  <cp:lastModifiedBy/>
  <cp:revision>1</cp:revision>
  <dcterms:created xsi:type="dcterms:W3CDTF">2026-10-13T12:36:40Z</dcterms:created>
  <dcterms:modified xsi:type="dcterms:W3CDTF">2026-10-13T12:36:40Z</dcterms:modified>
  <cp:keywords>personal finance, expense categorisation, spending forecast, budgeting, FastAPI, React</cp:keywords>
  <dc:description/>
</cp:coreProperties>
</file>