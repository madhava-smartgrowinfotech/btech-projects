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FINJARVIS: a personal finance manager that categorises spending, forecasts the next month, scores financial health and answers questions from the user's own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Product first, then the three data-driven modules, the evidence and the honest limits, including what was not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Registered base paper from the batch documents. Its numbers are quoted as reported; the data are the authors' own and not released.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Only what the papers themselves state is quoted. FinSenseAI's text says its models are 'intended to be evaluated', so no number is attributed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 from the batch literature survey, made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four problem points are taken from the batch problem statement. The fourth (unnoticed unusual transactions) is NOT solved: no anomaly detector was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batch document. The conclusion slide gives the status of each, including the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as two chains: what the user does, and which module answers each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Layers; the backend folder holds no business logic, every route calls the same service function the Streamlit pages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in one picture and the formulas that define the three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is no public corpus. The probe set measures the shipped model but is written by the team, so it is optimistic for tiers A and B and a fair stress test for tier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add-transaction flow and the categoriser pipeline. Implemented in services/transaction_service.py and ml/expense_classifier.py.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adding a transaction and the six-table schema in one SQLite file, created by SQLAlchemy at start-up. The use-case diagram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Implementation facts and the testing that was actually run, with its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classifier headline is 71.7 %, but the breakdown by tier is the honest result. The probe set is team-written, not an independent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are true categories, 18 per class. The Transport column is the 'dump' class for unseen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Threshold analysis of the confidence cut-off and the effect of user corrections. Probabilities are low because there are 11 classes and 51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linear trend followed the Aug-Sep rise and overshot October. The 3-month minimum is too low for this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Sensitivity sweeps of the health score, the rule-layer assistant test and the import pipeline result. The assistant missed groceries, biggest expense, eating out, largest purchase, run out of money and which category to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plainly that datasets, label sets and model sizes differ, so the numbers are not comparable. Three of the four base-paper modules are not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 of the running app with the fictional demo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import preview shows nothing is saved until confirmed; the assistant banner states the LLM layer is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Budgets and downloads. PDF, Excel and CSV generation were timed (135 ms, 209 ms, 18 ms median).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met, partly met or not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first, then concrete next steps drawn from the measured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9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21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23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Based Personal Finance Manager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FINJARVIS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C11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23K91A05F0   MEKALA KALYAN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23K91A05K3   RAJANALA SAI HEMANTH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23K91A05F2   MIDDALA SURYA TEJA REDDY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23K91A05E5   MANGA AKASH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Padmavathi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&amp; Technology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 &amp; Core Algorithms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&amp; Data Design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Categoriser, Threshold Analysis, Forecast, Health Score, Assistant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the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Managing money across many digital transactions is tedious, and most tools only report the past. FINJARVIS is a web platform where a user records or imports transactions, sees a dashboard, sets budgets and goals, tracks investments, asks questions and downloads reports. FastAPI + SQLite backend, React console, 33 API routes, 6 tables.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Three data-driven parts: a TF-IDF + logistic-regression expense categoriser (51 seed examples, 11 categories), a least-squares linear-trend forecast of next month's spending, and a 0-100 financial health score from six weighted, explainable components. A rule-routed assistant answers from the user's own records.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Verified by 38 pytest tests and 49 smoke checks; API calls take 67 ms (dashboard) to 136 ms (PDF report) median on 127.0.0.1.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 honestly: the categoriser scores 71.7 % on a 198-description probe set but only 18.2 % on unseen merchants; the linear trend is no better than a plain average with fewer than ~7 months of history.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built: anomaly detection, reinforcement-learning budgeting, LSTM or BERT models, loan tracking, scheduled digests. The abstract's Flask + MySQL became FastAPI + SQLite. The optional LLM layer was not tested.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R. Kharat, S. Solapurkar, A. Tikkas, M. Uttarwar and A. Yadav, "A smart AI-based personal finance assistant: A multi-model approach for expense categorization, budgeting, forecasting and anomaly detection," International Journal for Research in Applied Science and Engineering Technology (IJRASET), vol. 13, no. XI, pp. 167-180, Nov. 2025, doi: 10.22214/ijraset.2025.75019.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77440"/>
          <a:ext cx="1115568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960120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Kharat et al.: multi-model AI personal finance assistant (IJRASET, Nov. 2025)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Problem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Manual categorisation and static budgeting make personal financial planning inefficient and impersonal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Four modules: fine-tuned BERT categoriser (16 -&gt; 50 classes, SMOTE), Q-learning budget recommender, LSTM savings forecaster, Isolation Forest anomaly detector; Streamlit UI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BERT accuracy 92.3 %, precision 90.8 %, recall 91.5 %, F1 91.1 %; LSTM RMSE 137.2, MAE 89.5, R2 0.63; Isolation Forest precision 93 %, recall 94 %, F1 94 %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Synthetic and real-world transactions labelled by the authors; synthetic savings series; synthetic outliers; 80/20 splits; none released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covered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 runnable open web product, authentication, import, reports, and a measurement of how the simple baselines behave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Also read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To (2026) goal-directed design and gamification [2]; Theerthala (2025) behaviourally grounded finance LLM data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42793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3931920"/>
                <a:gridCol w="41148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Reported result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Kharat et al.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BERT + Q-learning + LSTM + Isolation Forest, Streamlit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92.3 % categoriser accuracy; LSTM R2 0.63; IF F1 94 %; synthetic or private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Dilip and Janaki [4]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 + LSTM hybrid with SHAP explanations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Metrics named (RMSE, MAE, MAPE, R2) but no numeric results in the text read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Abiya et al.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Isolation Forest + K-Means for expense leakage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Synthetic data; no metrics in the abstract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To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Goal-directed design and gamification for a finance app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Usability study (small samples); no forecasting or categorisation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Theerthala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Behavioural-finance data for a personal-finance LLM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8B model comparable to 14-32B baselines at ~80 % lower cost; advice text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Devlin et al. [8]; Liu et al. [10]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BERT and Isolation Forest (methods)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General methods used by the base paper; not implemented here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Hyndman and Koehler [16]; Makridakis et al. [17]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Forecast accuracy measures; simple vs complex methods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Basis for comparing the linear trend with simple averages (MAPE, MAE)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survey [6],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Two further titles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verified; no result quoted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base paper builds four models but releases no running application; its data are synthetic or private and cannot be re-measured.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Related systems report either no number (FinSenseAI, leakage detection) or usability findings without any model (To).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Commercial finance applications are costly and closed; students and individuals lack an open, customisable web platform.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Nobody reports how a simple, inspectable categoriser or trend model behaves on input it has not seen, or with short histories.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Advice should come from the user's own recorded data, with a disclaimer, not from a generic template.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Gap: an affordable, runnable web platform that delivers categorisation, forecasting, health scoring and advice, and measures where each simple module breaks.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55680" cy="237744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Manual expense recording is tedious and is quickly abandoned.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Existing applications report past spending but do not forecast what is coming.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Generic budgeting advice ignores individual income patterns and commitments.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Unusual transactions go unnoticed until the statement is reviewed much later.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Need: a personal finance platform that categorises spending automatically, forecasts future expenditure and gives advice grounded in the user's own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Sign-up, manual or imported (CSV / Excel) transactions, budgets, goals, holdings,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Auto-category, dashboard, next-month forecast, health score, alerts, assistant answers, PDF / Excel / CSV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38 tests, 49 smoke checks, experiment metrics (JSON), 19 screenshots of the running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Build secure user accounts with transaction import and manual entry.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Categorise expenses automatically from transaction descriptions using text classification.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Forecast upcoming expenses and savings using time-series models over spending history.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Detect anomalous transactions that deviate from a user's established pattern.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Generate personalised budget recommendations and alerts on threshold breaches.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Visualise spending, category breakdown and forecasts on an interactive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User journey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Sign up / log in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7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Add or import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7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2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Auto-categorise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Budgets + alerts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Dashboard + forecast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9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2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 +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26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Intelligence layer (ml/ and services/)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TF-IDF + LR categoriser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17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0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Linear-trend forecast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075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12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Health score (6 parts)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8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Budget alerts 75/90/100 %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85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22920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Rule-routed assistant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9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2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Insights + disclaimer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89120"/>
            <a:ext cx="11155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Auto-detect uses the classifier's label; a manual category that differs from the prediction retrains the model on the user's history plus the correction.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forecast refuses to predict with fewer than 3 months of data; the assistant answers only from the user's own records and always shows a disclaimer.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Alerts are written to notifications when a budget reaches 75, 90 and 100 % of its limit (one per identical message).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 table and query is scoped by user_id; passwords are bcrypt-hashed; tokens are signed bearer tokens (7-day expiry).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327" y="1645920"/>
            <a:ext cx="5964865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1783080"/>
            <a:ext cx="44805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Console: React 18 + TypeScript (Vite, Tailwind, Recharts), port 5411; 13 pages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FastAPI, port 8411; 33 routes; bearer-token dependency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Services: transaction, budget, goal, investment, analytics, AI, report, import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ML: expense_classifier, spending_prediction, financial_health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Data: SQLAlchemy over one SQLite file, 6 tables; the original Streamlit app shares the same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Picture 6" descr="02_high_leve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05029"/>
            <a:ext cx="6675120" cy="37623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Categoriser: TF-IDF (word 1-2-grams) + logistic regression (C = 1) on 51 seed pairs.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Forecast: slope, intercept = polyfit(month index, expense total, 1); next = max(0, slope x n + intercept); trend label if |slope| &gt; 1.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Health = sum of six weights (0.30, 0.20, 0.15, 0.15, 0.10, 0.10) x component score, bands at 40 / 60 / 75 / 90.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Evaluation: probe set, leave-one-out, backtest, simulation, sensitivity sweeps, API timing,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Datasets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seed examples, 11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6459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56032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3200" y="1700784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probe descriptions (3 tiers x 66)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6459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61772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00600" y="1700784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demo-account transactions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743200"/>
          <a:ext cx="612648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47548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Detail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Training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51 hand-written (description, category) pairs in ml/expense_classifier.py, 3 to 6 per class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Probe 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198 descriptions written by the team: A seed-like, B bank-statement strings, C unseen merchants; never used for training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Sample CSV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34 fictional rows (Jun-Aug 2026); demo user has 6 monthly totals, 5 budgets, 3 goals, 4 holdings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Licence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Own work; all demo data fictional, no real personal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Nothing is trained on a split; the probe set is not an independent benchmark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0" name="Picture 19" descr="f13_seed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93354"/>
            <a:ext cx="4892040" cy="27969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8000" y="5029200"/>
            <a:ext cx="4892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The whole training set is tiny: 3 to 6 examples per category, so the model can only recognise words it has seen.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Algorithms: Add Transaction, Categoriser, Health Score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flowchart_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84" y="1600200"/>
            <a:ext cx="5337110" cy="4754880"/>
          </a:xfrm>
          <a:prstGeom prst="rect">
            <a:avLst/>
          </a:prstGeom>
        </p:spPr>
      </p:pic>
      <p:pic>
        <p:nvPicPr>
          <p:cNvPr id="8" name="Picture 7" descr="11_categoriser_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0890" y="1600200"/>
            <a:ext cx="3771899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402336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Add: validate, predict category if 'Auto-detect', store, check budget thresholds, write alerts.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Predict order: ML model, keyword table only if the model cannot load, else 'Other'; the ML model never outputs 'Other'.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Prediction 0.84 ms per description in-process; retrain from the seed 5.2 ms.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Correction: retrain on seed + the user's history + the correction.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- System Interaction and Data Design (6 tables)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47" y="1600200"/>
            <a:ext cx="4924425" cy="4297680"/>
          </a:xfrm>
          <a:prstGeom prst="rect">
            <a:avLst/>
          </a:prstGeom>
        </p:spPr>
      </p:pic>
      <p:pic>
        <p:nvPicPr>
          <p:cNvPr id="8" name="Picture 7" descr="09_er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706602"/>
            <a:ext cx="5349240" cy="40848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94360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sequence of adding a transaction. Right: six tables (users, transactions, budgets, financial_goals, investments, notifications); every child table carries user_id and cascades on delete.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 routes, 6 tables, 13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38 + 49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 + smoke checks, all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67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 dashboard request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305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 login (bcrypt verify)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2880360"/>
          <a:ext cx="5394960" cy="3127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914400"/>
                <a:gridCol w="9144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Endpoint (127.0.0.1)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median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p95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Dashboard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67.2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129.3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Analytics + forecast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72.1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128.5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Predict category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Add transaction (auto-categorise)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15.2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Assistant question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21.6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47.9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PDF report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135.5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Excel report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209.4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341.6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Import preview, 100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667.0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933.3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126480" y="2880360"/>
            <a:ext cx="557784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38: auth 9, budget 6, financial health 6, ML 9, transactions 8; one temporary SQLite file per test.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Smoke test of 49 checks on a throw-away backend: weak password, wrong password and tampered token rejected; user isolation; CSV import; reports.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Import of 1,000 rows with 84 injected bad rows: all 84 skipped, 916 saved at 35.2 rows/s (one session per row).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Machine: i5-12500, 15.7 GB, Python 3.11.9; single user, warm server. Not tested: load, concurrency, penetration scan, other browsers.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Expense Categoriser (198-description probe set)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6675120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914400"/>
                <a:gridCol w="914400"/>
                <a:gridCol w="822960"/>
                <a:gridCol w="822960"/>
                <a:gridCol w="8229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Macro-F1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Tier 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Tier 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Tier 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TF-IDF + LR (shipped)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71.7%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0.761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100.0%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97.0%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18.2%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Keyword table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51.5%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0.662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71.2%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72.7%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10.6%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Majority class (Food)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9.1%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0.015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9.1%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9.1%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9.1%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1645920"/>
            <a:ext cx="42062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Tier C (unseen merchants) falls to 18.2 %: the shipped model is barely better than the majority class there.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Leave-one-out on the 51 seed pairs: 11.8 %; the 34-row sample CSV: 100 % (optimistic, same vocabulary).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Mean confidence 0.197 when right vs 0.130 when wrong.</a:t>
            </a:r>
          </a:p>
        </p:txBody>
      </p:sp>
      <p:pic>
        <p:nvPicPr>
          <p:cNvPr id="9" name="Picture 8" descr="f01_classifier_ti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86" y="3429000"/>
            <a:ext cx="5668107" cy="2971800"/>
          </a:xfrm>
          <a:prstGeom prst="rect">
            <a:avLst/>
          </a:prstGeom>
        </p:spPr>
      </p:pic>
      <p:pic>
        <p:nvPicPr>
          <p:cNvPr id="10" name="Picture 9" descr="f03_per_category_pr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256" y="3657600"/>
            <a:ext cx="5144926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- Where the Categoriser Fails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7" name="Picture 6" descr="f02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55" y="1600200"/>
            <a:ext cx="5250649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1737360"/>
            <a:ext cx="557784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48 of the 56 errors are predicted as Transport: a text with no known word gives a zero feature vector and the decision comes from the intercepts, where Transport is highest.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Transport has recall 1.00 but precision 0.273; Healthcare, Rent, Travel, Investments and Salary have precision 1.00.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Per-category recall ranges from 0.611 (Shopping) to 0.778 (Education).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Tier-B slips: UPI-AMAZON-PAY-8821 -&gt; Entertainment (the seed has 'amazon prime video'); UPI-HOSPITAL-BILL -&gt; Bills.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ML model never predicts 'Other', and the app applies no confidence threshold, so unseen merchants are labelled silently.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and Parameter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f04_confidence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01" y="1600200"/>
            <a:ext cx="4979196" cy="3017520"/>
          </a:xfrm>
          <a:prstGeom prst="rect">
            <a:avLst/>
          </a:prstGeom>
        </p:spPr>
      </p:pic>
      <p:pic>
        <p:nvPicPr>
          <p:cNvPr id="8" name="Picture 7" descr="f05_learning_from_corr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9818"/>
            <a:ext cx="5623560" cy="24525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754880"/>
            <a:ext cx="5486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Keeping only predictions with top probability &gt;= 0.15 keeps 62.1 % of items at 94.3 % accuracy; &gt;= 0.20 keeps 32.3 % at 98.4 %; &gt;= 0.25 keeps 7.6 % at 100 %.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app applies no threshold today; abstaining would send the rest to the user.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389120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Adding 48 random corrections of unseen merchants lifts tier-C accuracy only from 18.2 % to 21.5 %.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correction fixes the same merchant written three other ways: 18.2 % -&gt; 100 % (198 tests); easy, as variants share tokens.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3-month minimum for the forecast is a parameter that proved too low (next slide).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Spending Forecast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06_forecast_back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26" y="1600200"/>
            <a:ext cx="5625586" cy="2834640"/>
          </a:xfrm>
          <a:prstGeom prst="rect">
            <a:avLst/>
          </a:prstGeom>
        </p:spPr>
      </p:pic>
      <p:pic>
        <p:nvPicPr>
          <p:cNvPr id="8" name="Picture 7" descr="f08_sim_map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336" y="1600200"/>
            <a:ext cx="4769566" cy="283464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572000"/>
          <a:ext cx="457200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1097280"/>
                <a:gridCol w="9144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Backtest (3 test points)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MAE (INR)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MAPE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Linear trend (app)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9,597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28.4%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Mean of all history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8,385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21.4%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Mean of last 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9,301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24.8%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Last 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9,565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27.8%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0" y="4572000"/>
            <a:ext cx="62636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App output on the full 6-month demo history: next month INR 39,471 (recent 3-month average 36,592, trend increasing).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Simulation (2,000 users): the trend beats a plain average only once ~7+ months exist; a 3-month mean was at least as good in every setting.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Only 3 backtest points: indicative, not conclusive. The base paper's savings LSTM is not comparable.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Health Score, Assistant and Import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7" name="Picture 6" descr="f09_health_sensi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628" y="1554480"/>
            <a:ext cx="6970263" cy="2240280"/>
          </a:xfrm>
          <a:prstGeom prst="rect">
            <a:avLst/>
          </a:prstGeom>
        </p:spPr>
      </p:pic>
      <p:pic>
        <p:nvPicPr>
          <p:cNvPr id="8" name="Picture 7" descr="f10_health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78" y="3886200"/>
            <a:ext cx="3247763" cy="1828800"/>
          </a:xfrm>
          <a:prstGeom prst="rect">
            <a:avLst/>
          </a:prstGeom>
        </p:spPr>
      </p:pic>
      <p:pic>
        <p:nvPicPr>
          <p:cNvPr id="9" name="Picture 8" descr="f12_assistant_cover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7269" y="3886200"/>
            <a:ext cx="3449781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3886200"/>
            <a:ext cx="3977639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Demo account health score 90.4 / 100 (Excellent); weakest area goal progress (24).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5,000 random profiles: 8.7 to 98.2, never lower after +5 points of savings rate; saturates at 20 %.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Assistant answered 14 of 20 answerable questions; declined 6 of 6 off-topic; 0 wrong.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Numbers match direct SQL sums (Food INR 17,365; top category Rent INR 108,000).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0644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Weights are expert-chosen, not fitted; savings rate and expense ratio carry 50 % of the score and are correlated. The LLM layer was not run.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the Base Paper (different data and models)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80160"/>
                <a:gridCol w="3291840"/>
                <a:gridCol w="4297680"/>
                <a:gridCol w="228600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Kharat et al. (base paper)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FINJARVIS (this work)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Comparable?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Categoriser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BERT, 50 classes, own data, 80/20: accuracy 92.3 %, F1 91.1 %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TF-IDF + LR, 11 classes, 51 seeds: probe accuracy 71.7 %, macro-F1 0.761; unseen merchants 18.2 %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No: data, labels, model differ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Forecast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LSTM on synthetic savings: RMSE 137.2, MAE 89.5, R2 0.63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Linear trend on monthly expenses: MAPE 28.4 % (3 points), MAE INR 9,597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No: target, units, data differ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Budgeting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Q-learning agent (state, action, reward)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User-set budgets, alerts at 75 / 90 / 100 %, rule-based advice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RL built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Anomalies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Isolation Forest: P 0.93, R 0.94, F1 0.94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implemented (largest expense only)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Product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Streamlit prototype, Flask API mention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FastAPI + React, 33 routes, auth, import, reports, 38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Beyond the paper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Synthetic or private, unreleased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Fictional demo data, probe set and scripts in the repository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Re-measurable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0644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Different problems, data and models: no figure of FINJARVIS is claimed to match or beat the base paper. Its BERT, Q-learning, LSTM and Isolation Forest modules were not built here.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 Dashboard and Spending Forecast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5_dashboar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26" y="1600200"/>
            <a:ext cx="4927106" cy="3428999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1_analytics-predicti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23368"/>
            <a:ext cx="5486400" cy="3382662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51663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Dashboard (demo account, Oct 2026): income INR 65,000, expenses 30,080, savings rate 53.7 %, health score 90 Excellent, weakest area Goal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1663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Analytics: six-month spending trend and ML prediction, next month INR 39,471, recent 3-month average 36,592, trend Increasing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 CSV Import and AI Assistant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9_transactions-impor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26" y="1600200"/>
            <a:ext cx="4927106" cy="3428999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5_assistan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286" y="1600200"/>
            <a:ext cx="4927106" cy="3428999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51663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Import preview: 4 valid rows ready, row 6 skipped (invalid date, amount or description); blank categories are filled by the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1663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Assistant: top category Rent INR 108,000 and health score 90.4 / 100, each marked 'Calculated from your data'; built-in analytics only (no API key)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 Budgets and Reports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12_budget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26" y="1600200"/>
            <a:ext cx="4927106" cy="3428999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6_report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54310"/>
            <a:ext cx="5486400" cy="2520778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51663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Budget status for October 2026: Food 15 % used, Entertainment 88 % ('Getting close'), Bills 65 %; alerts at 75, 90 and 100 %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1663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Reports: monthly PDF summary, Excel workbook and transactions CSV for the chosen month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FINJARVIS is a working, tested personal finance manager whose measurements show where each simple module helps and where it falls short.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77440"/>
          <a:ext cx="1115568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4114800"/>
                <a:gridCol w="65836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Objective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Secure accounts, import and manual entry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Met: bcrypt, signed tokens, CSV / Excel import with preview, 49 / 49 smoke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Automatic categorisation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 met: 71.7 % on probe set, but 18.2 % on unseen merchants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Forecast expenses and savings (time series)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 met: linear trend on expenses only; no ARIMA / LSTM; not better than a mean under ~7 months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Detect anomalous transactions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met: no anomaly detector was built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Budget recommendations and alerts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 met: user-set budgets, threshold alerts, rule-based advice; no RL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Interactive dashboard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Met: 13 pages, charts, 19 captured screens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Key findings: a tiny seed list limits the categoriser to known vocabulary; corrections help repeat merchants but not new ones; the 3-month forecast minimum is too low.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51-example seed list; unseen merchants labelled silently (mostly Transport)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anomaly detection, RL budgeting, LSTM or BERT; no loans or scheduler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Demo data synthetic; probe set team-written; 3 backtest points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Import commits one row at a time (35 rows/s)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Home-made bearer tokens; default secret if APP_SECRET_KEY unset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Single-user SQLite, no migrations; LLM layer and live prices untested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 on a public transaction corpus or user-labelled history; add a confidence threshold with abstain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 an anomaly detector (z-score or Isolation Forest) on the user's own history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Raise the forecast minimum or blend the trend with a moving average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Batch import commits; refresh tokens and a managed secret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Loan tracker, recurring-bill scheduler, bank statement parsing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Run the assistant's LLM layer under test; user study; PostgreSQL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R. Kharat, S. Solapurkar, A. Tikkas, M. Uttarwar and A. Yadav, "A smart AI-based personal finance assistant: A multi-model approach for expense categorization, budgeting, forecasting and anomaly detection," Int. J. Research in Applied Science and Engineering Technology (IJRASET), vol. 13, no....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P. L. To, "Enhancing financial literacy and management through goal-directed design and gamification in personal finance application," arXiv:2601.08640, Jan. 2026.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[3] A. Theerthala, "Synthesizing behaviorally-grounded reasoning chains: A data-generation framework for personal finance LLMs," arXiv:2509.14180 [cs.CL], Sep. 2025.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[4] V. Dilip and R. S. Janaki, "FinSenseAI: An explainable AI-based personal finance recommendation and expense prediction system using hybrid machine learning models," Int. J. Innovative Science and Research Technology, vol. 11, no. 7, pp. 1637-1650, Jul. 2026, doi: 10.38124/ijisrt/26jul842.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[5] F. R. Abiya, S. Parvathy, M. R. Devende, S. R. Ajmalsha and C. Viji, "Personal expense leakage detection and budget optimization using machine learning," Int. J. Research in Applied Science and Engineering Technology (IJRASET), Apr. 2026, doi: 10.22214/ijraset.2026.79467.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[8] J. Devlin, M.-W. Chang, K. Lee and K. Toutanova, "BERT: Pre-training of deep bidirectional transformers for language understanding," in Proc. NAACL-HLT, 2019, pp. 4171-4186.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F. T. Liu, K. M. Ting and Z.-H. Zhou, "Isolation forest," in Proc. 8th IEEE Int. Conf. on Data Mining (ICDM), 2008, pp. 413-422.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S. Hochreiter and J. Schmidhuber, "Long short-term memory," Neural Computation, vol. 9, no. 8, pp. 1735-1780, 1997.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[12] C. J. C. H. Watkins and P. Dayan, "Q-learning," Machine Learning, vol. 8, no. 3-4, pp. 279-292, 1992.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[13] N. V. Chawla, K. W. Bowyer, L. O. Hall and W. P. Kegelmeyer, "SMOTE: Synthetic minority over-sampling technique," J. Artificial Intelligence Research, vol. 16, pp. 321-357, 2002.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F. Pedregosa et al., "Scikit-learn: Machine learning in Python," J. Machine Learning Research, vol. 12, pp. 2825-2830, 2011.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[15] G. Salton and C. Buckley, "Term-weighting approaches in automatic text retrieval," Information Processing &amp; Management, vol. 24, no. 5, pp. 513-523, 1988.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[16] R. J. Hyndman and A. B. Koehler, "Another look at measures of forecast accuracy," Int. J. Forecasting, vol. 22, no. 4, pp. 679-688, 2006.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[17] S. Makridakis, E. Spiliotis and V. Assimakopoulos, "Statistical and machine learning forecasting methods: Concerns and ways forward," PLoS ONE, vol. 13, no. 3, e0194889, 2018.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[19] A. Lusardi and O. S. Mitchell, "The economic importance of financial literacy: Theory and evidence," J. Economic Literature, vol. 52, no. 1, pp. 5-44, 2014.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[20] N. Provos and D. Mazieres, "A future-adaptable password scheme," in Proc. USENIX Annual Technical Conf., FREENIX Track, 1999, pp. 81-91.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full numbered list of 23 references, including the batch survey titles [6], [7] (not verified), is in the report.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C11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JARVIS">
  <a:themeElements>
    <a:clrScheme name="FINJARVI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INJARVIS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FINJARV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Based Personal Finance Manager - Final Review</dc:title>
  <dc:subject>FINJARVIS</dc:subject>
  <dc:creator>Batch C11, Dept. of CSE, TKRCET</dc:creator>
  <cp:lastModifiedBy>Batch C11, Dept. of CSE, TKRCET</cp:lastModifiedBy>
  <cp:revision>1</cp:revision>
  <dcterms:created xsi:type="dcterms:W3CDTF">2026-10-07T05:03:03Z</dcterms:created>
  <dcterms:modified xsi:type="dcterms:W3CDTF">2026-10-07T05:03:03Z</dcterms:modified>
  <dc:description/>
  <cp:keywords>personal finance, expense categorisation, spending forecast, financial health score, FastAPI, React</cp:keywords>
</cp:coreProperties>
</file>