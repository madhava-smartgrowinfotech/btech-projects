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623e47-5b1a-7aef-5476-75bff30165c3}">
          <p14:sldIdLst>
            <p14:sldId id="256"/>
            <p14:sldId id="257"/>
            <p14:sldId id="258"/>
          </p14:sldIdLst>
        </p14:section>
        <p14:section name="Design" id="{ee3f979a-aefa-c88f-8568-1021737ba133}">
          <p14:sldIdLst>
            <p14:sldId id="259"/>
            <p14:sldId id="260"/>
            <p14:sldId id="261"/>
            <p14:sldId id="262"/>
            <p14:sldId id="263"/>
            <p14:sldId id="264"/>
            <p14:sldId id="265"/>
            <p14:sldId id="266"/>
            <p14:sldId id="267"/>
            <p14:sldId id="268"/>
          </p14:sldIdLst>
        </p14:section>
        <p14:section name="Progress" id="{cf39a97a-7fb0-4c7a-0650-0fb3a5c44815}">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TF-IDF + LR (shipped)</c:v>
                </c:pt>
              </c:strCache>
            </c:strRef>
          </c:tx>
          <c:spPr>
            <a:solidFill>
              <a:srgbClr val="2A78D6"/>
            </a:solidFill>
          </c:spPr>
          <c:cat>
            <c:strRef>
              <c:f>Sheet1!$A$2:$A$4</c:f>
              <c:strCache>
                <c:ptCount val="3"/>
                <c:pt idx="0">
                  <c:v>A seed-like</c:v>
                </c:pt>
                <c:pt idx="1">
                  <c:v>B statement strings</c:v>
                </c:pt>
                <c:pt idx="2">
                  <c:v>C unseen merchants</c:v>
                </c:pt>
              </c:strCache>
            </c:strRef>
          </c:cat>
          <c:val>
            <c:numRef>
              <c:f>Sheet1!$B$2:$B$4</c:f>
              <c:numCache>
                <c:formatCode>General</c:formatCode>
                <c:ptCount val="3"/>
                <c:pt idx="0">
                  <c:v>100.0</c:v>
                </c:pt>
                <c:pt idx="1">
                  <c:v>97.0</c:v>
                </c:pt>
                <c:pt idx="2">
                  <c:v>18.2</c:v>
                </c:pt>
              </c:numCache>
            </c:numRef>
          </c:val>
        </c:ser>
        <c:ser>
          <c:idx val="1"/>
          <c:order val="1"/>
          <c:tx>
            <c:strRef>
              <c:f>Sheet1!$C$1</c:f>
              <c:strCache>
                <c:ptCount val="1"/>
                <c:pt idx="0">
                  <c:v>Keyword table</c:v>
                </c:pt>
              </c:strCache>
            </c:strRef>
          </c:tx>
          <c:spPr>
            <a:solidFill>
              <a:srgbClr val="EB6834"/>
            </a:solidFill>
          </c:spPr>
          <c:cat>
            <c:strRef>
              <c:f>Sheet1!$A$2:$A$4</c:f>
              <c:strCache>
                <c:ptCount val="3"/>
                <c:pt idx="0">
                  <c:v>A seed-like</c:v>
                </c:pt>
                <c:pt idx="1">
                  <c:v>B statement strings</c:v>
                </c:pt>
                <c:pt idx="2">
                  <c:v>C unseen merchants</c:v>
                </c:pt>
              </c:strCache>
            </c:strRef>
          </c:cat>
          <c:val>
            <c:numRef>
              <c:f>Sheet1!$C$2:$C$4</c:f>
              <c:numCache>
                <c:formatCode>General</c:formatCode>
                <c:ptCount val="3"/>
                <c:pt idx="0">
                  <c:v>71.2</c:v>
                </c:pt>
                <c:pt idx="1">
                  <c:v>72.7</c:v>
                </c:pt>
                <c:pt idx="2">
                  <c:v>10.6</c:v>
                </c:pt>
              </c:numCache>
            </c:numRef>
          </c:val>
        </c:ser>
        <c:dLbls>
          <c:numFmt formatCode="0.0"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25.0"/>
          <c:min val="0.0"/>
        </c:scaling>
        <c:delete val="0"/>
        <c:axPos val="l"/>
        <c:majorGridlines>
          <c:spPr>
            <a:ln>
              <a:solidFill>
                <a:srgbClr val="D5DCE6"/>
              </a:solidFill>
            </a:ln>
          </c:spPr>
        </c:majorGridlines>
        <c:numFmt formatCode="0.0" sourceLinked="0"/>
        <c:majorTickMark val="out"/>
        <c:minorTickMark val="none"/>
        <c:tickLblPos val="nextTo"/>
        <c:spPr>
          <a:ln>
            <a:noFill/>
          </a:ln>
        </c:spPr>
        <c:crossAx val="-2068027336"/>
        <c:crosses val="autoZero"/>
      </c:valAx>
    </c:plotArea>
    <c:legend>
      <c:legendPos val="b"/>
      <c:overlay val="0"/>
    </c:legend>
    <c:dispBlanksAs val="gap"/>
  </c:chart>
  <c:txPr>
    <a:bodyPr/>
    <a:lstStyle/>
    <a:p>
      <a:pPr>
        <a:defRPr sz="10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review shows how FINJARVIS is designed and built, what is implemented, the first measured results from our own experiments and tests, and the open items. Introduce the four team members and the guide.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for the design and progress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Review 1. The base paper's four-model design is the reference; our build is deliberately simpler, and the gaps are stated openly at this point so that results are read correctly.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backend/main.py is 804 lines including the seed module; the routes call the same service functions the Streamlit pages call and keep no business rules of their own.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step shown is implemented in services/ and ml/; the workflow diagram mirrors the routes.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no public training corpus: the categoriser learns from a 51-example list. Evaluation uses a probe set the team wrote, so the numbers describe this system and are not an independent benchmark.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preprocessing is validation and light text normalisation; the base paper's SMOTE balancing and 50 categories are not used 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three are small, explainable models; each decision can be traced to a word weight, a slope or a component score.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no training run in the deep-learning sense: the classifier fits in milliseconds. The configuration is what the code uses.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limit on this slide is a measured finding: 48 of the 56 probe errors were predicted as Transport.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Line counts are taken from the files. The API layer is thin: it validates, calls a service and shapes the JSON.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queries filter by user_id, which is what keeps one user's data away from another; the smoke test checks this with a second account.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Versions are those installed in the project's virtual environment on the measuring machine.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Honest status: the core flow is complete in simple form; one objective (anomaly detection) and two abstract features (loan tracker, scheduler) are not built.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Numbers are from experiments/metrics.json. The headline 71.7 % hides the split between known wording and unseen merchants, which is why the tiers are shown.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screens are captures of the running application on the fictional demo account (68 transactions); nothing is mocked.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Tests and checks are real runs on 2026-10-22. The assistant questions were written by the team; the numbers describe the rule layer only.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challenge is a measured finding; the evidence is in docs/REPORT_FACTS.md.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open items are those identified by our own measurements, in priority order.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the review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FINJARVIS  ·  Review 2</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8.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Relationship Id="rId3" Type="http://schemas.openxmlformats.org/officeDocument/2006/relationships/notesSlide" Target="../notesSlides/notesSlide1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9.png"/><Relationship Id="rId3" Type="http://schemas.openxmlformats.org/officeDocument/2006/relationships/slideLayout" Target="../slideLayouts/slideLayout3.xml"/><Relationship Id="rId4" Type="http://schemas.openxmlformats.org/officeDocument/2006/relationships/notesSlide" Target="../notesSlides/notesSlide16.xml"/><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000" b="1" dirty="0">
                <a:solidFill>
                  <a:srgbClr val="FFFFFF"/>
                </a:solidFill>
                <a:latin typeface="Cambria" pitchFamily="34" charset="0"/>
                <a:ea typeface="Cambria" pitchFamily="34" charset="-122"/>
                <a:cs typeface="Cambria" pitchFamily="34" charset="-120"/>
              </a:rPr>
              <a:t>AI Based Personal Finance Manager</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Design, methodology and progress: categorise, forecast, score and advise from a user's own transactions</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2  ·  DESIGN, METHODOLOGY AND PROGRESS</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Mekala Kalyan  23K91A05F0</a:t>
            </a:r>
            <a:endParaRPr lang="en-US" sz="1500" dirty="0"/>
          </a:p>
          <a:p>
            <a:pPr indent="0" marL="0">
              <a:buNone/>
            </a:pPr>
            <a:r>
              <a:rPr lang="en-US" sz="1500" dirty="0">
                <a:solidFill>
                  <a:srgbClr val="FFFFFF"/>
                </a:solidFill>
              </a:rPr>
              <a:t>Rajanala Sai Hemanth  23K91A05K3</a:t>
            </a:r>
            <a:endParaRPr lang="en-US" sz="1500" dirty="0"/>
          </a:p>
          <a:p>
            <a:pPr indent="0" marL="0">
              <a:buNone/>
            </a:pPr>
            <a:r>
              <a:rPr lang="en-US" sz="1500" dirty="0">
                <a:solidFill>
                  <a:srgbClr val="FFFFFF"/>
                </a:solidFill>
              </a:rPr>
              <a:t>Middala Surya Teja Reddy  23K91A05F2</a:t>
            </a:r>
            <a:endParaRPr lang="en-US" sz="1500" dirty="0"/>
          </a:p>
          <a:p>
            <a:pPr indent="0" marL="0">
              <a:buNone/>
            </a:pPr>
            <a:r>
              <a:rPr lang="en-US" sz="1500" dirty="0">
                <a:solidFill>
                  <a:srgbClr val="FFFFFF"/>
                </a:solidFill>
              </a:rPr>
              <a:t>Manga Akash  23K91A05E5</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N Padmavathi,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C11 (CSE-C)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Recap and architecture</a:t>
            </a:r>
          </a:p>
        </p:txBody>
      </p:sp>
      <p:sp>
        <p:nvSpPr>
          <p:cNvPr id="29" name="Rounded Rectangle 28"/>
          <p:cNvSpPr/>
          <p:nvPr/>
        </p:nvSpPr>
        <p:spPr>
          <a:xfrm>
            <a:off x="3387852" y="14173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616452"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3616452" y="2075688"/>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Methodology and data</a:t>
            </a:r>
          </a:p>
        </p:txBody>
      </p:sp>
      <p:sp>
        <p:nvSpPr>
          <p:cNvPr id="32" name="Rounded Rectangle 31"/>
          <p:cNvSpPr/>
          <p:nvPr/>
        </p:nvSpPr>
        <p:spPr>
          <a:xfrm>
            <a:off x="6227064" y="14173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55664"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6455664" y="2075688"/>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Import and preprocessing</a:t>
            </a:r>
          </a:p>
        </p:txBody>
      </p:sp>
      <p:sp>
        <p:nvSpPr>
          <p:cNvPr id="35" name="Rounded Rectangle 34"/>
          <p:cNvSpPr/>
          <p:nvPr/>
        </p:nvSpPr>
        <p:spPr>
          <a:xfrm>
            <a:off x="9066276" y="14173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294876" y="15453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9294876" y="2075688"/>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Models and configuration</a:t>
            </a:r>
          </a:p>
        </p:txBody>
      </p:sp>
      <p:sp>
        <p:nvSpPr>
          <p:cNvPr id="38" name="Rounded Rectangle 37"/>
          <p:cNvSpPr/>
          <p:nvPr/>
        </p:nvSpPr>
        <p:spPr>
          <a:xfrm>
            <a:off x="548640" y="30175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777240" y="3675887"/>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Decision logic and data flow</a:t>
            </a:r>
          </a:p>
        </p:txBody>
      </p:sp>
      <p:sp>
        <p:nvSpPr>
          <p:cNvPr id="41" name="Rounded Rectangle 40"/>
          <p:cNvSpPr/>
          <p:nvPr/>
        </p:nvSpPr>
        <p:spPr>
          <a:xfrm>
            <a:off x="3387852" y="30175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3616452"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3616452" y="3675887"/>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Database, UML, technology</a:t>
            </a:r>
          </a:p>
        </p:txBody>
      </p:sp>
      <p:sp>
        <p:nvSpPr>
          <p:cNvPr id="44" name="Rounded Rectangle 43"/>
          <p:cNvSpPr/>
          <p:nvPr/>
        </p:nvSpPr>
        <p:spPr>
          <a:xfrm>
            <a:off x="6227064" y="30175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55664" y="31455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6455664" y="3675887"/>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Implementation progress</a:t>
            </a:r>
          </a:p>
        </p:txBody>
      </p:sp>
      <p:sp>
        <p:nvSpPr>
          <p:cNvPr id="47" name="Rounded Rectangle 46"/>
          <p:cNvSpPr/>
          <p:nvPr/>
        </p:nvSpPr>
        <p:spPr>
          <a:xfrm>
            <a:off x="9066276" y="30175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294876"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9294876" y="3675887"/>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Preliminary results</a:t>
            </a:r>
          </a:p>
        </p:txBody>
      </p:sp>
      <p:sp>
        <p:nvSpPr>
          <p:cNvPr id="50" name="Rounded Rectangle 49"/>
          <p:cNvSpPr/>
          <p:nvPr/>
        </p:nvSpPr>
        <p:spPr>
          <a:xfrm>
            <a:off x="548640" y="46177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777240" y="5276088"/>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Output screens</a:t>
            </a:r>
          </a:p>
        </p:txBody>
      </p:sp>
      <p:sp>
        <p:nvSpPr>
          <p:cNvPr id="53" name="Rounded Rectangle 52"/>
          <p:cNvSpPr/>
          <p:nvPr/>
        </p:nvSpPr>
        <p:spPr>
          <a:xfrm>
            <a:off x="3387852" y="46177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3616452" y="47457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10</a:t>
            </a:r>
          </a:p>
        </p:txBody>
      </p:sp>
      <p:sp>
        <p:nvSpPr>
          <p:cNvPr id="55" name="TextBox 54"/>
          <p:cNvSpPr txBox="1"/>
          <p:nvPr/>
        </p:nvSpPr>
        <p:spPr>
          <a:xfrm>
            <a:off x="3616452" y="5276088"/>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Testing</a:t>
            </a:r>
          </a:p>
        </p:txBody>
      </p:sp>
      <p:sp>
        <p:nvSpPr>
          <p:cNvPr id="56" name="Rounded Rectangle 55"/>
          <p:cNvSpPr/>
          <p:nvPr/>
        </p:nvSpPr>
        <p:spPr>
          <a:xfrm>
            <a:off x="6227064" y="46177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455664"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11</a:t>
            </a:r>
          </a:p>
        </p:txBody>
      </p:sp>
      <p:sp>
        <p:nvSpPr>
          <p:cNvPr id="58" name="TextBox 57"/>
          <p:cNvSpPr txBox="1"/>
          <p:nvPr/>
        </p:nvSpPr>
        <p:spPr>
          <a:xfrm>
            <a:off x="6455664" y="5276088"/>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Challenges</a:t>
            </a:r>
          </a:p>
        </p:txBody>
      </p:sp>
      <p:sp>
        <p:nvSpPr>
          <p:cNvPr id="59" name="Rounded Rectangle 58"/>
          <p:cNvSpPr/>
          <p:nvPr/>
        </p:nvSpPr>
        <p:spPr>
          <a:xfrm>
            <a:off x="9066276" y="46177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9294876"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12</a:t>
            </a:r>
          </a:p>
        </p:txBody>
      </p:sp>
      <p:sp>
        <p:nvSpPr>
          <p:cNvPr id="61" name="TextBox 60"/>
          <p:cNvSpPr txBox="1"/>
          <p:nvPr/>
        </p:nvSpPr>
        <p:spPr>
          <a:xfrm>
            <a:off x="9294876" y="5276088"/>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Recap: problem and proposed system</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463040"/>
            <a:ext cx="3520440" cy="4206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Problem</a:t>
            </a:r>
          </a:p>
        </p:txBody>
      </p:sp>
      <p:sp>
        <p:nvSpPr>
          <p:cNvPr id="29" name="TextBox 28"/>
          <p:cNvSpPr txBox="1"/>
          <p:nvPr/>
        </p:nvSpPr>
        <p:spPr>
          <a:xfrm>
            <a:off x="749808" y="2331720"/>
            <a:ext cx="3118104" cy="3200399"/>
          </a:xfrm>
          <a:prstGeom prst="rect">
            <a:avLst/>
          </a:prstGeom>
          <a:noFill/>
        </p:spPr>
        <p:txBody>
          <a:bodyPr wrap="square" lIns="0" rIns="0" tIns="0" bIns="0" anchor="t">
            <a:spAutoFit/>
          </a:bodyPr>
          <a:lstStyle/>
          <a:p>
            <a:pPr algn="l">
              <a:spcAft>
                <a:spcPts val="400"/>
              </a:spcAft>
            </a:pPr>
            <a:r>
              <a:rPr sz="1700" b="0" i="0">
                <a:solidFill>
                  <a:srgbClr val="475569"/>
                </a:solidFill>
              </a:rPr>
              <a:t>Manual expense recording is tedious and abandoned. Apps report past spending but do not forecast. Generic advice ignores the person's own income and commitments.</a:t>
            </a:r>
          </a:p>
        </p:txBody>
      </p:sp>
      <p:sp>
        <p:nvSpPr>
          <p:cNvPr id="30" name="Rounded Rectangle 29"/>
          <p:cNvSpPr/>
          <p:nvPr/>
        </p:nvSpPr>
        <p:spPr>
          <a:xfrm>
            <a:off x="4334255" y="1463040"/>
            <a:ext cx="3520440" cy="4206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Proposed system</a:t>
            </a:r>
          </a:p>
        </p:txBody>
      </p:sp>
      <p:sp>
        <p:nvSpPr>
          <p:cNvPr id="33" name="TextBox 32"/>
          <p:cNvSpPr txBox="1"/>
          <p:nvPr/>
        </p:nvSpPr>
        <p:spPr>
          <a:xfrm>
            <a:off x="4535423" y="2331720"/>
            <a:ext cx="3118104" cy="3200399"/>
          </a:xfrm>
          <a:prstGeom prst="rect">
            <a:avLst/>
          </a:prstGeom>
          <a:noFill/>
        </p:spPr>
        <p:txBody>
          <a:bodyPr wrap="square" lIns="0" rIns="0" tIns="0" bIns="0" anchor="t">
            <a:spAutoFit/>
          </a:bodyPr>
          <a:lstStyle/>
          <a:p>
            <a:pPr algn="l">
              <a:spcAft>
                <a:spcPts val="400"/>
              </a:spcAft>
            </a:pPr>
            <a:r>
              <a:rPr sz="1700" b="0" i="0">
                <a:solidFill>
                  <a:srgbClr val="475569"/>
                </a:solidFill>
              </a:rPr>
              <a:t>FINJARVIS: users record or import transactions; a TF-IDF and logistic-regression model labels them; a linear trend forecasts next month; six weighted components give a 0-100 health score; an assistant answers from the user's own data.</a:t>
            </a:r>
          </a:p>
        </p:txBody>
      </p:sp>
      <p:sp>
        <p:nvSpPr>
          <p:cNvPr id="34" name="Rounded Rectangle 33"/>
          <p:cNvSpPr/>
          <p:nvPr/>
        </p:nvSpPr>
        <p:spPr>
          <a:xfrm>
            <a:off x="8119871" y="1463040"/>
            <a:ext cx="3520440" cy="4206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B</a:t>
            </a:r>
          </a:p>
        </p:txBody>
      </p:sp>
      <p:sp>
        <p:nvSpPr>
          <p:cNvPr id="36" name="TextBox 35"/>
          <p:cNvSpPr txBox="1"/>
          <p:nvPr/>
        </p:nvSpPr>
        <p:spPr>
          <a:xfrm>
            <a:off x="8961119"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Base paper and scope</a:t>
            </a:r>
          </a:p>
        </p:txBody>
      </p:sp>
      <p:sp>
        <p:nvSpPr>
          <p:cNvPr id="37" name="TextBox 36"/>
          <p:cNvSpPr txBox="1"/>
          <p:nvPr/>
        </p:nvSpPr>
        <p:spPr>
          <a:xfrm>
            <a:off x="8321040" y="2331720"/>
            <a:ext cx="3118104" cy="3200399"/>
          </a:xfrm>
          <a:prstGeom prst="rect">
            <a:avLst/>
          </a:prstGeom>
          <a:noFill/>
        </p:spPr>
        <p:txBody>
          <a:bodyPr wrap="square" lIns="0" rIns="0" tIns="0" bIns="0" anchor="t">
            <a:spAutoFit/>
          </a:bodyPr>
          <a:lstStyle/>
          <a:p>
            <a:pPr algn="l">
              <a:spcAft>
                <a:spcPts val="400"/>
              </a:spcAft>
            </a:pPr>
            <a:r>
              <a:rPr sz="1700" b="0" i="0">
                <a:solidFill>
                  <a:srgbClr val="475569"/>
                </a:solidFill>
              </a:rPr>
              <a:t>Kharat et al. [1] combine BERT, Q-learning, LSTM and Isolation Forest. We built simpler, inspectable modules. Not built: anomaly detection, reinforcement-learning budgets, LSTM/ARIMA, loan tracker, scheduler. Flask and MySQL became FastAPI and SQLite.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System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pic>
        <p:nvPicPr>
          <p:cNvPr id="26" name="Picture 25" descr="c11_r2_01.png"/>
          <p:cNvPicPr>
            <a:picLocks noChangeAspect="1"/>
          </p:cNvPicPr>
          <p:nvPr/>
        </p:nvPicPr>
        <p:blipFill>
          <a:blip r:embed="rId1"/>
          <a:stretch>
            <a:fillRect/>
          </a:stretch>
        </p:blipFill>
        <p:spPr>
          <a:xfrm>
            <a:off x="548640" y="1208772"/>
            <a:ext cx="6675120" cy="5171975"/>
          </a:xfrm>
          <a:prstGeom prst="rect">
            <a:avLst/>
          </a:prstGeom>
        </p:spPr>
      </p:pic>
      <p:sp>
        <p:nvSpPr>
          <p:cNvPr id="27" name="TextBox 26"/>
          <p:cNvSpPr txBox="1"/>
          <p:nvPr/>
        </p:nvSpPr>
        <p:spPr>
          <a:xfrm>
            <a:off x="7452360" y="1325880"/>
            <a:ext cx="4206240" cy="4937760"/>
          </a:xfrm>
          <a:prstGeom prst="rect">
            <a:avLst/>
          </a:prstGeom>
          <a:noFill/>
        </p:spPr>
        <p:txBody>
          <a:bodyPr wrap="square" lIns="0" rIns="0" tIns="0" bIns="0" anchor="t">
            <a:spAutoFit/>
          </a:bodyPr>
          <a:lstStyle/>
          <a:p>
            <a:pPr algn="l">
              <a:spcAft>
                <a:spcPts val="800"/>
              </a:spcAft>
            </a:pPr>
            <a:r>
              <a:rPr sz="1400" b="1" i="0">
                <a:solidFill>
                  <a:srgbClr val="0F172A"/>
                </a:solidFill>
              </a:rPr>
              <a:t>Layered, one database file</a:t>
            </a:r>
          </a:p>
          <a:p>
            <a:pPr algn="l" marL="256032" indent="-201168">
              <a:spcAft>
                <a:spcPts val="400"/>
              </a:spcAft>
              <a:buChar char="•"/>
            </a:pPr>
            <a:r>
              <a:rPr sz="1400" b="0" i="0">
                <a:solidFill>
                  <a:srgbClr val="0F172A"/>
                </a:solidFill>
              </a:rPr>
              <a:t>Dashboard: React 18 + Vite on port 5411, Tailwind, Recharts, TanStack Query; 13 pages.</a:t>
            </a:r>
          </a:p>
          <a:p>
            <a:pPr algn="l" marL="256032" indent="-201168">
              <a:spcAft>
                <a:spcPts val="400"/>
              </a:spcAft>
              <a:buChar char="•"/>
            </a:pPr>
            <a:r>
              <a:rPr sz="1400" b="0" i="0">
                <a:solidFill>
                  <a:srgbClr val="0F172A"/>
                </a:solidFill>
              </a:rPr>
              <a:t>API: FastAPI on port 8411, 33 routes in backend/main.py with a bearer-token dependency.</a:t>
            </a:r>
          </a:p>
          <a:p>
            <a:pPr algn="l" marL="256032" indent="-201168">
              <a:spcAft>
                <a:spcPts val="400"/>
              </a:spcAft>
              <a:buChar char="•"/>
            </a:pPr>
            <a:r>
              <a:rPr sz="1400" b="0" i="0">
                <a:solidFill>
                  <a:srgbClr val="0F172A"/>
                </a:solidFill>
              </a:rPr>
              <a:t>Services: transactions, budgets, goals, investments, analytics, assistant, reports, import.</a:t>
            </a:r>
          </a:p>
          <a:p>
            <a:pPr algn="l" marL="256032" indent="-201168">
              <a:spcAft>
                <a:spcPts val="400"/>
              </a:spcAft>
              <a:buChar char="•"/>
            </a:pPr>
            <a:r>
              <a:rPr sz="1400" b="0" i="0">
                <a:solidFill>
                  <a:srgbClr val="0F172A"/>
                </a:solidFill>
              </a:rPr>
              <a:t>ML modules: expense classifier, spending prediction, financial health.</a:t>
            </a:r>
          </a:p>
          <a:p>
            <a:pPr algn="l" marL="256032" indent="-201168">
              <a:spcAft>
                <a:spcPts val="400"/>
              </a:spcAft>
              <a:buChar char="•"/>
            </a:pPr>
            <a:r>
              <a:rPr sz="1400" b="0" i="0">
                <a:solidFill>
                  <a:srgbClr val="0F172A"/>
                </a:solidFill>
              </a:rPr>
              <a:t>Storage: SQLAlchemy over SQLite (finjarvis.db, 6 tables). The original Streamlit UI still uses the same code.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Methodology: record, categorise, analyse, advise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pic>
        <p:nvPicPr>
          <p:cNvPr id="26" name="Picture 25" descr="c11_r2_02.png"/>
          <p:cNvPicPr>
            <a:picLocks noChangeAspect="1"/>
          </p:cNvPicPr>
          <p:nvPr/>
        </p:nvPicPr>
        <p:blipFill>
          <a:blip r:embed="rId3"/>
          <a:stretch>
            <a:fillRect/>
          </a:stretch>
        </p:blipFill>
        <p:spPr>
          <a:xfrm>
            <a:off x="548640" y="1609843"/>
            <a:ext cx="6858000" cy="3912632"/>
          </a:xfrm>
          <a:prstGeom prst="rect">
            <a:avLst/>
          </a:prstGeom>
        </p:spPr>
      </p:pic>
      <p:sp>
        <p:nvSpPr>
          <p:cNvPr id="27" name="Rounded Rectangle 26"/>
          <p:cNvSpPr/>
          <p:nvPr/>
        </p:nvSpPr>
        <p:spPr>
          <a:xfrm>
            <a:off x="7635240" y="1280160"/>
            <a:ext cx="4005072"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772400" y="1344168"/>
            <a:ext cx="3749039" cy="365760"/>
          </a:xfrm>
          <a:prstGeom prst="rect">
            <a:avLst/>
          </a:prstGeom>
          <a:noFill/>
        </p:spPr>
        <p:txBody>
          <a:bodyPr wrap="square" lIns="0" rIns="0" tIns="0" bIns="0" anchor="t">
            <a:spAutoFit/>
          </a:bodyPr>
          <a:lstStyle/>
          <a:p>
            <a:pPr algn="l">
              <a:spcAft>
                <a:spcPts val="400"/>
              </a:spcAft>
            </a:pPr>
            <a:r>
              <a:rPr sz="1500" b="1" i="0">
                <a:solidFill>
                  <a:srgbClr val="0F172A"/>
                </a:solidFill>
              </a:rPr>
              <a:t>Record</a:t>
            </a:r>
          </a:p>
        </p:txBody>
      </p:sp>
      <p:sp>
        <p:nvSpPr>
          <p:cNvPr id="29" name="TextBox 28"/>
          <p:cNvSpPr txBox="1"/>
          <p:nvPr/>
        </p:nvSpPr>
        <p:spPr>
          <a:xfrm>
            <a:off x="7772400" y="1664207"/>
            <a:ext cx="3749039" cy="1097280"/>
          </a:xfrm>
          <a:prstGeom prst="rect">
            <a:avLst/>
          </a:prstGeom>
          <a:noFill/>
        </p:spPr>
        <p:txBody>
          <a:bodyPr wrap="square" lIns="0" rIns="0" tIns="0" bIns="0" anchor="t">
            <a:spAutoFit/>
          </a:bodyPr>
          <a:lstStyle/>
          <a:p>
            <a:pPr algn="l">
              <a:spcAft>
                <a:spcPts val="400"/>
              </a:spcAft>
            </a:pPr>
            <a:r>
              <a:rPr sz="1250" b="0" i="0">
                <a:solidFill>
                  <a:srgbClr val="475569"/>
                </a:solidFill>
              </a:rPr>
              <a:t>Manual entry or CSV/Excel import with preview; bad rows are skipped with a message. Auto-detect labels a description with the classifier.</a:t>
            </a:r>
          </a:p>
        </p:txBody>
      </p:sp>
      <p:sp>
        <p:nvSpPr>
          <p:cNvPr id="30" name="Rounded Rectangle 29"/>
          <p:cNvSpPr/>
          <p:nvPr/>
        </p:nvSpPr>
        <p:spPr>
          <a:xfrm>
            <a:off x="7635240" y="2907791"/>
            <a:ext cx="4005072"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72400" y="2971799"/>
            <a:ext cx="3749039" cy="365760"/>
          </a:xfrm>
          <a:prstGeom prst="rect">
            <a:avLst/>
          </a:prstGeom>
          <a:noFill/>
        </p:spPr>
        <p:txBody>
          <a:bodyPr wrap="square" lIns="0" rIns="0" tIns="0" bIns="0" anchor="t">
            <a:spAutoFit/>
          </a:bodyPr>
          <a:lstStyle/>
          <a:p>
            <a:pPr algn="l">
              <a:spcAft>
                <a:spcPts val="400"/>
              </a:spcAft>
            </a:pPr>
            <a:r>
              <a:rPr sz="1500" b="1" i="0">
                <a:solidFill>
                  <a:srgbClr val="0F172A"/>
                </a:solidFill>
              </a:rPr>
              <a:t>Analyse</a:t>
            </a:r>
          </a:p>
        </p:txBody>
      </p:sp>
      <p:sp>
        <p:nvSpPr>
          <p:cNvPr id="32" name="TextBox 31"/>
          <p:cNvSpPr txBox="1"/>
          <p:nvPr/>
        </p:nvSpPr>
        <p:spPr>
          <a:xfrm>
            <a:off x="7772400" y="3291839"/>
            <a:ext cx="3749039" cy="1097280"/>
          </a:xfrm>
          <a:prstGeom prst="rect">
            <a:avLst/>
          </a:prstGeom>
          <a:noFill/>
        </p:spPr>
        <p:txBody>
          <a:bodyPr wrap="square" lIns="0" rIns="0" tIns="0" bIns="0" anchor="t">
            <a:spAutoFit/>
          </a:bodyPr>
          <a:lstStyle/>
          <a:p>
            <a:pPr algn="l">
              <a:spcAft>
                <a:spcPts val="400"/>
              </a:spcAft>
            </a:pPr>
            <a:r>
              <a:rPr sz="1250" b="0" i="0">
                <a:solidFill>
                  <a:srgbClr val="475569"/>
                </a:solidFill>
              </a:rPr>
              <a:t>Monthly totals feed a linear-trend forecast; income, expenses, budgets, goals and holdings feed the health score.</a:t>
            </a:r>
          </a:p>
        </p:txBody>
      </p:sp>
      <p:sp>
        <p:nvSpPr>
          <p:cNvPr id="33" name="Rounded Rectangle 32"/>
          <p:cNvSpPr/>
          <p:nvPr/>
        </p:nvSpPr>
        <p:spPr>
          <a:xfrm>
            <a:off x="7635240" y="4535424"/>
            <a:ext cx="4005072"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772400" y="4599432"/>
            <a:ext cx="3749039" cy="365760"/>
          </a:xfrm>
          <a:prstGeom prst="rect">
            <a:avLst/>
          </a:prstGeom>
          <a:noFill/>
        </p:spPr>
        <p:txBody>
          <a:bodyPr wrap="square" lIns="0" rIns="0" tIns="0" bIns="0" anchor="t">
            <a:spAutoFit/>
          </a:bodyPr>
          <a:lstStyle/>
          <a:p>
            <a:pPr algn="l">
              <a:spcAft>
                <a:spcPts val="400"/>
              </a:spcAft>
            </a:pPr>
            <a:r>
              <a:rPr sz="1500" b="1" i="0">
                <a:solidFill>
                  <a:srgbClr val="0F172A"/>
                </a:solidFill>
              </a:rPr>
              <a:t>Advise</a:t>
            </a:r>
          </a:p>
        </p:txBody>
      </p:sp>
      <p:sp>
        <p:nvSpPr>
          <p:cNvPr id="35" name="TextBox 34"/>
          <p:cNvSpPr txBox="1"/>
          <p:nvPr/>
        </p:nvSpPr>
        <p:spPr>
          <a:xfrm>
            <a:off x="7772400" y="4919472"/>
            <a:ext cx="3749039" cy="1097280"/>
          </a:xfrm>
          <a:prstGeom prst="rect">
            <a:avLst/>
          </a:prstGeom>
          <a:noFill/>
        </p:spPr>
        <p:txBody>
          <a:bodyPr wrap="square" lIns="0" rIns="0" tIns="0" bIns="0" anchor="t">
            <a:spAutoFit/>
          </a:bodyPr>
          <a:lstStyle/>
          <a:p>
            <a:pPr algn="l">
              <a:spcAft>
                <a:spcPts val="400"/>
              </a:spcAft>
            </a:pPr>
            <a:r>
              <a:rPr sz="1250" b="0" i="0">
                <a:solidFill>
                  <a:srgbClr val="475569"/>
                </a:solidFill>
              </a:rPr>
              <a:t>Budget alerts at 75, 90 and 100 % (checked when the dashboard or notifications are opened); rule-routed answers from the user's data; PDF, Excel and CSV reports.</a:t>
            </a:r>
          </a:p>
        </p:txBody>
      </p:sp>
      <p:sp>
        <p:nvSpPr>
          <p:cNvPr id="36" name="TextBox 35"/>
          <p:cNvSpPr txBox="1"/>
          <p:nvPr/>
        </p:nvSpPr>
        <p:spPr>
          <a:xfrm>
            <a:off x="548640" y="5943600"/>
            <a:ext cx="6858000" cy="411480"/>
          </a:xfrm>
          <a:prstGeom prst="rect">
            <a:avLst/>
          </a:prstGeom>
          <a:noFill/>
        </p:spPr>
        <p:txBody>
          <a:bodyPr wrap="square" lIns="0" rIns="0" tIns="0" bIns="0" anchor="t">
            <a:spAutoFit/>
          </a:bodyPr>
          <a:lstStyle/>
          <a:p>
            <a:pPr algn="ctr">
              <a:spcAft>
                <a:spcPts val="400"/>
              </a:spcAft>
            </a:pPr>
            <a:r>
              <a:rPr sz="1200" b="0" i="1">
                <a:solidFill>
                  <a:srgbClr val="475569"/>
                </a:solidFill>
              </a:rPr>
              <a:t>High-level workflow as implemented in the API.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a 51-example seed list; no public corpus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
        <p:nvSpPr>
          <p:cNvPr id="26" name="Rounded Rectangle 25"/>
          <p:cNvSpPr/>
          <p:nvPr/>
        </p:nvSpPr>
        <p:spPr>
          <a:xfrm>
            <a:off x="548640"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51</a:t>
            </a:r>
          </a:p>
        </p:txBody>
      </p:sp>
      <p:sp>
        <p:nvSpPr>
          <p:cNvPr id="29" name="TextBox 28"/>
          <p:cNvSpPr txBox="1"/>
          <p:nvPr/>
        </p:nvSpPr>
        <p:spPr>
          <a:xfrm>
            <a:off x="749808" y="1943100"/>
            <a:ext cx="2331720" cy="434340"/>
          </a:xfrm>
          <a:prstGeom prst="rect">
            <a:avLst/>
          </a:prstGeom>
          <a:noFill/>
        </p:spPr>
        <p:txBody>
          <a:bodyPr wrap="square" lIns="0" rIns="0" tIns="0" bIns="0" anchor="t">
            <a:spAutoFit/>
          </a:bodyPr>
          <a:lstStyle/>
          <a:p>
            <a:pPr algn="l">
              <a:spcAft>
                <a:spcPts val="400"/>
              </a:spcAft>
            </a:pPr>
            <a:r>
              <a:rPr sz="1150" b="0" i="0">
                <a:solidFill>
                  <a:srgbClr val="475569"/>
                </a:solidFill>
              </a:rPr>
              <a:t>training descriptions in 11 categories (3 to 6 each)</a:t>
            </a:r>
          </a:p>
        </p:txBody>
      </p:sp>
      <p:sp>
        <p:nvSpPr>
          <p:cNvPr id="30" name="Rounded Rectangle 29"/>
          <p:cNvSpPr/>
          <p:nvPr/>
        </p:nvSpPr>
        <p:spPr>
          <a:xfrm>
            <a:off x="3374136"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8016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198</a:t>
            </a:r>
          </a:p>
        </p:txBody>
      </p:sp>
      <p:sp>
        <p:nvSpPr>
          <p:cNvPr id="33" name="TextBox 32"/>
          <p:cNvSpPr txBox="1"/>
          <p:nvPr/>
        </p:nvSpPr>
        <p:spPr>
          <a:xfrm>
            <a:off x="3575304" y="1943100"/>
            <a:ext cx="2331720" cy="434340"/>
          </a:xfrm>
          <a:prstGeom prst="rect">
            <a:avLst/>
          </a:prstGeom>
          <a:noFill/>
        </p:spPr>
        <p:txBody>
          <a:bodyPr wrap="square" lIns="0" rIns="0" tIns="0" bIns="0" anchor="t">
            <a:spAutoFit/>
          </a:bodyPr>
          <a:lstStyle/>
          <a:p>
            <a:pPr algn="l">
              <a:spcAft>
                <a:spcPts val="400"/>
              </a:spcAft>
            </a:pPr>
            <a:r>
              <a:rPr sz="1150" b="0" i="0">
                <a:solidFill>
                  <a:srgbClr val="475569"/>
                </a:solidFill>
              </a:rPr>
              <a:t>team-written probe descriptions, 3 tiers of 66, never used for training</a:t>
            </a:r>
          </a:p>
        </p:txBody>
      </p:sp>
      <p:sp>
        <p:nvSpPr>
          <p:cNvPr id="34" name="Rounded Rectangle 33"/>
          <p:cNvSpPr/>
          <p:nvPr/>
        </p:nvSpPr>
        <p:spPr>
          <a:xfrm>
            <a:off x="6199631"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8016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34</a:t>
            </a:r>
          </a:p>
        </p:txBody>
      </p:sp>
      <p:sp>
        <p:nvSpPr>
          <p:cNvPr id="37" name="TextBox 36"/>
          <p:cNvSpPr txBox="1"/>
          <p:nvPr/>
        </p:nvSpPr>
        <p:spPr>
          <a:xfrm>
            <a:off x="6400799" y="1943100"/>
            <a:ext cx="2331720" cy="434340"/>
          </a:xfrm>
          <a:prstGeom prst="rect">
            <a:avLst/>
          </a:prstGeom>
          <a:noFill/>
        </p:spPr>
        <p:txBody>
          <a:bodyPr wrap="square" lIns="0" rIns="0" tIns="0" bIns="0" anchor="t">
            <a:spAutoFit/>
          </a:bodyPr>
          <a:lstStyle/>
          <a:p>
            <a:pPr algn="l">
              <a:spcAft>
                <a:spcPts val="400"/>
              </a:spcAft>
            </a:pPr>
            <a:r>
              <a:rPr sz="1150" b="0" i="0">
                <a:solidFill>
                  <a:srgbClr val="475569"/>
                </a:solidFill>
              </a:rPr>
              <a:t>rows in the bundled sample CSV (fictional, Jun-Aug 2026)</a:t>
            </a:r>
          </a:p>
        </p:txBody>
      </p:sp>
      <p:sp>
        <p:nvSpPr>
          <p:cNvPr id="38" name="Rounded Rectangle 37"/>
          <p:cNvSpPr/>
          <p:nvPr/>
        </p:nvSpPr>
        <p:spPr>
          <a:xfrm>
            <a:off x="9025128"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8016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68</a:t>
            </a:r>
          </a:p>
        </p:txBody>
      </p:sp>
      <p:sp>
        <p:nvSpPr>
          <p:cNvPr id="41" name="TextBox 40"/>
          <p:cNvSpPr txBox="1"/>
          <p:nvPr/>
        </p:nvSpPr>
        <p:spPr>
          <a:xfrm>
            <a:off x="9226296" y="1943100"/>
            <a:ext cx="2331720" cy="434340"/>
          </a:xfrm>
          <a:prstGeom prst="rect">
            <a:avLst/>
          </a:prstGeom>
          <a:noFill/>
        </p:spPr>
        <p:txBody>
          <a:bodyPr wrap="square" lIns="0" rIns="0" tIns="0" bIns="0" anchor="t">
            <a:spAutoFit/>
          </a:bodyPr>
          <a:lstStyle/>
          <a:p>
            <a:pPr algn="l">
              <a:spcAft>
                <a:spcPts val="400"/>
              </a:spcAft>
            </a:pPr>
            <a:r>
              <a:rPr sz="1150" b="0" i="0">
                <a:solidFill>
                  <a:srgbClr val="475569"/>
                </a:solidFill>
              </a:rPr>
              <a:t>transactions in the demo account (6 months, synthetic)</a:t>
            </a:r>
          </a:p>
        </p:txBody>
      </p:sp>
      <p:graphicFrame>
        <p:nvGraphicFramePr>
          <p:cNvPr id="42" name="Table 41"/>
          <p:cNvGraphicFramePr>
            <a:graphicFrameLocks noGrp="1"/>
          </p:cNvGraphicFramePr>
          <p:nvPr/>
        </p:nvGraphicFramePr>
        <p:xfrm>
          <a:off x="548640" y="2697480"/>
          <a:ext cx="11091672" cy="3474720"/>
        </p:xfrm>
        <a:graphic>
          <a:graphicData uri="http://schemas.openxmlformats.org/drawingml/2006/table">
            <a:tbl>
              <a:tblPr firstRow="0" bandRow="0">
                <a:tableStyleId>{5C22544A-7EE6-4342-B048-85BDC9FD1C3A}</a:tableStyleId>
              </a:tblPr>
              <a:tblGrid>
                <a:gridCol w="1097280"/>
                <a:gridCol w="5120640"/>
                <a:gridCol w="4873752"/>
              </a:tblGrid>
              <a:tr h="694944">
                <a:tc>
                  <a:txBody>
                    <a:bodyPr wrap="square"/>
                    <a:lstStyle/>
                    <a:p>
                      <a:pPr algn="ctr"/>
                      <a:r>
                        <a:rPr sz="1200" b="1">
                          <a:solidFill>
                            <a:srgbClr val="FFFFFF"/>
                          </a:solidFill>
                        </a:rPr>
                        <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Seed list (ml/expense_classifier.py)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Probe set (scripts/probe_data.py)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94944">
                <a:tc>
                  <a:txBody>
                    <a:bodyPr wrap="square"/>
                    <a:lstStyle/>
                    <a:p>
                      <a:pPr algn="l"/>
                      <a:r>
                        <a:rPr sz="1200" b="1">
                          <a:solidFill>
                            <a:srgbClr val="0F172A"/>
                          </a:solidFill>
                        </a:rPr>
                        <a:t>Origin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51 short English, Indian-merchant style phrases written by the project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198 descriptions written by the team before scoring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94944">
                <a:tc>
                  <a:txBody>
                    <a:bodyPr wrap="square"/>
                    <a:lstStyle/>
                    <a:p>
                      <a:pPr algn="l"/>
                      <a:r>
                        <a:rPr sz="1200" b="1">
                          <a:solidFill>
                            <a:srgbClr val="0F172A"/>
                          </a:solidFill>
                        </a:rPr>
                        <a:t>Tiers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Food 6, Transport 6, Entertainment 6, Bills 5, Shopping 5, Education 5, Healthcare 5, Travel 4, Rent 3, Investments 3, Salary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A seed-like wording; B upper-case UPI/POS/NEFT narrations with a seed keyword; C unseen merchants and phrases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94944">
                <a:tc>
                  <a:txBody>
                    <a:bodyPr wrap="square"/>
                    <a:lstStyle/>
                    <a:p>
                      <a:pPr algn="l"/>
                      <a:r>
                        <a:rPr sz="1200" b="1">
                          <a:solidFill>
                            <a:srgbClr val="0F172A"/>
                          </a:solidFill>
                        </a:rPr>
                        <a:t>Use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the only data the shipped model is trained on (no train/test split exists in the app)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evaluation only; not an independent benchmark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94944">
                <a:tc>
                  <a:txBody>
                    <a:bodyPr wrap="square"/>
                    <a:lstStyle/>
                    <a:p>
                      <a:pPr algn="l"/>
                      <a:r>
                        <a:rPr sz="1200" b="1">
                          <a:solidFill>
                            <a:srgbClr val="0F172A"/>
                          </a:solidFill>
                        </a:rPr>
                        <a:t>Licence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own work; the demo data is fictional and contains no real personal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own 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Import and data preparation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25880"/>
            <a:ext cx="1680972" cy="91440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Read CSV / Excel</a:t>
            </a:r>
          </a:p>
        </p:txBody>
      </p:sp>
      <p:sp>
        <p:nvSpPr>
          <p:cNvPr id="27" name="Right Arrow 26"/>
          <p:cNvSpPr/>
          <p:nvPr/>
        </p:nvSpPr>
        <p:spPr>
          <a:xfrm>
            <a:off x="222961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43078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Check 5 columns</a:t>
            </a:r>
          </a:p>
        </p:txBody>
      </p:sp>
      <p:sp>
        <p:nvSpPr>
          <p:cNvPr id="29" name="Right Arrow 28"/>
          <p:cNvSpPr/>
          <p:nvPr/>
        </p:nvSpPr>
        <p:spPr>
          <a:xfrm>
            <a:off x="411175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31292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Parse date and amount</a:t>
            </a:r>
          </a:p>
        </p:txBody>
      </p:sp>
      <p:sp>
        <p:nvSpPr>
          <p:cNvPr id="31" name="Right Arrow 30"/>
          <p:cNvSpPr/>
          <p:nvPr/>
        </p:nvSpPr>
        <p:spPr>
          <a:xfrm>
            <a:off x="599389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9506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Skip bad rows</a:t>
            </a:r>
          </a:p>
        </p:txBody>
      </p:sp>
      <p:sp>
        <p:nvSpPr>
          <p:cNvPr id="33" name="Right Arrow 32"/>
          <p:cNvSpPr/>
          <p:nvPr/>
        </p:nvSpPr>
        <p:spPr>
          <a:xfrm>
            <a:off x="787603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7200" y="1325880"/>
            <a:ext cx="1680972" cy="91440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Blank category: classifier</a:t>
            </a:r>
          </a:p>
        </p:txBody>
      </p:sp>
      <p:sp>
        <p:nvSpPr>
          <p:cNvPr id="35" name="Right Arrow 34"/>
          <p:cNvSpPr/>
          <p:nvPr/>
        </p:nvSpPr>
        <p:spPr>
          <a:xfrm>
            <a:off x="975817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959340" y="1325880"/>
            <a:ext cx="1680972" cy="91440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Commit rows</a:t>
            </a:r>
          </a:p>
        </p:txBody>
      </p:sp>
      <p:sp>
        <p:nvSpPr>
          <p:cNvPr id="37" name="Rounded Rectangle 36"/>
          <p:cNvSpPr/>
          <p:nvPr/>
        </p:nvSpPr>
        <p:spPr>
          <a:xfrm>
            <a:off x="548640" y="2560320"/>
            <a:ext cx="544068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48640" y="256032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49808" y="2651760"/>
            <a:ext cx="5166360" cy="628650"/>
          </a:xfrm>
          <a:prstGeom prst="rect">
            <a:avLst/>
          </a:prstGeom>
          <a:noFill/>
        </p:spPr>
        <p:txBody>
          <a:bodyPr wrap="square" lIns="0" rIns="0" tIns="0" bIns="0" anchor="ctr">
            <a:spAutoFit/>
          </a:bodyPr>
          <a:lstStyle/>
          <a:p>
            <a:pPr algn="l">
              <a:spcAft>
                <a:spcPts val="400"/>
              </a:spcAft>
            </a:pPr>
            <a:r>
              <a:rPr sz="2800" b="1" i="0">
                <a:solidFill>
                  <a:srgbClr val="0F172A"/>
                </a:solidFill>
              </a:rPr>
              <a:t>84 / 84</a:t>
            </a:r>
          </a:p>
        </p:txBody>
      </p:sp>
      <p:sp>
        <p:nvSpPr>
          <p:cNvPr id="40" name="TextBox 39"/>
          <p:cNvSpPr txBox="1"/>
          <p:nvPr/>
        </p:nvSpPr>
        <p:spPr>
          <a:xfrm>
            <a:off x="749808" y="3223260"/>
            <a:ext cx="5166360" cy="434340"/>
          </a:xfrm>
          <a:prstGeom prst="rect">
            <a:avLst/>
          </a:prstGeom>
          <a:noFill/>
        </p:spPr>
        <p:txBody>
          <a:bodyPr wrap="square" lIns="0" rIns="0" tIns="0" bIns="0" anchor="t">
            <a:spAutoFit/>
          </a:bodyPr>
          <a:lstStyle/>
          <a:p>
            <a:pPr algn="l">
              <a:spcAft>
                <a:spcPts val="400"/>
              </a:spcAft>
            </a:pPr>
            <a:r>
              <a:rPr sz="1150" b="0" i="0">
                <a:solidFill>
                  <a:srgbClr val="475569"/>
                </a:solidFill>
              </a:rPr>
              <a:t>injected bad rows skipped (bad dates, negative or non-numeric amounts, blank descriptions) in a 1,000-row test file</a:t>
            </a:r>
          </a:p>
        </p:txBody>
      </p:sp>
      <p:sp>
        <p:nvSpPr>
          <p:cNvPr id="41" name="Rounded Rectangle 40"/>
          <p:cNvSpPr/>
          <p:nvPr/>
        </p:nvSpPr>
        <p:spPr>
          <a:xfrm>
            <a:off x="6217920" y="2560320"/>
            <a:ext cx="544068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17920" y="256032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419088" y="2651760"/>
            <a:ext cx="5166360" cy="628650"/>
          </a:xfrm>
          <a:prstGeom prst="rect">
            <a:avLst/>
          </a:prstGeom>
          <a:noFill/>
        </p:spPr>
        <p:txBody>
          <a:bodyPr wrap="square" lIns="0" rIns="0" tIns="0" bIns="0" anchor="ctr">
            <a:spAutoFit/>
          </a:bodyPr>
          <a:lstStyle/>
          <a:p>
            <a:pPr algn="l">
              <a:spcAft>
                <a:spcPts val="400"/>
              </a:spcAft>
            </a:pPr>
            <a:r>
              <a:rPr sz="2800" b="1" i="0">
                <a:solidFill>
                  <a:srgbClr val="0F172A"/>
                </a:solidFill>
              </a:rPr>
              <a:t>35.2 rows/s</a:t>
            </a:r>
          </a:p>
        </p:txBody>
      </p:sp>
      <p:sp>
        <p:nvSpPr>
          <p:cNvPr id="44" name="TextBox 43"/>
          <p:cNvSpPr txBox="1"/>
          <p:nvPr/>
        </p:nvSpPr>
        <p:spPr>
          <a:xfrm>
            <a:off x="6419088" y="3223260"/>
            <a:ext cx="5166360" cy="434340"/>
          </a:xfrm>
          <a:prstGeom prst="rect">
            <a:avLst/>
          </a:prstGeom>
          <a:noFill/>
        </p:spPr>
        <p:txBody>
          <a:bodyPr wrap="square" lIns="0" rIns="0" tIns="0" bIns="0" anchor="t">
            <a:spAutoFit/>
          </a:bodyPr>
          <a:lstStyle/>
          <a:p>
            <a:pPr algn="l">
              <a:spcAft>
                <a:spcPts val="400"/>
              </a:spcAft>
            </a:pPr>
            <a:r>
              <a:rPr sz="1150" b="0" i="0">
                <a:solidFill>
                  <a:srgbClr val="475569"/>
                </a:solidFill>
              </a:rPr>
              <a:t>commit speed: 916 rows in 26.0 s, one database session per row</a:t>
            </a:r>
          </a:p>
        </p:txBody>
      </p:sp>
      <p:sp>
        <p:nvSpPr>
          <p:cNvPr id="45" name="TextBox 44"/>
          <p:cNvSpPr txBox="1"/>
          <p:nvPr/>
        </p:nvSpPr>
        <p:spPr>
          <a:xfrm>
            <a:off x="548640" y="3931920"/>
            <a:ext cx="11091672" cy="2468880"/>
          </a:xfrm>
          <a:prstGeom prst="rect">
            <a:avLst/>
          </a:prstGeom>
          <a:noFill/>
        </p:spPr>
        <p:txBody>
          <a:bodyPr wrap="square" lIns="0" rIns="0" tIns="0" bIns="0" anchor="t">
            <a:spAutoFit/>
          </a:bodyPr>
          <a:lstStyle/>
          <a:p>
            <a:pPr algn="l" marL="256032" indent="-201168">
              <a:spcAft>
                <a:spcPts val="800"/>
              </a:spcAft>
              <a:buChar char="•"/>
            </a:pPr>
            <a:r>
              <a:rPr sz="1500" b="0" i="0">
                <a:solidFill>
                  <a:srgbClr val="0F172A"/>
                </a:solidFill>
              </a:rPr>
              <a:t>Required columns: date, description, amount, category, type; each skipped row gets a 'Row n' warning, so the user sees what was dropped.</a:t>
            </a:r>
          </a:p>
          <a:p>
            <a:pPr algn="l" marL="256032" indent="-201168">
              <a:spcAft>
                <a:spcPts val="800"/>
              </a:spcAft>
              <a:buChar char="•"/>
            </a:pPr>
            <a:r>
              <a:rPr sz="1500" b="0" i="0">
                <a:solidFill>
                  <a:srgbClr val="0F172A"/>
                </a:solidFill>
              </a:rPr>
              <a:t>Unknown type becomes an expense; a blank category is labelled by the classifier (all 916 imported rows were auto-labelled in the test).</a:t>
            </a:r>
          </a:p>
          <a:p>
            <a:pPr algn="l" marL="256032" indent="-201168">
              <a:spcAft>
                <a:spcPts val="800"/>
              </a:spcAft>
              <a:buChar char="•"/>
            </a:pPr>
            <a:r>
              <a:rPr sz="1500" b="0" i="0">
                <a:solidFill>
                  <a:srgbClr val="0F172A"/>
                </a:solidFill>
              </a:rPr>
              <a:t>Sign-up rules: username 3-30 characters, password 8+ with upper, lower, digit and special character; passwords are stored as bcrypt hashes.</a:t>
            </a:r>
          </a:p>
          <a:p>
            <a:pPr algn="l" marL="256032" indent="-201168">
              <a:spcAft>
                <a:spcPts val="800"/>
              </a:spcAft>
              <a:buChar char="•"/>
            </a:pPr>
            <a:r>
              <a:rPr sz="1500" b="0" i="0">
                <a:solidFill>
                  <a:srgbClr val="0F172A"/>
                </a:solidFill>
              </a:rPr>
              <a:t>Text is lower-cased and split into word 1-2-grams by TF-IDF; there is no other cleaning, stop-word removal or SMOTE.</a:t>
            </a:r>
          </a:p>
          <a:p>
            <a:pPr algn="l" marL="256032" indent="-201168">
              <a:spcAft>
                <a:spcPts val="800"/>
              </a:spcAft>
              <a:buChar char="•"/>
            </a:pPr>
            <a:r>
              <a:rPr sz="1500" b="0" i="0">
                <a:solidFill>
                  <a:srgbClr val="0F172A"/>
                </a:solidFill>
              </a:rPr>
              <a:t>Known gap: import is slow because every row is committed in its own database session.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Models: categoriser, forecast and health score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pic>
        <p:nvPicPr>
          <p:cNvPr id="26" name="Picture 25" descr="c11_r2_11.png"/>
          <p:cNvPicPr>
            <a:picLocks noChangeAspect="1"/>
          </p:cNvPicPr>
          <p:nvPr/>
        </p:nvPicPr>
        <p:blipFill>
          <a:blip r:embed="rId1"/>
          <a:stretch>
            <a:fillRect/>
          </a:stretch>
        </p:blipFill>
        <p:spPr>
          <a:xfrm>
            <a:off x="548640" y="1201011"/>
            <a:ext cx="5486400" cy="3404416"/>
          </a:xfrm>
          <a:prstGeom prst="rect">
            <a:avLst/>
          </a:prstGeom>
        </p:spPr>
      </p:pic>
      <p:pic>
        <p:nvPicPr>
          <p:cNvPr id="27" name="Picture 26" descr="c11_r2_12.png"/>
          <p:cNvPicPr>
            <a:picLocks noChangeAspect="1"/>
          </p:cNvPicPr>
          <p:nvPr/>
        </p:nvPicPr>
        <p:blipFill>
          <a:blip r:embed="rId4"/>
          <a:stretch>
            <a:fillRect/>
          </a:stretch>
        </p:blipFill>
        <p:spPr>
          <a:xfrm>
            <a:off x="6172200" y="1192166"/>
            <a:ext cx="5486400" cy="3422107"/>
          </a:xfrm>
          <a:prstGeom prst="rect">
            <a:avLst/>
          </a:prstGeom>
        </p:spPr>
      </p:pic>
      <p:sp>
        <p:nvSpPr>
          <p:cNvPr id="28" name="Rounded Rectangle 27"/>
          <p:cNvSpPr/>
          <p:nvPr/>
        </p:nvSpPr>
        <p:spPr>
          <a:xfrm>
            <a:off x="548640" y="4846320"/>
            <a:ext cx="3520440" cy="16002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13232" y="4919472"/>
            <a:ext cx="3200400" cy="1463040"/>
          </a:xfrm>
          <a:prstGeom prst="rect">
            <a:avLst/>
          </a:prstGeom>
          <a:noFill/>
        </p:spPr>
        <p:txBody>
          <a:bodyPr wrap="square" lIns="0" rIns="0" tIns="0" bIns="0" anchor="t">
            <a:spAutoFit/>
          </a:bodyPr>
          <a:lstStyle/>
          <a:p>
            <a:pPr algn="l">
              <a:spcAft>
                <a:spcPts val="400"/>
              </a:spcAft>
            </a:pPr>
            <a:r>
              <a:rPr sz="1150" b="1" i="0">
                <a:solidFill>
                  <a:srgbClr val="0F172A"/>
                </a:solidFill>
              </a:rPr>
              <a:t>Categoriser</a:t>
            </a:r>
            <a:r>
              <a:rPr sz="1150" b="0" i="0">
                <a:solidFill>
                  <a:srgbClr val="0F172A"/>
                </a:solidFill>
              </a:rPr>
              <a:t>: TfidfVectorizer (word 1-2-grams) then LogisticRegression; a keyword table is used only if the model cannot load; the model never outputs 'Other'. A correction retrains it on the seed plus the user's history.</a:t>
            </a:r>
          </a:p>
        </p:txBody>
      </p:sp>
      <p:sp>
        <p:nvSpPr>
          <p:cNvPr id="30" name="Rounded Rectangle 29"/>
          <p:cNvSpPr/>
          <p:nvPr/>
        </p:nvSpPr>
        <p:spPr>
          <a:xfrm>
            <a:off x="4334255" y="4846320"/>
            <a:ext cx="3520440" cy="16002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498848" y="4919472"/>
            <a:ext cx="3200400" cy="1463040"/>
          </a:xfrm>
          <a:prstGeom prst="rect">
            <a:avLst/>
          </a:prstGeom>
          <a:noFill/>
        </p:spPr>
        <p:txBody>
          <a:bodyPr wrap="square" lIns="0" rIns="0" tIns="0" bIns="0" anchor="t">
            <a:spAutoFit/>
          </a:bodyPr>
          <a:lstStyle/>
          <a:p>
            <a:pPr algn="l">
              <a:spcAft>
                <a:spcPts val="400"/>
              </a:spcAft>
            </a:pPr>
            <a:r>
              <a:rPr sz="1150" b="1" i="0">
                <a:solidFill>
                  <a:srgbClr val="0F172A"/>
                </a:solidFill>
              </a:rPr>
              <a:t>Forecast</a:t>
            </a:r>
            <a:r>
              <a:rPr sz="1150" b="0" i="0">
                <a:solidFill>
                  <a:srgbClr val="0F172A"/>
                </a:solidFill>
              </a:rPr>
              <a:t>: least-squares line over monthly expense totals, clipped at 0; needs 3 months; trend label 'increasing' if the slope is above 1, 'decreasing' below -1.</a:t>
            </a:r>
          </a:p>
        </p:txBody>
      </p:sp>
      <p:sp>
        <p:nvSpPr>
          <p:cNvPr id="32" name="Rounded Rectangle 31"/>
          <p:cNvSpPr/>
          <p:nvPr/>
        </p:nvSpPr>
        <p:spPr>
          <a:xfrm>
            <a:off x="8119871" y="4846320"/>
            <a:ext cx="3520440" cy="16002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84463" y="4919472"/>
            <a:ext cx="3200400" cy="1463040"/>
          </a:xfrm>
          <a:prstGeom prst="rect">
            <a:avLst/>
          </a:prstGeom>
          <a:noFill/>
        </p:spPr>
        <p:txBody>
          <a:bodyPr wrap="square" lIns="0" rIns="0" tIns="0" bIns="0" anchor="t">
            <a:spAutoFit/>
          </a:bodyPr>
          <a:lstStyle/>
          <a:p>
            <a:pPr algn="l">
              <a:spcAft>
                <a:spcPts val="400"/>
              </a:spcAft>
            </a:pPr>
            <a:r>
              <a:rPr sz="1150" b="1" i="0">
                <a:solidFill>
                  <a:srgbClr val="0F172A"/>
                </a:solidFill>
              </a:rPr>
              <a:t>Health score</a:t>
            </a:r>
            <a:r>
              <a:rPr sz="1150" b="0" i="0">
                <a:solidFill>
                  <a:srgbClr val="0F172A"/>
                </a:solidFill>
              </a:rPr>
              <a:t>: sum of six weighted components (0.30, 0.20, 0.15, 0.15, 0.10, 0.10) clipped to 0-100, mapped to five rating bands with the weakest area named.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Model and experiment configuration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graphicFrame>
        <p:nvGraphicFramePr>
          <p:cNvPr id="26" name="Table 25"/>
          <p:cNvGraphicFramePr>
            <a:graphicFrameLocks noGrp="1"/>
          </p:cNvGraphicFramePr>
          <p:nvPr/>
        </p:nvGraphicFramePr>
        <p:xfrm>
          <a:off x="548640" y="1325880"/>
          <a:ext cx="11091672" cy="4828032"/>
        </p:xfrm>
        <a:graphic>
          <a:graphicData uri="http://schemas.openxmlformats.org/drawingml/2006/table">
            <a:tbl>
              <a:tblPr firstRow="0" bandRow="0">
                <a:tableStyleId>{5C22544A-7EE6-4342-B048-85BDC9FD1C3A}</a:tableStyleId>
              </a:tblPr>
              <a:tblGrid>
                <a:gridCol w="1828800"/>
                <a:gridCol w="9262872"/>
              </a:tblGrid>
              <a:tr h="603504">
                <a:tc>
                  <a:txBody>
                    <a:bodyPr wrap="square"/>
                    <a:lstStyle/>
                    <a:p>
                      <a:pPr algn="ctr"/>
                      <a:r>
                        <a:rPr sz="1250" b="1">
                          <a:solidFill>
                            <a:srgbClr val="FFFFFF"/>
                          </a:solidFill>
                        </a:rPr>
                        <a:t>Setting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Value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03504">
                <a:tc>
                  <a:txBody>
                    <a:bodyPr wrap="square"/>
                    <a:lstStyle/>
                    <a:p>
                      <a:pPr algn="l"/>
                      <a:r>
                        <a:rPr sz="1250" b="1">
                          <a:solidFill>
                            <a:srgbClr val="0F172A"/>
                          </a:solidFill>
                        </a:rPr>
                        <a:t>Categoriser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TfidfVectorizer(ngram_range=(1,2), min_df=1) + LogisticRegression(max_iter=1000, C=1); 51 seed examples; retrain 5.2 ms; predict 0.84 ms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250" b="1">
                          <a:solidFill>
                            <a:srgbClr val="0F172A"/>
                          </a:solidFill>
                        </a:rPr>
                        <a:t>Forecast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numpy.polyfit degree 1 over monthly expense totals; MIN_MONTHS_REQUIRED = 3; recent average = mean of the last 3 months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250" b="1">
                          <a:solidFill>
                            <a:srgbClr val="0F172A"/>
                          </a:solidFill>
                        </a:rPr>
                        <a:t>Health score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weights: savings rate 0.30, expense ratio 0.20, budget adherence 0.15, emergency fund 0.15, diversification 0.10, goal progress 0.10; bands 90 / 75 / 60 / 40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250" b="1">
                          <a:solidFill>
                            <a:srgbClr val="0F172A"/>
                          </a:solidFill>
                        </a:rPr>
                        <a:t>Budget alerts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75 %, 90 % and 100 % of a monthly category budget; checked when GET /api/dashboard or /api/notifications is read (no timer); one notification per identical message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250" b="1">
                          <a:solidFill>
                            <a:srgbClr val="0F172A"/>
                          </a:solidFill>
                        </a:rPr>
                        <a:t>Evaluation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198-description probe set; leave-one-out on the seed; rolling-origin backtest on 6 months; 2,000-user synthetic simulation per setting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250" b="1">
                          <a:solidFill>
                            <a:srgbClr val="0F172A"/>
                          </a:solidFill>
                        </a:rPr>
                        <a:t>Tests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pytest (38 tests) and a 49-check smoke test on a throw-away database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250" b="1">
                          <a:solidFill>
                            <a:srgbClr val="0F172A"/>
                          </a:solidFill>
                        </a:rPr>
                        <a:t>Machine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Intel Core i5-12500 (6 cores), 15.7 GB RAM, Windows 11, Python 3.11.9, scikit-learn 1.9.1, no GPU</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Decision logic: categorise a transaction, check alerts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pic>
        <p:nvPicPr>
          <p:cNvPr id="26" name="Picture 25" descr="c11_r2_10.png"/>
          <p:cNvPicPr>
            <a:picLocks noChangeAspect="1"/>
          </p:cNvPicPr>
          <p:nvPr/>
        </p:nvPicPr>
        <p:blipFill>
          <a:blip r:embed="rId1"/>
          <a:stretch>
            <a:fillRect/>
          </a:stretch>
        </p:blipFill>
        <p:spPr>
          <a:xfrm>
            <a:off x="689916" y="1188720"/>
            <a:ext cx="5752486" cy="5212080"/>
          </a:xfrm>
          <a:prstGeom prst="rect">
            <a:avLst/>
          </a:prstGeom>
        </p:spPr>
      </p:pic>
      <p:sp>
        <p:nvSpPr>
          <p:cNvPr id="27" name="TextBox 26"/>
          <p:cNvSpPr txBox="1"/>
          <p:nvPr/>
        </p:nvSpPr>
        <p:spPr>
          <a:xfrm>
            <a:off x="6858000" y="1325880"/>
            <a:ext cx="4800600" cy="5029200"/>
          </a:xfrm>
          <a:prstGeom prst="rect">
            <a:avLst/>
          </a:prstGeom>
          <a:noFill/>
        </p:spPr>
        <p:txBody>
          <a:bodyPr wrap="square" lIns="0" rIns="0" tIns="0" bIns="0" anchor="t">
            <a:spAutoFit/>
          </a:bodyPr>
          <a:lstStyle/>
          <a:p>
            <a:pPr algn="l" marL="256032" indent="-201168">
              <a:spcAft>
                <a:spcPts val="900"/>
              </a:spcAft>
              <a:buChar char="•"/>
            </a:pPr>
            <a:r>
              <a:rPr sz="1400" b="1" i="0">
                <a:solidFill>
                  <a:srgbClr val="0F172A"/>
                </a:solidFill>
              </a:rPr>
              <a:t>Categorise</a:t>
            </a:r>
            <a:r>
              <a:rPr sz="1400" b="0" i="0">
                <a:solidFill>
                  <a:srgbClr val="0F172A"/>
                </a:solidFill>
              </a:rPr>
              <a:t>: Auto-detect uses the model's label; a manual category that differs from the prediction triggers a retrain.</a:t>
            </a:r>
          </a:p>
          <a:p>
            <a:pPr algn="l" marL="256032" indent="-201168">
              <a:spcAft>
                <a:spcPts val="900"/>
              </a:spcAft>
              <a:buChar char="•"/>
            </a:pPr>
            <a:r>
              <a:rPr sz="1400" b="1" i="0">
                <a:solidFill>
                  <a:srgbClr val="0F172A"/>
                </a:solidFill>
              </a:rPr>
              <a:t>Budget check</a:t>
            </a:r>
            <a:r>
              <a:rPr sz="1400" b="0" i="0">
                <a:solidFill>
                  <a:srgbClr val="0F172A"/>
                </a:solidFill>
              </a:rPr>
              <a:t>: when the dashboard or notification list is opened, spend / budget &gt;= 75, 90 or 100 % writes a notification (not on save, not on a timer).</a:t>
            </a:r>
          </a:p>
          <a:p>
            <a:pPr algn="l" marL="256032" indent="-201168">
              <a:spcAft>
                <a:spcPts val="900"/>
              </a:spcAft>
              <a:buChar char="•"/>
            </a:pPr>
            <a:r>
              <a:rPr sz="1400" b="1" i="0">
                <a:solidFill>
                  <a:srgbClr val="0F172A"/>
                </a:solidFill>
              </a:rPr>
              <a:t>Assistant routing</a:t>
            </a:r>
            <a:r>
              <a:rPr sz="1400" b="0" i="0">
                <a:solidFill>
                  <a:srgbClr val="0F172A"/>
                </a:solidFill>
              </a:rPr>
              <a:t>: can-I-save, reduce-expenses, health, where-spending, category-spend, optional LLM, fixed help text.</a:t>
            </a:r>
          </a:p>
          <a:p>
            <a:pPr algn="l" marL="256032" indent="-201168">
              <a:spcAft>
                <a:spcPts val="400"/>
              </a:spcAft>
              <a:buChar char="•"/>
            </a:pPr>
            <a:r>
              <a:rPr sz="1400" b="1" i="0">
                <a:solidFill>
                  <a:srgbClr val="0F172A"/>
                </a:solidFill>
              </a:rPr>
              <a:t>Limit</a:t>
            </a:r>
            <a:r>
              <a:rPr sz="1400" b="0" i="0">
                <a:solidFill>
                  <a:srgbClr val="0F172A"/>
                </a:solidFill>
              </a:rPr>
              <a:t>: unseen text gives a zero vector, so the label comes from the intercepts (mostly Transport); no confidence threshold is applied.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flow and modules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pic>
        <p:nvPicPr>
          <p:cNvPr id="26" name="Picture 25" descr="c11_r2_04.png"/>
          <p:cNvPicPr>
            <a:picLocks noChangeAspect="1"/>
          </p:cNvPicPr>
          <p:nvPr/>
        </p:nvPicPr>
        <p:blipFill>
          <a:blip r:embed="rId1"/>
          <a:stretch>
            <a:fillRect/>
          </a:stretch>
        </p:blipFill>
        <p:spPr>
          <a:xfrm>
            <a:off x="548640" y="1227835"/>
            <a:ext cx="5852160" cy="4676648"/>
          </a:xfrm>
          <a:prstGeom prst="rect">
            <a:avLst/>
          </a:prstGeom>
        </p:spPr>
      </p:pic>
      <p:sp>
        <p:nvSpPr>
          <p:cNvPr id="27" name="TextBox 26"/>
          <p:cNvSpPr txBox="1"/>
          <p:nvPr/>
        </p:nvSpPr>
        <p:spPr>
          <a:xfrm>
            <a:off x="548640" y="5989320"/>
            <a:ext cx="5852160" cy="365760"/>
          </a:xfrm>
          <a:prstGeom prst="rect">
            <a:avLst/>
          </a:prstGeom>
          <a:noFill/>
        </p:spPr>
        <p:txBody>
          <a:bodyPr wrap="square" lIns="0" rIns="0" tIns="0" bIns="0" anchor="t">
            <a:spAutoFit/>
          </a:bodyPr>
          <a:lstStyle/>
          <a:p>
            <a:pPr algn="ctr">
              <a:spcAft>
                <a:spcPts val="400"/>
              </a:spcAft>
            </a:pPr>
            <a:r>
              <a:rPr sz="1200" b="0" i="1">
                <a:solidFill>
                  <a:srgbClr val="475569"/>
                </a:solidFill>
              </a:rPr>
              <a:t>DFD level 1: the main processes and the data stores.</a:t>
            </a:r>
          </a:p>
        </p:txBody>
      </p:sp>
      <p:graphicFrame>
        <p:nvGraphicFramePr>
          <p:cNvPr id="28" name="Table 27"/>
          <p:cNvGraphicFramePr>
            <a:graphicFrameLocks noGrp="1"/>
          </p:cNvGraphicFramePr>
          <p:nvPr/>
        </p:nvGraphicFramePr>
        <p:xfrm>
          <a:off x="6583680" y="1325880"/>
          <a:ext cx="5056632" cy="4023360"/>
        </p:xfrm>
        <a:graphic>
          <a:graphicData uri="http://schemas.openxmlformats.org/drawingml/2006/table">
            <a:tbl>
              <a:tblPr firstRow="0" bandRow="0">
                <a:tableStyleId>{5C22544A-7EE6-4342-B048-85BDC9FD1C3A}</a:tableStyleId>
              </a:tblPr>
              <a:tblGrid>
                <a:gridCol w="2377440"/>
                <a:gridCol w="685800"/>
                <a:gridCol w="1993392"/>
              </a:tblGrid>
              <a:tr h="502920">
                <a:tc>
                  <a:txBody>
                    <a:bodyPr wrap="square"/>
                    <a:lstStyle/>
                    <a:p>
                      <a:pPr algn="ctr"/>
                      <a:r>
                        <a:rPr sz="1100" b="1">
                          <a:solidFill>
                            <a:srgbClr val="FFFFFF"/>
                          </a:solidFill>
                        </a:rPr>
                        <a:t>Module group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Lines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02920">
                <a:tc>
                  <a:txBody>
                    <a:bodyPr wrap="square"/>
                    <a:lstStyle/>
                    <a:p>
                      <a:pPr algn="l"/>
                      <a:r>
                        <a:rPr sz="1100" b="1">
                          <a:solidFill>
                            <a:srgbClr val="0F172A"/>
                          </a:solidFill>
                        </a:rPr>
                        <a:t>backend/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100" b="0">
                          <a:solidFill>
                            <a:srgbClr val="0F172A"/>
                          </a:solidFill>
                        </a:rPr>
                        <a:t>804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33 routes, demo seed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100" b="1">
                          <a:solidFill>
                            <a:srgbClr val="0F172A"/>
                          </a:solidFill>
                        </a:rPr>
                        <a:t>services/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r"/>
                      <a:r>
                        <a:rPr sz="1100" b="0">
                          <a:solidFill>
                            <a:srgbClr val="0F172A"/>
                          </a:solidFill>
                        </a:rPr>
                        <a:t>925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business logic, import, reports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100" b="1">
                          <a:solidFill>
                            <a:srgbClr val="0F172A"/>
                          </a:solidFill>
                        </a:rPr>
                        <a:t>ml/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100" b="0">
                          <a:solidFill>
                            <a:srgbClr val="0F172A"/>
                          </a:solidFill>
                        </a:rPr>
                        <a:t>313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classifier, forecast, health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100" b="1">
                          <a:solidFill>
                            <a:srgbClr val="0F172A"/>
                          </a:solidFill>
                        </a:rPr>
                        <a:t>database/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r"/>
                      <a:r>
                        <a:rPr sz="1100" b="0">
                          <a:solidFill>
                            <a:srgbClr val="0F172A"/>
                          </a:solidFill>
                        </a:rPr>
                        <a:t>152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6 SQLAlchemy tables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100" b="1">
                          <a:solidFill>
                            <a:srgbClr val="0F172A"/>
                          </a:solidFill>
                        </a:rPr>
                        <a:t>auth, utils/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100" b="0">
                          <a:solidFill>
                            <a:srgbClr val="0F172A"/>
                          </a:solidFill>
                        </a:rPr>
                        <a:t>158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bcrypt, tokens, validators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100" b="1">
                          <a:solidFill>
                            <a:srgbClr val="0F172A"/>
                          </a:solidFill>
                        </a:rPr>
                        <a:t>tests/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r"/>
                      <a:r>
                        <a:rPr sz="1100" b="0">
                          <a:solidFill>
                            <a:srgbClr val="0F172A"/>
                          </a:solidFill>
                        </a:rPr>
                        <a:t>359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38 pytest tests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100" b="1">
                          <a:solidFill>
                            <a:srgbClr val="0F172A"/>
                          </a:solidFill>
                        </a:rPr>
                        <a:t>scripts/ (measurement)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100" b="0">
                          <a:solidFill>
                            <a:srgbClr val="0F172A"/>
                          </a:solidFill>
                        </a:rPr>
                        <a:t>760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experiments, probes, smoke test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Database design and UML</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pic>
        <p:nvPicPr>
          <p:cNvPr id="26" name="Picture 25" descr="c11_r2_06.png"/>
          <p:cNvPicPr>
            <a:picLocks noChangeAspect="1"/>
          </p:cNvPicPr>
          <p:nvPr/>
        </p:nvPicPr>
        <p:blipFill>
          <a:blip r:embed="rId1"/>
          <a:stretch>
            <a:fillRect/>
          </a:stretch>
        </p:blipFill>
        <p:spPr>
          <a:xfrm>
            <a:off x="1220455" y="1188720"/>
            <a:ext cx="4508528" cy="4480560"/>
          </a:xfrm>
          <a:prstGeom prst="rect">
            <a:avLst/>
          </a:prstGeom>
        </p:spPr>
      </p:pic>
      <p:sp>
        <p:nvSpPr>
          <p:cNvPr id="27" name="TextBox 26"/>
          <p:cNvSpPr txBox="1"/>
          <p:nvPr/>
        </p:nvSpPr>
        <p:spPr>
          <a:xfrm>
            <a:off x="548640" y="5715000"/>
            <a:ext cx="5852160" cy="365760"/>
          </a:xfrm>
          <a:prstGeom prst="rect">
            <a:avLst/>
          </a:prstGeom>
          <a:noFill/>
        </p:spPr>
        <p:txBody>
          <a:bodyPr wrap="square" lIns="0" rIns="0" tIns="0" bIns="0" anchor="t">
            <a:spAutoFit/>
          </a:bodyPr>
          <a:lstStyle/>
          <a:p>
            <a:pPr algn="ctr">
              <a:spcAft>
                <a:spcPts val="400"/>
              </a:spcAft>
            </a:pPr>
            <a:r>
              <a:rPr sz="1200" b="0" i="1">
                <a:solidFill>
                  <a:srgbClr val="475569"/>
                </a:solidFill>
              </a:rPr>
              <a:t>UML class diagram: entities, services and ML modules.</a:t>
            </a:r>
          </a:p>
        </p:txBody>
      </p:sp>
      <p:pic>
        <p:nvPicPr>
          <p:cNvPr id="28" name="Picture 27" descr="c11_r2_09.png"/>
          <p:cNvPicPr>
            <a:picLocks noChangeAspect="1"/>
          </p:cNvPicPr>
          <p:nvPr/>
        </p:nvPicPr>
        <p:blipFill>
          <a:blip r:embed="rId4"/>
          <a:stretch>
            <a:fillRect/>
          </a:stretch>
        </p:blipFill>
        <p:spPr>
          <a:xfrm>
            <a:off x="6583680" y="1529448"/>
            <a:ext cx="5074920" cy="3799102"/>
          </a:xfrm>
          <a:prstGeom prst="rect">
            <a:avLst/>
          </a:prstGeom>
        </p:spPr>
      </p:pic>
      <p:sp>
        <p:nvSpPr>
          <p:cNvPr id="29" name="TextBox 28"/>
          <p:cNvSpPr txBox="1"/>
          <p:nvPr/>
        </p:nvSpPr>
        <p:spPr>
          <a:xfrm>
            <a:off x="6583680" y="5715000"/>
            <a:ext cx="5074920" cy="365760"/>
          </a:xfrm>
          <a:prstGeom prst="rect">
            <a:avLst/>
          </a:prstGeom>
          <a:noFill/>
        </p:spPr>
        <p:txBody>
          <a:bodyPr wrap="square" lIns="0" rIns="0" tIns="0" bIns="0" anchor="t">
            <a:spAutoFit/>
          </a:bodyPr>
          <a:lstStyle/>
          <a:p>
            <a:pPr algn="ctr">
              <a:spcAft>
                <a:spcPts val="400"/>
              </a:spcAft>
            </a:pPr>
            <a:r>
              <a:rPr sz="1200" b="0" i="1">
                <a:solidFill>
                  <a:srgbClr val="475569"/>
                </a:solidFill>
              </a:rPr>
              <a:t>ER diagram of the SQLite database (finjarvis.db).</a:t>
            </a:r>
          </a:p>
        </p:txBody>
      </p:sp>
      <p:sp>
        <p:nvSpPr>
          <p:cNvPr id="30" name="TextBox 29"/>
          <p:cNvSpPr txBox="1"/>
          <p:nvPr/>
        </p:nvSpPr>
        <p:spPr>
          <a:xfrm>
            <a:off x="548640" y="6080760"/>
            <a:ext cx="11091672" cy="365760"/>
          </a:xfrm>
          <a:prstGeom prst="rect">
            <a:avLst/>
          </a:prstGeom>
          <a:noFill/>
        </p:spPr>
        <p:txBody>
          <a:bodyPr wrap="square" lIns="0" rIns="0" tIns="0" bIns="0" anchor="t">
            <a:spAutoFit/>
          </a:bodyPr>
          <a:lstStyle/>
          <a:p>
            <a:pPr algn="ctr">
              <a:spcAft>
                <a:spcPts val="400"/>
              </a:spcAft>
            </a:pPr>
            <a:r>
              <a:rPr sz="1150" b="0" i="0">
                <a:solidFill>
                  <a:srgbClr val="475569"/>
                </a:solidFill>
              </a:rPr>
              <a:t>users 1-N transactions, budgets, financial_goals, investments and notifications; every child row carries user_id and is deleted with the user.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Technology stack</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sp>
        <p:nvSpPr>
          <p:cNvPr id="26" name="Rounded Rectangle 25"/>
          <p:cNvSpPr/>
          <p:nvPr/>
        </p:nvSpPr>
        <p:spPr>
          <a:xfrm>
            <a:off x="548640" y="1371600"/>
            <a:ext cx="260604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72768"/>
            <a:ext cx="457200" cy="45720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749808" y="2194560"/>
            <a:ext cx="2240280" cy="411480"/>
          </a:xfrm>
          <a:prstGeom prst="rect">
            <a:avLst/>
          </a:prstGeom>
          <a:noFill/>
        </p:spPr>
        <p:txBody>
          <a:bodyPr wrap="square" lIns="0" rIns="0" tIns="0" bIns="0" anchor="t">
            <a:spAutoFit/>
          </a:bodyPr>
          <a:lstStyle/>
          <a:p>
            <a:pPr algn="l">
              <a:spcAft>
                <a:spcPts val="400"/>
              </a:spcAft>
            </a:pPr>
            <a:r>
              <a:rPr sz="1500" b="1" i="0">
                <a:solidFill>
                  <a:srgbClr val="0F172A"/>
                </a:solidFill>
              </a:rPr>
              <a:t>Python 3.11.9</a:t>
            </a:r>
          </a:p>
        </p:txBody>
      </p:sp>
      <p:sp>
        <p:nvSpPr>
          <p:cNvPr id="29" name="TextBox 28"/>
          <p:cNvSpPr txBox="1"/>
          <p:nvPr/>
        </p:nvSpPr>
        <p:spPr>
          <a:xfrm>
            <a:off x="749808" y="2606040"/>
            <a:ext cx="2240280" cy="777240"/>
          </a:xfrm>
          <a:prstGeom prst="rect">
            <a:avLst/>
          </a:prstGeom>
          <a:noFill/>
        </p:spPr>
        <p:txBody>
          <a:bodyPr wrap="square" lIns="0" rIns="0" tIns="0" bIns="0" anchor="t">
            <a:spAutoFit/>
          </a:bodyPr>
          <a:lstStyle/>
          <a:p>
            <a:pPr algn="l">
              <a:spcAft>
                <a:spcPts val="400"/>
              </a:spcAft>
            </a:pPr>
            <a:r>
              <a:rPr sz="1200" b="0" i="0">
                <a:solidFill>
                  <a:srgbClr val="475569"/>
                </a:solidFill>
              </a:rPr>
              <a:t>backend language; scikit-learn 1.9.1, pandas 3.0, numpy 2.4</a:t>
            </a:r>
          </a:p>
        </p:txBody>
      </p:sp>
      <p:sp>
        <p:nvSpPr>
          <p:cNvPr id="30" name="Rounded Rectangle 29"/>
          <p:cNvSpPr/>
          <p:nvPr/>
        </p:nvSpPr>
        <p:spPr>
          <a:xfrm>
            <a:off x="3374136" y="1371600"/>
            <a:ext cx="260604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75304" y="1572768"/>
            <a:ext cx="457200" cy="45720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3575304" y="2194560"/>
            <a:ext cx="2240280" cy="411480"/>
          </a:xfrm>
          <a:prstGeom prst="rect">
            <a:avLst/>
          </a:prstGeom>
          <a:noFill/>
        </p:spPr>
        <p:txBody>
          <a:bodyPr wrap="square" lIns="0" rIns="0" tIns="0" bIns="0" anchor="t">
            <a:spAutoFit/>
          </a:bodyPr>
          <a:lstStyle/>
          <a:p>
            <a:pPr algn="l">
              <a:spcAft>
                <a:spcPts val="400"/>
              </a:spcAft>
            </a:pPr>
            <a:r>
              <a:rPr sz="1500" b="1" i="0">
                <a:solidFill>
                  <a:srgbClr val="0F172A"/>
                </a:solidFill>
              </a:rPr>
              <a:t>FastAPI 0.159</a:t>
            </a:r>
          </a:p>
        </p:txBody>
      </p:sp>
      <p:sp>
        <p:nvSpPr>
          <p:cNvPr id="33" name="TextBox 32"/>
          <p:cNvSpPr txBox="1"/>
          <p:nvPr/>
        </p:nvSpPr>
        <p:spPr>
          <a:xfrm>
            <a:off x="3575304" y="2606040"/>
            <a:ext cx="2240280" cy="777240"/>
          </a:xfrm>
          <a:prstGeom prst="rect">
            <a:avLst/>
          </a:prstGeom>
          <a:noFill/>
        </p:spPr>
        <p:txBody>
          <a:bodyPr wrap="square" lIns="0" rIns="0" tIns="0" bIns="0" anchor="t">
            <a:spAutoFit/>
          </a:bodyPr>
          <a:lstStyle/>
          <a:p>
            <a:pPr algn="l">
              <a:spcAft>
                <a:spcPts val="400"/>
              </a:spcAft>
            </a:pPr>
            <a:r>
              <a:rPr sz="1200" b="0" i="0">
                <a:solidFill>
                  <a:srgbClr val="475569"/>
                </a:solidFill>
              </a:rPr>
              <a:t>33 routes; uvicorn 0.54; pydantic 2.14</a:t>
            </a:r>
          </a:p>
        </p:txBody>
      </p:sp>
      <p:sp>
        <p:nvSpPr>
          <p:cNvPr id="34" name="Rounded Rectangle 33"/>
          <p:cNvSpPr/>
          <p:nvPr/>
        </p:nvSpPr>
        <p:spPr>
          <a:xfrm>
            <a:off x="6199631" y="1371600"/>
            <a:ext cx="260604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00799" y="1572768"/>
            <a:ext cx="457200" cy="45720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6400799" y="2194560"/>
            <a:ext cx="2240280" cy="411480"/>
          </a:xfrm>
          <a:prstGeom prst="rect">
            <a:avLst/>
          </a:prstGeom>
          <a:noFill/>
        </p:spPr>
        <p:txBody>
          <a:bodyPr wrap="square" lIns="0" rIns="0" tIns="0" bIns="0" anchor="t">
            <a:spAutoFit/>
          </a:bodyPr>
          <a:lstStyle/>
          <a:p>
            <a:pPr algn="l">
              <a:spcAft>
                <a:spcPts val="400"/>
              </a:spcAft>
            </a:pPr>
            <a:r>
              <a:rPr sz="1500" b="1" i="0">
                <a:solidFill>
                  <a:srgbClr val="0F172A"/>
                </a:solidFill>
              </a:rPr>
              <a:t>SQLAlchemy 2.1</a:t>
            </a:r>
          </a:p>
        </p:txBody>
      </p:sp>
      <p:sp>
        <p:nvSpPr>
          <p:cNvPr id="37" name="TextBox 36"/>
          <p:cNvSpPr txBox="1"/>
          <p:nvPr/>
        </p:nvSpPr>
        <p:spPr>
          <a:xfrm>
            <a:off x="6400799" y="2606040"/>
            <a:ext cx="2240280" cy="777240"/>
          </a:xfrm>
          <a:prstGeom prst="rect">
            <a:avLst/>
          </a:prstGeom>
          <a:noFill/>
        </p:spPr>
        <p:txBody>
          <a:bodyPr wrap="square" lIns="0" rIns="0" tIns="0" bIns="0" anchor="t">
            <a:spAutoFit/>
          </a:bodyPr>
          <a:lstStyle/>
          <a:p>
            <a:pPr algn="l">
              <a:spcAft>
                <a:spcPts val="400"/>
              </a:spcAft>
            </a:pPr>
            <a:r>
              <a:rPr sz="1200" b="0" i="0">
                <a:solidFill>
                  <a:srgbClr val="475569"/>
                </a:solidFill>
              </a:rPr>
              <a:t>6 tables on SQLite; one file, no server</a:t>
            </a:r>
          </a:p>
        </p:txBody>
      </p:sp>
      <p:sp>
        <p:nvSpPr>
          <p:cNvPr id="38" name="Rounded Rectangle 37"/>
          <p:cNvSpPr/>
          <p:nvPr/>
        </p:nvSpPr>
        <p:spPr>
          <a:xfrm>
            <a:off x="9025128" y="1371600"/>
            <a:ext cx="260604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226296" y="1572768"/>
            <a:ext cx="457200" cy="45720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226296" y="2194560"/>
            <a:ext cx="2240280" cy="411480"/>
          </a:xfrm>
          <a:prstGeom prst="rect">
            <a:avLst/>
          </a:prstGeom>
          <a:noFill/>
        </p:spPr>
        <p:txBody>
          <a:bodyPr wrap="square" lIns="0" rIns="0" tIns="0" bIns="0" anchor="t">
            <a:spAutoFit/>
          </a:bodyPr>
          <a:lstStyle/>
          <a:p>
            <a:pPr algn="l">
              <a:spcAft>
                <a:spcPts val="400"/>
              </a:spcAft>
            </a:pPr>
            <a:r>
              <a:rPr sz="1500" b="1" i="0">
                <a:solidFill>
                  <a:srgbClr val="0F172A"/>
                </a:solidFill>
              </a:rPr>
              <a:t>passlib + bcrypt 4.0.1</a:t>
            </a:r>
          </a:p>
        </p:txBody>
      </p:sp>
      <p:sp>
        <p:nvSpPr>
          <p:cNvPr id="41" name="TextBox 40"/>
          <p:cNvSpPr txBox="1"/>
          <p:nvPr/>
        </p:nvSpPr>
        <p:spPr>
          <a:xfrm>
            <a:off x="9226296" y="2606040"/>
            <a:ext cx="2240280" cy="777240"/>
          </a:xfrm>
          <a:prstGeom prst="rect">
            <a:avLst/>
          </a:prstGeom>
          <a:noFill/>
        </p:spPr>
        <p:txBody>
          <a:bodyPr wrap="square" lIns="0" rIns="0" tIns="0" bIns="0" anchor="t">
            <a:spAutoFit/>
          </a:bodyPr>
          <a:lstStyle/>
          <a:p>
            <a:pPr algn="l">
              <a:spcAft>
                <a:spcPts val="400"/>
              </a:spcAft>
            </a:pPr>
            <a:r>
              <a:rPr sz="1200" b="0" i="0">
                <a:solidFill>
                  <a:srgbClr val="475569"/>
                </a:solidFill>
              </a:rPr>
              <a:t>bcrypt pinned (bcrypt 5 breaks passlib); HMAC-signed tokens</a:t>
            </a:r>
          </a:p>
        </p:txBody>
      </p:sp>
      <p:sp>
        <p:nvSpPr>
          <p:cNvPr id="42" name="Rounded Rectangle 41"/>
          <p:cNvSpPr/>
          <p:nvPr/>
        </p:nvSpPr>
        <p:spPr>
          <a:xfrm>
            <a:off x="548640" y="3657600"/>
            <a:ext cx="260604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49808" y="3858768"/>
            <a:ext cx="457200" cy="45720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749808" y="4480560"/>
            <a:ext cx="2240280" cy="411480"/>
          </a:xfrm>
          <a:prstGeom prst="rect">
            <a:avLst/>
          </a:prstGeom>
          <a:noFill/>
        </p:spPr>
        <p:txBody>
          <a:bodyPr wrap="square" lIns="0" rIns="0" tIns="0" bIns="0" anchor="t">
            <a:spAutoFit/>
          </a:bodyPr>
          <a:lstStyle/>
          <a:p>
            <a:pPr algn="l">
              <a:spcAft>
                <a:spcPts val="400"/>
              </a:spcAft>
            </a:pPr>
            <a:r>
              <a:rPr sz="1500" b="1" i="0">
                <a:solidFill>
                  <a:srgbClr val="0F172A"/>
                </a:solidFill>
              </a:rPr>
              <a:t>ReportLab, OpenPyXL</a:t>
            </a:r>
          </a:p>
        </p:txBody>
      </p:sp>
      <p:sp>
        <p:nvSpPr>
          <p:cNvPr id="45" name="TextBox 44"/>
          <p:cNvSpPr txBox="1"/>
          <p:nvPr/>
        </p:nvSpPr>
        <p:spPr>
          <a:xfrm>
            <a:off x="749808" y="4892040"/>
            <a:ext cx="2240280" cy="777240"/>
          </a:xfrm>
          <a:prstGeom prst="rect">
            <a:avLst/>
          </a:prstGeom>
          <a:noFill/>
        </p:spPr>
        <p:txBody>
          <a:bodyPr wrap="square" lIns="0" rIns="0" tIns="0" bIns="0" anchor="t">
            <a:spAutoFit/>
          </a:bodyPr>
          <a:lstStyle/>
          <a:p>
            <a:pPr algn="l">
              <a:spcAft>
                <a:spcPts val="400"/>
              </a:spcAft>
            </a:pPr>
            <a:r>
              <a:rPr sz="1200" b="0" i="0">
                <a:solidFill>
                  <a:srgbClr val="475569"/>
                </a:solidFill>
              </a:rPr>
              <a:t>PDF and Excel reports; CSV from pandas</a:t>
            </a:r>
          </a:p>
        </p:txBody>
      </p:sp>
      <p:sp>
        <p:nvSpPr>
          <p:cNvPr id="46" name="Rounded Rectangle 45"/>
          <p:cNvSpPr/>
          <p:nvPr/>
        </p:nvSpPr>
        <p:spPr>
          <a:xfrm>
            <a:off x="3374136" y="3657600"/>
            <a:ext cx="260604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3575304" y="3858768"/>
            <a:ext cx="457200" cy="45720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6</a:t>
            </a:r>
          </a:p>
        </p:txBody>
      </p:sp>
      <p:sp>
        <p:nvSpPr>
          <p:cNvPr id="48" name="TextBox 47"/>
          <p:cNvSpPr txBox="1"/>
          <p:nvPr/>
        </p:nvSpPr>
        <p:spPr>
          <a:xfrm>
            <a:off x="3575304" y="4480560"/>
            <a:ext cx="2240280" cy="411480"/>
          </a:xfrm>
          <a:prstGeom prst="rect">
            <a:avLst/>
          </a:prstGeom>
          <a:noFill/>
        </p:spPr>
        <p:txBody>
          <a:bodyPr wrap="square" lIns="0" rIns="0" tIns="0" bIns="0" anchor="t">
            <a:spAutoFit/>
          </a:bodyPr>
          <a:lstStyle/>
          <a:p>
            <a:pPr algn="l">
              <a:spcAft>
                <a:spcPts val="400"/>
              </a:spcAft>
            </a:pPr>
            <a:r>
              <a:rPr sz="1500" b="1" i="0">
                <a:solidFill>
                  <a:srgbClr val="0F172A"/>
                </a:solidFill>
              </a:rPr>
              <a:t>React 18 + Vite 8</a:t>
            </a:r>
          </a:p>
        </p:txBody>
      </p:sp>
      <p:sp>
        <p:nvSpPr>
          <p:cNvPr id="49" name="TextBox 48"/>
          <p:cNvSpPr txBox="1"/>
          <p:nvPr/>
        </p:nvSpPr>
        <p:spPr>
          <a:xfrm>
            <a:off x="3575304" y="4892040"/>
            <a:ext cx="2240280" cy="777240"/>
          </a:xfrm>
          <a:prstGeom prst="rect">
            <a:avLst/>
          </a:prstGeom>
          <a:noFill/>
        </p:spPr>
        <p:txBody>
          <a:bodyPr wrap="square" lIns="0" rIns="0" tIns="0" bIns="0" anchor="t">
            <a:spAutoFit/>
          </a:bodyPr>
          <a:lstStyle/>
          <a:p>
            <a:pPr algn="l">
              <a:spcAft>
                <a:spcPts val="400"/>
              </a:spcAft>
            </a:pPr>
            <a:r>
              <a:rPr sz="1200" b="0" i="0">
                <a:solidFill>
                  <a:srgbClr val="475569"/>
                </a:solidFill>
              </a:rPr>
              <a:t>TypeScript, Tailwind v4, Recharts, TanStack Query</a:t>
            </a:r>
          </a:p>
        </p:txBody>
      </p:sp>
      <p:sp>
        <p:nvSpPr>
          <p:cNvPr id="50" name="Rounded Rectangle 49"/>
          <p:cNvSpPr/>
          <p:nvPr/>
        </p:nvSpPr>
        <p:spPr>
          <a:xfrm>
            <a:off x="6199631" y="3657600"/>
            <a:ext cx="260604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6400799" y="3858768"/>
            <a:ext cx="457200" cy="45720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7</a:t>
            </a:r>
          </a:p>
        </p:txBody>
      </p:sp>
      <p:sp>
        <p:nvSpPr>
          <p:cNvPr id="52" name="TextBox 51"/>
          <p:cNvSpPr txBox="1"/>
          <p:nvPr/>
        </p:nvSpPr>
        <p:spPr>
          <a:xfrm>
            <a:off x="6400799" y="4480560"/>
            <a:ext cx="2240280" cy="411480"/>
          </a:xfrm>
          <a:prstGeom prst="rect">
            <a:avLst/>
          </a:prstGeom>
          <a:noFill/>
        </p:spPr>
        <p:txBody>
          <a:bodyPr wrap="square" lIns="0" rIns="0" tIns="0" bIns="0" anchor="t">
            <a:spAutoFit/>
          </a:bodyPr>
          <a:lstStyle/>
          <a:p>
            <a:pPr algn="l">
              <a:spcAft>
                <a:spcPts val="400"/>
              </a:spcAft>
            </a:pPr>
            <a:r>
              <a:rPr sz="1500" b="1" i="0">
                <a:solidFill>
                  <a:srgbClr val="0F172A"/>
                </a:solidFill>
              </a:rPr>
              <a:t>pytest, Playwright</a:t>
            </a:r>
          </a:p>
        </p:txBody>
      </p:sp>
      <p:sp>
        <p:nvSpPr>
          <p:cNvPr id="53" name="TextBox 52"/>
          <p:cNvSpPr txBox="1"/>
          <p:nvPr/>
        </p:nvSpPr>
        <p:spPr>
          <a:xfrm>
            <a:off x="6400799" y="4892040"/>
            <a:ext cx="2240280" cy="777240"/>
          </a:xfrm>
          <a:prstGeom prst="rect">
            <a:avLst/>
          </a:prstGeom>
          <a:noFill/>
        </p:spPr>
        <p:txBody>
          <a:bodyPr wrap="square" lIns="0" rIns="0" tIns="0" bIns="0" anchor="t">
            <a:spAutoFit/>
          </a:bodyPr>
          <a:lstStyle/>
          <a:p>
            <a:pPr algn="l">
              <a:spcAft>
                <a:spcPts val="400"/>
              </a:spcAft>
            </a:pPr>
            <a:r>
              <a:rPr sz="1200" b="0" i="0">
                <a:solidFill>
                  <a:srgbClr val="475569"/>
                </a:solidFill>
              </a:rPr>
              <a:t>38 tests; screenshots from the real UI</a:t>
            </a:r>
          </a:p>
        </p:txBody>
      </p:sp>
      <p:sp>
        <p:nvSpPr>
          <p:cNvPr id="54" name="Rounded Rectangle 53"/>
          <p:cNvSpPr/>
          <p:nvPr/>
        </p:nvSpPr>
        <p:spPr>
          <a:xfrm>
            <a:off x="9025128" y="3657600"/>
            <a:ext cx="260604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9226296" y="3858768"/>
            <a:ext cx="457200" cy="45720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8</a:t>
            </a:r>
          </a:p>
        </p:txBody>
      </p:sp>
      <p:sp>
        <p:nvSpPr>
          <p:cNvPr id="56" name="TextBox 55"/>
          <p:cNvSpPr txBox="1"/>
          <p:nvPr/>
        </p:nvSpPr>
        <p:spPr>
          <a:xfrm>
            <a:off x="9226296" y="4480560"/>
            <a:ext cx="2240280" cy="411480"/>
          </a:xfrm>
          <a:prstGeom prst="rect">
            <a:avLst/>
          </a:prstGeom>
          <a:noFill/>
        </p:spPr>
        <p:txBody>
          <a:bodyPr wrap="square" lIns="0" rIns="0" tIns="0" bIns="0" anchor="t">
            <a:spAutoFit/>
          </a:bodyPr>
          <a:lstStyle/>
          <a:p>
            <a:pPr algn="l">
              <a:spcAft>
                <a:spcPts val="400"/>
              </a:spcAft>
            </a:pPr>
            <a:r>
              <a:rPr sz="1500" b="1" i="0">
                <a:solidFill>
                  <a:srgbClr val="0F172A"/>
                </a:solidFill>
              </a:rPr>
              <a:t>Optional extras</a:t>
            </a:r>
          </a:p>
        </p:txBody>
      </p:sp>
      <p:sp>
        <p:nvSpPr>
          <p:cNvPr id="57" name="TextBox 56"/>
          <p:cNvSpPr txBox="1"/>
          <p:nvPr/>
        </p:nvSpPr>
        <p:spPr>
          <a:xfrm>
            <a:off x="9226296" y="4892040"/>
            <a:ext cx="2240280" cy="777240"/>
          </a:xfrm>
          <a:prstGeom prst="rect">
            <a:avLst/>
          </a:prstGeom>
          <a:noFill/>
        </p:spPr>
        <p:txBody>
          <a:bodyPr wrap="square" lIns="0" rIns="0" tIns="0" bIns="0" anchor="t">
            <a:spAutoFit/>
          </a:bodyPr>
          <a:lstStyle/>
          <a:p>
            <a:pPr algn="l">
              <a:spcAft>
                <a:spcPts val="400"/>
              </a:spcAft>
            </a:pPr>
            <a:r>
              <a:rPr sz="1200" b="0" i="0">
                <a:solidFill>
                  <a:srgbClr val="475569"/>
                </a:solidFill>
              </a:rPr>
              <a:t>Anthropic LLM answers and yfinance live prices; not used in any measurement</a:t>
            </a:r>
          </a:p>
        </p:txBody>
      </p:sp>
      <p:sp>
        <p:nvSpPr>
          <p:cNvPr id="58" name="TextBox 57"/>
          <p:cNvSpPr txBox="1"/>
          <p:nvPr/>
        </p:nvSpPr>
        <p:spPr>
          <a:xfrm>
            <a:off x="548640" y="6035040"/>
            <a:ext cx="11091672" cy="365760"/>
          </a:xfrm>
          <a:prstGeom prst="rect">
            <a:avLst/>
          </a:prstGeom>
          <a:noFill/>
        </p:spPr>
        <p:txBody>
          <a:bodyPr wrap="square" lIns="0" rIns="0" tIns="0" bIns="0" anchor="t">
            <a:spAutoFit/>
          </a:bodyPr>
          <a:lstStyle/>
          <a:p>
            <a:pPr algn="l">
              <a:spcAft>
                <a:spcPts val="400"/>
              </a:spcAft>
            </a:pPr>
            <a:r>
              <a:rPr sz="1300" b="0" i="1">
                <a:solidFill>
                  <a:srgbClr val="475569"/>
                </a:solidFill>
              </a:rPr>
              <a:t>Everything runs on one machine on CPU; no external service is needed for any measured feature.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Implementation progress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graphicFrame>
        <p:nvGraphicFramePr>
          <p:cNvPr id="26" name="Table 25"/>
          <p:cNvGraphicFramePr>
            <a:graphicFrameLocks noGrp="1"/>
          </p:cNvGraphicFramePr>
          <p:nvPr/>
        </p:nvGraphicFramePr>
        <p:xfrm>
          <a:off x="548640" y="1325880"/>
          <a:ext cx="11091672" cy="4937760"/>
        </p:xfrm>
        <a:graphic>
          <a:graphicData uri="http://schemas.openxmlformats.org/drawingml/2006/table">
            <a:tbl>
              <a:tblPr firstRow="0" bandRow="0">
                <a:tableStyleId>{5C22544A-7EE6-4342-B048-85BDC9FD1C3A}</a:tableStyleId>
              </a:tblPr>
              <a:tblGrid>
                <a:gridCol w="3566160"/>
                <a:gridCol w="1645920"/>
                <a:gridCol w="5879592"/>
              </a:tblGrid>
              <a:tr h="548640">
                <a:tc>
                  <a:txBody>
                    <a:bodyPr wrap="square"/>
                    <a:lstStyle/>
                    <a:p>
                      <a:pPr algn="ctr"/>
                      <a:r>
                        <a:rPr sz="1250" b="1">
                          <a:solidFill>
                            <a:srgbClr val="FFFFFF"/>
                          </a:solidFill>
                        </a:rPr>
                        <a:t>Component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Status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Evidence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48640">
                <a:tc>
                  <a:txBody>
                    <a:bodyPr wrap="square"/>
                    <a:lstStyle/>
                    <a:p>
                      <a:pPr algn="l"/>
                      <a:r>
                        <a:rPr sz="1250" b="1">
                          <a:solidFill>
                            <a:srgbClr val="0F172A"/>
                          </a:solidFill>
                        </a:rPr>
                        <a:t>Accounts, import, manual entry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bcrypt, signed tokens, user scoping; import skips 84 of 84 bad rows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250" b="1">
                          <a:solidFill>
                            <a:srgbClr val="0F172A"/>
                          </a:solidFill>
                        </a:rPr>
                        <a:t>Expense categoriser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Done, simple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TF-IDF + LR: 71.7 % on probe set, 18.2 % on unseen merchants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250" b="1">
                          <a:solidFill>
                            <a:srgbClr val="0F172A"/>
                          </a:solidFill>
                        </a:rPr>
                        <a:t>Forecast and health score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Done, simple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linear trend (3-month minimum); 6-component score; sensitivity tested on 5,000 profiles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250" b="1">
                          <a:solidFill>
                            <a:srgbClr val="0F172A"/>
                          </a:solidFill>
                        </a:rPr>
                        <a:t>Budgets, goals, investments, alerts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alerts at 75/90/100 %; 6 asset types; optional live prices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250" b="1">
                          <a:solidFill>
                            <a:srgbClr val="0F172A"/>
                          </a:solidFill>
                        </a:rPr>
                        <a:t>Assistant and reports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Done, rule layer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14 of 20 answerable questions handled; PDF, Excel, CSV downloads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250" b="1">
                          <a:solidFill>
                            <a:srgbClr val="0F172A"/>
                          </a:solidFill>
                        </a:rPr>
                        <a:t>React dashboard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13 pages; 19 captured screens on the demo account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250" b="1">
                          <a:solidFill>
                            <a:srgbClr val="0F172A"/>
                          </a:solidFill>
                        </a:rPr>
                        <a:t>Anomaly detection, RL budgeting, LSTM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Not built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objective 4 and base-paper modules; not attempted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250" b="1">
                          <a:solidFill>
                            <a:srgbClr val="0F172A"/>
                          </a:solidFill>
                        </a:rPr>
                        <a:t>Loan tracker, scheduled digests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Not built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named in the abstract; no table, route or job exists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Preliminary results: categoriser and forecast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graphicFrame>
        <p:nvGraphicFramePr>
          <p:cNvPr id="26" name="Chart 25"/>
          <p:cNvGraphicFramePr>
            <a:graphicFrameLocks noGrp="1"/>
          </p:cNvGraphicFramePr>
          <p:nvPr/>
        </p:nvGraphicFramePr>
        <p:xfrm>
          <a:off x="548640" y="1234440"/>
          <a:ext cx="5760720" cy="3200400"/>
        </p:xfrm>
        <a:graphic>
          <a:graphicData uri="http://schemas.openxmlformats.org/drawingml/2006/chart">
            <c:chart xmlns:c="http://schemas.openxmlformats.org/drawingml/2006/chart" r:id="rId1"/>
          </a:graphicData>
        </a:graphic>
      </p:graphicFrame>
      <p:sp>
        <p:nvSpPr>
          <p:cNvPr id="27" name="TextBox 26"/>
          <p:cNvSpPr txBox="1"/>
          <p:nvPr/>
        </p:nvSpPr>
        <p:spPr>
          <a:xfrm>
            <a:off x="548640" y="4434840"/>
            <a:ext cx="5760720" cy="457200"/>
          </a:xfrm>
          <a:prstGeom prst="rect">
            <a:avLst/>
          </a:prstGeom>
          <a:noFill/>
        </p:spPr>
        <p:txBody>
          <a:bodyPr wrap="square" lIns="0" rIns="0" tIns="0" bIns="0" anchor="t">
            <a:spAutoFit/>
          </a:bodyPr>
          <a:lstStyle/>
          <a:p>
            <a:pPr algn="ctr">
              <a:spcAft>
                <a:spcPts val="400"/>
              </a:spcAft>
            </a:pPr>
            <a:r>
              <a:rPr sz="1100" b="0" i="1">
                <a:solidFill>
                  <a:srgbClr val="475569"/>
                </a:solidFill>
              </a:rPr>
              <a:t>Accuracy (%) per probe tier; overall 71.7 % (142 of 198), macro-F1 = 0.761.</a:t>
            </a:r>
          </a:p>
        </p:txBody>
      </p:sp>
      <p:graphicFrame>
        <p:nvGraphicFramePr>
          <p:cNvPr id="28" name="Table 27"/>
          <p:cNvGraphicFramePr>
            <a:graphicFrameLocks noGrp="1"/>
          </p:cNvGraphicFramePr>
          <p:nvPr/>
        </p:nvGraphicFramePr>
        <p:xfrm>
          <a:off x="6583680" y="1280160"/>
          <a:ext cx="5056632" cy="2103120"/>
        </p:xfrm>
        <a:graphic>
          <a:graphicData uri="http://schemas.openxmlformats.org/drawingml/2006/table">
            <a:tbl>
              <a:tblPr firstRow="0" bandRow="0">
                <a:tableStyleId>{5C22544A-7EE6-4342-B048-85BDC9FD1C3A}</a:tableStyleId>
              </a:tblPr>
              <a:tblGrid>
                <a:gridCol w="3017520"/>
                <a:gridCol w="1097280"/>
                <a:gridCol w="941832"/>
              </a:tblGrid>
              <a:tr h="420624">
                <a:tc>
                  <a:txBody>
                    <a:bodyPr wrap="square"/>
                    <a:lstStyle/>
                    <a:p>
                      <a:pPr algn="ctr"/>
                      <a:r>
                        <a:rPr sz="1150" b="1">
                          <a:solidFill>
                            <a:srgbClr val="FFFFFF"/>
                          </a:solidFill>
                        </a:rPr>
                        <a:t>Forecast method (3 test points)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50" b="1">
                          <a:solidFill>
                            <a:srgbClr val="FFFFFF"/>
                          </a:solidFill>
                        </a:rPr>
                        <a:t>MAE (INR)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50" b="1">
                          <a:solidFill>
                            <a:srgbClr val="FFFFFF"/>
                          </a:solidFill>
                        </a:rPr>
                        <a:t>MAPE %</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20624">
                <a:tc>
                  <a:txBody>
                    <a:bodyPr wrap="square"/>
                    <a:lstStyle/>
                    <a:p>
                      <a:pPr algn="l"/>
                      <a:r>
                        <a:rPr sz="1150" b="1">
                          <a:solidFill>
                            <a:srgbClr val="0F172A"/>
                          </a:solidFill>
                        </a:rPr>
                        <a:t>Linear trend (app)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150" b="0">
                          <a:solidFill>
                            <a:srgbClr val="0F172A"/>
                          </a:solidFill>
                        </a:rPr>
                        <a:t>9,597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150" b="0">
                          <a:solidFill>
                            <a:srgbClr val="0F172A"/>
                          </a:solidFill>
                        </a:rPr>
                        <a:t>28.4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20624">
                <a:tc>
                  <a:txBody>
                    <a:bodyPr wrap="square"/>
                    <a:lstStyle/>
                    <a:p>
                      <a:pPr algn="l"/>
                      <a:r>
                        <a:rPr sz="1150" b="1">
                          <a:solidFill>
                            <a:srgbClr val="0F172A"/>
                          </a:solidFill>
                        </a:rPr>
                        <a:t>Mean of all history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r"/>
                      <a:r>
                        <a:rPr sz="1150" b="0">
                          <a:solidFill>
                            <a:srgbClr val="0F172A"/>
                          </a:solidFill>
                        </a:rPr>
                        <a:t>8,385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r"/>
                      <a:r>
                        <a:rPr sz="1150" b="0">
                          <a:solidFill>
                            <a:srgbClr val="0F172A"/>
                          </a:solidFill>
                        </a:rPr>
                        <a:t>21.4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20624">
                <a:tc>
                  <a:txBody>
                    <a:bodyPr wrap="square"/>
                    <a:lstStyle/>
                    <a:p>
                      <a:pPr algn="l"/>
                      <a:r>
                        <a:rPr sz="1150" b="1">
                          <a:solidFill>
                            <a:srgbClr val="0F172A"/>
                          </a:solidFill>
                        </a:rPr>
                        <a:t>Mean of last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150" b="0">
                          <a:solidFill>
                            <a:srgbClr val="0F172A"/>
                          </a:solidFill>
                        </a:rPr>
                        <a:t>9,301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150" b="0">
                          <a:solidFill>
                            <a:srgbClr val="0F172A"/>
                          </a:solidFill>
                        </a:rPr>
                        <a:t>24.8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20624">
                <a:tc>
                  <a:txBody>
                    <a:bodyPr wrap="square"/>
                    <a:lstStyle/>
                    <a:p>
                      <a:pPr algn="l"/>
                      <a:r>
                        <a:rPr sz="1150" b="1">
                          <a:solidFill>
                            <a:srgbClr val="0F172A"/>
                          </a:solidFill>
                        </a:rPr>
                        <a:t>Last value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r"/>
                      <a:r>
                        <a:rPr sz="1150" b="0">
                          <a:solidFill>
                            <a:srgbClr val="0F172A"/>
                          </a:solidFill>
                        </a:rPr>
                        <a:t>9,565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r"/>
                      <a:r>
                        <a:rPr sz="1150" b="0">
                          <a:solidFill>
                            <a:srgbClr val="0F172A"/>
                          </a:solidFill>
                        </a:rPr>
                        <a:t>27.8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9" name="TextBox 28"/>
          <p:cNvSpPr txBox="1"/>
          <p:nvPr/>
        </p:nvSpPr>
        <p:spPr>
          <a:xfrm>
            <a:off x="6583680" y="3520440"/>
            <a:ext cx="5056632" cy="914400"/>
          </a:xfrm>
          <a:prstGeom prst="rect">
            <a:avLst/>
          </a:prstGeom>
          <a:noFill/>
        </p:spPr>
        <p:txBody>
          <a:bodyPr wrap="square" lIns="0" rIns="0" tIns="0" bIns="0" anchor="t">
            <a:spAutoFit/>
          </a:bodyPr>
          <a:lstStyle/>
          <a:p>
            <a:pPr algn="l">
              <a:spcAft>
                <a:spcPts val="400"/>
              </a:spcAft>
            </a:pPr>
            <a:r>
              <a:rPr sz="1100" b="0" i="1">
                <a:solidFill>
                  <a:srgbClr val="475569"/>
                </a:solidFill>
              </a:rPr>
              <a:t>Demo account, one-step-ahead backtest of months 4-6; app forecast for November: INR 39,471.</a:t>
            </a:r>
          </a:p>
        </p:txBody>
      </p:sp>
      <p:sp>
        <p:nvSpPr>
          <p:cNvPr id="30" name="TextBox 29"/>
          <p:cNvSpPr txBox="1"/>
          <p:nvPr/>
        </p:nvSpPr>
        <p:spPr>
          <a:xfrm>
            <a:off x="548640" y="4937760"/>
            <a:ext cx="11091672" cy="1554480"/>
          </a:xfrm>
          <a:prstGeom prst="rect">
            <a:avLst/>
          </a:prstGeom>
          <a:noFill/>
        </p:spPr>
        <p:txBody>
          <a:bodyPr wrap="square" lIns="0" rIns="0" tIns="0" bIns="0" anchor="t">
            <a:spAutoFit/>
          </a:bodyPr>
          <a:lstStyle/>
          <a:p>
            <a:pPr algn="l" marL="256032" indent="-201168">
              <a:spcAft>
                <a:spcPts val="400"/>
              </a:spcAft>
              <a:buChar char="•"/>
            </a:pPr>
            <a:r>
              <a:rPr sz="1250" b="0" i="0">
                <a:solidFill>
                  <a:srgbClr val="0F172A"/>
                </a:solidFill>
              </a:rPr>
              <a:t>The model is perfect on seed-like text and near-perfect on statement strings, but only 18.2 % on unseen merchants; 48 of 56 errors are predicted as Transport.</a:t>
            </a:r>
          </a:p>
          <a:p>
            <a:pPr algn="l" marL="256032" indent="-201168">
              <a:spcAft>
                <a:spcPts val="400"/>
              </a:spcAft>
              <a:buChar char="•"/>
            </a:pPr>
            <a:r>
              <a:rPr sz="1250" b="0" i="0">
                <a:solidFill>
                  <a:srgbClr val="0F172A"/>
                </a:solidFill>
              </a:rPr>
              <a:t>Leave-one-out on the 51 seed pairs is 11.8 %: the seed list is tiny and non-redundant. One correction fixes a repeat merchant (18.2 % to 100 %) but barely helps new ones.</a:t>
            </a:r>
          </a:p>
          <a:p>
            <a:pPr algn="l" marL="256032" indent="-201168">
              <a:spcAft>
                <a:spcPts val="400"/>
              </a:spcAft>
              <a:buChar char="•"/>
            </a:pPr>
            <a:r>
              <a:rPr sz="1250" b="0" i="0">
                <a:solidFill>
                  <a:srgbClr val="0F172A"/>
                </a:solidFill>
              </a:rPr>
              <a:t>The linear trend is not better than a plain mean on this short history (MAPE 28.4 % vs 21.4 %); a synthetic simulation shows it needs about 7 or more months.</a:t>
            </a:r>
          </a:p>
          <a:p>
            <a:pPr algn="l" marL="256032" indent="-201168">
              <a:spcAft>
                <a:spcPts val="400"/>
              </a:spcAft>
              <a:buChar char="•"/>
            </a:pPr>
            <a:r>
              <a:rPr sz="1250" b="0" i="1">
                <a:solidFill>
                  <a:srgbClr val="475569"/>
                </a:solidFill>
              </a:rPr>
              <a:t>Probe set and demo data are ours, not independent; the base paper's 92.3 % BERT accuracy is on different data and is not comparable.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Output screens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pic>
        <p:nvPicPr>
          <p:cNvPr id="26" name="Picture 25" descr="05_dashboard.png"/>
          <p:cNvPicPr>
            <a:picLocks noChangeAspect="1"/>
          </p:cNvPicPr>
          <p:nvPr/>
        </p:nvPicPr>
        <p:blipFill>
          <a:blip r:embed="rId2"/>
          <a:stretch>
            <a:fillRect/>
          </a:stretch>
        </p:blipFill>
        <p:spPr>
          <a:xfrm>
            <a:off x="598932" y="1188720"/>
            <a:ext cx="3511296" cy="2194560"/>
          </a:xfrm>
          <a:prstGeom prst="rect">
            <a:avLst/>
          </a:prstGeom>
          <a:ln w="9525">
            <a:solidFill>
              <a:srgbClr val="D5DCE6"/>
            </a:solidFill>
          </a:ln>
        </p:spPr>
      </p:pic>
      <p:sp>
        <p:nvSpPr>
          <p:cNvPr id="27" name="TextBox 26"/>
          <p:cNvSpPr txBox="1"/>
          <p:nvPr/>
        </p:nvSpPr>
        <p:spPr>
          <a:xfrm>
            <a:off x="548640" y="3429000"/>
            <a:ext cx="3611880" cy="411480"/>
          </a:xfrm>
          <a:prstGeom prst="rect">
            <a:avLst/>
          </a:prstGeom>
          <a:noFill/>
        </p:spPr>
        <p:txBody>
          <a:bodyPr wrap="square" lIns="0" rIns="0" tIns="0" bIns="0" anchor="t">
            <a:spAutoFit/>
          </a:bodyPr>
          <a:lstStyle/>
          <a:p>
            <a:pPr algn="ctr">
              <a:spcAft>
                <a:spcPts val="400"/>
              </a:spcAft>
            </a:pPr>
            <a:r>
              <a:rPr sz="1100" b="0" i="1">
                <a:solidFill>
                  <a:srgbClr val="475569"/>
                </a:solidFill>
              </a:rPr>
              <a:t>Dashboard: balance, savings, health score 90</a:t>
            </a:r>
          </a:p>
        </p:txBody>
      </p:sp>
      <p:pic>
        <p:nvPicPr>
          <p:cNvPr id="28" name="Picture 27" descr="09_transactions-import.png"/>
          <p:cNvPicPr>
            <a:picLocks noChangeAspect="1"/>
          </p:cNvPicPr>
          <p:nvPr/>
        </p:nvPicPr>
        <p:blipFill>
          <a:blip r:embed="rId1"/>
          <a:stretch>
            <a:fillRect/>
          </a:stretch>
        </p:blipFill>
        <p:spPr>
          <a:xfrm>
            <a:off x="4338828" y="1188720"/>
            <a:ext cx="3511296" cy="2194560"/>
          </a:xfrm>
          <a:prstGeom prst="rect">
            <a:avLst/>
          </a:prstGeom>
          <a:ln w="9525">
            <a:solidFill>
              <a:srgbClr val="D5DCE6"/>
            </a:solidFill>
          </a:ln>
        </p:spPr>
      </p:pic>
      <p:sp>
        <p:nvSpPr>
          <p:cNvPr id="29" name="TextBox 28"/>
          <p:cNvSpPr txBox="1"/>
          <p:nvPr/>
        </p:nvSpPr>
        <p:spPr>
          <a:xfrm>
            <a:off x="4288536" y="3429000"/>
            <a:ext cx="3611880" cy="411480"/>
          </a:xfrm>
          <a:prstGeom prst="rect">
            <a:avLst/>
          </a:prstGeom>
          <a:noFill/>
        </p:spPr>
        <p:txBody>
          <a:bodyPr wrap="square" lIns="0" rIns="0" tIns="0" bIns="0" anchor="t">
            <a:spAutoFit/>
          </a:bodyPr>
          <a:lstStyle/>
          <a:p>
            <a:pPr algn="ctr">
              <a:spcAft>
                <a:spcPts val="400"/>
              </a:spcAft>
            </a:pPr>
            <a:r>
              <a:rPr sz="1100" b="0" i="1">
                <a:solidFill>
                  <a:srgbClr val="475569"/>
                </a:solidFill>
              </a:rPr>
              <a:t>CSV/Excel import with preview and auto-categories</a:t>
            </a:r>
          </a:p>
        </p:txBody>
      </p:sp>
      <p:pic>
        <p:nvPicPr>
          <p:cNvPr id="30" name="Picture 29" descr="11_analytics-prediction.png"/>
          <p:cNvPicPr>
            <a:picLocks noChangeAspect="1"/>
          </p:cNvPicPr>
          <p:nvPr/>
        </p:nvPicPr>
        <p:blipFill>
          <a:blip r:embed="rId5"/>
          <a:stretch>
            <a:fillRect/>
          </a:stretch>
        </p:blipFill>
        <p:spPr>
          <a:xfrm>
            <a:off x="8078723" y="1188720"/>
            <a:ext cx="3511296" cy="2194560"/>
          </a:xfrm>
          <a:prstGeom prst="rect">
            <a:avLst/>
          </a:prstGeom>
          <a:ln w="9525">
            <a:solidFill>
              <a:srgbClr val="D5DCE6"/>
            </a:solidFill>
          </a:ln>
        </p:spPr>
      </p:pic>
      <p:sp>
        <p:nvSpPr>
          <p:cNvPr id="31" name="TextBox 30"/>
          <p:cNvSpPr txBox="1"/>
          <p:nvPr/>
        </p:nvSpPr>
        <p:spPr>
          <a:xfrm>
            <a:off x="8028431" y="3429000"/>
            <a:ext cx="3611880" cy="411480"/>
          </a:xfrm>
          <a:prstGeom prst="rect">
            <a:avLst/>
          </a:prstGeom>
          <a:noFill/>
        </p:spPr>
        <p:txBody>
          <a:bodyPr wrap="square" lIns="0" rIns="0" tIns="0" bIns="0" anchor="t">
            <a:spAutoFit/>
          </a:bodyPr>
          <a:lstStyle/>
          <a:p>
            <a:pPr algn="ctr">
              <a:spcAft>
                <a:spcPts val="400"/>
              </a:spcAft>
            </a:pPr>
            <a:r>
              <a:rPr sz="1100" b="0" i="1">
                <a:solidFill>
                  <a:srgbClr val="475569"/>
                </a:solidFill>
              </a:rPr>
              <a:t>Spending prediction: next month INR 39,471</a:t>
            </a:r>
          </a:p>
        </p:txBody>
      </p:sp>
      <p:pic>
        <p:nvPicPr>
          <p:cNvPr id="32" name="Picture 31" descr="12_budgets.png"/>
          <p:cNvPicPr>
            <a:picLocks noChangeAspect="1"/>
          </p:cNvPicPr>
          <p:nvPr/>
        </p:nvPicPr>
        <p:blipFill>
          <a:blip r:embed="rId6"/>
          <a:stretch>
            <a:fillRect/>
          </a:stretch>
        </p:blipFill>
        <p:spPr>
          <a:xfrm>
            <a:off x="598932" y="3886200"/>
            <a:ext cx="3511296" cy="2194560"/>
          </a:xfrm>
          <a:prstGeom prst="rect">
            <a:avLst/>
          </a:prstGeom>
          <a:ln w="9525">
            <a:solidFill>
              <a:srgbClr val="D5DCE6"/>
            </a:solidFill>
          </a:ln>
        </p:spPr>
      </p:pic>
      <p:sp>
        <p:nvSpPr>
          <p:cNvPr id="33" name="TextBox 32"/>
          <p:cNvSpPr txBox="1"/>
          <p:nvPr/>
        </p:nvSpPr>
        <p:spPr>
          <a:xfrm>
            <a:off x="548640" y="6126480"/>
            <a:ext cx="3611880" cy="411480"/>
          </a:xfrm>
          <a:prstGeom prst="rect">
            <a:avLst/>
          </a:prstGeom>
          <a:noFill/>
        </p:spPr>
        <p:txBody>
          <a:bodyPr wrap="square" lIns="0" rIns="0" tIns="0" bIns="0" anchor="t">
            <a:spAutoFit/>
          </a:bodyPr>
          <a:lstStyle/>
          <a:p>
            <a:pPr algn="ctr">
              <a:spcAft>
                <a:spcPts val="400"/>
              </a:spcAft>
            </a:pPr>
            <a:r>
              <a:rPr sz="1100" b="0" i="1">
                <a:solidFill>
                  <a:srgbClr val="475569"/>
                </a:solidFill>
              </a:rPr>
              <a:t>Budgets with usage and alerts</a:t>
            </a:r>
          </a:p>
        </p:txBody>
      </p:sp>
      <p:pic>
        <p:nvPicPr>
          <p:cNvPr id="34" name="Picture 33" descr="15_assistant.png"/>
          <p:cNvPicPr>
            <a:picLocks noChangeAspect="1"/>
          </p:cNvPicPr>
          <p:nvPr/>
        </p:nvPicPr>
        <p:blipFill>
          <a:blip r:embed="rId7"/>
          <a:stretch>
            <a:fillRect/>
          </a:stretch>
        </p:blipFill>
        <p:spPr>
          <a:xfrm>
            <a:off x="4338828" y="3886200"/>
            <a:ext cx="3511296" cy="2194560"/>
          </a:xfrm>
          <a:prstGeom prst="rect">
            <a:avLst/>
          </a:prstGeom>
          <a:ln w="9525">
            <a:solidFill>
              <a:srgbClr val="D5DCE6"/>
            </a:solidFill>
          </a:ln>
        </p:spPr>
      </p:pic>
      <p:sp>
        <p:nvSpPr>
          <p:cNvPr id="35" name="TextBox 34"/>
          <p:cNvSpPr txBox="1"/>
          <p:nvPr/>
        </p:nvSpPr>
        <p:spPr>
          <a:xfrm>
            <a:off x="4288536" y="6126480"/>
            <a:ext cx="3611880" cy="411480"/>
          </a:xfrm>
          <a:prstGeom prst="rect">
            <a:avLst/>
          </a:prstGeom>
          <a:noFill/>
        </p:spPr>
        <p:txBody>
          <a:bodyPr wrap="square" lIns="0" rIns="0" tIns="0" bIns="0" anchor="t">
            <a:spAutoFit/>
          </a:bodyPr>
          <a:lstStyle/>
          <a:p>
            <a:pPr algn="ctr">
              <a:spcAft>
                <a:spcPts val="400"/>
              </a:spcAft>
            </a:pPr>
            <a:r>
              <a:rPr sz="1100" b="0" i="1">
                <a:solidFill>
                  <a:srgbClr val="475569"/>
                </a:solidFill>
              </a:rPr>
              <a:t>AI assistant answering from the user's data</a:t>
            </a:r>
          </a:p>
        </p:txBody>
      </p:sp>
      <p:pic>
        <p:nvPicPr>
          <p:cNvPr id="36" name="Picture 35" descr="16_reports.png"/>
          <p:cNvPicPr>
            <a:picLocks noChangeAspect="1"/>
          </p:cNvPicPr>
          <p:nvPr/>
        </p:nvPicPr>
        <p:blipFill>
          <a:blip r:embed="rId8"/>
          <a:stretch>
            <a:fillRect/>
          </a:stretch>
        </p:blipFill>
        <p:spPr>
          <a:xfrm>
            <a:off x="8078723" y="3886200"/>
            <a:ext cx="3511296" cy="2194560"/>
          </a:xfrm>
          <a:prstGeom prst="rect">
            <a:avLst/>
          </a:prstGeom>
          <a:ln w="9525">
            <a:solidFill>
              <a:srgbClr val="D5DCE6"/>
            </a:solidFill>
          </a:ln>
        </p:spPr>
      </p:pic>
      <p:sp>
        <p:nvSpPr>
          <p:cNvPr id="37" name="TextBox 36"/>
          <p:cNvSpPr txBox="1"/>
          <p:nvPr/>
        </p:nvSpPr>
        <p:spPr>
          <a:xfrm>
            <a:off x="8028431" y="6126480"/>
            <a:ext cx="3611880" cy="411480"/>
          </a:xfrm>
          <a:prstGeom prst="rect">
            <a:avLst/>
          </a:prstGeom>
          <a:noFill/>
        </p:spPr>
        <p:txBody>
          <a:bodyPr wrap="square" lIns="0" rIns="0" tIns="0" bIns="0" anchor="t">
            <a:spAutoFit/>
          </a:bodyPr>
          <a:lstStyle/>
          <a:p>
            <a:pPr algn="ctr">
              <a:spcAft>
                <a:spcPts val="400"/>
              </a:spcAft>
            </a:pPr>
            <a:r>
              <a:rPr sz="1100" b="0" i="1">
                <a:solidFill>
                  <a:srgbClr val="475569"/>
                </a:solidFill>
              </a:rPr>
              <a:t>Reports: PDF, Excel and CSV downloads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Initial testing and observations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
        <p:nvSpPr>
          <p:cNvPr id="26" name="Rounded Rectangle 25"/>
          <p:cNvSpPr/>
          <p:nvPr/>
        </p:nvSpPr>
        <p:spPr>
          <a:xfrm>
            <a:off x="548640"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38 / 38</a:t>
            </a:r>
          </a:p>
        </p:txBody>
      </p:sp>
      <p:sp>
        <p:nvSpPr>
          <p:cNvPr id="29" name="TextBox 28"/>
          <p:cNvSpPr txBox="1"/>
          <p:nvPr/>
        </p:nvSpPr>
        <p:spPr>
          <a:xfrm>
            <a:off x="749808"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pytest tests pass (auth 9, budget 6, health 6, ML 9, transactions 8)</a:t>
            </a:r>
          </a:p>
        </p:txBody>
      </p:sp>
      <p:sp>
        <p:nvSpPr>
          <p:cNvPr id="30" name="Rounded Rectangle 29"/>
          <p:cNvSpPr/>
          <p:nvPr/>
        </p:nvSpPr>
        <p:spPr>
          <a:xfrm>
            <a:off x="3374136"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8016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49 / 49</a:t>
            </a:r>
          </a:p>
        </p:txBody>
      </p:sp>
      <p:sp>
        <p:nvSpPr>
          <p:cNvPr id="33" name="TextBox 32"/>
          <p:cNvSpPr txBox="1"/>
          <p:nvPr/>
        </p:nvSpPr>
        <p:spPr>
          <a:xfrm>
            <a:off x="3575304"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end-to-end smoke checks on a throw-away database</a:t>
            </a:r>
          </a:p>
        </p:txBody>
      </p:sp>
      <p:sp>
        <p:nvSpPr>
          <p:cNvPr id="34" name="Rounded Rectangle 33"/>
          <p:cNvSpPr/>
          <p:nvPr/>
        </p:nvSpPr>
        <p:spPr>
          <a:xfrm>
            <a:off x="6199631"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8016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6 / 6</a:t>
            </a:r>
          </a:p>
        </p:txBody>
      </p:sp>
      <p:sp>
        <p:nvSpPr>
          <p:cNvPr id="37" name="TextBox 36"/>
          <p:cNvSpPr txBox="1"/>
          <p:nvPr/>
        </p:nvSpPr>
        <p:spPr>
          <a:xfrm>
            <a:off x="6400799"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off-topic assistant questions correctly declined</a:t>
            </a:r>
          </a:p>
        </p:txBody>
      </p:sp>
      <p:sp>
        <p:nvSpPr>
          <p:cNvPr id="38" name="Rounded Rectangle 37"/>
          <p:cNvSpPr/>
          <p:nvPr/>
        </p:nvSpPr>
        <p:spPr>
          <a:xfrm>
            <a:off x="9025128"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8016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14 / 20</a:t>
            </a:r>
          </a:p>
        </p:txBody>
      </p:sp>
      <p:sp>
        <p:nvSpPr>
          <p:cNvPr id="41" name="TextBox 40"/>
          <p:cNvSpPr txBox="1"/>
          <p:nvPr/>
        </p:nvSpPr>
        <p:spPr>
          <a:xfrm>
            <a:off x="9226296"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answerable questions handled from the data</a:t>
            </a:r>
          </a:p>
        </p:txBody>
      </p:sp>
      <p:graphicFrame>
        <p:nvGraphicFramePr>
          <p:cNvPr id="42" name="Table 41"/>
          <p:cNvGraphicFramePr>
            <a:graphicFrameLocks noGrp="1"/>
          </p:cNvGraphicFramePr>
          <p:nvPr/>
        </p:nvGraphicFramePr>
        <p:xfrm>
          <a:off x="548640" y="2697480"/>
          <a:ext cx="5760720" cy="3657600"/>
        </p:xfrm>
        <a:graphic>
          <a:graphicData uri="http://schemas.openxmlformats.org/drawingml/2006/table">
            <a:tbl>
              <a:tblPr firstRow="0" bandRow="0">
                <a:tableStyleId>{5C22544A-7EE6-4342-B048-85BDC9FD1C3A}</a:tableStyleId>
              </a:tblPr>
              <a:tblGrid>
                <a:gridCol w="3566160"/>
                <a:gridCol w="2194560"/>
              </a:tblGrid>
              <a:tr h="457200">
                <a:tc>
                  <a:txBody>
                    <a:bodyPr wrap="square"/>
                    <a:lstStyle/>
                    <a:p>
                      <a:pPr algn="ctr"/>
                      <a:r>
                        <a:rPr sz="1300" b="1">
                          <a:solidFill>
                            <a:srgbClr val="FFFFFF"/>
                          </a:solidFill>
                        </a:rPr>
                        <a:t>Check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Result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57200">
                <a:tc>
                  <a:txBody>
                    <a:bodyPr wrap="square"/>
                    <a:lstStyle/>
                    <a:p>
                      <a:pPr algn="l"/>
                      <a:r>
                        <a:rPr sz="1300" b="1">
                          <a:solidFill>
                            <a:srgbClr val="0F172A"/>
                          </a:solidFill>
                        </a:rPr>
                        <a:t>Weak password / wrong password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rejected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300" b="1">
                          <a:solidFill>
                            <a:srgbClr val="0F172A"/>
                          </a:solidFill>
                        </a:rPr>
                        <a:t>Tampered token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rejected (401)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300" b="1">
                          <a:solidFill>
                            <a:srgbClr val="0F172A"/>
                          </a:solidFill>
                        </a:rPr>
                        <a:t>Protected route without token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401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300" b="1">
                          <a:solidFill>
                            <a:srgbClr val="0F172A"/>
                          </a:solidFill>
                        </a:rPr>
                        <a:t>Second user sees first user's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no (scoped by user_id)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300" b="1">
                          <a:solidFill>
                            <a:srgbClr val="0F172A"/>
                          </a:solidFill>
                        </a:rPr>
                        <a:t>Duplicate e-mail on profile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rejected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300" b="1">
                          <a:solidFill>
                            <a:srgbClr val="0F172A"/>
                          </a:solidFill>
                        </a:rPr>
                        <a:t>Bad analytics date range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rejected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300" b="1">
                          <a:solidFill>
                            <a:srgbClr val="0F172A"/>
                          </a:solidFill>
                        </a:rPr>
                        <a:t>Food total vs direct SUM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INR 17,365, identical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43" name="TextBox 42"/>
          <p:cNvSpPr txBox="1"/>
          <p:nvPr/>
        </p:nvSpPr>
        <p:spPr>
          <a:xfrm>
            <a:off x="6583680" y="2697480"/>
            <a:ext cx="5056632" cy="3657600"/>
          </a:xfrm>
          <a:prstGeom prst="rect">
            <a:avLst/>
          </a:prstGeom>
          <a:noFill/>
        </p:spPr>
        <p:txBody>
          <a:bodyPr wrap="square" lIns="0" rIns="0" tIns="0" bIns="0" anchor="t">
            <a:spAutoFit/>
          </a:bodyPr>
          <a:lstStyle/>
          <a:p>
            <a:pPr algn="l" marL="256032" indent="-201168">
              <a:spcAft>
                <a:spcPts val="800"/>
              </a:spcAft>
              <a:buChar char="•"/>
            </a:pPr>
            <a:r>
              <a:rPr sz="1450" b="1" i="0">
                <a:solidFill>
                  <a:srgbClr val="0F172A"/>
                </a:solidFill>
              </a:rPr>
              <a:t>What the tests cover</a:t>
            </a:r>
            <a:r>
              <a:rPr sz="1450" b="0" i="0">
                <a:solidFill>
                  <a:srgbClr val="0F172A"/>
                </a:solidFill>
              </a:rPr>
              <a:t>: sign-up and login rules, budgets and alerts, the health score, classifier and forecast, add / edit / delete / filter of transactions, import, reports, profile.</a:t>
            </a:r>
          </a:p>
          <a:p>
            <a:pPr algn="l" marL="256032" indent="-201168">
              <a:spcAft>
                <a:spcPts val="800"/>
              </a:spcAft>
              <a:buChar char="•"/>
            </a:pPr>
            <a:r>
              <a:rPr sz="1450" b="1" i="0">
                <a:solidFill>
                  <a:srgbClr val="0F172A"/>
                </a:solidFill>
              </a:rPr>
              <a:t>Found by measurement</a:t>
            </a:r>
            <a:r>
              <a:rPr sz="1450" b="0" i="0">
                <a:solidFill>
                  <a:srgbClr val="0F172A"/>
                </a:solidFill>
              </a:rPr>
              <a:t>: unseen merchants mislabelled, six assistant questions missed (e.g. 'biggest expense'), one quirk: 'overspending on shopping?' returns a total, not a budget comparison.</a:t>
            </a:r>
          </a:p>
          <a:p>
            <a:pPr algn="l" marL="256032" indent="-201168">
              <a:spcAft>
                <a:spcPts val="400"/>
              </a:spcAft>
              <a:buChar char="•"/>
            </a:pPr>
            <a:r>
              <a:rPr sz="1450" b="1" i="0">
                <a:solidFill>
                  <a:srgbClr val="0F172A"/>
                </a:solidFill>
              </a:rPr>
              <a:t>Not done</a:t>
            </a:r>
            <a:r>
              <a:rPr sz="1450" b="0" i="0">
                <a:solidFill>
                  <a:srgbClr val="0F172A"/>
                </a:solidFill>
              </a:rPr>
              <a:t>: browser-level automated UI tests, concurrency, security scan, LLM layer, live price refresh.</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Challenges and corrective actions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graphicFrame>
        <p:nvGraphicFramePr>
          <p:cNvPr id="26" name="Table 25"/>
          <p:cNvGraphicFramePr>
            <a:graphicFrameLocks noGrp="1"/>
          </p:cNvGraphicFramePr>
          <p:nvPr/>
        </p:nvGraphicFramePr>
        <p:xfrm>
          <a:off x="548640" y="1234440"/>
          <a:ext cx="11091672" cy="5102352"/>
        </p:xfrm>
        <a:graphic>
          <a:graphicData uri="http://schemas.openxmlformats.org/drawingml/2006/table">
            <a:tbl>
              <a:tblPr firstRow="0" bandRow="0">
                <a:tableStyleId>{5C22544A-7EE6-4342-B048-85BDC9FD1C3A}</a:tableStyleId>
              </a:tblPr>
              <a:tblGrid>
                <a:gridCol w="2194560"/>
                <a:gridCol w="4480560"/>
                <a:gridCol w="4416552"/>
              </a:tblGrid>
              <a:tr h="566928">
                <a:tc>
                  <a:txBody>
                    <a:bodyPr wrap="square"/>
                    <a:lstStyle/>
                    <a:p>
                      <a:pPr algn="ctr"/>
                      <a:r>
                        <a:rPr sz="1200" b="1">
                          <a:solidFill>
                            <a:srgbClr val="FFFFFF"/>
                          </a:solidFill>
                        </a:rPr>
                        <a:t>Challenge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What we found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66928">
                <a:tc>
                  <a:txBody>
                    <a:bodyPr wrap="square"/>
                    <a:lstStyle/>
                    <a:p>
                      <a:pPr algn="l"/>
                      <a:r>
                        <a:rPr sz="1200" b="1">
                          <a:solidFill>
                            <a:srgbClr val="0F172A"/>
                          </a:solidFill>
                        </a:rPr>
                        <a:t>No labelled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Only 51 seed phrases; no public corpus used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Wrote a 198-item probe set and reported tiers, not one headline number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200" b="1">
                          <a:solidFill>
                            <a:srgbClr val="0F172A"/>
                          </a:solidFill>
                        </a:rPr>
                        <a:t>Unseen merchants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Tier C accuracy 18.2 %; errors collapse to Transport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Measured; confidence abstention shown offline (not in app); corrections retrain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200" b="1">
                          <a:solidFill>
                            <a:srgbClr val="0F172A"/>
                          </a:solidFill>
                        </a:rPr>
                        <a:t>Short history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Trend no better than a mean below ~7 months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Reported; minimum of 3 months is too low for this method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200" b="1">
                          <a:solidFill>
                            <a:srgbClr val="0F172A"/>
                          </a:solidFill>
                        </a:rPr>
                        <a:t>Assistant coverage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6 of 20 answerable questions fall to help text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Listed the misses; LLM layer is optional and untested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200" b="1">
                          <a:solidFill>
                            <a:srgbClr val="0F172A"/>
                          </a:solidFill>
                        </a:rPr>
                        <a:t>Shared model file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One ml/expense_model.pkl serves all users: a correction by one user retrains it for everyone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Documented as a design weakness; per-user models are future 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200" b="1">
                          <a:solidFill>
                            <a:srgbClr val="0F172A"/>
                          </a:solidFill>
                        </a:rPr>
                        <a:t>Slow import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35.2 rows/s, one session per row</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Documented; batch the commit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200" b="1">
                          <a:solidFill>
                            <a:srgbClr val="0F172A"/>
                          </a:solidFill>
                        </a:rPr>
                        <a:t>Library versions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bcrypt 5 breaks passlib; pickle made with sklearn 1.5.0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Pinned bcrypt 4.0.1; retrain the model to remove the warning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200" b="1">
                          <a:solidFill>
                            <a:srgbClr val="0F172A"/>
                          </a:solidFill>
                        </a:rPr>
                        <a:t>Abstract vs build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Flask + MySQL, loans, scheduler, anomaly detection in the abstract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FastAPI + SQLite; the gaps are reported, not hidden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Next steps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
        <p:nvSpPr>
          <p:cNvPr id="26" name="Rounded Rectangle 25"/>
          <p:cNvSpPr/>
          <p:nvPr/>
        </p:nvSpPr>
        <p:spPr>
          <a:xfrm>
            <a:off x="548640" y="1463040"/>
            <a:ext cx="3520440"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Improve</a:t>
            </a:r>
          </a:p>
        </p:txBody>
      </p:sp>
      <p:sp>
        <p:nvSpPr>
          <p:cNvPr id="29" name="TextBox 28"/>
          <p:cNvSpPr txBox="1"/>
          <p:nvPr/>
        </p:nvSpPr>
        <p:spPr>
          <a:xfrm>
            <a:off x="749808" y="2331720"/>
            <a:ext cx="3118104" cy="2286000"/>
          </a:xfrm>
          <a:prstGeom prst="rect">
            <a:avLst/>
          </a:prstGeom>
          <a:noFill/>
        </p:spPr>
        <p:txBody>
          <a:bodyPr wrap="square" lIns="0" rIns="0" tIns="0" bIns="0" anchor="t">
            <a:spAutoFit/>
          </a:bodyPr>
          <a:lstStyle/>
          <a:p>
            <a:pPr algn="l">
              <a:spcAft>
                <a:spcPts val="400"/>
              </a:spcAft>
            </a:pPr>
            <a:r>
              <a:rPr sz="1800" b="0" i="0">
                <a:solidFill>
                  <a:srgbClr val="475569"/>
                </a:solidFill>
              </a:rPr>
              <a:t>Add a confidence threshold so unsure labels ask the user, grow the seed list from real corrections, and raise the forecast minimum or blend with a recent mean.</a:t>
            </a:r>
          </a:p>
        </p:txBody>
      </p:sp>
      <p:sp>
        <p:nvSpPr>
          <p:cNvPr id="30" name="Rounded Rectangle 29"/>
          <p:cNvSpPr/>
          <p:nvPr/>
        </p:nvSpPr>
        <p:spPr>
          <a:xfrm>
            <a:off x="4334255" y="1463040"/>
            <a:ext cx="3520440"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Complete</a:t>
            </a:r>
          </a:p>
        </p:txBody>
      </p:sp>
      <p:sp>
        <p:nvSpPr>
          <p:cNvPr id="33" name="TextBox 32"/>
          <p:cNvSpPr txBox="1"/>
          <p:nvPr/>
        </p:nvSpPr>
        <p:spPr>
          <a:xfrm>
            <a:off x="4535423" y="2331720"/>
            <a:ext cx="3118104" cy="2286000"/>
          </a:xfrm>
          <a:prstGeom prst="rect">
            <a:avLst/>
          </a:prstGeom>
          <a:noFill/>
        </p:spPr>
        <p:txBody>
          <a:bodyPr wrap="square" lIns="0" rIns="0" tIns="0" bIns="0" anchor="t">
            <a:spAutoFit/>
          </a:bodyPr>
          <a:lstStyle/>
          <a:p>
            <a:pPr algn="l">
              <a:spcAft>
                <a:spcPts val="400"/>
              </a:spcAft>
            </a:pPr>
            <a:r>
              <a:rPr sz="1800" b="0" i="0">
                <a:solidFill>
                  <a:srgbClr val="475569"/>
                </a:solidFill>
              </a:rPr>
              <a:t>Decide with the guide whether to add a simple anomaly rule (z-score on category amounts) and a loan tracker; widen assistant intents; set a real secret key.</a:t>
            </a:r>
          </a:p>
        </p:txBody>
      </p:sp>
      <p:sp>
        <p:nvSpPr>
          <p:cNvPr id="34" name="Rounded Rectangle 33"/>
          <p:cNvSpPr/>
          <p:nvPr/>
        </p:nvSpPr>
        <p:spPr>
          <a:xfrm>
            <a:off x="8119871" y="1463040"/>
            <a:ext cx="3520440"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Deliver</a:t>
            </a:r>
          </a:p>
        </p:txBody>
      </p:sp>
      <p:sp>
        <p:nvSpPr>
          <p:cNvPr id="37" name="TextBox 36"/>
          <p:cNvSpPr txBox="1"/>
          <p:nvPr/>
        </p:nvSpPr>
        <p:spPr>
          <a:xfrm>
            <a:off x="8321040" y="2331720"/>
            <a:ext cx="3118104" cy="2286000"/>
          </a:xfrm>
          <a:prstGeom prst="rect">
            <a:avLst/>
          </a:prstGeom>
          <a:noFill/>
        </p:spPr>
        <p:txBody>
          <a:bodyPr wrap="square" lIns="0" rIns="0" tIns="0" bIns="0" anchor="t">
            <a:spAutoFit/>
          </a:bodyPr>
          <a:lstStyle/>
          <a:p>
            <a:pPr algn="l">
              <a:spcAft>
                <a:spcPts val="400"/>
              </a:spcAft>
            </a:pPr>
            <a:r>
              <a:rPr sz="1800" b="0" i="0">
                <a:solidFill>
                  <a:srgbClr val="475569"/>
                </a:solidFill>
              </a:rPr>
              <a:t>Finish the final report, IEEE paper and presentation from the measured results, and keep every number tied to the metrics files.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FINJARVIS">
  <a:themeElements>
    <a:clrScheme name="FINJARVIS">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FINJARVI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FINJARVI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Based Personal Finance Manager: Review 2</dc:title>
  <dc:subject>Batch C11 (CSE-C)</dc:subject>
  <dc:creator>Mekala Kalyan, Rajanala Sai Hemanth, Middala Surya Teja Reddy, Manga Akash</dc:creator>
  <cp:lastModifiedBy/>
  <cp:revision>1</cp:revision>
  <dcterms:created xsi:type="dcterms:W3CDTF">2026-10-13T12:40:05Z</dcterms:created>
  <dcterms:modified xsi:type="dcterms:W3CDTF">2026-10-13T12:40:05Z</dcterms:modified>
  <cp:keywords>personal finance, expense categorisation, TF-IDF, spending forecast, health score, FastAPI, React</cp:keywords>
  <dc:description/>
</cp:coreProperties>
</file>