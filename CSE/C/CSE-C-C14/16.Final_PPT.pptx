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VeriVision AI, a local application that tells whether an image is real or AI-generated and shows why.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the problem, the system in one breath, the headline number with its protocol, and end on the honest limits.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Larue et al., IEEE Access 2026. The base paper is a one-class face-deepfake detector. We state clearly that this project does not implement it; HEDGE is our design reference for fusion and gating.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Representative work on face deepfakes, diffusion-image detection, foundation-model features, frequency cues and explanation. Batch survey items that could not be verified are marked in the report's reference list and no number from them is used.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gaps from the survey. The project addresses the second, fifth and sixth directly; the third is measured and the result is negative.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statement has three parts: classify, explain, and stay deployable on ordinary hardware.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proposal. The conclusion states the real status of each: 1 partly met, 4 measured and not achieved.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system as one line of boxes and the design rules behind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tiers; all analysis runs on the local machine.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workflow and the measurements added on top of plain accuracy: intervals, calibration, ablation, robustness and a cross-domain probe.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frank about the data: CIFAKE is 32 px and has one generator, and only 6,000 of 100,000 training images were used.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core algorithm in app/ensemble.py. The gate thresholds are engineering defaults, not tuned, and the ablation shows they did not help on this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Sequence of one analysis request and the use cases of the user and the developer.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file-based data model. The no-retention design is deliberate for privacy; it also means there is no analysis history.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Highlights: validation, API surface, load-once models and the interface.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Headline numbers with their protocol. Be explicit that the ensemble is not significantly better than EfficientNet A1 on accuracy, and that errors are mostly real images called AI-generated.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Counts and rates of the ensemble, and the effect of the decision threshold. Raising it lowers false positives at some cost in recall, but the choice was made on the test set.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honest findings: the gating rules are neutral, resizing and blur destroy the cue, and the CIFAKE-trained models do not transfer to full-resolution images from other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full analysis, including three Grad-CAM overlays and three robustness variants, takes under two seconds on this CPU. Tests pass; the untested areas are listed.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that 98.65% AUC on 32 px CIFAKE cannot be set against 98.9% on FF++ faces. Cross-dataset, the paper reports 77.0% on DFDC and our cross-domain probe is at chance.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from the running application with the CIFAKE-trained models.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right-hand screen is deliberately included: the CIFAKE-trained models mislabel real full-resolution photographs, so a High-confidence label is not evidence outside the training domain.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Different routes attend to different regions of the same image. The explanation is an aid, and the screen says so.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about which objectives were met and which were not, and what was never measured.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Concrete next steps, ordered by value.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19.xml"/><Relationship Id="rId6"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4.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2600" b="1" dirty="0">
                <a:solidFill>
                  <a:srgbClr val="1F3864"/>
                </a:solidFill>
                <a:latin typeface="Calibri" pitchFamily="34" charset="0"/>
                <a:ea typeface="Calibri" pitchFamily="34" charset="-122"/>
                <a:cs typeface="Calibri" pitchFamily="34" charset="-120"/>
              </a:rPr>
              <a:t>Detecting AI Generated Images with CNN</a:t>
            </a:r>
            <a:endParaRPr lang="en-US" sz="3200" dirty="0"/>
          </a:p>
          <a:p>
            <a:pPr algn="ctr" indent="0" marL="0">
              <a:buNone/>
            </a:pPr>
            <a:r>
              <a:rPr lang="en-US" sz="2600" b="1" dirty="0">
                <a:solidFill>
                  <a:srgbClr val="1F3864"/>
                </a:solidFill>
                <a:latin typeface="Calibri" pitchFamily="34" charset="0"/>
                <a:ea typeface="Calibri" pitchFamily="34" charset="-122"/>
                <a:cs typeface="Calibri" pitchFamily="34" charset="-120"/>
              </a:rPr>
              <a:t>and Interpretation Using Explainable AI</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  ·  VeriVision AI</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C14</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23K91A05J5   Ponugoti Viduranandan</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23K91A05G9   Naina Baherji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23K91A05D2   Likki Pranathi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23K91A05G0   Motasani Sathish</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M Thanmayee</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[COLLEGE NAME]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Base Paper &amp; Literature Survey</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Research Gap, Problem Statement &amp; Objectives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Proposed System &amp; Architecture</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Methodology, Dataset &amp; Models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Decision Logic, Interaction &amp; Data Model</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Implementation Highlights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Results: Held-out, Threshold, Robustness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Performance &amp; Testing</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Comparison with Base Paper</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Output Screens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Conclusion, Future Scope &amp; 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691640"/>
            <a:ext cx="11155680" cy="4572000"/>
          </a:xfrm>
          <a:prstGeom prst="rect">
            <a:avLst/>
          </a:prstGeom>
          <a:noFill/>
        </p:spPr>
        <p:txBody>
          <a:bodyPr wrap="square" lIns="0" rIns="0" tIns="0" bIns="0" anchor="t">
            <a:spAutoFit/>
          </a:bodyPr>
          <a:lstStyle/>
          <a:p>
            <a:pPr algn="l" marL="256032" indent="-201168">
              <a:spcAft>
                <a:spcPts val="900"/>
              </a:spcAft>
              <a:buChar char="•"/>
            </a:pPr>
            <a:r>
              <a:rPr sz="1600" b="0" i="0">
                <a:solidFill>
                  <a:srgbClr val="222222"/>
                </a:solidFill>
                <a:latin typeface="Calibri"/>
                <a:ea typeface="Calibri"/>
                <a:cs typeface="Calibri"/>
              </a:rPr>
              <a:t>AI image generators now produce pictures that people cannot reliably tell from photographs, and a bare real/fake score gives an analyst nothing to defend in a dispute.</a:t>
            </a:r>
          </a:p>
          <a:p>
            <a:pPr algn="l" marL="256032" indent="-201168">
              <a:spcAft>
                <a:spcPts val="900"/>
              </a:spcAft>
              <a:buChar char="•"/>
            </a:pPr>
            <a:r>
              <a:rPr sz="1600" b="0" i="0">
                <a:solidFill>
                  <a:srgbClr val="222222"/>
                </a:solidFill>
                <a:latin typeface="Calibri"/>
                <a:ea typeface="Calibri"/>
                <a:cs typeface="Calibri"/>
              </a:rPr>
              <a:t>VeriVision AI runs four ImageNet-pretrained CNN routes (EfficientNet-B0 x2, ResNet50, MobileNetV3-Large), fuses their logits with two gating rules, explains the verdict with Grad-CAM and re-tests the image under JPEG, resize and blur.</a:t>
            </a:r>
          </a:p>
          <a:p>
            <a:pPr algn="l" marL="256032" indent="-201168">
              <a:spcAft>
                <a:spcPts val="900"/>
              </a:spcAft>
              <a:buChar char="•"/>
            </a:pPr>
            <a:r>
              <a:rPr sz="1600" b="0" i="0">
                <a:solidFill>
                  <a:srgbClr val="222222"/>
                </a:solidFill>
                <a:latin typeface="Calibri"/>
                <a:ea typeface="Calibri"/>
                <a:cs typeface="Calibri"/>
              </a:rPr>
              <a:t>On a held-out CIFAKE test subset (n = 2,000, 32 px) the ensemble scores 92.35% accuracy, F1 0.9275 and ROC-AUC 0.9865; its advantage over the best single route is not statistically distinguishable.</a:t>
            </a:r>
          </a:p>
          <a:p>
            <a:pPr algn="l" marL="256032" indent="-201168">
              <a:spcAft>
                <a:spcPts val="900"/>
              </a:spcAft>
              <a:buChar char="•"/>
            </a:pPr>
            <a:r>
              <a:rPr sz="1600" b="0" i="0">
                <a:solidFill>
                  <a:srgbClr val="222222"/>
                </a:solidFill>
                <a:latin typeface="Calibri"/>
                <a:ea typeface="Calibri"/>
                <a:cs typeface="Calibri"/>
              </a:rPr>
              <a:t>Resize and blur drop accuracy to 61.0% and 58.3%; on 600 full-resolution images from other sources the ensemble is at chance (51.0%). Cross-generator generalisation was measured and not achieved.</a:t>
            </a:r>
          </a:p>
          <a:p>
            <a:pPr algn="l" marL="256032" indent="-201168">
              <a:spcAft>
                <a:spcPts val="900"/>
              </a:spcAft>
              <a:buChar char="•"/>
            </a:pPr>
            <a:r>
              <a:rPr sz="1600" b="0" i="0">
                <a:solidFill>
                  <a:srgbClr val="222222"/>
                </a:solidFill>
                <a:latin typeface="Calibri"/>
                <a:ea typeface="Calibri"/>
                <a:cs typeface="Calibri"/>
              </a:rPr>
              <a:t>A full analysis takes about 1.7 s on a CPU; 19 of 19 tests and 29 of 29 smoke checks pass.</a:t>
            </a:r>
          </a:p>
          <a:p>
            <a:pPr algn="l" marL="256032" indent="-201168">
              <a:spcAft>
                <a:spcPts val="400"/>
              </a:spcAft>
              <a:buChar char="•"/>
            </a:pPr>
            <a:r>
              <a:rPr sz="1600" b="0" i="0">
                <a:solidFill>
                  <a:srgbClr val="222222"/>
                </a:solidFill>
                <a:latin typeface="Calibri"/>
                <a:ea typeface="Calibri"/>
                <a:cs typeface="Calibri"/>
              </a:rPr>
              <a:t>Not done: several generators, full-resolution training data, GPU runs, a user study.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Box 6"/>
          <p:cNvSpPr txBox="1"/>
          <p:nvPr/>
        </p:nvSpPr>
        <p:spPr>
          <a:xfrm>
            <a:off x="502920" y="1691640"/>
            <a:ext cx="11155680" cy="73152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N. Larue, V. Struc, P. Peer and N.-S. Vu, "Learning the manifold of authenticity: hybrid-curvature representation learning for generalizable deepfake detection," IEEE Access, vol. 14, pp. 101988-102001, 2026, doi: 10.1109/ACCESS.2026.3702429.</a:t>
            </a:r>
          </a:p>
        </p:txBody>
      </p:sp>
      <p:graphicFrame>
        <p:nvGraphicFramePr>
          <p:cNvPr id="8" name="Table 7"/>
          <p:cNvGraphicFramePr>
            <a:graphicFrameLocks noGrp="1"/>
          </p:cNvGraphicFramePr>
          <p:nvPr/>
        </p:nvGraphicFramePr>
        <p:xfrm>
          <a:off x="502920" y="2514600"/>
          <a:ext cx="11155680" cy="3401568"/>
        </p:xfrm>
        <a:graphic>
          <a:graphicData uri="http://schemas.openxmlformats.org/drawingml/2006/table">
            <a:tbl>
              <a:tblPr firstRow="0" bandRow="0">
                <a:tableStyleId>{5C22544A-7EE6-4342-B048-85BDC9FD1C3A}</a:tableStyleId>
              </a:tblPr>
              <a:tblGrid>
                <a:gridCol w="1828800"/>
                <a:gridCol w="9326880"/>
              </a:tblGrid>
              <a:tr h="566928">
                <a:tc>
                  <a:txBody>
                    <a:bodyPr wrap="square"/>
                    <a:lstStyle/>
                    <a:p>
                      <a:pPr algn="ctr"/>
                      <a:r>
                        <a:rPr sz="13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Base paper: Learning the manifold of authenticity (CTrue)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300" b="1">
                          <a:solidFill>
                            <a:srgbClr val="222222"/>
                          </a:solidFill>
                          <a:latin typeface="Calibri"/>
                          <a:ea typeface="Calibri"/>
                          <a:cs typeface="Calibri"/>
                        </a:rPr>
                        <a:t>Method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One-class representation learning: only authentic data is used for training, pseudo-fakes are synthesised, a hybrid-curvature representation separates authentic from deepfake faces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300" b="1">
                          <a:solidFill>
                            <a:srgbClr val="222222"/>
                          </a:solidFill>
                          <a:latin typeface="Calibri"/>
                          <a:ea typeface="Calibri"/>
                          <a:cs typeface="Calibri"/>
                        </a:rPr>
                        <a:t>Data and cost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720 pristine FaceForensics++ videos; EfficientNet-B4 (19.3 M parameters); 200 epochs on two V100 GPUs (about 16 h); 74 fps on an RTX 3060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300" b="1">
                          <a:solidFill>
                            <a:srgbClr val="222222"/>
                          </a:solidFill>
                          <a:latin typeface="Calibri"/>
                          <a:ea typeface="Calibri"/>
                          <a:cs typeface="Calibri"/>
                        </a:rPr>
                        <a:t>Reported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AUC 98.9% on FF++ (in-domain) and 77.0% on DFDC in the lambda = 1 ablation; the cross-dataset table is an image in the paper and is not quoted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300" b="1">
                          <a:solidFill>
                            <a:srgbClr val="222222"/>
                          </a:solidFill>
                          <a:latin typeface="Calibri"/>
                          <a:ea typeface="Calibri"/>
                          <a:cs typeface="Calibri"/>
                        </a:rPr>
                        <a:t>Scope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Face deepfakes in video frames; metric is AUC; no per-image explanation of the verdict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300" b="1">
                          <a:solidFill>
                            <a:srgbClr val="222222"/>
                          </a:solidFill>
                          <a:latin typeface="Calibri"/>
                          <a:ea typeface="Calibri"/>
                          <a:cs typeface="Calibri"/>
                        </a:rPr>
                        <a:t>What we take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The goal of generalisable detection and the cross-dataset test idea. We do not implement CTrue: our models are supervised CNNs on general images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6"/>
          <p:cNvGraphicFramePr>
            <a:graphicFrameLocks noGrp="1"/>
          </p:cNvGraphicFramePr>
          <p:nvPr/>
        </p:nvGraphicFramePr>
        <p:xfrm>
          <a:off x="502920" y="1600200"/>
          <a:ext cx="11155680" cy="4572000"/>
        </p:xfrm>
        <a:graphic>
          <a:graphicData uri="http://schemas.openxmlformats.org/drawingml/2006/table">
            <a:tbl>
              <a:tblPr firstRow="0" bandRow="0">
                <a:tableStyleId>{5C22544A-7EE6-4342-B048-85BDC9FD1C3A}</a:tableStyleId>
              </a:tblPr>
              <a:tblGrid>
                <a:gridCol w="2194560"/>
                <a:gridCol w="594360"/>
                <a:gridCol w="4206240"/>
                <a:gridCol w="4160520"/>
              </a:tblGrid>
              <a:tr h="457200">
                <a:tc>
                  <a:txBody>
                    <a:bodyPr wrap="square"/>
                    <a:lstStyle/>
                    <a:p>
                      <a:pPr algn="ctr"/>
                      <a:r>
                        <a:rPr sz="1100" b="1">
                          <a:solidFill>
                            <a:srgbClr val="1F3864"/>
                          </a:solidFill>
                          <a:latin typeface="Calibri"/>
                          <a:ea typeface="Calibri"/>
                          <a:cs typeface="Calibri"/>
                        </a:rPr>
                        <a:t>Work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Year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Approach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Finding / limitation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l"/>
                      <a:r>
                        <a:rPr sz="1100" b="1">
                          <a:solidFill>
                            <a:srgbClr val="222222"/>
                          </a:solidFill>
                          <a:latin typeface="Calibri"/>
                          <a:ea typeface="Calibri"/>
                          <a:cs typeface="Calibri"/>
                        </a:rPr>
                        <a:t>Larue et al. CTrue [1] (base)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One-class face-deepfake detector, EfficientNet-B4, pseudo-fakes, hybrid curvature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AUC 98.9% FF++, 77.0% DFDC (lambda=1); faces only, 2 V100 GPUs, 200 epochs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Wu et al. HEDGE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Three heterogeneous routes, logit fusion and dual gating, DINOv3 / MetaCLIP2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Balanced acc. 98.3% on five benchmarks; gates add 0.37 F1; 8 H800 GPUs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Tasnim et al.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Ten forensic detectors on seven GAN/diffusion sets, Grad-CAM analysis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Strong in-distribution, weaker transfer across generators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Bird &amp; Lotfi CIFAKE [8]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2024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CNN on 60,000 real vs 60,000 Stable Diffusion images (32 px), Grad-CAM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Small-image benchmark; one generator; used as this project's 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Wang et al. [12]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ResNet-50 trained on one GAN, tested on many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Generalises with augmentation; GAN-era generators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Ojha et al. [13]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2023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Frozen CLIP features with a linear probe for universal detection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Better transfer to unseen generators; needs a large pre-trained backbone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Frank et al. [14]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Frequency-domain (DCT) analysis of GAN images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Spectral artefacts are visible; fragile after resizing or compression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Corvi et al. [15]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2023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Detectors for diffusion-generated images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Diffusion images are harder; detectors lose accuracy on new generators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Selvaraju et al. Grad-CAM [26]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2017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Gradient-weighted class activation maps for any CNN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Qualitative heat maps; no guarantee of faithfulness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marL="256032" indent="-201168">
              <a:spcAft>
                <a:spcPts val="2000"/>
              </a:spcAft>
              <a:buChar char="•"/>
            </a:pPr>
            <a:r>
              <a:rPr sz="2200" b="0" i="0">
                <a:solidFill>
                  <a:srgbClr val="222222"/>
                </a:solidFill>
                <a:latin typeface="Calibri"/>
                <a:ea typeface="Calibri"/>
                <a:cs typeface="Calibri"/>
              </a:rPr>
              <a:t>The base paper targets face deepfakes with a one-class model, not general images</a:t>
            </a:r>
          </a:p>
          <a:p>
            <a:pPr algn="l" marL="256032" indent="-201168">
              <a:spcAft>
                <a:spcPts val="2000"/>
              </a:spcAft>
              <a:buChar char="•"/>
            </a:pPr>
            <a:r>
              <a:rPr sz="2200" b="0" i="0">
                <a:solidFill>
                  <a:srgbClr val="222222"/>
                </a:solidFill>
                <a:latin typeface="Calibri"/>
                <a:ea typeface="Calibri"/>
                <a:cs typeface="Calibri"/>
              </a:rPr>
              <a:t>Most detectors report a verdict only; Grad-CAM pairing is rare in deployable tools</a:t>
            </a:r>
          </a:p>
          <a:p>
            <a:pPr algn="l" marL="256032" indent="-201168">
              <a:spcAft>
                <a:spcPts val="2000"/>
              </a:spcAft>
              <a:buChar char="•"/>
            </a:pPr>
            <a:r>
              <a:rPr sz="2200" b="0" i="0">
                <a:solidFill>
                  <a:srgbClr val="222222"/>
                </a:solidFill>
                <a:latin typeface="Calibri"/>
                <a:ea typeface="Calibri"/>
                <a:cs typeface="Calibri"/>
              </a:rPr>
              <a:t>Cross-generator generalisation is claimed often but rarely re-measured on other sources</a:t>
            </a:r>
          </a:p>
          <a:p>
            <a:pPr algn="l" marL="256032" indent="-201168">
              <a:spcAft>
                <a:spcPts val="2000"/>
              </a:spcAft>
              <a:buChar char="•"/>
            </a:pPr>
            <a:r>
              <a:rPr sz="2200" b="0" i="0">
                <a:solidFill>
                  <a:srgbClr val="222222"/>
                </a:solidFill>
                <a:latin typeface="Calibri"/>
                <a:ea typeface="Calibri"/>
                <a:cs typeface="Calibri"/>
              </a:rPr>
              <a:t>Heterogeneous ensembles with gating exist (HEDGE) but need large GPU-trained backbones</a:t>
            </a:r>
          </a:p>
          <a:p>
            <a:pPr algn="l" marL="256032" indent="-201168">
              <a:spcAft>
                <a:spcPts val="2000"/>
              </a:spcAft>
              <a:buChar char="•"/>
            </a:pPr>
            <a:r>
              <a:rPr sz="2200" b="0" i="0">
                <a:solidFill>
                  <a:srgbClr val="222222"/>
                </a:solidFill>
                <a:latin typeface="Calibri"/>
                <a:ea typeface="Calibri"/>
                <a:cs typeface="Calibri"/>
              </a:rPr>
              <a:t>Robustness to JPEG, resizing and blur is seldom reported next to the verdict</a:t>
            </a:r>
          </a:p>
          <a:p>
            <a:pPr algn="l" marL="256032" indent="-201168">
              <a:spcAft>
                <a:spcPts val="2000"/>
              </a:spcAft>
              <a:buChar char="•"/>
            </a:pPr>
            <a:r>
              <a:rPr sz="2200" b="0" i="0">
                <a:solidFill>
                  <a:srgbClr val="222222"/>
                </a:solidFill>
                <a:latin typeface="Calibri"/>
                <a:ea typeface="Calibri"/>
                <a:cs typeface="Calibri"/>
              </a:rPr>
              <a:t>No student-deployable CPU tool joins four CNN routes, Grad-CAM and a robustness check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Rounded Rectangle 6"/>
          <p:cNvSpPr/>
          <p:nvPr/>
        </p:nvSpPr>
        <p:spPr>
          <a:xfrm>
            <a:off x="502920" y="1737360"/>
            <a:ext cx="11155680" cy="210312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783080"/>
            <a:ext cx="10607040" cy="2011680"/>
          </a:xfrm>
          <a:prstGeom prst="rect">
            <a:avLst/>
          </a:prstGeom>
          <a:noFill/>
        </p:spPr>
        <p:txBody>
          <a:bodyPr wrap="square" lIns="0" rIns="0" tIns="0" bIns="0" anchor="ctr">
            <a:spAutoFit/>
          </a:bodyPr>
          <a:lstStyle/>
          <a:p>
            <a:pPr algn="l" marL="256032" indent="-201168">
              <a:spcAft>
                <a:spcPts val="400"/>
              </a:spcAft>
              <a:buChar char="•"/>
            </a:pPr>
            <a:r>
              <a:rPr sz="1700" b="0" i="0">
                <a:solidFill>
                  <a:srgbClr val="222222"/>
                </a:solidFill>
                <a:latin typeface="Calibri"/>
                <a:ea typeface="Calibri"/>
                <a:cs typeface="Calibri"/>
              </a:rPr>
              <a:t>Synthetic images are realistic enough to deceive human observers</a:t>
            </a:r>
          </a:p>
          <a:p>
            <a:pPr algn="l" marL="256032" indent="-201168">
              <a:spcAft>
                <a:spcPts val="400"/>
              </a:spcAft>
              <a:buChar char="•"/>
            </a:pPr>
            <a:r>
              <a:rPr sz="1700" b="0" i="0">
                <a:solidFill>
                  <a:srgbClr val="222222"/>
                </a:solidFill>
                <a:latin typeface="Calibri"/>
                <a:ea typeface="Calibri"/>
                <a:cs typeface="Calibri"/>
              </a:rPr>
              <a:t>Detectors trained on one generator degrade sharply on images from another</a:t>
            </a:r>
          </a:p>
          <a:p>
            <a:pPr algn="l" marL="256032" indent="-201168">
              <a:spcAft>
                <a:spcPts val="400"/>
              </a:spcAft>
              <a:buChar char="•"/>
            </a:pPr>
            <a:r>
              <a:rPr sz="1700" b="0" i="0">
                <a:solidFill>
                  <a:srgbClr val="222222"/>
                </a:solidFill>
                <a:latin typeface="Calibri"/>
                <a:ea typeface="Calibri"/>
                <a:cs typeface="Calibri"/>
              </a:rPr>
              <a:t>Compression and resizing on social platforms remove detectable artefacts</a:t>
            </a:r>
          </a:p>
          <a:p>
            <a:pPr algn="l" marL="256032" indent="-201168">
              <a:spcAft>
                <a:spcPts val="400"/>
              </a:spcAft>
              <a:buChar char="•"/>
            </a:pPr>
            <a:r>
              <a:rPr sz="1700" b="0" i="0">
                <a:solidFill>
                  <a:srgbClr val="222222"/>
                </a:solidFill>
                <a:latin typeface="Calibri"/>
                <a:ea typeface="Calibri"/>
                <a:cs typeface="Calibri"/>
              </a:rPr>
              <a:t>A verdict without a visual justification is not credible in a dispute</a:t>
            </a:r>
          </a:p>
          <a:p>
            <a:pPr algn="l" marL="256032" indent="-201168">
              <a:spcAft>
                <a:spcPts val="400"/>
              </a:spcAft>
              <a:buChar char="•"/>
            </a:pPr>
            <a:r>
              <a:rPr sz="1700" b="0" i="0">
                <a:solidFill>
                  <a:srgbClr val="222222"/>
                </a:solidFill>
                <a:latin typeface="Calibri"/>
                <a:ea typeface="Calibri"/>
                <a:cs typeface="Calibri"/>
              </a:rPr>
              <a:t>Need: a detector that identifies AI-generated images and explains its decision</a:t>
            </a:r>
          </a:p>
        </p:txBody>
      </p:sp>
      <p:sp>
        <p:nvSpPr>
          <p:cNvPr id="9" name="Rounded Rectangle 8"/>
          <p:cNvSpPr/>
          <p:nvPr/>
        </p:nvSpPr>
        <p:spPr>
          <a:xfrm>
            <a:off x="502920" y="411480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20624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Input</a:t>
            </a:r>
          </a:p>
        </p:txBody>
      </p:sp>
      <p:sp>
        <p:nvSpPr>
          <p:cNvPr id="11" name="TextBox 10"/>
          <p:cNvSpPr txBox="1"/>
          <p:nvPr/>
        </p:nvSpPr>
        <p:spPr>
          <a:xfrm>
            <a:off x="685800" y="4663440"/>
            <a:ext cx="3200400" cy="91440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One image (png, jpg, jpeg or webp, up to 10 MB)</a:t>
            </a:r>
          </a:p>
        </p:txBody>
      </p:sp>
      <p:sp>
        <p:nvSpPr>
          <p:cNvPr id="12" name="Rounded Rectangle 11"/>
          <p:cNvSpPr/>
          <p:nvPr/>
        </p:nvSpPr>
        <p:spPr>
          <a:xfrm>
            <a:off x="4251959" y="411480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420624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Output</a:t>
            </a:r>
          </a:p>
        </p:txBody>
      </p:sp>
      <p:sp>
        <p:nvSpPr>
          <p:cNvPr id="14" name="TextBox 13"/>
          <p:cNvSpPr txBox="1"/>
          <p:nvPr/>
        </p:nvSpPr>
        <p:spPr>
          <a:xfrm>
            <a:off x="4434840" y="4663440"/>
            <a:ext cx="3200400" cy="91440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Verdict, confidence, four route votes, Grad-CAM heat maps, robustness consistency</a:t>
            </a:r>
          </a:p>
        </p:txBody>
      </p:sp>
      <p:sp>
        <p:nvSpPr>
          <p:cNvPr id="15" name="Rounded Rectangle 14"/>
          <p:cNvSpPr/>
          <p:nvPr/>
        </p:nvSpPr>
        <p:spPr>
          <a:xfrm>
            <a:off x="8001000" y="411480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83879" y="420624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Constraint</a:t>
            </a:r>
          </a:p>
        </p:txBody>
      </p:sp>
      <p:sp>
        <p:nvSpPr>
          <p:cNvPr id="17" name="TextBox 16"/>
          <p:cNvSpPr txBox="1"/>
          <p:nvPr/>
        </p:nvSpPr>
        <p:spPr>
          <a:xfrm>
            <a:off x="8183879" y="4663440"/>
            <a:ext cx="3200400" cy="91440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Runs locally on a CPU; the image never leaves the machine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a:spcAft>
                <a:spcPts val="1800"/>
              </a:spcAft>
            </a:pPr>
            <a:r>
              <a:rPr sz="2200" b="0" i="0">
                <a:solidFill>
                  <a:srgbClr val="222222"/>
                </a:solidFill>
                <a:latin typeface="Calibri"/>
                <a:ea typeface="Calibri"/>
                <a:cs typeface="Calibri"/>
              </a:rPr>
              <a:t>1.  Assemble a dataset of real photographs and AI-generated images</a:t>
            </a:r>
          </a:p>
          <a:p>
            <a:pPr algn="l">
              <a:spcAft>
                <a:spcPts val="1800"/>
              </a:spcAft>
            </a:pPr>
            <a:r>
              <a:rPr sz="2200" b="0" i="0">
                <a:solidFill>
                  <a:srgbClr val="222222"/>
                </a:solidFill>
                <a:latin typeface="Calibri"/>
                <a:ea typeface="Calibri"/>
                <a:cs typeface="Calibri"/>
              </a:rPr>
              <a:t>2.  Preprocess and augment the images to improve robustness across sources</a:t>
            </a:r>
          </a:p>
          <a:p>
            <a:pPr algn="l">
              <a:spcAft>
                <a:spcPts val="1800"/>
              </a:spcAft>
            </a:pPr>
            <a:r>
              <a:rPr sz="2200" b="0" i="0">
                <a:solidFill>
                  <a:srgbClr val="222222"/>
                </a:solidFill>
                <a:latin typeface="Calibri"/>
                <a:ea typeface="Calibri"/>
                <a:cs typeface="Calibri"/>
              </a:rPr>
              <a:t>3.  Train CNN classifiers that separate real images from generated ones</a:t>
            </a:r>
          </a:p>
          <a:p>
            <a:pPr algn="l">
              <a:spcAft>
                <a:spcPts val="1800"/>
              </a:spcAft>
            </a:pPr>
            <a:r>
              <a:rPr sz="2200" b="0" i="0">
                <a:solidFill>
                  <a:srgbClr val="222222"/>
                </a:solidFill>
                <a:latin typeface="Calibri"/>
                <a:ea typeface="Calibri"/>
                <a:cs typeface="Calibri"/>
              </a:rPr>
              <a:t>4.  Evaluate cross-generator performance to test generalisation</a:t>
            </a:r>
          </a:p>
          <a:p>
            <a:pPr algn="l">
              <a:spcAft>
                <a:spcPts val="1800"/>
              </a:spcAft>
            </a:pPr>
            <a:r>
              <a:rPr sz="2200" b="0" i="0">
                <a:solidFill>
                  <a:srgbClr val="222222"/>
                </a:solidFill>
                <a:latin typeface="Calibri"/>
                <a:ea typeface="Calibri"/>
                <a:cs typeface="Calibri"/>
              </a:rPr>
              <a:t>5.  Apply Grad-CAM to highlight the regions driving each classification</a:t>
            </a:r>
          </a:p>
          <a:p>
            <a:pPr algn="l">
              <a:spcAft>
                <a:spcPts val="1800"/>
              </a:spcAft>
            </a:pPr>
            <a:r>
              <a:rPr sz="2200" b="0" i="0">
                <a:solidFill>
                  <a:srgbClr val="222222"/>
                </a:solidFill>
                <a:latin typeface="Calibri"/>
                <a:ea typeface="Calibri"/>
                <a:cs typeface="Calibri"/>
              </a:rPr>
              <a:t>6.  Deploy the models behind an interface returning verdict, confidence and explanation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Rounded Rectangle 6"/>
          <p:cNvSpPr/>
          <p:nvPr/>
        </p:nvSpPr>
        <p:spPr>
          <a:xfrm>
            <a:off x="502920" y="1783080"/>
            <a:ext cx="1975103" cy="10058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Image upload</a:t>
            </a:r>
          </a:p>
        </p:txBody>
      </p:sp>
      <p:sp>
        <p:nvSpPr>
          <p:cNvPr id="8" name="Right Arrow 7"/>
          <p:cNvSpPr/>
          <p:nvPr/>
        </p:nvSpPr>
        <p:spPr>
          <a:xfrm>
            <a:off x="2537460"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98063" y="1783080"/>
            <a:ext cx="1975103" cy="10058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Validate + resize</a:t>
            </a:r>
          </a:p>
        </p:txBody>
      </p:sp>
      <p:sp>
        <p:nvSpPr>
          <p:cNvPr id="10" name="Right Arrow 9"/>
          <p:cNvSpPr/>
          <p:nvPr/>
        </p:nvSpPr>
        <p:spPr>
          <a:xfrm>
            <a:off x="4832603"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93207" y="1783080"/>
            <a:ext cx="1975103" cy="10058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Four CNN routes</a:t>
            </a:r>
          </a:p>
        </p:txBody>
      </p:sp>
      <p:sp>
        <p:nvSpPr>
          <p:cNvPr id="12" name="Right Arrow 11"/>
          <p:cNvSpPr/>
          <p:nvPr/>
        </p:nvSpPr>
        <p:spPr>
          <a:xfrm>
            <a:off x="7127747"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88352" y="1783080"/>
            <a:ext cx="1975103" cy="10058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Fusion + gates</a:t>
            </a:r>
          </a:p>
        </p:txBody>
      </p:sp>
      <p:sp>
        <p:nvSpPr>
          <p:cNvPr id="14" name="Right Arrow 13"/>
          <p:cNvSpPr/>
          <p:nvPr/>
        </p:nvSpPr>
        <p:spPr>
          <a:xfrm>
            <a:off x="9422892"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83496" y="1783080"/>
            <a:ext cx="1975103" cy="10058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Grad-CAM + robustness</a:t>
            </a:r>
          </a:p>
        </p:txBody>
      </p:sp>
      <p:sp>
        <p:nvSpPr>
          <p:cNvPr id="16" name="TextBox 15"/>
          <p:cNvSpPr txBox="1"/>
          <p:nvPr/>
        </p:nvSpPr>
        <p:spPr>
          <a:xfrm>
            <a:off x="502920" y="3063240"/>
            <a:ext cx="11155680" cy="3200400"/>
          </a:xfrm>
          <a:prstGeom prst="rect">
            <a:avLst/>
          </a:prstGeom>
          <a:noFill/>
        </p:spPr>
        <p:txBody>
          <a:bodyPr wrap="square" lIns="0" rIns="0" tIns="0" bIns="0" anchor="t">
            <a:spAutoFit/>
          </a:bodyPr>
          <a:lstStyle/>
          <a:p>
            <a:pPr algn="l" marL="256032" indent="-201168">
              <a:spcAft>
                <a:spcPts val="1400"/>
              </a:spcAft>
              <a:buChar char="•"/>
            </a:pPr>
            <a:r>
              <a:rPr sz="1900" b="0" i="0">
                <a:solidFill>
                  <a:srgbClr val="222222"/>
                </a:solidFill>
                <a:latin typeface="Calibri"/>
                <a:ea typeface="Calibri"/>
                <a:cs typeface="Calibri"/>
              </a:rPr>
              <a:t>Four ImageNet-pretrained CNN routes: EfficientNet-B0 x2, ResNet50, MobileNetV3-Large</a:t>
            </a:r>
          </a:p>
          <a:p>
            <a:pPr algn="l" marL="256032" indent="-201168">
              <a:spcAft>
                <a:spcPts val="1400"/>
              </a:spcAft>
              <a:buChar char="•"/>
            </a:pPr>
            <a:r>
              <a:rPr sz="1900" b="0" i="0">
                <a:solidFill>
                  <a:srgbClr val="222222"/>
                </a:solidFill>
                <a:latin typeface="Calibri"/>
                <a:ea typeface="Calibri"/>
                <a:cs typeface="Calibri"/>
              </a:rPr>
              <a:t>Fuse the route logits with weights 0.35 / 0.15 / 0.25 / 0.25 and two gating rules</a:t>
            </a:r>
          </a:p>
          <a:p>
            <a:pPr algn="l" marL="256032" indent="-201168">
              <a:spcAft>
                <a:spcPts val="1400"/>
              </a:spcAft>
              <a:buChar char="•"/>
            </a:pPr>
            <a:r>
              <a:rPr sz="1900" b="0" i="0">
                <a:solidFill>
                  <a:srgbClr val="222222"/>
                </a:solidFill>
                <a:latin typeface="Calibri"/>
                <a:ea typeface="Calibri"/>
                <a:cs typeface="Calibri"/>
              </a:rPr>
              <a:t>Explain each verdict with Grad-CAM heat maps on three routes</a:t>
            </a:r>
          </a:p>
          <a:p>
            <a:pPr algn="l" marL="256032" indent="-201168">
              <a:spcAft>
                <a:spcPts val="1400"/>
              </a:spcAft>
              <a:buChar char="•"/>
            </a:pPr>
            <a:r>
              <a:rPr sz="1900" b="0" i="0">
                <a:solidFill>
                  <a:srgbClr val="222222"/>
                </a:solidFill>
                <a:latin typeface="Calibri"/>
                <a:ea typeface="Calibri"/>
                <a:cs typeface="Calibri"/>
              </a:rPr>
              <a:t>Re-test every image under JPEG, resize and blur and report a consistency score</a:t>
            </a:r>
          </a:p>
          <a:p>
            <a:pPr algn="l" marL="256032" indent="-201168">
              <a:spcAft>
                <a:spcPts val="1400"/>
              </a:spcAft>
              <a:buChar char="•"/>
            </a:pPr>
            <a:r>
              <a:rPr sz="1900" b="0" i="0">
                <a:solidFill>
                  <a:srgbClr val="222222"/>
                </a:solidFill>
                <a:latin typeface="Calibri"/>
                <a:ea typeface="Calibri"/>
                <a:cs typeface="Calibri"/>
              </a:rPr>
              <a:t>Serve it locally: Flask API on 8414 and React web app on 5414, CPU only</a:t>
            </a:r>
          </a:p>
          <a:p>
            <a:pPr algn="l" marL="256032" indent="-201168">
              <a:spcAft>
                <a:spcPts val="400"/>
              </a:spcAft>
              <a:buChar char="•"/>
            </a:pPr>
            <a:r>
              <a:rPr sz="1900" b="0" i="0">
                <a:solidFill>
                  <a:srgbClr val="222222"/>
                </a:solidFill>
                <a:latin typeface="Calibri"/>
                <a:ea typeface="Calibri"/>
                <a:cs typeface="Calibri"/>
              </a:rPr>
              <a:t>The verdict is decision support: every result screen says the heat map is an explanation aid, not proof of authenticity.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01_system_architecture.png"/>
          <p:cNvPicPr>
            <a:picLocks noChangeAspect="1"/>
          </p:cNvPicPr>
          <p:nvPr/>
        </p:nvPicPr>
        <p:blipFill>
          <a:blip r:embed="rId2"/>
          <a:stretch>
            <a:fillRect/>
          </a:stretch>
        </p:blipFill>
        <p:spPr>
          <a:xfrm>
            <a:off x="502920" y="1775764"/>
            <a:ext cx="5120640" cy="4403750"/>
          </a:xfrm>
          <a:prstGeom prst="rect">
            <a:avLst/>
          </a:prstGeom>
        </p:spPr>
      </p:pic>
      <p:sp>
        <p:nvSpPr>
          <p:cNvPr id="8" name="TextBox 7"/>
          <p:cNvSpPr txBox="1"/>
          <p:nvPr/>
        </p:nvSpPr>
        <p:spPr>
          <a:xfrm>
            <a:off x="6035040" y="1828800"/>
            <a:ext cx="5669280" cy="4389120"/>
          </a:xfrm>
          <a:prstGeom prst="rect">
            <a:avLst/>
          </a:prstGeom>
          <a:noFill/>
        </p:spPr>
        <p:txBody>
          <a:bodyPr wrap="square" lIns="0" rIns="0" tIns="0" bIns="0" anchor="t">
            <a:spAutoFit/>
          </a:bodyPr>
          <a:lstStyle/>
          <a:p>
            <a:pPr algn="l" marL="256032" indent="-201168">
              <a:spcAft>
                <a:spcPts val="1200"/>
              </a:spcAft>
              <a:buChar char="•"/>
            </a:pPr>
            <a:r>
              <a:rPr sz="1800" b="0" i="0">
                <a:solidFill>
                  <a:srgbClr val="222222"/>
                </a:solidFill>
                <a:latin typeface="Calibri"/>
                <a:ea typeface="Calibri"/>
                <a:cs typeface="Calibri"/>
              </a:rPr>
              <a:t>Web app: React + Vite on port 5414</a:t>
            </a:r>
          </a:p>
          <a:p>
            <a:pPr algn="l" marL="256032" indent="-201168">
              <a:spcAft>
                <a:spcPts val="1200"/>
              </a:spcAft>
              <a:buChar char="•"/>
            </a:pPr>
            <a:r>
              <a:rPr sz="1800" b="0" i="0">
                <a:solidFill>
                  <a:srgbClr val="222222"/>
                </a:solidFill>
                <a:latin typeface="Calibri"/>
                <a:ea typeface="Calibri"/>
                <a:cs typeface="Calibri"/>
              </a:rPr>
              <a:t>API: Flask on port 8414, token sign-in</a:t>
            </a:r>
          </a:p>
          <a:p>
            <a:pPr algn="l" marL="256032" indent="-201168">
              <a:spcAft>
                <a:spcPts val="1200"/>
              </a:spcAft>
              <a:buChar char="•"/>
            </a:pPr>
            <a:r>
              <a:rPr sz="1800" b="0" i="0">
                <a:solidFill>
                  <a:srgbClr val="222222"/>
                </a:solidFill>
                <a:latin typeface="Calibri"/>
                <a:ea typeface="Calibri"/>
                <a:cs typeface="Calibri"/>
              </a:rPr>
              <a:t>Inference: four PyTorch models loaded once, fusion, Grad-CAM, robustness</a:t>
            </a:r>
          </a:p>
          <a:p>
            <a:pPr algn="l" marL="256032" indent="-201168">
              <a:spcAft>
                <a:spcPts val="1200"/>
              </a:spcAft>
              <a:buChar char="•"/>
            </a:pPr>
            <a:r>
              <a:rPr sz="1800" b="0" i="0">
                <a:solidFill>
                  <a:srgbClr val="222222"/>
                </a:solidFill>
                <a:latin typeface="Calibri"/>
                <a:ea typeface="Calibri"/>
                <a:cs typeface="Calibri"/>
              </a:rPr>
              <a:t>Storage: checkpoints, metadata and metric files only; no database</a:t>
            </a:r>
          </a:p>
          <a:p>
            <a:pPr algn="l" marL="256032" indent="-201168">
              <a:spcAft>
                <a:spcPts val="400"/>
              </a:spcAft>
              <a:buChar char="•"/>
            </a:pPr>
            <a:r>
              <a:rPr sz="1800" b="0" i="0">
                <a:solidFill>
                  <a:srgbClr val="222222"/>
                </a:solidFill>
                <a:latin typeface="Calibri"/>
                <a:ea typeface="Calibri"/>
                <a:cs typeface="Calibri"/>
              </a:rPr>
              <a:t>Local first: no external service is called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7" name="Rounded Rectangle 6"/>
          <p:cNvSpPr/>
          <p:nvPr/>
        </p:nvSpPr>
        <p:spPr>
          <a:xfrm>
            <a:off x="502920" y="173736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Validate image</a:t>
            </a:r>
          </a:p>
        </p:txBody>
      </p:sp>
      <p:sp>
        <p:nvSpPr>
          <p:cNvPr id="8" name="Right Arrow 7"/>
          <p:cNvSpPr/>
          <p:nvPr/>
        </p:nvSpPr>
        <p:spPr>
          <a:xfrm>
            <a:off x="1930690"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22714" y="1737360"/>
            <a:ext cx="1436914" cy="109728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Resize + normalise</a:t>
            </a:r>
          </a:p>
        </p:txBody>
      </p:sp>
      <p:sp>
        <p:nvSpPr>
          <p:cNvPr id="10" name="Right Arrow 9"/>
          <p:cNvSpPr/>
          <p:nvPr/>
        </p:nvSpPr>
        <p:spPr>
          <a:xfrm>
            <a:off x="3550484"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42508" y="1737360"/>
            <a:ext cx="1436914" cy="109728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Four routes</a:t>
            </a:r>
          </a:p>
        </p:txBody>
      </p:sp>
      <p:sp>
        <p:nvSpPr>
          <p:cNvPr id="12" name="Right Arrow 11"/>
          <p:cNvSpPr/>
          <p:nvPr/>
        </p:nvSpPr>
        <p:spPr>
          <a:xfrm>
            <a:off x="5170278"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62302" y="1737360"/>
            <a:ext cx="1436914" cy="10972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Weighted logits</a:t>
            </a:r>
          </a:p>
        </p:txBody>
      </p:sp>
      <p:sp>
        <p:nvSpPr>
          <p:cNvPr id="14" name="Right Arrow 13"/>
          <p:cNvSpPr/>
          <p:nvPr/>
        </p:nvSpPr>
        <p:spPr>
          <a:xfrm>
            <a:off x="6790073"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82097" y="1737360"/>
            <a:ext cx="143691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Two gates</a:t>
            </a:r>
          </a:p>
        </p:txBody>
      </p:sp>
      <p:sp>
        <p:nvSpPr>
          <p:cNvPr id="16" name="Right Arrow 15"/>
          <p:cNvSpPr/>
          <p:nvPr/>
        </p:nvSpPr>
        <p:spPr>
          <a:xfrm>
            <a:off x="8409867"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01891" y="1737360"/>
            <a:ext cx="1436914" cy="109728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Softmax + confidence</a:t>
            </a:r>
          </a:p>
        </p:txBody>
      </p:sp>
      <p:sp>
        <p:nvSpPr>
          <p:cNvPr id="18" name="Right Arrow 17"/>
          <p:cNvSpPr/>
          <p:nvPr/>
        </p:nvSpPr>
        <p:spPr>
          <a:xfrm>
            <a:off x="10029661" y="216712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21685" y="173736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Grad-CAM + re-test</a:t>
            </a:r>
          </a:p>
        </p:txBody>
      </p:sp>
      <p:sp>
        <p:nvSpPr>
          <p:cNvPr id="20" name="TextBox 19"/>
          <p:cNvSpPr txBox="1"/>
          <p:nvPr/>
        </p:nvSpPr>
        <p:spPr>
          <a:xfrm>
            <a:off x="502920" y="3108960"/>
            <a:ext cx="11155680" cy="3108960"/>
          </a:xfrm>
          <a:prstGeom prst="rect">
            <a:avLst/>
          </a:prstGeom>
          <a:noFill/>
        </p:spPr>
        <p:txBody>
          <a:bodyPr wrap="square" lIns="0" rIns="0" tIns="0" bIns="0" anchor="t">
            <a:spAutoFit/>
          </a:bodyPr>
          <a:lstStyle/>
          <a:p>
            <a:pPr algn="l" marL="256032" indent="-201168">
              <a:spcAft>
                <a:spcPts val="900"/>
              </a:spcAft>
              <a:buChar char="•"/>
            </a:pPr>
            <a:r>
              <a:rPr sz="1500" b="0" i="0">
                <a:solidFill>
                  <a:srgbClr val="222222"/>
                </a:solidFill>
                <a:latin typeface="Calibri"/>
                <a:ea typeface="Calibri"/>
                <a:cs typeface="Calibri"/>
              </a:rPr>
              <a:t>Training: ImageNet weights, upper blocks fine-tuned; AdamW (weight decay 1e-4), cosine decay, lr 3e-4 (B 2e-4), batch 32 (B 16), early stopping on validation F1, patience 3; seeds 42-45.</a:t>
            </a:r>
          </a:p>
          <a:p>
            <a:pPr algn="l" marL="256032" indent="-201168">
              <a:spcAft>
                <a:spcPts val="900"/>
              </a:spcAft>
              <a:buChar char="•"/>
            </a:pPr>
            <a:r>
              <a:rPr sz="1500" b="0" i="0">
                <a:solidFill>
                  <a:srgbClr val="222222"/>
                </a:solidFill>
                <a:latin typeface="Calibri"/>
                <a:ea typeface="Calibri"/>
                <a:cs typeface="Calibri"/>
              </a:rPr>
              <a:t>Losses and augmentation differ per route: cross-entropy for A1, A2 and B, focal loss (gamma 2) for C; A2 uses distortion-hardened augmentation; B adds horizontal-flip test-time augmentation.</a:t>
            </a:r>
          </a:p>
          <a:p>
            <a:pPr algn="l" marL="256032" indent="-201168">
              <a:spcAft>
                <a:spcPts val="900"/>
              </a:spcAft>
              <a:buChar char="•"/>
            </a:pPr>
            <a:r>
              <a:rPr sz="1500" b="0" i="0">
                <a:solidFill>
                  <a:srgbClr val="222222"/>
                </a:solidFill>
                <a:latin typeface="Calibri"/>
                <a:ea typeface="Calibri"/>
                <a:cs typeface="Calibri"/>
              </a:rPr>
              <a:t>Evaluation on the official CIFAKE test split (2,000 images), bootstrap 95% intervals (2,000 resamples), 15-bin calibration, threshold sweep, fusion ablation on the same logits.</a:t>
            </a:r>
          </a:p>
          <a:p>
            <a:pPr algn="l" marL="256032" indent="-201168">
              <a:spcAft>
                <a:spcPts val="900"/>
              </a:spcAft>
              <a:buChar char="•"/>
            </a:pPr>
            <a:r>
              <a:rPr sz="1500" b="0" i="0">
                <a:solidFill>
                  <a:srgbClr val="222222"/>
                </a:solidFill>
                <a:latin typeface="Calibri"/>
                <a:ea typeface="Calibri"/>
                <a:cs typeface="Calibri"/>
              </a:rPr>
              <a:t>Robustness on 1,000 test images under JPEG q60, 2x resize round trip, Gaussian blur and noise; cross-domain probe on 600 images from another source.</a:t>
            </a:r>
          </a:p>
          <a:p>
            <a:pPr algn="l" marL="256032" indent="-201168">
              <a:spcAft>
                <a:spcPts val="400"/>
              </a:spcAft>
              <a:buChar char="•"/>
            </a:pPr>
            <a:r>
              <a:rPr sz="1500" b="0" i="0">
                <a:solidFill>
                  <a:srgbClr val="222222"/>
                </a:solidFill>
                <a:latin typeface="Calibri"/>
                <a:ea typeface="Calibri"/>
                <a:cs typeface="Calibri"/>
              </a:rPr>
              <a:t>Every number is written by scripts/run_cifake_experiments.py to experiments/cifake/metrics.json.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&amp; Models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Rounded Rectangle 6"/>
          <p:cNvSpPr/>
          <p:nvPr/>
        </p:nvSpPr>
        <p:spPr>
          <a:xfrm>
            <a:off x="502920" y="1737360"/>
            <a:ext cx="26517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9601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28066"/>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6,000</a:t>
            </a:r>
          </a:p>
        </p:txBody>
      </p:sp>
      <p:sp>
        <p:nvSpPr>
          <p:cNvPr id="10" name="TextBox 9"/>
          <p:cNvSpPr txBox="1"/>
          <p:nvPr/>
        </p:nvSpPr>
        <p:spPr>
          <a:xfrm>
            <a:off x="685800" y="2294229"/>
            <a:ext cx="23774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train images (3,000 real + 3,000 AI)</a:t>
            </a:r>
          </a:p>
        </p:txBody>
      </p:sp>
      <p:sp>
        <p:nvSpPr>
          <p:cNvPr id="11" name="Rounded Rectangle 10"/>
          <p:cNvSpPr/>
          <p:nvPr/>
        </p:nvSpPr>
        <p:spPr>
          <a:xfrm>
            <a:off x="502920" y="2834640"/>
            <a:ext cx="26517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2920" y="2834640"/>
            <a:ext cx="73152" cy="96012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2889504"/>
            <a:ext cx="2377440" cy="528066"/>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1,200</a:t>
            </a:r>
          </a:p>
        </p:txBody>
      </p:sp>
      <p:sp>
        <p:nvSpPr>
          <p:cNvPr id="14" name="TextBox 13"/>
          <p:cNvSpPr txBox="1"/>
          <p:nvPr/>
        </p:nvSpPr>
        <p:spPr>
          <a:xfrm>
            <a:off x="685800" y="3391509"/>
            <a:ext cx="23774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validation images (600 + 600)</a:t>
            </a:r>
          </a:p>
        </p:txBody>
      </p:sp>
      <p:sp>
        <p:nvSpPr>
          <p:cNvPr id="15" name="Rounded Rectangle 14"/>
          <p:cNvSpPr/>
          <p:nvPr/>
        </p:nvSpPr>
        <p:spPr>
          <a:xfrm>
            <a:off x="502920" y="3931920"/>
            <a:ext cx="26517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3931920"/>
            <a:ext cx="73152" cy="9601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3986783"/>
            <a:ext cx="2377440" cy="528066"/>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2,000</a:t>
            </a:r>
          </a:p>
        </p:txBody>
      </p:sp>
      <p:sp>
        <p:nvSpPr>
          <p:cNvPr id="18" name="TextBox 17"/>
          <p:cNvSpPr txBox="1"/>
          <p:nvPr/>
        </p:nvSpPr>
        <p:spPr>
          <a:xfrm>
            <a:off x="685800" y="4488789"/>
            <a:ext cx="23774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held-out test images (1,000 + 1,000)</a:t>
            </a:r>
          </a:p>
        </p:txBody>
      </p:sp>
      <p:pic>
        <p:nvPicPr>
          <p:cNvPr id="19" name="Picture 18" descr="f01_dataset_split.png"/>
          <p:cNvPicPr>
            <a:picLocks noChangeAspect="1"/>
          </p:cNvPicPr>
          <p:nvPr/>
        </p:nvPicPr>
        <p:blipFill>
          <a:blip r:embed="rId4"/>
          <a:stretch>
            <a:fillRect/>
          </a:stretch>
        </p:blipFill>
        <p:spPr>
          <a:xfrm>
            <a:off x="3460830" y="1691640"/>
            <a:ext cx="4051139" cy="2286000"/>
          </a:xfrm>
          <a:prstGeom prst="rect">
            <a:avLst/>
          </a:prstGeom>
        </p:spPr>
      </p:pic>
      <p:graphicFrame>
        <p:nvGraphicFramePr>
          <p:cNvPr id="20" name="Table 19"/>
          <p:cNvGraphicFramePr>
            <a:graphicFrameLocks noGrp="1"/>
          </p:cNvGraphicFramePr>
          <p:nvPr/>
        </p:nvGraphicFramePr>
        <p:xfrm>
          <a:off x="7818120" y="1737360"/>
          <a:ext cx="3886200" cy="2286000"/>
        </p:xfrm>
        <a:graphic>
          <a:graphicData uri="http://schemas.openxmlformats.org/drawingml/2006/table">
            <a:tbl>
              <a:tblPr firstRow="0" bandRow="0">
                <a:tableStyleId>{5C22544A-7EE6-4342-B048-85BDC9FD1C3A}</a:tableStyleId>
              </a:tblPr>
              <a:tblGrid>
                <a:gridCol w="731520"/>
                <a:gridCol w="1828800"/>
                <a:gridCol w="1325880"/>
              </a:tblGrid>
              <a:tr h="457200">
                <a:tc>
                  <a:txBody>
                    <a:bodyPr wrap="square"/>
                    <a:lstStyle/>
                    <a:p>
                      <a:pPr algn="ctr"/>
                      <a:r>
                        <a:rPr sz="1100" b="1">
                          <a:solidFill>
                            <a:srgbClr val="1F3864"/>
                          </a:solidFill>
                          <a:latin typeface="Calibri"/>
                          <a:ea typeface="Calibri"/>
                          <a:cs typeface="Calibri"/>
                        </a:rPr>
                        <a:t>Route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Backbone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Trainable params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l"/>
                      <a:r>
                        <a:rPr sz="1100" b="1">
                          <a:solidFill>
                            <a:srgbClr val="222222"/>
                          </a:solidFill>
                          <a:latin typeface="Calibri"/>
                          <a:ea typeface="Calibri"/>
                          <a:cs typeface="Calibri"/>
                        </a:rPr>
                        <a:t>A1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EfficientNet-B0 224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1,131,954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A2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EfficientNet-B0 224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3,158,302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ResNet50 320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14,968,834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MobileNetV3-L 224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2,185,522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21" name="TextBox 20"/>
          <p:cNvSpPr txBox="1"/>
          <p:nvPr/>
        </p:nvSpPr>
        <p:spPr>
          <a:xfrm>
            <a:off x="3383280" y="4069080"/>
            <a:ext cx="8229600" cy="2194560"/>
          </a:xfrm>
          <a:prstGeom prst="rect">
            <a:avLst/>
          </a:prstGeom>
          <a:noFill/>
        </p:spPr>
        <p:txBody>
          <a:bodyPr wrap="square" lIns="0" rIns="0" tIns="0" bIns="0" anchor="t">
            <a:spAutoFit/>
          </a:bodyPr>
          <a:lstStyle/>
          <a:p>
            <a:pPr algn="l" marL="256032" indent="-201168">
              <a:spcAft>
                <a:spcPts val="400"/>
              </a:spcAft>
              <a:buChar char="•"/>
            </a:pPr>
            <a:r>
              <a:rPr sz="1400" b="0" i="0">
                <a:solidFill>
                  <a:srgbClr val="222222"/>
                </a:solidFill>
                <a:latin typeface="Calibri"/>
                <a:ea typeface="Calibri"/>
                <a:cs typeface="Calibri"/>
              </a:rPr>
              <a:t>CIFAKE [8]: 60,000 real CIFAR-10 images and 60,000 Stable Diffusion v1.4 images, 32 x 32 px; official split 100,000 train / 20,000 test.</a:t>
            </a:r>
          </a:p>
          <a:p>
            <a:pPr algn="l" marL="256032" indent="-201168">
              <a:spcAft>
                <a:spcPts val="400"/>
              </a:spcAft>
              <a:buChar char="•"/>
            </a:pPr>
            <a:r>
              <a:rPr sz="1400" b="0" i="0">
                <a:solidFill>
                  <a:srgbClr val="222222"/>
                </a:solidFill>
                <a:latin typeface="Calibri"/>
                <a:ea typeface="Calibri"/>
                <a:cs typeface="Calibri"/>
              </a:rPr>
              <a:t>Class-balanced subset (seed 42): only 6% of the training pool, because training was CPU-only. One generator, tiny images.</a:t>
            </a:r>
          </a:p>
          <a:p>
            <a:pPr algn="l" marL="256032" indent="-201168">
              <a:spcAft>
                <a:spcPts val="400"/>
              </a:spcAft>
              <a:buChar char="•"/>
            </a:pPr>
            <a:r>
              <a:rPr sz="1400" b="0" i="0">
                <a:solidFill>
                  <a:srgbClr val="222222"/>
                </a:solidFill>
                <a:latin typeface="Calibri"/>
                <a:ea typeface="Calibri"/>
                <a:cs typeface="Calibri"/>
              </a:rPr>
              <a:t>Cross-domain probe: 300 real + 300 AI images from another source (Hugging Face AI-vs-Real, MIT), about 640 to 1024 px.</a:t>
            </a:r>
          </a:p>
        </p:txBody>
      </p:sp>
      <p:sp>
        <p:nvSpPr>
          <p:cNvPr id="22" name="TextBox 21"/>
          <p:cNvSpPr txBox="1"/>
          <p:nvPr/>
        </p:nvSpPr>
        <p:spPr>
          <a:xfrm>
            <a:off x="502920" y="5074920"/>
            <a:ext cx="2743200" cy="118872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Labels: 0 REAL, 1 AI_GENERATED. Subsets are drawn without overlap.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Decision Logic: Fusion and Gates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10_flowchart_ensemble.png"/>
          <p:cNvPicPr>
            <a:picLocks noChangeAspect="1"/>
          </p:cNvPicPr>
          <p:nvPr/>
        </p:nvPicPr>
        <p:blipFill>
          <a:blip r:embed="rId2"/>
          <a:stretch>
            <a:fillRect/>
          </a:stretch>
        </p:blipFill>
        <p:spPr>
          <a:xfrm>
            <a:off x="502920" y="1673351"/>
            <a:ext cx="5120640" cy="4608576"/>
          </a:xfrm>
          <a:prstGeom prst="rect">
            <a:avLst/>
          </a:prstGeom>
        </p:spPr>
      </p:pic>
      <p:sp>
        <p:nvSpPr>
          <p:cNvPr id="8" name="TextBox 7"/>
          <p:cNvSpPr txBox="1"/>
          <p:nvPr/>
        </p:nvSpPr>
        <p:spPr>
          <a:xfrm>
            <a:off x="5852160" y="1783080"/>
            <a:ext cx="5852160" cy="4480560"/>
          </a:xfrm>
          <a:prstGeom prst="rect">
            <a:avLst/>
          </a:prstGeom>
          <a:noFill/>
        </p:spPr>
        <p:txBody>
          <a:bodyPr wrap="square" lIns="0" rIns="0" tIns="0" bIns="0" anchor="t">
            <a:spAutoFit/>
          </a:bodyPr>
          <a:lstStyle/>
          <a:p>
            <a:pPr algn="l" marL="256032" indent="-201168">
              <a:spcAft>
                <a:spcPts val="1000"/>
              </a:spcAft>
              <a:buChar char="•"/>
            </a:pPr>
            <a:r>
              <a:rPr sz="1600" b="0" i="0">
                <a:solidFill>
                  <a:srgbClr val="222222"/>
                </a:solidFill>
                <a:latin typeface="Calibri"/>
                <a:ea typeface="Calibri"/>
                <a:cs typeface="Calibri"/>
              </a:rPr>
              <a:t>Weighted sum of raw logits: A1 0.35, A2 0.15, B 0.25, C 0.25, then softmax.</a:t>
            </a:r>
          </a:p>
          <a:p>
            <a:pPr algn="l" marL="256032" indent="-201168">
              <a:spcAft>
                <a:spcPts val="1000"/>
              </a:spcAft>
              <a:buChar char="•"/>
            </a:pPr>
            <a:r>
              <a:rPr sz="1600" b="0" i="0">
                <a:solidFill>
                  <a:srgbClr val="222222"/>
                </a:solidFill>
                <a:latin typeface="Calibri"/>
                <a:ea typeface="Calibri"/>
                <a:cs typeface="Calibri"/>
              </a:rPr>
              <a:t>Gate 1: drop route B if its margin is at least 2.5 and the other three all disagree; weights renormalised.</a:t>
            </a:r>
          </a:p>
          <a:p>
            <a:pPr algn="l" marL="256032" indent="-201168">
              <a:spcAft>
                <a:spcPts val="1000"/>
              </a:spcAft>
              <a:buChar char="•"/>
            </a:pPr>
            <a:r>
              <a:rPr sz="1600" b="0" i="0">
                <a:solidFill>
                  <a:srgbClr val="222222"/>
                </a:solidFill>
                <a:latin typeface="Calibri"/>
                <a:ea typeface="Calibri"/>
                <a:cs typeface="Calibri"/>
              </a:rPr>
              <a:t>Gate 2: nudge the fused logits by 0.75 toward the B + C class when both agree with margins of at least 2.5.</a:t>
            </a:r>
          </a:p>
          <a:p>
            <a:pPr algn="l" marL="256032" indent="-201168">
              <a:spcAft>
                <a:spcPts val="1000"/>
              </a:spcAft>
              <a:buChar char="•"/>
            </a:pPr>
            <a:r>
              <a:rPr sz="1600" b="0" i="0">
                <a:solidFill>
                  <a:srgbClr val="222222"/>
                </a:solidFill>
                <a:latin typeface="Calibri"/>
                <a:ea typeface="Calibri"/>
                <a:cs typeface="Calibri"/>
              </a:rPr>
              <a:t>Confidence word: High at 0.85 or more, Moderate at 0.60 or more, otherwise Low.</a:t>
            </a:r>
          </a:p>
          <a:p>
            <a:pPr algn="l" marL="256032" indent="-201168">
              <a:spcAft>
                <a:spcPts val="400"/>
              </a:spcAft>
              <a:buChar char="•"/>
            </a:pPr>
            <a:r>
              <a:rPr sz="1600" b="1" i="0">
                <a:solidFill>
                  <a:srgbClr val="222222"/>
                </a:solidFill>
                <a:latin typeface="Calibri"/>
                <a:ea typeface="Calibri"/>
                <a:cs typeface="Calibri"/>
              </a:rPr>
              <a:t>Measured effect of the gates: Gate 1 fired on 7 of 2,000 images, Gate 2 on 0; removing them gave 92.45% against 92.35%.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 – 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07_sequence_analyze.png"/>
          <p:cNvPicPr>
            <a:picLocks noChangeAspect="1"/>
          </p:cNvPicPr>
          <p:nvPr/>
        </p:nvPicPr>
        <p:blipFill>
          <a:blip r:embed="rId2"/>
          <a:stretch>
            <a:fillRect/>
          </a:stretch>
        </p:blipFill>
        <p:spPr>
          <a:xfrm>
            <a:off x="951199" y="1645920"/>
            <a:ext cx="5687121" cy="4663439"/>
          </a:xfrm>
          <a:prstGeom prst="rect">
            <a:avLst/>
          </a:prstGeom>
        </p:spPr>
      </p:pic>
      <p:pic>
        <p:nvPicPr>
          <p:cNvPr id="8" name="Picture 7" descr="08_use_case.png"/>
          <p:cNvPicPr>
            <a:picLocks noChangeAspect="1"/>
          </p:cNvPicPr>
          <p:nvPr/>
        </p:nvPicPr>
        <p:blipFill>
          <a:blip r:embed="rId5"/>
          <a:stretch>
            <a:fillRect/>
          </a:stretch>
        </p:blipFill>
        <p:spPr>
          <a:xfrm>
            <a:off x="7223760" y="2364638"/>
            <a:ext cx="4480560" cy="322600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 Model and Storage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pic>
        <p:nvPicPr>
          <p:cNvPr id="7" name="Picture 6" descr="09_er_diagram.png"/>
          <p:cNvPicPr>
            <a:picLocks noChangeAspect="1"/>
          </p:cNvPicPr>
          <p:nvPr/>
        </p:nvPicPr>
        <p:blipFill>
          <a:blip r:embed="rId2"/>
          <a:stretch>
            <a:fillRect/>
          </a:stretch>
        </p:blipFill>
        <p:spPr>
          <a:xfrm>
            <a:off x="502919" y="1655063"/>
            <a:ext cx="6400800" cy="4096512"/>
          </a:xfrm>
          <a:prstGeom prst="rect">
            <a:avLst/>
          </a:prstGeom>
        </p:spPr>
      </p:pic>
      <p:graphicFrame>
        <p:nvGraphicFramePr>
          <p:cNvPr id="8" name="Table 7"/>
          <p:cNvGraphicFramePr>
            <a:graphicFrameLocks noGrp="1"/>
          </p:cNvGraphicFramePr>
          <p:nvPr/>
        </p:nvGraphicFramePr>
        <p:xfrm>
          <a:off x="7132320" y="1737360"/>
          <a:ext cx="4572000" cy="3328416"/>
        </p:xfrm>
        <a:graphic>
          <a:graphicData uri="http://schemas.openxmlformats.org/drawingml/2006/table">
            <a:tbl>
              <a:tblPr firstRow="0" bandRow="0">
                <a:tableStyleId>{5C22544A-7EE6-4342-B048-85BDC9FD1C3A}</a:tableStyleId>
              </a:tblPr>
              <a:tblGrid>
                <a:gridCol w="2194560"/>
                <a:gridCol w="2377440"/>
              </a:tblGrid>
              <a:tr h="475488">
                <a:tc>
                  <a:txBody>
                    <a:bodyPr wrap="square"/>
                    <a:lstStyle/>
                    <a:p>
                      <a:pPr algn="ctr"/>
                      <a:r>
                        <a:rPr sz="1100" b="1">
                          <a:solidFill>
                            <a:srgbClr val="1F3864"/>
                          </a:solidFill>
                          <a:latin typeface="Calibri"/>
                          <a:ea typeface="Calibri"/>
                          <a:cs typeface="Calibri"/>
                        </a:rPr>
                        <a:t>Persisted item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Content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75488">
                <a:tc>
                  <a:txBody>
                    <a:bodyPr wrap="square"/>
                    <a:lstStyle/>
                    <a:p>
                      <a:pPr algn="l"/>
                      <a:r>
                        <a:rPr sz="1100" b="1">
                          <a:solidFill>
                            <a:srgbClr val="222222"/>
                          </a:solidFill>
                          <a:latin typeface="Calibri"/>
                          <a:ea typeface="Calibri"/>
                          <a:cs typeface="Calibri"/>
                        </a:rPr>
                        <a:t>models/*.pt (4 files)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route checkpoints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model_metadata.json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per-route settings and paths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100" b="1">
                          <a:solidFill>
                            <a:srgbClr val="222222"/>
                          </a:solidFill>
                          <a:latin typeface="Calibri"/>
                          <a:ea typeface="Calibri"/>
                          <a:cs typeface="Calibri"/>
                        </a:rPr>
                        <a:t>artifacts/metrics/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evaluation JSON and PNG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data/ folders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train, val, test images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100" b="1">
                          <a:solidFill>
                            <a:srgbClr val="222222"/>
                          </a:solidFill>
                          <a:latin typeface="Calibri"/>
                          <a:ea typeface="Calibri"/>
                          <a:cs typeface="Calibri"/>
                        </a:rPr>
                        <a:t>Session token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signed, 12 h, not stored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100" b="1">
                          <a:solidFill>
                            <a:srgbClr val="222222"/>
                          </a:solidFill>
                          <a:latin typeface="Calibri"/>
                          <a:ea typeface="Calibri"/>
                          <a:cs typeface="Calibri"/>
                        </a:rPr>
                        <a:t>Upload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decoded in memory, discarded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9" name="TextBox 8"/>
          <p:cNvSpPr txBox="1"/>
          <p:nvPr/>
        </p:nvSpPr>
        <p:spPr>
          <a:xfrm>
            <a:off x="502920" y="5852160"/>
            <a:ext cx="11155680" cy="45720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There is no relational database: a request leaves no record, so nothing about an uploaded image is retained.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4</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CNN routes fused</a:t>
            </a:r>
          </a:p>
        </p:txBody>
      </p:sp>
      <p:sp>
        <p:nvSpPr>
          <p:cNvPr id="11" name="Rounded Rectangle 10"/>
          <p:cNvSpPr/>
          <p:nvPr/>
        </p:nvSpPr>
        <p:spPr>
          <a:xfrm>
            <a:off x="333756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737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19 + 29</a:t>
            </a:r>
          </a:p>
        </p:txBody>
      </p:sp>
      <p:sp>
        <p:nvSpPr>
          <p:cNvPr id="14" name="TextBox 13"/>
          <p:cNvSpPr txBox="1"/>
          <p:nvPr/>
        </p:nvSpPr>
        <p:spPr>
          <a:xfrm>
            <a:off x="352044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pytest tests + smoke checks</a:t>
            </a:r>
          </a:p>
        </p:txBody>
      </p:sp>
      <p:sp>
        <p:nvSpPr>
          <p:cNvPr id="15" name="Rounded Rectangle 14"/>
          <p:cNvSpPr/>
          <p:nvPr/>
        </p:nvSpPr>
        <p:spPr>
          <a:xfrm>
            <a:off x="617220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737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3</a:t>
            </a:r>
          </a:p>
        </p:txBody>
      </p:sp>
      <p:sp>
        <p:nvSpPr>
          <p:cNvPr id="18" name="TextBox 17"/>
          <p:cNvSpPr txBox="1"/>
          <p:nvPr/>
        </p:nvSpPr>
        <p:spPr>
          <a:xfrm>
            <a:off x="635508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routes with Grad-CAM</a:t>
            </a:r>
          </a:p>
        </p:txBody>
      </p:sp>
      <p:sp>
        <p:nvSpPr>
          <p:cNvPr id="19" name="Rounded Rectangle 18"/>
          <p:cNvSpPr/>
          <p:nvPr/>
        </p:nvSpPr>
        <p:spPr>
          <a:xfrm>
            <a:off x="900684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73736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1.7 s</a:t>
            </a:r>
          </a:p>
        </p:txBody>
      </p:sp>
      <p:sp>
        <p:nvSpPr>
          <p:cNvPr id="22" name="TextBox 21"/>
          <p:cNvSpPr txBox="1"/>
          <p:nvPr/>
        </p:nvSpPr>
        <p:spPr>
          <a:xfrm>
            <a:off x="918972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median full analysis (CPU)</a:t>
            </a:r>
          </a:p>
        </p:txBody>
      </p:sp>
      <p:sp>
        <p:nvSpPr>
          <p:cNvPr id="23" name="TextBox 22"/>
          <p:cNvSpPr txBox="1"/>
          <p:nvPr/>
        </p:nvSpPr>
        <p:spPr>
          <a:xfrm>
            <a:off x="502920" y="3017520"/>
            <a:ext cx="11155680" cy="3200400"/>
          </a:xfrm>
          <a:prstGeom prst="rect">
            <a:avLst/>
          </a:prstGeom>
          <a:noFill/>
        </p:spPr>
        <p:txBody>
          <a:bodyPr wrap="square" lIns="0" rIns="0" tIns="0" bIns="0" anchor="t">
            <a:spAutoFit/>
          </a:bodyPr>
          <a:lstStyle/>
          <a:p>
            <a:pPr algn="l" marL="256032" indent="-201168">
              <a:spcAft>
                <a:spcPts val="900"/>
              </a:spcAft>
              <a:buChar char="•"/>
            </a:pPr>
            <a:r>
              <a:rPr sz="1600" b="0" i="0">
                <a:solidFill>
                  <a:srgbClr val="222222"/>
                </a:solidFill>
                <a:latin typeface="Calibri"/>
                <a:ea typeface="Calibri"/>
                <a:cs typeface="Calibri"/>
              </a:rPr>
              <a:t>Upload validation: png / jpg / jpeg / webp, up to 10 MB, must decode as RGB and be at least 8 x 8; JSON errors 400, 401, 413, 500, 503.</a:t>
            </a:r>
          </a:p>
          <a:p>
            <a:pPr algn="l" marL="256032" indent="-201168">
              <a:spcAft>
                <a:spcPts val="900"/>
              </a:spcAft>
              <a:buChar char="•"/>
            </a:pPr>
            <a:r>
              <a:rPr sz="1600" b="0" i="0">
                <a:solidFill>
                  <a:srgbClr val="222222"/>
                </a:solidFill>
                <a:latin typeface="Calibri"/>
                <a:ea typeface="Calibri"/>
                <a:cs typeface="Calibri"/>
              </a:rPr>
              <a:t>API: /health, /api/config, /api/insights, /api/auth/login, /api/auth/me, /api/analyze (token), /api/predict (JSON verdict); original Jinja pages kept.</a:t>
            </a:r>
          </a:p>
          <a:p>
            <a:pPr algn="l" marL="256032" indent="-201168">
              <a:spcAft>
                <a:spcPts val="900"/>
              </a:spcAft>
              <a:buChar char="•"/>
            </a:pPr>
            <a:r>
              <a:rPr sz="1600" b="0" i="0">
                <a:solidFill>
                  <a:srgbClr val="222222"/>
                </a:solidFill>
                <a:latin typeface="Calibri"/>
                <a:ea typeface="Calibri"/>
                <a:cs typeface="Calibri"/>
              </a:rPr>
              <a:t>Models load once at start; a missing checkpoint gives 503 and the Status page names the missing files.</a:t>
            </a:r>
          </a:p>
          <a:p>
            <a:pPr algn="l" marL="256032" indent="-201168">
              <a:spcAft>
                <a:spcPts val="400"/>
              </a:spcAft>
              <a:buChar char="•"/>
            </a:pPr>
            <a:r>
              <a:rPr sz="1600" b="0" i="0">
                <a:solidFill>
                  <a:srgbClr val="222222"/>
                </a:solidFill>
                <a:latin typeface="Calibri"/>
                <a:ea typeface="Calibri"/>
                <a:cs typeface="Calibri"/>
              </a:rPr>
              <a:t>React + Vite interface with verdict card, vote table, heat-map tabs, robustness table, insights and a dark theme; one command (run.bat) starts both servers.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Held-out Performance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sp>
        <p:nvSpPr>
          <p:cNvPr id="7" name="Rounded Rectangle 6"/>
          <p:cNvSpPr/>
          <p:nvPr/>
        </p:nvSpPr>
        <p:spPr>
          <a:xfrm>
            <a:off x="50292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9164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92.35%</a:t>
            </a:r>
          </a:p>
        </p:txBody>
      </p:sp>
      <p:sp>
        <p:nvSpPr>
          <p:cNvPr id="10" name="TextBox 9"/>
          <p:cNvSpPr txBox="1"/>
          <p:nvPr/>
        </p:nvSpPr>
        <p:spPr>
          <a:xfrm>
            <a:off x="68580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ensemble accuracy, n = 2,000</a:t>
            </a:r>
          </a:p>
        </p:txBody>
      </p:sp>
      <p:sp>
        <p:nvSpPr>
          <p:cNvPr id="11" name="Rounded Rectangle 10"/>
          <p:cNvSpPr/>
          <p:nvPr/>
        </p:nvSpPr>
        <p:spPr>
          <a:xfrm>
            <a:off x="333756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9164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0.9275</a:t>
            </a:r>
          </a:p>
        </p:txBody>
      </p:sp>
      <p:sp>
        <p:nvSpPr>
          <p:cNvPr id="14" name="TextBox 13"/>
          <p:cNvSpPr txBox="1"/>
          <p:nvPr/>
        </p:nvSpPr>
        <p:spPr>
          <a:xfrm>
            <a:off x="352044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ensemble F1</a:t>
            </a:r>
          </a:p>
        </p:txBody>
      </p:sp>
      <p:sp>
        <p:nvSpPr>
          <p:cNvPr id="15" name="Rounded Rectangle 14"/>
          <p:cNvSpPr/>
          <p:nvPr/>
        </p:nvSpPr>
        <p:spPr>
          <a:xfrm>
            <a:off x="617220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9164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0.9865</a:t>
            </a:r>
          </a:p>
        </p:txBody>
      </p:sp>
      <p:sp>
        <p:nvSpPr>
          <p:cNvPr id="18" name="TextBox 17"/>
          <p:cNvSpPr txBox="1"/>
          <p:nvPr/>
        </p:nvSpPr>
        <p:spPr>
          <a:xfrm>
            <a:off x="635508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ensemble ROC-AUC</a:t>
            </a:r>
          </a:p>
        </p:txBody>
      </p:sp>
      <p:sp>
        <p:nvSpPr>
          <p:cNvPr id="19" name="Rounded Rectangle 18"/>
          <p:cNvSpPr/>
          <p:nvPr/>
        </p:nvSpPr>
        <p:spPr>
          <a:xfrm>
            <a:off x="900684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9164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13.1%</a:t>
            </a:r>
          </a:p>
        </p:txBody>
      </p:sp>
      <p:sp>
        <p:nvSpPr>
          <p:cNvPr id="22" name="TextBox 21"/>
          <p:cNvSpPr txBox="1"/>
          <p:nvPr/>
        </p:nvSpPr>
        <p:spPr>
          <a:xfrm>
            <a:off x="918972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false-positive rate (real called AI)</a:t>
            </a:r>
          </a:p>
        </p:txBody>
      </p:sp>
      <p:pic>
        <p:nvPicPr>
          <p:cNvPr id="23" name="Picture 22" descr="f02_branch_metrics.png"/>
          <p:cNvPicPr>
            <a:picLocks noChangeAspect="1"/>
          </p:cNvPicPr>
          <p:nvPr/>
        </p:nvPicPr>
        <p:blipFill>
          <a:blip r:embed="rId4"/>
          <a:stretch>
            <a:fillRect/>
          </a:stretch>
        </p:blipFill>
        <p:spPr>
          <a:xfrm>
            <a:off x="745200" y="2834640"/>
            <a:ext cx="4910400" cy="2834640"/>
          </a:xfrm>
          <a:prstGeom prst="rect">
            <a:avLst/>
          </a:prstGeom>
        </p:spPr>
      </p:pic>
      <p:graphicFrame>
        <p:nvGraphicFramePr>
          <p:cNvPr id="24" name="Table 23"/>
          <p:cNvGraphicFramePr>
            <a:graphicFrameLocks noGrp="1"/>
          </p:cNvGraphicFramePr>
          <p:nvPr/>
        </p:nvGraphicFramePr>
        <p:xfrm>
          <a:off x="6126480" y="2880360"/>
          <a:ext cx="5577840" cy="2194560"/>
        </p:xfrm>
        <a:graphic>
          <a:graphicData uri="http://schemas.openxmlformats.org/drawingml/2006/table">
            <a:tbl>
              <a:tblPr firstRow="0" bandRow="0">
                <a:tableStyleId>{5C22544A-7EE6-4342-B048-85BDC9FD1C3A}</a:tableStyleId>
              </a:tblPr>
              <a:tblGrid>
                <a:gridCol w="2103120"/>
                <a:gridCol w="777240"/>
                <a:gridCol w="777240"/>
                <a:gridCol w="777240"/>
                <a:gridCol w="1143000"/>
              </a:tblGrid>
              <a:tr h="365760">
                <a:tc>
                  <a:txBody>
                    <a:bodyPr wrap="square"/>
                    <a:lstStyle/>
                    <a:p>
                      <a:pPr algn="ctr"/>
                      <a:r>
                        <a:rPr sz="1100" b="1">
                          <a:solidFill>
                            <a:srgbClr val="1F3864"/>
                          </a:solidFill>
                          <a:latin typeface="Calibri"/>
                          <a:ea typeface="Calibri"/>
                          <a:cs typeface="Calibri"/>
                        </a:rPr>
                        <a:t>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Acc.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F1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AUC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95% CI (acc.)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65760">
                <a:tc>
                  <a:txBody>
                    <a:bodyPr wrap="square"/>
                    <a:lstStyle/>
                    <a:p>
                      <a:pPr algn="l"/>
                      <a:r>
                        <a:rPr sz="1100" b="1">
                          <a:solidFill>
                            <a:srgbClr val="222222"/>
                          </a:solidFill>
                          <a:latin typeface="Calibri"/>
                          <a:ea typeface="Calibri"/>
                          <a:cs typeface="Calibri"/>
                        </a:rPr>
                        <a:t>EfficientNet-B0 A1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0.9180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0.9208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0.9749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0.905-0.930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100" b="1">
                          <a:solidFill>
                            <a:srgbClr val="222222"/>
                          </a:solidFill>
                          <a:latin typeface="Calibri"/>
                          <a:ea typeface="Calibri"/>
                          <a:cs typeface="Calibri"/>
                        </a:rPr>
                        <a:t>EfficientNet-B0 A2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0.9020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0.9083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0.9769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0.888-0.915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65760">
                <a:tc>
                  <a:txBody>
                    <a:bodyPr wrap="square"/>
                    <a:lstStyle/>
                    <a:p>
                      <a:pPr algn="l"/>
                      <a:r>
                        <a:rPr sz="1100" b="1">
                          <a:solidFill>
                            <a:srgbClr val="222222"/>
                          </a:solidFill>
                          <a:latin typeface="Calibri"/>
                          <a:ea typeface="Calibri"/>
                          <a:cs typeface="Calibri"/>
                        </a:rPr>
                        <a:t>ResNet50 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0.8660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0.8809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0.9828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0.851-0.881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100" b="1">
                          <a:solidFill>
                            <a:srgbClr val="222222"/>
                          </a:solidFill>
                          <a:latin typeface="Calibri"/>
                          <a:ea typeface="Calibri"/>
                          <a:cs typeface="Calibri"/>
                        </a:rPr>
                        <a:t>MobileNetV3-Large 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0.8995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0.9041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0.9670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0.885-0.912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65760">
                <a:tc>
                  <a:txBody>
                    <a:bodyPr wrap="square"/>
                    <a:lstStyle/>
                    <a:p>
                      <a:pPr algn="l"/>
                      <a:r>
                        <a:rPr sz="1100" b="1">
                          <a:solidFill>
                            <a:srgbClr val="222222"/>
                          </a:solidFill>
                          <a:latin typeface="Calibri"/>
                          <a:ea typeface="Calibri"/>
                          <a:cs typeface="Calibri"/>
                        </a:rPr>
                        <a:t>Ensemble (deployed)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0.9235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0.9275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0.9865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0.911-0.934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25" name="TextBox 24"/>
          <p:cNvSpPr txBox="1"/>
          <p:nvPr/>
        </p:nvSpPr>
        <p:spPr>
          <a:xfrm>
            <a:off x="6126480" y="5212080"/>
            <a:ext cx="5577840" cy="109728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Single run per route (seeds 42-45). The ensemble's accuracy edge over A1 (0.55 points) is inside the overlap of the two intervals, so it is not statistically distinguishable; its AUC is higher. The model leans toward AI-generated (false positives 13.1%, false negatives 2.2%).</a:t>
            </a:r>
          </a:p>
        </p:txBody>
      </p:sp>
      <p:sp>
        <p:nvSpPr>
          <p:cNvPr id="26" name="TextBox 25"/>
          <p:cNvSpPr txBox="1"/>
          <p:nvPr/>
        </p:nvSpPr>
        <p:spPr>
          <a:xfrm>
            <a:off x="502920" y="5760720"/>
            <a:ext cx="5394960" cy="54864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Route B is the most biased toward fake (recall 0.991, precision 0.793).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Confusion Matrix &amp; Threshold Analysis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f03_confusion_matrix.png"/>
          <p:cNvPicPr>
            <a:picLocks noChangeAspect="1"/>
          </p:cNvPicPr>
          <p:nvPr/>
        </p:nvPicPr>
        <p:blipFill>
          <a:blip r:embed="rId3"/>
          <a:stretch>
            <a:fillRect/>
          </a:stretch>
        </p:blipFill>
        <p:spPr>
          <a:xfrm>
            <a:off x="502920" y="1905388"/>
            <a:ext cx="4754880" cy="2498583"/>
          </a:xfrm>
          <a:prstGeom prst="rect">
            <a:avLst/>
          </a:prstGeom>
        </p:spPr>
      </p:pic>
      <p:pic>
        <p:nvPicPr>
          <p:cNvPr id="8" name="Picture 7" descr="f07_threshold_sweep.png"/>
          <p:cNvPicPr>
            <a:picLocks noChangeAspect="1"/>
          </p:cNvPicPr>
          <p:nvPr/>
        </p:nvPicPr>
        <p:blipFill>
          <a:blip r:embed="rId2"/>
          <a:stretch>
            <a:fillRect/>
          </a:stretch>
        </p:blipFill>
        <p:spPr>
          <a:xfrm>
            <a:off x="6176576" y="1691640"/>
            <a:ext cx="4837567" cy="3108960"/>
          </a:xfrm>
          <a:prstGeom prst="rect">
            <a:avLst/>
          </a:prstGeom>
        </p:spPr>
      </p:pic>
      <p:sp>
        <p:nvSpPr>
          <p:cNvPr id="9" name="TextBox 8"/>
          <p:cNvSpPr txBox="1"/>
          <p:nvPr/>
        </p:nvSpPr>
        <p:spPr>
          <a:xfrm>
            <a:off x="502920" y="4754880"/>
            <a:ext cx="4754880" cy="155448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Of 2,000 test images 131 real ones were called AI-generated and 22 AI images were called real.</a:t>
            </a:r>
          </a:p>
          <a:p>
            <a:pPr algn="l" marL="256032" indent="-201168">
              <a:spcAft>
                <a:spcPts val="400"/>
              </a:spcAft>
              <a:buChar char="•"/>
            </a:pPr>
            <a:r>
              <a:rPr sz="1300" b="0" i="0">
                <a:solidFill>
                  <a:srgbClr val="222222"/>
                </a:solidFill>
                <a:latin typeface="Calibri"/>
                <a:ea typeface="Calibri"/>
                <a:cs typeface="Calibri"/>
              </a:rPr>
              <a:t>Mean |margin|: correct 3.56, wrong 1.09: errors sit near the boundary.</a:t>
            </a:r>
          </a:p>
        </p:txBody>
      </p:sp>
      <p:sp>
        <p:nvSpPr>
          <p:cNvPr id="10" name="TextBox 9"/>
          <p:cNvSpPr txBox="1"/>
          <p:nvPr/>
        </p:nvSpPr>
        <p:spPr>
          <a:xfrm>
            <a:off x="5486400" y="4937760"/>
            <a:ext cx="6217920" cy="137160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Threshold 0.5 (deployed): accuracy 92.35%, FPR 13.1%. At 0.7: 94.1% accuracy, FPR 7.2%; at 0.8: 94.2%, FPR 4.5%, recall 92.8%.</a:t>
            </a:r>
          </a:p>
          <a:p>
            <a:pPr algn="l" marL="256032" indent="-201168">
              <a:spcAft>
                <a:spcPts val="400"/>
              </a:spcAft>
              <a:buChar char="•"/>
            </a:pPr>
            <a:r>
              <a:rPr sz="1300" b="0" i="1">
                <a:solidFill>
                  <a:srgbClr val="222222"/>
                </a:solidFill>
                <a:latin typeface="Calibri"/>
                <a:ea typeface="Calibri"/>
                <a:cs typeface="Calibri"/>
              </a:rPr>
              <a:t>The threshold was swept on the test subset, so the gain is optimistic; a separate validation set would be needed to adopt 0.7.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Ablation, Robustness and Cross-Domain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pic>
        <p:nvPicPr>
          <p:cNvPr id="7" name="Picture 6" descr="f06_fusion_ablation.png"/>
          <p:cNvPicPr>
            <a:picLocks noChangeAspect="1"/>
          </p:cNvPicPr>
          <p:nvPr/>
        </p:nvPicPr>
        <p:blipFill>
          <a:blip r:embed="rId3"/>
          <a:stretch>
            <a:fillRect/>
          </a:stretch>
        </p:blipFill>
        <p:spPr>
          <a:xfrm>
            <a:off x="411480" y="2036020"/>
            <a:ext cx="3749039" cy="1962998"/>
          </a:xfrm>
          <a:prstGeom prst="rect">
            <a:avLst/>
          </a:prstGeom>
        </p:spPr>
      </p:pic>
      <p:pic>
        <p:nvPicPr>
          <p:cNvPr id="8" name="Picture 7" descr="f08_robustness.png"/>
          <p:cNvPicPr>
            <a:picLocks noChangeAspect="1"/>
          </p:cNvPicPr>
          <p:nvPr/>
        </p:nvPicPr>
        <p:blipFill>
          <a:blip r:embed="rId2"/>
          <a:stretch>
            <a:fillRect/>
          </a:stretch>
        </p:blipFill>
        <p:spPr>
          <a:xfrm>
            <a:off x="4206240" y="1941541"/>
            <a:ext cx="3931920" cy="2151956"/>
          </a:xfrm>
          <a:prstGeom prst="rect">
            <a:avLst/>
          </a:prstGeom>
        </p:spPr>
      </p:pic>
      <p:pic>
        <p:nvPicPr>
          <p:cNvPr id="9" name="Picture 8" descr="f09_cross_domain.png"/>
          <p:cNvPicPr>
            <a:picLocks noChangeAspect="1"/>
          </p:cNvPicPr>
          <p:nvPr/>
        </p:nvPicPr>
        <p:blipFill>
          <a:blip r:embed="rId6"/>
          <a:stretch>
            <a:fillRect/>
          </a:stretch>
        </p:blipFill>
        <p:spPr>
          <a:xfrm>
            <a:off x="8183879" y="2238740"/>
            <a:ext cx="3657600" cy="1557558"/>
          </a:xfrm>
          <a:prstGeom prst="rect">
            <a:avLst/>
          </a:prstGeom>
        </p:spPr>
      </p:pic>
      <p:sp>
        <p:nvSpPr>
          <p:cNvPr id="10" name="TextBox 9"/>
          <p:cNvSpPr txBox="1"/>
          <p:nvPr/>
        </p:nvSpPr>
        <p:spPr>
          <a:xfrm>
            <a:off x="411480" y="4206240"/>
            <a:ext cx="3657600" cy="201168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Same logits, seven fusion rules: all within 92.15% to 92.60% accuracy.</a:t>
            </a:r>
          </a:p>
          <a:p>
            <a:pPr algn="l" marL="256032" indent="-201168">
              <a:spcAft>
                <a:spcPts val="400"/>
              </a:spcAft>
              <a:buChar char="•"/>
            </a:pPr>
            <a:r>
              <a:rPr sz="1300" b="0" i="0">
                <a:solidFill>
                  <a:srgbClr val="222222"/>
                </a:solidFill>
                <a:latin typeface="Calibri"/>
                <a:ea typeface="Calibri"/>
                <a:cs typeface="Calibri"/>
              </a:rPr>
              <a:t>No-gate fusion 92.45%; the gates did not help.</a:t>
            </a:r>
          </a:p>
          <a:p>
            <a:pPr algn="l" marL="256032" indent="-201168">
              <a:spcAft>
                <a:spcPts val="400"/>
              </a:spcAft>
              <a:buChar char="•"/>
            </a:pPr>
            <a:r>
              <a:rPr sz="1300" b="0" i="0">
                <a:solidFill>
                  <a:srgbClr val="222222"/>
                </a:solidFill>
                <a:latin typeface="Calibri"/>
                <a:ea typeface="Calibri"/>
                <a:cs typeface="Calibri"/>
              </a:rPr>
              <a:t>Majority vote has a far lower AUC (0.938).</a:t>
            </a:r>
          </a:p>
        </p:txBody>
      </p:sp>
      <p:sp>
        <p:nvSpPr>
          <p:cNvPr id="11" name="TextBox 10"/>
          <p:cNvSpPr txBox="1"/>
          <p:nvPr/>
        </p:nvSpPr>
        <p:spPr>
          <a:xfrm>
            <a:off x="4206240" y="4206240"/>
            <a:ext cx="3931920" cy="201168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Clean 92.4%, JPEG q60 88.3%, noise 86.9%.</a:t>
            </a:r>
          </a:p>
          <a:p>
            <a:pPr algn="l" marL="256032" indent="-201168">
              <a:spcAft>
                <a:spcPts val="400"/>
              </a:spcAft>
              <a:buChar char="•"/>
            </a:pPr>
            <a:r>
              <a:rPr sz="1300" b="0" i="0">
                <a:solidFill>
                  <a:srgbClr val="222222"/>
                </a:solidFill>
                <a:latin typeface="Calibri"/>
                <a:ea typeface="Calibri"/>
                <a:cs typeface="Calibri"/>
              </a:rPr>
              <a:t>Resize round trip 61.0%, blur 58.3%: the cue is lost on 32 px images.</a:t>
            </a:r>
          </a:p>
          <a:p>
            <a:pPr algn="l" marL="256032" indent="-201168">
              <a:spcAft>
                <a:spcPts val="400"/>
              </a:spcAft>
              <a:buChar char="•"/>
            </a:pPr>
            <a:r>
              <a:rPr sz="1300" b="0" i="0">
                <a:solidFill>
                  <a:srgbClr val="222222"/>
                </a:solidFill>
                <a:latin typeface="Calibri"/>
                <a:ea typeface="Calibri"/>
                <a:cs typeface="Calibri"/>
              </a:rPr>
              <a:t>Distortion-hardened A2 was not more robust than A1.</a:t>
            </a:r>
          </a:p>
        </p:txBody>
      </p:sp>
      <p:sp>
        <p:nvSpPr>
          <p:cNvPr id="12" name="TextBox 11"/>
          <p:cNvSpPr txBox="1"/>
          <p:nvPr/>
        </p:nvSpPr>
        <p:spPr>
          <a:xfrm>
            <a:off x="8183879" y="4206240"/>
            <a:ext cx="3657600" cy="2011680"/>
          </a:xfrm>
          <a:prstGeom prst="rect">
            <a:avLst/>
          </a:prstGeom>
          <a:noFill/>
        </p:spPr>
        <p:txBody>
          <a:bodyPr wrap="square" lIns="0" rIns="0" tIns="0" bIns="0" anchor="t">
            <a:spAutoFit/>
          </a:bodyPr>
          <a:lstStyle/>
          <a:p>
            <a:pPr algn="l" marL="256032" indent="-201168">
              <a:spcAft>
                <a:spcPts val="400"/>
              </a:spcAft>
              <a:buChar char="•"/>
            </a:pPr>
            <a:r>
              <a:rPr sz="1300" b="1" i="0">
                <a:solidFill>
                  <a:srgbClr val="222222"/>
                </a:solidFill>
                <a:latin typeface="Calibri"/>
                <a:ea typeface="Calibri"/>
                <a:cs typeface="Calibri"/>
              </a:rPr>
              <a:t>600 full-resolution images: ensemble 51.0%, AUC 0.499: chance level.</a:t>
            </a:r>
          </a:p>
          <a:p>
            <a:pPr algn="l" marL="256032" indent="-201168">
              <a:spcAft>
                <a:spcPts val="400"/>
              </a:spcAft>
              <a:buChar char="•"/>
            </a:pPr>
            <a:r>
              <a:rPr sz="1300" b="0" i="0">
                <a:solidFill>
                  <a:srgbClr val="222222"/>
                </a:solidFill>
                <a:latin typeface="Calibri"/>
                <a:ea typeface="Calibri"/>
                <a:cs typeface="Calibri"/>
              </a:rPr>
              <a:t>A2, B and C call almost everything AI-generated.</a:t>
            </a:r>
          </a:p>
          <a:p>
            <a:pPr algn="l" marL="256032" indent="-201168">
              <a:spcAft>
                <a:spcPts val="400"/>
              </a:spcAft>
              <a:buChar char="•"/>
            </a:pPr>
            <a:r>
              <a:rPr sz="1300" b="1" i="0">
                <a:solidFill>
                  <a:srgbClr val="222222"/>
                </a:solidFill>
                <a:latin typeface="Calibri"/>
                <a:ea typeface="Calibri"/>
                <a:cs typeface="Calibri"/>
              </a:rPr>
              <a:t>Objective 4 measured and not achieved.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sp>
        <p:nvSpPr>
          <p:cNvPr id="7" name="Rounded Rectangle 6"/>
          <p:cNvSpPr/>
          <p:nvPr/>
        </p:nvSpPr>
        <p:spPr>
          <a:xfrm>
            <a:off x="502920" y="169164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91640"/>
            <a:ext cx="73152" cy="105156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4650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16 ms</a:t>
            </a:r>
          </a:p>
        </p:txBody>
      </p:sp>
      <p:sp>
        <p:nvSpPr>
          <p:cNvPr id="10" name="TextBox 9"/>
          <p:cNvSpPr txBox="1"/>
          <p:nvPr/>
        </p:nvSpPr>
        <p:spPr>
          <a:xfrm>
            <a:off x="685800" y="230154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GET /health</a:t>
            </a:r>
          </a:p>
        </p:txBody>
      </p:sp>
      <p:sp>
        <p:nvSpPr>
          <p:cNvPr id="11" name="Rounded Rectangle 10"/>
          <p:cNvSpPr/>
          <p:nvPr/>
        </p:nvSpPr>
        <p:spPr>
          <a:xfrm>
            <a:off x="3337560" y="169164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91640"/>
            <a:ext cx="73152" cy="10515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4650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0.25 s</a:t>
            </a:r>
          </a:p>
        </p:txBody>
      </p:sp>
      <p:sp>
        <p:nvSpPr>
          <p:cNvPr id="14" name="TextBox 13"/>
          <p:cNvSpPr txBox="1"/>
          <p:nvPr/>
        </p:nvSpPr>
        <p:spPr>
          <a:xfrm>
            <a:off x="3520440" y="230154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/api/predict, four routes + fusion</a:t>
            </a:r>
          </a:p>
        </p:txBody>
      </p:sp>
      <p:sp>
        <p:nvSpPr>
          <p:cNvPr id="15" name="Rounded Rectangle 14"/>
          <p:cNvSpPr/>
          <p:nvPr/>
        </p:nvSpPr>
        <p:spPr>
          <a:xfrm>
            <a:off x="6172200" y="169164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91640"/>
            <a:ext cx="7315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4650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1.70 s</a:t>
            </a:r>
          </a:p>
        </p:txBody>
      </p:sp>
      <p:sp>
        <p:nvSpPr>
          <p:cNvPr id="18" name="TextBox 17"/>
          <p:cNvSpPr txBox="1"/>
          <p:nvPr/>
        </p:nvSpPr>
        <p:spPr>
          <a:xfrm>
            <a:off x="6355080" y="230154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/api/analyze (32 px image)</a:t>
            </a:r>
          </a:p>
        </p:txBody>
      </p:sp>
      <p:sp>
        <p:nvSpPr>
          <p:cNvPr id="19" name="Rounded Rectangle 18"/>
          <p:cNvSpPr/>
          <p:nvPr/>
        </p:nvSpPr>
        <p:spPr>
          <a:xfrm>
            <a:off x="9006840" y="169164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91640"/>
            <a:ext cx="73152" cy="105156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4650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1.98 s</a:t>
            </a:r>
          </a:p>
        </p:txBody>
      </p:sp>
      <p:sp>
        <p:nvSpPr>
          <p:cNvPr id="22" name="TextBox 21"/>
          <p:cNvSpPr txBox="1"/>
          <p:nvPr/>
        </p:nvSpPr>
        <p:spPr>
          <a:xfrm>
            <a:off x="9189720" y="230154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/api/analyze (1024 px image)</a:t>
            </a:r>
          </a:p>
        </p:txBody>
      </p:sp>
      <p:graphicFrame>
        <p:nvGraphicFramePr>
          <p:cNvPr id="23" name="Table 22"/>
          <p:cNvGraphicFramePr>
            <a:graphicFrameLocks noGrp="1"/>
          </p:cNvGraphicFramePr>
          <p:nvPr/>
        </p:nvGraphicFramePr>
        <p:xfrm>
          <a:off x="502920" y="2926080"/>
          <a:ext cx="11155680" cy="2852928"/>
        </p:xfrm>
        <a:graphic>
          <a:graphicData uri="http://schemas.openxmlformats.org/drawingml/2006/table">
            <a:tbl>
              <a:tblPr firstRow="0" bandRow="0">
                <a:tableStyleId>{5C22544A-7EE6-4342-B048-85BDC9FD1C3A}</a:tableStyleId>
              </a:tblPr>
              <a:tblGrid>
                <a:gridCol w="2194560"/>
                <a:gridCol w="6035040"/>
                <a:gridCol w="2926080"/>
              </a:tblGrid>
              <a:tr h="475488">
                <a:tc>
                  <a:txBody>
                    <a:bodyPr wrap="square"/>
                    <a:lstStyle/>
                    <a:p>
                      <a:pPr algn="ctr"/>
                      <a:r>
                        <a:rPr sz="1200" b="1">
                          <a:solidFill>
                            <a:srgbClr val="1F3864"/>
                          </a:solidFill>
                          <a:latin typeface="Calibri"/>
                          <a:ea typeface="Calibri"/>
                          <a:cs typeface="Calibri"/>
                        </a:rPr>
                        <a:t>Test layer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What it covers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75488">
                <a:tc>
                  <a:txBody>
                    <a:bodyPr wrap="square"/>
                    <a:lstStyle/>
                    <a:p>
                      <a:pPr algn="l"/>
                      <a:r>
                        <a:rPr sz="1200" b="1">
                          <a:solidFill>
                            <a:srgbClr val="222222"/>
                          </a:solidFill>
                          <a:latin typeface="Calibri"/>
                          <a:ea typeface="Calibri"/>
                          <a:cs typeface="Calibri"/>
                        </a:rPr>
                        <a:t>Unit and API (pytest)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preprocessing, weights, fusion, both gates, response structure, health, bad upload, login, config, insights, oversize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19 of 19 passed in 35 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200" b="1">
                          <a:solidFill>
                            <a:srgbClr val="222222"/>
                          </a:solidFill>
                          <a:latin typeface="Calibri"/>
                          <a:ea typeface="Calibri"/>
                          <a:cs typeface="Calibri"/>
                        </a:rPr>
                        <a:t>Smoke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running API and web proxy: login, fake and real analysis, votes, Grad-CAM, robustness, error cases, classic pages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29 of 29 checks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200" b="1">
                          <a:solidFill>
                            <a:srgbClr val="222222"/>
                          </a:solidFill>
                          <a:latin typeface="Calibri"/>
                          <a:ea typeface="Calibri"/>
                          <a:cs typeface="Calibri"/>
                        </a:rPr>
                        <a:t>Browser walk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every screen captured in Chrome (capture_screens.py)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no console errors, no failed requests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200" b="1">
                          <a:solidFill>
                            <a:srgbClr val="222222"/>
                          </a:solidFill>
                          <a:latin typeface="Calibri"/>
                          <a:ea typeface="Calibri"/>
                          <a:cs typeface="Calibri"/>
                        </a:rPr>
                        <a:t>Latency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8 runs each, API on 127.0.0.1, idle machine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medians as above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200" b="1">
                          <a:solidFill>
                            <a:srgbClr val="222222"/>
                          </a:solidFill>
                          <a:latin typeface="Calibri"/>
                          <a:ea typeface="Calibri"/>
                          <a:cs typeface="Calibri"/>
                        </a:rPr>
                        <a:t>Not done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explainability / robustness unit tests, load, GPU, adversarial attacks, user study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stated gap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24" name="TextBox 23"/>
          <p:cNvSpPr txBox="1"/>
          <p:nvPr/>
        </p:nvSpPr>
        <p:spPr>
          <a:xfrm>
            <a:off x="502920" y="5852160"/>
            <a:ext cx="11155680" cy="50292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Intel Core i5-12500 (6 cores / 12 threads), 15.7 GB RAM, no GPU. Offline batched inference: 283 ms per image for all four routes.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 (context only)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7" name="Table 6"/>
          <p:cNvGraphicFramePr>
            <a:graphicFrameLocks noGrp="1"/>
          </p:cNvGraphicFramePr>
          <p:nvPr/>
        </p:nvGraphicFramePr>
        <p:xfrm>
          <a:off x="502920" y="1645920"/>
          <a:ext cx="11155680" cy="3803904"/>
        </p:xfrm>
        <a:graphic>
          <a:graphicData uri="http://schemas.openxmlformats.org/drawingml/2006/table">
            <a:tbl>
              <a:tblPr firstRow="0" bandRow="0">
                <a:tableStyleId>{5C22544A-7EE6-4342-B048-85BDC9FD1C3A}</a:tableStyleId>
              </a:tblPr>
              <a:tblGrid>
                <a:gridCol w="1828800"/>
                <a:gridCol w="4480560"/>
                <a:gridCol w="4846320"/>
              </a:tblGrid>
              <a:tr h="475488">
                <a:tc>
                  <a:txBody>
                    <a:bodyPr wrap="square"/>
                    <a:lstStyle/>
                    <a:p>
                      <a:pPr algn="ctr"/>
                      <a:r>
                        <a:rPr sz="12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Base paper: CTrue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This project: VeriVision AI</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75488">
                <a:tc>
                  <a:txBody>
                    <a:bodyPr wrap="square"/>
                    <a:lstStyle/>
                    <a:p>
                      <a:pPr algn="l"/>
                      <a:r>
                        <a:rPr sz="1200" b="1">
                          <a:solidFill>
                            <a:srgbClr val="222222"/>
                          </a:solidFill>
                          <a:latin typeface="Calibri"/>
                          <a:ea typeface="Calibri"/>
                          <a:cs typeface="Calibri"/>
                        </a:rPr>
                        <a:t>Task and 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Face deepfakes, FaceForensics++ and DFDC video frames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General real-vs-AI images, CIFAKE 32 px subset (one generator)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200" b="1">
                          <a:solidFill>
                            <a:srgbClr val="222222"/>
                          </a:solidFill>
                          <a:latin typeface="Calibri"/>
                          <a:ea typeface="Calibri"/>
                          <a:cs typeface="Calibri"/>
                        </a:rPr>
                        <a:t>Training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One-class, 720 pristine videos plus pseudo-fakes, 200 epochs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Supervised, 6,000 images, 3-5 epochs per route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200" b="1">
                          <a:solidFill>
                            <a:srgbClr val="222222"/>
                          </a:solidFill>
                          <a:latin typeface="Calibri"/>
                          <a:ea typeface="Calibri"/>
                          <a:cs typeface="Calibri"/>
                        </a:rPr>
                        <a:t>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EfficientNet-B4, 19.3 M parameters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Four CNN routes (EfficientNet-B0 x2, ResNet50, MobileNetV3-L) fused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200" b="1">
                          <a:solidFill>
                            <a:srgbClr val="222222"/>
                          </a:solidFill>
                          <a:latin typeface="Calibri"/>
                          <a:ea typeface="Calibri"/>
                          <a:cs typeface="Calibri"/>
                        </a:rPr>
                        <a:t>Compute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Two V100 GPUs, about 16 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Intel i5-12500 CPU, 13-53 min per route (upper bounds)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200" b="1">
                          <a:solidFill>
                            <a:srgbClr val="222222"/>
                          </a:solidFill>
                          <a:latin typeface="Calibri"/>
                          <a:ea typeface="Calibri"/>
                          <a:cs typeface="Calibri"/>
                        </a:rPr>
                        <a:t>In-domain AUC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98.9% (FF++)</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98.65% (CIFAKE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75488">
                <a:tc>
                  <a:txBody>
                    <a:bodyPr wrap="square"/>
                    <a:lstStyle/>
                    <a:p>
                      <a:pPr algn="l"/>
                      <a:r>
                        <a:rPr sz="1200" b="1">
                          <a:solidFill>
                            <a:srgbClr val="222222"/>
                          </a:solidFill>
                          <a:latin typeface="Calibri"/>
                          <a:ea typeface="Calibri"/>
                          <a:cs typeface="Calibri"/>
                        </a:rPr>
                        <a:t>Cross-dataset AUC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77.0% (DFDC, lambda = 1 ablation)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49.9% (600 full-resolution images, another source)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75488">
                <a:tc>
                  <a:txBody>
                    <a:bodyPr wrap="square"/>
                    <a:lstStyle/>
                    <a:p>
                      <a:pPr algn="l"/>
                      <a:r>
                        <a:rPr sz="1200" b="1">
                          <a:solidFill>
                            <a:srgbClr val="222222"/>
                          </a:solidFill>
                          <a:latin typeface="Calibri"/>
                          <a:ea typeface="Calibri"/>
                          <a:cs typeface="Calibri"/>
                        </a:rPr>
                        <a:t>Output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Detection score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Verdict, votes, Grad-CAM heat maps, robustness consistency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502920" y="5623560"/>
            <a:ext cx="11155680" cy="73152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Task, data, training and metric emphasis all differ; only AUC is like-for-like, so the numbers are context, not a ranking, and no superiority is claimed. HEDGE [2], our design reference, reports 98.3% balanced accuracy on five benchmarks with 8 H800 GPUs.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Verdict Screens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pic>
        <p:nvPicPr>
          <p:cNvPr id="7" name="Picture 6" descr="07_result_verdict.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17_result_real.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257800"/>
            <a:ext cx="5486400" cy="1005840"/>
          </a:xfrm>
          <a:prstGeom prst="rect">
            <a:avLst/>
          </a:prstGeom>
          <a:noFill/>
        </p:spPr>
        <p:txBody>
          <a:bodyPr wrap="square" lIns="0" rIns="0" tIns="0" bIns="0" anchor="t">
            <a:spAutoFit/>
          </a:bodyPr>
          <a:lstStyle/>
          <a:p>
            <a:pPr algn="l">
              <a:spcAft>
                <a:spcPts val="400"/>
              </a:spcAft>
            </a:pPr>
            <a:r>
              <a:rPr sz="1400" b="0" i="0">
                <a:solidFill>
                  <a:srgbClr val="1F3864"/>
                </a:solidFill>
                <a:latin typeface="Calibri"/>
                <a:ea typeface="Calibri"/>
                <a:cs typeface="Calibri"/>
              </a:rPr>
              <a:t>A 32 px AI-generated test image: 'Likely AI-generated', 99.25% (High confidence), 4 of 4 routes agree.</a:t>
            </a:r>
          </a:p>
        </p:txBody>
      </p:sp>
      <p:sp>
        <p:nvSpPr>
          <p:cNvPr id="10" name="TextBox 9"/>
          <p:cNvSpPr txBox="1"/>
          <p:nvPr/>
        </p:nvSpPr>
        <p:spPr>
          <a:xfrm>
            <a:off x="6217920" y="5257800"/>
            <a:ext cx="5486400" cy="1005840"/>
          </a:xfrm>
          <a:prstGeom prst="rect">
            <a:avLst/>
          </a:prstGeom>
          <a:noFill/>
        </p:spPr>
        <p:txBody>
          <a:bodyPr wrap="square" lIns="0" rIns="0" tIns="0" bIns="0" anchor="t">
            <a:spAutoFit/>
          </a:bodyPr>
          <a:lstStyle/>
          <a:p>
            <a:pPr algn="l">
              <a:spcAft>
                <a:spcPts val="400"/>
              </a:spcAft>
            </a:pPr>
            <a:r>
              <a:rPr sz="1400" b="0" i="0">
                <a:solidFill>
                  <a:srgbClr val="1F3864"/>
                </a:solidFill>
                <a:latin typeface="Calibri"/>
                <a:ea typeface="Calibri"/>
                <a:cs typeface="Calibri"/>
              </a:rPr>
              <a:t>A real CIFAR-10 test image: 'Likely a real image', 97.17% (High confidence), 4 of 4 routes agree.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Votes, Robustness and a Failure Case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08_result_votes_robustness.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19_result_hires_real.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257800"/>
            <a:ext cx="5486400" cy="1005840"/>
          </a:xfrm>
          <a:prstGeom prst="rect">
            <a:avLst/>
          </a:prstGeom>
          <a:noFill/>
        </p:spPr>
        <p:txBody>
          <a:bodyPr wrap="square" lIns="0" rIns="0" tIns="0" bIns="0" anchor="t">
            <a:spAutoFit/>
          </a:bodyPr>
          <a:lstStyle/>
          <a:p>
            <a:pPr algn="l">
              <a:spcAft>
                <a:spcPts val="400"/>
              </a:spcAft>
            </a:pPr>
            <a:r>
              <a:rPr sz="1400" b="0" i="0">
                <a:solidFill>
                  <a:srgbClr val="1F3864"/>
                </a:solidFill>
                <a:latin typeface="Calibri"/>
                <a:ea typeface="Calibri"/>
                <a:cs typeface="Calibri"/>
              </a:rPr>
              <a:t>Per-route votes with fusion weights, and the robustness table: the resize variant flips to Real, so consistency is 3/4 and the UI advises caution.</a:t>
            </a:r>
          </a:p>
        </p:txBody>
      </p:sp>
      <p:sp>
        <p:nvSpPr>
          <p:cNvPr id="10" name="TextBox 9"/>
          <p:cNvSpPr txBox="1"/>
          <p:nvPr/>
        </p:nvSpPr>
        <p:spPr>
          <a:xfrm>
            <a:off x="6217920" y="5257800"/>
            <a:ext cx="5486400" cy="1005840"/>
          </a:xfrm>
          <a:prstGeom prst="rect">
            <a:avLst/>
          </a:prstGeom>
          <a:noFill/>
        </p:spPr>
        <p:txBody>
          <a:bodyPr wrap="square" lIns="0" rIns="0" tIns="0" bIns="0" anchor="t">
            <a:spAutoFit/>
          </a:bodyPr>
          <a:lstStyle/>
          <a:p>
            <a:pPr algn="l">
              <a:spcAft>
                <a:spcPts val="400"/>
              </a:spcAft>
            </a:pPr>
            <a:r>
              <a:rPr sz="1400" b="0" i="0">
                <a:solidFill>
                  <a:srgbClr val="1F3864"/>
                </a:solidFill>
                <a:latin typeface="Calibri"/>
                <a:ea typeface="Calibri"/>
                <a:cs typeface="Calibri"/>
              </a:rPr>
              <a:t>Failure case: a real full-resolution photograph (food on a plate) is called AI-generated with 100% confidence. This image comes from the cross-domain probe measured on slide 19.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Grad-CAM Explanations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09_result_gradcam.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10_result_gradcam_resnet.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257800"/>
            <a:ext cx="5486400" cy="1005840"/>
          </a:xfrm>
          <a:prstGeom prst="rect">
            <a:avLst/>
          </a:prstGeom>
          <a:noFill/>
        </p:spPr>
        <p:txBody>
          <a:bodyPr wrap="square" lIns="0" rIns="0" tIns="0" bIns="0" anchor="t">
            <a:spAutoFit/>
          </a:bodyPr>
          <a:lstStyle/>
          <a:p>
            <a:pPr algn="l">
              <a:spcAft>
                <a:spcPts val="400"/>
              </a:spcAft>
            </a:pPr>
            <a:r>
              <a:rPr sz="1400" b="0" i="0">
                <a:solidFill>
                  <a:srgbClr val="1F3864"/>
                </a:solidFill>
                <a:latin typeface="Calibri"/>
                <a:ea typeface="Calibri"/>
                <a:cs typeface="Calibri"/>
              </a:rPr>
              <a:t>EfficientNet tab: original image and Grad-CAM heat map for the predicted class; the strongest response is on the right edge of the frog.</a:t>
            </a:r>
          </a:p>
        </p:txBody>
      </p:sp>
      <p:sp>
        <p:nvSpPr>
          <p:cNvPr id="10" name="TextBox 9"/>
          <p:cNvSpPr txBox="1"/>
          <p:nvPr/>
        </p:nvSpPr>
        <p:spPr>
          <a:xfrm>
            <a:off x="6217920" y="5257800"/>
            <a:ext cx="5486400" cy="1005840"/>
          </a:xfrm>
          <a:prstGeom prst="rect">
            <a:avLst/>
          </a:prstGeom>
          <a:noFill/>
        </p:spPr>
        <p:txBody>
          <a:bodyPr wrap="square" lIns="0" rIns="0" tIns="0" bIns="0" anchor="t">
            <a:spAutoFit/>
          </a:bodyPr>
          <a:lstStyle/>
          <a:p>
            <a:pPr algn="l">
              <a:spcAft>
                <a:spcPts val="400"/>
              </a:spcAft>
            </a:pPr>
            <a:r>
              <a:rPr sz="1400" b="0" i="0">
                <a:solidFill>
                  <a:srgbClr val="1F3864"/>
                </a:solidFill>
                <a:latin typeface="Calibri"/>
                <a:ea typeface="Calibri"/>
                <a:cs typeface="Calibri"/>
              </a:rPr>
              <a:t>ResNet50 tab for the same image: a broader response over the lower body. Heat maps were judged by eye only; no faithfulness test was run.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737360"/>
            <a:ext cx="11155680" cy="4572000"/>
          </a:xfrm>
          <a:prstGeom prst="rect">
            <a:avLst/>
          </a:prstGeom>
          <a:noFill/>
        </p:spPr>
        <p:txBody>
          <a:bodyPr wrap="square" lIns="0" rIns="0" tIns="0" bIns="0" anchor="t">
            <a:spAutoFit/>
          </a:bodyPr>
          <a:lstStyle/>
          <a:p>
            <a:pPr algn="l" marL="256032" indent="-201168">
              <a:spcAft>
                <a:spcPts val="900"/>
              </a:spcAft>
              <a:buChar char="•"/>
            </a:pPr>
            <a:r>
              <a:rPr sz="2000" b="1" i="0">
                <a:solidFill>
                  <a:srgbClr val="222222"/>
                </a:solidFill>
                <a:latin typeface="Calibri"/>
                <a:ea typeface="Calibri"/>
                <a:cs typeface="Calibri"/>
              </a:rPr>
              <a:t>Delivered:</a:t>
            </a:r>
            <a:r>
              <a:rPr sz="2000" b="0" i="0">
                <a:solidFill>
                  <a:srgbClr val="222222"/>
                </a:solidFill>
                <a:latin typeface="Calibri"/>
                <a:ea typeface="Calibri"/>
                <a:cs typeface="Calibri"/>
              </a:rPr>
              <a:t> a working local application from image upload to verdict, per-route votes, Grad-CAM heat maps and a robustness check; 19 of 19 tests and 29 of 29 smoke checks pass.</a:t>
            </a:r>
          </a:p>
          <a:p>
            <a:pPr algn="l" marL="256032" indent="-201168">
              <a:spcAft>
                <a:spcPts val="900"/>
              </a:spcAft>
              <a:buChar char="•"/>
            </a:pPr>
            <a:r>
              <a:rPr sz="2000" b="1" i="0">
                <a:solidFill>
                  <a:srgbClr val="222222"/>
                </a:solidFill>
                <a:latin typeface="Calibri"/>
                <a:ea typeface="Calibri"/>
                <a:cs typeface="Calibri"/>
              </a:rPr>
              <a:t>Measured:</a:t>
            </a:r>
            <a:r>
              <a:rPr sz="2000" b="0" i="0">
                <a:solidFill>
                  <a:srgbClr val="222222"/>
                </a:solidFill>
                <a:latin typeface="Calibri"/>
                <a:ea typeface="Calibri"/>
                <a:cs typeface="Calibri"/>
              </a:rPr>
              <a:t> ensemble 92.35% accuracy, F1 0.9275, AUC 0.9865 on 2,000 held-out CIFAKE images; resize and blur cut it to about 58-61%; cross-domain 51.0%.</a:t>
            </a:r>
          </a:p>
          <a:p>
            <a:pPr algn="l" marL="256032" indent="-201168">
              <a:spcAft>
                <a:spcPts val="900"/>
              </a:spcAft>
              <a:buChar char="•"/>
            </a:pPr>
            <a:r>
              <a:rPr sz="2000" b="1" i="0">
                <a:solidFill>
                  <a:srgbClr val="222222"/>
                </a:solidFill>
                <a:latin typeface="Calibri"/>
                <a:ea typeface="Calibri"/>
                <a:cs typeface="Calibri"/>
              </a:rPr>
              <a:t>Objectives:</a:t>
            </a:r>
            <a:r>
              <a:rPr sz="2000" b="0" i="0">
                <a:solidFill>
                  <a:srgbClr val="222222"/>
                </a:solidFill>
                <a:latin typeface="Calibri"/>
                <a:ea typeface="Calibri"/>
                <a:cs typeface="Calibri"/>
              </a:rPr>
              <a:t> 2, 3, 5 and 6 met (5 judged qualitatively); 1 partly met (one generator, 32 px subset); 4 measured and not achieved.</a:t>
            </a:r>
          </a:p>
          <a:p>
            <a:pPr algn="l" marL="256032" indent="-201168">
              <a:spcAft>
                <a:spcPts val="900"/>
              </a:spcAft>
              <a:buChar char="•"/>
            </a:pPr>
            <a:r>
              <a:rPr sz="2000" b="1" i="0">
                <a:solidFill>
                  <a:srgbClr val="222222"/>
                </a:solidFill>
                <a:latin typeface="Calibri"/>
                <a:ea typeface="Calibri"/>
                <a:cs typeface="Calibri"/>
              </a:rPr>
              <a:t>Findings:</a:t>
            </a:r>
            <a:r>
              <a:rPr sz="2000" b="0" i="0">
                <a:solidFill>
                  <a:srgbClr val="222222"/>
                </a:solidFill>
                <a:latin typeface="Calibri"/>
                <a:ea typeface="Calibri"/>
                <a:cs typeface="Calibri"/>
              </a:rPr>
              <a:t> the ensemble is not significantly better than its best route; the gates did not help; the models lean toward AI-generated.</a:t>
            </a:r>
          </a:p>
          <a:p>
            <a:pPr algn="l" marL="256032" indent="-201168">
              <a:spcAft>
                <a:spcPts val="400"/>
              </a:spcAft>
              <a:buChar char="•"/>
            </a:pPr>
            <a:r>
              <a:rPr sz="2000" b="1" i="0">
                <a:solidFill>
                  <a:srgbClr val="222222"/>
                </a:solidFill>
                <a:latin typeface="Calibri"/>
                <a:ea typeface="Calibri"/>
                <a:cs typeface="Calibri"/>
              </a:rPr>
              <a:t>Limits:</a:t>
            </a:r>
            <a:r>
              <a:rPr sz="2000" b="0" i="0">
                <a:solidFill>
                  <a:srgbClr val="222222"/>
                </a:solidFill>
                <a:latin typeface="Calibri"/>
                <a:ea typeface="Calibri"/>
                <a:cs typeface="Calibri"/>
              </a:rPr>
              <a:t> single seed, 6% of the training data, 3-5 epochs, no GPU run, no user study. The verdict is decision support, not proof.</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Box 6"/>
          <p:cNvSpPr txBox="1"/>
          <p:nvPr/>
        </p:nvSpPr>
        <p:spPr>
          <a:xfrm>
            <a:off x="502920" y="1737360"/>
            <a:ext cx="11155680" cy="4572000"/>
          </a:xfrm>
          <a:prstGeom prst="rect">
            <a:avLst/>
          </a:prstGeom>
          <a:noFill/>
        </p:spPr>
        <p:txBody>
          <a:bodyPr wrap="square" lIns="0" rIns="0" tIns="0" bIns="0" anchor="t">
            <a:spAutoFit/>
          </a:bodyPr>
          <a:lstStyle/>
          <a:p>
            <a:pPr algn="l" marL="256032" indent="-201168">
              <a:spcAft>
                <a:spcPts val="1000"/>
              </a:spcAft>
              <a:buChar char="•"/>
            </a:pPr>
            <a:r>
              <a:rPr sz="2200" b="0" i="0">
                <a:solidFill>
                  <a:srgbClr val="222222"/>
                </a:solidFill>
                <a:latin typeface="Calibri"/>
                <a:ea typeface="Calibri"/>
                <a:cs typeface="Calibri"/>
              </a:rPr>
              <a:t>Train on the full 100,000 CIFAKE images and on a mix of generators and resolutions; repeat with several seeds to put intervals on the ranking of routes.</a:t>
            </a:r>
          </a:p>
          <a:p>
            <a:pPr algn="l" marL="256032" indent="-201168">
              <a:spcAft>
                <a:spcPts val="1000"/>
              </a:spcAft>
              <a:buChar char="•"/>
            </a:pPr>
            <a:r>
              <a:rPr sz="2200" b="0" i="0">
                <a:solidFill>
                  <a:srgbClr val="222222"/>
                </a:solidFill>
                <a:latin typeface="Calibri"/>
                <a:ea typeface="Calibri"/>
                <a:cs typeface="Calibri"/>
              </a:rPr>
              <a:t>Test cross-generator transfer properly with per-generator breakdowns, including newer diffusion models and GAN images.</a:t>
            </a:r>
          </a:p>
          <a:p>
            <a:pPr algn="l" marL="256032" indent="-201168">
              <a:spcAft>
                <a:spcPts val="1000"/>
              </a:spcAft>
              <a:buChar char="•"/>
            </a:pPr>
            <a:r>
              <a:rPr sz="2200" b="0" i="0">
                <a:solidFill>
                  <a:srgbClr val="222222"/>
                </a:solidFill>
                <a:latin typeface="Calibri"/>
                <a:ea typeface="Calibri"/>
                <a:cs typeface="Calibri"/>
              </a:rPr>
              <a:t>Add foundation-model or frequency features, as in HEDGE, and tune the gates and the decision threshold on a validation set.</a:t>
            </a:r>
          </a:p>
          <a:p>
            <a:pPr algn="l" marL="256032" indent="-201168">
              <a:spcAft>
                <a:spcPts val="1000"/>
              </a:spcAft>
              <a:buChar char="•"/>
            </a:pPr>
            <a:r>
              <a:rPr sz="2200" b="0" i="0">
                <a:solidFill>
                  <a:srgbClr val="222222"/>
                </a:solidFill>
                <a:latin typeface="Calibri"/>
                <a:ea typeface="Calibri"/>
                <a:cs typeface="Calibri"/>
              </a:rPr>
              <a:t>Add a quantitative faithfulness test for Grad-CAM (deletion and insertion curves) and a user study of the explanations.</a:t>
            </a:r>
          </a:p>
          <a:p>
            <a:pPr algn="l" marL="256032" indent="-201168">
              <a:spcAft>
                <a:spcPts val="400"/>
              </a:spcAft>
              <a:buChar char="•"/>
            </a:pPr>
            <a:r>
              <a:rPr sz="2200" b="0" i="0">
                <a:solidFill>
                  <a:srgbClr val="222222"/>
                </a:solidFill>
                <a:latin typeface="Calibri"/>
                <a:ea typeface="Calibri"/>
                <a:cs typeface="Calibri"/>
              </a:rPr>
              <a:t>Add GPU timing, load and adversarial tests, and a hosted deployment with real authentication.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45920"/>
            <a:ext cx="5486400" cy="4663440"/>
          </a:xfrm>
          <a:prstGeom prst="rect">
            <a:avLst/>
          </a:prstGeom>
          <a:noFill/>
        </p:spPr>
        <p:txBody>
          <a:bodyPr wrap="square" lIns="0" rIns="0" tIns="0" bIns="0" anchor="t">
            <a:spAutoFit/>
          </a:bodyPr>
          <a:lstStyle/>
          <a:p>
            <a:pPr algn="l">
              <a:spcAft>
                <a:spcPts val="500"/>
              </a:spcAft>
            </a:pPr>
            <a:r>
              <a:rPr sz="1200" b="0" i="0">
                <a:solidFill>
                  <a:srgbClr val="222222"/>
                </a:solidFill>
                <a:latin typeface="Calibri"/>
                <a:ea typeface="Calibri"/>
                <a:cs typeface="Calibri"/>
              </a:rPr>
              <a:t>[1] N. Larue, V. Struc, P. Peer and N.-S. Vu, "Learning the manifold of authenticity: hybrid-curvature representation learning for generalizable deepfake detection," IEEE Access, vol. 14, pp. 101988-102001, 2026, doi: 10.1109/ACCESS.2026.3702429.</a:t>
            </a:r>
          </a:p>
          <a:p>
            <a:pPr algn="l">
              <a:spcAft>
                <a:spcPts val="500"/>
              </a:spcAft>
            </a:pPr>
            <a:r>
              <a:rPr sz="1200" b="0" i="0">
                <a:solidFill>
                  <a:srgbClr val="222222"/>
                </a:solidFill>
                <a:latin typeface="Calibri"/>
                <a:ea typeface="Calibri"/>
                <a:cs typeface="Calibri"/>
              </a:rPr>
              <a:t>[2] F. Wu, D. Lu, M. Yao, X. Xu and F. Guo, "HEDGE: Heterogeneous ensemble for detection of AI-generated images in the wild," arXiv:2604.03555, Apr. 2026.</a:t>
            </a:r>
          </a:p>
          <a:p>
            <a:pPr algn="l">
              <a:spcAft>
                <a:spcPts val="500"/>
              </a:spcAft>
            </a:pPr>
            <a:r>
              <a:rPr sz="1200" b="0" i="0">
                <a:solidFill>
                  <a:srgbClr val="222222"/>
                </a:solidFill>
                <a:latin typeface="Calibri"/>
                <a:ea typeface="Calibri"/>
                <a:cs typeface="Calibri"/>
              </a:rPr>
              <a:t>[3] N. Tasnim, K. Uddin and K. M. Malik, "AI-generated image detection: an empirical study and future research directions," arXiv:2511.02791, Nov. 2025.</a:t>
            </a:r>
          </a:p>
          <a:p>
            <a:pPr algn="l">
              <a:spcAft>
                <a:spcPts val="500"/>
              </a:spcAft>
            </a:pPr>
            <a:r>
              <a:rPr sz="1200" b="0" i="0">
                <a:solidFill>
                  <a:srgbClr val="222222"/>
                </a:solidFill>
                <a:latin typeface="Calibri"/>
                <a:ea typeface="Calibri"/>
                <a:cs typeface="Calibri"/>
              </a:rPr>
              <a:t>[8] J. J. Bird and A. Lotfi, "CIFAKE: image classification and explainable identification of AI-generated synthetic images," IEEE Access, vol. 12, pp. 15642-15650, 2024 (arXiv:2303.14126).</a:t>
            </a:r>
          </a:p>
          <a:p>
            <a:pPr algn="l">
              <a:spcAft>
                <a:spcPts val="500"/>
              </a:spcAft>
            </a:pPr>
            <a:r>
              <a:rPr sz="1200" b="0" i="0">
                <a:solidFill>
                  <a:srgbClr val="222222"/>
                </a:solidFill>
                <a:latin typeface="Calibri"/>
                <a:ea typeface="Calibri"/>
                <a:cs typeface="Calibri"/>
              </a:rPr>
              <a:t>[10] R. Rombach, A. Blattmann, D. Lorenz, P. Esser and B. Ommer, "High-resolution image synthesis with latent diffusion models," in Proc. IEEE/CVF Conf. Comput. Vis. Pattern Recognit. (CVPR), 2022, pp. 10684-10695.</a:t>
            </a:r>
          </a:p>
          <a:p>
            <a:pPr algn="l">
              <a:spcAft>
                <a:spcPts val="500"/>
              </a:spcAft>
            </a:pPr>
            <a:r>
              <a:rPr sz="1200" b="0" i="0">
                <a:solidFill>
                  <a:srgbClr val="222222"/>
                </a:solidFill>
                <a:latin typeface="Calibri"/>
                <a:ea typeface="Calibri"/>
                <a:cs typeface="Calibri"/>
              </a:rPr>
              <a:t>[12] S.-Y. Wang, O. Wang, R. Zhang, A. Owens and A. A. Efros, "CNN-generated images are surprisingly easy to spot... for now," in Proc. IEEE/CVF CVPR, 2020, pp. 8695-8704.</a:t>
            </a:r>
          </a:p>
        </p:txBody>
      </p:sp>
      <p:sp>
        <p:nvSpPr>
          <p:cNvPr id="8" name="TextBox 7"/>
          <p:cNvSpPr txBox="1"/>
          <p:nvPr/>
        </p:nvSpPr>
        <p:spPr>
          <a:xfrm>
            <a:off x="6217920" y="1645920"/>
            <a:ext cx="5486400" cy="4663440"/>
          </a:xfrm>
          <a:prstGeom prst="rect">
            <a:avLst/>
          </a:prstGeom>
          <a:noFill/>
        </p:spPr>
        <p:txBody>
          <a:bodyPr wrap="square" lIns="0" rIns="0" tIns="0" bIns="0" anchor="t">
            <a:spAutoFit/>
          </a:bodyPr>
          <a:lstStyle/>
          <a:p>
            <a:pPr algn="l">
              <a:spcAft>
                <a:spcPts val="500"/>
              </a:spcAft>
            </a:pPr>
            <a:r>
              <a:rPr sz="1200" b="0" i="0">
                <a:solidFill>
                  <a:srgbClr val="222222"/>
                </a:solidFill>
                <a:latin typeface="Calibri"/>
                <a:ea typeface="Calibri"/>
                <a:cs typeface="Calibri"/>
              </a:rPr>
              <a:t>[13] U. Ojha, Y. Li and Y. J. Lee, "Towards universal fake image detectors that generalize across generative models," in Proc. IEEE/CVF CVPR, 2023, pp. 24480-24489.</a:t>
            </a:r>
          </a:p>
          <a:p>
            <a:pPr algn="l">
              <a:spcAft>
                <a:spcPts val="500"/>
              </a:spcAft>
            </a:pPr>
            <a:r>
              <a:rPr sz="1200" b="0" i="0">
                <a:solidFill>
                  <a:srgbClr val="222222"/>
                </a:solidFill>
                <a:latin typeface="Calibri"/>
                <a:ea typeface="Calibri"/>
                <a:cs typeface="Calibri"/>
              </a:rPr>
              <a:t>[19] M. Tan and Q. Le, "EfficientNet: rethinking model scaling for convolutional neural networks," in Proc. 36th Int. Conf. Mach. Learn. (ICML), PMLR vol. 97, 2019, pp. 6105-6114.</a:t>
            </a:r>
          </a:p>
          <a:p>
            <a:pPr algn="l">
              <a:spcAft>
                <a:spcPts val="500"/>
              </a:spcAft>
            </a:pPr>
            <a:r>
              <a:rPr sz="1200" b="0" i="0">
                <a:solidFill>
                  <a:srgbClr val="222222"/>
                </a:solidFill>
                <a:latin typeface="Calibri"/>
                <a:ea typeface="Calibri"/>
                <a:cs typeface="Calibri"/>
              </a:rPr>
              <a:t>[20] K. He, X. Zhang, S. Ren and J. Sun, "Deep residual learning for image recognition," in Proc. IEEE Conf. Comput. Vis. Pattern Recognit. (CVPR), 2016, pp. 770-778.</a:t>
            </a:r>
          </a:p>
          <a:p>
            <a:pPr algn="l">
              <a:spcAft>
                <a:spcPts val="500"/>
              </a:spcAft>
            </a:pPr>
            <a:r>
              <a:rPr sz="1200" b="0" i="0">
                <a:solidFill>
                  <a:srgbClr val="222222"/>
                </a:solidFill>
                <a:latin typeface="Calibri"/>
                <a:ea typeface="Calibri"/>
                <a:cs typeface="Calibri"/>
              </a:rPr>
              <a:t>[21] A. Howard et al., "Searching for MobileNetV3," in Proc. IEEE/CVF ICCV, 2019, pp. 1314-1324.</a:t>
            </a:r>
          </a:p>
          <a:p>
            <a:pPr algn="l">
              <a:spcAft>
                <a:spcPts val="500"/>
              </a:spcAft>
            </a:pPr>
            <a:r>
              <a:rPr sz="1200" b="0" i="0">
                <a:solidFill>
                  <a:srgbClr val="222222"/>
                </a:solidFill>
                <a:latin typeface="Calibri"/>
                <a:ea typeface="Calibri"/>
                <a:cs typeface="Calibri"/>
              </a:rPr>
              <a:t>[22] T.-Y. Lin, P. Goyal, R. Girshick, K. He and P. Dollar, "Focal loss for dense object detection," in Proc. IEEE ICCV, 2017, pp. 2980-2988.</a:t>
            </a:r>
          </a:p>
          <a:p>
            <a:pPr algn="l">
              <a:spcAft>
                <a:spcPts val="500"/>
              </a:spcAft>
            </a:pPr>
            <a:r>
              <a:rPr sz="1200" b="0" i="0">
                <a:solidFill>
                  <a:srgbClr val="222222"/>
                </a:solidFill>
                <a:latin typeface="Calibri"/>
                <a:ea typeface="Calibri"/>
                <a:cs typeface="Calibri"/>
              </a:rPr>
              <a:t>[26] R. R. Selvaraju, M. Cogswell, A. Das, R. Vedantam, D. Parikh and D. Batra, "Grad-CAM: visual explanations from deep networks via gradient-based localization," in Proc. IEEE ICCV, 2017, pp. 618-626.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C14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VeriVision">
  <a:themeElements>
    <a:clrScheme name="VeriVision">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VeriVision">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VeriVisio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AI Generated Images with CNN and Interpretation Using Explainable AI - Final Review</dc:title>
  <dc:subject>VeriVision AI</dc:subject>
  <dc:creator>Ponugoti Viduranandan, Naina Baherji, Likki Pranathi, Motasani Sathish</dc:creator>
  <cp:lastModifiedBy/>
  <cp:revision>1</cp:revision>
  <dcterms:created xsi:type="dcterms:W3CDTF">2026-10-07T05:03:03Z</dcterms:created>
  <dcterms:modified xsi:type="dcterms:W3CDTF">2026-10-07T05:03:03Z</dcterms:modified>
  <dc:description/>
  <cp:keywords>AI-generated image detection, CNN ensemble, Grad-CAM, explainable AI, image forensics</cp:keywords>
</cp:coreProperties>
</file>