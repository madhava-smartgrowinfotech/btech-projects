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3"/>
  </p:notesMasterIdLst>
  <p:sldIdLst>
    <p:sldId id="256" r:id="rId101"/>
    <p:sldId id="257" r:id="rId102"/>
    <p:sldId id="258" r:id="rId103"/>
    <p:sldId id="259" r:id="rId104"/>
    <p:sldId id="260" r:id="rId105"/>
    <p:sldId id="261" r:id="rId106"/>
    <p:sldId id="262" r:id="rId107"/>
    <p:sldId id="263" r:id="rId108"/>
    <p:sldId id="264" r:id="rId10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D8E59"/>
    <a:srgbClr val="EA6826"/>
    <a:srgbClr val="F3A44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587" autoAdjust="0"/>
    <p:restoredTop sz="86330" autoAdjust="0"/>
  </p:normalViewPr>
  <p:slideViewPr>
    <p:cSldViewPr snapToGrid="0">
      <p:cViewPr varScale="1">
        <p:scale>
          <a:sx n="100" d="100"/>
          <a:sy n="100" d="100"/>
        </p:scale>
        <p:origin x="216" y="9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1914"/>
    </p:cViewPr>
  </p:outlin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notesMaster" Target="notesMasters/notesMaster1.xml"/><Relationship Id="rId3" Type="http://schemas.openxmlformats.org/officeDocument/2006/relationships/customXml" Target="../customXml/item3.xml"/><Relationship Id="rId17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theme" Target="theme/theme1.xml"/><Relationship Id="rId1" Type="http://schemas.openxmlformats.org/officeDocument/2006/relationships/customXml" Target="../customXml/item1.xml"/><Relationship Id="rId15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14" Type="http://schemas.openxmlformats.org/officeDocument/2006/relationships/presProps" Target="presProps.xml"/><Relationship Id="rId101" Type="http://schemas.openxmlformats.org/officeDocument/2006/relationships/slide" Target="slides/slide1.xml"/><Relationship Id="rId102" Type="http://schemas.openxmlformats.org/officeDocument/2006/relationships/slide" Target="slides/slide2.xml"/><Relationship Id="rId103" Type="http://schemas.openxmlformats.org/officeDocument/2006/relationships/slide" Target="slides/slide3.xml"/><Relationship Id="rId104" Type="http://schemas.openxmlformats.org/officeDocument/2006/relationships/slide" Target="slides/slide4.xml"/><Relationship Id="rId105" Type="http://schemas.openxmlformats.org/officeDocument/2006/relationships/slide" Target="slides/slide5.xml"/><Relationship Id="rId106" Type="http://schemas.openxmlformats.org/officeDocument/2006/relationships/slide" Target="slides/slide6.xml"/><Relationship Id="rId107" Type="http://schemas.openxmlformats.org/officeDocument/2006/relationships/slide" Target="slides/slide7.xml"/><Relationship Id="rId108" Type="http://schemas.openxmlformats.org/officeDocument/2006/relationships/slide" Target="slides/slide8.xml"/><Relationship Id="rId109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65D0751-2114-4D88-B3CD-A4A7518850E4}" type="datetimeFigureOut">
              <a:rPr lang="en-IN" smtClean="0"/>
              <a:pPr/>
              <a:t>27-08-2026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EA07CB-BBA9-4D22-A48E-1DC790A55F73}" type="slidenum">
              <a:rPr lang="en-IN" smtClean="0"/>
              <a:pPr/>
              <a:t>‹#›</a:t>
            </a:fld>
            <a:endParaRPr lang="en-I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D8EAF3-A183-FBB8-5DFE-F998C7DD80A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A1DECE5-9D85-4D5C-14AE-D97C0E0A1E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69EE3E-B995-B2FF-F955-FC92FA37C6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28D3B7-3125-8256-CC36-3BCA673192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5042E9-46BD-C05A-83DF-C6614E4E42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02820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B2945-42E0-A07A-0B6E-6EDAA1E85B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1E9477-6E0C-B959-02C0-DAA3883EAB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E041CF-6755-E404-A7EF-77F3410562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0053BD7-84D6-736E-96E2-CD694E6E3B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4B374A-CEAB-9F7D-7564-9C7CE16B5B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02064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E03B62-581C-DBAD-2CB0-14534C37C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DE597A-4A9F-F52F-33CF-BA9B366297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687F3F-892B-7234-B6A1-2ECFB4E11B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D6F1E2-5E90-D885-E2AC-2CC7700F23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D39882-48CA-1F9F-2953-F8F8F9ED27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51864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7EEBD1-54F3-609B-1C93-AE4474018F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72EB13-B4F9-51ED-B12A-647E29C782D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E4B1517-E5A2-0E03-3306-7B063FCE75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267CE7-4EC3-8D08-EDF1-11438E27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01F0B4-9EAB-799E-DA38-E6CDCCD70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C14C14-4A90-B2B8-AF68-8BA7D93325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37180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B0D8C-664D-30F3-4803-F12E0BF5A4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D87889-E05F-A6DF-0DC4-326559CA52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4E1E3C-5290-802D-8EF3-5F3212A6E56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D7A1C86-A533-B490-144E-26FF632ACC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C50FFAA-1ADA-8B64-A13D-ECF896B69AC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D8AD25C-CA7A-B139-5333-A3678075C5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C3E1BF-3DC0-EF03-1BE7-3F533D912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72E0924-B3F0-8CE6-145D-A77F262FF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478010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ACA94-6623-4BC4-F39D-66DCD197E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D357359-8E8E-7129-54E5-D0BADB8D35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1C5C0C-6B3B-FAE5-58F6-33BE5069A6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646F30-A1E8-8144-DD72-3472F1571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55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26142CE-9A7E-0B50-2E75-A90CE8A97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C74C564-8346-9BF3-6B5A-187BD4B1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62BCA53-C6C0-68E6-8677-35F1AB7E32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081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F5354-C887-EEA6-1E1D-B7C92A346C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588700-398D-8758-EC69-A070E80DF8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0EC1F47-DB1F-C9E4-8339-99508A1561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B81EA2-907E-4750-E7CE-E5177EFF3B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591AE-A32B-9B2A-89BE-328412356F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AA3ED1-EC3F-E6A4-A363-588FEAB5D1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275088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68EBA-E560-FAB9-DAAE-7CFA8129EC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3E3AFE-48AF-7A59-366F-04260E7F38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26870FA-C759-68D3-1500-9250A3573ED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439ED6-85BE-D0AE-BBB1-BC9D0A3F8D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1B70505-D1E8-3EAA-494D-F9007DA9E7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097C53-7AF0-CBBC-E9CD-4A32748489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2741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5C3509-0D44-D568-F6CB-9039AD095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55E5BB-32D4-1D45-8D54-D9C8DCBE95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6FDC30-09A1-F170-22C7-0CC63521D0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6CBF2C-8B0E-B74F-94E1-CE5A23CA9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43C14B-27DE-DFD1-20DC-A3ADA16E3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926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A271C75-B4FC-09D3-14B6-70821A1E55F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B46F21E-BDF3-F6F8-C4E4-FF0A5269B0A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949D4E-85BB-92DE-7195-775D7C949A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665B19-2814-6CF2-5C46-F3A6022CB1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8EF581-31A0-D1E0-8180-469869F410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9753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8D5BCD3-5517-F7B0-4C7F-E6F3B8E2C1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3BF315-7B47-F19A-A964-36953D1178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6D6B83-D229-EDD7-3C32-A5DD05579B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23F2FC-E17C-4CA2-9375-7A001C262B85}" type="datetimeFigureOut">
              <a:rPr lang="en-US" smtClean="0"/>
              <a:pPr/>
              <a:t>8/27/2026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9F250E-391A-32BD-417C-09D641C02C0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CFE7E6-0B78-2179-510C-B1F5DFB18C4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3B85D0-E2A7-442A-9EAC-4412B270DE85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17703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Picture 34" descr="A white background with black and white clouds">
            <a:extLst>
              <a:ext uri="{FF2B5EF4-FFF2-40B4-BE49-F238E27FC236}">
                <a16:creationId xmlns:a16="http://schemas.microsoft.com/office/drawing/2014/main" id="{E0B1AAB0-B5F5-4E03-02D6-1DB064DEE6A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E3B4784B-1D59-C345-419E-CD0FCB0F8D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85BCF9B7-1595-C668-99E5-45E0E978430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1CA86EFB-CA71-0A13-33E0-384CD40A8F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A7CB81B-C8CA-84D3-8422-0666B831BCC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71557D9-781E-D2E2-F550-47183352261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</a:p>
        </p:txBody>
      </p:sp>
      <p:sp>
        <p:nvSpPr>
          <p:cNvPr id="2" name="TextBox 19">
            <a:extLst>
              <a:ext uri="{FF2B5EF4-FFF2-40B4-BE49-F238E27FC236}">
                <a16:creationId xmlns:a16="http://schemas.microsoft.com/office/drawing/2014/main" id="{EF911901-54D2-24CF-4303-94BA875AA88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95438" y="1285875"/>
            <a:ext cx="942975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>
              <a:buNone/>
            </a:pPr>
            <a:r>
              <a:rPr lang="en-US" altLang="en-US" sz="24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 Computer Science and Engineering</a:t>
            </a:r>
          </a:p>
        </p:txBody>
      </p:sp>
      <p:sp>
        <p:nvSpPr>
          <p:cNvPr id="3" name="TextBox 19">
            <a:extLst>
              <a:ext uri="{FF2B5EF4-FFF2-40B4-BE49-F238E27FC236}">
                <a16:creationId xmlns:a16="http://schemas.microsoft.com/office/drawing/2014/main" id="{2AB77BED-BB4A-559B-89EF-38B1E96032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881563" y="1714500"/>
            <a:ext cx="2743200" cy="461963"/>
          </a:xfrm>
          <a:prstGeom prst="rect">
            <a:avLst/>
          </a:prstGeom>
          <a:noFill/>
          <a:ln>
            <a:noFill/>
          </a:ln>
        </p:spPr>
        <p:txBody>
          <a:bodyPr>
            <a:spAutoFit/>
          </a:bodyPr>
          <a:lstStyle>
            <a:lvl1pPr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>
                <a:solidFill>
                  <a:schemeClr val="tx2"/>
                </a:solidFill>
                <a:latin typeface="Gill Sans MT" panose="020B0502020104020203" pitchFamily="34" charset="0"/>
              </a:defRPr>
            </a:lvl1pPr>
            <a:lvl2pPr marL="742950" indent="-28575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>
                <a:solidFill>
                  <a:schemeClr val="tx2"/>
                </a:solidFill>
                <a:latin typeface="Gill Sans MT" panose="020B0502020104020203" pitchFamily="34" charset="0"/>
              </a:defRPr>
            </a:lvl2pPr>
            <a:lvl3pPr marL="11430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>
                <a:solidFill>
                  <a:schemeClr val="tx2"/>
                </a:solidFill>
                <a:latin typeface="Gill Sans MT" panose="020B0502020104020203" pitchFamily="34" charset="0"/>
              </a:defRPr>
            </a:lvl3pPr>
            <a:lvl4pPr marL="16002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4pPr>
            <a:lvl5pPr marL="2057400" indent="-228600" defTabSz="45720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5pPr>
            <a:lvl6pPr marL="25146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6pPr>
            <a:lvl7pPr marL="29718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7pPr>
            <a:lvl8pPr marL="34290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8pPr>
            <a:lvl9pPr marL="3886200" indent="-228600" defTabSz="457200" eaLnBrk="0" fontAlgn="base" hangingPunct="0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>
                <a:solidFill>
                  <a:schemeClr val="tx2"/>
                </a:solidFill>
                <a:latin typeface="Gill Sans MT" panose="020B0502020104020203" pitchFamily="34" charset="0"/>
              </a:defRPr>
            </a:lvl9pPr>
          </a:lstStyle>
          <a:p>
            <a:pPr algn="ctr" eaLnBrk="1" hangingPunct="1">
              <a:spcBef>
                <a:spcPct val="0"/>
              </a:spcBef>
              <a:spcAft>
                <a:spcPct val="0"/>
              </a:spcAft>
              <a:buClrTx/>
              <a:buSzPct val="150000"/>
              <a:buFontTx/>
              <a:buNone/>
              <a:defRPr/>
            </a:pPr>
            <a:r>
              <a:rPr lang="en-US" altLang="en-US" sz="2000" b="1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altLang="en-US" sz="24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imes New Roman" panose="02020603050405020304" pitchFamily="18" charset="0"/>
                <a:cs typeface="Times New Roman" panose="02020603050405020304" pitchFamily="18" charset="0"/>
              </a:rPr>
              <a:t>Project on 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1EB1BFF2-4F7E-BECD-07D2-50E522824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1528763" y="2713038"/>
            <a:ext cx="9134475" cy="261610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9pPr>
          </a:lstStyle>
          <a:p>
            <a:pPr algn="ctr">
              <a:buNone/>
            </a:pPr>
            <a:r>
              <a:rPr lang="en-US" altLang="en-US" sz="20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Presented By</a:t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Ponugoti Viduranandan	23K91A05J5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Naina Baherji	23K91A05G9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Likki Pranathi	23K91A05D2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  <a:p>
            <a:pPr algn="l" marL="571500">
              <a:buNone/>
              <a:tabLst>
                <a:tab pos="4114800" algn="l"/>
              </a:tabLst>
            </a:pP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>Motasani Sathish	23K91A05G0</a:t>
            </a:r>
            <a:r>
              <a:rPr lang="en-US" altLang="en-US" sz="1800" i="1" dirty="0">
                <a:solidFill>
                  <a:srgbClr val="10253F"/>
                </a:solidFill>
                <a:latin typeface="Bookman Old Style" panose="02050604050505020204" pitchFamily="18" charset="0"/>
              </a:rPr>
              <a:t/>
            </a:r>
          </a:p>
        </p:txBody>
      </p:sp>
      <p:sp>
        <p:nvSpPr>
          <p:cNvPr id="5" name="Rectangle 17">
            <a:extLst>
              <a:ext uri="{FF2B5EF4-FFF2-40B4-BE49-F238E27FC236}">
                <a16:creationId xmlns:a16="http://schemas.microsoft.com/office/drawing/2014/main" id="{2731B16B-276D-2B43-CC76-93FF965422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87600" y="4750023"/>
            <a:ext cx="7312025" cy="136960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>
              <a:buNone/>
            </a:pPr>
            <a:r>
              <a:rPr lang="en-US" sz="18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Under the Guidance of</a:t>
            </a:r>
          </a:p>
          <a:p>
            <a:pPr algn="ctr">
              <a:buNone/>
            </a:pPr>
            <a:r>
              <a:rPr lang="en-US" sz="20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 Thanmayee</a:t>
            </a:r>
          </a:p>
          <a:p>
            <a:pPr algn="ctr">
              <a:buNone/>
            </a:pPr>
            <a:r>
              <a:rPr lang="en-US" sz="1400" i="1" dirty="0">
                <a:solidFill>
                  <a:schemeClr val="tx2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53D53C6-3D26-572E-AE23-F0DEC575DE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31244" y="410291"/>
            <a:ext cx="5066704" cy="5066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BF1A5A3-A331-A83C-4888-1C5A73A34D8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1" name="ProjectTitle"/>
          <p:cNvSpPr txBox="1"/>
          <p:nvPr/>
        </p:nvSpPr>
        <p:spPr>
          <a:xfrm>
            <a:off x="1143000" y="2146300"/>
            <a:ext cx="9906000" cy="5588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ctr">
              <a:buNone/>
            </a:pPr>
            <a:r>
              <a:rPr lang="en-IN" sz="1600" b="1" dirty="0">
                <a:solidFill>
                  <a:srgbClr val="C0504D"/>
                </a:solidFill>
                <a:latin typeface="Times New Roman" pitchFamily="18" charset="0"/>
              </a:rPr>
              <a:t>Detecting AI Generated Images with CNN and Interpretation Using Explainable AI</a:t>
            </a:r>
          </a:p>
        </p:txBody>
      </p:sp>
    </p:spTree>
    <p:extLst>
      <p:ext uri="{BB962C8B-B14F-4D97-AF65-F5344CB8AC3E}">
        <p14:creationId xmlns:p14="http://schemas.microsoft.com/office/powerpoint/2010/main" val="8057843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BCBEE-2F4F-71CA-F941-DC9D63C13D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63B4820E-53EF-79A2-AF06-EFB1C76C0BC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764AC28A-BAA1-7A0F-1502-5CD89A04E8E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DAE4B889-7E42-E0BA-48E5-20FD3A6CE65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D21D269-90CE-A5C3-9969-D2C4A3DD0F7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BE036347-7B18-6766-9AA3-EE85EA782C5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OUTLINE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9A41FE7-F7BC-F572-D24E-027B00063B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6DA86AC-6AB9-81AE-D8D3-7F5A249B8DF9}"/>
              </a:ext>
            </a:extLst>
          </p:cNvPr>
          <p:cNvSpPr txBox="1"/>
          <p:nvPr/>
        </p:nvSpPr>
        <p:spPr>
          <a:xfrm>
            <a:off x="2570848" y="1177866"/>
            <a:ext cx="6097022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  <a:p>
            <a:pPr marL="285750" indent="-285750">
              <a:buClr>
                <a:srgbClr val="EA6826"/>
              </a:buClr>
              <a:buFont typeface="Arial" pitchFamily="34" charset="0"/>
              <a:buChar char="•"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</p:spTree>
    <p:extLst>
      <p:ext uri="{BB962C8B-B14F-4D97-AF65-F5344CB8AC3E}">
        <p14:creationId xmlns:p14="http://schemas.microsoft.com/office/powerpoint/2010/main" val="31613681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Artificial Intelligence has enabled the generation of highly realistic synthetic images, creating challenges in identifying manipulated or fake visual content.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This project proposes a Convolutional Neural Network (CNN)-based image classification system to detect AI-generated images and differentiate them from real images.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system leverages deep learning techniques to automatically extract and learn meaningful features from images, achieving high detection accuracy.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To enhance transparency and trustworthiness, Explainable Artificial Intelligence (XAI) techniques, such as Gradient-weighted Class Activation Mapping (Grad-CAM).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user-friendly web application will be developed using Flask, allowing users to upload images and receive both classification results and visual explanations.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331BF3-E6D1-C023-5A9A-D112538191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EB2DB76-004D-64E1-40B1-997AC9FA216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C5C49668-1728-021D-7B2A-409EFB75B95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72951BC-683A-5832-7EA8-FE7CFFA6E9D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A00ACFE-E6A2-6E91-D28E-5317698864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1539031D-994F-1D02-51A5-3C134C2C25D6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BASE PAPER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790A20B-045A-B55E-9044-B1CB121950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"Learning the Manifold of Authenticity: Hybrid-Curvature Representation Learning for Generalizable Deepfake Detection"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600" dirty="0">
                <a:solidFill>
                  <a:srgbClr val="595959"/>
                </a:solidFill>
                <a:latin typeface="Times New Roman" pitchFamily="18" charset="0"/>
              </a:rPr>
              <a:t>IEEE Access   |   2026   |   DOI: 10.1109/access.2026.3702429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WHAT THIS PROJECT ADOPTS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The surveyed work learns representations that separate authentic from generated images. The gap is pairing that detection with Grad-CAM explanation and testing generalisation across unseen generators.</a:t>
            </a:r>
          </a:p>
        </p:txBody>
      </p:sp>
    </p:spTree>
    <p:extLst>
      <p:ext uri="{BB962C8B-B14F-4D97-AF65-F5344CB8AC3E}">
        <p14:creationId xmlns:p14="http://schemas.microsoft.com/office/powerpoint/2010/main" val="3760972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966C-8294-7FB8-4AF7-FDD5F12B25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6516264-5858-1030-1028-4D6D08D68C6F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1268033D-F89B-F026-88F0-4E2A6E00C6D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3426FA0F-847D-F649-FCD0-1586D97B73F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22748F9B-CC26-E583-3236-4592555F018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7F7D014-4BA2-A8CB-E2B4-AD4019E5085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00D029B-620D-32F3-E739-7153A70444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Generative models now produce synthetic images that are difficult to distinguish from photographs.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Fabricated images drive misinformation, fraud and reputational harm.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Generated images retain subtle statistical artefacts invisible to the human eye.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Convolutional Neural Networks learn these artefacts directly from pixel data.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Detectors trained on one generator often fail on images from a different generator.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Explainable AI shows which image regions drove the decision, making the verdict defensible.</a:t>
            </a:r>
          </a:p>
        </p:txBody>
      </p:sp>
    </p:spTree>
    <p:extLst>
      <p:ext uri="{BB962C8B-B14F-4D97-AF65-F5344CB8AC3E}">
        <p14:creationId xmlns:p14="http://schemas.microsoft.com/office/powerpoint/2010/main" val="31047350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D88C43-774C-27DC-2228-A4D0A01AED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8CFA77B5-9790-DAAE-91F6-8FFCD69D432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94ED25BC-7381-CAB0-10C9-8388E6B9A2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B0B72ABD-F5DB-860C-736A-AAB77878ED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F3E944F5-CEC8-0865-B914-CB103BE7536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9231BD6F-2495-91EB-505F-EA9ED24498A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ED1846C-10F4-4E14-EE60-9885562686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1. Learning the Manifold of Authenticity: Hybrid-Curvature Representation Learning for Generalizable.   [BASE PAPER]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IEEE Access, 2026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2. Deepfake DEEPFAKE AND AI-GENERATED IMAGE DETECTION SYSTEM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International Journal For Multidisciplinary Research,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3. Deepfake Tweet Detection using CNN and FastText Embeddings: Leveraging Deep Learning to Identify.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4. Multimodal Deepfake Detection Across Cultures and Languages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Proceedings of the 1st on Deepfake Forensics Workshop: Detection, Attribution, Recognition, and Adversarial Challenges in the Era of AI-Generated Media, 2025</a:t>
            </a:r>
          </a:p>
          <a:p>
            <a:pPr algn="l">
              <a:lnSpc>
                <a:spcPct val="125000"/>
              </a:lnSpc>
              <a:spcAft>
                <a:spcPts val="400"/>
              </a:spcAft>
              <a:buNone/>
            </a:pPr>
            <a:r>
              <a:rPr lang="en-IN" sz="1500" dirty="0">
                <a:solidFill>
                  <a:srgbClr val="1F1F1F"/>
                </a:solidFill>
                <a:latin typeface="Times New Roman" pitchFamily="18" charset="0"/>
              </a:rPr>
              <a:t>5. Deepfake Detection Using Deep Learning: A Neural Network-Based Approach to Identifying Ai-Generated Media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200" dirty="0">
                <a:solidFill>
                  <a:srgbClr val="7F7F7F"/>
                </a:solidFill>
                <a:latin typeface="Times New Roman" pitchFamily="18" charset="0"/>
              </a:rPr>
              <a:t>      2025</a:t>
            </a:r>
          </a:p>
        </p:txBody>
      </p:sp>
    </p:spTree>
    <p:extLst>
      <p:ext uri="{BB962C8B-B14F-4D97-AF65-F5344CB8AC3E}">
        <p14:creationId xmlns:p14="http://schemas.microsoft.com/office/powerpoint/2010/main" val="30780877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7482EF-6221-3BB0-5040-4666119C27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1560D6D2-DA22-EBDF-304F-C8A421D84D69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655358E4-D89D-93F0-473B-A506EBB4B4F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F6EBD074-6B56-8259-4662-CAA4E4FDE8B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452011EE-C2E4-6809-EC01-738B88A3178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A92A2D69-D568-B1C6-DC72-8355E2C4BC5C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3E7E7-505C-9AC4-41FE-BFE54A7E93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1. Assemble a dataset of real photographs and images produced by several generative models.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2. Preprocess and augment the images to improve robustness across sources.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3. Train a CNN classifier to separate authentic images from generated ones.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4. Evaluate cross-generator performance to test generalisation beyond the training set.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5. Apply Grad-CAM to highlight the regions driving each classification.</a:t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6. Deploy the model behind an interface returning the verdict, confidence and visual explanation.</a:t>
            </a:r>
          </a:p>
        </p:txBody>
      </p:sp>
    </p:spTree>
    <p:extLst>
      <p:ext uri="{BB962C8B-B14F-4D97-AF65-F5344CB8AC3E}">
        <p14:creationId xmlns:p14="http://schemas.microsoft.com/office/powerpoint/2010/main" val="25151272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BAC622-38D3-50E9-6643-705DE550A7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92F2D298-80C7-D362-FF2C-4121D3838878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26636E4-0019-D99D-3347-7F57F9F0CEF0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5B0CEDD6-64DD-781C-7771-2D3AC405C9B7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8409DB7-A08D-C500-BA65-864126EF1152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003E9B55-9D99-EBEF-85E3-43516CDD0865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2D24495-04FB-8B90-F660-31FA92CE69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900" name="BodyText"/>
          <p:cNvSpPr txBox="1"/>
          <p:nvPr/>
        </p:nvSpPr>
        <p:spPr>
          <a:xfrm>
            <a:off x="863600" y="1168400"/>
            <a:ext cx="10490200" cy="5334000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Synthetic images are now realistic enough to deceive human observers reliably.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Detectors trained on one generator degrade sharply on images from another.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Compression and resizing on social platforms remove many detectable artefacts.</a:t>
            </a:r>
          </a:p>
          <a:p>
            <a:pPr algn="just" marL="285750" indent="-285750">
              <a:lnSpc>
                <a:spcPct val="135000"/>
              </a:lnSpc>
              <a:spcAft>
                <a:spcPts val="600"/>
              </a:spcAft>
              <a:buClr>
                <a:srgbClr val="EA6826"/>
              </a:buClr>
              <a:buSzPct val="100000"/>
              <a:buFont typeface="Arial" pitchFamily="34" charset="0"/>
              <a:buChar char="•"/>
            </a:pPr>
            <a:r>
              <a:rPr lang="en-IN" sz="1800" dirty="0">
                <a:solidFill>
                  <a:srgbClr val="1F1F1F"/>
                </a:solidFill>
                <a:latin typeface="Times New Roman" pitchFamily="18" charset="0"/>
              </a:rPr>
              <a:t>A verdict without visual justification is not credible in a dispute.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buNone/>
            </a:pPr>
            <a:r>
              <a:rPr lang="en-IN" sz="1000" dirty="0">
                <a:solidFill>
                  <a:srgbClr val="1F1F1F"/>
                </a:solidFill>
                <a:latin typeface="Times New Roman" pitchFamily="18" charset="0"/>
              </a:rPr>
              <a:t/>
            </a:r>
          </a:p>
          <a:p>
            <a:pPr algn="l">
              <a:lnSpc>
                <a:spcPct val="135000"/>
              </a:lnSpc>
              <a:spcAft>
                <a:spcPts val="400"/>
              </a:spcAft>
              <a:buNone/>
            </a:pPr>
            <a:r>
              <a:rPr lang="en-IN" sz="1800" b="1" dirty="0">
                <a:solidFill>
                  <a:srgbClr val="EA6826"/>
                </a:solidFill>
                <a:latin typeface="Times New Roman" pitchFamily="18" charset="0"/>
              </a:rPr>
              <a:t>Need: a detector that identifies AI-generated images across generators and explains its decision visually.</a:t>
            </a:r>
          </a:p>
        </p:txBody>
      </p:sp>
    </p:spTree>
    <p:extLst>
      <p:ext uri="{BB962C8B-B14F-4D97-AF65-F5344CB8AC3E}">
        <p14:creationId xmlns:p14="http://schemas.microsoft.com/office/powerpoint/2010/main" val="5185377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A3159-CBB3-3C61-8422-7EE9B59E56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Arrow: Chevron 38">
            <a:extLst>
              <a:ext uri="{FF2B5EF4-FFF2-40B4-BE49-F238E27FC236}">
                <a16:creationId xmlns:a16="http://schemas.microsoft.com/office/drawing/2014/main" id="{BF1971EE-F6C7-24D2-21B2-61E245F0BA13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366108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1" name="Arrow: Chevron 40">
            <a:extLst>
              <a:ext uri="{FF2B5EF4-FFF2-40B4-BE49-F238E27FC236}">
                <a16:creationId xmlns:a16="http://schemas.microsoft.com/office/drawing/2014/main" id="{2D0C8823-FEF5-A0BA-4A22-080C517FFEFA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10800000">
            <a:off x="11145327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2" name="Arrow: Chevron 41">
            <a:extLst>
              <a:ext uri="{FF2B5EF4-FFF2-40B4-BE49-F238E27FC236}">
                <a16:creationId xmlns:a16="http://schemas.microsoft.com/office/drawing/2014/main" id="{2F92026F-D464-8AE9-7C87-AFCC85EAEB74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387600" y="355600"/>
            <a:ext cx="366496" cy="600420"/>
          </a:xfrm>
          <a:prstGeom prst="chevron">
            <a:avLst/>
          </a:prstGeom>
          <a:gradFill flip="none" rotWithShape="1"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3" name="Arrow: Chevron 42">
            <a:extLst>
              <a:ext uri="{FF2B5EF4-FFF2-40B4-BE49-F238E27FC236}">
                <a16:creationId xmlns:a16="http://schemas.microsoft.com/office/drawing/2014/main" id="{0283F97C-BA2F-5159-E294-A0AA6B03E881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 rot="21600000">
            <a:off x="2157392" y="355600"/>
            <a:ext cx="366496" cy="600420"/>
          </a:xfrm>
          <a:prstGeom prst="chevron">
            <a:avLst/>
          </a:prstGeom>
          <a:gradFill>
            <a:gsLst>
              <a:gs pos="100000">
                <a:srgbClr val="F3A440"/>
              </a:gs>
              <a:gs pos="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0D0F8E0-EBC5-6D0F-2C9F-702C228A051B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2607467" y="355598"/>
            <a:ext cx="8663132" cy="600421"/>
          </a:xfrm>
          <a:custGeom>
            <a:avLst/>
            <a:gdLst>
              <a:gd name="csX0" fmla="*/ 183248 w 8663132"/>
              <a:gd name="csY0" fmla="*/ 600421 h 600421"/>
              <a:gd name="csX1" fmla="*/ 0 w 8663132"/>
              <a:gd name="csY1" fmla="*/ 600421 h 600421"/>
              <a:gd name="csX2" fmla="*/ 183248 w 8663132"/>
              <a:gd name="csY2" fmla="*/ 300211 h 600421"/>
              <a:gd name="csX3" fmla="*/ 0 w 8663132"/>
              <a:gd name="csY3" fmla="*/ 1 h 600421"/>
              <a:gd name="csX4" fmla="*/ 183248 w 8663132"/>
              <a:gd name="csY4" fmla="*/ 1 h 600421"/>
              <a:gd name="csX5" fmla="*/ 184293 w 8663132"/>
              <a:gd name="csY5" fmla="*/ 1713 h 600421"/>
              <a:gd name="csX6" fmla="*/ 184293 w 8663132"/>
              <a:gd name="csY6" fmla="*/ 0 h 600421"/>
              <a:gd name="csX7" fmla="*/ 8479884 w 8663132"/>
              <a:gd name="csY7" fmla="*/ 0 h 600421"/>
              <a:gd name="csX8" fmla="*/ 8479884 w 8663132"/>
              <a:gd name="csY8" fmla="*/ 0 h 600421"/>
              <a:gd name="csX9" fmla="*/ 8663132 w 8663132"/>
              <a:gd name="csY9" fmla="*/ 0 h 600421"/>
              <a:gd name="csX10" fmla="*/ 8479884 w 8663132"/>
              <a:gd name="csY10" fmla="*/ 300210 h 600421"/>
              <a:gd name="csX11" fmla="*/ 8479884 w 8663132"/>
              <a:gd name="csY11" fmla="*/ 300210 h 600421"/>
              <a:gd name="csX12" fmla="*/ 8663132 w 8663132"/>
              <a:gd name="csY12" fmla="*/ 600420 h 600421"/>
              <a:gd name="csX13" fmla="*/ 8479884 w 8663132"/>
              <a:gd name="csY13" fmla="*/ 600420 h 600421"/>
              <a:gd name="csX14" fmla="*/ 8479884 w 8663132"/>
              <a:gd name="csY14" fmla="*/ 600420 h 600421"/>
              <a:gd name="csX15" fmla="*/ 184293 w 8663132"/>
              <a:gd name="csY15" fmla="*/ 600420 h 600421"/>
              <a:gd name="csX16" fmla="*/ 184293 w 8663132"/>
              <a:gd name="csY16" fmla="*/ 598709 h 6004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</a:cxnLst>
            <a:rect l="l" t="t" r="r" b="b"/>
            <a:pathLst>
              <a:path w="8663132" h="600421">
                <a:moveTo>
                  <a:pt x="183248" y="600421"/>
                </a:moveTo>
                <a:lnTo>
                  <a:pt x="0" y="600421"/>
                </a:lnTo>
                <a:lnTo>
                  <a:pt x="183248" y="300211"/>
                </a:lnTo>
                <a:lnTo>
                  <a:pt x="0" y="1"/>
                </a:lnTo>
                <a:lnTo>
                  <a:pt x="183248" y="1"/>
                </a:lnTo>
                <a:lnTo>
                  <a:pt x="184293" y="1713"/>
                </a:lnTo>
                <a:lnTo>
                  <a:pt x="184293" y="0"/>
                </a:lnTo>
                <a:lnTo>
                  <a:pt x="8479884" y="0"/>
                </a:lnTo>
                <a:lnTo>
                  <a:pt x="8479884" y="0"/>
                </a:lnTo>
                <a:lnTo>
                  <a:pt x="8663132" y="0"/>
                </a:lnTo>
                <a:lnTo>
                  <a:pt x="8479884" y="300210"/>
                </a:lnTo>
                <a:lnTo>
                  <a:pt x="8479884" y="300210"/>
                </a:lnTo>
                <a:lnTo>
                  <a:pt x="8663132" y="600420"/>
                </a:lnTo>
                <a:lnTo>
                  <a:pt x="8479884" y="600420"/>
                </a:lnTo>
                <a:lnTo>
                  <a:pt x="8479884" y="600420"/>
                </a:lnTo>
                <a:lnTo>
                  <a:pt x="184293" y="600420"/>
                </a:lnTo>
                <a:lnTo>
                  <a:pt x="184293" y="598709"/>
                </a:lnTo>
                <a:close/>
              </a:path>
            </a:pathLst>
          </a:custGeom>
          <a:gradFill>
            <a:gsLst>
              <a:gs pos="80000">
                <a:srgbClr val="EA6826"/>
              </a:gs>
              <a:gs pos="100000">
                <a:srgbClr val="F3A440"/>
              </a:gs>
              <a:gs pos="0">
                <a:srgbClr val="F3A440"/>
              </a:gs>
              <a:gs pos="20000">
                <a:srgbClr val="EA6826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2400" b="1" dirty="0">
              <a:solidFill>
                <a:schemeClr val="bg1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ahnschrift" panose="020B0502040204020203" pitchFamily="34" charset="0"/>
            </a:endParaRPr>
          </a:p>
          <a:p>
            <a:pPr algn="ctr"/>
            <a:endParaRPr lang="en-US" sz="2400" b="1" dirty="0">
              <a:solidFill>
                <a:schemeClr val="bg1"/>
              </a:solidFill>
              <a:latin typeface="Bahnschrift" panose="020B0502040204020203" pitchFamily="34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19043E-AED5-2860-53FD-F4727CD7B9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77" y="203505"/>
            <a:ext cx="714412" cy="75251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C78BE6-ABEC-DD01-ECB4-7D770BAD3739}"/>
              </a:ext>
            </a:extLst>
          </p:cNvPr>
          <p:cNvSpPr txBox="1">
            <a:spLocks/>
          </p:cNvSpPr>
          <p:nvPr/>
        </p:nvSpPr>
        <p:spPr>
          <a:xfrm>
            <a:off x="3608505" y="2714625"/>
            <a:ext cx="6773745" cy="928688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IN" sz="4800" b="1" spc="-1" dirty="0">
                <a:solidFill>
                  <a:schemeClr val="accent2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Bookman Old Style" pitchFamily="18" charset="0"/>
                <a:cs typeface="+mn-cs"/>
              </a:rPr>
              <a:t>THANK YOU </a:t>
            </a:r>
            <a:endParaRPr lang="en-US" sz="4800" b="1" spc="-1" dirty="0">
              <a:solidFill>
                <a:schemeClr val="accent2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Bookman Old Style" pitchFamily="18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7923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848F068A69C5F946BCF45B8E1BF19F48" ma:contentTypeVersion="4" ma:contentTypeDescription="Create a new document." ma:contentTypeScope="" ma:versionID="d028811f2e5c194da6cf54bac21acd73">
  <xsd:schema xmlns:xsd="http://www.w3.org/2001/XMLSchema" xmlns:xs="http://www.w3.org/2001/XMLSchema" xmlns:p="http://schemas.microsoft.com/office/2006/metadata/properties" xmlns:ns3="efe893c9-7f4d-46a6-ae12-0c302859942a" targetNamespace="http://schemas.microsoft.com/office/2006/metadata/properties" ma:root="true" ma:fieldsID="d97e4ec4ca92902fd2b7a707bd0db55b" ns3:_="">
    <xsd:import namespace="efe893c9-7f4d-46a6-ae12-0c302859942a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MediaServiceMetadata" minOccurs="0"/>
                <xsd:element ref="ns3:MediaServiceFastMetadata" minOccurs="0"/>
                <xsd:element ref="ns3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fe893c9-7f4d-46a6-ae12-0c302859942a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8232A9E9-8B35-410F-A929-7EB48CC25FAD}">
  <ds:schemaRefs>
    <ds:schemaRef ds:uri="http://www.w3.org/XML/1998/namespace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efe893c9-7f4d-46a6-ae12-0c302859942a"/>
    <ds:schemaRef ds:uri="http://schemas.openxmlformats.org/package/2006/metadata/core-properties"/>
    <ds:schemaRef ds:uri="http://schemas.microsoft.com/office/2006/metadata/properties"/>
    <ds:schemaRef ds:uri="http://purl.org/dc/dcmitype/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5F0CB308-D1A7-4FBD-99AA-DA1E021719E9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fe893c9-7f4d-46a6-ae12-0c302859942a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702CD36D-7C44-4BA1-9562-C49E9CC764EF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2879</TotalTime>
  <Words>55</Words>
  <Application>Microsoft Office PowerPoint</Application>
  <PresentationFormat>Widescreen</PresentationFormat>
  <Paragraphs>24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Bahnschrift</vt:lpstr>
      <vt:lpstr>Bookman Old Style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dss mlritm</dc:creator>
  <cp:lastModifiedBy>admin</cp:lastModifiedBy>
  <cp:revision>449</cp:revision>
  <dcterms:created xsi:type="dcterms:W3CDTF">2025-12-24T04:54:09Z</dcterms:created>
  <dcterms:modified xsi:type="dcterms:W3CDTF">2026-08-27T09:56:04Z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0x010100848F068A69C5F946BCF45B8E1BF19F48</vt:lpwstr>
  </property>
</Properties>
</file>