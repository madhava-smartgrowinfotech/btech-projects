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Reported</c:v>
                </c:pt>
              </c:strCache>
            </c:strRef>
          </c:tx>
          <c:spPr>
            <a:solidFill>
              <a:srgbClr val="2A78D6"/>
            </a:solidFill>
          </c:spPr>
          <c:dPt>
            <c:idx val="1"/>
            <c:spPr>
              <a:solidFill>
                <a:srgbClr val="EB6834"/>
              </a:solidFill>
            </c:spPr>
          </c:dPt>
          <c:cat>
            <c:strRef>
              <c:f>Sheet1!$A$2:$A$4</c:f>
              <c:strCache>
                <c:ptCount val="3"/>
                <c:pt idx="0">
                  <c:v>CTrue AUC
FF++ [1]</c:v>
                </c:pt>
                <c:pt idx="1">
                  <c:v>CTrue AUC
DFDC [1]</c:v>
                </c:pt>
                <c:pt idx="2">
                  <c:v>HEDGE balanced
accuracy, 5 sets [2]</c:v>
                </c:pt>
              </c:strCache>
            </c:strRef>
          </c:cat>
          <c:val>
            <c:numRef>
              <c:f>Sheet1!$B$2:$B$4</c:f>
              <c:numCache>
                <c:formatCode>General</c:formatCode>
                <c:ptCount val="3"/>
                <c:pt idx="0">
                  <c:v>0.989</c:v>
                </c:pt>
                <c:pt idx="1">
                  <c:v>0.77</c:v>
                </c:pt>
                <c:pt idx="2">
                  <c:v>0.983</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VeriVision AI is a local web application that says whether an image looks real or AI-generated, shows which regions drove the decision, and re-tests the verdict after compression, resizing and blur.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design and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the problem of realistic synthetic images, the idea of a heterogeneous ensemble with explanation and a robustness check, and what is delivered: a complete web application that runs locally.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base paper is a face-deepfake detector trained one-class; VeriVision AI is a supervised general-image detector, so numbers are never compared directly. The logit fusion and gating design follows HEDGE (arXiv 2604.03555), which is cited as a design reference.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pattern: detection of generated images from GAN-era CNNs and frequency analysis, to CLIP-feature universal detectors, to heterogeneous ensembles, with a one-class face detector as the base paper. Figures are quoted only where they were read from the paper itself. The full list of references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reasons for the design. A face detector that reaches AUC 98.9 percent in-domain falls to 77.0 percent on another dataset in the paper's own ablation, which is the generalisation problem. And HEDGE shows that heterogeneous routes with logit fusion and gating work on large GPU-trained backbones; we test the idea with small CNNs on a CPU.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an analyst looks for visual artefacts or checks metadata; research detectors exist but usually return a bare score, and the strongest need GPUs or cloud services.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limitations from the survey. Each maps to a design decision: voting routes with visible agreement, Grad-CAM, a robustness check, and local processing.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states the gap as pairing detection with Grad-CAM explanation and testing generalisation across unseen generators. We address gaps 2, 4, 5 and 6 directly and measure gap 3 (cross-domain behaviour) honestly rather than claim it is solved.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is a detector that identifies AI-generated images and explains its decision visually, with its limits stated.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proposal. The later reviews report which were met and which were not, including the cross-generator objective.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from upload to explained verdict. Fuse the route logits with weights 0.35 / 0.15 / 0.25 / 0.25 and two gating rules. The weights and gate thresholds live in one configuration file.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browser uploads the image, the Flask layer validates it, the inference tier runs four routes and the explanation, and local files hold models and metrics.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outcomes and contributions. The later reviews report the measured results, including where the models fail.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four routes instead of one (disagreement is information, and HEDGE motivates heterogeneous routes); why a CPU-trained subset (hardware); whether Grad-CAM proves why the model decided (it is a qualitative aid).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VeriVision AI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000" b="1" dirty="0">
                <a:solidFill>
                  <a:srgbClr val="FFFFFF"/>
                </a:solidFill>
                <a:latin typeface="Cambria" pitchFamily="34" charset="0"/>
                <a:ea typeface="Cambria" pitchFamily="34" charset="-122"/>
                <a:cs typeface="Cambria" pitchFamily="34" charset="-120"/>
              </a:rPr>
              <a:t>Detecting AI Generated Images with CNN and Interpretation Using Explainable AI</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 Heterogeneous CNN Ensemble with Grad-CAM Explanations</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Ponugoti Viduranandan  23K91A05J5</a:t>
            </a:r>
            <a:endParaRPr lang="en-US" sz="1500" dirty="0"/>
          </a:p>
          <a:p>
            <a:pPr indent="0" marL="0">
              <a:buNone/>
            </a:pPr>
            <a:r>
              <a:rPr lang="en-US" sz="1500" dirty="0">
                <a:solidFill>
                  <a:srgbClr val="FFFFFF"/>
                </a:solidFill>
              </a:rPr>
              <a:t>Naina Baherji  23K91A05G9</a:t>
            </a:r>
            <a:endParaRPr lang="en-US" sz="1500" dirty="0"/>
          </a:p>
          <a:p>
            <a:pPr indent="0" marL="0">
              <a:buNone/>
            </a:pPr>
            <a:r>
              <a:rPr lang="en-US" sz="1500" dirty="0">
                <a:solidFill>
                  <a:srgbClr val="FFFFFF"/>
                </a:solidFill>
              </a:rPr>
              <a:t>Likki Pranathi  23K91A05D2</a:t>
            </a:r>
            <a:endParaRPr lang="en-US" sz="1500" dirty="0"/>
          </a:p>
          <a:p>
            <a:pPr indent="0" marL="0">
              <a:buNone/>
            </a:pPr>
            <a:r>
              <a:rPr lang="en-US" sz="1500" dirty="0">
                <a:solidFill>
                  <a:srgbClr val="FFFFFF"/>
                </a:solidFill>
              </a:rPr>
              <a:t>Motasani Sathish  23K91A05G0</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M Thanmayee,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[COLLEGE NAME]  ·  Batch C14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detect, explain and re-test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1700" b="0" i="0">
                <a:solidFill>
                  <a:srgbClr val="475569"/>
                </a:solidFill>
              </a:rPr>
              <a:t>Generative models now produce images that people cannot reliably tell from photographs. Fakes drive misinformation and fraud, and a detector trained on one generator often fails on another.</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1700" b="0" i="0">
                <a:solidFill>
                  <a:srgbClr val="475569"/>
                </a:solidFill>
              </a:rPr>
              <a:t>Four ImageNet-pretrained CNN routes vote on every image. Their logits are fused with weights and two gating rules, Grad-CAM shows where the evidence lies, and a robustness check re-tests the image after JPEG, resize and blur.</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1700" b="0" i="0">
                <a:solidFill>
                  <a:srgbClr val="475569"/>
                </a:solidFill>
              </a:rPr>
              <a:t>VeriVision AI, a local web application: upload an image and read the verdict with confidence, per-route votes, heat maps and a consistency score. A decision aid, not proof of origin. Runs on a CPU.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N. Larue, V. Struc, P. Peer and N.-S. Vu, "Learning the manifold of authenticity: hybrid-curvature representation learning for generalizable deepfake detection," IEEE Access, vol. 14, pp. 101988-102001, 2026, doi: 10.1109/ACCESS.2026.3702429.</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600" b="0" i="0">
                <a:solidFill>
                  <a:srgbClr val="475569"/>
                </a:solidFill>
              </a:rPr>
              <a:t>A one-class detector: it learns only from pristine faces plus synthesised pseudo-fakes, using hybrid-curvature representation learning on an EfficientNet-B4 backbone (19.3 M parameters).</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600" b="0" i="0">
                <a:solidFill>
                  <a:srgbClr val="475569"/>
                </a:solidFill>
              </a:rPr>
              <a:t>720 pristine FaceForensics++ videos; 200 epochs on two V100 GPUs (about 16 h). AUC 98.9% on FF++ and 77.0% on DFDC (lambda = 1 ablation); 74 frames per second on an RTX 3060.</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Relevance to VeriVision AI</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600" b="0" i="0">
                <a:solidFill>
                  <a:srgbClr val="475569"/>
                </a:solidFill>
              </a:rPr>
              <a:t>Shared aim: detection that holds up beyond the training source. Different scope: general images, supervised training, Grad-CAM, a robustness check and CPU-only use. The CTrue method itself is not implemented here.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234440"/>
          <a:ext cx="11091671" cy="4974336"/>
        </p:xfrm>
        <a:graphic>
          <a:graphicData uri="http://schemas.openxmlformats.org/drawingml/2006/table">
            <a:tbl>
              <a:tblPr firstRow="0" bandRow="0">
                <a:tableStyleId>{5C22544A-7EE6-4342-B048-85BDC9FD1C3A}</a:tableStyleId>
              </a:tblPr>
              <a:tblGrid>
                <a:gridCol w="2286000"/>
                <a:gridCol w="640080"/>
                <a:gridCol w="4114800"/>
                <a:gridCol w="4050791"/>
              </a:tblGrid>
              <a:tr h="621792">
                <a:tc>
                  <a:txBody>
                    <a:bodyPr wrap="square"/>
                    <a:lstStyle/>
                    <a:p>
                      <a:pPr algn="ctr"/>
                      <a:r>
                        <a:rPr sz="13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21792">
                <a:tc>
                  <a:txBody>
                    <a:bodyPr wrap="square"/>
                    <a:lstStyle/>
                    <a:p>
                      <a:pPr algn="l"/>
                      <a:r>
                        <a:rPr sz="1200" b="0">
                          <a:solidFill>
                            <a:srgbClr val="0F172A"/>
                          </a:solidFill>
                        </a:rPr>
                        <a:t>Larue et al. CTrue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One-class face-deepfake detector, EfficientNet-B4, pseudo-fakes, hybrid curvature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AUC 98.9% FF++, 77.0% DFDC (lambda=1); faces only, 2 V100 GPUs, 200 epochs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21792">
                <a:tc>
                  <a:txBody>
                    <a:bodyPr wrap="square"/>
                    <a:lstStyle/>
                    <a:p>
                      <a:pPr algn="l"/>
                      <a:r>
                        <a:rPr sz="1200" b="0">
                          <a:solidFill>
                            <a:srgbClr val="0F172A"/>
                          </a:solidFill>
                        </a:rPr>
                        <a:t>Wu et al. HEDGE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Three heterogeneous routes, logit fusion and dual gating, DINOv3 / MetaCLIP2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Balanced acc. 98.3% on five benchmarks; gates add 0.37 F1; 8 H800 GPUs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21792">
                <a:tc>
                  <a:txBody>
                    <a:bodyPr wrap="square"/>
                    <a:lstStyle/>
                    <a:p>
                      <a:pPr algn="l"/>
                      <a:r>
                        <a:rPr sz="1200" b="0">
                          <a:solidFill>
                            <a:srgbClr val="0F172A"/>
                          </a:solidFill>
                        </a:rPr>
                        <a:t>Tasnim et al.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Ten forensic detectors on seven GAN/diffusion sets, Grad-CAM analysis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Strong in-distribution, weaker transfer across generators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21792">
                <a:tc>
                  <a:txBody>
                    <a:bodyPr wrap="square"/>
                    <a:lstStyle/>
                    <a:p>
                      <a:pPr algn="l"/>
                      <a:r>
                        <a:rPr sz="1200" b="0">
                          <a:solidFill>
                            <a:srgbClr val="0F172A"/>
                          </a:solidFill>
                        </a:rPr>
                        <a:t>Bird &amp; Lotfi CIFAKE [8]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CNN on 60,000 real vs 60,000 Stable Diffusion images (32 px), Grad-CAM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Small-image benchmark; one generator; used as this project's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21792">
                <a:tc>
                  <a:txBody>
                    <a:bodyPr wrap="square"/>
                    <a:lstStyle/>
                    <a:p>
                      <a:pPr algn="l"/>
                      <a:r>
                        <a:rPr sz="1200" b="0">
                          <a:solidFill>
                            <a:srgbClr val="0F172A"/>
                          </a:solidFill>
                        </a:rPr>
                        <a:t>Wang et al. [12]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00" b="0">
                          <a:solidFill>
                            <a:srgbClr val="0F172A"/>
                          </a:solidFill>
                        </a:rPr>
                        <a:t>2020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ResNet-50 trained on one GAN, tested on many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Generalises with augmentation; GAN-era generators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21792">
                <a:tc>
                  <a:txBody>
                    <a:bodyPr wrap="square"/>
                    <a:lstStyle/>
                    <a:p>
                      <a:pPr algn="l"/>
                      <a:r>
                        <a:rPr sz="1200" b="0">
                          <a:solidFill>
                            <a:srgbClr val="0F172A"/>
                          </a:solidFill>
                        </a:rPr>
                        <a:t>Ojha et al. [13]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00" b="0">
                          <a:solidFill>
                            <a:srgbClr val="0F172A"/>
                          </a:solidFill>
                        </a:rPr>
                        <a:t>2023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Frozen CLIP features with a linear probe for universal detection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Better transfer to unseen generators; needs a large pre-trained backbone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21792">
                <a:tc>
                  <a:txBody>
                    <a:bodyPr wrap="square"/>
                    <a:lstStyle/>
                    <a:p>
                      <a:pPr algn="l"/>
                      <a:r>
                        <a:rPr sz="1200" b="0">
                          <a:solidFill>
                            <a:srgbClr val="0F172A"/>
                          </a:solidFill>
                        </a:rPr>
                        <a:t>Frank et al. [14]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00" b="0">
                          <a:solidFill>
                            <a:srgbClr val="0F172A"/>
                          </a:solidFill>
                        </a:rPr>
                        <a:t>2020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Frequency-domain (DCT) analysis of GAN images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Spectral artefacts are visible; fragile after resizing or compression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from the literature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5212080" cy="4572000"/>
        </p:xfrm>
        <a:graphic>
          <a:graphicData uri="http://schemas.openxmlformats.org/drawingml/2006/chart">
            <c:chart xmlns:c="http://schemas.openxmlformats.org/drawingml/2006/chart" r:id="rId3"/>
          </a:graphicData>
        </a:graphic>
      </p:graphicFrame>
      <p:sp>
        <p:nvSpPr>
          <p:cNvPr id="27" name="TextBox 26"/>
          <p:cNvSpPr txBox="1"/>
          <p:nvPr/>
        </p:nvSpPr>
        <p:spPr>
          <a:xfrm>
            <a:off x="6035040" y="1325880"/>
            <a:ext cx="5577840" cy="4480560"/>
          </a:xfrm>
          <a:prstGeom prst="rect">
            <a:avLst/>
          </a:prstGeom>
          <a:noFill/>
        </p:spPr>
        <p:txBody>
          <a:bodyPr wrap="square" lIns="0" rIns="0" tIns="0" bIns="0" anchor="t">
            <a:spAutoFit/>
          </a:bodyPr>
          <a:lstStyle/>
          <a:p>
            <a:pPr algn="l" marL="256032" indent="-201168">
              <a:spcAft>
                <a:spcPts val="900"/>
              </a:spcAft>
              <a:buChar char="•"/>
            </a:pPr>
            <a:r>
              <a:rPr sz="1500" b="0" i="0">
                <a:solidFill>
                  <a:srgbClr val="0F172A"/>
                </a:solidFill>
              </a:rPr>
              <a:t>HEDGE: three routes, logit fusion and dual gating reached 98.3% average balanced accuracy on five benchmarks [2]</a:t>
            </a:r>
          </a:p>
          <a:p>
            <a:pPr algn="l" marL="256032" indent="-201168">
              <a:spcAft>
                <a:spcPts val="900"/>
              </a:spcAft>
              <a:buChar char="•"/>
            </a:pPr>
            <a:r>
              <a:rPr sz="1500" b="0" i="0">
                <a:solidFill>
                  <a:srgbClr val="0F172A"/>
                </a:solidFill>
              </a:rPr>
              <a:t>HEDGE ablation: adding the gates lifted robust F1 from 80.52 to 80.89 on the competition set [2]</a:t>
            </a:r>
          </a:p>
          <a:p>
            <a:pPr algn="l" marL="256032" indent="-201168">
              <a:spcAft>
                <a:spcPts val="900"/>
              </a:spcAft>
              <a:buChar char="•"/>
            </a:pPr>
            <a:r>
              <a:rPr sz="1500" b="0" i="0">
                <a:solidFill>
                  <a:srgbClr val="0F172A"/>
                </a:solidFill>
              </a:rPr>
              <a:t>Empirical study: ten detectors on seven datasets are strong in-distribution but transfer weakly [3]</a:t>
            </a:r>
          </a:p>
          <a:p>
            <a:pPr algn="l" marL="256032" indent="-201168">
              <a:spcAft>
                <a:spcPts val="900"/>
              </a:spcAft>
              <a:buChar char="•"/>
            </a:pPr>
            <a:r>
              <a:rPr sz="1500" b="0" i="0">
                <a:solidFill>
                  <a:srgbClr val="0F172A"/>
                </a:solidFill>
              </a:rPr>
              <a:t>CIFAKE: 60,000 real and 60,000 Stable Diffusion v1.4 images at 32 px, a CNN baseline with Grad-CAM [8]</a:t>
            </a:r>
          </a:p>
          <a:p>
            <a:pPr algn="l" marL="256032" indent="-201168">
              <a:spcAft>
                <a:spcPts val="900"/>
              </a:spcAft>
              <a:buChar char="•"/>
            </a:pPr>
            <a:r>
              <a:rPr sz="1500" b="0" i="0">
                <a:solidFill>
                  <a:srgbClr val="0F172A"/>
                </a:solidFill>
              </a:rPr>
              <a:t>Grad-CAM gives class-specific heat maps for any CNN without retraining [26]</a:t>
            </a:r>
          </a:p>
        </p:txBody>
      </p:sp>
      <p:sp>
        <p:nvSpPr>
          <p:cNvPr id="28" name="TextBox 27"/>
          <p:cNvSpPr txBox="1"/>
          <p:nvPr/>
        </p:nvSpPr>
        <p:spPr>
          <a:xfrm>
            <a:off x="548640" y="5897880"/>
            <a:ext cx="11064240" cy="457200"/>
          </a:xfrm>
          <a:prstGeom prst="rect">
            <a:avLst/>
          </a:prstGeom>
          <a:noFill/>
        </p:spPr>
        <p:txBody>
          <a:bodyPr wrap="square" lIns="0" rIns="0" tIns="0" bIns="0" anchor="t">
            <a:spAutoFit/>
          </a:bodyPr>
          <a:lstStyle/>
          <a:p>
            <a:pPr algn="l">
              <a:spcAft>
                <a:spcPts val="400"/>
              </a:spcAft>
            </a:pPr>
            <a:r>
              <a:rPr sz="1200" b="0" i="1">
                <a:solidFill>
                  <a:srgbClr val="475569"/>
                </a:solidFill>
              </a:rPr>
              <a:t>Different tasks, datasets and metrics (AUC vs balanced accuracy); the bars are context, not a comparison. The DFDC value is the lambda = 1 ablation.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Image circulates</a:t>
            </a:r>
          </a:p>
        </p:txBody>
      </p:sp>
      <p:sp>
        <p:nvSpPr>
          <p:cNvPr id="27" name="Right Arrow 26"/>
          <p:cNvSpPr/>
          <p:nvPr/>
        </p:nvSpPr>
        <p:spPr>
          <a:xfrm>
            <a:off x="3106674"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Human or tool inspects</a:t>
            </a:r>
          </a:p>
        </p:txBody>
      </p:sp>
      <p:sp>
        <p:nvSpPr>
          <p:cNvPr id="29" name="Right Arrow 28"/>
          <p:cNvSpPr/>
          <p:nvPr/>
        </p:nvSpPr>
        <p:spPr>
          <a:xfrm>
            <a:off x="5993892"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Verdict or score</a:t>
            </a:r>
          </a:p>
        </p:txBody>
      </p:sp>
      <p:sp>
        <p:nvSpPr>
          <p:cNvPr id="31" name="Right Arrow 30"/>
          <p:cNvSpPr/>
          <p:nvPr/>
        </p:nvSpPr>
        <p:spPr>
          <a:xfrm>
            <a:off x="8881110"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Decision / takedown</a:t>
            </a:r>
          </a:p>
        </p:txBody>
      </p:sp>
      <p:sp>
        <p:nvSpPr>
          <p:cNvPr id="33" name="Rounded Rectangle 32"/>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Manual and metadata checks</a:t>
            </a:r>
          </a:p>
        </p:txBody>
      </p:sp>
      <p:sp>
        <p:nvSpPr>
          <p:cNvPr id="36" name="TextBox 35"/>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Manual inspection of artefacts such as hands, text and lighting
Metadata and watermark checks that fail once the image is re-saved
A mistaken verdict spreads misinformation or wrongly discredits a real image.</a:t>
            </a:r>
          </a:p>
        </p:txBody>
      </p:sp>
      <p:sp>
        <p:nvSpPr>
          <p:cNvPr id="37" name="Rounded Rectangle 36"/>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Automated detectors</a:t>
            </a:r>
          </a:p>
        </p:txBody>
      </p:sp>
      <p:sp>
        <p:nvSpPr>
          <p:cNvPr id="40" name="TextBox 39"/>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Single-model detectors that return only a real/fake score
Large foundation-model detectors that need GPUs and cloud services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Human eyes fail</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900" b="0" i="0">
                <a:solidFill>
                  <a:srgbClr val="475569"/>
                </a:solidFill>
              </a:rPr>
              <a:t>Human eyes can no longer separate modern generated images reliably</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Opaque score</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900" b="0" i="0">
                <a:solidFill>
                  <a:srgbClr val="475569"/>
                </a:solidFill>
              </a:rPr>
              <a:t>A single score hides disagreement between models and gives no reasons</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Generator shift</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900" b="0" i="0">
                <a:solidFill>
                  <a:srgbClr val="475569"/>
                </a:solidFill>
              </a:rPr>
              <a:t>Detectors trained on one generator fail on another (cross-domain drop)</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Lost cues</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900" b="0" i="0">
                <a:solidFill>
                  <a:srgbClr val="475569"/>
                </a:solidFill>
              </a:rPr>
              <a:t>Resize, blur and compression remove the cues many detectors rely on</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500" b="0" i="0">
                <a:solidFill>
                  <a:srgbClr val="0F172A"/>
                </a:solidFill>
              </a:rPr>
              <a:t>Also: Uploading images to a remote service conflicts with privacy for sensitive content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37160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280160"/>
            <a:ext cx="10195560" cy="749808"/>
          </a:xfrm>
          <a:prstGeom prst="rect">
            <a:avLst/>
          </a:prstGeom>
          <a:noFill/>
        </p:spPr>
        <p:txBody>
          <a:bodyPr wrap="square" lIns="0" rIns="0" tIns="0" bIns="0" anchor="ctr">
            <a:spAutoFit/>
          </a:bodyPr>
          <a:lstStyle/>
          <a:p>
            <a:pPr algn="l">
              <a:spcAft>
                <a:spcPts val="400"/>
              </a:spcAft>
            </a:pPr>
            <a:r>
              <a:rPr sz="2000" b="0" i="0">
                <a:solidFill>
                  <a:srgbClr val="0F172A"/>
                </a:solidFill>
              </a:rPr>
              <a:t>The base paper targets face deepfakes with a one-class model, not general images</a:t>
            </a:r>
          </a:p>
        </p:txBody>
      </p:sp>
      <p:sp>
        <p:nvSpPr>
          <p:cNvPr id="28" name="Oval 27"/>
          <p:cNvSpPr/>
          <p:nvPr/>
        </p:nvSpPr>
        <p:spPr>
          <a:xfrm>
            <a:off x="548640" y="2194560"/>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103120"/>
            <a:ext cx="10195560" cy="749808"/>
          </a:xfrm>
          <a:prstGeom prst="rect">
            <a:avLst/>
          </a:prstGeom>
          <a:noFill/>
        </p:spPr>
        <p:txBody>
          <a:bodyPr wrap="square" lIns="0" rIns="0" tIns="0" bIns="0" anchor="ctr">
            <a:spAutoFit/>
          </a:bodyPr>
          <a:lstStyle/>
          <a:p>
            <a:pPr algn="l">
              <a:spcAft>
                <a:spcPts val="400"/>
              </a:spcAft>
            </a:pPr>
            <a:r>
              <a:rPr sz="2000" b="0" i="0">
                <a:solidFill>
                  <a:srgbClr val="0F172A"/>
                </a:solidFill>
              </a:rPr>
              <a:t>Most detectors report a verdict only; Grad-CAM pairing is rare in deployable tools</a:t>
            </a:r>
          </a:p>
        </p:txBody>
      </p:sp>
      <p:sp>
        <p:nvSpPr>
          <p:cNvPr id="30" name="Oval 29"/>
          <p:cNvSpPr/>
          <p:nvPr/>
        </p:nvSpPr>
        <p:spPr>
          <a:xfrm>
            <a:off x="548640" y="3017520"/>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2926080"/>
            <a:ext cx="10195560" cy="749808"/>
          </a:xfrm>
          <a:prstGeom prst="rect">
            <a:avLst/>
          </a:prstGeom>
          <a:noFill/>
        </p:spPr>
        <p:txBody>
          <a:bodyPr wrap="square" lIns="0" rIns="0" tIns="0" bIns="0" anchor="ctr">
            <a:spAutoFit/>
          </a:bodyPr>
          <a:lstStyle/>
          <a:p>
            <a:pPr algn="l">
              <a:spcAft>
                <a:spcPts val="400"/>
              </a:spcAft>
            </a:pPr>
            <a:r>
              <a:rPr sz="2000" b="0" i="0">
                <a:solidFill>
                  <a:srgbClr val="0F172A"/>
                </a:solidFill>
              </a:rPr>
              <a:t>Cross-generator generalisation is claimed often but rarely re-measured on other sources</a:t>
            </a:r>
          </a:p>
        </p:txBody>
      </p:sp>
      <p:sp>
        <p:nvSpPr>
          <p:cNvPr id="32" name="Oval 31"/>
          <p:cNvSpPr/>
          <p:nvPr/>
        </p:nvSpPr>
        <p:spPr>
          <a:xfrm>
            <a:off x="548640" y="3840479"/>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3749039"/>
            <a:ext cx="10195560" cy="749808"/>
          </a:xfrm>
          <a:prstGeom prst="rect">
            <a:avLst/>
          </a:prstGeom>
          <a:noFill/>
        </p:spPr>
        <p:txBody>
          <a:bodyPr wrap="square" lIns="0" rIns="0" tIns="0" bIns="0" anchor="ctr">
            <a:spAutoFit/>
          </a:bodyPr>
          <a:lstStyle/>
          <a:p>
            <a:pPr algn="l">
              <a:spcAft>
                <a:spcPts val="400"/>
              </a:spcAft>
            </a:pPr>
            <a:r>
              <a:rPr sz="2000" b="0" i="0">
                <a:solidFill>
                  <a:srgbClr val="0F172A"/>
                </a:solidFill>
              </a:rPr>
              <a:t>Heterogeneous ensembles with gating exist (HEDGE) but need large GPU-trained backbones</a:t>
            </a:r>
          </a:p>
        </p:txBody>
      </p:sp>
      <p:sp>
        <p:nvSpPr>
          <p:cNvPr id="34" name="Oval 33"/>
          <p:cNvSpPr/>
          <p:nvPr/>
        </p:nvSpPr>
        <p:spPr>
          <a:xfrm>
            <a:off x="548640" y="466344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35" name="TextBox 34"/>
          <p:cNvSpPr txBox="1"/>
          <p:nvPr/>
        </p:nvSpPr>
        <p:spPr>
          <a:xfrm>
            <a:off x="1417320" y="4572000"/>
            <a:ext cx="10195560" cy="749808"/>
          </a:xfrm>
          <a:prstGeom prst="rect">
            <a:avLst/>
          </a:prstGeom>
          <a:noFill/>
        </p:spPr>
        <p:txBody>
          <a:bodyPr wrap="square" lIns="0" rIns="0" tIns="0" bIns="0" anchor="ctr">
            <a:spAutoFit/>
          </a:bodyPr>
          <a:lstStyle/>
          <a:p>
            <a:pPr algn="l">
              <a:spcAft>
                <a:spcPts val="400"/>
              </a:spcAft>
            </a:pPr>
            <a:r>
              <a:rPr sz="2000" b="0" i="0">
                <a:solidFill>
                  <a:srgbClr val="0F172A"/>
                </a:solidFill>
              </a:rPr>
              <a:t>Robustness to JPEG, resizing and blur is seldom reported next to the verdict</a:t>
            </a:r>
          </a:p>
        </p:txBody>
      </p:sp>
      <p:sp>
        <p:nvSpPr>
          <p:cNvPr id="36" name="Oval 35"/>
          <p:cNvSpPr/>
          <p:nvPr/>
        </p:nvSpPr>
        <p:spPr>
          <a:xfrm>
            <a:off x="548640" y="5486400"/>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6</a:t>
            </a:r>
          </a:p>
        </p:txBody>
      </p:sp>
      <p:sp>
        <p:nvSpPr>
          <p:cNvPr id="37" name="TextBox 36"/>
          <p:cNvSpPr txBox="1"/>
          <p:nvPr/>
        </p:nvSpPr>
        <p:spPr>
          <a:xfrm>
            <a:off x="1417320" y="5394960"/>
            <a:ext cx="10195560" cy="749808"/>
          </a:xfrm>
          <a:prstGeom prst="rect">
            <a:avLst/>
          </a:prstGeom>
          <a:noFill/>
        </p:spPr>
        <p:txBody>
          <a:bodyPr wrap="square" lIns="0" rIns="0" tIns="0" bIns="0" anchor="ctr">
            <a:spAutoFit/>
          </a:bodyPr>
          <a:lstStyle/>
          <a:p>
            <a:pPr algn="l">
              <a:spcAft>
                <a:spcPts val="400"/>
              </a:spcAft>
            </a:pPr>
            <a:r>
              <a:rPr sz="2000" b="0" i="0">
                <a:solidFill>
                  <a:srgbClr val="0F172A"/>
                </a:solidFill>
              </a:rPr>
              <a:t>No student-deployable CPU tool joins four CNN routes, Grad-CAM and a robustness check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651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423160"/>
          </a:xfrm>
          <a:prstGeom prst="rect">
            <a:avLst/>
          </a:prstGeom>
          <a:noFill/>
        </p:spPr>
        <p:txBody>
          <a:bodyPr wrap="square" lIns="0" rIns="0" tIns="0" bIns="0" anchor="ctr">
            <a:spAutoFit/>
          </a:bodyPr>
          <a:lstStyle/>
          <a:p>
            <a:pPr algn="l" marL="256032" indent="-201168">
              <a:spcAft>
                <a:spcPts val="800"/>
              </a:spcAft>
              <a:buChar char="•"/>
            </a:pPr>
            <a:r>
              <a:rPr sz="2100" b="0" i="0">
                <a:solidFill>
                  <a:srgbClr val="0F172A"/>
                </a:solidFill>
              </a:rPr>
              <a:t>Synthetic images are realistic enough to deceive human observers</a:t>
            </a:r>
          </a:p>
          <a:p>
            <a:pPr algn="l" marL="256032" indent="-201168">
              <a:spcAft>
                <a:spcPts val="800"/>
              </a:spcAft>
              <a:buChar char="•"/>
            </a:pPr>
            <a:r>
              <a:rPr sz="2100" b="0" i="0">
                <a:solidFill>
                  <a:srgbClr val="0F172A"/>
                </a:solidFill>
              </a:rPr>
              <a:t>Detectors trained on one generator degrade sharply on images from another</a:t>
            </a:r>
          </a:p>
          <a:p>
            <a:pPr algn="l" marL="256032" indent="-201168">
              <a:spcAft>
                <a:spcPts val="800"/>
              </a:spcAft>
              <a:buChar char="•"/>
            </a:pPr>
            <a:r>
              <a:rPr sz="2100" b="0" i="0">
                <a:solidFill>
                  <a:srgbClr val="0F172A"/>
                </a:solidFill>
              </a:rPr>
              <a:t>Compression and resizing on social platforms remove detectable artefacts</a:t>
            </a:r>
          </a:p>
          <a:p>
            <a:pPr algn="l" marL="256032" indent="-201168">
              <a:spcAft>
                <a:spcPts val="800"/>
              </a:spcAft>
              <a:buChar char="•"/>
            </a:pPr>
            <a:r>
              <a:rPr sz="2100" b="0" i="0">
                <a:solidFill>
                  <a:srgbClr val="0F172A"/>
                </a:solidFill>
              </a:rPr>
              <a:t>A verdict without a visual justification is not credible in a dispute</a:t>
            </a:r>
          </a:p>
          <a:p>
            <a:pPr algn="l" marL="256032" indent="-201168">
              <a:spcAft>
                <a:spcPts val="800"/>
              </a:spcAft>
              <a:buChar char="•"/>
            </a:pPr>
            <a:r>
              <a:rPr sz="2100" b="0" i="0">
                <a:solidFill>
                  <a:srgbClr val="0F172A"/>
                </a:solidFill>
              </a:rPr>
              <a:t>Need: a detector that identifies AI-generated images and explains its decision</a:t>
            </a:r>
          </a:p>
        </p:txBody>
      </p:sp>
      <p:sp>
        <p:nvSpPr>
          <p:cNvPr id="28" name="Rounded Rectangle 27"/>
          <p:cNvSpPr/>
          <p:nvPr/>
        </p:nvSpPr>
        <p:spPr>
          <a:xfrm>
            <a:off x="548640" y="4251960"/>
            <a:ext cx="3520440" cy="17373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36168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00600"/>
            <a:ext cx="3108960" cy="1143000"/>
          </a:xfrm>
          <a:prstGeom prst="rect">
            <a:avLst/>
          </a:prstGeom>
          <a:noFill/>
        </p:spPr>
        <p:txBody>
          <a:bodyPr wrap="square" lIns="0" rIns="0" tIns="0" bIns="0" anchor="t">
            <a:spAutoFit/>
          </a:bodyPr>
          <a:lstStyle/>
          <a:p>
            <a:pPr algn="l">
              <a:spcAft>
                <a:spcPts val="400"/>
              </a:spcAft>
            </a:pPr>
            <a:r>
              <a:rPr sz="1600" b="0" i="0">
                <a:solidFill>
                  <a:srgbClr val="475569"/>
                </a:solidFill>
              </a:rPr>
              <a:t>An image: PNG, JPG, JPEG or WEBP, up to 10 MB</a:t>
            </a:r>
          </a:p>
        </p:txBody>
      </p:sp>
      <p:sp>
        <p:nvSpPr>
          <p:cNvPr id="31" name="Rounded Rectangle 30"/>
          <p:cNvSpPr/>
          <p:nvPr/>
        </p:nvSpPr>
        <p:spPr>
          <a:xfrm>
            <a:off x="4334255" y="4251960"/>
            <a:ext cx="3520440" cy="17373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36168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00600"/>
            <a:ext cx="3108960" cy="1143000"/>
          </a:xfrm>
          <a:prstGeom prst="rect">
            <a:avLst/>
          </a:prstGeom>
          <a:noFill/>
        </p:spPr>
        <p:txBody>
          <a:bodyPr wrap="square" lIns="0" rIns="0" tIns="0" bIns="0" anchor="t">
            <a:spAutoFit/>
          </a:bodyPr>
          <a:lstStyle/>
          <a:p>
            <a:pPr algn="l">
              <a:spcAft>
                <a:spcPts val="400"/>
              </a:spcAft>
            </a:pPr>
            <a:r>
              <a:rPr sz="1600" b="0" i="0">
                <a:solidFill>
                  <a:srgbClr val="475569"/>
                </a:solidFill>
              </a:rPr>
              <a:t>Verdict, confidence, per-route votes, Grad-CAM heat maps and a robustness consistency score</a:t>
            </a:r>
          </a:p>
        </p:txBody>
      </p:sp>
      <p:sp>
        <p:nvSpPr>
          <p:cNvPr id="34" name="Rounded Rectangle 33"/>
          <p:cNvSpPr/>
          <p:nvPr/>
        </p:nvSpPr>
        <p:spPr>
          <a:xfrm>
            <a:off x="8119871" y="4251960"/>
            <a:ext cx="3520440" cy="17373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36168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Record</a:t>
            </a:r>
          </a:p>
        </p:txBody>
      </p:sp>
      <p:sp>
        <p:nvSpPr>
          <p:cNvPr id="36" name="TextBox 35"/>
          <p:cNvSpPr txBox="1"/>
          <p:nvPr/>
        </p:nvSpPr>
        <p:spPr>
          <a:xfrm>
            <a:off x="8348471" y="4800600"/>
            <a:ext cx="3108960" cy="1143000"/>
          </a:xfrm>
          <a:prstGeom prst="rect">
            <a:avLst/>
          </a:prstGeom>
          <a:noFill/>
        </p:spPr>
        <p:txBody>
          <a:bodyPr wrap="square" lIns="0" rIns="0" tIns="0" bIns="0" anchor="t">
            <a:spAutoFit/>
          </a:bodyPr>
          <a:lstStyle/>
          <a:p>
            <a:pPr algn="l">
              <a:spcAft>
                <a:spcPts val="400"/>
              </a:spcAft>
            </a:pPr>
            <a:r>
              <a:rPr sz="1600" b="0" i="0">
                <a:solidFill>
                  <a:srgbClr val="475569"/>
                </a:solidFill>
              </a:rPr>
              <a:t>Measured test results with confidence intervals; every number traceable to a metrics file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937760"/>
          </a:xfrm>
          <a:prstGeom prst="rect">
            <a:avLst/>
          </a:prstGeom>
          <a:noFill/>
        </p:spPr>
        <p:txBody>
          <a:bodyPr wrap="square" lIns="0" rIns="0" tIns="0" bIns="0" anchor="t">
            <a:spAutoFit/>
          </a:bodyPr>
          <a:lstStyle/>
          <a:p>
            <a:pPr algn="l">
              <a:spcAft>
                <a:spcPts val="1400"/>
              </a:spcAft>
            </a:pPr>
            <a:r>
              <a:rPr sz="2300" b="0" i="0">
                <a:solidFill>
                  <a:srgbClr val="0F172A"/>
                </a:solidFill>
              </a:rPr>
              <a:t>1.  Assemble a dataset of real photographs and AI-generated images</a:t>
            </a:r>
          </a:p>
          <a:p>
            <a:pPr algn="l">
              <a:spcAft>
                <a:spcPts val="1400"/>
              </a:spcAft>
            </a:pPr>
            <a:r>
              <a:rPr sz="2300" b="0" i="0">
                <a:solidFill>
                  <a:srgbClr val="0F172A"/>
                </a:solidFill>
              </a:rPr>
              <a:t>2.  Preprocess and augment the images to improve robustness across sources</a:t>
            </a:r>
          </a:p>
          <a:p>
            <a:pPr algn="l">
              <a:spcAft>
                <a:spcPts val="1400"/>
              </a:spcAft>
            </a:pPr>
            <a:r>
              <a:rPr sz="2300" b="0" i="0">
                <a:solidFill>
                  <a:srgbClr val="0F172A"/>
                </a:solidFill>
              </a:rPr>
              <a:t>3.  Train CNN classifiers that separate real images from generated ones</a:t>
            </a:r>
          </a:p>
          <a:p>
            <a:pPr algn="l">
              <a:spcAft>
                <a:spcPts val="1400"/>
              </a:spcAft>
            </a:pPr>
            <a:r>
              <a:rPr sz="2300" b="0" i="0">
                <a:solidFill>
                  <a:srgbClr val="0F172A"/>
                </a:solidFill>
              </a:rPr>
              <a:t>4.  Evaluate cross-generator performance to test generalisation</a:t>
            </a:r>
          </a:p>
          <a:p>
            <a:pPr algn="l">
              <a:spcAft>
                <a:spcPts val="1400"/>
              </a:spcAft>
            </a:pPr>
            <a:r>
              <a:rPr sz="2300" b="0" i="0">
                <a:solidFill>
                  <a:srgbClr val="0F172A"/>
                </a:solidFill>
              </a:rPr>
              <a:t>5.  Apply Grad-CAM to highlight the regions driving each classification</a:t>
            </a:r>
          </a:p>
          <a:p>
            <a:pPr algn="l">
              <a:spcAft>
                <a:spcPts val="1400"/>
              </a:spcAft>
            </a:pPr>
            <a:r>
              <a:rPr sz="2300" b="0" i="0">
                <a:solidFill>
                  <a:srgbClr val="0F172A"/>
                </a:solidFill>
              </a:rPr>
              <a:t>6.  Deploy the models behind an interface returning verdict, confidence and explanation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Prepare</a:t>
            </a:r>
          </a:p>
        </p:txBody>
      </p:sp>
      <p:sp>
        <p:nvSpPr>
          <p:cNvPr id="29" name="TextBox 28"/>
          <p:cNvSpPr txBox="1"/>
          <p:nvPr/>
        </p:nvSpPr>
        <p:spPr>
          <a:xfrm>
            <a:off x="749808" y="2194560"/>
            <a:ext cx="2231136" cy="2240279"/>
          </a:xfrm>
          <a:prstGeom prst="rect">
            <a:avLst/>
          </a:prstGeom>
          <a:noFill/>
        </p:spPr>
        <p:txBody>
          <a:bodyPr wrap="square" lIns="0" rIns="0" tIns="0" bIns="0" anchor="t">
            <a:spAutoFit/>
          </a:bodyPr>
          <a:lstStyle/>
          <a:p>
            <a:pPr algn="l">
              <a:spcAft>
                <a:spcPts val="400"/>
              </a:spcAft>
            </a:pPr>
            <a:r>
              <a:rPr sz="1600" b="0" i="0">
                <a:solidFill>
                  <a:srgbClr val="475569"/>
                </a:solidFill>
              </a:rPr>
              <a:t>Validate the upload, convert to RGB, resize per route (224 or 320 px) and normalise with ImageNet statistics.</a:t>
            </a:r>
          </a:p>
        </p:txBody>
      </p:sp>
      <p:sp>
        <p:nvSpPr>
          <p:cNvPr id="30" name="Rounded Rectangle 29"/>
          <p:cNvSpPr/>
          <p:nvPr/>
        </p:nvSpPr>
        <p:spPr>
          <a:xfrm>
            <a:off x="3364992" y="1325880"/>
            <a:ext cx="2633472"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Classify</a:t>
            </a:r>
          </a:p>
        </p:txBody>
      </p:sp>
      <p:sp>
        <p:nvSpPr>
          <p:cNvPr id="33" name="TextBox 32"/>
          <p:cNvSpPr txBox="1"/>
          <p:nvPr/>
        </p:nvSpPr>
        <p:spPr>
          <a:xfrm>
            <a:off x="3566160" y="2194560"/>
            <a:ext cx="2231136" cy="2240279"/>
          </a:xfrm>
          <a:prstGeom prst="rect">
            <a:avLst/>
          </a:prstGeom>
          <a:noFill/>
        </p:spPr>
        <p:txBody>
          <a:bodyPr wrap="square" lIns="0" rIns="0" tIns="0" bIns="0" anchor="t">
            <a:spAutoFit/>
          </a:bodyPr>
          <a:lstStyle/>
          <a:p>
            <a:pPr algn="l">
              <a:spcAft>
                <a:spcPts val="400"/>
              </a:spcAft>
            </a:pPr>
            <a:r>
              <a:rPr sz="1600" b="0" i="0">
                <a:solidFill>
                  <a:srgbClr val="475569"/>
                </a:solidFill>
              </a:rPr>
              <a:t>Four routes: EfficientNet-B0 (two variants), ResNet50 with flip averaging, MobileNetV3-Large with focal loss.</a:t>
            </a:r>
          </a:p>
        </p:txBody>
      </p:sp>
      <p:sp>
        <p:nvSpPr>
          <p:cNvPr id="34" name="Rounded Rectangle 33"/>
          <p:cNvSpPr/>
          <p:nvPr/>
        </p:nvSpPr>
        <p:spPr>
          <a:xfrm>
            <a:off x="6181344" y="1325880"/>
            <a:ext cx="2633472"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Fuse</a:t>
            </a:r>
          </a:p>
        </p:txBody>
      </p:sp>
      <p:sp>
        <p:nvSpPr>
          <p:cNvPr id="37" name="TextBox 36"/>
          <p:cNvSpPr txBox="1"/>
          <p:nvPr/>
        </p:nvSpPr>
        <p:spPr>
          <a:xfrm>
            <a:off x="6382512" y="2194560"/>
            <a:ext cx="2231136" cy="2240279"/>
          </a:xfrm>
          <a:prstGeom prst="rect">
            <a:avLst/>
          </a:prstGeom>
          <a:noFill/>
        </p:spPr>
        <p:txBody>
          <a:bodyPr wrap="square" lIns="0" rIns="0" tIns="0" bIns="0" anchor="t">
            <a:spAutoFit/>
          </a:bodyPr>
          <a:lstStyle/>
          <a:p>
            <a:pPr algn="l">
              <a:spcAft>
                <a:spcPts val="400"/>
              </a:spcAft>
            </a:pPr>
            <a:r>
              <a:rPr sz="1600" b="0" i="0">
                <a:solidFill>
                  <a:srgbClr val="475569"/>
                </a:solidFill>
              </a:rPr>
              <a:t>Weighted sum of logits (0.35 / 0.15 / 0.25 / 0.25), two deterministic gates, softmax, confidence wording.</a:t>
            </a:r>
          </a:p>
        </p:txBody>
      </p:sp>
      <p:sp>
        <p:nvSpPr>
          <p:cNvPr id="38" name="Rounded Rectangle 37"/>
          <p:cNvSpPr/>
          <p:nvPr/>
        </p:nvSpPr>
        <p:spPr>
          <a:xfrm>
            <a:off x="8997696" y="1325880"/>
            <a:ext cx="2633472"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Explain</a:t>
            </a:r>
          </a:p>
        </p:txBody>
      </p:sp>
      <p:sp>
        <p:nvSpPr>
          <p:cNvPr id="41" name="TextBox 40"/>
          <p:cNvSpPr txBox="1"/>
          <p:nvPr/>
        </p:nvSpPr>
        <p:spPr>
          <a:xfrm>
            <a:off x="9198864" y="2194560"/>
            <a:ext cx="2231136" cy="2240279"/>
          </a:xfrm>
          <a:prstGeom prst="rect">
            <a:avLst/>
          </a:prstGeom>
          <a:noFill/>
        </p:spPr>
        <p:txBody>
          <a:bodyPr wrap="square" lIns="0" rIns="0" tIns="0" bIns="0" anchor="t">
            <a:spAutoFit/>
          </a:bodyPr>
          <a:lstStyle/>
          <a:p>
            <a:pPr algn="l">
              <a:spcAft>
                <a:spcPts val="400"/>
              </a:spcAft>
            </a:pPr>
            <a:r>
              <a:rPr sz="1600" b="0" i="0">
                <a:solidFill>
                  <a:srgbClr val="475569"/>
                </a:solidFill>
              </a:rPr>
              <a:t>Grad-CAM heat maps on three routes and a re-test under JPEG, 2x resize and blur with a consistency score.</a:t>
            </a:r>
          </a:p>
        </p:txBody>
      </p:sp>
      <p:sp>
        <p:nvSpPr>
          <p:cNvPr id="42" name="Rounded Rectangle 41"/>
          <p:cNvSpPr/>
          <p:nvPr/>
        </p:nvSpPr>
        <p:spPr>
          <a:xfrm>
            <a:off x="548640" y="4754880"/>
            <a:ext cx="11091672"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02920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S</a:t>
            </a:r>
          </a:p>
        </p:txBody>
      </p:sp>
      <p:sp>
        <p:nvSpPr>
          <p:cNvPr id="44" name="TextBox 43"/>
          <p:cNvSpPr txBox="1"/>
          <p:nvPr/>
        </p:nvSpPr>
        <p:spPr>
          <a:xfrm>
            <a:off x="1645920" y="489204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Fused logits = 0.35 z(A1) + 0.15 z(A2) + 0.25 z(B) + 0.25 z(C), adjusted by Gate 1 and Gate 2</a:t>
            </a:r>
          </a:p>
        </p:txBody>
      </p:sp>
      <p:sp>
        <p:nvSpPr>
          <p:cNvPr id="45" name="TextBox 44"/>
          <p:cNvSpPr txBox="1"/>
          <p:nvPr/>
        </p:nvSpPr>
        <p:spPr>
          <a:xfrm>
            <a:off x="1645920" y="5303520"/>
            <a:ext cx="9784080" cy="777240"/>
          </a:xfrm>
          <a:prstGeom prst="rect">
            <a:avLst/>
          </a:prstGeom>
          <a:noFill/>
        </p:spPr>
        <p:txBody>
          <a:bodyPr wrap="square" lIns="0" rIns="0" tIns="0" bIns="0" anchor="t">
            <a:spAutoFit/>
          </a:bodyPr>
          <a:lstStyle/>
          <a:p>
            <a:pPr algn="l">
              <a:spcAft>
                <a:spcPts val="400"/>
              </a:spcAft>
            </a:pPr>
            <a:r>
              <a:rPr sz="1400" b="0" i="0">
                <a:solidFill>
                  <a:srgbClr val="475569"/>
                </a:solidFill>
              </a:rPr>
              <a:t>Delivered as a Flask API (port 8414) and a React web app (port 5414); trained from ImageNet weights on a CIFAKE subset; no GPU needed; the verdict is a decision aid.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954803" y="1188720"/>
            <a:ext cx="5954232" cy="5120640"/>
          </a:xfrm>
          <a:prstGeom prst="rect">
            <a:avLst/>
          </a:prstGeom>
        </p:spPr>
      </p:pic>
      <p:sp>
        <p:nvSpPr>
          <p:cNvPr id="27" name="TextBox 26"/>
          <p:cNvSpPr txBox="1"/>
          <p:nvPr/>
        </p:nvSpPr>
        <p:spPr>
          <a:xfrm>
            <a:off x="7589520" y="1371600"/>
            <a:ext cx="4023360" cy="4754880"/>
          </a:xfrm>
          <a:prstGeom prst="rect">
            <a:avLst/>
          </a:prstGeom>
          <a:noFill/>
        </p:spPr>
        <p:txBody>
          <a:bodyPr wrap="square" lIns="0" rIns="0" tIns="0" bIns="0" anchor="t">
            <a:spAutoFit/>
          </a:bodyPr>
          <a:lstStyle/>
          <a:p>
            <a:pPr algn="l">
              <a:spcAft>
                <a:spcPts val="800"/>
              </a:spcAft>
            </a:pPr>
            <a:r>
              <a:rPr sz="1700" b="1" i="0">
                <a:solidFill>
                  <a:srgbClr val="0F172A"/>
                </a:solidFill>
              </a:rPr>
              <a:t>Four tiers</a:t>
            </a:r>
          </a:p>
          <a:p>
            <a:pPr algn="l" marL="256032" indent="-201168">
              <a:spcAft>
                <a:spcPts val="400"/>
              </a:spcAft>
              <a:buChar char="•"/>
            </a:pPr>
            <a:r>
              <a:rPr sz="1700" b="0" i="0">
                <a:solidFill>
                  <a:srgbClr val="0F172A"/>
                </a:solidFill>
              </a:rPr>
              <a:t>Presentation: React and Vite web app (port 5414).</a:t>
            </a:r>
          </a:p>
          <a:p>
            <a:pPr algn="l" marL="256032" indent="-201168">
              <a:spcAft>
                <a:spcPts val="400"/>
              </a:spcAft>
              <a:buChar char="•"/>
            </a:pPr>
            <a:r>
              <a:rPr sz="1700" b="0" i="0">
                <a:solidFill>
                  <a:srgbClr val="0F172A"/>
                </a:solidFill>
              </a:rPr>
              <a:t>Application: Flask (port 8414); PNG, JPG, JPEG or WEBP up to 10 MB.</a:t>
            </a:r>
          </a:p>
          <a:p>
            <a:pPr algn="l" marL="256032" indent="-201168">
              <a:spcAft>
                <a:spcPts val="400"/>
              </a:spcAft>
              <a:buChar char="•"/>
            </a:pPr>
            <a:r>
              <a:rPr sz="1700" b="0" i="0">
                <a:solidFill>
                  <a:srgbClr val="0F172A"/>
                </a:solidFill>
              </a:rPr>
              <a:t>Inference: PyTorch routes, logit fusion, Grad-CAM and robustness re-check.</a:t>
            </a:r>
          </a:p>
          <a:p>
            <a:pPr algn="l" marL="256032" indent="-201168">
              <a:spcAft>
                <a:spcPts val="400"/>
              </a:spcAft>
              <a:buChar char="•"/>
            </a:pPr>
            <a:r>
              <a:rPr sz="1700" b="0" i="0">
                <a:solidFill>
                  <a:srgbClr val="0F172A"/>
                </a:solidFill>
              </a:rPr>
              <a:t>Data: model files, metadata and metric JSON on the local disk; no database, nothing leaves the machine.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application</a:t>
            </a:r>
          </a:p>
        </p:txBody>
      </p:sp>
      <p:sp>
        <p:nvSpPr>
          <p:cNvPr id="29" name="TextBox 28"/>
          <p:cNvSpPr txBox="1"/>
          <p:nvPr/>
        </p:nvSpPr>
        <p:spPr>
          <a:xfrm>
            <a:off x="749808" y="2240280"/>
            <a:ext cx="3118104" cy="1325879"/>
          </a:xfrm>
          <a:prstGeom prst="rect">
            <a:avLst/>
          </a:prstGeom>
          <a:noFill/>
        </p:spPr>
        <p:txBody>
          <a:bodyPr wrap="square" lIns="0" rIns="0" tIns="0" bIns="0" anchor="t">
            <a:spAutoFit/>
          </a:bodyPr>
          <a:lstStyle/>
          <a:p>
            <a:pPr algn="l">
              <a:spcAft>
                <a:spcPts val="400"/>
              </a:spcAft>
            </a:pPr>
            <a:r>
              <a:rPr sz="1700" b="0" i="0">
                <a:solidFill>
                  <a:srgbClr val="475569"/>
                </a:solidFill>
              </a:rPr>
              <a:t>A working web app from image upload to verdict, votes, heat map and robustness check</a:t>
            </a:r>
          </a:p>
        </p:txBody>
      </p:sp>
      <p:sp>
        <p:nvSpPr>
          <p:cNvPr id="30" name="Rounded Rectangle 29"/>
          <p:cNvSpPr/>
          <p:nvPr/>
        </p:nvSpPr>
        <p:spPr>
          <a:xfrm>
            <a:off x="4334255" y="1371600"/>
            <a:ext cx="3520440"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Measured performance</a:t>
            </a:r>
          </a:p>
        </p:txBody>
      </p:sp>
      <p:sp>
        <p:nvSpPr>
          <p:cNvPr id="33" name="TextBox 32"/>
          <p:cNvSpPr txBox="1"/>
          <p:nvPr/>
        </p:nvSpPr>
        <p:spPr>
          <a:xfrm>
            <a:off x="4535423" y="2240280"/>
            <a:ext cx="3118104" cy="1325879"/>
          </a:xfrm>
          <a:prstGeom prst="rect">
            <a:avLst/>
          </a:prstGeom>
          <a:noFill/>
        </p:spPr>
        <p:txBody>
          <a:bodyPr wrap="square" lIns="0" rIns="0" tIns="0" bIns="0" anchor="t">
            <a:spAutoFit/>
          </a:bodyPr>
          <a:lstStyle/>
          <a:p>
            <a:pPr algn="l">
              <a:spcAft>
                <a:spcPts val="400"/>
              </a:spcAft>
            </a:pPr>
            <a:r>
              <a:rPr sz="1700" b="0" i="0">
                <a:solidFill>
                  <a:srgbClr val="475569"/>
                </a:solidFill>
              </a:rPr>
              <a:t>Measured accuracy, F1 and ROC-AUC on a held-out test set with confidence intervals</a:t>
            </a:r>
          </a:p>
        </p:txBody>
      </p:sp>
      <p:sp>
        <p:nvSpPr>
          <p:cNvPr id="34" name="Rounded Rectangle 33"/>
          <p:cNvSpPr/>
          <p:nvPr/>
        </p:nvSpPr>
        <p:spPr>
          <a:xfrm>
            <a:off x="8119871" y="1371600"/>
            <a:ext cx="3520440"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robustness</a:t>
            </a:r>
          </a:p>
        </p:txBody>
      </p:sp>
      <p:sp>
        <p:nvSpPr>
          <p:cNvPr id="37" name="TextBox 36"/>
          <p:cNvSpPr txBox="1"/>
          <p:nvPr/>
        </p:nvSpPr>
        <p:spPr>
          <a:xfrm>
            <a:off x="8321040" y="2240280"/>
            <a:ext cx="3118104" cy="1325879"/>
          </a:xfrm>
          <a:prstGeom prst="rect">
            <a:avLst/>
          </a:prstGeom>
          <a:noFill/>
        </p:spPr>
        <p:txBody>
          <a:bodyPr wrap="square" lIns="0" rIns="0" tIns="0" bIns="0" anchor="t">
            <a:spAutoFit/>
          </a:bodyPr>
          <a:lstStyle/>
          <a:p>
            <a:pPr algn="l">
              <a:spcAft>
                <a:spcPts val="400"/>
              </a:spcAft>
            </a:pPr>
            <a:r>
              <a:rPr sz="1700" b="0" i="0">
                <a:solidFill>
                  <a:srgbClr val="475569"/>
                </a:solidFill>
              </a:rPr>
              <a:t>Honest robustness and cross-domain measurements, including where the models fail</a:t>
            </a:r>
          </a:p>
        </p:txBody>
      </p:sp>
      <p:sp>
        <p:nvSpPr>
          <p:cNvPr id="38" name="Rounded Rectangle 37"/>
          <p:cNvSpPr/>
          <p:nvPr/>
        </p:nvSpPr>
        <p:spPr>
          <a:xfrm>
            <a:off x="548640" y="3931920"/>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148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0873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Inspectable evidence</a:t>
            </a:r>
          </a:p>
        </p:txBody>
      </p:sp>
      <p:sp>
        <p:nvSpPr>
          <p:cNvPr id="41" name="TextBox 40"/>
          <p:cNvSpPr txBox="1"/>
          <p:nvPr/>
        </p:nvSpPr>
        <p:spPr>
          <a:xfrm>
            <a:off x="749808" y="4800600"/>
            <a:ext cx="5038344" cy="1188719"/>
          </a:xfrm>
          <a:prstGeom prst="rect">
            <a:avLst/>
          </a:prstGeom>
          <a:noFill/>
        </p:spPr>
        <p:txBody>
          <a:bodyPr wrap="square" lIns="0" rIns="0" tIns="0" bIns="0" anchor="t">
            <a:spAutoFit/>
          </a:bodyPr>
          <a:lstStyle/>
          <a:p>
            <a:pPr algn="l">
              <a:spcAft>
                <a:spcPts val="400"/>
              </a:spcAft>
            </a:pPr>
            <a:r>
              <a:rPr sz="1800" b="0" i="0">
                <a:solidFill>
                  <a:srgbClr val="475569"/>
                </a:solidFill>
              </a:rPr>
              <a:t>Explanations an analyst can inspect next to the per-route votes</a:t>
            </a:r>
          </a:p>
        </p:txBody>
      </p:sp>
      <p:sp>
        <p:nvSpPr>
          <p:cNvPr id="42" name="Rounded Rectangle 41"/>
          <p:cNvSpPr/>
          <p:nvPr/>
        </p:nvSpPr>
        <p:spPr>
          <a:xfrm>
            <a:off x="6199631" y="3931920"/>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1480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0873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Human judgement</a:t>
            </a:r>
          </a:p>
        </p:txBody>
      </p:sp>
      <p:sp>
        <p:nvSpPr>
          <p:cNvPr id="45" name="TextBox 44"/>
          <p:cNvSpPr txBox="1"/>
          <p:nvPr/>
        </p:nvSpPr>
        <p:spPr>
          <a:xfrm>
            <a:off x="6400799" y="4800600"/>
            <a:ext cx="5038344" cy="1188719"/>
          </a:xfrm>
          <a:prstGeom prst="rect">
            <a:avLst/>
          </a:prstGeom>
          <a:noFill/>
        </p:spPr>
        <p:txBody>
          <a:bodyPr wrap="square" lIns="0" rIns="0" tIns="0" bIns="0" anchor="t">
            <a:spAutoFit/>
          </a:bodyPr>
          <a:lstStyle/>
          <a:p>
            <a:pPr algn="l">
              <a:spcAft>
                <a:spcPts val="400"/>
              </a:spcAft>
            </a:pPr>
            <a:r>
              <a:rPr sz="1800" b="0" i="0">
                <a:solidFill>
                  <a:srgbClr val="475569"/>
                </a:solidFill>
              </a:rPr>
              <a:t>A decision aid: the verdict is evidence, not proof of origin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88720"/>
            <a:ext cx="11091672" cy="5120640"/>
          </a:xfrm>
          <a:prstGeom prst="rect">
            <a:avLst/>
          </a:prstGeom>
          <a:noFill/>
        </p:spPr>
        <p:txBody>
          <a:bodyPr wrap="square" lIns="0" rIns="0" tIns="0" bIns="0" anchor="t">
            <a:spAutoFit/>
          </a:bodyPr>
          <a:lstStyle/>
          <a:p>
            <a:pPr algn="l">
              <a:spcAft>
                <a:spcPts val="400"/>
              </a:spcAft>
            </a:pPr>
            <a:r>
              <a:rPr sz="1400" b="0" i="0">
                <a:solidFill>
                  <a:srgbClr val="0F172A"/>
                </a:solidFill>
              </a:rPr>
              <a:t>[1] N. Larue, V. Struc, P. Peer and N.-S. Vu, "Learning the manifold of authenticity: hybrid-curvature representation learning for generalizable deepfake detection," IEEE Access, vol. 14, pp. 101988-102001, 2026, doi: 10.1109/ACCESS.2026.3702429.</a:t>
            </a:r>
          </a:p>
          <a:p>
            <a:pPr algn="l">
              <a:spcAft>
                <a:spcPts val="400"/>
              </a:spcAft>
            </a:pPr>
            <a:r>
              <a:rPr sz="1400" b="0" i="0">
                <a:solidFill>
                  <a:srgbClr val="0F172A"/>
                </a:solidFill>
              </a:rPr>
              <a:t>[2] F. Wu, D. Lu, M. Yao, X. Xu and F. Guo, "HEDGE: Heterogeneous ensemble for detection of AI-generated images in the wild," arXiv:2604.03555, Apr. 2026.</a:t>
            </a:r>
          </a:p>
          <a:p>
            <a:pPr algn="l">
              <a:spcAft>
                <a:spcPts val="400"/>
              </a:spcAft>
            </a:pPr>
            <a:r>
              <a:rPr sz="1400" b="0" i="0">
                <a:solidFill>
                  <a:srgbClr val="0F172A"/>
                </a:solidFill>
              </a:rPr>
              <a:t>[3] N. Tasnim, K. Uddin and K. M. Malik, "AI-generated image detection: an empirical study and future research directions," arXiv:2511.02791, Nov. 2025.</a:t>
            </a:r>
          </a:p>
          <a:p>
            <a:pPr algn="l">
              <a:spcAft>
                <a:spcPts val="400"/>
              </a:spcAft>
            </a:pPr>
            <a:r>
              <a:rPr sz="1400" b="0" i="0">
                <a:solidFill>
                  <a:srgbClr val="0F172A"/>
                </a:solidFill>
              </a:rPr>
              <a:t>[8] J. J. Bird and A. Lotfi, "CIFAKE: image classification and explainable identification of AI-generated synthetic images," IEEE Access, vol. 12, pp. 15642-15650, 2024 (arXiv:2303.14126).</a:t>
            </a:r>
          </a:p>
          <a:p>
            <a:pPr algn="l">
              <a:spcAft>
                <a:spcPts val="400"/>
              </a:spcAft>
            </a:pPr>
            <a:r>
              <a:rPr sz="1400" b="0" i="0">
                <a:solidFill>
                  <a:srgbClr val="0F172A"/>
                </a:solidFill>
              </a:rPr>
              <a:t>[12] S.-Y. Wang, O. Wang, R. Zhang, A. Owens and A. A. Efros, "CNN-generated images are surprisingly easy to spot... for now," in Proc. IEEE/CVF CVPR, 2020, pp. 8695-8704.</a:t>
            </a:r>
          </a:p>
          <a:p>
            <a:pPr algn="l">
              <a:spcAft>
                <a:spcPts val="400"/>
              </a:spcAft>
            </a:pPr>
            <a:r>
              <a:rPr sz="1400" b="0" i="0">
                <a:solidFill>
                  <a:srgbClr val="0F172A"/>
                </a:solidFill>
              </a:rPr>
              <a:t>[13] U. Ojha, Y. Li and Y. J. Lee, "Towards universal fake image detectors that generalize across generative models," in Proc. IEEE/CVF CVPR, 2023, pp. 24480-24489.</a:t>
            </a:r>
          </a:p>
          <a:p>
            <a:pPr algn="l">
              <a:spcAft>
                <a:spcPts val="400"/>
              </a:spcAft>
            </a:pPr>
            <a:r>
              <a:rPr sz="1400" b="0" i="0">
                <a:solidFill>
                  <a:srgbClr val="0F172A"/>
                </a:solidFill>
              </a:rPr>
              <a:t>[19] M. Tan and Q. Le, "EfficientNet: rethinking model scaling for convolutional neural networks," in Proc. 36th Int. Conf. Mach. Learn. (ICML), PMLR vol. 97, 2019, pp. 6105-6114.</a:t>
            </a:r>
          </a:p>
          <a:p>
            <a:pPr algn="l">
              <a:spcAft>
                <a:spcPts val="400"/>
              </a:spcAft>
            </a:pPr>
            <a:r>
              <a:rPr sz="1400" b="0" i="0">
                <a:solidFill>
                  <a:srgbClr val="0F172A"/>
                </a:solidFill>
              </a:rPr>
              <a:t>[20] K. He, X. Zhang, S. Ren and J. Sun, "Deep residual learning for image recognition," in Proc. IEEE Conf. Comput. Vis. Pattern Recognit. (CVPR), 2016, pp. 770-778.</a:t>
            </a:r>
          </a:p>
          <a:p>
            <a:pPr algn="l">
              <a:spcAft>
                <a:spcPts val="400"/>
              </a:spcAft>
            </a:pPr>
            <a:r>
              <a:rPr sz="1400" b="0" i="0">
                <a:solidFill>
                  <a:srgbClr val="0F172A"/>
                </a:solidFill>
              </a:rPr>
              <a:t>[21] A. Howard et al., "Searching for MobileNetV3," in Proc. IEEE/CVF ICCV, 2019, pp. 1314-1324.</a:t>
            </a:r>
          </a:p>
          <a:p>
            <a:pPr algn="l">
              <a:spcAft>
                <a:spcPts val="400"/>
              </a:spcAft>
            </a:pPr>
            <a:r>
              <a:rPr sz="1400" b="0" i="0">
                <a:solidFill>
                  <a:srgbClr val="0F172A"/>
                </a:solidFill>
              </a:rPr>
              <a:t>[26] R. R. Selvaraju, M. Cogswell, A. Das, R. Vedantam, D. Parikh and D. Batra, "Grad-CAM: visual explanations from deep networks via gradient-based localization," in Proc. IEEE ICCV, 2017, pp. 618-626.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VeriVision">
  <a:themeElements>
    <a:clrScheme name="VeriVision">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Veri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VeriVisio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AI Generated Images with CNN and Interpretation Using Explainable AI: Review 1</dc:title>
  <dc:subject>Batch C14 (CSE-C)</dc:subject>
  <dc:creator>Ponugoti Viduranandan, Naina Baherji, Likki Pranathi, Motasani Sathish</dc:creator>
  <cp:lastModifiedBy/>
  <cp:revision>1</cp:revision>
  <dcterms:created xsi:type="dcterms:W3CDTF">2026-10-13T12:36:40Z</dcterms:created>
  <dcterms:modified xsi:type="dcterms:W3CDTF">2026-10-13T12:36:40Z</dcterms:modified>
  <cp:keywords>AI-generated image detection, CNN ensemble, Grad-CAM, explainable AI, image forensics</cp:keywords>
  <dc:description/>
  <cp:category/>
</cp:coreProperties>
</file>