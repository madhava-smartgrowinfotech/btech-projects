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f0aec94-eb0f-294a-de05-1614c3997827}">
          <p14:sldIdLst>
            <p14:sldId id="256"/>
            <p14:sldId id="257"/>
            <p14:sldId id="258"/>
          </p14:sldIdLst>
        </p14:section>
        <p14:section name="Research" id="{c5b655bf-1c78-45d9-2d43-c8947840fc05}">
          <p14:sldIdLst>
            <p14:sldId id="259"/>
            <p14:sldId id="260"/>
            <p14:sldId id="261"/>
          </p14:sldIdLst>
        </p14:section>
        <p14:section name="Problem" id="{c83c02f1-f6cc-56f3-d67e-57d82ce85a28}">
          <p14:sldIdLst>
            <p14:sldId id="262"/>
            <p14:sldId id="263"/>
            <p14:sldId id="264"/>
            <p14:sldId id="265"/>
            <p14:sldId id="266"/>
          </p14:sldIdLst>
        </p14:section>
        <p14:section name="Proposed solution" id="{0d7ed7fb-f0c3-288f-402c-2a68d644f815}">
          <p14:sldIdLst>
            <p14:sldId id="267"/>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Instances (of 2,790)</c:v>
                </c:pt>
              </c:strCache>
            </c:strRef>
          </c:tx>
          <c:spPr>
            <a:solidFill>
              <a:srgbClr val="2A78D6"/>
            </a:solidFill>
          </c:spPr>
          <c:cat>
            <c:strRef>
              <c:f>Sheet1!$A$2:$A$4</c:f>
              <c:strCache>
                <c:ptCount val="3"/>
                <c:pt idx="0">
                  <c:v>GVb better than MR</c:v>
                </c:pt>
                <c:pt idx="1">
                  <c:v>GVb equal to MR</c:v>
                </c:pt>
                <c:pt idx="2">
                  <c:v>MR better than GVb</c:v>
                </c:pt>
              </c:strCache>
            </c:strRef>
          </c:cat>
          <c:val>
            <c:numRef>
              <c:f>Sheet1!$B$2:$B$4</c:f>
              <c:numCache>
                <c:formatCode>General</c:formatCode>
                <c:ptCount val="3"/>
                <c:pt idx="0">
                  <c:v>57</c:v>
                </c:pt>
                <c:pt idx="1">
                  <c:v>1490</c:v>
                </c:pt>
                <c:pt idx="2">
                  <c:v>1243</c:v>
                </c:pt>
              </c:numCache>
            </c:numRef>
          </c:val>
        </c:ser>
        <c:dLbls>
          <c:numFmt formatCode="#,##0" sourceLinked="0"/>
          <c:txPr>
            <a:bodyPr/>
            <a:lstStyle/>
            <a:p>
              <a:pPr>
                <a:defRPr sz="10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5DCE6"/>
            </a:solidFill>
          </a:ln>
        </c:spPr>
        <c:crossAx val="-2113994440"/>
        <c:crosses val="autoZero"/>
        <c:auto val="1"/>
        <c:lblAlgn val="ctr"/>
        <c:lblOffset val="100"/>
        <c:noMultiLvlLbl val="0"/>
      </c:catAx>
      <c:valAx>
        <c:axId val="-2113994440"/>
        <c:scaling>
          <c:max val="1700.0"/>
          <c:min val="0.0"/>
        </c:scaling>
        <c:delete val="0"/>
        <c:axPos val="l"/>
        <c:majorGridlines>
          <c:spPr>
            <a:ln>
              <a:solidFill>
                <a:srgbClr val="D5DCE6"/>
              </a:solidFill>
            </a:ln>
          </c:spPr>
        </c:majorGridlines>
        <c:numFmt formatCode="#,##0" sourceLinked="0"/>
        <c:majorTickMark val="out"/>
        <c:minorTickMark val="none"/>
        <c:tickLblPos val="nextTo"/>
        <c:spPr>
          <a:ln>
            <a:noFill/>
          </a:ln>
        </c:spPr>
        <c:crossAx val="-2068027336"/>
        <c:crosses val="autoZero"/>
      </c:valAx>
    </c:plotArea>
    <c:dispBlanksAs val="gap"/>
  </c:chart>
  <c:txPr>
    <a:bodyPr/>
    <a:lstStyle/>
    <a:p>
      <a:pPr>
        <a:defRPr sz="11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team and the title. One sentence: ParkSure lets a driver search live availability, reserve a bay in advance, pay online and check in, and gives the operator a dashboard.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Agenda. The review covers why the problem matters and what is missing in current work, then the approach, the architecture and what will be measured.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points from the project abstract: the urban parking problem, the web reservation platform, and the admin panel with live availability.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registered base paper is the IEEE OJCS paper on medical-city parking. The rules that ParkSure actually implements for overstays, the buffer and the star reputation come from the second paper, so both are shown. ParkSure does not claim to improve the grouping algorithms.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Details about related works are only what the two base papers state about them. The four batch-survey titles could not be located online, so no results are quoted from them.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published evidence, on different data and settings from ours. The second paper reports its buffer results as figures only, so no numbers are quoted from 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Current practice at ordinary urban facilities, taken from the project introduction and problem statement.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four limitations are the batch problem statement; the last line is what the two base papers leave open.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first gap is the survey conclusion of the batch: allocation inside large managed facilities, but no general reservation platform for ordinary urban parking. Gaps 2 to 5 come from reading the two base papers and the related work they cite.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statement slowly. The need is a reservation platform with live availability, a guaranteed slot in advance and digital payment.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six objectives from the proposal. The final presentation states plainly which are met.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stages and the stack. The buffer and reputation rules follow the arXiv paper; search, booking, payment and the admin panel complete the platform.</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Follow the diagram top to bottom: the console calls the API, the API calls the engine and the database.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problem-identification review, so the slide states what will be delivered and measured, not results. Results are in Review 2 and the final presentation.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Selected references; the complete numbered list is in the project report.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Likely questions: why the registered base paper and the implemented rules come from two different papers (the batch registered the IEEE OJCS paper; the overstay buffer and star rules are in the arXiv paper); what the hold-back buffer is; what happens when a lot is full on arrival.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ParkSure  ·  Review 1</a:t>
            </a:r>
            <a:endParaRPr lang="en-US" sz="1000" dirty="0"/>
          </a:p>
        </p:txBody>
      </p:sp>
      <p:sp>
        <p:nvSpPr>
          <p:cNvPr id="3" name="Text 1"/>
          <p:cNvSpPr/>
          <p:nvPr>
            <p:ph idx="101" type="title" hasCustomPrompt="1"/>
          </p:nvPr>
        </p:nvSpPr>
        <p:spPr>
          <a:xfrm>
            <a:off x="548640" y="320040"/>
            <a:ext cx="11094415" cy="777240"/>
          </a:xfrm>
          <a:prstGeom prst="rect">
            <a:avLst/>
          </a:prstGeom>
          <a:noFill/>
          <a:ln/>
        </p:spPr>
        <p:txBody>
          <a:bodyPr wrap="square" rtlCol="0"/>
          <a:lstStyle>
            <a:lvl1pPr algn="l" indent="0" marL="0">
              <a:buNone/>
              <a:defRPr lang="en-US" sz="3200" b="1" dirty="0">
                <a:solidFill>
                  <a:srgbClr val="1B2A4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7" Type="http://schemas.openxmlformats.org/officeDocument/2006/relationships/slideLayout" Target="../slideLayouts/slideLayout3.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lIns="0" tIns="0" rIns="0" bIns="0" rtlCol="0" anchor="b"/>
          <a:lstStyle/>
          <a:p>
            <a:pPr algn="l" indent="0" marL="0">
              <a:buNone/>
            </a:pPr>
            <a:r>
              <a:rPr lang="en-US" sz="3400" b="1" dirty="0">
                <a:solidFill>
                  <a:srgbClr val="FFFFFF"/>
                </a:solidFill>
                <a:latin typeface="Cambria" pitchFamily="34" charset="0"/>
                <a:ea typeface="Cambria" pitchFamily="34" charset="-122"/>
                <a:cs typeface="Cambria" pitchFamily="34" charset="-120"/>
              </a:rPr>
              <a:t>Online Vehicle Parking Reservation System</a:t>
            </a: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Smart parking reservation: search, book, pay and check in</a:t>
            </a:r>
            <a:endParaRPr lang="en-US" sz="2000" dirty="0"/>
          </a:p>
        </p:txBody>
      </p:sp>
      <p:sp>
        <p:nvSpPr>
          <p:cNvPr id="4" name="review label"/>
          <p:cNvSpPr txBox="1"/>
          <p:nvPr/>
        </p:nvSpPr>
        <p:spPr>
          <a:xfrm>
            <a:off x="548640" y="640080"/>
            <a:ext cx="7315200" cy="365760"/>
          </a:xfrm>
          <a:prstGeom prst="rect">
            <a:avLst/>
          </a:prstGeom>
          <a:noFill/>
          <a:ln/>
        </p:spPr>
        <p:txBody>
          <a:bodyPr wrap="square" lIns="0" tIns="0" rIns="0" bIns="0" rtlCol="0" anchor="ctr"/>
          <a:lstStyle/>
          <a:p>
            <a:pPr indent="0" marL="0">
              <a:buNone/>
            </a:pPr>
            <a:r>
              <a:rPr lang="en-US" sz="1400" b="1" spc="200" kern="0" dirty="0">
                <a:solidFill>
                  <a:srgbClr val="EDA100"/>
                </a:solidFill>
              </a:rPr>
              <a:t>REVIEW 1  ·  PROBLEM IDENTIFICATION AND RESEARCH</a:t>
            </a:r>
            <a:endParaRPr lang="en-US" sz="1400" dirty="0"/>
          </a:p>
        </p:txBody>
      </p:sp>
      <p:sp>
        <p:nvSpPr>
          <p:cNvPr id="5" name="Text 3"/>
          <p:cNvSpPr txBox="1"/>
          <p:nvPr/>
        </p:nvSpPr>
        <p:spPr>
          <a:xfrm>
            <a:off x="548640" y="4160520"/>
            <a:ext cx="5120640" cy="320040"/>
          </a:xfrm>
          <a:prstGeom prst="rect">
            <a:avLst/>
          </a:prstGeom>
          <a:noFill/>
          <a:ln/>
        </p:spPr>
        <p:txBody>
          <a:bodyPr wrap="square" lIns="0" tIns="0" rIns="0" bIns="0" rtlCol="0" anchor="ctr"/>
          <a:lstStyle/>
          <a:p>
            <a:pPr indent="0" marL="0">
              <a:buNone/>
            </a:pPr>
            <a:r>
              <a:rPr lang="en-US" sz="1400" dirty="0">
                <a:solidFill>
                  <a:srgbClr val="CADCFC"/>
                </a:solidFill>
              </a:rPr>
              <a:t>Presented by</a:t>
            </a:r>
            <a:endParaRPr lang="en-US" sz="1400" dirty="0"/>
          </a:p>
        </p:txBody>
      </p:sp>
      <p:sp>
        <p:nvSpPr>
          <p:cNvPr id="6" name="team"/>
          <p:cNvSpPr txBox="1"/>
          <p:nvPr/>
        </p:nvSpPr>
        <p:spPr>
          <a:xfrm>
            <a:off x="548640" y="4480560"/>
            <a:ext cx="5120640" cy="1280160"/>
          </a:xfrm>
          <a:prstGeom prst="rect">
            <a:avLst/>
          </a:prstGeom>
          <a:noFill/>
          <a:ln/>
        </p:spPr>
        <p:txBody>
          <a:bodyPr wrap="square" lIns="0" tIns="0" rIns="0" bIns="0" rtlCol="0" anchor="t"/>
          <a:lstStyle/>
          <a:p>
            <a:pPr indent="0" marL="0">
              <a:buNone/>
            </a:pPr>
            <a:r>
              <a:rPr lang="en-US" sz="1500" dirty="0">
                <a:solidFill>
                  <a:srgbClr val="FFFFFF"/>
                </a:solidFill>
              </a:rPr>
              <a:t>Palle Yashaswini  23K91A05H9</a:t>
            </a:r>
            <a:endParaRPr lang="en-US" sz="1500" dirty="0"/>
          </a:p>
          <a:p>
            <a:pPr indent="0" marL="0">
              <a:buNone/>
            </a:pPr>
            <a:r>
              <a:rPr lang="en-US" sz="1500" dirty="0">
                <a:solidFill>
                  <a:srgbClr val="FFFFFF"/>
                </a:solidFill>
              </a:rPr>
              <a:t>Mohammed Muneeb Ahmed  24K95A0518</a:t>
            </a:r>
            <a:endParaRPr lang="en-US" sz="1500" dirty="0"/>
          </a:p>
          <a:p>
            <a:pPr indent="0" marL="0">
              <a:buNone/>
            </a:pPr>
            <a:r>
              <a:rPr lang="en-US" sz="1500" dirty="0">
                <a:solidFill>
                  <a:srgbClr val="FFFFFF"/>
                </a:solidFill>
              </a:rPr>
              <a:t>Kamasani Manisha  24K95A0513</a:t>
            </a:r>
            <a:endParaRPr lang="en-US" sz="1500" dirty="0"/>
          </a:p>
          <a:p>
            <a:pPr indent="0" marL="0">
              <a:buNone/>
            </a:pPr>
            <a:r>
              <a:rPr lang="en-US" sz="1500" dirty="0">
                <a:solidFill>
                  <a:srgbClr val="FFFFFF"/>
                </a:solidFill>
              </a:rPr>
              <a:t>Pothagani Nithyya Bhargava  23K91A05J6</a:t>
            </a:r>
            <a:endParaRPr lang="en-US" sz="1500" dirty="0"/>
          </a:p>
        </p:txBody>
      </p:sp>
      <p:sp>
        <p:nvSpPr>
          <p:cNvPr id="7" name="Text 5"/>
          <p:cNvSpPr txBox="1"/>
          <p:nvPr/>
        </p:nvSpPr>
        <p:spPr>
          <a:xfrm>
            <a:off x="6400800" y="4160520"/>
            <a:ext cx="5212080" cy="320040"/>
          </a:xfrm>
          <a:prstGeom prst="rect">
            <a:avLst/>
          </a:prstGeom>
          <a:noFill/>
          <a:ln/>
        </p:spPr>
        <p:txBody>
          <a:bodyPr wrap="square" lIns="0" tIns="0" rIns="0" bIns="0" rtlCol="0" anchor="ctr"/>
          <a:lstStyle/>
          <a:p>
            <a:pPr indent="0" marL="0">
              <a:buNone/>
            </a:pPr>
            <a:r>
              <a:rPr lang="en-US" sz="1400" dirty="0">
                <a:solidFill>
                  <a:srgbClr val="CADCFC"/>
                </a:solidFill>
              </a:rPr>
              <a:t>Under the guidance of</a:t>
            </a:r>
            <a:endParaRPr lang="en-US" sz="1400" dirty="0"/>
          </a:p>
        </p:txBody>
      </p:sp>
      <p:sp>
        <p:nvSpPr>
          <p:cNvPr id="8" name="Text 6"/>
          <p:cNvSpPr txBox="1"/>
          <p:nvPr/>
        </p:nvSpPr>
        <p:spPr>
          <a:xfrm>
            <a:off x="6400800" y="4480560"/>
            <a:ext cx="5212080" cy="365760"/>
          </a:xfrm>
          <a:prstGeom prst="rect">
            <a:avLst/>
          </a:prstGeom>
          <a:noFill/>
          <a:ln/>
        </p:spPr>
        <p:txBody>
          <a:bodyPr wrap="square" lIns="0" tIns="0" rIns="0" bIns="0" rtlCol="0" anchor="ctr"/>
          <a:lstStyle/>
          <a:p>
            <a:pPr indent="0" marL="0">
              <a:buNone/>
            </a:pPr>
            <a:r>
              <a:rPr lang="en-US" sz="1500" dirty="0">
                <a:solidFill>
                  <a:srgbClr val="FFFFFF"/>
                </a:solidFill>
              </a:rPr>
              <a:t>Guide: V Pallavi, [DESIGNATION]</a:t>
            </a:r>
            <a:endParaRPr lang="en-US" sz="1500" dirty="0"/>
          </a:p>
        </p:txBody>
      </p:sp>
      <p:sp>
        <p:nvSpPr>
          <p:cNvPr id="9" name="Text 7"/>
          <p:cNvSpPr txBox="1"/>
          <p:nvPr/>
        </p:nvSpPr>
        <p:spPr>
          <a:xfrm>
            <a:off x="6400800" y="4983480"/>
            <a:ext cx="5212080" cy="777240"/>
          </a:xfrm>
          <a:prstGeom prst="rect">
            <a:avLst/>
          </a:prstGeom>
          <a:noFill/>
          <a:ln/>
        </p:spPr>
        <p:txBody>
          <a:bodyPr wrap="square" lIns="0" tIns="0" rIns="0" bIns="0" rtlCol="0" anchor="t"/>
          <a:lstStyle/>
          <a:p>
            <a:pPr indent="0" marL="0">
              <a:buNone/>
            </a:pPr>
            <a:r>
              <a:rPr lang="en-US" sz="1300" dirty="0">
                <a:solidFill>
                  <a:srgbClr val="CADCFC"/>
                </a:solidFill>
              </a:rPr>
              <a:t>Department of Computer Science and Engineering</a:t>
            </a:r>
            <a:endParaRPr lang="en-US" sz="1300" dirty="0"/>
          </a:p>
          <a:p>
            <a:pPr indent="0" marL="0">
              <a:buNone/>
            </a:pPr>
            <a:r>
              <a:rPr lang="en-US" sz="1300" dirty="0">
                <a:solidFill>
                  <a:srgbClr val="CADCFC"/>
                </a:solidFill>
              </a:rPr>
              <a:t>TKR College of Engineering &amp; Technology  ·  Batch C3 (CSE-C)  ·  [ACADEMIC YEAR]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Contents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2</a:t>
            </a:fld>
            <a:endParaRPr lang="en-US"/>
          </a:p>
        </p:txBody>
      </p:sp>
      <p:sp>
        <p:nvSpPr>
          <p:cNvPr id="26" name="Rounded Rectangle 25"/>
          <p:cNvSpPr/>
          <p:nvPr/>
        </p:nvSpPr>
        <p:spPr>
          <a:xfrm>
            <a:off x="548640"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77240" y="15453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01</a:t>
            </a:r>
          </a:p>
        </p:txBody>
      </p:sp>
      <p:sp>
        <p:nvSpPr>
          <p:cNvPr id="28" name="TextBox 27"/>
          <p:cNvSpPr txBox="1"/>
          <p:nvPr/>
        </p:nvSpPr>
        <p:spPr>
          <a:xfrm>
            <a:off x="777240"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Abstract and overview</a:t>
            </a:r>
          </a:p>
        </p:txBody>
      </p:sp>
      <p:sp>
        <p:nvSpPr>
          <p:cNvPr id="29" name="Rounded Rectangle 28"/>
          <p:cNvSpPr/>
          <p:nvPr/>
        </p:nvSpPr>
        <p:spPr>
          <a:xfrm>
            <a:off x="4334255"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562855" y="15453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02</a:t>
            </a:r>
          </a:p>
        </p:txBody>
      </p:sp>
      <p:sp>
        <p:nvSpPr>
          <p:cNvPr id="31" name="TextBox 30"/>
          <p:cNvSpPr txBox="1"/>
          <p:nvPr/>
        </p:nvSpPr>
        <p:spPr>
          <a:xfrm>
            <a:off x="4562855"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Base paper</a:t>
            </a:r>
          </a:p>
        </p:txBody>
      </p:sp>
      <p:sp>
        <p:nvSpPr>
          <p:cNvPr id="32" name="Rounded Rectangle 31"/>
          <p:cNvSpPr/>
          <p:nvPr/>
        </p:nvSpPr>
        <p:spPr>
          <a:xfrm>
            <a:off x="8119871"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348471" y="15453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03</a:t>
            </a:r>
          </a:p>
        </p:txBody>
      </p:sp>
      <p:sp>
        <p:nvSpPr>
          <p:cNvPr id="34" name="TextBox 33"/>
          <p:cNvSpPr txBox="1"/>
          <p:nvPr/>
        </p:nvSpPr>
        <p:spPr>
          <a:xfrm>
            <a:off x="8348471"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Literature survey and evidence</a:t>
            </a:r>
          </a:p>
        </p:txBody>
      </p:sp>
      <p:sp>
        <p:nvSpPr>
          <p:cNvPr id="35" name="Rounded Rectangle 34"/>
          <p:cNvSpPr/>
          <p:nvPr/>
        </p:nvSpPr>
        <p:spPr>
          <a:xfrm>
            <a:off x="548640"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77240" y="31455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04</a:t>
            </a:r>
          </a:p>
        </p:txBody>
      </p:sp>
      <p:sp>
        <p:nvSpPr>
          <p:cNvPr id="37" name="TextBox 36"/>
          <p:cNvSpPr txBox="1"/>
          <p:nvPr/>
        </p:nvSpPr>
        <p:spPr>
          <a:xfrm>
            <a:off x="777240"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Existing system and limitations</a:t>
            </a:r>
          </a:p>
        </p:txBody>
      </p:sp>
      <p:sp>
        <p:nvSpPr>
          <p:cNvPr id="38" name="Rounded Rectangle 37"/>
          <p:cNvSpPr/>
          <p:nvPr/>
        </p:nvSpPr>
        <p:spPr>
          <a:xfrm>
            <a:off x="4334255"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4562855" y="31455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05</a:t>
            </a:r>
          </a:p>
        </p:txBody>
      </p:sp>
      <p:sp>
        <p:nvSpPr>
          <p:cNvPr id="40" name="TextBox 39"/>
          <p:cNvSpPr txBox="1"/>
          <p:nvPr/>
        </p:nvSpPr>
        <p:spPr>
          <a:xfrm>
            <a:off x="4562855"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Research gap</a:t>
            </a:r>
          </a:p>
        </p:txBody>
      </p:sp>
      <p:sp>
        <p:nvSpPr>
          <p:cNvPr id="41" name="Rounded Rectangle 40"/>
          <p:cNvSpPr/>
          <p:nvPr/>
        </p:nvSpPr>
        <p:spPr>
          <a:xfrm>
            <a:off x="8119871"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8348471" y="31455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06</a:t>
            </a:r>
          </a:p>
        </p:txBody>
      </p:sp>
      <p:sp>
        <p:nvSpPr>
          <p:cNvPr id="43" name="TextBox 42"/>
          <p:cNvSpPr txBox="1"/>
          <p:nvPr/>
        </p:nvSpPr>
        <p:spPr>
          <a:xfrm>
            <a:off x="8348471"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Problem statement and objectives</a:t>
            </a:r>
          </a:p>
        </p:txBody>
      </p:sp>
      <p:sp>
        <p:nvSpPr>
          <p:cNvPr id="44" name="Rounded Rectangle 43"/>
          <p:cNvSpPr/>
          <p:nvPr/>
        </p:nvSpPr>
        <p:spPr>
          <a:xfrm>
            <a:off x="548640"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77240" y="47457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07</a:t>
            </a:r>
          </a:p>
        </p:txBody>
      </p:sp>
      <p:sp>
        <p:nvSpPr>
          <p:cNvPr id="46" name="TextBox 45"/>
          <p:cNvSpPr txBox="1"/>
          <p:nvPr/>
        </p:nvSpPr>
        <p:spPr>
          <a:xfrm>
            <a:off x="777240"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Proposed approach and architecture</a:t>
            </a:r>
          </a:p>
        </p:txBody>
      </p:sp>
      <p:sp>
        <p:nvSpPr>
          <p:cNvPr id="47" name="Rounded Rectangle 46"/>
          <p:cNvSpPr/>
          <p:nvPr/>
        </p:nvSpPr>
        <p:spPr>
          <a:xfrm>
            <a:off x="4334255"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4562855" y="47457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08</a:t>
            </a:r>
          </a:p>
        </p:txBody>
      </p:sp>
      <p:sp>
        <p:nvSpPr>
          <p:cNvPr id="49" name="TextBox 48"/>
          <p:cNvSpPr txBox="1"/>
          <p:nvPr/>
        </p:nvSpPr>
        <p:spPr>
          <a:xfrm>
            <a:off x="4562855"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Expected outcomes</a:t>
            </a:r>
          </a:p>
        </p:txBody>
      </p:sp>
      <p:sp>
        <p:nvSpPr>
          <p:cNvPr id="50" name="Rounded Rectangle 49"/>
          <p:cNvSpPr/>
          <p:nvPr/>
        </p:nvSpPr>
        <p:spPr>
          <a:xfrm>
            <a:off x="8119871"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8348471" y="47457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09</a:t>
            </a:r>
          </a:p>
        </p:txBody>
      </p:sp>
      <p:sp>
        <p:nvSpPr>
          <p:cNvPr id="52" name="TextBox 51"/>
          <p:cNvSpPr txBox="1"/>
          <p:nvPr/>
        </p:nvSpPr>
        <p:spPr>
          <a:xfrm>
            <a:off x="8348471"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Abstract: reserve parking before you arrive</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3</a:t>
            </a:fld>
            <a:endParaRPr lang="en-US"/>
          </a:p>
        </p:txBody>
      </p:sp>
      <p:sp>
        <p:nvSpPr>
          <p:cNvPr id="26" name="Rounded Rectangle 25"/>
          <p:cNvSpPr/>
          <p:nvPr/>
        </p:nvSpPr>
        <p:spPr>
          <a:xfrm>
            <a:off x="548640" y="1371600"/>
            <a:ext cx="3520440" cy="4572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54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28" name="TextBox 27"/>
          <p:cNvSpPr txBox="1"/>
          <p:nvPr/>
        </p:nvSpPr>
        <p:spPr>
          <a:xfrm>
            <a:off x="1389888"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The problem</a:t>
            </a:r>
          </a:p>
        </p:txBody>
      </p:sp>
      <p:sp>
        <p:nvSpPr>
          <p:cNvPr id="29" name="TextBox 28"/>
          <p:cNvSpPr txBox="1"/>
          <p:nvPr/>
        </p:nvSpPr>
        <p:spPr>
          <a:xfrm>
            <a:off x="749808" y="2240280"/>
            <a:ext cx="3118104" cy="3566160"/>
          </a:xfrm>
          <a:prstGeom prst="rect">
            <a:avLst/>
          </a:prstGeom>
          <a:noFill/>
        </p:spPr>
        <p:txBody>
          <a:bodyPr wrap="square" lIns="0" rIns="0" tIns="0" bIns="0" anchor="t">
            <a:spAutoFit/>
          </a:bodyPr>
          <a:lstStyle/>
          <a:p>
            <a:pPr algn="l">
              <a:spcAft>
                <a:spcPts val="400"/>
              </a:spcAft>
            </a:pPr>
            <a:r>
              <a:rPr sz="2000" b="0" i="0">
                <a:solidFill>
                  <a:srgbClr val="475569"/>
                </a:solidFill>
              </a:rPr>
              <a:t>The growing number of vehicles in urban areas makes finding a parking space hard: more congestion, wasted time and poorly used facilities. Operators work from manual registers with no live view.</a:t>
            </a:r>
          </a:p>
        </p:txBody>
      </p:sp>
      <p:sp>
        <p:nvSpPr>
          <p:cNvPr id="30" name="Rounded Rectangle 29"/>
          <p:cNvSpPr/>
          <p:nvPr/>
        </p:nvSpPr>
        <p:spPr>
          <a:xfrm>
            <a:off x="4334255" y="1371600"/>
            <a:ext cx="3520440" cy="4572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535423" y="1554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i</a:t>
            </a:r>
          </a:p>
        </p:txBody>
      </p:sp>
      <p:sp>
        <p:nvSpPr>
          <p:cNvPr id="32" name="TextBox 31"/>
          <p:cNvSpPr txBox="1"/>
          <p:nvPr/>
        </p:nvSpPr>
        <p:spPr>
          <a:xfrm>
            <a:off x="5175503"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Our idea</a:t>
            </a:r>
          </a:p>
        </p:txBody>
      </p:sp>
      <p:sp>
        <p:nvSpPr>
          <p:cNvPr id="33" name="TextBox 32"/>
          <p:cNvSpPr txBox="1"/>
          <p:nvPr/>
        </p:nvSpPr>
        <p:spPr>
          <a:xfrm>
            <a:off x="4535423" y="2240280"/>
            <a:ext cx="3118104" cy="3566160"/>
          </a:xfrm>
          <a:prstGeom prst="rect">
            <a:avLst/>
          </a:prstGeom>
          <a:noFill/>
        </p:spPr>
        <p:txBody>
          <a:bodyPr wrap="square" lIns="0" rIns="0" tIns="0" bIns="0" anchor="t">
            <a:spAutoFit/>
          </a:bodyPr>
          <a:lstStyle/>
          <a:p>
            <a:pPr algn="l">
              <a:spcAft>
                <a:spcPts val="400"/>
              </a:spcAft>
            </a:pPr>
            <a:r>
              <a:rPr sz="2000" b="0" i="0">
                <a:solidFill>
                  <a:srgbClr val="475569"/>
                </a:solidFill>
              </a:rPr>
              <a:t>A web application where users search available slots, reserve in advance, pay online and manage bookings. It is designed to prevent double bookings through an automated reservation process and live availability (concurrency limits are measured later).</a:t>
            </a:r>
          </a:p>
        </p:txBody>
      </p:sp>
      <p:sp>
        <p:nvSpPr>
          <p:cNvPr id="34" name="Rounded Rectangle 33"/>
          <p:cNvSpPr/>
          <p:nvPr/>
        </p:nvSpPr>
        <p:spPr>
          <a:xfrm>
            <a:off x="8119871" y="1371600"/>
            <a:ext cx="3520440" cy="4572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321040" y="1554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36" name="TextBox 35"/>
          <p:cNvSpPr txBox="1"/>
          <p:nvPr/>
        </p:nvSpPr>
        <p:spPr>
          <a:xfrm>
            <a:off x="8961119"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The deliverable</a:t>
            </a:r>
          </a:p>
        </p:txBody>
      </p:sp>
      <p:sp>
        <p:nvSpPr>
          <p:cNvPr id="37" name="TextBox 36"/>
          <p:cNvSpPr txBox="1"/>
          <p:nvPr/>
        </p:nvSpPr>
        <p:spPr>
          <a:xfrm>
            <a:off x="8321040" y="2240280"/>
            <a:ext cx="3118104" cy="3566160"/>
          </a:xfrm>
          <a:prstGeom prst="rect">
            <a:avLst/>
          </a:prstGeom>
          <a:noFill/>
        </p:spPr>
        <p:txBody>
          <a:bodyPr wrap="square" lIns="0" rIns="0" tIns="0" bIns="0" anchor="t">
            <a:spAutoFit/>
          </a:bodyPr>
          <a:lstStyle/>
          <a:p>
            <a:pPr algn="l">
              <a:spcAft>
                <a:spcPts val="400"/>
              </a:spcAft>
            </a:pPr>
            <a:r>
              <a:rPr sz="2000" b="0" i="0">
                <a:solidFill>
                  <a:srgbClr val="475569"/>
                </a:solidFill>
              </a:rPr>
              <a:t>ParkSure: a secure, reliable and user-friendly platform with an admin panel for locations, slots, users, bookings and payment records.</a:t>
            </a:r>
          </a:p>
        </p:txBody>
      </p:sp>
      <p:sp>
        <p:nvSpPr>
          <p:cNvPr id="38" name="TextBox 37"/>
          <p:cNvSpPr txBox="1"/>
          <p:nvPr/>
        </p:nvSpPr>
        <p:spPr>
          <a:xfrm>
            <a:off x="548640" y="6035040"/>
            <a:ext cx="11091672" cy="457200"/>
          </a:xfrm>
          <a:prstGeom prst="rect">
            <a:avLst/>
          </a:prstGeom>
          <a:noFill/>
        </p:spPr>
        <p:txBody>
          <a:bodyPr wrap="square" lIns="0" rIns="0" tIns="0" bIns="0" anchor="t">
            <a:spAutoFit/>
          </a:bodyPr>
          <a:lstStyle/>
          <a:p>
            <a:pPr algn="l">
              <a:spcAft>
                <a:spcPts val="400"/>
              </a:spcAft>
            </a:pPr>
            <a:r>
              <a:rPr sz="1200" b="0" i="1">
                <a:solidFill>
                  <a:srgbClr val="475569"/>
                </a:solidFill>
              </a:rPr>
              <a:t>Keywords: online vehicle parking, reservation system, slot booking, online payment, user authentication, admin dashboard, smart parking.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Base paper</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4</a:t>
            </a:fld>
            <a:endParaRPr lang="en-US"/>
          </a:p>
        </p:txBody>
      </p:sp>
      <p:sp>
        <p:nvSpPr>
          <p:cNvPr id="26" name="Rounded Rectangle 25"/>
          <p:cNvSpPr/>
          <p:nvPr/>
        </p:nvSpPr>
        <p:spPr>
          <a:xfrm>
            <a:off x="548640" y="1234440"/>
            <a:ext cx="11091672" cy="9601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49808" y="1280160"/>
            <a:ext cx="10698480" cy="868680"/>
          </a:xfrm>
          <a:prstGeom prst="rect">
            <a:avLst/>
          </a:prstGeom>
          <a:noFill/>
        </p:spPr>
        <p:txBody>
          <a:bodyPr wrap="square" lIns="0" rIns="0" tIns="0" bIns="0" anchor="ctr">
            <a:spAutoFit/>
          </a:bodyPr>
          <a:lstStyle/>
          <a:p>
            <a:pPr algn="l">
              <a:spcAft>
                <a:spcPts val="400"/>
              </a:spcAft>
            </a:pPr>
            <a:r>
              <a:rPr sz="1300" b="0" i="0">
                <a:solidFill>
                  <a:srgbClr val="0F172A"/>
                </a:solidFill>
              </a:rPr>
              <a:t>M. Jemmali, L. K. B. Melhim, A. Ammar, T. R. Gadekallu and W. Boulila, "Smart parking for medical cities via passenger-aware allocation and fast grouping-permutation heuristics," IEEE Open Journal of the Computer Society, vol. 7, pp. 1106-1118, 2026, doi: 10.1109/OJCS.2026.3693801.</a:t>
            </a:r>
          </a:p>
        </p:txBody>
      </p:sp>
      <p:sp>
        <p:nvSpPr>
          <p:cNvPr id="28" name="Rounded Rectangle 27"/>
          <p:cNvSpPr/>
          <p:nvPr/>
        </p:nvSpPr>
        <p:spPr>
          <a:xfrm>
            <a:off x="548640" y="2377440"/>
            <a:ext cx="3520440" cy="28803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749808" y="256032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M</a:t>
            </a:r>
          </a:p>
        </p:txBody>
      </p:sp>
      <p:sp>
        <p:nvSpPr>
          <p:cNvPr id="30" name="TextBox 29"/>
          <p:cNvSpPr txBox="1"/>
          <p:nvPr/>
        </p:nvSpPr>
        <p:spPr>
          <a:xfrm>
            <a:off x="1389888" y="253288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Method</a:t>
            </a:r>
          </a:p>
        </p:txBody>
      </p:sp>
      <p:sp>
        <p:nvSpPr>
          <p:cNvPr id="31" name="TextBox 30"/>
          <p:cNvSpPr txBox="1"/>
          <p:nvPr/>
        </p:nvSpPr>
        <p:spPr>
          <a:xfrm>
            <a:off x="749808" y="3246120"/>
            <a:ext cx="3118104" cy="1874519"/>
          </a:xfrm>
          <a:prstGeom prst="rect">
            <a:avLst/>
          </a:prstGeom>
          <a:noFill/>
        </p:spPr>
        <p:txBody>
          <a:bodyPr wrap="square" lIns="0" rIns="0" tIns="0" bIns="0" anchor="t">
            <a:spAutoFit/>
          </a:bodyPr>
          <a:lstStyle/>
          <a:p>
            <a:pPr algn="l">
              <a:spcAft>
                <a:spcPts val="400"/>
              </a:spcAft>
            </a:pPr>
            <a:r>
              <a:rPr sz="1400" b="0" i="0">
                <a:solidFill>
                  <a:srgbClr val="475569"/>
                </a:solidFill>
              </a:rPr>
              <a:t>Parking spaces are allocated by the total number of passengers per vehicle. A four-stage grouping procedure and six grouping-permutation heuristics balance the number of people across parking zones. Booking interface, IoT sensing and a central allocation engine.</a:t>
            </a:r>
          </a:p>
        </p:txBody>
      </p:sp>
      <p:sp>
        <p:nvSpPr>
          <p:cNvPr id="32" name="Rounded Rectangle 31"/>
          <p:cNvSpPr/>
          <p:nvPr/>
        </p:nvSpPr>
        <p:spPr>
          <a:xfrm>
            <a:off x="4334255" y="2377440"/>
            <a:ext cx="3520440" cy="28803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4535423" y="256032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R</a:t>
            </a:r>
          </a:p>
        </p:txBody>
      </p:sp>
      <p:sp>
        <p:nvSpPr>
          <p:cNvPr id="34" name="TextBox 33"/>
          <p:cNvSpPr txBox="1"/>
          <p:nvPr/>
        </p:nvSpPr>
        <p:spPr>
          <a:xfrm>
            <a:off x="5175503" y="253288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Reported results</a:t>
            </a:r>
          </a:p>
        </p:txBody>
      </p:sp>
      <p:sp>
        <p:nvSpPr>
          <p:cNvPr id="35" name="TextBox 34"/>
          <p:cNvSpPr txBox="1"/>
          <p:nvPr/>
        </p:nvSpPr>
        <p:spPr>
          <a:xfrm>
            <a:off x="4535423" y="3246120"/>
            <a:ext cx="3118104" cy="1874519"/>
          </a:xfrm>
          <a:prstGeom prst="rect">
            <a:avLst/>
          </a:prstGeom>
          <a:noFill/>
        </p:spPr>
        <p:txBody>
          <a:bodyPr wrap="square" lIns="0" rIns="0" tIns="0" bIns="0" anchor="t">
            <a:spAutoFit/>
          </a:bodyPr>
          <a:lstStyle/>
          <a:p>
            <a:pPr algn="l">
              <a:spcAft>
                <a:spcPts val="400"/>
              </a:spcAft>
            </a:pPr>
            <a:r>
              <a:rPr sz="1400" b="0" i="0">
                <a:solidFill>
                  <a:srgbClr val="475569"/>
                </a:solidFill>
              </a:rPr>
              <a:t>Nine instance classes, 2,790 generated test cases. The best algorithm has the highest best-solution share (68.2 %). GVb matches or beats the baseline MR on 1,547 instances (55.4 %), in sub-millisecond time.</a:t>
            </a:r>
          </a:p>
        </p:txBody>
      </p:sp>
      <p:sp>
        <p:nvSpPr>
          <p:cNvPr id="36" name="Rounded Rectangle 35"/>
          <p:cNvSpPr/>
          <p:nvPr/>
        </p:nvSpPr>
        <p:spPr>
          <a:xfrm>
            <a:off x="8119871" y="2377440"/>
            <a:ext cx="3520440" cy="28803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8321040" y="256032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a:t>
            </a:r>
          </a:p>
        </p:txBody>
      </p:sp>
      <p:sp>
        <p:nvSpPr>
          <p:cNvPr id="38" name="TextBox 37"/>
          <p:cNvSpPr txBox="1"/>
          <p:nvPr/>
        </p:nvSpPr>
        <p:spPr>
          <a:xfrm>
            <a:off x="8961119" y="253288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What ParkSure takes and adds</a:t>
            </a:r>
          </a:p>
        </p:txBody>
      </p:sp>
      <p:sp>
        <p:nvSpPr>
          <p:cNvPr id="39" name="TextBox 38"/>
          <p:cNvSpPr txBox="1"/>
          <p:nvPr/>
        </p:nvSpPr>
        <p:spPr>
          <a:xfrm>
            <a:off x="8321040" y="3246120"/>
            <a:ext cx="3118104" cy="1874519"/>
          </a:xfrm>
          <a:prstGeom prst="rect">
            <a:avLst/>
          </a:prstGeom>
          <a:noFill/>
        </p:spPr>
        <p:txBody>
          <a:bodyPr wrap="square" lIns="0" rIns="0" tIns="0" bIns="0" anchor="t">
            <a:spAutoFit/>
          </a:bodyPr>
          <a:lstStyle/>
          <a:p>
            <a:pPr algn="l">
              <a:spcAft>
                <a:spcPts val="400"/>
              </a:spcAft>
            </a:pPr>
            <a:r>
              <a:rPr sz="1400" b="0" i="0">
                <a:solidFill>
                  <a:srgbClr val="475569"/>
                </a:solidFill>
              </a:rPr>
              <a:t>Takes the booking-plus-central-allocation architecture. Does not implement passenger grouping. Adds a general web reservation service with payment, an overstay-aware engine and operator analytics.</a:t>
            </a:r>
          </a:p>
        </p:txBody>
      </p:sp>
      <p:sp>
        <p:nvSpPr>
          <p:cNvPr id="40" name="Rounded Rectangle 39"/>
          <p:cNvSpPr/>
          <p:nvPr/>
        </p:nvSpPr>
        <p:spPr>
          <a:xfrm>
            <a:off x="548640" y="5440680"/>
            <a:ext cx="11091672" cy="10058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749808" y="5458968"/>
            <a:ext cx="10698480" cy="960120"/>
          </a:xfrm>
          <a:prstGeom prst="rect">
            <a:avLst/>
          </a:prstGeom>
          <a:noFill/>
        </p:spPr>
        <p:txBody>
          <a:bodyPr wrap="square" lIns="0" rIns="0" tIns="0" bIns="0" anchor="ctr">
            <a:spAutoFit/>
          </a:bodyPr>
          <a:lstStyle/>
          <a:p>
            <a:pPr algn="l">
              <a:spcAft>
                <a:spcPts val="400"/>
              </a:spcAft>
            </a:pPr>
            <a:r>
              <a:rPr sz="1200" b="0" i="0">
                <a:solidFill>
                  <a:srgbClr val="0F172A"/>
                </a:solidFill>
              </a:rPr>
              <a:t>Technical basis of the implemented rules: G. Cabri, M. Montangero, F. Muzzini and R. Wang, "Reservation based smart parking management," arXiv:2605.17650 [cs.MA], May 2026. Reservation module with a buffer of non-reservable slots and a 0-5 star reward system; evaluated in SUMO with 80 spots in 8 areas [2].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Literature survey</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5</a:t>
            </a:fld>
            <a:endParaRPr lang="en-US"/>
          </a:p>
        </p:txBody>
      </p:sp>
      <p:graphicFrame>
        <p:nvGraphicFramePr>
          <p:cNvPr id="26" name="Table 25"/>
          <p:cNvGraphicFramePr>
            <a:graphicFrameLocks noGrp="1"/>
          </p:cNvGraphicFramePr>
          <p:nvPr/>
        </p:nvGraphicFramePr>
        <p:xfrm>
          <a:off x="548640" y="1097280"/>
          <a:ext cx="11091672" cy="5029200"/>
        </p:xfrm>
        <a:graphic>
          <a:graphicData uri="http://schemas.openxmlformats.org/drawingml/2006/table">
            <a:tbl>
              <a:tblPr firstRow="0" bandRow="0">
                <a:tableStyleId>{5C22544A-7EE6-4342-B048-85BDC9FD1C3A}</a:tableStyleId>
              </a:tblPr>
              <a:tblGrid>
                <a:gridCol w="2331720"/>
                <a:gridCol w="685800"/>
                <a:gridCol w="4160520"/>
                <a:gridCol w="3913632"/>
              </a:tblGrid>
              <a:tr h="457200">
                <a:tc>
                  <a:txBody>
                    <a:bodyPr wrap="square"/>
                    <a:lstStyle/>
                    <a:p>
                      <a:pPr algn="ctr"/>
                      <a:r>
                        <a:rPr sz="1100" b="1">
                          <a:solidFill>
                            <a:srgbClr val="FFFFFF"/>
                          </a:solidFill>
                        </a:rPr>
                        <a:t>Work</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100" b="1">
                          <a:solidFill>
                            <a:srgbClr val="FFFFFF"/>
                          </a:solidFill>
                        </a:rPr>
                        <a:t>Year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100" b="1">
                          <a:solidFill>
                            <a:srgbClr val="FFFFFF"/>
                          </a:solidFill>
                        </a:rPr>
                        <a:t>Approach</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100" b="1">
                          <a:solidFill>
                            <a:srgbClr val="FFFFFF"/>
                          </a:solidFill>
                        </a:rPr>
                        <a:t>Reported result / limitation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457200">
                <a:tc>
                  <a:txBody>
                    <a:bodyPr wrap="square"/>
                    <a:lstStyle/>
                    <a:p>
                      <a:pPr algn="l"/>
                      <a:r>
                        <a:rPr sz="1000" b="0">
                          <a:solidFill>
                            <a:srgbClr val="0F172A"/>
                          </a:solidFill>
                        </a:rPr>
                        <a:t>Jemmali et al. [1] (base paper)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000" b="0">
                          <a:solidFill>
                            <a:srgbClr val="0F172A"/>
                          </a:solidFill>
                        </a:rPr>
                        <a:t>2026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00" b="0">
                          <a:solidFill>
                            <a:srgbClr val="0F172A"/>
                          </a:solidFill>
                        </a:rPr>
                        <a:t>Passenger-count-based zone balancing: four-stage grouping and six grouping-permutation heuristics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00" b="0">
                          <a:solidFill>
                            <a:srgbClr val="0F172A"/>
                          </a:solidFill>
                        </a:rPr>
                        <a:t>2,790 generated instances; GVb matches or beats baseline MR on 55.4 %; one managed facility, no payment or overstay handling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57200">
                <a:tc>
                  <a:txBody>
                    <a:bodyPr wrap="square"/>
                    <a:lstStyle/>
                    <a:p>
                      <a:pPr algn="l"/>
                      <a:r>
                        <a:rPr sz="1000" b="0">
                          <a:solidFill>
                            <a:srgbClr val="0F172A"/>
                          </a:solidFill>
                        </a:rPr>
                        <a:t>Cabri et al. [2]</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000" b="0">
                          <a:solidFill>
                            <a:srgbClr val="0F172A"/>
                          </a:solidFill>
                        </a:rPr>
                        <a:t>2026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00" b="0">
                          <a:solidFill>
                            <a:srgbClr val="0F172A"/>
                          </a:solidFill>
                        </a:rPr>
                        <a:t>Buffer of non-reservable slots plus a 0-5 star reward system; one alternate area suggested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00" b="0">
                          <a:solidFill>
                            <a:srgbClr val="0F172A"/>
                          </a:solidFill>
                        </a:rPr>
                        <a:t>SUMO, 80 spots, 8 areas: any buffer beats none, dynamic buffer best trade-off (figures only); simulation only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57200">
                <a:tc>
                  <a:txBody>
                    <a:bodyPr wrap="square"/>
                    <a:lstStyle/>
                    <a:p>
                      <a:pPr algn="l"/>
                      <a:r>
                        <a:rPr sz="1000" b="0">
                          <a:solidFill>
                            <a:srgbClr val="0F172A"/>
                          </a:solidFill>
                        </a:rPr>
                        <a:t>Doulamis et al. [7]</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000" b="0">
                          <a:solidFill>
                            <a:srgbClr val="0F172A"/>
                          </a:solidFill>
                        </a:rPr>
                        <a:t>2013</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00" b="0">
                          <a:solidFill>
                            <a:srgbClr val="0F172A"/>
                          </a:solidFill>
                        </a:rPr>
                        <a:t>Interval scheduling: requests are time intervals accepted or rejected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00" b="0">
                          <a:solidFill>
                            <a:srgbClr val="0F172A"/>
                          </a:solidFill>
                        </a:rPr>
                        <a:t>No numbers in the base paper's summary; no overstay handling described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57200">
                <a:tc>
                  <a:txBody>
                    <a:bodyPr wrap="square"/>
                    <a:lstStyle/>
                    <a:p>
                      <a:pPr algn="l"/>
                      <a:r>
                        <a:rPr sz="1000" b="0">
                          <a:solidFill>
                            <a:srgbClr val="0F172A"/>
                          </a:solidFill>
                        </a:rPr>
                        <a:t>Safitri et al. [10]</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000" b="0">
                          <a:solidFill>
                            <a:srgbClr val="0F172A"/>
                          </a:solidFill>
                        </a:rPr>
                        <a:t>2020</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00" b="0">
                          <a:solidFill>
                            <a:srgbClr val="0F172A"/>
                          </a:solidFill>
                        </a:rPr>
                        <a:t>Mobile reservation with occupancy display, heuristic and haversine formula</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00" b="0">
                          <a:solidFill>
                            <a:srgbClr val="0F172A"/>
                          </a:solidFill>
                        </a:rPr>
                        <a:t>Mobile client only; no buffer or reputation mechanism</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57200">
                <a:tc>
                  <a:txBody>
                    <a:bodyPr wrap="square"/>
                    <a:lstStyle/>
                    <a:p>
                      <a:pPr algn="l"/>
                      <a:r>
                        <a:rPr sz="1000" b="0">
                          <a:solidFill>
                            <a:srgbClr val="0F172A"/>
                          </a:solidFill>
                        </a:rPr>
                        <a:t>Somani et al. [11]</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000" b="0">
                          <a:solidFill>
                            <a:srgbClr val="0F172A"/>
                          </a:solidFill>
                        </a:rPr>
                        <a:t>2018</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00" b="0">
                          <a:solidFill>
                            <a:srgbClr val="0F172A"/>
                          </a:solidFill>
                        </a:rPr>
                        <a:t>Cross-platform reservation; part of the fee paid to confirm a booking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00" b="0">
                          <a:solidFill>
                            <a:srgbClr val="0F172A"/>
                          </a:solidFill>
                        </a:rPr>
                        <a:t>Deposit deters false bookings but not overstays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57200">
                <a:tc>
                  <a:txBody>
                    <a:bodyPr wrap="square"/>
                    <a:lstStyle/>
                    <a:p>
                      <a:pPr algn="l"/>
                      <a:r>
                        <a:rPr sz="1000" b="0">
                          <a:solidFill>
                            <a:srgbClr val="0F172A"/>
                          </a:solidFill>
                        </a:rPr>
                        <a:t>Mejri et al. [12]</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000" b="0">
                          <a:solidFill>
                            <a:srgbClr val="0F172A"/>
                          </a:solidFill>
                        </a:rPr>
                        <a:t>2016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00" b="0">
                          <a:solidFill>
                            <a:srgbClr val="0F172A"/>
                          </a:solidFill>
                        </a:rPr>
                        <a:t>Slot assignment as a multi-objective integer linear programme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00" b="0">
                          <a:solidFill>
                            <a:srgbClr val="0F172A"/>
                          </a:solidFill>
                        </a:rPr>
                        <a:t>Optimisation model; no operating web platform described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57200">
                <a:tc>
                  <a:txBody>
                    <a:bodyPr wrap="square"/>
                    <a:lstStyle/>
                    <a:p>
                      <a:pPr algn="l"/>
                      <a:r>
                        <a:rPr sz="1000" b="0">
                          <a:solidFill>
                            <a:srgbClr val="0F172A"/>
                          </a:solidFill>
                        </a:rPr>
                        <a:t>Kotb et al. [13]</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000" b="0">
                          <a:solidFill>
                            <a:srgbClr val="0F172A"/>
                          </a:solidFill>
                        </a:rPr>
                        <a:t>2016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00" b="0">
                          <a:solidFill>
                            <a:srgbClr val="0F172A"/>
                          </a:solidFill>
                        </a:rPr>
                        <a:t>iParker: flexible reservation times, dynamic allocation, revenue and pricing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00" b="0">
                          <a:solidFill>
                            <a:srgbClr val="0F172A"/>
                          </a:solidFill>
                        </a:rPr>
                        <a:t>Pricing by demand, not by the driver's punctuality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57200">
                <a:tc>
                  <a:txBody>
                    <a:bodyPr wrap="square"/>
                    <a:lstStyle/>
                    <a:p>
                      <a:pPr algn="l"/>
                      <a:r>
                        <a:rPr sz="1000" b="0">
                          <a:solidFill>
                            <a:srgbClr val="0F172A"/>
                          </a:solidFill>
                        </a:rPr>
                        <a:t>Rizvi et al. [5], [6]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000" b="0">
                          <a:solidFill>
                            <a:srgbClr val="0F172A"/>
                          </a:solidFill>
                        </a:rPr>
                        <a:t>2019-20</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00" b="0">
                          <a:solidFill>
                            <a:srgbClr val="0F172A"/>
                          </a:solidFill>
                        </a:rPr>
                        <a:t>Agent-assisted and multi-agent auction-based parking over IoT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00" b="0">
                          <a:solidFill>
                            <a:srgbClr val="0F172A"/>
                          </a:solidFill>
                        </a:rPr>
                        <a:t>Auctions suit competitive allocation, not a fixed-price booking service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57200">
                <a:tc>
                  <a:txBody>
                    <a:bodyPr wrap="square"/>
                    <a:lstStyle/>
                    <a:p>
                      <a:pPr algn="l"/>
                      <a:r>
                        <a:rPr sz="1000" b="0">
                          <a:solidFill>
                            <a:srgbClr val="0F172A"/>
                          </a:solidFill>
                        </a:rPr>
                        <a:t>Yan et al. [9]</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000" b="0">
                          <a:solidFill>
                            <a:srgbClr val="0F172A"/>
                          </a:solidFill>
                        </a:rPr>
                        <a:t>2011</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00" b="0">
                          <a:solidFill>
                            <a:srgbClr val="0F172A"/>
                          </a:solidFill>
                        </a:rPr>
                        <a:t>SmartParking: on-the-fly spot reservation with real-time availability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00" b="0">
                          <a:solidFill>
                            <a:srgbClr val="0F172A"/>
                          </a:solidFill>
                        </a:rPr>
                        <a:t>Security-focused architecture; no overstay mitigation described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57200">
                <a:tc>
                  <a:txBody>
                    <a:bodyPr wrap="square"/>
                    <a:lstStyle/>
                    <a:p>
                      <a:pPr algn="l"/>
                      <a:r>
                        <a:rPr sz="1000" b="0">
                          <a:solidFill>
                            <a:srgbClr val="0F172A"/>
                          </a:solidFill>
                        </a:rPr>
                        <a:t>Batch survey [31]-[34]</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000" b="0">
                          <a:solidFill>
                            <a:srgbClr val="0F172A"/>
                          </a:solidFill>
                        </a:rPr>
                        <a:t>2024-26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00" b="0">
                          <a:solidFill>
                            <a:srgbClr val="0F172A"/>
                          </a:solidFill>
                        </a:rPr>
                        <a:t>Web and mobile reservation systems, slot prediction, face-recognition theft prevention (titles only)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00" b="0">
                          <a:solidFill>
                            <a:srgbClr val="0F172A"/>
                          </a:solidFill>
                        </a:rPr>
                        <a:t>Full texts not located; no figures quoted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Supporting evidence from the base papers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6</a:t>
            </a:fld>
            <a:endParaRPr lang="en-US"/>
          </a:p>
        </p:txBody>
      </p:sp>
      <p:graphicFrame>
        <p:nvGraphicFramePr>
          <p:cNvPr id="26" name="Chart 25"/>
          <p:cNvGraphicFramePr>
            <a:graphicFrameLocks noGrp="1"/>
          </p:cNvGraphicFramePr>
          <p:nvPr/>
        </p:nvGraphicFramePr>
        <p:xfrm>
          <a:off x="548640" y="1280160"/>
          <a:ext cx="6035040" cy="4480560"/>
        </p:xfrm>
        <a:graphic>
          <a:graphicData uri="http://schemas.openxmlformats.org/drawingml/2006/chart">
            <c:chart xmlns:c="http://schemas.openxmlformats.org/drawingml/2006/chart" r:id="rId3"/>
          </a:graphicData>
        </a:graphic>
      </p:graphicFrame>
      <p:sp>
        <p:nvSpPr>
          <p:cNvPr id="27" name="TextBox 26"/>
          <p:cNvSpPr txBox="1"/>
          <p:nvPr/>
        </p:nvSpPr>
        <p:spPr>
          <a:xfrm>
            <a:off x="548640" y="5806440"/>
            <a:ext cx="6035040" cy="640080"/>
          </a:xfrm>
          <a:prstGeom prst="rect">
            <a:avLst/>
          </a:prstGeom>
          <a:noFill/>
        </p:spPr>
        <p:txBody>
          <a:bodyPr wrap="square" lIns="0" rIns="0" tIns="0" bIns="0" anchor="t">
            <a:spAutoFit/>
          </a:bodyPr>
          <a:lstStyle/>
          <a:p>
            <a:pPr algn="l">
              <a:spcAft>
                <a:spcPts val="400"/>
              </a:spcAft>
            </a:pPr>
            <a:r>
              <a:rPr sz="1100" b="0" i="1">
                <a:solidFill>
                  <a:srgbClr val="475569"/>
                </a:solidFill>
              </a:rPr>
              <a:t>Base paper [1]: instances out of 2,790 where the proposed GVb is better, equal or worse than baseline MR (2.0 %, 53.4 %, 44.6 %).</a:t>
            </a:r>
          </a:p>
        </p:txBody>
      </p:sp>
      <p:sp>
        <p:nvSpPr>
          <p:cNvPr id="28" name="TextBox 27"/>
          <p:cNvSpPr txBox="1"/>
          <p:nvPr/>
        </p:nvSpPr>
        <p:spPr>
          <a:xfrm>
            <a:off x="6858000" y="1325880"/>
            <a:ext cx="4800600" cy="4572000"/>
          </a:xfrm>
          <a:prstGeom prst="rect">
            <a:avLst/>
          </a:prstGeom>
          <a:noFill/>
        </p:spPr>
        <p:txBody>
          <a:bodyPr wrap="square" lIns="0" rIns="0" tIns="0" bIns="0" anchor="t">
            <a:spAutoFit/>
          </a:bodyPr>
          <a:lstStyle/>
          <a:p>
            <a:pPr algn="l">
              <a:spcAft>
                <a:spcPts val="800"/>
              </a:spcAft>
            </a:pPr>
            <a:r>
              <a:rPr sz="1500" b="1" i="0">
                <a:solidFill>
                  <a:srgbClr val="0F172A"/>
                </a:solidFill>
              </a:rPr>
              <a:t>What the literature shows</a:t>
            </a:r>
          </a:p>
          <a:p>
            <a:pPr algn="l" marL="256032" indent="-201168">
              <a:spcAft>
                <a:spcPts val="800"/>
              </a:spcAft>
              <a:buChar char="•"/>
            </a:pPr>
            <a:r>
              <a:rPr sz="1500" b="0" i="0">
                <a:solidFill>
                  <a:srgbClr val="0F172A"/>
                </a:solidFill>
              </a:rPr>
              <a:t>Allocation heuristics can run in sub-millisecond time and reach the best solution on 68.2 % of instances [1].</a:t>
            </a:r>
          </a:p>
          <a:p>
            <a:pPr algn="l" marL="256032" indent="-201168">
              <a:spcAft>
                <a:spcPts val="800"/>
              </a:spcAft>
              <a:buChar char="•"/>
            </a:pPr>
            <a:r>
              <a:rPr sz="1500" b="0" i="0">
                <a:solidFill>
                  <a:srgbClr val="0F172A"/>
                </a:solidFill>
              </a:rPr>
              <a:t>In the SUMO study with 80 spots in 8 areas, any buffer beats no buffer; the dynamic buffer gives the best trade-off between failed parks and rejected reservations [2].</a:t>
            </a:r>
          </a:p>
          <a:p>
            <a:pPr algn="l" marL="256032" indent="-201168">
              <a:spcAft>
                <a:spcPts val="800"/>
              </a:spcAft>
              <a:buChar char="•"/>
            </a:pPr>
            <a:r>
              <a:rPr sz="1500" b="0" i="0">
                <a:solidFill>
                  <a:srgbClr val="0F172A"/>
                </a:solidFill>
              </a:rPr>
              <a:t>Static buffers trade one failure for the other: larger buffers cut failed parks but refuse more reservations [2].</a:t>
            </a:r>
          </a:p>
          <a:p>
            <a:pPr algn="l" marL="256032" indent="-201168">
              <a:spcAft>
                <a:spcPts val="400"/>
              </a:spcAft>
              <a:buChar char="•"/>
            </a:pPr>
            <a:r>
              <a:rPr sz="1500" b="0" i="0">
                <a:solidFill>
                  <a:srgbClr val="0F172A"/>
                </a:solidFill>
              </a:rPr>
              <a:t>Caveat: both studies use settings different from a deployed web service; their numbers are not put on one scale with ParkSure's own measurements.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Existing system and current practice</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7</a:t>
            </a:fld>
            <a:endParaRPr lang="en-US"/>
          </a:p>
        </p:txBody>
      </p:sp>
      <p:sp>
        <p:nvSpPr>
          <p:cNvPr id="26" name="Rounded Rectangle 25"/>
          <p:cNvSpPr/>
          <p:nvPr/>
        </p:nvSpPr>
        <p:spPr>
          <a:xfrm>
            <a:off x="548640" y="1371600"/>
            <a:ext cx="1889150"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FFFFFF"/>
                </a:solidFill>
              </a:rPr>
              <a:t>Driver circles to find a bay</a:t>
            </a:r>
          </a:p>
        </p:txBody>
      </p:sp>
      <p:sp>
        <p:nvSpPr>
          <p:cNvPr id="27" name="Right Arrow 26"/>
          <p:cNvSpPr/>
          <p:nvPr/>
        </p:nvSpPr>
        <p:spPr>
          <a:xfrm>
            <a:off x="2542946" y="17556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2849270" y="1371600"/>
            <a:ext cx="1889150"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FFFFFF"/>
                </a:solidFill>
              </a:rPr>
              <a:t>Arrives with no guarantee</a:t>
            </a:r>
          </a:p>
        </p:txBody>
      </p:sp>
      <p:sp>
        <p:nvSpPr>
          <p:cNvPr id="29" name="Right Arrow 28"/>
          <p:cNvSpPr/>
          <p:nvPr/>
        </p:nvSpPr>
        <p:spPr>
          <a:xfrm>
            <a:off x="4843576" y="17556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149900" y="1371600"/>
            <a:ext cx="1889150"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FFFFFF"/>
                </a:solidFill>
              </a:rPr>
              <a:t>Cash paid at entry</a:t>
            </a:r>
          </a:p>
        </p:txBody>
      </p:sp>
      <p:sp>
        <p:nvSpPr>
          <p:cNvPr id="31" name="Right Arrow 30"/>
          <p:cNvSpPr/>
          <p:nvPr/>
        </p:nvSpPr>
        <p:spPr>
          <a:xfrm>
            <a:off x="7144207" y="17556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7450531" y="1371600"/>
            <a:ext cx="1889150"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FFFFFF"/>
                </a:solidFill>
              </a:rPr>
              <a:t>Manual register entry</a:t>
            </a:r>
          </a:p>
        </p:txBody>
      </p:sp>
      <p:sp>
        <p:nvSpPr>
          <p:cNvPr id="33" name="Right Arrow 32"/>
          <p:cNvSpPr/>
          <p:nvPr/>
        </p:nvSpPr>
        <p:spPr>
          <a:xfrm>
            <a:off x="9444837" y="17556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9751161" y="1371600"/>
            <a:ext cx="1889150"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FFFFFF"/>
                </a:solidFill>
              </a:rPr>
              <a:t>No live view for the operator</a:t>
            </a:r>
          </a:p>
        </p:txBody>
      </p:sp>
      <p:sp>
        <p:nvSpPr>
          <p:cNvPr id="35" name="Rounded Rectangle 34"/>
          <p:cNvSpPr/>
          <p:nvPr/>
        </p:nvSpPr>
        <p:spPr>
          <a:xfrm>
            <a:off x="548640" y="2697480"/>
            <a:ext cx="5440680" cy="34747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749808" y="288036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37" name="TextBox 36"/>
          <p:cNvSpPr txBox="1"/>
          <p:nvPr/>
        </p:nvSpPr>
        <p:spPr>
          <a:xfrm>
            <a:off x="1389888" y="28529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For the driver</a:t>
            </a:r>
          </a:p>
        </p:txBody>
      </p:sp>
      <p:sp>
        <p:nvSpPr>
          <p:cNvPr id="38" name="TextBox 37"/>
          <p:cNvSpPr txBox="1"/>
          <p:nvPr/>
        </p:nvSpPr>
        <p:spPr>
          <a:xfrm>
            <a:off x="749808" y="3566160"/>
            <a:ext cx="5038344" cy="2468879"/>
          </a:xfrm>
          <a:prstGeom prst="rect">
            <a:avLst/>
          </a:prstGeom>
          <a:noFill/>
        </p:spPr>
        <p:txBody>
          <a:bodyPr wrap="square" lIns="0" rIns="0" tIns="0" bIns="0" anchor="t">
            <a:spAutoFit/>
          </a:bodyPr>
          <a:lstStyle/>
          <a:p>
            <a:pPr algn="l">
              <a:spcAft>
                <a:spcPts val="400"/>
              </a:spcAft>
            </a:pPr>
            <a:r>
              <a:rPr sz="1700" b="0" i="0">
                <a:solidFill>
                  <a:srgbClr val="475569"/>
                </a:solidFill>
              </a:rPr>
              <a:t>There is no way to know which slots are free before arriving.
Arriving at a facility gives no guarantee of a space.
Cash collection is slow at the entry gate.</a:t>
            </a:r>
          </a:p>
        </p:txBody>
      </p:sp>
      <p:sp>
        <p:nvSpPr>
          <p:cNvPr id="39" name="Rounded Rectangle 38"/>
          <p:cNvSpPr/>
          <p:nvPr/>
        </p:nvSpPr>
        <p:spPr>
          <a:xfrm>
            <a:off x="6199632" y="2697480"/>
            <a:ext cx="5440680" cy="34747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Oval 39"/>
          <p:cNvSpPr/>
          <p:nvPr/>
        </p:nvSpPr>
        <p:spPr>
          <a:xfrm>
            <a:off x="6400800" y="288036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41" name="TextBox 40"/>
          <p:cNvSpPr txBox="1"/>
          <p:nvPr/>
        </p:nvSpPr>
        <p:spPr>
          <a:xfrm>
            <a:off x="7040880" y="28529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For the operator</a:t>
            </a:r>
          </a:p>
        </p:txBody>
      </p:sp>
      <p:sp>
        <p:nvSpPr>
          <p:cNvPr id="42" name="TextBox 41"/>
          <p:cNvSpPr txBox="1"/>
          <p:nvPr/>
        </p:nvSpPr>
        <p:spPr>
          <a:xfrm>
            <a:off x="6400800" y="3566160"/>
            <a:ext cx="5038344" cy="2468879"/>
          </a:xfrm>
          <a:prstGeom prst="rect">
            <a:avLst/>
          </a:prstGeom>
          <a:noFill/>
        </p:spPr>
        <p:txBody>
          <a:bodyPr wrap="square" lIns="0" rIns="0" tIns="0" bIns="0" anchor="t">
            <a:spAutoFit/>
          </a:bodyPr>
          <a:lstStyle/>
          <a:p>
            <a:pPr algn="l">
              <a:spcAft>
                <a:spcPts val="400"/>
              </a:spcAft>
            </a:pPr>
            <a:r>
              <a:rPr sz="1700" b="0" i="0">
                <a:solidFill>
                  <a:srgbClr val="475569"/>
                </a:solidFill>
              </a:rPr>
              <a:t>Occupancy is kept in manual registers with no live view.
Cash payments leave no usable records.
Demand cannot be seen, so capacity cannot be planned.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Limitations of existing methods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8</a:t>
            </a:fld>
            <a:endParaRPr lang="en-US"/>
          </a:p>
        </p:txBody>
      </p:sp>
      <p:sp>
        <p:nvSpPr>
          <p:cNvPr id="26" name="Rounded Rectangle 25"/>
          <p:cNvSpPr/>
          <p:nvPr/>
        </p:nvSpPr>
        <p:spPr>
          <a:xfrm>
            <a:off x="548640" y="1325880"/>
            <a:ext cx="5440680" cy="1965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0876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4813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Repeated circling</a:t>
            </a:r>
          </a:p>
        </p:txBody>
      </p:sp>
      <p:sp>
        <p:nvSpPr>
          <p:cNvPr id="29" name="TextBox 28"/>
          <p:cNvSpPr txBox="1"/>
          <p:nvPr/>
        </p:nvSpPr>
        <p:spPr>
          <a:xfrm>
            <a:off x="749808" y="2194560"/>
            <a:ext cx="5038344" cy="960119"/>
          </a:xfrm>
          <a:prstGeom prst="rect">
            <a:avLst/>
          </a:prstGeom>
          <a:noFill/>
        </p:spPr>
        <p:txBody>
          <a:bodyPr wrap="square" lIns="0" rIns="0" tIns="0" bIns="0" anchor="t">
            <a:spAutoFit/>
          </a:bodyPr>
          <a:lstStyle/>
          <a:p>
            <a:pPr algn="l">
              <a:spcAft>
                <a:spcPts val="400"/>
              </a:spcAft>
            </a:pPr>
            <a:r>
              <a:rPr sz="1600" b="0" i="0">
                <a:solidFill>
                  <a:srgbClr val="475569"/>
                </a:solidFill>
              </a:rPr>
              <a:t>Drivers spend a significant share of each trip searching, which adds congestion, wasted fuel and avoidable emissions.</a:t>
            </a:r>
          </a:p>
        </p:txBody>
      </p:sp>
      <p:sp>
        <p:nvSpPr>
          <p:cNvPr id="30" name="Rounded Rectangle 29"/>
          <p:cNvSpPr/>
          <p:nvPr/>
        </p:nvSpPr>
        <p:spPr>
          <a:xfrm>
            <a:off x="6199631" y="1325880"/>
            <a:ext cx="5440680" cy="1965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6400799" y="150876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7040879" y="14813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Manual, invisible occupancy</a:t>
            </a:r>
          </a:p>
        </p:txBody>
      </p:sp>
      <p:sp>
        <p:nvSpPr>
          <p:cNvPr id="33" name="TextBox 32"/>
          <p:cNvSpPr txBox="1"/>
          <p:nvPr/>
        </p:nvSpPr>
        <p:spPr>
          <a:xfrm>
            <a:off x="6400799" y="2194560"/>
            <a:ext cx="5038344" cy="960119"/>
          </a:xfrm>
          <a:prstGeom prst="rect">
            <a:avLst/>
          </a:prstGeom>
          <a:noFill/>
        </p:spPr>
        <p:txBody>
          <a:bodyPr wrap="square" lIns="0" rIns="0" tIns="0" bIns="0" anchor="t">
            <a:spAutoFit/>
          </a:bodyPr>
          <a:lstStyle/>
          <a:p>
            <a:pPr algn="l">
              <a:spcAft>
                <a:spcPts val="400"/>
              </a:spcAft>
            </a:pPr>
            <a:r>
              <a:rPr sz="1600" b="0" i="0">
                <a:solidFill>
                  <a:srgbClr val="475569"/>
                </a:solidFill>
              </a:rPr>
              <a:t>Operators manage occupancy through registers and have no live view or demand data to plan capacity.</a:t>
            </a:r>
          </a:p>
        </p:txBody>
      </p:sp>
      <p:sp>
        <p:nvSpPr>
          <p:cNvPr id="34" name="Rounded Rectangle 33"/>
          <p:cNvSpPr/>
          <p:nvPr/>
        </p:nvSpPr>
        <p:spPr>
          <a:xfrm>
            <a:off x="548640" y="3474720"/>
            <a:ext cx="5440680" cy="1965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749808" y="365760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1389888" y="363016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No guarantee on arrival</a:t>
            </a:r>
          </a:p>
        </p:txBody>
      </p:sp>
      <p:sp>
        <p:nvSpPr>
          <p:cNvPr id="37" name="TextBox 36"/>
          <p:cNvSpPr txBox="1"/>
          <p:nvPr/>
        </p:nvSpPr>
        <p:spPr>
          <a:xfrm>
            <a:off x="749808" y="4343400"/>
            <a:ext cx="5038344" cy="960119"/>
          </a:xfrm>
          <a:prstGeom prst="rect">
            <a:avLst/>
          </a:prstGeom>
          <a:noFill/>
        </p:spPr>
        <p:txBody>
          <a:bodyPr wrap="square" lIns="0" rIns="0" tIns="0" bIns="0" anchor="t">
            <a:spAutoFit/>
          </a:bodyPr>
          <a:lstStyle/>
          <a:p>
            <a:pPr algn="l">
              <a:spcAft>
                <a:spcPts val="400"/>
              </a:spcAft>
            </a:pPr>
            <a:r>
              <a:rPr sz="1600" b="0" i="0">
                <a:solidFill>
                  <a:srgbClr val="475569"/>
                </a:solidFill>
              </a:rPr>
              <a:t>Without advance reservation a driver cannot be sure of a space at the facility.</a:t>
            </a:r>
          </a:p>
        </p:txBody>
      </p:sp>
      <p:sp>
        <p:nvSpPr>
          <p:cNvPr id="38" name="Rounded Rectangle 37"/>
          <p:cNvSpPr/>
          <p:nvPr/>
        </p:nvSpPr>
        <p:spPr>
          <a:xfrm>
            <a:off x="6199631" y="3474720"/>
            <a:ext cx="5440680" cy="1965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6400799" y="365760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7040879" y="363016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Cash and no records</a:t>
            </a:r>
          </a:p>
        </p:txBody>
      </p:sp>
      <p:sp>
        <p:nvSpPr>
          <p:cNvPr id="41" name="TextBox 40"/>
          <p:cNvSpPr txBox="1"/>
          <p:nvPr/>
        </p:nvSpPr>
        <p:spPr>
          <a:xfrm>
            <a:off x="6400799" y="4343400"/>
            <a:ext cx="5038344" cy="960119"/>
          </a:xfrm>
          <a:prstGeom prst="rect">
            <a:avLst/>
          </a:prstGeom>
          <a:noFill/>
        </p:spPr>
        <p:txBody>
          <a:bodyPr wrap="square" lIns="0" rIns="0" tIns="0" bIns="0" anchor="t">
            <a:spAutoFit/>
          </a:bodyPr>
          <a:lstStyle/>
          <a:p>
            <a:pPr algn="l">
              <a:spcAft>
                <a:spcPts val="400"/>
              </a:spcAft>
            </a:pPr>
            <a:r>
              <a:rPr sz="1600" b="0" i="0">
                <a:solidFill>
                  <a:srgbClr val="475569"/>
                </a:solidFill>
              </a:rPr>
              <a:t>Cash collection slows the entry and provides no usable digital record.</a:t>
            </a:r>
          </a:p>
        </p:txBody>
      </p:sp>
      <p:sp>
        <p:nvSpPr>
          <p:cNvPr id="42" name="Rounded Rectangle 41"/>
          <p:cNvSpPr/>
          <p:nvPr/>
        </p:nvSpPr>
        <p:spPr>
          <a:xfrm>
            <a:off x="548640" y="5715000"/>
            <a:ext cx="11091672" cy="6858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777240" y="5715000"/>
            <a:ext cx="10698480" cy="685800"/>
          </a:xfrm>
          <a:prstGeom prst="rect">
            <a:avLst/>
          </a:prstGeom>
          <a:noFill/>
        </p:spPr>
        <p:txBody>
          <a:bodyPr wrap="square" lIns="0" rIns="0" tIns="0" bIns="0" anchor="ctr">
            <a:spAutoFit/>
          </a:bodyPr>
          <a:lstStyle/>
          <a:p>
            <a:pPr algn="l">
              <a:spcAft>
                <a:spcPts val="400"/>
              </a:spcAft>
            </a:pPr>
            <a:r>
              <a:rPr sz="1400" b="0" i="0">
                <a:solidFill>
                  <a:srgbClr val="0F172A"/>
                </a:solidFill>
              </a:rPr>
              <a:t>Reservation research adds: facility-level optimisation without a booking service [1], and a buffer idea evaluated only in simulation [2].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Research gap</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9</a:t>
            </a:fld>
            <a:endParaRPr lang="en-US"/>
          </a:p>
        </p:txBody>
      </p:sp>
      <p:sp>
        <p:nvSpPr>
          <p:cNvPr id="26" name="Oval 25"/>
          <p:cNvSpPr/>
          <p:nvPr/>
        </p:nvSpPr>
        <p:spPr>
          <a:xfrm>
            <a:off x="548640" y="1280160"/>
            <a:ext cx="566928" cy="566928"/>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1</a:t>
            </a:r>
          </a:p>
        </p:txBody>
      </p:sp>
      <p:sp>
        <p:nvSpPr>
          <p:cNvPr id="27" name="TextBox 26"/>
          <p:cNvSpPr txBox="1"/>
          <p:nvPr/>
        </p:nvSpPr>
        <p:spPr>
          <a:xfrm>
            <a:off x="1417320" y="1188720"/>
            <a:ext cx="10195560" cy="914400"/>
          </a:xfrm>
          <a:prstGeom prst="rect">
            <a:avLst/>
          </a:prstGeom>
          <a:noFill/>
        </p:spPr>
        <p:txBody>
          <a:bodyPr wrap="square" lIns="0" rIns="0" tIns="0" bIns="0" anchor="ctr">
            <a:spAutoFit/>
          </a:bodyPr>
          <a:lstStyle/>
          <a:p>
            <a:pPr algn="l">
              <a:spcAft>
                <a:spcPts val="400"/>
              </a:spcAft>
            </a:pPr>
            <a:r>
              <a:rPr sz="1600" b="0" i="0">
                <a:solidFill>
                  <a:srgbClr val="0F172A"/>
                </a:solidFill>
              </a:rPr>
              <a:t>The registered base paper optimises allocation inside one large managed facility; it has no booking web service, payment or operator analytics [1]</a:t>
            </a:r>
          </a:p>
        </p:txBody>
      </p:sp>
      <p:sp>
        <p:nvSpPr>
          <p:cNvPr id="28" name="Oval 27"/>
          <p:cNvSpPr/>
          <p:nvPr/>
        </p:nvSpPr>
        <p:spPr>
          <a:xfrm>
            <a:off x="548640" y="2304288"/>
            <a:ext cx="566928" cy="566928"/>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2</a:t>
            </a:r>
          </a:p>
        </p:txBody>
      </p:sp>
      <p:sp>
        <p:nvSpPr>
          <p:cNvPr id="29" name="TextBox 28"/>
          <p:cNvSpPr txBox="1"/>
          <p:nvPr/>
        </p:nvSpPr>
        <p:spPr>
          <a:xfrm>
            <a:off x="1417320" y="2212848"/>
            <a:ext cx="10195560" cy="914400"/>
          </a:xfrm>
          <a:prstGeom prst="rect">
            <a:avLst/>
          </a:prstGeom>
          <a:noFill/>
        </p:spPr>
        <p:txBody>
          <a:bodyPr wrap="square" lIns="0" rIns="0" tIns="0" bIns="0" anchor="ctr">
            <a:spAutoFit/>
          </a:bodyPr>
          <a:lstStyle/>
          <a:p>
            <a:pPr algn="l">
              <a:spcAft>
                <a:spcPts val="400"/>
              </a:spcAft>
            </a:pPr>
            <a:r>
              <a:rPr sz="1600" b="0" i="0">
                <a:solidFill>
                  <a:srgbClr val="0F172A"/>
                </a:solidFill>
              </a:rPr>
              <a:t>The buffer and star-reputation idea against overstays is evaluated only in simulation and is preliminary by its own words [2]</a:t>
            </a:r>
          </a:p>
        </p:txBody>
      </p:sp>
      <p:sp>
        <p:nvSpPr>
          <p:cNvPr id="30" name="Oval 29"/>
          <p:cNvSpPr/>
          <p:nvPr/>
        </p:nvSpPr>
        <p:spPr>
          <a:xfrm>
            <a:off x="548640" y="3328416"/>
            <a:ext cx="566928" cy="566928"/>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3</a:t>
            </a:r>
          </a:p>
        </p:txBody>
      </p:sp>
      <p:sp>
        <p:nvSpPr>
          <p:cNvPr id="31" name="TextBox 30"/>
          <p:cNvSpPr txBox="1"/>
          <p:nvPr/>
        </p:nvSpPr>
        <p:spPr>
          <a:xfrm>
            <a:off x="1417320" y="3236976"/>
            <a:ext cx="10195560" cy="914400"/>
          </a:xfrm>
          <a:prstGeom prst="rect">
            <a:avLst/>
          </a:prstGeom>
          <a:noFill/>
        </p:spPr>
        <p:txBody>
          <a:bodyPr wrap="square" lIns="0" rIns="0" tIns="0" bIns="0" anchor="ctr">
            <a:spAutoFit/>
          </a:bodyPr>
          <a:lstStyle/>
          <a:p>
            <a:pPr algn="l">
              <a:spcAft>
                <a:spcPts val="400"/>
              </a:spcAft>
            </a:pPr>
            <a:r>
              <a:rPr sz="1600" b="0" i="0">
                <a:solidFill>
                  <a:srgbClr val="0F172A"/>
                </a:solidFill>
              </a:rPr>
              <a:t>Reservation components appear one at a time in the literature: booking, payment, mobile access, pricing [10], [11], [13]</a:t>
            </a:r>
          </a:p>
        </p:txBody>
      </p:sp>
      <p:sp>
        <p:nvSpPr>
          <p:cNvPr id="32" name="Oval 31"/>
          <p:cNvSpPr/>
          <p:nvPr/>
        </p:nvSpPr>
        <p:spPr>
          <a:xfrm>
            <a:off x="548640" y="4352544"/>
            <a:ext cx="566928" cy="566928"/>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4</a:t>
            </a:r>
          </a:p>
        </p:txBody>
      </p:sp>
      <p:sp>
        <p:nvSpPr>
          <p:cNvPr id="33" name="TextBox 32"/>
          <p:cNvSpPr txBox="1"/>
          <p:nvPr/>
        </p:nvSpPr>
        <p:spPr>
          <a:xfrm>
            <a:off x="1417320" y="4261104"/>
            <a:ext cx="10195560" cy="914400"/>
          </a:xfrm>
          <a:prstGeom prst="rect">
            <a:avLst/>
          </a:prstGeom>
          <a:noFill/>
        </p:spPr>
        <p:txBody>
          <a:bodyPr wrap="square" lIns="0" rIns="0" tIns="0" bIns="0" anchor="ctr">
            <a:spAutoFit/>
          </a:bodyPr>
          <a:lstStyle/>
          <a:p>
            <a:pPr algn="l">
              <a:spcAft>
                <a:spcPts val="400"/>
              </a:spcAft>
            </a:pPr>
            <a:r>
              <a:rPr sz="1600" b="0" i="0">
                <a:solidFill>
                  <a:srgbClr val="0F172A"/>
                </a:solidFill>
              </a:rPr>
              <a:t>A general platform for ordinary urban parking that combines search, booking, payment, an overstay-aware availability engine and operator analytics is not reported</a:t>
            </a:r>
          </a:p>
        </p:txBody>
      </p:sp>
      <p:sp>
        <p:nvSpPr>
          <p:cNvPr id="34" name="Oval 33"/>
          <p:cNvSpPr/>
          <p:nvPr/>
        </p:nvSpPr>
        <p:spPr>
          <a:xfrm>
            <a:off x="548640" y="5376672"/>
            <a:ext cx="566928" cy="566928"/>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5</a:t>
            </a:r>
          </a:p>
        </p:txBody>
      </p:sp>
      <p:sp>
        <p:nvSpPr>
          <p:cNvPr id="35" name="TextBox 34"/>
          <p:cNvSpPr txBox="1"/>
          <p:nvPr/>
        </p:nvSpPr>
        <p:spPr>
          <a:xfrm>
            <a:off x="1417320" y="5285232"/>
            <a:ext cx="10195560" cy="914400"/>
          </a:xfrm>
          <a:prstGeom prst="rect">
            <a:avLst/>
          </a:prstGeom>
          <a:noFill/>
        </p:spPr>
        <p:txBody>
          <a:bodyPr wrap="square" lIns="0" rIns="0" tIns="0" bIns="0" anchor="ctr">
            <a:spAutoFit/>
          </a:bodyPr>
          <a:lstStyle/>
          <a:p>
            <a:pPr algn="l">
              <a:spcAft>
                <a:spcPts val="400"/>
              </a:spcAft>
            </a:pPr>
            <a:r>
              <a:rPr sz="1600" b="0" i="0">
                <a:solidFill>
                  <a:srgbClr val="0F172A"/>
                </a:solidFill>
              </a:rPr>
              <a:t>Reported systems rarely measure their own response time, booking success rate and defects; this project measures them and states the failures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Problem statement</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a:t>
            </a:fld>
            <a:endParaRPr lang="en-US"/>
          </a:p>
        </p:txBody>
      </p:sp>
      <p:sp>
        <p:nvSpPr>
          <p:cNvPr id="26" name="Rounded Rectangle 25"/>
          <p:cNvSpPr/>
          <p:nvPr/>
        </p:nvSpPr>
        <p:spPr>
          <a:xfrm>
            <a:off x="548640" y="1325880"/>
            <a:ext cx="11091672" cy="28346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68680" y="1463040"/>
            <a:ext cx="10469880" cy="2606040"/>
          </a:xfrm>
          <a:prstGeom prst="rect">
            <a:avLst/>
          </a:prstGeom>
          <a:noFill/>
        </p:spPr>
        <p:txBody>
          <a:bodyPr wrap="square" lIns="0" rIns="0" tIns="0" bIns="0" anchor="ctr">
            <a:spAutoFit/>
          </a:bodyPr>
          <a:lstStyle/>
          <a:p>
            <a:pPr algn="l" marL="256032" indent="-201168">
              <a:spcAft>
                <a:spcPts val="800"/>
              </a:spcAft>
              <a:buChar char="•"/>
            </a:pPr>
            <a:r>
              <a:rPr sz="1800" b="0" i="0">
                <a:solidFill>
                  <a:srgbClr val="0F172A"/>
                </a:solidFill>
              </a:rPr>
              <a:t>Drivers circle repeatedly because there is no way to know which slots are free</a:t>
            </a:r>
          </a:p>
          <a:p>
            <a:pPr algn="l" marL="256032" indent="-201168">
              <a:spcAft>
                <a:spcPts val="800"/>
              </a:spcAft>
              <a:buChar char="•"/>
            </a:pPr>
            <a:r>
              <a:rPr sz="1800" b="0" i="0">
                <a:solidFill>
                  <a:srgbClr val="0F172A"/>
                </a:solidFill>
              </a:rPr>
              <a:t>Parking operators manage occupancy through manual registers with no live view</a:t>
            </a:r>
          </a:p>
          <a:p>
            <a:pPr algn="l" marL="256032" indent="-201168">
              <a:spcAft>
                <a:spcPts val="800"/>
              </a:spcAft>
              <a:buChar char="•"/>
            </a:pPr>
            <a:r>
              <a:rPr sz="1800" b="0" i="0">
                <a:solidFill>
                  <a:srgbClr val="0F172A"/>
                </a:solidFill>
              </a:rPr>
              <a:t>Without reservation, arriving at a facility gives no guarantee of a space</a:t>
            </a:r>
          </a:p>
          <a:p>
            <a:pPr algn="l" marL="256032" indent="-201168">
              <a:spcAft>
                <a:spcPts val="800"/>
              </a:spcAft>
              <a:buChar char="•"/>
            </a:pPr>
            <a:r>
              <a:rPr sz="1800" b="0" i="0">
                <a:solidFill>
                  <a:srgbClr val="0F172A"/>
                </a:solidFill>
              </a:rPr>
              <a:t>Cash-based collection is slow at entry and provides no usable records</a:t>
            </a:r>
          </a:p>
          <a:p>
            <a:pPr algn="l" marL="256032" indent="-201168">
              <a:spcAft>
                <a:spcPts val="800"/>
              </a:spcAft>
              <a:buChar char="•"/>
            </a:pPr>
            <a:r>
              <a:rPr sz="1800" b="0" i="0">
                <a:solidFill>
                  <a:srgbClr val="0F172A"/>
                </a:solidFill>
              </a:rPr>
              <a:t>Need: a reservation platform that shows live availability, guarantees a slot in advance, and handles payment digitally</a:t>
            </a:r>
          </a:p>
        </p:txBody>
      </p:sp>
      <p:sp>
        <p:nvSpPr>
          <p:cNvPr id="28" name="Rounded Rectangle 27"/>
          <p:cNvSpPr/>
          <p:nvPr/>
        </p:nvSpPr>
        <p:spPr>
          <a:xfrm>
            <a:off x="548640" y="4389120"/>
            <a:ext cx="3520440" cy="17830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77240" y="4480560"/>
            <a:ext cx="3108960" cy="365760"/>
          </a:xfrm>
          <a:prstGeom prst="rect">
            <a:avLst/>
          </a:prstGeom>
          <a:noFill/>
        </p:spPr>
        <p:txBody>
          <a:bodyPr wrap="square" lIns="0" rIns="0" tIns="0" bIns="0" anchor="t">
            <a:spAutoFit/>
          </a:bodyPr>
          <a:lstStyle/>
          <a:p>
            <a:pPr algn="l">
              <a:spcAft>
                <a:spcPts val="400"/>
              </a:spcAft>
            </a:pPr>
            <a:r>
              <a:rPr sz="1800" b="1" i="0">
                <a:solidFill>
                  <a:srgbClr val="0F172A"/>
                </a:solidFill>
              </a:rPr>
              <a:t>Input</a:t>
            </a:r>
          </a:p>
        </p:txBody>
      </p:sp>
      <p:sp>
        <p:nvSpPr>
          <p:cNvPr id="30" name="TextBox 29"/>
          <p:cNvSpPr txBox="1"/>
          <p:nvPr/>
        </p:nvSpPr>
        <p:spPr>
          <a:xfrm>
            <a:off x="777240" y="4892040"/>
            <a:ext cx="3108960" cy="1234440"/>
          </a:xfrm>
          <a:prstGeom prst="rect">
            <a:avLst/>
          </a:prstGeom>
          <a:noFill/>
        </p:spPr>
        <p:txBody>
          <a:bodyPr wrap="square" lIns="0" rIns="0" tIns="0" bIns="0" anchor="t">
            <a:spAutoFit/>
          </a:bodyPr>
          <a:lstStyle/>
          <a:p>
            <a:pPr algn="l">
              <a:spcAft>
                <a:spcPts val="400"/>
              </a:spcAft>
            </a:pPr>
            <a:r>
              <a:rPr sz="1300" b="0" i="0">
                <a:solidFill>
                  <a:srgbClr val="475569"/>
                </a:solidFill>
              </a:rPr>
              <a:t>Registration details, a search window (arrival and departure), a chosen location, payment</a:t>
            </a:r>
          </a:p>
        </p:txBody>
      </p:sp>
      <p:sp>
        <p:nvSpPr>
          <p:cNvPr id="31" name="Rounded Rectangle 30"/>
          <p:cNvSpPr/>
          <p:nvPr/>
        </p:nvSpPr>
        <p:spPr>
          <a:xfrm>
            <a:off x="4334255" y="4389120"/>
            <a:ext cx="3520440" cy="17830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4562855" y="4480560"/>
            <a:ext cx="3108960" cy="365760"/>
          </a:xfrm>
          <a:prstGeom prst="rect">
            <a:avLst/>
          </a:prstGeom>
          <a:noFill/>
        </p:spPr>
        <p:txBody>
          <a:bodyPr wrap="square" lIns="0" rIns="0" tIns="0" bIns="0" anchor="t">
            <a:spAutoFit/>
          </a:bodyPr>
          <a:lstStyle/>
          <a:p>
            <a:pPr algn="l">
              <a:spcAft>
                <a:spcPts val="400"/>
              </a:spcAft>
            </a:pPr>
            <a:r>
              <a:rPr sz="1800" b="1" i="0">
                <a:solidFill>
                  <a:srgbClr val="0F172A"/>
                </a:solidFill>
              </a:rPr>
              <a:t>Output</a:t>
            </a:r>
          </a:p>
        </p:txBody>
      </p:sp>
      <p:sp>
        <p:nvSpPr>
          <p:cNvPr id="33" name="TextBox 32"/>
          <p:cNvSpPr txBox="1"/>
          <p:nvPr/>
        </p:nvSpPr>
        <p:spPr>
          <a:xfrm>
            <a:off x="4562855" y="4892040"/>
            <a:ext cx="3108960" cy="1234440"/>
          </a:xfrm>
          <a:prstGeom prst="rect">
            <a:avLst/>
          </a:prstGeom>
          <a:noFill/>
        </p:spPr>
        <p:txBody>
          <a:bodyPr wrap="square" lIns="0" rIns="0" tIns="0" bIns="0" anchor="t">
            <a:spAutoFit/>
          </a:bodyPr>
          <a:lstStyle/>
          <a:p>
            <a:pPr algn="l">
              <a:spcAft>
                <a:spcPts val="400"/>
              </a:spcAft>
            </a:pPr>
            <a:r>
              <a:rPr sz="1300" b="0" i="0">
                <a:solidFill>
                  <a:srgbClr val="475569"/>
                </a:solidFill>
              </a:rPr>
              <a:t>Live bookable bays per location, a confirmed reservation with fee, check-in and check-out, operator dashboard</a:t>
            </a:r>
          </a:p>
        </p:txBody>
      </p:sp>
      <p:sp>
        <p:nvSpPr>
          <p:cNvPr id="34" name="Rounded Rectangle 33"/>
          <p:cNvSpPr/>
          <p:nvPr/>
        </p:nvSpPr>
        <p:spPr>
          <a:xfrm>
            <a:off x="8119871" y="4389120"/>
            <a:ext cx="3520440" cy="17830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348471" y="4480560"/>
            <a:ext cx="3108960" cy="365760"/>
          </a:xfrm>
          <a:prstGeom prst="rect">
            <a:avLst/>
          </a:prstGeom>
          <a:noFill/>
        </p:spPr>
        <p:txBody>
          <a:bodyPr wrap="square" lIns="0" rIns="0" tIns="0" bIns="0" anchor="t">
            <a:spAutoFit/>
          </a:bodyPr>
          <a:lstStyle/>
          <a:p>
            <a:pPr algn="l">
              <a:spcAft>
                <a:spcPts val="400"/>
              </a:spcAft>
            </a:pPr>
            <a:r>
              <a:rPr sz="1800" b="1" i="0">
                <a:solidFill>
                  <a:srgbClr val="0F172A"/>
                </a:solidFill>
              </a:rPr>
              <a:t>Measures</a:t>
            </a:r>
          </a:p>
        </p:txBody>
      </p:sp>
      <p:sp>
        <p:nvSpPr>
          <p:cNvPr id="36" name="TextBox 35"/>
          <p:cNvSpPr txBox="1"/>
          <p:nvPr/>
        </p:nvSpPr>
        <p:spPr>
          <a:xfrm>
            <a:off x="8348471" y="4892040"/>
            <a:ext cx="3108960" cy="1234440"/>
          </a:xfrm>
          <a:prstGeom prst="rect">
            <a:avLst/>
          </a:prstGeom>
          <a:noFill/>
        </p:spPr>
        <p:txBody>
          <a:bodyPr wrap="square" lIns="0" rIns="0" tIns="0" bIns="0" anchor="t">
            <a:spAutoFit/>
          </a:bodyPr>
          <a:lstStyle/>
          <a:p>
            <a:pPr algn="l">
              <a:spcAft>
                <a:spcPts val="400"/>
              </a:spcAft>
            </a:pPr>
            <a:r>
              <a:rPr sz="1300" b="0" i="0">
                <a:solidFill>
                  <a:srgbClr val="475569"/>
                </a:solidFill>
              </a:rPr>
              <a:t>Booking success rate, allocation efficiency and system response time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Objectives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11</a:t>
            </a:fld>
            <a:endParaRPr lang="en-US"/>
          </a:p>
        </p:txBody>
      </p:sp>
      <p:sp>
        <p:nvSpPr>
          <p:cNvPr id="26" name="TextBox 25"/>
          <p:cNvSpPr txBox="1"/>
          <p:nvPr/>
        </p:nvSpPr>
        <p:spPr>
          <a:xfrm>
            <a:off x="548640" y="1280160"/>
            <a:ext cx="11091672" cy="4480560"/>
          </a:xfrm>
          <a:prstGeom prst="rect">
            <a:avLst/>
          </a:prstGeom>
          <a:noFill/>
        </p:spPr>
        <p:txBody>
          <a:bodyPr wrap="square" lIns="0" rIns="0" tIns="0" bIns="0" anchor="t">
            <a:spAutoFit/>
          </a:bodyPr>
          <a:lstStyle/>
          <a:p>
            <a:pPr algn="l">
              <a:spcAft>
                <a:spcPts val="1400"/>
              </a:spcAft>
            </a:pPr>
            <a:r>
              <a:rPr sz="2100" b="0" i="0">
                <a:solidFill>
                  <a:srgbClr val="0F172A"/>
                </a:solidFill>
              </a:rPr>
              <a:t>1.  Build user registration, authentication and vehicle profile management</a:t>
            </a:r>
          </a:p>
          <a:p>
            <a:pPr algn="l">
              <a:spcAft>
                <a:spcPts val="1400"/>
              </a:spcAft>
            </a:pPr>
            <a:r>
              <a:rPr sz="2100" b="0" i="0">
                <a:solidFill>
                  <a:srgbClr val="0F172A"/>
                </a:solidFill>
              </a:rPr>
              <a:t>2.  Maintain real-time parking slot availability across registered parking facilities</a:t>
            </a:r>
          </a:p>
          <a:p>
            <a:pPr algn="l">
              <a:spcAft>
                <a:spcPts val="1400"/>
              </a:spcAft>
            </a:pPr>
            <a:r>
              <a:rPr sz="2100" b="0" i="0">
                <a:solidFill>
                  <a:srgbClr val="0F172A"/>
                </a:solidFill>
              </a:rPr>
              <a:t>3.  Implement slot search, advance reservation and booking cancellation</a:t>
            </a:r>
          </a:p>
          <a:p>
            <a:pPr algn="l">
              <a:spcAft>
                <a:spcPts val="1400"/>
              </a:spcAft>
            </a:pPr>
            <a:r>
              <a:rPr sz="2100" b="0" i="0">
                <a:solidFill>
                  <a:srgbClr val="0F172A"/>
                </a:solidFill>
              </a:rPr>
              <a:t>4.  Integrate secure online payment and generate digital receipts</a:t>
            </a:r>
          </a:p>
          <a:p>
            <a:pPr algn="l">
              <a:spcAft>
                <a:spcPts val="1400"/>
              </a:spcAft>
            </a:pPr>
            <a:r>
              <a:rPr sz="2100" b="0" i="0">
                <a:solidFill>
                  <a:srgbClr val="0F172A"/>
                </a:solidFill>
              </a:rPr>
              <a:t>5.  Provide an administrator dashboard for slots, bookings, occupancy and revenue</a:t>
            </a:r>
          </a:p>
          <a:p>
            <a:pPr algn="l">
              <a:spcAft>
                <a:spcPts val="1400"/>
              </a:spcAft>
            </a:pPr>
            <a:r>
              <a:rPr sz="2100" b="0" i="0">
                <a:solidFill>
                  <a:srgbClr val="0F172A"/>
                </a:solidFill>
              </a:rPr>
              <a:t>6.  Evaluate booking success rate, allocation efficiency and system response time</a:t>
            </a:r>
          </a:p>
        </p:txBody>
      </p:sp>
      <p:sp>
        <p:nvSpPr>
          <p:cNvPr id="27" name="TextBox 26"/>
          <p:cNvSpPr txBox="1"/>
          <p:nvPr/>
        </p:nvSpPr>
        <p:spPr>
          <a:xfrm>
            <a:off x="548640" y="5806440"/>
            <a:ext cx="11091672" cy="640080"/>
          </a:xfrm>
          <a:prstGeom prst="rect">
            <a:avLst/>
          </a:prstGeom>
          <a:noFill/>
        </p:spPr>
        <p:txBody>
          <a:bodyPr wrap="square" lIns="0" rIns="0" tIns="0" bIns="0" anchor="t">
            <a:spAutoFit/>
          </a:bodyPr>
          <a:lstStyle/>
          <a:p>
            <a:pPr algn="l">
              <a:spcAft>
                <a:spcPts val="400"/>
              </a:spcAft>
            </a:pPr>
            <a:r>
              <a:rPr sz="1300" b="0" i="1">
                <a:solidFill>
                  <a:srgbClr val="475569"/>
                </a:solidFill>
              </a:rPr>
              <a:t>Later reviews and the report state which objectives were met, partly met or not met, with measurements.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Proposed approach</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12</a:t>
            </a:fld>
            <a:endParaRPr lang="en-US"/>
          </a:p>
        </p:txBody>
      </p:sp>
      <p:sp>
        <p:nvSpPr>
          <p:cNvPr id="26" name="Rounded Rectangle 25"/>
          <p:cNvSpPr/>
          <p:nvPr/>
        </p:nvSpPr>
        <p:spPr>
          <a:xfrm>
            <a:off x="548640" y="1325880"/>
            <a:ext cx="2633472" cy="3383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0876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Search and reserve</a:t>
            </a:r>
          </a:p>
        </p:txBody>
      </p:sp>
      <p:sp>
        <p:nvSpPr>
          <p:cNvPr id="29" name="TextBox 28"/>
          <p:cNvSpPr txBox="1"/>
          <p:nvPr/>
        </p:nvSpPr>
        <p:spPr>
          <a:xfrm>
            <a:off x="749808" y="2194560"/>
            <a:ext cx="2231136" cy="2377440"/>
          </a:xfrm>
          <a:prstGeom prst="rect">
            <a:avLst/>
          </a:prstGeom>
          <a:noFill/>
        </p:spPr>
        <p:txBody>
          <a:bodyPr wrap="square" lIns="0" rIns="0" tIns="0" bIns="0" anchor="t">
            <a:spAutoFit/>
          </a:bodyPr>
          <a:lstStyle/>
          <a:p>
            <a:pPr algn="l">
              <a:spcAft>
                <a:spcPts val="400"/>
              </a:spcAft>
            </a:pPr>
            <a:r>
              <a:rPr sz="1500" b="0" i="0">
                <a:solidFill>
                  <a:srgbClr val="475569"/>
                </a:solidFill>
              </a:rPr>
              <a:t>Search a time window; each location shows the bays that can still be reserved. A booking is admitted only if overlapping bookings plus a hold-back buffer stay below capacity.</a:t>
            </a:r>
          </a:p>
        </p:txBody>
      </p:sp>
      <p:sp>
        <p:nvSpPr>
          <p:cNvPr id="30" name="Rounded Rectangle 29"/>
          <p:cNvSpPr/>
          <p:nvPr/>
        </p:nvSpPr>
        <p:spPr>
          <a:xfrm>
            <a:off x="3364992" y="1325880"/>
            <a:ext cx="2633472" cy="3383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3566160" y="150876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4206240"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Pay</a:t>
            </a:r>
          </a:p>
        </p:txBody>
      </p:sp>
      <p:sp>
        <p:nvSpPr>
          <p:cNvPr id="33" name="TextBox 32"/>
          <p:cNvSpPr txBox="1"/>
          <p:nvPr/>
        </p:nvSpPr>
        <p:spPr>
          <a:xfrm>
            <a:off x="3566160" y="2194560"/>
            <a:ext cx="2231136" cy="2377440"/>
          </a:xfrm>
          <a:prstGeom prst="rect">
            <a:avLst/>
          </a:prstGeom>
          <a:noFill/>
        </p:spPr>
        <p:txBody>
          <a:bodyPr wrap="square" lIns="0" rIns="0" tIns="0" bIns="0" anchor="t">
            <a:spAutoFit/>
          </a:bodyPr>
          <a:lstStyle/>
          <a:p>
            <a:pPr algn="l">
              <a:spcAft>
                <a:spcPts val="400"/>
              </a:spcAft>
            </a:pPr>
            <a:r>
              <a:rPr sz="1500" b="0" i="0">
                <a:solidFill>
                  <a:srgbClr val="475569"/>
                </a:solidFill>
              </a:rPr>
              <a:t>Fee = hours x rate x a multiplier from the driver's Trust Score. Stripe Checkout in test mode, or an offline demo checkout, with account credit applied.</a:t>
            </a:r>
          </a:p>
        </p:txBody>
      </p:sp>
      <p:sp>
        <p:nvSpPr>
          <p:cNvPr id="34" name="Rounded Rectangle 33"/>
          <p:cNvSpPr/>
          <p:nvPr/>
        </p:nvSpPr>
        <p:spPr>
          <a:xfrm>
            <a:off x="6181344" y="1325880"/>
            <a:ext cx="2633472" cy="3383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6382512" y="150876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7022592"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Arrive and park</a:t>
            </a:r>
          </a:p>
        </p:txBody>
      </p:sp>
      <p:sp>
        <p:nvSpPr>
          <p:cNvPr id="37" name="TextBox 36"/>
          <p:cNvSpPr txBox="1"/>
          <p:nvPr/>
        </p:nvSpPr>
        <p:spPr>
          <a:xfrm>
            <a:off x="6382512" y="2194560"/>
            <a:ext cx="2231136" cy="2377440"/>
          </a:xfrm>
          <a:prstGeom prst="rect">
            <a:avLst/>
          </a:prstGeom>
          <a:noFill/>
        </p:spPr>
        <p:txBody>
          <a:bodyPr wrap="square" lIns="0" rIns="0" tIns="0" bIns="0" anchor="t">
            <a:spAutoFit/>
          </a:bodyPr>
          <a:lstStyle/>
          <a:p>
            <a:pPr algn="l">
              <a:spcAft>
                <a:spcPts val="400"/>
              </a:spcAft>
            </a:pPr>
            <a:r>
              <a:rPr sz="1500" b="0" i="0">
                <a:solidFill>
                  <a:srgbClr val="475569"/>
                </a:solidFill>
              </a:rPr>
              <a:t>Check in at the lot. If it is physically full the driver is moved to the nearest alternate by haversine distance, or the fee is credited. Check out updates buffer and Trust Score.</a:t>
            </a:r>
          </a:p>
        </p:txBody>
      </p:sp>
      <p:sp>
        <p:nvSpPr>
          <p:cNvPr id="38" name="Rounded Rectangle 37"/>
          <p:cNvSpPr/>
          <p:nvPr/>
        </p:nvSpPr>
        <p:spPr>
          <a:xfrm>
            <a:off x="8997696" y="1325880"/>
            <a:ext cx="2633472" cy="3383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9198864" y="150876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9838944"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Operate</a:t>
            </a:r>
          </a:p>
        </p:txBody>
      </p:sp>
      <p:sp>
        <p:nvSpPr>
          <p:cNvPr id="41" name="TextBox 40"/>
          <p:cNvSpPr txBox="1"/>
          <p:nvPr/>
        </p:nvSpPr>
        <p:spPr>
          <a:xfrm>
            <a:off x="9198864" y="2194560"/>
            <a:ext cx="2231136" cy="2377440"/>
          </a:xfrm>
          <a:prstGeom prst="rect">
            <a:avLst/>
          </a:prstGeom>
          <a:noFill/>
        </p:spPr>
        <p:txBody>
          <a:bodyPr wrap="square" lIns="0" rIns="0" tIns="0" bIns="0" anchor="t">
            <a:spAutoFit/>
          </a:bodyPr>
          <a:lstStyle/>
          <a:p>
            <a:pPr algn="l">
              <a:spcAft>
                <a:spcPts val="400"/>
              </a:spcAft>
            </a:pPr>
            <a:r>
              <a:rPr sz="1500" b="0" i="0">
                <a:solidFill>
                  <a:srgbClr val="475569"/>
                </a:solidFill>
              </a:rPr>
              <a:t>Admin panel for locations, users, bookings and revenue, and Strategy Insights: stored bookings replayed under four buffer policies.</a:t>
            </a:r>
          </a:p>
        </p:txBody>
      </p:sp>
      <p:sp>
        <p:nvSpPr>
          <p:cNvPr id="42" name="Rounded Rectangle 41"/>
          <p:cNvSpPr/>
          <p:nvPr/>
        </p:nvSpPr>
        <p:spPr>
          <a:xfrm>
            <a:off x="548640" y="4892040"/>
            <a:ext cx="11091672" cy="1280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777240" y="5166360"/>
            <a:ext cx="640080" cy="640080"/>
          </a:xfrm>
          <a:prstGeom prst="ellipse">
            <a:avLst/>
          </a:prstGeom>
          <a:solidFill>
            <a:srgbClr val="1B2A41"/>
          </a:solidFill>
          <a:ln w="9525">
            <a:solidFill>
              <a:srgbClr val="1B2A4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UI</a:t>
            </a:r>
          </a:p>
        </p:txBody>
      </p:sp>
      <p:sp>
        <p:nvSpPr>
          <p:cNvPr id="44" name="TextBox 43"/>
          <p:cNvSpPr txBox="1"/>
          <p:nvPr/>
        </p:nvSpPr>
        <p:spPr>
          <a:xfrm>
            <a:off x="1645920" y="5029200"/>
            <a:ext cx="9784080" cy="411480"/>
          </a:xfrm>
          <a:prstGeom prst="rect">
            <a:avLst/>
          </a:prstGeom>
          <a:noFill/>
        </p:spPr>
        <p:txBody>
          <a:bodyPr wrap="square" lIns="0" rIns="0" tIns="0" bIns="0" anchor="t">
            <a:spAutoFit/>
          </a:bodyPr>
          <a:lstStyle/>
          <a:p>
            <a:pPr algn="l">
              <a:spcAft>
                <a:spcPts val="400"/>
              </a:spcAft>
            </a:pPr>
            <a:r>
              <a:rPr sz="1600" b="1" i="0">
                <a:solidFill>
                  <a:srgbClr val="0F172A"/>
                </a:solidFill>
              </a:rPr>
              <a:t>FastAPI service + React console + SQLite database</a:t>
            </a:r>
          </a:p>
        </p:txBody>
      </p:sp>
      <p:sp>
        <p:nvSpPr>
          <p:cNvPr id="45" name="TextBox 44"/>
          <p:cNvSpPr txBox="1"/>
          <p:nvPr/>
        </p:nvSpPr>
        <p:spPr>
          <a:xfrm>
            <a:off x="1645920" y="5440680"/>
            <a:ext cx="9784080" cy="685800"/>
          </a:xfrm>
          <a:prstGeom prst="rect">
            <a:avLst/>
          </a:prstGeom>
          <a:noFill/>
        </p:spPr>
        <p:txBody>
          <a:bodyPr wrap="square" lIns="0" rIns="0" tIns="0" bIns="0" anchor="t">
            <a:spAutoFit/>
          </a:bodyPr>
          <a:lstStyle/>
          <a:p>
            <a:pPr algn="l">
              <a:spcAft>
                <a:spcPts val="400"/>
              </a:spcAft>
            </a:pPr>
            <a:r>
              <a:rPr sz="1400" b="0" i="0">
                <a:solidFill>
                  <a:srgbClr val="475569"/>
                </a:solidFill>
              </a:rPr>
              <a:t>22 API routes, 5 tables, JWT login with driver and admin roles, a scheduler that resets buffers daily. The rules follow the buffer and star-reputation ideas of the second base paper; the approach is implemented in the project code.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High-level proposed architecture</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13</a:t>
            </a:fld>
            <a:endParaRPr lang="en-US"/>
          </a:p>
        </p:txBody>
      </p:sp>
      <p:pic>
        <p:nvPicPr>
          <p:cNvPr id="26" name="Picture 25" descr="01_system_architecture.png"/>
          <p:cNvPicPr>
            <a:picLocks noChangeAspect="1"/>
          </p:cNvPicPr>
          <p:nvPr/>
        </p:nvPicPr>
        <p:blipFill>
          <a:blip r:embed="rId1"/>
          <a:stretch>
            <a:fillRect/>
          </a:stretch>
        </p:blipFill>
        <p:spPr>
          <a:xfrm>
            <a:off x="548640" y="1488809"/>
            <a:ext cx="6949440" cy="4611901"/>
          </a:xfrm>
          <a:prstGeom prst="rect">
            <a:avLst/>
          </a:prstGeom>
        </p:spPr>
      </p:pic>
      <p:sp>
        <p:nvSpPr>
          <p:cNvPr id="27" name="TextBox 26"/>
          <p:cNvSpPr txBox="1"/>
          <p:nvPr/>
        </p:nvSpPr>
        <p:spPr>
          <a:xfrm>
            <a:off x="7680960" y="1371600"/>
            <a:ext cx="3977639" cy="4754880"/>
          </a:xfrm>
          <a:prstGeom prst="rect">
            <a:avLst/>
          </a:prstGeom>
          <a:noFill/>
        </p:spPr>
        <p:txBody>
          <a:bodyPr wrap="square" lIns="0" rIns="0" tIns="0" bIns="0" anchor="t">
            <a:spAutoFit/>
          </a:bodyPr>
          <a:lstStyle/>
          <a:p>
            <a:pPr algn="l">
              <a:spcAft>
                <a:spcPts val="800"/>
              </a:spcAft>
            </a:pPr>
            <a:r>
              <a:rPr sz="1500" b="1" i="0">
                <a:solidFill>
                  <a:srgbClr val="0F172A"/>
                </a:solidFill>
              </a:rPr>
              <a:t>Layers</a:t>
            </a:r>
          </a:p>
          <a:p>
            <a:pPr algn="l" marL="256032" indent="-201168">
              <a:spcAft>
                <a:spcPts val="400"/>
              </a:spcAft>
              <a:buChar char="•"/>
            </a:pPr>
            <a:r>
              <a:rPr sz="1500" b="0" i="0">
                <a:solidFill>
                  <a:srgbClr val="0F172A"/>
                </a:solidFill>
              </a:rPr>
              <a:t>React console on port 5403; Vite proxies /api.</a:t>
            </a:r>
          </a:p>
          <a:p>
            <a:pPr algn="l" marL="256032" indent="-201168">
              <a:spcAft>
                <a:spcPts val="400"/>
              </a:spcAft>
              <a:buChar char="•"/>
            </a:pPr>
            <a:r>
              <a:rPr sz="1500" b="0" i="0">
                <a:solidFill>
                  <a:srgbClr val="0F172A"/>
                </a:solidFill>
              </a:rPr>
              <a:t>FastAPI on port 8403: 22 routes, JWT and role guards.</a:t>
            </a:r>
          </a:p>
          <a:p>
            <a:pPr algn="l" marL="256032" indent="-201168">
              <a:spcAft>
                <a:spcPts val="400"/>
              </a:spcAft>
              <a:buChar char="•"/>
            </a:pPr>
            <a:r>
              <a:rPr sz="1500" b="0" i="0">
                <a:solidFill>
                  <a:srgbClr val="0F172A"/>
                </a:solidFill>
              </a:rPr>
              <a:t>Smart Availability Engine: admission, buffer, nearest alternate, Trust Score, fees.</a:t>
            </a:r>
          </a:p>
          <a:p>
            <a:pPr algn="l" marL="256032" indent="-201168">
              <a:spcAft>
                <a:spcPts val="400"/>
              </a:spcAft>
              <a:buChar char="•"/>
            </a:pPr>
            <a:r>
              <a:rPr sz="1500" b="0" i="0">
                <a:solidFill>
                  <a:srgbClr val="0F172A"/>
                </a:solidFill>
              </a:rPr>
              <a:t>SQLite database with five tables.</a:t>
            </a:r>
          </a:p>
          <a:p>
            <a:pPr algn="l" marL="256032" indent="-201168">
              <a:spcAft>
                <a:spcPts val="400"/>
              </a:spcAft>
              <a:buChar char="•"/>
            </a:pPr>
            <a:r>
              <a:rPr sz="1500" b="0" i="0">
                <a:solidFill>
                  <a:srgbClr val="0F172A"/>
                </a:solidFill>
              </a:rPr>
              <a:t>Scheduler job and Stripe test-mode payment as side services.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Expected outcomes and what will be measured</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14</a:t>
            </a:fld>
            <a:endParaRPr lang="en-US"/>
          </a:p>
        </p:txBody>
      </p:sp>
      <p:sp>
        <p:nvSpPr>
          <p:cNvPr id="26" name="Rounded Rectangle 25"/>
          <p:cNvSpPr/>
          <p:nvPr/>
        </p:nvSpPr>
        <p:spPr>
          <a:xfrm>
            <a:off x="548640" y="1371600"/>
            <a:ext cx="3520440" cy="2423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54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A working platform</a:t>
            </a:r>
          </a:p>
        </p:txBody>
      </p:sp>
      <p:sp>
        <p:nvSpPr>
          <p:cNvPr id="29" name="TextBox 28"/>
          <p:cNvSpPr txBox="1"/>
          <p:nvPr/>
        </p:nvSpPr>
        <p:spPr>
          <a:xfrm>
            <a:off x="749808" y="2240280"/>
            <a:ext cx="3118104" cy="1417319"/>
          </a:xfrm>
          <a:prstGeom prst="rect">
            <a:avLst/>
          </a:prstGeom>
          <a:noFill/>
        </p:spPr>
        <p:txBody>
          <a:bodyPr wrap="square" lIns="0" rIns="0" tIns="0" bIns="0" anchor="t">
            <a:spAutoFit/>
          </a:bodyPr>
          <a:lstStyle/>
          <a:p>
            <a:pPr algn="l">
              <a:spcAft>
                <a:spcPts val="400"/>
              </a:spcAft>
            </a:pPr>
            <a:r>
              <a:rPr sz="1400" b="0" i="0">
                <a:solidFill>
                  <a:srgbClr val="475569"/>
                </a:solidFill>
              </a:rPr>
              <a:t>Registration and login, live search, reserve, cancel, pay, check in and out, and the admin dashboard, tested with an automated test suite.</a:t>
            </a:r>
          </a:p>
        </p:txBody>
      </p:sp>
      <p:sp>
        <p:nvSpPr>
          <p:cNvPr id="30" name="Rounded Rectangle 29"/>
          <p:cNvSpPr/>
          <p:nvPr/>
        </p:nvSpPr>
        <p:spPr>
          <a:xfrm>
            <a:off x="4334255" y="1371600"/>
            <a:ext cx="3520440" cy="2423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535423" y="1554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5175503"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Reservation behaviour</a:t>
            </a:r>
          </a:p>
        </p:txBody>
      </p:sp>
      <p:sp>
        <p:nvSpPr>
          <p:cNvPr id="33" name="TextBox 32"/>
          <p:cNvSpPr txBox="1"/>
          <p:nvPr/>
        </p:nvSpPr>
        <p:spPr>
          <a:xfrm>
            <a:off x="4535423" y="2240280"/>
            <a:ext cx="3118104" cy="1417319"/>
          </a:xfrm>
          <a:prstGeom prst="rect">
            <a:avLst/>
          </a:prstGeom>
          <a:noFill/>
        </p:spPr>
        <p:txBody>
          <a:bodyPr wrap="square" lIns="0" rIns="0" tIns="0" bIns="0" anchor="t">
            <a:spAutoFit/>
          </a:bodyPr>
          <a:lstStyle/>
          <a:p>
            <a:pPr algn="l">
              <a:spcAft>
                <a:spcPts val="400"/>
              </a:spcAft>
            </a:pPr>
            <a:r>
              <a:rPr sz="1400" b="0" i="0">
                <a:solidFill>
                  <a:srgbClr val="475569"/>
                </a:solidFill>
              </a:rPr>
              <a:t>Booking success rate and allocation efficiency (bay utilisation), measured on a simulated scenario that follows the setting of the second base paper.</a:t>
            </a:r>
          </a:p>
        </p:txBody>
      </p:sp>
      <p:sp>
        <p:nvSpPr>
          <p:cNvPr id="34" name="Rounded Rectangle 33"/>
          <p:cNvSpPr/>
          <p:nvPr/>
        </p:nvSpPr>
        <p:spPr>
          <a:xfrm>
            <a:off x="8119871" y="1371600"/>
            <a:ext cx="3520440" cy="2423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321040" y="1554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8961119"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Buffer policies</a:t>
            </a:r>
          </a:p>
        </p:txBody>
      </p:sp>
      <p:sp>
        <p:nvSpPr>
          <p:cNvPr id="37" name="TextBox 36"/>
          <p:cNvSpPr txBox="1"/>
          <p:nvPr/>
        </p:nvSpPr>
        <p:spPr>
          <a:xfrm>
            <a:off x="8321040" y="2240280"/>
            <a:ext cx="3118104" cy="1417319"/>
          </a:xfrm>
          <a:prstGeom prst="rect">
            <a:avLst/>
          </a:prstGeom>
          <a:noFill/>
        </p:spPr>
        <p:txBody>
          <a:bodyPr wrap="square" lIns="0" rIns="0" tIns="0" bIns="0" anchor="t">
            <a:spAutoFit/>
          </a:bodyPr>
          <a:lstStyle/>
          <a:p>
            <a:pPr algn="l">
              <a:spcAft>
                <a:spcPts val="400"/>
              </a:spcAft>
            </a:pPr>
            <a:r>
              <a:rPr sz="1400" b="0" i="0">
                <a:solidFill>
                  <a:srgbClr val="475569"/>
                </a:solidFill>
              </a:rPr>
              <a:t>Static and dynamic hold-back buffers compared on refused reservations and arrivals that find no bay. Results are not claimed in advance.</a:t>
            </a:r>
          </a:p>
        </p:txBody>
      </p:sp>
      <p:sp>
        <p:nvSpPr>
          <p:cNvPr id="38" name="Rounded Rectangle 37"/>
          <p:cNvSpPr/>
          <p:nvPr/>
        </p:nvSpPr>
        <p:spPr>
          <a:xfrm>
            <a:off x="548640" y="3977639"/>
            <a:ext cx="5440680" cy="2194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749808" y="416052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1389888" y="4133087"/>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Response time</a:t>
            </a:r>
          </a:p>
        </p:txBody>
      </p:sp>
      <p:sp>
        <p:nvSpPr>
          <p:cNvPr id="41" name="TextBox 40"/>
          <p:cNvSpPr txBox="1"/>
          <p:nvPr/>
        </p:nvSpPr>
        <p:spPr>
          <a:xfrm>
            <a:off x="749808" y="4846320"/>
            <a:ext cx="5038344" cy="1188719"/>
          </a:xfrm>
          <a:prstGeom prst="rect">
            <a:avLst/>
          </a:prstGeom>
          <a:noFill/>
        </p:spPr>
        <p:txBody>
          <a:bodyPr wrap="square" lIns="0" rIns="0" tIns="0" bIns="0" anchor="t">
            <a:spAutoFit/>
          </a:bodyPr>
          <a:lstStyle/>
          <a:p>
            <a:pPr algn="l">
              <a:spcAft>
                <a:spcPts val="400"/>
              </a:spcAft>
            </a:pPr>
            <a:r>
              <a:rPr sz="1500" b="0" i="0">
                <a:solidFill>
                  <a:srgbClr val="475569"/>
                </a:solidFill>
              </a:rPr>
              <a:t>Latency of the main API calls measured on one machine, and the cost of the engine decisions.</a:t>
            </a:r>
          </a:p>
        </p:txBody>
      </p:sp>
      <p:sp>
        <p:nvSpPr>
          <p:cNvPr id="42" name="Rounded Rectangle 41"/>
          <p:cNvSpPr/>
          <p:nvPr/>
        </p:nvSpPr>
        <p:spPr>
          <a:xfrm>
            <a:off x="6199631" y="3977639"/>
            <a:ext cx="5440680" cy="2194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400799" y="416052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5</a:t>
            </a:r>
          </a:p>
        </p:txBody>
      </p:sp>
      <p:sp>
        <p:nvSpPr>
          <p:cNvPr id="44" name="TextBox 43"/>
          <p:cNvSpPr txBox="1"/>
          <p:nvPr/>
        </p:nvSpPr>
        <p:spPr>
          <a:xfrm>
            <a:off x="7040879" y="4133087"/>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Stated limits</a:t>
            </a:r>
          </a:p>
        </p:txBody>
      </p:sp>
      <p:sp>
        <p:nvSpPr>
          <p:cNvPr id="45" name="TextBox 44"/>
          <p:cNvSpPr txBox="1"/>
          <p:nvPr/>
        </p:nvSpPr>
        <p:spPr>
          <a:xfrm>
            <a:off x="6400799" y="4846320"/>
            <a:ext cx="5038344" cy="1188719"/>
          </a:xfrm>
          <a:prstGeom prst="rect">
            <a:avLst/>
          </a:prstGeom>
          <a:noFill/>
        </p:spPr>
        <p:txBody>
          <a:bodyPr wrap="square" lIns="0" rIns="0" tIns="0" bIns="0" anchor="t">
            <a:spAutoFit/>
          </a:bodyPr>
          <a:lstStyle/>
          <a:p>
            <a:pPr algn="l">
              <a:spcAft>
                <a:spcPts val="400"/>
              </a:spcAft>
            </a:pPr>
            <a:r>
              <a:rPr sz="1500" b="0" i="0">
                <a:solidFill>
                  <a:srgbClr val="475569"/>
                </a:solidFill>
              </a:rPr>
              <a:t>Anything not achieved or not measured will be reported as a gap: for example no live sensors, no real-user study and no hardware gate.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References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15</a:t>
            </a:fld>
            <a:endParaRPr lang="en-US"/>
          </a:p>
        </p:txBody>
      </p:sp>
      <p:sp>
        <p:nvSpPr>
          <p:cNvPr id="26" name="TextBox 25"/>
          <p:cNvSpPr txBox="1"/>
          <p:nvPr/>
        </p:nvSpPr>
        <p:spPr>
          <a:xfrm>
            <a:off x="548640" y="1143000"/>
            <a:ext cx="5486400" cy="5303520"/>
          </a:xfrm>
          <a:prstGeom prst="rect">
            <a:avLst/>
          </a:prstGeom>
          <a:noFill/>
        </p:spPr>
        <p:txBody>
          <a:bodyPr wrap="square" lIns="0" rIns="0" tIns="0" bIns="0" anchor="t">
            <a:spAutoFit/>
          </a:bodyPr>
          <a:lstStyle/>
          <a:p>
            <a:pPr algn="l">
              <a:spcAft>
                <a:spcPts val="400"/>
              </a:spcAft>
            </a:pPr>
            <a:r>
              <a:rPr sz="1150" b="0" i="0">
                <a:solidFill>
                  <a:srgbClr val="0F172A"/>
                </a:solidFill>
              </a:rPr>
              <a:t>[1] M. Jemmali, L. K. B. Melhim, A. Ammar, T. R. Gadekallu and W. Boulila, "Smart parking for medical cities via passenger-aware allocation and fast grouping-permutation heuristics," IEEE Open Journal of the Computer Society, vol. 7, pp. 1106-1118, 2026, doi: 10.1109/OJCS.2026.3693801.</a:t>
            </a:r>
          </a:p>
          <a:p>
            <a:pPr algn="l">
              <a:spcAft>
                <a:spcPts val="400"/>
              </a:spcAft>
            </a:pPr>
            <a:r>
              <a:rPr sz="1150" b="0" i="0">
                <a:solidFill>
                  <a:srgbClr val="0F172A"/>
                </a:solidFill>
              </a:rPr>
              <a:t>[2] G. Cabri, M. Montangero, F. Muzzini and R. Wang, "Reservation based smart parking management," arXiv:2605.17650 [cs.MA], May 2026.</a:t>
            </a:r>
          </a:p>
          <a:p>
            <a:pPr algn="l">
              <a:spcAft>
                <a:spcPts val="400"/>
              </a:spcAft>
            </a:pPr>
            <a:r>
              <a:rPr sz="1150" b="0" i="0">
                <a:solidFill>
                  <a:srgbClr val="0F172A"/>
                </a:solidFill>
              </a:rPr>
              <a:t>[3] M. Aljohani, S. Olariu, A. Alali and S. Jain, "A survey of parking solutions for smart cities," IEEE Transactions on Intelligent Transportation Systems, vol. 23, no. 8, pp. 10012-10029, 2021.</a:t>
            </a:r>
          </a:p>
          <a:p>
            <a:pPr algn="l">
              <a:spcAft>
                <a:spcPts val="400"/>
              </a:spcAft>
            </a:pPr>
            <a:r>
              <a:rPr sz="1150" b="0" i="0">
                <a:solidFill>
                  <a:srgbClr val="0F172A"/>
                </a:solidFill>
              </a:rPr>
              <a:t>[5] S. R. Rizvi, S. Zehra, R. Mukkamala and S. Olariu, "ASAP: An agent-assisted smart auction-based parking system in Internet of Things," in Proc. 9th ACM Symp. on Design and Analysis of Intelligent Vehicular Networks and Applications, 2019, pp. 1-8.</a:t>
            </a:r>
          </a:p>
          <a:p>
            <a:pPr algn="l">
              <a:spcAft>
                <a:spcPts val="400"/>
              </a:spcAft>
            </a:pPr>
            <a:r>
              <a:rPr sz="1150" b="0" i="0">
                <a:solidFill>
                  <a:srgbClr val="0F172A"/>
                </a:solidFill>
              </a:rPr>
              <a:t>[6] S. R. Rizvi, S. Zehra and S. Olariu, "MaPark: A multi-agent auction-based parking system in Internet of Things," IEEE Intelligent Transportation Systems Magazine, vol. 13, no. 4, pp. 104-115, 2020.</a:t>
            </a:r>
          </a:p>
          <a:p>
            <a:pPr algn="l">
              <a:spcAft>
                <a:spcPts val="400"/>
              </a:spcAft>
            </a:pPr>
            <a:r>
              <a:rPr sz="1150" b="0" i="0">
                <a:solidFill>
                  <a:srgbClr val="0F172A"/>
                </a:solidFill>
              </a:rPr>
              <a:t>[7] N. Doulamis, E. Protopapadakis and L. Lambrinos, "Improving service quality for parking lot users using intelligent parking reservation policies," in Proc. 27th Int. Conf. on Advanced Information Networking and Applications Workshops, IEEE, 2013, pp. 1392-1397.</a:t>
            </a:r>
          </a:p>
          <a:p>
            <a:pPr algn="l">
              <a:spcAft>
                <a:spcPts val="400"/>
              </a:spcAft>
            </a:pPr>
            <a:r>
              <a:rPr sz="1150" b="0" i="0">
                <a:solidFill>
                  <a:srgbClr val="0F172A"/>
                </a:solidFill>
              </a:rPr>
              <a:t>[8] E. Kokolaki, M. Karaliopoulos and I. Stavrakakis, "Trading public parking space," in Proc. IEEE Int. Symp. on a World of Wireless, Mobile and Multimedia Networks, 2014, pp. 1-6.</a:t>
            </a:r>
          </a:p>
          <a:p>
            <a:pPr algn="l">
              <a:spcAft>
                <a:spcPts val="400"/>
              </a:spcAft>
            </a:pPr>
            <a:r>
              <a:rPr sz="1150" b="0" i="0">
                <a:solidFill>
                  <a:srgbClr val="0F172A"/>
                </a:solidFill>
              </a:rPr>
              <a:t>[9] G. Yan, W. Yang, D. B. Rawat and S. Olariu, "SmartParking: A secure and intelligent parking system," IEEE Intelligent Transportation Systems Magazine, vol. 3, no. 1, pp. 18-30, 2011.</a:t>
            </a:r>
          </a:p>
        </p:txBody>
      </p:sp>
      <p:sp>
        <p:nvSpPr>
          <p:cNvPr id="27" name="TextBox 26"/>
          <p:cNvSpPr txBox="1"/>
          <p:nvPr/>
        </p:nvSpPr>
        <p:spPr>
          <a:xfrm>
            <a:off x="6172200" y="1143000"/>
            <a:ext cx="5486400" cy="5303520"/>
          </a:xfrm>
          <a:prstGeom prst="rect">
            <a:avLst/>
          </a:prstGeom>
          <a:noFill/>
        </p:spPr>
        <p:txBody>
          <a:bodyPr wrap="square" lIns="0" rIns="0" tIns="0" bIns="0" anchor="t">
            <a:spAutoFit/>
          </a:bodyPr>
          <a:lstStyle/>
          <a:p>
            <a:pPr algn="l">
              <a:spcAft>
                <a:spcPts val="400"/>
              </a:spcAft>
            </a:pPr>
            <a:r>
              <a:rPr sz="1150" b="0" i="0">
                <a:solidFill>
                  <a:srgbClr val="0F172A"/>
                </a:solidFill>
              </a:rPr>
              <a:t>[10] R. R. Safitri, A. Pratiarso and A. Zainudin, "Mobile-based smart parking reservation system with rate display occupancy using heuristic algorithm and haversine formula," in Proc. 2020 Int. Electronics Symp. (IES), IEEE, 2020, pp. 332-339.</a:t>
            </a:r>
          </a:p>
          <a:p>
            <a:pPr algn="l">
              <a:spcAft>
                <a:spcPts val="400"/>
              </a:spcAft>
            </a:pPr>
            <a:r>
              <a:rPr sz="1150" b="0" i="0">
                <a:solidFill>
                  <a:srgbClr val="0F172A"/>
                </a:solidFill>
              </a:rPr>
              <a:t>[11] A. Somani, S. Periwal, K. Patel and P. Gaikwad, "Cross platform smart reservation based parking system," in Proc. 2018 Int. Conf. on Smart City and Emerging Technology (ICSCET), IEEE, 2018, pp. 1-5.</a:t>
            </a:r>
          </a:p>
          <a:p>
            <a:pPr algn="l">
              <a:spcAft>
                <a:spcPts val="400"/>
              </a:spcAft>
            </a:pPr>
            <a:r>
              <a:rPr sz="1150" b="0" i="0">
                <a:solidFill>
                  <a:srgbClr val="0F172A"/>
                </a:solidFill>
              </a:rPr>
              <a:t>[12] N. Mejri, M. Ayari, R. Langar and L. Saidane, "Reservation-based multi-objective smart parking approach for smart cities," in Proc. 2016 IEEE Int. Smart Cities Conf. (ISC2), 2016, pp. 1-6.</a:t>
            </a:r>
          </a:p>
          <a:p>
            <a:pPr algn="l">
              <a:spcAft>
                <a:spcPts val="400"/>
              </a:spcAft>
            </a:pPr>
            <a:r>
              <a:rPr sz="1150" b="0" i="0">
                <a:solidFill>
                  <a:srgbClr val="0F172A"/>
                </a:solidFill>
              </a:rPr>
              <a:t>[13] A. O. Kotb, Y.-C. Shen, X. Zhu and Y. Huang, "iParker - a new smart car-parking system based on dynamic resource allocation and pricing," IEEE Transactions on Intelligent Transportation Systems, vol. 17, no. 9, pp. 2637-2647, 2016.</a:t>
            </a:r>
          </a:p>
          <a:p>
            <a:pPr algn="l">
              <a:spcAft>
                <a:spcPts val="400"/>
              </a:spcAft>
            </a:pPr>
            <a:r>
              <a:rPr sz="1150" b="0" i="0">
                <a:solidFill>
                  <a:srgbClr val="0F172A"/>
                </a:solidFill>
              </a:rPr>
              <a:t>[31] "Design and implementation of a web-based smart vehicle parking reservation and management system with real-time slot allocation," American Journal of AI Cyber Computing Management, 2026 (title and source as listed in the batch literature survey; not located online and not quoted).</a:t>
            </a:r>
          </a:p>
          <a:p>
            <a:pPr algn="l">
              <a:spcAft>
                <a:spcPts val="400"/>
              </a:spcAft>
            </a:pPr>
            <a:r>
              <a:rPr sz="1150" b="0" i="0">
                <a:solidFill>
                  <a:srgbClr val="0F172A"/>
                </a:solidFill>
              </a:rPr>
              <a:t>[32] "Digital parking slot reservation system for vehicles," International Journal of Engineering Science and Advanced Technology, 2026 (title and source as listed in the batch literature survey; not located online and not quoted).</a:t>
            </a:r>
          </a:p>
          <a:p>
            <a:pPr algn="l">
              <a:spcAft>
                <a:spcPts val="400"/>
              </a:spcAft>
            </a:pPr>
            <a:r>
              <a:rPr sz="1150" b="0" i="0">
                <a:solidFill>
                  <a:srgbClr val="0F172A"/>
                </a:solidFill>
              </a:rPr>
              <a:t>[33] "Parking slot prediction and face recognition based parked vehicle theft prevention in smart parking system," International Research Journal of Modernization in Engineering Technology and Science, 2024 (title and source as listed in the batch literature survey; not located online and not quoted).</a:t>
            </a:r>
          </a:p>
          <a:p>
            <a:pPr algn="l">
              <a:spcAft>
                <a:spcPts val="400"/>
              </a:spcAft>
            </a:pPr>
            <a:r>
              <a:rPr sz="1150" b="0" i="0">
                <a:solidFill>
                  <a:srgbClr val="0F172A"/>
                </a:solidFill>
              </a:rPr>
              <a:t>[34] "Smart vehicle parking reservation system using web and mobile technologies," Research Digest on Engineering Management and Social Innovations, 2026 (title and source as listed in the batch literature survey; not located online and not quoted).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Questions and suggestions are welcome.</a:t>
            </a: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ParkSure">
  <a:themeElements>
    <a:clrScheme name="ParkSure">
      <a:dk1>
        <a:srgbClr val="0F172A"/>
      </a:dk1>
      <a:lt1>
        <a:srgbClr val="FFFFFF"/>
      </a:lt1>
      <a:dk2>
        <a:srgbClr val="1B2A41"/>
      </a:dk2>
      <a:lt2>
        <a:srgbClr val="EEF2F7"/>
      </a:lt2>
      <a:accent1>
        <a:srgbClr val="2A78D6"/>
      </a:accent1>
      <a:accent2>
        <a:srgbClr val="EB6834"/>
      </a:accent2>
      <a:accent3>
        <a:srgbClr val="1BAF7A"/>
      </a:accent3>
      <a:accent4>
        <a:srgbClr val="EDA100"/>
      </a:accent4>
      <a:accent5>
        <a:srgbClr val="6250D6"/>
      </a:accent5>
      <a:accent6>
        <a:srgbClr val="E34948"/>
      </a:accent6>
      <a:hlink>
        <a:srgbClr val="2A78D6"/>
      </a:hlink>
      <a:folHlink>
        <a:srgbClr val="6250D6"/>
      </a:folHlink>
    </a:clrScheme>
    <a:fontScheme name="ParkSur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arkSur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Online Vehicle Parking Reservation System: Review 1</dc:title>
  <dc:subject>Batch C3 (CSE-C)</dc:subject>
  <dc:creator>Palle Yashaswini, Mohammed Muneeb Ahmed, Kamasani Manisha, Pothagani Nithyya Bhargava</dc:creator>
  <cp:lastModifiedBy/>
  <cp:revision>1</cp:revision>
  <dcterms:created xsi:type="dcterms:W3CDTF">2026-10-13T12:36:40Z</dcterms:created>
  <dcterms:modified xsi:type="dcterms:W3CDTF">2026-10-13T12:36:40Z</dcterms:modified>
  <cp:keywords>parking reservation, slot booking, smart parking, web application, online payment, admin dashboard</cp:keywords>
  <dc:description/>
</cp:coreProperties>
</file>