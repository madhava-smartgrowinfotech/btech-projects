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3623e47-5b1a-7aef-5476-75bff30165c3}">
          <p14:sldIdLst>
            <p14:sldId id="256"/>
            <p14:sldId id="257"/>
            <p14:sldId id="258"/>
          </p14:sldIdLst>
        </p14:section>
        <p14:section name="Design" id="{ee3f979a-aefa-c88f-8568-1021737ba133}">
          <p14:sldIdLst>
            <p14:sldId id="259"/>
            <p14:sldId id="260"/>
            <p14:sldId id="261"/>
            <p14:sldId id="262"/>
            <p14:sldId id="263"/>
            <p14:sldId id="264"/>
            <p14:sldId id="265"/>
            <p14:sldId id="266"/>
            <p14:sldId id="267"/>
            <p14:sldId id="268"/>
          </p14:sldIdLst>
        </p14:section>
        <p14:section name="Progress" id="{cf39a97a-7fb0-4c7a-0650-0fb3a5c44815}">
          <p14:sldIdLst>
            <p14:sldId id="269"/>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Reservations refused by admission</c:v>
                </c:pt>
              </c:strCache>
            </c:strRef>
          </c:tx>
          <c:spPr>
            <a:solidFill>
              <a:srgbClr val="2A78D6"/>
            </a:solidFill>
          </c:spPr>
          <c:cat>
            <c:strRef>
              <c:f>Sheet1!$A$2:$A$6</c:f>
              <c:strCache>
                <c:ptCount val="5"/>
                <c:pt idx="0">
                  <c:v>Static 0</c:v>
                </c:pt>
                <c:pt idx="1">
                  <c:v>Static 1</c:v>
                </c:pt>
                <c:pt idx="2">
                  <c:v>Static 3</c:v>
                </c:pt>
                <c:pt idx="3">
                  <c:v>Dynamic (paper rule)</c:v>
                </c:pt>
                <c:pt idx="4">
                  <c:v>Dynamic (ParkSure)</c:v>
                </c:pt>
              </c:strCache>
            </c:strRef>
          </c:cat>
          <c:val>
            <c:numRef>
              <c:f>Sheet1!$B$2:$B$6</c:f>
              <c:numCache>
                <c:formatCode>General</c:formatCode>
                <c:ptCount val="5"/>
                <c:pt idx="0">
                  <c:v>30.0</c:v>
                </c:pt>
                <c:pt idx="1">
                  <c:v>52.7</c:v>
                </c:pt>
                <c:pt idx="2">
                  <c:v>158.1</c:v>
                </c:pt>
                <c:pt idx="3">
                  <c:v>165.3</c:v>
                </c:pt>
                <c:pt idx="4">
                  <c:v>276.8</c:v>
                </c:pt>
              </c:numCache>
            </c:numRef>
          </c:val>
        </c:ser>
        <c:dLbls>
          <c:numFmt formatCode="0" sourceLinked="0"/>
          <c:txPr>
            <a:bodyPr/>
            <a:lstStyle/>
            <a:p>
              <a:pPr>
                <a:defRPr sz="9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CE6"/>
            </a:solidFill>
          </a:ln>
        </c:spPr>
        <c:crossAx val="-2113994440"/>
        <c:crosses val="autoZero"/>
        <c:auto val="1"/>
        <c:lblAlgn val="ctr"/>
        <c:lblOffset val="100"/>
        <c:noMultiLvlLbl val="0"/>
      </c:catAx>
      <c:valAx>
        <c:axId val="-2113994440"/>
        <c:scaling>
          <c:max val="330.0"/>
          <c:min val="0.0"/>
        </c:scaling>
        <c:delete val="0"/>
        <c:axPos val="l"/>
        <c:majorGridlines>
          <c:spPr>
            <a:ln>
              <a:solidFill>
                <a:srgbClr val="D5DCE6"/>
              </a:solidFill>
            </a:ln>
          </c:spPr>
        </c:majorGridlines>
        <c:numFmt formatCode="0" sourceLinked="0"/>
        <c:majorTickMark val="out"/>
        <c:minorTickMark val="none"/>
        <c:tickLblPos val="nextTo"/>
        <c:spPr>
          <a:ln>
            <a:noFill/>
          </a:ln>
        </c:spPr>
        <c:crossAx val="-2068027336"/>
        <c:crosses val="autoZero"/>
      </c:valAx>
    </c:plotArea>
    <c:dispBlanksAs val="gap"/>
  </c:chart>
  <c:txPr>
    <a:bodyPr/>
    <a:lstStyle/>
    <a:p>
      <a:pPr>
        <a:defRPr sz="10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review shows how ParkSure is designed and built, what is implemented, the first measured results from our own tests and simulator, and the open items. Introduce the four team members and the guide.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Agenda for the design and progress review.</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Recap of Review 1. The batch's registered base paper is the OJCS paper; the reservation buffer and star rules that ParkSure implements come from the arXiv paper. Our gap is a complete operating reservation platform that is measured honestly.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app/main.py is 440 lines and app/engine.py 141; the routes call the engine functions and keep no rules of their own.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 rule shown here is in app/engine.py and is exercised by the tests; the workflow diagram mirrors the routes.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ParkSure has no machine-learning model, so there is no training dataset. All reported results come from our own tests, a simulator that reproduces the base paper's scenario, and the synthetic seed that ships with the product.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There is no data cleaning because there is no uploaded dataset; the equivalent step is strict validation at the API boundary (app/schemas.py).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'model' of this product is rule based, which makes every decision auditable. The direction of the buffer growth differs from the paper and is reported openly.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constants in app/config.py and scripts/parking_sim.py. The simulator's unspecified parameters are listed in SIM_ASSUMPTIONS.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Alternate search costs about 0.4 ms per other location (18.6 ms over 49 locations); the admission check itself takes 0.33 ms.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Line counts are taken from the files. The API layer is thin: it validates, calls the engine and shapes the JSON.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parent_id is a plain integer, not a foreign key. Indexes exist on user, location, start and end columns used by the overlap query.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Versions are those installed in the project's virtual environment on the measuring machine.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Honest status: the core flow and the admin side are complete; two objectives are only partly met (vehicle profile, digital receipt) and the admission check is not safe under simultaneous requests.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Numbers are from experiments/buffer_population and api_latency. Population 100 is the middle case; the same ordering holds at 80, 90 and 110.</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screens are captures of the running application on a fresh seeded database; the alternate-move screen was produced by the real check-in flow.</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probes were run against a throw-away database of our own system; none is a defect of the tests.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challenge is a measured finding; the evidence is in docs/REPORT_FACTS.md.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open items are the ones identified by our own measurements and probes, in priority order.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the review and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ParkSure  ·  Review 2</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rgbClr val="1B2A4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3.xml"/><Relationship Id="rId3" Type="http://schemas.openxmlformats.org/officeDocument/2006/relationships/notesSlide" Target="../notesSlides/notesSlide1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8.png"/><Relationship Id="rId3" Type="http://schemas.openxmlformats.org/officeDocument/2006/relationships/slideLayout" Target="../slideLayouts/slideLayout3.xml"/><Relationship Id="rId4" Type="http://schemas.openxmlformats.org/officeDocument/2006/relationships/notesSlide" Target="../notesSlides/notesSlide16.xml"/><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lIns="0" tIns="0" rIns="0" bIns="0" rtlCol="0" anchor="b"/>
          <a:lstStyle/>
          <a:p>
            <a:pPr algn="l" indent="0" marL="0">
              <a:buNone/>
            </a:pPr>
            <a:r>
              <a:rPr lang="en-US" sz="3000" b="1" dirty="0">
                <a:solidFill>
                  <a:srgbClr val="FFFFFF"/>
                </a:solidFill>
                <a:latin typeface="Cambria" pitchFamily="34" charset="0"/>
                <a:ea typeface="Cambria" pitchFamily="34" charset="-122"/>
                <a:cs typeface="Cambria" pitchFamily="34" charset="-120"/>
              </a:rPr>
              <a:t>Online Vehicle Parking Reservation System</a:t>
            </a: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lIns="0" tIns="0" rIns="0" bIns="0" rtlCol="0" anchor="t"/>
          <a:lstStyle/>
          <a:p>
            <a:pPr algn="l" indent="0" marL="0">
              <a:buNone/>
            </a:pPr>
            <a:r>
              <a:rPr lang="en-US" sz="1800" dirty="0">
                <a:solidFill>
                  <a:srgbClr val="CADCFC"/>
                </a:solidFill>
                <a:latin typeface="Calibri" pitchFamily="34" charset="0"/>
                <a:ea typeface="Calibri" pitchFamily="34" charset="-122"/>
                <a:cs typeface="Calibri" pitchFamily="34" charset="-120"/>
              </a:rPr>
              <a:t>Design, methodology and progress: advance parking reservation with a hold-back buffer, nearest-alternate re-allocation and a driver Trust Score</a:t>
            </a:r>
            <a:endParaRPr lang="en-US" sz="2000" dirty="0"/>
          </a:p>
        </p:txBody>
      </p:sp>
      <p:sp>
        <p:nvSpPr>
          <p:cNvPr id="4" name="review label"/>
          <p:cNvSpPr txBox="1"/>
          <p:nvPr/>
        </p:nvSpPr>
        <p:spPr>
          <a:xfrm>
            <a:off x="548640" y="640080"/>
            <a:ext cx="7315200" cy="365760"/>
          </a:xfrm>
          <a:prstGeom prst="rect">
            <a:avLst/>
          </a:prstGeom>
          <a:noFill/>
          <a:ln/>
        </p:spPr>
        <p:txBody>
          <a:bodyPr wrap="square" lIns="0" tIns="0" rIns="0" bIns="0" rtlCol="0" anchor="ctr"/>
          <a:lstStyle/>
          <a:p>
            <a:pPr indent="0" marL="0">
              <a:buNone/>
            </a:pPr>
            <a:r>
              <a:rPr lang="en-US" sz="1400" b="1" spc="200" kern="0" dirty="0">
                <a:solidFill>
                  <a:srgbClr val="EDA100"/>
                </a:solidFill>
              </a:rPr>
              <a:t>REVIEW 2  ·  DESIGN, METHODOLOGY AND PROGRESS</a:t>
            </a:r>
            <a:endParaRPr lang="en-US" sz="1400" dirty="0"/>
          </a:p>
        </p:txBody>
      </p:sp>
      <p:sp>
        <p:nvSpPr>
          <p:cNvPr id="5" name="Text 3"/>
          <p:cNvSpPr txBox="1"/>
          <p:nvPr/>
        </p:nvSpPr>
        <p:spPr>
          <a:xfrm>
            <a:off x="548640" y="4160520"/>
            <a:ext cx="5120640" cy="320040"/>
          </a:xfrm>
          <a:prstGeom prst="rect">
            <a:avLst/>
          </a:prstGeom>
          <a:noFill/>
          <a:ln/>
        </p:spPr>
        <p:txBody>
          <a:bodyPr wrap="square" lIns="0" tIns="0" rIns="0" bIns="0" rtlCol="0" anchor="ctr"/>
          <a:lstStyle/>
          <a:p>
            <a:pPr indent="0" marL="0">
              <a:buNone/>
            </a:pPr>
            <a:r>
              <a:rPr lang="en-US" sz="1400" dirty="0">
                <a:solidFill>
                  <a:srgbClr val="CADCFC"/>
                </a:solidFill>
              </a:rPr>
              <a:t>Presented by</a:t>
            </a:r>
            <a:endParaRPr lang="en-US" sz="1400" dirty="0"/>
          </a:p>
        </p:txBody>
      </p:sp>
      <p:sp>
        <p:nvSpPr>
          <p:cNvPr id="6" name="team"/>
          <p:cNvSpPr txBox="1"/>
          <p:nvPr/>
        </p:nvSpPr>
        <p:spPr>
          <a:xfrm>
            <a:off x="548640" y="4480560"/>
            <a:ext cx="5120640" cy="1280160"/>
          </a:xfrm>
          <a:prstGeom prst="rect">
            <a:avLst/>
          </a:prstGeom>
          <a:noFill/>
          <a:ln/>
        </p:spPr>
        <p:txBody>
          <a:bodyPr wrap="square" lIns="0" tIns="0" rIns="0" bIns="0" rtlCol="0" anchor="t"/>
          <a:lstStyle/>
          <a:p>
            <a:pPr indent="0" marL="0">
              <a:buNone/>
            </a:pPr>
            <a:r>
              <a:rPr lang="en-US" sz="1500" dirty="0">
                <a:solidFill>
                  <a:srgbClr val="FFFFFF"/>
                </a:solidFill>
              </a:rPr>
              <a:t>Palle Yashaswini  23K91A05H9</a:t>
            </a:r>
            <a:endParaRPr lang="en-US" sz="1500" dirty="0"/>
          </a:p>
          <a:p>
            <a:pPr indent="0" marL="0">
              <a:buNone/>
            </a:pPr>
            <a:r>
              <a:rPr lang="en-US" sz="1500" dirty="0">
                <a:solidFill>
                  <a:srgbClr val="FFFFFF"/>
                </a:solidFill>
              </a:rPr>
              <a:t>Mohammed Muneeb Ahmed  24K95A0518</a:t>
            </a:r>
            <a:endParaRPr lang="en-US" sz="1500" dirty="0"/>
          </a:p>
          <a:p>
            <a:pPr indent="0" marL="0">
              <a:buNone/>
            </a:pPr>
            <a:r>
              <a:rPr lang="en-US" sz="1500" dirty="0">
                <a:solidFill>
                  <a:srgbClr val="FFFFFF"/>
                </a:solidFill>
              </a:rPr>
              <a:t>Kamasani Manisha  24K95A0513</a:t>
            </a:r>
            <a:endParaRPr lang="en-US" sz="1500" dirty="0"/>
          </a:p>
          <a:p>
            <a:pPr indent="0" marL="0">
              <a:buNone/>
            </a:pPr>
            <a:r>
              <a:rPr lang="en-US" sz="1500" dirty="0">
                <a:solidFill>
                  <a:srgbClr val="FFFFFF"/>
                </a:solidFill>
              </a:rPr>
              <a:t>Pothagani Nithyya Bhargava  23K91A05J6</a:t>
            </a:r>
            <a:endParaRPr lang="en-US" sz="1500" dirty="0"/>
          </a:p>
        </p:txBody>
      </p:sp>
      <p:sp>
        <p:nvSpPr>
          <p:cNvPr id="7" name="Text 5"/>
          <p:cNvSpPr txBox="1"/>
          <p:nvPr/>
        </p:nvSpPr>
        <p:spPr>
          <a:xfrm>
            <a:off x="6400800" y="4160520"/>
            <a:ext cx="5212080" cy="320040"/>
          </a:xfrm>
          <a:prstGeom prst="rect">
            <a:avLst/>
          </a:prstGeom>
          <a:noFill/>
          <a:ln/>
        </p:spPr>
        <p:txBody>
          <a:bodyPr wrap="square" lIns="0" tIns="0" rIns="0" bIns="0" rtlCol="0" anchor="ctr"/>
          <a:lstStyle/>
          <a:p>
            <a:pPr indent="0" marL="0">
              <a:buNone/>
            </a:pPr>
            <a:r>
              <a:rPr lang="en-US" sz="1400" dirty="0">
                <a:solidFill>
                  <a:srgbClr val="CADCFC"/>
                </a:solidFill>
              </a:rPr>
              <a:t>Under the guidance of</a:t>
            </a:r>
            <a:endParaRPr lang="en-US" sz="1400" dirty="0"/>
          </a:p>
        </p:txBody>
      </p:sp>
      <p:sp>
        <p:nvSpPr>
          <p:cNvPr id="8" name="Text 6"/>
          <p:cNvSpPr txBox="1"/>
          <p:nvPr/>
        </p:nvSpPr>
        <p:spPr>
          <a:xfrm>
            <a:off x="6400800" y="4480560"/>
            <a:ext cx="5212080" cy="365760"/>
          </a:xfrm>
          <a:prstGeom prst="rect">
            <a:avLst/>
          </a:prstGeom>
          <a:noFill/>
          <a:ln/>
        </p:spPr>
        <p:txBody>
          <a:bodyPr wrap="square" lIns="0" tIns="0" rIns="0" bIns="0" rtlCol="0" anchor="ctr"/>
          <a:lstStyle/>
          <a:p>
            <a:pPr indent="0" marL="0">
              <a:buNone/>
            </a:pPr>
            <a:r>
              <a:rPr lang="en-US" sz="1500" dirty="0">
                <a:solidFill>
                  <a:srgbClr val="FFFFFF"/>
                </a:solidFill>
              </a:rPr>
              <a:t>V Pallavi, [DESIGNATION]</a:t>
            </a:r>
            <a:endParaRPr lang="en-US" sz="1500" dirty="0"/>
          </a:p>
        </p:txBody>
      </p:sp>
      <p:sp>
        <p:nvSpPr>
          <p:cNvPr id="9" name="Text 7"/>
          <p:cNvSpPr txBox="1"/>
          <p:nvPr/>
        </p:nvSpPr>
        <p:spPr>
          <a:xfrm>
            <a:off x="6400800" y="4983480"/>
            <a:ext cx="5212080" cy="777240"/>
          </a:xfrm>
          <a:prstGeom prst="rect">
            <a:avLst/>
          </a:prstGeom>
          <a:noFill/>
          <a:ln/>
        </p:spPr>
        <p:txBody>
          <a:bodyPr wrap="square" lIns="0" tIns="0" rIns="0" bIns="0" rtlCol="0" anchor="t"/>
          <a:lstStyle/>
          <a:p>
            <a:pPr indent="0" marL="0">
              <a:buNone/>
            </a:pPr>
            <a:r>
              <a:rPr lang="en-US" sz="1300" dirty="0">
                <a:solidFill>
                  <a:srgbClr val="CADCFC"/>
                </a:solidFill>
              </a:rPr>
              <a:t>Department of Computer Science and Engineering</a:t>
            </a:r>
            <a:endParaRPr lang="en-US" sz="1300" dirty="0"/>
          </a:p>
          <a:p>
            <a:pPr indent="0" marL="0">
              <a:buNone/>
            </a:pPr>
            <a:r>
              <a:rPr lang="en-US" sz="1300" dirty="0">
                <a:solidFill>
                  <a:srgbClr val="CADCFC"/>
                </a:solidFill>
              </a:rPr>
              <a:t>TKR College of Engineering &amp; Technology  ·  Batch C3 (CSE-C)  ·  [ACADEMIC YEAR]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Contents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
        <p:nvSpPr>
          <p:cNvPr id="26" name="Rounded Rectangle 25"/>
          <p:cNvSpPr/>
          <p:nvPr/>
        </p:nvSpPr>
        <p:spPr>
          <a:xfrm>
            <a:off x="548640" y="1417320"/>
            <a:ext cx="2574036"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77240" y="15453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01</a:t>
            </a:r>
          </a:p>
        </p:txBody>
      </p:sp>
      <p:sp>
        <p:nvSpPr>
          <p:cNvPr id="28" name="TextBox 27"/>
          <p:cNvSpPr txBox="1"/>
          <p:nvPr/>
        </p:nvSpPr>
        <p:spPr>
          <a:xfrm>
            <a:off x="777240" y="2075688"/>
            <a:ext cx="2116836" cy="594360"/>
          </a:xfrm>
          <a:prstGeom prst="rect">
            <a:avLst/>
          </a:prstGeom>
          <a:noFill/>
        </p:spPr>
        <p:txBody>
          <a:bodyPr wrap="square" lIns="0" rIns="0" tIns="0" bIns="0" anchor="t">
            <a:spAutoFit/>
          </a:bodyPr>
          <a:lstStyle/>
          <a:p>
            <a:pPr algn="l">
              <a:spcAft>
                <a:spcPts val="400"/>
              </a:spcAft>
            </a:pPr>
            <a:r>
              <a:rPr sz="1600" b="1" i="0">
                <a:solidFill>
                  <a:srgbClr val="0F172A"/>
                </a:solidFill>
              </a:rPr>
              <a:t>Recap and architecture</a:t>
            </a:r>
          </a:p>
        </p:txBody>
      </p:sp>
      <p:sp>
        <p:nvSpPr>
          <p:cNvPr id="29" name="Rounded Rectangle 28"/>
          <p:cNvSpPr/>
          <p:nvPr/>
        </p:nvSpPr>
        <p:spPr>
          <a:xfrm>
            <a:off x="3387852" y="1417320"/>
            <a:ext cx="2574036"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3616452" y="15453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02</a:t>
            </a:r>
          </a:p>
        </p:txBody>
      </p:sp>
      <p:sp>
        <p:nvSpPr>
          <p:cNvPr id="31" name="TextBox 30"/>
          <p:cNvSpPr txBox="1"/>
          <p:nvPr/>
        </p:nvSpPr>
        <p:spPr>
          <a:xfrm>
            <a:off x="3616452" y="2075688"/>
            <a:ext cx="2116836" cy="594360"/>
          </a:xfrm>
          <a:prstGeom prst="rect">
            <a:avLst/>
          </a:prstGeom>
          <a:noFill/>
        </p:spPr>
        <p:txBody>
          <a:bodyPr wrap="square" lIns="0" rIns="0" tIns="0" bIns="0" anchor="t">
            <a:spAutoFit/>
          </a:bodyPr>
          <a:lstStyle/>
          <a:p>
            <a:pPr algn="l">
              <a:spcAft>
                <a:spcPts val="400"/>
              </a:spcAft>
            </a:pPr>
            <a:r>
              <a:rPr sz="1600" b="1" i="0">
                <a:solidFill>
                  <a:srgbClr val="0F172A"/>
                </a:solidFill>
              </a:rPr>
              <a:t>Methodology and data</a:t>
            </a:r>
          </a:p>
        </p:txBody>
      </p:sp>
      <p:sp>
        <p:nvSpPr>
          <p:cNvPr id="32" name="Rounded Rectangle 31"/>
          <p:cNvSpPr/>
          <p:nvPr/>
        </p:nvSpPr>
        <p:spPr>
          <a:xfrm>
            <a:off x="6227064" y="1417320"/>
            <a:ext cx="2574036"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455664" y="15453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03</a:t>
            </a:r>
          </a:p>
        </p:txBody>
      </p:sp>
      <p:sp>
        <p:nvSpPr>
          <p:cNvPr id="34" name="TextBox 33"/>
          <p:cNvSpPr txBox="1"/>
          <p:nvPr/>
        </p:nvSpPr>
        <p:spPr>
          <a:xfrm>
            <a:off x="6455664" y="2075688"/>
            <a:ext cx="2116836" cy="594360"/>
          </a:xfrm>
          <a:prstGeom prst="rect">
            <a:avLst/>
          </a:prstGeom>
          <a:noFill/>
        </p:spPr>
        <p:txBody>
          <a:bodyPr wrap="square" lIns="0" rIns="0" tIns="0" bIns="0" anchor="t">
            <a:spAutoFit/>
          </a:bodyPr>
          <a:lstStyle/>
          <a:p>
            <a:pPr algn="l">
              <a:spcAft>
                <a:spcPts val="400"/>
              </a:spcAft>
            </a:pPr>
            <a:r>
              <a:rPr sz="1600" b="1" i="0">
                <a:solidFill>
                  <a:srgbClr val="0F172A"/>
                </a:solidFill>
              </a:rPr>
              <a:t>Input handling and engine rules</a:t>
            </a:r>
          </a:p>
        </p:txBody>
      </p:sp>
      <p:sp>
        <p:nvSpPr>
          <p:cNvPr id="35" name="Rounded Rectangle 34"/>
          <p:cNvSpPr/>
          <p:nvPr/>
        </p:nvSpPr>
        <p:spPr>
          <a:xfrm>
            <a:off x="9066276" y="1417320"/>
            <a:ext cx="2574036"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294876" y="15453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04</a:t>
            </a:r>
          </a:p>
        </p:txBody>
      </p:sp>
      <p:sp>
        <p:nvSpPr>
          <p:cNvPr id="37" name="TextBox 36"/>
          <p:cNvSpPr txBox="1"/>
          <p:nvPr/>
        </p:nvSpPr>
        <p:spPr>
          <a:xfrm>
            <a:off x="9294876" y="2075688"/>
            <a:ext cx="2116836" cy="594360"/>
          </a:xfrm>
          <a:prstGeom prst="rect">
            <a:avLst/>
          </a:prstGeom>
          <a:noFill/>
        </p:spPr>
        <p:txBody>
          <a:bodyPr wrap="square" lIns="0" rIns="0" tIns="0" bIns="0" anchor="t">
            <a:spAutoFit/>
          </a:bodyPr>
          <a:lstStyle/>
          <a:p>
            <a:pPr algn="l">
              <a:spcAft>
                <a:spcPts val="400"/>
              </a:spcAft>
            </a:pPr>
            <a:r>
              <a:rPr sz="1600" b="1" i="0">
                <a:solidFill>
                  <a:srgbClr val="0F172A"/>
                </a:solidFill>
              </a:rPr>
              <a:t>Configuration and decision logic</a:t>
            </a:r>
          </a:p>
        </p:txBody>
      </p:sp>
      <p:sp>
        <p:nvSpPr>
          <p:cNvPr id="38" name="Rounded Rectangle 37"/>
          <p:cNvSpPr/>
          <p:nvPr/>
        </p:nvSpPr>
        <p:spPr>
          <a:xfrm>
            <a:off x="548640" y="3017520"/>
            <a:ext cx="2574036"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777240" y="31455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05</a:t>
            </a:r>
          </a:p>
        </p:txBody>
      </p:sp>
      <p:sp>
        <p:nvSpPr>
          <p:cNvPr id="40" name="TextBox 39"/>
          <p:cNvSpPr txBox="1"/>
          <p:nvPr/>
        </p:nvSpPr>
        <p:spPr>
          <a:xfrm>
            <a:off x="777240" y="3675887"/>
            <a:ext cx="2116836" cy="594360"/>
          </a:xfrm>
          <a:prstGeom prst="rect">
            <a:avLst/>
          </a:prstGeom>
          <a:noFill/>
        </p:spPr>
        <p:txBody>
          <a:bodyPr wrap="square" lIns="0" rIns="0" tIns="0" bIns="0" anchor="t">
            <a:spAutoFit/>
          </a:bodyPr>
          <a:lstStyle/>
          <a:p>
            <a:pPr algn="l">
              <a:spcAft>
                <a:spcPts val="400"/>
              </a:spcAft>
            </a:pPr>
            <a:r>
              <a:rPr sz="1600" b="1" i="0">
                <a:solidFill>
                  <a:srgbClr val="0F172A"/>
                </a:solidFill>
              </a:rPr>
              <a:t>Data flow, modules, UML</a:t>
            </a:r>
          </a:p>
        </p:txBody>
      </p:sp>
      <p:sp>
        <p:nvSpPr>
          <p:cNvPr id="41" name="Rounded Rectangle 40"/>
          <p:cNvSpPr/>
          <p:nvPr/>
        </p:nvSpPr>
        <p:spPr>
          <a:xfrm>
            <a:off x="3387852" y="3017520"/>
            <a:ext cx="2574036"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3616452" y="31455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06</a:t>
            </a:r>
          </a:p>
        </p:txBody>
      </p:sp>
      <p:sp>
        <p:nvSpPr>
          <p:cNvPr id="43" name="TextBox 42"/>
          <p:cNvSpPr txBox="1"/>
          <p:nvPr/>
        </p:nvSpPr>
        <p:spPr>
          <a:xfrm>
            <a:off x="3616452" y="3675887"/>
            <a:ext cx="2116836" cy="594360"/>
          </a:xfrm>
          <a:prstGeom prst="rect">
            <a:avLst/>
          </a:prstGeom>
          <a:noFill/>
        </p:spPr>
        <p:txBody>
          <a:bodyPr wrap="square" lIns="0" rIns="0" tIns="0" bIns="0" anchor="t">
            <a:spAutoFit/>
          </a:bodyPr>
          <a:lstStyle/>
          <a:p>
            <a:pPr algn="l">
              <a:spcAft>
                <a:spcPts val="400"/>
              </a:spcAft>
            </a:pPr>
            <a:r>
              <a:rPr sz="1600" b="1" i="0">
                <a:solidFill>
                  <a:srgbClr val="0F172A"/>
                </a:solidFill>
              </a:rPr>
              <a:t>Technology stack</a:t>
            </a:r>
          </a:p>
        </p:txBody>
      </p:sp>
      <p:sp>
        <p:nvSpPr>
          <p:cNvPr id="44" name="Rounded Rectangle 43"/>
          <p:cNvSpPr/>
          <p:nvPr/>
        </p:nvSpPr>
        <p:spPr>
          <a:xfrm>
            <a:off x="6227064" y="3017520"/>
            <a:ext cx="2574036"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455664" y="31455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07</a:t>
            </a:r>
          </a:p>
        </p:txBody>
      </p:sp>
      <p:sp>
        <p:nvSpPr>
          <p:cNvPr id="46" name="TextBox 45"/>
          <p:cNvSpPr txBox="1"/>
          <p:nvPr/>
        </p:nvSpPr>
        <p:spPr>
          <a:xfrm>
            <a:off x="6455664" y="3675887"/>
            <a:ext cx="2116836" cy="594360"/>
          </a:xfrm>
          <a:prstGeom prst="rect">
            <a:avLst/>
          </a:prstGeom>
          <a:noFill/>
        </p:spPr>
        <p:txBody>
          <a:bodyPr wrap="square" lIns="0" rIns="0" tIns="0" bIns="0" anchor="t">
            <a:spAutoFit/>
          </a:bodyPr>
          <a:lstStyle/>
          <a:p>
            <a:pPr algn="l">
              <a:spcAft>
                <a:spcPts val="400"/>
              </a:spcAft>
            </a:pPr>
            <a:r>
              <a:rPr sz="1600" b="1" i="0">
                <a:solidFill>
                  <a:srgbClr val="0F172A"/>
                </a:solidFill>
              </a:rPr>
              <a:t>Implementation progress</a:t>
            </a:r>
          </a:p>
        </p:txBody>
      </p:sp>
      <p:sp>
        <p:nvSpPr>
          <p:cNvPr id="47" name="Rounded Rectangle 46"/>
          <p:cNvSpPr/>
          <p:nvPr/>
        </p:nvSpPr>
        <p:spPr>
          <a:xfrm>
            <a:off x="9066276" y="3017520"/>
            <a:ext cx="2574036"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9294876" y="31455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08</a:t>
            </a:r>
          </a:p>
        </p:txBody>
      </p:sp>
      <p:sp>
        <p:nvSpPr>
          <p:cNvPr id="49" name="TextBox 48"/>
          <p:cNvSpPr txBox="1"/>
          <p:nvPr/>
        </p:nvSpPr>
        <p:spPr>
          <a:xfrm>
            <a:off x="9294876" y="3675887"/>
            <a:ext cx="2116836" cy="594360"/>
          </a:xfrm>
          <a:prstGeom prst="rect">
            <a:avLst/>
          </a:prstGeom>
          <a:noFill/>
        </p:spPr>
        <p:txBody>
          <a:bodyPr wrap="square" lIns="0" rIns="0" tIns="0" bIns="0" anchor="t">
            <a:spAutoFit/>
          </a:bodyPr>
          <a:lstStyle/>
          <a:p>
            <a:pPr algn="l">
              <a:spcAft>
                <a:spcPts val="400"/>
              </a:spcAft>
            </a:pPr>
            <a:r>
              <a:rPr sz="1600" b="1" i="0">
                <a:solidFill>
                  <a:srgbClr val="0F172A"/>
                </a:solidFill>
              </a:rPr>
              <a:t>Preliminary results</a:t>
            </a:r>
          </a:p>
        </p:txBody>
      </p:sp>
      <p:sp>
        <p:nvSpPr>
          <p:cNvPr id="50" name="Rounded Rectangle 49"/>
          <p:cNvSpPr/>
          <p:nvPr/>
        </p:nvSpPr>
        <p:spPr>
          <a:xfrm>
            <a:off x="548640" y="4617720"/>
            <a:ext cx="2574036"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777240" y="47457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09</a:t>
            </a:r>
          </a:p>
        </p:txBody>
      </p:sp>
      <p:sp>
        <p:nvSpPr>
          <p:cNvPr id="52" name="TextBox 51"/>
          <p:cNvSpPr txBox="1"/>
          <p:nvPr/>
        </p:nvSpPr>
        <p:spPr>
          <a:xfrm>
            <a:off x="777240" y="5276088"/>
            <a:ext cx="2116836" cy="594360"/>
          </a:xfrm>
          <a:prstGeom prst="rect">
            <a:avLst/>
          </a:prstGeom>
          <a:noFill/>
        </p:spPr>
        <p:txBody>
          <a:bodyPr wrap="square" lIns="0" rIns="0" tIns="0" bIns="0" anchor="t">
            <a:spAutoFit/>
          </a:bodyPr>
          <a:lstStyle/>
          <a:p>
            <a:pPr algn="l">
              <a:spcAft>
                <a:spcPts val="400"/>
              </a:spcAft>
            </a:pPr>
            <a:r>
              <a:rPr sz="1600" b="1" i="0">
                <a:solidFill>
                  <a:srgbClr val="0F172A"/>
                </a:solidFill>
              </a:rPr>
              <a:t>Output screens</a:t>
            </a:r>
          </a:p>
        </p:txBody>
      </p:sp>
      <p:sp>
        <p:nvSpPr>
          <p:cNvPr id="53" name="Rounded Rectangle 52"/>
          <p:cNvSpPr/>
          <p:nvPr/>
        </p:nvSpPr>
        <p:spPr>
          <a:xfrm>
            <a:off x="3387852" y="4617720"/>
            <a:ext cx="2574036"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3616452" y="47457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10</a:t>
            </a:r>
          </a:p>
        </p:txBody>
      </p:sp>
      <p:sp>
        <p:nvSpPr>
          <p:cNvPr id="55" name="TextBox 54"/>
          <p:cNvSpPr txBox="1"/>
          <p:nvPr/>
        </p:nvSpPr>
        <p:spPr>
          <a:xfrm>
            <a:off x="3616452" y="5276088"/>
            <a:ext cx="2116836" cy="594360"/>
          </a:xfrm>
          <a:prstGeom prst="rect">
            <a:avLst/>
          </a:prstGeom>
          <a:noFill/>
        </p:spPr>
        <p:txBody>
          <a:bodyPr wrap="square" lIns="0" rIns="0" tIns="0" bIns="0" anchor="t">
            <a:spAutoFit/>
          </a:bodyPr>
          <a:lstStyle/>
          <a:p>
            <a:pPr algn="l">
              <a:spcAft>
                <a:spcPts val="400"/>
              </a:spcAft>
            </a:pPr>
            <a:r>
              <a:rPr sz="1600" b="1" i="0">
                <a:solidFill>
                  <a:srgbClr val="0F172A"/>
                </a:solidFill>
              </a:rPr>
              <a:t>Testing</a:t>
            </a:r>
          </a:p>
        </p:txBody>
      </p:sp>
      <p:sp>
        <p:nvSpPr>
          <p:cNvPr id="56" name="Rounded Rectangle 55"/>
          <p:cNvSpPr/>
          <p:nvPr/>
        </p:nvSpPr>
        <p:spPr>
          <a:xfrm>
            <a:off x="6227064" y="4617720"/>
            <a:ext cx="2574036"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6455664" y="47457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11</a:t>
            </a:r>
          </a:p>
        </p:txBody>
      </p:sp>
      <p:sp>
        <p:nvSpPr>
          <p:cNvPr id="58" name="TextBox 57"/>
          <p:cNvSpPr txBox="1"/>
          <p:nvPr/>
        </p:nvSpPr>
        <p:spPr>
          <a:xfrm>
            <a:off x="6455664" y="5276088"/>
            <a:ext cx="2116836" cy="594360"/>
          </a:xfrm>
          <a:prstGeom prst="rect">
            <a:avLst/>
          </a:prstGeom>
          <a:noFill/>
        </p:spPr>
        <p:txBody>
          <a:bodyPr wrap="square" lIns="0" rIns="0" tIns="0" bIns="0" anchor="t">
            <a:spAutoFit/>
          </a:bodyPr>
          <a:lstStyle/>
          <a:p>
            <a:pPr algn="l">
              <a:spcAft>
                <a:spcPts val="400"/>
              </a:spcAft>
            </a:pPr>
            <a:r>
              <a:rPr sz="1600" b="1" i="0">
                <a:solidFill>
                  <a:srgbClr val="0F172A"/>
                </a:solidFill>
              </a:rPr>
              <a:t>Challenges</a:t>
            </a:r>
          </a:p>
        </p:txBody>
      </p:sp>
      <p:sp>
        <p:nvSpPr>
          <p:cNvPr id="59" name="Rounded Rectangle 58"/>
          <p:cNvSpPr/>
          <p:nvPr/>
        </p:nvSpPr>
        <p:spPr>
          <a:xfrm>
            <a:off x="9066276" y="4617720"/>
            <a:ext cx="2574036"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9294876" y="47457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12</a:t>
            </a:r>
          </a:p>
        </p:txBody>
      </p:sp>
      <p:sp>
        <p:nvSpPr>
          <p:cNvPr id="61" name="TextBox 60"/>
          <p:cNvSpPr txBox="1"/>
          <p:nvPr/>
        </p:nvSpPr>
        <p:spPr>
          <a:xfrm>
            <a:off x="9294876" y="5276088"/>
            <a:ext cx="2116836" cy="594360"/>
          </a:xfrm>
          <a:prstGeom prst="rect">
            <a:avLst/>
          </a:prstGeom>
          <a:noFill/>
        </p:spPr>
        <p:txBody>
          <a:bodyPr wrap="square" lIns="0" rIns="0" tIns="0" bIns="0" anchor="t">
            <a:spAutoFit/>
          </a:bodyPr>
          <a:lstStyle/>
          <a:p>
            <a:pPr algn="l">
              <a:spcAft>
                <a:spcPts val="400"/>
              </a:spcAft>
            </a:pPr>
            <a:r>
              <a:rPr sz="1600" b="1" i="0">
                <a:solidFill>
                  <a:srgbClr val="0F172A"/>
                </a:solidFill>
              </a:rPr>
              <a:t>Next steps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Recap: problem and proposed system</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
        <p:nvSpPr>
          <p:cNvPr id="26" name="Rounded Rectangle 25"/>
          <p:cNvSpPr/>
          <p:nvPr/>
        </p:nvSpPr>
        <p:spPr>
          <a:xfrm>
            <a:off x="548640" y="1463040"/>
            <a:ext cx="3520440" cy="38404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64592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28" name="TextBox 27"/>
          <p:cNvSpPr txBox="1"/>
          <p:nvPr/>
        </p:nvSpPr>
        <p:spPr>
          <a:xfrm>
            <a:off x="1389888" y="161848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Problem</a:t>
            </a:r>
          </a:p>
        </p:txBody>
      </p:sp>
      <p:sp>
        <p:nvSpPr>
          <p:cNvPr id="29" name="TextBox 28"/>
          <p:cNvSpPr txBox="1"/>
          <p:nvPr/>
        </p:nvSpPr>
        <p:spPr>
          <a:xfrm>
            <a:off x="749808" y="2331720"/>
            <a:ext cx="3118104" cy="2834640"/>
          </a:xfrm>
          <a:prstGeom prst="rect">
            <a:avLst/>
          </a:prstGeom>
          <a:noFill/>
        </p:spPr>
        <p:txBody>
          <a:bodyPr wrap="square" lIns="0" rIns="0" tIns="0" bIns="0" anchor="t">
            <a:spAutoFit/>
          </a:bodyPr>
          <a:lstStyle/>
          <a:p>
            <a:pPr algn="l">
              <a:spcAft>
                <a:spcPts val="400"/>
              </a:spcAft>
            </a:pPr>
            <a:r>
              <a:rPr sz="1550" b="0" i="0">
                <a:solidFill>
                  <a:srgbClr val="475569"/>
                </a:solidFill>
              </a:rPr>
              <a:t>Drivers circle for parking, operators keep manual registers with no live view, an arrival gives no guarantee of a bay, and cash collection leaves no usable record. Reservation systems add a new failure: the booked bay is still occupied by a vehicle that overstayed.</a:t>
            </a:r>
          </a:p>
        </p:txBody>
      </p:sp>
      <p:sp>
        <p:nvSpPr>
          <p:cNvPr id="30" name="Rounded Rectangle 29"/>
          <p:cNvSpPr/>
          <p:nvPr/>
        </p:nvSpPr>
        <p:spPr>
          <a:xfrm>
            <a:off x="4334255" y="1463040"/>
            <a:ext cx="3520440" cy="38404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64592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i</a:t>
            </a:r>
          </a:p>
        </p:txBody>
      </p:sp>
      <p:sp>
        <p:nvSpPr>
          <p:cNvPr id="32" name="TextBox 31"/>
          <p:cNvSpPr txBox="1"/>
          <p:nvPr/>
        </p:nvSpPr>
        <p:spPr>
          <a:xfrm>
            <a:off x="5175503" y="161848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Proposed system</a:t>
            </a:r>
          </a:p>
        </p:txBody>
      </p:sp>
      <p:sp>
        <p:nvSpPr>
          <p:cNvPr id="33" name="TextBox 32"/>
          <p:cNvSpPr txBox="1"/>
          <p:nvPr/>
        </p:nvSpPr>
        <p:spPr>
          <a:xfrm>
            <a:off x="4535423" y="2331720"/>
            <a:ext cx="3118104" cy="2834640"/>
          </a:xfrm>
          <a:prstGeom prst="rect">
            <a:avLst/>
          </a:prstGeom>
          <a:noFill/>
        </p:spPr>
        <p:txBody>
          <a:bodyPr wrap="square" lIns="0" rIns="0" tIns="0" bIns="0" anchor="t">
            <a:spAutoFit/>
          </a:bodyPr>
          <a:lstStyle/>
          <a:p>
            <a:pPr algn="l">
              <a:spcAft>
                <a:spcPts val="400"/>
              </a:spcAft>
            </a:pPr>
            <a:r>
              <a:rPr sz="1550" b="0" i="0">
                <a:solidFill>
                  <a:srgbClr val="475569"/>
                </a:solidFill>
              </a:rPr>
              <a:t>ParkSure lets drivers search live availability, reserve in advance, pay online and check in and out. An availability engine keeps a hold-back buffer, moves a driver to the nearest alternate when the lot is full on arrival, and prices by a driver Trust Score.</a:t>
            </a:r>
          </a:p>
        </p:txBody>
      </p:sp>
      <p:sp>
        <p:nvSpPr>
          <p:cNvPr id="34" name="Rounded Rectangle 33"/>
          <p:cNvSpPr/>
          <p:nvPr/>
        </p:nvSpPr>
        <p:spPr>
          <a:xfrm>
            <a:off x="8119871" y="1463040"/>
            <a:ext cx="3520440" cy="38404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64592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B</a:t>
            </a:r>
          </a:p>
        </p:txBody>
      </p:sp>
      <p:sp>
        <p:nvSpPr>
          <p:cNvPr id="36" name="TextBox 35"/>
          <p:cNvSpPr txBox="1"/>
          <p:nvPr/>
        </p:nvSpPr>
        <p:spPr>
          <a:xfrm>
            <a:off x="8961119" y="161848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Base papers</a:t>
            </a:r>
          </a:p>
        </p:txBody>
      </p:sp>
      <p:sp>
        <p:nvSpPr>
          <p:cNvPr id="37" name="TextBox 36"/>
          <p:cNvSpPr txBox="1"/>
          <p:nvPr/>
        </p:nvSpPr>
        <p:spPr>
          <a:xfrm>
            <a:off x="8321040" y="2331720"/>
            <a:ext cx="3118104" cy="2834640"/>
          </a:xfrm>
          <a:prstGeom prst="rect">
            <a:avLst/>
          </a:prstGeom>
          <a:noFill/>
        </p:spPr>
        <p:txBody>
          <a:bodyPr wrap="square" lIns="0" rIns="0" tIns="0" bIns="0" anchor="t">
            <a:spAutoFit/>
          </a:bodyPr>
          <a:lstStyle/>
          <a:p>
            <a:pPr algn="l">
              <a:spcAft>
                <a:spcPts val="400"/>
              </a:spcAft>
            </a:pPr>
            <a:r>
              <a:rPr sz="1550" b="0" i="0">
                <a:solidFill>
                  <a:srgbClr val="475569"/>
                </a:solidFill>
              </a:rPr>
              <a:t>[1] Jemmali et al. (IEEE OJCS 2026) balance load across zones by passenger count. [2] Cabri et al. (arXiv 2026) propose a buffer of non-reservable bays and a star reputation, tested in simulation. ParkSure implements the ideas of [2] as a working web platform; the settings differ, so only relative findings are comparable.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System architecture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pic>
        <p:nvPicPr>
          <p:cNvPr id="26" name="Picture 25" descr="c3_r2_01.png"/>
          <p:cNvPicPr>
            <a:picLocks noChangeAspect="1"/>
          </p:cNvPicPr>
          <p:nvPr/>
        </p:nvPicPr>
        <p:blipFill>
          <a:blip r:embed="rId1"/>
          <a:stretch>
            <a:fillRect/>
          </a:stretch>
        </p:blipFill>
        <p:spPr>
          <a:xfrm>
            <a:off x="548640" y="1577311"/>
            <a:ext cx="6675120" cy="4434896"/>
          </a:xfrm>
          <a:prstGeom prst="rect">
            <a:avLst/>
          </a:prstGeom>
        </p:spPr>
      </p:pic>
      <p:sp>
        <p:nvSpPr>
          <p:cNvPr id="27" name="TextBox 26"/>
          <p:cNvSpPr txBox="1"/>
          <p:nvPr/>
        </p:nvSpPr>
        <p:spPr>
          <a:xfrm>
            <a:off x="7452360" y="1325880"/>
            <a:ext cx="4206240" cy="4937760"/>
          </a:xfrm>
          <a:prstGeom prst="rect">
            <a:avLst/>
          </a:prstGeom>
          <a:noFill/>
        </p:spPr>
        <p:txBody>
          <a:bodyPr wrap="square" lIns="0" rIns="0" tIns="0" bIns="0" anchor="t">
            <a:spAutoFit/>
          </a:bodyPr>
          <a:lstStyle/>
          <a:p>
            <a:pPr algn="l">
              <a:spcAft>
                <a:spcPts val="800"/>
              </a:spcAft>
            </a:pPr>
            <a:r>
              <a:rPr sz="1400" b="1" i="0">
                <a:solidFill>
                  <a:srgbClr val="0F172A"/>
                </a:solidFill>
              </a:rPr>
              <a:t>Layered, one database file</a:t>
            </a:r>
          </a:p>
          <a:p>
            <a:pPr algn="l" marL="256032" indent="-201168">
              <a:spcAft>
                <a:spcPts val="400"/>
              </a:spcAft>
              <a:buChar char="•"/>
            </a:pPr>
            <a:r>
              <a:rPr sz="1400" b="0" i="0">
                <a:solidFill>
                  <a:srgbClr val="0F172A"/>
                </a:solidFill>
              </a:rPr>
              <a:t>Console: React 19 + Vite on port 5403: landing, login, three driver screens and five admin screens; /api is proxied to the backend.</a:t>
            </a:r>
          </a:p>
          <a:p>
            <a:pPr algn="l" marL="256032" indent="-201168">
              <a:spcAft>
                <a:spcPts val="400"/>
              </a:spcAft>
              <a:buChar char="•"/>
            </a:pPr>
            <a:r>
              <a:rPr sz="1400" b="0" i="0">
                <a:solidFill>
                  <a:srgbClr val="0F172A"/>
                </a:solidFill>
              </a:rPr>
              <a:t>API: FastAPI on port 8403, 22 routes in app/main.py with JWT roles driver and admin.</a:t>
            </a:r>
          </a:p>
          <a:p>
            <a:pPr algn="l" marL="256032" indent="-201168">
              <a:spcAft>
                <a:spcPts val="400"/>
              </a:spcAft>
              <a:buChar char="•"/>
            </a:pPr>
            <a:r>
              <a:rPr sz="1400" b="0" i="0">
                <a:solidFill>
                  <a:srgbClr val="0F172A"/>
                </a:solidFill>
              </a:rPr>
              <a:t>Engine: app/engine.py owns admission, buffer, haversine alternate, Trust Score and fees.</a:t>
            </a:r>
          </a:p>
          <a:p>
            <a:pPr algn="l" marL="256032" indent="-201168">
              <a:spcAft>
                <a:spcPts val="400"/>
              </a:spcAft>
              <a:buChar char="•"/>
            </a:pPr>
            <a:r>
              <a:rPr sz="1400" b="0" i="0">
                <a:solidFill>
                  <a:srgbClr val="0F172A"/>
                </a:solidFill>
              </a:rPr>
              <a:t>Storage: SQLAlchemy over SQLite (parksure.db, 5 tables); APScheduler resets buffers every 30 minutes; Stripe Checkout in test mode with a demo fallback.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Methodology: search, reserve, pay, arrive, depart</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pic>
        <p:nvPicPr>
          <p:cNvPr id="26" name="Picture 25" descr="c3_r2_02.png"/>
          <p:cNvPicPr>
            <a:picLocks noChangeAspect="1"/>
          </p:cNvPicPr>
          <p:nvPr/>
        </p:nvPicPr>
        <p:blipFill>
          <a:blip r:embed="rId3"/>
          <a:stretch>
            <a:fillRect/>
          </a:stretch>
        </p:blipFill>
        <p:spPr>
          <a:xfrm>
            <a:off x="548640" y="1609843"/>
            <a:ext cx="6858000" cy="3912632"/>
          </a:xfrm>
          <a:prstGeom prst="rect">
            <a:avLst/>
          </a:prstGeom>
        </p:spPr>
      </p:pic>
      <p:sp>
        <p:nvSpPr>
          <p:cNvPr id="27" name="Rounded Rectangle 26"/>
          <p:cNvSpPr/>
          <p:nvPr/>
        </p:nvSpPr>
        <p:spPr>
          <a:xfrm>
            <a:off x="7635240" y="1280160"/>
            <a:ext cx="4005072" cy="15087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772400" y="1344168"/>
            <a:ext cx="3749039" cy="365760"/>
          </a:xfrm>
          <a:prstGeom prst="rect">
            <a:avLst/>
          </a:prstGeom>
          <a:noFill/>
        </p:spPr>
        <p:txBody>
          <a:bodyPr wrap="square" lIns="0" rIns="0" tIns="0" bIns="0" anchor="t">
            <a:spAutoFit/>
          </a:bodyPr>
          <a:lstStyle/>
          <a:p>
            <a:pPr algn="l">
              <a:spcAft>
                <a:spcPts val="400"/>
              </a:spcAft>
            </a:pPr>
            <a:r>
              <a:rPr sz="1500" b="1" i="0">
                <a:solidFill>
                  <a:srgbClr val="0F172A"/>
                </a:solidFill>
              </a:rPr>
              <a:t>Admit</a:t>
            </a:r>
          </a:p>
        </p:txBody>
      </p:sp>
      <p:sp>
        <p:nvSpPr>
          <p:cNvPr id="29" name="TextBox 28"/>
          <p:cNvSpPr txBox="1"/>
          <p:nvPr/>
        </p:nvSpPr>
        <p:spPr>
          <a:xfrm>
            <a:off x="7772400" y="1664207"/>
            <a:ext cx="3749039" cy="1097280"/>
          </a:xfrm>
          <a:prstGeom prst="rect">
            <a:avLst/>
          </a:prstGeom>
          <a:noFill/>
        </p:spPr>
        <p:txBody>
          <a:bodyPr wrap="square" lIns="0" rIns="0" tIns="0" bIns="0" anchor="t">
            <a:spAutoFit/>
          </a:bodyPr>
          <a:lstStyle/>
          <a:p>
            <a:pPr algn="l">
              <a:spcAft>
                <a:spcPts val="400"/>
              </a:spcAft>
            </a:pPr>
            <a:r>
              <a:rPr sz="1250" b="0" i="0">
                <a:solidFill>
                  <a:srgbClr val="475569"/>
                </a:solidFill>
              </a:rPr>
              <a:t>A request is accepted only if overlapping bookings plus the buffer stay below capacity; otherwise it is declined with a reason.</a:t>
            </a:r>
          </a:p>
        </p:txBody>
      </p:sp>
      <p:sp>
        <p:nvSpPr>
          <p:cNvPr id="30" name="Rounded Rectangle 29"/>
          <p:cNvSpPr/>
          <p:nvPr/>
        </p:nvSpPr>
        <p:spPr>
          <a:xfrm>
            <a:off x="7635240" y="2907791"/>
            <a:ext cx="4005072" cy="15087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772400" y="2971799"/>
            <a:ext cx="3749039" cy="365760"/>
          </a:xfrm>
          <a:prstGeom prst="rect">
            <a:avLst/>
          </a:prstGeom>
          <a:noFill/>
        </p:spPr>
        <p:txBody>
          <a:bodyPr wrap="square" lIns="0" rIns="0" tIns="0" bIns="0" anchor="t">
            <a:spAutoFit/>
          </a:bodyPr>
          <a:lstStyle/>
          <a:p>
            <a:pPr algn="l">
              <a:spcAft>
                <a:spcPts val="400"/>
              </a:spcAft>
            </a:pPr>
            <a:r>
              <a:rPr sz="1500" b="1" i="0">
                <a:solidFill>
                  <a:srgbClr val="0F172A"/>
                </a:solidFill>
              </a:rPr>
              <a:t>Arrive</a:t>
            </a:r>
          </a:p>
        </p:txBody>
      </p:sp>
      <p:sp>
        <p:nvSpPr>
          <p:cNvPr id="32" name="TextBox 31"/>
          <p:cNvSpPr txBox="1"/>
          <p:nvPr/>
        </p:nvSpPr>
        <p:spPr>
          <a:xfrm>
            <a:off x="7772400" y="3291839"/>
            <a:ext cx="3749039" cy="1097280"/>
          </a:xfrm>
          <a:prstGeom prst="rect">
            <a:avLst/>
          </a:prstGeom>
          <a:noFill/>
        </p:spPr>
        <p:txBody>
          <a:bodyPr wrap="square" lIns="0" rIns="0" tIns="0" bIns="0" anchor="t">
            <a:spAutoFit/>
          </a:bodyPr>
          <a:lstStyle/>
          <a:p>
            <a:pPr algn="l">
              <a:spcAft>
                <a:spcPts val="400"/>
              </a:spcAft>
            </a:pPr>
            <a:r>
              <a:rPr sz="1250" b="0" i="0">
                <a:solidFill>
                  <a:srgbClr val="475569"/>
                </a:solidFill>
              </a:rPr>
              <a:t>At check-in a full lot moves the driver to exactly one nearest alternate by haversine distance, or the booking fails and the fee is credited.</a:t>
            </a:r>
          </a:p>
        </p:txBody>
      </p:sp>
      <p:sp>
        <p:nvSpPr>
          <p:cNvPr id="33" name="Rounded Rectangle 32"/>
          <p:cNvSpPr/>
          <p:nvPr/>
        </p:nvSpPr>
        <p:spPr>
          <a:xfrm>
            <a:off x="7635240" y="4535424"/>
            <a:ext cx="4005072" cy="15087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772400" y="4599432"/>
            <a:ext cx="3749039" cy="365760"/>
          </a:xfrm>
          <a:prstGeom prst="rect">
            <a:avLst/>
          </a:prstGeom>
          <a:noFill/>
        </p:spPr>
        <p:txBody>
          <a:bodyPr wrap="square" lIns="0" rIns="0" tIns="0" bIns="0" anchor="t">
            <a:spAutoFit/>
          </a:bodyPr>
          <a:lstStyle/>
          <a:p>
            <a:pPr algn="l">
              <a:spcAft>
                <a:spcPts val="400"/>
              </a:spcAft>
            </a:pPr>
            <a:r>
              <a:rPr sz="1500" b="1" i="0">
                <a:solidFill>
                  <a:srgbClr val="0F172A"/>
                </a:solidFill>
              </a:rPr>
              <a:t>Learn</a:t>
            </a:r>
          </a:p>
        </p:txBody>
      </p:sp>
      <p:sp>
        <p:nvSpPr>
          <p:cNvPr id="35" name="TextBox 34"/>
          <p:cNvSpPr txBox="1"/>
          <p:nvPr/>
        </p:nvSpPr>
        <p:spPr>
          <a:xfrm>
            <a:off x="7772400" y="4919472"/>
            <a:ext cx="3749039" cy="1097280"/>
          </a:xfrm>
          <a:prstGeom prst="rect">
            <a:avLst/>
          </a:prstGeom>
          <a:noFill/>
        </p:spPr>
        <p:txBody>
          <a:bodyPr wrap="square" lIns="0" rIns="0" tIns="0" bIns="0" anchor="t">
            <a:spAutoFit/>
          </a:bodyPr>
          <a:lstStyle/>
          <a:p>
            <a:pPr algn="l">
              <a:spcAft>
                <a:spcPts val="400"/>
              </a:spcAft>
            </a:pPr>
            <a:r>
              <a:rPr sz="1250" b="0" i="0">
                <a:solidFill>
                  <a:srgbClr val="475569"/>
                </a:solidFill>
              </a:rPr>
              <a:t>An on-time check-out grows the buffer and builds a benefit streak; a late one adds a warning. The score sets the next fee.</a:t>
            </a:r>
          </a:p>
        </p:txBody>
      </p:sp>
      <p:sp>
        <p:nvSpPr>
          <p:cNvPr id="36" name="TextBox 35"/>
          <p:cNvSpPr txBox="1"/>
          <p:nvPr/>
        </p:nvSpPr>
        <p:spPr>
          <a:xfrm>
            <a:off x="548640" y="5943600"/>
            <a:ext cx="6858000" cy="411480"/>
          </a:xfrm>
          <a:prstGeom prst="rect">
            <a:avLst/>
          </a:prstGeom>
          <a:noFill/>
        </p:spPr>
        <p:txBody>
          <a:bodyPr wrap="square" lIns="0" rIns="0" tIns="0" bIns="0" anchor="t">
            <a:spAutoFit/>
          </a:bodyPr>
          <a:lstStyle/>
          <a:p>
            <a:pPr algn="ctr">
              <a:spcAft>
                <a:spcPts val="400"/>
              </a:spcAft>
            </a:pPr>
            <a:r>
              <a:rPr sz="1200" b="0" i="1">
                <a:solidFill>
                  <a:srgbClr val="475569"/>
                </a:solidFill>
              </a:rPr>
              <a:t>High-level workflow as implemented in the API.</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 no ML dataset; a seeded demo history and a simulator</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sp>
        <p:nvSpPr>
          <p:cNvPr id="26" name="Rounded Rectangle 25"/>
          <p:cNvSpPr/>
          <p:nvPr/>
        </p:nvSpPr>
        <p:spPr>
          <a:xfrm>
            <a:off x="548640"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48640" y="1280160"/>
            <a:ext cx="73152" cy="11430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49808"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5</a:t>
            </a:r>
          </a:p>
        </p:txBody>
      </p:sp>
      <p:sp>
        <p:nvSpPr>
          <p:cNvPr id="29" name="TextBox 28"/>
          <p:cNvSpPr txBox="1"/>
          <p:nvPr/>
        </p:nvSpPr>
        <p:spPr>
          <a:xfrm>
            <a:off x="749808" y="1943100"/>
            <a:ext cx="2331720" cy="434340"/>
          </a:xfrm>
          <a:prstGeom prst="rect">
            <a:avLst/>
          </a:prstGeom>
          <a:noFill/>
        </p:spPr>
        <p:txBody>
          <a:bodyPr wrap="square" lIns="0" rIns="0" tIns="0" bIns="0" anchor="t">
            <a:spAutoFit/>
          </a:bodyPr>
          <a:lstStyle/>
          <a:p>
            <a:pPr algn="l">
              <a:spcAft>
                <a:spcPts val="400"/>
              </a:spcAft>
            </a:pPr>
            <a:r>
              <a:rPr sz="1150" b="0" i="0">
                <a:solidFill>
                  <a:srgbClr val="475569"/>
                </a:solidFill>
              </a:rPr>
              <a:t>locations in the seeded demo (8 to 25 bays each)</a:t>
            </a:r>
          </a:p>
        </p:txBody>
      </p:sp>
      <p:sp>
        <p:nvSpPr>
          <p:cNvPr id="30" name="Rounded Rectangle 29"/>
          <p:cNvSpPr/>
          <p:nvPr/>
        </p:nvSpPr>
        <p:spPr>
          <a:xfrm>
            <a:off x="3374136"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374136" y="1280160"/>
            <a:ext cx="73152" cy="1143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575304"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9</a:t>
            </a:r>
          </a:p>
        </p:txBody>
      </p:sp>
      <p:sp>
        <p:nvSpPr>
          <p:cNvPr id="33" name="TextBox 32"/>
          <p:cNvSpPr txBox="1"/>
          <p:nvPr/>
        </p:nvSpPr>
        <p:spPr>
          <a:xfrm>
            <a:off x="3575304" y="1943100"/>
            <a:ext cx="2331720" cy="434340"/>
          </a:xfrm>
          <a:prstGeom prst="rect">
            <a:avLst/>
          </a:prstGeom>
          <a:noFill/>
        </p:spPr>
        <p:txBody>
          <a:bodyPr wrap="square" lIns="0" rIns="0" tIns="0" bIns="0" anchor="t">
            <a:spAutoFit/>
          </a:bodyPr>
          <a:lstStyle/>
          <a:p>
            <a:pPr algn="l">
              <a:spcAft>
                <a:spcPts val="400"/>
              </a:spcAft>
            </a:pPr>
            <a:r>
              <a:rPr sz="1150" b="0" i="0">
                <a:solidFill>
                  <a:srgbClr val="475569"/>
                </a:solidFill>
              </a:rPr>
              <a:t>users: 1 admin and 8 drivers (2 with overstay history)</a:t>
            </a:r>
          </a:p>
        </p:txBody>
      </p:sp>
      <p:sp>
        <p:nvSpPr>
          <p:cNvPr id="34" name="Rounded Rectangle 33"/>
          <p:cNvSpPr/>
          <p:nvPr/>
        </p:nvSpPr>
        <p:spPr>
          <a:xfrm>
            <a:off x="6199631"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199631" y="1280160"/>
            <a:ext cx="73152" cy="11430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799"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347</a:t>
            </a:r>
          </a:p>
        </p:txBody>
      </p:sp>
      <p:sp>
        <p:nvSpPr>
          <p:cNvPr id="37" name="TextBox 36"/>
          <p:cNvSpPr txBox="1"/>
          <p:nvPr/>
        </p:nvSpPr>
        <p:spPr>
          <a:xfrm>
            <a:off x="6400799" y="1943100"/>
            <a:ext cx="2331720" cy="434340"/>
          </a:xfrm>
          <a:prstGeom prst="rect">
            <a:avLst/>
          </a:prstGeom>
          <a:noFill/>
        </p:spPr>
        <p:txBody>
          <a:bodyPr wrap="square" lIns="0" rIns="0" tIns="0" bIns="0" anchor="t">
            <a:spAutoFit/>
          </a:bodyPr>
          <a:lstStyle/>
          <a:p>
            <a:pPr algn="l">
              <a:spcAft>
                <a:spcPts val="400"/>
              </a:spcAft>
            </a:pPr>
            <a:r>
              <a:rPr sz="1150" b="0" i="0">
                <a:solidFill>
                  <a:srgbClr val="475569"/>
                </a:solidFill>
              </a:rPr>
              <a:t>reservations over 60 days: 279 done, 39 failed, 29 declined</a:t>
            </a:r>
          </a:p>
        </p:txBody>
      </p:sp>
      <p:sp>
        <p:nvSpPr>
          <p:cNvPr id="38" name="Rounded Rectangle 37"/>
          <p:cNvSpPr/>
          <p:nvPr/>
        </p:nvSpPr>
        <p:spPr>
          <a:xfrm>
            <a:off x="9025128"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9025128" y="1280160"/>
            <a:ext cx="73152" cy="114300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226296"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279</a:t>
            </a:r>
          </a:p>
        </p:txBody>
      </p:sp>
      <p:sp>
        <p:nvSpPr>
          <p:cNvPr id="41" name="TextBox 40"/>
          <p:cNvSpPr txBox="1"/>
          <p:nvPr/>
        </p:nvSpPr>
        <p:spPr>
          <a:xfrm>
            <a:off x="9226296" y="1943100"/>
            <a:ext cx="2331720" cy="434340"/>
          </a:xfrm>
          <a:prstGeom prst="rect">
            <a:avLst/>
          </a:prstGeom>
          <a:noFill/>
        </p:spPr>
        <p:txBody>
          <a:bodyPr wrap="square" lIns="0" rIns="0" tIns="0" bIns="0" anchor="t">
            <a:spAutoFit/>
          </a:bodyPr>
          <a:lstStyle/>
          <a:p>
            <a:pPr algn="l">
              <a:spcAft>
                <a:spcPts val="400"/>
              </a:spcAft>
            </a:pPr>
            <a:r>
              <a:rPr sz="1150" b="0" i="0">
                <a:solidFill>
                  <a:srgbClr val="475569"/>
                </a:solidFill>
              </a:rPr>
              <a:t>payment records (demo provider)</a:t>
            </a:r>
          </a:p>
        </p:txBody>
      </p:sp>
      <p:graphicFrame>
        <p:nvGraphicFramePr>
          <p:cNvPr id="42" name="Table 41"/>
          <p:cNvGraphicFramePr>
            <a:graphicFrameLocks noGrp="1"/>
          </p:cNvGraphicFramePr>
          <p:nvPr/>
        </p:nvGraphicFramePr>
        <p:xfrm>
          <a:off x="548640" y="2697480"/>
          <a:ext cx="11091672" cy="3474720"/>
        </p:xfrm>
        <a:graphic>
          <a:graphicData uri="http://schemas.openxmlformats.org/drawingml/2006/table">
            <a:tbl>
              <a:tblPr firstRow="0" bandRow="0">
                <a:tableStyleId>{5C22544A-7EE6-4342-B048-85BDC9FD1C3A}</a:tableStyleId>
              </a:tblPr>
              <a:tblGrid>
                <a:gridCol w="1280160"/>
                <a:gridCol w="4846320"/>
                <a:gridCol w="4965192"/>
              </a:tblGrid>
              <a:tr h="694944">
                <a:tc>
                  <a:txBody>
                    <a:bodyPr wrap="square"/>
                    <a:lstStyle/>
                    <a:p>
                      <a:pPr algn="ctr"/>
                      <a:r>
                        <a:rPr sz="1200" b="1">
                          <a:solidFill>
                            <a:srgbClr val="FFFFFF"/>
                          </a:solidFill>
                        </a:rPr>
                        <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00" b="1">
                          <a:solidFill>
                            <a:srgbClr val="FFFFFF"/>
                          </a:solidFill>
                        </a:rPr>
                        <a:t>Seeded demo history (app/seed.py)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00" b="1">
                          <a:solidFill>
                            <a:srgbClr val="FFFFFF"/>
                          </a:solidFill>
                        </a:rPr>
                        <a:t>Simulator scenario (scripts/parking_sim.py)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694944">
                <a:tc>
                  <a:txBody>
                    <a:bodyPr wrap="square"/>
                    <a:lstStyle/>
                    <a:p>
                      <a:pPr algn="l"/>
                      <a:r>
                        <a:rPr sz="1200" b="1">
                          <a:solidFill>
                            <a:srgbClr val="0F172A"/>
                          </a:solidFill>
                        </a:rPr>
                        <a:t>Origin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generated by the product itself with random seed 42: SYNTHETIC, not real parking data</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re-creates the setting of base paper [2]: 8 areas x 10 bays, 80 to 110 vehicles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94944">
                <a:tc>
                  <a:txBody>
                    <a:bodyPr wrap="square"/>
                    <a:lstStyle/>
                    <a:p>
                      <a:pPr algn="l"/>
                      <a:r>
                        <a:rPr sz="1200" b="1">
                          <a:solidFill>
                            <a:srgbClr val="0F172A"/>
                          </a:solidFill>
                        </a:rPr>
                        <a:t>Content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60 days of bookings plus 8 Friday-evening over-subscription peaks at Old Town Deck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each vehicle makes 10 parks of 1 to 3 h; 25 to 50 % overstay by 1 h</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94944">
                <a:tc>
                  <a:txBody>
                    <a:bodyPr wrap="square"/>
                    <a:lstStyle/>
                    <a:p>
                      <a:pPr algn="l"/>
                      <a:r>
                        <a:rPr sz="1200" b="1">
                          <a:solidFill>
                            <a:srgbClr val="0F172A"/>
                          </a:solidFill>
                        </a:rPr>
                        <a:t>Use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gives Strategy Insights real contention to replay on a fresh install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30 runs per cell (the paper used 5); 5 buffer policies; Trust Score on or off</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94944">
                <a:tc>
                  <a:txBody>
                    <a:bodyPr wrap="square"/>
                    <a:lstStyle/>
                    <a:p>
                      <a:pPr algn="l"/>
                      <a:r>
                        <a:rPr sz="1200" b="1">
                          <a:solidFill>
                            <a:srgbClr val="0F172A"/>
                          </a:solidFill>
                        </a:rPr>
                        <a:t>Not available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no real parking-lot data, no licence issue, no split (there is no model to train)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not SUMO; arrival process and gaps are our assumptions, fixed before the runs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Input handling and data preparation</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
        <p:nvSpPr>
          <p:cNvPr id="26" name="Rounded Rectangle 25"/>
          <p:cNvSpPr/>
          <p:nvPr/>
        </p:nvSpPr>
        <p:spPr>
          <a:xfrm>
            <a:off x="548640" y="1325880"/>
            <a:ext cx="1680972" cy="91440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pydantic validation</a:t>
            </a:r>
          </a:p>
        </p:txBody>
      </p:sp>
      <p:sp>
        <p:nvSpPr>
          <p:cNvPr id="27" name="Right Arrow 26"/>
          <p:cNvSpPr/>
          <p:nvPr/>
        </p:nvSpPr>
        <p:spPr>
          <a:xfrm>
            <a:off x="2229612" y="1664207"/>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2430780" y="1325880"/>
            <a:ext cx="1680972" cy="914400"/>
          </a:xfrm>
          <a:prstGeom prst="roundRect">
            <a:avLst>
              <a:gd name="adj" fmla="val 8000"/>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Times to UTC</a:t>
            </a:r>
          </a:p>
        </p:txBody>
      </p:sp>
      <p:sp>
        <p:nvSpPr>
          <p:cNvPr id="29" name="Right Arrow 28"/>
          <p:cNvSpPr/>
          <p:nvPr/>
        </p:nvSpPr>
        <p:spPr>
          <a:xfrm>
            <a:off x="4111752" y="1664207"/>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312920" y="1325880"/>
            <a:ext cx="1680972" cy="914400"/>
          </a:xfrm>
          <a:prstGeom prst="roundRect">
            <a:avLst>
              <a:gd name="adj" fmla="val 8000"/>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30-day window limit</a:t>
            </a:r>
          </a:p>
        </p:txBody>
      </p:sp>
      <p:sp>
        <p:nvSpPr>
          <p:cNvPr id="31" name="Right Arrow 30"/>
          <p:cNvSpPr/>
          <p:nvPr/>
        </p:nvSpPr>
        <p:spPr>
          <a:xfrm>
            <a:off x="5993892" y="1664207"/>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195060" y="1325880"/>
            <a:ext cx="1680972" cy="914400"/>
          </a:xfrm>
          <a:prstGeom prst="roundRect">
            <a:avLst>
              <a:gd name="adj" fmla="val 8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Overlap count</a:t>
            </a:r>
          </a:p>
        </p:txBody>
      </p:sp>
      <p:sp>
        <p:nvSpPr>
          <p:cNvPr id="33" name="Right Arrow 32"/>
          <p:cNvSpPr/>
          <p:nvPr/>
        </p:nvSpPr>
        <p:spPr>
          <a:xfrm>
            <a:off x="7876032" y="1664207"/>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077200" y="1325880"/>
            <a:ext cx="1680972" cy="914400"/>
          </a:xfrm>
          <a:prstGeom prst="roundRect">
            <a:avLst>
              <a:gd name="adj" fmla="val 8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Fee quote</a:t>
            </a:r>
          </a:p>
        </p:txBody>
      </p:sp>
      <p:sp>
        <p:nvSpPr>
          <p:cNvPr id="35" name="Right Arrow 34"/>
          <p:cNvSpPr/>
          <p:nvPr/>
        </p:nvSpPr>
        <p:spPr>
          <a:xfrm>
            <a:off x="9758172" y="1664207"/>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959340" y="1325880"/>
            <a:ext cx="1680972" cy="914400"/>
          </a:xfrm>
          <a:prstGeom prst="roundRect">
            <a:avLst>
              <a:gd name="adj" fmla="val 8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Reservation + payment</a:t>
            </a:r>
          </a:p>
        </p:txBody>
      </p:sp>
      <p:sp>
        <p:nvSpPr>
          <p:cNvPr id="37" name="Rounded Rectangle 36"/>
          <p:cNvSpPr/>
          <p:nvPr/>
        </p:nvSpPr>
        <p:spPr>
          <a:xfrm>
            <a:off x="548640" y="2560320"/>
            <a:ext cx="544068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548640" y="2560320"/>
            <a:ext cx="73152" cy="11430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749808" y="2651760"/>
            <a:ext cx="5166360" cy="628650"/>
          </a:xfrm>
          <a:prstGeom prst="rect">
            <a:avLst/>
          </a:prstGeom>
          <a:noFill/>
        </p:spPr>
        <p:txBody>
          <a:bodyPr wrap="square" lIns="0" rIns="0" tIns="0" bIns="0" anchor="ctr">
            <a:spAutoFit/>
          </a:bodyPr>
          <a:lstStyle/>
          <a:p>
            <a:pPr algn="l">
              <a:spcAft>
                <a:spcPts val="400"/>
              </a:spcAft>
            </a:pPr>
            <a:r>
              <a:rPr sz="2800" b="1" i="0">
                <a:solidFill>
                  <a:srgbClr val="0F172A"/>
                </a:solidFill>
              </a:rPr>
              <a:t>22</a:t>
            </a:r>
          </a:p>
        </p:txBody>
      </p:sp>
      <p:sp>
        <p:nvSpPr>
          <p:cNvPr id="40" name="TextBox 39"/>
          <p:cNvSpPr txBox="1"/>
          <p:nvPr/>
        </p:nvSpPr>
        <p:spPr>
          <a:xfrm>
            <a:off x="749808" y="3223260"/>
            <a:ext cx="5166360" cy="434340"/>
          </a:xfrm>
          <a:prstGeom prst="rect">
            <a:avLst/>
          </a:prstGeom>
          <a:noFill/>
        </p:spPr>
        <p:txBody>
          <a:bodyPr wrap="square" lIns="0" rIns="0" tIns="0" bIns="0" anchor="t">
            <a:spAutoFit/>
          </a:bodyPr>
          <a:lstStyle/>
          <a:p>
            <a:pPr algn="l">
              <a:spcAft>
                <a:spcPts val="400"/>
              </a:spcAft>
            </a:pPr>
            <a:r>
              <a:rPr sz="1150" b="0" i="0">
                <a:solidFill>
                  <a:srgbClr val="475569"/>
                </a:solidFill>
              </a:rPr>
              <a:t>routes; request bodies and query parameters are typed with pydantic, and bad input returns 422 (our injection-style probes: 422, never 500)</a:t>
            </a:r>
          </a:p>
        </p:txBody>
      </p:sp>
      <p:sp>
        <p:nvSpPr>
          <p:cNvPr id="41" name="Rounded Rectangle 40"/>
          <p:cNvSpPr/>
          <p:nvPr/>
        </p:nvSpPr>
        <p:spPr>
          <a:xfrm>
            <a:off x="6217920" y="2560320"/>
            <a:ext cx="544068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17920" y="2560320"/>
            <a:ext cx="73152" cy="1143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419088" y="2651760"/>
            <a:ext cx="5166360" cy="628650"/>
          </a:xfrm>
          <a:prstGeom prst="rect">
            <a:avLst/>
          </a:prstGeom>
          <a:noFill/>
        </p:spPr>
        <p:txBody>
          <a:bodyPr wrap="square" lIns="0" rIns="0" tIns="0" bIns="0" anchor="ctr">
            <a:spAutoFit/>
          </a:bodyPr>
          <a:lstStyle/>
          <a:p>
            <a:pPr algn="l">
              <a:spcAft>
                <a:spcPts val="400"/>
              </a:spcAft>
            </a:pPr>
            <a:r>
              <a:rPr sz="2800" b="1" i="0">
                <a:solidFill>
                  <a:srgbClr val="0F172A"/>
                </a:solidFill>
              </a:rPr>
              <a:t>0.25 h</a:t>
            </a:r>
          </a:p>
        </p:txBody>
      </p:sp>
      <p:sp>
        <p:nvSpPr>
          <p:cNvPr id="44" name="TextBox 43"/>
          <p:cNvSpPr txBox="1"/>
          <p:nvPr/>
        </p:nvSpPr>
        <p:spPr>
          <a:xfrm>
            <a:off x="6419088" y="3223260"/>
            <a:ext cx="5166360" cy="434340"/>
          </a:xfrm>
          <a:prstGeom prst="rect">
            <a:avLst/>
          </a:prstGeom>
          <a:noFill/>
        </p:spPr>
        <p:txBody>
          <a:bodyPr wrap="square" lIns="0" rIns="0" tIns="0" bIns="0" anchor="t">
            <a:spAutoFit/>
          </a:bodyPr>
          <a:lstStyle/>
          <a:p>
            <a:pPr algn="l">
              <a:spcAft>
                <a:spcPts val="400"/>
              </a:spcAft>
            </a:pPr>
            <a:r>
              <a:rPr sz="1150" b="0" i="0">
                <a:solidFill>
                  <a:srgbClr val="475569"/>
                </a:solidFill>
              </a:rPr>
              <a:t>minimum billed time; fee = hours x hourly rate x trust multiplier, rounded to cents</a:t>
            </a:r>
          </a:p>
        </p:txBody>
      </p:sp>
      <p:sp>
        <p:nvSpPr>
          <p:cNvPr id="45" name="TextBox 44"/>
          <p:cNvSpPr txBox="1"/>
          <p:nvPr/>
        </p:nvSpPr>
        <p:spPr>
          <a:xfrm>
            <a:off x="548640" y="3931920"/>
            <a:ext cx="11091672" cy="2468880"/>
          </a:xfrm>
          <a:prstGeom prst="rect">
            <a:avLst/>
          </a:prstGeom>
          <a:noFill/>
        </p:spPr>
        <p:txBody>
          <a:bodyPr wrap="square" lIns="0" rIns="0" tIns="0" bIns="0" anchor="t">
            <a:spAutoFit/>
          </a:bodyPr>
          <a:lstStyle/>
          <a:p>
            <a:pPr algn="l" marL="256032" indent="-201168">
              <a:spcAft>
                <a:spcPts val="800"/>
              </a:spcAft>
              <a:buChar char="•"/>
            </a:pPr>
            <a:r>
              <a:rPr sz="1500" b="0" i="0">
                <a:solidFill>
                  <a:srgbClr val="0F172A"/>
                </a:solidFill>
              </a:rPr>
              <a:t>Registration: name 2 to 120 characters, valid email, password 6 to 128; passwords are stored as bcrypt hashes (cost 12), tokens are HS256 JWTs valid for 12 hours.</a:t>
            </a:r>
          </a:p>
          <a:p>
            <a:pPr algn="l" marL="256032" indent="-201168">
              <a:spcAft>
                <a:spcPts val="800"/>
              </a:spcAft>
              <a:buChar char="•"/>
            </a:pPr>
            <a:r>
              <a:rPr sz="1500" b="0" i="0">
                <a:solidFill>
                  <a:srgbClr val="0F172A"/>
                </a:solidFill>
              </a:rPr>
              <a:t>Locations: latitude -90 to 90, longitude -180 to 180, capacity 1 to 5,000, price 0.5 to 100, buffer 0 to 20.</a:t>
            </a:r>
          </a:p>
          <a:p>
            <a:pPr algn="l" marL="256032" indent="-201168">
              <a:spcAft>
                <a:spcPts val="800"/>
              </a:spcAft>
              <a:buChar char="•"/>
            </a:pPr>
            <a:r>
              <a:rPr sz="1500" b="0" i="0">
                <a:solidFill>
                  <a:srgbClr val="0F172A"/>
                </a:solidFill>
              </a:rPr>
              <a:t>Reservations: end must be after start, window at most 30 days, naive times are treated as UTC; account credit offsets the fee automatically.</a:t>
            </a:r>
          </a:p>
          <a:p>
            <a:pPr algn="l" marL="256032" indent="-201168">
              <a:spcAft>
                <a:spcPts val="800"/>
              </a:spcAft>
              <a:buChar char="•"/>
            </a:pPr>
            <a:r>
              <a:rPr sz="1500" b="0" i="0">
                <a:solidFill>
                  <a:srgbClr val="0F172A"/>
                </a:solidFill>
              </a:rPr>
              <a:t>Seeding: on an empty database the product creates 5 locations, 9 users and 60 days of bookings so the admin screens show data.</a:t>
            </a:r>
          </a:p>
          <a:p>
            <a:pPr algn="l" marL="256032" indent="-201168">
              <a:spcAft>
                <a:spcPts val="800"/>
              </a:spcAft>
              <a:buChar char="•"/>
            </a:pPr>
            <a:r>
              <a:rPr sz="1500" b="0" i="0">
                <a:solidFill>
                  <a:srgbClr val="0F172A"/>
                </a:solidFill>
              </a:rPr>
              <a:t>Known gap: a booking window in the past is accepted (found by our probe).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Engine rules: buffer and Trust Score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pic>
        <p:nvPicPr>
          <p:cNvPr id="26" name="Picture 25" descr="c3_r2_12.png"/>
          <p:cNvPicPr>
            <a:picLocks noChangeAspect="1"/>
          </p:cNvPicPr>
          <p:nvPr/>
        </p:nvPicPr>
        <p:blipFill>
          <a:blip r:embed="rId1"/>
          <a:stretch>
            <a:fillRect/>
          </a:stretch>
        </p:blipFill>
        <p:spPr>
          <a:xfrm>
            <a:off x="548639" y="1420145"/>
            <a:ext cx="6949440" cy="4200588"/>
          </a:xfrm>
          <a:prstGeom prst="rect">
            <a:avLst/>
          </a:prstGeom>
        </p:spPr>
      </p:pic>
      <p:sp>
        <p:nvSpPr>
          <p:cNvPr id="27" name="TextBox 26"/>
          <p:cNvSpPr txBox="1"/>
          <p:nvPr/>
        </p:nvSpPr>
        <p:spPr>
          <a:xfrm>
            <a:off x="7772400" y="1325880"/>
            <a:ext cx="3886200" cy="4937760"/>
          </a:xfrm>
          <a:prstGeom prst="rect">
            <a:avLst/>
          </a:prstGeom>
          <a:noFill/>
        </p:spPr>
        <p:txBody>
          <a:bodyPr wrap="square" lIns="0" rIns="0" tIns="0" bIns="0" anchor="t">
            <a:spAutoFit/>
          </a:bodyPr>
          <a:lstStyle/>
          <a:p>
            <a:pPr algn="l" marL="256032" indent="-201168">
              <a:spcAft>
                <a:spcPts val="800"/>
              </a:spcAft>
              <a:buChar char="•"/>
            </a:pPr>
            <a:r>
              <a:rPr sz="1350" b="1" i="0">
                <a:solidFill>
                  <a:srgbClr val="0F172A"/>
                </a:solidFill>
              </a:rPr>
              <a:t>Admission</a:t>
            </a:r>
            <a:r>
              <a:rPr sz="1350" b="0" i="0">
                <a:solidFill>
                  <a:srgbClr val="0F172A"/>
                </a:solidFill>
              </a:rPr>
              <a:t>: accept if overlapping bookings + buffer &lt; capacity.</a:t>
            </a:r>
          </a:p>
          <a:p>
            <a:pPr algn="l" marL="256032" indent="-201168">
              <a:spcAft>
                <a:spcPts val="800"/>
              </a:spcAft>
              <a:buChar char="•"/>
            </a:pPr>
            <a:r>
              <a:rPr sz="1350" b="1" i="0">
                <a:solidFill>
                  <a:srgbClr val="0F172A"/>
                </a:solidFill>
              </a:rPr>
              <a:t>Buffer</a:t>
            </a:r>
            <a:r>
              <a:rPr sz="1350" b="0" i="0">
                <a:solidFill>
                  <a:srgbClr val="0F172A"/>
                </a:solidFill>
              </a:rPr>
              <a:t>: starts at 1, +1 on every on-time check-out up to 5, reset to 1 every 24 h.</a:t>
            </a:r>
          </a:p>
          <a:p>
            <a:pPr algn="l" marL="256032" indent="-201168">
              <a:spcAft>
                <a:spcPts val="800"/>
              </a:spcAft>
              <a:buChar char="•"/>
            </a:pPr>
            <a:r>
              <a:rPr sz="1350" b="1" i="0">
                <a:solidFill>
                  <a:srgbClr val="0F172A"/>
                </a:solidFill>
              </a:rPr>
              <a:t>Trust Score</a:t>
            </a:r>
            <a:r>
              <a:rPr sz="1350" b="0" i="0">
                <a:solidFill>
                  <a:srgbClr val="0F172A"/>
                </a:solidFill>
              </a:rPr>
              <a:t> 0 to 5, start 3: 3 on-time check-outs give +1, 2 late ones give -1; fee multiplier 1.75 down to 0.90.</a:t>
            </a:r>
          </a:p>
          <a:p>
            <a:pPr algn="l" marL="256032" indent="-201168">
              <a:spcAft>
                <a:spcPts val="400"/>
              </a:spcAft>
              <a:buChar char="•"/>
            </a:pPr>
            <a:r>
              <a:rPr sz="1350" b="0" i="1">
                <a:solidFill>
                  <a:srgbClr val="475569"/>
                </a:solidFill>
              </a:rPr>
              <a:t>Base paper [2] grows its buffer on late departures; the shipped code grows it on on-time ones. We measure both.</a:t>
            </a:r>
          </a:p>
        </p:txBody>
      </p:sp>
      <p:sp>
        <p:nvSpPr>
          <p:cNvPr id="28" name="TextBox 27"/>
          <p:cNvSpPr txBox="1"/>
          <p:nvPr/>
        </p:nvSpPr>
        <p:spPr>
          <a:xfrm>
            <a:off x="548640" y="5897880"/>
            <a:ext cx="6949440" cy="411480"/>
          </a:xfrm>
          <a:prstGeom prst="rect">
            <a:avLst/>
          </a:prstGeom>
          <a:noFill/>
        </p:spPr>
        <p:txBody>
          <a:bodyPr wrap="square" lIns="0" rIns="0" tIns="0" bIns="0" anchor="t">
            <a:spAutoFit/>
          </a:bodyPr>
          <a:lstStyle/>
          <a:p>
            <a:pPr algn="ctr">
              <a:spcAft>
                <a:spcPts val="400"/>
              </a:spcAft>
            </a:pPr>
            <a:r>
              <a:rPr sz="1200" b="0" i="1">
                <a:solidFill>
                  <a:srgbClr val="475569"/>
                </a:solidFill>
              </a:rPr>
              <a:t>Trust Score and buffer policy, as coded in app/engine.py and app/config.py.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Policy constants and experiment configuration</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graphicFrame>
        <p:nvGraphicFramePr>
          <p:cNvPr id="26" name="Table 25"/>
          <p:cNvGraphicFramePr>
            <a:graphicFrameLocks noGrp="1"/>
          </p:cNvGraphicFramePr>
          <p:nvPr/>
        </p:nvGraphicFramePr>
        <p:xfrm>
          <a:off x="548640" y="1325880"/>
          <a:ext cx="11091672" cy="4828032"/>
        </p:xfrm>
        <a:graphic>
          <a:graphicData uri="http://schemas.openxmlformats.org/drawingml/2006/table">
            <a:tbl>
              <a:tblPr firstRow="0" bandRow="0">
                <a:tableStyleId>{5C22544A-7EE6-4342-B048-85BDC9FD1C3A}</a:tableStyleId>
              </a:tblPr>
              <a:tblGrid>
                <a:gridCol w="2103120"/>
                <a:gridCol w="8988552"/>
              </a:tblGrid>
              <a:tr h="603504">
                <a:tc>
                  <a:txBody>
                    <a:bodyPr wrap="square"/>
                    <a:lstStyle/>
                    <a:p>
                      <a:pPr algn="ctr"/>
                      <a:r>
                        <a:rPr sz="1300" b="1">
                          <a:solidFill>
                            <a:srgbClr val="FFFFFF"/>
                          </a:solidFill>
                        </a:rPr>
                        <a:t>Setting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Value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603504">
                <a:tc>
                  <a:txBody>
                    <a:bodyPr wrap="square"/>
                    <a:lstStyle/>
                    <a:p>
                      <a:pPr algn="l"/>
                      <a:r>
                        <a:rPr sz="1300" b="1">
                          <a:solidFill>
                            <a:srgbClr val="0F172A"/>
                          </a:solidFill>
                        </a:rPr>
                        <a:t>Buffer policy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initial 1, maximum 5, reset every 24 h by a job that runs every 30 minutes; +1 on an on-time check-out (end + 10 minutes of grace)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03504">
                <a:tc>
                  <a:txBody>
                    <a:bodyPr wrap="square"/>
                    <a:lstStyle/>
                    <a:p>
                      <a:pPr algn="l"/>
                      <a:r>
                        <a:rPr sz="1300" b="1">
                          <a:solidFill>
                            <a:srgbClr val="0F172A"/>
                          </a:solidFill>
                        </a:rPr>
                        <a:t>Trust Score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start 3, range 0 to 5; B = 3 benefits for +1, W = 2 warnings for -1; suspended below 1.5 with a warning in the last 14 days, 24 h cooldown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03504">
                <a:tc>
                  <a:txBody>
                    <a:bodyPr wrap="square"/>
                    <a:lstStyle/>
                    <a:p>
                      <a:pPr algn="l"/>
                      <a:r>
                        <a:rPr sz="1300" b="1">
                          <a:solidFill>
                            <a:srgbClr val="0F172A"/>
                          </a:solidFill>
                        </a:rPr>
                        <a:t>Fees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multiplier by rounded score: 1.75, 1.50, 1.25, 1.00, 0.95, 0.90; payments via Stripe test mode or the offline demo checkout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03504">
                <a:tc>
                  <a:txBody>
                    <a:bodyPr wrap="square"/>
                    <a:lstStyle/>
                    <a:p>
                      <a:pPr algn="l"/>
                      <a:r>
                        <a:rPr sz="1300" b="1">
                          <a:solidFill>
                            <a:srgbClr val="0F172A"/>
                          </a:solidFill>
                        </a:rPr>
                        <a:t>Simulator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8 areas x 10 bays; 80 to 110 vehicles; 10 parks each of 1 to 3 h; overstay 1 h; 30 seeds per cell; static 0, 1, 3, dynamic (ParkSure), dynamic (paper rule)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03504">
                <a:tc>
                  <a:txBody>
                    <a:bodyPr wrap="square"/>
                    <a:lstStyle/>
                    <a:p>
                      <a:pPr algn="l"/>
                      <a:r>
                        <a:rPr sz="1300" b="1">
                          <a:solidFill>
                            <a:srgbClr val="0F172A"/>
                          </a:solidFill>
                        </a:rPr>
                        <a:t>Parity check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simulator against the real engine: 10,300 decisions, 0 mismatches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03504">
                <a:tc>
                  <a:txBody>
                    <a:bodyPr wrap="square"/>
                    <a:lstStyle/>
                    <a:p>
                      <a:pPr algn="l"/>
                      <a:r>
                        <a:rPr sz="1300" b="1">
                          <a:solidFill>
                            <a:srgbClr val="0F172A"/>
                          </a:solidFill>
                        </a:rPr>
                        <a:t>Latency runs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200 sequential requests per endpoint on 127.0.0.1, one uvicorn process, SQLite file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03504">
                <a:tc>
                  <a:txBody>
                    <a:bodyPr wrap="square"/>
                    <a:lstStyle/>
                    <a:p>
                      <a:pPr algn="l"/>
                      <a:r>
                        <a:rPr sz="1300" b="1">
                          <a:solidFill>
                            <a:srgbClr val="0F172A"/>
                          </a:solidFill>
                        </a:rPr>
                        <a:t>Machine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Intel Core i5-12500 (6 cores), 15.7 GB RAM, Windows 11, Python 3.14.7, no GPU</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Decision logic: admission, arrival and departure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pic>
        <p:nvPicPr>
          <p:cNvPr id="26" name="Picture 25" descr="c3_r2_10.png"/>
          <p:cNvPicPr>
            <a:picLocks noChangeAspect="1"/>
          </p:cNvPicPr>
          <p:nvPr/>
        </p:nvPicPr>
        <p:blipFill>
          <a:blip r:embed="rId1"/>
          <a:stretch>
            <a:fillRect/>
          </a:stretch>
        </p:blipFill>
        <p:spPr>
          <a:xfrm>
            <a:off x="548640" y="1238720"/>
            <a:ext cx="6035040" cy="5112078"/>
          </a:xfrm>
          <a:prstGeom prst="rect">
            <a:avLst/>
          </a:prstGeom>
        </p:spPr>
      </p:pic>
      <p:sp>
        <p:nvSpPr>
          <p:cNvPr id="27" name="TextBox 26"/>
          <p:cNvSpPr txBox="1"/>
          <p:nvPr/>
        </p:nvSpPr>
        <p:spPr>
          <a:xfrm>
            <a:off x="6858000" y="1325880"/>
            <a:ext cx="4800600" cy="5029200"/>
          </a:xfrm>
          <a:prstGeom prst="rect">
            <a:avLst/>
          </a:prstGeom>
          <a:noFill/>
        </p:spPr>
        <p:txBody>
          <a:bodyPr wrap="square" lIns="0" rIns="0" tIns="0" bIns="0" anchor="t">
            <a:spAutoFit/>
          </a:bodyPr>
          <a:lstStyle/>
          <a:p>
            <a:pPr algn="l" marL="256032" indent="-201168">
              <a:spcAft>
                <a:spcPts val="900"/>
              </a:spcAft>
              <a:buChar char="•"/>
            </a:pPr>
            <a:r>
              <a:rPr sz="1400" b="1" i="0">
                <a:solidFill>
                  <a:srgbClr val="0F172A"/>
                </a:solidFill>
              </a:rPr>
              <a:t>At request</a:t>
            </a:r>
            <a:r>
              <a:rPr sz="1400" b="0" i="0">
                <a:solidFill>
                  <a:srgbClr val="0F172A"/>
                </a:solidFill>
              </a:rPr>
              <a:t>: suspended drivers are refused; otherwise overlapping + buffer &lt; capacity decides, and a refusal is stored as a declined booking with its reason.</a:t>
            </a:r>
          </a:p>
          <a:p>
            <a:pPr algn="l" marL="256032" indent="-201168">
              <a:spcAft>
                <a:spcPts val="900"/>
              </a:spcAft>
              <a:buChar char="•"/>
            </a:pPr>
            <a:r>
              <a:rPr sz="1400" b="1" i="0">
                <a:solidFill>
                  <a:srgbClr val="0F172A"/>
                </a:solidFill>
              </a:rPr>
              <a:t>At arrival</a:t>
            </a:r>
            <a:r>
              <a:rPr sz="1400" b="0" i="0">
                <a:solidFill>
                  <a:srgbClr val="0F172A"/>
                </a:solidFill>
              </a:rPr>
              <a:t>: if parked bays have reached capacity, the nearest other location with forecast space (haversine, R = 6,371 km) receives an active alternate booking; with none, the booking fails and the fee is credited.</a:t>
            </a:r>
          </a:p>
          <a:p>
            <a:pPr algn="l" marL="256032" indent="-201168">
              <a:spcAft>
                <a:spcPts val="900"/>
              </a:spcAft>
              <a:buChar char="•"/>
            </a:pPr>
            <a:r>
              <a:rPr sz="1400" b="1" i="0">
                <a:solidFill>
                  <a:srgbClr val="0F172A"/>
                </a:solidFill>
              </a:rPr>
              <a:t>At departure</a:t>
            </a:r>
            <a:r>
              <a:rPr sz="1400" b="0" i="0">
                <a:solidFill>
                  <a:srgbClr val="0F172A"/>
                </a:solidFill>
              </a:rPr>
              <a:t>: more than 10 minutes late is a warning; on time grows the buffer and adds a benefit.</a:t>
            </a:r>
          </a:p>
          <a:p>
            <a:pPr algn="l" marL="256032" indent="-201168">
              <a:spcAft>
                <a:spcPts val="400"/>
              </a:spcAft>
              <a:buChar char="•"/>
            </a:pPr>
            <a:r>
              <a:rPr sz="1400" b="1" i="0">
                <a:solidFill>
                  <a:srgbClr val="0F172A"/>
                </a:solidFill>
              </a:rPr>
              <a:t>Limit</a:t>
            </a:r>
            <a:r>
              <a:rPr sz="1400" b="0" i="0">
                <a:solidFill>
                  <a:srgbClr val="0F172A"/>
                </a:solidFill>
              </a:rPr>
              <a:t>: the alternate is booked without re-checking its physical bays.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 flow and modules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pic>
        <p:nvPicPr>
          <p:cNvPr id="26" name="Picture 25" descr="c3_r2_04.png"/>
          <p:cNvPicPr>
            <a:picLocks noChangeAspect="1"/>
          </p:cNvPicPr>
          <p:nvPr/>
        </p:nvPicPr>
        <p:blipFill>
          <a:blip r:embed="rId1"/>
          <a:stretch>
            <a:fillRect/>
          </a:stretch>
        </p:blipFill>
        <p:spPr>
          <a:xfrm>
            <a:off x="583043" y="1188720"/>
            <a:ext cx="5783353" cy="4754880"/>
          </a:xfrm>
          <a:prstGeom prst="rect">
            <a:avLst/>
          </a:prstGeom>
        </p:spPr>
      </p:pic>
      <p:sp>
        <p:nvSpPr>
          <p:cNvPr id="27" name="TextBox 26"/>
          <p:cNvSpPr txBox="1"/>
          <p:nvPr/>
        </p:nvSpPr>
        <p:spPr>
          <a:xfrm>
            <a:off x="548640" y="5989320"/>
            <a:ext cx="5852160" cy="365760"/>
          </a:xfrm>
          <a:prstGeom prst="rect">
            <a:avLst/>
          </a:prstGeom>
          <a:noFill/>
        </p:spPr>
        <p:txBody>
          <a:bodyPr wrap="square" lIns="0" rIns="0" tIns="0" bIns="0" anchor="t">
            <a:spAutoFit/>
          </a:bodyPr>
          <a:lstStyle/>
          <a:p>
            <a:pPr algn="ctr">
              <a:spcAft>
                <a:spcPts val="400"/>
              </a:spcAft>
            </a:pPr>
            <a:r>
              <a:rPr sz="1200" b="0" i="1">
                <a:solidFill>
                  <a:srgbClr val="475569"/>
                </a:solidFill>
              </a:rPr>
              <a:t>DFD level 1: six processes and the data stores.</a:t>
            </a:r>
          </a:p>
        </p:txBody>
      </p:sp>
      <p:graphicFrame>
        <p:nvGraphicFramePr>
          <p:cNvPr id="28" name="Table 27"/>
          <p:cNvGraphicFramePr>
            <a:graphicFrameLocks noGrp="1"/>
          </p:cNvGraphicFramePr>
          <p:nvPr/>
        </p:nvGraphicFramePr>
        <p:xfrm>
          <a:off x="6583680" y="1325880"/>
          <a:ext cx="5056632" cy="4572000"/>
        </p:xfrm>
        <a:graphic>
          <a:graphicData uri="http://schemas.openxmlformats.org/drawingml/2006/table">
            <a:tbl>
              <a:tblPr firstRow="0" bandRow="0">
                <a:tableStyleId>{5C22544A-7EE6-4342-B048-85BDC9FD1C3A}</a:tableStyleId>
              </a:tblPr>
              <a:tblGrid>
                <a:gridCol w="2514600"/>
                <a:gridCol w="548640"/>
                <a:gridCol w="1993392"/>
              </a:tblGrid>
              <a:tr h="457200">
                <a:tc>
                  <a:txBody>
                    <a:bodyPr wrap="square"/>
                    <a:lstStyle/>
                    <a:p>
                      <a:pPr algn="ctr"/>
                      <a:r>
                        <a:rPr sz="1050" b="1">
                          <a:solidFill>
                            <a:srgbClr val="FFFFFF"/>
                          </a:solidFill>
                        </a:rPr>
                        <a:t>Module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050" b="1">
                          <a:solidFill>
                            <a:srgbClr val="FFFFFF"/>
                          </a:solidFill>
                        </a:rPr>
                        <a:t>Lines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050" b="1">
                          <a:solidFill>
                            <a:srgbClr val="FFFFFF"/>
                          </a:solidFill>
                        </a:rPr>
                        <a:t>Role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457200">
                <a:tc>
                  <a:txBody>
                    <a:bodyPr wrap="square"/>
                    <a:lstStyle/>
                    <a:p>
                      <a:pPr algn="l"/>
                      <a:r>
                        <a:rPr sz="1050" b="1">
                          <a:solidFill>
                            <a:srgbClr val="0F172A"/>
                          </a:solidFill>
                        </a:rPr>
                        <a:t>app/main.py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r"/>
                      <a:r>
                        <a:rPr sz="1050" b="0">
                          <a:solidFill>
                            <a:srgbClr val="0F172A"/>
                          </a:solidFill>
                        </a:rPr>
                        <a:t>440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50" b="0">
                          <a:solidFill>
                            <a:srgbClr val="0F172A"/>
                          </a:solidFill>
                        </a:rPr>
                        <a:t>22 routes, scheduler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050" b="1">
                          <a:solidFill>
                            <a:srgbClr val="0F172A"/>
                          </a:solidFill>
                        </a:rPr>
                        <a:t>app/engine.py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r"/>
                      <a:r>
                        <a:rPr sz="1050" b="0">
                          <a:solidFill>
                            <a:srgbClr val="0F172A"/>
                          </a:solidFill>
                        </a:rPr>
                        <a:t>141</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50" b="0">
                          <a:solidFill>
                            <a:srgbClr val="0F172A"/>
                          </a:solidFill>
                        </a:rPr>
                        <a:t>admission, buffer, trust, haversine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57200">
                <a:tc>
                  <a:txBody>
                    <a:bodyPr wrap="square"/>
                    <a:lstStyle/>
                    <a:p>
                      <a:pPr algn="l"/>
                      <a:r>
                        <a:rPr sz="1050" b="1">
                          <a:solidFill>
                            <a:srgbClr val="0F172A"/>
                          </a:solidFill>
                        </a:rPr>
                        <a:t>app/models.py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r"/>
                      <a:r>
                        <a:rPr sz="1050" b="0">
                          <a:solidFill>
                            <a:srgbClr val="0F172A"/>
                          </a:solidFill>
                        </a:rPr>
                        <a:t>93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50" b="0">
                          <a:solidFill>
                            <a:srgbClr val="0F172A"/>
                          </a:solidFill>
                        </a:rPr>
                        <a:t>5 SQLAlchemy tables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050" b="1">
                          <a:solidFill>
                            <a:srgbClr val="0F172A"/>
                          </a:solidFill>
                        </a:rPr>
                        <a:t>app/auth.py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r"/>
                      <a:r>
                        <a:rPr sz="1050" b="0">
                          <a:solidFill>
                            <a:srgbClr val="0F172A"/>
                          </a:solidFill>
                        </a:rPr>
                        <a:t>53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50" b="0">
                          <a:solidFill>
                            <a:srgbClr val="0F172A"/>
                          </a:solidFill>
                        </a:rPr>
                        <a:t>bcrypt, JWT, role guards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57200">
                <a:tc>
                  <a:txBody>
                    <a:bodyPr wrap="square"/>
                    <a:lstStyle/>
                    <a:p>
                      <a:pPr algn="l"/>
                      <a:r>
                        <a:rPr sz="1050" b="1">
                          <a:solidFill>
                            <a:srgbClr val="0F172A"/>
                          </a:solidFill>
                        </a:rPr>
                        <a:t>app/schemas.py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r"/>
                      <a:r>
                        <a:rPr sz="1050" b="0">
                          <a:solidFill>
                            <a:srgbClr val="0F172A"/>
                          </a:solidFill>
                        </a:rPr>
                        <a:t>40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50" b="0">
                          <a:solidFill>
                            <a:srgbClr val="0F172A"/>
                          </a:solidFill>
                        </a:rPr>
                        <a:t>pydantic validation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050" b="1">
                          <a:solidFill>
                            <a:srgbClr val="0F172A"/>
                          </a:solidFill>
                        </a:rPr>
                        <a:t>app/stripe_pay.py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r"/>
                      <a:r>
                        <a:rPr sz="1050" b="0">
                          <a:solidFill>
                            <a:srgbClr val="0F172A"/>
                          </a:solidFill>
                        </a:rPr>
                        <a:t>35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50" b="0">
                          <a:solidFill>
                            <a:srgbClr val="0F172A"/>
                          </a:solidFill>
                        </a:rPr>
                        <a:t>Checkout / demo fallback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57200">
                <a:tc>
                  <a:txBody>
                    <a:bodyPr wrap="square"/>
                    <a:lstStyle/>
                    <a:p>
                      <a:pPr algn="l"/>
                      <a:r>
                        <a:rPr sz="1050" b="1">
                          <a:solidFill>
                            <a:srgbClr val="0F172A"/>
                          </a:solidFill>
                        </a:rPr>
                        <a:t>app/seed.py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r"/>
                      <a:r>
                        <a:rPr sz="1050" b="0">
                          <a:solidFill>
                            <a:srgbClr val="0F172A"/>
                          </a:solidFill>
                        </a:rPr>
                        <a:t>114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50" b="0">
                          <a:solidFill>
                            <a:srgbClr val="0F172A"/>
                          </a:solidFill>
                        </a:rPr>
                        <a:t>synthetic demo history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050" b="1">
                          <a:solidFill>
                            <a:srgbClr val="0F172A"/>
                          </a:solidFill>
                        </a:rPr>
                        <a:t>scripts/parking_sim.py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r"/>
                      <a:r>
                        <a:rPr sz="1050" b="0">
                          <a:solidFill>
                            <a:srgbClr val="0F172A"/>
                          </a:solidFill>
                        </a:rPr>
                        <a:t>276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50" b="0">
                          <a:solidFill>
                            <a:srgbClr val="0F172A"/>
                          </a:solidFill>
                        </a:rPr>
                        <a:t>discrete-event simulator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57200">
                <a:tc>
                  <a:txBody>
                    <a:bodyPr wrap="square"/>
                    <a:lstStyle/>
                    <a:p>
                      <a:pPr algn="l"/>
                      <a:r>
                        <a:rPr sz="1050" b="1">
                          <a:solidFill>
                            <a:srgbClr val="0F172A"/>
                          </a:solidFill>
                        </a:rPr>
                        <a:t>scripts/compute_buffer_
strategy_metrics.py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r"/>
                      <a:r>
                        <a:rPr sz="1050" b="0">
                          <a:solidFill>
                            <a:srgbClr val="0F172A"/>
                          </a:solidFill>
                        </a:rPr>
                        <a:t>119</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50" b="0">
                          <a:solidFill>
                            <a:srgbClr val="0F172A"/>
                          </a:solidFill>
                        </a:rPr>
                        <a:t>Strategy Insights replay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Database design and UML</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12</a:t>
            </a:fld>
            <a:endParaRPr lang="en-US"/>
          </a:p>
        </p:txBody>
      </p:sp>
      <p:pic>
        <p:nvPicPr>
          <p:cNvPr id="26" name="Picture 25" descr="c3_r2_06.png"/>
          <p:cNvPicPr>
            <a:picLocks noChangeAspect="1"/>
          </p:cNvPicPr>
          <p:nvPr/>
        </p:nvPicPr>
        <p:blipFill>
          <a:blip r:embed="rId1"/>
          <a:stretch>
            <a:fillRect/>
          </a:stretch>
        </p:blipFill>
        <p:spPr>
          <a:xfrm>
            <a:off x="1026359" y="1188720"/>
            <a:ext cx="4896720" cy="4480560"/>
          </a:xfrm>
          <a:prstGeom prst="rect">
            <a:avLst/>
          </a:prstGeom>
        </p:spPr>
      </p:pic>
      <p:sp>
        <p:nvSpPr>
          <p:cNvPr id="27" name="TextBox 26"/>
          <p:cNvSpPr txBox="1"/>
          <p:nvPr/>
        </p:nvSpPr>
        <p:spPr>
          <a:xfrm>
            <a:off x="548640" y="5715000"/>
            <a:ext cx="5852160" cy="365760"/>
          </a:xfrm>
          <a:prstGeom prst="rect">
            <a:avLst/>
          </a:prstGeom>
          <a:noFill/>
        </p:spPr>
        <p:txBody>
          <a:bodyPr wrap="square" lIns="0" rIns="0" tIns="0" bIns="0" anchor="t">
            <a:spAutoFit/>
          </a:bodyPr>
          <a:lstStyle/>
          <a:p>
            <a:pPr algn="ctr">
              <a:spcAft>
                <a:spcPts val="400"/>
              </a:spcAft>
            </a:pPr>
            <a:r>
              <a:rPr sz="1200" b="0" i="1">
                <a:solidFill>
                  <a:srgbClr val="475569"/>
                </a:solidFill>
              </a:rPr>
              <a:t>UML class diagram: five entities, engine, auth and scheduler.</a:t>
            </a:r>
          </a:p>
        </p:txBody>
      </p:sp>
      <p:pic>
        <p:nvPicPr>
          <p:cNvPr id="28" name="Picture 27" descr="c3_r2_09.png"/>
          <p:cNvPicPr>
            <a:picLocks noChangeAspect="1"/>
          </p:cNvPicPr>
          <p:nvPr/>
        </p:nvPicPr>
        <p:blipFill>
          <a:blip r:embed="rId4"/>
          <a:stretch>
            <a:fillRect/>
          </a:stretch>
        </p:blipFill>
        <p:spPr>
          <a:xfrm>
            <a:off x="6583680" y="1508972"/>
            <a:ext cx="5074920" cy="3840054"/>
          </a:xfrm>
          <a:prstGeom prst="rect">
            <a:avLst/>
          </a:prstGeom>
        </p:spPr>
      </p:pic>
      <p:sp>
        <p:nvSpPr>
          <p:cNvPr id="29" name="TextBox 28"/>
          <p:cNvSpPr txBox="1"/>
          <p:nvPr/>
        </p:nvSpPr>
        <p:spPr>
          <a:xfrm>
            <a:off x="6583680" y="5715000"/>
            <a:ext cx="5074920" cy="365760"/>
          </a:xfrm>
          <a:prstGeom prst="rect">
            <a:avLst/>
          </a:prstGeom>
          <a:noFill/>
        </p:spPr>
        <p:txBody>
          <a:bodyPr wrap="square" lIns="0" rIns="0" tIns="0" bIns="0" anchor="t">
            <a:spAutoFit/>
          </a:bodyPr>
          <a:lstStyle/>
          <a:p>
            <a:pPr algn="ctr">
              <a:spcAft>
                <a:spcPts val="400"/>
              </a:spcAft>
            </a:pPr>
            <a:r>
              <a:rPr sz="1200" b="0" i="1">
                <a:solidFill>
                  <a:srgbClr val="475569"/>
                </a:solidFill>
              </a:rPr>
              <a:t>ER diagram of the SQLite database (parksure.db).</a:t>
            </a:r>
          </a:p>
        </p:txBody>
      </p:sp>
      <p:sp>
        <p:nvSpPr>
          <p:cNvPr id="30" name="TextBox 29"/>
          <p:cNvSpPr txBox="1"/>
          <p:nvPr/>
        </p:nvSpPr>
        <p:spPr>
          <a:xfrm>
            <a:off x="548640" y="6080760"/>
            <a:ext cx="11091672" cy="365760"/>
          </a:xfrm>
          <a:prstGeom prst="rect">
            <a:avLst/>
          </a:prstGeom>
          <a:noFill/>
        </p:spPr>
        <p:txBody>
          <a:bodyPr wrap="square" lIns="0" rIns="0" tIns="0" bIns="0" anchor="t">
            <a:spAutoFit/>
          </a:bodyPr>
          <a:lstStyle/>
          <a:p>
            <a:pPr algn="ctr">
              <a:spcAft>
                <a:spcPts val="400"/>
              </a:spcAft>
            </a:pPr>
            <a:r>
              <a:rPr sz="1150" b="0" i="0">
                <a:solidFill>
                  <a:srgbClr val="475569"/>
                </a:solidFill>
              </a:rPr>
              <a:t>users 1-N reservations and trust_events; parking_locations 1-N reservations; reservations 1-1 payments; alternate bookings link to the replaced one by parent_id.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Technology stack</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13</a:t>
            </a:fld>
            <a:endParaRPr lang="en-US"/>
          </a:p>
        </p:txBody>
      </p:sp>
      <p:sp>
        <p:nvSpPr>
          <p:cNvPr id="26" name="Rounded Rectangle 25"/>
          <p:cNvSpPr/>
          <p:nvPr/>
        </p:nvSpPr>
        <p:spPr>
          <a:xfrm>
            <a:off x="548640" y="1371600"/>
            <a:ext cx="2606040" cy="20574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72768"/>
            <a:ext cx="457200" cy="45720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749808" y="2194560"/>
            <a:ext cx="2240280" cy="411480"/>
          </a:xfrm>
          <a:prstGeom prst="rect">
            <a:avLst/>
          </a:prstGeom>
          <a:noFill/>
        </p:spPr>
        <p:txBody>
          <a:bodyPr wrap="square" lIns="0" rIns="0" tIns="0" bIns="0" anchor="t">
            <a:spAutoFit/>
          </a:bodyPr>
          <a:lstStyle/>
          <a:p>
            <a:pPr algn="l">
              <a:spcAft>
                <a:spcPts val="400"/>
              </a:spcAft>
            </a:pPr>
            <a:r>
              <a:rPr sz="1600" b="1" i="0">
                <a:solidFill>
                  <a:srgbClr val="0F172A"/>
                </a:solidFill>
              </a:rPr>
              <a:t>Python 3.14.7</a:t>
            </a:r>
          </a:p>
        </p:txBody>
      </p:sp>
      <p:sp>
        <p:nvSpPr>
          <p:cNvPr id="29" name="TextBox 28"/>
          <p:cNvSpPr txBox="1"/>
          <p:nvPr/>
        </p:nvSpPr>
        <p:spPr>
          <a:xfrm>
            <a:off x="749808" y="2606040"/>
            <a:ext cx="2240280" cy="777240"/>
          </a:xfrm>
          <a:prstGeom prst="rect">
            <a:avLst/>
          </a:prstGeom>
          <a:noFill/>
        </p:spPr>
        <p:txBody>
          <a:bodyPr wrap="square" lIns="0" rIns="0" tIns="0" bIns="0" anchor="t">
            <a:spAutoFit/>
          </a:bodyPr>
          <a:lstStyle/>
          <a:p>
            <a:pPr algn="l">
              <a:spcAft>
                <a:spcPts val="400"/>
              </a:spcAft>
            </a:pPr>
            <a:r>
              <a:rPr sz="1250" b="0" i="0">
                <a:solidFill>
                  <a:srgbClr val="475569"/>
                </a:solidFill>
              </a:rPr>
              <a:t>venv interpreter; the code needs 3.11 or newer</a:t>
            </a:r>
          </a:p>
        </p:txBody>
      </p:sp>
      <p:sp>
        <p:nvSpPr>
          <p:cNvPr id="30" name="Rounded Rectangle 29"/>
          <p:cNvSpPr/>
          <p:nvPr/>
        </p:nvSpPr>
        <p:spPr>
          <a:xfrm>
            <a:off x="3374136" y="1371600"/>
            <a:ext cx="2606040" cy="20574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3575304" y="1572768"/>
            <a:ext cx="457200" cy="45720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3575304" y="2194560"/>
            <a:ext cx="2240280" cy="411480"/>
          </a:xfrm>
          <a:prstGeom prst="rect">
            <a:avLst/>
          </a:prstGeom>
          <a:noFill/>
        </p:spPr>
        <p:txBody>
          <a:bodyPr wrap="square" lIns="0" rIns="0" tIns="0" bIns="0" anchor="t">
            <a:spAutoFit/>
          </a:bodyPr>
          <a:lstStyle/>
          <a:p>
            <a:pPr algn="l">
              <a:spcAft>
                <a:spcPts val="400"/>
              </a:spcAft>
            </a:pPr>
            <a:r>
              <a:rPr sz="1600" b="1" i="0">
                <a:solidFill>
                  <a:srgbClr val="0F172A"/>
                </a:solidFill>
              </a:rPr>
              <a:t>FastAPI 0.141.1</a:t>
            </a:r>
          </a:p>
        </p:txBody>
      </p:sp>
      <p:sp>
        <p:nvSpPr>
          <p:cNvPr id="33" name="TextBox 32"/>
          <p:cNvSpPr txBox="1"/>
          <p:nvPr/>
        </p:nvSpPr>
        <p:spPr>
          <a:xfrm>
            <a:off x="3575304" y="2606040"/>
            <a:ext cx="2240280" cy="777240"/>
          </a:xfrm>
          <a:prstGeom prst="rect">
            <a:avLst/>
          </a:prstGeom>
          <a:noFill/>
        </p:spPr>
        <p:txBody>
          <a:bodyPr wrap="square" lIns="0" rIns="0" tIns="0" bIns="0" anchor="t">
            <a:spAutoFit/>
          </a:bodyPr>
          <a:lstStyle/>
          <a:p>
            <a:pPr algn="l">
              <a:spcAft>
                <a:spcPts val="400"/>
              </a:spcAft>
            </a:pPr>
            <a:r>
              <a:rPr sz="1250" b="0" i="0">
                <a:solidFill>
                  <a:srgbClr val="475569"/>
                </a:solidFill>
              </a:rPr>
              <a:t>22 routes; uvicorn 0.52.4; pydantic 2.13.5</a:t>
            </a:r>
          </a:p>
        </p:txBody>
      </p:sp>
      <p:sp>
        <p:nvSpPr>
          <p:cNvPr id="34" name="Rounded Rectangle 33"/>
          <p:cNvSpPr/>
          <p:nvPr/>
        </p:nvSpPr>
        <p:spPr>
          <a:xfrm>
            <a:off x="6199631" y="1371600"/>
            <a:ext cx="2606040" cy="20574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400799" y="1572768"/>
            <a:ext cx="457200" cy="45720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6400799" y="2194560"/>
            <a:ext cx="2240280" cy="411480"/>
          </a:xfrm>
          <a:prstGeom prst="rect">
            <a:avLst/>
          </a:prstGeom>
          <a:noFill/>
        </p:spPr>
        <p:txBody>
          <a:bodyPr wrap="square" lIns="0" rIns="0" tIns="0" bIns="0" anchor="t">
            <a:spAutoFit/>
          </a:bodyPr>
          <a:lstStyle/>
          <a:p>
            <a:pPr algn="l">
              <a:spcAft>
                <a:spcPts val="400"/>
              </a:spcAft>
            </a:pPr>
            <a:r>
              <a:rPr sz="1600" b="1" i="0">
                <a:solidFill>
                  <a:srgbClr val="0F172A"/>
                </a:solidFill>
              </a:rPr>
              <a:t>SQLAlchemy 2.0.52</a:t>
            </a:r>
          </a:p>
        </p:txBody>
      </p:sp>
      <p:sp>
        <p:nvSpPr>
          <p:cNvPr id="37" name="TextBox 36"/>
          <p:cNvSpPr txBox="1"/>
          <p:nvPr/>
        </p:nvSpPr>
        <p:spPr>
          <a:xfrm>
            <a:off x="6400799" y="2606040"/>
            <a:ext cx="2240280" cy="777240"/>
          </a:xfrm>
          <a:prstGeom prst="rect">
            <a:avLst/>
          </a:prstGeom>
          <a:noFill/>
        </p:spPr>
        <p:txBody>
          <a:bodyPr wrap="square" lIns="0" rIns="0" tIns="0" bIns="0" anchor="t">
            <a:spAutoFit/>
          </a:bodyPr>
          <a:lstStyle/>
          <a:p>
            <a:pPr algn="l">
              <a:spcAft>
                <a:spcPts val="400"/>
              </a:spcAft>
            </a:pPr>
            <a:r>
              <a:rPr sz="1250" b="0" i="0">
                <a:solidFill>
                  <a:srgbClr val="475569"/>
                </a:solidFill>
              </a:rPr>
              <a:t>5 tables on SQLite; APScheduler 3.11.3 for the buffer job</a:t>
            </a:r>
          </a:p>
        </p:txBody>
      </p:sp>
      <p:sp>
        <p:nvSpPr>
          <p:cNvPr id="38" name="Rounded Rectangle 37"/>
          <p:cNvSpPr/>
          <p:nvPr/>
        </p:nvSpPr>
        <p:spPr>
          <a:xfrm>
            <a:off x="9025128" y="1371600"/>
            <a:ext cx="2606040" cy="20574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9226296" y="1572768"/>
            <a:ext cx="457200" cy="45720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9226296" y="2194560"/>
            <a:ext cx="2240280" cy="411480"/>
          </a:xfrm>
          <a:prstGeom prst="rect">
            <a:avLst/>
          </a:prstGeom>
          <a:noFill/>
        </p:spPr>
        <p:txBody>
          <a:bodyPr wrap="square" lIns="0" rIns="0" tIns="0" bIns="0" anchor="t">
            <a:spAutoFit/>
          </a:bodyPr>
          <a:lstStyle/>
          <a:p>
            <a:pPr algn="l">
              <a:spcAft>
                <a:spcPts val="400"/>
              </a:spcAft>
            </a:pPr>
            <a:r>
              <a:rPr sz="1600" b="1" i="0">
                <a:solidFill>
                  <a:srgbClr val="0F172A"/>
                </a:solidFill>
              </a:rPr>
              <a:t>JWT + bcrypt</a:t>
            </a:r>
          </a:p>
        </p:txBody>
      </p:sp>
      <p:sp>
        <p:nvSpPr>
          <p:cNvPr id="41" name="TextBox 40"/>
          <p:cNvSpPr txBox="1"/>
          <p:nvPr/>
        </p:nvSpPr>
        <p:spPr>
          <a:xfrm>
            <a:off x="9226296" y="2606040"/>
            <a:ext cx="2240280" cy="777240"/>
          </a:xfrm>
          <a:prstGeom prst="rect">
            <a:avLst/>
          </a:prstGeom>
          <a:noFill/>
        </p:spPr>
        <p:txBody>
          <a:bodyPr wrap="square" lIns="0" rIns="0" tIns="0" bIns="0" anchor="t">
            <a:spAutoFit/>
          </a:bodyPr>
          <a:lstStyle/>
          <a:p>
            <a:pPr algn="l">
              <a:spcAft>
                <a:spcPts val="400"/>
              </a:spcAft>
            </a:pPr>
            <a:r>
              <a:rPr sz="1250" b="0" i="0">
                <a:solidFill>
                  <a:srgbClr val="475569"/>
                </a:solidFill>
              </a:rPr>
              <a:t>python-jose 3.5.0 (HS256), bcrypt 5.0.0, cost 12</a:t>
            </a:r>
          </a:p>
        </p:txBody>
      </p:sp>
      <p:sp>
        <p:nvSpPr>
          <p:cNvPr id="42" name="Rounded Rectangle 41"/>
          <p:cNvSpPr/>
          <p:nvPr/>
        </p:nvSpPr>
        <p:spPr>
          <a:xfrm>
            <a:off x="548640" y="3657600"/>
            <a:ext cx="2606040" cy="20574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749808" y="3858768"/>
            <a:ext cx="457200" cy="45720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5</a:t>
            </a:r>
          </a:p>
        </p:txBody>
      </p:sp>
      <p:sp>
        <p:nvSpPr>
          <p:cNvPr id="44" name="TextBox 43"/>
          <p:cNvSpPr txBox="1"/>
          <p:nvPr/>
        </p:nvSpPr>
        <p:spPr>
          <a:xfrm>
            <a:off x="749808" y="4480560"/>
            <a:ext cx="2240280" cy="411480"/>
          </a:xfrm>
          <a:prstGeom prst="rect">
            <a:avLst/>
          </a:prstGeom>
          <a:noFill/>
        </p:spPr>
        <p:txBody>
          <a:bodyPr wrap="square" lIns="0" rIns="0" tIns="0" bIns="0" anchor="t">
            <a:spAutoFit/>
          </a:bodyPr>
          <a:lstStyle/>
          <a:p>
            <a:pPr algn="l">
              <a:spcAft>
                <a:spcPts val="400"/>
              </a:spcAft>
            </a:pPr>
            <a:r>
              <a:rPr sz="1600" b="1" i="0">
                <a:solidFill>
                  <a:srgbClr val="0F172A"/>
                </a:solidFill>
              </a:rPr>
              <a:t>Stripe SDK 15.6.1</a:t>
            </a:r>
          </a:p>
        </p:txBody>
      </p:sp>
      <p:sp>
        <p:nvSpPr>
          <p:cNvPr id="45" name="TextBox 44"/>
          <p:cNvSpPr txBox="1"/>
          <p:nvPr/>
        </p:nvSpPr>
        <p:spPr>
          <a:xfrm>
            <a:off x="749808" y="4892040"/>
            <a:ext cx="2240280" cy="777240"/>
          </a:xfrm>
          <a:prstGeom prst="rect">
            <a:avLst/>
          </a:prstGeom>
          <a:noFill/>
        </p:spPr>
        <p:txBody>
          <a:bodyPr wrap="square" lIns="0" rIns="0" tIns="0" bIns="0" anchor="t">
            <a:spAutoFit/>
          </a:bodyPr>
          <a:lstStyle/>
          <a:p>
            <a:pPr algn="l">
              <a:spcAft>
                <a:spcPts val="400"/>
              </a:spcAft>
            </a:pPr>
            <a:r>
              <a:rPr sz="1250" b="0" i="0">
                <a:solidFill>
                  <a:srgbClr val="475569"/>
                </a:solidFill>
              </a:rPr>
              <a:t>Checkout in test mode; offline demo fallback</a:t>
            </a:r>
          </a:p>
        </p:txBody>
      </p:sp>
      <p:sp>
        <p:nvSpPr>
          <p:cNvPr id="46" name="Rounded Rectangle 45"/>
          <p:cNvSpPr/>
          <p:nvPr/>
        </p:nvSpPr>
        <p:spPr>
          <a:xfrm>
            <a:off x="3374136" y="3657600"/>
            <a:ext cx="2606040" cy="20574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Oval 46"/>
          <p:cNvSpPr/>
          <p:nvPr/>
        </p:nvSpPr>
        <p:spPr>
          <a:xfrm>
            <a:off x="3575304" y="3858768"/>
            <a:ext cx="457200" cy="45720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6</a:t>
            </a:r>
          </a:p>
        </p:txBody>
      </p:sp>
      <p:sp>
        <p:nvSpPr>
          <p:cNvPr id="48" name="TextBox 47"/>
          <p:cNvSpPr txBox="1"/>
          <p:nvPr/>
        </p:nvSpPr>
        <p:spPr>
          <a:xfrm>
            <a:off x="3575304" y="4480560"/>
            <a:ext cx="2240280" cy="411480"/>
          </a:xfrm>
          <a:prstGeom prst="rect">
            <a:avLst/>
          </a:prstGeom>
          <a:noFill/>
        </p:spPr>
        <p:txBody>
          <a:bodyPr wrap="square" lIns="0" rIns="0" tIns="0" bIns="0" anchor="t">
            <a:spAutoFit/>
          </a:bodyPr>
          <a:lstStyle/>
          <a:p>
            <a:pPr algn="l">
              <a:spcAft>
                <a:spcPts val="400"/>
              </a:spcAft>
            </a:pPr>
            <a:r>
              <a:rPr sz="1600" b="1" i="0">
                <a:solidFill>
                  <a:srgbClr val="0F172A"/>
                </a:solidFill>
              </a:rPr>
              <a:t>React 19 + Vite 8</a:t>
            </a:r>
          </a:p>
        </p:txBody>
      </p:sp>
      <p:sp>
        <p:nvSpPr>
          <p:cNvPr id="49" name="TextBox 48"/>
          <p:cNvSpPr txBox="1"/>
          <p:nvPr/>
        </p:nvSpPr>
        <p:spPr>
          <a:xfrm>
            <a:off x="3575304" y="4892040"/>
            <a:ext cx="2240280" cy="777240"/>
          </a:xfrm>
          <a:prstGeom prst="rect">
            <a:avLst/>
          </a:prstGeom>
          <a:noFill/>
        </p:spPr>
        <p:txBody>
          <a:bodyPr wrap="square" lIns="0" rIns="0" tIns="0" bIns="0" anchor="t">
            <a:spAutoFit/>
          </a:bodyPr>
          <a:lstStyle/>
          <a:p>
            <a:pPr algn="l">
              <a:spcAft>
                <a:spcPts val="400"/>
              </a:spcAft>
            </a:pPr>
            <a:r>
              <a:rPr sz="1250" b="0" i="0">
                <a:solidFill>
                  <a:srgbClr val="475569"/>
                </a:solidFill>
              </a:rPr>
              <a:t>react-router 7, Recharts, three.js hero</a:t>
            </a:r>
          </a:p>
        </p:txBody>
      </p:sp>
      <p:sp>
        <p:nvSpPr>
          <p:cNvPr id="50" name="Rounded Rectangle 49"/>
          <p:cNvSpPr/>
          <p:nvPr/>
        </p:nvSpPr>
        <p:spPr>
          <a:xfrm>
            <a:off x="6199631" y="3657600"/>
            <a:ext cx="2606040" cy="20574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Oval 50"/>
          <p:cNvSpPr/>
          <p:nvPr/>
        </p:nvSpPr>
        <p:spPr>
          <a:xfrm>
            <a:off x="6400799" y="3858768"/>
            <a:ext cx="457200" cy="45720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7</a:t>
            </a:r>
          </a:p>
        </p:txBody>
      </p:sp>
      <p:sp>
        <p:nvSpPr>
          <p:cNvPr id="52" name="TextBox 51"/>
          <p:cNvSpPr txBox="1"/>
          <p:nvPr/>
        </p:nvSpPr>
        <p:spPr>
          <a:xfrm>
            <a:off x="6400799" y="4480560"/>
            <a:ext cx="2240280" cy="411480"/>
          </a:xfrm>
          <a:prstGeom prst="rect">
            <a:avLst/>
          </a:prstGeom>
          <a:noFill/>
        </p:spPr>
        <p:txBody>
          <a:bodyPr wrap="square" lIns="0" rIns="0" tIns="0" bIns="0" anchor="t">
            <a:spAutoFit/>
          </a:bodyPr>
          <a:lstStyle/>
          <a:p>
            <a:pPr algn="l">
              <a:spcAft>
                <a:spcPts val="400"/>
              </a:spcAft>
            </a:pPr>
            <a:r>
              <a:rPr sz="1600" b="1" i="0">
                <a:solidFill>
                  <a:srgbClr val="0F172A"/>
                </a:solidFill>
              </a:rPr>
              <a:t>pytest, Playwright</a:t>
            </a:r>
          </a:p>
        </p:txBody>
      </p:sp>
      <p:sp>
        <p:nvSpPr>
          <p:cNvPr id="53" name="TextBox 52"/>
          <p:cNvSpPr txBox="1"/>
          <p:nvPr/>
        </p:nvSpPr>
        <p:spPr>
          <a:xfrm>
            <a:off x="6400799" y="4892040"/>
            <a:ext cx="2240280" cy="777240"/>
          </a:xfrm>
          <a:prstGeom prst="rect">
            <a:avLst/>
          </a:prstGeom>
          <a:noFill/>
        </p:spPr>
        <p:txBody>
          <a:bodyPr wrap="square" lIns="0" rIns="0" tIns="0" bIns="0" anchor="t">
            <a:spAutoFit/>
          </a:bodyPr>
          <a:lstStyle/>
          <a:p>
            <a:pPr algn="l">
              <a:spcAft>
                <a:spcPts val="400"/>
              </a:spcAft>
            </a:pPr>
            <a:r>
              <a:rPr sz="1250" b="0" i="0">
                <a:solidFill>
                  <a:srgbClr val="475569"/>
                </a:solidFill>
              </a:rPr>
              <a:t>70 tests; screenshots from the real UI</a:t>
            </a:r>
          </a:p>
        </p:txBody>
      </p:sp>
      <p:sp>
        <p:nvSpPr>
          <p:cNvPr id="54" name="Rounded Rectangle 53"/>
          <p:cNvSpPr/>
          <p:nvPr/>
        </p:nvSpPr>
        <p:spPr>
          <a:xfrm>
            <a:off x="9025128" y="3657600"/>
            <a:ext cx="2606040" cy="20574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Oval 54"/>
          <p:cNvSpPr/>
          <p:nvPr/>
        </p:nvSpPr>
        <p:spPr>
          <a:xfrm>
            <a:off x="9226296" y="3858768"/>
            <a:ext cx="457200" cy="45720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8</a:t>
            </a:r>
          </a:p>
        </p:txBody>
      </p:sp>
      <p:sp>
        <p:nvSpPr>
          <p:cNvPr id="56" name="TextBox 55"/>
          <p:cNvSpPr txBox="1"/>
          <p:nvPr/>
        </p:nvSpPr>
        <p:spPr>
          <a:xfrm>
            <a:off x="9226296" y="4480560"/>
            <a:ext cx="2240280" cy="411480"/>
          </a:xfrm>
          <a:prstGeom prst="rect">
            <a:avLst/>
          </a:prstGeom>
          <a:noFill/>
        </p:spPr>
        <p:txBody>
          <a:bodyPr wrap="square" lIns="0" rIns="0" tIns="0" bIns="0" anchor="t">
            <a:spAutoFit/>
          </a:bodyPr>
          <a:lstStyle/>
          <a:p>
            <a:pPr algn="l">
              <a:spcAft>
                <a:spcPts val="400"/>
              </a:spcAft>
            </a:pPr>
            <a:r>
              <a:rPr sz="1600" b="1" i="0">
                <a:solidFill>
                  <a:srgbClr val="0F172A"/>
                </a:solidFill>
              </a:rPr>
              <a:t>Own simulator</a:t>
            </a:r>
          </a:p>
        </p:txBody>
      </p:sp>
      <p:sp>
        <p:nvSpPr>
          <p:cNvPr id="57" name="TextBox 56"/>
          <p:cNvSpPr txBox="1"/>
          <p:nvPr/>
        </p:nvSpPr>
        <p:spPr>
          <a:xfrm>
            <a:off x="9226296" y="4892040"/>
            <a:ext cx="2240280" cy="777240"/>
          </a:xfrm>
          <a:prstGeom prst="rect">
            <a:avLst/>
          </a:prstGeom>
          <a:noFill/>
        </p:spPr>
        <p:txBody>
          <a:bodyPr wrap="square" lIns="0" rIns="0" tIns="0" bIns="0" anchor="t">
            <a:spAutoFit/>
          </a:bodyPr>
          <a:lstStyle/>
          <a:p>
            <a:pPr algn="l">
              <a:spcAft>
                <a:spcPts val="400"/>
              </a:spcAft>
            </a:pPr>
            <a:r>
              <a:rPr sz="1250" b="0" i="0">
                <a:solidFill>
                  <a:srgbClr val="475569"/>
                </a:solidFill>
              </a:rPr>
              <a:t>pure Python discrete-event model, parity-tested against the engine</a:t>
            </a:r>
          </a:p>
        </p:txBody>
      </p:sp>
      <p:sp>
        <p:nvSpPr>
          <p:cNvPr id="58" name="TextBox 57"/>
          <p:cNvSpPr txBox="1"/>
          <p:nvPr/>
        </p:nvSpPr>
        <p:spPr>
          <a:xfrm>
            <a:off x="548640" y="6035040"/>
            <a:ext cx="11091672" cy="365760"/>
          </a:xfrm>
          <a:prstGeom prst="rect">
            <a:avLst/>
          </a:prstGeom>
          <a:noFill/>
        </p:spPr>
        <p:txBody>
          <a:bodyPr wrap="square" lIns="0" rIns="0" tIns="0" bIns="0" anchor="t">
            <a:spAutoFit/>
          </a:bodyPr>
          <a:lstStyle/>
          <a:p>
            <a:pPr algn="l">
              <a:spcAft>
                <a:spcPts val="400"/>
              </a:spcAft>
            </a:pPr>
            <a:r>
              <a:rPr sz="1300" b="0" i="1">
                <a:solidFill>
                  <a:srgbClr val="475569"/>
                </a:solidFill>
              </a:rPr>
              <a:t>Everything runs on one machine on CPU; the only external service is Stripe, and it is optional.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Implementation progress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14</a:t>
            </a:fld>
            <a:endParaRPr lang="en-US"/>
          </a:p>
        </p:txBody>
      </p:sp>
      <p:graphicFrame>
        <p:nvGraphicFramePr>
          <p:cNvPr id="26" name="Table 25"/>
          <p:cNvGraphicFramePr>
            <a:graphicFrameLocks noGrp="1"/>
          </p:cNvGraphicFramePr>
          <p:nvPr/>
        </p:nvGraphicFramePr>
        <p:xfrm>
          <a:off x="548640" y="1325880"/>
          <a:ext cx="11091672" cy="4937760"/>
        </p:xfrm>
        <a:graphic>
          <a:graphicData uri="http://schemas.openxmlformats.org/drawingml/2006/table">
            <a:tbl>
              <a:tblPr firstRow="0" bandRow="0">
                <a:tableStyleId>{5C22544A-7EE6-4342-B048-85BDC9FD1C3A}</a:tableStyleId>
              </a:tblPr>
              <a:tblGrid>
                <a:gridCol w="3566160"/>
                <a:gridCol w="1554480"/>
                <a:gridCol w="5971032"/>
              </a:tblGrid>
              <a:tr h="548640">
                <a:tc>
                  <a:txBody>
                    <a:bodyPr wrap="square"/>
                    <a:lstStyle/>
                    <a:p>
                      <a:pPr algn="ctr"/>
                      <a:r>
                        <a:rPr sz="1300" b="1">
                          <a:solidFill>
                            <a:srgbClr val="FFFFFF"/>
                          </a:solidFill>
                        </a:rPr>
                        <a:t>Component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Status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Evidence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548640">
                <a:tc>
                  <a:txBody>
                    <a:bodyPr wrap="square"/>
                    <a:lstStyle/>
                    <a:p>
                      <a:pPr algn="l"/>
                      <a:r>
                        <a:rPr sz="1300" b="1">
                          <a:solidFill>
                            <a:srgbClr val="0F172A"/>
                          </a:solidFill>
                        </a:rPr>
                        <a:t>Registration, login, roles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JWT roles; bcrypt; cross-user access blocked (404)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48640">
                <a:tc>
                  <a:txBody>
                    <a:bodyPr wrap="square"/>
                    <a:lstStyle/>
                    <a:p>
                      <a:pPr algn="l"/>
                      <a:r>
                        <a:rPr sz="1300" b="1">
                          <a:solidFill>
                            <a:srgbClr val="0F172A"/>
                          </a:solidFill>
                        </a:rPr>
                        <a:t>Search, reserve, cancel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search 5.7 ms, reserve 19.6 ms mean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48640">
                <a:tc>
                  <a:txBody>
                    <a:bodyPr wrap="square"/>
                    <a:lstStyle/>
                    <a:p>
                      <a:pPr algn="l"/>
                      <a:r>
                        <a:rPr sz="1300" b="1">
                          <a:solidFill>
                            <a:srgbClr val="0F172A"/>
                          </a:solidFill>
                        </a:rPr>
                        <a:t>Check-in, alternate move, check-out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alternate by haversine; failed bookings credited; buffer and trust updated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48640">
                <a:tc>
                  <a:txBody>
                    <a:bodyPr wrap="square"/>
                    <a:lstStyle/>
                    <a:p>
                      <a:pPr algn="l"/>
                      <a:r>
                        <a:rPr sz="1300" b="1">
                          <a:solidFill>
                            <a:srgbClr val="0F172A"/>
                          </a:solidFill>
                        </a:rPr>
                        <a:t>Payments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Partly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Stripe test mode + demo; no receipt document; unauthenticated demo-confirm found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48640">
                <a:tc>
                  <a:txBody>
                    <a:bodyPr wrap="square"/>
                    <a:lstStyle/>
                    <a:p>
                      <a:pPr algn="l"/>
                      <a:r>
                        <a:rPr sz="1300" b="1">
                          <a:solidFill>
                            <a:srgbClr val="0F172A"/>
                          </a:solidFill>
                        </a:rPr>
                        <a:t>Admin console and Strategy Insights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overview, locations, bookings, users, deterministic replay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48640">
                <a:tc>
                  <a:txBody>
                    <a:bodyPr wrap="square"/>
                    <a:lstStyle/>
                    <a:p>
                      <a:pPr algn="l"/>
                      <a:r>
                        <a:rPr sz="1300" b="1">
                          <a:solidFill>
                            <a:srgbClr val="0F172A"/>
                          </a:solidFill>
                        </a:rPr>
                        <a:t>Simulator and experiments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5 policies x 4 populations x 6 bad shares, 30 runs per cell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48640">
                <a:tc>
                  <a:txBody>
                    <a:bodyPr wrap="square"/>
                    <a:lstStyle/>
                    <a:p>
                      <a:pPr algn="l"/>
                      <a:r>
                        <a:rPr sz="1300" b="1">
                          <a:solidFill>
                            <a:srgbClr val="0F172A"/>
                          </a:solidFill>
                        </a:rPr>
                        <a:t>Vehicle profile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Not built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objective 1 asks for it; no table or screen exists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48640">
                <a:tc>
                  <a:txBody>
                    <a:bodyPr wrap="square"/>
                    <a:lstStyle/>
                    <a:p>
                      <a:pPr algn="l"/>
                      <a:r>
                        <a:rPr sz="1300" b="1">
                          <a:solidFill>
                            <a:srgbClr val="0F172A"/>
                          </a:solidFill>
                        </a:rPr>
                        <a:t>Concurrency safety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Open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1 of 10 race trials accepted two bookings for one bay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Preliminary results: simulator and response time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15</a:t>
            </a:fld>
            <a:endParaRPr lang="en-US"/>
          </a:p>
        </p:txBody>
      </p:sp>
      <p:graphicFrame>
        <p:nvGraphicFramePr>
          <p:cNvPr id="26" name="Chart 25"/>
          <p:cNvGraphicFramePr>
            <a:graphicFrameLocks noGrp="1"/>
          </p:cNvGraphicFramePr>
          <p:nvPr/>
        </p:nvGraphicFramePr>
        <p:xfrm>
          <a:off x="548640" y="1234440"/>
          <a:ext cx="5760720" cy="3200400"/>
        </p:xfrm>
        <a:graphic>
          <a:graphicData uri="http://schemas.openxmlformats.org/drawingml/2006/chart">
            <c:chart xmlns:c="http://schemas.openxmlformats.org/drawingml/2006/chart" r:id="rId1"/>
          </a:graphicData>
        </a:graphic>
      </p:graphicFrame>
      <p:sp>
        <p:nvSpPr>
          <p:cNvPr id="27" name="TextBox 26"/>
          <p:cNvSpPr txBox="1"/>
          <p:nvPr/>
        </p:nvSpPr>
        <p:spPr>
          <a:xfrm>
            <a:off x="548640" y="4434840"/>
            <a:ext cx="5760720" cy="457200"/>
          </a:xfrm>
          <a:prstGeom prst="rect">
            <a:avLst/>
          </a:prstGeom>
          <a:noFill/>
        </p:spPr>
        <p:txBody>
          <a:bodyPr wrap="square" lIns="0" rIns="0" tIns="0" bIns="0" anchor="t">
            <a:spAutoFit/>
          </a:bodyPr>
          <a:lstStyle/>
          <a:p>
            <a:pPr algn="ctr">
              <a:spcAft>
                <a:spcPts val="400"/>
              </a:spcAft>
            </a:pPr>
            <a:r>
              <a:rPr sz="1100" b="0" i="1">
                <a:solidFill>
                  <a:srgbClr val="475569"/>
                </a:solidFill>
              </a:rPr>
              <a:t>Refused by admission out of 1,000 requests, 100 vehicles, 25 % overstaying, mean of 30 runs.</a:t>
            </a:r>
          </a:p>
        </p:txBody>
      </p:sp>
      <p:graphicFrame>
        <p:nvGraphicFramePr>
          <p:cNvPr id="28" name="Table 27"/>
          <p:cNvGraphicFramePr>
            <a:graphicFrameLocks noGrp="1"/>
          </p:cNvGraphicFramePr>
          <p:nvPr/>
        </p:nvGraphicFramePr>
        <p:xfrm>
          <a:off x="6583680" y="1280160"/>
          <a:ext cx="5056632" cy="2688336"/>
        </p:xfrm>
        <a:graphic>
          <a:graphicData uri="http://schemas.openxmlformats.org/drawingml/2006/table">
            <a:tbl>
              <a:tblPr firstRow="0" bandRow="0">
                <a:tableStyleId>{5C22544A-7EE6-4342-B048-85BDC9FD1C3A}</a:tableStyleId>
              </a:tblPr>
              <a:tblGrid>
                <a:gridCol w="2651760"/>
                <a:gridCol w="1097280"/>
                <a:gridCol w="1307592"/>
              </a:tblGrid>
              <a:tr h="384048">
                <a:tc>
                  <a:txBody>
                    <a:bodyPr wrap="square"/>
                    <a:lstStyle/>
                    <a:p>
                      <a:pPr algn="ctr"/>
                      <a:r>
                        <a:rPr sz="1150" b="1">
                          <a:solidFill>
                            <a:srgbClr val="FFFFFF"/>
                          </a:solidFill>
                        </a:rPr>
                        <a:t>Endpoint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150" b="1">
                          <a:solidFill>
                            <a:srgbClr val="FFFFFF"/>
                          </a:solidFill>
                        </a:rPr>
                        <a:t>mean ms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150" b="1">
                          <a:solidFill>
                            <a:srgbClr val="FFFFFF"/>
                          </a:solidFill>
                        </a:rPr>
                        <a:t>p95 ms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384048">
                <a:tc>
                  <a:txBody>
                    <a:bodyPr wrap="square"/>
                    <a:lstStyle/>
                    <a:p>
                      <a:pPr algn="l"/>
                      <a:r>
                        <a:rPr sz="1150" b="1">
                          <a:solidFill>
                            <a:srgbClr val="0F172A"/>
                          </a:solidFill>
                        </a:rPr>
                        <a:t>Search availability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r"/>
                      <a:r>
                        <a:rPr sz="1150" b="0">
                          <a:solidFill>
                            <a:srgbClr val="0F172A"/>
                          </a:solidFill>
                        </a:rPr>
                        <a:t>5.7</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r"/>
                      <a:r>
                        <a:rPr sz="1150" b="0">
                          <a:solidFill>
                            <a:srgbClr val="0F172A"/>
                          </a:solidFill>
                        </a:rPr>
                        <a:t>6.6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384048">
                <a:tc>
                  <a:txBody>
                    <a:bodyPr wrap="square"/>
                    <a:lstStyle/>
                    <a:p>
                      <a:pPr algn="l"/>
                      <a:r>
                        <a:rPr sz="1150" b="1">
                          <a:solidFill>
                            <a:srgbClr val="0F172A"/>
                          </a:solidFill>
                        </a:rPr>
                        <a:t>Reserve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r"/>
                      <a:r>
                        <a:rPr sz="1150" b="0">
                          <a:solidFill>
                            <a:srgbClr val="0F172A"/>
                          </a:solidFill>
                        </a:rPr>
                        <a:t>19.6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r"/>
                      <a:r>
                        <a:rPr sz="1150" b="0">
                          <a:solidFill>
                            <a:srgbClr val="0F172A"/>
                          </a:solidFill>
                        </a:rPr>
                        <a:t>28.2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384048">
                <a:tc>
                  <a:txBody>
                    <a:bodyPr wrap="square"/>
                    <a:lstStyle/>
                    <a:p>
                      <a:pPr algn="l"/>
                      <a:r>
                        <a:rPr sz="1150" b="1">
                          <a:solidFill>
                            <a:srgbClr val="0F172A"/>
                          </a:solidFill>
                        </a:rPr>
                        <a:t>Check in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r"/>
                      <a:r>
                        <a:rPr sz="1150" b="0">
                          <a:solidFill>
                            <a:srgbClr val="0F172A"/>
                          </a:solidFill>
                        </a:rPr>
                        <a:t>14.9</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r"/>
                      <a:r>
                        <a:rPr sz="1150" b="0">
                          <a:solidFill>
                            <a:srgbClr val="0F172A"/>
                          </a:solidFill>
                        </a:rPr>
                        <a:t>25.0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384048">
                <a:tc>
                  <a:txBody>
                    <a:bodyPr wrap="square"/>
                    <a:lstStyle/>
                    <a:p>
                      <a:pPr algn="l"/>
                      <a:r>
                        <a:rPr sz="1150" b="1">
                          <a:solidFill>
                            <a:srgbClr val="0F172A"/>
                          </a:solidFill>
                        </a:rPr>
                        <a:t>Check out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r"/>
                      <a:r>
                        <a:rPr sz="1150" b="0">
                          <a:solidFill>
                            <a:srgbClr val="0F172A"/>
                          </a:solidFill>
                        </a:rPr>
                        <a:t>14.6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r"/>
                      <a:r>
                        <a:rPr sz="1150" b="0">
                          <a:solidFill>
                            <a:srgbClr val="0F172A"/>
                          </a:solidFill>
                        </a:rPr>
                        <a:t>15.7</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384048">
                <a:tc>
                  <a:txBody>
                    <a:bodyPr wrap="square"/>
                    <a:lstStyle/>
                    <a:p>
                      <a:pPr algn="l"/>
                      <a:r>
                        <a:rPr sz="1150" b="1">
                          <a:solidFill>
                            <a:srgbClr val="0F172A"/>
                          </a:solidFill>
                        </a:rPr>
                        <a:t>Login (bcrypt)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r"/>
                      <a:r>
                        <a:rPr sz="1150" b="0">
                          <a:solidFill>
                            <a:srgbClr val="0F172A"/>
                          </a:solidFill>
                        </a:rPr>
                        <a:t>220.4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r"/>
                      <a:r>
                        <a:rPr sz="1150" b="0">
                          <a:solidFill>
                            <a:srgbClr val="0F172A"/>
                          </a:solidFill>
                        </a:rPr>
                        <a:t>234.5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384048">
                <a:tc>
                  <a:txBody>
                    <a:bodyPr wrap="square"/>
                    <a:lstStyle/>
                    <a:p>
                      <a:pPr algn="l"/>
                      <a:r>
                        <a:rPr sz="1150" b="1">
                          <a:solidFill>
                            <a:srgbClr val="0F172A"/>
                          </a:solidFill>
                        </a:rPr>
                        <a:t>My bookings (N+1)</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r"/>
                      <a:r>
                        <a:rPr sz="1150" b="0">
                          <a:solidFill>
                            <a:srgbClr val="0F172A"/>
                          </a:solidFill>
                        </a:rPr>
                        <a:t>180.1</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r"/>
                      <a:r>
                        <a:rPr sz="1150" b="0">
                          <a:solidFill>
                            <a:srgbClr val="0F172A"/>
                          </a:solidFill>
                        </a:rPr>
                        <a:t>207.4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
        <p:nvSpPr>
          <p:cNvPr id="29" name="TextBox 28"/>
          <p:cNvSpPr txBox="1"/>
          <p:nvPr/>
        </p:nvSpPr>
        <p:spPr>
          <a:xfrm>
            <a:off x="548640" y="4937760"/>
            <a:ext cx="11091672" cy="1554480"/>
          </a:xfrm>
          <a:prstGeom prst="rect">
            <a:avLst/>
          </a:prstGeom>
          <a:noFill/>
        </p:spPr>
        <p:txBody>
          <a:bodyPr wrap="square" lIns="0" rIns="0" tIns="0" bIns="0" anchor="t">
            <a:spAutoFit/>
          </a:bodyPr>
          <a:lstStyle/>
          <a:p>
            <a:pPr algn="l" marL="256032" indent="-201168">
              <a:spcAft>
                <a:spcPts val="400"/>
              </a:spcAft>
              <a:buChar char="•"/>
            </a:pPr>
            <a:r>
              <a:rPr sz="1250" b="0" i="0">
                <a:solidFill>
                  <a:srgbClr val="0F172A"/>
                </a:solidFill>
              </a:rPr>
              <a:t>The shipped dynamic buffer refuses the most requests (277 against 30 with no buffer); the paper's late-departure rule refuses 165. The paper's 'dynamic is best' is not reproduced for the shipped rule.</a:t>
            </a:r>
          </a:p>
          <a:p>
            <a:pPr algn="l" marL="256032" indent="-201168">
              <a:spcAft>
                <a:spcPts val="400"/>
              </a:spcAft>
              <a:buChar char="•"/>
            </a:pPr>
            <a:r>
              <a:rPr sz="1250" b="0" i="0">
                <a:solidFill>
                  <a:srgbClr val="0F172A"/>
                </a:solidFill>
              </a:rPr>
              <a:t>'No park' stays rare under every policy (at most 1.4 per run) because the alternate step absorbs overflow; the Trust lockout causes more refusals than the buffer once 25 % of drivers overstay.</a:t>
            </a:r>
          </a:p>
          <a:p>
            <a:pPr algn="l" marL="256032" indent="-201168">
              <a:spcAft>
                <a:spcPts val="400"/>
              </a:spcAft>
              <a:buChar char="•"/>
            </a:pPr>
            <a:r>
              <a:rPr sz="1250" b="0" i="1">
                <a:solidFill>
                  <a:srgbClr val="475569"/>
                </a:solidFill>
              </a:rPr>
              <a:t>Simulator, not SUMO, and synthetic seed: relative findings only.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Output screens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16</a:t>
            </a:fld>
            <a:endParaRPr lang="en-US"/>
          </a:p>
        </p:txBody>
      </p:sp>
      <p:pic>
        <p:nvPicPr>
          <p:cNvPr id="26" name="Picture 25" descr="06_find_parking.png"/>
          <p:cNvPicPr>
            <a:picLocks noChangeAspect="1"/>
          </p:cNvPicPr>
          <p:nvPr/>
        </p:nvPicPr>
        <p:blipFill>
          <a:blip r:embed="rId2"/>
          <a:stretch>
            <a:fillRect/>
          </a:stretch>
        </p:blipFill>
        <p:spPr>
          <a:xfrm>
            <a:off x="598932" y="1188720"/>
            <a:ext cx="3511296" cy="2194560"/>
          </a:xfrm>
          <a:prstGeom prst="rect">
            <a:avLst/>
          </a:prstGeom>
          <a:ln w="9525">
            <a:solidFill>
              <a:srgbClr val="D5DCE6"/>
            </a:solidFill>
          </a:ln>
        </p:spPr>
      </p:pic>
      <p:sp>
        <p:nvSpPr>
          <p:cNvPr id="27" name="TextBox 26"/>
          <p:cNvSpPr txBox="1"/>
          <p:nvPr/>
        </p:nvSpPr>
        <p:spPr>
          <a:xfrm>
            <a:off x="548640" y="3429000"/>
            <a:ext cx="3611880" cy="411480"/>
          </a:xfrm>
          <a:prstGeom prst="rect">
            <a:avLst/>
          </a:prstGeom>
          <a:noFill/>
        </p:spPr>
        <p:txBody>
          <a:bodyPr wrap="square" lIns="0" rIns="0" tIns="0" bIns="0" anchor="t">
            <a:spAutoFit/>
          </a:bodyPr>
          <a:lstStyle/>
          <a:p>
            <a:pPr algn="ctr">
              <a:spcAft>
                <a:spcPts val="400"/>
              </a:spcAft>
            </a:pPr>
            <a:r>
              <a:rPr sz="1100" b="0" i="1">
                <a:solidFill>
                  <a:srgbClr val="475569"/>
                </a:solidFill>
              </a:rPr>
              <a:t>Find parking: forecast bookable bays per location</a:t>
            </a:r>
          </a:p>
        </p:txBody>
      </p:sp>
      <p:pic>
        <p:nvPicPr>
          <p:cNvPr id="28" name="Picture 27" descr="15_moved_to_alternate.png"/>
          <p:cNvPicPr>
            <a:picLocks noChangeAspect="1"/>
          </p:cNvPicPr>
          <p:nvPr/>
        </p:nvPicPr>
        <p:blipFill>
          <a:blip r:embed="rId1"/>
          <a:stretch>
            <a:fillRect/>
          </a:stretch>
        </p:blipFill>
        <p:spPr>
          <a:xfrm>
            <a:off x="4338828" y="1188720"/>
            <a:ext cx="3511296" cy="2194560"/>
          </a:xfrm>
          <a:prstGeom prst="rect">
            <a:avLst/>
          </a:prstGeom>
          <a:ln w="9525">
            <a:solidFill>
              <a:srgbClr val="D5DCE6"/>
            </a:solidFill>
          </a:ln>
        </p:spPr>
      </p:pic>
      <p:sp>
        <p:nvSpPr>
          <p:cNvPr id="29" name="TextBox 28"/>
          <p:cNvSpPr txBox="1"/>
          <p:nvPr/>
        </p:nvSpPr>
        <p:spPr>
          <a:xfrm>
            <a:off x="4288536" y="3429000"/>
            <a:ext cx="3611880" cy="411480"/>
          </a:xfrm>
          <a:prstGeom prst="rect">
            <a:avLst/>
          </a:prstGeom>
          <a:noFill/>
        </p:spPr>
        <p:txBody>
          <a:bodyPr wrap="square" lIns="0" rIns="0" tIns="0" bIns="0" anchor="t">
            <a:spAutoFit/>
          </a:bodyPr>
          <a:lstStyle/>
          <a:p>
            <a:pPr algn="ctr">
              <a:spcAft>
                <a:spcPts val="400"/>
              </a:spcAft>
            </a:pPr>
            <a:r>
              <a:rPr sz="1100" b="0" i="1">
                <a:solidFill>
                  <a:srgbClr val="475569"/>
                </a:solidFill>
              </a:rPr>
              <a:t>Arrival at a full lot: moved to the nearest alternate (0.1 km)</a:t>
            </a:r>
          </a:p>
        </p:txBody>
      </p:sp>
      <p:pic>
        <p:nvPicPr>
          <p:cNvPr id="30" name="Picture 29" descr="10_my_bookings.png"/>
          <p:cNvPicPr>
            <a:picLocks noChangeAspect="1"/>
          </p:cNvPicPr>
          <p:nvPr/>
        </p:nvPicPr>
        <p:blipFill>
          <a:blip r:embed="rId5"/>
          <a:stretch>
            <a:fillRect/>
          </a:stretch>
        </p:blipFill>
        <p:spPr>
          <a:xfrm>
            <a:off x="8078723" y="1188720"/>
            <a:ext cx="3511296" cy="2194560"/>
          </a:xfrm>
          <a:prstGeom prst="rect">
            <a:avLst/>
          </a:prstGeom>
          <a:ln w="9525">
            <a:solidFill>
              <a:srgbClr val="D5DCE6"/>
            </a:solidFill>
          </a:ln>
        </p:spPr>
      </p:pic>
      <p:sp>
        <p:nvSpPr>
          <p:cNvPr id="31" name="TextBox 30"/>
          <p:cNvSpPr txBox="1"/>
          <p:nvPr/>
        </p:nvSpPr>
        <p:spPr>
          <a:xfrm>
            <a:off x="8028431" y="3429000"/>
            <a:ext cx="3611880" cy="411480"/>
          </a:xfrm>
          <a:prstGeom prst="rect">
            <a:avLst/>
          </a:prstGeom>
          <a:noFill/>
        </p:spPr>
        <p:txBody>
          <a:bodyPr wrap="square" lIns="0" rIns="0" tIns="0" bIns="0" anchor="t">
            <a:spAutoFit/>
          </a:bodyPr>
          <a:lstStyle/>
          <a:p>
            <a:pPr algn="ctr">
              <a:spcAft>
                <a:spcPts val="400"/>
              </a:spcAft>
            </a:pPr>
            <a:r>
              <a:rPr sz="1100" b="0" i="1">
                <a:solidFill>
                  <a:srgbClr val="475569"/>
                </a:solidFill>
              </a:rPr>
              <a:t>My bookings with check-in, cancel and payment actions</a:t>
            </a:r>
          </a:p>
        </p:txBody>
      </p:sp>
      <p:pic>
        <p:nvPicPr>
          <p:cNvPr id="32" name="Picture 31" descr="13_trust_score.png"/>
          <p:cNvPicPr>
            <a:picLocks noChangeAspect="1"/>
          </p:cNvPicPr>
          <p:nvPr/>
        </p:nvPicPr>
        <p:blipFill>
          <a:blip r:embed="rId6"/>
          <a:stretch>
            <a:fillRect/>
          </a:stretch>
        </p:blipFill>
        <p:spPr>
          <a:xfrm>
            <a:off x="598932" y="3886200"/>
            <a:ext cx="3511296" cy="2194560"/>
          </a:xfrm>
          <a:prstGeom prst="rect">
            <a:avLst/>
          </a:prstGeom>
          <a:ln w="9525">
            <a:solidFill>
              <a:srgbClr val="D5DCE6"/>
            </a:solidFill>
          </a:ln>
        </p:spPr>
      </p:pic>
      <p:sp>
        <p:nvSpPr>
          <p:cNvPr id="33" name="TextBox 32"/>
          <p:cNvSpPr txBox="1"/>
          <p:nvPr/>
        </p:nvSpPr>
        <p:spPr>
          <a:xfrm>
            <a:off x="548640" y="6126480"/>
            <a:ext cx="3611880" cy="411480"/>
          </a:xfrm>
          <a:prstGeom prst="rect">
            <a:avLst/>
          </a:prstGeom>
          <a:noFill/>
        </p:spPr>
        <p:txBody>
          <a:bodyPr wrap="square" lIns="0" rIns="0" tIns="0" bIns="0" anchor="t">
            <a:spAutoFit/>
          </a:bodyPr>
          <a:lstStyle/>
          <a:p>
            <a:pPr algn="ctr">
              <a:spcAft>
                <a:spcPts val="400"/>
              </a:spcAft>
            </a:pPr>
            <a:r>
              <a:rPr sz="1100" b="0" i="1">
                <a:solidFill>
                  <a:srgbClr val="475569"/>
                </a:solidFill>
              </a:rPr>
              <a:t>Trust Score and event history</a:t>
            </a:r>
          </a:p>
        </p:txBody>
      </p:sp>
      <p:pic>
        <p:nvPicPr>
          <p:cNvPr id="34" name="Picture 33" descr="19_admin_insights.png"/>
          <p:cNvPicPr>
            <a:picLocks noChangeAspect="1"/>
          </p:cNvPicPr>
          <p:nvPr/>
        </p:nvPicPr>
        <p:blipFill>
          <a:blip r:embed="rId7"/>
          <a:stretch>
            <a:fillRect/>
          </a:stretch>
        </p:blipFill>
        <p:spPr>
          <a:xfrm>
            <a:off x="4338828" y="3886200"/>
            <a:ext cx="3511296" cy="2194560"/>
          </a:xfrm>
          <a:prstGeom prst="rect">
            <a:avLst/>
          </a:prstGeom>
          <a:ln w="9525">
            <a:solidFill>
              <a:srgbClr val="D5DCE6"/>
            </a:solidFill>
          </a:ln>
        </p:spPr>
      </p:pic>
      <p:sp>
        <p:nvSpPr>
          <p:cNvPr id="35" name="TextBox 34"/>
          <p:cNvSpPr txBox="1"/>
          <p:nvPr/>
        </p:nvSpPr>
        <p:spPr>
          <a:xfrm>
            <a:off x="4288536" y="6126480"/>
            <a:ext cx="3611880" cy="411480"/>
          </a:xfrm>
          <a:prstGeom prst="rect">
            <a:avLst/>
          </a:prstGeom>
          <a:noFill/>
        </p:spPr>
        <p:txBody>
          <a:bodyPr wrap="square" lIns="0" rIns="0" tIns="0" bIns="0" anchor="t">
            <a:spAutoFit/>
          </a:bodyPr>
          <a:lstStyle/>
          <a:p>
            <a:pPr algn="ctr">
              <a:spcAft>
                <a:spcPts val="400"/>
              </a:spcAft>
            </a:pPr>
            <a:r>
              <a:rPr sz="1100" b="0" i="1">
                <a:solidFill>
                  <a:srgbClr val="475569"/>
                </a:solidFill>
              </a:rPr>
              <a:t>Admin Strategy Insights</a:t>
            </a:r>
          </a:p>
        </p:txBody>
      </p:sp>
      <p:pic>
        <p:nvPicPr>
          <p:cNvPr id="36" name="Picture 35" descr="17_admin_overview.png"/>
          <p:cNvPicPr>
            <a:picLocks noChangeAspect="1"/>
          </p:cNvPicPr>
          <p:nvPr/>
        </p:nvPicPr>
        <p:blipFill>
          <a:blip r:embed="rId8"/>
          <a:stretch>
            <a:fillRect/>
          </a:stretch>
        </p:blipFill>
        <p:spPr>
          <a:xfrm>
            <a:off x="8078723" y="3886200"/>
            <a:ext cx="3511296" cy="2194560"/>
          </a:xfrm>
          <a:prstGeom prst="rect">
            <a:avLst/>
          </a:prstGeom>
          <a:ln w="9525">
            <a:solidFill>
              <a:srgbClr val="D5DCE6"/>
            </a:solidFill>
          </a:ln>
        </p:spPr>
      </p:pic>
      <p:sp>
        <p:nvSpPr>
          <p:cNvPr id="37" name="TextBox 36"/>
          <p:cNvSpPr txBox="1"/>
          <p:nvPr/>
        </p:nvSpPr>
        <p:spPr>
          <a:xfrm>
            <a:off x="8028431" y="6126480"/>
            <a:ext cx="3611880" cy="411480"/>
          </a:xfrm>
          <a:prstGeom prst="rect">
            <a:avLst/>
          </a:prstGeom>
          <a:noFill/>
        </p:spPr>
        <p:txBody>
          <a:bodyPr wrap="square" lIns="0" rIns="0" tIns="0" bIns="0" anchor="t">
            <a:spAutoFit/>
          </a:bodyPr>
          <a:lstStyle/>
          <a:p>
            <a:pPr algn="ctr">
              <a:spcAft>
                <a:spcPts val="400"/>
              </a:spcAft>
            </a:pPr>
            <a:r>
              <a:rPr sz="1100" b="0" i="1">
                <a:solidFill>
                  <a:srgbClr val="475569"/>
                </a:solidFill>
              </a:rPr>
              <a:t>Admin overview</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Initial testing and observations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17</a:t>
            </a:fld>
            <a:endParaRPr lang="en-US"/>
          </a:p>
        </p:txBody>
      </p:sp>
      <p:sp>
        <p:nvSpPr>
          <p:cNvPr id="26" name="Rounded Rectangle 25"/>
          <p:cNvSpPr/>
          <p:nvPr/>
        </p:nvSpPr>
        <p:spPr>
          <a:xfrm>
            <a:off x="548640"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48640" y="1280160"/>
            <a:ext cx="73152" cy="11430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49808"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70 / 70</a:t>
            </a:r>
          </a:p>
        </p:txBody>
      </p:sp>
      <p:sp>
        <p:nvSpPr>
          <p:cNvPr id="29" name="TextBox 28"/>
          <p:cNvSpPr txBox="1"/>
          <p:nvPr/>
        </p:nvSpPr>
        <p:spPr>
          <a:xfrm>
            <a:off x="749808"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pytest tests pass (29 engine, 36 API, 5 parity)</a:t>
            </a:r>
          </a:p>
        </p:txBody>
      </p:sp>
      <p:sp>
        <p:nvSpPr>
          <p:cNvPr id="30" name="Rounded Rectangle 29"/>
          <p:cNvSpPr/>
          <p:nvPr/>
        </p:nvSpPr>
        <p:spPr>
          <a:xfrm>
            <a:off x="3374136"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374136" y="1280160"/>
            <a:ext cx="73152" cy="1143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575304"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27 / 27</a:t>
            </a:r>
          </a:p>
        </p:txBody>
      </p:sp>
      <p:sp>
        <p:nvSpPr>
          <p:cNvPr id="33" name="TextBox 32"/>
          <p:cNvSpPr txBox="1"/>
          <p:nvPr/>
        </p:nvSpPr>
        <p:spPr>
          <a:xfrm>
            <a:off x="3575304"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end-to-end smoke checks on a throw-away database</a:t>
            </a:r>
          </a:p>
        </p:txBody>
      </p:sp>
      <p:sp>
        <p:nvSpPr>
          <p:cNvPr id="34" name="Rounded Rectangle 33"/>
          <p:cNvSpPr/>
          <p:nvPr/>
        </p:nvSpPr>
        <p:spPr>
          <a:xfrm>
            <a:off x="6199631"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199631" y="1280160"/>
            <a:ext cx="73152" cy="114300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799"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0 / 10,300</a:t>
            </a:r>
          </a:p>
        </p:txBody>
      </p:sp>
      <p:sp>
        <p:nvSpPr>
          <p:cNvPr id="37" name="TextBox 36"/>
          <p:cNvSpPr txBox="1"/>
          <p:nvPr/>
        </p:nvSpPr>
        <p:spPr>
          <a:xfrm>
            <a:off x="6400799"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simulator decisions that differ from the real engine</a:t>
            </a:r>
          </a:p>
        </p:txBody>
      </p:sp>
      <p:sp>
        <p:nvSpPr>
          <p:cNvPr id="38" name="Rounded Rectangle 37"/>
          <p:cNvSpPr/>
          <p:nvPr/>
        </p:nvSpPr>
        <p:spPr>
          <a:xfrm>
            <a:off x="9025128"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9025128" y="1280160"/>
            <a:ext cx="73152" cy="11430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226296"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1 / 10</a:t>
            </a:r>
          </a:p>
        </p:txBody>
      </p:sp>
      <p:sp>
        <p:nvSpPr>
          <p:cNvPr id="41" name="TextBox 40"/>
          <p:cNvSpPr txBox="1"/>
          <p:nvPr/>
        </p:nvSpPr>
        <p:spPr>
          <a:xfrm>
            <a:off x="9226296"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concurrency trials that over-booked one bay</a:t>
            </a:r>
          </a:p>
        </p:txBody>
      </p:sp>
      <p:graphicFrame>
        <p:nvGraphicFramePr>
          <p:cNvPr id="42" name="Table 41"/>
          <p:cNvGraphicFramePr>
            <a:graphicFrameLocks noGrp="1"/>
          </p:cNvGraphicFramePr>
          <p:nvPr/>
        </p:nvGraphicFramePr>
        <p:xfrm>
          <a:off x="548640" y="2697480"/>
          <a:ext cx="5394960" cy="3364992"/>
        </p:xfrm>
        <a:graphic>
          <a:graphicData uri="http://schemas.openxmlformats.org/drawingml/2006/table">
            <a:tbl>
              <a:tblPr firstRow="0" bandRow="0">
                <a:tableStyleId>{5C22544A-7EE6-4342-B048-85BDC9FD1C3A}</a:tableStyleId>
              </a:tblPr>
              <a:tblGrid>
                <a:gridCol w="3291840"/>
                <a:gridCol w="2103120"/>
              </a:tblGrid>
              <a:tr h="420624">
                <a:tc>
                  <a:txBody>
                    <a:bodyPr wrap="square"/>
                    <a:lstStyle/>
                    <a:p>
                      <a:pPr algn="ctr"/>
                      <a:r>
                        <a:rPr sz="1200" b="1">
                          <a:solidFill>
                            <a:srgbClr val="FFFFFF"/>
                          </a:solidFill>
                        </a:rPr>
                        <a:t>Probe on our own system</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00" b="1">
                          <a:solidFill>
                            <a:srgbClr val="FFFFFF"/>
                          </a:solidFill>
                        </a:rPr>
                        <a:t>Result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420624">
                <a:tc>
                  <a:txBody>
                    <a:bodyPr wrap="square"/>
                    <a:lstStyle/>
                    <a:p>
                      <a:pPr algn="l"/>
                      <a:r>
                        <a:rPr sz="1200" b="1">
                          <a:solidFill>
                            <a:srgbClr val="0F172A"/>
                          </a:solidFill>
                        </a:rPr>
                        <a:t>Payment confirm without login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marks a booking paid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20624">
                <a:tc>
                  <a:txBody>
                    <a:bodyPr wrap="square"/>
                    <a:lstStyle/>
                    <a:p>
                      <a:pPr algn="l"/>
                      <a:r>
                        <a:rPr sz="1200" b="1">
                          <a:solidFill>
                            <a:srgbClr val="0F172A"/>
                          </a:solidFill>
                        </a:rPr>
                        <a:t>Token forged with default secret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accepted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20624">
                <a:tc>
                  <a:txBody>
                    <a:bodyPr wrap="square"/>
                    <a:lstStyle/>
                    <a:p>
                      <a:pPr algn="l"/>
                      <a:r>
                        <a:rPr sz="1200" b="1">
                          <a:solidFill>
                            <a:srgbClr val="0F172A"/>
                          </a:solidFill>
                        </a:rPr>
                        <a:t>30 wrong passwords in a row</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no lockout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20624">
                <a:tc>
                  <a:txBody>
                    <a:bodyPr wrap="square"/>
                    <a:lstStyle/>
                    <a:p>
                      <a:pPr algn="l"/>
                      <a:r>
                        <a:rPr sz="1200" b="1">
                          <a:solidFill>
                            <a:srgbClr val="0F172A"/>
                          </a:solidFill>
                        </a:rPr>
                        <a:t>Past booking window</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accepted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20624">
                <a:tc>
                  <a:txBody>
                    <a:bodyPr wrap="square"/>
                    <a:lstStyle/>
                    <a:p>
                      <a:pPr algn="l"/>
                      <a:r>
                        <a:rPr sz="1200" b="1">
                          <a:solidFill>
                            <a:srgbClr val="0F172A"/>
                          </a:solidFill>
                        </a:rPr>
                        <a:t>Check-in 25 days early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accepted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20624">
                <a:tc>
                  <a:txBody>
                    <a:bodyPr wrap="square"/>
                    <a:lstStyle/>
                    <a:p>
                      <a:pPr algn="l"/>
                      <a:r>
                        <a:rPr sz="1200" b="1">
                          <a:solidFill>
                            <a:srgbClr val="0F172A"/>
                          </a:solidFill>
                        </a:rPr>
                        <a:t>SQL-injection style inputs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422, no server error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20624">
                <a:tc>
                  <a:txBody>
                    <a:bodyPr wrap="square"/>
                    <a:lstStyle/>
                    <a:p>
                      <a:pPr algn="l"/>
                      <a:r>
                        <a:rPr sz="1200" b="1">
                          <a:solidFill>
                            <a:srgbClr val="0F172A"/>
                          </a:solidFill>
                        </a:rPr>
                        <a:t>Cross-user cancel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blocked (404)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
        <p:nvSpPr>
          <p:cNvPr id="43" name="TextBox 42"/>
          <p:cNvSpPr txBox="1"/>
          <p:nvPr/>
        </p:nvSpPr>
        <p:spPr>
          <a:xfrm>
            <a:off x="6309360" y="2697480"/>
            <a:ext cx="5330952" cy="3657600"/>
          </a:xfrm>
          <a:prstGeom prst="rect">
            <a:avLst/>
          </a:prstGeom>
          <a:noFill/>
        </p:spPr>
        <p:txBody>
          <a:bodyPr wrap="square" lIns="0" rIns="0" tIns="0" bIns="0" anchor="t">
            <a:spAutoFit/>
          </a:bodyPr>
          <a:lstStyle/>
          <a:p>
            <a:pPr algn="l" marL="256032" indent="-201168">
              <a:spcAft>
                <a:spcPts val="800"/>
              </a:spcAft>
              <a:buChar char="•"/>
            </a:pPr>
            <a:r>
              <a:rPr sz="1350" b="1" i="0">
                <a:solidFill>
                  <a:srgbClr val="0F172A"/>
                </a:solidFill>
              </a:rPr>
              <a:t>What the tests cover</a:t>
            </a:r>
            <a:r>
              <a:rPr sz="1350" b="0" i="0">
                <a:solidFill>
                  <a:srgbClr val="0F172A"/>
                </a:solidFill>
              </a:rPr>
              <a:t>: haversine, fees, admission, alternates, trust and suspension, buffer reset, every route group, role guards and the simulator's parity with the engine.</a:t>
            </a:r>
          </a:p>
          <a:p>
            <a:pPr algn="l" marL="256032" indent="-201168">
              <a:spcAft>
                <a:spcPts val="800"/>
              </a:spcAft>
              <a:buChar char="•"/>
            </a:pPr>
            <a:r>
              <a:rPr sz="1350" b="1" i="0">
                <a:solidFill>
                  <a:srgbClr val="0F172A"/>
                </a:solidFill>
              </a:rPr>
              <a:t>Found by the probes</a:t>
            </a:r>
            <a:r>
              <a:rPr sz="1350" b="0" i="0">
                <a:solidFill>
                  <a:srgbClr val="0F172A"/>
                </a:solidFill>
              </a:rPr>
              <a:t>: five weaknesses that are documented as limitations, not fixed in this phase.</a:t>
            </a:r>
          </a:p>
          <a:p>
            <a:pPr algn="l" marL="256032" indent="-201168">
              <a:spcAft>
                <a:spcPts val="800"/>
              </a:spcAft>
              <a:buChar char="•"/>
            </a:pPr>
            <a:r>
              <a:rPr sz="1350" b="1" i="0">
                <a:solidFill>
                  <a:srgbClr val="0F172A"/>
                </a:solidFill>
              </a:rPr>
              <a:t>Not done</a:t>
            </a:r>
            <a:r>
              <a:rPr sz="1350" b="0" i="0">
                <a:solidFill>
                  <a:srgbClr val="0F172A"/>
                </a:solidFill>
              </a:rPr>
              <a:t>: user study, load test beyond 8 threads, security audit, Stripe live mode.</a:t>
            </a:r>
          </a:p>
          <a:p>
            <a:pPr algn="l" marL="256032" indent="-201168">
              <a:spcAft>
                <a:spcPts val="400"/>
              </a:spcAft>
              <a:buChar char="•"/>
            </a:pPr>
            <a:r>
              <a:rPr sz="1350" b="0" i="1">
                <a:solidFill>
                  <a:srgbClr val="475569"/>
                </a:solidFill>
              </a:rPr>
              <a:t>Admission takes 0.33 ms in process.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Challenges and corrective actions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18</a:t>
            </a:fld>
            <a:endParaRPr lang="en-US"/>
          </a:p>
        </p:txBody>
      </p:sp>
      <p:graphicFrame>
        <p:nvGraphicFramePr>
          <p:cNvPr id="26" name="Table 25"/>
          <p:cNvGraphicFramePr>
            <a:graphicFrameLocks noGrp="1"/>
          </p:cNvGraphicFramePr>
          <p:nvPr/>
        </p:nvGraphicFramePr>
        <p:xfrm>
          <a:off x="548640" y="1280160"/>
          <a:ext cx="11091672" cy="4974336"/>
        </p:xfrm>
        <a:graphic>
          <a:graphicData uri="http://schemas.openxmlformats.org/drawingml/2006/table">
            <a:tbl>
              <a:tblPr firstRow="0" bandRow="0">
                <a:tableStyleId>{5C22544A-7EE6-4342-B048-85BDC9FD1C3A}</a:tableStyleId>
              </a:tblPr>
              <a:tblGrid>
                <a:gridCol w="2377440"/>
                <a:gridCol w="4572000"/>
                <a:gridCol w="4142232"/>
              </a:tblGrid>
              <a:tr h="621792">
                <a:tc>
                  <a:txBody>
                    <a:bodyPr wrap="square"/>
                    <a:lstStyle/>
                    <a:p>
                      <a:pPr algn="ctr"/>
                      <a:r>
                        <a:rPr sz="1250" b="1">
                          <a:solidFill>
                            <a:srgbClr val="FFFFFF"/>
                          </a:solidFill>
                        </a:rPr>
                        <a:t>Challenge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50" b="1">
                          <a:solidFill>
                            <a:srgbClr val="FFFFFF"/>
                          </a:solidFill>
                        </a:rPr>
                        <a:t>What we found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50" b="1">
                          <a:solidFill>
                            <a:srgbClr val="FFFFFF"/>
                          </a:solidFill>
                        </a:rPr>
                        <a:t>Action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621792">
                <a:tc>
                  <a:txBody>
                    <a:bodyPr wrap="square"/>
                    <a:lstStyle/>
                    <a:p>
                      <a:pPr algn="l"/>
                      <a:r>
                        <a:rPr sz="1250" b="1">
                          <a:solidFill>
                            <a:srgbClr val="0F172A"/>
                          </a:solidFill>
                        </a:rPr>
                        <a:t>No real parking data</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Only synthetic seed data exists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Labelled it synthetic; added a simulator of the base paper's scenario</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21792">
                <a:tc>
                  <a:txBody>
                    <a:bodyPr wrap="square"/>
                    <a:lstStyle/>
                    <a:p>
                      <a:pPr algn="l"/>
                      <a:r>
                        <a:rPr sz="1250" b="1">
                          <a:solidFill>
                            <a:srgbClr val="0F172A"/>
                          </a:solidFill>
                        </a:rPr>
                        <a:t>Buffer direction differs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Code grows the buffer on on-time check-outs, paper on late ones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Measured both; reported, product code unchanged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21792">
                <a:tc>
                  <a:txBody>
                    <a:bodyPr wrap="square"/>
                    <a:lstStyle/>
                    <a:p>
                      <a:pPr algn="l"/>
                      <a:r>
                        <a:rPr sz="1250" b="1">
                          <a:solidFill>
                            <a:srgbClr val="0F172A"/>
                          </a:solidFill>
                        </a:rPr>
                        <a:t>Refusals from lockout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Trust lockout refuses 271 requests per run at 50 % bad drivers (static 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Added a Trust-off ablation; lockout length is future work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21792">
                <a:tc>
                  <a:txBody>
                    <a:bodyPr wrap="square"/>
                    <a:lstStyle/>
                    <a:p>
                      <a:pPr algn="l"/>
                      <a:r>
                        <a:rPr sz="1250" b="1">
                          <a:solidFill>
                            <a:srgbClr val="0F172A"/>
                          </a:solidFill>
                        </a:rPr>
                        <a:t>Slow listings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My bookings 180 ms, admin bookings 273 ms (2 queries per row)</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Documented; batch the queries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21792">
                <a:tc>
                  <a:txBody>
                    <a:bodyPr wrap="square"/>
                    <a:lstStyle/>
                    <a:p>
                      <a:pPr algn="l"/>
                      <a:r>
                        <a:rPr sz="1250" b="1">
                          <a:solidFill>
                            <a:srgbClr val="0F172A"/>
                          </a:solidFill>
                        </a:rPr>
                        <a:t>Over-booking race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1 of 10 trials accepted two bookings for one bay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Documented; needs an atomic check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21792">
                <a:tc>
                  <a:txBody>
                    <a:bodyPr wrap="square"/>
                    <a:lstStyle/>
                    <a:p>
                      <a:pPr algn="l"/>
                      <a:r>
                        <a:rPr sz="1250" b="1">
                          <a:solidFill>
                            <a:srgbClr val="0F172A"/>
                          </a:solidFill>
                        </a:rPr>
                        <a:t>Payment confirm open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Demo-confirm route needs no login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Documented; disable outside demo mode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21792">
                <a:tc>
                  <a:txBody>
                    <a:bodyPr wrap="square"/>
                    <a:lstStyle/>
                    <a:p>
                      <a:pPr algn="l"/>
                      <a:r>
                        <a:rPr sz="1250" b="1">
                          <a:solidFill>
                            <a:srgbClr val="0F172A"/>
                          </a:solidFill>
                        </a:rPr>
                        <a:t>Objectives only partly met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No vehicle profile and no downloadable receipt exist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Reported as gaps; planned for the next phase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Next steps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19</a:t>
            </a:fld>
            <a:endParaRPr lang="en-US"/>
          </a:p>
        </p:txBody>
      </p:sp>
      <p:sp>
        <p:nvSpPr>
          <p:cNvPr id="26" name="Rounded Rectangle 25"/>
          <p:cNvSpPr/>
          <p:nvPr/>
        </p:nvSpPr>
        <p:spPr>
          <a:xfrm>
            <a:off x="548640" y="1463040"/>
            <a:ext cx="3520440" cy="29260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64592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61848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Harden</a:t>
            </a:r>
          </a:p>
        </p:txBody>
      </p:sp>
      <p:sp>
        <p:nvSpPr>
          <p:cNvPr id="29" name="TextBox 28"/>
          <p:cNvSpPr txBox="1"/>
          <p:nvPr/>
        </p:nvSpPr>
        <p:spPr>
          <a:xfrm>
            <a:off x="749808" y="2331720"/>
            <a:ext cx="3118104" cy="1920240"/>
          </a:xfrm>
          <a:prstGeom prst="rect">
            <a:avLst/>
          </a:prstGeom>
          <a:noFill/>
        </p:spPr>
        <p:txBody>
          <a:bodyPr wrap="square" lIns="0" rIns="0" tIns="0" bIns="0" anchor="t">
            <a:spAutoFit/>
          </a:bodyPr>
          <a:lstStyle/>
          <a:p>
            <a:pPr algn="l">
              <a:spcAft>
                <a:spcPts val="400"/>
              </a:spcAft>
            </a:pPr>
            <a:r>
              <a:rPr sz="1600" b="0" i="0">
                <a:solidFill>
                  <a:srgbClr val="475569"/>
                </a:solidFill>
              </a:rPr>
              <a:t>Make the admission check atomic, close the unauthenticated payment route, require a real JWT secret, rate-limit login, reject past windows, and batch the listing queries.</a:t>
            </a:r>
          </a:p>
        </p:txBody>
      </p:sp>
      <p:sp>
        <p:nvSpPr>
          <p:cNvPr id="30" name="Rounded Rectangle 29"/>
          <p:cNvSpPr/>
          <p:nvPr/>
        </p:nvSpPr>
        <p:spPr>
          <a:xfrm>
            <a:off x="4334255" y="1463040"/>
            <a:ext cx="3520440" cy="29260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64592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5175503" y="161848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Complete</a:t>
            </a:r>
          </a:p>
        </p:txBody>
      </p:sp>
      <p:sp>
        <p:nvSpPr>
          <p:cNvPr id="33" name="TextBox 32"/>
          <p:cNvSpPr txBox="1"/>
          <p:nvPr/>
        </p:nvSpPr>
        <p:spPr>
          <a:xfrm>
            <a:off x="4535423" y="2331720"/>
            <a:ext cx="3118104" cy="1920240"/>
          </a:xfrm>
          <a:prstGeom prst="rect">
            <a:avLst/>
          </a:prstGeom>
          <a:noFill/>
        </p:spPr>
        <p:txBody>
          <a:bodyPr wrap="square" lIns="0" rIns="0" tIns="0" bIns="0" anchor="t">
            <a:spAutoFit/>
          </a:bodyPr>
          <a:lstStyle/>
          <a:p>
            <a:pPr algn="l">
              <a:spcAft>
                <a:spcPts val="400"/>
              </a:spcAft>
            </a:pPr>
            <a:r>
              <a:rPr sz="1600" b="0" i="0">
                <a:solidFill>
                  <a:srgbClr val="475569"/>
                </a:solidFill>
              </a:rPr>
              <a:t>Add the vehicle profile and a downloadable receipt (objectives 1 and 4), and decide the buffer direction and lockout length with the guide.</a:t>
            </a:r>
          </a:p>
        </p:txBody>
      </p:sp>
      <p:sp>
        <p:nvSpPr>
          <p:cNvPr id="34" name="Rounded Rectangle 33"/>
          <p:cNvSpPr/>
          <p:nvPr/>
        </p:nvSpPr>
        <p:spPr>
          <a:xfrm>
            <a:off x="8119871" y="1463040"/>
            <a:ext cx="3520440" cy="29260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64592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8961119" y="161848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Deliver</a:t>
            </a:r>
          </a:p>
        </p:txBody>
      </p:sp>
      <p:sp>
        <p:nvSpPr>
          <p:cNvPr id="37" name="TextBox 36"/>
          <p:cNvSpPr txBox="1"/>
          <p:nvPr/>
        </p:nvSpPr>
        <p:spPr>
          <a:xfrm>
            <a:off x="8321040" y="2331720"/>
            <a:ext cx="3118104" cy="1920240"/>
          </a:xfrm>
          <a:prstGeom prst="rect">
            <a:avLst/>
          </a:prstGeom>
          <a:noFill/>
        </p:spPr>
        <p:txBody>
          <a:bodyPr wrap="square" lIns="0" rIns="0" tIns="0" bIns="0" anchor="t">
            <a:spAutoFit/>
          </a:bodyPr>
          <a:lstStyle/>
          <a:p>
            <a:pPr algn="l">
              <a:spcAft>
                <a:spcPts val="400"/>
              </a:spcAft>
            </a:pPr>
            <a:r>
              <a:rPr sz="1600" b="0" i="0">
                <a:solidFill>
                  <a:srgbClr val="475569"/>
                </a:solidFill>
              </a:rPr>
              <a:t>Finish the final report and IEEE paper from the measured results, rehearse the final demo, and keep every number tied to the metrics files.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Questions and suggestions are welcome.</a:t>
            </a: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ParkSure">
  <a:themeElements>
    <a:clrScheme name="ParkSure">
      <a:dk1>
        <a:srgbClr val="0F172A"/>
      </a:dk1>
      <a:lt1>
        <a:srgbClr val="FFFFFF"/>
      </a:lt1>
      <a:dk2>
        <a:srgbClr val="1B2A41"/>
      </a:dk2>
      <a:lt2>
        <a:srgbClr val="EEF2F7"/>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ParkSur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rkSur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Vehicle Parking Reservation System: Review 2</dc:title>
  <dc:subject>Batch C3 (CSE-C)</dc:subject>
  <dc:creator>Palle Yashaswini, Mohammed Muneeb Ahmed, Kamasani Manisha, Pothagani Nithyya Bhargava</dc:creator>
  <cp:lastModifiedBy/>
  <cp:revision>1</cp:revision>
  <dcterms:created xsi:type="dcterms:W3CDTF">2026-10-13T12:40:05Z</dcterms:created>
  <dcterms:modified xsi:type="dcterms:W3CDTF">2026-10-13T12:40:05Z</dcterms:modified>
  <cp:keywords>parking reservation, hold-back buffer, trust score, FastAPI, React</cp:keywords>
  <dc:description/>
</cp:coreProperties>
</file>