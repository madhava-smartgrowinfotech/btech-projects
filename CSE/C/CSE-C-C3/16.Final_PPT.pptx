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0-1.jpg" ContentType="image/jpg"/>
  <Override PartName="/ppt/media/image-11-1.jpg" ContentType="image/jpg"/>
  <Override PartName="/ppt/media/image-12-1.jpg" ContentType="image/jpg"/>
  <Override PartName="/ppt/media/image-13-1.jpg" ContentType="image/jpg"/>
  <Override PartName="/ppt/media/image-14-1.jpg" ContentType="image/jpg"/>
  <Override PartName="/ppt/media/image-15-1.jpg" ContentType="image/jpg"/>
  <Override PartName="/ppt/media/image-16-1.jpg" ContentType="image/jpg"/>
  <Override PartName="/ppt/media/image-17-1.jpg" ContentType="image/jpg"/>
  <Override PartName="/ppt/media/image-18-1.jpg" ContentType="image/jpg"/>
  <Override PartName="/ppt/media/image-19-1.jpg" ContentType="image/jpg"/>
  <Override PartName="/ppt/media/image-2-1.jpg" ContentType="image/jpg"/>
  <Override PartName="/ppt/media/image-20-1.jpg" ContentType="image/jpg"/>
  <Override PartName="/ppt/media/image-21-1.jpg" ContentType="image/jpg"/>
  <Override PartName="/ppt/media/image-22-1.jpg" ContentType="image/jpg"/>
  <Override PartName="/ppt/media/image-23-1.jpg" ContentType="image/jpg"/>
  <Override PartName="/ppt/media/image-24-1.jpg" ContentType="image/jpg"/>
  <Override PartName="/ppt/media/image-25-1.jpg" ContentType="image/jpg"/>
  <Override PartName="/ppt/media/image-26-1.jpg" ContentType="image/jpg"/>
  <Override PartName="/ppt/media/image-27-1.jpg" ContentType="image/jpg"/>
  <Override PartName="/ppt/media/image-28-1.jpg" ContentType="image/jpg"/>
  <Override PartName="/ppt/media/image-3-1.jpg" ContentType="image/jpg"/>
  <Override PartName="/ppt/media/image-4-1.jpg" ContentType="image/jpg"/>
  <Override PartName="/ppt/media/image-5-1.jpg" ContentType="image/jpg"/>
  <Override PartName="/ppt/media/image-6-1.jpg" ContentType="image/jpg"/>
  <Override PartName="/ppt/media/image-7-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ParkSure: an advance-reservation parking platform with a hold-back buffer, nearest-alternate re-allocation and a driver Trust Score.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agenda follows the report: problem, design, method, results, comparison, screens,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 first, then the engine, the evidence and the honest limits.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registered base paper is Jemmali et al. (IEEE OJCS 2026). ParkSure does not implement its grouping heuristics. The reservation buffer and star ideas come from the Cabri et al. arXiv paper, which the report cites as the technical basis.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Only what the two base papers say about the related works is used. The four batch-survey titles could not be located online.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gap statement from the batch literature survey, made concrete with the points the base papers leave open.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four problem points are taken from the batch problem statement.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from the batch document. The conclusion slide gives the status of each.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proposed system as two chains: what the driver does, and what the engine decides.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tiers; the engine is a plain module of the backend, not a separate service.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Method in one picture and the four numeric rules that define the engine.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is no ML dataset. All demo data are generated by the product itself, so every result built on them is labelled synthetic.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two decisions the engine makes, in code order. Implemented in app/engine.py and the reservation routes in app/main.py.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Sequence of one booking and the use cases of the driver, administrator and payment provider.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tables; one SQLite file; schema created by SQLAlchemy at start-up.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facts and the testing that was actually run, with its limits. Own-booking lists are slow because each row issues two extra queries.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central measurement. Say plainly that this is a simulator built from the paper's scenario, with ParkSure's own rules, and that the paper's claim that the dynamic buffer is best is not reproduced for the shipped rule.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Outcome table for the arrival stage. A driver who is moved to an alternate that is physically full is a hidden failure of the shipped design.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Parameter analysis of the scenario variables. The Trust ablation shows how much of the refusal count comes from the lockout.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Trust dynamics, the synthetic replay and the defects found by the team's own probes. These are limitations, not achievements.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plainly that the problems and settings differ. Only the qualitative buffer claim can be compared, and it is not reproduced for the shipped rule.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screens from the running app on a fresh seeded database.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alternate-move screen is produced by the real engine, not a mock-up.</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Overview and Strategy Insights; the numbers come from the seeded synthetic history plus the demo run.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explicit about which objectives were met, partly met or not met.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Limitations first, then concrete next steps drawn from the measured defects.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is in the report.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14.xml"/><Relationship Id="rId5"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3" Type="http://schemas.openxmlformats.org/officeDocument/2006/relationships/image" Target="../media/image9.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3" Type="http://schemas.openxmlformats.org/officeDocument/2006/relationships/image" Target="../media/image10.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 Id="rId4" Type="http://schemas.openxmlformats.org/officeDocument/2006/relationships/image" Target="../media/image11.png"/><Relationship Id="rId5"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14.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18.png"/><Relationship Id="rId3" Type="http://schemas.openxmlformats.org/officeDocument/2006/relationships/image" Target="../media/image17.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548640" y="1373177"/>
            <a:ext cx="11064240" cy="1005840"/>
          </a:xfrm>
          <a:prstGeom prst="rect">
            <a:avLst/>
          </a:prstGeom>
          <a:noFill/>
          <a:ln/>
        </p:spPr>
        <p:txBody>
          <a:bodyPr wrap="square" rtlCol="0" anchor="ctr"/>
          <a:lstStyle/>
          <a:p>
            <a:pPr algn="ctr" indent="0" marL="0">
              <a:buNone/>
            </a:pPr>
            <a:r>
              <a:rPr lang="en-US" sz="3000" b="1" dirty="0">
                <a:solidFill>
                  <a:srgbClr val="1F3864"/>
                </a:solidFill>
                <a:latin typeface="Calibri" pitchFamily="34" charset="0"/>
                <a:ea typeface="Calibri" pitchFamily="34" charset="-122"/>
                <a:cs typeface="Calibri" pitchFamily="34" charset="-120"/>
              </a:rPr>
              <a:t>Online Vehicle Parking Reservation System</a:t>
            </a:r>
            <a:endParaRPr lang="en-US" sz="3200" dirty="0"/>
          </a:p>
        </p:txBody>
      </p:sp>
      <p:sp>
        <p:nvSpPr>
          <p:cNvPr id="5" name="Text 2"/>
          <p:cNvSpPr/>
          <p:nvPr/>
        </p:nvSpPr>
        <p:spPr>
          <a:xfrm>
            <a:off x="548640" y="2379017"/>
            <a:ext cx="11064240" cy="457200"/>
          </a:xfrm>
          <a:prstGeom prst="rect">
            <a:avLst/>
          </a:prstGeom>
          <a:noFill/>
          <a:ln/>
        </p:spPr>
        <p:txBody>
          <a:bodyPr wrap="square" rtlCol="0" anchor="ctr"/>
          <a:lstStyle/>
          <a:p>
            <a:pPr algn="ctr" indent="0" marL="0">
              <a:buNone/>
            </a:pPr>
            <a:r>
              <a:rPr lang="en-US" sz="2000" dirty="0">
                <a:solidFill>
                  <a:srgbClr val="2E75B6"/>
                </a:solidFill>
                <a:latin typeface="Calibri" pitchFamily="34" charset="0"/>
                <a:ea typeface="Calibri" pitchFamily="34" charset="-122"/>
                <a:cs typeface="Calibri" pitchFamily="34" charset="-120"/>
              </a:rPr>
              <a:t>Final Review  ·  ParkSure</a:t>
            </a:r>
            <a:endParaRPr lang="en-US" sz="2000" dirty="0"/>
          </a:p>
        </p:txBody>
      </p:sp>
      <p:sp>
        <p:nvSpPr>
          <p:cNvPr id="6" name="Text 3"/>
          <p:cNvSpPr/>
          <p:nvPr/>
        </p:nvSpPr>
        <p:spPr>
          <a:xfrm>
            <a:off x="731520" y="3110537"/>
            <a:ext cx="5486400" cy="365760"/>
          </a:xfrm>
          <a:prstGeom prst="rect">
            <a:avLst/>
          </a:prstGeom>
          <a:noFill/>
          <a:ln/>
        </p:spPr>
        <p:txBody>
          <a:bodyPr wrap="square"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Team Details : Batch C3</a:t>
            </a:r>
            <a:endParaRPr lang="en-US" sz="1800" dirty="0"/>
          </a:p>
        </p:txBody>
      </p:sp>
      <p:sp>
        <p:nvSpPr>
          <p:cNvPr id="7" name="Text 4"/>
          <p:cNvSpPr/>
          <p:nvPr/>
        </p:nvSpPr>
        <p:spPr>
          <a:xfrm>
            <a:off x="731520" y="3522017"/>
            <a:ext cx="5486400" cy="1645920"/>
          </a:xfrm>
          <a:prstGeom prst="rect">
            <a:avLst/>
          </a:prstGeom>
          <a:noFill/>
          <a:ln/>
        </p:spPr>
        <p:txBody>
          <a:bodyPr wrap="square" rtlCol="0" anchor="t"/>
          <a:lstStyle/>
          <a:p>
            <a:pPr indent="0" marL="0">
              <a:buNone/>
            </a:pPr>
            <a:r>
              <a:rPr lang="en-US" sz="1600" dirty="0">
                <a:solidFill>
                  <a:srgbClr val="222222"/>
                </a:solidFill>
                <a:latin typeface="Calibri" pitchFamily="34" charset="0"/>
                <a:ea typeface="Calibri" pitchFamily="34" charset="-122"/>
                <a:cs typeface="Calibri" pitchFamily="34" charset="-120"/>
              </a:rPr>
              <a:t>23K91A05H9   PALLE YASHASWINI</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24K95A0518   MOHAMMED MUNEEB AHMED</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24K95A0513   KAMASANI MANISHA</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23K91A05J6   POTHAGANI NITHYYA BHARGAVA</a:t>
            </a:r>
            <a:endParaRPr lang="en-US" sz="1600" dirty="0"/>
          </a:p>
        </p:txBody>
      </p:sp>
      <p:sp>
        <p:nvSpPr>
          <p:cNvPr id="8" name="Text 5"/>
          <p:cNvSpPr/>
          <p:nvPr/>
        </p:nvSpPr>
        <p:spPr>
          <a:xfrm>
            <a:off x="6675120" y="3110537"/>
            <a:ext cx="4937760" cy="1371600"/>
          </a:xfrm>
          <a:prstGeom prst="rect">
            <a:avLst/>
          </a:prstGeom>
          <a:noFill/>
          <a:ln/>
        </p:spPr>
        <p:txBody>
          <a:bodyPr wrap="square"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Under the Esteemed Guidance of</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V Pallavi</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[DESIGNATION], Department of CSE</a:t>
            </a:r>
            <a:endParaRPr lang="en-US" sz="1600" dirty="0"/>
          </a:p>
        </p:txBody>
      </p:sp>
      <p:sp>
        <p:nvSpPr>
          <p:cNvPr id="9" name="Text 6"/>
          <p:cNvSpPr/>
          <p:nvPr/>
        </p:nvSpPr>
        <p:spPr>
          <a:xfrm>
            <a:off x="548640" y="6035040"/>
            <a:ext cx="11064240" cy="320040"/>
          </a:xfrm>
          <a:prstGeom prst="rect">
            <a:avLst/>
          </a:prstGeom>
          <a:noFill/>
          <a:ln/>
        </p:spPr>
        <p:txBody>
          <a:bodyPr wrap="square" rtlCol="0" anchor="ctr"/>
          <a:lstStyle/>
          <a:p>
            <a:pPr algn="ctr" indent="0" marL="0">
              <a:buNone/>
            </a:pPr>
            <a:r>
              <a:rPr lang="en-US" sz="1200" dirty="0">
                <a:solidFill>
                  <a:srgbClr val="595959"/>
                </a:solidFill>
                <a:latin typeface="Calibri" pitchFamily="34" charset="0"/>
                <a:ea typeface="Calibri" pitchFamily="34" charset="-122"/>
                <a:cs typeface="Calibri" pitchFamily="34" charset="-120"/>
              </a:rPr>
              <a:t>DEPARTMENT OF COMPUTER SCIENCE AND ENGINEERING  ·  TKR College of Engineering &amp; Technology  ·  Academic Year [ACADEMIC YEAR]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Table of Contents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Abstract</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Base Papers &amp; Literature Survey</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Research Gap, Problem Statement &amp; Objectives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Proposed System &amp; Architecture</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Methodology, Data &amp; Engine Rules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Interaction &amp; Data Design</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Implementation, Performance &amp; Testing</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Results: Buffer Policies, Arrival Outcomes, Trust, Robustness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Comparison with the Base Papers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Output Screens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Conclusion, Future Scope &amp; References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Abstract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3</a:t>
            </a:r>
            <a:endParaRPr lang="en-US" sz="1000" dirty="0"/>
          </a:p>
        </p:txBody>
      </p:sp>
      <p:sp>
        <p:nvSpPr>
          <p:cNvPr id="7" name="TextBox 6"/>
          <p:cNvSpPr txBox="1"/>
          <p:nvPr/>
        </p:nvSpPr>
        <p:spPr>
          <a:xfrm>
            <a:off x="502920" y="1645920"/>
            <a:ext cx="11155680" cy="4663440"/>
          </a:xfrm>
          <a:prstGeom prst="rect">
            <a:avLst/>
          </a:prstGeom>
          <a:noFill/>
        </p:spPr>
        <p:txBody>
          <a:bodyPr wrap="square" lIns="0" rIns="0" tIns="0" bIns="0" anchor="t">
            <a:spAutoFit/>
          </a:bodyPr>
          <a:lstStyle/>
          <a:p>
            <a:pPr algn="l" marL="256032" indent="-201168">
              <a:spcAft>
                <a:spcPts val="800"/>
              </a:spcAft>
              <a:buChar char="•"/>
            </a:pPr>
            <a:r>
              <a:rPr sz="1600" b="0" i="0">
                <a:solidFill>
                  <a:srgbClr val="222222"/>
                </a:solidFill>
                <a:latin typeface="Calibri"/>
                <a:ea typeface="Calibri"/>
                <a:cs typeface="Calibri"/>
              </a:rPr>
              <a:t>Drivers circle for parking and operators plan from paper registers. ParkSure is a web platform where drivers search live availability, reserve a bay in advance, pay online (Stripe test mode or demo checkout), check in and out, and administrators manage locations and see analytics. FastAPI + SQLite backend, React console, 22 API routes, 5 tables.</a:t>
            </a:r>
          </a:p>
          <a:p>
            <a:pPr algn="l" marL="256032" indent="-201168">
              <a:spcAft>
                <a:spcPts val="800"/>
              </a:spcAft>
              <a:buChar char="•"/>
            </a:pPr>
            <a:r>
              <a:rPr sz="1600" b="0" i="0">
                <a:solidFill>
                  <a:srgbClr val="222222"/>
                </a:solidFill>
                <a:latin typeface="Calibri"/>
                <a:ea typeface="Calibri"/>
                <a:cs typeface="Calibri"/>
              </a:rPr>
              <a:t>A Smart Availability Engine admits a booking only if overlapping bookings + buffer &lt; capacity, keeps a hold-back buffer per location, moves a driver to the nearest alternate (haversine) when a lot is full on arrival, and scores drivers with a 0-5 Trust Score that sets fee multipliers.</a:t>
            </a:r>
          </a:p>
          <a:p>
            <a:pPr algn="l" marL="256032" indent="-201168">
              <a:spcAft>
                <a:spcPts val="800"/>
              </a:spcAft>
              <a:buChar char="•"/>
            </a:pPr>
            <a:r>
              <a:rPr sz="1600" b="0" i="0">
                <a:solidFill>
                  <a:srgbClr val="222222"/>
                </a:solidFill>
                <a:latin typeface="Calibri"/>
                <a:ea typeface="Calibri"/>
                <a:cs typeface="Calibri"/>
              </a:rPr>
              <a:t>Verified by 70 pytest tests and 27 smoke checks; a simulator matches the real engine on 10,300 decisions with 0 mismatches. Search takes 5.7 ms, a reservation 19.6 ms (127.0.0.1, 200 requests each).</a:t>
            </a:r>
          </a:p>
          <a:p>
            <a:pPr algn="l" marL="256032" indent="-201168">
              <a:spcAft>
                <a:spcPts val="800"/>
              </a:spcAft>
              <a:buChar char="•"/>
            </a:pPr>
            <a:r>
              <a:rPr sz="1600" b="0" i="0">
                <a:solidFill>
                  <a:srgbClr val="222222"/>
                </a:solidFill>
                <a:latin typeface="Calibri"/>
                <a:ea typeface="Calibri"/>
                <a:cs typeface="Calibri"/>
              </a:rPr>
              <a:t>Simulated buffer policies (80-110 vehicles, 30 runs): the shipped dynamic rule refuses the most reservations (277 of 1,000 at 100 vehicles against 30 with no buffer); 'no park' stays rare under every policy.</a:t>
            </a:r>
          </a:p>
          <a:p>
            <a:pPr algn="l" marL="256032" indent="-201168">
              <a:spcAft>
                <a:spcPts val="800"/>
              </a:spcAft>
              <a:buChar char="•"/>
            </a:pPr>
            <a:r>
              <a:rPr sz="1600" b="0" i="0">
                <a:solidFill>
                  <a:srgbClr val="222222"/>
                </a:solidFill>
                <a:latin typeface="Calibri"/>
                <a:ea typeface="Calibri"/>
                <a:cs typeface="Calibri"/>
              </a:rPr>
              <a:t>Honest limits: demo data are synthetic; probes found an over-booking race (1 of 10 trials), an unauthenticated payment-confirm route and no vehicle profile or receipt; no real-user study.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Base Paper</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4</a:t>
            </a:r>
            <a:endParaRPr lang="en-US" sz="1000" dirty="0"/>
          </a:p>
        </p:txBody>
      </p:sp>
      <p:sp>
        <p:nvSpPr>
          <p:cNvPr id="7" name="TextBox 6"/>
          <p:cNvSpPr txBox="1"/>
          <p:nvPr/>
        </p:nvSpPr>
        <p:spPr>
          <a:xfrm>
            <a:off x="502920" y="1600200"/>
            <a:ext cx="11155680" cy="685800"/>
          </a:xfrm>
          <a:prstGeom prst="rect">
            <a:avLst/>
          </a:prstGeom>
          <a:noFill/>
        </p:spPr>
        <p:txBody>
          <a:bodyPr wrap="square" lIns="0" rIns="0" tIns="0" bIns="0" anchor="t">
            <a:spAutoFit/>
          </a:bodyPr>
          <a:lstStyle/>
          <a:p>
            <a:pPr algn="l">
              <a:spcAft>
                <a:spcPts val="400"/>
              </a:spcAft>
            </a:pPr>
            <a:r>
              <a:rPr sz="1200" b="0" i="0">
                <a:solidFill>
                  <a:srgbClr val="1F3864"/>
                </a:solidFill>
                <a:latin typeface="Calibri"/>
                <a:ea typeface="Calibri"/>
                <a:cs typeface="Calibri"/>
              </a:rPr>
              <a:t>M. Jemmali, L. K. B. Melhim, A. Ammar, T. R. Gadekallu and W. Boulila, "Smart parking for medical cities via passenger-aware allocation and fast grouping-permutation heuristics," IEEE Open Journal of the Computer Society, vol. 7, pp. 1106-1118, 2026, doi: 10.1109/OJCS.2026.3693801.</a:t>
            </a:r>
          </a:p>
        </p:txBody>
      </p:sp>
      <p:graphicFrame>
        <p:nvGraphicFramePr>
          <p:cNvPr id="8" name="Table 7"/>
          <p:cNvGraphicFramePr>
            <a:graphicFrameLocks noGrp="1"/>
          </p:cNvGraphicFramePr>
          <p:nvPr/>
        </p:nvGraphicFramePr>
        <p:xfrm>
          <a:off x="502920" y="2377440"/>
          <a:ext cx="11155680" cy="3968496"/>
        </p:xfrm>
        <a:graphic>
          <a:graphicData uri="http://schemas.openxmlformats.org/drawingml/2006/table">
            <a:tbl>
              <a:tblPr firstRow="0" bandRow="0">
                <a:tableStyleId>{5C22544A-7EE6-4342-B048-85BDC9FD1C3A}</a:tableStyleId>
              </a:tblPr>
              <a:tblGrid>
                <a:gridCol w="1554480"/>
                <a:gridCol w="9601200"/>
              </a:tblGrid>
              <a:tr h="566928">
                <a:tc>
                  <a:txBody>
                    <a:bodyPr wrap="square"/>
                    <a:lstStyle/>
                    <a:p>
                      <a:pPr algn="ctr"/>
                      <a:r>
                        <a:rPr sz="1200" b="1">
                          <a:solidFill>
                            <a:srgbClr val="1F3864"/>
                          </a:solidFill>
                          <a:latin typeface="Calibri"/>
                          <a:ea typeface="Calibri"/>
                          <a:cs typeface="Calibri"/>
                        </a:rPr>
                        <a:t>Aspect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Registered base paper (Jemmali et al.): passenger-aware allocation for medical cities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66928">
                <a:tc>
                  <a:txBody>
                    <a:bodyPr wrap="square"/>
                    <a:lstStyle/>
                    <a:p>
                      <a:pPr algn="l"/>
                      <a:r>
                        <a:rPr sz="1200" b="1">
                          <a:solidFill>
                            <a:srgbClr val="222222"/>
                          </a:solidFill>
                          <a:latin typeface="Calibri"/>
                          <a:ea typeface="Calibri"/>
                          <a:cs typeface="Calibri"/>
                        </a:rPr>
                        <a:t>Problem</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Allocate vehicles to parking spaces by the total number of passengers, not vehicle count, to balance the load between zones of a medical city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200" b="1">
                          <a:solidFill>
                            <a:srgbClr val="222222"/>
                          </a:solidFill>
                          <a:latin typeface="Calibri"/>
                          <a:ea typeface="Calibri"/>
                          <a:cs typeface="Calibri"/>
                        </a:rPr>
                        <a:t>Method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Four-stage grouping procedure and six grouping-permutation heuristics; architecture with booking interface, IoT sensing, validation and a central allocation engine; QR-code booking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200" b="1">
                          <a:solidFill>
                            <a:srgbClr val="222222"/>
                          </a:solidFill>
                          <a:latin typeface="Calibri"/>
                          <a:ea typeface="Calibri"/>
                          <a:cs typeface="Calibri"/>
                        </a:rPr>
                        <a:t>Evaluation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Nine instance classes, 2,790 generated test cases; best algorithm has the highest best-solution share (68.2 %); GVb matches or beats baseline MR on 1,547 instances (55.4 %), in sub-millisecond time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200" b="1">
                          <a:solidFill>
                            <a:srgbClr val="222222"/>
                          </a:solidFill>
                          <a:latin typeface="Calibri"/>
                          <a:ea typeface="Calibri"/>
                          <a:cs typeface="Calibri"/>
                        </a:rPr>
                        <a:t>Stated gap</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Existing systems optimise one vehicle or revenue; few use grouping criteria such as passenger count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200" b="1">
                          <a:solidFill>
                            <a:srgbClr val="222222"/>
                          </a:solidFill>
                          <a:latin typeface="Calibri"/>
                          <a:ea typeface="Calibri"/>
                          <a:cs typeface="Calibri"/>
                        </a:rPr>
                        <a:t>Not covered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Payment, overstay handling, operator analytics, a working web product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200" b="1">
                          <a:solidFill>
                            <a:srgbClr val="222222"/>
                          </a:solidFill>
                          <a:latin typeface="Calibri"/>
                          <a:ea typeface="Calibri"/>
                          <a:cs typeface="Calibri"/>
                        </a:rPr>
                        <a:t>Also used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Cabri et al. (arXiv:2605.17650): dynamic buffer of non-reservable slots and a 0-5 star reward system; this is what ParkSure's engine implements [2]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Literature Survey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5</a:t>
            </a:r>
            <a:endParaRPr lang="en-US" sz="1000" dirty="0"/>
          </a:p>
        </p:txBody>
      </p:sp>
      <p:graphicFrame>
        <p:nvGraphicFramePr>
          <p:cNvPr id="7" name="Table 6"/>
          <p:cNvGraphicFramePr>
            <a:graphicFrameLocks noGrp="1"/>
          </p:cNvGraphicFramePr>
          <p:nvPr/>
        </p:nvGraphicFramePr>
        <p:xfrm>
          <a:off x="502920" y="1645920"/>
          <a:ext cx="11155680" cy="4279392"/>
        </p:xfrm>
        <a:graphic>
          <a:graphicData uri="http://schemas.openxmlformats.org/drawingml/2006/table">
            <a:tbl>
              <a:tblPr firstRow="0" bandRow="0">
                <a:tableStyleId>{5C22544A-7EE6-4342-B048-85BDC9FD1C3A}</a:tableStyleId>
              </a:tblPr>
              <a:tblGrid>
                <a:gridCol w="3017520"/>
                <a:gridCol w="3840480"/>
                <a:gridCol w="4297680"/>
              </a:tblGrid>
              <a:tr h="475488">
                <a:tc>
                  <a:txBody>
                    <a:bodyPr wrap="square"/>
                    <a:lstStyle/>
                    <a:p>
                      <a:pPr algn="ctr"/>
                      <a:r>
                        <a:rPr sz="1100" b="1">
                          <a:solidFill>
                            <a:srgbClr val="1F3864"/>
                          </a:solidFill>
                          <a:latin typeface="Calibri"/>
                          <a:ea typeface="Calibri"/>
                          <a:cs typeface="Calibri"/>
                        </a:rPr>
                        <a:t>Work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Approach</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Result / limitation (as stated in the base papers)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75488">
                <a:tc>
                  <a:txBody>
                    <a:bodyPr wrap="square"/>
                    <a:lstStyle/>
                    <a:p>
                      <a:pPr algn="l"/>
                      <a:r>
                        <a:rPr sz="1100" b="1">
                          <a:solidFill>
                            <a:srgbClr val="222222"/>
                          </a:solidFill>
                          <a:latin typeface="Calibri"/>
                          <a:ea typeface="Calibri"/>
                          <a:cs typeface="Calibri"/>
                        </a:rPr>
                        <a:t>Jemmali et al. [1] (base)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Passenger-count zone balancing; six heuristics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2,790 generated instances; GVb ties or beats baseline MR on 55.4 %; one facility, needs IoT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75488">
                <a:tc>
                  <a:txBody>
                    <a:bodyPr wrap="square"/>
                    <a:lstStyle/>
                    <a:p>
                      <a:pPr algn="l"/>
                      <a:r>
                        <a:rPr sz="1100" b="1">
                          <a:solidFill>
                            <a:srgbClr val="222222"/>
                          </a:solidFill>
                          <a:latin typeface="Calibri"/>
                          <a:ea typeface="Calibri"/>
                          <a:cs typeface="Calibri"/>
                        </a:rPr>
                        <a:t>Cabri et al. [2]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Buffer of non-reservable slots + star reward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SUMO, 80 spots / 8 areas: any buffer beats none, dynamic best trade-off; preliminary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75488">
                <a:tc>
                  <a:txBody>
                    <a:bodyPr wrap="square"/>
                    <a:lstStyle/>
                    <a:p>
                      <a:pPr algn="l"/>
                      <a:r>
                        <a:rPr sz="1100" b="1">
                          <a:solidFill>
                            <a:srgbClr val="222222"/>
                          </a:solidFill>
                          <a:latin typeface="Calibri"/>
                          <a:ea typeface="Calibri"/>
                          <a:cs typeface="Calibri"/>
                        </a:rPr>
                        <a:t>Doulamis et al. [7]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Interval scheduling of requests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Accept or reject by time interval; no overstay handling described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75488">
                <a:tc>
                  <a:txBody>
                    <a:bodyPr wrap="square"/>
                    <a:lstStyle/>
                    <a:p>
                      <a:pPr algn="l"/>
                      <a:r>
                        <a:rPr sz="1100" b="1">
                          <a:solidFill>
                            <a:srgbClr val="222222"/>
                          </a:solidFill>
                          <a:latin typeface="Calibri"/>
                          <a:ea typeface="Calibri"/>
                          <a:cs typeface="Calibri"/>
                        </a:rPr>
                        <a:t>Safitri et al. [10]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Mobile reservation, heuristic + haversine, occupancy display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Mobile client; no buffer or reputation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75488">
                <a:tc>
                  <a:txBody>
                    <a:bodyPr wrap="square"/>
                    <a:lstStyle/>
                    <a:p>
                      <a:pPr algn="l"/>
                      <a:r>
                        <a:rPr sz="1100" b="1">
                          <a:solidFill>
                            <a:srgbClr val="222222"/>
                          </a:solidFill>
                          <a:latin typeface="Calibri"/>
                          <a:ea typeface="Calibri"/>
                          <a:cs typeface="Calibri"/>
                        </a:rPr>
                        <a:t>Somani et al. [11]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Part-payment confirms a booking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Deters false bookings, not overstays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75488">
                <a:tc>
                  <a:txBody>
                    <a:bodyPr wrap="square"/>
                    <a:lstStyle/>
                    <a:p>
                      <a:pPr algn="l"/>
                      <a:r>
                        <a:rPr sz="1100" b="1">
                          <a:solidFill>
                            <a:srgbClr val="222222"/>
                          </a:solidFill>
                          <a:latin typeface="Calibri"/>
                          <a:ea typeface="Calibri"/>
                          <a:cs typeface="Calibri"/>
                        </a:rPr>
                        <a:t>Mejri et al. [12]; Kotb et al. [13]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Multi-objective ILP; iParker flexible times and pricing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Optimisation / pricing models; no operating web platform described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75488">
                <a:tc>
                  <a:txBody>
                    <a:bodyPr wrap="square"/>
                    <a:lstStyle/>
                    <a:p>
                      <a:pPr algn="l"/>
                      <a:r>
                        <a:rPr sz="1100" b="1">
                          <a:solidFill>
                            <a:srgbClr val="222222"/>
                          </a:solidFill>
                          <a:latin typeface="Calibri"/>
                          <a:ea typeface="Calibri"/>
                          <a:cs typeface="Calibri"/>
                        </a:rPr>
                        <a:t>Rizvi et al. [5], [6]; Kokolaki [8]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Auction-based parking (agents, bidding)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Suit competitive allocation, not a fixed-price booking service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75488">
                <a:tc>
                  <a:txBody>
                    <a:bodyPr wrap="square"/>
                    <a:lstStyle/>
                    <a:p>
                      <a:pPr algn="l"/>
                      <a:r>
                        <a:rPr sz="1100" b="1">
                          <a:solidFill>
                            <a:srgbClr val="222222"/>
                          </a:solidFill>
                          <a:latin typeface="Calibri"/>
                          <a:ea typeface="Calibri"/>
                          <a:cs typeface="Calibri"/>
                        </a:rPr>
                        <a:t>Batch survey [31]-[34]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Four reservation / smart-parking titles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Titles only; not found online, no result quoted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Research Gap</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6</a:t>
            </a:r>
            <a:endParaRPr lang="en-US" sz="1000" dirty="0"/>
          </a:p>
        </p:txBody>
      </p:sp>
      <p:sp>
        <p:nvSpPr>
          <p:cNvPr id="7" name="TextBox 6"/>
          <p:cNvSpPr txBox="1"/>
          <p:nvPr/>
        </p:nvSpPr>
        <p:spPr>
          <a:xfrm>
            <a:off x="502920" y="1737360"/>
            <a:ext cx="11155680" cy="4480560"/>
          </a:xfrm>
          <a:prstGeom prst="rect">
            <a:avLst/>
          </a:prstGeom>
          <a:noFill/>
        </p:spPr>
        <p:txBody>
          <a:bodyPr wrap="square" lIns="0" rIns="0" tIns="0" bIns="0" anchor="t">
            <a:spAutoFit/>
          </a:bodyPr>
          <a:lstStyle/>
          <a:p>
            <a:pPr algn="l" marL="256032" indent="-201168">
              <a:spcAft>
                <a:spcPts val="1400"/>
              </a:spcAft>
              <a:buChar char="•"/>
            </a:pPr>
            <a:r>
              <a:rPr sz="1700" b="0" i="0">
                <a:solidFill>
                  <a:srgbClr val="222222"/>
                </a:solidFill>
                <a:latin typeface="Calibri"/>
                <a:ea typeface="Calibri"/>
                <a:cs typeface="Calibri"/>
              </a:rPr>
              <a:t>The registered base paper optimises allocation inside a large managed facility; it has no booking-to-payment service for ordinary urban parking.</a:t>
            </a:r>
          </a:p>
          <a:p>
            <a:pPr algn="l" marL="256032" indent="-201168">
              <a:spcAft>
                <a:spcPts val="1400"/>
              </a:spcAft>
              <a:buChar char="•"/>
            </a:pPr>
            <a:r>
              <a:rPr sz="1700" b="0" i="0">
                <a:solidFill>
                  <a:srgbClr val="222222"/>
                </a:solidFill>
                <a:latin typeface="Calibri"/>
                <a:ea typeface="Calibri"/>
                <a:cs typeface="Calibri"/>
              </a:rPr>
              <a:t>The buffer and reward ideas (Cabri et al.) are shown only in a simulation of 80 spots; no operating product and no numeric table are reported.</a:t>
            </a:r>
          </a:p>
          <a:p>
            <a:pPr algn="l" marL="256032" indent="-201168">
              <a:spcAft>
                <a:spcPts val="1400"/>
              </a:spcAft>
              <a:buChar char="•"/>
            </a:pPr>
            <a:r>
              <a:rPr sz="1700" b="0" i="0">
                <a:solidFill>
                  <a:srgbClr val="222222"/>
                </a:solidFill>
                <a:latin typeface="Calibri"/>
                <a:ea typeface="Calibri"/>
                <a:cs typeface="Calibri"/>
              </a:rPr>
              <a:t>Surveyed systems describe reservation components one at a time: booking, part-payment, mobile access, pricing, auctions.</a:t>
            </a:r>
          </a:p>
          <a:p>
            <a:pPr algn="l" marL="256032" indent="-201168">
              <a:spcAft>
                <a:spcPts val="1400"/>
              </a:spcAft>
              <a:buChar char="•"/>
            </a:pPr>
            <a:r>
              <a:rPr sz="1700" b="0" i="0">
                <a:solidFill>
                  <a:srgbClr val="222222"/>
                </a:solidFill>
                <a:latin typeface="Calibri"/>
                <a:ea typeface="Calibri"/>
                <a:cs typeface="Calibri"/>
              </a:rPr>
              <a:t>Overstays are the known failure of reservation systems; few designs combine a buffer, a fallback alternate and a punctuality score.</a:t>
            </a:r>
          </a:p>
          <a:p>
            <a:pPr algn="l" marL="256032" indent="-201168">
              <a:spcAft>
                <a:spcPts val="1400"/>
              </a:spcAft>
              <a:buChar char="•"/>
            </a:pPr>
            <a:r>
              <a:rPr sz="1700" b="0" i="0">
                <a:solidFill>
                  <a:srgbClr val="222222"/>
                </a:solidFill>
                <a:latin typeface="Calibri"/>
                <a:ea typeface="Calibri"/>
                <a:cs typeface="Calibri"/>
              </a:rPr>
              <a:t>Operators lack a way to replay their own booking history under different buffer policies and see the effect.</a:t>
            </a:r>
          </a:p>
          <a:p>
            <a:pPr algn="l" marL="256032" indent="-201168">
              <a:spcAft>
                <a:spcPts val="1400"/>
              </a:spcAft>
              <a:buChar char="•"/>
            </a:pPr>
            <a:r>
              <a:rPr sz="1700" b="0" i="0">
                <a:solidFill>
                  <a:srgbClr val="222222"/>
                </a:solidFill>
                <a:latin typeface="Calibri"/>
                <a:ea typeface="Calibri"/>
                <a:cs typeface="Calibri"/>
              </a:rPr>
              <a:t>Gap: a general reservation platform with search, booking, payment, an overstay-aware engine and operator analytics, evaluated honestly on its own behaviour.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Problem Statement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7</a:t>
            </a:r>
            <a:endParaRPr lang="en-US" sz="1000" dirty="0"/>
          </a:p>
        </p:txBody>
      </p:sp>
      <p:sp>
        <p:nvSpPr>
          <p:cNvPr id="7" name="Rounded Rectangle 6"/>
          <p:cNvSpPr/>
          <p:nvPr/>
        </p:nvSpPr>
        <p:spPr>
          <a:xfrm>
            <a:off x="502920" y="1691640"/>
            <a:ext cx="11155680" cy="2377440"/>
          </a:xfrm>
          <a:prstGeom prst="roundRect">
            <a:avLst>
              <a:gd name="adj" fmla="val 4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737360"/>
            <a:ext cx="10607040" cy="2286000"/>
          </a:xfrm>
          <a:prstGeom prst="rect">
            <a:avLst/>
          </a:prstGeom>
          <a:noFill/>
        </p:spPr>
        <p:txBody>
          <a:bodyPr wrap="square" lIns="0" rIns="0" tIns="0" bIns="0" anchor="ctr">
            <a:spAutoFit/>
          </a:bodyPr>
          <a:lstStyle/>
          <a:p>
            <a:pPr algn="l" marL="256032" indent="-201168">
              <a:spcAft>
                <a:spcPts val="400"/>
              </a:spcAft>
              <a:buChar char="•"/>
            </a:pPr>
            <a:r>
              <a:rPr sz="1600" b="0" i="0">
                <a:solidFill>
                  <a:srgbClr val="222222"/>
                </a:solidFill>
                <a:latin typeface="Calibri"/>
                <a:ea typeface="Calibri"/>
                <a:cs typeface="Calibri"/>
              </a:rPr>
              <a:t>Drivers circle repeatedly because there is no way to know which slots are free.</a:t>
            </a:r>
          </a:p>
          <a:p>
            <a:pPr algn="l" marL="256032" indent="-201168">
              <a:spcAft>
                <a:spcPts val="400"/>
              </a:spcAft>
              <a:buChar char="•"/>
            </a:pPr>
            <a:r>
              <a:rPr sz="1600" b="0" i="0">
                <a:solidFill>
                  <a:srgbClr val="222222"/>
                </a:solidFill>
                <a:latin typeface="Calibri"/>
                <a:ea typeface="Calibri"/>
                <a:cs typeface="Calibri"/>
              </a:rPr>
              <a:t>Operators manage occupancy through manual registers with no live view.</a:t>
            </a:r>
          </a:p>
          <a:p>
            <a:pPr algn="l" marL="256032" indent="-201168">
              <a:spcAft>
                <a:spcPts val="400"/>
              </a:spcAft>
              <a:buChar char="•"/>
            </a:pPr>
            <a:r>
              <a:rPr sz="1600" b="0" i="0">
                <a:solidFill>
                  <a:srgbClr val="222222"/>
                </a:solidFill>
                <a:latin typeface="Calibri"/>
                <a:ea typeface="Calibri"/>
                <a:cs typeface="Calibri"/>
              </a:rPr>
              <a:t>Without reservation, arriving at a facility gives no guarantee of a space.</a:t>
            </a:r>
          </a:p>
          <a:p>
            <a:pPr algn="l" marL="256032" indent="-201168">
              <a:spcAft>
                <a:spcPts val="400"/>
              </a:spcAft>
              <a:buChar char="•"/>
            </a:pPr>
            <a:r>
              <a:rPr sz="1600" b="0" i="0">
                <a:solidFill>
                  <a:srgbClr val="222222"/>
                </a:solidFill>
                <a:latin typeface="Calibri"/>
                <a:ea typeface="Calibri"/>
                <a:cs typeface="Calibri"/>
              </a:rPr>
              <a:t>Cash collection is slow at entry and leaves no usable records.</a:t>
            </a:r>
          </a:p>
          <a:p>
            <a:pPr algn="l" marL="256032" indent="-201168">
              <a:spcAft>
                <a:spcPts val="400"/>
              </a:spcAft>
              <a:buChar char="•"/>
            </a:pPr>
            <a:r>
              <a:rPr sz="1600" b="0" i="0">
                <a:solidFill>
                  <a:srgbClr val="222222"/>
                </a:solidFill>
                <a:latin typeface="Calibri"/>
                <a:ea typeface="Calibri"/>
                <a:cs typeface="Calibri"/>
              </a:rPr>
              <a:t>Need: a reservation platform that shows live availability, guarantees a slot in advance and handles payment digitally.</a:t>
            </a:r>
          </a:p>
        </p:txBody>
      </p:sp>
      <p:sp>
        <p:nvSpPr>
          <p:cNvPr id="9" name="Rounded Rectangle 8"/>
          <p:cNvSpPr/>
          <p:nvPr/>
        </p:nvSpPr>
        <p:spPr>
          <a:xfrm>
            <a:off x="502920" y="4297680"/>
            <a:ext cx="3566160" cy="155448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38912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Input</a:t>
            </a:r>
          </a:p>
        </p:txBody>
      </p:sp>
      <p:sp>
        <p:nvSpPr>
          <p:cNvPr id="11" name="TextBox 10"/>
          <p:cNvSpPr txBox="1"/>
          <p:nvPr/>
        </p:nvSpPr>
        <p:spPr>
          <a:xfrm>
            <a:off x="685800" y="4846320"/>
            <a:ext cx="3200400" cy="914400"/>
          </a:xfrm>
          <a:prstGeom prst="rect">
            <a:avLst/>
          </a:prstGeom>
          <a:noFill/>
        </p:spPr>
        <p:txBody>
          <a:bodyPr wrap="square" lIns="0" rIns="0" tIns="0" bIns="0" anchor="t">
            <a:spAutoFit/>
          </a:bodyPr>
          <a:lstStyle/>
          <a:p>
            <a:pPr algn="l">
              <a:spcAft>
                <a:spcPts val="400"/>
              </a:spcAft>
            </a:pPr>
            <a:r>
              <a:rPr sz="1400" b="0" i="0">
                <a:solidFill>
                  <a:srgbClr val="222222"/>
                </a:solidFill>
                <a:latin typeface="Calibri"/>
                <a:ea typeface="Calibri"/>
                <a:cs typeface="Calibri"/>
              </a:rPr>
              <a:t>Registration, search window, reservation, payment, check-in and check-out; admin location data</a:t>
            </a:r>
          </a:p>
        </p:txBody>
      </p:sp>
      <p:sp>
        <p:nvSpPr>
          <p:cNvPr id="12" name="Rounded Rectangle 11"/>
          <p:cNvSpPr/>
          <p:nvPr/>
        </p:nvSpPr>
        <p:spPr>
          <a:xfrm>
            <a:off x="4251959" y="4297680"/>
            <a:ext cx="3566160" cy="155448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4840" y="438912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Output</a:t>
            </a:r>
          </a:p>
        </p:txBody>
      </p:sp>
      <p:sp>
        <p:nvSpPr>
          <p:cNvPr id="14" name="TextBox 13"/>
          <p:cNvSpPr txBox="1"/>
          <p:nvPr/>
        </p:nvSpPr>
        <p:spPr>
          <a:xfrm>
            <a:off x="4434840" y="4846320"/>
            <a:ext cx="3200400" cy="914400"/>
          </a:xfrm>
          <a:prstGeom prst="rect">
            <a:avLst/>
          </a:prstGeom>
          <a:noFill/>
        </p:spPr>
        <p:txBody>
          <a:bodyPr wrap="square" lIns="0" rIns="0" tIns="0" bIns="0" anchor="t">
            <a:spAutoFit/>
          </a:bodyPr>
          <a:lstStyle/>
          <a:p>
            <a:pPr algn="l">
              <a:spcAft>
                <a:spcPts val="400"/>
              </a:spcAft>
            </a:pPr>
            <a:r>
              <a:rPr sz="1400" b="0" i="0">
                <a:solidFill>
                  <a:srgbClr val="222222"/>
                </a:solidFill>
                <a:latin typeface="Calibri"/>
                <a:ea typeface="Calibri"/>
                <a:cs typeface="Calibri"/>
              </a:rPr>
              <a:t>Availability per location, quote, booking status, payment record, Trust Score, admin overview and Strategy Insights</a:t>
            </a:r>
          </a:p>
        </p:txBody>
      </p:sp>
      <p:sp>
        <p:nvSpPr>
          <p:cNvPr id="15" name="Rounded Rectangle 14"/>
          <p:cNvSpPr/>
          <p:nvPr/>
        </p:nvSpPr>
        <p:spPr>
          <a:xfrm>
            <a:off x="8001000" y="4297680"/>
            <a:ext cx="3566160" cy="155448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83879" y="438912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Record</a:t>
            </a:r>
          </a:p>
        </p:txBody>
      </p:sp>
      <p:sp>
        <p:nvSpPr>
          <p:cNvPr id="17" name="TextBox 16"/>
          <p:cNvSpPr txBox="1"/>
          <p:nvPr/>
        </p:nvSpPr>
        <p:spPr>
          <a:xfrm>
            <a:off x="8183879" y="4846320"/>
            <a:ext cx="3200400" cy="914400"/>
          </a:xfrm>
          <a:prstGeom prst="rect">
            <a:avLst/>
          </a:prstGeom>
          <a:noFill/>
        </p:spPr>
        <p:txBody>
          <a:bodyPr wrap="square" lIns="0" rIns="0" tIns="0" bIns="0" anchor="t">
            <a:spAutoFit/>
          </a:bodyPr>
          <a:lstStyle/>
          <a:p>
            <a:pPr algn="l">
              <a:spcAft>
                <a:spcPts val="400"/>
              </a:spcAft>
            </a:pPr>
            <a:r>
              <a:rPr sz="1400" b="0" i="0">
                <a:solidFill>
                  <a:srgbClr val="222222"/>
                </a:solidFill>
                <a:latin typeface="Calibri"/>
                <a:ea typeface="Calibri"/>
                <a:cs typeface="Calibri"/>
              </a:rPr>
              <a:t>70 tests, simulator and latency metrics (JSON), 24 screenshots of the running app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Objectives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8</a:t>
            </a:r>
            <a:endParaRPr lang="en-US" sz="1000" dirty="0"/>
          </a:p>
        </p:txBody>
      </p:sp>
      <p:sp>
        <p:nvSpPr>
          <p:cNvPr id="7" name="TextBox 6"/>
          <p:cNvSpPr txBox="1"/>
          <p:nvPr/>
        </p:nvSpPr>
        <p:spPr>
          <a:xfrm>
            <a:off x="502920" y="1737360"/>
            <a:ext cx="11155680" cy="4480560"/>
          </a:xfrm>
          <a:prstGeom prst="rect">
            <a:avLst/>
          </a:prstGeom>
          <a:noFill/>
        </p:spPr>
        <p:txBody>
          <a:bodyPr wrap="square" lIns="0" rIns="0" tIns="0" bIns="0" anchor="t">
            <a:spAutoFit/>
          </a:bodyPr>
          <a:lstStyle/>
          <a:p>
            <a:pPr algn="l">
              <a:spcAft>
                <a:spcPts val="1200"/>
              </a:spcAft>
            </a:pPr>
            <a:r>
              <a:rPr sz="2200" b="0" i="0">
                <a:solidFill>
                  <a:srgbClr val="222222"/>
                </a:solidFill>
                <a:latin typeface="Calibri"/>
                <a:ea typeface="Calibri"/>
                <a:cs typeface="Calibri"/>
              </a:rPr>
              <a:t>1.  Build user registration, authentication and vehicle profile management.</a:t>
            </a:r>
          </a:p>
          <a:p>
            <a:pPr algn="l">
              <a:spcAft>
                <a:spcPts val="1200"/>
              </a:spcAft>
            </a:pPr>
            <a:r>
              <a:rPr sz="2200" b="0" i="0">
                <a:solidFill>
                  <a:srgbClr val="222222"/>
                </a:solidFill>
                <a:latin typeface="Calibri"/>
                <a:ea typeface="Calibri"/>
                <a:cs typeface="Calibri"/>
              </a:rPr>
              <a:t>2.  Maintain real-time parking slot availability across registered parking facilities.</a:t>
            </a:r>
          </a:p>
          <a:p>
            <a:pPr algn="l">
              <a:spcAft>
                <a:spcPts val="1200"/>
              </a:spcAft>
            </a:pPr>
            <a:r>
              <a:rPr sz="2200" b="0" i="0">
                <a:solidFill>
                  <a:srgbClr val="222222"/>
                </a:solidFill>
                <a:latin typeface="Calibri"/>
                <a:ea typeface="Calibri"/>
                <a:cs typeface="Calibri"/>
              </a:rPr>
              <a:t>3.  Implement slot search, advance reservation and booking cancellation.</a:t>
            </a:r>
          </a:p>
          <a:p>
            <a:pPr algn="l">
              <a:spcAft>
                <a:spcPts val="1200"/>
              </a:spcAft>
            </a:pPr>
            <a:r>
              <a:rPr sz="2200" b="0" i="0">
                <a:solidFill>
                  <a:srgbClr val="222222"/>
                </a:solidFill>
                <a:latin typeface="Calibri"/>
                <a:ea typeface="Calibri"/>
                <a:cs typeface="Calibri"/>
              </a:rPr>
              <a:t>4.  Integrate secure online payment and generate digital receipts.</a:t>
            </a:r>
          </a:p>
          <a:p>
            <a:pPr algn="l">
              <a:spcAft>
                <a:spcPts val="1200"/>
              </a:spcAft>
            </a:pPr>
            <a:r>
              <a:rPr sz="2200" b="0" i="0">
                <a:solidFill>
                  <a:srgbClr val="222222"/>
                </a:solidFill>
                <a:latin typeface="Calibri"/>
                <a:ea typeface="Calibri"/>
                <a:cs typeface="Calibri"/>
              </a:rPr>
              <a:t>5.  Provide an administrator dashboard for slots, bookings, occupancy and revenue.</a:t>
            </a:r>
          </a:p>
          <a:p>
            <a:pPr algn="l">
              <a:spcAft>
                <a:spcPts val="1200"/>
              </a:spcAft>
            </a:pPr>
            <a:r>
              <a:rPr sz="2200" b="0" i="0">
                <a:solidFill>
                  <a:srgbClr val="222222"/>
                </a:solidFill>
                <a:latin typeface="Calibri"/>
                <a:ea typeface="Calibri"/>
                <a:cs typeface="Calibri"/>
              </a:rPr>
              <a:t>6.  Evaluate booking success rate, allocation efficiency and system response time.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Proposed System</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9</a:t>
            </a:r>
            <a:endParaRPr lang="en-US" sz="1000" dirty="0"/>
          </a:p>
        </p:txBody>
      </p:sp>
      <p:sp>
        <p:nvSpPr>
          <p:cNvPr id="7" name="TextBox 6"/>
          <p:cNvSpPr txBox="1"/>
          <p:nvPr/>
        </p:nvSpPr>
        <p:spPr>
          <a:xfrm>
            <a:off x="502920" y="1600200"/>
            <a:ext cx="11155680" cy="365760"/>
          </a:xfrm>
          <a:prstGeom prst="rect">
            <a:avLst/>
          </a:prstGeom>
          <a:noFill/>
        </p:spPr>
        <p:txBody>
          <a:bodyPr wrap="square" lIns="0" rIns="0" tIns="0" bIns="0" anchor="t">
            <a:spAutoFit/>
          </a:bodyPr>
          <a:lstStyle/>
          <a:p>
            <a:pPr algn="l">
              <a:spcAft>
                <a:spcPts val="400"/>
              </a:spcAft>
            </a:pPr>
            <a:r>
              <a:rPr sz="1500" b="1" i="0">
                <a:solidFill>
                  <a:srgbClr val="1F3864"/>
                </a:solidFill>
                <a:latin typeface="Calibri"/>
                <a:ea typeface="Calibri"/>
                <a:cs typeface="Calibri"/>
              </a:rPr>
              <a:t>Driver journey</a:t>
            </a:r>
          </a:p>
        </p:txBody>
      </p:sp>
      <p:sp>
        <p:nvSpPr>
          <p:cNvPr id="8" name="Rounded Rectangle 7"/>
          <p:cNvSpPr/>
          <p:nvPr/>
        </p:nvSpPr>
        <p:spPr>
          <a:xfrm>
            <a:off x="502920" y="1965960"/>
            <a:ext cx="1630680" cy="77724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Search window</a:t>
            </a:r>
          </a:p>
        </p:txBody>
      </p:sp>
      <p:sp>
        <p:nvSpPr>
          <p:cNvPr id="9" name="Right Arrow 8"/>
          <p:cNvSpPr/>
          <p:nvPr/>
        </p:nvSpPr>
        <p:spPr>
          <a:xfrm>
            <a:off x="2170175" y="223570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407919" y="1965960"/>
            <a:ext cx="1630680" cy="77724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Reserve + quote</a:t>
            </a:r>
          </a:p>
        </p:txBody>
      </p:sp>
      <p:sp>
        <p:nvSpPr>
          <p:cNvPr id="11" name="Right Arrow 10"/>
          <p:cNvSpPr/>
          <p:nvPr/>
        </p:nvSpPr>
        <p:spPr>
          <a:xfrm>
            <a:off x="4075175" y="223570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12919" y="1965960"/>
            <a:ext cx="1630680" cy="77724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Pay (Stripe / demo)</a:t>
            </a:r>
          </a:p>
        </p:txBody>
      </p:sp>
      <p:sp>
        <p:nvSpPr>
          <p:cNvPr id="13" name="Right Arrow 12"/>
          <p:cNvSpPr/>
          <p:nvPr/>
        </p:nvSpPr>
        <p:spPr>
          <a:xfrm>
            <a:off x="5980175" y="223570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17919" y="1965960"/>
            <a:ext cx="1630680" cy="77724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Check in</a:t>
            </a:r>
          </a:p>
        </p:txBody>
      </p:sp>
      <p:sp>
        <p:nvSpPr>
          <p:cNvPr id="15" name="Right Arrow 14"/>
          <p:cNvSpPr/>
          <p:nvPr/>
        </p:nvSpPr>
        <p:spPr>
          <a:xfrm>
            <a:off x="7885175" y="223570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22920" y="1965960"/>
            <a:ext cx="1630680" cy="77724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Park</a:t>
            </a:r>
          </a:p>
        </p:txBody>
      </p:sp>
      <p:sp>
        <p:nvSpPr>
          <p:cNvPr id="17" name="Right Arrow 16"/>
          <p:cNvSpPr/>
          <p:nvPr/>
        </p:nvSpPr>
        <p:spPr>
          <a:xfrm>
            <a:off x="9790175" y="223570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027919" y="1965960"/>
            <a:ext cx="1630680" cy="77724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Check out</a:t>
            </a:r>
          </a:p>
        </p:txBody>
      </p:sp>
      <p:sp>
        <p:nvSpPr>
          <p:cNvPr id="19" name="TextBox 18"/>
          <p:cNvSpPr txBox="1"/>
          <p:nvPr/>
        </p:nvSpPr>
        <p:spPr>
          <a:xfrm>
            <a:off x="502920" y="2926080"/>
            <a:ext cx="11155680" cy="365760"/>
          </a:xfrm>
          <a:prstGeom prst="rect">
            <a:avLst/>
          </a:prstGeom>
          <a:noFill/>
        </p:spPr>
        <p:txBody>
          <a:bodyPr wrap="square" lIns="0" rIns="0" tIns="0" bIns="0" anchor="t">
            <a:spAutoFit/>
          </a:bodyPr>
          <a:lstStyle/>
          <a:p>
            <a:pPr algn="l">
              <a:spcAft>
                <a:spcPts val="400"/>
              </a:spcAft>
            </a:pPr>
            <a:r>
              <a:rPr sz="1500" b="1" i="0">
                <a:solidFill>
                  <a:srgbClr val="1F3864"/>
                </a:solidFill>
                <a:latin typeface="Calibri"/>
                <a:ea typeface="Calibri"/>
                <a:cs typeface="Calibri"/>
              </a:rPr>
              <a:t>Smart Availability Engine (app/engine.py)</a:t>
            </a:r>
          </a:p>
        </p:txBody>
      </p:sp>
      <p:sp>
        <p:nvSpPr>
          <p:cNvPr id="20" name="Rounded Rectangle 19"/>
          <p:cNvSpPr/>
          <p:nvPr/>
        </p:nvSpPr>
        <p:spPr>
          <a:xfrm>
            <a:off x="502920" y="3291840"/>
            <a:ext cx="1630680" cy="77724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Admission rule</a:t>
            </a:r>
          </a:p>
        </p:txBody>
      </p:sp>
      <p:sp>
        <p:nvSpPr>
          <p:cNvPr id="21" name="Right Arrow 20"/>
          <p:cNvSpPr/>
          <p:nvPr/>
        </p:nvSpPr>
        <p:spPr>
          <a:xfrm>
            <a:off x="2170175" y="356158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407919" y="3291840"/>
            <a:ext cx="1630680" cy="77724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Hold-back buffer</a:t>
            </a:r>
          </a:p>
        </p:txBody>
      </p:sp>
      <p:sp>
        <p:nvSpPr>
          <p:cNvPr id="23" name="Right Arrow 22"/>
          <p:cNvSpPr/>
          <p:nvPr/>
        </p:nvSpPr>
        <p:spPr>
          <a:xfrm>
            <a:off x="4075175" y="356158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312919" y="3291840"/>
            <a:ext cx="1630680" cy="77724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Nearest alternate</a:t>
            </a:r>
          </a:p>
        </p:txBody>
      </p:sp>
      <p:sp>
        <p:nvSpPr>
          <p:cNvPr id="25" name="Right Arrow 24"/>
          <p:cNvSpPr/>
          <p:nvPr/>
        </p:nvSpPr>
        <p:spPr>
          <a:xfrm>
            <a:off x="5980175" y="356158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17919" y="3291840"/>
            <a:ext cx="1630680" cy="77724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Trust Score</a:t>
            </a:r>
          </a:p>
        </p:txBody>
      </p:sp>
      <p:sp>
        <p:nvSpPr>
          <p:cNvPr id="27" name="Right Arrow 26"/>
          <p:cNvSpPr/>
          <p:nvPr/>
        </p:nvSpPr>
        <p:spPr>
          <a:xfrm>
            <a:off x="7885175" y="356158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122920" y="3291840"/>
            <a:ext cx="1630680" cy="77724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Fee multiplier</a:t>
            </a:r>
          </a:p>
        </p:txBody>
      </p:sp>
      <p:sp>
        <p:nvSpPr>
          <p:cNvPr id="29" name="Right Arrow 28"/>
          <p:cNvSpPr/>
          <p:nvPr/>
        </p:nvSpPr>
        <p:spPr>
          <a:xfrm>
            <a:off x="9790175" y="356158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027919" y="3291840"/>
            <a:ext cx="1630680" cy="77724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Strategy Insights</a:t>
            </a:r>
          </a:p>
        </p:txBody>
      </p:sp>
      <p:sp>
        <p:nvSpPr>
          <p:cNvPr id="31" name="TextBox 30"/>
          <p:cNvSpPr txBox="1"/>
          <p:nvPr/>
        </p:nvSpPr>
        <p:spPr>
          <a:xfrm>
            <a:off x="502920" y="4389120"/>
            <a:ext cx="11155680" cy="1920240"/>
          </a:xfrm>
          <a:prstGeom prst="rect">
            <a:avLst/>
          </a:prstGeom>
          <a:noFill/>
        </p:spPr>
        <p:txBody>
          <a:bodyPr wrap="square" lIns="0" rIns="0" tIns="0" bIns="0" anchor="t">
            <a:spAutoFit/>
          </a:bodyPr>
          <a:lstStyle/>
          <a:p>
            <a:pPr algn="l" marL="256032" indent="-201168">
              <a:spcAft>
                <a:spcPts val="700"/>
              </a:spcAft>
              <a:buChar char="•"/>
            </a:pPr>
            <a:r>
              <a:rPr sz="1500" b="0" i="0">
                <a:solidFill>
                  <a:srgbClr val="222222"/>
                </a:solidFill>
                <a:latin typeface="Calibri"/>
                <a:ea typeface="Calibri"/>
                <a:cs typeface="Calibri"/>
              </a:rPr>
              <a:t>Admit only if overlapping bookings + buffer &lt; capacity; refused requests are stored as 'declined' with the reason.</a:t>
            </a:r>
          </a:p>
          <a:p>
            <a:pPr algn="l" marL="256032" indent="-201168">
              <a:spcAft>
                <a:spcPts val="700"/>
              </a:spcAft>
              <a:buChar char="•"/>
            </a:pPr>
            <a:r>
              <a:rPr sz="1500" b="0" i="0">
                <a:solidFill>
                  <a:srgbClr val="222222"/>
                </a:solidFill>
                <a:latin typeface="Calibri"/>
                <a:ea typeface="Calibri"/>
                <a:cs typeface="Calibri"/>
              </a:rPr>
              <a:t>If the lot is physically full on arrival: exactly one nearest alternate with forecast space, else 'failed' and the fee is credited automatically.</a:t>
            </a:r>
          </a:p>
          <a:p>
            <a:pPr algn="l" marL="256032" indent="-201168">
              <a:spcAft>
                <a:spcPts val="700"/>
              </a:spcAft>
              <a:buChar char="•"/>
            </a:pPr>
            <a:r>
              <a:rPr sz="1500" b="0" i="0">
                <a:solidFill>
                  <a:srgbClr val="222222"/>
                </a:solidFill>
                <a:latin typeface="Calibri"/>
                <a:ea typeface="Calibri"/>
                <a:cs typeface="Calibri"/>
              </a:rPr>
              <a:t>On-time check-out (10 min grace) grows the buffer and the Trust Score; late check-out records a warning; the score changes the next fee.</a:t>
            </a:r>
          </a:p>
          <a:p>
            <a:pPr algn="l" marL="256032" indent="-201168">
              <a:spcAft>
                <a:spcPts val="700"/>
              </a:spcAft>
              <a:buChar char="•"/>
            </a:pPr>
            <a:r>
              <a:rPr sz="1500" b="0" i="0">
                <a:solidFill>
                  <a:srgbClr val="222222"/>
                </a:solidFill>
                <a:latin typeface="Calibri"/>
                <a:ea typeface="Calibri"/>
                <a:cs typeface="Calibri"/>
              </a:rPr>
              <a:t>Administrators replay the stored history under four buffer policies (Strategy Insights).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System Architecture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10</a:t>
            </a:r>
            <a:endParaRPr lang="en-US" sz="1000" dirty="0"/>
          </a:p>
        </p:txBody>
      </p:sp>
      <p:pic>
        <p:nvPicPr>
          <p:cNvPr id="7" name="Picture 6" descr="01_system_architecture.png"/>
          <p:cNvPicPr>
            <a:picLocks noChangeAspect="1"/>
          </p:cNvPicPr>
          <p:nvPr/>
        </p:nvPicPr>
        <p:blipFill>
          <a:blip r:embed="rId2"/>
          <a:stretch>
            <a:fillRect/>
          </a:stretch>
        </p:blipFill>
        <p:spPr>
          <a:xfrm>
            <a:off x="502920" y="1793055"/>
            <a:ext cx="6583680" cy="4369169"/>
          </a:xfrm>
          <a:prstGeom prst="rect">
            <a:avLst/>
          </a:prstGeom>
        </p:spPr>
      </p:pic>
      <p:sp>
        <p:nvSpPr>
          <p:cNvPr id="8" name="TextBox 7"/>
          <p:cNvSpPr txBox="1"/>
          <p:nvPr/>
        </p:nvSpPr>
        <p:spPr>
          <a:xfrm>
            <a:off x="7269480" y="1783080"/>
            <a:ext cx="4480560" cy="4480560"/>
          </a:xfrm>
          <a:prstGeom prst="rect">
            <a:avLst/>
          </a:prstGeom>
          <a:noFill/>
        </p:spPr>
        <p:txBody>
          <a:bodyPr wrap="square" lIns="0" rIns="0" tIns="0" bIns="0" anchor="t">
            <a:spAutoFit/>
          </a:bodyPr>
          <a:lstStyle/>
          <a:p>
            <a:pPr algn="l" marL="256032" indent="-201168">
              <a:spcAft>
                <a:spcPts val="800"/>
              </a:spcAft>
              <a:buChar char="•"/>
            </a:pPr>
            <a:r>
              <a:rPr sz="1500" b="0" i="0">
                <a:solidFill>
                  <a:srgbClr val="222222"/>
                </a:solidFill>
                <a:latin typeface="Calibri"/>
                <a:ea typeface="Calibri"/>
                <a:cs typeface="Calibri"/>
              </a:rPr>
              <a:t>Console: React 19 + Vite, port 5403; landing, login, 3 driver pages, 5 admin pages</a:t>
            </a:r>
          </a:p>
          <a:p>
            <a:pPr algn="l" marL="256032" indent="-201168">
              <a:spcAft>
                <a:spcPts val="800"/>
              </a:spcAft>
              <a:buChar char="•"/>
            </a:pPr>
            <a:r>
              <a:rPr sz="1500" b="0" i="0">
                <a:solidFill>
                  <a:srgbClr val="222222"/>
                </a:solidFill>
                <a:latin typeface="Calibri"/>
                <a:ea typeface="Calibri"/>
                <a:cs typeface="Calibri"/>
              </a:rPr>
              <a:t>API: FastAPI, port 8403; 22 routes; JWT bearer, roles driver / admin</a:t>
            </a:r>
          </a:p>
          <a:p>
            <a:pPr algn="l" marL="256032" indent="-201168">
              <a:spcAft>
                <a:spcPts val="800"/>
              </a:spcAft>
              <a:buChar char="•"/>
            </a:pPr>
            <a:r>
              <a:rPr sz="1500" b="0" i="0">
                <a:solidFill>
                  <a:srgbClr val="222222"/>
                </a:solidFill>
                <a:latin typeface="Calibri"/>
                <a:ea typeface="Calibri"/>
                <a:cs typeface="Calibri"/>
              </a:rPr>
              <a:t>Engine: app/engine.py (admission, buffer, haversine, trust, fees)</a:t>
            </a:r>
          </a:p>
          <a:p>
            <a:pPr algn="l" marL="256032" indent="-201168">
              <a:spcAft>
                <a:spcPts val="800"/>
              </a:spcAft>
              <a:buChar char="•"/>
            </a:pPr>
            <a:r>
              <a:rPr sz="1500" b="0" i="0">
                <a:solidFill>
                  <a:srgbClr val="222222"/>
                </a:solidFill>
                <a:latin typeface="Calibri"/>
                <a:ea typeface="Calibri"/>
                <a:cs typeface="Calibri"/>
              </a:rPr>
              <a:t>Data: SQLAlchemy over one SQLite file, 5 tables; APScheduler resets buffers every 30 min</a:t>
            </a:r>
          </a:p>
          <a:p>
            <a:pPr algn="l" marL="256032" indent="-201168">
              <a:spcAft>
                <a:spcPts val="800"/>
              </a:spcAft>
              <a:buChar char="•"/>
            </a:pPr>
            <a:r>
              <a:rPr sz="1500" b="0" i="0">
                <a:solidFill>
                  <a:srgbClr val="222222"/>
                </a:solidFill>
                <a:latin typeface="Calibri"/>
                <a:ea typeface="Calibri"/>
                <a:cs typeface="Calibri"/>
              </a:rPr>
              <a:t>Payments: Stripe Checkout in test mode, offline demo fallback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Methodology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11</a:t>
            </a:r>
            <a:endParaRPr lang="en-US" sz="1000" dirty="0"/>
          </a:p>
        </p:txBody>
      </p:sp>
      <p:pic>
        <p:nvPicPr>
          <p:cNvPr id="7" name="Picture 6" descr="02_high_level_workflow.png"/>
          <p:cNvPicPr>
            <a:picLocks noChangeAspect="1"/>
          </p:cNvPicPr>
          <p:nvPr/>
        </p:nvPicPr>
        <p:blipFill>
          <a:blip r:embed="rId2"/>
          <a:stretch>
            <a:fillRect/>
          </a:stretch>
        </p:blipFill>
        <p:spPr>
          <a:xfrm>
            <a:off x="502920" y="2005029"/>
            <a:ext cx="6675120" cy="3762340"/>
          </a:xfrm>
          <a:prstGeom prst="rect">
            <a:avLst/>
          </a:prstGeom>
        </p:spPr>
      </p:pic>
      <p:sp>
        <p:nvSpPr>
          <p:cNvPr id="8" name="TextBox 7"/>
          <p:cNvSpPr txBox="1"/>
          <p:nvPr/>
        </p:nvSpPr>
        <p:spPr>
          <a:xfrm>
            <a:off x="7406640" y="1737360"/>
            <a:ext cx="4297680" cy="4572000"/>
          </a:xfrm>
          <a:prstGeom prst="rect">
            <a:avLst/>
          </a:prstGeom>
          <a:noFill/>
        </p:spPr>
        <p:txBody>
          <a:bodyPr wrap="square" lIns="0" rIns="0" tIns="0" bIns="0" anchor="t">
            <a:spAutoFit/>
          </a:bodyPr>
          <a:lstStyle/>
          <a:p>
            <a:pPr algn="l" marL="256032" indent="-201168">
              <a:spcAft>
                <a:spcPts val="800"/>
              </a:spcAft>
              <a:buChar char="•"/>
            </a:pPr>
            <a:r>
              <a:rPr sz="1400" b="0" i="0">
                <a:solidFill>
                  <a:srgbClr val="222222"/>
                </a:solidFill>
                <a:latin typeface="Calibri"/>
                <a:ea typeface="Calibri"/>
                <a:cs typeface="Calibri"/>
              </a:rPr>
              <a:t>Search counts bookable bays = capacity - buffer - overlapping bookings.</a:t>
            </a:r>
          </a:p>
          <a:p>
            <a:pPr algn="l" marL="256032" indent="-201168">
              <a:spcAft>
                <a:spcPts val="800"/>
              </a:spcAft>
              <a:buChar char="•"/>
            </a:pPr>
            <a:r>
              <a:rPr sz="1400" b="0" i="0">
                <a:solidFill>
                  <a:srgbClr val="222222"/>
                </a:solidFill>
                <a:latin typeface="Calibri"/>
                <a:ea typeface="Calibri"/>
                <a:cs typeface="Calibri"/>
              </a:rPr>
              <a:t>Fee = max(0.25, hours) x hourly rate x trust multiplier (0.90 to 1.75); account credit is applied first.</a:t>
            </a:r>
          </a:p>
          <a:p>
            <a:pPr algn="l" marL="256032" indent="-201168">
              <a:spcAft>
                <a:spcPts val="800"/>
              </a:spcAft>
              <a:buChar char="•"/>
            </a:pPr>
            <a:r>
              <a:rPr sz="1400" b="0" i="0">
                <a:solidFill>
                  <a:srgbClr val="222222"/>
                </a:solidFill>
                <a:latin typeface="Calibri"/>
                <a:ea typeface="Calibri"/>
                <a:cs typeface="Calibri"/>
              </a:rPr>
              <a:t>Buffer: start 1, +1 per on-time check-out, max 5, reset to 1 every 24 h.</a:t>
            </a:r>
          </a:p>
          <a:p>
            <a:pPr algn="l" marL="256032" indent="-201168">
              <a:spcAft>
                <a:spcPts val="800"/>
              </a:spcAft>
              <a:buChar char="•"/>
            </a:pPr>
            <a:r>
              <a:rPr sz="1400" b="0" i="0">
                <a:solidFill>
                  <a:srgbClr val="222222"/>
                </a:solidFill>
                <a:latin typeface="Calibri"/>
                <a:ea typeface="Calibri"/>
                <a:cs typeface="Calibri"/>
              </a:rPr>
              <a:t>Trust: start 3; 3 benefits = +1; 2 warnings = -1; below 1.5 with a warning in 14 days = 24 h suspension.</a:t>
            </a:r>
          </a:p>
          <a:p>
            <a:pPr algn="l" marL="256032" indent="-201168">
              <a:spcAft>
                <a:spcPts val="800"/>
              </a:spcAft>
              <a:buChar char="•"/>
            </a:pPr>
            <a:r>
              <a:rPr sz="1400" b="0" i="0">
                <a:solidFill>
                  <a:srgbClr val="222222"/>
                </a:solidFill>
                <a:latin typeface="Calibri"/>
                <a:ea typeface="Calibri"/>
                <a:cs typeface="Calibri"/>
              </a:rPr>
              <a:t>Evaluation: tests, a simulator parity-checked against the engine, API timing, probes.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 and Engine Rules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12</a:t>
            </a:r>
            <a:endParaRPr lang="en-US" sz="1000" dirty="0"/>
          </a:p>
        </p:txBody>
      </p:sp>
      <p:sp>
        <p:nvSpPr>
          <p:cNvPr id="7" name="Rounded Rectangle 6"/>
          <p:cNvSpPr/>
          <p:nvPr/>
        </p:nvSpPr>
        <p:spPr>
          <a:xfrm>
            <a:off x="502920" y="1645920"/>
            <a:ext cx="1920240" cy="91440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645920"/>
            <a:ext cx="73152" cy="9144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00784"/>
            <a:ext cx="1645920" cy="502920"/>
          </a:xfrm>
          <a:prstGeom prst="rect">
            <a:avLst/>
          </a:prstGeom>
          <a:noFill/>
        </p:spPr>
        <p:txBody>
          <a:bodyPr wrap="square" lIns="0" rIns="0" tIns="0" bIns="0" anchor="ctr">
            <a:spAutoFit/>
          </a:bodyPr>
          <a:lstStyle/>
          <a:p>
            <a:pPr algn="l">
              <a:spcAft>
                <a:spcPts val="400"/>
              </a:spcAft>
            </a:pPr>
            <a:r>
              <a:rPr sz="2200" b="1" i="0">
                <a:solidFill>
                  <a:srgbClr val="1F3864"/>
                </a:solidFill>
                <a:latin typeface="Calibri"/>
                <a:ea typeface="Calibri"/>
                <a:cs typeface="Calibri"/>
              </a:rPr>
              <a:t>347</a:t>
            </a:r>
          </a:p>
        </p:txBody>
      </p:sp>
      <p:sp>
        <p:nvSpPr>
          <p:cNvPr id="10" name="TextBox 9"/>
          <p:cNvSpPr txBox="1"/>
          <p:nvPr/>
        </p:nvSpPr>
        <p:spPr>
          <a:xfrm>
            <a:off x="685800" y="2176272"/>
            <a:ext cx="1645920" cy="365760"/>
          </a:xfrm>
          <a:prstGeom prst="rect">
            <a:avLst/>
          </a:prstGeom>
          <a:noFill/>
        </p:spPr>
        <p:txBody>
          <a:bodyPr wrap="square" lIns="0" rIns="0" tIns="0" bIns="0" anchor="t">
            <a:spAutoFit/>
          </a:bodyPr>
          <a:lstStyle/>
          <a:p>
            <a:pPr algn="l">
              <a:spcAft>
                <a:spcPts val="400"/>
              </a:spcAft>
            </a:pPr>
            <a:r>
              <a:rPr sz="1100" b="0" i="0">
                <a:solidFill>
                  <a:srgbClr val="222222"/>
                </a:solidFill>
                <a:latin typeface="Calibri"/>
                <a:ea typeface="Calibri"/>
                <a:cs typeface="Calibri"/>
              </a:rPr>
              <a:t>seeded reservations (synthetic)</a:t>
            </a:r>
          </a:p>
        </p:txBody>
      </p:sp>
      <p:sp>
        <p:nvSpPr>
          <p:cNvPr id="11" name="Rounded Rectangle 10"/>
          <p:cNvSpPr/>
          <p:nvPr/>
        </p:nvSpPr>
        <p:spPr>
          <a:xfrm>
            <a:off x="2560320" y="1645920"/>
            <a:ext cx="1920240" cy="91440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560320" y="1645920"/>
            <a:ext cx="73152" cy="9144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743200" y="1700784"/>
            <a:ext cx="1645920" cy="502920"/>
          </a:xfrm>
          <a:prstGeom prst="rect">
            <a:avLst/>
          </a:prstGeom>
          <a:noFill/>
        </p:spPr>
        <p:txBody>
          <a:bodyPr wrap="square" lIns="0" rIns="0" tIns="0" bIns="0" anchor="ctr">
            <a:spAutoFit/>
          </a:bodyPr>
          <a:lstStyle/>
          <a:p>
            <a:pPr algn="l">
              <a:spcAft>
                <a:spcPts val="400"/>
              </a:spcAft>
            </a:pPr>
            <a:r>
              <a:rPr sz="2200" b="1" i="0">
                <a:solidFill>
                  <a:srgbClr val="1F3864"/>
                </a:solidFill>
                <a:latin typeface="Calibri"/>
                <a:ea typeface="Calibri"/>
                <a:cs typeface="Calibri"/>
              </a:rPr>
              <a:t>5 + 9</a:t>
            </a:r>
          </a:p>
        </p:txBody>
      </p:sp>
      <p:sp>
        <p:nvSpPr>
          <p:cNvPr id="14" name="TextBox 13"/>
          <p:cNvSpPr txBox="1"/>
          <p:nvPr/>
        </p:nvSpPr>
        <p:spPr>
          <a:xfrm>
            <a:off x="2743200" y="2176272"/>
            <a:ext cx="1645920" cy="365760"/>
          </a:xfrm>
          <a:prstGeom prst="rect">
            <a:avLst/>
          </a:prstGeom>
          <a:noFill/>
        </p:spPr>
        <p:txBody>
          <a:bodyPr wrap="square" lIns="0" rIns="0" tIns="0" bIns="0" anchor="t">
            <a:spAutoFit/>
          </a:bodyPr>
          <a:lstStyle/>
          <a:p>
            <a:pPr algn="l">
              <a:spcAft>
                <a:spcPts val="400"/>
              </a:spcAft>
            </a:pPr>
            <a:r>
              <a:rPr sz="1100" b="0" i="0">
                <a:solidFill>
                  <a:srgbClr val="222222"/>
                </a:solidFill>
                <a:latin typeface="Calibri"/>
                <a:ea typeface="Calibri"/>
                <a:cs typeface="Calibri"/>
              </a:rPr>
              <a:t>locations + users seeded</a:t>
            </a:r>
          </a:p>
        </p:txBody>
      </p:sp>
      <p:sp>
        <p:nvSpPr>
          <p:cNvPr id="15" name="Rounded Rectangle 14"/>
          <p:cNvSpPr/>
          <p:nvPr/>
        </p:nvSpPr>
        <p:spPr>
          <a:xfrm>
            <a:off x="4617720" y="1645920"/>
            <a:ext cx="1920240" cy="91440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617720" y="1645920"/>
            <a:ext cx="73152" cy="9144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800600" y="1700784"/>
            <a:ext cx="1645920" cy="502920"/>
          </a:xfrm>
          <a:prstGeom prst="rect">
            <a:avLst/>
          </a:prstGeom>
          <a:noFill/>
        </p:spPr>
        <p:txBody>
          <a:bodyPr wrap="square" lIns="0" rIns="0" tIns="0" bIns="0" anchor="ctr">
            <a:spAutoFit/>
          </a:bodyPr>
          <a:lstStyle/>
          <a:p>
            <a:pPr algn="l">
              <a:spcAft>
                <a:spcPts val="400"/>
              </a:spcAft>
            </a:pPr>
            <a:r>
              <a:rPr sz="2200" b="1" i="0">
                <a:solidFill>
                  <a:srgbClr val="1F3864"/>
                </a:solidFill>
                <a:latin typeface="Calibri"/>
                <a:ea typeface="Calibri"/>
                <a:cs typeface="Calibri"/>
              </a:rPr>
              <a:t>60 days</a:t>
            </a:r>
          </a:p>
        </p:txBody>
      </p:sp>
      <p:sp>
        <p:nvSpPr>
          <p:cNvPr id="18" name="TextBox 17"/>
          <p:cNvSpPr txBox="1"/>
          <p:nvPr/>
        </p:nvSpPr>
        <p:spPr>
          <a:xfrm>
            <a:off x="4800600" y="2176272"/>
            <a:ext cx="1645920" cy="365760"/>
          </a:xfrm>
          <a:prstGeom prst="rect">
            <a:avLst/>
          </a:prstGeom>
          <a:noFill/>
        </p:spPr>
        <p:txBody>
          <a:bodyPr wrap="square" lIns="0" rIns="0" tIns="0" bIns="0" anchor="t">
            <a:spAutoFit/>
          </a:bodyPr>
          <a:lstStyle/>
          <a:p>
            <a:pPr algn="l">
              <a:spcAft>
                <a:spcPts val="400"/>
              </a:spcAft>
            </a:pPr>
            <a:r>
              <a:rPr sz="1100" b="0" i="0">
                <a:solidFill>
                  <a:srgbClr val="222222"/>
                </a:solidFill>
                <a:latin typeface="Calibri"/>
                <a:ea typeface="Calibri"/>
                <a:cs typeface="Calibri"/>
              </a:rPr>
              <a:t>history + 8 Friday peaks</a:t>
            </a:r>
          </a:p>
        </p:txBody>
      </p:sp>
      <p:graphicFrame>
        <p:nvGraphicFramePr>
          <p:cNvPr id="19" name="Table 18"/>
          <p:cNvGraphicFramePr>
            <a:graphicFrameLocks noGrp="1"/>
          </p:cNvGraphicFramePr>
          <p:nvPr/>
        </p:nvGraphicFramePr>
        <p:xfrm>
          <a:off x="502920" y="2743200"/>
          <a:ext cx="6126480" cy="2944368"/>
        </p:xfrm>
        <a:graphic>
          <a:graphicData uri="http://schemas.openxmlformats.org/drawingml/2006/table">
            <a:tbl>
              <a:tblPr firstRow="0" bandRow="0">
                <a:tableStyleId>{5C22544A-7EE6-4342-B048-85BDC9FD1C3A}</a:tableStyleId>
              </a:tblPr>
              <a:tblGrid>
                <a:gridCol w="1371600"/>
                <a:gridCol w="4754880"/>
              </a:tblGrid>
              <a:tr h="420624">
                <a:tc>
                  <a:txBody>
                    <a:bodyPr wrap="square"/>
                    <a:lstStyle/>
                    <a:p>
                      <a:pPr algn="ctr"/>
                      <a:r>
                        <a:rPr sz="1100" b="1">
                          <a:solidFill>
                            <a:srgbClr val="1F3864"/>
                          </a:solidFill>
                          <a:latin typeface="Calibri"/>
                          <a:ea typeface="Calibri"/>
                          <a:cs typeface="Calibri"/>
                        </a:rPr>
                        <a:t>Item</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Detail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20624">
                <a:tc>
                  <a:txBody>
                    <a:bodyPr wrap="square"/>
                    <a:lstStyle/>
                    <a:p>
                      <a:pPr algn="l"/>
                      <a:r>
                        <a:rPr sz="1100" b="1">
                          <a:solidFill>
                            <a:srgbClr val="222222"/>
                          </a:solidFill>
                          <a:latin typeface="Calibri"/>
                          <a:ea typeface="Calibri"/>
                          <a:cs typeface="Calibri"/>
                        </a:rPr>
                        <a:t>Source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app/seed.py, random.Random(42): no external dataset, no ML model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20624">
                <a:tc>
                  <a:txBody>
                    <a:bodyPr wrap="square"/>
                    <a:lstStyle/>
                    <a:p>
                      <a:pPr algn="l"/>
                      <a:r>
                        <a:rPr sz="1100" b="1">
                          <a:solidFill>
                            <a:srgbClr val="222222"/>
                          </a:solidFill>
                          <a:latin typeface="Calibri"/>
                          <a:ea typeface="Calibri"/>
                          <a:cs typeface="Calibri"/>
                        </a:rPr>
                        <a:t>Statuses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279 completed, 39 failed (unable to park), 29 declined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20624">
                <a:tc>
                  <a:txBody>
                    <a:bodyPr wrap="square"/>
                    <a:lstStyle/>
                    <a:p>
                      <a:pPr algn="l"/>
                      <a:r>
                        <a:rPr sz="1100" b="1">
                          <a:solidFill>
                            <a:srgbClr val="222222"/>
                          </a:solidFill>
                          <a:latin typeface="Calibri"/>
                          <a:ea typeface="Calibri"/>
                          <a:cs typeface="Calibri"/>
                        </a:rPr>
                        <a:t>Locations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5 lots, 8 to 25 bays, $2.00 to $5.00 per hour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20624">
                <a:tc>
                  <a:txBody>
                    <a:bodyPr wrap="square"/>
                    <a:lstStyle/>
                    <a:p>
                      <a:pPr algn="l"/>
                      <a:r>
                        <a:rPr sz="1100" b="1">
                          <a:solidFill>
                            <a:srgbClr val="222222"/>
                          </a:solidFill>
                          <a:latin typeface="Calibri"/>
                          <a:ea typeface="Calibri"/>
                          <a:cs typeface="Calibri"/>
                        </a:rPr>
                        <a:t>Fee multiplier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score 0 / 1 / 2 / 3 / 4 / 5 = 1.75 / 1.50 / 1.25 / 1.00 / 0.95 / 0.90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20624">
                <a:tc>
                  <a:txBody>
                    <a:bodyPr wrap="square"/>
                    <a:lstStyle/>
                    <a:p>
                      <a:pPr algn="l"/>
                      <a:r>
                        <a:rPr sz="1100" b="1">
                          <a:solidFill>
                            <a:srgbClr val="222222"/>
                          </a:solidFill>
                          <a:latin typeface="Calibri"/>
                          <a:ea typeface="Calibri"/>
                          <a:cs typeface="Calibri"/>
                        </a:rPr>
                        <a:t>Payments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Stripe test mode; demo checkout when keys are absent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20624">
                <a:tc>
                  <a:txBody>
                    <a:bodyPr wrap="square"/>
                    <a:lstStyle/>
                    <a:p>
                      <a:pPr algn="l"/>
                      <a:r>
                        <a:rPr sz="1100" b="1">
                          <a:solidFill>
                            <a:srgbClr val="222222"/>
                          </a:solidFill>
                          <a:latin typeface="Calibri"/>
                          <a:ea typeface="Calibri"/>
                          <a:cs typeface="Calibri"/>
                        </a:rPr>
                        <a:t>Caveat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Synthetic data show the mechanism, not real demand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pic>
        <p:nvPicPr>
          <p:cNvPr id="20" name="Picture 19" descr="12_trust_buffer_policy.png"/>
          <p:cNvPicPr>
            <a:picLocks noChangeAspect="1"/>
          </p:cNvPicPr>
          <p:nvPr/>
        </p:nvPicPr>
        <p:blipFill>
          <a:blip r:embed="rId4"/>
          <a:stretch>
            <a:fillRect/>
          </a:stretch>
        </p:blipFill>
        <p:spPr>
          <a:xfrm>
            <a:off x="6858000" y="2145514"/>
            <a:ext cx="4892040" cy="3024170"/>
          </a:xfrm>
          <a:prstGeom prst="rect">
            <a:avLst/>
          </a:prstGeom>
        </p:spPr>
      </p:pic>
      <p:sp>
        <p:nvSpPr>
          <p:cNvPr id="21" name="TextBox 20"/>
          <p:cNvSpPr txBox="1"/>
          <p:nvPr/>
        </p:nvSpPr>
        <p:spPr>
          <a:xfrm>
            <a:off x="6858000" y="5760720"/>
            <a:ext cx="4892040" cy="548640"/>
          </a:xfrm>
          <a:prstGeom prst="rect">
            <a:avLst/>
          </a:prstGeom>
          <a:noFill/>
        </p:spPr>
        <p:txBody>
          <a:bodyPr wrap="square" lIns="0" rIns="0" tIns="0" bIns="0" anchor="t">
            <a:spAutoFit/>
          </a:bodyPr>
          <a:lstStyle/>
          <a:p>
            <a:pPr algn="l">
              <a:spcAft>
                <a:spcPts val="400"/>
              </a:spcAft>
            </a:pPr>
            <a:r>
              <a:rPr sz="1200" b="0" i="1">
                <a:solidFill>
                  <a:srgbClr val="1F3864"/>
                </a:solidFill>
                <a:latin typeface="Calibri"/>
                <a:ea typeface="Calibri"/>
                <a:cs typeface="Calibri"/>
              </a:rPr>
              <a:t>Trust Score machine and buffer policy as implemented in app/engine.py and app/config.py.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Core Algorithm: Admission, Alternate and Trust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13</a:t>
            </a:r>
            <a:endParaRPr lang="en-US" sz="1000" dirty="0"/>
          </a:p>
        </p:txBody>
      </p:sp>
      <p:pic>
        <p:nvPicPr>
          <p:cNvPr id="7" name="Picture 6" descr="10_flowchart_algorithm.png"/>
          <p:cNvPicPr>
            <a:picLocks noChangeAspect="1"/>
          </p:cNvPicPr>
          <p:nvPr/>
        </p:nvPicPr>
        <p:blipFill>
          <a:blip r:embed="rId2"/>
          <a:stretch>
            <a:fillRect/>
          </a:stretch>
        </p:blipFill>
        <p:spPr>
          <a:xfrm>
            <a:off x="1195529" y="1600200"/>
            <a:ext cx="5564221" cy="4754880"/>
          </a:xfrm>
          <a:prstGeom prst="rect">
            <a:avLst/>
          </a:prstGeom>
        </p:spPr>
      </p:pic>
      <p:sp>
        <p:nvSpPr>
          <p:cNvPr id="8" name="TextBox 7"/>
          <p:cNvSpPr txBox="1"/>
          <p:nvPr/>
        </p:nvSpPr>
        <p:spPr>
          <a:xfrm>
            <a:off x="7635240" y="1737360"/>
            <a:ext cx="4114800" cy="4572000"/>
          </a:xfrm>
          <a:prstGeom prst="rect">
            <a:avLst/>
          </a:prstGeom>
          <a:noFill/>
        </p:spPr>
        <p:txBody>
          <a:bodyPr wrap="square" lIns="0" rIns="0" tIns="0" bIns="0" anchor="t">
            <a:spAutoFit/>
          </a:bodyPr>
          <a:lstStyle/>
          <a:p>
            <a:pPr algn="l" marL="256032" indent="-201168">
              <a:spcAft>
                <a:spcPts val="800"/>
              </a:spcAft>
              <a:buChar char="•"/>
            </a:pPr>
            <a:r>
              <a:rPr sz="1400" b="0" i="0">
                <a:solidFill>
                  <a:srgbClr val="222222"/>
                </a:solidFill>
                <a:latin typeface="Calibri"/>
                <a:ea typeface="Calibri"/>
                <a:cs typeface="Calibri"/>
              </a:rPr>
              <a:t>Request time: suspended? refuse. overlapping + buffer &lt; capacity? else decline. Quote and book.</a:t>
            </a:r>
          </a:p>
          <a:p>
            <a:pPr algn="l" marL="256032" indent="-201168">
              <a:spcAft>
                <a:spcPts val="800"/>
              </a:spcAft>
              <a:buChar char="•"/>
            </a:pPr>
            <a:r>
              <a:rPr sz="1400" b="0" i="0">
                <a:solidFill>
                  <a:srgbClr val="222222"/>
                </a:solidFill>
                <a:latin typeface="Calibri"/>
                <a:ea typeface="Calibri"/>
                <a:cs typeface="Calibri"/>
              </a:rPr>
              <a:t>Arrival: parked &gt;= capacity? search other lots by haversine distance (R = 6371 km); book the nearest with forecast space; else failed + credit.</a:t>
            </a:r>
          </a:p>
          <a:p>
            <a:pPr algn="l" marL="256032" indent="-201168">
              <a:spcAft>
                <a:spcPts val="800"/>
              </a:spcAft>
              <a:buChar char="•"/>
            </a:pPr>
            <a:r>
              <a:rPr sz="1400" b="0" i="0">
                <a:solidFill>
                  <a:srgbClr val="222222"/>
                </a:solidFill>
                <a:latin typeface="Calibri"/>
                <a:ea typeface="Calibri"/>
                <a:cs typeface="Calibri"/>
              </a:rPr>
              <a:t>Departure: end + 10 min? late = warning, on time = buffer +1 and benefit.</a:t>
            </a:r>
          </a:p>
          <a:p>
            <a:pPr algn="l" marL="256032" indent="-201168">
              <a:spcAft>
                <a:spcPts val="800"/>
              </a:spcAft>
              <a:buChar char="•"/>
            </a:pPr>
            <a:r>
              <a:rPr sz="1400" b="0" i="0">
                <a:solidFill>
                  <a:srgbClr val="222222"/>
                </a:solidFill>
                <a:latin typeface="Calibri"/>
                <a:ea typeface="Calibri"/>
                <a:cs typeface="Calibri"/>
              </a:rPr>
              <a:t>Admission decision 0.33 ms; nearest-alternate over 49 lots 18.6 ms (in-process).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User - System Interaction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14</a:t>
            </a:r>
            <a:endParaRPr lang="en-US" sz="1000" dirty="0"/>
          </a:p>
        </p:txBody>
      </p:sp>
      <p:pic>
        <p:nvPicPr>
          <p:cNvPr id="7" name="Picture 6" descr="07_sequence_diagram.png"/>
          <p:cNvPicPr>
            <a:picLocks noChangeAspect="1"/>
          </p:cNvPicPr>
          <p:nvPr/>
        </p:nvPicPr>
        <p:blipFill>
          <a:blip r:embed="rId2"/>
          <a:stretch>
            <a:fillRect/>
          </a:stretch>
        </p:blipFill>
        <p:spPr>
          <a:xfrm>
            <a:off x="671051" y="1645920"/>
            <a:ext cx="5515896" cy="4663440"/>
          </a:xfrm>
          <a:prstGeom prst="rect">
            <a:avLst/>
          </a:prstGeom>
        </p:spPr>
      </p:pic>
      <p:pic>
        <p:nvPicPr>
          <p:cNvPr id="8" name="Picture 7" descr="08_use_case.png"/>
          <p:cNvPicPr>
            <a:picLocks noChangeAspect="1"/>
          </p:cNvPicPr>
          <p:nvPr/>
        </p:nvPicPr>
        <p:blipFill>
          <a:blip r:embed="rId5"/>
          <a:stretch>
            <a:fillRect/>
          </a:stretch>
        </p:blipFill>
        <p:spPr>
          <a:xfrm>
            <a:off x="6492240" y="2224485"/>
            <a:ext cx="5212080" cy="350630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 Design (5 tables)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15</a:t>
            </a:r>
            <a:endParaRPr lang="en-US" sz="1000" dirty="0"/>
          </a:p>
        </p:txBody>
      </p:sp>
      <p:pic>
        <p:nvPicPr>
          <p:cNvPr id="7" name="Picture 6" descr="09_er_diagram.png"/>
          <p:cNvPicPr>
            <a:picLocks noChangeAspect="1"/>
          </p:cNvPicPr>
          <p:nvPr/>
        </p:nvPicPr>
        <p:blipFill>
          <a:blip r:embed="rId2"/>
          <a:stretch>
            <a:fillRect/>
          </a:stretch>
        </p:blipFill>
        <p:spPr>
          <a:xfrm>
            <a:off x="907042" y="1645920"/>
            <a:ext cx="5318234" cy="4206240"/>
          </a:xfrm>
          <a:prstGeom prst="rect">
            <a:avLst/>
          </a:prstGeom>
        </p:spPr>
      </p:pic>
      <p:graphicFrame>
        <p:nvGraphicFramePr>
          <p:cNvPr id="8" name="Table 7"/>
          <p:cNvGraphicFramePr>
            <a:graphicFrameLocks noGrp="1"/>
          </p:cNvGraphicFramePr>
          <p:nvPr/>
        </p:nvGraphicFramePr>
        <p:xfrm>
          <a:off x="6858000" y="1737360"/>
          <a:ext cx="4846320" cy="3017520"/>
        </p:xfrm>
        <a:graphic>
          <a:graphicData uri="http://schemas.openxmlformats.org/drawingml/2006/table">
            <a:tbl>
              <a:tblPr firstRow="0" bandRow="0">
                <a:tableStyleId>{5C22544A-7EE6-4342-B048-85BDC9FD1C3A}</a:tableStyleId>
              </a:tblPr>
              <a:tblGrid>
                <a:gridCol w="2011680"/>
                <a:gridCol w="2834640"/>
              </a:tblGrid>
              <a:tr h="502920">
                <a:tc>
                  <a:txBody>
                    <a:bodyPr wrap="square"/>
                    <a:lstStyle/>
                    <a:p>
                      <a:pPr algn="ctr"/>
                      <a:r>
                        <a:rPr sz="1100" b="1">
                          <a:solidFill>
                            <a:srgbClr val="1F3864"/>
                          </a:solidFill>
                          <a:latin typeface="Calibri"/>
                          <a:ea typeface="Calibri"/>
                          <a:cs typeface="Calibri"/>
                        </a:rPr>
                        <a:t>Table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Content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02920">
                <a:tc>
                  <a:txBody>
                    <a:bodyPr wrap="square"/>
                    <a:lstStyle/>
                    <a:p>
                      <a:pPr algn="l"/>
                      <a:r>
                        <a:rPr sz="1100" b="1">
                          <a:solidFill>
                            <a:srgbClr val="222222"/>
                          </a:solidFill>
                          <a:latin typeface="Calibri"/>
                          <a:ea typeface="Calibri"/>
                          <a:cs typeface="Calibri"/>
                        </a:rPr>
                        <a:t>users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role, trust score, streak, warnings, credit, suspension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02920">
                <a:tc>
                  <a:txBody>
                    <a:bodyPr wrap="square"/>
                    <a:lstStyle/>
                    <a:p>
                      <a:pPr algn="l"/>
                      <a:r>
                        <a:rPr sz="1100" b="1">
                          <a:solidFill>
                            <a:srgbClr val="222222"/>
                          </a:solidFill>
                          <a:latin typeface="Calibri"/>
                          <a:ea typeface="Calibri"/>
                          <a:cs typeface="Calibri"/>
                        </a:rPr>
                        <a:t>parking_locations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coordinates, capacity, buffer, price, last reset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02920">
                <a:tc>
                  <a:txBody>
                    <a:bodyPr wrap="square"/>
                    <a:lstStyle/>
                    <a:p>
                      <a:pPr algn="l"/>
                      <a:r>
                        <a:rPr sz="1100" b="1">
                          <a:solidFill>
                            <a:srgbClr val="222222"/>
                          </a:solidFill>
                          <a:latin typeface="Calibri"/>
                          <a:ea typeface="Calibri"/>
                          <a:cs typeface="Calibri"/>
                        </a:rPr>
                        <a:t>reservations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window, status, fee, multiplier, check times, parent_id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02920">
                <a:tc>
                  <a:txBody>
                    <a:bodyPr wrap="square"/>
                    <a:lstStyle/>
                    <a:p>
                      <a:pPr algn="l"/>
                      <a:r>
                        <a:rPr sz="1100" b="1">
                          <a:solidFill>
                            <a:srgbClr val="222222"/>
                          </a:solidFill>
                          <a:latin typeface="Calibri"/>
                          <a:ea typeface="Calibri"/>
                          <a:cs typeface="Calibri"/>
                        </a:rPr>
                        <a:t>payments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amount, provider, Stripe ids, status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02920">
                <a:tc>
                  <a:txBody>
                    <a:bodyPr wrap="square"/>
                    <a:lstStyle/>
                    <a:p>
                      <a:pPr algn="l"/>
                      <a:r>
                        <a:rPr sz="1100" b="1">
                          <a:solidFill>
                            <a:srgbClr val="222222"/>
                          </a:solidFill>
                          <a:latin typeface="Calibri"/>
                          <a:ea typeface="Calibri"/>
                          <a:cs typeface="Calibri"/>
                        </a:rPr>
                        <a:t>trust_events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benefit / warning / reward / penalty log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9" name="TextBox 8"/>
          <p:cNvSpPr txBox="1"/>
          <p:nvPr/>
        </p:nvSpPr>
        <p:spPr>
          <a:xfrm>
            <a:off x="502920" y="5897880"/>
            <a:ext cx="11155680" cy="457200"/>
          </a:xfrm>
          <a:prstGeom prst="rect">
            <a:avLst/>
          </a:prstGeom>
          <a:noFill/>
        </p:spPr>
        <p:txBody>
          <a:bodyPr wrap="square" lIns="0" rIns="0" tIns="0" bIns="0" anchor="t">
            <a:spAutoFit/>
          </a:bodyPr>
          <a:lstStyle/>
          <a:p>
            <a:pPr algn="l">
              <a:spcAft>
                <a:spcPts val="400"/>
              </a:spcAft>
            </a:pPr>
            <a:r>
              <a:rPr sz="1300" b="0" i="1">
                <a:solidFill>
                  <a:srgbClr val="1F3864"/>
                </a:solidFill>
                <a:latin typeface="Calibri"/>
                <a:ea typeface="Calibri"/>
                <a:cs typeface="Calibri"/>
              </a:rPr>
              <a:t>parent_id links an automatically created alternate booking to the booking it replaced; it is a plain integer, not a foreign key.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Implementation, Performance &amp; Testing</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16</a:t>
            </a:r>
            <a:endParaRPr lang="en-US" sz="1000" dirty="0"/>
          </a:p>
        </p:txBody>
      </p:sp>
      <p:sp>
        <p:nvSpPr>
          <p:cNvPr id="7" name="Rounded Rectangle 6"/>
          <p:cNvSpPr/>
          <p:nvPr/>
        </p:nvSpPr>
        <p:spPr>
          <a:xfrm>
            <a:off x="50292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691640"/>
            <a:ext cx="73152" cy="10058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22</a:t>
            </a:r>
          </a:p>
        </p:txBody>
      </p:sp>
      <p:sp>
        <p:nvSpPr>
          <p:cNvPr id="10" name="TextBox 9"/>
          <p:cNvSpPr txBox="1"/>
          <p:nvPr/>
        </p:nvSpPr>
        <p:spPr>
          <a:xfrm>
            <a:off x="68580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API routes, 5 tables</a:t>
            </a:r>
          </a:p>
        </p:txBody>
      </p:sp>
      <p:sp>
        <p:nvSpPr>
          <p:cNvPr id="11" name="Rounded Rectangle 10"/>
          <p:cNvSpPr/>
          <p:nvPr/>
        </p:nvSpPr>
        <p:spPr>
          <a:xfrm>
            <a:off x="333756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691640"/>
            <a:ext cx="73152" cy="10058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2044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70 + 27</a:t>
            </a:r>
          </a:p>
        </p:txBody>
      </p:sp>
      <p:sp>
        <p:nvSpPr>
          <p:cNvPr id="14" name="TextBox 13"/>
          <p:cNvSpPr txBox="1"/>
          <p:nvPr/>
        </p:nvSpPr>
        <p:spPr>
          <a:xfrm>
            <a:off x="352044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pytest tests + smoke checks, all pass</a:t>
            </a:r>
          </a:p>
        </p:txBody>
      </p:sp>
      <p:sp>
        <p:nvSpPr>
          <p:cNvPr id="15" name="Rounded Rectangle 14"/>
          <p:cNvSpPr/>
          <p:nvPr/>
        </p:nvSpPr>
        <p:spPr>
          <a:xfrm>
            <a:off x="617220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691640"/>
            <a:ext cx="73152" cy="10058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10,300</a:t>
            </a:r>
          </a:p>
        </p:txBody>
      </p:sp>
      <p:sp>
        <p:nvSpPr>
          <p:cNvPr id="18" name="TextBox 17"/>
          <p:cNvSpPr txBox="1"/>
          <p:nvPr/>
        </p:nvSpPr>
        <p:spPr>
          <a:xfrm>
            <a:off x="635508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simulator vs engine decisions, 0 mismatches</a:t>
            </a:r>
          </a:p>
        </p:txBody>
      </p:sp>
      <p:sp>
        <p:nvSpPr>
          <p:cNvPr id="19" name="Rounded Rectangle 18"/>
          <p:cNvSpPr/>
          <p:nvPr/>
        </p:nvSpPr>
        <p:spPr>
          <a:xfrm>
            <a:off x="900684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691640"/>
            <a:ext cx="73152" cy="100584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2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5.7 ms</a:t>
            </a:r>
          </a:p>
        </p:txBody>
      </p:sp>
      <p:sp>
        <p:nvSpPr>
          <p:cNvPr id="22" name="TextBox 21"/>
          <p:cNvSpPr txBox="1"/>
          <p:nvPr/>
        </p:nvSpPr>
        <p:spPr>
          <a:xfrm>
            <a:off x="918972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mean availability search</a:t>
            </a:r>
          </a:p>
        </p:txBody>
      </p:sp>
      <p:graphicFrame>
        <p:nvGraphicFramePr>
          <p:cNvPr id="23" name="Table 22"/>
          <p:cNvGraphicFramePr>
            <a:graphicFrameLocks noGrp="1"/>
          </p:cNvGraphicFramePr>
          <p:nvPr/>
        </p:nvGraphicFramePr>
        <p:xfrm>
          <a:off x="502920" y="2880360"/>
          <a:ext cx="5394960" cy="3127248"/>
        </p:xfrm>
        <a:graphic>
          <a:graphicData uri="http://schemas.openxmlformats.org/drawingml/2006/table">
            <a:tbl>
              <a:tblPr firstRow="0" bandRow="0">
                <a:tableStyleId>{5C22544A-7EE6-4342-B048-85BDC9FD1C3A}</a:tableStyleId>
              </a:tblPr>
              <a:tblGrid>
                <a:gridCol w="3566160"/>
                <a:gridCol w="914400"/>
                <a:gridCol w="914400"/>
              </a:tblGrid>
              <a:tr h="347472">
                <a:tc>
                  <a:txBody>
                    <a:bodyPr wrap="square"/>
                    <a:lstStyle/>
                    <a:p>
                      <a:pPr algn="ctr"/>
                      <a:r>
                        <a:rPr sz="1100" b="1">
                          <a:solidFill>
                            <a:srgbClr val="1F3864"/>
                          </a:solidFill>
                          <a:latin typeface="Calibri"/>
                          <a:ea typeface="Calibri"/>
                          <a:cs typeface="Calibri"/>
                        </a:rPr>
                        <a:t>Endpoint (127.0.0.1, 200 calls)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mean ms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p95 ms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347472">
                <a:tc>
                  <a:txBody>
                    <a:bodyPr wrap="square"/>
                    <a:lstStyle/>
                    <a:p>
                      <a:pPr algn="l"/>
                      <a:r>
                        <a:rPr sz="1100" b="1">
                          <a:solidFill>
                            <a:srgbClr val="222222"/>
                          </a:solidFill>
                          <a:latin typeface="Calibri"/>
                          <a:ea typeface="Calibri"/>
                          <a:cs typeface="Calibri"/>
                        </a:rPr>
                        <a:t>Search availability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100" b="0">
                          <a:solidFill>
                            <a:srgbClr val="222222"/>
                          </a:solidFill>
                          <a:latin typeface="Calibri"/>
                          <a:ea typeface="Calibri"/>
                          <a:cs typeface="Calibri"/>
                        </a:rPr>
                        <a:t>5.7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100" b="0">
                          <a:solidFill>
                            <a:srgbClr val="222222"/>
                          </a:solidFill>
                          <a:latin typeface="Calibri"/>
                          <a:ea typeface="Calibri"/>
                          <a:cs typeface="Calibri"/>
                        </a:rPr>
                        <a:t>6.6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47472">
                <a:tc>
                  <a:txBody>
                    <a:bodyPr wrap="square"/>
                    <a:lstStyle/>
                    <a:p>
                      <a:pPr algn="l"/>
                      <a:r>
                        <a:rPr sz="1100" b="1">
                          <a:solidFill>
                            <a:srgbClr val="222222"/>
                          </a:solidFill>
                          <a:latin typeface="Calibri"/>
                          <a:ea typeface="Calibri"/>
                          <a:cs typeface="Calibri"/>
                        </a:rPr>
                        <a:t>Reserve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100" b="0">
                          <a:solidFill>
                            <a:srgbClr val="222222"/>
                          </a:solidFill>
                          <a:latin typeface="Calibri"/>
                          <a:ea typeface="Calibri"/>
                          <a:cs typeface="Calibri"/>
                        </a:rPr>
                        <a:t>19.6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100" b="0">
                          <a:solidFill>
                            <a:srgbClr val="222222"/>
                          </a:solidFill>
                          <a:latin typeface="Calibri"/>
                          <a:ea typeface="Calibri"/>
                          <a:cs typeface="Calibri"/>
                        </a:rPr>
                        <a:t>28.2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347472">
                <a:tc>
                  <a:txBody>
                    <a:bodyPr wrap="square"/>
                    <a:lstStyle/>
                    <a:p>
                      <a:pPr algn="l"/>
                      <a:r>
                        <a:rPr sz="1100" b="1">
                          <a:solidFill>
                            <a:srgbClr val="222222"/>
                          </a:solidFill>
                          <a:latin typeface="Calibri"/>
                          <a:ea typeface="Calibri"/>
                          <a:cs typeface="Calibri"/>
                        </a:rPr>
                        <a:t>Check in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100" b="0">
                          <a:solidFill>
                            <a:srgbClr val="222222"/>
                          </a:solidFill>
                          <a:latin typeface="Calibri"/>
                          <a:ea typeface="Calibri"/>
                          <a:cs typeface="Calibri"/>
                        </a:rPr>
                        <a:t>14.9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100" b="0">
                          <a:solidFill>
                            <a:srgbClr val="222222"/>
                          </a:solidFill>
                          <a:latin typeface="Calibri"/>
                          <a:ea typeface="Calibri"/>
                          <a:cs typeface="Calibri"/>
                        </a:rPr>
                        <a:t>25.0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47472">
                <a:tc>
                  <a:txBody>
                    <a:bodyPr wrap="square"/>
                    <a:lstStyle/>
                    <a:p>
                      <a:pPr algn="l"/>
                      <a:r>
                        <a:rPr sz="1100" b="1">
                          <a:solidFill>
                            <a:srgbClr val="222222"/>
                          </a:solidFill>
                          <a:latin typeface="Calibri"/>
                          <a:ea typeface="Calibri"/>
                          <a:cs typeface="Calibri"/>
                        </a:rPr>
                        <a:t>Check out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100" b="0">
                          <a:solidFill>
                            <a:srgbClr val="222222"/>
                          </a:solidFill>
                          <a:latin typeface="Calibri"/>
                          <a:ea typeface="Calibri"/>
                          <a:cs typeface="Calibri"/>
                        </a:rPr>
                        <a:t>14.6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100" b="0">
                          <a:solidFill>
                            <a:srgbClr val="222222"/>
                          </a:solidFill>
                          <a:latin typeface="Calibri"/>
                          <a:ea typeface="Calibri"/>
                          <a:cs typeface="Calibri"/>
                        </a:rPr>
                        <a:t>15.7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347472">
                <a:tc>
                  <a:txBody>
                    <a:bodyPr wrap="square"/>
                    <a:lstStyle/>
                    <a:p>
                      <a:pPr algn="l"/>
                      <a:r>
                        <a:rPr sz="1100" b="1">
                          <a:solidFill>
                            <a:srgbClr val="222222"/>
                          </a:solidFill>
                          <a:latin typeface="Calibri"/>
                          <a:ea typeface="Calibri"/>
                          <a:cs typeface="Calibri"/>
                        </a:rPr>
                        <a:t>Admin insights (60-day replay)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100" b="0">
                          <a:solidFill>
                            <a:srgbClr val="222222"/>
                          </a:solidFill>
                          <a:latin typeface="Calibri"/>
                          <a:ea typeface="Calibri"/>
                          <a:cs typeface="Calibri"/>
                        </a:rPr>
                        <a:t>60.3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100" b="0">
                          <a:solidFill>
                            <a:srgbClr val="222222"/>
                          </a:solidFill>
                          <a:latin typeface="Calibri"/>
                          <a:ea typeface="Calibri"/>
                          <a:cs typeface="Calibri"/>
                        </a:rPr>
                        <a:t>70.8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47472">
                <a:tc>
                  <a:txBody>
                    <a:bodyPr wrap="square"/>
                    <a:lstStyle/>
                    <a:p>
                      <a:pPr algn="l"/>
                      <a:r>
                        <a:rPr sz="1100" b="1">
                          <a:solidFill>
                            <a:srgbClr val="222222"/>
                          </a:solidFill>
                          <a:latin typeface="Calibri"/>
                          <a:ea typeface="Calibri"/>
                          <a:cs typeface="Calibri"/>
                        </a:rPr>
                        <a:t>Own bookings (N+1 queries)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100" b="0">
                          <a:solidFill>
                            <a:srgbClr val="222222"/>
                          </a:solidFill>
                          <a:latin typeface="Calibri"/>
                          <a:ea typeface="Calibri"/>
                          <a:cs typeface="Calibri"/>
                        </a:rPr>
                        <a:t>180.1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100" b="0">
                          <a:solidFill>
                            <a:srgbClr val="222222"/>
                          </a:solidFill>
                          <a:latin typeface="Calibri"/>
                          <a:ea typeface="Calibri"/>
                          <a:cs typeface="Calibri"/>
                        </a:rPr>
                        <a:t>207.4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347472">
                <a:tc>
                  <a:txBody>
                    <a:bodyPr wrap="square"/>
                    <a:lstStyle/>
                    <a:p>
                      <a:pPr algn="l"/>
                      <a:r>
                        <a:rPr sz="1100" b="1">
                          <a:solidFill>
                            <a:srgbClr val="222222"/>
                          </a:solidFill>
                          <a:latin typeface="Calibri"/>
                          <a:ea typeface="Calibri"/>
                          <a:cs typeface="Calibri"/>
                        </a:rPr>
                        <a:t>Admin bookings (N+1 queries)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100" b="0">
                          <a:solidFill>
                            <a:srgbClr val="222222"/>
                          </a:solidFill>
                          <a:latin typeface="Calibri"/>
                          <a:ea typeface="Calibri"/>
                          <a:cs typeface="Calibri"/>
                        </a:rPr>
                        <a:t>272.5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100" b="0">
                          <a:solidFill>
                            <a:srgbClr val="222222"/>
                          </a:solidFill>
                          <a:latin typeface="Calibri"/>
                          <a:ea typeface="Calibri"/>
                          <a:cs typeface="Calibri"/>
                        </a:rPr>
                        <a:t>314.9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47472">
                <a:tc>
                  <a:txBody>
                    <a:bodyPr wrap="square"/>
                    <a:lstStyle/>
                    <a:p>
                      <a:pPr algn="l"/>
                      <a:r>
                        <a:rPr sz="1100" b="1">
                          <a:solidFill>
                            <a:srgbClr val="222222"/>
                          </a:solidFill>
                          <a:latin typeface="Calibri"/>
                          <a:ea typeface="Calibri"/>
                          <a:cs typeface="Calibri"/>
                        </a:rPr>
                        <a:t>Login (bcrypt cost 12)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100" b="0">
                          <a:solidFill>
                            <a:srgbClr val="222222"/>
                          </a:solidFill>
                          <a:latin typeface="Calibri"/>
                          <a:ea typeface="Calibri"/>
                          <a:cs typeface="Calibri"/>
                        </a:rPr>
                        <a:t>220.4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100" b="0">
                          <a:solidFill>
                            <a:srgbClr val="222222"/>
                          </a:solidFill>
                          <a:latin typeface="Calibri"/>
                          <a:ea typeface="Calibri"/>
                          <a:cs typeface="Calibri"/>
                        </a:rPr>
                        <a:t>234.5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24" name="TextBox 23"/>
          <p:cNvSpPr txBox="1"/>
          <p:nvPr/>
        </p:nvSpPr>
        <p:spPr>
          <a:xfrm>
            <a:off x="6126480" y="2880360"/>
            <a:ext cx="5577840" cy="3474720"/>
          </a:xfrm>
          <a:prstGeom prst="rect">
            <a:avLst/>
          </a:prstGeom>
          <a:noFill/>
        </p:spPr>
        <p:txBody>
          <a:bodyPr wrap="square" lIns="0" rIns="0" tIns="0" bIns="0" anchor="t">
            <a:spAutoFit/>
          </a:bodyPr>
          <a:lstStyle/>
          <a:p>
            <a:pPr algn="l" marL="256032" indent="-201168">
              <a:spcAft>
                <a:spcPts val="700"/>
              </a:spcAft>
              <a:buChar char="•"/>
            </a:pPr>
            <a:r>
              <a:rPr sz="1300" b="0" i="0">
                <a:solidFill>
                  <a:srgbClr val="222222"/>
                </a:solidFill>
                <a:latin typeface="Calibri"/>
                <a:ea typeface="Calibri"/>
                <a:cs typeface="Calibri"/>
              </a:rPr>
              <a:t>29 engine unit tests (haversine, fees, admission, alternate, trust, suspension, reset), 36 API tests, 5 parity tests.</a:t>
            </a:r>
          </a:p>
          <a:p>
            <a:pPr algn="l" marL="256032" indent="-201168">
              <a:spcAft>
                <a:spcPts val="700"/>
              </a:spcAft>
              <a:buChar char="•"/>
            </a:pPr>
            <a:r>
              <a:rPr sz="1300" b="0" i="0">
                <a:solidFill>
                  <a:srgbClr val="222222"/>
                </a:solidFill>
                <a:latin typeface="Calibri"/>
                <a:ea typeface="Calibri"/>
                <a:cs typeface="Calibri"/>
              </a:rPr>
              <a:t>27-check smoke test on a throw-away database; 8-thread search throughput 131 req/s.</a:t>
            </a:r>
          </a:p>
          <a:p>
            <a:pPr algn="l" marL="256032" indent="-201168">
              <a:spcAft>
                <a:spcPts val="700"/>
              </a:spcAft>
              <a:buChar char="•"/>
            </a:pPr>
            <a:r>
              <a:rPr sz="1300" b="0" i="0">
                <a:solidFill>
                  <a:srgbClr val="222222"/>
                </a:solidFill>
                <a:latin typeface="Calibri"/>
                <a:ea typeface="Calibri"/>
                <a:cs typeface="Calibri"/>
              </a:rPr>
              <a:t>Measured on an i5-12500, 15.7 GB, Python 3.14.7, single uvicorn process, SQLite file.</a:t>
            </a:r>
          </a:p>
          <a:p>
            <a:pPr algn="l" marL="256032" indent="-201168">
              <a:spcAft>
                <a:spcPts val="700"/>
              </a:spcAft>
              <a:buChar char="•"/>
            </a:pPr>
            <a:r>
              <a:rPr sz="1300" b="0" i="0">
                <a:solidFill>
                  <a:srgbClr val="222222"/>
                </a:solidFill>
                <a:latin typeface="Calibri"/>
                <a:ea typeface="Calibri"/>
                <a:cs typeface="Calibri"/>
              </a:rPr>
              <a:t>Not tested: real load, many users, Stripe live mode, accessibility audit, other browsers.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Results - Buffer Policies vs Population (25 % bad vehicles)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17</a:t>
            </a:r>
            <a:endParaRPr lang="en-US" sz="1000" dirty="0"/>
          </a:p>
        </p:txBody>
      </p:sp>
      <p:graphicFrame>
        <p:nvGraphicFramePr>
          <p:cNvPr id="7" name="Table 6"/>
          <p:cNvGraphicFramePr>
            <a:graphicFrameLocks noGrp="1"/>
          </p:cNvGraphicFramePr>
          <p:nvPr/>
        </p:nvGraphicFramePr>
        <p:xfrm>
          <a:off x="502920" y="1645920"/>
          <a:ext cx="6309360" cy="2194560"/>
        </p:xfrm>
        <a:graphic>
          <a:graphicData uri="http://schemas.openxmlformats.org/drawingml/2006/table">
            <a:tbl>
              <a:tblPr firstRow="0" bandRow="0">
                <a:tableStyleId>{5C22544A-7EE6-4342-B048-85BDC9FD1C3A}</a:tableStyleId>
              </a:tblPr>
              <a:tblGrid>
                <a:gridCol w="2834640"/>
                <a:gridCol w="822960"/>
                <a:gridCol w="1005840"/>
                <a:gridCol w="822960"/>
                <a:gridCol w="822960"/>
              </a:tblGrid>
              <a:tr h="365760">
                <a:tc>
                  <a:txBody>
                    <a:bodyPr wrap="square"/>
                    <a:lstStyle/>
                    <a:p>
                      <a:pPr algn="ctr"/>
                      <a:r>
                        <a:rPr sz="1200" b="1">
                          <a:solidFill>
                            <a:srgbClr val="1F3864"/>
                          </a:solidFill>
                          <a:latin typeface="Calibri"/>
                          <a:ea typeface="Calibri"/>
                          <a:cs typeface="Calibri"/>
                        </a:rPr>
                        <a:t>Policy (100 vehicles, 1,000 requests)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Refused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Suspended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No park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Success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365760">
                <a:tc>
                  <a:txBody>
                    <a:bodyPr wrap="square"/>
                    <a:lstStyle/>
                    <a:p>
                      <a:pPr algn="l"/>
                      <a:r>
                        <a:rPr sz="1200" b="1">
                          <a:solidFill>
                            <a:srgbClr val="222222"/>
                          </a:solidFill>
                          <a:latin typeface="Calibri"/>
                          <a:ea typeface="Calibri"/>
                          <a:cs typeface="Calibri"/>
                        </a:rPr>
                        <a:t>Static 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30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143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0.4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83%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65760">
                <a:tc>
                  <a:txBody>
                    <a:bodyPr wrap="square"/>
                    <a:lstStyle/>
                    <a:p>
                      <a:pPr algn="l"/>
                      <a:r>
                        <a:rPr sz="1200" b="1">
                          <a:solidFill>
                            <a:srgbClr val="222222"/>
                          </a:solidFill>
                          <a:latin typeface="Calibri"/>
                          <a:ea typeface="Calibri"/>
                          <a:cs typeface="Calibri"/>
                        </a:rPr>
                        <a:t>Static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200" b="0">
                          <a:solidFill>
                            <a:srgbClr val="222222"/>
                          </a:solidFill>
                          <a:latin typeface="Calibri"/>
                          <a:ea typeface="Calibri"/>
                          <a:cs typeface="Calibri"/>
                        </a:rPr>
                        <a:t>53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200" b="0">
                          <a:solidFill>
                            <a:srgbClr val="222222"/>
                          </a:solidFill>
                          <a:latin typeface="Calibri"/>
                          <a:ea typeface="Calibri"/>
                          <a:cs typeface="Calibri"/>
                        </a:rPr>
                        <a:t>139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200" b="0">
                          <a:solidFill>
                            <a:srgbClr val="222222"/>
                          </a:solidFill>
                          <a:latin typeface="Calibri"/>
                          <a:ea typeface="Calibri"/>
                          <a:cs typeface="Calibri"/>
                        </a:rPr>
                        <a:t>0.2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200" b="0">
                          <a:solidFill>
                            <a:srgbClr val="222222"/>
                          </a:solidFill>
                          <a:latin typeface="Calibri"/>
                          <a:ea typeface="Calibri"/>
                          <a:cs typeface="Calibri"/>
                        </a:rPr>
                        <a:t>81%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365760">
                <a:tc>
                  <a:txBody>
                    <a:bodyPr wrap="square"/>
                    <a:lstStyle/>
                    <a:p>
                      <a:pPr algn="l"/>
                      <a:r>
                        <a:rPr sz="1200" b="1">
                          <a:solidFill>
                            <a:srgbClr val="222222"/>
                          </a:solidFill>
                          <a:latin typeface="Calibri"/>
                          <a:ea typeface="Calibri"/>
                          <a:cs typeface="Calibri"/>
                        </a:rPr>
                        <a:t>Static 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158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116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0.0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73%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65760">
                <a:tc>
                  <a:txBody>
                    <a:bodyPr wrap="square"/>
                    <a:lstStyle/>
                    <a:p>
                      <a:pPr algn="l"/>
                      <a:r>
                        <a:rPr sz="1200" b="1">
                          <a:solidFill>
                            <a:srgbClr val="222222"/>
                          </a:solidFill>
                          <a:latin typeface="Calibri"/>
                          <a:ea typeface="Calibri"/>
                          <a:cs typeface="Calibri"/>
                        </a:rPr>
                        <a:t>Dynamic (ParkSure)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200" b="0">
                          <a:solidFill>
                            <a:srgbClr val="222222"/>
                          </a:solidFill>
                          <a:latin typeface="Calibri"/>
                          <a:ea typeface="Calibri"/>
                          <a:cs typeface="Calibri"/>
                        </a:rPr>
                        <a:t>277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200" b="0">
                          <a:solidFill>
                            <a:srgbClr val="222222"/>
                          </a:solidFill>
                          <a:latin typeface="Calibri"/>
                          <a:ea typeface="Calibri"/>
                          <a:cs typeface="Calibri"/>
                        </a:rPr>
                        <a:t>92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200" b="0">
                          <a:solidFill>
                            <a:srgbClr val="222222"/>
                          </a:solidFill>
                          <a:latin typeface="Calibri"/>
                          <a:ea typeface="Calibri"/>
                          <a:cs typeface="Calibri"/>
                        </a:rPr>
                        <a:t>0.7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200" b="0">
                          <a:solidFill>
                            <a:srgbClr val="222222"/>
                          </a:solidFill>
                          <a:latin typeface="Calibri"/>
                          <a:ea typeface="Calibri"/>
                          <a:cs typeface="Calibri"/>
                        </a:rPr>
                        <a:t>63%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365760">
                <a:tc>
                  <a:txBody>
                    <a:bodyPr wrap="square"/>
                    <a:lstStyle/>
                    <a:p>
                      <a:pPr algn="l"/>
                      <a:r>
                        <a:rPr sz="1200" b="1">
                          <a:solidFill>
                            <a:srgbClr val="222222"/>
                          </a:solidFill>
                          <a:latin typeface="Calibri"/>
                          <a:ea typeface="Calibri"/>
                          <a:cs typeface="Calibri"/>
                        </a:rPr>
                        <a:t>Dynamic (paper rule)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165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119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0.2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72%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8" name="TextBox 7"/>
          <p:cNvSpPr txBox="1"/>
          <p:nvPr/>
        </p:nvSpPr>
        <p:spPr>
          <a:xfrm>
            <a:off x="7040880" y="1645920"/>
            <a:ext cx="4663440" cy="2286000"/>
          </a:xfrm>
          <a:prstGeom prst="rect">
            <a:avLst/>
          </a:prstGeom>
          <a:noFill/>
        </p:spPr>
        <p:txBody>
          <a:bodyPr wrap="square" lIns="0" rIns="0" tIns="0" bIns="0" anchor="t">
            <a:spAutoFit/>
          </a:bodyPr>
          <a:lstStyle/>
          <a:p>
            <a:pPr algn="l" marL="256032" indent="-201168">
              <a:spcAft>
                <a:spcPts val="400"/>
              </a:spcAft>
              <a:buChar char="•"/>
            </a:pPr>
            <a:r>
              <a:rPr sz="1100" b="0" i="0">
                <a:solidFill>
                  <a:srgbClr val="222222"/>
                </a:solidFill>
                <a:latin typeface="Calibri"/>
                <a:ea typeface="Calibri"/>
                <a:cs typeface="Calibri"/>
              </a:rPr>
              <a:t>Refused = declined by the admission rule; Suspended = refused by the Trust lockout; means of 30 runs.</a:t>
            </a:r>
          </a:p>
          <a:p>
            <a:pPr algn="l" marL="256032" indent="-201168">
              <a:spcAft>
                <a:spcPts val="400"/>
              </a:spcAft>
              <a:buChar char="•"/>
            </a:pPr>
            <a:r>
              <a:rPr sz="1100" b="0" i="0">
                <a:solidFill>
                  <a:srgbClr val="222222"/>
                </a:solidFill>
                <a:latin typeface="Calibri"/>
                <a:ea typeface="Calibri"/>
                <a:cs typeface="Calibri"/>
              </a:rPr>
              <a:t>The shipped dynamic rule (+1 per on-time check-out) climbs to the maximum buffer and refuses the most.</a:t>
            </a:r>
          </a:p>
          <a:p>
            <a:pPr algn="l" marL="256032" indent="-201168">
              <a:spcAft>
                <a:spcPts val="400"/>
              </a:spcAft>
              <a:buChar char="•"/>
            </a:pPr>
            <a:r>
              <a:rPr sz="1100" b="0" i="0">
                <a:solidFill>
                  <a:srgbClr val="222222"/>
                </a:solidFill>
                <a:latin typeface="Calibri"/>
                <a:ea typeface="Calibri"/>
                <a:cs typeface="Calibri"/>
              </a:rPr>
              <a:t>The paper-literal rule (+1 per late check-out) refuses 165, close to static 3 (158).</a:t>
            </a:r>
          </a:p>
          <a:p>
            <a:pPr algn="l" marL="256032" indent="-201168">
              <a:spcAft>
                <a:spcPts val="400"/>
              </a:spcAft>
              <a:buChar char="•"/>
            </a:pPr>
            <a:r>
              <a:rPr sz="1100" b="0" i="0">
                <a:solidFill>
                  <a:srgbClr val="222222"/>
                </a:solidFill>
                <a:latin typeface="Calibri"/>
                <a:ea typeface="Calibri"/>
                <a:cs typeface="Calibri"/>
              </a:rPr>
              <a:t>Simulator, not SUMO: layout of the base paper, assumptions listed in the report.</a:t>
            </a:r>
          </a:p>
        </p:txBody>
      </p:sp>
      <p:pic>
        <p:nvPicPr>
          <p:cNvPr id="9" name="Picture 8" descr="f01_buffer_population.png"/>
          <p:cNvPicPr>
            <a:picLocks noChangeAspect="1"/>
          </p:cNvPicPr>
          <p:nvPr/>
        </p:nvPicPr>
        <p:blipFill>
          <a:blip r:embed="rId4"/>
          <a:stretch>
            <a:fillRect/>
          </a:stretch>
        </p:blipFill>
        <p:spPr>
          <a:xfrm>
            <a:off x="2966697" y="3931920"/>
            <a:ext cx="6228125" cy="2514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Arrival Outcomes at the Gate (50 % bad vehicles)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18</a:t>
            </a:r>
            <a:endParaRPr lang="en-US" sz="1000" dirty="0"/>
          </a:p>
        </p:txBody>
      </p:sp>
      <p:graphicFrame>
        <p:nvGraphicFramePr>
          <p:cNvPr id="7" name="Table 6"/>
          <p:cNvGraphicFramePr>
            <a:graphicFrameLocks noGrp="1"/>
          </p:cNvGraphicFramePr>
          <p:nvPr/>
        </p:nvGraphicFramePr>
        <p:xfrm>
          <a:off x="502920" y="1645920"/>
          <a:ext cx="10881360" cy="2304288"/>
        </p:xfrm>
        <a:graphic>
          <a:graphicData uri="http://schemas.openxmlformats.org/drawingml/2006/table">
            <a:tbl>
              <a:tblPr firstRow="0" bandRow="0">
                <a:tableStyleId>{5C22544A-7EE6-4342-B048-85BDC9FD1C3A}</a:tableStyleId>
              </a:tblPr>
              <a:tblGrid>
                <a:gridCol w="2377440"/>
                <a:gridCol w="1463040"/>
                <a:gridCol w="1645920"/>
                <a:gridCol w="1554480"/>
                <a:gridCol w="914400"/>
                <a:gridCol w="1737360"/>
                <a:gridCol w="1188720"/>
              </a:tblGrid>
              <a:tr h="384048">
                <a:tc>
                  <a:txBody>
                    <a:bodyPr wrap="square"/>
                    <a:lstStyle/>
                    <a:p>
                      <a:pPr algn="ctr"/>
                      <a:r>
                        <a:rPr sz="1200" b="1">
                          <a:solidFill>
                            <a:srgbClr val="1F3864"/>
                          </a:solidFill>
                          <a:latin typeface="Calibri"/>
                          <a:ea typeface="Calibri"/>
                          <a:cs typeface="Calibri"/>
                        </a:rPr>
                        <a:t>Policy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Parked directly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Moved to alternate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of which alt. full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No park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Refused (admission)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Suspended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384048">
                <a:tc>
                  <a:txBody>
                    <a:bodyPr wrap="square"/>
                    <a:lstStyle/>
                    <a:p>
                      <a:pPr algn="l"/>
                      <a:r>
                        <a:rPr sz="1200" b="1">
                          <a:solidFill>
                            <a:srgbClr val="222222"/>
                          </a:solidFill>
                          <a:latin typeface="Calibri"/>
                          <a:ea typeface="Calibri"/>
                          <a:cs typeface="Calibri"/>
                        </a:rPr>
                        <a:t>Static 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634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11.5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2.9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0.43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19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271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84048">
                <a:tc>
                  <a:txBody>
                    <a:bodyPr wrap="square"/>
                    <a:lstStyle/>
                    <a:p>
                      <a:pPr algn="l"/>
                      <a:r>
                        <a:rPr sz="1200" b="1">
                          <a:solidFill>
                            <a:srgbClr val="222222"/>
                          </a:solidFill>
                          <a:latin typeface="Calibri"/>
                          <a:ea typeface="Calibri"/>
                          <a:cs typeface="Calibri"/>
                        </a:rPr>
                        <a:t>Static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200" b="0">
                          <a:solidFill>
                            <a:srgbClr val="222222"/>
                          </a:solidFill>
                          <a:latin typeface="Calibri"/>
                          <a:ea typeface="Calibri"/>
                          <a:cs typeface="Calibri"/>
                        </a:rPr>
                        <a:t>631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200" b="0">
                          <a:solidFill>
                            <a:srgbClr val="222222"/>
                          </a:solidFill>
                          <a:latin typeface="Calibri"/>
                          <a:ea typeface="Calibri"/>
                          <a:cs typeface="Calibri"/>
                        </a:rPr>
                        <a:t>5.7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200" b="0">
                          <a:solidFill>
                            <a:srgbClr val="222222"/>
                          </a:solidFill>
                          <a:latin typeface="Calibri"/>
                          <a:ea typeface="Calibri"/>
                          <a:cs typeface="Calibri"/>
                        </a:rPr>
                        <a:t>0.9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200" b="0">
                          <a:solidFill>
                            <a:srgbClr val="222222"/>
                          </a:solidFill>
                          <a:latin typeface="Calibri"/>
                          <a:ea typeface="Calibri"/>
                          <a:cs typeface="Calibri"/>
                        </a:rPr>
                        <a:t>0.40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200" b="0">
                          <a:solidFill>
                            <a:srgbClr val="222222"/>
                          </a:solidFill>
                          <a:latin typeface="Calibri"/>
                          <a:ea typeface="Calibri"/>
                          <a:cs typeface="Calibri"/>
                        </a:rPr>
                        <a:t>34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200" b="0">
                          <a:solidFill>
                            <a:srgbClr val="222222"/>
                          </a:solidFill>
                          <a:latin typeface="Calibri"/>
                          <a:ea typeface="Calibri"/>
                          <a:cs typeface="Calibri"/>
                        </a:rPr>
                        <a:t>265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384048">
                <a:tc>
                  <a:txBody>
                    <a:bodyPr wrap="square"/>
                    <a:lstStyle/>
                    <a:p>
                      <a:pPr algn="l"/>
                      <a:r>
                        <a:rPr sz="1200" b="1">
                          <a:solidFill>
                            <a:srgbClr val="222222"/>
                          </a:solidFill>
                          <a:latin typeface="Calibri"/>
                          <a:ea typeface="Calibri"/>
                          <a:cs typeface="Calibri"/>
                        </a:rPr>
                        <a:t>Static 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601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0.4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0.0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0.17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102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232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84048">
                <a:tc>
                  <a:txBody>
                    <a:bodyPr wrap="square"/>
                    <a:lstStyle/>
                    <a:p>
                      <a:pPr algn="l"/>
                      <a:r>
                        <a:rPr sz="1200" b="1">
                          <a:solidFill>
                            <a:srgbClr val="222222"/>
                          </a:solidFill>
                          <a:latin typeface="Calibri"/>
                          <a:ea typeface="Calibri"/>
                          <a:cs typeface="Calibri"/>
                        </a:rPr>
                        <a:t>Dynamic (ParkSure)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200" b="0">
                          <a:solidFill>
                            <a:srgbClr val="222222"/>
                          </a:solidFill>
                          <a:latin typeface="Calibri"/>
                          <a:ea typeface="Calibri"/>
                          <a:cs typeface="Calibri"/>
                        </a:rPr>
                        <a:t>561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200" b="0">
                          <a:solidFill>
                            <a:srgbClr val="222222"/>
                          </a:solidFill>
                          <a:latin typeface="Calibri"/>
                          <a:ea typeface="Calibri"/>
                          <a:cs typeface="Calibri"/>
                        </a:rPr>
                        <a:t>1.8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200" b="0">
                          <a:solidFill>
                            <a:srgbClr val="222222"/>
                          </a:solidFill>
                          <a:latin typeface="Calibri"/>
                          <a:ea typeface="Calibri"/>
                          <a:cs typeface="Calibri"/>
                        </a:rPr>
                        <a:t>0.4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200" b="0">
                          <a:solidFill>
                            <a:srgbClr val="222222"/>
                          </a:solidFill>
                          <a:latin typeface="Calibri"/>
                          <a:ea typeface="Calibri"/>
                          <a:cs typeface="Calibri"/>
                        </a:rPr>
                        <a:t>1.07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200" b="0">
                          <a:solidFill>
                            <a:srgbClr val="222222"/>
                          </a:solidFill>
                          <a:latin typeface="Calibri"/>
                          <a:ea typeface="Calibri"/>
                          <a:cs typeface="Calibri"/>
                        </a:rPr>
                        <a:t>162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200" b="0">
                          <a:solidFill>
                            <a:srgbClr val="222222"/>
                          </a:solidFill>
                          <a:latin typeface="Calibri"/>
                          <a:ea typeface="Calibri"/>
                          <a:cs typeface="Calibri"/>
                        </a:rPr>
                        <a:t>211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384048">
                <a:tc>
                  <a:txBody>
                    <a:bodyPr wrap="square"/>
                    <a:lstStyle/>
                    <a:p>
                      <a:pPr algn="l"/>
                      <a:r>
                        <a:rPr sz="1200" b="1">
                          <a:solidFill>
                            <a:srgbClr val="222222"/>
                          </a:solidFill>
                          <a:latin typeface="Calibri"/>
                          <a:ea typeface="Calibri"/>
                          <a:cs typeface="Calibri"/>
                        </a:rPr>
                        <a:t>Dynamic (paper rule)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578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3.3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0.6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0.47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136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200" b="0">
                          <a:solidFill>
                            <a:srgbClr val="222222"/>
                          </a:solidFill>
                          <a:latin typeface="Calibri"/>
                          <a:ea typeface="Calibri"/>
                          <a:cs typeface="Calibri"/>
                        </a:rPr>
                        <a:t>218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pic>
        <p:nvPicPr>
          <p:cNvPr id="8" name="Picture 7" descr="f03_arrival_outcomes.png"/>
          <p:cNvPicPr>
            <a:picLocks noChangeAspect="1"/>
          </p:cNvPicPr>
          <p:nvPr/>
        </p:nvPicPr>
        <p:blipFill>
          <a:blip r:embed="rId3"/>
          <a:stretch>
            <a:fillRect/>
          </a:stretch>
        </p:blipFill>
        <p:spPr>
          <a:xfrm>
            <a:off x="909975" y="4069080"/>
            <a:ext cx="4123649" cy="2331720"/>
          </a:xfrm>
          <a:prstGeom prst="rect">
            <a:avLst/>
          </a:prstGeom>
        </p:spPr>
      </p:pic>
      <p:sp>
        <p:nvSpPr>
          <p:cNvPr id="9" name="TextBox 8"/>
          <p:cNvSpPr txBox="1"/>
          <p:nvPr/>
        </p:nvSpPr>
        <p:spPr>
          <a:xfrm>
            <a:off x="5669280" y="4114800"/>
            <a:ext cx="6035040" cy="2286000"/>
          </a:xfrm>
          <a:prstGeom prst="rect">
            <a:avLst/>
          </a:prstGeom>
          <a:noFill/>
        </p:spPr>
        <p:txBody>
          <a:bodyPr wrap="square" lIns="0" rIns="0" tIns="0" bIns="0" anchor="t">
            <a:spAutoFit/>
          </a:bodyPr>
          <a:lstStyle/>
          <a:p>
            <a:pPr algn="l" marL="256032" indent="-201168">
              <a:spcAft>
                <a:spcPts val="600"/>
              </a:spcAft>
              <a:buChar char="•"/>
            </a:pPr>
            <a:r>
              <a:rPr sz="1200" b="0" i="0">
                <a:solidFill>
                  <a:srgbClr val="222222"/>
                </a:solidFill>
                <a:latin typeface="Calibri"/>
                <a:ea typeface="Calibri"/>
                <a:cs typeface="Calibri"/>
              </a:rPr>
              <a:t>Mean of 30 runs, population 80-110 (936 requests per run); this table plays the role of a confusion matrix.</a:t>
            </a:r>
          </a:p>
          <a:p>
            <a:pPr algn="l" marL="256032" indent="-201168">
              <a:spcAft>
                <a:spcPts val="600"/>
              </a:spcAft>
              <a:buChar char="•"/>
            </a:pPr>
            <a:r>
              <a:rPr sz="1200" b="0" i="0">
                <a:solidFill>
                  <a:srgbClr val="222222"/>
                </a:solidFill>
                <a:latin typeface="Calibri"/>
                <a:ea typeface="Calibri"/>
                <a:cs typeface="Calibri"/>
              </a:rPr>
              <a:t>'No park' is at most about 1 per run: the nearest-alternate step turns almost every full arrival into a served one.</a:t>
            </a:r>
          </a:p>
          <a:p>
            <a:pPr algn="l" marL="256032" indent="-201168">
              <a:spcAft>
                <a:spcPts val="600"/>
              </a:spcAft>
              <a:buChar char="•"/>
            </a:pPr>
            <a:r>
              <a:rPr sz="1200" b="0" i="0">
                <a:solidFill>
                  <a:srgbClr val="222222"/>
                </a:solidFill>
                <a:latin typeface="Calibri"/>
                <a:ea typeface="Calibri"/>
                <a:cs typeface="Calibri"/>
              </a:rPr>
              <a:t>The shipped code does not re-check the alternate's physical bays, so 'alt. full' counts drivers who would meet a full lot again (static 0: 2.9 per run).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Parameter Analysis - Bad-Vehicle Share and Trust Score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19</a:t>
            </a:r>
            <a:endParaRPr lang="en-US" sz="1000" dirty="0"/>
          </a:p>
        </p:txBody>
      </p:sp>
      <p:pic>
        <p:nvPicPr>
          <p:cNvPr id="7" name="Picture 6" descr="f02_buffer_badshare.png"/>
          <p:cNvPicPr>
            <a:picLocks noChangeAspect="1"/>
          </p:cNvPicPr>
          <p:nvPr/>
        </p:nvPicPr>
        <p:blipFill>
          <a:blip r:embed="rId3"/>
          <a:stretch>
            <a:fillRect/>
          </a:stretch>
        </p:blipFill>
        <p:spPr>
          <a:xfrm>
            <a:off x="2673803" y="1600200"/>
            <a:ext cx="6813912" cy="2743200"/>
          </a:xfrm>
          <a:prstGeom prst="rect">
            <a:avLst/>
          </a:prstGeom>
        </p:spPr>
      </p:pic>
      <p:graphicFrame>
        <p:nvGraphicFramePr>
          <p:cNvPr id="8" name="Table 7"/>
          <p:cNvGraphicFramePr>
            <a:graphicFrameLocks noGrp="1"/>
          </p:cNvGraphicFramePr>
          <p:nvPr/>
        </p:nvGraphicFramePr>
        <p:xfrm>
          <a:off x="502920" y="4434840"/>
          <a:ext cx="4480560" cy="1920240"/>
        </p:xfrm>
        <a:graphic>
          <a:graphicData uri="http://schemas.openxmlformats.org/drawingml/2006/table">
            <a:tbl>
              <a:tblPr firstRow="0" bandRow="0">
                <a:tableStyleId>{5C22544A-7EE6-4342-B048-85BDC9FD1C3A}</a:tableStyleId>
              </a:tblPr>
              <a:tblGrid>
                <a:gridCol w="2651760"/>
                <a:gridCol w="914400"/>
                <a:gridCol w="914400"/>
              </a:tblGrid>
              <a:tr h="320040">
                <a:tc>
                  <a:txBody>
                    <a:bodyPr wrap="square"/>
                    <a:lstStyle/>
                    <a:p>
                      <a:pPr algn="ctr"/>
                      <a:r>
                        <a:rPr sz="1100" b="1">
                          <a:solidFill>
                            <a:srgbClr val="1F3864"/>
                          </a:solidFill>
                          <a:latin typeface="Calibri"/>
                          <a:ea typeface="Calibri"/>
                          <a:cs typeface="Calibri"/>
                        </a:rPr>
                        <a:t>Success rate at 50 % bad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Trust 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Trust off</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320040">
                <a:tc>
                  <a:txBody>
                    <a:bodyPr wrap="square"/>
                    <a:lstStyle/>
                    <a:p>
                      <a:pPr algn="l"/>
                      <a:r>
                        <a:rPr sz="1100" b="1">
                          <a:solidFill>
                            <a:srgbClr val="222222"/>
                          </a:solidFill>
                          <a:latin typeface="Calibri"/>
                          <a:ea typeface="Calibri"/>
                          <a:cs typeface="Calibri"/>
                        </a:rPr>
                        <a:t>Static 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100" b="0">
                          <a:solidFill>
                            <a:srgbClr val="222222"/>
                          </a:solidFill>
                          <a:latin typeface="Calibri"/>
                          <a:ea typeface="Calibri"/>
                          <a:cs typeface="Calibri"/>
                        </a:rPr>
                        <a:t>69%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100" b="0">
                          <a:solidFill>
                            <a:srgbClr val="222222"/>
                          </a:solidFill>
                          <a:latin typeface="Calibri"/>
                          <a:ea typeface="Calibri"/>
                          <a:cs typeface="Calibri"/>
                        </a:rPr>
                        <a:t>98%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20040">
                <a:tc>
                  <a:txBody>
                    <a:bodyPr wrap="square"/>
                    <a:lstStyle/>
                    <a:p>
                      <a:pPr algn="l"/>
                      <a:r>
                        <a:rPr sz="1100" b="1">
                          <a:solidFill>
                            <a:srgbClr val="222222"/>
                          </a:solidFill>
                          <a:latin typeface="Calibri"/>
                          <a:ea typeface="Calibri"/>
                          <a:cs typeface="Calibri"/>
                        </a:rPr>
                        <a:t>Static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100" b="0">
                          <a:solidFill>
                            <a:srgbClr val="222222"/>
                          </a:solidFill>
                          <a:latin typeface="Calibri"/>
                          <a:ea typeface="Calibri"/>
                          <a:cs typeface="Calibri"/>
                        </a:rPr>
                        <a:t>68%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100" b="0">
                          <a:solidFill>
                            <a:srgbClr val="222222"/>
                          </a:solidFill>
                          <a:latin typeface="Calibri"/>
                          <a:ea typeface="Calibri"/>
                          <a:cs typeface="Calibri"/>
                        </a:rPr>
                        <a:t>96%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320040">
                <a:tc>
                  <a:txBody>
                    <a:bodyPr wrap="square"/>
                    <a:lstStyle/>
                    <a:p>
                      <a:pPr algn="l"/>
                      <a:r>
                        <a:rPr sz="1100" b="1">
                          <a:solidFill>
                            <a:srgbClr val="222222"/>
                          </a:solidFill>
                          <a:latin typeface="Calibri"/>
                          <a:ea typeface="Calibri"/>
                          <a:cs typeface="Calibri"/>
                        </a:rPr>
                        <a:t>Static 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100" b="0">
                          <a:solidFill>
                            <a:srgbClr val="222222"/>
                          </a:solidFill>
                          <a:latin typeface="Calibri"/>
                          <a:ea typeface="Calibri"/>
                          <a:cs typeface="Calibri"/>
                        </a:rPr>
                        <a:t>64%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100" b="0">
                          <a:solidFill>
                            <a:srgbClr val="222222"/>
                          </a:solidFill>
                          <a:latin typeface="Calibri"/>
                          <a:ea typeface="Calibri"/>
                          <a:cs typeface="Calibri"/>
                        </a:rPr>
                        <a:t>87%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20040">
                <a:tc>
                  <a:txBody>
                    <a:bodyPr wrap="square"/>
                    <a:lstStyle/>
                    <a:p>
                      <a:pPr algn="l"/>
                      <a:r>
                        <a:rPr sz="1100" b="1">
                          <a:solidFill>
                            <a:srgbClr val="222222"/>
                          </a:solidFill>
                          <a:latin typeface="Calibri"/>
                          <a:ea typeface="Calibri"/>
                          <a:cs typeface="Calibri"/>
                        </a:rPr>
                        <a:t>Dynamic (ParkSure)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100" b="0">
                          <a:solidFill>
                            <a:srgbClr val="222222"/>
                          </a:solidFill>
                          <a:latin typeface="Calibri"/>
                          <a:ea typeface="Calibri"/>
                          <a:cs typeface="Calibri"/>
                        </a:rPr>
                        <a:t>60%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r"/>
                      <a:r>
                        <a:rPr sz="1100" b="0">
                          <a:solidFill>
                            <a:srgbClr val="222222"/>
                          </a:solidFill>
                          <a:latin typeface="Calibri"/>
                          <a:ea typeface="Calibri"/>
                          <a:cs typeface="Calibri"/>
                        </a:rPr>
                        <a:t>78%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320040">
                <a:tc>
                  <a:txBody>
                    <a:bodyPr wrap="square"/>
                    <a:lstStyle/>
                    <a:p>
                      <a:pPr algn="l"/>
                      <a:r>
                        <a:rPr sz="1100" b="1">
                          <a:solidFill>
                            <a:srgbClr val="222222"/>
                          </a:solidFill>
                          <a:latin typeface="Calibri"/>
                          <a:ea typeface="Calibri"/>
                          <a:cs typeface="Calibri"/>
                        </a:rPr>
                        <a:t>Dynamic (paper rule)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100" b="0">
                          <a:solidFill>
                            <a:srgbClr val="222222"/>
                          </a:solidFill>
                          <a:latin typeface="Calibri"/>
                          <a:ea typeface="Calibri"/>
                          <a:cs typeface="Calibri"/>
                        </a:rPr>
                        <a:t>62%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r"/>
                      <a:r>
                        <a:rPr sz="1100" b="0">
                          <a:solidFill>
                            <a:srgbClr val="222222"/>
                          </a:solidFill>
                          <a:latin typeface="Calibri"/>
                          <a:ea typeface="Calibri"/>
                          <a:cs typeface="Calibri"/>
                        </a:rPr>
                        <a:t>80%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9" name="TextBox 8"/>
          <p:cNvSpPr txBox="1"/>
          <p:nvPr/>
        </p:nvSpPr>
        <p:spPr>
          <a:xfrm>
            <a:off x="5669280" y="4434840"/>
            <a:ext cx="6035040" cy="2011680"/>
          </a:xfrm>
          <a:prstGeom prst="rect">
            <a:avLst/>
          </a:prstGeom>
          <a:noFill/>
        </p:spPr>
        <p:txBody>
          <a:bodyPr wrap="square" lIns="0" rIns="0" tIns="0" bIns="0" anchor="t">
            <a:spAutoFit/>
          </a:bodyPr>
          <a:lstStyle/>
          <a:p>
            <a:pPr algn="l" marL="256032" indent="-201168">
              <a:spcAft>
                <a:spcPts val="400"/>
              </a:spcAft>
              <a:buChar char="•"/>
            </a:pPr>
            <a:r>
              <a:rPr sz="1100" b="0" i="0">
                <a:solidFill>
                  <a:srgbClr val="222222"/>
                </a:solidFill>
                <a:latin typeface="Calibri"/>
                <a:ea typeface="Calibri"/>
                <a:cs typeface="Calibri"/>
              </a:rPr>
              <a:t>25 % to 50 % bad vehicles: shipped-dynamic success 67% to 60%; Trust-lockout refusals 136 to 271 per run (static 0).</a:t>
            </a:r>
          </a:p>
          <a:p>
            <a:pPr algn="l" marL="256032" indent="-201168">
              <a:spcAft>
                <a:spcPts val="400"/>
              </a:spcAft>
              <a:buChar char="•"/>
            </a:pPr>
            <a:r>
              <a:rPr sz="1100" b="0" i="0">
                <a:solidFill>
                  <a:srgbClr val="222222"/>
                </a:solidFill>
                <a:latin typeface="Calibri"/>
                <a:ea typeface="Calibri"/>
                <a:cs typeface="Calibri"/>
              </a:rPr>
              <a:t>With the Trust Score off, success is far higher: the lockout, not the buffer, is the largest source of refused requests.</a:t>
            </a:r>
          </a:p>
          <a:p>
            <a:pPr algn="l" marL="256032" indent="-201168">
              <a:spcAft>
                <a:spcPts val="400"/>
              </a:spcAft>
              <a:buChar char="•"/>
            </a:pPr>
            <a:r>
              <a:rPr sz="1100" b="0" i="0">
                <a:solidFill>
                  <a:srgbClr val="222222"/>
                </a:solidFill>
                <a:latin typeface="Calibri"/>
                <a:ea typeface="Calibri"/>
                <a:cs typeface="Calibri"/>
              </a:rPr>
              <a:t>The lockout lasts at least 14 days after the last warning (base paper: one session).</a:t>
            </a:r>
          </a:p>
          <a:p>
            <a:pPr algn="l" marL="256032" indent="-201168">
              <a:spcAft>
                <a:spcPts val="400"/>
              </a:spcAft>
              <a:buChar char="•"/>
            </a:pPr>
            <a:r>
              <a:rPr sz="1100" b="0" i="0">
                <a:solidFill>
                  <a:srgbClr val="222222"/>
                </a:solidFill>
                <a:latin typeface="Calibri"/>
                <a:ea typeface="Calibri"/>
                <a:cs typeface="Calibri"/>
              </a:rPr>
              <a:t>Buffer maximum, B = 3 and W = 2 were not varied.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Trust Dynamics, Seeded Replay and Robustness Probes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20</a:t>
            </a:r>
            <a:endParaRPr lang="en-US" sz="1000" dirty="0"/>
          </a:p>
        </p:txBody>
      </p:sp>
      <p:pic>
        <p:nvPicPr>
          <p:cNvPr id="7" name="Picture 6" descr="f04_trust_dynamics.png"/>
          <p:cNvPicPr>
            <a:picLocks noChangeAspect="1"/>
          </p:cNvPicPr>
          <p:nvPr/>
        </p:nvPicPr>
        <p:blipFill>
          <a:blip r:embed="rId4"/>
          <a:stretch>
            <a:fillRect/>
          </a:stretch>
        </p:blipFill>
        <p:spPr>
          <a:xfrm>
            <a:off x="411480" y="1626200"/>
            <a:ext cx="5669280" cy="2416878"/>
          </a:xfrm>
          <a:prstGeom prst="rect">
            <a:avLst/>
          </a:prstGeom>
        </p:spPr>
      </p:pic>
      <p:pic>
        <p:nvPicPr>
          <p:cNvPr id="8" name="Picture 7" descr="f06_seeded_insights.png"/>
          <p:cNvPicPr>
            <a:picLocks noChangeAspect="1"/>
          </p:cNvPicPr>
          <p:nvPr/>
        </p:nvPicPr>
        <p:blipFill>
          <a:blip r:embed="rId5"/>
          <a:stretch>
            <a:fillRect/>
          </a:stretch>
        </p:blipFill>
        <p:spPr>
          <a:xfrm>
            <a:off x="6808954" y="1600200"/>
            <a:ext cx="4304330" cy="2468880"/>
          </a:xfrm>
          <a:prstGeom prst="rect">
            <a:avLst/>
          </a:prstGeom>
        </p:spPr>
      </p:pic>
      <p:sp>
        <p:nvSpPr>
          <p:cNvPr id="9" name="TextBox 8"/>
          <p:cNvSpPr txBox="1"/>
          <p:nvPr/>
        </p:nvSpPr>
        <p:spPr>
          <a:xfrm>
            <a:off x="502920" y="4160520"/>
            <a:ext cx="5486400" cy="2286000"/>
          </a:xfrm>
          <a:prstGeom prst="rect">
            <a:avLst/>
          </a:prstGeom>
          <a:noFill/>
        </p:spPr>
        <p:txBody>
          <a:bodyPr wrap="square" lIns="0" rIns="0" tIns="0" bIns="0" anchor="t">
            <a:spAutoFit/>
          </a:bodyPr>
          <a:lstStyle/>
          <a:p>
            <a:pPr algn="l" marL="256032" indent="-201168">
              <a:spcAft>
                <a:spcPts val="600"/>
              </a:spcAft>
              <a:buChar char="•"/>
            </a:pPr>
            <a:r>
              <a:rPr sz="1200" b="0" i="0">
                <a:solidFill>
                  <a:srgbClr val="222222"/>
                </a:solidFill>
                <a:latin typeface="Calibri"/>
                <a:ea typeface="Calibri"/>
                <a:cs typeface="Calibri"/>
              </a:rPr>
              <a:t>A driver who ends 30 % of sessions late finishes at trust 1.8, fee x1.359; 80% are suspended at some point.</a:t>
            </a:r>
          </a:p>
          <a:p>
            <a:pPr algn="l" marL="256032" indent="-201168">
              <a:spcAft>
                <a:spcPts val="600"/>
              </a:spcAft>
              <a:buChar char="•"/>
            </a:pPr>
            <a:r>
              <a:rPr sz="1200" b="0" i="0">
                <a:solidFill>
                  <a:srgbClr val="222222"/>
                </a:solidFill>
                <a:latin typeface="Calibri"/>
                <a:ea typeface="Calibri"/>
                <a:cs typeface="Calibri"/>
              </a:rPr>
              <a:t>Seeded replay (synthetic): declined 16 / 24 / 40 / 60 for no buffer / 1 / 3 / dynamic.</a:t>
            </a:r>
          </a:p>
        </p:txBody>
      </p:sp>
      <p:sp>
        <p:nvSpPr>
          <p:cNvPr id="10" name="TextBox 9"/>
          <p:cNvSpPr txBox="1"/>
          <p:nvPr/>
        </p:nvSpPr>
        <p:spPr>
          <a:xfrm>
            <a:off x="6172200" y="4160520"/>
            <a:ext cx="5577840" cy="2286000"/>
          </a:xfrm>
          <a:prstGeom prst="rect">
            <a:avLst/>
          </a:prstGeom>
          <a:noFill/>
        </p:spPr>
        <p:txBody>
          <a:bodyPr wrap="square" lIns="0" rIns="0" tIns="0" bIns="0" anchor="t">
            <a:spAutoFit/>
          </a:bodyPr>
          <a:lstStyle/>
          <a:p>
            <a:pPr algn="l" marL="256032" indent="-201168">
              <a:spcAft>
                <a:spcPts val="500"/>
              </a:spcAft>
              <a:buChar char="•"/>
            </a:pPr>
            <a:r>
              <a:rPr sz="1100" b="0" i="0">
                <a:solidFill>
                  <a:srgbClr val="222222"/>
                </a:solidFill>
                <a:latin typeface="Calibri"/>
                <a:ea typeface="Calibri"/>
                <a:cs typeface="Calibri"/>
              </a:rPr>
              <a:t>Race: 1 of 10 trials accepted 2 bookings for 1 bookable bay (20 simultaneous requests).</a:t>
            </a:r>
          </a:p>
          <a:p>
            <a:pPr algn="l" marL="256032" indent="-201168">
              <a:spcAft>
                <a:spcPts val="500"/>
              </a:spcAft>
              <a:buChar char="•"/>
            </a:pPr>
            <a:r>
              <a:rPr sz="1100" b="0" i="0">
                <a:solidFill>
                  <a:srgbClr val="222222"/>
                </a:solidFill>
                <a:latin typeface="Calibri"/>
                <a:ea typeface="Calibri"/>
                <a:cs typeface="Calibri"/>
              </a:rPr>
              <a:t>Unauthenticated GET /api/payments/demo-confirm marks any booking paid; a token forged with the default JWT secret is accepted; no login rate limit.</a:t>
            </a:r>
          </a:p>
          <a:p>
            <a:pPr algn="l" marL="256032" indent="-201168">
              <a:spcAft>
                <a:spcPts val="500"/>
              </a:spcAft>
              <a:buChar char="•"/>
            </a:pPr>
            <a:r>
              <a:rPr sz="1100" b="0" i="0">
                <a:solidFill>
                  <a:srgbClr val="222222"/>
                </a:solidFill>
                <a:latin typeface="Calibri"/>
                <a:ea typeface="Calibri"/>
                <a:cs typeface="Calibri"/>
              </a:rPr>
              <a:t>Past-start bookings and 25-day-early check-ins are accepted; injection payloads returned 422; cross-user cancel blocked (404).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Comparison with the Base Papers (different problems and settings)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21</a:t>
            </a:r>
            <a:endParaRPr lang="en-US" sz="1000" dirty="0"/>
          </a:p>
        </p:txBody>
      </p:sp>
      <p:graphicFrame>
        <p:nvGraphicFramePr>
          <p:cNvPr id="7" name="Table 6"/>
          <p:cNvGraphicFramePr>
            <a:graphicFrameLocks noGrp="1"/>
          </p:cNvGraphicFramePr>
          <p:nvPr/>
        </p:nvGraphicFramePr>
        <p:xfrm>
          <a:off x="502920" y="1645920"/>
          <a:ext cx="11155680" cy="3968496"/>
        </p:xfrm>
        <a:graphic>
          <a:graphicData uri="http://schemas.openxmlformats.org/drawingml/2006/table">
            <a:tbl>
              <a:tblPr firstRow="0" bandRow="0">
                <a:tableStyleId>{5C22544A-7EE6-4342-B048-85BDC9FD1C3A}</a:tableStyleId>
              </a:tblPr>
              <a:tblGrid>
                <a:gridCol w="1371600"/>
                <a:gridCol w="3108960"/>
                <a:gridCol w="3291840"/>
                <a:gridCol w="3383280"/>
              </a:tblGrid>
              <a:tr h="566928">
                <a:tc>
                  <a:txBody>
                    <a:bodyPr wrap="square"/>
                    <a:lstStyle/>
                    <a:p>
                      <a:pPr algn="ctr"/>
                      <a:r>
                        <a:rPr sz="1100" b="1">
                          <a:solidFill>
                            <a:srgbClr val="1F3864"/>
                          </a:solidFill>
                          <a:latin typeface="Calibri"/>
                          <a:ea typeface="Calibri"/>
                          <a:cs typeface="Calibri"/>
                        </a:rPr>
                        <a:t>Aspect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Jemmali et al. (registered base)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Cabri et al. (rules implemented)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ParkSure (this work)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66928">
                <a:tc>
                  <a:txBody>
                    <a:bodyPr wrap="square"/>
                    <a:lstStyle/>
                    <a:p>
                      <a:pPr algn="l"/>
                      <a:r>
                        <a:rPr sz="1100" b="1">
                          <a:solidFill>
                            <a:srgbClr val="222222"/>
                          </a:solidFill>
                          <a:latin typeface="Calibri"/>
                          <a:ea typeface="Calibri"/>
                          <a:cs typeface="Calibri"/>
                        </a:rPr>
                        <a:t>Problem</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Zone load balancing by passenger count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Overstay-proof reservations: buffer + star reward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General reservation platform with the buffer, alternate and trust ideas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100" b="1">
                          <a:solidFill>
                            <a:srgbClr val="222222"/>
                          </a:solidFill>
                          <a:latin typeface="Calibri"/>
                          <a:ea typeface="Calibri"/>
                          <a:cs typeface="Calibri"/>
                        </a:rPr>
                        <a:t>Setting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9 instance classes, 2,790 generated cases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SUMO, 80 spots in 8 areas, 5 runs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Own simulator (same layout, not SUMO), 30 runs; synthetic 60-day history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100" b="1">
                          <a:solidFill>
                            <a:srgbClr val="222222"/>
                          </a:solidFill>
                          <a:latin typeface="Calibri"/>
                          <a:ea typeface="Calibri"/>
                          <a:cs typeface="Calibri"/>
                        </a:rPr>
                        <a:t>Result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GVb ties or beats MR on 55.4 %; sub-millisecond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Any buffer beats none; dynamic best trade-off (figures only)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Shipped dynamic refuses most (277 vs 30 of 1,000); no park rare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100" b="1">
                          <a:solidFill>
                            <a:srgbClr val="222222"/>
                          </a:solidFill>
                          <a:latin typeface="Calibri"/>
                          <a:ea typeface="Calibri"/>
                          <a:cs typeface="Calibri"/>
                        </a:rPr>
                        <a:t>Product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Architecture described (QR, IoT, engine)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Concept and simulation only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Working app: 22 routes, 70 tests, 24 screens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100" b="1">
                          <a:solidFill>
                            <a:srgbClr val="222222"/>
                          </a:solidFill>
                          <a:latin typeface="Calibri"/>
                          <a:ea typeface="Calibri"/>
                          <a:cs typeface="Calibri"/>
                        </a:rPr>
                        <a:t>Speed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Sub-millisecond heuristics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Not reported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Admission 0.33 ms; reserve call 19.6 ms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100" b="1">
                          <a:solidFill>
                            <a:srgbClr val="222222"/>
                          </a:solidFill>
                          <a:latin typeface="Calibri"/>
                          <a:ea typeface="Calibri"/>
                          <a:cs typeface="Calibri"/>
                        </a:rPr>
                        <a:t>Agreement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Partly: static 3 lowers no park (0.43 to 0.17 per run at 50 % bad); the shipped dynamic rule does not (1.07)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Dynamic-best claim not reproduced for the shipped rule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8" name="TextBox 7"/>
          <p:cNvSpPr txBox="1"/>
          <p:nvPr/>
        </p:nvSpPr>
        <p:spPr>
          <a:xfrm>
            <a:off x="502920" y="5760720"/>
            <a:ext cx="11155680" cy="594360"/>
          </a:xfrm>
          <a:prstGeom prst="rect">
            <a:avLst/>
          </a:prstGeom>
          <a:noFill/>
        </p:spPr>
        <p:txBody>
          <a:bodyPr wrap="square" lIns="0" rIns="0" tIns="0" bIns="0" anchor="t">
            <a:spAutoFit/>
          </a:bodyPr>
          <a:lstStyle/>
          <a:p>
            <a:pPr algn="l">
              <a:spcAft>
                <a:spcPts val="400"/>
              </a:spcAft>
            </a:pPr>
            <a:r>
              <a:rPr sz="1200" b="0" i="1">
                <a:solidFill>
                  <a:srgbClr val="1F3864"/>
                </a:solidFill>
                <a:latin typeface="Calibri"/>
                <a:ea typeface="Calibri"/>
                <a:cs typeface="Calibri"/>
              </a:rPr>
              <a:t>Different problems, data and simulators: no figure of ParkSure is claimed to beat either paper. Jemmali's grouping heuristics are not implemented; Cabri's SUMO runs were not repeated.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Search and Reserve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22</a:t>
            </a:r>
            <a:endParaRPr lang="en-US" sz="1000" dirty="0"/>
          </a:p>
        </p:txBody>
      </p:sp>
      <p:pic>
        <p:nvPicPr>
          <p:cNvPr id="7" name="Picture 6" descr="07_search_full_lot_crop.png"/>
          <p:cNvPicPr>
            <a:picLocks noChangeAspect="1"/>
          </p:cNvPicPr>
          <p:nvPr/>
        </p:nvPicPr>
        <p:blipFill>
          <a:blip r:embed="rId3"/>
          <a:stretch>
            <a:fillRect/>
          </a:stretch>
        </p:blipFill>
        <p:spPr>
          <a:xfrm>
            <a:off x="411480" y="1646537"/>
            <a:ext cx="5486400" cy="3336324"/>
          </a:xfrm>
          <a:prstGeom prst="rect">
            <a:avLst/>
          </a:prstGeom>
          <a:ln w="9525">
            <a:solidFill>
              <a:srgbClr val="D5DCE6"/>
            </a:solidFill>
          </a:ln>
        </p:spPr>
      </p:pic>
      <p:pic>
        <p:nvPicPr>
          <p:cNvPr id="8" name="Picture 7" descr="08_reserve_dialog_crop.png"/>
          <p:cNvPicPr>
            <a:picLocks noChangeAspect="1"/>
          </p:cNvPicPr>
          <p:nvPr/>
        </p:nvPicPr>
        <p:blipFill>
          <a:blip r:embed="rId2"/>
          <a:stretch>
            <a:fillRect/>
          </a:stretch>
        </p:blipFill>
        <p:spPr>
          <a:xfrm>
            <a:off x="6675120" y="1600200"/>
            <a:ext cx="4663440" cy="3429000"/>
          </a:xfrm>
          <a:prstGeom prst="rect">
            <a:avLst/>
          </a:prstGeom>
          <a:ln w="9525">
            <a:solidFill>
              <a:srgbClr val="D5DCE6"/>
            </a:solidFill>
          </a:ln>
        </p:spPr>
      </p:pic>
      <p:sp>
        <p:nvSpPr>
          <p:cNvPr id="9" name="TextBox 8"/>
          <p:cNvSpPr txBox="1"/>
          <p:nvPr/>
        </p:nvSpPr>
        <p:spPr>
          <a:xfrm>
            <a:off x="411480" y="5166360"/>
            <a:ext cx="5486400" cy="914400"/>
          </a:xfrm>
          <a:prstGeom prst="rect">
            <a:avLst/>
          </a:prstGeom>
          <a:noFill/>
        </p:spPr>
        <p:txBody>
          <a:bodyPr wrap="square" lIns="0" rIns="0" tIns="0" bIns="0" anchor="t">
            <a:spAutoFit/>
          </a:bodyPr>
          <a:lstStyle/>
          <a:p>
            <a:pPr algn="l">
              <a:spcAft>
                <a:spcPts val="400"/>
              </a:spcAft>
            </a:pPr>
            <a:r>
              <a:rPr sz="1300" b="1" i="0">
                <a:solidFill>
                  <a:srgbClr val="1F3864"/>
                </a:solidFill>
                <a:latin typeface="Calibri"/>
                <a:ea typeface="Calibri"/>
                <a:cs typeface="Calibri"/>
              </a:rPr>
              <a:t>Search for a 1 h 20 min window: Kiosk Bay (1 bay, buffer 0) is Full, five other locations show free bays</a:t>
            </a:r>
          </a:p>
        </p:txBody>
      </p:sp>
      <p:sp>
        <p:nvSpPr>
          <p:cNvPr id="10" name="TextBox 9"/>
          <p:cNvSpPr txBox="1"/>
          <p:nvPr/>
        </p:nvSpPr>
        <p:spPr>
          <a:xfrm>
            <a:off x="6263640" y="5166360"/>
            <a:ext cx="5486400" cy="914400"/>
          </a:xfrm>
          <a:prstGeom prst="rect">
            <a:avLst/>
          </a:prstGeom>
          <a:noFill/>
        </p:spPr>
        <p:txBody>
          <a:bodyPr wrap="square" lIns="0" rIns="0" tIns="0" bIns="0" anchor="t">
            <a:spAutoFit/>
          </a:bodyPr>
          <a:lstStyle/>
          <a:p>
            <a:pPr algn="l">
              <a:spcAft>
                <a:spcPts val="400"/>
              </a:spcAft>
            </a:pPr>
            <a:r>
              <a:rPr sz="1300" b="1" i="0">
                <a:solidFill>
                  <a:srgbClr val="1F3864"/>
                </a:solidFill>
                <a:latin typeface="Calibri"/>
                <a:ea typeface="Calibri"/>
                <a:cs typeface="Calibri"/>
              </a:rPr>
              <a:t>Reserve dialog: Airport Express Park, 3 h at $5.00/h, trust multiplier x0.95, estimated fee $14.25 (the server recalculates)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Full Lot on Arrival and Trust Score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23</a:t>
            </a:r>
            <a:endParaRPr lang="en-US" sz="1000" dirty="0"/>
          </a:p>
        </p:txBody>
      </p:sp>
      <p:pic>
        <p:nvPicPr>
          <p:cNvPr id="7" name="Picture 6" descr="15_moved_to_alternate_crop.png"/>
          <p:cNvPicPr>
            <a:picLocks noChangeAspect="1"/>
          </p:cNvPicPr>
          <p:nvPr/>
        </p:nvPicPr>
        <p:blipFill>
          <a:blip r:embed="rId3"/>
          <a:stretch>
            <a:fillRect/>
          </a:stretch>
        </p:blipFill>
        <p:spPr>
          <a:xfrm>
            <a:off x="749504" y="1600200"/>
            <a:ext cx="4810350" cy="3429000"/>
          </a:xfrm>
          <a:prstGeom prst="rect">
            <a:avLst/>
          </a:prstGeom>
          <a:ln w="9525">
            <a:solidFill>
              <a:srgbClr val="D5DCE6"/>
            </a:solidFill>
          </a:ln>
        </p:spPr>
      </p:pic>
      <p:pic>
        <p:nvPicPr>
          <p:cNvPr id="8" name="Picture 7" descr="13_trust_score_crop.png"/>
          <p:cNvPicPr>
            <a:picLocks noChangeAspect="1"/>
          </p:cNvPicPr>
          <p:nvPr/>
        </p:nvPicPr>
        <p:blipFill>
          <a:blip r:embed="rId2"/>
          <a:stretch>
            <a:fillRect/>
          </a:stretch>
        </p:blipFill>
        <p:spPr>
          <a:xfrm>
            <a:off x="6601664" y="1600200"/>
            <a:ext cx="4810350" cy="3429000"/>
          </a:xfrm>
          <a:prstGeom prst="rect">
            <a:avLst/>
          </a:prstGeom>
          <a:ln w="9525">
            <a:solidFill>
              <a:srgbClr val="D5DCE6"/>
            </a:solidFill>
          </a:ln>
        </p:spPr>
      </p:pic>
      <p:sp>
        <p:nvSpPr>
          <p:cNvPr id="9" name="TextBox 8"/>
          <p:cNvSpPr txBox="1"/>
          <p:nvPr/>
        </p:nvSpPr>
        <p:spPr>
          <a:xfrm>
            <a:off x="411480" y="5166360"/>
            <a:ext cx="5486400" cy="914400"/>
          </a:xfrm>
          <a:prstGeom prst="rect">
            <a:avLst/>
          </a:prstGeom>
          <a:noFill/>
        </p:spPr>
        <p:txBody>
          <a:bodyPr wrap="square" lIns="0" rIns="0" tIns="0" bIns="0" anchor="t">
            <a:spAutoFit/>
          </a:bodyPr>
          <a:lstStyle/>
          <a:p>
            <a:pPr algn="l">
              <a:spcAft>
                <a:spcPts val="400"/>
              </a:spcAft>
            </a:pPr>
            <a:r>
              <a:rPr sz="1300" b="1" i="0">
                <a:solidFill>
                  <a:srgbClr val="1F3864"/>
                </a:solidFill>
                <a:latin typeface="Calibri"/>
                <a:ea typeface="Calibri"/>
                <a:cs typeface="Calibri"/>
              </a:rPr>
              <a:t>Second driver arrives at the full Kiosk Bay and is moved to Central Station Garage, 0.1 km away; booking #353 is marked Unable to park, #354 is parked</a:t>
            </a:r>
          </a:p>
        </p:txBody>
      </p:sp>
      <p:sp>
        <p:nvSpPr>
          <p:cNvPr id="10" name="TextBox 9"/>
          <p:cNvSpPr txBox="1"/>
          <p:nvPr/>
        </p:nvSpPr>
        <p:spPr>
          <a:xfrm>
            <a:off x="6263640" y="5166360"/>
            <a:ext cx="5486400" cy="914400"/>
          </a:xfrm>
          <a:prstGeom prst="rect">
            <a:avLst/>
          </a:prstGeom>
          <a:noFill/>
        </p:spPr>
        <p:txBody>
          <a:bodyPr wrap="square" lIns="0" rIns="0" tIns="0" bIns="0" anchor="t">
            <a:spAutoFit/>
          </a:bodyPr>
          <a:lstStyle/>
          <a:p>
            <a:pPr algn="l">
              <a:spcAft>
                <a:spcPts val="400"/>
              </a:spcAft>
            </a:pPr>
            <a:r>
              <a:rPr sz="1300" b="1" i="0">
                <a:solidFill>
                  <a:srgbClr val="1F3864"/>
                </a:solidFill>
                <a:latin typeface="Calibri"/>
                <a:ea typeface="Calibri"/>
                <a:cs typeface="Calibri"/>
              </a:rPr>
              <a:t>Trust Score page: 4 / 5, fee multiplier x0.95, on-time streak 1 of 3, history with the new on-time check-out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Administrator</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24</a:t>
            </a:r>
            <a:endParaRPr lang="en-US" sz="1000" dirty="0"/>
          </a:p>
        </p:txBody>
      </p:sp>
      <p:pic>
        <p:nvPicPr>
          <p:cNvPr id="7" name="Picture 6" descr="17_admin_overview_crop.png"/>
          <p:cNvPicPr>
            <a:picLocks noChangeAspect="1"/>
          </p:cNvPicPr>
          <p:nvPr/>
        </p:nvPicPr>
        <p:blipFill>
          <a:blip r:embed="rId3"/>
          <a:stretch>
            <a:fillRect/>
          </a:stretch>
        </p:blipFill>
        <p:spPr>
          <a:xfrm>
            <a:off x="749504" y="1600200"/>
            <a:ext cx="4810350" cy="3429000"/>
          </a:xfrm>
          <a:prstGeom prst="rect">
            <a:avLst/>
          </a:prstGeom>
          <a:ln w="9525">
            <a:solidFill>
              <a:srgbClr val="D5DCE6"/>
            </a:solidFill>
          </a:ln>
        </p:spPr>
      </p:pic>
      <p:pic>
        <p:nvPicPr>
          <p:cNvPr id="8" name="Picture 7" descr="19_admin_insights_crop.png"/>
          <p:cNvPicPr>
            <a:picLocks noChangeAspect="1"/>
          </p:cNvPicPr>
          <p:nvPr/>
        </p:nvPicPr>
        <p:blipFill>
          <a:blip r:embed="rId2"/>
          <a:stretch>
            <a:fillRect/>
          </a:stretch>
        </p:blipFill>
        <p:spPr>
          <a:xfrm>
            <a:off x="6601664" y="1600200"/>
            <a:ext cx="4810350" cy="3429000"/>
          </a:xfrm>
          <a:prstGeom prst="rect">
            <a:avLst/>
          </a:prstGeom>
          <a:ln w="9525">
            <a:solidFill>
              <a:srgbClr val="D5DCE6"/>
            </a:solidFill>
          </a:ln>
        </p:spPr>
      </p:pic>
      <p:sp>
        <p:nvSpPr>
          <p:cNvPr id="9" name="TextBox 8"/>
          <p:cNvSpPr txBox="1"/>
          <p:nvPr/>
        </p:nvSpPr>
        <p:spPr>
          <a:xfrm>
            <a:off x="411480" y="5166360"/>
            <a:ext cx="5486400" cy="914400"/>
          </a:xfrm>
          <a:prstGeom prst="rect">
            <a:avLst/>
          </a:prstGeom>
          <a:noFill/>
        </p:spPr>
        <p:txBody>
          <a:bodyPr wrap="square" lIns="0" rIns="0" tIns="0" bIns="0" anchor="t">
            <a:spAutoFit/>
          </a:bodyPr>
          <a:lstStyle/>
          <a:p>
            <a:pPr algn="l">
              <a:spcAft>
                <a:spcPts val="400"/>
              </a:spcAft>
            </a:pPr>
            <a:r>
              <a:rPr sz="1300" b="1" i="0">
                <a:solidFill>
                  <a:srgbClr val="1F3864"/>
                </a:solidFill>
                <a:latin typeface="Calibri"/>
                <a:ea typeface="Calibri"/>
                <a:cs typeface="Calibri"/>
              </a:rPr>
              <a:t>Admin overview: 10 users, 6 locations, 354 reservations, $1604.00 paid, 40 unable to park, 29 declined</a:t>
            </a:r>
          </a:p>
        </p:txBody>
      </p:sp>
      <p:sp>
        <p:nvSpPr>
          <p:cNvPr id="10" name="TextBox 9"/>
          <p:cNvSpPr txBox="1"/>
          <p:nvPr/>
        </p:nvSpPr>
        <p:spPr>
          <a:xfrm>
            <a:off x="6263640" y="5166360"/>
            <a:ext cx="5486400" cy="914400"/>
          </a:xfrm>
          <a:prstGeom prst="rect">
            <a:avLst/>
          </a:prstGeom>
          <a:noFill/>
        </p:spPr>
        <p:txBody>
          <a:bodyPr wrap="square" lIns="0" rIns="0" tIns="0" bIns="0" anchor="t">
            <a:spAutoFit/>
          </a:bodyPr>
          <a:lstStyle/>
          <a:p>
            <a:pPr algn="l">
              <a:spcAft>
                <a:spcPts val="400"/>
              </a:spcAft>
            </a:pPr>
            <a:r>
              <a:rPr sz="1300" b="1" i="0">
                <a:solidFill>
                  <a:srgbClr val="1F3864"/>
                </a:solidFill>
                <a:latin typeface="Calibri"/>
                <a:ea typeface="Calibri"/>
                <a:cs typeface="Calibri"/>
              </a:rPr>
              <a:t>Strategy insights: the same 60-day history replayed under four buffer policies; the dynamic policy declines the most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Conclusion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25</a:t>
            </a:r>
            <a:endParaRPr lang="en-US" sz="1000" dirty="0"/>
          </a:p>
        </p:txBody>
      </p:sp>
      <p:sp>
        <p:nvSpPr>
          <p:cNvPr id="7" name="TextBox 6"/>
          <p:cNvSpPr txBox="1"/>
          <p:nvPr/>
        </p:nvSpPr>
        <p:spPr>
          <a:xfrm>
            <a:off x="502920" y="1600200"/>
            <a:ext cx="11155680" cy="73152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ParkSure is a working, tested reservation platform whose own measurements show where its engine helps and where it falls short.</a:t>
            </a:r>
          </a:p>
        </p:txBody>
      </p:sp>
      <p:graphicFrame>
        <p:nvGraphicFramePr>
          <p:cNvPr id="8" name="Table 7"/>
          <p:cNvGraphicFramePr>
            <a:graphicFrameLocks noGrp="1"/>
          </p:cNvGraphicFramePr>
          <p:nvPr/>
        </p:nvGraphicFramePr>
        <p:xfrm>
          <a:off x="502920" y="2377440"/>
          <a:ext cx="11155680" cy="3200400"/>
        </p:xfrm>
        <a:graphic>
          <a:graphicData uri="http://schemas.openxmlformats.org/drawingml/2006/table">
            <a:tbl>
              <a:tblPr firstRow="0" bandRow="0">
                <a:tableStyleId>{5C22544A-7EE6-4342-B048-85BDC9FD1C3A}</a:tableStyleId>
              </a:tblPr>
              <a:tblGrid>
                <a:gridCol w="457200"/>
                <a:gridCol w="4114800"/>
                <a:gridCol w="6583680"/>
              </a:tblGrid>
              <a:tr h="457200">
                <a:tc>
                  <a:txBody>
                    <a:bodyPr wrap="square"/>
                    <a:lstStyle/>
                    <a:p>
                      <a:pPr algn="ctr"/>
                      <a:r>
                        <a:rPr sz="1200" b="1">
                          <a:solidFill>
                            <a:srgbClr val="1F3864"/>
                          </a:solidFill>
                          <a:latin typeface="Calibri"/>
                          <a:ea typeface="Calibri"/>
                          <a:cs typeface="Calibri"/>
                        </a:rPr>
                        <a: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Objective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Outcome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57200">
                <a:tc>
                  <a:txBody>
                    <a:bodyPr wrap="square"/>
                    <a:lstStyle/>
                    <a:p>
                      <a:pPr algn="ctr"/>
                      <a:r>
                        <a:rPr sz="1200" b="1">
                          <a:solidFill>
                            <a:srgbClr val="222222"/>
                          </a:solidFill>
                          <a:latin typeface="Calibri"/>
                          <a:ea typeface="Calibri"/>
                          <a:cs typeface="Calibri"/>
                        </a:rPr>
                        <a:t>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Registration, authentication, vehicle profile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Partly met: registration, JWT login, roles; no vehicle profile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ctr"/>
                      <a:r>
                        <a:rPr sz="1200" b="1">
                          <a:solidFill>
                            <a:srgbClr val="222222"/>
                          </a:solidFill>
                          <a:latin typeface="Calibri"/>
                          <a:ea typeface="Calibri"/>
                          <a:cs typeface="Calibri"/>
                        </a:rPr>
                        <a:t>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Real-time slot availability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Met as forecast bookable bays per window; no sensors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ctr"/>
                      <a:r>
                        <a:rPr sz="1200" b="1">
                          <a:solidFill>
                            <a:srgbClr val="222222"/>
                          </a:solidFill>
                          <a:latin typeface="Calibri"/>
                          <a:ea typeface="Calibri"/>
                          <a:cs typeface="Calibri"/>
                        </a:rPr>
                        <a:t>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Search, advance reservation, cancellation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Met: tested end to end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ctr"/>
                      <a:r>
                        <a:rPr sz="1200" b="1">
                          <a:solidFill>
                            <a:srgbClr val="222222"/>
                          </a:solidFill>
                          <a:latin typeface="Calibri"/>
                          <a:ea typeface="Calibri"/>
                          <a:cs typeface="Calibri"/>
                        </a:rPr>
                        <a:t>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Secure online payment, digital receipts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Partly met: Stripe test mode / demo; no receipt; demo-confirm route is open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ctr"/>
                      <a:r>
                        <a:rPr sz="1200" b="1">
                          <a:solidFill>
                            <a:srgbClr val="222222"/>
                          </a:solidFill>
                          <a:latin typeface="Calibri"/>
                          <a:ea typeface="Calibri"/>
                          <a:cs typeface="Calibri"/>
                        </a:rPr>
                        <a:t>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Administrator dashboard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Met: locations, users, bookings, revenue, Strategy Insights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ctr"/>
                      <a:r>
                        <a:rPr sz="1200" b="1">
                          <a:solidFill>
                            <a:srgbClr val="222222"/>
                          </a:solidFill>
                          <a:latin typeface="Calibri"/>
                          <a:ea typeface="Calibri"/>
                          <a:cs typeface="Calibri"/>
                        </a:rPr>
                        <a:t>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Success rate, efficiency, response time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Met by simulator, replay and timing; no real-user study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9" name="TextBox 8"/>
          <p:cNvSpPr txBox="1"/>
          <p:nvPr/>
        </p:nvSpPr>
        <p:spPr>
          <a:xfrm>
            <a:off x="502920" y="5669280"/>
            <a:ext cx="11155680" cy="731520"/>
          </a:xfrm>
          <a:prstGeom prst="rect">
            <a:avLst/>
          </a:prstGeom>
          <a:noFill/>
        </p:spPr>
        <p:txBody>
          <a:bodyPr wrap="square" lIns="0" rIns="0" tIns="0" bIns="0" anchor="t">
            <a:spAutoFit/>
          </a:bodyPr>
          <a:lstStyle/>
          <a:p>
            <a:pPr algn="l">
              <a:spcAft>
                <a:spcPts val="400"/>
              </a:spcAft>
            </a:pPr>
            <a:r>
              <a:rPr sz="1300" b="0" i="1">
                <a:solidFill>
                  <a:srgbClr val="1F3864"/>
                </a:solidFill>
                <a:latin typeface="Calibri"/>
                <a:ea typeface="Calibri"/>
                <a:cs typeface="Calibri"/>
              </a:rPr>
              <a:t>Key findings: the shipped dynamic buffer is the most conservative policy; no park is rare because of the alternate step; the Trust lockout drives most refusals; concurrency and payment-confirm defects remain.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Limitations &amp; Future Scope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26</a:t>
            </a:r>
            <a:endParaRPr lang="en-US" sz="1000" dirty="0"/>
          </a:p>
        </p:txBody>
      </p:sp>
      <p:sp>
        <p:nvSpPr>
          <p:cNvPr id="7" name="Rounded Rectangle 6"/>
          <p:cNvSpPr/>
          <p:nvPr/>
        </p:nvSpPr>
        <p:spPr>
          <a:xfrm>
            <a:off x="502920" y="1645920"/>
            <a:ext cx="5486400" cy="420624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85800" y="1737360"/>
            <a:ext cx="512064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Known limitations</a:t>
            </a:r>
          </a:p>
        </p:txBody>
      </p:sp>
      <p:sp>
        <p:nvSpPr>
          <p:cNvPr id="9" name="TextBox 8"/>
          <p:cNvSpPr txBox="1"/>
          <p:nvPr/>
        </p:nvSpPr>
        <p:spPr>
          <a:xfrm>
            <a:off x="685800" y="2194560"/>
            <a:ext cx="5120640" cy="4023360"/>
          </a:xfrm>
          <a:prstGeom prst="rect">
            <a:avLst/>
          </a:prstGeom>
          <a:noFill/>
        </p:spPr>
        <p:txBody>
          <a:bodyPr wrap="square" lIns="0" rIns="0" tIns="0" bIns="0" anchor="t">
            <a:spAutoFit/>
          </a:bodyPr>
          <a:lstStyle/>
          <a:p>
            <a:pPr algn="l" marL="256032" indent="-201168">
              <a:spcAft>
                <a:spcPts val="500"/>
              </a:spcAft>
              <a:buChar char="•"/>
            </a:pPr>
            <a:r>
              <a:rPr sz="1300" b="0" i="0">
                <a:solidFill>
                  <a:srgbClr val="222222"/>
                </a:solidFill>
                <a:latin typeface="Calibri"/>
                <a:ea typeface="Calibri"/>
                <a:cs typeface="Calibri"/>
              </a:rPr>
              <a:t>Demo data are synthetic; no real lot, no user study</a:t>
            </a:r>
          </a:p>
          <a:p>
            <a:pPr algn="l" marL="256032" indent="-201168">
              <a:spcAft>
                <a:spcPts val="500"/>
              </a:spcAft>
              <a:buChar char="•"/>
            </a:pPr>
            <a:r>
              <a:rPr sz="1300" b="0" i="0">
                <a:solidFill>
                  <a:srgbClr val="222222"/>
                </a:solidFill>
                <a:latin typeface="Calibri"/>
                <a:ea typeface="Calibri"/>
                <a:cs typeface="Calibri"/>
              </a:rPr>
              <a:t>Simulator, not SUMO; arrival-process assumptions are ours</a:t>
            </a:r>
          </a:p>
          <a:p>
            <a:pPr algn="l" marL="256032" indent="-201168">
              <a:spcAft>
                <a:spcPts val="500"/>
              </a:spcAft>
              <a:buChar char="•"/>
            </a:pPr>
            <a:r>
              <a:rPr sz="1300" b="0" i="0">
                <a:solidFill>
                  <a:srgbClr val="222222"/>
                </a:solidFill>
                <a:latin typeface="Calibri"/>
                <a:ea typeface="Calibri"/>
                <a:cs typeface="Calibri"/>
              </a:rPr>
              <a:t>Buffer grows on on-time check-outs (paper: on late departures)</a:t>
            </a:r>
          </a:p>
          <a:p>
            <a:pPr algn="l" marL="256032" indent="-201168">
              <a:spcAft>
                <a:spcPts val="500"/>
              </a:spcAft>
              <a:buChar char="•"/>
            </a:pPr>
            <a:r>
              <a:rPr sz="1300" b="0" i="0">
                <a:solidFill>
                  <a:srgbClr val="222222"/>
                </a:solidFill>
                <a:latin typeface="Calibri"/>
                <a:ea typeface="Calibri"/>
                <a:cs typeface="Calibri"/>
              </a:rPr>
              <a:t>Admission check and insert are not atomic (over-booking race)</a:t>
            </a:r>
          </a:p>
          <a:p>
            <a:pPr algn="l" marL="256032" indent="-201168">
              <a:spcAft>
                <a:spcPts val="500"/>
              </a:spcAft>
              <a:buChar char="•"/>
            </a:pPr>
            <a:r>
              <a:rPr sz="1300" b="0" i="0">
                <a:solidFill>
                  <a:srgbClr val="222222"/>
                </a:solidFill>
                <a:latin typeface="Calibri"/>
                <a:ea typeface="Calibri"/>
                <a:cs typeface="Calibri"/>
              </a:rPr>
              <a:t>Open demo-confirm route, default JWT secret, no rate limit</a:t>
            </a:r>
          </a:p>
          <a:p>
            <a:pPr algn="l" marL="256032" indent="-201168">
              <a:spcAft>
                <a:spcPts val="500"/>
              </a:spcAft>
              <a:buChar char="•"/>
            </a:pPr>
            <a:r>
              <a:rPr sz="1300" b="0" i="0">
                <a:solidFill>
                  <a:srgbClr val="222222"/>
                </a:solidFill>
                <a:latin typeface="Calibri"/>
                <a:ea typeface="Calibri"/>
                <a:cs typeface="Calibri"/>
              </a:rPr>
              <a:t>No vehicle profile, no receipt, no hardware or sensors</a:t>
            </a:r>
          </a:p>
          <a:p>
            <a:pPr algn="l" marL="256032" indent="-201168">
              <a:spcAft>
                <a:spcPts val="500"/>
              </a:spcAft>
              <a:buChar char="•"/>
            </a:pPr>
            <a:r>
              <a:rPr sz="1300" b="0" i="0">
                <a:solidFill>
                  <a:srgbClr val="222222"/>
                </a:solidFill>
                <a:latin typeface="Calibri"/>
                <a:ea typeface="Calibri"/>
                <a:cs typeface="Calibri"/>
              </a:rPr>
              <a:t>Own-booking lists are slow (N+1 queries)</a:t>
            </a:r>
          </a:p>
        </p:txBody>
      </p:sp>
      <p:sp>
        <p:nvSpPr>
          <p:cNvPr id="10" name="Rounded Rectangle 9"/>
          <p:cNvSpPr/>
          <p:nvPr/>
        </p:nvSpPr>
        <p:spPr>
          <a:xfrm>
            <a:off x="6217920" y="1645920"/>
            <a:ext cx="5486400" cy="4206240"/>
          </a:xfrm>
          <a:prstGeom prst="roundRect">
            <a:avLst>
              <a:gd name="adj" fmla="val 4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0" y="1737360"/>
            <a:ext cx="512064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Future scope</a:t>
            </a:r>
          </a:p>
        </p:txBody>
      </p:sp>
      <p:sp>
        <p:nvSpPr>
          <p:cNvPr id="12" name="TextBox 11"/>
          <p:cNvSpPr txBox="1"/>
          <p:nvPr/>
        </p:nvSpPr>
        <p:spPr>
          <a:xfrm>
            <a:off x="6400800" y="2194560"/>
            <a:ext cx="5120640" cy="4023360"/>
          </a:xfrm>
          <a:prstGeom prst="rect">
            <a:avLst/>
          </a:prstGeom>
          <a:noFill/>
        </p:spPr>
        <p:txBody>
          <a:bodyPr wrap="square" lIns="0" rIns="0" tIns="0" bIns="0" anchor="t">
            <a:spAutoFit/>
          </a:bodyPr>
          <a:lstStyle/>
          <a:p>
            <a:pPr algn="l" marL="256032" indent="-201168">
              <a:spcAft>
                <a:spcPts val="500"/>
              </a:spcAft>
              <a:buChar char="•"/>
            </a:pPr>
            <a:r>
              <a:rPr sz="1300" b="0" i="0">
                <a:solidFill>
                  <a:srgbClr val="222222"/>
                </a:solidFill>
                <a:latin typeface="Calibri"/>
                <a:ea typeface="Calibri"/>
                <a:cs typeface="Calibri"/>
              </a:rPr>
              <a:t>Lock or transaction around admission; remove the open payment route</a:t>
            </a:r>
          </a:p>
          <a:p>
            <a:pPr algn="l" marL="256032" indent="-201168">
              <a:spcAft>
                <a:spcPts val="500"/>
              </a:spcAft>
              <a:buChar char="•"/>
            </a:pPr>
            <a:r>
              <a:rPr sz="1300" b="0" i="0">
                <a:solidFill>
                  <a:srgbClr val="222222"/>
                </a:solidFill>
                <a:latin typeface="Calibri"/>
                <a:ea typeface="Calibri"/>
                <a:cs typeface="Calibri"/>
              </a:rPr>
              <a:t>Test the paper-literal buffer rule and a short, session-based lockout</a:t>
            </a:r>
          </a:p>
          <a:p>
            <a:pPr algn="l" marL="256032" indent="-201168">
              <a:spcAft>
                <a:spcPts val="500"/>
              </a:spcAft>
              <a:buChar char="•"/>
            </a:pPr>
            <a:r>
              <a:rPr sz="1300" b="0" i="0">
                <a:solidFill>
                  <a:srgbClr val="222222"/>
                </a:solidFill>
                <a:latin typeface="Calibri"/>
                <a:ea typeface="Calibri"/>
                <a:cs typeface="Calibri"/>
              </a:rPr>
              <a:t>Re-check the alternate's physical bays before moving a driver</a:t>
            </a:r>
          </a:p>
          <a:p>
            <a:pPr algn="l" marL="256032" indent="-201168">
              <a:spcAft>
                <a:spcPts val="500"/>
              </a:spcAft>
              <a:buChar char="•"/>
            </a:pPr>
            <a:r>
              <a:rPr sz="1300" b="0" i="0">
                <a:solidFill>
                  <a:srgbClr val="222222"/>
                </a:solidFill>
                <a:latin typeface="Calibri"/>
                <a:ea typeface="Calibri"/>
                <a:cs typeface="Calibri"/>
              </a:rPr>
              <a:t>Vehicle profile and downloadable receipts; reject past windows</a:t>
            </a:r>
          </a:p>
          <a:p>
            <a:pPr algn="l" marL="256032" indent="-201168">
              <a:spcAft>
                <a:spcPts val="500"/>
              </a:spcAft>
              <a:buChar char="•"/>
            </a:pPr>
            <a:r>
              <a:rPr sz="1300" b="0" i="0">
                <a:solidFill>
                  <a:srgbClr val="222222"/>
                </a:solidFill>
                <a:latin typeface="Calibri"/>
                <a:ea typeface="Calibri"/>
                <a:cs typeface="Calibri"/>
              </a:rPr>
              <a:t>Replace the N+1 queries with joined loads</a:t>
            </a:r>
          </a:p>
          <a:p>
            <a:pPr algn="l" marL="256032" indent="-201168">
              <a:spcAft>
                <a:spcPts val="500"/>
              </a:spcAft>
              <a:buChar char="•"/>
            </a:pPr>
            <a:r>
              <a:rPr sz="1300" b="0" i="0">
                <a:solidFill>
                  <a:srgbClr val="222222"/>
                </a:solidFill>
                <a:latin typeface="Calibri"/>
                <a:ea typeface="Calibri"/>
                <a:cs typeface="Calibri"/>
              </a:rPr>
              <a:t>Run the scenario in SUMO and on real lot data; user study</a:t>
            </a:r>
          </a:p>
          <a:p>
            <a:pPr algn="l" marL="256032" indent="-201168">
              <a:spcAft>
                <a:spcPts val="500"/>
              </a:spcAft>
              <a:buChar char="•"/>
            </a:pPr>
            <a:r>
              <a:rPr sz="1300" b="0" i="0">
                <a:solidFill>
                  <a:srgbClr val="222222"/>
                </a:solidFill>
                <a:latin typeface="Calibri"/>
                <a:ea typeface="Calibri"/>
                <a:cs typeface="Calibri"/>
              </a:rPr>
              <a:t>Entry barriers or sensors, mobile client, PostgreSQL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References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27</a:t>
            </a:r>
            <a:endParaRPr lang="en-US" sz="1000" dirty="0"/>
          </a:p>
        </p:txBody>
      </p:sp>
      <p:sp>
        <p:nvSpPr>
          <p:cNvPr id="7" name="TextBox 6"/>
          <p:cNvSpPr txBox="1"/>
          <p:nvPr/>
        </p:nvSpPr>
        <p:spPr>
          <a:xfrm>
            <a:off x="502920" y="1600200"/>
            <a:ext cx="5486400" cy="4754880"/>
          </a:xfrm>
          <a:prstGeom prst="rect">
            <a:avLst/>
          </a:prstGeom>
          <a:noFill/>
        </p:spPr>
        <p:txBody>
          <a:bodyPr wrap="square" lIns="0" rIns="0" tIns="0" bIns="0" anchor="t">
            <a:spAutoFit/>
          </a:bodyPr>
          <a:lstStyle/>
          <a:p>
            <a:pPr algn="l">
              <a:spcAft>
                <a:spcPts val="400"/>
              </a:spcAft>
            </a:pPr>
            <a:r>
              <a:rPr sz="1000" b="0" i="0">
                <a:solidFill>
                  <a:srgbClr val="222222"/>
                </a:solidFill>
                <a:latin typeface="Calibri"/>
                <a:ea typeface="Calibri"/>
                <a:cs typeface="Calibri"/>
              </a:rPr>
              <a:t>[1] M. Jemmali, L. K. B. Melhim, A. Ammar, T. R. Gadekallu and W. Boulila, "Smart parking for medical cities via passenger-aware allocation and fast grouping-permutation heuristics," IEEE Open Journal of the Computer Society, vol. 7, pp. 1106-1118, 2026, doi: 10.1109/OJCS.2026.3693801.</a:t>
            </a:r>
          </a:p>
          <a:p>
            <a:pPr algn="l">
              <a:spcAft>
                <a:spcPts val="400"/>
              </a:spcAft>
            </a:pPr>
            <a:r>
              <a:rPr sz="1000" b="0" i="0">
                <a:solidFill>
                  <a:srgbClr val="222222"/>
                </a:solidFill>
                <a:latin typeface="Calibri"/>
                <a:ea typeface="Calibri"/>
                <a:cs typeface="Calibri"/>
              </a:rPr>
              <a:t>[2] G. Cabri, M. Montangero, F. Muzzini and R. Wang, "Reservation based smart parking management," arXiv:2605.17650 [cs.MA], May 2026.</a:t>
            </a:r>
          </a:p>
          <a:p>
            <a:pPr algn="l">
              <a:spcAft>
                <a:spcPts val="400"/>
              </a:spcAft>
            </a:pPr>
            <a:r>
              <a:rPr sz="1000" b="0" i="0">
                <a:solidFill>
                  <a:srgbClr val="222222"/>
                </a:solidFill>
                <a:latin typeface="Calibri"/>
                <a:ea typeface="Calibri"/>
                <a:cs typeface="Calibri"/>
              </a:rPr>
              <a:t>[3] M. Aljohani, S. Olariu, A. Alali and S. Jain, "A survey of parking solutions for smart cities," IEEE Transactions on Intelligent Transportation Systems, vol. 23, no. 8, pp. 10012-10029, 2021.</a:t>
            </a:r>
          </a:p>
          <a:p>
            <a:pPr algn="l">
              <a:spcAft>
                <a:spcPts val="400"/>
              </a:spcAft>
            </a:pPr>
            <a:r>
              <a:rPr sz="1000" b="0" i="0">
                <a:solidFill>
                  <a:srgbClr val="222222"/>
                </a:solidFill>
                <a:latin typeface="Calibri"/>
                <a:ea typeface="Calibri"/>
                <a:cs typeface="Calibri"/>
              </a:rPr>
              <a:t>[5] S. R. Rizvi, S. Zehra, R. Mukkamala and S. Olariu, "ASAP: An agent-assisted smart auction-based parking system in Internet of Things," in Proc. 9th ACM Symp. on Design and Analysis of Intelligent Vehicular Networks and Applications, 2019, pp. 1-8.</a:t>
            </a:r>
          </a:p>
          <a:p>
            <a:pPr algn="l">
              <a:spcAft>
                <a:spcPts val="400"/>
              </a:spcAft>
            </a:pPr>
            <a:r>
              <a:rPr sz="1000" b="0" i="0">
                <a:solidFill>
                  <a:srgbClr val="222222"/>
                </a:solidFill>
                <a:latin typeface="Calibri"/>
                <a:ea typeface="Calibri"/>
                <a:cs typeface="Calibri"/>
              </a:rPr>
              <a:t>[7] N. Doulamis, E. Protopapadakis and L. Lambrinos, "Improving service quality for parking lot users using intelligent parking reservation policies," in Proc. 27th Int. Conf. on Advanced Information Networking and Applications Workshops, IEEE, 2013, pp. 1392-1397.</a:t>
            </a:r>
          </a:p>
          <a:p>
            <a:pPr algn="l">
              <a:spcAft>
                <a:spcPts val="400"/>
              </a:spcAft>
            </a:pPr>
            <a:r>
              <a:rPr sz="1000" b="0" i="0">
                <a:solidFill>
                  <a:srgbClr val="222222"/>
                </a:solidFill>
                <a:latin typeface="Calibri"/>
                <a:ea typeface="Calibri"/>
                <a:cs typeface="Calibri"/>
              </a:rPr>
              <a:t>[10] R. R. Safitri, A. Pratiarso and A. Zainudin, "Mobile-based smart parking reservation system with rate display occupancy using heuristic algorithm and haversine formula," in Proc. 2020 Int. Electronics Symp. (IES), IEEE, 2020, pp. 332-339.</a:t>
            </a:r>
          </a:p>
          <a:p>
            <a:pPr algn="l">
              <a:spcAft>
                <a:spcPts val="400"/>
              </a:spcAft>
            </a:pPr>
            <a:r>
              <a:rPr sz="1000" b="0" i="0">
                <a:solidFill>
                  <a:srgbClr val="222222"/>
                </a:solidFill>
                <a:latin typeface="Calibri"/>
                <a:ea typeface="Calibri"/>
                <a:cs typeface="Calibri"/>
              </a:rPr>
              <a:t>[11] A. Somani, S. Periwal, K. Patel and P. Gaikwad, "Cross platform smart reservation based parking system," in Proc. 2018 Int. Conf. on Smart City and Emerging Technology (ICSCET), IEEE, 2018, pp. 1-5.</a:t>
            </a:r>
          </a:p>
          <a:p>
            <a:pPr algn="l">
              <a:spcAft>
                <a:spcPts val="400"/>
              </a:spcAft>
            </a:pPr>
            <a:r>
              <a:rPr sz="1000" b="0" i="0">
                <a:solidFill>
                  <a:srgbClr val="222222"/>
                </a:solidFill>
                <a:latin typeface="Calibri"/>
                <a:ea typeface="Calibri"/>
                <a:cs typeface="Calibri"/>
              </a:rPr>
              <a:t>[12] N. Mejri, M. Ayari, R. Langar and L. Saidane, "Reservation-based multi-objective smart parking approach for smart cities," in Proc. 2016 IEEE Int. Smart Cities Conf. (ISC2), 2016, pp. 1-6.</a:t>
            </a:r>
          </a:p>
        </p:txBody>
      </p:sp>
      <p:sp>
        <p:nvSpPr>
          <p:cNvPr id="8" name="TextBox 7"/>
          <p:cNvSpPr txBox="1"/>
          <p:nvPr/>
        </p:nvSpPr>
        <p:spPr>
          <a:xfrm>
            <a:off x="6217920" y="1600200"/>
            <a:ext cx="5486400" cy="4754880"/>
          </a:xfrm>
          <a:prstGeom prst="rect">
            <a:avLst/>
          </a:prstGeom>
          <a:noFill/>
        </p:spPr>
        <p:txBody>
          <a:bodyPr wrap="square" lIns="0" rIns="0" tIns="0" bIns="0" anchor="t">
            <a:spAutoFit/>
          </a:bodyPr>
          <a:lstStyle/>
          <a:p>
            <a:pPr algn="l">
              <a:spcAft>
                <a:spcPts val="400"/>
              </a:spcAft>
            </a:pPr>
            <a:r>
              <a:rPr sz="1000" b="0" i="0">
                <a:solidFill>
                  <a:srgbClr val="222222"/>
                </a:solidFill>
                <a:latin typeface="Calibri"/>
                <a:ea typeface="Calibri"/>
                <a:cs typeface="Calibri"/>
              </a:rPr>
              <a:t>[13] A. O. Kotb, Y.-C. Shen, X. Zhu and Y. Huang, "iParker - a new smart car-parking system based on dynamic resource allocation and pricing," IEEE Transactions on Intelligent Transportation Systems, vol. 17, no. 9, pp. 2637-2647, 2016.</a:t>
            </a:r>
          </a:p>
          <a:p>
            <a:pPr algn="l">
              <a:spcAft>
                <a:spcPts val="400"/>
              </a:spcAft>
            </a:pPr>
            <a:r>
              <a:rPr sz="1000" b="0" i="0">
                <a:solidFill>
                  <a:srgbClr val="222222"/>
                </a:solidFill>
                <a:latin typeface="Calibri"/>
                <a:ea typeface="Calibri"/>
                <a:cs typeface="Calibri"/>
              </a:rPr>
              <a:t>[15] R. Chen, G. Gao, L.-J. Kang and L.-Y. Zhang, "Efficiency and equity analysis on parking reservation," Transportation Research Part E: Logistics and Transportation Review, vol. 187, art. no. 103606, 2024.</a:t>
            </a:r>
          </a:p>
          <a:p>
            <a:pPr algn="l">
              <a:spcAft>
                <a:spcPts val="400"/>
              </a:spcAft>
            </a:pPr>
            <a:r>
              <a:rPr sz="1000" b="0" i="0">
                <a:solidFill>
                  <a:srgbClr val="222222"/>
                </a:solidFill>
                <a:latin typeface="Calibri"/>
                <a:ea typeface="Calibri"/>
                <a:cs typeface="Calibri"/>
              </a:rPr>
              <a:t>[21] P. A. Lopez, M. Behrisch, L. Bieker-Walz, J. Erdmann, Y.-P. Flotterod, R. Hilbrich, L. Lucken, J. Rummel, P. Wagner and E. Wiessner, "Microscopic traffic simulation using SUMO," in Proc. 21st IEEE Int. Conf. on Intelligent Transportation Systems (ITSC), 2018, pp. 2575-2582.</a:t>
            </a:r>
          </a:p>
          <a:p>
            <a:pPr algn="l">
              <a:spcAft>
                <a:spcPts val="400"/>
              </a:spcAft>
            </a:pPr>
            <a:r>
              <a:rPr sz="1000" b="0" i="0">
                <a:solidFill>
                  <a:srgbClr val="222222"/>
                </a:solidFill>
                <a:latin typeface="Calibri"/>
                <a:ea typeface="Calibri"/>
                <a:cs typeface="Calibri"/>
              </a:rPr>
              <a:t>[23] R. W. Sinnott, "Virtues of the haversine," Sky and Telescope, vol. 68, no. 2, p. 159, 1984.</a:t>
            </a:r>
          </a:p>
          <a:p>
            <a:pPr algn="l">
              <a:spcAft>
                <a:spcPts val="400"/>
              </a:spcAft>
            </a:pPr>
            <a:r>
              <a:rPr sz="1000" b="0" i="0">
                <a:solidFill>
                  <a:srgbClr val="222222"/>
                </a:solidFill>
                <a:latin typeface="Calibri"/>
                <a:ea typeface="Calibri"/>
                <a:cs typeface="Calibri"/>
              </a:rPr>
              <a:t>[25] M. Jones, J. Bradley and N. Sakimura, "JSON Web Token (JWT)," IETF RFC 7519, May 2015.</a:t>
            </a:r>
          </a:p>
          <a:p>
            <a:pPr algn="l">
              <a:spcAft>
                <a:spcPts val="400"/>
              </a:spcAft>
            </a:pPr>
            <a:r>
              <a:rPr sz="1000" b="0" i="0">
                <a:solidFill>
                  <a:srgbClr val="222222"/>
                </a:solidFill>
                <a:latin typeface="Calibri"/>
                <a:ea typeface="Calibri"/>
                <a:cs typeface="Calibri"/>
              </a:rPr>
              <a:t>[26] N. Provos and D. Mazieres, "A future-adaptable password scheme," in Proc. USENIX Annual Technical Conf., FREENIX Track, 1999, pp. 81-91.</a:t>
            </a:r>
          </a:p>
          <a:p>
            <a:pPr algn="l">
              <a:spcAft>
                <a:spcPts val="400"/>
              </a:spcAft>
            </a:pPr>
            <a:r>
              <a:rPr sz="1000" b="0" i="0">
                <a:solidFill>
                  <a:srgbClr val="222222"/>
                </a:solidFill>
                <a:latin typeface="Calibri"/>
                <a:ea typeface="Calibri"/>
                <a:cs typeface="Calibri"/>
              </a:rPr>
              <a:t>[27] M. Bayer, "SQLAlchemy," in The Architecture of Open Source Applications, Volume II, A. Brown and G. Wilson, Eds., 2012.</a:t>
            </a:r>
          </a:p>
          <a:p>
            <a:pPr algn="l">
              <a:spcAft>
                <a:spcPts val="400"/>
              </a:spcAft>
            </a:pPr>
            <a:r>
              <a:rPr sz="1000" b="0" i="0">
                <a:solidFill>
                  <a:srgbClr val="222222"/>
                </a:solidFill>
                <a:latin typeface="Calibri"/>
                <a:ea typeface="Calibri"/>
                <a:cs typeface="Calibri"/>
              </a:rPr>
              <a:t>[29] Stripe, Inc., "Stripe Checkout and webhooks documentation," [Online]. Available: https://docs.stripe.com (accessed Oct. 2026).</a:t>
            </a:r>
          </a:p>
          <a:p>
            <a:pPr algn="l">
              <a:spcAft>
                <a:spcPts val="400"/>
              </a:spcAft>
            </a:pPr>
            <a:r>
              <a:rPr sz="1000" b="0" i="1">
                <a:solidFill>
                  <a:srgbClr val="222222"/>
                </a:solidFill>
                <a:latin typeface="Calibri"/>
                <a:ea typeface="Calibri"/>
                <a:cs typeface="Calibri"/>
              </a:rPr>
              <a:t>The full numbered list of 34 references, including the batch survey titles [31]-[34] (not verified), is in the report.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2743200"/>
            <a:ext cx="11247120" cy="914400"/>
          </a:xfrm>
          <a:prstGeom prst="rect">
            <a:avLst/>
          </a:prstGeom>
          <a:noFill/>
          <a:ln/>
        </p:spPr>
        <p:txBody>
          <a:bodyPr wrap="square" rtlCol="0" anchor="ctr"/>
          <a:lstStyle/>
          <a:p>
            <a:pPr algn="ctr" indent="0" marL="0">
              <a:buNone/>
            </a:pPr>
            <a:r>
              <a:rPr lang="en-US" sz="4800" b="1" dirty="0">
                <a:solidFill>
                  <a:srgbClr val="1F3864"/>
                </a:solidFill>
                <a:latin typeface="Calibri" pitchFamily="34" charset="0"/>
                <a:ea typeface="Calibri" pitchFamily="34" charset="-122"/>
                <a:cs typeface="Calibri" pitchFamily="34" charset="-120"/>
              </a:rPr>
              <a:t>THANK YOU</a:t>
            </a:r>
            <a:endParaRPr lang="en-US" sz="4800" dirty="0"/>
          </a:p>
        </p:txBody>
      </p:sp>
      <p:sp>
        <p:nvSpPr>
          <p:cNvPr id="5" name="Text 2"/>
          <p:cNvSpPr/>
          <p:nvPr/>
        </p:nvSpPr>
        <p:spPr>
          <a:xfrm>
            <a:off x="457200" y="3657600"/>
            <a:ext cx="11247120" cy="548640"/>
          </a:xfrm>
          <a:prstGeom prst="rect">
            <a:avLst/>
          </a:prstGeom>
          <a:noFill/>
          <a:ln/>
        </p:spPr>
        <p:txBody>
          <a:bodyPr wrap="square" rtlCol="0" anchor="ctr"/>
          <a:lstStyle/>
          <a:p>
            <a:pPr algn="ctr" indent="0" marL="0">
              <a:buNone/>
            </a:pPr>
            <a:r>
              <a:rPr lang="en-US" sz="2200" dirty="0">
                <a:solidFill>
                  <a:srgbClr val="2E75B6"/>
                </a:solidFill>
                <a:latin typeface="Calibri" pitchFamily="34" charset="0"/>
                <a:ea typeface="Calibri" pitchFamily="34" charset="-122"/>
                <a:cs typeface="Calibri" pitchFamily="34" charset="-120"/>
              </a:rPr>
              <a:t>Questions &amp; Suggestions</a:t>
            </a:r>
            <a:endParaRPr lang="en-US" sz="2200" dirty="0"/>
          </a:p>
        </p:txBody>
      </p:sp>
      <p:sp>
        <p:nvSpPr>
          <p:cNvPr id="6" name="Text 3"/>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C3  |  Final Review</a:t>
            </a:r>
            <a:endParaRPr lang="en-US" sz="1000" dirty="0"/>
          </a:p>
        </p:txBody>
      </p:sp>
      <p:sp>
        <p:nvSpPr>
          <p:cNvPr id="7" name="Text 4"/>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theme/theme1.xml><?xml version="1.0" encoding="utf-8"?>
<a:theme xmlns:a="http://schemas.openxmlformats.org/drawingml/2006/main" name="ParkSure">
  <a:themeElements>
    <a:clrScheme name="ParkSur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rkSur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rkSur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Vehicle Parking Reservation System - Final Review</dc:title>
  <dc:subject>ParkSure</dc:subject>
  <dc:creator>Batch C3, Dept. of CSE, TKRCET</dc:creator>
  <cp:lastModifiedBy>Batch C3, Dept. of CSE, TKRCET</cp:lastModifiedBy>
  <cp:revision>1</cp:revision>
  <dcterms:created xsi:type="dcterms:W3CDTF">2026-10-07T05:03:03Z</dcterms:created>
  <dcterms:modified xsi:type="dcterms:W3CDTF">2026-10-07T05:03:03Z</dcterms:modified>
  <dc:description/>
  <cp:keywords>smart parking, reservation, hold-back buffer, Trust Score, FastAPI, React</cp:keywords>
</cp:coreProperties>
</file>