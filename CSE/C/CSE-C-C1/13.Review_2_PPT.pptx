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c3623e47-5b1a-7aef-5476-75bff30165c3}">
          <p14:sldIdLst>
            <p14:sldId id="256"/>
            <p14:sldId id="257"/>
            <p14:sldId id="258"/>
          </p14:sldIdLst>
        </p14:section>
        <p14:section name="Design" id="{ee3f979a-aefa-c88f-8568-1021737ba133}">
          <p14:sldIdLst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</p14:sldIdLst>
        </p14:section>
        <p14:section name="Progress" id="{cf39a97a-7fb0-4c7a-0650-0fb3a5c44815}">
          <p14:sldIdLst>
            <p14:sldId id="269"/>
            <p14:sldId id="270"/>
            <p14:sldId id="271"/>
            <p14:sldId id="272"/>
            <p14:sldId id="273"/>
            <p14:sldId id="274"/>
            <p14:sldId id="27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This review shows how AegisBallot is designed and built: the data, the cryptography and ledger design, what is implemented, the first measured results and the open items.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Agenda for the design and progress review.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One-minute recap of Review 1: the integrity and identity problem, our approach, and how the base paper relates (shared goal, different chain, identity method and scope).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JSON routes are in app/api_v1.py; the original Jinja pages in app/main.py still work. The services are separate modules so each can be tested alone.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three design principles: layered one-vote enforcement, separation of identity from the ballot (with the honest gap stated), and numbers that come from scripts.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Be frank: there is no dataset in the machine-learning sense. The 'data' is a synthetic identity registry and generated benchmark voters. Accuracy and F1 do not apply to this project.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Validation is cheap and happens first. Rejections at any stage return HTTP 400 or 403 and an audit entry. The registry is a synthetic local table; a real UIDAI adapter could replace the provider through the interface.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 local permissioned-ledger simulation. The three validators are keys in data/validators.json on the same machine, so the quorum demonstrates the rule but gives no distributed trust. The 'Merkle root' is a flat hash of the sorted transaction hashes, not a tree.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These are the fixed parameters read from the code. Micro-timings are means over thousands of calls on the shared PC (script run_experiments.py).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Left: the casting flowchart. Right: the three functions in app/services/voting_service.py and app/ledger/ledger.py. The last bullet is a finding from our own tamper study, shown later.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Level-1 data flow: the login and Aadhaar check produce a token, the casting process hands a signed transaction to the ledger, and the auditor and tally processes read the stores.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Left: ER diagram of the 13 tables. Right: the models as classes with the voting and ledger modules. Ballots carry no voter column; voter_participation is the only voter-to-ballot link.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Everything is open source. The versions are those measured: Python 3.11.9, FastAPI 0.110.0, SQLAlchemy 2.0.30.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State of the code base. The honest gaps: TLS, a real identity provider, distributed validators, and signature checks inside validate_chain.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Benchmark: 1000 synthetic voters, all votes succeeded; mean 44.9 ms, p95 75.0 ms on a shared PC; earlier idle-PC runs gave 16.1 to 17.3 ms. HTTP journey login + verify + cast averaged 161 ms, dominated by Argon2id login (98 ms).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Real screenshots of the running React application with the demo database (200 voters, 8 elections, 212 ballots, 213 blocks): identity check, receipt and the auditor console. More screens follow in the final deck.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Tests ran on scratch databases so the demo data stayed untouched. The tamper study applied 13 kinds of edit to a 361-block chain and rolled each back.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Each challenge was met by a concrete design choice or by measuring it and saying so in the report.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Plan to the final review. The first two items address the gaps found by our own tamper study and design review.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Likely questions: is the Aadhaar check real (no, synthetic registry); is it decentralised (no, three validators on one machine); can the administrator change a vote (some edits are detected, some are not; see the tamper study).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rgbClr val="1B2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417320"/>
            <a:ext cx="11094415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880360"/>
            <a:ext cx="11094415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AegisBallot  ·  Review 2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">
    <p:bg>
      <p:bgPr>
        <a:solidFill>
          <a:srgbClr val="1B2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194560"/>
            <a:ext cx="11094415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474720"/>
            <a:ext cx="11094415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ADCF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2.xml"/><Relationship Id="rId4" Type="http://schemas.openxmlformats.org/officeDocument/2006/relationships/image" Target="../media/image6.png"/></Relationships>
</file>

<file path=ppt/slides/_rels/slide13.xml.rels><?xml version='1.0' encoding='UTF-8' standalone='yes'?>
<Relationships xmlns="http://schemas.openxmlformats.org/package/2006/relationships"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5.xml"/><Relationship Id="rId4" Type="http://schemas.openxmlformats.org/officeDocument/2006/relationships/image" Target="../media/image8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image" Target="../media/image9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6.xml"/><Relationship Id="rId5" Type="http://schemas.openxmlformats.org/officeDocument/2006/relationships/image" Target="../media/image1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417320"/>
            <a:ext cx="1109441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Secure Voting System with Aadhaar Verification through Blockchain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88036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Design, methodology and progress: Aadhaar-verified, encrypted, hash-chained voting with an auditor view</a:t>
            </a:r>
            <a:endParaRPr lang="en-US" sz="2000" dirty="0"/>
          </a:p>
        </p:txBody>
      </p:sp>
      <p:sp>
        <p:nvSpPr>
          <p:cNvPr id="4" name="review label"/>
          <p:cNvSpPr txBox="1"/>
          <p:nvPr/>
        </p:nvSpPr>
        <p:spPr>
          <a:xfrm>
            <a:off x="548640" y="6400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DA100"/>
                </a:solidFill>
              </a:rPr>
              <a:t>REVIEW 2  ·  DESIGN, METHODOLOGY AND PROGRESS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416052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</a:rPr>
              <a:t>Presented by</a:t>
            </a:r>
            <a:endParaRPr lang="en-US" sz="1400" dirty="0"/>
          </a:p>
        </p:txBody>
      </p:sp>
      <p:sp>
        <p:nvSpPr>
          <p:cNvPr id="6" name="team"/>
          <p:cNvSpPr txBox="1"/>
          <p:nvPr/>
        </p:nvSpPr>
        <p:spPr>
          <a:xfrm>
            <a:off x="548640" y="4480560"/>
            <a:ext cx="5120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Mohammed Anwar-Ul-Haq  23K91A05F6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Mohammad Mosin  23K91A05F4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Manda Akshitha  23K91A05E4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Kothlapur Ganesh  24K95A0516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400800" y="416052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</a:rPr>
              <a:t>Under the guidance of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6400800" y="448056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B Shruthi, [DESIGNATION]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6400800" y="4983480"/>
            <a:ext cx="5212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</a:rPr>
              <a:t>Department of Computer Science and Engineering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</a:rPr>
              <a:t>TKR College of Engineering &amp; Technology  ·  Batch C1 (CSE-C)  ·  [ACADEMIC YEAR]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Contents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548640" y="1417320"/>
            <a:ext cx="3520440" cy="132588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777240" y="1545336"/>
            <a:ext cx="914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EB6834"/>
                </a:solidFill>
                <a:latin typeface="Cambria"/>
                <a:ea typeface="Cambria"/>
                <a:cs typeface="Cambria"/>
              </a:rPr>
              <a:t>01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" y="2075688"/>
            <a:ext cx="306324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F172A"/>
                </a:solidFill>
              </a:rPr>
              <a:t>Recap and architecture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334255" y="1417320"/>
            <a:ext cx="3520440" cy="132588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4562855" y="1545336"/>
            <a:ext cx="914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2A78D6"/>
                </a:solidFill>
                <a:latin typeface="Cambria"/>
                <a:ea typeface="Cambria"/>
                <a:cs typeface="Cambria"/>
              </a:rPr>
              <a:t>02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62855" y="2075688"/>
            <a:ext cx="306324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F172A"/>
                </a:solidFill>
              </a:rPr>
              <a:t>Methodology and data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119871" y="1417320"/>
            <a:ext cx="3520440" cy="132588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8348471" y="1545336"/>
            <a:ext cx="914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1BAF7A"/>
                </a:solidFill>
                <a:latin typeface="Cambria"/>
                <a:ea typeface="Cambria"/>
                <a:cs typeface="Cambria"/>
              </a:rPr>
              <a:t>03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48471" y="2075688"/>
            <a:ext cx="306324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F172A"/>
                </a:solidFill>
              </a:rPr>
              <a:t>Preprocessing and cryptographic design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48640" y="3017520"/>
            <a:ext cx="3520440" cy="132588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777240" y="3145536"/>
            <a:ext cx="914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6B52D6"/>
                </a:solidFill>
                <a:latin typeface="Cambria"/>
                <a:ea typeface="Cambria"/>
                <a:cs typeface="Cambria"/>
              </a:rPr>
              <a:t>04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77240" y="3675887"/>
            <a:ext cx="306324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F172A"/>
                </a:solidFill>
              </a:rPr>
              <a:t>System configuration and decision logic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334255" y="3017520"/>
            <a:ext cx="3520440" cy="132588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4562855" y="3145536"/>
            <a:ext cx="914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EB6834"/>
                </a:solidFill>
                <a:latin typeface="Cambria"/>
                <a:ea typeface="Cambria"/>
                <a:cs typeface="Cambria"/>
              </a:rPr>
              <a:t>05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62855" y="3675887"/>
            <a:ext cx="306324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F172A"/>
                </a:solidFill>
              </a:rPr>
              <a:t>Data flow, database and UML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119871" y="3017520"/>
            <a:ext cx="3520440" cy="132588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TextBox 41"/>
          <p:cNvSpPr txBox="1"/>
          <p:nvPr/>
        </p:nvSpPr>
        <p:spPr>
          <a:xfrm>
            <a:off x="8348471" y="3145536"/>
            <a:ext cx="914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2A78D6"/>
                </a:solidFill>
                <a:latin typeface="Cambria"/>
                <a:ea typeface="Cambria"/>
                <a:cs typeface="Cambria"/>
              </a:rPr>
              <a:t>06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348471" y="3675887"/>
            <a:ext cx="306324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F172A"/>
                </a:solidFill>
              </a:rPr>
              <a:t>Technology stack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48640" y="4617720"/>
            <a:ext cx="3520440" cy="132588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TextBox 44"/>
          <p:cNvSpPr txBox="1"/>
          <p:nvPr/>
        </p:nvSpPr>
        <p:spPr>
          <a:xfrm>
            <a:off x="777240" y="4745736"/>
            <a:ext cx="914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1BAF7A"/>
                </a:solidFill>
                <a:latin typeface="Cambria"/>
                <a:ea typeface="Cambria"/>
                <a:cs typeface="Cambria"/>
              </a:rPr>
              <a:t>07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77240" y="5276088"/>
            <a:ext cx="306324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F172A"/>
                </a:solidFill>
              </a:rPr>
              <a:t>Implementation progress and results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4334255" y="4617720"/>
            <a:ext cx="3520440" cy="132588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8" name="TextBox 47"/>
          <p:cNvSpPr txBox="1"/>
          <p:nvPr/>
        </p:nvSpPr>
        <p:spPr>
          <a:xfrm>
            <a:off x="4562855" y="4745736"/>
            <a:ext cx="914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6B52D6"/>
                </a:solidFill>
                <a:latin typeface="Cambria"/>
                <a:ea typeface="Cambria"/>
                <a:cs typeface="Cambria"/>
              </a:rPr>
              <a:t>08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562855" y="5276088"/>
            <a:ext cx="306324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F172A"/>
                </a:solidFill>
              </a:rPr>
              <a:t>Output screens and testing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8119871" y="4617720"/>
            <a:ext cx="3520440" cy="132588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1" name="TextBox 50"/>
          <p:cNvSpPr txBox="1"/>
          <p:nvPr/>
        </p:nvSpPr>
        <p:spPr>
          <a:xfrm>
            <a:off x="8348471" y="4745736"/>
            <a:ext cx="914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EB6834"/>
                </a:solidFill>
                <a:latin typeface="Cambria"/>
                <a:ea typeface="Cambria"/>
                <a:cs typeface="Cambria"/>
              </a:rPr>
              <a:t>09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348471" y="5276088"/>
            <a:ext cx="306324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F172A"/>
                </a:solidFill>
              </a:rPr>
              <a:t>Challenges and next steps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Recap: problem and proposed system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548640" y="1371600"/>
            <a:ext cx="3520440" cy="448056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Oval 26"/>
          <p:cNvSpPr/>
          <p:nvPr/>
        </p:nvSpPr>
        <p:spPr>
          <a:xfrm>
            <a:off x="749808" y="1554480"/>
            <a:ext cx="502920" cy="502920"/>
          </a:xfrm>
          <a:prstGeom prst="ellipse">
            <a:avLst/>
          </a:prstGeom>
          <a:solidFill>
            <a:srgbClr val="EB6834"/>
          </a:solidFill>
          <a:ln w="9525">
            <a:solidFill>
              <a:srgbClr val="EB68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</a:rPr>
              <a:t>!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89888" y="1527048"/>
            <a:ext cx="25146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F172A"/>
                </a:solidFill>
              </a:rPr>
              <a:t>Problem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808" y="2240280"/>
            <a:ext cx="3118104" cy="3474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475569"/>
                </a:solidFill>
              </a:rPr>
              <a:t>Manual polling is slow and error-prone. A database ballot box can be edited without trace, and without identity binding duplicate or ineligible votes cannot be excluded reliably. Observers cannot recompute the result.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34255" y="1371600"/>
            <a:ext cx="3520440" cy="448056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Oval 30"/>
          <p:cNvSpPr/>
          <p:nvPr/>
        </p:nvSpPr>
        <p:spPr>
          <a:xfrm>
            <a:off x="4535423" y="1554480"/>
            <a:ext cx="502920" cy="502920"/>
          </a:xfrm>
          <a:prstGeom prst="ellipse">
            <a:avLst/>
          </a:prstGeom>
          <a:solidFill>
            <a:srgbClr val="2A78D6"/>
          </a:solidFill>
          <a:ln w="9525">
            <a:solidFill>
              <a:srgbClr val="2A7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</a:rPr>
              <a:t>i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75503" y="1527048"/>
            <a:ext cx="25146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F172A"/>
                </a:solidFill>
              </a:rPr>
              <a:t>Proposed system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35423" y="2240280"/>
            <a:ext cx="3118104" cy="3474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475569"/>
                </a:solidFill>
              </a:rPr>
              <a:t>AegisBallot verifies a 12-digit Aadhaar number, issues a single-use token, encrypts the choice, commits it to a 3-validator hash-chained ledger and lets an auditor recompute the chain.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119871" y="1371600"/>
            <a:ext cx="3520440" cy="448056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Oval 34"/>
          <p:cNvSpPr/>
          <p:nvPr/>
        </p:nvSpPr>
        <p:spPr>
          <a:xfrm>
            <a:off x="8321040" y="1554480"/>
            <a:ext cx="502920" cy="502920"/>
          </a:xfrm>
          <a:prstGeom prst="ellipse">
            <a:avLst/>
          </a:prstGeom>
          <a:solidFill>
            <a:srgbClr val="1BAF7A"/>
          </a:solidFill>
          <a:ln w="9525">
            <a:solidFill>
              <a:srgbClr val="1BAF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</a:rPr>
              <a:t>B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961119" y="1527048"/>
            <a:ext cx="25146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F172A"/>
                </a:solidFill>
              </a:rPr>
              <a:t>Base paper link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21040" y="2240280"/>
            <a:ext cx="3118104" cy="3474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475569"/>
                </a:solidFill>
              </a:rPr>
              <a:t>Shaikh et al. time a blockchain voting model on an Ethereum test chain with biometric authentication. AegisBallot keeps a registry plus ledger idea but uses an Aadhaar-style check and a local ledger. Results are not directly comparable.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  <p:pic>
        <p:nvPicPr>
          <p:cNvPr id="26" name="Picture 25" descr="01_system_architectur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3619" y="1097280"/>
            <a:ext cx="6113720" cy="525780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7406640" y="1371600"/>
            <a:ext cx="4206240" cy="4846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1" i="0">
                <a:solidFill>
                  <a:srgbClr val="0F172A"/>
                </a:solidFill>
              </a:rPr>
              <a:t>Four tiers</a:t>
            </a:r>
          </a:p>
          <a:p>
            <a:pPr algn="l" marL="256032" indent="-201168">
              <a:spcAft>
                <a:spcPts val="400"/>
              </a:spcAft>
              <a:buChar char="•"/>
            </a:pPr>
            <a:r>
              <a:rPr sz="1500" b="0" i="0">
                <a:solidFill>
                  <a:srgbClr val="0F172A"/>
                </a:solidFill>
              </a:rPr>
              <a:t>Presentation: React 18 and Vite SPA (port 5401); public, voter, admin and auditor pages.</a:t>
            </a:r>
          </a:p>
          <a:p>
            <a:pPr algn="l" marL="256032" indent="-201168">
              <a:spcAft>
                <a:spcPts val="400"/>
              </a:spcAft>
              <a:buChar char="•"/>
            </a:pPr>
            <a:r>
              <a:rPr sz="1500" b="0" i="0">
                <a:solidFill>
                  <a:srgbClr val="0F172A"/>
                </a:solidFill>
              </a:rPr>
              <a:t>Application: FastAPI (port 8401), 21 JSON routes under /api, session cookie, CSRF header, RBAC, rate limits.</a:t>
            </a:r>
          </a:p>
          <a:p>
            <a:pPr algn="l" marL="256032" indent="-201168">
              <a:spcAft>
                <a:spcPts val="400"/>
              </a:spcAft>
              <a:buChar char="•"/>
            </a:pPr>
            <a:r>
              <a:rPr sz="1500" b="0" i="0">
                <a:solidFill>
                  <a:srgbClr val="0F172A"/>
                </a:solidFill>
              </a:rPr>
              <a:t>Services: identity provider, voting service, crypto, audit log and the ledger module.</a:t>
            </a:r>
          </a:p>
          <a:p>
            <a:pPr algn="l" marL="256032" indent="-201168">
              <a:spcAft>
                <a:spcPts val="400"/>
              </a:spcAft>
              <a:buChar char="•"/>
            </a:pPr>
            <a:r>
              <a:rPr sz="1500" b="0" i="0">
                <a:solidFill>
                  <a:srgbClr val="0F172A"/>
                </a:solidFill>
              </a:rPr>
              <a:t>Data: SQLite, 13 tables, plus key files in data/. Nothing is sent to an external service.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Methodology: end-to-end workflow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548640" y="1371600"/>
            <a:ext cx="1412094" cy="1097280"/>
          </a:xfrm>
          <a:prstGeom prst="roundRect">
            <a:avLst>
              <a:gd name="adj" fmla="val 8000"/>
            </a:avLst>
          </a:prstGeom>
          <a:solidFill>
            <a:srgbClr val="1B2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300" b="1">
                <a:solidFill>
                  <a:srgbClr val="FFFFFF"/>
                </a:solidFill>
              </a:rPr>
              <a:t>Sign in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1960734" y="1801368"/>
            <a:ext cx="201168" cy="237744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2161902" y="1371600"/>
            <a:ext cx="1412094" cy="1097280"/>
          </a:xfrm>
          <a:prstGeom prst="roundRect">
            <a:avLst>
              <a:gd name="adj" fmla="val 8000"/>
            </a:avLst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300" b="1">
                <a:solidFill>
                  <a:srgbClr val="FFFFFF"/>
                </a:solidFill>
              </a:rPr>
              <a:t>Verify Aadhaar</a:t>
            </a:r>
          </a:p>
        </p:txBody>
      </p:sp>
      <p:sp>
        <p:nvSpPr>
          <p:cNvPr id="29" name="Right Arrow 28"/>
          <p:cNvSpPr/>
          <p:nvPr/>
        </p:nvSpPr>
        <p:spPr>
          <a:xfrm>
            <a:off x="3573997" y="1801368"/>
            <a:ext cx="201168" cy="237744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3775165" y="1371600"/>
            <a:ext cx="1412094" cy="1097280"/>
          </a:xfrm>
          <a:prstGeom prst="roundRect">
            <a:avLst>
              <a:gd name="adj" fmla="val 8000"/>
            </a:avLst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300" b="1">
                <a:solidFill>
                  <a:srgbClr val="FFFFFF"/>
                </a:solidFill>
              </a:rPr>
              <a:t>One-time token</a:t>
            </a:r>
          </a:p>
        </p:txBody>
      </p:sp>
      <p:sp>
        <p:nvSpPr>
          <p:cNvPr id="31" name="Right Arrow 30"/>
          <p:cNvSpPr/>
          <p:nvPr/>
        </p:nvSpPr>
        <p:spPr>
          <a:xfrm>
            <a:off x="5187260" y="1801368"/>
            <a:ext cx="201168" cy="237744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5388428" y="1371600"/>
            <a:ext cx="1412094" cy="1097280"/>
          </a:xfrm>
          <a:prstGeom prst="roundRect">
            <a:avLst>
              <a:gd name="adj" fmla="val 8000"/>
            </a:avLst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300" b="1">
                <a:solidFill>
                  <a:srgbClr val="FFFFFF"/>
                </a:solidFill>
              </a:rPr>
              <a:t>Encrypt + sign</a:t>
            </a:r>
          </a:p>
        </p:txBody>
      </p:sp>
      <p:sp>
        <p:nvSpPr>
          <p:cNvPr id="33" name="Right Arrow 32"/>
          <p:cNvSpPr/>
          <p:nvPr/>
        </p:nvSpPr>
        <p:spPr>
          <a:xfrm>
            <a:off x="6800523" y="1801368"/>
            <a:ext cx="201168" cy="237744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7001691" y="1371600"/>
            <a:ext cx="1412094" cy="1097280"/>
          </a:xfrm>
          <a:prstGeom prst="roundRect">
            <a:avLst>
              <a:gd name="adj" fmla="val 8000"/>
            </a:avLst>
          </a:prstGeom>
          <a:solidFill>
            <a:srgbClr val="6B52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300" b="1">
                <a:solidFill>
                  <a:srgbClr val="FFFFFF"/>
                </a:solidFill>
              </a:rPr>
              <a:t>Validators sign block</a:t>
            </a:r>
          </a:p>
        </p:txBody>
      </p:sp>
      <p:sp>
        <p:nvSpPr>
          <p:cNvPr id="35" name="Right Arrow 34"/>
          <p:cNvSpPr/>
          <p:nvPr/>
        </p:nvSpPr>
        <p:spPr>
          <a:xfrm>
            <a:off x="8413786" y="1801368"/>
            <a:ext cx="201168" cy="237744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8614954" y="1371600"/>
            <a:ext cx="1412094" cy="1097280"/>
          </a:xfrm>
          <a:prstGeom prst="roundRect">
            <a:avLst>
              <a:gd name="adj" fmla="val 8000"/>
            </a:avLst>
          </a:prstGeom>
          <a:solidFill>
            <a:srgbClr val="1BA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300" b="1">
                <a:solidFill>
                  <a:srgbClr val="FFFFFF"/>
                </a:solidFill>
              </a:rPr>
              <a:t>Receipt</a:t>
            </a:r>
          </a:p>
        </p:txBody>
      </p:sp>
      <p:sp>
        <p:nvSpPr>
          <p:cNvPr id="37" name="Right Arrow 36"/>
          <p:cNvSpPr/>
          <p:nvPr/>
        </p:nvSpPr>
        <p:spPr>
          <a:xfrm>
            <a:off x="10027049" y="1801368"/>
            <a:ext cx="201168" cy="237744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10228217" y="1371600"/>
            <a:ext cx="1412094" cy="1097280"/>
          </a:xfrm>
          <a:prstGeom prst="roundRect">
            <a:avLst>
              <a:gd name="adj" fmla="val 8000"/>
            </a:avLst>
          </a:prstGeom>
          <a:solidFill>
            <a:srgbClr val="1B2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300" b="1">
                <a:solidFill>
                  <a:srgbClr val="FFFFFF"/>
                </a:solidFill>
              </a:rPr>
              <a:t>Audit chain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48640" y="2834640"/>
            <a:ext cx="3520440" cy="329184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TextBox 39"/>
          <p:cNvSpPr txBox="1"/>
          <p:nvPr/>
        </p:nvSpPr>
        <p:spPr>
          <a:xfrm>
            <a:off x="777240" y="2971800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 i="0">
                <a:solidFill>
                  <a:srgbClr val="0F172A"/>
                </a:solidFill>
              </a:rPr>
              <a:t>One vote, four layers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77240" y="3566160"/>
            <a:ext cx="3108960" cy="2468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475569"/>
                </a:solidFill>
              </a:rPr>
              <a:t>Eligibility row, UNIQUE participation per (election, voter), single-use token, and a ledger check that nonce and transaction hash are new. Any one of them stops a second ballot.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334255" y="2834640"/>
            <a:ext cx="3520440" cy="329184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TextBox 42"/>
          <p:cNvSpPr txBox="1"/>
          <p:nvPr/>
        </p:nvSpPr>
        <p:spPr>
          <a:xfrm>
            <a:off x="4562855" y="2971800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 i="0">
                <a:solidFill>
                  <a:srgbClr val="0F172A"/>
                </a:solidFill>
              </a:rPr>
              <a:t>Identity apart from ballot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62855" y="3566160"/>
            <a:ext cx="3108960" cy="2468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475569"/>
                </a:solidFill>
              </a:rPr>
              <a:t>The ballots table has no voter column and the token is stored only as a hash. Honest gap: voter_participation still stores voter id with ballot id, so secrecy is partial.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8119871" y="2834640"/>
            <a:ext cx="3520440" cy="329184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" name="TextBox 45"/>
          <p:cNvSpPr txBox="1"/>
          <p:nvPr/>
        </p:nvSpPr>
        <p:spPr>
          <a:xfrm>
            <a:off x="8348471" y="2971800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 i="0">
                <a:solidFill>
                  <a:srgbClr val="0F172A"/>
                </a:solidFill>
              </a:rPr>
              <a:t>Measured, not typed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348471" y="3566160"/>
            <a:ext cx="3108960" cy="2468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475569"/>
                </a:solidFill>
              </a:rPr>
              <a:t>scripts/run_experiments.py and the product's own benchmark write every reported number to JSON; documents read them from there.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used: no external dataset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548640" y="1325880"/>
            <a:ext cx="2606040" cy="114300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ectangle 26"/>
          <p:cNvSpPr/>
          <p:nvPr/>
        </p:nvSpPr>
        <p:spPr>
          <a:xfrm>
            <a:off x="548640" y="1325880"/>
            <a:ext cx="73152" cy="114300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749808" y="1417320"/>
            <a:ext cx="2331720" cy="628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0F172A"/>
                </a:solidFill>
              </a:rPr>
              <a:t>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808" y="1988819"/>
            <a:ext cx="2331720" cy="4343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475569"/>
                </a:solidFill>
              </a:rPr>
              <a:t>external datasets (no ML model)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374136" y="1325880"/>
            <a:ext cx="2606040" cy="114300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Rectangle 30"/>
          <p:cNvSpPr/>
          <p:nvPr/>
        </p:nvSpPr>
        <p:spPr>
          <a:xfrm>
            <a:off x="3374136" y="1325880"/>
            <a:ext cx="73152" cy="1143000"/>
          </a:xfrm>
          <a:prstGeom prst="rect">
            <a:avLst/>
          </a:prstGeom>
          <a:solidFill>
            <a:srgbClr val="1BA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3575304" y="1417320"/>
            <a:ext cx="2331720" cy="628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0F172A"/>
                </a:solidFill>
              </a:rPr>
              <a:t>20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75304" y="1988819"/>
            <a:ext cx="2331720" cy="4343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475569"/>
                </a:solidFill>
              </a:rPr>
              <a:t>seeded demo voters, Verhoeff-valid synthetic Aadhaar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199631" y="1325880"/>
            <a:ext cx="2606040" cy="114300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Rectangle 34"/>
          <p:cNvSpPr/>
          <p:nvPr/>
        </p:nvSpPr>
        <p:spPr>
          <a:xfrm>
            <a:off x="6199631" y="1325880"/>
            <a:ext cx="73152" cy="1143000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6400799" y="1417320"/>
            <a:ext cx="2331720" cy="628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0F172A"/>
                </a:solidFill>
              </a:rPr>
              <a:t>1,000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799" y="1988819"/>
            <a:ext cx="2331720" cy="4343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475569"/>
                </a:solidFill>
              </a:rPr>
              <a:t>synthetic voters per benchmark run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025128" y="1325880"/>
            <a:ext cx="2606040" cy="114300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Rectangle 38"/>
          <p:cNvSpPr/>
          <p:nvPr/>
        </p:nvSpPr>
        <p:spPr>
          <a:xfrm>
            <a:off x="9025128" y="1325880"/>
            <a:ext cx="73152" cy="1143000"/>
          </a:xfrm>
          <a:prstGeom prst="rect">
            <a:avLst/>
          </a:prstGeom>
          <a:solidFill>
            <a:srgbClr val="6B52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TextBox 39"/>
          <p:cNvSpPr txBox="1"/>
          <p:nvPr/>
        </p:nvSpPr>
        <p:spPr>
          <a:xfrm>
            <a:off x="9226296" y="1417320"/>
            <a:ext cx="2331720" cy="628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0F172A"/>
                </a:solidFill>
              </a:rPr>
              <a:t>200 / 212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226296" y="1988819"/>
            <a:ext cx="2331720" cy="4343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475569"/>
                </a:solidFill>
              </a:rPr>
              <a:t>voters / ballots in the demo database</a:t>
            </a:r>
          </a:p>
        </p:txBody>
      </p:sp>
      <p:graphicFrame>
        <p:nvGraphicFramePr>
          <p:cNvPr id="42" name="Table 41"/>
          <p:cNvGraphicFramePr>
            <a:graphicFrameLocks noGrp="1"/>
          </p:cNvGraphicFramePr>
          <p:nvPr/>
        </p:nvGraphicFramePr>
        <p:xfrm>
          <a:off x="548640" y="2743200"/>
          <a:ext cx="11091672" cy="283464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011680"/>
                <a:gridCol w="3291840"/>
                <a:gridCol w="2926080"/>
                <a:gridCol w="2862072"/>
              </a:tblGrid>
              <a:tr h="566928"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Data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Source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Size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Note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1B2A41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0F172A"/>
                          </a:solidFill>
                        </a:rPr>
                        <a:t>Voter registry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F172A"/>
                          </a:solidFill>
                        </a:rPr>
                        <a:t>app/seed.py, generate_valid_aadhaar()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F172A"/>
                          </a:solidFill>
                        </a:rPr>
                        <a:t>20 voters + admin + auditor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F172A"/>
                          </a:solidFill>
                        </a:rPr>
                        <a:t>salted SHA-256 hash and masked number stored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0F172A"/>
                          </a:solidFill>
                        </a:rPr>
                        <a:t>Elections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F172A"/>
                          </a:solidFill>
                        </a:rPr>
                        <a:t>app/seed.py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F172A"/>
                          </a:solidFill>
                        </a:rPr>
                        <a:t>2 elections, 4 and 3 candidates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F172A"/>
                          </a:solidFill>
                        </a:rPr>
                        <a:t>8 seeded votes in the closed one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0F172A"/>
                          </a:solidFill>
                        </a:rPr>
                        <a:t>Benchmark voters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F172A"/>
                          </a:solidFill>
                        </a:rPr>
                        <a:t>app.benchmarks.run_benchmark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F172A"/>
                          </a:solidFill>
                        </a:rPr>
                        <a:t>1,000 per run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F172A"/>
                          </a:solidFill>
                        </a:rPr>
                        <a:t>Argon2id-hashed passwords, generated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0F172A"/>
                          </a:solidFill>
                        </a:rPr>
                        <a:t>Demo database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F172A"/>
                          </a:solidFill>
                        </a:rPr>
                        <a:t>seed + benchmarks + smoke test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F172A"/>
                          </a:solidFill>
                        </a:rPr>
                        <a:t>200 voters, 8 elections, 213 blocks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F172A"/>
                          </a:solidFill>
                        </a:rPr>
                        <a:t>used for the screenshots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</a:tr>
            </a:tbl>
          </a:graphicData>
        </a:graphic>
      </p:graphicFrame>
      <p:sp>
        <p:nvSpPr>
          <p:cNvPr id="43" name="TextBox 42"/>
          <p:cNvSpPr txBox="1"/>
          <p:nvPr/>
        </p:nvSpPr>
        <p:spPr>
          <a:xfrm>
            <a:off x="548640" y="5715000"/>
            <a:ext cx="1109167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1">
                <a:solidFill>
                  <a:srgbClr val="475569"/>
                </a:solidFill>
              </a:rPr>
              <a:t>All identities are generated; no real personal data and no UIDAI service are involved. Names in the seed file are common given names combined arbitrarily.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Preprocessing: input validation and Aadhaar normalisation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548640" y="1280160"/>
            <a:ext cx="1658112" cy="1005840"/>
          </a:xfrm>
          <a:prstGeom prst="roundRect">
            <a:avLst>
              <a:gd name="adj" fmla="val 8000"/>
            </a:avLst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200" b="1">
                <a:solidFill>
                  <a:srgbClr val="FFFFFF"/>
                </a:solidFill>
              </a:rPr>
              <a:t>Strip spaces / hyphens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2220468" y="1664207"/>
            <a:ext cx="201168" cy="237744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2435352" y="1280160"/>
            <a:ext cx="1658112" cy="1005840"/>
          </a:xfrm>
          <a:prstGeom prst="roundRect">
            <a:avLst>
              <a:gd name="adj" fmla="val 8000"/>
            </a:avLst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200" b="1">
                <a:solidFill>
                  <a:srgbClr val="FFFFFF"/>
                </a:solidFill>
              </a:rPr>
              <a:t>12 digits?</a:t>
            </a:r>
          </a:p>
        </p:txBody>
      </p:sp>
      <p:sp>
        <p:nvSpPr>
          <p:cNvPr id="29" name="Right Arrow 28"/>
          <p:cNvSpPr/>
          <p:nvPr/>
        </p:nvSpPr>
        <p:spPr>
          <a:xfrm>
            <a:off x="4107179" y="1664207"/>
            <a:ext cx="201168" cy="237744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4322064" y="1280160"/>
            <a:ext cx="1658112" cy="1005840"/>
          </a:xfrm>
          <a:prstGeom prst="roundRect">
            <a:avLst>
              <a:gd name="adj" fmla="val 8000"/>
            </a:avLst>
          </a:prstGeom>
          <a:solidFill>
            <a:srgbClr val="1BA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200" b="1">
                <a:solidFill>
                  <a:srgbClr val="FFFFFF"/>
                </a:solidFill>
              </a:rPr>
              <a:t>Verhoeff checksum</a:t>
            </a:r>
          </a:p>
        </p:txBody>
      </p:sp>
      <p:sp>
        <p:nvSpPr>
          <p:cNvPr id="31" name="Right Arrow 30"/>
          <p:cNvSpPr/>
          <p:nvPr/>
        </p:nvSpPr>
        <p:spPr>
          <a:xfrm>
            <a:off x="5993892" y="1664207"/>
            <a:ext cx="201168" cy="237744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6208776" y="1280160"/>
            <a:ext cx="1658112" cy="1005840"/>
          </a:xfrm>
          <a:prstGeom prst="roundRect">
            <a:avLst>
              <a:gd name="adj" fmla="val 8000"/>
            </a:avLst>
          </a:prstGeom>
          <a:solidFill>
            <a:srgbClr val="1BA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200" b="1">
                <a:solidFill>
                  <a:srgbClr val="FFFFFF"/>
                </a:solidFill>
              </a:rPr>
              <a:t>Salted SHA-256</a:t>
            </a:r>
          </a:p>
        </p:txBody>
      </p:sp>
      <p:sp>
        <p:nvSpPr>
          <p:cNvPr id="33" name="Right Arrow 32"/>
          <p:cNvSpPr/>
          <p:nvPr/>
        </p:nvSpPr>
        <p:spPr>
          <a:xfrm>
            <a:off x="7880604" y="1664207"/>
            <a:ext cx="201168" cy="237744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8095488" y="1280160"/>
            <a:ext cx="1658112" cy="1005840"/>
          </a:xfrm>
          <a:prstGeom prst="roundRect">
            <a:avLst>
              <a:gd name="adj" fmla="val 8000"/>
            </a:avLst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200" b="1">
                <a:solidFill>
                  <a:srgbClr val="FFFFFF"/>
                </a:solidFill>
              </a:rPr>
              <a:t>Registry lookup</a:t>
            </a:r>
          </a:p>
        </p:txBody>
      </p:sp>
      <p:sp>
        <p:nvSpPr>
          <p:cNvPr id="35" name="Right Arrow 34"/>
          <p:cNvSpPr/>
          <p:nvPr/>
        </p:nvSpPr>
        <p:spPr>
          <a:xfrm>
            <a:off x="9767316" y="1664207"/>
            <a:ext cx="201168" cy="237744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9982200" y="1280160"/>
            <a:ext cx="1658112" cy="1005840"/>
          </a:xfrm>
          <a:prstGeom prst="roundRect">
            <a:avLst>
              <a:gd name="adj" fmla="val 8000"/>
            </a:avLst>
          </a:prstGeom>
          <a:solidFill>
            <a:srgbClr val="6B52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200" b="1">
                <a:solidFill>
                  <a:srgbClr val="FFFFFF"/>
                </a:solidFill>
              </a:rPr>
              <a:t>Own account? eligible? not voted?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48640" y="2606040"/>
            <a:ext cx="5440680" cy="361188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Oval 37"/>
          <p:cNvSpPr/>
          <p:nvPr/>
        </p:nvSpPr>
        <p:spPr>
          <a:xfrm>
            <a:off x="749808" y="2788920"/>
            <a:ext cx="502920" cy="502920"/>
          </a:xfrm>
          <a:prstGeom prst="ellipse">
            <a:avLst/>
          </a:prstGeom>
          <a:solidFill>
            <a:srgbClr val="2A78D6"/>
          </a:solidFill>
          <a:ln w="9525">
            <a:solidFill>
              <a:srgbClr val="2A7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</a:rPr>
              <a:t>V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389888" y="2761488"/>
            <a:ext cx="44348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F172A"/>
                </a:solidFill>
              </a:rPr>
              <a:t>Verhoeff check digit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49808" y="3474720"/>
            <a:ext cx="5038344" cy="2606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475569"/>
                </a:solidFill>
              </a:rPr>
              <a:t>The last digit of an Aadhaar number is a check digit of the Verhoeff dihedral-group scheme. It catches every single-digit error and adjacent transposition before any database work. Cost: 4.1 microseconds per number.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199632" y="2606040"/>
            <a:ext cx="5440680" cy="361188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Oval 41"/>
          <p:cNvSpPr/>
          <p:nvPr/>
        </p:nvSpPr>
        <p:spPr>
          <a:xfrm>
            <a:off x="6400800" y="2788920"/>
            <a:ext cx="502920" cy="502920"/>
          </a:xfrm>
          <a:prstGeom prst="ellipse">
            <a:avLst/>
          </a:prstGeom>
          <a:solidFill>
            <a:srgbClr val="1BAF7A"/>
          </a:solidFill>
          <a:ln w="9525">
            <a:solidFill>
              <a:srgbClr val="1BAF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</a:rPr>
              <a:t>H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040880" y="2761488"/>
            <a:ext cx="44348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F172A"/>
                </a:solidFill>
              </a:rPr>
              <a:t>Hashed, never stored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00800" y="3474720"/>
            <a:ext cx="5038344" cy="2606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475569"/>
                </a:solidFill>
              </a:rPr>
              <a:t>The registry stores sha256(salt + pepper + number) and a masked form (XXXX-XXXX-last four). The voter sees only the masked number. Failed attempts are audited and limited to 15 per minute per IP.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Cryptographic and ledger design (no ML model)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  <p:graphicFrame>
        <p:nvGraphicFramePr>
          <p:cNvPr id="26" name="Table 25"/>
          <p:cNvGraphicFramePr>
            <a:graphicFrameLocks noGrp="1"/>
          </p:cNvGraphicFramePr>
          <p:nvPr/>
        </p:nvGraphicFramePr>
        <p:xfrm>
          <a:off x="548640" y="1371600"/>
          <a:ext cx="11091672" cy="3950208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194560"/>
                <a:gridCol w="5760720"/>
                <a:gridCol w="3136392"/>
              </a:tblGrid>
              <a:tr h="658368"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Component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Configuration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Role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1B2A4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0F172A"/>
                          </a:solidFill>
                        </a:rPr>
                        <a:t>Passwords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F172A"/>
                          </a:solidFill>
                        </a:rPr>
                        <a:t>Argon2id (argon2-cffi defaults)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F172A"/>
                          </a:solidFill>
                        </a:rPr>
                        <a:t>login verification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0F172A"/>
                          </a:solidFill>
                        </a:rPr>
                        <a:t>Aadhaar lookup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F172A"/>
                          </a:solidFill>
                        </a:rPr>
                        <a:t>salted and peppered SHA-256 + Verhoeff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F172A"/>
                          </a:solidFill>
                        </a:rPr>
                        <a:t>registry membership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0F172A"/>
                          </a:solidFill>
                        </a:rPr>
                        <a:t>Ballot secrecy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F172A"/>
                          </a:solidFill>
                        </a:rPr>
                        <a:t>AES-256-GCM, 12-byte random nonce, one election key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F172A"/>
                          </a:solidFill>
                        </a:rPr>
                        <a:t>encrypts the candidate id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0F172A"/>
                          </a:solidFill>
                        </a:rPr>
                        <a:t>Signatures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F172A"/>
                          </a:solidFill>
                        </a:rPr>
                        <a:t>Ed25519: one system key for transactions, three validator keys for blocks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F172A"/>
                          </a:solidFill>
                        </a:rPr>
                        <a:t>authenticity of tx and block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0F172A"/>
                          </a:solidFill>
                        </a:rPr>
                        <a:t>Ledger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F172A"/>
                          </a:solidFill>
                        </a:rPr>
                        <a:t>SHA-256 hash chain, flat Merkle root, quorum 2 of 3 validators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F172A"/>
                          </a:solidFill>
                        </a:rPr>
                        <a:t>tamper evidence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7" name="Rounded Rectangle 26"/>
          <p:cNvSpPr/>
          <p:nvPr/>
        </p:nvSpPr>
        <p:spPr>
          <a:xfrm>
            <a:off x="548640" y="5440680"/>
            <a:ext cx="3474720" cy="91440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Rectangle 27"/>
          <p:cNvSpPr/>
          <p:nvPr/>
        </p:nvSpPr>
        <p:spPr>
          <a:xfrm>
            <a:off x="548640" y="5440680"/>
            <a:ext cx="73152" cy="91440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749808" y="5532120"/>
            <a:ext cx="32004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 i="0">
                <a:solidFill>
                  <a:srgbClr val="0F172A"/>
                </a:solidFill>
              </a:rPr>
              <a:t>3 validators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9808" y="5971032"/>
            <a:ext cx="320040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475569"/>
                </a:solidFill>
              </a:rPr>
              <a:t>in-process Ed25519 keys on one server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297680" y="5440680"/>
            <a:ext cx="3474720" cy="91440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Rectangle 31"/>
          <p:cNvSpPr/>
          <p:nvPr/>
        </p:nvSpPr>
        <p:spPr>
          <a:xfrm>
            <a:off x="4297680" y="5440680"/>
            <a:ext cx="73152" cy="914400"/>
          </a:xfrm>
          <a:prstGeom prst="rect">
            <a:avLst/>
          </a:prstGeom>
          <a:solidFill>
            <a:srgbClr val="1BA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4498848" y="5532120"/>
            <a:ext cx="32004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 i="0">
                <a:solidFill>
                  <a:srgbClr val="0F172A"/>
                </a:solidFill>
              </a:rPr>
              <a:t>2 of 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498848" y="5971032"/>
            <a:ext cx="320040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475569"/>
                </a:solidFill>
              </a:rPr>
              <a:t>approvals commit a block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046720" y="5440680"/>
            <a:ext cx="3593592" cy="91440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Rectangle 35"/>
          <p:cNvSpPr/>
          <p:nvPr/>
        </p:nvSpPr>
        <p:spPr>
          <a:xfrm>
            <a:off x="8046720" y="5440680"/>
            <a:ext cx="73152" cy="914400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8247888" y="5532120"/>
            <a:ext cx="3319272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 i="0">
                <a:solidFill>
                  <a:srgbClr val="0F172A"/>
                </a:solidFill>
              </a:rPr>
              <a:t>1 tx / block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47888" y="5971032"/>
            <a:ext cx="3319272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475569"/>
                </a:solidFill>
              </a:rPr>
              <a:t>one vote per block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configuration (no training step)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  <p:graphicFrame>
        <p:nvGraphicFramePr>
          <p:cNvPr id="26" name="Table 25"/>
          <p:cNvGraphicFramePr>
            <a:graphicFrameLocks noGrp="1"/>
          </p:cNvGraphicFramePr>
          <p:nvPr/>
        </p:nvGraphicFramePr>
        <p:xfrm>
          <a:off x="548640" y="1188720"/>
          <a:ext cx="11091672" cy="274320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194560"/>
                <a:gridCol w="8897112"/>
              </a:tblGrid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Setting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Value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1B2A41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0F172A"/>
                          </a:solidFill>
                        </a:rPr>
                        <a:t>One-time token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F172A"/>
                          </a:solidFill>
                        </a:rPr>
                        <a:t>secrets.token_urlsafe(32); stored as SHA-256; expires after 10 minutes; one per election and voter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0F172A"/>
                          </a:solidFill>
                        </a:rPr>
                        <a:t>Rate limits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F172A"/>
                          </a:solidFill>
                        </a:rPr>
                        <a:t>10 logins and 15 verifications per 60 s per client IP (in memory)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0F172A"/>
                          </a:solidFill>
                        </a:rPr>
                        <a:t>Session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F172A"/>
                          </a:solidFill>
                        </a:rPr>
                        <a:t>server-side store, cookie aegis_session HttpOnly, SameSite=lax; CSRF token in X-CSRF-Token on every POST; no Secure flag (plain HTTP)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0F172A"/>
                          </a:solidFill>
                        </a:rPr>
                        <a:t>Ledger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F172A"/>
                          </a:solidFill>
                        </a:rPr>
                        <a:t>3 validators, quorum 2, one transaction per block, genesis block at index 0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0F172A"/>
                          </a:solidFill>
                        </a:rPr>
                        <a:t>Machine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F172A"/>
                          </a:solidFill>
                        </a:rPr>
                        <a:t>3.11.9 on Windows 11, Intel i5-12500 (6 cores, 12 threads), 15.7 GB RAM; PC shared with other jobs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27" name="Picture 26" descr="f05_micro_timings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2040" y="4160520"/>
            <a:ext cx="5334000" cy="228600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7223760" y="4434840"/>
            <a:ext cx="438912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0F172A"/>
                </a:solidFill>
              </a:rPr>
              <a:t>Argon2id hash 80 ms and verify 83 ms dominate; AES-GCM, SHA-256 and Ed25519 sign cost under 0.2 ms each. The cryptography of a vote is not the bottleneck.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Decision logic: casting and auditing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  <p:pic>
        <p:nvPicPr>
          <p:cNvPr id="26" name="Picture 25" descr="10_flowchart_cast_vot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319479"/>
            <a:ext cx="5120640" cy="4813401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5852160" y="1371600"/>
            <a:ext cx="5760720" cy="4846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56032" indent="-201168">
              <a:spcAft>
                <a:spcPts val="900"/>
              </a:spcAft>
              <a:buChar char="•"/>
            </a:pPr>
            <a:r>
              <a:rPr sz="1500" b="1" i="0">
                <a:solidFill>
                  <a:srgbClr val="0F172A"/>
                </a:solidFill>
              </a:rPr>
              <a:t>cast_vote.</a:t>
            </a:r>
            <a:r>
              <a:rPr sz="1500" b="0" i="0">
                <a:solidFill>
                  <a:srgbClr val="0F172A"/>
                </a:solidFill>
              </a:rPr>
              <a:t> Election OPEN and candidate active; token hash matches, unused, not expired; no participation row. Then encrypt, hash, sign.</a:t>
            </a:r>
          </a:p>
          <a:p>
            <a:pPr algn="l" marL="256032" indent="-201168">
              <a:spcAft>
                <a:spcPts val="900"/>
              </a:spcAft>
              <a:buChar char="•"/>
            </a:pPr>
            <a:r>
              <a:rPr sz="1500" b="1" i="0">
                <a:solidFill>
                  <a:srgbClr val="0F172A"/>
                </a:solidFill>
              </a:rPr>
              <a:t>propose_block.</a:t>
            </a:r>
            <a:r>
              <a:rPr sz="1500" b="0" i="0">
                <a:solidFill>
                  <a:srgbClr val="0F172A"/>
                </a:solidFill>
              </a:rPr>
              <a:t> Each validator checks schema, new nonce, new transaction hash and signature, then signs the block hash. At least 2 of 3 approve, or a ValueError rejects the block and the token stays unused.</a:t>
            </a:r>
          </a:p>
          <a:p>
            <a:pPr algn="l" marL="256032" indent="-201168">
              <a:spcAft>
                <a:spcPts val="900"/>
              </a:spcAft>
              <a:buChar char="•"/>
            </a:pPr>
            <a:r>
              <a:rPr sz="1500" b="1" i="0">
                <a:solidFill>
                  <a:srgbClr val="0F172A"/>
                </a:solidFill>
              </a:rPr>
              <a:t>validate_chain.</a:t>
            </a:r>
            <a:r>
              <a:rPr sz="1500" b="0" i="0">
                <a:solidFill>
                  <a:srgbClr val="0F172A"/>
                </a:solidFill>
              </a:rPr>
              <a:t> Recomputes the Merkle root, block hash and previous-hash link of every block; returns the first failing field.</a:t>
            </a:r>
          </a:p>
          <a:p>
            <a:pPr algn="l" marL="256032" indent="-201168">
              <a:spcAft>
                <a:spcPts val="400"/>
              </a:spcAft>
              <a:buChar char="•"/>
            </a:pPr>
            <a:r>
              <a:rPr sz="1500" b="1" i="0">
                <a:solidFill>
                  <a:srgbClr val="0F172A"/>
                </a:solidFill>
              </a:rPr>
              <a:t>Not covered.</a:t>
            </a:r>
            <a:r>
              <a:rPr sz="1500" b="0" i="0">
                <a:solidFill>
                  <a:srgbClr val="0F172A"/>
                </a:solidFill>
              </a:rPr>
              <a:t> Validator signatures, transaction hashes against their fields, the ballots table and a dropped tip block (see testing).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flow and modules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  <p:pic>
        <p:nvPicPr>
          <p:cNvPr id="26" name="Picture 25" descr="04_dfd_level1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609344"/>
            <a:ext cx="5943600" cy="4279392"/>
          </a:xfrm>
          <a:prstGeom prst="rect">
            <a:avLst/>
          </a:prstGeom>
        </p:spPr>
      </p:pic>
      <p:graphicFrame>
        <p:nvGraphicFramePr>
          <p:cNvPr id="27" name="Table 26"/>
          <p:cNvGraphicFramePr>
            <a:graphicFrameLocks noGrp="1"/>
          </p:cNvGraphicFramePr>
          <p:nvPr/>
        </p:nvGraphicFramePr>
        <p:xfrm>
          <a:off x="6583680" y="1280160"/>
          <a:ext cx="5056632" cy="4279392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651760"/>
                <a:gridCol w="2404872"/>
              </a:tblGrid>
              <a:tr h="475488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Module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Role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1B2A41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F172A"/>
                          </a:solidFill>
                        </a:rPr>
                        <a:t>identity/provider, verhoeff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F172A"/>
                          </a:solidFill>
                        </a:rPr>
                        <a:t>Aadhaar checks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F172A"/>
                          </a:solidFill>
                        </a:rPr>
                        <a:t>services/voting_service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F172A"/>
                          </a:solidFill>
                        </a:rPr>
                        <a:t>token, cast, tally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F172A"/>
                          </a:solidFill>
                        </a:rPr>
                        <a:t>ledger/ledger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F172A"/>
                          </a:solidFill>
                        </a:rPr>
                        <a:t>blocks, quorum, validate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F172A"/>
                          </a:solidFill>
                        </a:rPr>
                        <a:t>security/crypto, auth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F172A"/>
                          </a:solidFill>
                        </a:rPr>
                        <a:t>AES, Ed25519, Argon2id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F172A"/>
                          </a:solidFill>
                        </a:rPr>
                        <a:t>security/sessions, rate_limit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F172A"/>
                          </a:solidFill>
                        </a:rPr>
                        <a:t>cookie session, throttling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F172A"/>
                          </a:solidFill>
                        </a:rPr>
                        <a:t>services/audit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F172A"/>
                          </a:solidFill>
                        </a:rPr>
                        <a:t>audit log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F172A"/>
                          </a:solidFill>
                        </a:rPr>
                        <a:t>api_v1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F172A"/>
                          </a:solidFill>
                        </a:rPr>
                        <a:t>21 JSON routes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F172A"/>
                          </a:solidFill>
                        </a:rPr>
                        <a:t>benchmarks/run_benchmark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F172A"/>
                          </a:solidFill>
                        </a:rPr>
                        <a:t>latency and throughput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Database design and UML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  <p:pic>
        <p:nvPicPr>
          <p:cNvPr id="26" name="Picture 25" descr="09_er_diagram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5617" y="1188720"/>
            <a:ext cx="4969565" cy="4572000"/>
          </a:xfrm>
          <a:prstGeom prst="rect">
            <a:avLst/>
          </a:prstGeom>
        </p:spPr>
      </p:pic>
      <p:pic>
        <p:nvPicPr>
          <p:cNvPr id="27" name="Picture 26" descr="06_uml_clas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31573" y="1188720"/>
            <a:ext cx="4967653" cy="516636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548640" y="5806440"/>
            <a:ext cx="53949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1">
                <a:solidFill>
                  <a:srgbClr val="475569"/>
                </a:solidFill>
              </a:rPr>
              <a:t>13 tables. UNIQUE(election, voter) on eligibility, authorisation and participation lets the database refuse a second vote.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Technology stack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  <p:graphicFrame>
        <p:nvGraphicFramePr>
          <p:cNvPr id="26" name="Table 25"/>
          <p:cNvGraphicFramePr>
            <a:graphicFrameLocks noGrp="1"/>
          </p:cNvGraphicFramePr>
          <p:nvPr/>
        </p:nvGraphicFramePr>
        <p:xfrm>
          <a:off x="548640" y="1371600"/>
          <a:ext cx="11091672" cy="448056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194560"/>
                <a:gridCol w="8897112"/>
              </a:tblGrid>
              <a:tr h="640080"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Layer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Technology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1B2A41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0F172A"/>
                          </a:solidFill>
                        </a:rPr>
                        <a:t>Backend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F172A"/>
                          </a:solidFill>
                        </a:rPr>
                        <a:t>Python 3.11.9, FastAPI 0.110.0, Uvicorn, Pydantic, SQLAlchemy 2.0.30, SQLite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0F172A"/>
                          </a:solidFill>
                        </a:rPr>
                        <a:t>Cryptography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F172A"/>
                          </a:solidFill>
                        </a:rPr>
                        <a:t>cryptography 42.0.7 (AES-GCM, Ed25519), argon2-cffi 23.1.0 (Argon2id), hashlib SHA-256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0F172A"/>
                          </a:solidFill>
                        </a:rPr>
                        <a:t>Reports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F172A"/>
                          </a:solidFill>
                        </a:rPr>
                        <a:t>reportlab (PDF generation), Jinja2 (original pages)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0F172A"/>
                          </a:solidFill>
                        </a:rPr>
                        <a:t>Front end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F172A"/>
                          </a:solidFill>
                        </a:rPr>
                        <a:t>React 18.3, Vite 8, TypeScript 5.9, Tailwind CSS 4, Radix UI, TanStack Query 5, React Router 7, Recharts 3, Framer Motion, GSAP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0F172A"/>
                          </a:solidFill>
                        </a:rPr>
                        <a:t>Testing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F172A"/>
                          </a:solidFill>
                        </a:rPr>
                        <a:t>pytest (17 tests), FastAPI TestClient, httpx, an HTTP matrix in run_experiments.py, Playwright for screenshots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0F172A"/>
                          </a:solidFill>
                        </a:rPr>
                        <a:t>Run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F172A"/>
                          </a:solidFill>
                        </a:rPr>
                        <a:t>run.bat creates the virtual environment, seeds the database and starts both servers (ports 8401 and 5401)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Implementation progress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  <p:graphicFrame>
        <p:nvGraphicFramePr>
          <p:cNvPr id="26" name="Table 25"/>
          <p:cNvGraphicFramePr>
            <a:graphicFrameLocks noGrp="1"/>
          </p:cNvGraphicFramePr>
          <p:nvPr/>
        </p:nvGraphicFramePr>
        <p:xfrm>
          <a:off x="548640" y="1280160"/>
          <a:ext cx="11091672" cy="4535424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4754880"/>
                <a:gridCol w="1554480"/>
                <a:gridCol w="4782312"/>
              </a:tblGrid>
              <a:tr h="566928"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Component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Status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Evidence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1B2A41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F172A"/>
                          </a:solidFill>
                        </a:rPr>
                        <a:t>Identity check (format, Verhoeff, registry, own id)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F172A"/>
                          </a:solidFill>
                        </a:rPr>
                        <a:t>Done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F172A"/>
                          </a:solidFill>
                        </a:rPr>
                        <a:t>25 of 25 HTTP checks incl. identity cases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F172A"/>
                          </a:solidFill>
                        </a:rPr>
                        <a:t>Token, encrypted ballot, one-vote layers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F172A"/>
                          </a:solidFill>
                        </a:rPr>
                        <a:t>Done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F172A"/>
                          </a:solidFill>
                        </a:rPr>
                        <a:t>duplicate / replay / expired cases rejected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F172A"/>
                          </a:solidFill>
                        </a:rPr>
                        <a:t>Ledger: blocks, 3 validators, quorum, validate_chain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F172A"/>
                          </a:solidFill>
                        </a:rPr>
                        <a:t>Done, gaps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F172A"/>
                          </a:solidFill>
                        </a:rPr>
                        <a:t>7 of 13 tamper cases detected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F172A"/>
                          </a:solidFill>
                        </a:rPr>
                        <a:t>Admin, voter and auditor consoles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F172A"/>
                          </a:solidFill>
                        </a:rPr>
                        <a:t>Done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F172A"/>
                          </a:solidFill>
                        </a:rPr>
                        <a:t>21 JSON routes; 23 screenshots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F172A"/>
                          </a:solidFill>
                        </a:rPr>
                        <a:t>Audit log, rate limiting, CSRF, RBAC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F172A"/>
                          </a:solidFill>
                        </a:rPr>
                        <a:t>Done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F172A"/>
                          </a:solidFill>
                        </a:rPr>
                        <a:t>401 / 403 / 429 verified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F172A"/>
                          </a:solidFill>
                        </a:rPr>
                        <a:t>TLS / Secure cookies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F172A"/>
                          </a:solidFill>
                        </a:rPr>
                        <a:t>Not done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F172A"/>
                          </a:solidFill>
                        </a:rPr>
                        <a:t>plain HTTP, no Secure flag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F172A"/>
                          </a:solidFill>
                        </a:rPr>
                        <a:t>Real UIDAI integration, distributed validators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F172A"/>
                          </a:solidFill>
                        </a:rPr>
                        <a:t>Not done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F172A"/>
                          </a:solidFill>
                        </a:rPr>
                        <a:t>synthetic registry; one-machine ledger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Preliminary results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548640" y="1325880"/>
            <a:ext cx="2606040" cy="114300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ectangle 26"/>
          <p:cNvSpPr/>
          <p:nvPr/>
        </p:nvSpPr>
        <p:spPr>
          <a:xfrm>
            <a:off x="548640" y="1325880"/>
            <a:ext cx="73152" cy="114300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749808" y="1417320"/>
            <a:ext cx="2331720" cy="628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0F172A"/>
                </a:solidFill>
              </a:rPr>
              <a:t>1,000 / 1,000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808" y="1988819"/>
            <a:ext cx="2331720" cy="4343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475569"/>
                </a:solidFill>
              </a:rPr>
              <a:t>votes succeeded in the benchmark, 0 failures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374136" y="1325880"/>
            <a:ext cx="2606040" cy="114300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Rectangle 30"/>
          <p:cNvSpPr/>
          <p:nvPr/>
        </p:nvSpPr>
        <p:spPr>
          <a:xfrm>
            <a:off x="3374136" y="1325880"/>
            <a:ext cx="73152" cy="1143000"/>
          </a:xfrm>
          <a:prstGeom prst="rect">
            <a:avLst/>
          </a:prstGeom>
          <a:solidFill>
            <a:srgbClr val="1BA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3575304" y="1417320"/>
            <a:ext cx="2331720" cy="628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0F172A"/>
                </a:solidFill>
              </a:rPr>
              <a:t>45 ms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75304" y="1988819"/>
            <a:ext cx="2331720" cy="4343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475569"/>
                </a:solidFill>
              </a:rPr>
              <a:t>mean per vote on the shared PC (16-17 ms idle)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199631" y="1325880"/>
            <a:ext cx="2606040" cy="114300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Rectangle 34"/>
          <p:cNvSpPr/>
          <p:nvPr/>
        </p:nvSpPr>
        <p:spPr>
          <a:xfrm>
            <a:off x="6199631" y="1325880"/>
            <a:ext cx="73152" cy="1143000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6400799" y="1417320"/>
            <a:ext cx="2331720" cy="628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0F172A"/>
                </a:solidFill>
              </a:rPr>
              <a:t>161 ms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799" y="1988819"/>
            <a:ext cx="2331720" cy="4343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475569"/>
                </a:solidFill>
              </a:rPr>
              <a:t>whole voter journey over HTTP (mean, 27 voters)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025128" y="1325880"/>
            <a:ext cx="2606040" cy="114300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Rectangle 38"/>
          <p:cNvSpPr/>
          <p:nvPr/>
        </p:nvSpPr>
        <p:spPr>
          <a:xfrm>
            <a:off x="9025128" y="1325880"/>
            <a:ext cx="73152" cy="1143000"/>
          </a:xfrm>
          <a:prstGeom prst="rect">
            <a:avLst/>
          </a:prstGeom>
          <a:solidFill>
            <a:srgbClr val="6B52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TextBox 39"/>
          <p:cNvSpPr txBox="1"/>
          <p:nvPr/>
        </p:nvSpPr>
        <p:spPr>
          <a:xfrm>
            <a:off x="9226296" y="1417320"/>
            <a:ext cx="2331720" cy="628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0F172A"/>
                </a:solidFill>
              </a:rPr>
              <a:t>7 of 13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226296" y="1988819"/>
            <a:ext cx="2331720" cy="4343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475569"/>
                </a:solidFill>
              </a:rPr>
              <a:t>tamper cases caught by validate_chain</a:t>
            </a:r>
          </a:p>
        </p:txBody>
      </p:sp>
      <p:pic>
        <p:nvPicPr>
          <p:cNvPr id="42" name="Picture 41" descr="f01_benchmark_1000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793704"/>
            <a:ext cx="6492240" cy="2642190"/>
          </a:xfrm>
          <a:prstGeom prst="rect">
            <a:avLst/>
          </a:prstGeom>
        </p:spPr>
      </p:pic>
      <p:pic>
        <p:nvPicPr>
          <p:cNvPr id="43" name="Picture 42" descr="f07_http_latenc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32320" y="3025775"/>
            <a:ext cx="4480560" cy="2178050"/>
          </a:xfrm>
          <a:prstGeom prst="rect">
            <a:avLst/>
          </a:prstGeom>
        </p:spPr>
      </p:pic>
      <p:sp>
        <p:nvSpPr>
          <p:cNvPr id="44" name="TextBox 43"/>
          <p:cNvSpPr txBox="1"/>
          <p:nvPr/>
        </p:nvSpPr>
        <p:spPr>
          <a:xfrm>
            <a:off x="548640" y="5623560"/>
            <a:ext cx="11091672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1">
                <a:solidFill>
                  <a:srgbClr val="475569"/>
                </a:solidFill>
              </a:rPr>
              <a:t>The 'async' batches in the benchmark run sequentially, so batch sizes differ only by noise; the base paper's 2-4 s per transaction (read from its charts) is on another chain and machine, so only the order of magnitude is comparable.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Output screens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  <p:pic>
        <p:nvPicPr>
          <p:cNvPr id="26" name="Picture 25" descr="c1_deck_r2s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258252"/>
            <a:ext cx="3611880" cy="2558415"/>
          </a:xfrm>
          <a:prstGeom prst="rect">
            <a:avLst/>
          </a:prstGeom>
          <a:ln w="9525">
            <a:solidFill>
              <a:srgbClr val="D5DCE6"/>
            </a:solidFill>
          </a:ln>
        </p:spPr>
      </p:pic>
      <p:sp>
        <p:nvSpPr>
          <p:cNvPr id="27" name="TextBox 26"/>
          <p:cNvSpPr txBox="1"/>
          <p:nvPr/>
        </p:nvSpPr>
        <p:spPr>
          <a:xfrm>
            <a:off x="548640" y="3931920"/>
            <a:ext cx="36118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 i="1">
                <a:solidFill>
                  <a:srgbClr val="475569"/>
                </a:solidFill>
              </a:rPr>
              <a:t>1  Aadhaar check: masked number, format, Verhoeff, registry</a:t>
            </a:r>
          </a:p>
        </p:txBody>
      </p:sp>
      <p:pic>
        <p:nvPicPr>
          <p:cNvPr id="28" name="Picture 27" descr="c1_deck_r2s1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34255" y="1258252"/>
            <a:ext cx="3611880" cy="2558415"/>
          </a:xfrm>
          <a:prstGeom prst="rect">
            <a:avLst/>
          </a:prstGeom>
          <a:ln w="9525">
            <a:solidFill>
              <a:srgbClr val="D5DCE6"/>
            </a:solidFill>
          </a:ln>
        </p:spPr>
      </p:pic>
      <p:sp>
        <p:nvSpPr>
          <p:cNvPr id="29" name="TextBox 28"/>
          <p:cNvSpPr txBox="1"/>
          <p:nvPr/>
        </p:nvSpPr>
        <p:spPr>
          <a:xfrm>
            <a:off x="4334255" y="3931920"/>
            <a:ext cx="36118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 i="1">
                <a:solidFill>
                  <a:srgbClr val="475569"/>
                </a:solidFill>
              </a:rPr>
              <a:t>2  Receipt: ballot id, transaction hash, block number</a:t>
            </a:r>
          </a:p>
        </p:txBody>
      </p:sp>
      <p:pic>
        <p:nvPicPr>
          <p:cNvPr id="30" name="Picture 29" descr="c1_deck_r2s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19871" y="1258252"/>
            <a:ext cx="3611880" cy="2558415"/>
          </a:xfrm>
          <a:prstGeom prst="rect">
            <a:avLst/>
          </a:prstGeom>
          <a:ln w="9525">
            <a:solidFill>
              <a:srgbClr val="D5DCE6"/>
            </a:solidFill>
          </a:ln>
        </p:spPr>
      </p:pic>
      <p:sp>
        <p:nvSpPr>
          <p:cNvPr id="31" name="TextBox 30"/>
          <p:cNvSpPr txBox="1"/>
          <p:nvPr/>
        </p:nvSpPr>
        <p:spPr>
          <a:xfrm>
            <a:off x="8119871" y="3931920"/>
            <a:ext cx="36118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 i="1">
                <a:solidFill>
                  <a:srgbClr val="475569"/>
                </a:solidFill>
              </a:rPr>
              <a:t>3  Auditor: chain integrity check and tamper demo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4663440"/>
            <a:ext cx="11091672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56032" indent="-201168">
              <a:spcAft>
                <a:spcPts val="600"/>
              </a:spcAft>
              <a:buChar char="•"/>
            </a:pPr>
            <a:r>
              <a:rPr sz="1500" b="0" i="0">
                <a:solidFill>
                  <a:srgbClr val="0F172A"/>
                </a:solidFill>
              </a:rPr>
              <a:t>Real captures of the running React application (1440 x 900) against the demo database: 200 voters, 8 elections, 212 ballots, 213 blocks.</a:t>
            </a:r>
          </a:p>
          <a:p>
            <a:pPr algn="l" marL="256032" indent="-201168">
              <a:spcAft>
                <a:spcPts val="600"/>
              </a:spcAft>
              <a:buChar char="•"/>
            </a:pPr>
            <a:r>
              <a:rPr sz="1500" b="0" i="0">
                <a:solidFill>
                  <a:srgbClr val="0F172A"/>
                </a:solidFill>
              </a:rPr>
              <a:t>The voter flow is three steps: verify identity, choose a candidate, keep the receipt. The same receipt values appear in the auditor's block view.</a:t>
            </a:r>
          </a:p>
          <a:p>
            <a:pPr algn="l" marL="256032" indent="-201168">
              <a:spcAft>
                <a:spcPts val="600"/>
              </a:spcAft>
              <a:buChar char="•"/>
            </a:pPr>
            <a:r>
              <a:rPr sz="1500" b="0" i="0">
                <a:solidFill>
                  <a:srgbClr val="0F172A"/>
                </a:solidFill>
              </a:rPr>
              <a:t>The banner 'Demo verification environment - synthetic data only' is shown on every voter page.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Initial testing and observations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548640" y="1325880"/>
            <a:ext cx="2606040" cy="114300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ectangle 26"/>
          <p:cNvSpPr/>
          <p:nvPr/>
        </p:nvSpPr>
        <p:spPr>
          <a:xfrm>
            <a:off x="548640" y="1325880"/>
            <a:ext cx="73152" cy="1143000"/>
          </a:xfrm>
          <a:prstGeom prst="rect">
            <a:avLst/>
          </a:prstGeom>
          <a:solidFill>
            <a:srgbClr val="1BA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749808" y="1417320"/>
            <a:ext cx="2331720" cy="628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0F172A"/>
                </a:solidFill>
              </a:rPr>
              <a:t>17 / 17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808" y="1988819"/>
            <a:ext cx="2331720" cy="4343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475569"/>
                </a:solidFill>
              </a:rPr>
              <a:t>pytest tests passed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374136" y="1325880"/>
            <a:ext cx="2606040" cy="114300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Rectangle 30"/>
          <p:cNvSpPr/>
          <p:nvPr/>
        </p:nvSpPr>
        <p:spPr>
          <a:xfrm>
            <a:off x="3374136" y="1325880"/>
            <a:ext cx="73152" cy="114300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3575304" y="1417320"/>
            <a:ext cx="2331720" cy="628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0F172A"/>
                </a:solidFill>
              </a:rPr>
              <a:t>25 / 25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75304" y="1988819"/>
            <a:ext cx="2331720" cy="4343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475569"/>
                </a:solidFill>
              </a:rPr>
              <a:t>HTTP security and functional checks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199631" y="1325880"/>
            <a:ext cx="2606040" cy="114300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Rectangle 34"/>
          <p:cNvSpPr/>
          <p:nvPr/>
        </p:nvSpPr>
        <p:spPr>
          <a:xfrm>
            <a:off x="6199631" y="1325880"/>
            <a:ext cx="73152" cy="1143000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6400799" y="1417320"/>
            <a:ext cx="2331720" cy="628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0F172A"/>
                </a:solidFill>
              </a:rPr>
              <a:t>HTTP 429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799" y="1988819"/>
            <a:ext cx="2331720" cy="4343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475569"/>
                </a:solidFill>
              </a:rPr>
              <a:t>login throttled after 10 attempts per 60 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025128" y="1325880"/>
            <a:ext cx="2606040" cy="114300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Rectangle 38"/>
          <p:cNvSpPr/>
          <p:nvPr/>
        </p:nvSpPr>
        <p:spPr>
          <a:xfrm>
            <a:off x="9025128" y="1325880"/>
            <a:ext cx="73152" cy="1143000"/>
          </a:xfrm>
          <a:prstGeom prst="rect">
            <a:avLst/>
          </a:prstGeom>
          <a:solidFill>
            <a:srgbClr val="6B52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TextBox 39"/>
          <p:cNvSpPr txBox="1"/>
          <p:nvPr/>
        </p:nvSpPr>
        <p:spPr>
          <a:xfrm>
            <a:off x="9226296" y="1417320"/>
            <a:ext cx="2331720" cy="628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0F172A"/>
                </a:solidFill>
              </a:rPr>
              <a:t>13 / 13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226296" y="1988819"/>
            <a:ext cx="2331720" cy="4343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475569"/>
                </a:solidFill>
              </a:rPr>
              <a:t>tamper cases caught by a stricter audit</a:t>
            </a:r>
          </a:p>
        </p:txBody>
      </p:sp>
      <p:graphicFrame>
        <p:nvGraphicFramePr>
          <p:cNvPr id="42" name="Table 41"/>
          <p:cNvGraphicFramePr>
            <a:graphicFrameLocks noGrp="1"/>
          </p:cNvGraphicFramePr>
          <p:nvPr/>
        </p:nvGraphicFramePr>
        <p:xfrm>
          <a:off x="548640" y="2743200"/>
          <a:ext cx="11091672" cy="3364992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6217920"/>
                <a:gridCol w="4873752"/>
              </a:tblGrid>
              <a:tr h="841248"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Observation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Action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1B2A41"/>
                    </a:solidFill>
                  </a:tcPr>
                </a:tc>
              </a:tr>
              <a:tr h="841248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F172A"/>
                          </a:solidFill>
                        </a:rPr>
                        <a:t>validate_chain misses edits to the ballots table (the tally source), edits with all hashes recomputed, forged signatures and a dropped tip block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F172A"/>
                          </a:solidFill>
                        </a:rPr>
                        <a:t>Documented; stricter audit built for the study only; fix listed as next step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841248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F172A"/>
                          </a:solidFill>
                        </a:rPr>
                        <a:t>The 'tamper test' button simulates detection on an in-memory copy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F172A"/>
                          </a:solidFill>
                        </a:rPr>
                        <a:t>Stated plainly; the unit test tampers the real database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</a:tr>
              <a:tr h="841248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F172A"/>
                          </a:solidFill>
                        </a:rPr>
                        <a:t>Admin can read a live tally of an open election; voter_participation links voter to ballot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F172A"/>
                          </a:solidFill>
                        </a:rPr>
                        <a:t>Listed as privacy limitations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Challenges and corrective actions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  <p:graphicFrame>
        <p:nvGraphicFramePr>
          <p:cNvPr id="26" name="Table 25"/>
          <p:cNvGraphicFramePr>
            <a:graphicFrameLocks noGrp="1"/>
          </p:cNvGraphicFramePr>
          <p:nvPr/>
        </p:nvGraphicFramePr>
        <p:xfrm>
          <a:off x="548640" y="1371600"/>
          <a:ext cx="11091672" cy="493776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4572000"/>
                <a:gridCol w="6519672"/>
              </a:tblGrid>
              <a:tr h="822960"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</a:rPr>
                        <a:t>Challenge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</a:rPr>
                        <a:t>Corrective action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1B2A41"/>
                    </a:solidFill>
                  </a:tcPr>
                </a:tc>
              </a:tr>
              <a:tr h="822960"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0F172A"/>
                          </a:solidFill>
                        </a:rPr>
                        <a:t>No access to UIDAI; real Aadhaar data must not be used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0F172A"/>
                          </a:solidFill>
                        </a:rPr>
                        <a:t>Synthetic registry with valid Verhoeff check digits behind an interface that a real adapter can replace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0F172A"/>
                          </a:solidFill>
                        </a:rPr>
                        <a:t>Keeping identity apart from the ballot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0F172A"/>
                          </a:solidFill>
                        </a:rPr>
                        <a:t>Token hashed at rest, ballots table without voter id; remaining link in voter_participation measured and disclosed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</a:tr>
              <a:tr h="822960"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0F172A"/>
                          </a:solidFill>
                        </a:rPr>
                        <a:t>Ledger checks weaker than the claim 'immutable'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0F172A"/>
                          </a:solidFill>
                        </a:rPr>
                        <a:t>Tamper study run; gaps reported; stricter audit prototyped in the experiment script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0F172A"/>
                          </a:solidFill>
                        </a:rPr>
                        <a:t>Benchmark noise on a shared PC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0F172A"/>
                          </a:solidFill>
                        </a:rPr>
                        <a:t>Idle runs (16-17 ms) and loaded run (45 ms) both reported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</a:tr>
              <a:tr h="822960"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0F172A"/>
                          </a:solidFill>
                        </a:rPr>
                        <a:t>Base paper's setting differs (Ethereum, biometrics, C#)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0F172A"/>
                          </a:solidFill>
                        </a:rPr>
                        <a:t>Only order-of-magnitude comparison, differences stated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 steps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548640" y="1463040"/>
            <a:ext cx="2606040" cy="420624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Oval 26"/>
          <p:cNvSpPr/>
          <p:nvPr/>
        </p:nvSpPr>
        <p:spPr>
          <a:xfrm>
            <a:off x="749808" y="1645920"/>
            <a:ext cx="502920" cy="502920"/>
          </a:xfrm>
          <a:prstGeom prst="ellipse">
            <a:avLst/>
          </a:prstGeom>
          <a:solidFill>
            <a:srgbClr val="2A78D6"/>
          </a:solidFill>
          <a:ln w="9525">
            <a:solidFill>
              <a:srgbClr val="2A7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89888" y="1618488"/>
            <a:ext cx="16002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F172A"/>
                </a:solidFill>
              </a:rPr>
              <a:t>Harden the audit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808" y="2331720"/>
            <a:ext cx="2203704" cy="32003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475569"/>
                </a:solidFill>
              </a:rPr>
              <a:t>Verify validator signatures, recompute transaction hashes and cross-check ballots against the ledger inside validate_chain.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374136" y="1463040"/>
            <a:ext cx="2606040" cy="420624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Oval 30"/>
          <p:cNvSpPr/>
          <p:nvPr/>
        </p:nvSpPr>
        <p:spPr>
          <a:xfrm>
            <a:off x="3575304" y="1645920"/>
            <a:ext cx="502920" cy="502920"/>
          </a:xfrm>
          <a:prstGeom prst="ellipse">
            <a:avLst/>
          </a:prstGeom>
          <a:solidFill>
            <a:srgbClr val="1BAF7A"/>
          </a:solidFill>
          <a:ln w="9525">
            <a:solidFill>
              <a:srgbClr val="1BAF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215384" y="1618488"/>
            <a:ext cx="16002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F172A"/>
                </a:solidFill>
              </a:rPr>
              <a:t>Improve privacy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75304" y="2331720"/>
            <a:ext cx="2203704" cy="32003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475569"/>
                </a:solidFill>
              </a:rPr>
              <a:t>Per-election keys, break the voter-to-ballot link, and keep tallies sealed until the election closes.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199631" y="1463040"/>
            <a:ext cx="2606040" cy="420624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Oval 34"/>
          <p:cNvSpPr/>
          <p:nvPr/>
        </p:nvSpPr>
        <p:spPr>
          <a:xfrm>
            <a:off x="6400799" y="1645920"/>
            <a:ext cx="502920" cy="502920"/>
          </a:xfrm>
          <a:prstGeom prst="ellipse">
            <a:avLst/>
          </a:prstGeom>
          <a:solidFill>
            <a:srgbClr val="EB6834"/>
          </a:solidFill>
          <a:ln w="9525">
            <a:solidFill>
              <a:srgbClr val="EB68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040879" y="1618488"/>
            <a:ext cx="16002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F172A"/>
                </a:solidFill>
              </a:rPr>
              <a:t>Secure transport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799" y="2331720"/>
            <a:ext cx="2203704" cy="32003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475569"/>
                </a:solidFill>
              </a:rPr>
              <a:t>TLS with Secure cookies, persistent sessions and a shared rate-limit store.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025128" y="1463040"/>
            <a:ext cx="2606040" cy="420624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Oval 38"/>
          <p:cNvSpPr/>
          <p:nvPr/>
        </p:nvSpPr>
        <p:spPr>
          <a:xfrm>
            <a:off x="9226296" y="1645920"/>
            <a:ext cx="502920" cy="502920"/>
          </a:xfrm>
          <a:prstGeom prst="ellipse">
            <a:avLst/>
          </a:prstGeom>
          <a:solidFill>
            <a:srgbClr val="6B52D6"/>
          </a:solidFill>
          <a:ln w="9525">
            <a:solidFill>
              <a:srgbClr val="6B52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866376" y="1618488"/>
            <a:ext cx="16002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F172A"/>
                </a:solidFill>
              </a:rPr>
              <a:t>Evaluate further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226296" y="2331720"/>
            <a:ext cx="2203704" cy="32003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475569"/>
                </a:solidFill>
              </a:rPr>
              <a:t>Concurrent voting test, real multi-node validators, penetration test and a small usability study.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194560"/>
            <a:ext cx="1109441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474720"/>
            <a:ext cx="1109441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and suggestions are welcome.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ADCF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egisBallot">
  <a:themeElements>
    <a:clrScheme name="AegisBallot">
      <a:dk1>
        <a:srgbClr val="0F172A"/>
      </a:dk1>
      <a:lt1>
        <a:srgbClr val="FFFFFF"/>
      </a:lt1>
      <a:dk2>
        <a:srgbClr val="1B2A41"/>
      </a:dk2>
      <a:lt2>
        <a:srgbClr val="EEF2F7"/>
      </a:lt2>
      <a:accent1>
        <a:srgbClr val="2A78D6"/>
      </a:accent1>
      <a:accent2>
        <a:srgbClr val="EB6834"/>
      </a:accent2>
      <a:accent3>
        <a:srgbClr val="1BAF7A"/>
      </a:accent3>
      <a:accent4>
        <a:srgbClr val="EDA100"/>
      </a:accent4>
      <a:accent5>
        <a:srgbClr val="6250D6"/>
      </a:accent5>
      <a:accent6>
        <a:srgbClr val="E34948"/>
      </a:accent6>
      <a:hlink>
        <a:srgbClr val="2A78D6"/>
      </a:hlink>
      <a:folHlink>
        <a:srgbClr val="6250D6"/>
      </a:folHlink>
    </a:clrScheme>
    <a:fontScheme name="AegisBallot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AegisBallot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SECURE VOTING SYSTEM WITH AADHAR VERIFICATION THROUGH BLOCKCHAIN: Review 2</dc:title>
  <dc:subject>Batch C1 (CSE-C)</dc:subject>
  <dc:creator>Mohammed Anwar-Ul-Haq, Mohammad Mosin, Manda Akshitha, Kothlapur Ganesh</dc:creator>
  <cp:lastModifiedBy/>
  <cp:revision>1</cp:revision>
  <dcterms:created xsi:type="dcterms:W3CDTF">2026-10-13T12:40:05Z</dcterms:created>
  <dcterms:modified xsi:type="dcterms:W3CDTF">2026-10-13T12:40:05Z</dcterms:modified>
  <cp:keywords>secure electronic voting, Aadhaar verification, blockchain, cryptographic hashing, RBAC, audit logging</cp:keywords>
  <dc:description/>
</cp:coreProperties>
</file>