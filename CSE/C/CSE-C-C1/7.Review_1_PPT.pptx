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f0aec94-eb0f-294a-de05-1614c3997827}">
          <p14:sldIdLst>
            <p14:sldId id="256"/>
            <p14:sldId id="257"/>
            <p14:sldId id="258"/>
          </p14:sldIdLst>
        </p14:section>
        <p14:section name="Research" id="{c5b655bf-1c78-45d9-2d43-c8947840fc05}">
          <p14:sldIdLst>
            <p14:sldId id="259"/>
            <p14:sldId id="260"/>
            <p14:sldId id="261"/>
          </p14:sldIdLst>
        </p14:section>
        <p14:section name="Problem" id="{c83c02f1-f6cc-56f3-d67e-57d82ce85a28}">
          <p14:sldIdLst>
            <p14:sldId id="262"/>
            <p14:sldId id="263"/>
            <p14:sldId id="264"/>
            <p14:sldId id="265"/>
            <p14:sldId id="266"/>
          </p14:sldIdLst>
        </p14:section>
        <p14:section name="Proposed solution" id="{0d7ed7fb-f0c3-288f-402c-2a68d644f815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tx per second</c:v>
                </c:pt>
              </c:strCache>
            </c:strRef>
          </c:tx>
          <c:spPr>
            <a:solidFill>
              <a:srgbClr val="2A78D6"/>
            </a:solidFill>
          </c:spPr>
          <c:dPt>
            <c:idx val="0"/>
            <c:spPr>
              <a:solidFill>
                <a:srgbClr val="EB6834"/>
              </a:solidFill>
            </c:spPr>
          </c:dPt>
          <c:cat>
            <c:strRef>
              <c:f>Sheet1!$A$2:$A$6</c:f>
              <c:strCache>
                <c:ptCount val="5"/>
                <c:pt idx="0">
                  <c:v>Ethereum</c:v>
                </c:pt>
                <c:pt idx="1">
                  <c:v>Polygon</c:v>
                </c:pt>
                <c:pt idx="2">
                  <c:v>Stellar</c:v>
                </c:pt>
                <c:pt idx="3">
                  <c:v>BNB Chain</c:v>
                </c:pt>
                <c:pt idx="4">
                  <c:v>Tron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119.1</c:v>
                </c:pt>
                <c:pt idx="1">
                  <c:v>714.1</c:v>
                </c:pt>
                <c:pt idx="2">
                  <c:v>1137</c:v>
                </c:pt>
                <c:pt idx="3">
                  <c:v>2222</c:v>
                </c:pt>
                <c:pt idx="4">
                  <c:v>2516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title. One sentence: AegisBallot lets a voter prove identity with a checked Aadhaar number, cast an encrypted ballot that is committed to a hash-chained ledger, and keep a receipt that an auditor can verify. It is a local demonstration, not a national-election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Agenda. This review is about why the problem matters and what is missing in current work; design and measured results come in the later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points: the integrity and identity problem, the combination of Aadhaar-style verification with an append-only ledger, and what is delivered. Say clearly that the registry is synthetic and UIDAI is not contacted.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citation. The base paper builds and times a blockchain voting model for Oman; it concludes that pilots and public-trust studies are needed and names Layer-1 throughput and synthetic data as limits. AegisBallot keeps the idea of a ledger plus a registry but is a different, smaller system, so numbers are never compared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pattern: Ethereum-based models with biometrics (base paper), Aadhaar and hash-chain concepts without performance data, surveys that name privacy and speed as the main issues, and an analysis of a deployed national-ID system. Items 3-5 and 7 were confirmed online from title, authors and abstract only; the complete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points. Real deployments of internet and blockchain-marketed voting have been broken by analysts (Estonia, Voatz). And the base paper itself quotes Ethereum at about 119 transactions per second, far below other chains, which is why a national-scale system would need more than Layer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 ballots are stored on paper, on machines or in one database that a single administrator controls. Blockchain prototypes improve integrity but are slower and rarely linked to a national-ID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limitations. Each maps to a design decision later: identity checked before a ballot, an append-only hash-chained ledger, a measured cost per vote, and an auditor who recomputes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batch survey states the gap as combining a blockchain ledger with national identity verification and a full election administration workflow in one deployable system. We target gaps 2 to 5; gap 6 is a scalability limit we state rather than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statement slowly. The need is a voting platform that verifies identity, records each ballot immutably and produces an independently auditable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from the proposal. Later reviews report which were met; objective 6 mentions TLS, which is not configured in the build, and that will be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steps from identity to audit. The one-voter-one-vote rule does not rest on one check but on four independent ones, any of which stops a second ballot.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Follow the diagram top to bottom: the browser calls the JSON API, the services verify, encrypt and commit, and SQLite holds everything. The ledger is a local simulation of a permissioned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outcomes. The later reviews report measured results (benchmark, tests, tamper study) including what could not be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references, base paper first; the complete numbered list of 31 entries is in the project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is Aadhaar really verified (no - a synthetic local registry, UIDAI is not contacted); is the ledger decentralised (no - three validators on one machine); can an administrator change a vote (the auditor's check catches some edits, not all; the later reviews show the tamper study).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AegisBallot  ·  Review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Voting System with Aadhaar Verification through Blockchain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Permissioned-Ledger E-Voting Platform with Verhoeff-Checked Aadhaar Identity, Encrypted Ballots and Auditor Tools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1  ·  PROBLEM IDENTIFICATION AND RESEARCH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Mohammed Anwar-Ul-Haq  23K91A05F6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Mohammad Mosin  23K91A05F4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Manda Akshitha  23K91A05E4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Kothlapur Ganesh  24K95A0516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 Shruthi,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&amp; Technology  ·  Batch C1 (CSE-C)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Abstract and overview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Literature survey and evidence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Existing system and limitations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Research gap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 statement and objectives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approach and architecture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Expected outcomes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Abstract: a verifiable ballot from login to receipt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75569"/>
                </a:solidFill>
              </a:rPr>
              <a:t>Manual polling means queues, human error and slow counting. Ordinary e-voting keeps ballots in a database an administrator could change without trace, and without identity binding duplicate or ineligible votes cannot be excluded reliably.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Our idea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75569"/>
                </a:solidFill>
              </a:rPr>
              <a:t>Check a 12-digit Aadhaar number (Verhoeff checksum, salted-hash registry), issue a single-use token, encrypt the choice with AES-256-GCM and commit it to a hash-chained ledger approved by 2 of 3 validators.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The deliverable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75569"/>
                </a:solidFill>
              </a:rPr>
              <a:t>AegisBallot: a FastAPI and React web app with administrator, voter and auditor roles, receipts, results and an audit log. A local demonstration with a synthetic registry, not a national-election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11091672" cy="1005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8" y="1353312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A. Shaikh, N. Adhikari, A. Nazir, A. S. Shah, S. Baig and H. Al Shihi, "Blockchain-enhanced electoral integrity: a robust model for secure digital voting systems in Oman," F1000Research, vol. 14, art. 223, 2025, doi: 10.12688/f1000research.160087.3.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49808" y="2697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Four tiers: MySQL, Ethereum nodes (Geth test chain), a C# web tier and client devices. Smart contracts register voters and candidates, cast and count votes; biometric authentication blocks duplicate votes in simulation.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4255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4535423" y="2697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5503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and reported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3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1000 synthetic voters; synchronous and asynchronous transactions in batches of 10, 20, 30 and 50. Times are plotted in figures (about 2 s per registration and 3-4 s per vote, read by eye); no table of values.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1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321040" y="2697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19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Relevance to AegisBallot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Same goal and a similar benchmark design. Different: an Aadhaar-style identity check, a local permissioned ledger instead of Ethereum, an admin and auditor workflow and tamper tests. Results are not directly comparable.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188720"/>
          <a:ext cx="11091672" cy="4937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640080"/>
                <a:gridCol w="4206240"/>
                <a:gridCol w="395935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Reported result / 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Shaikh et al. [1] (base)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Ethereum (Geth test chain) smart contracts; biometric voter authentication; C# clients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1000 synthetic voters; ~2 s / ~3-4 s per registration / vote tx (read from figures)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Chouhan &amp; Sharma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Aadhaar / licence hashed with BLAKE2b-512, fingerprint and picture-rotation factors, hash chain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Concept and demo blocks; no throughput or tamper evaluation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Ray, Ojha &amp; Rhmann [4]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Study of a blockchain-powered electronic voting system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Abstract only available; no numbers used here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Krishan, Raj &amp; Raj [5]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Permissioned ledger, smart contracts, hashing for anonymity, real-time tally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Short preprint; scalability acknowledged as open, claims unverified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Aswini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Review of trust and security challenges; hybrid ZKP / homomorphic / sharding designs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Review, no implementation; lists malware, insiders, verifiability as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Bramasto et al.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DApp on the Vexanium blockchain (PHP 8.2, Apache, PostgreSQL)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Black-box tests passed; only smart contracts, no Ricardian contract or hardening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Jafar et al. [8]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2021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Systematic review of blockchain e-voting proposals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Privacy protection and transaction speed are the most reported issues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Springall et al. [10]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2014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Security analysis of Estonia's internet voting in real use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Found real attack paths against a deployed system with national ID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evidence: why design and testing matter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521208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576072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Theoretical throughput quoted by the base paper (Solana 65,000 not drawn). Context only.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1325880"/>
            <a:ext cx="557784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100"/>
              </a:spcAft>
              <a:buChar char="•"/>
            </a:pPr>
            <a:r>
              <a:rPr sz="1800" b="0" i="0">
                <a:solidFill>
                  <a:srgbClr val="0F172A"/>
                </a:solidFill>
              </a:rPr>
              <a:t>Estonia's internet voting was analysed in real use and attack paths were found [10]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1800" b="0" i="0">
                <a:solidFill>
                  <a:srgbClr val="0F172A"/>
                </a:solidFill>
              </a:rPr>
              <a:t>Voatz, a blockchain-marketed voting app used in U.S. federal elections, had exploitable weaknesses [12]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1800" b="0" i="0">
                <a:solidFill>
                  <a:srgbClr val="0F172A"/>
                </a:solidFill>
              </a:rPr>
              <a:t>Reviews name privacy protection and transaction speed as the most common blockchain-voting issues [8]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1800" b="0" i="0">
                <a:solidFill>
                  <a:srgbClr val="0F172A"/>
                </a:solidFill>
              </a:rPr>
              <a:t>Base paper quotes Ethereum at about 119.1 tx/s against 65,000 tx/s for Solana [1]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1800" b="0" i="0">
                <a:solidFill>
                  <a:srgbClr val="0F172A"/>
                </a:solidFill>
              </a:rPr>
              <a:t>Aadhaar-hash voter identity has been proposed before, without performance data [2]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and current approaches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1925726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Register voter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556662" y="17556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840126" y="1371600"/>
            <a:ext cx="1925726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Check identity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848148" y="17556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131612" y="1371600"/>
            <a:ext cx="1925726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Cast ballot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139635" y="17556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23099" y="1371600"/>
            <a:ext cx="1925726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Store ballot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431121" y="17556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714585" y="1371600"/>
            <a:ext cx="1925726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Count and declare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697480"/>
            <a:ext cx="5440680" cy="3474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749808" y="2880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9888" y="28529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Manual and database voting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3566160"/>
            <a:ext cx="5038344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Paper ballots or electronic machines with manual verification and counting
Central-database e-voting: one administrator controls ballots and results
Identity checks by password or OTP alone, with no one-voter-one-vote binding
Audit by trusting the operator rather than recomputing the record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2697480"/>
            <a:ext cx="5440680" cy="3474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6400800" y="28803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28529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Blockchain prototypes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566160"/>
            <a:ext cx="5038344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Public-chain prototypes: strong integrity but slow, costly, hard to link to identity
Identity is often biometric or concept-level; few include an admin console, an auditor tool and measured tamper tests.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existing methods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087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4813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Slow and error-prone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19456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Queues, human error and slow counting in manual polling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1" y="132588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400799" y="15087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79" y="14813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Editable ballot 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799" y="219456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 database ballot box can be edited without trace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47472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49808" y="365760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9888" y="36301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Weak identity binding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34340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Duplicate or ineligible votes are hard to exclude without identity binding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1" y="347472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6400799" y="365760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79" y="36301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Cost per transaction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799" y="434340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Public chains cost time and fees per transaction (base paper: seconds per tx)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715000"/>
            <a:ext cx="11091672" cy="685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77240" y="571500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</a:rPr>
              <a:t>Also: Observers cannot recompute the result themselves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48640" y="1371600"/>
            <a:ext cx="566928" cy="566928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1280160"/>
            <a:ext cx="10195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0F172A"/>
                </a:solidFill>
              </a:rPr>
              <a:t>Surveyed work establishes blockchain models for electoral integrity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2194560"/>
            <a:ext cx="566928" cy="566928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2103120"/>
            <a:ext cx="10195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0F172A"/>
                </a:solidFill>
              </a:rPr>
              <a:t>Base paper authenticates by biometrics on a test chain; no national-ID check, no admin workflow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2926080"/>
            <a:ext cx="10195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0F172A"/>
                </a:solidFill>
              </a:rPr>
              <a:t>Aadhaar-based proposals show concepts but report no performance or tamper tests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3840479"/>
            <a:ext cx="566928" cy="566928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3749039"/>
            <a:ext cx="10195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0F172A"/>
                </a:solidFill>
              </a:rPr>
              <a:t>Few student-deployable systems join identity, ledger, admin and audit in one app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572000"/>
            <a:ext cx="10195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0F172A"/>
                </a:solidFill>
              </a:rPr>
              <a:t>Ledger checks are rarely tested against edits to the tally source or forged signatures</a:t>
            </a:r>
          </a:p>
        </p:txBody>
      </p:sp>
      <p:sp>
        <p:nvSpPr>
          <p:cNvPr id="36" name="Oval 35"/>
          <p:cNvSpPr/>
          <p:nvPr/>
        </p:nvSpPr>
        <p:spPr>
          <a:xfrm>
            <a:off x="548640" y="5486400"/>
            <a:ext cx="566928" cy="566928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394960"/>
            <a:ext cx="10195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0F172A"/>
                </a:solidFill>
              </a:rPr>
              <a:t>Ethereum's ~119 tx/s (as quoted by the base paper) limits national-scale 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11091672" cy="2651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1463040"/>
            <a:ext cx="1046988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2000" b="0" i="0">
                <a:solidFill>
                  <a:srgbClr val="0F172A"/>
                </a:solidFill>
              </a:rPr>
              <a:t>Manual voting is slow, needs heavy infrastructure and delays results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2000" b="0" i="0">
                <a:solidFill>
                  <a:srgbClr val="0F172A"/>
                </a:solidFill>
              </a:rPr>
              <a:t>Conventional digital voting keeps ballots in a database an administrator could alter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2000" b="0" i="0">
                <a:solidFill>
                  <a:srgbClr val="0F172A"/>
                </a:solidFill>
              </a:rPr>
              <a:t>Without identity binding, duplicate or ineligible voting cannot be prevented reliably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2000" b="0" i="0">
                <a:solidFill>
                  <a:srgbClr val="0F172A"/>
                </a:solidFill>
              </a:rPr>
              <a:t>Voters and observers cannot independently verify that results were not manipulated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2000" b="0" i="0">
                <a:solidFill>
                  <a:srgbClr val="0F172A"/>
                </a:solidFill>
              </a:rPr>
              <a:t>Need: verify identity, record each ballot immutably, produce an auditable result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251960"/>
            <a:ext cx="3520440" cy="1737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43616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0060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Voter credentials, a 12-digit Aadhaar number and a candidate choice; administrator settings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5" y="4251960"/>
            <a:ext cx="3520440" cy="1737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62855" y="43616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5" y="480060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Verify identity, issue a single-use token, encrypt and sign the ballot, commit to the ledger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4251960"/>
            <a:ext cx="3520440" cy="1737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48471" y="43616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480060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 receipt, a tally when the election closes, and a chain an auditor can recompute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11091672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0"/>
              </a:spcAft>
            </a:pPr>
            <a:r>
              <a:rPr sz="2400" b="0" i="0">
                <a:solidFill>
                  <a:srgbClr val="0F172A"/>
                </a:solidFill>
              </a:rPr>
              <a:t>1.  Voter registration and authentication with Aadhaar-based identity verification</a:t>
            </a:r>
          </a:p>
          <a:p>
            <a:pPr algn="l">
              <a:spcAft>
                <a:spcPts val="2000"/>
              </a:spcAft>
            </a:pPr>
            <a:r>
              <a:rPr sz="2400" b="0" i="0">
                <a:solidFill>
                  <a:srgbClr val="0F172A"/>
                </a:solidFill>
              </a:rPr>
              <a:t>2.  One voter, one vote: identity binding plus duplicate checks</a:t>
            </a:r>
          </a:p>
          <a:p>
            <a:pPr algn="l">
              <a:spcAft>
                <a:spcPts val="2000"/>
              </a:spcAft>
            </a:pPr>
            <a:r>
              <a:rPr sz="2400" b="0" i="0">
                <a:solidFill>
                  <a:srgbClr val="0F172A"/>
                </a:solidFill>
              </a:rPr>
              <a:t>3.  Record every ballot immutably with blockchain and cryptographic hashing</a:t>
            </a:r>
          </a:p>
          <a:p>
            <a:pPr algn="l">
              <a:spcAft>
                <a:spcPts val="2000"/>
              </a:spcAft>
            </a:pPr>
            <a:r>
              <a:rPr sz="2400" b="0" i="0">
                <a:solidFill>
                  <a:srgbClr val="0F172A"/>
                </a:solidFill>
              </a:rPr>
              <a:t>4.  Admin portal for elections, candidates and polling windows</a:t>
            </a:r>
          </a:p>
          <a:p>
            <a:pPr algn="l">
              <a:spcAft>
                <a:spcPts val="2000"/>
              </a:spcAft>
            </a:pPr>
            <a:r>
              <a:rPr sz="2400" b="0" i="0">
                <a:solidFill>
                  <a:srgbClr val="0F172A"/>
                </a:solidFill>
              </a:rPr>
              <a:t>5.  Results on close with a complete chronological audit trail</a:t>
            </a:r>
          </a:p>
          <a:p>
            <a:pPr algn="l">
              <a:spcAft>
                <a:spcPts val="2000"/>
              </a:spcAft>
            </a:pPr>
            <a:r>
              <a:rPr sz="2400" b="0" i="0">
                <a:solidFill>
                  <a:srgbClr val="0F172A"/>
                </a:solidFill>
              </a:rPr>
              <a:t>6.  RBAC, input validation, TLS; evaluate integrity and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087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12 digits, Verhoeff checksum, salted SHA-256 lookup in a registry; the number must belong to the signed-in voter and the voter must be eligible.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66160" y="15087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Authorise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A 256-bit single-use token, stored only as a hash, expires after 10 minutes and separates identity from the ballot.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82512" y="15087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AES-256-GCM encrypts the choice; Ed25519 signs the transaction; 2 of 3 validators sign the block.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198864" y="15087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Audit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Auditors recompute hashes and links, browse blocks and read the audit log; results publish on close.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754880"/>
            <a:ext cx="110916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77240" y="5029200"/>
            <a:ext cx="640080" cy="640080"/>
          </a:xfrm>
          <a:prstGeom prst="ellipse">
            <a:avLst/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489204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</a:rPr>
              <a:t>One voter, one vote: four independent layers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5303520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Eligibility row, unique participation row, single-use token and ledger nonce / transaction-hash uniqueness. Built with FastAPI, SQLite and React; no external service is contacted.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proposed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779" y="1097280"/>
            <a:ext cx="6113720" cy="525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89520" y="1371600"/>
            <a:ext cx="4023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F172A"/>
                </a:solidFill>
              </a:rPr>
              <a:t>Four tiers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Presentation: React and Vite web app (port 5401).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Application: FastAPI service (port 8401) with session cookie, CSRF header, role checks and rate limits.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Services: identity provider, voting service, crypto helpers, audit log and the local ledger with three validators.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Data: one SQLite database of 13 tables and three key files; nothing leaves the machine.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and contributions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2331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Working 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75569"/>
                </a:solidFill>
              </a:rPr>
              <a:t>A working web app from login to receipt, results and auditor 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2331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One vote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75569"/>
                </a:solidFill>
              </a:rPr>
              <a:t>Four independent layers that block a second vote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2331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Detectable edits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75569"/>
                </a:solidFill>
              </a:rPr>
              <a:t>A ledger whose edits an auditor can detect and locate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931920"/>
            <a:ext cx="544068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49808" y="411480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40873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Measured, with gaps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800600"/>
            <a:ext cx="5038344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75569"/>
                </a:solidFill>
              </a:rPr>
              <a:t>Measured latency, throughput and tamper-detection results, gaps stated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1" y="3931920"/>
            <a:ext cx="544068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6400799" y="411480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79" y="40873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Local demonstration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799" y="4800600"/>
            <a:ext cx="5038344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75569"/>
                </a:solidFill>
              </a:rPr>
              <a:t>A local demonstration, not a national-election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143000"/>
            <a:ext cx="11091672" cy="521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</a:rPr>
              <a:t>[1] A. Shaikh, N. Adhikari, A. Nazir, A. S. Shah, S. Baig and H. Al Shihi, "Blockchain-enhanced electoral integrity: a robust model for secure digital voting systems in Oman," F1000Research, vol. 14, art. 223, version 3, Sep. 2025, doi: 10.12688/f1000research.160087.3.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</a:rPr>
              <a:t>[2] S. Chouhan and G. Sharma, "A new era of elections: leveraging blockchain for fair and transparent voting," arXiv:2502.16127, Feb. 2025.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</a:rPr>
              <a:t>[3] T. Lloyd, D. O Broin and M. Harrigan, "The on-chain and off-chain mechanisms of DAO-to-DAO voting," arXiv:2603.00708, Feb. 2026.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</a:rPr>
              <a:t>[4] M. Ray, V. Ojha and W. Rhmann, "Electronic voting system powered by blockchain technology: a study," SSRN Electronic Journal, 2024, doi: 10.2139/ssrn.4483852. [SSRN lists the posting as May 2023 (ICCS 2023); the batch records 2024.]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</a:rPr>
              <a:t>[5] K. Krishan, S. Raj and P. Raj, "Decentralized trust: a blockchain-based framework for secure electronic voting," SSRN preprint, Mar. 2026.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</a:rPr>
              <a:t>[6] T. Aswini, "Blockchain in electronic voting systems: trust and security challenges," Sci. J. Artif. Intell. Blockchain Technol., vol. 2, no. 4, pp. 69-77, Oct.-Dec. 2025, doi: 10.63345/sjaibt.v2.i4.108.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</a:rPr>
              <a:t>[7] S. Bramasto, S. F. Savitri and E. R. Djuwitaningrum, "Electronic voting (e-voting) sebagai aplikasi terdesentralisasi pada Vexanium blockchain," Faktor Exacta, vol. 17, no. 2, pp. 96-107, Jun. 2024, doi: 10.30998/faktorexacta.v17i2.19405.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</a:rPr>
              <a:t>[8] U. Jafar, M. J. Ab Aziz and Z. Shukur, "Blockchain for electronic voting system - review and open research challenges," Sensors, vol. 21, no. 17, art. 5874, 2021.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</a:rPr>
              <a:t>[10] D. Springall et al., "Security analysis of the Estonian internet voting system," in Proc. ACM SIGSAC Conf. Comput. Commun. Secur. (CCS), 2014, pp. 703-715.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</a:rPr>
              <a:t>[12] M. A. Specter, J. Koppel and D. Weitzner, "The ballot is busted before the blockchain: a security analysis of Voatz, the first internet voting application used in U.S. federal elections," in Proc. 29th USENIX Security Symp., 2020, pp. 1535-1553.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</a:rPr>
              <a:t>[15] S. Nakamoto, "Bitcoin: a peer-to-peer electronic cash system," 2008. [Online]. Available: https://bitcoin.org/bitcoin.pdf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egisBallot">
  <a:themeElements>
    <a:clrScheme name="AegisBallot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AegisBallo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AegisBallo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VOTING SYSTEM WITH AADHAR VERIFICATION THROUGH BLOCKCHAIN: Review 1</dc:title>
  <dc:subject>Batch C1 (CSE-C)</dc:subject>
  <dc:creator>Mohammed Anwar-Ul-Haq, Mohammad Mosin, Manda Akshitha, Kothlapur Ganesh</dc:creator>
  <cp:lastModifiedBy/>
  <cp:revision>1</cp:revision>
  <dcterms:created xsi:type="dcterms:W3CDTF">2026-10-13T12:36:40Z</dcterms:created>
  <dcterms:modified xsi:type="dcterms:W3CDTF">2026-10-13T12:36:40Z</dcterms:modified>
  <cp:keywords>secure electronic voting, Aadhaar verification, blockchain, cryptographic hashing, RBAC, audit logging</cp:keywords>
  <dc:description/>
</cp:coreProperties>
</file>