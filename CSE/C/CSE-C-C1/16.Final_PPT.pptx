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project: AegisBallot, a local e-voting application with Aadhaar-style verification, encrypted ballots and an auditable ledger.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problem, then the system in one breath. Give each number with its protocol and end on the honest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Shaikh et al., F1000Research 2025. We keep the idea of a ledger-backed vote and add national-ID-style identity, an admin and auditor workflow, and a tamper study; we do not use Ethereum.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Representative blockchain-voting work. Entries whose full text could not be read are used only for what their abstracts say.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gaps from the survey. We address identity, administration and audit directly and measure what the ledger check does and does not catch.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statement has three parts: verify identity, record the ballot immutably, and keep the result checkable.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of the proposal. The conclusion states the real status of each; objective 6 (TLS) was not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as one line of boxes and the five design rules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Tiers and storage; the ledger is a module inside the application, not a separate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Workflow, the four-layer one-vote rule and how the system was evaluated.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frank: the registry is synthetic and local. The Verhoeff check catches typing errors, not forged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core algorithm: cast_vote followed by propose_block. Say plainly that the validators are simulated on one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 of verification and casting, and the use cases of voter, administrator and auditor.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Thirteen tables in SQLite. The unique constraints are what the database itself uses to refuse a second vote.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Highlights and the configuration gaps that a real deployment would have to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paper used 1000 synthetic voters too. Stress that the batch bars differ only by load on the PC: the code is sequential.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replaces the confusion matrix: it shows which tampering is detected. It is the most important finding of the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Parameter analysis for a systems project: how cost changes with chain length and which primitive dominates. Batch size has no real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passed, but the tests did not cover concurrency or a penetration test;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a single-machine ledger is not comparable with an Ethereum test chain; the millisecond numbers show only that the local design is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of the running app with 200 voters, 8 elections and 212 ballots in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tally is read from the ballots table; the tamper study shows the ledger check does not cover that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auditor can recompute the chain and inspect every block; the tamper demonstration works on a cloned ledger.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about which objectives were met and what was never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Concrete next steps, ordered by value: close the audit gaps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 with their report numbers; the complete numbered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VOTING SYSTEM WITH AADHAR VERIFICATION THROUGH BLOCKCHAIN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AegisBallot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C1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23K91A05F6   Mohammed Anwar-Ul-Haq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23K91A05F4   Mohammad Mosin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23K91A05E4   Manda Akshitha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24K95A0516   Kothlapur Ganesh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Shruthi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&amp; Technology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Problem Statement &amp; 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Identity Verification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Ballot, Token &amp; Ledger Design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Interaction, Database &amp; Implementation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Benchmark, Tamper Matrix, Parameters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Manual polling is slow and error-prone; conventional e-voting keeps ballots in a database an administrator could alter, and without identity binding duplicate votes cannot be excluded reliably.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AegisBallot: a voter verifies a synthetic Aadhaar number (12 digits, Verhoeff checksum, salted-hash registry), receives a 10-minute single-use token, casts an AES-256-GCM encrypted ballot, and the Ed25519-signed transaction is committed to a hash-chained ledger by 2 of 3 validators.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Admin, voter and auditor roles on FastAPI + React; 17 of 17 tests and 25 of 25 HTTP security checks pass.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Benchmark of 1,000 synthetic voters: 1000 of 1000 votes succeed; mean 44.9 ms per vote on a shared PC (16-17 ms on an idle PC); a full voter journey over HTTP takes 161 ms.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product's integrity check catches 7 of 13 tamper cases; a stricter audit written for the study catches 13 of 13.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done: real UIDAI link, networked validators, TLS, concurrent-vote tests, a user study.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A. Shaikh, N. Adhikari, A. Nazir, A. S. Shah, S. Baig and H. Al Shihi, "Blockchain-enhanced electoral integrity: a robust model for secure digital voting systems in Oman," F1000Research, vol. 14, art. 223, 2025, doi: 10.12688/f1000research.160087.3.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468880"/>
          <a:ext cx="11155680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9326880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paper: Blockchain-enhanced electoral integrity - a robust model for secure digital voting in Oman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Four tiers: MySQL + Ethereum nodes (Geth test chain, Nethereum) + C# web tier + client devices. Smart contracts register voters and candidates, cast and count votes; biometric authentication blocks duplicates (simulation)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1000 synthetic voters (synthetic SSNs, names, addresses); voter registration and vote-casting transactions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Synchronous and asynchronous batches of 10, 20, 30, 50; about 2 s per registration and 3-4 s per vote (read by eye from its Figures 6 and 9; no tabulated values)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Security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Discusses Sybil, 51%, smart-contract and DoS threats; proposes PBFT among approved validators; no attack experiments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Layer-1 throughput (Ethereum about 119 tx/s as quoted), synthetic data, no pilot, public-trust studies needed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4526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640080"/>
                <a:gridCol w="4480560"/>
                <a:gridCol w="39319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Data / finding /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Shaikh et al. [1]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Ethereum (Geth test chain) smart contracts; biometric voter authentication; C# clients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1000 synthetic voters; ~2 s / ~3-4 s per registration / vote tx (read from figures)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Chouhan &amp; Sharma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Aadhaar / licence hashed with BLAKE2b-512, fingerprint and picture-rotation factors, hash chain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Concept and demo blocks; no throughput or tamper 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Ray, Ojha &amp; Rhmann [4]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Study of a blockchain-powered electronic voting system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Abstract only available; no numbers used here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Krishan, Raj &amp; Raj 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Permissioned ledger, smart contracts, hashing for anonymity, real-time tally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Short preprint; scalability acknowledged as open, claims unverified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Aswini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Review of trust and security challenges; hybrid ZKP / homomorphic / sharding designs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Review, no implementation; lists malware, insiders, verifiability as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Bramasto et al.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DApp on the Vexanium blockchain (PHP 8.2, Apache, PostgreSQL)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Black-box tests passed; only smart contracts, no Ricardian contract or hardening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Jafar et al. [8]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Systematic review of blockchain e-voting proposals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Privacy protection and transaction speed are the most reported issues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Springall et al. [10]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2014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Security analysis of Estonia's internet voting in real use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Found real attack paths against a deployed system with national ID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6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Surveyed work establishes blockchain models for electoral integrity</a:t>
            </a:r>
          </a:p>
          <a:p>
            <a:pPr algn="l" marL="256032" indent="-201168">
              <a:spcAft>
                <a:spcPts val="16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Base paper authenticates by biometrics on a test chain; no national-ID check, no admin workflow</a:t>
            </a:r>
          </a:p>
          <a:p>
            <a:pPr algn="l" marL="256032" indent="-201168">
              <a:spcAft>
                <a:spcPts val="16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Aadhaar-based proposals show concepts but report no performance or tamper tests</a:t>
            </a:r>
          </a:p>
          <a:p>
            <a:pPr algn="l" marL="256032" indent="-201168">
              <a:spcAft>
                <a:spcPts val="16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Few student-deployable systems join identity, ledger, admin and audit in one app</a:t>
            </a:r>
          </a:p>
          <a:p>
            <a:pPr algn="l" marL="256032" indent="-201168">
              <a:spcAft>
                <a:spcPts val="16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Ledger checks are rarely tested against edits to the tally source or forged signatures</a:t>
            </a:r>
          </a:p>
          <a:p>
            <a:pPr algn="l" marL="256032" indent="-201168">
              <a:spcAft>
                <a:spcPts val="16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Ethereum's ~119 tx/s (as quoted by the base paper) limits national-scale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155680" cy="210312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Manual voting is slow, needs heavy infrastructure and delays results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Conventional digital voting keeps ballots in a database an administrator could alter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Without identity binding, duplicate or ineligible voting cannot be prevented reliably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Voters and observers cannot independently verify that results were not manipulated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Need: verify identity, record each ballot immutably, produce an auditable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1480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634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Login, a 12-digit Aadhaar number and a candidate choice from an eligible voter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411480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206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6634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An encrypted ballot on a hash-chained ledger, a receipt, a tally and an auditable trail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11480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206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6634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Audit log of every action; chain, blocks and benchmarks open to the auditor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Voter registration and authentication with Aadhaar-based identity verification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One voter, one vote: identity binding plus duplicate checks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Record every ballot immutably with blockchain and cryptographic hashing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Admin portal for elections, candidates and polling windows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Results on close with a complete chronological audit trail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RBAC, input validation, TLS; evaluate integrity and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630680" cy="10058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Sign 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70175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07919" y="1783080"/>
            <a:ext cx="1630680" cy="10058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Verify Aadhaar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75175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12919" y="1783080"/>
            <a:ext cx="1630680" cy="10058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One-time token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0175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19" y="1783080"/>
            <a:ext cx="1630680" cy="10058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Encrypt + sign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85175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22920" y="1783080"/>
            <a:ext cx="1630680" cy="10058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Ledger block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790175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27919" y="1783080"/>
            <a:ext cx="1630680" cy="10058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Receipt +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6324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Verify Aadhaar locally: 12 digits, Verhoeff checksum, salted-hash registry lookup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Issue a one-time token (hashed, 10 min) that separates identity from the ballot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Encrypt the choice with AES-256-GCM; sign the transaction with Ed25519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Commit each ballot to a hash-chained ledger approved by 2 of 3 validators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Give admin, voter and auditor roles with CSRF, rate limiting and an audit log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local demonstration: no UIDAI call, no public chain; the interface labels it a demo verification environment.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097" y="1645920"/>
            <a:ext cx="5422604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828800"/>
            <a:ext cx="32918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Web app: React + Vite on port 5401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API: FastAPI on port 8401, 21 JSON routes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Services: identity, voting, crypto, audit, ledger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Storage: SQLite, 13 tables, plus key files in data/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Everything runs on one machine; nothing is sent to an outside service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Login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30690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22714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Aadhaar check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50484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2508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Token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70278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62302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Encrypt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790073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82097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Sign + propose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09867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01891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2-of-3 commit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29661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21685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108960"/>
            <a:ext cx="111556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vote per voter is enforced four ways: eligibility row, unique participation row, single-use token, and ledger nonce / transaction-hash uniqueness.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Identity and ballot are separated: the ballot row has no voter id; the token is stored only as a SHA-256 hash.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Controls: Argon2id passwords, server-side session, CSRF header, role checks, rate limits (10 logins and 15 verifications per minute per IP), audit log.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Evaluation: 17 unit tests, 25 HTTP checks, a 13-case tamper study, a 1,000-voter benchmark and latency measurements.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Every number comes from scripts/run_experiments.py, the product's own benchmark or the test run.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Verification: Verhoeff Check and Registry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94229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external datasets: all identities are synthetic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34640"/>
            <a:ext cx="265176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2834640"/>
            <a:ext cx="73152" cy="9601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889504"/>
            <a:ext cx="237744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91509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seeded voters (voter1-20) + admin + auditor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31920"/>
            <a:ext cx="265176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3931920"/>
            <a:ext cx="73152" cy="960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986783"/>
            <a:ext cx="237744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0.007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88789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Verhoeff check + salted hash per Aadhaar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1691640"/>
            <a:ext cx="484632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Steps: strip spaces and dashes; exactly 12 digits; Verhoeff checksum (dihedral-group check over the digits); SHA-256 of salt + pepper + number looked up in voter_profiles.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number must belong to the signed-in account (403 otherwise), the voter must be eligible and not yet have voted.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Only a salted hash and a masked form (XXXX-XXXX-1234) are stored.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Provider interface: DemoAadhaarProvider can be replaced by a real adapter. UIDAI is not contacted; numbers are generated with a valid check digit.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412480" y="1737360"/>
          <a:ext cx="329184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4440"/>
                <a:gridCol w="205740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Choice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Passwords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Argon2id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Ballot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AES-256-GCM, 12-byte nonce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Signatures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Ed25519 (system + 3 validators)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Hashing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SHA-256 chain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Quorum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 of 3 validators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Ballot, Token &amp; Ledger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0_flowchart_cast_v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86" y="1645920"/>
            <a:ext cx="4961106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1783080"/>
            <a:ext cx="58521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Token: 256-bit random, only its SHA-256 stored, valid 10 minutes, one per voter and election.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Ballot: candidate id encrypted with AES-256-GCM; transaction hash = SHA-256 of the canonical JSON; Ed25519 signature.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Block: index, timestamp, previous hash, flat hash of the sorted transaction hashes, block hash, validator signatures; one transaction per block.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Validators: three Ed25519 keys held in the same process; each re-checks schema, nonce and hash uniqueness; two approvals commit.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This simulates a permissioned ledger on one machine; it is not Ethereum and not distributed.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7_sequence_v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77" y="1645920"/>
            <a:ext cx="5422604" cy="4663440"/>
          </a:xfrm>
          <a:prstGeom prst="rect">
            <a:avLst/>
          </a:prstGeom>
        </p:spPr>
      </p:pic>
      <p:pic>
        <p:nvPicPr>
          <p:cNvPr id="8" name="Picture 7" descr="08_use_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015337"/>
            <a:ext cx="5303520" cy="39246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17" y="1645920"/>
            <a:ext cx="4969565" cy="4572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1737360"/>
          <a:ext cx="5120640" cy="37856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283464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users, voter_profiles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accounts; salted Aadhaar hash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elections, candidates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election set-up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voter_eligibility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who may vote, unique per pair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voting_authorizations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hashed single-use tokens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ballots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ciphertext, no voter id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voter_participation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voter + ballot id, unique per pair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ledger_blocks / _transactions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the chain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validator_nodes, audit_logs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public keys; action log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0" y="56235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voter_participation joins a voter to a ballot id, so ballot secrecy is partial (stated as a limitation).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JSON API routes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73736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17 + 25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unit tests + HTTP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73736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React pages (3 role consoles)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73736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5,281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lines of frontend TypeScript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01752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Backend: FastAPI + SQLAlchemy 2 (about 2,091 lines); React 18, TanStack Query, Tailwind 4 frontend; one run.bat starts both servers.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Input checks: Pydantic models, Aadhaar format and checksum, election window and status, candidate must belong to the election.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Auditor tools: integrity check, block explorer, tamper demonstration on a cloned ledger, audit log viewer; admin benchmark page.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Known gaps: sessions and rate limits are in memory, no TLS or Secure cookie flag, keys stored as files in data/.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Benchmark of 1,000 Synthetic Voters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1000 / 1000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votes succeeded, 0 failures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44.9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mean per vote (shared PC)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22.3 ops/s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synchronous throughput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16-17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mean per vote on idle PC (58-62 ops/s)</a:t>
            </a:r>
          </a:p>
        </p:txBody>
      </p:sp>
      <p:pic>
        <p:nvPicPr>
          <p:cNvPr id="23" name="Picture 22" descr="f01_benchmark_1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52183"/>
            <a:ext cx="6766560" cy="2753832"/>
          </a:xfrm>
          <a:prstGeom prst="rect">
            <a:avLst/>
          </a:prstGeom>
        </p:spPr>
      </p:pic>
      <p:pic>
        <p:nvPicPr>
          <p:cNvPr id="24" name="Picture 23" descr="f02_benchmark_ru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9329" y="2834640"/>
            <a:ext cx="4292301" cy="19202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06640" y="4846320"/>
            <a:ext cx="4297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Median 29.4 ms, p95 75.0 ms, max 655 ms. The PC was shared with other jobs; earlier idle runs (50, 200, 500 voters) were about 60 ops/s.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7607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'Batches' of 10, 20, 30 run sequentially in the benchmark code, so differences between them are machine noise, not an effect of batching.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Tamper-Detection Matrix (13 cases)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Picture 6" descr="f06_tamper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6926"/>
            <a:ext cx="6035040" cy="36527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1737360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Product check (validate_chain): 7 of 13 cases detected; stricter audit written for the study: 13 of 13.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Missed by the product: edited ledger payload, edited ballots table (the tally source, tally changes), edit with all hashes recomputed, forged validator signatures, dropped tip block.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stricter audit verifies signatures, recomputes transaction hashes and cross-checks ballots against the ledger.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Keys sit on the same server, so a writer of the files could forge signatures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6072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Each case was applied inside a transaction and rolled back; chain of 361 blocks.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 – Chain Height, Batch Size, Primitives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f03_validate_chain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3083"/>
            <a:ext cx="5394960" cy="2866072"/>
          </a:xfrm>
          <a:prstGeom prst="rect">
            <a:avLst/>
          </a:prstGeom>
        </p:spPr>
      </p:pic>
      <p:pic>
        <p:nvPicPr>
          <p:cNvPr id="8" name="Picture 7" descr="f05_micro_tim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31274"/>
            <a:ext cx="5669280" cy="24296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983480"/>
            <a:ext cx="11155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validate_chain grows linearly: 11 ms at 26 blocks, 146 ms at 301 blocks (about 0.5 ms per block).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Batch size 10 / 20 / 30: 22.5 / 37.5 / 22.3 ops/s on the loaded PC; batches run sequentially, so this is noise.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Primitives: AES-GCM 0.020 ms, Ed25519 sign 0.13 ms, Argon2id verify 83 ms: password hashing dominates login, not the ballot cryptography.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98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0154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login over HTTP (Argon2id)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51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28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0154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Aadhaar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35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0154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cast ballot (block commit)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5156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161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0154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whole voter journey (27 voters)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2926080"/>
          <a:ext cx="111556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6035040"/>
                <a:gridCol w="274320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Test 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What it covers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Unit tests (pytest)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Aadhaar format and checksum, duplicate vote, RBAC, tamper, nonce replay, token expiry, identity separation, audit log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17 of 17 passed in 5.4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HTTP matrix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401 / 403 / 400 / 404 / 429 paths: RBAC, CSRF, wrong or forged Aadhaar, replay, rate limit, injection-style login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25 of 25 as expected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Per-vote stages (in-process)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authorise, encrypt + sign, propose block, persist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11.0 + 0.5 + 16.8 + 9.5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tested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concurrent voters, penetration test, user study, TLS, real UIDAI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" y="58521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Intel Core i5-12500, 15.7 GB, Windows 11; the PC was shared with other jobs. Tests ran against scratch databases, never the demo database.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– different chain and scope)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4096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4389120"/>
                <a:gridCol w="4937760"/>
              </a:tblGrid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AegisBallot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Ledger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Ethereum (Geth test chain), smart contracts, Nethereum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Local permissioned ledger, 3 in-process validators, 2-of-3, SQLite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Identity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Biometric authentication (simulated)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Aadhaar-style 12 digits, Verhoeff + salted-hash registry (synthetic)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Stack / hardware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C# .NET Core 7, MySQL; i7-12700, 16 GB, Windows 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Python FastAPI, React, SQLite; i5-12500, 15.7 GB, shared PC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Test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1000 synthetic voters; batches 10, 20, 30, 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1,000 synthetic voters; sequential batches 10, 20, 30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Time per transaction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about 2 s registration, 3-4 s vote (read by eye from Figs 6, 9)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cast 27-45 ms in-process (loaded PC), 35 ms over HTTP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Security 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Threat discussion; no attack experiments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25 HTTP checks + 13-case tamper study; not decentralised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8521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Different chain, hardware, definition of a transaction and guarantees: the times are an order of magnitude only. No superiority over the base paper is claimed; a local ledger does not offer its decentralisation.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Voter Flow: Aadhaar Verification and Receipt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17_voter_aadhaar_ver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9738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9_voter_rece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9738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the voter enters a 12-digit number against the masked Aadhaar of the account; a token is issued for ten minutes. Right: after the vote the receipt shows ballot id, transaction hash, block number and block hash, never the choice.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Administrator Dashboard and Results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10_admi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9738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4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9738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dashboard with voters, votes cast, ledger height, validators and turnout per election. Right: results of a closed election, counted from the 8 decrypted ballots.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Auditor Ledger View and Block Detail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21_audito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9738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22_auditor_block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9738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chain integrity, validators, integrity check and tamper demonstration. Right: one block with previous hash, Merkle root, block hash and the three validator signatures.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Delivered: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working local e-voting platform from Aadhaar verification to encrypted ballot, ledger block, receipt, results and auditor view; 17 of 17 tests and 25 of 25 HTTP checks pass.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44.9 ms mean per vote at 1,000 voters (shared PC), 161 ms per voter journey over HTTP; the integrity check detects 7 of 13 tamper cases.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Objectives: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objective 2 achieved; 1, 3, 4, 5 and 6 achieved in part or with caveats (identity on a synthetic registry, 7 of 13 tamper cases caught, windows not enforced, TLS not configured).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Limits: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synthetic registry, single-machine ledger, partial ballot secrecy, no TLS, no concurrency test, no user study.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Position: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local demonstration, not a national-election system.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Make validate_chain verify validator signatures, recompute transaction hashes and cross-check the ballots table; use a real Merkle tree.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Separate voter and ballot records so ballots are unlinkable; per-election keys; threshold or homomorphic tallying.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TLS with Secure cookies, persistent sessions, shared rate limiting; OTP or biometric second factor; a real identity-provider adapter.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Validators on separate machines with a network consensus (e.g. PBFT or Raft); PostgreSQL; concurrent-vote and load testing.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Penetration test, usability and accessibility study with real users, and a Layer-2 comparison with the base paper's approach.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A. Shaikh, N. Adhikari, A. Nazir, A. S. Shah, S. Baig and H. Al Shihi, "Blockchain-enhanced electoral integrity: a robust model for secure digital voting systems in Oman," F1000Research, vol. 14, art. 223, version 3, Sep. 2025, doi: 10.12688/f1000research.160087.3.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[2] S. Chouhan and G. Sharma, "A new era of elections: leveraging blockchain for fair and transparent voting," arXiv:2502.16127, Feb. 2025.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[4] M. Ray, V. Ojha and W. Rhmann, "Electronic voting system powered by blockchain technology: a study," SSRN Electronic Journal, 2024, doi: 10.2139/ssrn.4483852. [SSRN lists the posting as May 2023 (ICCS 2023); the batch records 2024.]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[6] T. Aswini, "Blockchain in electronic voting systems: trust and security challenges," Sci. J. Artif. Intell. Blockchain Technol., vol. 2, no. 4, pp. 69-77, Oct.-Dec. 2025, doi: 10.63345/sjaibt.v2.i4.108.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[7] S. Bramasto, S. F. Savitri and E. R. Djuwitaningrum, "Electronic voting (e-voting) sebagai aplikasi terdesentralisasi pada Vexanium blockchain," Faktor Exacta, vol. 17, no. 2, pp. 96-107, Jun. 2024, doi: 10.30998/faktorexacta.v17i2.19405.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[8] U. Jafar, M. J. Ab Aziz and Z. Shukur, "Blockchain for electronic voting system - review and open research challenges," Sensors, vol. 21, no. 17, art. 5874, 2021.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[10] D. Springall et al., "Security analysis of the Estonian internet voting system," in Proc. ACM SIGSAC Conf. Comput. Commun. Secur. (CCS), 2014, pp. 703-715.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[15] S. Nakamoto, "Bitcoin: a peer-to-peer electronic cash system," 2008. [Online]. Available: https://bitcoin.org/bitcoin.pdf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[16] V. Buterin, "A next-generation smart contract and decentralized application platform (Ethereum white paper)," 2014.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[18] M. Castro and B. Liskov, "Practical Byzantine fault tolerance," in Proc. 3rd Symp. Operating Syst. Design Implement. (OSDI), 1999, pp. 173-186.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[20] National Institute of Standards and Technology, "Secure hash standard (SHS)," FIPS PUB 180-4, Aug. 2015.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[21] M. Dworkin, "Recommendation for block cipher modes of operation: Galois/Counter Mode (GCM) and GMAC," NIST Special Publication 800-38D, Nov. 2007.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[22] S. Josefsson and I. Liusvaara, "Edwards-curve digital signature algorithm (EdDSA)," IETF RFC 8032, Jan. 2017.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[23] A. Biryukov, D. Dinu and D. Khovratovich, "Argon2: new generation of memory-hard functions for password hashing and other applications," in Proc. IEEE Eur. Symp. Secur. Privacy (EuroS&amp;P), 2016, pp. 292-302.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egisBallot">
  <a:themeElements>
    <a:clrScheme name="AegisBallo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egisBallot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AegisBallo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Voting System with Aadhaar Verification through Blockchain - Final Review</dc:title>
  <dc:subject>AegisBallot</dc:subject>
  <dc:creator>Batch C1, Dept. of CSE, TKRCET</dc:creator>
  <cp:lastModifiedBy>Batch D1, Dept. of CSE, TKRCET</cp:lastModifiedBy>
  <cp:revision>1</cp:revision>
  <dcterms:created xsi:type="dcterms:W3CDTF">2026-10-07T05:03:03Z</dcterms:created>
  <dcterms:modified xsi:type="dcterms:W3CDTF">2026-10-07T05:03:03Z</dcterms:modified>
  <dc:description/>
  <cp:keywords>secure e-voting, Aadhaar verification, blockchain ledger, AES-GCM, Ed25519, audit</cp:keywords>
</cp:coreProperties>
</file>