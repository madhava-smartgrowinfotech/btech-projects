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LSTM trend accuracy, %</c:v>
                </c:pt>
              </c:strCache>
            </c:strRef>
          </c:tx>
          <c:spPr>
            <a:solidFill>
              <a:srgbClr val="2A78D6"/>
            </a:solidFill>
          </c:spPr>
          <c:dPt>
            <c:idx val="2"/>
            <c:spPr>
              <a:solidFill>
                <a:srgbClr val="EB6834"/>
              </a:solidFill>
            </c:spPr>
          </c:dPt>
          <c:cat>
            <c:strRef>
              <c:f>Sheet1!$A$2:$A$6</c:f>
              <c:strCache>
                <c:ptCount val="5"/>
                <c:pt idx="0">
                  <c:v>Airbnb</c:v>
                </c:pt>
                <c:pt idx="1">
                  <c:v>Google</c:v>
                </c:pt>
                <c:pt idx="2">
                  <c:v>Average (10)</c:v>
                </c:pt>
                <c:pt idx="3">
                  <c:v>Tesla</c:v>
                </c:pt>
                <c:pt idx="4">
                  <c:v>IBM</c:v>
                </c:pt>
              </c:strCache>
            </c:strRef>
          </c:cat>
          <c:val>
            <c:numRef>
              <c:f>Sheet1!$B$2:$B$6</c:f>
              <c:numCache>
                <c:formatCode>General</c:formatCode>
                <c:ptCount val="5"/>
                <c:pt idx="0">
                  <c:v>94.0</c:v>
                </c:pt>
                <c:pt idx="1">
                  <c:v>86.0</c:v>
                </c:pt>
                <c:pt idx="2">
                  <c:v>65.36</c:v>
                </c:pt>
                <c:pt idx="3">
                  <c:v>34.9</c:v>
                </c:pt>
                <c:pt idx="4">
                  <c:v>18.0</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0.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the batch title asks for stock-direction prediction from several sources with Multiple Instance Learning; the base paper is a hybrid LSTM, attention, FinBERT sentiment and federated-averaging forecaster, which QuantPulse implements as a working product.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details and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why price-only models fall short, the multiple-instance idea from the project title, and what was actually built. Be clear that the product forecasts price level and a trend flag; the multiple-instance model was studied offline.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paper is the pipeline QuantPulse implements. Its figures are quoted from its text; its tables are images and are not quoted. Its limitations section is the starting point for our research gap: the news is one averaged number and covers one month.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is the base paper plus four recent works, extended here with the multiple-instance papers the project title comes from. Results are quoted only where we read them in the paper or its abstract; for the survey items without an accessible abstract only the title is used.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numbers are the published evidence that motivates the project. They come from different markets, data and metrics, so they are not compared with each other. Our own measurements start in Review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forecasters use prices alone. Where news is added it is usually one averaged sentiment score per day; the multiple-instance papers treat the day's news as a bag.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four come from the batch problem statement and the base paper's own limitations; the last line is an honest note about the survey items.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 1 is the batch survey's own statement: the explicit multiple-instance treatment of a day's news. Gaps 2 and 3 come from comparing the papers; gap 4 is the project's stated objective; gap 5 is our reading: a naive no-change forecast is rarely reported next to R2.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model that fuses price history with news and sentiment under a multiple-instance formulation.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The final review reports honestly which were met: prices and headlines yes, social-media text no, multiple-instance learning and precision, recall and F1 in an offline study rather than in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website that wraps them. The application does not contain the multiple-instance model; that is studied in a separate offline script.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website calls the API, which serves stored results and live prices; training writes the artefacts. There is no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outcomes we committed to. The measured results, including where they are weaker than the base paper reports, are presented in Review 2 and the final review.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with notes on how each entry was checked,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QuantPulse has no multiple-instance model (it implements the base paper; MIL was studied offline on real headlines); why the sentiment is synthetic (no NewsAPI key); how the work differs from the base paper (two years of data, real-close scoring, a no-change baseline).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QuantPulse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Stock Market Prediction Using Multi-Source Multiple Instance Learning</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Short-term stock trend forecasting with LSTM, attention, news sentiment and simulated federated learning</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Pottepaka Lingaswamy  23K91A05J7</a:t>
            </a:r>
            <a:endParaRPr lang="en-US" sz="1500" dirty="0"/>
          </a:p>
          <a:p>
            <a:pPr indent="0" marL="0">
              <a:buNone/>
            </a:pPr>
            <a:r>
              <a:rPr lang="en-US" sz="1500" dirty="0">
                <a:solidFill>
                  <a:srgbClr val="FFFFFF"/>
                </a:solidFill>
              </a:rPr>
              <a:t>Maduna Naveen Kumar  23K91A05D7</a:t>
            </a:r>
            <a:endParaRPr lang="en-US" sz="1500" dirty="0"/>
          </a:p>
          <a:p>
            <a:pPr indent="0" marL="0">
              <a:buNone/>
            </a:pPr>
            <a:r>
              <a:rPr lang="en-US" sz="1500" dirty="0">
                <a:solidFill>
                  <a:srgbClr val="FFFFFF"/>
                </a:solidFill>
              </a:rPr>
              <a:t>Meedigeri Keerthi  24K95A0517</a:t>
            </a:r>
            <a:endParaRPr lang="en-US" sz="1500" dirty="0"/>
          </a:p>
          <a:p>
            <a:pPr indent="0" marL="0">
              <a:buNone/>
            </a:pPr>
            <a:r>
              <a:rPr lang="en-US" sz="1500" dirty="0">
                <a:solidFill>
                  <a:srgbClr val="FFFFFF"/>
                </a:solidFill>
              </a:rPr>
              <a:t>Mareddy Sai Karthik  23K91A05E8</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K Anusha,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C4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prices alone are not enough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Share prices respond to company results, market mood and news at once. Price-only models ignore the news, labelling every article is impractical and noisy, and volatile, non-stationary prices make forecasts degrade quickly.</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Treat each trading day as a bag of news instances (Multiple Instance Learning) and fuse it with an LSTM over prices to predict up or down, judged by accuracy, precision, recall and F1 against a price-only baseline.</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QuantPulse: the base paper's LSTM, attention, FinBERT sentiment and simulated federated averaging as a ten-ticker FastAPI + React product, plus an offline MIL study on real headlines.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Y. Nejatbakhsh and M. Aliasgari, "Enhancing stock market prediction with hybrid deep learning: Integrating LSTM, transformer attention, federated learning, and sentiment analysis," IEEE Access, vol. 14, pp. 3926-3942, 2026, doi: 10.1109/ACCESS.2025.3649668.</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An LSTM (64 units) over a 20-step OHLCV window, a multi-head attention layer, FinBERT-tone sentiment of news headlines as an extra input, and a simulated federated-averaging stage in which each of ten companies is a client. Baselines: ARIMA, SARIMAX, Prophet, random forest, SVR.</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Average R2 0.91 over ten companies (all above 0.84); baseline LSTM trend accuracy 65.36 % (best: Airbnb 94 %, Google 86 %; worst: Tesla 34.9 %, IBM 18 %). Horizons: 5 and 30 days.</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and limits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Same core pipeline as the product. The paper states its own limits: sentiment covers only 30 days of NewsAPI headlines, federated learning is simulated in one process, and accuracy varies by company. It averages a day's news into one score.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43000"/>
          <a:ext cx="11091672" cy="5029200"/>
        </p:xfrm>
        <a:graphic>
          <a:graphicData uri="http://schemas.openxmlformats.org/drawingml/2006/table">
            <a:tbl>
              <a:tblPr firstRow="0" bandRow="0">
                <a:tableStyleId>{5C22544A-7EE6-4342-B048-85BDC9FD1C3A}</a:tableStyleId>
              </a:tblPr>
              <a:tblGrid>
                <a:gridCol w="2377440"/>
                <a:gridCol w="594360"/>
                <a:gridCol w="4343400"/>
                <a:gridCol w="3776472"/>
              </a:tblGrid>
              <a:tr h="457200">
                <a:tc>
                  <a:txBody>
                    <a:bodyPr wrap="square"/>
                    <a:lstStyle/>
                    <a:p>
                      <a:pPr algn="ctr"/>
                      <a:r>
                        <a:rPr sz="11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000" b="0">
                          <a:solidFill>
                            <a:srgbClr val="0F172A"/>
                          </a:solidFill>
                        </a:rPr>
                        <a:t>Nejatbakhsh, Aliasgari [1]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LSTM + multi-head attention + FinBERT-tone sentiment + simulated FedAvg; ten companies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Average R2 0.91; baseline LSTM trend accuracy 65.36 %; sentiment limited to 30 days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Zhang et al.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Multi-source MIL model: news events, Xueqiu sentiment, index data; Shanghai index</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F1 +6.9 % / +9.2 % over nMIL (2015 / 2016); one Chinese index, event extraction needed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Deng, Yiu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Each trading day is a bag of news instances, bag-level label; S&amp;P 500 direction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Reports better trend accuracy than baselines (abstract); news only, no price branch stated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Liao et al.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Attentive pooling of all daily news with stock-name queries; one model for many stocks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7.11 % lower MAE (0.1913 to 0.1777) with pooling; six TWSE stocks plus BigData23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Officioso et al.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Large-language-model news sentiment combined with market data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Batch survey item; abstract not available, results not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Chang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Financial sentiment and feature fusion for Chinese-market prices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Batch survey item; abstract not available, results not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Xiao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Financial news, text mining and investor sentiment for prediction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Batch survey item; abstract not available, results not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Batch item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Hybrid AI with news, social-media sentiment and corporate indicators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Authors not in Crossref; abstract not available, results not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Fischer, Krauss [18]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LSTM networks for financial market prediction (cited by the base paper for LSTM)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LSTM suited to price sequences; used here only as the LSTM reference, no numbers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Dong et al. (FNSPID) [11]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Large public dataset of financial news aligned with stock prices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Source of the real headlines in this project's offline MIL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from the literature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5577840" cy="448056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806440"/>
            <a:ext cx="5577840" cy="548640"/>
          </a:xfrm>
          <a:prstGeom prst="rect">
            <a:avLst/>
          </a:prstGeom>
          <a:noFill/>
        </p:spPr>
        <p:txBody>
          <a:bodyPr wrap="square" lIns="0" rIns="0" tIns="0" bIns="0" anchor="t">
            <a:spAutoFit/>
          </a:bodyPr>
          <a:lstStyle/>
          <a:p>
            <a:pPr algn="l">
              <a:spcAft>
                <a:spcPts val="400"/>
              </a:spcAft>
            </a:pPr>
            <a:r>
              <a:rPr sz="1200" b="0" i="1">
                <a:solidFill>
                  <a:srgbClr val="475569"/>
                </a:solidFill>
              </a:rPr>
              <a:t>Base paper [1]: price-only LSTM trend accuracy per company (values printed in its text); the spread shows how hard direction is.</a:t>
            </a:r>
          </a:p>
        </p:txBody>
      </p:sp>
      <p:sp>
        <p:nvSpPr>
          <p:cNvPr id="28" name="TextBox 27"/>
          <p:cNvSpPr txBox="1"/>
          <p:nvPr/>
        </p:nvSpPr>
        <p:spPr>
          <a:xfrm>
            <a:off x="6400800" y="1325880"/>
            <a:ext cx="5257800" cy="4572000"/>
          </a:xfrm>
          <a:prstGeom prst="rect">
            <a:avLst/>
          </a:prstGeom>
          <a:noFill/>
        </p:spPr>
        <p:txBody>
          <a:bodyPr wrap="square" lIns="0" rIns="0" tIns="0" bIns="0" anchor="t">
            <a:spAutoFit/>
          </a:bodyPr>
          <a:lstStyle/>
          <a:p>
            <a:pPr algn="l">
              <a:spcAft>
                <a:spcPts val="800"/>
              </a:spcAft>
            </a:pPr>
            <a:r>
              <a:rPr sz="1500" b="1" i="0">
                <a:solidFill>
                  <a:srgbClr val="0F172A"/>
                </a:solidFill>
              </a:rPr>
              <a:t>What the literature shows</a:t>
            </a:r>
          </a:p>
          <a:p>
            <a:pPr algn="l" marL="256032" indent="-201168">
              <a:spcAft>
                <a:spcPts val="800"/>
              </a:spcAft>
              <a:buChar char="•"/>
            </a:pPr>
            <a:r>
              <a:rPr sz="1500" b="0" i="0">
                <a:solidFill>
                  <a:srgbClr val="0F172A"/>
                </a:solidFill>
              </a:rPr>
              <a:t>A day's news can be one bag with a single label, so no article labels are needed: F1 up 6.9 % and 9.2 % over the nMIL baseline (2015, 2016) on the Shanghai index [6].</a:t>
            </a:r>
          </a:p>
          <a:p>
            <a:pPr algn="l" marL="256032" indent="-201168">
              <a:spcAft>
                <a:spcPts val="800"/>
              </a:spcAft>
              <a:buChar char="•"/>
            </a:pPr>
            <a:r>
              <a:rPr sz="1500" b="0" i="0">
                <a:solidFill>
                  <a:srgbClr val="0F172A"/>
                </a:solidFill>
              </a:rPr>
              <a:t>Attentive pooling of all of a day's news lowered MAE from 0.1913 to 0.1777 (7.11 %) [7].</a:t>
            </a:r>
          </a:p>
          <a:p>
            <a:pPr algn="l" marL="256032" indent="-201168">
              <a:spcAft>
                <a:spcPts val="800"/>
              </a:spcAft>
              <a:buChar char="•"/>
            </a:pPr>
            <a:r>
              <a:rPr sz="1500" b="0" i="0">
                <a:solidFill>
                  <a:srgbClr val="0F172A"/>
                </a:solidFill>
              </a:rPr>
              <a:t>The day-as-bag idea has been applied to S&amp;P 500 trend forecasting from financial news [8].</a:t>
            </a:r>
          </a:p>
          <a:p>
            <a:pPr algn="l" marL="256032" indent="-201168">
              <a:spcAft>
                <a:spcPts val="400"/>
              </a:spcAft>
              <a:buChar char="•"/>
            </a:pPr>
            <a:r>
              <a:rPr sz="1500" b="0" i="0">
                <a:solidFill>
                  <a:srgbClr val="0F172A"/>
                </a:solidFill>
              </a:rPr>
              <a:t>Price-only direction is hard and uneven across stocks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Price history (OHLCV)</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ARIMA / ML / LSTM forecaster</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One daily sentiment score</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Price-level forecast</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Price-only and classical models</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ARIMA, SARIMAX, Prophet, random forest and SVR forecast from past prices alone [27], [24], [25], [26].
LSTM models capture temporal dependence [12], [18] but see no news.</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Hybrid and multi-source models</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The base paper adds attention, FinBERT-tone sentiment and simulated federated averaging [1].
Multiple-instance models treat news events as instances of a day-level bag [6],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Ignore the news</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Price-only forecasters ignore the news and opinion that move prices; volatile, non-stationary data make them degrade quickly.</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Short news window</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The base paper's sentiment experiments cover only 30 days because the news API returns a month of history [1].</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Simulated federation</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Federated learning in the base paper is a single-process simulation, and its hybrid results rest on a one-month window [1].</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Narrow multi-source work</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Multiple-instance stock models use event extraction for one Chinese index [6] or news alone [8].</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400" b="0" i="0">
                <a:solidFill>
                  <a:srgbClr val="0F172A"/>
                </a:solidFill>
              </a:rPr>
              <a:t>Several surveyed systems are known by title only; their results could not be verified [2]-[5]. Explanations for a prediction are rarely given.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28016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188720"/>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The base paper averages a day's headlines into one number; it does not treat the day's news as a bag of instances with only a bag-level label</a:t>
            </a:r>
          </a:p>
        </p:txBody>
      </p:sp>
      <p:sp>
        <p:nvSpPr>
          <p:cNvPr id="28" name="Oval 27"/>
          <p:cNvSpPr/>
          <p:nvPr/>
        </p:nvSpPr>
        <p:spPr>
          <a:xfrm>
            <a:off x="548640" y="230428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12848"/>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As far as their descriptions show, the day-bag multiple-instance models [8], [6] are not paired with an LSTM price branch and multi-head attention as in the base paper</a:t>
            </a:r>
          </a:p>
        </p:txBody>
      </p:sp>
      <p:sp>
        <p:nvSpPr>
          <p:cNvPr id="30" name="Oval 29"/>
          <p:cNvSpPr/>
          <p:nvPr/>
        </p:nvSpPr>
        <p:spPr>
          <a:xfrm>
            <a:off x="548640" y="332841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36976"/>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Sentiment is tested over a 30-day window only in the base paper; archived multi-year headline data are not used there [1], [11]</a:t>
            </a:r>
          </a:p>
        </p:txBody>
      </p:sp>
      <p:sp>
        <p:nvSpPr>
          <p:cNvPr id="32" name="Oval 31"/>
          <p:cNvSpPr/>
          <p:nvPr/>
        </p:nvSpPr>
        <p:spPr>
          <a:xfrm>
            <a:off x="548640" y="435254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261104"/>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Reported gains are mostly price-level errors; a direction metric with precision, recall and F1 against a price-only baseline is the project's stated objective</a:t>
            </a:r>
          </a:p>
        </p:txBody>
      </p:sp>
      <p:sp>
        <p:nvSpPr>
          <p:cNvPr id="34" name="Oval 33"/>
          <p:cNvSpPr/>
          <p:nvPr/>
        </p:nvSpPr>
        <p:spPr>
          <a:xfrm>
            <a:off x="548640" y="537667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285232"/>
            <a:ext cx="10195560" cy="914400"/>
          </a:xfrm>
          <a:prstGeom prst="rect">
            <a:avLst/>
          </a:prstGeom>
          <a:noFill/>
        </p:spPr>
        <p:txBody>
          <a:bodyPr wrap="square" lIns="0" rIns="0" tIns="0" bIns="0" anchor="ctr">
            <a:spAutoFit/>
          </a:bodyPr>
          <a:lstStyle/>
          <a:p>
            <a:pPr algn="l">
              <a:spcAft>
                <a:spcPts val="400"/>
              </a:spcAft>
            </a:pPr>
            <a:r>
              <a:rPr sz="1500" b="0" i="0">
                <a:solidFill>
                  <a:srgbClr val="0F172A"/>
                </a:solidFill>
              </a:rPr>
              <a:t>Evaluation against a naive no-change forecast is rarely reported next to R2, although a level forecast one step ahead can score a high R2 by tracking the last price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Price-only models miss the news and sentiment that move markets</a:t>
            </a:r>
          </a:p>
          <a:p>
            <a:pPr algn="l" marL="256032" indent="-201168">
              <a:spcAft>
                <a:spcPts val="800"/>
              </a:spcAft>
              <a:buChar char="•"/>
            </a:pPr>
            <a:r>
              <a:rPr sz="1800" b="0" i="0">
                <a:solidFill>
                  <a:srgbClr val="0F172A"/>
                </a:solidFill>
              </a:rPr>
              <a:t>Labelling each news article individually is impractical and noisy</a:t>
            </a:r>
          </a:p>
          <a:p>
            <a:pPr algn="l" marL="256032" indent="-201168">
              <a:spcAft>
                <a:spcPts val="800"/>
              </a:spcAft>
              <a:buChar char="•"/>
            </a:pPr>
            <a:r>
              <a:rPr sz="1800" b="0" i="0">
                <a:solidFill>
                  <a:srgbClr val="0F172A"/>
                </a:solidFill>
              </a:rPr>
              <a:t>Financial data is volatile and non-stationary, so models degrade quickly</a:t>
            </a:r>
          </a:p>
          <a:p>
            <a:pPr algn="l" marL="256032" indent="-201168">
              <a:spcAft>
                <a:spcPts val="800"/>
              </a:spcAft>
              <a:buChar char="•"/>
            </a:pPr>
            <a:r>
              <a:rPr sz="1800" b="0" i="0">
                <a:solidFill>
                  <a:srgbClr val="0F172A"/>
                </a:solidFill>
              </a:rPr>
              <a:t>Predictions without explanation are not actionable for an investor</a:t>
            </a:r>
          </a:p>
          <a:p>
            <a:pPr algn="l" marL="256032" indent="-201168">
              <a:spcAft>
                <a:spcPts val="800"/>
              </a:spcAft>
              <a:buChar char="•"/>
            </a:pPr>
            <a:r>
              <a:rPr sz="1800" b="0" i="0">
                <a:solidFill>
                  <a:srgbClr val="0F172A"/>
                </a:solidFill>
              </a:rPr>
              <a:t>Need: a prediction model that fuses price history with news and sentiment under a multiple-instance formulation</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Daily OHLCV prices, financial headlines and social-media text for the target stocks, grouped per trading day</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Up or down for the next day; in QuantPulse a 5- and 30-day price forecast with confidence band and a trend flag</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Accuracy, precision, recall and F1 against a price-only baseline; MAE, RMSE and R2 for price level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100" b="0" i="0">
                <a:solidFill>
                  <a:srgbClr val="0F172A"/>
                </a:solidFill>
              </a:rPr>
              <a:t>1.  Collect historical prices together with financial news and social-media text for the target stocks</a:t>
            </a:r>
          </a:p>
          <a:p>
            <a:pPr algn="l">
              <a:spcAft>
                <a:spcPts val="1400"/>
              </a:spcAft>
            </a:pPr>
            <a:r>
              <a:rPr sz="2100" b="0" i="0">
                <a:solidFill>
                  <a:srgbClr val="0F172A"/>
                </a:solidFill>
              </a:rPr>
              <a:t>2.  Preprocess and align the multi-source data into daily instances grouped per trading day</a:t>
            </a:r>
          </a:p>
          <a:p>
            <a:pPr algn="l">
              <a:spcAft>
                <a:spcPts val="1400"/>
              </a:spcAft>
            </a:pPr>
            <a:r>
              <a:rPr sz="2100" b="0" i="0">
                <a:solidFill>
                  <a:srgbClr val="0F172A"/>
                </a:solidFill>
              </a:rPr>
              <a:t>3.  Represent each trading day as a bag of news instances under the Multiple Instance Learning formulation</a:t>
            </a:r>
          </a:p>
          <a:p>
            <a:pPr algn="l">
              <a:spcAft>
                <a:spcPts val="1400"/>
              </a:spcAft>
            </a:pPr>
            <a:r>
              <a:rPr sz="2100" b="0" i="0">
                <a:solidFill>
                  <a:srgbClr val="0F172A"/>
                </a:solidFill>
              </a:rPr>
              <a:t>4.  Train a hybrid model combining sequence learning over prices with attention over news content</a:t>
            </a:r>
          </a:p>
          <a:p>
            <a:pPr algn="l">
              <a:spcAft>
                <a:spcPts val="1400"/>
              </a:spcAft>
            </a:pPr>
            <a:r>
              <a:rPr sz="2100" b="0" i="0">
                <a:solidFill>
                  <a:srgbClr val="0F172A"/>
                </a:solidFill>
              </a:rPr>
              <a:t>5.  Predict directional movement and evaluate with accuracy, precision, recall and F1-score</a:t>
            </a:r>
          </a:p>
          <a:p>
            <a:pPr algn="l">
              <a:spcAft>
                <a:spcPts val="1400"/>
              </a:spcAft>
            </a:pPr>
            <a:r>
              <a:rPr sz="2100" b="0" i="0">
                <a:solidFill>
                  <a:srgbClr val="0F172A"/>
                </a:solidFill>
              </a:rPr>
              <a:t>6.  Compare multi-source performance against a price-only baseline</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400" b="0" i="1">
                <a:solidFill>
                  <a:srgbClr val="475569"/>
                </a:solidFill>
              </a:rPr>
              <a:t>How far each objective was met is reported in the final review; the product covers prices and headlines, the multiple-instance model was studied offline.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Collect</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Yahoo Finance prices for ten tickers; NewsAPI headlines (or a labelled synthetic fallback) scored by FinBERT-tone; real FNSPID headlines for the offline MIL study.</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Model</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LSTM (64 units), 4-head attention, a sentiment channel; for the day-as-bag formulation, gated-attention pooling over headline instances.</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Federate</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Each ticker is a client; weights are averaged proportionally to sample count (FedAvg), simulated in one process as in the base paper.</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Nine models on ten tickers (MAE, RMSE, R2) against a no-change baseline; for the MIL study accuracy, precision, recall and F1 over five seeds.</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FastAPI service + React website: dashboard, forecast, model comparison, news sentiment and method screens</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Results are stored as JSON files; there is no database and no login. A research and education tool, not financial advice.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798246" y="1097280"/>
            <a:ext cx="6998867" cy="5394960"/>
          </a:xfrm>
          <a:prstGeom prst="rect">
            <a:avLst/>
          </a:prstGeom>
        </p:spPr>
      </p:pic>
      <p:sp>
        <p:nvSpPr>
          <p:cNvPr id="27" name="TextBox 26"/>
          <p:cNvSpPr txBox="1"/>
          <p:nvPr/>
        </p:nvSpPr>
        <p:spPr>
          <a:xfrm>
            <a:off x="8321040" y="1371600"/>
            <a:ext cx="3383280" cy="4754880"/>
          </a:xfrm>
          <a:prstGeom prst="rect">
            <a:avLst/>
          </a:prstGeom>
          <a:noFill/>
        </p:spPr>
        <p:txBody>
          <a:bodyPr wrap="square" lIns="0" rIns="0" tIns="0" bIns="0" anchor="t">
            <a:spAutoFit/>
          </a:bodyPr>
          <a:lstStyle/>
          <a:p>
            <a:pPr algn="l">
              <a:spcAft>
                <a:spcPts val="800"/>
              </a:spcAft>
            </a:pPr>
            <a:r>
              <a:rPr sz="1400" b="1" i="0">
                <a:solidFill>
                  <a:srgbClr val="0F172A"/>
                </a:solidFill>
              </a:rPr>
              <a:t>Four tiers</a:t>
            </a:r>
          </a:p>
          <a:p>
            <a:pPr algn="l" marL="256032" indent="-201168">
              <a:spcAft>
                <a:spcPts val="400"/>
              </a:spcAft>
              <a:buChar char="•"/>
            </a:pPr>
            <a:r>
              <a:rPr sz="1400" b="0" i="0">
                <a:solidFill>
                  <a:srgbClr val="0F172A"/>
                </a:solidFill>
              </a:rPr>
              <a:t>Presentation: React and Vite website (port 5404).</a:t>
            </a:r>
          </a:p>
          <a:p>
            <a:pPr algn="l" marL="256032" indent="-201168">
              <a:spcAft>
                <a:spcPts val="400"/>
              </a:spcAft>
              <a:buChar char="•"/>
            </a:pPr>
            <a:r>
              <a:rPr sz="1400" b="0" i="0">
                <a:solidFill>
                  <a:srgbClr val="0F172A"/>
                </a:solidFill>
              </a:rPr>
              <a:t>Application: FastAPI service (port 8404), seven JSON endpoints, input checks.</a:t>
            </a:r>
          </a:p>
          <a:p>
            <a:pPr algn="l" marL="256032" indent="-201168">
              <a:spcAft>
                <a:spcPts val="400"/>
              </a:spcAft>
              <a:buChar char="•"/>
            </a:pPr>
            <a:r>
              <a:rPr sz="1400" b="0" i="0">
                <a:solidFill>
                  <a:srgbClr val="0F172A"/>
                </a:solidFill>
              </a:rPr>
              <a:t>Pipeline: data loader, FinBERT sentiment, baselines, LSTM and attention models, FedAvg, forecast.</a:t>
            </a:r>
          </a:p>
          <a:p>
            <a:pPr algn="l" marL="256032" indent="-201168">
              <a:spcAft>
                <a:spcPts val="400"/>
              </a:spcAft>
              <a:buChar char="•"/>
            </a:pPr>
            <a:r>
              <a:rPr sz="1400" b="0" i="0">
                <a:solidFill>
                  <a:srgbClr val="0F172A"/>
                </a:solidFill>
              </a:rPr>
              <a:t>State: JSON, CSV and Keras files; no database, no authentication.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product</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A website that shows ten tickers, 5- and 30-day forecasts with bands, model comparison and news sentiment, backed by a tested API.</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Model comparison</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Five classical baselines and four deep tiers compared per ticker, with a no-change baseline next to them.</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Scoring against the real closes and a forward test of the stored forecasts on data that followed.</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MIL study</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700" b="0" i="0">
                <a:solidFill>
                  <a:srgbClr val="475569"/>
                </a:solidFill>
              </a:rPr>
              <a:t>A bag-of-headlines study on real news with accuracy, precision, recall and F1 against a price-only baseline.</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700" b="0" i="0">
                <a:solidFill>
                  <a:srgbClr val="475569"/>
                </a:solidFill>
              </a:rPr>
              <a:t>Synthetic fallback headlines, no social-media source, simulated federation: each limit documented, not hidden.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11091672" cy="5303520"/>
          </a:xfrm>
          <a:prstGeom prst="rect">
            <a:avLst/>
          </a:prstGeom>
          <a:noFill/>
        </p:spPr>
        <p:txBody>
          <a:bodyPr wrap="square" lIns="0" rIns="0" tIns="0" bIns="0" anchor="t">
            <a:spAutoFit/>
          </a:bodyPr>
          <a:lstStyle/>
          <a:p>
            <a:pPr algn="l">
              <a:spcAft>
                <a:spcPts val="300"/>
              </a:spcAft>
            </a:pPr>
            <a:r>
              <a:rPr sz="1200" b="0" i="0">
                <a:solidFill>
                  <a:srgbClr val="0F172A"/>
                </a:solidFill>
              </a:rPr>
              <a:t>[1] Y. Nejatbakhsh and M. Aliasgari, "Enhancing stock market prediction with hybrid deep learning: Integrating LSTM, transformer attention, federated learning, and sentiment analysis," IEEE Access, vol. 14, pp. 3926-3942, 2026, doi: 10.1109/ACCESS.2025.3649668.</a:t>
            </a:r>
          </a:p>
          <a:p>
            <a:pPr algn="l">
              <a:spcAft>
                <a:spcPts val="300"/>
              </a:spcAft>
            </a:pPr>
            <a:r>
              <a:rPr sz="1200" b="0" i="0">
                <a:solidFill>
                  <a:srgbClr val="0F172A"/>
                </a:solidFill>
              </a:rPr>
              <a:t>[2] "A hybrid artificial intelligence model for stock market prediction using financial news, social media sentiment, and corporate performance indicators," Revista Electronica de Veterinaria, vol. 25, no. 1, 2024 (as listed in the batch literature survey; authors not available in Crossref).</a:t>
            </a:r>
          </a:p>
          <a:p>
            <a:pPr algn="l">
              <a:spcAft>
                <a:spcPts val="300"/>
              </a:spcAft>
            </a:pPr>
            <a:r>
              <a:rPr sz="1200" b="0" i="0">
                <a:solidFill>
                  <a:srgbClr val="0F172A"/>
                </a:solidFill>
              </a:rPr>
              <a:t>[3] G. Officioso, G. Sperli and A. Vignali, "Financial news sentiment meets market data: A large language model-based approach to stock price prediction," Inf. Sci., vol. 754, Art. no. 123711, Oct. 2026, doi: 10.1016/j.ins.2026.123711.</a:t>
            </a:r>
          </a:p>
          <a:p>
            <a:pPr algn="l">
              <a:spcAft>
                <a:spcPts val="300"/>
              </a:spcAft>
            </a:pPr>
            <a:r>
              <a:rPr sz="1200" b="0" i="0">
                <a:solidFill>
                  <a:srgbClr val="0F172A"/>
                </a:solidFill>
              </a:rPr>
              <a:t>[4] H. Chang, "Multimodal stock price prediction in the Chinese market via financial sentiment analysis and feature fusion," in Proc. 3rd Int. Conf. Data Anal. Mach. Learn., SCITEPRESS, 2025, pp. 211-216, doi: 10.5220/0014761600004818.</a:t>
            </a:r>
          </a:p>
          <a:p>
            <a:pPr algn="l">
              <a:spcAft>
                <a:spcPts val="300"/>
              </a:spcAft>
            </a:pPr>
            <a:r>
              <a:rPr sz="1200" b="0" i="0">
                <a:solidFill>
                  <a:srgbClr val="0F172A"/>
                </a:solidFill>
              </a:rPr>
              <a:t>[5] P. Xiao, "Stock market prediction based on financial news, text data mining, and investor sentiment analysis," Int. J. Inf. Syst. Model. Des., vol. 15, no. 1, pp. 1-13, 2024, doi: 10.4018/ijismd.361593.</a:t>
            </a:r>
          </a:p>
          <a:p>
            <a:pPr algn="l">
              <a:spcAft>
                <a:spcPts val="300"/>
              </a:spcAft>
            </a:pPr>
            <a:r>
              <a:rPr sz="1200" b="0" i="0">
                <a:solidFill>
                  <a:srgbClr val="0F172A"/>
                </a:solidFill>
              </a:rPr>
              <a:t>[6] X. Zhang, S. Qu, J. Huang, B. Fang and P. Yu, "Stock market prediction via multi-source multiple instance learning," IEEE Access, vol. 6, pp. 50720-50728, 2018, doi: 10.1109/ACCESS.2018.2869735.</a:t>
            </a:r>
          </a:p>
          <a:p>
            <a:pPr algn="l">
              <a:spcAft>
                <a:spcPts val="300"/>
              </a:spcAft>
            </a:pPr>
            <a:r>
              <a:rPr sz="1200" b="0" i="0">
                <a:solidFill>
                  <a:srgbClr val="0F172A"/>
                </a:solidFill>
              </a:rPr>
              <a:t>[7] P.-J. Liao, H.-S. Lee, Y.-F. Cheng, L.-W. Chen, H.-y. Lee and H.-M. Wang, "Generalized stock price prediction for multiple stocks combined with news fusion," arXiv:2603.19286, Mar. 2026.</a:t>
            </a:r>
          </a:p>
          <a:p>
            <a:pPr algn="l">
              <a:spcAft>
                <a:spcPts val="300"/>
              </a:spcAft>
            </a:pPr>
            <a:r>
              <a:rPr sz="1200" b="0" i="0">
                <a:solidFill>
                  <a:srgbClr val="0F172A"/>
                </a:solidFill>
              </a:rPr>
              <a:t>[8] Y. Deng and S. M. Yiu, "Deep multiple instance learning for forecasting stock trends using financial news," in Artificial Intelligence Trends, AIRCC, 2022, pp. 95-111, doi: 10.5121/csit.2022.121008 (arXiv:2206.14452).</a:t>
            </a:r>
          </a:p>
          <a:p>
            <a:pPr algn="l">
              <a:spcAft>
                <a:spcPts val="300"/>
              </a:spcAft>
            </a:pPr>
            <a:r>
              <a:rPr sz="1200" b="0" i="0">
                <a:solidFill>
                  <a:srgbClr val="0F172A"/>
                </a:solidFill>
              </a:rPr>
              <a:t>[10] M. Ilse, J. M. Tomczak and M. Welling, "Attention-based deep multiple instance learning," in Proc. 35th Int. Conf. Mach. Learn. (ICML), PMLR, vol. 80, 2018, pp. 2127-2136, arXiv:1802.04712.</a:t>
            </a:r>
          </a:p>
          <a:p>
            <a:pPr algn="l">
              <a:spcAft>
                <a:spcPts val="300"/>
              </a:spcAft>
            </a:pPr>
            <a:r>
              <a:rPr sz="1200" b="0" i="0">
                <a:solidFill>
                  <a:srgbClr val="0F172A"/>
                </a:solidFill>
              </a:rPr>
              <a:t>[11] Z. Dong, X. Fan and Z. Peng, "FNSPID: A comprehensive financial news dataset in time series," in Proc. 30th ACM SIGKDD Conf. Knowl. Discovery Data Mining (KDD), Barcelona, Spain, Aug. 2024, pp. 4918-4927, doi: 10.1145/3637528.3671629.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QuantPulse">
  <a:themeElements>
    <a:clrScheme name="QuantPulse">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Quant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QuantPuls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Market Prediction Using Multi-Source Multiple Instance Learning: Review 1</dc:title>
  <dc:subject>Batch C4 (CSE-C)</dc:subject>
  <dc:creator>Pottepaka Lingaswamy, Maduna Naveen Kumar, Meedigeri Keerthi, Mareddy Sai Karthik</dc:creator>
  <cp:lastModifiedBy/>
  <cp:revision>1</cp:revision>
  <dcterms:created xsi:type="dcterms:W3CDTF">2026-10-13T12:36:40Z</dcterms:created>
  <dcterms:modified xsi:type="dcterms:W3CDTF">2026-10-13T12:36:40Z</dcterms:modified>
  <cp:keywords>stock market prediction, multiple instance learning, LSTM, attention, FinBERT, federated averaging</cp:keywords>
  <dc:description/>
</cp:coreProperties>
</file>