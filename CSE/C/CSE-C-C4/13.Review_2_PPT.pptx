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QuantPulse is designed and built, what is implemented, the first measured results and the open items. QuantPulse implements the hybrid forecasting pipeline of the base paper; multiple instance learning was studied in a separate offline experiment. Introduce the four team members and the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the base paper is the hybrid price-level forecaster; the batch title and objectives ask for multiple instance learning over daily news bags and for accuracy, precision, recall and F1. We say plainly that the product follows the base paper and that the MIL formulation was run offline.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API serves the stored artefacts/metrics.json and forecasts.json; it does not load the saved Keras models at run time. Only the history and sentiment endpoints do live work (a Yahoo Finance download and FinBERT scoring).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command (python -m backend.train) runs the whole ablation per ticker and then the federated stage, then writes the artefacts the API serves.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Prices are real. The headlines inside the product are synthetic unless a NewsAPI key is set, and NewsAPI only returns about a month, which is also why the base paper's sentiment runs cover 30 days. The offline study uses real headlines from the public FNSPID dataset.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make_windows, fit_scalers and apply_scalers in models_dl.py. The clipping and the empty sentiment channel were found while re-running the pipeline and are reported as limitations.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attention in the product runs over the 20 price steps, not over news instances. The MIL model in the offline study attends over headlines.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three rows are the shipped configuration. The last rows describe the added experiments, which reuse the shipped modules unchanged.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mirrors forecast.py (recursive_forecast) and federated.py (fedavg). Because one-step residuals set the band, it widens only with the square root of the horizon and does not reflect model bias.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 1: load data, align sentiment, train baselines and deep tiers, aggregate federated weights, write artefacts, serve them, draw screens.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point: there is no persistence layer and no user model. Everything is regenerated by python -m backend.train.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those installed on the measurement PC. TensorFlow has to be imported before scikit-learn on this machine, so the tests and experiment scripts import it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last four rows are the honest gaps against the batch objectives.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Persistence beats every deep tier on real closes. The app scores test targets clipped to the training range, which inflates direction from 53 to 68 percent. The MIL study on real headlines found no gain over a price-only LSTM: attention MIL minus price-only is +1.3 points with a 95 percent interval of -1.5 to +4.0.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from the running website. The forecast table shows the stored forecast next to the closes that actually followed, so the miss is visible to the user.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run offline with stubs for network and FinBERT; the smoke script drives the live server. Every observation came from running the code and is recorded rather than hidden.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was met by a concrete design choice or by measuring it and saying so in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The first two items address the biggest gaps against the objectives.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the deep models do not beat persistence; why the sentiment tier is worse; where multiple instance learning is; what the offline study found; how the numbers compare with the base paper.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QuantPulse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000" b="1" dirty="0">
                <a:solidFill>
                  <a:srgbClr val="FFFFFF"/>
                </a:solidFill>
                <a:latin typeface="Cambria" pitchFamily="34" charset="0"/>
                <a:ea typeface="Cambria" pitchFamily="34" charset="-122"/>
                <a:cs typeface="Cambria" pitchFamily="34" charset="-120"/>
              </a:rPr>
              <a:t>Stock Market Prediction Using Multi-Source Multiple Instance Learning</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Design, methodology and progress: LSTM, attention, news sentiment and simulated federated learning for short-term stock forecasting</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Pottepaka Lingaswamy  23K91A05J7</a:t>
            </a:r>
            <a:endParaRPr lang="en-US" sz="1500" dirty="0"/>
          </a:p>
          <a:p>
            <a:pPr indent="0" marL="0">
              <a:buNone/>
            </a:pPr>
            <a:r>
              <a:rPr lang="en-US" sz="1500" dirty="0">
                <a:solidFill>
                  <a:srgbClr val="FFFFFF"/>
                </a:solidFill>
              </a:rPr>
              <a:t>Maduna Naveen Kumar  23K91A05D7</a:t>
            </a:r>
            <a:endParaRPr lang="en-US" sz="1500" dirty="0"/>
          </a:p>
          <a:p>
            <a:pPr indent="0" marL="0">
              <a:buNone/>
            </a:pPr>
            <a:r>
              <a:rPr lang="en-US" sz="1500" dirty="0">
                <a:solidFill>
                  <a:srgbClr val="FFFFFF"/>
                </a:solidFill>
              </a:rPr>
              <a:t>Meedigeri Keerthi  24K95A0517</a:t>
            </a:r>
            <a:endParaRPr lang="en-US" sz="1500" dirty="0"/>
          </a:p>
          <a:p>
            <a:pPr indent="0" marL="0">
              <a:buNone/>
            </a:pPr>
            <a:r>
              <a:rPr lang="en-US" sz="1500" dirty="0">
                <a:solidFill>
                  <a:srgbClr val="FFFFFF"/>
                </a:solidFill>
              </a:rPr>
              <a:t>Mareddy Sai Karthik  23K91A05E8</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K Anusha,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C4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datasets</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models</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entities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Progress and preliminary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331720"/>
            <a:ext cx="3118104" cy="3108960"/>
          </a:xfrm>
          <a:prstGeom prst="rect">
            <a:avLst/>
          </a:prstGeom>
          <a:noFill/>
        </p:spPr>
        <p:txBody>
          <a:bodyPr wrap="square" lIns="0" rIns="0" tIns="0" bIns="0" anchor="t">
            <a:spAutoFit/>
          </a:bodyPr>
          <a:lstStyle/>
          <a:p>
            <a:pPr algn="l">
              <a:spcAft>
                <a:spcPts val="400"/>
              </a:spcAft>
            </a:pPr>
            <a:r>
              <a:rPr sz="1700" b="0" i="0">
                <a:solidFill>
                  <a:srgbClr val="475569"/>
                </a:solidFill>
              </a:rPr>
              <a:t>Share prices move with company results, news and mood, so a price-only history misses information; labelling each news item is impractical, so the batch asks for a bag-of-news (multiple instance) view of each trading day.</a:t>
            </a:r>
          </a:p>
        </p:txBody>
      </p:sp>
      <p:sp>
        <p:nvSpPr>
          <p:cNvPr id="30" name="Rounded Rectangle 29"/>
          <p:cNvSpPr/>
          <p:nvPr/>
        </p:nvSpPr>
        <p:spPr>
          <a:xfrm>
            <a:off x="4334255"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331720"/>
            <a:ext cx="3118104" cy="3108960"/>
          </a:xfrm>
          <a:prstGeom prst="rect">
            <a:avLst/>
          </a:prstGeom>
          <a:noFill/>
        </p:spPr>
        <p:txBody>
          <a:bodyPr wrap="square" lIns="0" rIns="0" tIns="0" bIns="0" anchor="t">
            <a:spAutoFit/>
          </a:bodyPr>
          <a:lstStyle/>
          <a:p>
            <a:pPr algn="l">
              <a:spcAft>
                <a:spcPts val="400"/>
              </a:spcAft>
            </a:pPr>
            <a:r>
              <a:rPr sz="1700" b="0" i="0">
                <a:solidFill>
                  <a:srgbClr val="475569"/>
                </a:solidFill>
              </a:rPr>
              <a:t>QuantPulse forecasts 5- and 30-day closes for ten tickers with five classical baselines and four deep-model tiers (LSTM, attention, FinBERT sentiment, simulated FedAvg), shows them on six screens, and an offline study tests the multiple-instance idea on real headlines.</a:t>
            </a:r>
          </a:p>
        </p:txBody>
      </p:sp>
      <p:sp>
        <p:nvSpPr>
          <p:cNvPr id="34" name="Rounded Rectangle 33"/>
          <p:cNvSpPr/>
          <p:nvPr/>
        </p:nvSpPr>
        <p:spPr>
          <a:xfrm>
            <a:off x="8119871"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 [1]</a:t>
            </a:r>
          </a:p>
        </p:txBody>
      </p:sp>
      <p:sp>
        <p:nvSpPr>
          <p:cNvPr id="37" name="TextBox 36"/>
          <p:cNvSpPr txBox="1"/>
          <p:nvPr/>
        </p:nvSpPr>
        <p:spPr>
          <a:xfrm>
            <a:off x="8321040" y="2331720"/>
            <a:ext cx="3118104" cy="3108960"/>
          </a:xfrm>
          <a:prstGeom prst="rect">
            <a:avLst/>
          </a:prstGeom>
          <a:noFill/>
        </p:spPr>
        <p:txBody>
          <a:bodyPr wrap="square" lIns="0" rIns="0" tIns="0" bIns="0" anchor="t">
            <a:spAutoFit/>
          </a:bodyPr>
          <a:lstStyle/>
          <a:p>
            <a:pPr algn="l">
              <a:spcAft>
                <a:spcPts val="400"/>
              </a:spcAft>
            </a:pPr>
            <a:r>
              <a:rPr sz="1700" b="0" i="0">
                <a:solidFill>
                  <a:srgbClr val="475569"/>
                </a:solidFill>
              </a:rPr>
              <a:t>Nejatbakhsh and Aliasgari (IEEE Access, 2026) combine LSTM, transformer attention, FinBERT-tone sentiment and simulated federated learning on ten tech stocks. QuantPulse follows that design; the product does not contain MIL or social-media 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qp_r2_01.png"/>
          <p:cNvPicPr>
            <a:picLocks noChangeAspect="1"/>
          </p:cNvPicPr>
          <p:nvPr/>
        </p:nvPicPr>
        <p:blipFill>
          <a:blip r:embed="rId1"/>
          <a:stretch>
            <a:fillRect/>
          </a:stretch>
        </p:blipFill>
        <p:spPr>
          <a:xfrm>
            <a:off x="548640" y="1254673"/>
            <a:ext cx="6583679" cy="5080172"/>
          </a:xfrm>
          <a:prstGeom prst="rect">
            <a:avLst/>
          </a:prstGeom>
        </p:spPr>
      </p:pic>
      <p:sp>
        <p:nvSpPr>
          <p:cNvPr id="27" name="TextBox 26"/>
          <p:cNvSpPr txBox="1"/>
          <p:nvPr/>
        </p:nvSpPr>
        <p:spPr>
          <a:xfrm>
            <a:off x="7315200" y="1325880"/>
            <a:ext cx="4343400" cy="4937760"/>
          </a:xfrm>
          <a:prstGeom prst="rect">
            <a:avLst/>
          </a:prstGeom>
          <a:noFill/>
        </p:spPr>
        <p:txBody>
          <a:bodyPr wrap="square" lIns="0" rIns="0" tIns="0" bIns="0" anchor="t">
            <a:spAutoFit/>
          </a:bodyPr>
          <a:lstStyle/>
          <a:p>
            <a:pPr algn="l">
              <a:spcAft>
                <a:spcPts val="800"/>
              </a:spcAft>
            </a:pPr>
            <a:r>
              <a:rPr sz="1500" b="1" i="0">
                <a:solidFill>
                  <a:srgbClr val="0F172A"/>
                </a:solidFill>
              </a:rPr>
              <a:t>Four tiers, no database</a:t>
            </a:r>
          </a:p>
          <a:p>
            <a:pPr algn="l" marL="256032" indent="-201168">
              <a:spcAft>
                <a:spcPts val="400"/>
              </a:spcAft>
              <a:buChar char="•"/>
            </a:pPr>
            <a:r>
              <a:rPr sz="1500" b="0" i="0">
                <a:solidFill>
                  <a:srgbClr val="0F172A"/>
                </a:solidFill>
              </a:rPr>
              <a:t>Website: React 19 + Vite on port 5404, six screens (landing, dashboard, forecast, model comparison, news sentiment, method).</a:t>
            </a:r>
          </a:p>
          <a:p>
            <a:pPr algn="l" marL="256032" indent="-201168">
              <a:spcAft>
                <a:spcPts val="400"/>
              </a:spcAft>
              <a:buChar char="•"/>
            </a:pPr>
            <a:r>
              <a:rPr sz="1500" b="0" i="0">
                <a:solidFill>
                  <a:srgbClr val="0F172A"/>
                </a:solidFill>
              </a:rPr>
              <a:t>API: FastAPI on port 8404, seven JSON endpoints plus the built site; 400, 404, 422 and 503 errors carry a message.</a:t>
            </a:r>
          </a:p>
          <a:p>
            <a:pPr algn="l" marL="256032" indent="-201168">
              <a:spcAft>
                <a:spcPts val="400"/>
              </a:spcAft>
              <a:buChar char="•"/>
            </a:pPr>
            <a:r>
              <a:rPr sz="1500" b="0" i="0">
                <a:solidFill>
                  <a:srgbClr val="0F172A"/>
                </a:solidFill>
              </a:rPr>
              <a:t>Pipeline: data_loader, sentiment, baselines, models_dl, federated, forecast in backend/app; backend/train.py writes the artefacts.</a:t>
            </a:r>
          </a:p>
          <a:p>
            <a:pPr algn="l" marL="256032" indent="-201168">
              <a:spcAft>
                <a:spcPts val="400"/>
              </a:spcAft>
              <a:buChar char="•"/>
            </a:pPr>
            <a:r>
              <a:rPr sz="1500" b="0" i="0">
                <a:solidFill>
                  <a:srgbClr val="0F172A"/>
                </a:solidFill>
              </a:rPr>
              <a:t>State: JSON, CSV and Keras files only. No login, no database.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load, align, model, evaluate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pic>
        <p:nvPicPr>
          <p:cNvPr id="26" name="Picture 25" descr="qp_r2_02.png"/>
          <p:cNvPicPr>
            <a:picLocks noChangeAspect="1"/>
          </p:cNvPicPr>
          <p:nvPr/>
        </p:nvPicPr>
        <p:blipFill>
          <a:blip r:embed="rId3"/>
          <a:stretch>
            <a:fillRect/>
          </a:stretch>
        </p:blipFill>
        <p:spPr>
          <a:xfrm>
            <a:off x="649925" y="1280160"/>
            <a:ext cx="6563988" cy="4572000"/>
          </a:xfrm>
          <a:prstGeom prst="rect">
            <a:avLst/>
          </a:prstGeom>
        </p:spPr>
      </p:pic>
      <p:sp>
        <p:nvSpPr>
          <p:cNvPr id="27" name="Rounded Rectangle 26"/>
          <p:cNvSpPr/>
          <p:nvPr/>
        </p:nvSpPr>
        <p:spPr>
          <a:xfrm>
            <a:off x="7589520" y="1280160"/>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26679" y="1344168"/>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Load and align</a:t>
            </a:r>
          </a:p>
        </p:txBody>
      </p:sp>
      <p:sp>
        <p:nvSpPr>
          <p:cNvPr id="29" name="TextBox 28"/>
          <p:cNvSpPr txBox="1"/>
          <p:nvPr/>
        </p:nvSpPr>
        <p:spPr>
          <a:xfrm>
            <a:off x="7726679" y="1664207"/>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Two years of daily prices per ticker; headlines scored by FinBERT-tone and averaged to one number per trading day.</a:t>
            </a:r>
          </a:p>
        </p:txBody>
      </p:sp>
      <p:sp>
        <p:nvSpPr>
          <p:cNvPr id="30" name="Rounded Rectangle 29"/>
          <p:cNvSpPr/>
          <p:nvPr/>
        </p:nvSpPr>
        <p:spPr>
          <a:xfrm>
            <a:off x="7589520" y="2907791"/>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26679" y="2971799"/>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Model tiers</a:t>
            </a:r>
          </a:p>
        </p:txBody>
      </p:sp>
      <p:sp>
        <p:nvSpPr>
          <p:cNvPr id="32" name="TextBox 31"/>
          <p:cNvSpPr txBox="1"/>
          <p:nvPr/>
        </p:nvSpPr>
        <p:spPr>
          <a:xfrm>
            <a:off x="7726679" y="3291839"/>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Five baselines, LSTM, LSTM + attention, + sentiment, and a FedAvg hybrid over ten clients.</a:t>
            </a:r>
          </a:p>
        </p:txBody>
      </p:sp>
      <p:sp>
        <p:nvSpPr>
          <p:cNvPr id="33" name="Rounded Rectangle 32"/>
          <p:cNvSpPr/>
          <p:nvPr/>
        </p:nvSpPr>
        <p:spPr>
          <a:xfrm>
            <a:off x="7589520" y="4535424"/>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26679" y="4599432"/>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Evaluate and serve</a:t>
            </a:r>
          </a:p>
        </p:txBody>
      </p:sp>
      <p:sp>
        <p:nvSpPr>
          <p:cNvPr id="35" name="TextBox 34"/>
          <p:cNvSpPr txBox="1"/>
          <p:nvPr/>
        </p:nvSpPr>
        <p:spPr>
          <a:xfrm>
            <a:off x="7726679" y="4919472"/>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MAE, MSE, RMSE, R2 and direction on an 80/20 chronological split; stored forecasts shown on the website. Offline: MIL on real headlines.</a:t>
            </a:r>
          </a:p>
        </p:txBody>
      </p:sp>
      <p:sp>
        <p:nvSpPr>
          <p:cNvPr id="36" name="TextBox 35"/>
          <p:cNvSpPr txBox="1"/>
          <p:nvPr/>
        </p:nvSpPr>
        <p:spPr>
          <a:xfrm>
            <a:off x="548640" y="5943600"/>
            <a:ext cx="6766560" cy="411480"/>
          </a:xfrm>
          <a:prstGeom prst="rect">
            <a:avLst/>
          </a:prstGeom>
          <a:noFill/>
        </p:spPr>
        <p:txBody>
          <a:bodyPr wrap="square" lIns="0" rIns="0" tIns="0" bIns="0" anchor="t">
            <a:spAutoFit/>
          </a:bodyPr>
          <a:lstStyle/>
          <a:p>
            <a:pPr algn="ctr">
              <a:spcAft>
                <a:spcPts val="400"/>
              </a:spcAft>
            </a:pPr>
            <a:r>
              <a:rPr sz="1200" b="0" i="1">
                <a:solidFill>
                  <a:srgbClr val="475569"/>
                </a:solidFill>
              </a:rPr>
              <a:t>High-level workflow of backend/train.py and the serving layer.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prices, fallback headlines and real news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10</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tickers: TSLA, AAPL, AMZN, MSFT, GOOGL, NVDA, META, FDX, IBM, ORCL</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501</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daily rows per ticker, 2024-09-09 to 2026-09-08; 97 test windows</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166-191</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synthetic template headlines per ticker (no NewsAPI key)</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46.5k</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real FNSPID headlines, 7 tickers (offline MIL study)</a:t>
            </a:r>
          </a:p>
        </p:txBody>
      </p:sp>
      <p:graphicFrame>
        <p:nvGraphicFramePr>
          <p:cNvPr id="42" name="Table 41"/>
          <p:cNvGraphicFramePr>
            <a:graphicFrameLocks noGrp="1"/>
          </p:cNvGraphicFramePr>
          <p:nvPr/>
        </p:nvGraphicFramePr>
        <p:xfrm>
          <a:off x="548640" y="2697480"/>
          <a:ext cx="11091672" cy="3401568"/>
        </p:xfrm>
        <a:graphic>
          <a:graphicData uri="http://schemas.openxmlformats.org/drawingml/2006/table">
            <a:tbl>
              <a:tblPr firstRow="0" bandRow="0">
                <a:tableStyleId>{5C22544A-7EE6-4342-B048-85BDC9FD1C3A}</a:tableStyleId>
              </a:tblPr>
              <a:tblGrid>
                <a:gridCol w="1371600"/>
                <a:gridCol w="4937760"/>
                <a:gridCol w="4782312"/>
              </a:tblGrid>
              <a:tr h="566928">
                <a:tc>
                  <a:txBody>
                    <a:bodyPr wrap="square"/>
                    <a:lstStyle/>
                    <a:p>
                      <a:pPr algn="ctr"/>
                      <a:r>
                        <a:rPr sz="1250" b="1">
                          <a:solidFill>
                            <a:srgbClr val="FFFFFF"/>
                          </a:solidFill>
                        </a:rPr>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Shipped product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Offline MIL study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250" b="1">
                          <a:solidFill>
                            <a:srgbClr val="0F172A"/>
                          </a:solidFill>
                        </a:rPr>
                        <a:t>Prices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Yahoo Finance daily OHLCV through yfinance, last two years, chronological 80/20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Yahoo Finance 2016-2023, seven tickers, same OHLCV 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250" b="1">
                          <a:solidFill>
                            <a:srgbClr val="0F172A"/>
                          </a:solidFill>
                        </a:rPr>
                        <a:t>News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NewsAPI when a key is set; otherwise 11 template headlines, last 90 trading days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FNSPID news (Dong et al., KDD 2024), mostly day-level stamps; dense only from 2022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250" b="1">
                          <a:solidFill>
                            <a:srgbClr val="0F172A"/>
                          </a:solidFill>
                        </a:rPr>
                        <a:t>Social media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none - no data source was available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250" b="1">
                          <a:solidFill>
                            <a:srgbClr val="0F172A"/>
                          </a:solidFill>
                        </a:rPr>
                        <a:t>Label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next close (regression); trend flag = day-5 forecast vs last close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next-day close above today's (bag-level label)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250" b="1">
                          <a:solidFill>
                            <a:srgbClr val="0F172A"/>
                          </a:solidFill>
                        </a:rPr>
                        <a:t>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80/20 chronological; scalers fitted on the first 80 % of rows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three expanding folds tested on Q2, Q3, Q4 2023: 1,309 test samples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43" name="TextBox 42"/>
          <p:cNvSpPr txBox="1"/>
          <p:nvPr/>
        </p:nvSpPr>
        <p:spPr>
          <a:xfrm>
            <a:off x="548640" y="6172200"/>
            <a:ext cx="11091672" cy="320040"/>
          </a:xfrm>
          <a:prstGeom prst="rect">
            <a:avLst/>
          </a:prstGeom>
          <a:noFill/>
        </p:spPr>
        <p:txBody>
          <a:bodyPr wrap="square" lIns="0" rIns="0" tIns="0" bIns="0" anchor="t">
            <a:spAutoFit/>
          </a:bodyPr>
          <a:lstStyle/>
          <a:p>
            <a:pPr algn="l">
              <a:spcAft>
                <a:spcPts val="400"/>
              </a:spcAft>
            </a:pPr>
            <a:r>
              <a:rPr sz="1200" b="0" i="1">
                <a:solidFill>
                  <a:srgbClr val="475569"/>
                </a:solidFill>
              </a:rPr>
              <a:t>The application re-downloads prices on every history call, so the experiments use a pinned snapshot of the same window.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Preprocessing</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25880"/>
            <a:ext cx="1680972"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Daily OHLCV</a:t>
            </a:r>
          </a:p>
        </p:txBody>
      </p:sp>
      <p:sp>
        <p:nvSpPr>
          <p:cNvPr id="27" name="Right Arrow 26"/>
          <p:cNvSpPr/>
          <p:nvPr/>
        </p:nvSpPr>
        <p:spPr>
          <a:xfrm>
            <a:off x="222961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20-day sliding window</a:t>
            </a:r>
          </a:p>
        </p:txBody>
      </p:sp>
      <p:sp>
        <p:nvSpPr>
          <p:cNvPr id="29" name="Right Arrow 28"/>
          <p:cNvSpPr/>
          <p:nvPr/>
        </p:nvSpPr>
        <p:spPr>
          <a:xfrm>
            <a:off x="411175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Min-Max to [0,1]</a:t>
            </a:r>
          </a:p>
        </p:txBody>
      </p:sp>
      <p:sp>
        <p:nvSpPr>
          <p:cNvPr id="31" name="Right Arrow 30"/>
          <p:cNvSpPr/>
          <p:nvPr/>
        </p:nvSpPr>
        <p:spPr>
          <a:xfrm>
            <a:off x="599389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Sentiment channel added</a:t>
            </a:r>
          </a:p>
        </p:txBody>
      </p:sp>
      <p:sp>
        <p:nvSpPr>
          <p:cNvPr id="33" name="Right Arrow 32"/>
          <p:cNvSpPr/>
          <p:nvPr/>
        </p:nvSpPr>
        <p:spPr>
          <a:xfrm>
            <a:off x="787603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Chronological 80/20 split</a:t>
            </a:r>
          </a:p>
        </p:txBody>
      </p:sp>
      <p:sp>
        <p:nvSpPr>
          <p:cNvPr id="35" name="Right Arrow 34"/>
          <p:cNvSpPr/>
          <p:nvPr/>
        </p:nvSpPr>
        <p:spPr>
          <a:xfrm>
            <a:off x="975817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25880"/>
            <a:ext cx="1680972" cy="9144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Next-day close target</a:t>
            </a:r>
          </a:p>
        </p:txBody>
      </p:sp>
      <p:sp>
        <p:nvSpPr>
          <p:cNvPr id="37" name="Rounded Rectangle 36"/>
          <p:cNvSpPr/>
          <p:nvPr/>
        </p:nvSpPr>
        <p:spPr>
          <a:xfrm>
            <a:off x="54864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256032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20 x 5-6</a:t>
            </a:r>
          </a:p>
        </p:txBody>
      </p:sp>
      <p:sp>
        <p:nvSpPr>
          <p:cNvPr id="40" name="TextBox 39"/>
          <p:cNvSpPr txBox="1"/>
          <p:nvPr/>
        </p:nvSpPr>
        <p:spPr>
          <a:xfrm>
            <a:off x="74980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window length x features (Open, High, Low, Close, Volume + sentiment)</a:t>
            </a:r>
          </a:p>
        </p:txBody>
      </p:sp>
      <p:sp>
        <p:nvSpPr>
          <p:cNvPr id="41" name="Rounded Rectangle 40"/>
          <p:cNvSpPr/>
          <p:nvPr/>
        </p:nvSpPr>
        <p:spPr>
          <a:xfrm>
            <a:off x="621792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17920" y="256032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1908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0 - 1</a:t>
            </a:r>
          </a:p>
        </p:txBody>
      </p:sp>
      <p:sp>
        <p:nvSpPr>
          <p:cNvPr id="44" name="TextBox 43"/>
          <p:cNvSpPr txBox="1"/>
          <p:nvPr/>
        </p:nvSpPr>
        <p:spPr>
          <a:xfrm>
            <a:off x="641908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scaled range; test values outside the training range are clipped</a:t>
            </a:r>
          </a:p>
        </p:txBody>
      </p:sp>
      <p:sp>
        <p:nvSpPr>
          <p:cNvPr id="45" name="TextBox 44"/>
          <p:cNvSpPr txBox="1"/>
          <p:nvPr/>
        </p:nvSpPr>
        <p:spPr>
          <a:xfrm>
            <a:off x="548640" y="3977639"/>
            <a:ext cx="11091672" cy="2377440"/>
          </a:xfrm>
          <a:prstGeom prst="rect">
            <a:avLst/>
          </a:prstGeom>
          <a:noFill/>
        </p:spPr>
        <p:txBody>
          <a:bodyPr wrap="square" lIns="0" rIns="0" tIns="0" bIns="0" anchor="t">
            <a:spAutoFit/>
          </a:bodyPr>
          <a:lstStyle/>
          <a:p>
            <a:pPr algn="l" marL="256032" indent="-201168">
              <a:spcAft>
                <a:spcPts val="900"/>
              </a:spcAft>
              <a:buChar char="•"/>
            </a:pPr>
            <a:r>
              <a:rPr sz="1600" b="0" i="0">
                <a:solidFill>
                  <a:srgbClr val="0F172A"/>
                </a:solidFill>
              </a:rPr>
              <a:t>Scalers are fitted on the first 80 % of rows, then applied to all rows and clipped; where prices rise above the training maximum the target is flat at 1.0.</a:t>
            </a:r>
          </a:p>
          <a:p>
            <a:pPr algn="l" marL="256032" indent="-201168">
              <a:spcAft>
                <a:spcPts val="900"/>
              </a:spcAft>
              <a:buChar char="•"/>
            </a:pPr>
            <a:r>
              <a:rPr sz="1600" b="0" i="0">
                <a:solidFill>
                  <a:srgbClr val="0F172A"/>
                </a:solidFill>
              </a:rPr>
              <a:t>Sentiment: headline scores (FinBERT-tone, positive minus negative, -1 to 1) are averaged per trading day, forward-filled, and zero before the first headline.</a:t>
            </a:r>
          </a:p>
          <a:p>
            <a:pPr algn="l" marL="256032" indent="-201168">
              <a:spcAft>
                <a:spcPts val="900"/>
              </a:spcAft>
              <a:buChar char="•"/>
            </a:pPr>
            <a:r>
              <a:rPr sz="1600" b="0" i="0">
                <a:solidFill>
                  <a:srgbClr val="0F172A"/>
                </a:solidFill>
              </a:rPr>
              <a:t>Offline MIL study: a headline joins the bag of the first trading day whose close is not earlier than its time stamp; instances are 3 FinBERT probabilities + 64 PCA components.</a:t>
            </a:r>
          </a:p>
          <a:p>
            <a:pPr algn="l" marL="256032" indent="-201168">
              <a:spcAft>
                <a:spcPts val="900"/>
              </a:spcAft>
              <a:buChar char="•"/>
            </a:pPr>
            <a:r>
              <a:rPr sz="1600" b="0" i="0">
                <a:solidFill>
                  <a:srgbClr val="0F172A"/>
                </a:solidFill>
              </a:rPr>
              <a:t>Known limit: the product's sentiment channel is exactly zero for every training row (headlines exist for the last 90 days only).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Models: LSTM, attention, sentiment and FedAvg</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Picture 25" descr="qp_r2_12.png"/>
          <p:cNvPicPr>
            <a:picLocks noChangeAspect="1"/>
          </p:cNvPicPr>
          <p:nvPr/>
        </p:nvPicPr>
        <p:blipFill>
          <a:blip r:embed="rId1"/>
          <a:stretch>
            <a:fillRect/>
          </a:stretch>
        </p:blipFill>
        <p:spPr>
          <a:xfrm>
            <a:off x="936939" y="1234440"/>
            <a:ext cx="6172840" cy="4572000"/>
          </a:xfrm>
          <a:prstGeom prst="rect">
            <a:avLst/>
          </a:prstGeom>
        </p:spPr>
      </p:pic>
      <p:sp>
        <p:nvSpPr>
          <p:cNvPr id="27" name="TextBox 26"/>
          <p:cNvSpPr txBox="1"/>
          <p:nvPr/>
        </p:nvSpPr>
        <p:spPr>
          <a:xfrm>
            <a:off x="7772400" y="1325880"/>
            <a:ext cx="3886200" cy="4937760"/>
          </a:xfrm>
          <a:prstGeom prst="rect">
            <a:avLst/>
          </a:prstGeom>
          <a:noFill/>
        </p:spPr>
        <p:txBody>
          <a:bodyPr wrap="square" lIns="0" rIns="0" tIns="0" bIns="0" anchor="t">
            <a:spAutoFit/>
          </a:bodyPr>
          <a:lstStyle/>
          <a:p>
            <a:pPr algn="l" marL="256032" indent="-201168">
              <a:spcAft>
                <a:spcPts val="800"/>
              </a:spcAft>
              <a:buChar char="•"/>
            </a:pPr>
            <a:r>
              <a:rPr sz="1400" b="1" i="0">
                <a:solidFill>
                  <a:srgbClr val="0F172A"/>
                </a:solidFill>
              </a:rPr>
              <a:t>LSTM tier</a:t>
            </a:r>
            <a:r>
              <a:rPr sz="1400" b="0" i="0">
                <a:solidFill>
                  <a:srgbClr val="0F172A"/>
                </a:solidFill>
              </a:rPr>
              <a:t>: LSTM(64), batch norm, dropout 0.2, one dense output.</a:t>
            </a:r>
          </a:p>
          <a:p>
            <a:pPr algn="l" marL="256032" indent="-201168">
              <a:spcAft>
                <a:spcPts val="800"/>
              </a:spcAft>
              <a:buChar char="•"/>
            </a:pPr>
            <a:r>
              <a:rPr sz="1400" b="1" i="0">
                <a:solidFill>
                  <a:srgbClr val="0F172A"/>
                </a:solidFill>
              </a:rPr>
              <a:t>Attention tier</a:t>
            </a:r>
            <a:r>
              <a:rPr sz="1400" b="0" i="0">
                <a:solidFill>
                  <a:srgbClr val="0F172A"/>
                </a:solidFill>
              </a:rPr>
              <a:t>: LSTM(64, sequences), 4-head self-attention, residual, layer norm, average pooling, dense 32.</a:t>
            </a:r>
          </a:p>
          <a:p>
            <a:pPr algn="l" marL="256032" indent="-201168">
              <a:spcAft>
                <a:spcPts val="800"/>
              </a:spcAft>
              <a:buChar char="•"/>
            </a:pPr>
            <a:r>
              <a:rPr sz="1400" b="1" i="0">
                <a:solidFill>
                  <a:srgbClr val="0F172A"/>
                </a:solidFill>
              </a:rPr>
              <a:t>Sentiment and FedAvg</a:t>
            </a:r>
            <a:r>
              <a:rPr sz="1400" b="0" i="0">
                <a:solidFill>
                  <a:srgbClr val="0F172A"/>
                </a:solidFill>
              </a:rPr>
              <a:t>: one extra input channel; ten clients average weights, 2 rounds x 3 epochs.</a:t>
            </a:r>
          </a:p>
          <a:p>
            <a:pPr algn="l" marL="256032" indent="-201168">
              <a:spcAft>
                <a:spcPts val="400"/>
              </a:spcAft>
              <a:buChar char="•"/>
            </a:pPr>
            <a:r>
              <a:rPr sz="1400" b="1" i="0">
                <a:solidFill>
                  <a:srgbClr val="0F172A"/>
                </a:solidFill>
              </a:rPr>
              <a:t>Offline MIL model</a:t>
            </a:r>
            <a:r>
              <a:rPr sz="1400" b="0" i="0">
                <a:solidFill>
                  <a:srgbClr val="0F172A"/>
                </a:solidFill>
              </a:rPr>
              <a:t>: gated attention pools a day's headlines into one vector joined to an LSTM over prices.</a:t>
            </a:r>
          </a:p>
        </p:txBody>
      </p:sp>
      <p:sp>
        <p:nvSpPr>
          <p:cNvPr id="28" name="TextBox 27"/>
          <p:cNvSpPr txBox="1"/>
          <p:nvPr/>
        </p:nvSpPr>
        <p:spPr>
          <a:xfrm>
            <a:off x="548640" y="5897880"/>
            <a:ext cx="6949440" cy="411480"/>
          </a:xfrm>
          <a:prstGeom prst="rect">
            <a:avLst/>
          </a:prstGeom>
          <a:noFill/>
        </p:spPr>
        <p:txBody>
          <a:bodyPr wrap="square" lIns="0" rIns="0" tIns="0" bIns="0" anchor="t">
            <a:spAutoFit/>
          </a:bodyPr>
          <a:lstStyle/>
          <a:p>
            <a:pPr algn="ctr">
              <a:spcAft>
                <a:spcPts val="400"/>
              </a:spcAft>
            </a:pPr>
            <a:r>
              <a:rPr sz="1200" b="0" i="1">
                <a:solidFill>
                  <a:srgbClr val="475569"/>
                </a:solidFill>
              </a:rPr>
              <a:t>Architecture of the model tiers as implemented in models_dl.py and federated.py.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and evaluation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325880"/>
          <a:ext cx="11091672" cy="4608576"/>
        </p:xfrm>
        <a:graphic>
          <a:graphicData uri="http://schemas.openxmlformats.org/drawingml/2006/table">
            <a:tbl>
              <a:tblPr firstRow="0" bandRow="0">
                <a:tableStyleId>{5C22544A-7EE6-4342-B048-85BDC9FD1C3A}</a:tableStyleId>
              </a:tblPr>
              <a:tblGrid>
                <a:gridCol w="2103120"/>
                <a:gridCol w="8988552"/>
              </a:tblGrid>
              <a:tr h="658368">
                <a:tc>
                  <a:txBody>
                    <a:bodyPr wrap="square"/>
                    <a:lstStyle/>
                    <a:p>
                      <a:pPr algn="ctr"/>
                      <a:r>
                        <a:rPr sz="14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400" b="1">
                          <a:solidFill>
                            <a:srgbClr val="0F172A"/>
                          </a:solidFill>
                        </a:rPr>
                        <a:t>Deep tiers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Adam, learning rate 1e-3, MSE loss, batch 32, up to 50 epochs, validation split 0.15, early stopping (patience 7, best weights), seed 42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Federated stage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ten ticker clients, 2 rounds x 3 local epochs, weights averaged in proportion to training samples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1">
                          <a:solidFill>
                            <a:srgbClr val="0F172A"/>
                          </a:solidFill>
                        </a:rPr>
                        <a:t>Baselines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ARIMA(5,1,0), SARIMAX(1,1,1)x(1,1,1,5), Prophet, Random Forest (200 trees, lag 20), SVR (rbf, C = 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Re-run for this report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5 seeds on the same 501 training rows; persistence baseline; true-target scoring; 34 min on a shared CPU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1">
                          <a:solidFill>
                            <a:srgbClr val="0F172A"/>
                          </a:solidFill>
                        </a:rPr>
                        <a:t>Offline MIL study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AdamW 2e-3, batch 128, up to 60 epochs, patience 7, hidden size 32, 5 seeds x 3 expanding folds, threshold 0.5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Machine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Core i5-12500, 15.7 GB RAM, no GPU; Python 3.11.9, TensorFlow 2.16.2, PyTorch 2.5.1 (CPU)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TextBox 26"/>
          <p:cNvSpPr txBox="1"/>
          <p:nvPr/>
        </p:nvSpPr>
        <p:spPr>
          <a:xfrm>
            <a:off x="548640" y="6035040"/>
            <a:ext cx="11091672" cy="365760"/>
          </a:xfrm>
          <a:prstGeom prst="rect">
            <a:avLst/>
          </a:prstGeom>
          <a:noFill/>
        </p:spPr>
        <p:txBody>
          <a:bodyPr wrap="square" lIns="0" rIns="0" tIns="0" bIns="0" anchor="t">
            <a:spAutoFit/>
          </a:bodyPr>
          <a:lstStyle/>
          <a:p>
            <a:pPr algn="l">
              <a:spcAft>
                <a:spcPts val="400"/>
              </a:spcAft>
            </a:pPr>
            <a:r>
              <a:rPr sz="1200" b="0" i="1">
                <a:solidFill>
                  <a:srgbClr val="475569"/>
                </a:solidFill>
              </a:rPr>
              <a:t>Hyper-parameters are those in config.py, models_dl.py and federated.py; no tuning was done for this report.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forecast, band and aggregation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qp_r2_10.png"/>
          <p:cNvPicPr>
            <a:picLocks noChangeAspect="1"/>
          </p:cNvPicPr>
          <p:nvPr/>
        </p:nvPicPr>
        <p:blipFill>
          <a:blip r:embed="rId1"/>
          <a:stretch>
            <a:fillRect/>
          </a:stretch>
        </p:blipFill>
        <p:spPr>
          <a:xfrm>
            <a:off x="1606934" y="1188720"/>
            <a:ext cx="3278370" cy="5166359"/>
          </a:xfrm>
          <a:prstGeom prst="rect">
            <a:avLst/>
          </a:prstGeom>
        </p:spPr>
      </p:pic>
      <p:graphicFrame>
        <p:nvGraphicFramePr>
          <p:cNvPr id="27" name="Table 26"/>
          <p:cNvGraphicFramePr>
            <a:graphicFrameLocks noGrp="1"/>
          </p:cNvGraphicFramePr>
          <p:nvPr/>
        </p:nvGraphicFramePr>
        <p:xfrm>
          <a:off x="6217920" y="1280160"/>
          <a:ext cx="5440680" cy="3520440"/>
        </p:xfrm>
        <a:graphic>
          <a:graphicData uri="http://schemas.openxmlformats.org/drawingml/2006/table">
            <a:tbl>
              <a:tblPr firstRow="0" bandRow="0">
                <a:tableStyleId>{5C22544A-7EE6-4342-B048-85BDC9FD1C3A}</a:tableStyleId>
              </a:tblPr>
              <a:tblGrid>
                <a:gridCol w="1828800"/>
                <a:gridCol w="3611880"/>
              </a:tblGrid>
              <a:tr h="502920">
                <a:tc>
                  <a:txBody>
                    <a:bodyPr wrap="square"/>
                    <a:lstStyle/>
                    <a:p>
                      <a:pPr algn="ctr"/>
                      <a:r>
                        <a:rPr sz="1250" b="1">
                          <a:solidFill>
                            <a:srgbClr val="FFFFFF"/>
                          </a:solidFill>
                        </a:rPr>
                        <a:t>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Rule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02920">
                <a:tc>
                  <a:txBody>
                    <a:bodyPr wrap="square"/>
                    <a:lstStyle/>
                    <a:p>
                      <a:pPr algn="l"/>
                      <a:r>
                        <a:rPr sz="1250" b="1">
                          <a:solidFill>
                            <a:srgbClr val="0F172A"/>
                          </a:solidFill>
                        </a:rPr>
                        <a:t>Multi-step forecast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feed each predicted close back into the 20-day window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50" b="1">
                          <a:solidFill>
                            <a:srgbClr val="0F172A"/>
                          </a:solidFill>
                        </a:rPr>
                        <a:t>Rolled-forward bar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Open, High, Low set to the prediction; volume and sentiment kept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50" b="1">
                          <a:solidFill>
                            <a:srgbClr val="0F172A"/>
                          </a:solidFill>
                        </a:rPr>
                        <a:t>Confidence band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prediction +/- 1.96 x residual std x sqrt(h); lower floor 0.01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50" b="1">
                          <a:solidFill>
                            <a:srgbClr val="0F172A"/>
                          </a:solidFill>
                        </a:rPr>
                        <a:t>Trend flag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up if the day-5 forecast is at or above the last close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50" b="1">
                          <a:solidFill>
                            <a:srgbClr val="0F172A"/>
                          </a:solidFill>
                        </a:rPr>
                        <a:t>FedAvg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w = sum over clients of (n_i / n) x w_i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50" b="1">
                          <a:solidFill>
                            <a:srgbClr val="0F172A"/>
                          </a:solidFill>
                        </a:rPr>
                        <a:t>MIL pooling (offline)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z = sum of a_i h_i, a_i = softmax of a gated score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8" name="TextBox 27"/>
          <p:cNvSpPr txBox="1"/>
          <p:nvPr/>
        </p:nvSpPr>
        <p:spPr>
          <a:xfrm>
            <a:off x="6217920" y="4937760"/>
            <a:ext cx="5440680" cy="1371600"/>
          </a:xfrm>
          <a:prstGeom prst="rect">
            <a:avLst/>
          </a:prstGeom>
          <a:noFill/>
        </p:spPr>
        <p:txBody>
          <a:bodyPr wrap="square" lIns="0" rIns="0" tIns="0" bIns="0" anchor="t">
            <a:spAutoFit/>
          </a:bodyPr>
          <a:lstStyle/>
          <a:p>
            <a:pPr algn="l" marL="256032" indent="-201168">
              <a:spcAft>
                <a:spcPts val="400"/>
              </a:spcAft>
              <a:buChar char="•"/>
            </a:pPr>
            <a:r>
              <a:rPr sz="1300" b="0" i="0">
                <a:solidFill>
                  <a:srgbClr val="0F172A"/>
                </a:solidFill>
              </a:rPr>
              <a:t>The 5-day forecast stored for each ticker comes from the federated global model; the 30-day forecast comes from the local attention + sentiment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qp_r2_04.png"/>
          <p:cNvPicPr>
            <a:picLocks noChangeAspect="1"/>
          </p:cNvPicPr>
          <p:nvPr/>
        </p:nvPicPr>
        <p:blipFill>
          <a:blip r:embed="rId1"/>
          <a:stretch>
            <a:fillRect/>
          </a:stretch>
        </p:blipFill>
        <p:spPr>
          <a:xfrm>
            <a:off x="548640" y="1562464"/>
            <a:ext cx="6400800" cy="4418870"/>
          </a:xfrm>
          <a:prstGeom prst="rect">
            <a:avLst/>
          </a:prstGeom>
        </p:spPr>
      </p:pic>
      <p:graphicFrame>
        <p:nvGraphicFramePr>
          <p:cNvPr id="27" name="Table 26"/>
          <p:cNvGraphicFramePr>
            <a:graphicFrameLocks noGrp="1"/>
          </p:cNvGraphicFramePr>
          <p:nvPr/>
        </p:nvGraphicFramePr>
        <p:xfrm>
          <a:off x="7223760" y="1280160"/>
          <a:ext cx="4416552" cy="4572000"/>
        </p:xfrm>
        <a:graphic>
          <a:graphicData uri="http://schemas.openxmlformats.org/drawingml/2006/table">
            <a:tbl>
              <a:tblPr firstRow="0" bandRow="0">
                <a:tableStyleId>{5C22544A-7EE6-4342-B048-85BDC9FD1C3A}</a:tableStyleId>
              </a:tblPr>
              <a:tblGrid>
                <a:gridCol w="1920240"/>
                <a:gridCol w="2496312"/>
              </a:tblGrid>
              <a:tr h="457200">
                <a:tc>
                  <a:txBody>
                    <a:bodyPr wrap="square"/>
                    <a:lstStyle/>
                    <a:p>
                      <a:pPr algn="ctr"/>
                      <a:r>
                        <a:rPr sz="120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200" b="1">
                          <a:solidFill>
                            <a:srgbClr val="0F172A"/>
                          </a:solidFill>
                        </a:rPr>
                        <a:t>data_loader.py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yfinance, CSV, synthetic fallback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200" b="1">
                          <a:solidFill>
                            <a:srgbClr val="0F172A"/>
                          </a:solidFill>
                        </a:rPr>
                        <a:t>sentiment.py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NewsAPI, FinBERT-tone, daily score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200" b="1">
                          <a:solidFill>
                            <a:srgbClr val="0F172A"/>
                          </a:solidFill>
                        </a:rPr>
                        <a:t>baselines.py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ARIMA, SARIMAX, Prophet, RF, SVR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200" b="1">
                          <a:solidFill>
                            <a:srgbClr val="0F172A"/>
                          </a:solidFill>
                        </a:rPr>
                        <a:t>models_dl.py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windows, scalers, LSTM tiers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200" b="1">
                          <a:solidFill>
                            <a:srgbClr val="0F172A"/>
                          </a:solidFill>
                        </a:rPr>
                        <a:t>federated.py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FedAvg simulation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200" b="1">
                          <a:solidFill>
                            <a:srgbClr val="0F172A"/>
                          </a:solidFill>
                        </a:rPr>
                        <a:t>forecast.py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5- and 30-day forecasts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200" b="1">
                          <a:solidFill>
                            <a:srgbClr val="0F172A"/>
                          </a:solidFill>
                        </a:rPr>
                        <a:t>main.py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7 endpoints, SPA serving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200" b="1">
                          <a:solidFill>
                            <a:srgbClr val="0F172A"/>
                          </a:solidFill>
                        </a:rPr>
                        <a:t>frontend/src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6 React screens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200" b="1">
                          <a:solidFill>
                            <a:srgbClr val="0F172A"/>
                          </a:solidFill>
                        </a:rPr>
                        <a:t>tests/, scripts/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56 tests, smoke, experiments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8" name="TextBox 27"/>
          <p:cNvSpPr txBox="1"/>
          <p:nvPr/>
        </p:nvSpPr>
        <p:spPr>
          <a:xfrm>
            <a:off x="7223760" y="5943600"/>
            <a:ext cx="4416552" cy="457200"/>
          </a:xfrm>
          <a:prstGeom prst="rect">
            <a:avLst/>
          </a:prstGeom>
          <a:noFill/>
        </p:spPr>
        <p:txBody>
          <a:bodyPr wrap="square" lIns="0" rIns="0" tIns="0" bIns="0" anchor="t">
            <a:spAutoFit/>
          </a:bodyPr>
          <a:lstStyle/>
          <a:p>
            <a:pPr algn="l">
              <a:spcAft>
                <a:spcPts val="400"/>
              </a:spcAft>
            </a:pPr>
            <a:r>
              <a:rPr sz="1150" b="0" i="1">
                <a:solidFill>
                  <a:srgbClr val="475569"/>
                </a:solidFill>
              </a:rPr>
              <a:t>Level-1 data-flow diagram of the platform.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Entities and UML (no database)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qp_r2_09.png"/>
          <p:cNvPicPr>
            <a:picLocks noChangeAspect="1"/>
          </p:cNvPicPr>
          <p:nvPr/>
        </p:nvPicPr>
        <p:blipFill>
          <a:blip r:embed="rId1"/>
          <a:stretch>
            <a:fillRect/>
          </a:stretch>
        </p:blipFill>
        <p:spPr>
          <a:xfrm>
            <a:off x="548640" y="1330829"/>
            <a:ext cx="5486400" cy="4242061"/>
          </a:xfrm>
          <a:prstGeom prst="rect">
            <a:avLst/>
          </a:prstGeom>
        </p:spPr>
      </p:pic>
      <p:pic>
        <p:nvPicPr>
          <p:cNvPr id="27" name="Picture 26" descr="qp_r2_06.png"/>
          <p:cNvPicPr>
            <a:picLocks noChangeAspect="1"/>
          </p:cNvPicPr>
          <p:nvPr/>
        </p:nvPicPr>
        <p:blipFill>
          <a:blip r:embed="rId4"/>
          <a:stretch>
            <a:fillRect/>
          </a:stretch>
        </p:blipFill>
        <p:spPr>
          <a:xfrm>
            <a:off x="6172200" y="1498600"/>
            <a:ext cx="5486400" cy="4135120"/>
          </a:xfrm>
          <a:prstGeom prst="rect">
            <a:avLst/>
          </a:prstGeom>
        </p:spPr>
      </p:pic>
      <p:sp>
        <p:nvSpPr>
          <p:cNvPr id="28" name="TextBox 27"/>
          <p:cNvSpPr txBox="1"/>
          <p:nvPr/>
        </p:nvSpPr>
        <p:spPr>
          <a:xfrm>
            <a:off x="548640" y="5806440"/>
            <a:ext cx="5486400" cy="640080"/>
          </a:xfrm>
          <a:prstGeom prst="rect">
            <a:avLst/>
          </a:prstGeom>
          <a:noFill/>
        </p:spPr>
        <p:txBody>
          <a:bodyPr wrap="square" lIns="0" rIns="0" tIns="0" bIns="0" anchor="t">
            <a:spAutoFit/>
          </a:bodyPr>
          <a:lstStyle/>
          <a:p>
            <a:pPr algn="l">
              <a:spcAft>
                <a:spcPts val="400"/>
              </a:spcAft>
            </a:pPr>
            <a:r>
              <a:rPr sz="1150" b="0" i="1">
                <a:solidFill>
                  <a:srgbClr val="475569"/>
                </a:solidFill>
              </a:rPr>
              <a:t>QuantPulse keeps no database; the ER diagram is logical (prices, headlines, daily sentiment, model tiers, metrics, forecasts, artefact files).</a:t>
            </a:r>
          </a:p>
        </p:txBody>
      </p:sp>
      <p:sp>
        <p:nvSpPr>
          <p:cNvPr id="29" name="TextBox 28"/>
          <p:cNvSpPr txBox="1"/>
          <p:nvPr/>
        </p:nvSpPr>
        <p:spPr>
          <a:xfrm>
            <a:off x="6172200" y="5989320"/>
            <a:ext cx="5486400" cy="457200"/>
          </a:xfrm>
          <a:prstGeom prst="rect">
            <a:avLst/>
          </a:prstGeom>
          <a:noFill/>
        </p:spPr>
        <p:txBody>
          <a:bodyPr wrap="square" lIns="0" rIns="0" tIns="0" bIns="0" anchor="t">
            <a:spAutoFit/>
          </a:bodyPr>
          <a:lstStyle/>
          <a:p>
            <a:pPr algn="l">
              <a:spcAft>
                <a:spcPts val="400"/>
              </a:spcAft>
            </a:pPr>
            <a:r>
              <a:rPr sz="1150" b="0" i="1">
                <a:solidFill>
                  <a:srgbClr val="475569"/>
                </a:solidFill>
              </a:rPr>
              <a:t>The backend is mostly functions grouped in modules; the diagram shows modules and the API app.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25880"/>
          <a:ext cx="11091672" cy="4754880"/>
        </p:xfrm>
        <a:graphic>
          <a:graphicData uri="http://schemas.openxmlformats.org/drawingml/2006/table">
            <a:tbl>
              <a:tblPr firstRow="0" bandRow="0">
                <a:tableStyleId>{5C22544A-7EE6-4342-B048-85BDC9FD1C3A}</a:tableStyleId>
              </a:tblPr>
              <a:tblGrid>
                <a:gridCol w="2377440"/>
                <a:gridCol w="8714232"/>
              </a:tblGrid>
              <a:tr h="594360">
                <a:tc>
                  <a:txBody>
                    <a:bodyPr wrap="square"/>
                    <a:lstStyle/>
                    <a:p>
                      <a:pPr algn="ctr"/>
                      <a:r>
                        <a:rPr sz="14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94360">
                <a:tc>
                  <a:txBody>
                    <a:bodyPr wrap="square"/>
                    <a:lstStyle/>
                    <a:p>
                      <a:pPr algn="l"/>
                      <a:r>
                        <a:rPr sz="1400" b="1">
                          <a:solidFill>
                            <a:srgbClr val="0F172A"/>
                          </a:solidFill>
                        </a:rPr>
                        <a:t>Language and 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Python 3.11.9, FastAPI 0.141.1, Uvicorn 0.52.4; CORS limited to localhost origins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Deep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TensorFlow 2.16.2 with Keras 3.15.1 (LSTM, MultiHeadAttention, manual FedAvg)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Classical 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scikit-learn 1.9.0 (Random Forest, SVR), statsmodels 0.15.0 (ARIMA, SARIMAX), Prophet 1.4.0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Language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transformers 4.47.1 with PyTorch 2.5.1 (CPU): FinBERT-tone for inference; offline MIL models in PyTorch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yfinance 1.7.0, pandas 3.0.5, NumPy 1.26.4; NewsAPI (optional key); FNSPID headlines for the offline study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React 19, Vite 8, Recharts 3, Framer Motion, React Router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Testing and 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pytest, FastAPI TestClient, smoke script, Playwright captures; run.bat or Docker; ports 8404 and 5404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80160"/>
          <a:ext cx="11091672" cy="4681728"/>
        </p:xfrm>
        <a:graphic>
          <a:graphicData uri="http://schemas.openxmlformats.org/drawingml/2006/table">
            <a:tbl>
              <a:tblPr firstRow="0" bandRow="0">
                <a:tableStyleId>{5C22544A-7EE6-4342-B048-85BDC9FD1C3A}</a:tableStyleId>
              </a:tblPr>
              <a:tblGrid>
                <a:gridCol w="4937760"/>
                <a:gridCol w="1280160"/>
                <a:gridCol w="4873752"/>
              </a:tblGrid>
              <a:tr h="585216">
                <a:tc>
                  <a:txBody>
                    <a:bodyPr wrap="square"/>
                    <a:lstStyle/>
                    <a:p>
                      <a:pPr algn="ctr"/>
                      <a:r>
                        <a:rPr sz="125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85216">
                <a:tc>
                  <a:txBody>
                    <a:bodyPr wrap="square"/>
                    <a:lstStyle/>
                    <a:p>
                      <a:pPr algn="l"/>
                      <a:r>
                        <a:rPr sz="1250" b="0">
                          <a:solidFill>
                            <a:srgbClr val="0F172A"/>
                          </a:solidFill>
                        </a:rPr>
                        <a:t>Data loader, five baselines, LSTM and attention tiers, sentiment channel, FedAvg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python -m backend.train writes metrics, forecasts and models for 10 tickers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250" b="0">
                          <a:solidFill>
                            <a:srgbClr val="0F172A"/>
                          </a:solidFill>
                        </a:rPr>
                        <a:t>FinBERT-tone scoring and daily alignment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headlines are synthetic templates by default (166-191 per ticker)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250" b="0">
                          <a:solidFill>
                            <a:srgbClr val="0F172A"/>
                          </a:solidFill>
                        </a:rPr>
                        <a:t>API (7 endpoints) and React website (6 screens)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26/26 smoke checks; 56/56 pytest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250" b="0">
                          <a:solidFill>
                            <a:srgbClr val="0F172A"/>
                          </a:solidFill>
                        </a:rPr>
                        <a:t>Multiple instance learning on real headlines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Offline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scripts/mil_study.py; best MIL variant 51.4 % vs always-up 53.6 %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250" b="0">
                          <a:solidFill>
                            <a:srgbClr val="0F172A"/>
                          </a:solidFill>
                        </a:rPr>
                        <a:t>Precision, recall and F1 in the product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product reports MAE, RMSE, R2 and direction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250" b="0">
                          <a:solidFill>
                            <a:srgbClr val="0F172A"/>
                          </a:solidFill>
                        </a:rPr>
                        <a:t>Social-media text source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 data source available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250" b="0">
                          <a:solidFill>
                            <a:srgbClr val="0F172A"/>
                          </a:solidFill>
                        </a:rPr>
                        <a:t>Real federated deployment, database, accounts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FedAvg is simulated in one process; no persistence or login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34440"/>
            <a:ext cx="73152" cy="10972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25880"/>
            <a:ext cx="2331720" cy="603504"/>
          </a:xfrm>
          <a:prstGeom prst="rect">
            <a:avLst/>
          </a:prstGeom>
          <a:noFill/>
        </p:spPr>
        <p:txBody>
          <a:bodyPr wrap="square" lIns="0" rIns="0" tIns="0" bIns="0" anchor="ctr">
            <a:spAutoFit/>
          </a:bodyPr>
          <a:lstStyle/>
          <a:p>
            <a:pPr algn="l">
              <a:spcAft>
                <a:spcPts val="400"/>
              </a:spcAft>
            </a:pPr>
            <a:r>
              <a:rPr sz="2400" b="1" i="0">
                <a:solidFill>
                  <a:srgbClr val="0F172A"/>
                </a:solidFill>
              </a:rPr>
              <a:t>$6.24</a:t>
            </a:r>
          </a:p>
        </p:txBody>
      </p:sp>
      <p:sp>
        <p:nvSpPr>
          <p:cNvPr id="29" name="TextBox 28"/>
          <p:cNvSpPr txBox="1"/>
          <p:nvPr/>
        </p:nvSpPr>
        <p:spPr>
          <a:xfrm>
            <a:off x="749808"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mean error of 'tomorrow = today' (persistence) on the test windows</a:t>
            </a:r>
          </a:p>
        </p:txBody>
      </p:sp>
      <p:sp>
        <p:nvSpPr>
          <p:cNvPr id="30" name="Rounded Rectangle 29"/>
          <p:cNvSpPr/>
          <p:nvPr/>
        </p:nvSpPr>
        <p:spPr>
          <a:xfrm>
            <a:off x="3374136"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34440"/>
            <a:ext cx="73152" cy="10972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25880"/>
            <a:ext cx="2331720" cy="603504"/>
          </a:xfrm>
          <a:prstGeom prst="rect">
            <a:avLst/>
          </a:prstGeom>
          <a:noFill/>
        </p:spPr>
        <p:txBody>
          <a:bodyPr wrap="square" lIns="0" rIns="0" tIns="0" bIns="0" anchor="ctr">
            <a:spAutoFit/>
          </a:bodyPr>
          <a:lstStyle/>
          <a:p>
            <a:pPr algn="l">
              <a:spcAft>
                <a:spcPts val="400"/>
              </a:spcAft>
            </a:pPr>
            <a:r>
              <a:rPr sz="2400" b="1" i="0">
                <a:solidFill>
                  <a:srgbClr val="0F172A"/>
                </a:solidFill>
              </a:rPr>
              <a:t>$29.37</a:t>
            </a:r>
          </a:p>
        </p:txBody>
      </p:sp>
      <p:sp>
        <p:nvSpPr>
          <p:cNvPr id="33" name="TextBox 32"/>
          <p:cNvSpPr txBox="1"/>
          <p:nvPr/>
        </p:nvSpPr>
        <p:spPr>
          <a:xfrm>
            <a:off x="3575304"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best deep tier (LSTM + attention) scored against real closes</a:t>
            </a:r>
          </a:p>
        </p:txBody>
      </p:sp>
      <p:sp>
        <p:nvSpPr>
          <p:cNvPr id="34" name="Rounded Rectangle 33"/>
          <p:cNvSpPr/>
          <p:nvPr/>
        </p:nvSpPr>
        <p:spPr>
          <a:xfrm>
            <a:off x="6199631"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34440"/>
            <a:ext cx="73152" cy="10972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25880"/>
            <a:ext cx="2331720" cy="603504"/>
          </a:xfrm>
          <a:prstGeom prst="rect">
            <a:avLst/>
          </a:prstGeom>
          <a:noFill/>
        </p:spPr>
        <p:txBody>
          <a:bodyPr wrap="square" lIns="0" rIns="0" tIns="0" bIns="0" anchor="ctr">
            <a:spAutoFit/>
          </a:bodyPr>
          <a:lstStyle/>
          <a:p>
            <a:pPr algn="l">
              <a:spcAft>
                <a:spcPts val="400"/>
              </a:spcAft>
            </a:pPr>
            <a:r>
              <a:rPr sz="2400" b="1" i="0">
                <a:solidFill>
                  <a:srgbClr val="0F172A"/>
                </a:solidFill>
              </a:rPr>
              <a:t>53% vs 68%</a:t>
            </a:r>
          </a:p>
        </p:txBody>
      </p:sp>
      <p:sp>
        <p:nvSpPr>
          <p:cNvPr id="37" name="TextBox 36"/>
          <p:cNvSpPr txBox="1"/>
          <p:nvPr/>
        </p:nvSpPr>
        <p:spPr>
          <a:xfrm>
            <a:off x="6400799"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direction accuracy: real closes vs as reported by the app</a:t>
            </a:r>
          </a:p>
        </p:txBody>
      </p:sp>
      <p:sp>
        <p:nvSpPr>
          <p:cNvPr id="38" name="Rounded Rectangle 37"/>
          <p:cNvSpPr/>
          <p:nvPr/>
        </p:nvSpPr>
        <p:spPr>
          <a:xfrm>
            <a:off x="9025128"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34440"/>
            <a:ext cx="73152" cy="109728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25880"/>
            <a:ext cx="2331720" cy="603504"/>
          </a:xfrm>
          <a:prstGeom prst="rect">
            <a:avLst/>
          </a:prstGeom>
          <a:noFill/>
        </p:spPr>
        <p:txBody>
          <a:bodyPr wrap="square" lIns="0" rIns="0" tIns="0" bIns="0" anchor="ctr">
            <a:spAutoFit/>
          </a:bodyPr>
          <a:lstStyle/>
          <a:p>
            <a:pPr algn="l">
              <a:spcAft>
                <a:spcPts val="400"/>
              </a:spcAft>
            </a:pPr>
            <a:r>
              <a:rPr sz="2400" b="1" i="0">
                <a:solidFill>
                  <a:srgbClr val="0F172A"/>
                </a:solidFill>
              </a:rPr>
              <a:t>53.6%</a:t>
            </a:r>
          </a:p>
        </p:txBody>
      </p:sp>
      <p:sp>
        <p:nvSpPr>
          <p:cNvPr id="41" name="TextBox 40"/>
          <p:cNvSpPr txBox="1"/>
          <p:nvPr/>
        </p:nvSpPr>
        <p:spPr>
          <a:xfrm>
            <a:off x="9226296"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always-up accuracy; MIL attention model 49.8%</a:t>
            </a:r>
          </a:p>
        </p:txBody>
      </p:sp>
      <p:pic>
        <p:nvPicPr>
          <p:cNvPr id="42" name="Picture 41" descr="qp_r2_f02.png"/>
          <p:cNvPicPr>
            <a:picLocks noChangeAspect="1"/>
          </p:cNvPicPr>
          <p:nvPr/>
        </p:nvPicPr>
        <p:blipFill>
          <a:blip r:embed="rId1"/>
          <a:stretch>
            <a:fillRect/>
          </a:stretch>
        </p:blipFill>
        <p:spPr>
          <a:xfrm>
            <a:off x="649941" y="2468880"/>
            <a:ext cx="5283796" cy="2971800"/>
          </a:xfrm>
          <a:prstGeom prst="rect">
            <a:avLst/>
          </a:prstGeom>
        </p:spPr>
      </p:pic>
      <p:pic>
        <p:nvPicPr>
          <p:cNvPr id="43" name="Picture 42" descr="qp_r2_f03.png"/>
          <p:cNvPicPr>
            <a:picLocks noChangeAspect="1"/>
          </p:cNvPicPr>
          <p:nvPr/>
        </p:nvPicPr>
        <p:blipFill>
          <a:blip r:embed="rId4"/>
          <a:stretch>
            <a:fillRect/>
          </a:stretch>
        </p:blipFill>
        <p:spPr>
          <a:xfrm>
            <a:off x="6172200" y="2574459"/>
            <a:ext cx="5486400" cy="2760640"/>
          </a:xfrm>
          <a:prstGeom prst="rect">
            <a:avLst/>
          </a:prstGeom>
        </p:spPr>
      </p:pic>
      <p:sp>
        <p:nvSpPr>
          <p:cNvPr id="44" name="TextBox 43"/>
          <p:cNvSpPr txBox="1"/>
          <p:nvPr/>
        </p:nvSpPr>
        <p:spPr>
          <a:xfrm>
            <a:off x="548640" y="5532120"/>
            <a:ext cx="11091672" cy="914400"/>
          </a:xfrm>
          <a:prstGeom prst="rect">
            <a:avLst/>
          </a:prstGeom>
          <a:noFill/>
        </p:spPr>
        <p:txBody>
          <a:bodyPr wrap="square" lIns="0" rIns="0" tIns="0" bIns="0" anchor="t">
            <a:spAutoFit/>
          </a:bodyPr>
          <a:lstStyle/>
          <a:p>
            <a:pPr algn="l">
              <a:spcAft>
                <a:spcPts val="400"/>
              </a:spcAft>
            </a:pPr>
            <a:r>
              <a:rPr sz="1250" b="0" i="0">
                <a:solidFill>
                  <a:srgbClr val="475569"/>
                </a:solidFill>
              </a:rPr>
              <a:t>Shipped artefacts: Random Forest has the lowest error on 6 of 10 tickers; sentiment and FedAvg raise the deep-tier error. Forward test from 2026-09-08: 5-day forecast MAE $59.04 vs $11.09 for no change, trend right for 4 of 10; mean forecast -14.8% vs actual -0.4%. The base paper's R2 of 0.91 was not reproduced (different data and protocol).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3_dashboard.png"/>
          <p:cNvPicPr>
            <a:picLocks noChangeAspect="1"/>
          </p:cNvPicPr>
          <p:nvPr/>
        </p:nvPicPr>
        <p:blipFill>
          <a:blip r:embed="rId2"/>
          <a:stretch>
            <a:fillRect/>
          </a:stretch>
        </p:blipFill>
        <p:spPr>
          <a:xfrm>
            <a:off x="686714" y="1188720"/>
            <a:ext cx="3335731" cy="2084832"/>
          </a:xfrm>
          <a:prstGeom prst="rect">
            <a:avLst/>
          </a:prstGeom>
          <a:ln w="9525">
            <a:solidFill>
              <a:srgbClr val="D5DCE6"/>
            </a:solidFill>
          </a:ln>
        </p:spPr>
      </p:pic>
      <p:sp>
        <p:nvSpPr>
          <p:cNvPr id="27" name="TextBox 26"/>
          <p:cNvSpPr txBox="1"/>
          <p:nvPr/>
        </p:nvSpPr>
        <p:spPr>
          <a:xfrm>
            <a:off x="548640"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Dashboard: ten tickers, last close, trend, 5-day outlook</a:t>
            </a:r>
          </a:p>
        </p:txBody>
      </p:sp>
      <p:pic>
        <p:nvPicPr>
          <p:cNvPr id="28" name="Picture 27" descr="16_forecast_top.png"/>
          <p:cNvPicPr>
            <a:picLocks noChangeAspect="1"/>
          </p:cNvPicPr>
          <p:nvPr/>
        </p:nvPicPr>
        <p:blipFill>
          <a:blip r:embed="rId1"/>
          <a:stretch>
            <a:fillRect/>
          </a:stretch>
        </p:blipFill>
        <p:spPr>
          <a:xfrm>
            <a:off x="4472330" y="1188720"/>
            <a:ext cx="3335731" cy="2084832"/>
          </a:xfrm>
          <a:prstGeom prst="rect">
            <a:avLst/>
          </a:prstGeom>
          <a:ln w="9525">
            <a:solidFill>
              <a:srgbClr val="D5DCE6"/>
            </a:solidFill>
          </a:ln>
        </p:spPr>
      </p:pic>
      <p:sp>
        <p:nvSpPr>
          <p:cNvPr id="29" name="TextBox 28"/>
          <p:cNvSpPr txBox="1"/>
          <p:nvPr/>
        </p:nvSpPr>
        <p:spPr>
          <a:xfrm>
            <a:off x="4334256"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Forecast: NVDA 5-day outlook and notice about stale artefacts</a:t>
            </a:r>
          </a:p>
        </p:txBody>
      </p:sp>
      <p:pic>
        <p:nvPicPr>
          <p:cNvPr id="30" name="Picture 29" descr="14_forecast_table.png"/>
          <p:cNvPicPr>
            <a:picLocks noChangeAspect="1"/>
          </p:cNvPicPr>
          <p:nvPr/>
        </p:nvPicPr>
        <p:blipFill>
          <a:blip r:embed="rId5"/>
          <a:stretch>
            <a:fillRect/>
          </a:stretch>
        </p:blipFill>
        <p:spPr>
          <a:xfrm>
            <a:off x="8257946" y="1188720"/>
            <a:ext cx="3335731" cy="2084832"/>
          </a:xfrm>
          <a:prstGeom prst="rect">
            <a:avLst/>
          </a:prstGeom>
          <a:ln w="9525">
            <a:solidFill>
              <a:srgbClr val="D5DCE6"/>
            </a:solidFill>
          </a:ln>
        </p:spPr>
      </p:pic>
      <p:sp>
        <p:nvSpPr>
          <p:cNvPr id="31" name="TextBox 30"/>
          <p:cNvSpPr txBox="1"/>
          <p:nvPr/>
        </p:nvSpPr>
        <p:spPr>
          <a:xfrm>
            <a:off x="8119872"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Forecast table with actual close and forecast miss</a:t>
            </a:r>
          </a:p>
        </p:txBody>
      </p:sp>
      <p:pic>
        <p:nvPicPr>
          <p:cNvPr id="32" name="Picture 31" descr="06_models_comparison.png"/>
          <p:cNvPicPr>
            <a:picLocks noChangeAspect="1"/>
          </p:cNvPicPr>
          <p:nvPr/>
        </p:nvPicPr>
        <p:blipFill>
          <a:blip r:embed="rId6"/>
          <a:stretch>
            <a:fillRect/>
          </a:stretch>
        </p:blipFill>
        <p:spPr>
          <a:xfrm>
            <a:off x="686714" y="3712464"/>
            <a:ext cx="3335731" cy="2084832"/>
          </a:xfrm>
          <a:prstGeom prst="rect">
            <a:avLst/>
          </a:prstGeom>
          <a:ln w="9525">
            <a:solidFill>
              <a:srgbClr val="D5DCE6"/>
            </a:solidFill>
          </a:ln>
        </p:spPr>
      </p:pic>
      <p:sp>
        <p:nvSpPr>
          <p:cNvPr id="33" name="TextBox 32"/>
          <p:cNvSpPr txBox="1"/>
          <p:nvPr/>
        </p:nvSpPr>
        <p:spPr>
          <a:xfrm>
            <a:off x="548640"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Model comparison: ablation charts for NVDA</a:t>
            </a:r>
          </a:p>
        </p:txBody>
      </p:sp>
      <p:pic>
        <p:nvPicPr>
          <p:cNvPr id="34" name="Picture 33" descr="12_models_table.png"/>
          <p:cNvPicPr>
            <a:picLocks noChangeAspect="1"/>
          </p:cNvPicPr>
          <p:nvPr/>
        </p:nvPicPr>
        <p:blipFill>
          <a:blip r:embed="rId7"/>
          <a:stretch>
            <a:fillRect/>
          </a:stretch>
        </p:blipFill>
        <p:spPr>
          <a:xfrm>
            <a:off x="4472330" y="3712464"/>
            <a:ext cx="3335731" cy="2084832"/>
          </a:xfrm>
          <a:prstGeom prst="rect">
            <a:avLst/>
          </a:prstGeom>
          <a:ln w="9525">
            <a:solidFill>
              <a:srgbClr val="D5DCE6"/>
            </a:solidFill>
          </a:ln>
        </p:spPr>
      </p:pic>
      <p:sp>
        <p:nvSpPr>
          <p:cNvPr id="35" name="TextBox 34"/>
          <p:cNvSpPr txBox="1"/>
          <p:nvPr/>
        </p:nvSpPr>
        <p:spPr>
          <a:xfrm>
            <a:off x="4334256"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Deep-tier metrics table</a:t>
            </a:r>
          </a:p>
        </p:txBody>
      </p:sp>
      <p:pic>
        <p:nvPicPr>
          <p:cNvPr id="36" name="Picture 35" descr="08_sentiment.png"/>
          <p:cNvPicPr>
            <a:picLocks noChangeAspect="1"/>
          </p:cNvPicPr>
          <p:nvPr/>
        </p:nvPicPr>
        <p:blipFill>
          <a:blip r:embed="rId8"/>
          <a:stretch>
            <a:fillRect/>
          </a:stretch>
        </p:blipFill>
        <p:spPr>
          <a:xfrm>
            <a:off x="8257946" y="3712464"/>
            <a:ext cx="3335731" cy="2084832"/>
          </a:xfrm>
          <a:prstGeom prst="rect">
            <a:avLst/>
          </a:prstGeom>
          <a:ln w="9525">
            <a:solidFill>
              <a:srgbClr val="D5DCE6"/>
            </a:solidFill>
          </a:ln>
        </p:spPr>
      </p:pic>
      <p:sp>
        <p:nvSpPr>
          <p:cNvPr id="37" name="TextBox 36"/>
          <p:cNvSpPr txBox="1"/>
          <p:nvPr/>
        </p:nvSpPr>
        <p:spPr>
          <a:xfrm>
            <a:off x="8119872"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News sentiment: source and FinBERT scorer</a:t>
            </a:r>
          </a:p>
        </p:txBody>
      </p:sp>
      <p:sp>
        <p:nvSpPr>
          <p:cNvPr id="38" name="TextBox 37"/>
          <p:cNvSpPr txBox="1"/>
          <p:nvPr/>
        </p:nvSpPr>
        <p:spPr>
          <a:xfrm>
            <a:off x="548640" y="6144768"/>
            <a:ext cx="11091672" cy="274320"/>
          </a:xfrm>
          <a:prstGeom prst="rect">
            <a:avLst/>
          </a:prstGeom>
          <a:noFill/>
        </p:spPr>
        <p:txBody>
          <a:bodyPr wrap="square" lIns="0" rIns="0" tIns="0" bIns="0" anchor="t">
            <a:spAutoFit/>
          </a:bodyPr>
          <a:lstStyle/>
          <a:p>
            <a:pPr algn="l">
              <a:spcAft>
                <a:spcPts val="400"/>
              </a:spcAft>
            </a:pPr>
            <a:r>
              <a:rPr sz="1100" b="0" i="1">
                <a:solidFill>
                  <a:srgbClr val="475569"/>
                </a:solidFill>
              </a:rPr>
              <a:t>Real captures of the running application at 1440 x 900 with the shipped artefacts and live Yahoo Finance prices.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56 / 56</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passed (pipeline and API)</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26 / 26</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smoke-test checks passed against the live API</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11 ms</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median time of a stored 5-day forecast call (127.0.0.1)</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4.6 s</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median time of a sentiment call (FinBERT scoring)</a:t>
            </a:r>
          </a:p>
        </p:txBody>
      </p:sp>
      <p:graphicFrame>
        <p:nvGraphicFramePr>
          <p:cNvPr id="42" name="Table 41"/>
          <p:cNvGraphicFramePr>
            <a:graphicFrameLocks noGrp="1"/>
          </p:cNvGraphicFramePr>
          <p:nvPr/>
        </p:nvGraphicFramePr>
        <p:xfrm>
          <a:off x="548640" y="2697480"/>
          <a:ext cx="11091672" cy="3566160"/>
        </p:xfrm>
        <a:graphic>
          <a:graphicData uri="http://schemas.openxmlformats.org/drawingml/2006/table">
            <a:tbl>
              <a:tblPr firstRow="0" bandRow="0">
                <a:tableStyleId>{5C22544A-7EE6-4342-B048-85BDC9FD1C3A}</a:tableStyleId>
              </a:tblPr>
              <a:tblGrid>
                <a:gridCol w="5852160"/>
                <a:gridCol w="5239512"/>
              </a:tblGrid>
              <a:tr h="713232">
                <a:tc>
                  <a:txBody>
                    <a:bodyPr wrap="square"/>
                    <a:lstStyle/>
                    <a:p>
                      <a:pPr algn="ctr"/>
                      <a:r>
                        <a:rPr sz="13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13232">
                <a:tc>
                  <a:txBody>
                    <a:bodyPr wrap="square"/>
                    <a:lstStyle/>
                    <a:p>
                      <a:pPr algn="l"/>
                      <a:r>
                        <a:rPr sz="1300" b="0">
                          <a:solidFill>
                            <a:srgbClr val="0F172A"/>
                          </a:solidFill>
                        </a:rPr>
                        <a:t>Direction reported by the app 68% vs 53% against real closes (targets clipped to the training range)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Both reported; true-target scoring added in the re-run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300" b="0">
                          <a:solidFill>
                            <a:srgbClr val="0F172A"/>
                          </a:solidFill>
                        </a:rPr>
                        <a:t>Sentiment channel is zero for every training row (headlines only for the last 90 days)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Stated as a limitation; placebo run shows no sentiment effect can be measured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13232">
                <a:tc>
                  <a:txBody>
                    <a:bodyPr wrap="square"/>
                    <a:lstStyle/>
                    <a:p>
                      <a:pPr algn="l"/>
                      <a:r>
                        <a:rPr sz="1300" b="0">
                          <a:solidFill>
                            <a:srgbClr val="0F172A"/>
                          </a:solidFill>
                        </a:rPr>
                        <a:t>Stored 5-day forecasts averaged -14.8% while prices moved -0.4%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Forward test added; banner on the Forecast screen explains stale artefacts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300" b="0">
                          <a:solidFill>
                            <a:srgbClr val="0F172A"/>
                          </a:solidFill>
                        </a:rPr>
                        <a:t>History call takes 139 ms median because it re-downloads prices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Documented; caching listed as future 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828032"/>
        </p:xfrm>
        <a:graphic>
          <a:graphicData uri="http://schemas.openxmlformats.org/drawingml/2006/table">
            <a:tbl>
              <a:tblPr firstRow="0" bandRow="0">
                <a:tableStyleId>{5C22544A-7EE6-4342-B048-85BDC9FD1C3A}</a:tableStyleId>
              </a:tblPr>
              <a:tblGrid>
                <a:gridCol w="5394960"/>
                <a:gridCol w="5696712"/>
              </a:tblGrid>
              <a:tr h="804672">
                <a:tc>
                  <a:txBody>
                    <a:bodyPr wrap="square"/>
                    <a:lstStyle/>
                    <a:p>
                      <a:pPr algn="ctr"/>
                      <a:r>
                        <a:rPr sz="14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04672">
                <a:tc>
                  <a:txBody>
                    <a:bodyPr wrap="square"/>
                    <a:lstStyle/>
                    <a:p>
                      <a:pPr algn="l"/>
                      <a:r>
                        <a:rPr sz="1400" b="0">
                          <a:solidFill>
                            <a:srgbClr val="0F172A"/>
                          </a:solidFill>
                        </a:rPr>
                        <a:t>Free news APIs return about a month of headlines, so real news cannot cover the training window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Labelled synthetic fallback in the product; offline MIL study on the public FNSPID dataset instead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00" b="0">
                          <a:solidFill>
                            <a:srgbClr val="0F172A"/>
                          </a:solidFill>
                        </a:rPr>
                        <a:t>Multiple instance learning and F1 are in the objectives but not in the base paper's pipeline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Added scripts/mil_study.py with bags, gated attention, accuracy, precision, recall, F1 and a placebo</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00" b="0">
                          <a:solidFill>
                            <a:srgbClr val="0F172A"/>
                          </a:solidFill>
                        </a:rPr>
                        <a:t>Deep tiers do not beat 'tomorrow = today' ($6.24 vs $29.37)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Persistence baseline and true-target scoring reported next to the shipped numbers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00" b="0">
                          <a:solidFill>
                            <a:srgbClr val="0F172A"/>
                          </a:solidFill>
                        </a:rPr>
                        <a:t>Short, clipped test period: 97 windows per ticker, prices above the training range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Scaler clipping documented; forward test on the 30 days that followed the training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00" b="0">
                          <a:solidFill>
                            <a:srgbClr val="0F172A"/>
                          </a:solidFill>
                        </a:rPr>
                        <a:t>CPU-only machine shared with other jobs; TensorFlow and scikit-learn DLL order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Experiments run sequentially with TensorFlow imported first; timings reported as indicative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Fix the evaluation</a:t>
            </a:r>
          </a:p>
        </p:txBody>
      </p:sp>
      <p:sp>
        <p:nvSpPr>
          <p:cNvPr id="29" name="TextBox 28"/>
          <p:cNvSpPr txBox="1"/>
          <p:nvPr/>
        </p:nvSpPr>
        <p:spPr>
          <a:xfrm>
            <a:off x="749808" y="2331720"/>
            <a:ext cx="2203704" cy="2560320"/>
          </a:xfrm>
          <a:prstGeom prst="rect">
            <a:avLst/>
          </a:prstGeom>
          <a:noFill/>
        </p:spPr>
        <p:txBody>
          <a:bodyPr wrap="square" lIns="0" rIns="0" tIns="0" bIns="0" anchor="t">
            <a:spAutoFit/>
          </a:bodyPr>
          <a:lstStyle/>
          <a:p>
            <a:pPr algn="l">
              <a:spcAft>
                <a:spcPts val="400"/>
              </a:spcAft>
            </a:pPr>
            <a:r>
              <a:rPr sz="1600" b="0" i="0">
                <a:solidFill>
                  <a:srgbClr val="475569"/>
                </a:solidFill>
              </a:rPr>
              <a:t>Score against real closes, add the persistence baseline and walk-forward validation, and fill the sentiment channel for the whole history.</a:t>
            </a:r>
          </a:p>
        </p:txBody>
      </p:sp>
      <p:sp>
        <p:nvSpPr>
          <p:cNvPr id="30" name="Rounded Rectangle 29"/>
          <p:cNvSpPr/>
          <p:nvPr/>
        </p:nvSpPr>
        <p:spPr>
          <a:xfrm>
            <a:off x="3374136"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15384"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Bring MIL into the product</a:t>
            </a:r>
          </a:p>
        </p:txBody>
      </p:sp>
      <p:sp>
        <p:nvSpPr>
          <p:cNvPr id="33" name="TextBox 32"/>
          <p:cNvSpPr txBox="1"/>
          <p:nvPr/>
        </p:nvSpPr>
        <p:spPr>
          <a:xfrm>
            <a:off x="3575304" y="2331720"/>
            <a:ext cx="2203704" cy="2560320"/>
          </a:xfrm>
          <a:prstGeom prst="rect">
            <a:avLst/>
          </a:prstGeom>
          <a:noFill/>
        </p:spPr>
        <p:txBody>
          <a:bodyPr wrap="square" lIns="0" rIns="0" tIns="0" bIns="0" anchor="t">
            <a:spAutoFit/>
          </a:bodyPr>
          <a:lstStyle/>
          <a:p>
            <a:pPr algn="l">
              <a:spcAft>
                <a:spcPts val="400"/>
              </a:spcAft>
            </a:pPr>
            <a:r>
              <a:rPr sz="1600" b="0" i="0">
                <a:solidFill>
                  <a:srgbClr val="475569"/>
                </a:solidFill>
              </a:rPr>
              <a:t>Add the bag-of-headlines model with a classification head that reports accuracy, precision, recall and F1.</a:t>
            </a:r>
          </a:p>
        </p:txBody>
      </p:sp>
      <p:sp>
        <p:nvSpPr>
          <p:cNvPr id="34" name="Rounded Rectangle 33"/>
          <p:cNvSpPr/>
          <p:nvPr/>
        </p:nvSpPr>
        <p:spPr>
          <a:xfrm>
            <a:off x="6199631"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40879"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Real news and social media</a:t>
            </a:r>
          </a:p>
        </p:txBody>
      </p:sp>
      <p:sp>
        <p:nvSpPr>
          <p:cNvPr id="37" name="TextBox 36"/>
          <p:cNvSpPr txBox="1"/>
          <p:nvPr/>
        </p:nvSpPr>
        <p:spPr>
          <a:xfrm>
            <a:off x="6400799" y="2331720"/>
            <a:ext cx="2203704" cy="2560320"/>
          </a:xfrm>
          <a:prstGeom prst="rect">
            <a:avLst/>
          </a:prstGeom>
          <a:noFill/>
        </p:spPr>
        <p:txBody>
          <a:bodyPr wrap="square" lIns="0" rIns="0" tIns="0" bIns="0" anchor="t">
            <a:spAutoFit/>
          </a:bodyPr>
          <a:lstStyle/>
          <a:p>
            <a:pPr algn="l">
              <a:spcAft>
                <a:spcPts val="400"/>
              </a:spcAft>
            </a:pPr>
            <a:r>
              <a:rPr sz="1600" b="0" i="0">
                <a:solidFill>
                  <a:srgbClr val="475569"/>
                </a:solidFill>
              </a:rPr>
              <a:t>Use an archived news source for the full window and add a social-media text source.</a:t>
            </a:r>
          </a:p>
        </p:txBody>
      </p:sp>
      <p:sp>
        <p:nvSpPr>
          <p:cNvPr id="38" name="Rounded Rectangle 37"/>
          <p:cNvSpPr/>
          <p:nvPr/>
        </p:nvSpPr>
        <p:spPr>
          <a:xfrm>
            <a:off x="9025128"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66376"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Make it deployable</a:t>
            </a:r>
          </a:p>
        </p:txBody>
      </p:sp>
      <p:sp>
        <p:nvSpPr>
          <p:cNvPr id="41" name="TextBox 40"/>
          <p:cNvSpPr txBox="1"/>
          <p:nvPr/>
        </p:nvSpPr>
        <p:spPr>
          <a:xfrm>
            <a:off x="9226296" y="2331720"/>
            <a:ext cx="2203704" cy="2560320"/>
          </a:xfrm>
          <a:prstGeom prst="rect">
            <a:avLst/>
          </a:prstGeom>
          <a:noFill/>
        </p:spPr>
        <p:txBody>
          <a:bodyPr wrap="square" lIns="0" rIns="0" tIns="0" bIns="0" anchor="t">
            <a:spAutoFit/>
          </a:bodyPr>
          <a:lstStyle/>
          <a:p>
            <a:pPr algn="l">
              <a:spcAft>
                <a:spcPts val="400"/>
              </a:spcAft>
            </a:pPr>
            <a:r>
              <a:rPr sz="1600" b="0" i="0">
                <a:solidFill>
                  <a:srgbClr val="475569"/>
                </a:solidFill>
              </a:rPr>
              <a:t>Cache prices, retrain on a schedule, add a database and accounts, and try federated learning across real clients.</a:t>
            </a:r>
          </a:p>
        </p:txBody>
      </p:sp>
      <p:sp>
        <p:nvSpPr>
          <p:cNvPr id="42" name="Rounded Rectangle 41"/>
          <p:cNvSpPr/>
          <p:nvPr/>
        </p:nvSpPr>
        <p:spPr>
          <a:xfrm>
            <a:off x="548640" y="5257800"/>
            <a:ext cx="11091672" cy="868680"/>
          </a:xfrm>
          <a:prstGeom prst="roundRect">
            <a:avLst>
              <a:gd name="adj" fmla="val 3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394960"/>
            <a:ext cx="10607040" cy="640080"/>
          </a:xfrm>
          <a:prstGeom prst="rect">
            <a:avLst/>
          </a:prstGeom>
          <a:noFill/>
        </p:spPr>
        <p:txBody>
          <a:bodyPr wrap="square" lIns="0" rIns="0" tIns="0" bIns="0" anchor="ctr">
            <a:spAutoFit/>
          </a:bodyPr>
          <a:lstStyle/>
          <a:p>
            <a:pPr algn="l">
              <a:spcAft>
                <a:spcPts val="400"/>
              </a:spcAft>
            </a:pPr>
            <a:r>
              <a:rPr sz="1600" b="0" i="0">
                <a:solidFill>
                  <a:srgbClr val="0F172A"/>
                </a:solidFill>
              </a:rPr>
              <a:t>Priority: items 1 and 2 close the largest honest gaps - a trustworthy evaluation and the missing multiple-instance component.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QuantPulse">
  <a:themeElements>
    <a:clrScheme name="QuantPulse">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Quant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QuantPuls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Market Prediction Using Multi-Source Multiple Instance Learning: Review 2</dc:title>
  <dc:subject>Batch C4 (CSE-C)</dc:subject>
  <dc:creator>Pottepaka Lingaswamy, Maduna Naveen Kumar, Meedigeri Keerthi, Mareddy Sai Karthik</dc:creator>
  <cp:lastModifiedBy/>
  <cp:revision>1</cp:revision>
  <dcterms:created xsi:type="dcterms:W3CDTF">2026-10-13T12:40:05Z</dcterms:created>
  <dcterms:modified xsi:type="dcterms:W3CDTF">2026-10-13T12:40:05Z</dcterms:modified>
  <cp:keywords>stock market prediction, LSTM, attention, FinBERT sentiment, federated averaging, multiple instance learning</cp:keywords>
  <dc:description/>
</cp:coreProperties>
</file>