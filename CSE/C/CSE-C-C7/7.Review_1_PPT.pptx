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f0aec94-eb0f-294a-de05-1614c3997827}">
          <p14:sldIdLst>
            <p14:sldId id="256"/>
            <p14:sldId id="257"/>
            <p14:sldId id="258"/>
          </p14:sldIdLst>
        </p14:section>
        <p14:section name="Research" id="{c5b655bf-1c78-45d9-2d43-c8947840fc05}">
          <p14:sldIdLst>
            <p14:sldId id="259"/>
            <p14:sldId id="260"/>
            <p14:sldId id="261"/>
          </p14:sldIdLst>
        </p14:section>
        <p14:section name="Problem" id="{c83c02f1-f6cc-56f3-d67e-57d82ce85a28}">
          <p14:sldIdLst>
            <p14:sldId id="262"/>
            <p14:sldId id="263"/>
            <p14:sldId id="264"/>
            <p14:sldId id="265"/>
            <p14:sldId id="266"/>
          </p14:sldIdLst>
        </p14:section>
        <p14:section name="Proposed solution" id="{0d7ed7fb-f0c3-288f-402c-2a68d644f815}">
          <p14:sldIdLst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 paper, OULAD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Sheet1!$A$2:$A$4</c:f>
              <c:strCache>
                <c:ptCount val="3"/>
                <c:pt idx="0">
                  <c:v>Logged pass rate
(observed)</c:v>
                </c:pt>
                <c:pt idx="1">
                  <c:v>Greedy-Uplift
policy (SNIPS)</c:v>
                </c:pt>
                <c:pt idx="2">
                  <c:v>XGBoost AUC
(prediction)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0.589</c:v>
                </c:pt>
                <c:pt idx="1">
                  <c:v>0.619</c:v>
                </c:pt>
                <c:pt idx="2">
                  <c:v>0.795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D5DCE6"/>
              </a:solidFill>
            </a:ln>
          </c:spPr>
        </c:majorGridlines>
        <c:numFmt formatCode="0.00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team and the project title. One sentence: we build a web application that takes a learner profile and activity, ranks a course catalogue with an eight-term hybrid score and shows why each course was recommended.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Agenda. This review is about why the problem matters and what is missing in current work; results come in later reviews.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parts: the problem, our idea, what we deliver. The completion-rate statement is quoted from the base paper's introduction.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citation. The base paper prescribes learning actions; it does not recommend courses. We reuse its prediction, uplift, off-policy-evaluation and fairness-audit ideas for a course recommendation engine. We do not implement its Actor-Critic agent and we do not use real OULAD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pattern: content similarity, graph and collaborative methods on one side, causal and prescriptive methods on the other. Rows 1 to 4 were read in their source; the three starred rows are known only by title and year from the batch survey, so no results are quoted for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values are quoted from the base paper (real OULAD). They are not our results; our own numbers, on synthetic data, appear in Review 2 and the final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Describe today's typical path from catalogue to enrolment. Both statements on the right come from the base paper and the Khreis et al. introduction.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limitations our design responds to: a profile-aware hybrid score, content-first cold start, an estimated next action, and honest reporting of off-policy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gap follows from the limitations. The batch problem statement phrases it as a need for a hybrid engine that matches courses to a profile and sequences them into a learning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statement and the need are taken from the batch objectives and problem-statement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objectives from the project proposal. Reviews 2 and 3 report their status honestly: collaborative filtering across learners (objective 3) was not implemented, and objective 6 is only partly met (offline metrics and a persona check, no user study).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stages and an evaluation plan. The training data are an OULAD-like synthetic generator because the real dataset was not used; the final review states this next to every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Follow the diagram left to right: the user interface, the FastAPI routes, the recommendation modules, and the data stores.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 expected outcomes, not results. We will report what the measurements show, including where the system falls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Full references, including the survey items known only by title and year, are in the project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Likely questions: why a hybrid score and not collaborative filtering (no real interaction log); why synthetic data (real OULAD not used); what the uplift numbers mean (estimated benefit, not proven causal effect).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LearnPathIQ  ·  Review 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3" Type="http://schemas.openxmlformats.org/officeDocument/2006/relationships/chart" Target="../charts/chart1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E-learning Course Recommendation System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LearnPathIQ: a hybrid course recommendation engine that ranks courses for each learner, estimates the chance of success and suggests the next best action</a:t>
            </a:r>
            <a:endParaRPr lang="en-US" sz="20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1  ·  PROBLEM IDENTIFICATION AND RESEARCH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PITTALA AKHILA  23K91A05J3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MUNDALA SANDHYA  23K91A05G5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MULA THANUJ REDDY  23K91A05G4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MAJJIGAPU JAGADESHWAR REDDY  23K91A05E1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K GAYATHRI,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[COLLEGE NAME]  ·  Batch C7 (CSE-C)  ·  [ACADEMIC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Abstract and overview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4255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62855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5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Base paper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1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48471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Literature survey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Existing approaches and limitations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34255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62855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2855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Research gap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19871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48471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8471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Problem statement and objectives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77240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Proposed approach and architecture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34255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562855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2855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Expected outcomes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9871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348471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8471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Abstract: a next step chosen for the learner, with reasons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20440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The 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3118104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Online platforms offer long course catalogues but little guidance. Popularity lists ignore a learner's skill level, goals and behaviour, new learners have no history, and most learners do not finish: the base paper notes completion rates are often below 10 %.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371600"/>
            <a:ext cx="3520440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Our idea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240280"/>
            <a:ext cx="3118104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Build a learner profile, score every course with an eight-term hybrid score (text match, skill fit, topic, goal, rating, predicted success, behaviour, engagement) and estimate which learning action would help most. Every card carries a plain-language reason.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371600"/>
            <a:ext cx="3520440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The deliverable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40280"/>
            <a:ext cx="3118104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A web application: register, fill a profile, browse the catalogue, get ranked courses with reasons, follow a staged learning path, log activity and watch the ranking adapt, and inspect the model analytics.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paper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11091672" cy="10058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49808" y="1353312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</a:rPr>
              <a:t>C. P. Isiwu, L. C. Nnadi, and Y. Watanobe, "From prediction to prescription: A Causal-AI for personalized learning path optimization in MOOCs," IEEE Access, vol. 14, pp. 29105-29118, 2026, doi: 10.1109/ACCESS.2026.3666619.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514600"/>
            <a:ext cx="3520440" cy="3657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749808" y="2697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9888" y="2670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Method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3383280"/>
            <a:ext cx="3118104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Causal-AI pipeline on learner-week data: a predictive success model (XGBoost), uplift modelling of four actions (Quiz, Forum, Content, Homepage), an Actor-Critic reinforcement-learning agent with causal regularisation, off-policy evaluation (IPS, SNIPS, doubly robust) and a subgroup fairness audit.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34255" y="2514600"/>
            <a:ext cx="3520440" cy="3657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4535423" y="2697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75503" y="2670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Data and reported results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5423" y="3383280"/>
            <a:ext cx="3118104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Open University Learning Analytics Dataset: 32,593 enrolments, about 1.7 M learner-week rows, 25,516 learners. XGBoost AUC 0.795, Brier 0.074; logged pass rate 0.589; Greedy-Uplift SNIPS 0.619 [0.613, 0.625].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19871" y="2514600"/>
            <a:ext cx="3520440" cy="3657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8321040" y="2697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19" y="2670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Limits stated by the authors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383280"/>
            <a:ext cx="3118104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Actions are the learner's own dominant activity, a proxy for system-recommended actions; no randomised trial; coarse action granularity; subgroup disparities by age and gender motivate fairness-aware extensions.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11091672" cy="43891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51760"/>
                <a:gridCol w="3291840"/>
                <a:gridCol w="2286000"/>
                <a:gridCol w="2862072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Approach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Reported finding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Isiwu et al., 2026 [1] (base)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Uplift modelling + Actor-Critic RL, off-policy evaluation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OULAD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AUC 0.795; Greedy-Uplift SNIPS 0.619 vs logged 0.589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Khreis et al., 2026 [2]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BERT with contrastive learning and isotropy regularisation; Top-N by text query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500+ engineering courses (uOttawa)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More discriminative embeddings than vanilla BERT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Gharahighehi et al., 2025 [3]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Collaborative filtering plus survival analysis (time to event)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Three public MOOC datasets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Better than CF on interactions alone (two measures)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Sujay et al., 2026 [23]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TF-IDF + cosine similarity, rating-weighted hybrid score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Coursera course 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Hybrid of similarity and rating (metrics not recorded)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Survey item [24]*, 2025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Course recommendation with machine learning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Not recorded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Not recorded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Survey item [25]*, 2025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LightGCN graph model on learning behaviour 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Not recorded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Not recorded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Survey item [26]*, 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Literature review of course recommendation for e-learning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Review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Not applicable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* Recorded in the batch literature survey by title and year only; authors and results were not recorded and are not guessed.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evidence from the base paper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548640" y="1280160"/>
          <a:ext cx="676656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7589520" y="1371600"/>
            <a:ext cx="4050791" cy="2240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7790688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1527048"/>
            <a:ext cx="304495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Takeaway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0688" y="2240280"/>
            <a:ext cx="3648456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In the base paper, choosing the action with the highest estimated uplift moves the off-policy value from 0.589 to 0.619, with a good predictive base (AUC 0.795).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9520" y="3794760"/>
            <a:ext cx="4050791" cy="2240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7790688" y="397764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0768" y="3950208"/>
            <a:ext cx="304495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Caveat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90688" y="4663440"/>
            <a:ext cx="3648456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Its own Table 4 shows IPS at 9.956 against SNIPS 0.643: off-policy estimates can be unstable. We report ours with their effective sample size.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and current approaches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17320"/>
            <a:ext cx="1925726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Long course catalogue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556662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840126" y="1417320"/>
            <a:ext cx="1925726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Search or popularity list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848148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131612" y="1417320"/>
            <a:ext cx="1925726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Learner picks by title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139635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423099" y="1417320"/>
            <a:ext cx="1925726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Enrols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431121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714585" y="1417320"/>
            <a:ext cx="1925726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Progress not acted 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2834640"/>
            <a:ext cx="5440680" cy="3246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749808" y="301752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9888" y="299008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Search and popularity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3703320"/>
            <a:ext cx="5038344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The learner filters by keyword or follows what is popular. Nothing in the list reflects the learner's current skill, goals or what they did last week, and a new learner gets the same list as everyone else.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9632" y="2834640"/>
            <a:ext cx="5440680" cy="3246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6400800" y="301752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299008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Prediction without prescription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3703320"/>
            <a:ext cx="5038344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Learning-analytics models can say who is likely to fail, but stop short of what to do about it [1]. Course recommenders based on collaborative filtering struggle with cold start [2].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existing methods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544068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One list for everyone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503834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Popularity and keyword search ignore skill level, goals and behaviour, so the same courses are shown to a beginner and an expert.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1" y="1371600"/>
            <a:ext cx="544068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6400799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79" y="152704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Cold start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799" y="2240280"/>
            <a:ext cx="503834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Collaborative filtering needs interaction history; new learners and long-tail courses are poorly served [2].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840480"/>
            <a:ext cx="544068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749808" y="402336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89888" y="399592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Prediction without action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4709160"/>
            <a:ext cx="503834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Success models flag at-risk learners but do not say which learning action to take next [1].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9631" y="3840480"/>
            <a:ext cx="544068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6400799" y="402336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79" y="399592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Fragile evidence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799" y="4709160"/>
            <a:ext cx="503834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Effects are estimated from observational logs, not randomised trials, and off-policy estimates can be unstable [1], [5].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377440" cy="822960"/>
          </a:xfrm>
          <a:prstGeom prst="roundRect">
            <a:avLst>
              <a:gd name="adj" fmla="val 6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8640" y="132588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</a:rPr>
              <a:t>Cold start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1325880"/>
            <a:ext cx="8412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0F172A"/>
                </a:solidFill>
              </a:rPr>
              <a:t>Content and profile matching should work from the first minute, before any history exists.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2313432"/>
            <a:ext cx="2377440" cy="822960"/>
          </a:xfrm>
          <a:prstGeom prst="roundRect">
            <a:avLst>
              <a:gd name="adj" fmla="val 6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48640" y="2313432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</a:rPr>
              <a:t>Explanation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2313432"/>
            <a:ext cx="8412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0F172A"/>
                </a:solidFill>
              </a:rPr>
              <a:t>A recommendation should come with the reasons behind it, not only a rank.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300984"/>
            <a:ext cx="2377440" cy="822960"/>
          </a:xfrm>
          <a:prstGeom prst="roundRect">
            <a:avLst>
              <a:gd name="adj" fmla="val 6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48640" y="3300984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</a:rPr>
              <a:t>Next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3300984"/>
            <a:ext cx="8412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0F172A"/>
                </a:solidFill>
              </a:rPr>
              <a:t>Few course recommendation tools also estimate which learning action (quiz, content, forum) would help the learner most.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288536"/>
            <a:ext cx="2377440" cy="822960"/>
          </a:xfrm>
          <a:prstGeom prst="roundRect">
            <a:avLst>
              <a:gd name="adj" fmla="val 6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48640" y="4288536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</a:rPr>
              <a:t>Application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4288536"/>
            <a:ext cx="8412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0F172A"/>
                </a:solidFill>
              </a:rPr>
              <a:t>Many works stop at a notebook; a usable web system with profiles, activity log and learning path is rarer.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276088"/>
            <a:ext cx="2377440" cy="822960"/>
          </a:xfrm>
          <a:prstGeom prst="roundRect">
            <a:avLst>
              <a:gd name="adj" fmla="val 6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48640" y="527608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</a:rPr>
              <a:t>Honest evaluation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5276088"/>
            <a:ext cx="8412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0F172A"/>
                </a:solidFill>
              </a:rPr>
              <a:t>Offline metrics, fairness by group and a stated sample size should sit beside every claim.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11091672" cy="2514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68680" y="1463040"/>
            <a:ext cx="1046988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0F172A"/>
                </a:solidFill>
              </a:rPr>
              <a:t>Learners face too many options and no reliable way to judge which suits them; platform recommendations optimise engagement rather than learning, new learners get poor suggestions, and courses are suggested one by one without order. The need is a </a:t>
            </a:r>
            <a:r>
              <a:rPr sz="1900" b="1" i="0">
                <a:solidFill>
                  <a:srgbClr val="0F172A"/>
                </a:solidFill>
              </a:rPr>
              <a:t>hybrid recommendation engine</a:t>
            </a:r>
            <a:r>
              <a:rPr sz="1900" b="0" i="0">
                <a:solidFill>
                  <a:srgbClr val="0F172A"/>
                </a:solidFill>
              </a:rPr>
              <a:t> that matches courses to a learner's profile and sequences them into a coherent </a:t>
            </a:r>
            <a:r>
              <a:rPr sz="1900" b="1" i="0">
                <a:solidFill>
                  <a:srgbClr val="0F172A"/>
                </a:solidFill>
              </a:rPr>
              <a:t>learning path</a:t>
            </a:r>
            <a:r>
              <a:rPr sz="1900" b="0" i="0">
                <a:solidFill>
                  <a:srgbClr val="0F172A"/>
                </a:solidFill>
              </a:rP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114800"/>
            <a:ext cx="3520440" cy="15544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7240" y="422452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66344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Learner profile (interests, skill, goals, weekly hours) and logged activity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34255" y="4114800"/>
            <a:ext cx="3520440" cy="15544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62855" y="422452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2855" y="466344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Ranked courses with reasons, a staged learning path, a suggested next action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4114800"/>
            <a:ext cx="3520440" cy="15544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348471" y="422452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1" y="466344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Interactions, recommendation log, model analytics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280160"/>
            <a:ext cx="11091672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400" b="0" i="0">
                <a:solidFill>
                  <a:srgbClr val="0F172A"/>
                </a:solidFill>
              </a:rPr>
              <a:t>1.  Build learner profiles capturing interests, current skills, goals and completed courses.</a:t>
            </a:r>
          </a:p>
          <a:p>
            <a:pPr algn="l">
              <a:spcAft>
                <a:spcPts val="1600"/>
              </a:spcAft>
            </a:pPr>
            <a:r>
              <a:rPr sz="2400" b="0" i="0">
                <a:solidFill>
                  <a:srgbClr val="0F172A"/>
                </a:solidFill>
              </a:rPr>
              <a:t>2.  Construct a course catalogue with topic, level, prerequisite and outcome metadata.</a:t>
            </a:r>
          </a:p>
          <a:p>
            <a:pPr algn="l">
              <a:spcAft>
                <a:spcPts val="1600"/>
              </a:spcAft>
            </a:pPr>
            <a:r>
              <a:rPr sz="2400" b="0" i="0">
                <a:solidFill>
                  <a:srgbClr val="0F172A"/>
                </a:solidFill>
              </a:rPr>
              <a:t>3.  Implement collaborative filtering over learner interaction history.</a:t>
            </a:r>
          </a:p>
          <a:p>
            <a:pPr algn="l">
              <a:spcAft>
                <a:spcPts val="1600"/>
              </a:spcAft>
            </a:pPr>
            <a:r>
              <a:rPr sz="2400" b="0" i="0">
                <a:solidFill>
                  <a:srgbClr val="0F172A"/>
                </a:solidFill>
              </a:rPr>
              <a:t>4.  Implement content-based matching between learner profile and course metadata.</a:t>
            </a:r>
          </a:p>
          <a:p>
            <a:pPr algn="l">
              <a:spcAft>
                <a:spcPts val="1600"/>
              </a:spcAft>
            </a:pPr>
            <a:r>
              <a:rPr sz="2400" b="0" i="0">
                <a:solidFill>
                  <a:srgbClr val="0F172A"/>
                </a:solidFill>
              </a:rPr>
              <a:t>5.  Combine both into a hybrid recommendation engine and order the output into a coherent learning path.</a:t>
            </a:r>
          </a:p>
          <a:p>
            <a:pPr algn="l">
              <a:spcAft>
                <a:spcPts val="1600"/>
              </a:spcAft>
            </a:pPr>
            <a:r>
              <a:rPr sz="2400" b="0" i="0">
                <a:solidFill>
                  <a:srgbClr val="0F172A"/>
                </a:solidFill>
              </a:rPr>
              <a:t>6.  Evaluate using precision, recall and learner feedback on recommendation relevance.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approach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33472" cy="3246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0876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481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Profile and catalogue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194560"/>
            <a:ext cx="2231136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Learner profile (education, skill level, interests, topics, goals, weekly hours); 24-course catalogue with topic, level, prerequisites and outcomes.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4992" y="1325880"/>
            <a:ext cx="2633472" cy="3246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3566160" y="150876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1481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Match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2194560"/>
            <a:ext cx="2231136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TF-IDF text similarity between profile and course, plus skill fit, topic overlap, goal match and rating.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1344" y="1325880"/>
            <a:ext cx="2633472" cy="3246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382512" y="150876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2592" y="1481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Predict and adapt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2194560"/>
            <a:ext cx="2231136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Learner-success model on 8 activity features; one-vs-rest estimate of action benefit; behavioural boost from logged events.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97696" y="1325880"/>
            <a:ext cx="2633472" cy="3246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9198864" y="150876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38944" y="1481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Rank and sequence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98864" y="2194560"/>
            <a:ext cx="2231136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Eight-term hybrid score, top-N with reasons, learning path ordered by level then score.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4754880"/>
            <a:ext cx="11091672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777240" y="5029200"/>
            <a:ext cx="640080" cy="640080"/>
          </a:xfrm>
          <a:prstGeom prst="ellipse">
            <a:avLst/>
          </a:prstGeom>
          <a:solidFill>
            <a:srgbClr val="1B2A41"/>
          </a:solidFill>
          <a:ln w="9525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45920" y="489204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F172A"/>
                </a:solidFill>
              </a:rPr>
              <a:t>Evaluation plan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45920" y="5349240"/>
            <a:ext cx="97840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Success-model AUC, F1 and Brier on a learner-level held-out split; offline policy evaluation; fairness by group; precision@k on persona checks. Collaborative filtering across learners is not planned for lack of a real interaction log.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proposed architecture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pic>
        <p:nvPicPr>
          <p:cNvPr id="26" name="Picture 25" descr="01_system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949" y="1188720"/>
            <a:ext cx="6254261" cy="5029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863840" y="1371600"/>
            <a:ext cx="379476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F172A"/>
                </a:solidFill>
              </a:rPr>
              <a:t>Four tiers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Presentation: React 19 interface (port 5407) and the original Jinja pages (port 8407).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Application: FastAPI routes, token login, validation.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Recommendation: hybrid ranker, success model and action-benefit models.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Data: SQLite with six tables, the 24-course catalogue, trained model files.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and contributions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2044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Working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Eight-term hybrid ranking of a 24-course catalogue for any profile.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371600"/>
            <a:ext cx="352044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Visible reasoning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240280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Match score, success estimate and a plain-language reason on every card.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371600"/>
            <a:ext cx="352044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Adapting ranking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40280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Logged events change the next ranking immediately, without retraining.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840480"/>
            <a:ext cx="352044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749808" y="402336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89888" y="3995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Measured models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4709160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Success-model metrics, offline policy evaluation and fairness audit, with limits stated.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34255" y="3840480"/>
            <a:ext cx="352044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4535423" y="402336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75503" y="3995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Usable system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35423" y="4709160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Web application with login, profile, learning path, insights and analytics.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19871" y="3840480"/>
            <a:ext cx="352044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8321040" y="402336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19" y="3995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Reproducibility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4709160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One script retrains the models; one script regenerates every figure from JSON.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234440"/>
            <a:ext cx="11091672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0F172A"/>
                </a:solidFill>
              </a:rPr>
              <a:t>[1] C. P. Isiwu, L. C. Nnadi, and Y. Watanobe, "From prediction to prescription: A Causal-AI for personalized learning path optimization in MOOCs," IEEE Access, vol. 14, pp. 29105-29118, 2026, doi: 10.1109/ACCESS.2026.3666619.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0F172A"/>
                </a:solidFill>
              </a:rPr>
              <a:t>[2] A. Khreis, A. Nasr, and Y. Hilal, "Isotropy-optimized contrastive learning for semantic course recommendation," arXiv:2601.11427, Jan. 2026.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0F172A"/>
                </a:solidFill>
              </a:rPr>
              <a:t>[3] A. Gharahighehi, A. Ghinis, M. Venturini, F. Cornillie, and C. Vens, "Enhancing collaborative filtering-based course recommendations by exploiting time-to-event information with survival analysis," arXiv:2503.00072, 2025.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0F172A"/>
                </a:solidFill>
              </a:rPr>
              <a:t>[4] J. Kuzilek, M. Hlosta, and Z. Zdrahal, "Open university learning analytics dataset," Sci. Data, vol. 4, no. 1, pp. 1-8, Nov. 2017.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0F172A"/>
                </a:solidFill>
              </a:rPr>
              <a:t>[5] M. Dudik, D. Erhan, J. Langford, and L. Li, "Doubly robust policy evaluation and optimization," Stat. Sci., vol. 29, no. 4, pp. 485-511, Nov. 2014.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0F172A"/>
                </a:solidFill>
              </a:rPr>
              <a:t>[8] P. Gutierrez and J.-Y. Gerardy, "Causal inference and uplift modelling: A review of the literature," in Proc. Int. Conf. Predictive Appl. APIs, 2016, pp. 1-13.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0F172A"/>
                </a:solidFill>
              </a:rPr>
              <a:t>[9] J. Zhang, B. Hao, B. Chen, C. Li, H. Chen, and J. Sun, "Hierarchical reinforcement learning for course recommendation in MOOCs," in Proc. AAAI Conf. Artif. Intell., vol. 33, 2019, pp. 435-442.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0F172A"/>
                </a:solidFill>
              </a:rPr>
              <a:t>[17] X. He, K. Deng, X. Wang, Y. Li, Y. Zhang, and M. Wang, "LightGCN: Simplifying and powering graph convolution network for recommendation," in Proc. 43rd Int. ACM SIGIR Conf. Res. Develop. Inf. Retrieval, 2020, pp. 639-648.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0F172A"/>
                </a:solidFill>
              </a:rPr>
              <a:t>[23] S. Sujay, G. Harshitha, and M. Monisha, "EduGuide: A hybrid NLP-driven course recommendation system ... TF-IDF and ML," Int. J. Innov. Res. Technol., vol. 13, no. 3,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PathIQ">
  <a:themeElements>
    <a:clrScheme name="LearnPathIQ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LearnPathIQ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LearnPathIQ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Personalized E-learning Course Recommendation System: Review 1</dc:title>
  <dc:subject>Batch C7 (CSE-C)</dc:subject>
  <dc:creator>PITTALA AKHILA, MUNDALA SANDHYA, MULA THANUJ REDDY, MAJJIGAPU JAGADESHWAR REDDY</dc:creator>
  <cp:lastModifiedBy/>
  <cp:revision>1</cp:revision>
  <dcterms:created xsi:type="dcterms:W3CDTF">2026-10-13T12:36:40Z</dcterms:created>
  <dcterms:modified xsi:type="dcterms:W3CDTF">2026-10-13T12:36:40Z</dcterms:modified>
  <cp:keywords>course recommendation, hybrid ranking, learner success, uplift, offline policy evaluation</cp:keywords>
  <dc:description/>
</cp:coreProperties>
</file>