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c3623e47-5b1a-7aef-5476-75bff30165c3}">
          <p14:sldIdLst>
            <p14:sldId id="256"/>
            <p14:sldId id="257"/>
            <p14:sldId id="258"/>
          </p14:sldIdLst>
        </p14:section>
        <p14:section name="Design" id="{ee3f979a-aefa-c88f-8568-1021737ba133}">
          <p14:sldIdLst>
            <p14:sldId id="259"/>
            <p14:sldId id="260"/>
            <p14:sldId id="261"/>
            <p14:sldId id="262"/>
            <p14:sldId id="263"/>
            <p14:sldId id="264"/>
            <p14:sldId id="265"/>
            <p14:sldId id="266"/>
            <p14:sldId id="267"/>
            <p14:sldId id="268"/>
          </p14:sldIdLst>
        </p14:section>
        <p14:section name="Progress" id="{cf39a97a-7fb0-4c7a-0650-0fb3a5c44815}">
          <p14:sldIdLst>
            <p14:sldId id="269"/>
            <p14:sldId id="270"/>
            <p14:sldId id="271"/>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P@1</c:v>
                </c:pt>
              </c:strCache>
            </c:strRef>
          </c:tx>
          <c:spPr>
            <a:solidFill>
              <a:srgbClr val="1BAF7A"/>
            </a:solidFill>
          </c:spPr>
          <c:cat>
            <c:strRef>
              <c:f>Sheet1!$A$2:$A$4</c:f>
              <c:strCache>
                <c:ptCount val="3"/>
                <c:pt idx="0">
                  <c:v>Popularity</c:v>
                </c:pt>
                <c:pt idx="1">
                  <c:v>Content-only</c:v>
                </c:pt>
                <c:pt idx="2">
                  <c:v>Hybrid</c:v>
                </c:pt>
              </c:strCache>
            </c:strRef>
          </c:cat>
          <c:val>
            <c:numRef>
              <c:f>Sheet1!$B$2:$B$4</c:f>
              <c:numCache>
                <c:formatCode>General</c:formatCode>
                <c:ptCount val="3"/>
                <c:pt idx="0">
                  <c:v>0.2</c:v>
                </c:pt>
                <c:pt idx="1">
                  <c:v>1.0</c:v>
                </c:pt>
                <c:pt idx="2">
                  <c:v>1.0</c:v>
                </c:pt>
              </c:numCache>
            </c:numRef>
          </c:val>
        </c:ser>
        <c:ser>
          <c:idx val="1"/>
          <c:order val="1"/>
          <c:tx>
            <c:strRef>
              <c:f>Sheet1!$C$1</c:f>
              <c:strCache>
                <c:ptCount val="1"/>
                <c:pt idx="0">
                  <c:v>P@3</c:v>
                </c:pt>
              </c:strCache>
            </c:strRef>
          </c:tx>
          <c:spPr>
            <a:solidFill>
              <a:srgbClr val="2A78D6"/>
            </a:solidFill>
          </c:spPr>
          <c:cat>
            <c:strRef>
              <c:f>Sheet1!$A$2:$A$4</c:f>
              <c:strCache>
                <c:ptCount val="3"/>
                <c:pt idx="0">
                  <c:v>Popularity</c:v>
                </c:pt>
                <c:pt idx="1">
                  <c:v>Content-only</c:v>
                </c:pt>
                <c:pt idx="2">
                  <c:v>Hybrid</c:v>
                </c:pt>
              </c:strCache>
            </c:strRef>
          </c:cat>
          <c:val>
            <c:numRef>
              <c:f>Sheet1!$C$2:$C$4</c:f>
              <c:numCache>
                <c:formatCode>General</c:formatCode>
                <c:ptCount val="3"/>
                <c:pt idx="0">
                  <c:v>0.2</c:v>
                </c:pt>
                <c:pt idx="1">
                  <c:v>0.8</c:v>
                </c:pt>
                <c:pt idx="2">
                  <c:v>0.7333333333333333</c:v>
                </c:pt>
              </c:numCache>
            </c:numRef>
          </c:val>
        </c:ser>
        <c:ser>
          <c:idx val="2"/>
          <c:order val="2"/>
          <c:tx>
            <c:strRef>
              <c:f>Sheet1!$D$1</c:f>
              <c:strCache>
                <c:ptCount val="1"/>
                <c:pt idx="0">
                  <c:v>P@5</c:v>
                </c:pt>
              </c:strCache>
            </c:strRef>
          </c:tx>
          <c:spPr>
            <a:solidFill>
              <a:srgbClr val="EB6834"/>
            </a:solidFill>
          </c:spPr>
          <c:cat>
            <c:strRef>
              <c:f>Sheet1!$A$2:$A$4</c:f>
              <c:strCache>
                <c:ptCount val="3"/>
                <c:pt idx="0">
                  <c:v>Popularity</c:v>
                </c:pt>
                <c:pt idx="1">
                  <c:v>Content-only</c:v>
                </c:pt>
                <c:pt idx="2">
                  <c:v>Hybrid</c:v>
                </c:pt>
              </c:strCache>
            </c:strRef>
          </c:cat>
          <c:val>
            <c:numRef>
              <c:f>Sheet1!$D$2:$D$4</c:f>
              <c:numCache>
                <c:formatCode>General</c:formatCode>
                <c:ptCount val="3"/>
                <c:pt idx="0">
                  <c:v>0.2</c:v>
                </c:pt>
                <c:pt idx="1">
                  <c:v>0.5599999999999999</c:v>
                </c:pt>
                <c:pt idx="2">
                  <c:v>0.54</c:v>
                </c:pt>
              </c:numCache>
            </c:numRef>
          </c:val>
        </c:ser>
        <c:dLbls>
          <c:numFmt formatCode="0.00" sourceLinked="0"/>
          <c:txPr>
            <a:bodyPr/>
            <a:lstStyle/>
            <a:p>
              <a:pPr>
                <a:defRPr sz="1100"/>
              </a:pPr>
            </a:p>
          </c:txPr>
          <c:dLblPos val="outEnd"/>
          <c:showLegendKey val="0"/>
          <c:showVal val="1"/>
          <c:showCatName val="0"/>
          <c:showSerName val="0"/>
          <c:showPercent val="0"/>
          <c:showBubbleSize val="0"/>
          <c:showLeaderLines val="1"/>
        </c:dLbls>
        <c:gapWidth val="60"/>
        <c:axId val="-2068027336"/>
        <c:axId val="-2113994440"/>
      </c:barChart>
      <c:catAx>
        <c:axId val="-2068027336"/>
        <c:scaling>
          <c:orientation val="minMax"/>
        </c:scaling>
        <c:delete val="0"/>
        <c:axPos val="b"/>
        <c:majorTickMark val="out"/>
        <c:minorTickMark val="none"/>
        <c:tickLblPos val="nextTo"/>
        <c:spPr>
          <a:ln>
            <a:solidFill>
              <a:srgbClr val="D5DCE6"/>
            </a:solidFill>
          </a:ln>
        </c:spPr>
        <c:crossAx val="-2113994440"/>
        <c:crosses val="autoZero"/>
        <c:auto val="1"/>
        <c:lblAlgn val="ctr"/>
        <c:lblOffset val="100"/>
        <c:noMultiLvlLbl val="0"/>
      </c:catAx>
      <c:valAx>
        <c:axId val="-2113994440"/>
        <c:scaling>
          <c:max val="1.2"/>
          <c:min val="0.0"/>
        </c:scaling>
        <c:delete val="0"/>
        <c:axPos val="l"/>
        <c:majorGridlines>
          <c:spPr>
            <a:ln>
              <a:solidFill>
                <a:srgbClr val="D5DCE6"/>
              </a:solidFill>
            </a:ln>
          </c:spPr>
        </c:majorGridlines>
        <c:numFmt formatCode="0.00" sourceLinked="0"/>
        <c:majorTickMark val="out"/>
        <c:minorTickMark val="none"/>
        <c:tickLblPos val="nextTo"/>
        <c:spPr>
          <a:ln>
            <a:noFill/>
          </a:ln>
        </c:spPr>
        <c:crossAx val="-2068027336"/>
        <c:crosses val="autoZero"/>
      </c:valAx>
    </c:plotArea>
    <c:legend>
      <c:legendPos val="b"/>
      <c:overlay val="0"/>
    </c:legend>
    <c:dispBlanksAs val="gap"/>
  </c:chart>
  <c:txPr>
    <a:bodyPr/>
    <a:lstStyle/>
    <a:p>
      <a:pPr>
        <a:defRPr sz="12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review shows how the system is designed and built: the data and models, what has been implemented, the first measured results and the open items.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Agenda for the design and progress review.</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One-minute recap of Review 1. The base paper prescribes actions on real OULAD data; we adapt its components to course recommendation on synthetic OULAD-like data and say so on every results slide.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Four tiers. The React app proxies /api to the FastAPI service, so the login cookie stays same-origin.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workflow splits into an offline training step and an online ranking step. The online step needs no retraining to adapt: new events change the behaviour and engagement terms at once.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State the data source first. Every model number in this deck comes from the synthetic generator; no claim is made about real learners.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same state vector is used in training and at request time. Feature correlations are modest by construction of the generator, which is why test AUC is about 0.60.</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selected model is whichever has the best validation AUC; on the shipped seed that is logistic regression, with XGBoost a close second. Test AUC is reported on the held-out learners.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whole training run takes seconds, so we could repeat it with six seeds to measure variation (next slides and the final review).</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flowchart follows rank_courses() in app/recommender.py. The last bullet is a known limitation that we report rather than hide.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Level-1 data flow: five processes. Levels 0 and 2 are in the report.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Foreign keys link profiles, interactions and tokens to users. Interaction course ids and recommendation-log columns are plain columns, not constraints.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Everything is open source and runs on one laptop.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Objective-by-objective status. The two gaps are cross-learner collaborative filtering and the reinforcement-learning agent.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First measured numbers. The persona check is a sanity test with relevance defined as category membership, fixed before ranking; it is not a user study. Offline policy evaluation gave SNIPS 0.665 with an effective sample size of 9.1, so it is not evidence of a gain.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Real screenshots from the running application: one registered learner with a filled profile and 12 logged events.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tests run against the real model and a throw-away database. The latency is a mean over 30 requests on 127.0.0.1.</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challenge is reported with what we did about it, and gaps that remain are stated.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Plan to the final review. The extensions on the right are outside this submission.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Likely questions: why synthetic data; why the hybrid does not beat content-only on the persona check; what the estimated action benefit means.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7315200" cy="274320"/>
          </a:xfrm>
          <a:prstGeom prst="rect">
            <a:avLst/>
          </a:prstGeom>
          <a:noFill/>
          <a:ln/>
        </p:spPr>
        <p:txBody>
          <a:bodyPr wrap="square" lIns="0" tIns="0" rIns="0" bIns="0" rtlCol="0" anchor="ctr"/>
          <a:lstStyle/>
          <a:p>
            <a:pPr indent="0" marL="0">
              <a:buNone/>
            </a:pPr>
            <a:r>
              <a:rPr lang="en-US" sz="1000" dirty="0">
                <a:solidFill>
                  <a:srgbClr val="64748B"/>
                </a:solidFill>
                <a:latin typeface="Calibri" pitchFamily="34" charset="0"/>
                <a:ea typeface="Calibri" pitchFamily="34" charset="-122"/>
                <a:cs typeface="Calibri" pitchFamily="34" charset="-120"/>
              </a:rPr>
              <a:t>LearnPathIQ  ·  Review 2</a:t>
            </a:r>
            <a:endParaRPr lang="en-US" sz="1000" dirty="0"/>
          </a:p>
        </p:txBody>
      </p:sp>
      <p:sp>
        <p:nvSpPr>
          <p:cNvPr id="3" name="Text 1"/>
          <p:cNvSpPr/>
          <p:nvPr>
            <p:ph idx="101"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rgbClr val="1B2A4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rgbClr val="1B2A4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rtlCol="0"/>
          <a:lstStyle>
            <a:lvl1pPr algn="l" indent="0" marL="0">
              <a:buNone/>
              <a:defRPr lang="en-US" sz="2000" dirty="0">
                <a:solidFill>
                  <a:srgbClr val="CADCFC"/>
                </a:solidFill>
                <a:latin typeface="Calibri" pitchFamily="34" charset="0"/>
                <a:ea typeface="Calibri" pitchFamily="34" charset="-122"/>
                <a:cs typeface="Calibri" pitchFamily="34" charset="-120"/>
              </a:defRPr>
            </a:lvl1pPr>
          </a:lstStyle>
          <a:p>
            <a:pPr algn="l" indent="0" marL="0">
              <a:buNone/>
            </a:pP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3.xml"/><Relationship Id="rId3" Type="http://schemas.openxmlformats.org/officeDocument/2006/relationships/notesSlide" Target="../notesSlides/notesSlide1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8.png"/><Relationship Id="rId3" Type="http://schemas.openxmlformats.org/officeDocument/2006/relationships/slideLayout" Target="../slideLayouts/slideLayout3.xml"/><Relationship Id="rId4" Type="http://schemas.openxmlformats.org/officeDocument/2006/relationships/notesSlide" Target="../notesSlides/notesSlide16.xml"/><Relationship Id="rId5" Type="http://schemas.openxmlformats.org/officeDocument/2006/relationships/image" Target="../media/image1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7" Type="http://schemas.openxmlformats.org/officeDocument/2006/relationships/slideLayout" Target="../slideLayouts/slideLayout3.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11094415" cy="1371600"/>
          </a:xfrm>
          <a:prstGeom prst="rect">
            <a:avLst/>
          </a:prstGeom>
          <a:noFill/>
          <a:ln/>
        </p:spPr>
        <p:txBody>
          <a:bodyPr wrap="square" lIns="0" tIns="0" rIns="0" bIns="0" rtlCol="0" anchor="b"/>
          <a:lstStyle/>
          <a:p>
            <a:pPr algn="l" indent="0" marL="0">
              <a:buNone/>
            </a:pPr>
            <a:r>
              <a:rPr lang="en-US" sz="4000" b="1" dirty="0">
                <a:solidFill>
                  <a:srgbClr val="FFFFFF"/>
                </a:solidFill>
                <a:latin typeface="Cambria" pitchFamily="34" charset="0"/>
                <a:ea typeface="Cambria" pitchFamily="34" charset="-122"/>
                <a:cs typeface="Cambria" pitchFamily="34" charset="-120"/>
              </a:rPr>
              <a:t>Personalized E-learning Course Recommendation System</a:t>
            </a:r>
            <a:endParaRPr lang="en-US" sz="4000" dirty="0"/>
          </a:p>
        </p:txBody>
      </p:sp>
      <p:sp>
        <p:nvSpPr>
          <p:cNvPr id="3" name="Text 0"/>
          <p:cNvSpPr/>
          <p:nvPr>
            <p:ph idx="101" type="body" hasCustomPrompt="1"/>
          </p:nvPr>
        </p:nvSpPr>
        <p:spPr>
          <a:xfrm>
            <a:off x="548640" y="2880360"/>
            <a:ext cx="11094415" cy="82296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Design, methodology and progress: an eight-term hybrid ranker, a learner-success model and action-benefit estimates behind a FastAPI service and a React interface</a:t>
            </a:r>
            <a:endParaRPr lang="en-US" sz="2000" dirty="0"/>
          </a:p>
        </p:txBody>
      </p:sp>
      <p:sp>
        <p:nvSpPr>
          <p:cNvPr id="4" name="review label"/>
          <p:cNvSpPr txBox="1"/>
          <p:nvPr/>
        </p:nvSpPr>
        <p:spPr>
          <a:xfrm>
            <a:off x="548640" y="640080"/>
            <a:ext cx="7315200" cy="365760"/>
          </a:xfrm>
          <a:prstGeom prst="rect">
            <a:avLst/>
          </a:prstGeom>
          <a:noFill/>
          <a:ln/>
        </p:spPr>
        <p:txBody>
          <a:bodyPr wrap="square" lIns="0" tIns="0" rIns="0" bIns="0" rtlCol="0" anchor="ctr"/>
          <a:lstStyle/>
          <a:p>
            <a:pPr indent="0" marL="0">
              <a:buNone/>
            </a:pPr>
            <a:r>
              <a:rPr lang="en-US" sz="1400" b="1" spc="200" kern="0" dirty="0">
                <a:solidFill>
                  <a:srgbClr val="EDA100"/>
                </a:solidFill>
              </a:rPr>
              <a:t>REVIEW 2  ·  DESIGN, METHODOLOGY AND PROGRESS</a:t>
            </a:r>
            <a:endParaRPr lang="en-US" sz="1400" dirty="0"/>
          </a:p>
        </p:txBody>
      </p:sp>
      <p:sp>
        <p:nvSpPr>
          <p:cNvPr id="5" name="Text 3"/>
          <p:cNvSpPr txBox="1"/>
          <p:nvPr/>
        </p:nvSpPr>
        <p:spPr>
          <a:xfrm>
            <a:off x="548640" y="4160520"/>
            <a:ext cx="5120640" cy="320040"/>
          </a:xfrm>
          <a:prstGeom prst="rect">
            <a:avLst/>
          </a:prstGeom>
          <a:noFill/>
          <a:ln/>
        </p:spPr>
        <p:txBody>
          <a:bodyPr wrap="square" lIns="0" tIns="0" rIns="0" bIns="0" rtlCol="0" anchor="ctr"/>
          <a:lstStyle/>
          <a:p>
            <a:pPr indent="0" marL="0">
              <a:buNone/>
            </a:pPr>
            <a:r>
              <a:rPr lang="en-US" sz="1400" dirty="0">
                <a:solidFill>
                  <a:srgbClr val="CADCFC"/>
                </a:solidFill>
              </a:rPr>
              <a:t>Presented by</a:t>
            </a:r>
            <a:endParaRPr lang="en-US" sz="1400" dirty="0"/>
          </a:p>
        </p:txBody>
      </p:sp>
      <p:sp>
        <p:nvSpPr>
          <p:cNvPr id="6" name="team"/>
          <p:cNvSpPr txBox="1"/>
          <p:nvPr/>
        </p:nvSpPr>
        <p:spPr>
          <a:xfrm>
            <a:off x="548640" y="4480560"/>
            <a:ext cx="5120640" cy="1280160"/>
          </a:xfrm>
          <a:prstGeom prst="rect">
            <a:avLst/>
          </a:prstGeom>
          <a:noFill/>
          <a:ln/>
        </p:spPr>
        <p:txBody>
          <a:bodyPr wrap="square" lIns="0" tIns="0" rIns="0" bIns="0" rtlCol="0" anchor="t"/>
          <a:lstStyle/>
          <a:p>
            <a:pPr indent="0" marL="0">
              <a:buNone/>
            </a:pPr>
            <a:r>
              <a:rPr lang="en-US" sz="1500" dirty="0">
                <a:solidFill>
                  <a:srgbClr val="FFFFFF"/>
                </a:solidFill>
              </a:rPr>
              <a:t>PITTALA AKHILA  23K91A05J3</a:t>
            </a:r>
            <a:endParaRPr lang="en-US" sz="1500" dirty="0"/>
          </a:p>
          <a:p>
            <a:pPr indent="0" marL="0">
              <a:buNone/>
            </a:pPr>
            <a:r>
              <a:rPr lang="en-US" sz="1500" dirty="0">
                <a:solidFill>
                  <a:srgbClr val="FFFFFF"/>
                </a:solidFill>
              </a:rPr>
              <a:t>MUNDALA SANDHYA  23K91A05G5</a:t>
            </a:r>
            <a:endParaRPr lang="en-US" sz="1500" dirty="0"/>
          </a:p>
          <a:p>
            <a:pPr indent="0" marL="0">
              <a:buNone/>
            </a:pPr>
            <a:r>
              <a:rPr lang="en-US" sz="1500" dirty="0">
                <a:solidFill>
                  <a:srgbClr val="FFFFFF"/>
                </a:solidFill>
              </a:rPr>
              <a:t>MULA THANUJ REDDY  23K91A05G4</a:t>
            </a:r>
            <a:endParaRPr lang="en-US" sz="1500" dirty="0"/>
          </a:p>
          <a:p>
            <a:pPr indent="0" marL="0">
              <a:buNone/>
            </a:pPr>
            <a:r>
              <a:rPr lang="en-US" sz="1500" dirty="0">
                <a:solidFill>
                  <a:srgbClr val="FFFFFF"/>
                </a:solidFill>
              </a:rPr>
              <a:t>MAJJIGAPU JAGADESHWAR REDDY  23K91A05E1</a:t>
            </a:r>
            <a:endParaRPr lang="en-US" sz="1500" dirty="0"/>
          </a:p>
        </p:txBody>
      </p:sp>
      <p:sp>
        <p:nvSpPr>
          <p:cNvPr id="7" name="Text 5"/>
          <p:cNvSpPr txBox="1"/>
          <p:nvPr/>
        </p:nvSpPr>
        <p:spPr>
          <a:xfrm>
            <a:off x="6400800" y="4160520"/>
            <a:ext cx="5212080" cy="320040"/>
          </a:xfrm>
          <a:prstGeom prst="rect">
            <a:avLst/>
          </a:prstGeom>
          <a:noFill/>
          <a:ln/>
        </p:spPr>
        <p:txBody>
          <a:bodyPr wrap="square" lIns="0" tIns="0" rIns="0" bIns="0" rtlCol="0" anchor="ctr"/>
          <a:lstStyle/>
          <a:p>
            <a:pPr indent="0" marL="0">
              <a:buNone/>
            </a:pPr>
            <a:r>
              <a:rPr lang="en-US" sz="1400" dirty="0">
                <a:solidFill>
                  <a:srgbClr val="CADCFC"/>
                </a:solidFill>
              </a:rPr>
              <a:t>Under the guidance of</a:t>
            </a:r>
            <a:endParaRPr lang="en-US" sz="1400" dirty="0"/>
          </a:p>
        </p:txBody>
      </p:sp>
      <p:sp>
        <p:nvSpPr>
          <p:cNvPr id="8" name="Text 6"/>
          <p:cNvSpPr txBox="1"/>
          <p:nvPr/>
        </p:nvSpPr>
        <p:spPr>
          <a:xfrm>
            <a:off x="6400800" y="4480560"/>
            <a:ext cx="5212080" cy="365760"/>
          </a:xfrm>
          <a:prstGeom prst="rect">
            <a:avLst/>
          </a:prstGeom>
          <a:noFill/>
          <a:ln/>
        </p:spPr>
        <p:txBody>
          <a:bodyPr wrap="square" lIns="0" tIns="0" rIns="0" bIns="0" rtlCol="0" anchor="ctr"/>
          <a:lstStyle/>
          <a:p>
            <a:pPr indent="0" marL="0">
              <a:buNone/>
            </a:pPr>
            <a:r>
              <a:rPr lang="en-US" sz="1500" dirty="0">
                <a:solidFill>
                  <a:srgbClr val="FFFFFF"/>
                </a:solidFill>
              </a:rPr>
              <a:t>K GAYATHRI, [DESIGNATION]</a:t>
            </a:r>
            <a:endParaRPr lang="en-US" sz="1500" dirty="0"/>
          </a:p>
        </p:txBody>
      </p:sp>
      <p:sp>
        <p:nvSpPr>
          <p:cNvPr id="9" name="Text 7"/>
          <p:cNvSpPr txBox="1"/>
          <p:nvPr/>
        </p:nvSpPr>
        <p:spPr>
          <a:xfrm>
            <a:off x="6400800" y="4983480"/>
            <a:ext cx="5212080" cy="777240"/>
          </a:xfrm>
          <a:prstGeom prst="rect">
            <a:avLst/>
          </a:prstGeom>
          <a:noFill/>
          <a:ln/>
        </p:spPr>
        <p:txBody>
          <a:bodyPr wrap="square" lIns="0" tIns="0" rIns="0" bIns="0" rtlCol="0" anchor="t"/>
          <a:lstStyle/>
          <a:p>
            <a:pPr indent="0" marL="0">
              <a:buNone/>
            </a:pPr>
            <a:r>
              <a:rPr lang="en-US" sz="1300" dirty="0">
                <a:solidFill>
                  <a:srgbClr val="CADCFC"/>
                </a:solidFill>
              </a:rPr>
              <a:t>Department of Computer Science and Engineering</a:t>
            </a:r>
            <a:endParaRPr lang="en-US" sz="1300" dirty="0"/>
          </a:p>
          <a:p>
            <a:pPr indent="0" marL="0">
              <a:buNone/>
            </a:pPr>
            <a:r>
              <a:rPr lang="en-US" sz="1300" dirty="0">
                <a:solidFill>
                  <a:srgbClr val="CADCFC"/>
                </a:solidFill>
              </a:rPr>
              <a:t>[COLLEGE NAME]  ·  Batch C7 (CSE-C)  ·  [ACADEMIC YEAR]</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Contents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2</a:t>
            </a:fld>
            <a:endParaRPr lang="en-US"/>
          </a:p>
        </p:txBody>
      </p:sp>
      <p:sp>
        <p:nvSpPr>
          <p:cNvPr id="26" name="Rounded Rectangle 25"/>
          <p:cNvSpPr/>
          <p:nvPr/>
        </p:nvSpPr>
        <p:spPr>
          <a:xfrm>
            <a:off x="548640"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777240" y="15453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01</a:t>
            </a:r>
          </a:p>
        </p:txBody>
      </p:sp>
      <p:sp>
        <p:nvSpPr>
          <p:cNvPr id="28" name="TextBox 27"/>
          <p:cNvSpPr txBox="1"/>
          <p:nvPr/>
        </p:nvSpPr>
        <p:spPr>
          <a:xfrm>
            <a:off x="777240"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Recap and architecture</a:t>
            </a:r>
          </a:p>
        </p:txBody>
      </p:sp>
      <p:sp>
        <p:nvSpPr>
          <p:cNvPr id="29" name="Rounded Rectangle 28"/>
          <p:cNvSpPr/>
          <p:nvPr/>
        </p:nvSpPr>
        <p:spPr>
          <a:xfrm>
            <a:off x="4334255"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562855" y="15453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02</a:t>
            </a:r>
          </a:p>
        </p:txBody>
      </p:sp>
      <p:sp>
        <p:nvSpPr>
          <p:cNvPr id="31" name="TextBox 30"/>
          <p:cNvSpPr txBox="1"/>
          <p:nvPr/>
        </p:nvSpPr>
        <p:spPr>
          <a:xfrm>
            <a:off x="4562855"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Methodology and dataset</a:t>
            </a:r>
          </a:p>
        </p:txBody>
      </p:sp>
      <p:sp>
        <p:nvSpPr>
          <p:cNvPr id="32" name="Rounded Rectangle 31"/>
          <p:cNvSpPr/>
          <p:nvPr/>
        </p:nvSpPr>
        <p:spPr>
          <a:xfrm>
            <a:off x="8119871" y="14173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348471" y="15453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03</a:t>
            </a:r>
          </a:p>
        </p:txBody>
      </p:sp>
      <p:sp>
        <p:nvSpPr>
          <p:cNvPr id="34" name="TextBox 33"/>
          <p:cNvSpPr txBox="1"/>
          <p:nvPr/>
        </p:nvSpPr>
        <p:spPr>
          <a:xfrm>
            <a:off x="8348471" y="20756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Preprocessing and model</a:t>
            </a:r>
          </a:p>
        </p:txBody>
      </p:sp>
      <p:sp>
        <p:nvSpPr>
          <p:cNvPr id="35" name="Rounded Rectangle 34"/>
          <p:cNvSpPr/>
          <p:nvPr/>
        </p:nvSpPr>
        <p:spPr>
          <a:xfrm>
            <a:off x="548640"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777240" y="31455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04</a:t>
            </a:r>
          </a:p>
        </p:txBody>
      </p:sp>
      <p:sp>
        <p:nvSpPr>
          <p:cNvPr id="37" name="TextBox 36"/>
          <p:cNvSpPr txBox="1"/>
          <p:nvPr/>
        </p:nvSpPr>
        <p:spPr>
          <a:xfrm>
            <a:off x="777240"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Training and decision logic</a:t>
            </a:r>
          </a:p>
        </p:txBody>
      </p:sp>
      <p:sp>
        <p:nvSpPr>
          <p:cNvPr id="38" name="Rounded Rectangle 37"/>
          <p:cNvSpPr/>
          <p:nvPr/>
        </p:nvSpPr>
        <p:spPr>
          <a:xfrm>
            <a:off x="4334255"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4562855" y="31455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05</a:t>
            </a:r>
          </a:p>
        </p:txBody>
      </p:sp>
      <p:sp>
        <p:nvSpPr>
          <p:cNvPr id="40" name="TextBox 39"/>
          <p:cNvSpPr txBox="1"/>
          <p:nvPr/>
        </p:nvSpPr>
        <p:spPr>
          <a:xfrm>
            <a:off x="4562855"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Data flow, database and UML</a:t>
            </a:r>
          </a:p>
        </p:txBody>
      </p:sp>
      <p:sp>
        <p:nvSpPr>
          <p:cNvPr id="41" name="Rounded Rectangle 40"/>
          <p:cNvSpPr/>
          <p:nvPr/>
        </p:nvSpPr>
        <p:spPr>
          <a:xfrm>
            <a:off x="8119871" y="30175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extBox 41"/>
          <p:cNvSpPr txBox="1"/>
          <p:nvPr/>
        </p:nvSpPr>
        <p:spPr>
          <a:xfrm>
            <a:off x="8348471" y="3145536"/>
            <a:ext cx="914400" cy="457200"/>
          </a:xfrm>
          <a:prstGeom prst="rect">
            <a:avLst/>
          </a:prstGeom>
          <a:noFill/>
        </p:spPr>
        <p:txBody>
          <a:bodyPr wrap="square" lIns="0" rIns="0" tIns="0" bIns="0" anchor="t">
            <a:spAutoFit/>
          </a:bodyPr>
          <a:lstStyle/>
          <a:p>
            <a:pPr algn="l">
              <a:spcAft>
                <a:spcPts val="400"/>
              </a:spcAft>
            </a:pPr>
            <a:r>
              <a:rPr sz="2600" b="1" i="0">
                <a:solidFill>
                  <a:srgbClr val="2A78D6"/>
                </a:solidFill>
                <a:latin typeface="Cambria"/>
                <a:ea typeface="Cambria"/>
                <a:cs typeface="Cambria"/>
              </a:rPr>
              <a:t>06</a:t>
            </a:r>
          </a:p>
        </p:txBody>
      </p:sp>
      <p:sp>
        <p:nvSpPr>
          <p:cNvPr id="43" name="TextBox 42"/>
          <p:cNvSpPr txBox="1"/>
          <p:nvPr/>
        </p:nvSpPr>
        <p:spPr>
          <a:xfrm>
            <a:off x="8348471" y="3675887"/>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Technology stack</a:t>
            </a:r>
          </a:p>
        </p:txBody>
      </p:sp>
      <p:sp>
        <p:nvSpPr>
          <p:cNvPr id="44" name="Rounded Rectangle 43"/>
          <p:cNvSpPr/>
          <p:nvPr/>
        </p:nvSpPr>
        <p:spPr>
          <a:xfrm>
            <a:off x="548640"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777240" y="4745736"/>
            <a:ext cx="914400" cy="457200"/>
          </a:xfrm>
          <a:prstGeom prst="rect">
            <a:avLst/>
          </a:prstGeom>
          <a:noFill/>
        </p:spPr>
        <p:txBody>
          <a:bodyPr wrap="square" lIns="0" rIns="0" tIns="0" bIns="0" anchor="t">
            <a:spAutoFit/>
          </a:bodyPr>
          <a:lstStyle/>
          <a:p>
            <a:pPr algn="l">
              <a:spcAft>
                <a:spcPts val="400"/>
              </a:spcAft>
            </a:pPr>
            <a:r>
              <a:rPr sz="2600" b="1" i="0">
                <a:solidFill>
                  <a:srgbClr val="1BAF7A"/>
                </a:solidFill>
                <a:latin typeface="Cambria"/>
                <a:ea typeface="Cambria"/>
                <a:cs typeface="Cambria"/>
              </a:rPr>
              <a:t>07</a:t>
            </a:r>
          </a:p>
        </p:txBody>
      </p:sp>
      <p:sp>
        <p:nvSpPr>
          <p:cNvPr id="46" name="TextBox 45"/>
          <p:cNvSpPr txBox="1"/>
          <p:nvPr/>
        </p:nvSpPr>
        <p:spPr>
          <a:xfrm>
            <a:off x="777240"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Implementation progress and results</a:t>
            </a:r>
          </a:p>
        </p:txBody>
      </p:sp>
      <p:sp>
        <p:nvSpPr>
          <p:cNvPr id="47" name="Rounded Rectangle 46"/>
          <p:cNvSpPr/>
          <p:nvPr/>
        </p:nvSpPr>
        <p:spPr>
          <a:xfrm>
            <a:off x="4334255"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4562855" y="4745736"/>
            <a:ext cx="914400" cy="457200"/>
          </a:xfrm>
          <a:prstGeom prst="rect">
            <a:avLst/>
          </a:prstGeom>
          <a:noFill/>
        </p:spPr>
        <p:txBody>
          <a:bodyPr wrap="square" lIns="0" rIns="0" tIns="0" bIns="0" anchor="t">
            <a:spAutoFit/>
          </a:bodyPr>
          <a:lstStyle/>
          <a:p>
            <a:pPr algn="l">
              <a:spcAft>
                <a:spcPts val="400"/>
              </a:spcAft>
            </a:pPr>
            <a:r>
              <a:rPr sz="2600" b="1" i="0">
                <a:solidFill>
                  <a:srgbClr val="6B52D6"/>
                </a:solidFill>
                <a:latin typeface="Cambria"/>
                <a:ea typeface="Cambria"/>
                <a:cs typeface="Cambria"/>
              </a:rPr>
              <a:t>08</a:t>
            </a:r>
          </a:p>
        </p:txBody>
      </p:sp>
      <p:sp>
        <p:nvSpPr>
          <p:cNvPr id="49" name="TextBox 48"/>
          <p:cNvSpPr txBox="1"/>
          <p:nvPr/>
        </p:nvSpPr>
        <p:spPr>
          <a:xfrm>
            <a:off x="4562855"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Output screens and testing</a:t>
            </a:r>
          </a:p>
        </p:txBody>
      </p:sp>
      <p:sp>
        <p:nvSpPr>
          <p:cNvPr id="50" name="Rounded Rectangle 49"/>
          <p:cNvSpPr/>
          <p:nvPr/>
        </p:nvSpPr>
        <p:spPr>
          <a:xfrm>
            <a:off x="8119871" y="4617720"/>
            <a:ext cx="3520440"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8348471" y="4745736"/>
            <a:ext cx="914400" cy="457200"/>
          </a:xfrm>
          <a:prstGeom prst="rect">
            <a:avLst/>
          </a:prstGeom>
          <a:noFill/>
        </p:spPr>
        <p:txBody>
          <a:bodyPr wrap="square" lIns="0" rIns="0" tIns="0" bIns="0" anchor="t">
            <a:spAutoFit/>
          </a:bodyPr>
          <a:lstStyle/>
          <a:p>
            <a:pPr algn="l">
              <a:spcAft>
                <a:spcPts val="400"/>
              </a:spcAft>
            </a:pPr>
            <a:r>
              <a:rPr sz="2600" b="1" i="0">
                <a:solidFill>
                  <a:srgbClr val="EB6834"/>
                </a:solidFill>
                <a:latin typeface="Cambria"/>
                <a:ea typeface="Cambria"/>
                <a:cs typeface="Cambria"/>
              </a:rPr>
              <a:t>09</a:t>
            </a:r>
          </a:p>
        </p:txBody>
      </p:sp>
      <p:sp>
        <p:nvSpPr>
          <p:cNvPr id="52" name="TextBox 51"/>
          <p:cNvSpPr txBox="1"/>
          <p:nvPr/>
        </p:nvSpPr>
        <p:spPr>
          <a:xfrm>
            <a:off x="8348471" y="5276088"/>
            <a:ext cx="3063240" cy="594360"/>
          </a:xfrm>
          <a:prstGeom prst="rect">
            <a:avLst/>
          </a:prstGeom>
          <a:noFill/>
        </p:spPr>
        <p:txBody>
          <a:bodyPr wrap="square" lIns="0" rIns="0" tIns="0" bIns="0" anchor="t">
            <a:spAutoFit/>
          </a:bodyPr>
          <a:lstStyle/>
          <a:p>
            <a:pPr algn="l">
              <a:spcAft>
                <a:spcPts val="400"/>
              </a:spcAft>
            </a:pPr>
            <a:r>
              <a:rPr sz="1600" b="1" i="0">
                <a:solidFill>
                  <a:srgbClr val="0F172A"/>
                </a:solidFill>
              </a:rPr>
              <a:t>Challenges and next steps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Recap: problem and proposed system</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3</a:t>
            </a:fld>
            <a:endParaRPr lang="en-US"/>
          </a:p>
        </p:txBody>
      </p:sp>
      <p:sp>
        <p:nvSpPr>
          <p:cNvPr id="26" name="Rounded Rectangle 25"/>
          <p:cNvSpPr/>
          <p:nvPr/>
        </p:nvSpPr>
        <p:spPr>
          <a:xfrm>
            <a:off x="548640" y="1371600"/>
            <a:ext cx="3520440" cy="42062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55448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a:t>
            </a:r>
          </a:p>
        </p:txBody>
      </p:sp>
      <p:sp>
        <p:nvSpPr>
          <p:cNvPr id="28" name="TextBox 27"/>
          <p:cNvSpPr txBox="1"/>
          <p:nvPr/>
        </p:nvSpPr>
        <p:spPr>
          <a:xfrm>
            <a:off x="1389888"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Problem</a:t>
            </a:r>
          </a:p>
        </p:txBody>
      </p:sp>
      <p:sp>
        <p:nvSpPr>
          <p:cNvPr id="29" name="TextBox 28"/>
          <p:cNvSpPr txBox="1"/>
          <p:nvPr/>
        </p:nvSpPr>
        <p:spPr>
          <a:xfrm>
            <a:off x="749808" y="2240280"/>
            <a:ext cx="3118104" cy="3200399"/>
          </a:xfrm>
          <a:prstGeom prst="rect">
            <a:avLst/>
          </a:prstGeom>
          <a:noFill/>
        </p:spPr>
        <p:txBody>
          <a:bodyPr wrap="square" lIns="0" rIns="0" tIns="0" bIns="0" anchor="t">
            <a:spAutoFit/>
          </a:bodyPr>
          <a:lstStyle/>
          <a:p>
            <a:pPr algn="l">
              <a:spcAft>
                <a:spcPts val="400"/>
              </a:spcAft>
            </a:pPr>
            <a:r>
              <a:rPr sz="1600" b="0" i="0">
                <a:solidFill>
                  <a:srgbClr val="475569"/>
                </a:solidFill>
              </a:rPr>
              <a:t>Learners face long catalogues and no reliable way to judge which course suits them. Popularity lists ignore skill, goals and behaviour, new learners have no history, and courses are not put in order.</a:t>
            </a:r>
          </a:p>
        </p:txBody>
      </p:sp>
      <p:sp>
        <p:nvSpPr>
          <p:cNvPr id="30" name="Rounded Rectangle 29"/>
          <p:cNvSpPr/>
          <p:nvPr/>
        </p:nvSpPr>
        <p:spPr>
          <a:xfrm>
            <a:off x="4334255" y="1371600"/>
            <a:ext cx="3520440" cy="42062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4535423" y="155448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i</a:t>
            </a:r>
          </a:p>
        </p:txBody>
      </p:sp>
      <p:sp>
        <p:nvSpPr>
          <p:cNvPr id="32" name="TextBox 31"/>
          <p:cNvSpPr txBox="1"/>
          <p:nvPr/>
        </p:nvSpPr>
        <p:spPr>
          <a:xfrm>
            <a:off x="5175503"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Proposed system</a:t>
            </a:r>
          </a:p>
        </p:txBody>
      </p:sp>
      <p:sp>
        <p:nvSpPr>
          <p:cNvPr id="33" name="TextBox 32"/>
          <p:cNvSpPr txBox="1"/>
          <p:nvPr/>
        </p:nvSpPr>
        <p:spPr>
          <a:xfrm>
            <a:off x="4535423" y="2240280"/>
            <a:ext cx="3118104" cy="3200399"/>
          </a:xfrm>
          <a:prstGeom prst="rect">
            <a:avLst/>
          </a:prstGeom>
          <a:noFill/>
        </p:spPr>
        <p:txBody>
          <a:bodyPr wrap="square" lIns="0" rIns="0" tIns="0" bIns="0" anchor="t">
            <a:spAutoFit/>
          </a:bodyPr>
          <a:lstStyle/>
          <a:p>
            <a:pPr algn="l">
              <a:spcAft>
                <a:spcPts val="400"/>
              </a:spcAft>
            </a:pPr>
            <a:r>
              <a:rPr sz="1600" b="0" i="0">
                <a:solidFill>
                  <a:srgbClr val="475569"/>
                </a:solidFill>
              </a:rPr>
              <a:t>LearnPathIQ ranks every course with an eight-term hybrid score, adds a learner-success estimate and an estimated best learning action, explains each recommendation and orders a staged learning path.</a:t>
            </a:r>
          </a:p>
        </p:txBody>
      </p:sp>
      <p:sp>
        <p:nvSpPr>
          <p:cNvPr id="34" name="Rounded Rectangle 33"/>
          <p:cNvSpPr/>
          <p:nvPr/>
        </p:nvSpPr>
        <p:spPr>
          <a:xfrm>
            <a:off x="8119871" y="1371600"/>
            <a:ext cx="3520440" cy="42062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21040" y="155448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B</a:t>
            </a:r>
          </a:p>
        </p:txBody>
      </p:sp>
      <p:sp>
        <p:nvSpPr>
          <p:cNvPr id="36" name="TextBox 35"/>
          <p:cNvSpPr txBox="1"/>
          <p:nvPr/>
        </p:nvSpPr>
        <p:spPr>
          <a:xfrm>
            <a:off x="8961119" y="1527048"/>
            <a:ext cx="2514600" cy="548640"/>
          </a:xfrm>
          <a:prstGeom prst="rect">
            <a:avLst/>
          </a:prstGeom>
          <a:noFill/>
        </p:spPr>
        <p:txBody>
          <a:bodyPr wrap="square" lIns="0" rIns="0" tIns="0" bIns="0" anchor="ctr">
            <a:spAutoFit/>
          </a:bodyPr>
          <a:lstStyle/>
          <a:p>
            <a:pPr algn="l">
              <a:spcAft>
                <a:spcPts val="400"/>
              </a:spcAft>
            </a:pPr>
            <a:r>
              <a:rPr sz="1600" b="1" i="0">
                <a:solidFill>
                  <a:srgbClr val="0F172A"/>
                </a:solidFill>
              </a:rPr>
              <a:t>Base paper link</a:t>
            </a:r>
          </a:p>
        </p:txBody>
      </p:sp>
      <p:sp>
        <p:nvSpPr>
          <p:cNvPr id="37" name="TextBox 36"/>
          <p:cNvSpPr txBox="1"/>
          <p:nvPr/>
        </p:nvSpPr>
        <p:spPr>
          <a:xfrm>
            <a:off x="8321040" y="2240280"/>
            <a:ext cx="3118104" cy="3200399"/>
          </a:xfrm>
          <a:prstGeom prst="rect">
            <a:avLst/>
          </a:prstGeom>
          <a:noFill/>
        </p:spPr>
        <p:txBody>
          <a:bodyPr wrap="square" lIns="0" rIns="0" tIns="0" bIns="0" anchor="t">
            <a:spAutoFit/>
          </a:bodyPr>
          <a:lstStyle/>
          <a:p>
            <a:pPr algn="l">
              <a:spcAft>
                <a:spcPts val="400"/>
              </a:spcAft>
            </a:pPr>
            <a:r>
              <a:rPr sz="1600" b="0" i="0">
                <a:solidFill>
                  <a:srgbClr val="475569"/>
                </a:solidFill>
              </a:rPr>
              <a:t>Reuses its ideas of a predictive success model, uplift-style action benefit, off-policy evaluation and a fairness audit. It does not implement the Actor-Critic agent and does not use real OULAD data.</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System architecture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4</a:t>
            </a:fld>
            <a:endParaRPr lang="en-US"/>
          </a:p>
        </p:txBody>
      </p:sp>
      <p:pic>
        <p:nvPicPr>
          <p:cNvPr id="26" name="Picture 25" descr="01_system_architecture.png"/>
          <p:cNvPicPr>
            <a:picLocks noChangeAspect="1"/>
          </p:cNvPicPr>
          <p:nvPr/>
        </p:nvPicPr>
        <p:blipFill>
          <a:blip r:embed="rId1"/>
          <a:stretch>
            <a:fillRect/>
          </a:stretch>
        </p:blipFill>
        <p:spPr>
          <a:xfrm>
            <a:off x="941949" y="1188720"/>
            <a:ext cx="6254261" cy="5029200"/>
          </a:xfrm>
          <a:prstGeom prst="rect">
            <a:avLst/>
          </a:prstGeom>
        </p:spPr>
      </p:pic>
      <p:sp>
        <p:nvSpPr>
          <p:cNvPr id="27" name="TextBox 26"/>
          <p:cNvSpPr txBox="1"/>
          <p:nvPr/>
        </p:nvSpPr>
        <p:spPr>
          <a:xfrm>
            <a:off x="7863840" y="1371600"/>
            <a:ext cx="3794760" cy="4846320"/>
          </a:xfrm>
          <a:prstGeom prst="rect">
            <a:avLst/>
          </a:prstGeom>
          <a:noFill/>
        </p:spPr>
        <p:txBody>
          <a:bodyPr wrap="square" lIns="0" rIns="0" tIns="0" bIns="0" anchor="t">
            <a:spAutoFit/>
          </a:bodyPr>
          <a:lstStyle/>
          <a:p>
            <a:pPr algn="l">
              <a:spcAft>
                <a:spcPts val="800"/>
              </a:spcAft>
            </a:pPr>
            <a:r>
              <a:rPr sz="1500" b="1" i="0">
                <a:solidFill>
                  <a:srgbClr val="0F172A"/>
                </a:solidFill>
              </a:rPr>
              <a:t>Four tiers</a:t>
            </a:r>
          </a:p>
          <a:p>
            <a:pPr algn="l" marL="256032" indent="-201168">
              <a:spcAft>
                <a:spcPts val="800"/>
              </a:spcAft>
              <a:buChar char="•"/>
            </a:pPr>
            <a:r>
              <a:rPr sz="1500" b="0" i="0">
                <a:solidFill>
                  <a:srgbClr val="0F172A"/>
                </a:solidFill>
              </a:rPr>
              <a:t>Presentation: React 19 SPA (port 5407, 12 pages) and the original Jinja pages (port 8407).</a:t>
            </a:r>
          </a:p>
          <a:p>
            <a:pPr algn="l" marL="256032" indent="-201168">
              <a:spcAft>
                <a:spcPts val="800"/>
              </a:spcAft>
              <a:buChar char="•"/>
            </a:pPr>
            <a:r>
              <a:rPr sz="1500" b="0" i="0">
                <a:solidFill>
                  <a:srgbClr val="0F172A"/>
                </a:solidFill>
              </a:rPr>
              <a:t>Application: FastAPI with 18 JSON routes, HttpOnly cookie or header token, Pydantic validation.</a:t>
            </a:r>
          </a:p>
          <a:p>
            <a:pPr algn="l" marL="256032" indent="-201168">
              <a:spcAft>
                <a:spcPts val="800"/>
              </a:spcAft>
              <a:buChar char="•"/>
            </a:pPr>
            <a:r>
              <a:rPr sz="1500" b="0" i="0">
                <a:solidFill>
                  <a:srgbClr val="0F172A"/>
                </a:solidFill>
              </a:rPr>
              <a:t>Recommendation: hybrid ranker, success model, action-benefit models loaded from joblib files.</a:t>
            </a:r>
          </a:p>
          <a:p>
            <a:pPr algn="l" marL="256032" indent="-201168">
              <a:spcAft>
                <a:spcPts val="800"/>
              </a:spcAft>
              <a:buChar char="•"/>
            </a:pPr>
            <a:r>
              <a:rPr sz="1500" b="0" i="0">
                <a:solidFill>
                  <a:srgbClr val="0F172A"/>
                </a:solidFill>
              </a:rPr>
              <a:t>Data: SQLite (6 tables), 24-course catalogue, model artifacts.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Methodology: end-to-end workflow</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5</a:t>
            </a:fld>
            <a:endParaRPr lang="en-US"/>
          </a:p>
        </p:txBody>
      </p:sp>
      <p:sp>
        <p:nvSpPr>
          <p:cNvPr id="26" name="Rounded Rectangle 25"/>
          <p:cNvSpPr/>
          <p:nvPr/>
        </p:nvSpPr>
        <p:spPr>
          <a:xfrm>
            <a:off x="548640" y="1371600"/>
            <a:ext cx="1680972" cy="12344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rPr>
              <a:t>Learner profile</a:t>
            </a:r>
          </a:p>
        </p:txBody>
      </p:sp>
      <p:sp>
        <p:nvSpPr>
          <p:cNvPr id="27" name="Right Arrow 26"/>
          <p:cNvSpPr/>
          <p:nvPr/>
        </p:nvSpPr>
        <p:spPr>
          <a:xfrm>
            <a:off x="2229612" y="18699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2430780" y="1371600"/>
            <a:ext cx="1680972" cy="1234440"/>
          </a:xfrm>
          <a:prstGeom prst="roundRect">
            <a:avLst>
              <a:gd name="adj" fmla="val 8000"/>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rPr>
              <a:t>TF-IDF + rule terms</a:t>
            </a:r>
          </a:p>
        </p:txBody>
      </p:sp>
      <p:sp>
        <p:nvSpPr>
          <p:cNvPr id="29" name="Right Arrow 28"/>
          <p:cNvSpPr/>
          <p:nvPr/>
        </p:nvSpPr>
        <p:spPr>
          <a:xfrm>
            <a:off x="4111752" y="18699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312920" y="1371600"/>
            <a:ext cx="1680972" cy="1234440"/>
          </a:xfrm>
          <a:prstGeom prst="roundRect">
            <a:avLst>
              <a:gd name="adj" fmla="val 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rPr>
              <a:t>Success + action models</a:t>
            </a:r>
          </a:p>
        </p:txBody>
      </p:sp>
      <p:sp>
        <p:nvSpPr>
          <p:cNvPr id="31" name="Right Arrow 30"/>
          <p:cNvSpPr/>
          <p:nvPr/>
        </p:nvSpPr>
        <p:spPr>
          <a:xfrm>
            <a:off x="5993892" y="18699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195060" y="1371600"/>
            <a:ext cx="1680972" cy="1234440"/>
          </a:xfrm>
          <a:prstGeom prst="roundRect">
            <a:avLst>
              <a:gd name="adj" fmla="val 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rPr>
              <a:t>8-term hybrid score</a:t>
            </a:r>
          </a:p>
        </p:txBody>
      </p:sp>
      <p:sp>
        <p:nvSpPr>
          <p:cNvPr id="33" name="Right Arrow 32"/>
          <p:cNvSpPr/>
          <p:nvPr/>
        </p:nvSpPr>
        <p:spPr>
          <a:xfrm>
            <a:off x="7876032" y="18699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077200" y="1371600"/>
            <a:ext cx="1680972" cy="1234440"/>
          </a:xfrm>
          <a:prstGeom prst="roundRect">
            <a:avLst>
              <a:gd name="adj" fmla="val 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rPr>
              <a:t>Top-N + reasons + log</a:t>
            </a:r>
          </a:p>
        </p:txBody>
      </p:sp>
      <p:sp>
        <p:nvSpPr>
          <p:cNvPr id="35" name="Right Arrow 34"/>
          <p:cNvSpPr/>
          <p:nvPr/>
        </p:nvSpPr>
        <p:spPr>
          <a:xfrm>
            <a:off x="9758172" y="1869948"/>
            <a:ext cx="201168" cy="237744"/>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959340" y="1371600"/>
            <a:ext cx="1680972" cy="1234440"/>
          </a:xfrm>
          <a:prstGeom prst="roundRect">
            <a:avLst>
              <a:gd name="adj" fmla="val 8000"/>
            </a:avLst>
          </a:prstGeom>
          <a:solidFill>
            <a:srgbClr val="1B2A4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a:lstStyle/>
          <a:p>
            <a:pPr algn="ctr"/>
            <a:r>
              <a:rPr sz="1400" b="1">
                <a:solidFill>
                  <a:srgbClr val="FFFFFF"/>
                </a:solidFill>
              </a:rPr>
              <a:t>Events update next ranking</a:t>
            </a:r>
          </a:p>
        </p:txBody>
      </p:sp>
      <p:sp>
        <p:nvSpPr>
          <p:cNvPr id="37" name="Rounded Rectangle 36"/>
          <p:cNvSpPr/>
          <p:nvPr/>
        </p:nvSpPr>
        <p:spPr>
          <a:xfrm>
            <a:off x="548640" y="3017520"/>
            <a:ext cx="3520440" cy="29260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777240" y="3154680"/>
            <a:ext cx="3108960" cy="457200"/>
          </a:xfrm>
          <a:prstGeom prst="rect">
            <a:avLst/>
          </a:prstGeom>
          <a:noFill/>
        </p:spPr>
        <p:txBody>
          <a:bodyPr wrap="square" lIns="0" rIns="0" tIns="0" bIns="0" anchor="t">
            <a:spAutoFit/>
          </a:bodyPr>
          <a:lstStyle/>
          <a:p>
            <a:pPr algn="l">
              <a:spcAft>
                <a:spcPts val="400"/>
              </a:spcAft>
            </a:pPr>
            <a:r>
              <a:rPr sz="1800" b="1" i="0">
                <a:solidFill>
                  <a:srgbClr val="0F172A"/>
                </a:solidFill>
              </a:rPr>
              <a:t>Trained offline</a:t>
            </a:r>
          </a:p>
        </p:txBody>
      </p:sp>
      <p:sp>
        <p:nvSpPr>
          <p:cNvPr id="39" name="TextBox 38"/>
          <p:cNvSpPr txBox="1"/>
          <p:nvPr/>
        </p:nvSpPr>
        <p:spPr>
          <a:xfrm>
            <a:off x="777240" y="3703320"/>
            <a:ext cx="3108960" cy="2194560"/>
          </a:xfrm>
          <a:prstGeom prst="rect">
            <a:avLst/>
          </a:prstGeom>
          <a:noFill/>
        </p:spPr>
        <p:txBody>
          <a:bodyPr wrap="square" lIns="0" rIns="0" tIns="0" bIns="0" anchor="t">
            <a:spAutoFit/>
          </a:bodyPr>
          <a:lstStyle/>
          <a:p>
            <a:pPr algn="l">
              <a:spcAft>
                <a:spcPts val="400"/>
              </a:spcAft>
            </a:pPr>
            <a:r>
              <a:rPr sz="1500" b="0" i="0">
                <a:solidFill>
                  <a:srgbClr val="475569"/>
                </a:solidFill>
              </a:rPr>
              <a:t>scripts/train_pipeline.py generates the data, fits three success models and the action models, runs policy evaluation and the fairness audit, and saves every artifact. Seed 42.</a:t>
            </a:r>
          </a:p>
        </p:txBody>
      </p:sp>
      <p:sp>
        <p:nvSpPr>
          <p:cNvPr id="40" name="Rounded Rectangle 39"/>
          <p:cNvSpPr/>
          <p:nvPr/>
        </p:nvSpPr>
        <p:spPr>
          <a:xfrm>
            <a:off x="4334255" y="3017520"/>
            <a:ext cx="3520440" cy="29260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4562855" y="3154680"/>
            <a:ext cx="3108960" cy="457200"/>
          </a:xfrm>
          <a:prstGeom prst="rect">
            <a:avLst/>
          </a:prstGeom>
          <a:noFill/>
        </p:spPr>
        <p:txBody>
          <a:bodyPr wrap="square" lIns="0" rIns="0" tIns="0" bIns="0" anchor="t">
            <a:spAutoFit/>
          </a:bodyPr>
          <a:lstStyle/>
          <a:p>
            <a:pPr algn="l">
              <a:spcAft>
                <a:spcPts val="400"/>
              </a:spcAft>
            </a:pPr>
            <a:r>
              <a:rPr sz="1800" b="1" i="0">
                <a:solidFill>
                  <a:srgbClr val="0F172A"/>
                </a:solidFill>
              </a:rPr>
              <a:t>Computed per request</a:t>
            </a:r>
          </a:p>
        </p:txBody>
      </p:sp>
      <p:sp>
        <p:nvSpPr>
          <p:cNvPr id="42" name="TextBox 41"/>
          <p:cNvSpPr txBox="1"/>
          <p:nvPr/>
        </p:nvSpPr>
        <p:spPr>
          <a:xfrm>
            <a:off x="4562855" y="3703320"/>
            <a:ext cx="3108960" cy="2194560"/>
          </a:xfrm>
          <a:prstGeom prst="rect">
            <a:avLst/>
          </a:prstGeom>
          <a:noFill/>
        </p:spPr>
        <p:txBody>
          <a:bodyPr wrap="square" lIns="0" rIns="0" tIns="0" bIns="0" anchor="t">
            <a:spAutoFit/>
          </a:bodyPr>
          <a:lstStyle/>
          <a:p>
            <a:pPr algn="l">
              <a:spcAft>
                <a:spcPts val="400"/>
              </a:spcAft>
            </a:pPr>
            <a:r>
              <a:rPr sz="1500" b="0" i="0">
                <a:solidFill>
                  <a:srgbClr val="475569"/>
                </a:solidFill>
              </a:rPr>
              <a:t>Every recommendation call re-fits TF-IDF over the profile and 24 course texts, scores all courses and logs the result. No cache; about 33 ms on this machine.</a:t>
            </a:r>
          </a:p>
        </p:txBody>
      </p:sp>
      <p:sp>
        <p:nvSpPr>
          <p:cNvPr id="43" name="Rounded Rectangle 42"/>
          <p:cNvSpPr/>
          <p:nvPr/>
        </p:nvSpPr>
        <p:spPr>
          <a:xfrm>
            <a:off x="8119871" y="3017520"/>
            <a:ext cx="3520440" cy="29260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extBox 43"/>
          <p:cNvSpPr txBox="1"/>
          <p:nvPr/>
        </p:nvSpPr>
        <p:spPr>
          <a:xfrm>
            <a:off x="8348471" y="3154680"/>
            <a:ext cx="3108960" cy="457200"/>
          </a:xfrm>
          <a:prstGeom prst="rect">
            <a:avLst/>
          </a:prstGeom>
          <a:noFill/>
        </p:spPr>
        <p:txBody>
          <a:bodyPr wrap="square" lIns="0" rIns="0" tIns="0" bIns="0" anchor="t">
            <a:spAutoFit/>
          </a:bodyPr>
          <a:lstStyle/>
          <a:p>
            <a:pPr algn="l">
              <a:spcAft>
                <a:spcPts val="400"/>
              </a:spcAft>
            </a:pPr>
            <a:r>
              <a:rPr sz="1800" b="1" i="0">
                <a:solidFill>
                  <a:srgbClr val="0F172A"/>
                </a:solidFill>
              </a:rPr>
              <a:t>Honest scope</a:t>
            </a:r>
          </a:p>
        </p:txBody>
      </p:sp>
      <p:sp>
        <p:nvSpPr>
          <p:cNvPr id="45" name="TextBox 44"/>
          <p:cNvSpPr txBox="1"/>
          <p:nvPr/>
        </p:nvSpPr>
        <p:spPr>
          <a:xfrm>
            <a:off x="8348471" y="3703320"/>
            <a:ext cx="3108960" cy="2194560"/>
          </a:xfrm>
          <a:prstGeom prst="rect">
            <a:avLst/>
          </a:prstGeom>
          <a:noFill/>
        </p:spPr>
        <p:txBody>
          <a:bodyPr wrap="square" lIns="0" rIns="0" tIns="0" bIns="0" anchor="t">
            <a:spAutoFit/>
          </a:bodyPr>
          <a:lstStyle/>
          <a:p>
            <a:pPr algn="l">
              <a:spcAft>
                <a:spcPts val="400"/>
              </a:spcAft>
            </a:pPr>
            <a:r>
              <a:rPr sz="1500" b="0" i="0">
                <a:solidFill>
                  <a:srgbClr val="475569"/>
                </a:solidFill>
              </a:rPr>
              <a:t>No collaborative filtering across learners (no real interaction log) and no reinforcement-learning agent. The behavioural term is per learner.</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Dataset</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6</a:t>
            </a:fld>
            <a:endParaRPr lang="en-US"/>
          </a:p>
        </p:txBody>
      </p:sp>
      <p:sp>
        <p:nvSpPr>
          <p:cNvPr id="26" name="Rounded Rectangle 25"/>
          <p:cNvSpPr/>
          <p:nvPr/>
        </p:nvSpPr>
        <p:spPr>
          <a:xfrm>
            <a:off x="548640" y="1325880"/>
            <a:ext cx="265176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8640" y="1325880"/>
            <a:ext cx="73152"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9808" y="1417320"/>
            <a:ext cx="2377440" cy="628650"/>
          </a:xfrm>
          <a:prstGeom prst="rect">
            <a:avLst/>
          </a:prstGeom>
          <a:noFill/>
        </p:spPr>
        <p:txBody>
          <a:bodyPr wrap="square" lIns="0" rIns="0" tIns="0" bIns="0" anchor="ctr">
            <a:spAutoFit/>
          </a:bodyPr>
          <a:lstStyle/>
          <a:p>
            <a:pPr algn="l">
              <a:spcAft>
                <a:spcPts val="400"/>
              </a:spcAft>
            </a:pPr>
            <a:r>
              <a:rPr sz="2600" b="1" i="0">
                <a:solidFill>
                  <a:srgbClr val="0F172A"/>
                </a:solidFill>
              </a:rPr>
              <a:t>26,400</a:t>
            </a:r>
          </a:p>
        </p:txBody>
      </p:sp>
      <p:sp>
        <p:nvSpPr>
          <p:cNvPr id="29" name="TextBox 28"/>
          <p:cNvSpPr txBox="1"/>
          <p:nvPr/>
        </p:nvSpPr>
        <p:spPr>
          <a:xfrm>
            <a:off x="749808" y="1988819"/>
            <a:ext cx="2377440" cy="434340"/>
          </a:xfrm>
          <a:prstGeom prst="rect">
            <a:avLst/>
          </a:prstGeom>
          <a:noFill/>
        </p:spPr>
        <p:txBody>
          <a:bodyPr wrap="square" lIns="0" rIns="0" tIns="0" bIns="0" anchor="t">
            <a:spAutoFit/>
          </a:bodyPr>
          <a:lstStyle/>
          <a:p>
            <a:pPr algn="l">
              <a:spcAft>
                <a:spcPts val="400"/>
              </a:spcAft>
            </a:pPr>
            <a:r>
              <a:rPr sz="1200" b="0" i="0">
                <a:solidFill>
                  <a:srgbClr val="475569"/>
                </a:solidFill>
              </a:rPr>
              <a:t>learner-week rows (synthetic)</a:t>
            </a:r>
          </a:p>
        </p:txBody>
      </p:sp>
      <p:sp>
        <p:nvSpPr>
          <p:cNvPr id="30" name="Rounded Rectangle 29"/>
          <p:cNvSpPr/>
          <p:nvPr/>
        </p:nvSpPr>
        <p:spPr>
          <a:xfrm>
            <a:off x="3383280" y="1325880"/>
            <a:ext cx="265176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383280" y="1325880"/>
            <a:ext cx="73152" cy="11430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584448" y="1417320"/>
            <a:ext cx="2377440" cy="628650"/>
          </a:xfrm>
          <a:prstGeom prst="rect">
            <a:avLst/>
          </a:prstGeom>
          <a:noFill/>
        </p:spPr>
        <p:txBody>
          <a:bodyPr wrap="square" lIns="0" rIns="0" tIns="0" bIns="0" anchor="ctr">
            <a:spAutoFit/>
          </a:bodyPr>
          <a:lstStyle/>
          <a:p>
            <a:pPr algn="l">
              <a:spcAft>
                <a:spcPts val="400"/>
              </a:spcAft>
            </a:pPr>
            <a:r>
              <a:rPr sz="2600" b="1" i="0">
                <a:solidFill>
                  <a:srgbClr val="0F172A"/>
                </a:solidFill>
              </a:rPr>
              <a:t>2,200 x 12</a:t>
            </a:r>
          </a:p>
        </p:txBody>
      </p:sp>
      <p:sp>
        <p:nvSpPr>
          <p:cNvPr id="33" name="TextBox 32"/>
          <p:cNvSpPr txBox="1"/>
          <p:nvPr/>
        </p:nvSpPr>
        <p:spPr>
          <a:xfrm>
            <a:off x="3584448" y="1988819"/>
            <a:ext cx="2377440" cy="434340"/>
          </a:xfrm>
          <a:prstGeom prst="rect">
            <a:avLst/>
          </a:prstGeom>
          <a:noFill/>
        </p:spPr>
        <p:txBody>
          <a:bodyPr wrap="square" lIns="0" rIns="0" tIns="0" bIns="0" anchor="t">
            <a:spAutoFit/>
          </a:bodyPr>
          <a:lstStyle/>
          <a:p>
            <a:pPr algn="l">
              <a:spcAft>
                <a:spcPts val="400"/>
              </a:spcAft>
            </a:pPr>
            <a:r>
              <a:rPr sz="1200" b="0" i="0">
                <a:solidFill>
                  <a:srgbClr val="475569"/>
                </a:solidFill>
              </a:rPr>
              <a:t>learners x weeks</a:t>
            </a:r>
          </a:p>
        </p:txBody>
      </p:sp>
      <p:sp>
        <p:nvSpPr>
          <p:cNvPr id="34" name="Rounded Rectangle 33"/>
          <p:cNvSpPr/>
          <p:nvPr/>
        </p:nvSpPr>
        <p:spPr>
          <a:xfrm>
            <a:off x="6217920" y="1325880"/>
            <a:ext cx="265176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217920" y="1325880"/>
            <a:ext cx="73152" cy="1143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19088" y="1417320"/>
            <a:ext cx="2377440" cy="628650"/>
          </a:xfrm>
          <a:prstGeom prst="rect">
            <a:avLst/>
          </a:prstGeom>
          <a:noFill/>
        </p:spPr>
        <p:txBody>
          <a:bodyPr wrap="square" lIns="0" rIns="0" tIns="0" bIns="0" anchor="ctr">
            <a:spAutoFit/>
          </a:bodyPr>
          <a:lstStyle/>
          <a:p>
            <a:pPr algn="l">
              <a:spcAft>
                <a:spcPts val="400"/>
              </a:spcAft>
            </a:pPr>
            <a:r>
              <a:rPr sz="2600" b="1" i="0">
                <a:solidFill>
                  <a:srgbClr val="0F172A"/>
                </a:solidFill>
              </a:rPr>
              <a:t>44.0%</a:t>
            </a:r>
          </a:p>
        </p:txBody>
      </p:sp>
      <p:sp>
        <p:nvSpPr>
          <p:cNvPr id="37" name="TextBox 36"/>
          <p:cNvSpPr txBox="1"/>
          <p:nvPr/>
        </p:nvSpPr>
        <p:spPr>
          <a:xfrm>
            <a:off x="6419088" y="1988819"/>
            <a:ext cx="2377440" cy="434340"/>
          </a:xfrm>
          <a:prstGeom prst="rect">
            <a:avLst/>
          </a:prstGeom>
          <a:noFill/>
        </p:spPr>
        <p:txBody>
          <a:bodyPr wrap="square" lIns="0" rIns="0" tIns="0" bIns="0" anchor="t">
            <a:spAutoFit/>
          </a:bodyPr>
          <a:lstStyle/>
          <a:p>
            <a:pPr algn="l">
              <a:spcAft>
                <a:spcPts val="400"/>
              </a:spcAft>
            </a:pPr>
            <a:r>
              <a:rPr sz="1200" b="0" i="0">
                <a:solidFill>
                  <a:srgbClr val="475569"/>
                </a:solidFill>
              </a:rPr>
              <a:t>positive (success) rate</a:t>
            </a:r>
          </a:p>
        </p:txBody>
      </p:sp>
      <p:sp>
        <p:nvSpPr>
          <p:cNvPr id="38" name="Rounded Rectangle 37"/>
          <p:cNvSpPr/>
          <p:nvPr/>
        </p:nvSpPr>
        <p:spPr>
          <a:xfrm>
            <a:off x="9052560" y="1325880"/>
            <a:ext cx="265176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052560" y="1325880"/>
            <a:ext cx="73152" cy="114300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253728" y="1417320"/>
            <a:ext cx="2377440" cy="628650"/>
          </a:xfrm>
          <a:prstGeom prst="rect">
            <a:avLst/>
          </a:prstGeom>
          <a:noFill/>
        </p:spPr>
        <p:txBody>
          <a:bodyPr wrap="square" lIns="0" rIns="0" tIns="0" bIns="0" anchor="ctr">
            <a:spAutoFit/>
          </a:bodyPr>
          <a:lstStyle/>
          <a:p>
            <a:pPr algn="l">
              <a:spcAft>
                <a:spcPts val="400"/>
              </a:spcAft>
            </a:pPr>
            <a:r>
              <a:rPr sz="2600" b="1" i="0">
                <a:solidFill>
                  <a:srgbClr val="0F172A"/>
                </a:solidFill>
              </a:rPr>
              <a:t>24</a:t>
            </a:r>
          </a:p>
        </p:txBody>
      </p:sp>
      <p:sp>
        <p:nvSpPr>
          <p:cNvPr id="41" name="TextBox 40"/>
          <p:cNvSpPr txBox="1"/>
          <p:nvPr/>
        </p:nvSpPr>
        <p:spPr>
          <a:xfrm>
            <a:off x="9253728" y="1988819"/>
            <a:ext cx="2377440" cy="434340"/>
          </a:xfrm>
          <a:prstGeom prst="rect">
            <a:avLst/>
          </a:prstGeom>
          <a:noFill/>
        </p:spPr>
        <p:txBody>
          <a:bodyPr wrap="square" lIns="0" rIns="0" tIns="0" bIns="0" anchor="t">
            <a:spAutoFit/>
          </a:bodyPr>
          <a:lstStyle/>
          <a:p>
            <a:pPr algn="l">
              <a:spcAft>
                <a:spcPts val="400"/>
              </a:spcAft>
            </a:pPr>
            <a:r>
              <a:rPr sz="1200" b="0" i="0">
                <a:solidFill>
                  <a:srgbClr val="475569"/>
                </a:solidFill>
              </a:rPr>
              <a:t>hand-written courses, 9 categories</a:t>
            </a:r>
          </a:p>
        </p:txBody>
      </p:sp>
      <p:pic>
        <p:nvPicPr>
          <p:cNvPr id="42" name="Picture 41" descr="fig_data_profile.png"/>
          <p:cNvPicPr>
            <a:picLocks noChangeAspect="1"/>
          </p:cNvPicPr>
          <p:nvPr/>
        </p:nvPicPr>
        <p:blipFill>
          <a:blip r:embed="rId1"/>
          <a:stretch>
            <a:fillRect/>
          </a:stretch>
        </p:blipFill>
        <p:spPr>
          <a:xfrm>
            <a:off x="548640" y="3452578"/>
            <a:ext cx="6035039" cy="2010242"/>
          </a:xfrm>
          <a:prstGeom prst="rect">
            <a:avLst/>
          </a:prstGeom>
        </p:spPr>
      </p:pic>
      <p:sp>
        <p:nvSpPr>
          <p:cNvPr id="43" name="TextBox 42"/>
          <p:cNvSpPr txBox="1"/>
          <p:nvPr/>
        </p:nvSpPr>
        <p:spPr>
          <a:xfrm>
            <a:off x="6858000" y="2743200"/>
            <a:ext cx="4754880" cy="3474720"/>
          </a:xfrm>
          <a:prstGeom prst="rect">
            <a:avLst/>
          </a:prstGeom>
          <a:noFill/>
        </p:spPr>
        <p:txBody>
          <a:bodyPr wrap="square" lIns="0" rIns="0" tIns="0" bIns="0" anchor="t">
            <a:spAutoFit/>
          </a:bodyPr>
          <a:lstStyle/>
          <a:p>
            <a:pPr algn="l" marL="256032" indent="-201168">
              <a:spcAft>
                <a:spcPts val="400"/>
              </a:spcAft>
              <a:buChar char="•"/>
            </a:pPr>
            <a:r>
              <a:rPr sz="1500" b="0" i="0">
                <a:solidFill>
                  <a:srgbClr val="0F172A"/>
                </a:solidFill>
              </a:rPr>
              <a:t>Source is a reproducible OULAD-like generator (synthetic-oulad-like-fallback-v1); the real OULAD was not downloaded or used.</a:t>
            </a:r>
          </a:p>
          <a:p>
            <a:pPr algn="l" marL="256032" indent="-201168">
              <a:spcAft>
                <a:spcPts val="400"/>
              </a:spcAft>
              <a:buChar char="•"/>
            </a:pPr>
            <a:r>
              <a:rPr sz="1500" b="0" i="0">
                <a:solidFill>
                  <a:srgbClr val="0F172A"/>
                </a:solidFill>
              </a:rPr>
              <a:t>Learner-level split 80/10/10: train 21,120, validation 2,640, test 2,640 rows (seed 42).</a:t>
            </a:r>
          </a:p>
          <a:p>
            <a:pPr algn="l" marL="256032" indent="-201168">
              <a:spcAft>
                <a:spcPts val="400"/>
              </a:spcAft>
              <a:buChar char="•"/>
            </a:pPr>
            <a:r>
              <a:rPr sz="1500" b="0" i="0">
                <a:solidFill>
                  <a:srgbClr val="0F172A"/>
                </a:solidFill>
              </a:rPr>
              <a:t>Success is a noisy function of a hidden assessment score that the app never sees.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 preparation and features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7</a:t>
            </a:fld>
            <a:endParaRPr lang="en-US"/>
          </a:p>
        </p:txBody>
      </p:sp>
      <p:pic>
        <p:nvPicPr>
          <p:cNvPr id="26" name="Picture 25" descr="fig_feature_signal.png"/>
          <p:cNvPicPr>
            <a:picLocks noChangeAspect="1"/>
          </p:cNvPicPr>
          <p:nvPr/>
        </p:nvPicPr>
        <p:blipFill>
          <a:blip r:embed="rId3"/>
          <a:stretch>
            <a:fillRect/>
          </a:stretch>
        </p:blipFill>
        <p:spPr>
          <a:xfrm>
            <a:off x="548640" y="1413885"/>
            <a:ext cx="7223760" cy="2475748"/>
          </a:xfrm>
          <a:prstGeom prst="rect">
            <a:avLst/>
          </a:prstGeom>
        </p:spPr>
      </p:pic>
      <p:sp>
        <p:nvSpPr>
          <p:cNvPr id="27" name="TextBox 26"/>
          <p:cNvSpPr txBox="1"/>
          <p:nvPr/>
        </p:nvSpPr>
        <p:spPr>
          <a:xfrm>
            <a:off x="548640" y="4206240"/>
            <a:ext cx="7223760" cy="2011680"/>
          </a:xfrm>
          <a:prstGeom prst="rect">
            <a:avLst/>
          </a:prstGeom>
          <a:noFill/>
        </p:spPr>
        <p:txBody>
          <a:bodyPr wrap="square" lIns="0" rIns="0" tIns="0" bIns="0" anchor="t">
            <a:spAutoFit/>
          </a:bodyPr>
          <a:lstStyle/>
          <a:p>
            <a:pPr algn="l" marL="256032" indent="-201168">
              <a:spcAft>
                <a:spcPts val="600"/>
              </a:spcAft>
              <a:buChar char="•"/>
            </a:pPr>
            <a:r>
              <a:rPr sz="1400" b="1" i="0">
                <a:solidFill>
                  <a:srgbClr val="0F172A"/>
                </a:solidFill>
              </a:rPr>
              <a:t>Text:</a:t>
            </a:r>
            <a:r>
              <a:rPr sz="1400" b="0" i="0">
                <a:solidFill>
                  <a:srgbClr val="0F172A"/>
                </a:solidFill>
              </a:rPr>
              <a:t> profile text (interests, topics, goals, preferences, education, skill) and course text (title, description, topic, category, tags, level) go into TF-IDF with English stop words, at most 2,000 terms.</a:t>
            </a:r>
          </a:p>
          <a:p>
            <a:pPr algn="l" marL="256032" indent="-201168">
              <a:spcAft>
                <a:spcPts val="600"/>
              </a:spcAft>
              <a:buChar char="•"/>
            </a:pPr>
            <a:r>
              <a:rPr sz="1400" b="1" i="0">
                <a:solidFill>
                  <a:srgbClr val="0F172A"/>
                </a:solidFill>
              </a:rPr>
              <a:t>State:</a:t>
            </a:r>
            <a:r>
              <a:rPr sz="1400" b="0" i="0">
                <a:solidFill>
                  <a:srgbClr val="0F172A"/>
                </a:solidFill>
              </a:rPr>
              <a:t> 8 features from the profile and logged events, standardised before the models.</a:t>
            </a:r>
          </a:p>
        </p:txBody>
      </p:sp>
      <p:sp>
        <p:nvSpPr>
          <p:cNvPr id="28" name="TextBox 27"/>
          <p:cNvSpPr txBox="1"/>
          <p:nvPr/>
        </p:nvSpPr>
        <p:spPr>
          <a:xfrm>
            <a:off x="8046720" y="1371600"/>
            <a:ext cx="3611880" cy="4754880"/>
          </a:xfrm>
          <a:prstGeom prst="rect">
            <a:avLst/>
          </a:prstGeom>
          <a:noFill/>
        </p:spPr>
        <p:txBody>
          <a:bodyPr wrap="square" lIns="0" rIns="0" tIns="0" bIns="0" anchor="t">
            <a:spAutoFit/>
          </a:bodyPr>
          <a:lstStyle/>
          <a:p>
            <a:pPr algn="l">
              <a:spcAft>
                <a:spcPts val="1000"/>
              </a:spcAft>
            </a:pPr>
            <a:r>
              <a:rPr sz="1600" b="0" i="0">
                <a:solidFill>
                  <a:srgbClr val="0F172A"/>
                </a:solidFill>
              </a:rPr>
              <a:t>1  Profile text and course text</a:t>
            </a:r>
          </a:p>
          <a:p>
            <a:pPr algn="l">
              <a:spcAft>
                <a:spcPts val="1000"/>
              </a:spcAft>
            </a:pPr>
            <a:r>
              <a:rPr sz="1600" b="0" i="0">
                <a:solidFill>
                  <a:srgbClr val="0F172A"/>
                </a:solidFill>
              </a:rPr>
              <a:t>2  TF-IDF and cosine similarity</a:t>
            </a:r>
          </a:p>
          <a:p>
            <a:pPr algn="l">
              <a:spcAft>
                <a:spcPts val="1000"/>
              </a:spcAft>
            </a:pPr>
            <a:r>
              <a:rPr sz="1600" b="0" i="0">
                <a:solidFill>
                  <a:srgbClr val="0F172A"/>
                </a:solidFill>
              </a:rPr>
              <a:t>3  Engagement from recent events</a:t>
            </a:r>
          </a:p>
          <a:p>
            <a:pPr algn="l">
              <a:spcAft>
                <a:spcPts val="1000"/>
              </a:spcAft>
            </a:pPr>
            <a:r>
              <a:rPr sz="1600" b="0" i="0">
                <a:solidFill>
                  <a:srgbClr val="0F172A"/>
                </a:solidFill>
              </a:rPr>
              <a:t>4  8-feature learner state</a:t>
            </a:r>
          </a:p>
          <a:p>
            <a:pPr algn="l">
              <a:spcAft>
                <a:spcPts val="1000"/>
              </a:spcAft>
            </a:pPr>
            <a:r>
              <a:rPr sz="1600" b="0" i="0">
                <a:solidFill>
                  <a:srgbClr val="0F172A"/>
                </a:solidFill>
              </a:rPr>
              <a:t>5  Standard scaling</a:t>
            </a:r>
          </a:p>
          <a:p>
            <a:pPr algn="l">
              <a:spcAft>
                <a:spcPts val="1000"/>
              </a:spcAft>
            </a:pPr>
            <a:r>
              <a:rPr sz="1400" b="0" i="1">
                <a:solidFill>
                  <a:srgbClr val="475569"/>
                </a:solidFill>
              </a:rPr>
              <a:t>Weak signal: the strongest feature correlates with success at only r = 0.18.</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Models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8</a:t>
            </a:fld>
            <a:endParaRPr lang="en-US"/>
          </a:p>
        </p:txBody>
      </p:sp>
      <p:graphicFrame>
        <p:nvGraphicFramePr>
          <p:cNvPr id="26" name="Table 25"/>
          <p:cNvGraphicFramePr>
            <a:graphicFrameLocks noGrp="1"/>
          </p:cNvGraphicFramePr>
          <p:nvPr/>
        </p:nvGraphicFramePr>
        <p:xfrm>
          <a:off x="548640" y="1371600"/>
          <a:ext cx="8229600" cy="3401568"/>
        </p:xfrm>
        <a:graphic>
          <a:graphicData uri="http://schemas.openxmlformats.org/drawingml/2006/table">
            <a:tbl>
              <a:tblPr firstRow="0" bandRow="0">
                <a:tableStyleId>{5C22544A-7EE6-4342-B048-85BDC9FD1C3A}</a:tableStyleId>
              </a:tblPr>
              <a:tblGrid>
                <a:gridCol w="3108960"/>
                <a:gridCol w="3291840"/>
                <a:gridCol w="914400"/>
                <a:gridCol w="914400"/>
              </a:tblGrid>
              <a:tr h="566928">
                <a:tc>
                  <a:txBody>
                    <a:bodyPr wrap="square"/>
                    <a:lstStyle/>
                    <a:p>
                      <a:pPr algn="ctr"/>
                      <a:r>
                        <a:rPr sz="1300" b="1">
                          <a:solidFill>
                            <a:srgbClr val="FFFFFF"/>
                          </a:solidFill>
                        </a:rPr>
                        <a:t>Model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Settings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Val AUC</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300" b="1">
                          <a:solidFill>
                            <a:srgbClr val="FFFFFF"/>
                          </a:solidFill>
                        </a:rPr>
                        <a:t>Test AUC</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566928">
                <a:tc>
                  <a:txBody>
                    <a:bodyPr wrap="square"/>
                    <a:lstStyle/>
                    <a:p>
                      <a:pPr algn="l"/>
                      <a:r>
                        <a:rPr sz="1300" b="0">
                          <a:solidFill>
                            <a:srgbClr val="0F172A"/>
                          </a:solidFill>
                        </a:rPr>
                        <a:t>Logistic regression (selected)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max_iter 1000, standardised inputs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300" b="0">
                          <a:solidFill>
                            <a:srgbClr val="0F172A"/>
                          </a:solidFill>
                        </a:rPr>
                        <a:t>0.604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300" b="0">
                          <a:solidFill>
                            <a:srgbClr val="0F172A"/>
                          </a:solidFill>
                        </a:rPr>
                        <a:t>0.603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66928">
                <a:tc>
                  <a:txBody>
                    <a:bodyPr wrap="square"/>
                    <a:lstStyle/>
                    <a:p>
                      <a:pPr algn="l"/>
                      <a:r>
                        <a:rPr sz="1300" b="0">
                          <a:solidFill>
                            <a:srgbClr val="0F172A"/>
                          </a:solidFill>
                        </a:rPr>
                        <a:t>Random forest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200 trees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300" b="0">
                          <a:solidFill>
                            <a:srgbClr val="0F172A"/>
                          </a:solidFill>
                        </a:rPr>
                        <a:t>0.555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300" b="0">
                          <a:solidFill>
                            <a:srgbClr val="0F172A"/>
                          </a:solidFill>
                        </a:rPr>
                        <a:t>0.544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66928">
                <a:tc>
                  <a:txBody>
                    <a:bodyPr wrap="square"/>
                    <a:lstStyle/>
                    <a:p>
                      <a:pPr algn="l"/>
                      <a:r>
                        <a:rPr sz="1300" b="0">
                          <a:solidFill>
                            <a:srgbClr val="0F172A"/>
                          </a:solidFill>
                        </a:rPr>
                        <a:t>XGBoost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300 trees, depth 5, rate 0.05, subsample 0.9</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300" b="0">
                          <a:solidFill>
                            <a:srgbClr val="0F172A"/>
                          </a:solidFill>
                        </a:rPr>
                        <a:t>0.601</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300" b="0">
                          <a:solidFill>
                            <a:srgbClr val="0F172A"/>
                          </a:solidFill>
                        </a:rPr>
                        <a:t>0.599</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66928">
                <a:tc>
                  <a:txBody>
                    <a:bodyPr wrap="square"/>
                    <a:lstStyle/>
                    <a:p>
                      <a:pPr algn="l"/>
                      <a:r>
                        <a:rPr sz="1300" b="0">
                          <a:solidFill>
                            <a:srgbClr val="0F172A"/>
                          </a:solidFill>
                        </a:rPr>
                        <a:t>Action-benefit (T-learner)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300" b="0">
                          <a:solidFill>
                            <a:srgbClr val="0F172A"/>
                          </a:solidFill>
                        </a:rPr>
                        <a:t>5 actions x 2 logistic regressions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300" b="0">
                          <a:solidFill>
                            <a:srgbClr val="0F172A"/>
                          </a:solidFill>
                        </a:rPr>
                        <a: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ctr"/>
                      <a:r>
                        <a:rPr sz="1300" b="0">
                          <a:solidFill>
                            <a:srgbClr val="0F172A"/>
                          </a:solidFill>
                        </a:rPr>
                        <a: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66928">
                <a:tc>
                  <a:txBody>
                    <a:bodyPr wrap="square"/>
                    <a:lstStyle/>
                    <a:p>
                      <a:pPr algn="l"/>
                      <a:r>
                        <a:rPr sz="1300" b="0">
                          <a:solidFill>
                            <a:srgbClr val="0F172A"/>
                          </a:solidFill>
                        </a:rPr>
                        <a:t>Behaviour policy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300" b="0">
                          <a:solidFill>
                            <a:srgbClr val="0F172A"/>
                          </a:solidFill>
                        </a:rPr>
                        <a:t>multinomial logistic regression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300" b="0">
                          <a:solidFill>
                            <a:srgbClr val="0F172A"/>
                          </a:solidFill>
                        </a:rPr>
                        <a: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ctr"/>
                      <a:r>
                        <a:rPr sz="1300" b="0">
                          <a:solidFill>
                            <a:srgbClr val="0F172A"/>
                          </a:solidFill>
                        </a:rPr>
                        <a: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
        <p:nvSpPr>
          <p:cNvPr id="27" name="Rounded Rectangle 26"/>
          <p:cNvSpPr/>
          <p:nvPr/>
        </p:nvSpPr>
        <p:spPr>
          <a:xfrm>
            <a:off x="9052560" y="1371600"/>
            <a:ext cx="2587752"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Rectangle 27"/>
          <p:cNvSpPr/>
          <p:nvPr/>
        </p:nvSpPr>
        <p:spPr>
          <a:xfrm>
            <a:off x="9052560" y="1371600"/>
            <a:ext cx="73152" cy="132588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9253728" y="1463040"/>
            <a:ext cx="2313432" cy="729234"/>
          </a:xfrm>
          <a:prstGeom prst="rect">
            <a:avLst/>
          </a:prstGeom>
          <a:noFill/>
        </p:spPr>
        <p:txBody>
          <a:bodyPr wrap="square" lIns="0" rIns="0" tIns="0" bIns="0" anchor="ctr">
            <a:spAutoFit/>
          </a:bodyPr>
          <a:lstStyle/>
          <a:p>
            <a:pPr algn="l">
              <a:spcAft>
                <a:spcPts val="400"/>
              </a:spcAft>
            </a:pPr>
            <a:r>
              <a:rPr sz="2600" b="1" i="0">
                <a:solidFill>
                  <a:srgbClr val="0F172A"/>
                </a:solidFill>
              </a:rPr>
              <a:t>0.604</a:t>
            </a:r>
          </a:p>
        </p:txBody>
      </p:sp>
      <p:sp>
        <p:nvSpPr>
          <p:cNvPr id="30" name="TextBox 29"/>
          <p:cNvSpPr txBox="1"/>
          <p:nvPr/>
        </p:nvSpPr>
        <p:spPr>
          <a:xfrm>
            <a:off x="9253728" y="2140610"/>
            <a:ext cx="2313432" cy="503834"/>
          </a:xfrm>
          <a:prstGeom prst="rect">
            <a:avLst/>
          </a:prstGeom>
          <a:noFill/>
        </p:spPr>
        <p:txBody>
          <a:bodyPr wrap="square" lIns="0" rIns="0" tIns="0" bIns="0" anchor="t">
            <a:spAutoFit/>
          </a:bodyPr>
          <a:lstStyle/>
          <a:p>
            <a:pPr algn="l">
              <a:spcAft>
                <a:spcPts val="400"/>
              </a:spcAft>
            </a:pPr>
            <a:r>
              <a:rPr sz="1200" b="0" i="0">
                <a:solidFill>
                  <a:srgbClr val="475569"/>
                </a:solidFill>
              </a:rPr>
              <a:t>validation AUC of the saved model</a:t>
            </a:r>
          </a:p>
        </p:txBody>
      </p:sp>
      <p:sp>
        <p:nvSpPr>
          <p:cNvPr id="31" name="Rounded Rectangle 30"/>
          <p:cNvSpPr/>
          <p:nvPr/>
        </p:nvSpPr>
        <p:spPr>
          <a:xfrm>
            <a:off x="9052560" y="2880360"/>
            <a:ext cx="2587752"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Rectangle 31"/>
          <p:cNvSpPr/>
          <p:nvPr/>
        </p:nvSpPr>
        <p:spPr>
          <a:xfrm>
            <a:off x="9052560" y="2880360"/>
            <a:ext cx="73152" cy="132588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9253728" y="2971800"/>
            <a:ext cx="2313432" cy="729234"/>
          </a:xfrm>
          <a:prstGeom prst="rect">
            <a:avLst/>
          </a:prstGeom>
          <a:noFill/>
        </p:spPr>
        <p:txBody>
          <a:bodyPr wrap="square" lIns="0" rIns="0" tIns="0" bIns="0" anchor="ctr">
            <a:spAutoFit/>
          </a:bodyPr>
          <a:lstStyle/>
          <a:p>
            <a:pPr algn="l">
              <a:spcAft>
                <a:spcPts val="400"/>
              </a:spcAft>
            </a:pPr>
            <a:r>
              <a:rPr sz="2600" b="1" i="0">
                <a:solidFill>
                  <a:srgbClr val="0F172A"/>
                </a:solidFill>
              </a:rPr>
              <a:t>5 x 2</a:t>
            </a:r>
          </a:p>
        </p:txBody>
      </p:sp>
      <p:sp>
        <p:nvSpPr>
          <p:cNvPr id="34" name="TextBox 33"/>
          <p:cNvSpPr txBox="1"/>
          <p:nvPr/>
        </p:nvSpPr>
        <p:spPr>
          <a:xfrm>
            <a:off x="9253728" y="3649370"/>
            <a:ext cx="2313432" cy="503834"/>
          </a:xfrm>
          <a:prstGeom prst="rect">
            <a:avLst/>
          </a:prstGeom>
          <a:noFill/>
        </p:spPr>
        <p:txBody>
          <a:bodyPr wrap="square" lIns="0" rIns="0" tIns="0" bIns="0" anchor="t">
            <a:spAutoFit/>
          </a:bodyPr>
          <a:lstStyle/>
          <a:p>
            <a:pPr algn="l">
              <a:spcAft>
                <a:spcPts val="400"/>
              </a:spcAft>
            </a:pPr>
            <a:r>
              <a:rPr sz="1200" b="0" i="0">
                <a:solidFill>
                  <a:srgbClr val="475569"/>
                </a:solidFill>
              </a:rPr>
              <a:t>uplift models, one pair per action</a:t>
            </a:r>
          </a:p>
        </p:txBody>
      </p:sp>
      <p:sp>
        <p:nvSpPr>
          <p:cNvPr id="35" name="Rounded Rectangle 34"/>
          <p:cNvSpPr/>
          <p:nvPr/>
        </p:nvSpPr>
        <p:spPr>
          <a:xfrm>
            <a:off x="9052560" y="4389120"/>
            <a:ext cx="2587752" cy="132588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9052560" y="4389120"/>
            <a:ext cx="73152" cy="132588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9253728" y="4480559"/>
            <a:ext cx="2313432" cy="729234"/>
          </a:xfrm>
          <a:prstGeom prst="rect">
            <a:avLst/>
          </a:prstGeom>
          <a:noFill/>
        </p:spPr>
        <p:txBody>
          <a:bodyPr wrap="square" lIns="0" rIns="0" tIns="0" bIns="0" anchor="ctr">
            <a:spAutoFit/>
          </a:bodyPr>
          <a:lstStyle/>
          <a:p>
            <a:pPr algn="l">
              <a:spcAft>
                <a:spcPts val="400"/>
              </a:spcAft>
            </a:pPr>
            <a:r>
              <a:rPr sz="2400" b="1" i="0">
                <a:solidFill>
                  <a:srgbClr val="0F172A"/>
                </a:solidFill>
              </a:rPr>
              <a:t>No GPU</a:t>
            </a:r>
          </a:p>
        </p:txBody>
      </p:sp>
      <p:sp>
        <p:nvSpPr>
          <p:cNvPr id="38" name="TextBox 37"/>
          <p:cNvSpPr txBox="1"/>
          <p:nvPr/>
        </p:nvSpPr>
        <p:spPr>
          <a:xfrm>
            <a:off x="9253728" y="5158130"/>
            <a:ext cx="2313432" cy="503834"/>
          </a:xfrm>
          <a:prstGeom prst="rect">
            <a:avLst/>
          </a:prstGeom>
          <a:noFill/>
        </p:spPr>
        <p:txBody>
          <a:bodyPr wrap="square" lIns="0" rIns="0" tIns="0" bIns="0" anchor="t">
            <a:spAutoFit/>
          </a:bodyPr>
          <a:lstStyle/>
          <a:p>
            <a:pPr algn="l">
              <a:spcAft>
                <a:spcPts val="400"/>
              </a:spcAft>
            </a:pPr>
            <a:r>
              <a:rPr sz="1200" b="0" i="0">
                <a:solidFill>
                  <a:srgbClr val="475569"/>
                </a:solidFill>
              </a:rPr>
              <a:t>all training on a desktop CPU</a:t>
            </a:r>
          </a:p>
        </p:txBody>
      </p:sp>
      <p:sp>
        <p:nvSpPr>
          <p:cNvPr id="39" name="TextBox 38"/>
          <p:cNvSpPr txBox="1"/>
          <p:nvPr/>
        </p:nvSpPr>
        <p:spPr>
          <a:xfrm>
            <a:off x="548640" y="5029200"/>
            <a:ext cx="8046720" cy="1097280"/>
          </a:xfrm>
          <a:prstGeom prst="rect">
            <a:avLst/>
          </a:prstGeom>
          <a:noFill/>
        </p:spPr>
        <p:txBody>
          <a:bodyPr wrap="square" lIns="0" rIns="0" tIns="0" bIns="0" anchor="t">
            <a:spAutoFit/>
          </a:bodyPr>
          <a:lstStyle/>
          <a:p>
            <a:pPr algn="l">
              <a:spcAft>
                <a:spcPts val="400"/>
              </a:spcAft>
            </a:pPr>
            <a:r>
              <a:rPr sz="1400" b="0" i="1">
                <a:solidFill>
                  <a:srgbClr val="475569"/>
                </a:solidFill>
              </a:rPr>
              <a:t>Estimated benefit of an action = P(success | action) - P(success | no action). It is an estimate from a confounded synthetic log, not a proven causal effect.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Training configuration</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9</a:t>
            </a:fld>
            <a:endParaRPr lang="en-US"/>
          </a:p>
        </p:txBody>
      </p:sp>
      <p:graphicFrame>
        <p:nvGraphicFramePr>
          <p:cNvPr id="26" name="Table 25"/>
          <p:cNvGraphicFramePr>
            <a:graphicFrameLocks noGrp="1"/>
          </p:cNvGraphicFramePr>
          <p:nvPr/>
        </p:nvGraphicFramePr>
        <p:xfrm>
          <a:off x="548640" y="1371600"/>
          <a:ext cx="11091672" cy="4681728"/>
        </p:xfrm>
        <a:graphic>
          <a:graphicData uri="http://schemas.openxmlformats.org/drawingml/2006/table">
            <a:tbl>
              <a:tblPr firstRow="0" bandRow="0">
                <a:tableStyleId>{5C22544A-7EE6-4342-B048-85BDC9FD1C3A}</a:tableStyleId>
              </a:tblPr>
              <a:tblGrid>
                <a:gridCol w="2743200"/>
                <a:gridCol w="8348472"/>
              </a:tblGrid>
              <a:tr h="585216">
                <a:tc>
                  <a:txBody>
                    <a:bodyPr wrap="square"/>
                    <a:lstStyle/>
                    <a:p>
                      <a:pPr algn="ctr"/>
                      <a:r>
                        <a:rPr sz="1400" b="1">
                          <a:solidFill>
                            <a:srgbClr val="FFFFFF"/>
                          </a:solidFill>
                        </a:rPr>
                        <a:t>Setting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400" b="1">
                          <a:solidFill>
                            <a:srgbClr val="FFFFFF"/>
                          </a:solidFill>
                        </a:rPr>
                        <a:t>Value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585216">
                <a:tc>
                  <a:txBody>
                    <a:bodyPr wrap="square"/>
                    <a:lstStyle/>
                    <a:p>
                      <a:pPr algn="l"/>
                      <a:r>
                        <a:rPr sz="1400" b="1">
                          <a:solidFill>
                            <a:srgbClr val="0F172A"/>
                          </a:solidFill>
                        </a:rPr>
                        <a:t>Data and split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synthetic OULAD-like generator, 2,200 learners x 12 weeks; learner-level 80/10/10 split, seed 42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85216">
                <a:tc>
                  <a:txBody>
                    <a:bodyPr wrap="square"/>
                    <a:lstStyle/>
                    <a:p>
                      <a:pPr algn="l"/>
                      <a:r>
                        <a:rPr sz="1400" b="1">
                          <a:solidFill>
                            <a:srgbClr val="0F172A"/>
                          </a:solidFill>
                        </a:rPr>
                        <a:t>Features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cum_clicks, recent_clicks, quiz_count, forum_count, completions, engagement, weekly_hours, skill_code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85216">
                <a:tc>
                  <a:txBody>
                    <a:bodyPr wrap="square"/>
                    <a:lstStyle/>
                    <a:p>
                      <a:pPr algn="l"/>
                      <a:r>
                        <a:rPr sz="1400" b="1">
                          <a:solidFill>
                            <a:srgbClr val="0F172A"/>
                          </a:solidFill>
                        </a:rPr>
                        <a:t>Success models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logistic regression, random forest (200 trees), XGBoost (300 trees, depth 5); best validation AUC kept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85216">
                <a:tc>
                  <a:txBody>
                    <a:bodyPr wrap="square"/>
                    <a:lstStyle/>
                    <a:p>
                      <a:pPr algn="l"/>
                      <a:r>
                        <a:rPr sz="1400" b="1">
                          <a:solidFill>
                            <a:srgbClr val="0F172A"/>
                          </a:solidFill>
                        </a:rPr>
                        <a:t>Action models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for quiz, content, forum, homepage, continue_course: two logistic regressions (treated, not treated)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85216">
                <a:tc>
                  <a:txBody>
                    <a:bodyPr wrap="square"/>
                    <a:lstStyle/>
                    <a:p>
                      <a:pPr algn="l"/>
                      <a:r>
                        <a:rPr sz="1400" b="1">
                          <a:solidFill>
                            <a:srgbClr val="0F172A"/>
                          </a:solidFill>
                        </a:rPr>
                        <a:t>Offline policy evaluation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propensities clipped to [0.02, 0.98], weights capped at 10; IPS, SNIPS, doubly robust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85216">
                <a:tc>
                  <a:txBody>
                    <a:bodyPr wrap="square"/>
                    <a:lstStyle/>
                    <a:p>
                      <a:pPr algn="l"/>
                      <a:r>
                        <a:rPr sz="1400" b="1">
                          <a:solidFill>
                            <a:srgbClr val="0F172A"/>
                          </a:solidFill>
                        </a:rPr>
                        <a:t>Fairness audit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F1 and mean prediction by age band and gender; audit only, no mitigation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85216">
                <a:tc>
                  <a:txBody>
                    <a:bodyPr wrap="square"/>
                    <a:lstStyle/>
                    <a:p>
                      <a:pPr algn="l"/>
                      <a:r>
                        <a:rPr sz="1400" b="1">
                          <a:solidFill>
                            <a:srgbClr val="0F172A"/>
                          </a:solidFill>
                        </a:rPr>
                        <a:t>Run time / hardware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about 6 s per seed run; i5-12500, 15.7 GB RAM, CPU only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Decision logic: the hybrid score</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10</a:t>
            </a:fld>
            <a:endParaRPr lang="en-US"/>
          </a:p>
        </p:txBody>
      </p:sp>
      <p:pic>
        <p:nvPicPr>
          <p:cNvPr id="26" name="Picture 25" descr="10_core_algorithm_flowchart.png"/>
          <p:cNvPicPr>
            <a:picLocks noChangeAspect="1"/>
          </p:cNvPicPr>
          <p:nvPr/>
        </p:nvPicPr>
        <p:blipFill>
          <a:blip r:embed="rId1"/>
          <a:stretch>
            <a:fillRect/>
          </a:stretch>
        </p:blipFill>
        <p:spPr>
          <a:xfrm>
            <a:off x="551479" y="1188720"/>
            <a:ext cx="4749201" cy="5029200"/>
          </a:xfrm>
          <a:prstGeom prst="rect">
            <a:avLst/>
          </a:prstGeom>
        </p:spPr>
      </p:pic>
      <p:sp>
        <p:nvSpPr>
          <p:cNvPr id="27" name="TextBox 26"/>
          <p:cNvSpPr txBox="1"/>
          <p:nvPr/>
        </p:nvSpPr>
        <p:spPr>
          <a:xfrm>
            <a:off x="5577840" y="1325880"/>
            <a:ext cx="6080760" cy="4937760"/>
          </a:xfrm>
          <a:prstGeom prst="rect">
            <a:avLst/>
          </a:prstGeom>
          <a:noFill/>
        </p:spPr>
        <p:txBody>
          <a:bodyPr wrap="square" lIns="0" rIns="0" tIns="0" bIns="0" anchor="t">
            <a:spAutoFit/>
          </a:bodyPr>
          <a:lstStyle/>
          <a:p>
            <a:pPr algn="l" marL="256032" indent="-201168">
              <a:spcAft>
                <a:spcPts val="900"/>
              </a:spcAft>
              <a:buChar char="•"/>
            </a:pPr>
            <a:r>
              <a:rPr sz="1400" b="1" i="0">
                <a:solidFill>
                  <a:srgbClr val="0F172A"/>
                </a:solidFill>
              </a:rPr>
              <a:t>Score</a:t>
            </a:r>
            <a:r>
              <a:rPr sz="1400" b="0" i="0">
                <a:solidFill>
                  <a:srgbClr val="0F172A"/>
                </a:solidFill>
              </a:rPr>
              <a:t> = 0.30 content + 0.15 skill + 0.15 topic + 0.12 predicted success + 0.10 (0.5 + behaviour) + 0.08 goal + 0.05 rating + 0.05 engagement, clipped to [0, 1].</a:t>
            </a:r>
          </a:p>
          <a:p>
            <a:pPr algn="l" marL="256032" indent="-201168">
              <a:spcAft>
                <a:spcPts val="900"/>
              </a:spcAft>
              <a:buChar char="•"/>
            </a:pPr>
            <a:r>
              <a:rPr sz="1400" b="1" i="0">
                <a:solidFill>
                  <a:srgbClr val="0F172A"/>
                </a:solidFill>
              </a:rPr>
              <a:t>Behaviour</a:t>
            </a:r>
            <a:r>
              <a:rPr sz="1400" b="0" i="0">
                <a:solidFill>
                  <a:srgbClr val="0F172A"/>
                </a:solidFill>
              </a:rPr>
              <a:t> adds event weights per course (view 0.05 up to complete 0.20, dismiss -0.25), clipped to [-0.3, 0.35].</a:t>
            </a:r>
          </a:p>
          <a:p>
            <a:pPr algn="l" marL="256032" indent="-201168">
              <a:spcAft>
                <a:spcPts val="900"/>
              </a:spcAft>
              <a:buChar char="•"/>
            </a:pPr>
            <a:r>
              <a:rPr sz="1400" b="1" i="0">
                <a:solidFill>
                  <a:srgbClr val="0F172A"/>
                </a:solidFill>
              </a:rPr>
              <a:t>Reasons.</a:t>
            </a:r>
            <a:r>
              <a:rPr sz="1400" b="0" i="0">
                <a:solidFill>
                  <a:srgbClr val="0F172A"/>
                </a:solidFill>
              </a:rPr>
              <a:t> Up to three plain-language reasons are attached to each card (interest match, skill fit, prior engagement, success estimate).</a:t>
            </a:r>
          </a:p>
          <a:p>
            <a:pPr algn="l" marL="256032" indent="-201168">
              <a:spcAft>
                <a:spcPts val="400"/>
              </a:spcAft>
              <a:buChar char="•"/>
            </a:pPr>
            <a:r>
              <a:rPr sz="1400" b="1" i="0">
                <a:solidFill>
                  <a:srgbClr val="0F172A"/>
                </a:solidFill>
              </a:rPr>
              <a:t>Next action.</a:t>
            </a:r>
            <a:r>
              <a:rPr sz="1400" b="0" i="0">
                <a:solidFill>
                  <a:srgbClr val="0F172A"/>
                </a:solidFill>
              </a:rPr>
              <a:t> The action with the largest estimated benefit is attached; it depends on the learner state only, so every card of one learner shows the same action.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 flow and modules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11</a:t>
            </a:fld>
            <a:endParaRPr lang="en-US"/>
          </a:p>
        </p:txBody>
      </p:sp>
      <p:pic>
        <p:nvPicPr>
          <p:cNvPr id="26" name="Picture 25" descr="04_dfd_level1.png"/>
          <p:cNvPicPr>
            <a:picLocks noChangeAspect="1"/>
          </p:cNvPicPr>
          <p:nvPr/>
        </p:nvPicPr>
        <p:blipFill>
          <a:blip r:embed="rId1"/>
          <a:stretch>
            <a:fillRect/>
          </a:stretch>
        </p:blipFill>
        <p:spPr>
          <a:xfrm>
            <a:off x="1322294" y="1188720"/>
            <a:ext cx="5127811" cy="5029200"/>
          </a:xfrm>
          <a:prstGeom prst="rect">
            <a:avLst/>
          </a:prstGeom>
        </p:spPr>
      </p:pic>
      <p:graphicFrame>
        <p:nvGraphicFramePr>
          <p:cNvPr id="27" name="Table 26"/>
          <p:cNvGraphicFramePr>
            <a:graphicFrameLocks noGrp="1"/>
          </p:cNvGraphicFramePr>
          <p:nvPr/>
        </p:nvGraphicFramePr>
        <p:xfrm>
          <a:off x="7498079" y="1371600"/>
          <a:ext cx="4142232" cy="3200400"/>
        </p:xfrm>
        <a:graphic>
          <a:graphicData uri="http://schemas.openxmlformats.org/drawingml/2006/table">
            <a:tbl>
              <a:tblPr firstRow="0" bandRow="0">
                <a:tableStyleId>{5C22544A-7EE6-4342-B048-85BDC9FD1C3A}</a:tableStyleId>
              </a:tblPr>
              <a:tblGrid>
                <a:gridCol w="2423160"/>
                <a:gridCol w="1719072"/>
              </a:tblGrid>
              <a:tr h="457200">
                <a:tc>
                  <a:txBody>
                    <a:bodyPr wrap="square"/>
                    <a:lstStyle/>
                    <a:p>
                      <a:pPr algn="ctr"/>
                      <a:r>
                        <a:rPr sz="1200" b="1">
                          <a:solidFill>
                            <a:srgbClr val="FFFFFF"/>
                          </a:solidFill>
                        </a:rPr>
                        <a:t>Module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200" b="1">
                          <a:solidFill>
                            <a:srgbClr val="FFFFFF"/>
                          </a:solidFill>
                        </a:rPr>
                        <a:t>Role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457200">
                <a:tc>
                  <a:txBody>
                    <a:bodyPr wrap="square"/>
                    <a:lstStyle/>
                    <a:p>
                      <a:pPr algn="l"/>
                      <a:r>
                        <a:rPr sz="1200" b="0">
                          <a:solidFill>
                            <a:srgbClr val="0F172A"/>
                          </a:solidFill>
                        </a:rPr>
                        <a:t>app/recommender.py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hybrid ranker, success, uplift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200" b="0">
                          <a:solidFill>
                            <a:srgbClr val="0F172A"/>
                          </a:solidFill>
                        </a:rPr>
                        <a:t>app/api_routes.py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18 JSON routes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200" b="0">
                          <a:solidFill>
                            <a:srgbClr val="0F172A"/>
                          </a:solidFill>
                        </a:rPr>
                        <a:t>app/models.py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6 ORM tables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200" b="0">
                          <a:solidFill>
                            <a:srgbClr val="0F172A"/>
                          </a:solidFill>
                        </a:rPr>
                        <a:t>app/security.py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hashing, tokens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457200">
                <a:tc>
                  <a:txBody>
                    <a:bodyPr wrap="square"/>
                    <a:lstStyle/>
                    <a:p>
                      <a:pPr algn="l"/>
                      <a:r>
                        <a:rPr sz="1200" b="0">
                          <a:solidFill>
                            <a:srgbClr val="0F172A"/>
                          </a:solidFill>
                        </a:rPr>
                        <a:t>scripts/train_pipeline.py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200" b="0">
                          <a:solidFill>
                            <a:srgbClr val="0F172A"/>
                          </a:solidFill>
                        </a:rPr>
                        <a:t>offline training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457200">
                <a:tc>
                  <a:txBody>
                    <a:bodyPr wrap="square"/>
                    <a:lstStyle/>
                    <a:p>
                      <a:pPr algn="l"/>
                      <a:r>
                        <a:rPr sz="1200" b="0">
                          <a:solidFill>
                            <a:srgbClr val="0F172A"/>
                          </a:solidFill>
                        </a:rPr>
                        <a:t>frontend/src/pages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200" b="0">
                          <a:solidFill>
                            <a:srgbClr val="0F172A"/>
                          </a:solidFill>
                        </a:rPr>
                        <a:t>12 React pages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Database design and UML</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12</a:t>
            </a:fld>
            <a:endParaRPr lang="en-US"/>
          </a:p>
        </p:txBody>
      </p:sp>
      <p:pic>
        <p:nvPicPr>
          <p:cNvPr id="26" name="Picture 25" descr="09_er_diagram.png"/>
          <p:cNvPicPr>
            <a:picLocks noChangeAspect="1"/>
          </p:cNvPicPr>
          <p:nvPr/>
        </p:nvPicPr>
        <p:blipFill>
          <a:blip r:embed="rId1"/>
          <a:stretch>
            <a:fillRect/>
          </a:stretch>
        </p:blipFill>
        <p:spPr>
          <a:xfrm>
            <a:off x="648704" y="1234440"/>
            <a:ext cx="5286270" cy="4663440"/>
          </a:xfrm>
          <a:prstGeom prst="rect">
            <a:avLst/>
          </a:prstGeom>
        </p:spPr>
      </p:pic>
      <p:pic>
        <p:nvPicPr>
          <p:cNvPr id="27" name="Picture 26" descr="06_uml_class_diagram.png"/>
          <p:cNvPicPr>
            <a:picLocks noChangeAspect="1"/>
          </p:cNvPicPr>
          <p:nvPr/>
        </p:nvPicPr>
        <p:blipFill>
          <a:blip r:embed="rId4"/>
          <a:stretch>
            <a:fillRect/>
          </a:stretch>
        </p:blipFill>
        <p:spPr>
          <a:xfrm>
            <a:off x="6536492" y="1234440"/>
            <a:ext cx="4757815" cy="4663440"/>
          </a:xfrm>
          <a:prstGeom prst="rect">
            <a:avLst/>
          </a:prstGeom>
        </p:spPr>
      </p:pic>
      <p:sp>
        <p:nvSpPr>
          <p:cNvPr id="28" name="TextBox 27"/>
          <p:cNvSpPr txBox="1"/>
          <p:nvPr/>
        </p:nvSpPr>
        <p:spPr>
          <a:xfrm>
            <a:off x="548640" y="5989320"/>
            <a:ext cx="11091672" cy="320040"/>
          </a:xfrm>
          <a:prstGeom prst="rect">
            <a:avLst/>
          </a:prstGeom>
          <a:noFill/>
        </p:spPr>
        <p:txBody>
          <a:bodyPr wrap="square" lIns="0" rIns="0" tIns="0" bIns="0" anchor="t">
            <a:spAutoFit/>
          </a:bodyPr>
          <a:lstStyle/>
          <a:p>
            <a:pPr algn="ctr">
              <a:spcAft>
                <a:spcPts val="400"/>
              </a:spcAft>
            </a:pPr>
            <a:r>
              <a:rPr sz="1200" b="0" i="1">
                <a:solidFill>
                  <a:srgbClr val="475569"/>
                </a:solidFill>
              </a:rPr>
              <a:t>Six tables; users-profiles is 1:1, users-interactions and users-tokens are 1:n; the UML draws the recommender module as a class.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Technology stack</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13</a:t>
            </a:fld>
            <a:endParaRPr lang="en-US"/>
          </a:p>
        </p:txBody>
      </p:sp>
      <p:graphicFrame>
        <p:nvGraphicFramePr>
          <p:cNvPr id="26" name="Table 25"/>
          <p:cNvGraphicFramePr>
            <a:graphicFrameLocks noGrp="1"/>
          </p:cNvGraphicFramePr>
          <p:nvPr/>
        </p:nvGraphicFramePr>
        <p:xfrm>
          <a:off x="548640" y="1371600"/>
          <a:ext cx="11091672" cy="4096512"/>
        </p:xfrm>
        <a:graphic>
          <a:graphicData uri="http://schemas.openxmlformats.org/drawingml/2006/table">
            <a:tbl>
              <a:tblPr firstRow="0" bandRow="0">
                <a:tableStyleId>{5C22544A-7EE6-4342-B048-85BDC9FD1C3A}</a:tableStyleId>
              </a:tblPr>
              <a:tblGrid>
                <a:gridCol w="2377440"/>
                <a:gridCol w="8714232"/>
              </a:tblGrid>
              <a:tr h="585216">
                <a:tc>
                  <a:txBody>
                    <a:bodyPr wrap="square"/>
                    <a:lstStyle/>
                    <a:p>
                      <a:pPr algn="ctr"/>
                      <a:r>
                        <a:rPr sz="1500" b="1">
                          <a:solidFill>
                            <a:srgbClr val="FFFFFF"/>
                          </a:solidFill>
                        </a:rPr>
                        <a:t>Layer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500" b="1">
                          <a:solidFill>
                            <a:srgbClr val="FFFFFF"/>
                          </a:solidFill>
                        </a:rPr>
                        <a:t>Technology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585216">
                <a:tc>
                  <a:txBody>
                    <a:bodyPr wrap="square"/>
                    <a:lstStyle/>
                    <a:p>
                      <a:pPr algn="l"/>
                      <a:r>
                        <a:rPr sz="1500" b="1">
                          <a:solidFill>
                            <a:srgbClr val="0F172A"/>
                          </a:solidFill>
                        </a:rPr>
                        <a:t>Models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500" b="0">
                          <a:solidFill>
                            <a:srgbClr val="0F172A"/>
                          </a:solidFill>
                        </a:rPr>
                        <a:t>scikit-learn 1.5.2, XGBoost 2.1.3, pandas 2.2.3, NumPy 1.26.4, joblib</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85216">
                <a:tc>
                  <a:txBody>
                    <a:bodyPr wrap="square"/>
                    <a:lstStyle/>
                    <a:p>
                      <a:pPr algn="l"/>
                      <a:r>
                        <a:rPr sz="1500" b="1">
                          <a:solidFill>
                            <a:srgbClr val="0F172A"/>
                          </a:solidFill>
                        </a:rPr>
                        <a:t>API</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500" b="0">
                          <a:solidFill>
                            <a:srgbClr val="0F172A"/>
                          </a:solidFill>
                        </a:rPr>
                        <a:t>FastAPI 0.115.6, Uvicorn, Pydantic 2.10.4, passlib (pbkdf2_sha256)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85216">
                <a:tc>
                  <a:txBody>
                    <a:bodyPr wrap="square"/>
                    <a:lstStyle/>
                    <a:p>
                      <a:pPr algn="l"/>
                      <a:r>
                        <a:rPr sz="1500" b="1">
                          <a:solidFill>
                            <a:srgbClr val="0F172A"/>
                          </a:solidFill>
                        </a:rPr>
                        <a:t>Database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500" b="0">
                          <a:solidFill>
                            <a:srgbClr val="0F172A"/>
                          </a:solidFill>
                        </a:rPr>
                        <a:t>SQLite through SQLAlchemy 2.0.36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85216">
                <a:tc>
                  <a:txBody>
                    <a:bodyPr wrap="square"/>
                    <a:lstStyle/>
                    <a:p>
                      <a:pPr algn="l"/>
                      <a:r>
                        <a:rPr sz="1500" b="1">
                          <a:solidFill>
                            <a:srgbClr val="0F172A"/>
                          </a:solidFill>
                        </a:rPr>
                        <a:t>Front end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500" b="0">
                          <a:solidFill>
                            <a:srgbClr val="0F172A"/>
                          </a:solidFill>
                        </a:rPr>
                        <a:t>React 19, Vite, React Router, Recharts, Framer Motion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85216">
                <a:tc>
                  <a:txBody>
                    <a:bodyPr wrap="square"/>
                    <a:lstStyle/>
                    <a:p>
                      <a:pPr algn="l"/>
                      <a:r>
                        <a:rPr sz="1500" b="1">
                          <a:solidFill>
                            <a:srgbClr val="0F172A"/>
                          </a:solidFill>
                        </a:rPr>
                        <a:t>Testing</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500" b="0">
                          <a:solidFill>
                            <a:srgbClr val="0F172A"/>
                          </a:solidFill>
                        </a:rPr>
                        <a:t>pytest, an end-to-end smoke script, a Playwright responsive check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85216">
                <a:tc>
                  <a:txBody>
                    <a:bodyPr wrap="square"/>
                    <a:lstStyle/>
                    <a:p>
                      <a:pPr algn="l"/>
                      <a:r>
                        <a:rPr sz="1500" b="1">
                          <a:solidFill>
                            <a:srgbClr val="0F172A"/>
                          </a:solidFill>
                        </a:rPr>
                        <a:t>Run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500" b="0">
                          <a:solidFill>
                            <a:srgbClr val="0F172A"/>
                          </a:solidFill>
                        </a:rPr>
                        <a:t>Python 3.11.9, Node v24.19.0; backend port 8407, front end port 5407</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Implementation progress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14</a:t>
            </a:fld>
            <a:endParaRPr lang="en-US"/>
          </a:p>
        </p:txBody>
      </p:sp>
      <p:graphicFrame>
        <p:nvGraphicFramePr>
          <p:cNvPr id="26" name="Table 25"/>
          <p:cNvGraphicFramePr>
            <a:graphicFrameLocks noGrp="1"/>
          </p:cNvGraphicFramePr>
          <p:nvPr/>
        </p:nvGraphicFramePr>
        <p:xfrm>
          <a:off x="548640" y="1371600"/>
          <a:ext cx="11091672" cy="4535424"/>
        </p:xfrm>
        <a:graphic>
          <a:graphicData uri="http://schemas.openxmlformats.org/drawingml/2006/table">
            <a:tbl>
              <a:tblPr firstRow="0" bandRow="0">
                <a:tableStyleId>{5C22544A-7EE6-4342-B048-85BDC9FD1C3A}</a:tableStyleId>
              </a:tblPr>
              <a:tblGrid>
                <a:gridCol w="4114800"/>
                <a:gridCol w="1645920"/>
                <a:gridCol w="5330952"/>
              </a:tblGrid>
              <a:tr h="566928">
                <a:tc>
                  <a:txBody>
                    <a:bodyPr wrap="square"/>
                    <a:lstStyle/>
                    <a:p>
                      <a:pPr algn="ctr"/>
                      <a:r>
                        <a:rPr sz="1400" b="1">
                          <a:solidFill>
                            <a:srgbClr val="FFFFFF"/>
                          </a:solidFill>
                        </a:rPr>
                        <a:t>Component (objective)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400" b="1">
                          <a:solidFill>
                            <a:srgbClr val="FFFFFF"/>
                          </a:solidFill>
                        </a:rPr>
                        <a:t>Status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400" b="1">
                          <a:solidFill>
                            <a:srgbClr val="FFFFFF"/>
                          </a:solidFill>
                        </a:rPr>
                        <a:t>Evidence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566928">
                <a:tc>
                  <a:txBody>
                    <a:bodyPr wrap="square"/>
                    <a:lstStyle/>
                    <a:p>
                      <a:pPr algn="l"/>
                      <a:r>
                        <a:rPr sz="1400" b="0">
                          <a:solidFill>
                            <a:srgbClr val="0F172A"/>
                          </a:solidFill>
                        </a:rPr>
                        <a:t>Learner profiles (1)</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profiles table, profile page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66928">
                <a:tc>
                  <a:txBody>
                    <a:bodyPr wrap="square"/>
                    <a:lstStyle/>
                    <a:p>
                      <a:pPr algn="l"/>
                      <a:r>
                        <a:rPr sz="1400" b="0">
                          <a:solidFill>
                            <a:srgbClr val="0F172A"/>
                          </a:solidFill>
                        </a:rPr>
                        <a:t>Course catalogue (2)</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24 courses with topic, level, prerequisites, outcomes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66928">
                <a:tc>
                  <a:txBody>
                    <a:bodyPr wrap="square"/>
                    <a:lstStyle/>
                    <a:p>
                      <a:pPr algn="l"/>
                      <a:r>
                        <a:rPr sz="1400" b="0">
                          <a:solidFill>
                            <a:srgbClr val="0F172A"/>
                          </a:solidFill>
                        </a:rPr>
                        <a:t>Content-based matching (4)</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TF-IDF similarity plus skill, topic, goal terms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66928">
                <a:tc>
                  <a:txBody>
                    <a:bodyPr wrap="square"/>
                    <a:lstStyle/>
                    <a:p>
                      <a:pPr algn="l"/>
                      <a:r>
                        <a:rPr sz="1400" b="0">
                          <a:solidFill>
                            <a:srgbClr val="0F172A"/>
                          </a:solidFill>
                        </a:rPr>
                        <a:t>Hybrid ranking and learning path (5)</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Done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8-term score, staged path, reasons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66928">
                <a:tc>
                  <a:txBody>
                    <a:bodyPr wrap="square"/>
                    <a:lstStyle/>
                    <a:p>
                      <a:pPr algn="l"/>
                      <a:r>
                        <a:rPr sz="1400" b="0">
                          <a:solidFill>
                            <a:srgbClr val="0F172A"/>
                          </a:solidFill>
                        </a:rPr>
                        <a:t>Evaluation (6)</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Partial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AUC/F1, policy evaluation, 10-persona check; no user study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566928">
                <a:tc>
                  <a:txBody>
                    <a:bodyPr wrap="square"/>
                    <a:lstStyle/>
                    <a:p>
                      <a:pPr algn="l"/>
                      <a:r>
                        <a:rPr sz="1400" b="0">
                          <a:solidFill>
                            <a:srgbClr val="0F172A"/>
                          </a:solidFill>
                        </a:rPr>
                        <a:t>Collaborative filtering (3)</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Not implemented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no real interaction log across learners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566928">
                <a:tc>
                  <a:txBody>
                    <a:bodyPr wrap="square"/>
                    <a:lstStyle/>
                    <a:p>
                      <a:pPr algn="l"/>
                      <a:r>
                        <a:rPr sz="1400" b="0">
                          <a:solidFill>
                            <a:srgbClr val="0F172A"/>
                          </a:solidFill>
                        </a:rPr>
                        <a:t>Actor-Critic RL agent (base paper)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Not implemented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out of scope; uplift and OPE only</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Preliminary results (synthetic data)</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15</a:t>
            </a:fld>
            <a:endParaRPr lang="en-US"/>
          </a:p>
        </p:txBody>
      </p:sp>
      <p:sp>
        <p:nvSpPr>
          <p:cNvPr id="26" name="Rounded Rectangle 25"/>
          <p:cNvSpPr/>
          <p:nvPr/>
        </p:nvSpPr>
        <p:spPr>
          <a:xfrm>
            <a:off x="548640" y="1325880"/>
            <a:ext cx="265176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8640" y="1325880"/>
            <a:ext cx="73152"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9808" y="1417320"/>
            <a:ext cx="2377440" cy="628650"/>
          </a:xfrm>
          <a:prstGeom prst="rect">
            <a:avLst/>
          </a:prstGeom>
          <a:noFill/>
        </p:spPr>
        <p:txBody>
          <a:bodyPr wrap="square" lIns="0" rIns="0" tIns="0" bIns="0" anchor="ctr">
            <a:spAutoFit/>
          </a:bodyPr>
          <a:lstStyle/>
          <a:p>
            <a:pPr algn="l">
              <a:spcAft>
                <a:spcPts val="400"/>
              </a:spcAft>
            </a:pPr>
            <a:r>
              <a:rPr sz="2800" b="1" i="0">
                <a:solidFill>
                  <a:srgbClr val="0F172A"/>
                </a:solidFill>
              </a:rPr>
              <a:t>0.603</a:t>
            </a:r>
          </a:p>
        </p:txBody>
      </p:sp>
      <p:sp>
        <p:nvSpPr>
          <p:cNvPr id="29" name="TextBox 28"/>
          <p:cNvSpPr txBox="1"/>
          <p:nvPr/>
        </p:nvSpPr>
        <p:spPr>
          <a:xfrm>
            <a:off x="749808" y="1988819"/>
            <a:ext cx="2377440" cy="434340"/>
          </a:xfrm>
          <a:prstGeom prst="rect">
            <a:avLst/>
          </a:prstGeom>
          <a:noFill/>
        </p:spPr>
        <p:txBody>
          <a:bodyPr wrap="square" lIns="0" rIns="0" tIns="0" bIns="0" anchor="t">
            <a:spAutoFit/>
          </a:bodyPr>
          <a:lstStyle/>
          <a:p>
            <a:pPr algn="l">
              <a:spcAft>
                <a:spcPts val="400"/>
              </a:spcAft>
            </a:pPr>
            <a:r>
              <a:rPr sz="1200" b="0" i="0">
                <a:solidFill>
                  <a:srgbClr val="475569"/>
                </a:solidFill>
              </a:rPr>
              <a:t>test AUC, logistic regression</a:t>
            </a:r>
          </a:p>
        </p:txBody>
      </p:sp>
      <p:sp>
        <p:nvSpPr>
          <p:cNvPr id="30" name="Rounded Rectangle 29"/>
          <p:cNvSpPr/>
          <p:nvPr/>
        </p:nvSpPr>
        <p:spPr>
          <a:xfrm>
            <a:off x="3383280" y="1325880"/>
            <a:ext cx="265176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383280" y="1325880"/>
            <a:ext cx="73152" cy="11430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584448" y="1417320"/>
            <a:ext cx="2377440" cy="628650"/>
          </a:xfrm>
          <a:prstGeom prst="rect">
            <a:avLst/>
          </a:prstGeom>
          <a:noFill/>
        </p:spPr>
        <p:txBody>
          <a:bodyPr wrap="square" lIns="0" rIns="0" tIns="0" bIns="0" anchor="ctr">
            <a:spAutoFit/>
          </a:bodyPr>
          <a:lstStyle/>
          <a:p>
            <a:pPr algn="l">
              <a:spcAft>
                <a:spcPts val="400"/>
              </a:spcAft>
            </a:pPr>
            <a:r>
              <a:rPr sz="2800" b="1" i="0">
                <a:solidFill>
                  <a:srgbClr val="0F172A"/>
                </a:solidFill>
              </a:rPr>
              <a:t>0.415</a:t>
            </a:r>
          </a:p>
        </p:txBody>
      </p:sp>
      <p:sp>
        <p:nvSpPr>
          <p:cNvPr id="33" name="TextBox 32"/>
          <p:cNvSpPr txBox="1"/>
          <p:nvPr/>
        </p:nvSpPr>
        <p:spPr>
          <a:xfrm>
            <a:off x="3584448" y="1988819"/>
            <a:ext cx="2377440" cy="434340"/>
          </a:xfrm>
          <a:prstGeom prst="rect">
            <a:avLst/>
          </a:prstGeom>
          <a:noFill/>
        </p:spPr>
        <p:txBody>
          <a:bodyPr wrap="square" lIns="0" rIns="0" tIns="0" bIns="0" anchor="t">
            <a:spAutoFit/>
          </a:bodyPr>
          <a:lstStyle/>
          <a:p>
            <a:pPr algn="l">
              <a:spcAft>
                <a:spcPts val="400"/>
              </a:spcAft>
            </a:pPr>
            <a:r>
              <a:rPr sz="1200" b="0" i="0">
                <a:solidFill>
                  <a:srgbClr val="475569"/>
                </a:solidFill>
              </a:rPr>
              <a:t>test F1 (2,640 rows)</a:t>
            </a:r>
          </a:p>
        </p:txBody>
      </p:sp>
      <p:sp>
        <p:nvSpPr>
          <p:cNvPr id="34" name="Rounded Rectangle 33"/>
          <p:cNvSpPr/>
          <p:nvPr/>
        </p:nvSpPr>
        <p:spPr>
          <a:xfrm>
            <a:off x="6217920" y="1325880"/>
            <a:ext cx="265176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217920" y="1325880"/>
            <a:ext cx="73152" cy="1143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19088" y="1417320"/>
            <a:ext cx="2377440" cy="628650"/>
          </a:xfrm>
          <a:prstGeom prst="rect">
            <a:avLst/>
          </a:prstGeom>
          <a:noFill/>
        </p:spPr>
        <p:txBody>
          <a:bodyPr wrap="square" lIns="0" rIns="0" tIns="0" bIns="0" anchor="ctr">
            <a:spAutoFit/>
          </a:bodyPr>
          <a:lstStyle/>
          <a:p>
            <a:pPr algn="l">
              <a:spcAft>
                <a:spcPts val="400"/>
              </a:spcAft>
            </a:pPr>
            <a:r>
              <a:rPr sz="2800" b="1" i="0">
                <a:solidFill>
                  <a:srgbClr val="0F172A"/>
                </a:solidFill>
              </a:rPr>
              <a:t>0.73</a:t>
            </a:r>
          </a:p>
        </p:txBody>
      </p:sp>
      <p:sp>
        <p:nvSpPr>
          <p:cNvPr id="37" name="TextBox 36"/>
          <p:cNvSpPr txBox="1"/>
          <p:nvPr/>
        </p:nvSpPr>
        <p:spPr>
          <a:xfrm>
            <a:off x="6419088" y="1988819"/>
            <a:ext cx="2377440" cy="434340"/>
          </a:xfrm>
          <a:prstGeom prst="rect">
            <a:avLst/>
          </a:prstGeom>
          <a:noFill/>
        </p:spPr>
        <p:txBody>
          <a:bodyPr wrap="square" lIns="0" rIns="0" tIns="0" bIns="0" anchor="t">
            <a:spAutoFit/>
          </a:bodyPr>
          <a:lstStyle/>
          <a:p>
            <a:pPr algn="l">
              <a:spcAft>
                <a:spcPts val="400"/>
              </a:spcAft>
            </a:pPr>
            <a:r>
              <a:rPr sz="1200" b="0" i="0">
                <a:solidFill>
                  <a:srgbClr val="475569"/>
                </a:solidFill>
              </a:rPr>
              <a:t>persona P@3, hybrid</a:t>
            </a:r>
          </a:p>
        </p:txBody>
      </p:sp>
      <p:sp>
        <p:nvSpPr>
          <p:cNvPr id="38" name="Rounded Rectangle 37"/>
          <p:cNvSpPr/>
          <p:nvPr/>
        </p:nvSpPr>
        <p:spPr>
          <a:xfrm>
            <a:off x="9052560" y="1325880"/>
            <a:ext cx="265176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052560" y="1325880"/>
            <a:ext cx="73152" cy="114300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253728" y="1417320"/>
            <a:ext cx="2377440" cy="628650"/>
          </a:xfrm>
          <a:prstGeom prst="rect">
            <a:avLst/>
          </a:prstGeom>
          <a:noFill/>
        </p:spPr>
        <p:txBody>
          <a:bodyPr wrap="square" lIns="0" rIns="0" tIns="0" bIns="0" anchor="ctr">
            <a:spAutoFit/>
          </a:bodyPr>
          <a:lstStyle/>
          <a:p>
            <a:pPr algn="l">
              <a:spcAft>
                <a:spcPts val="400"/>
              </a:spcAft>
            </a:pPr>
            <a:r>
              <a:rPr sz="2800" b="1" i="0">
                <a:solidFill>
                  <a:srgbClr val="0F172A"/>
                </a:solidFill>
              </a:rPr>
              <a:t>0.20</a:t>
            </a:r>
          </a:p>
        </p:txBody>
      </p:sp>
      <p:sp>
        <p:nvSpPr>
          <p:cNvPr id="41" name="TextBox 40"/>
          <p:cNvSpPr txBox="1"/>
          <p:nvPr/>
        </p:nvSpPr>
        <p:spPr>
          <a:xfrm>
            <a:off x="9253728" y="1988819"/>
            <a:ext cx="2377440" cy="434340"/>
          </a:xfrm>
          <a:prstGeom prst="rect">
            <a:avLst/>
          </a:prstGeom>
          <a:noFill/>
        </p:spPr>
        <p:txBody>
          <a:bodyPr wrap="square" lIns="0" rIns="0" tIns="0" bIns="0" anchor="t">
            <a:spAutoFit/>
          </a:bodyPr>
          <a:lstStyle/>
          <a:p>
            <a:pPr algn="l">
              <a:spcAft>
                <a:spcPts val="400"/>
              </a:spcAft>
            </a:pPr>
            <a:r>
              <a:rPr sz="1200" b="0" i="0">
                <a:solidFill>
                  <a:srgbClr val="475569"/>
                </a:solidFill>
              </a:rPr>
              <a:t>persona P@3, popularity</a:t>
            </a:r>
          </a:p>
        </p:txBody>
      </p:sp>
      <p:graphicFrame>
        <p:nvGraphicFramePr>
          <p:cNvPr id="42" name="Chart 41"/>
          <p:cNvGraphicFramePr>
            <a:graphicFrameLocks noGrp="1"/>
          </p:cNvGraphicFramePr>
          <p:nvPr/>
        </p:nvGraphicFramePr>
        <p:xfrm>
          <a:off x="548640" y="2651760"/>
          <a:ext cx="6766560" cy="3611880"/>
        </p:xfrm>
        <a:graphic>
          <a:graphicData uri="http://schemas.openxmlformats.org/drawingml/2006/chart">
            <c:chart xmlns:c="http://schemas.openxmlformats.org/drawingml/2006/chart" r:id="rId1"/>
          </a:graphicData>
        </a:graphic>
      </p:graphicFrame>
      <p:sp>
        <p:nvSpPr>
          <p:cNvPr id="43" name="Rounded Rectangle 42"/>
          <p:cNvSpPr/>
          <p:nvPr/>
        </p:nvSpPr>
        <p:spPr>
          <a:xfrm>
            <a:off x="7589520" y="2697480"/>
            <a:ext cx="4050791" cy="3429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7790688" y="288036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i</a:t>
            </a:r>
          </a:p>
        </p:txBody>
      </p:sp>
      <p:sp>
        <p:nvSpPr>
          <p:cNvPr id="45" name="TextBox 44"/>
          <p:cNvSpPr txBox="1"/>
          <p:nvPr/>
        </p:nvSpPr>
        <p:spPr>
          <a:xfrm>
            <a:off x="8430768" y="2852928"/>
            <a:ext cx="3044951" cy="548640"/>
          </a:xfrm>
          <a:prstGeom prst="rect">
            <a:avLst/>
          </a:prstGeom>
          <a:noFill/>
        </p:spPr>
        <p:txBody>
          <a:bodyPr wrap="square" lIns="0" rIns="0" tIns="0" bIns="0" anchor="ctr">
            <a:spAutoFit/>
          </a:bodyPr>
          <a:lstStyle/>
          <a:p>
            <a:pPr algn="l">
              <a:spcAft>
                <a:spcPts val="400"/>
              </a:spcAft>
            </a:pPr>
            <a:r>
              <a:rPr sz="1600" b="1" i="0">
                <a:solidFill>
                  <a:srgbClr val="0F172A"/>
                </a:solidFill>
              </a:rPr>
              <a:t>Reading</a:t>
            </a:r>
          </a:p>
        </p:txBody>
      </p:sp>
      <p:sp>
        <p:nvSpPr>
          <p:cNvPr id="46" name="TextBox 45"/>
          <p:cNvSpPr txBox="1"/>
          <p:nvPr/>
        </p:nvSpPr>
        <p:spPr>
          <a:xfrm>
            <a:off x="7790688" y="3566160"/>
            <a:ext cx="3648456" cy="2423160"/>
          </a:xfrm>
          <a:prstGeom prst="rect">
            <a:avLst/>
          </a:prstGeom>
          <a:noFill/>
        </p:spPr>
        <p:txBody>
          <a:bodyPr wrap="square" lIns="0" rIns="0" tIns="0" bIns="0" anchor="t">
            <a:spAutoFit/>
          </a:bodyPr>
          <a:lstStyle/>
          <a:p>
            <a:pPr algn="l">
              <a:spcAft>
                <a:spcPts val="400"/>
              </a:spcAft>
            </a:pPr>
            <a:r>
              <a:rPr sz="1400" b="0" i="0">
                <a:solidFill>
                  <a:srgbClr val="475569"/>
                </a:solidFill>
              </a:rPr>
              <a:t>10 author-written personas over 24 courses: the hybrid beats popularity clearly, but not content-only (P@3 0.73 vs 0.80). Test AUC is modest because the synthetic features carry little signal.</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Output screens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16</a:t>
            </a:fld>
            <a:endParaRPr lang="en-US"/>
          </a:p>
        </p:txBody>
      </p:sp>
      <p:pic>
        <p:nvPicPr>
          <p:cNvPr id="26" name="Picture 25" descr="08_recommendations.png"/>
          <p:cNvPicPr>
            <a:picLocks noChangeAspect="1"/>
          </p:cNvPicPr>
          <p:nvPr/>
        </p:nvPicPr>
        <p:blipFill>
          <a:blip r:embed="rId2"/>
          <a:stretch>
            <a:fillRect/>
          </a:stretch>
        </p:blipFill>
        <p:spPr>
          <a:xfrm>
            <a:off x="548640" y="1188720"/>
            <a:ext cx="7315200" cy="4572000"/>
          </a:xfrm>
          <a:prstGeom prst="rect">
            <a:avLst/>
          </a:prstGeom>
          <a:ln w="9525">
            <a:solidFill>
              <a:srgbClr val="D5DCE6"/>
            </a:solidFill>
          </a:ln>
        </p:spPr>
      </p:pic>
      <p:sp>
        <p:nvSpPr>
          <p:cNvPr id="27" name="TextBox 26"/>
          <p:cNvSpPr txBox="1"/>
          <p:nvPr/>
        </p:nvSpPr>
        <p:spPr>
          <a:xfrm>
            <a:off x="548640" y="5852160"/>
            <a:ext cx="7315200" cy="365760"/>
          </a:xfrm>
          <a:prstGeom prst="rect">
            <a:avLst/>
          </a:prstGeom>
          <a:noFill/>
        </p:spPr>
        <p:txBody>
          <a:bodyPr wrap="square" lIns="0" rIns="0" tIns="0" bIns="0" anchor="t">
            <a:spAutoFit/>
          </a:bodyPr>
          <a:lstStyle/>
          <a:p>
            <a:pPr algn="ctr">
              <a:spcAft>
                <a:spcPts val="400"/>
              </a:spcAft>
            </a:pPr>
            <a:r>
              <a:rPr sz="1200" b="0" i="1">
                <a:solidFill>
                  <a:srgbClr val="475569"/>
                </a:solidFill>
              </a:rPr>
              <a:t>Ranked recommendations: match %, success estimate, reason</a:t>
            </a:r>
          </a:p>
        </p:txBody>
      </p:sp>
      <p:pic>
        <p:nvPicPr>
          <p:cNvPr id="28" name="Picture 27" descr="07_dashboard.png"/>
          <p:cNvPicPr>
            <a:picLocks noChangeAspect="1"/>
          </p:cNvPicPr>
          <p:nvPr/>
        </p:nvPicPr>
        <p:blipFill>
          <a:blip r:embed="rId1"/>
          <a:stretch>
            <a:fillRect/>
          </a:stretch>
        </p:blipFill>
        <p:spPr>
          <a:xfrm>
            <a:off x="8119871" y="1188720"/>
            <a:ext cx="3511296" cy="2194560"/>
          </a:xfrm>
          <a:prstGeom prst="rect">
            <a:avLst/>
          </a:prstGeom>
          <a:ln w="9525">
            <a:solidFill>
              <a:srgbClr val="D5DCE6"/>
            </a:solidFill>
          </a:ln>
        </p:spPr>
      </p:pic>
      <p:sp>
        <p:nvSpPr>
          <p:cNvPr id="29" name="TextBox 28"/>
          <p:cNvSpPr txBox="1"/>
          <p:nvPr/>
        </p:nvSpPr>
        <p:spPr>
          <a:xfrm>
            <a:off x="8092440" y="3419856"/>
            <a:ext cx="3566160" cy="365760"/>
          </a:xfrm>
          <a:prstGeom prst="rect">
            <a:avLst/>
          </a:prstGeom>
          <a:noFill/>
        </p:spPr>
        <p:txBody>
          <a:bodyPr wrap="square" lIns="0" rIns="0" tIns="0" bIns="0" anchor="t">
            <a:spAutoFit/>
          </a:bodyPr>
          <a:lstStyle/>
          <a:p>
            <a:pPr algn="ctr">
              <a:spcAft>
                <a:spcPts val="400"/>
              </a:spcAft>
            </a:pPr>
            <a:r>
              <a:rPr sz="1200" b="0" i="1">
                <a:solidFill>
                  <a:srgbClr val="475569"/>
                </a:solidFill>
              </a:rPr>
              <a:t>Dashboard after 12 recorded events</a:t>
            </a:r>
          </a:p>
        </p:txBody>
      </p:sp>
      <p:pic>
        <p:nvPicPr>
          <p:cNvPr id="30" name="Picture 29" descr="09_learning_path.png"/>
          <p:cNvPicPr>
            <a:picLocks noChangeAspect="1"/>
          </p:cNvPicPr>
          <p:nvPr/>
        </p:nvPicPr>
        <p:blipFill>
          <a:blip r:embed="rId5"/>
          <a:stretch>
            <a:fillRect/>
          </a:stretch>
        </p:blipFill>
        <p:spPr>
          <a:xfrm>
            <a:off x="8119871" y="3840480"/>
            <a:ext cx="3511296" cy="2194560"/>
          </a:xfrm>
          <a:prstGeom prst="rect">
            <a:avLst/>
          </a:prstGeom>
          <a:ln w="9525">
            <a:solidFill>
              <a:srgbClr val="D5DCE6"/>
            </a:solidFill>
          </a:ln>
        </p:spPr>
      </p:pic>
      <p:sp>
        <p:nvSpPr>
          <p:cNvPr id="31" name="TextBox 30"/>
          <p:cNvSpPr txBox="1"/>
          <p:nvPr/>
        </p:nvSpPr>
        <p:spPr>
          <a:xfrm>
            <a:off x="8092440" y="6071616"/>
            <a:ext cx="3566160" cy="365760"/>
          </a:xfrm>
          <a:prstGeom prst="rect">
            <a:avLst/>
          </a:prstGeom>
          <a:noFill/>
        </p:spPr>
        <p:txBody>
          <a:bodyPr wrap="square" lIns="0" rIns="0" tIns="0" bIns="0" anchor="t">
            <a:spAutoFit/>
          </a:bodyPr>
          <a:lstStyle/>
          <a:p>
            <a:pPr algn="ctr">
              <a:spcAft>
                <a:spcPts val="400"/>
              </a:spcAft>
            </a:pPr>
            <a:r>
              <a:rPr sz="1200" b="0" i="1">
                <a:solidFill>
                  <a:srgbClr val="475569"/>
                </a:solidFill>
              </a:rPr>
              <a:t>Staged learning path with next action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Initial testing and observations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17</a:t>
            </a:fld>
            <a:endParaRPr lang="en-US"/>
          </a:p>
        </p:txBody>
      </p:sp>
      <p:sp>
        <p:nvSpPr>
          <p:cNvPr id="26" name="Rounded Rectangle 25"/>
          <p:cNvSpPr/>
          <p:nvPr/>
        </p:nvSpPr>
        <p:spPr>
          <a:xfrm>
            <a:off x="548640" y="1325880"/>
            <a:ext cx="265176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Rectangle 26"/>
          <p:cNvSpPr/>
          <p:nvPr/>
        </p:nvSpPr>
        <p:spPr>
          <a:xfrm>
            <a:off x="548640" y="1325880"/>
            <a:ext cx="73152" cy="1143000"/>
          </a:xfrm>
          <a:prstGeom prst="rect">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749808" y="1417320"/>
            <a:ext cx="2377440" cy="628650"/>
          </a:xfrm>
          <a:prstGeom prst="rect">
            <a:avLst/>
          </a:prstGeom>
          <a:noFill/>
        </p:spPr>
        <p:txBody>
          <a:bodyPr wrap="square" lIns="0" rIns="0" tIns="0" bIns="0" anchor="ctr">
            <a:spAutoFit/>
          </a:bodyPr>
          <a:lstStyle/>
          <a:p>
            <a:pPr algn="l">
              <a:spcAft>
                <a:spcPts val="400"/>
              </a:spcAft>
            </a:pPr>
            <a:r>
              <a:rPr sz="2600" b="1" i="0">
                <a:solidFill>
                  <a:srgbClr val="0F172A"/>
                </a:solidFill>
              </a:rPr>
              <a:t>5 / 5</a:t>
            </a:r>
          </a:p>
        </p:txBody>
      </p:sp>
      <p:sp>
        <p:nvSpPr>
          <p:cNvPr id="29" name="TextBox 28"/>
          <p:cNvSpPr txBox="1"/>
          <p:nvPr/>
        </p:nvSpPr>
        <p:spPr>
          <a:xfrm>
            <a:off x="749808" y="1988819"/>
            <a:ext cx="2377440" cy="434340"/>
          </a:xfrm>
          <a:prstGeom prst="rect">
            <a:avLst/>
          </a:prstGeom>
          <a:noFill/>
        </p:spPr>
        <p:txBody>
          <a:bodyPr wrap="square" lIns="0" rIns="0" tIns="0" bIns="0" anchor="t">
            <a:spAutoFit/>
          </a:bodyPr>
          <a:lstStyle/>
          <a:p>
            <a:pPr algn="l">
              <a:spcAft>
                <a:spcPts val="400"/>
              </a:spcAft>
            </a:pPr>
            <a:r>
              <a:rPr sz="1200" b="0" i="0">
                <a:solidFill>
                  <a:srgbClr val="475569"/>
                </a:solidFill>
              </a:rPr>
              <a:t>pytest tests passed</a:t>
            </a:r>
          </a:p>
        </p:txBody>
      </p:sp>
      <p:sp>
        <p:nvSpPr>
          <p:cNvPr id="30" name="Rounded Rectangle 29"/>
          <p:cNvSpPr/>
          <p:nvPr/>
        </p:nvSpPr>
        <p:spPr>
          <a:xfrm>
            <a:off x="3383280" y="1325880"/>
            <a:ext cx="265176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ectangle 30"/>
          <p:cNvSpPr/>
          <p:nvPr/>
        </p:nvSpPr>
        <p:spPr>
          <a:xfrm>
            <a:off x="3383280" y="1325880"/>
            <a:ext cx="73152" cy="1143000"/>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3584448" y="1417320"/>
            <a:ext cx="2377440" cy="628650"/>
          </a:xfrm>
          <a:prstGeom prst="rect">
            <a:avLst/>
          </a:prstGeom>
          <a:noFill/>
        </p:spPr>
        <p:txBody>
          <a:bodyPr wrap="square" lIns="0" rIns="0" tIns="0" bIns="0" anchor="ctr">
            <a:spAutoFit/>
          </a:bodyPr>
          <a:lstStyle/>
          <a:p>
            <a:pPr algn="l">
              <a:spcAft>
                <a:spcPts val="400"/>
              </a:spcAft>
            </a:pPr>
            <a:r>
              <a:rPr sz="2600" b="1" i="0">
                <a:solidFill>
                  <a:srgbClr val="0F172A"/>
                </a:solidFill>
              </a:rPr>
              <a:t>33 / 33</a:t>
            </a:r>
          </a:p>
        </p:txBody>
      </p:sp>
      <p:sp>
        <p:nvSpPr>
          <p:cNvPr id="33" name="TextBox 32"/>
          <p:cNvSpPr txBox="1"/>
          <p:nvPr/>
        </p:nvSpPr>
        <p:spPr>
          <a:xfrm>
            <a:off x="3584448" y="1988819"/>
            <a:ext cx="2377440" cy="434340"/>
          </a:xfrm>
          <a:prstGeom prst="rect">
            <a:avLst/>
          </a:prstGeom>
          <a:noFill/>
        </p:spPr>
        <p:txBody>
          <a:bodyPr wrap="square" lIns="0" rIns="0" tIns="0" bIns="0" anchor="t">
            <a:spAutoFit/>
          </a:bodyPr>
          <a:lstStyle/>
          <a:p>
            <a:pPr algn="l">
              <a:spcAft>
                <a:spcPts val="400"/>
              </a:spcAft>
            </a:pPr>
            <a:r>
              <a:rPr sz="1200" b="0" i="0">
                <a:solidFill>
                  <a:srgbClr val="475569"/>
                </a:solidFill>
              </a:rPr>
              <a:t>end-to-end smoke checks</a:t>
            </a:r>
          </a:p>
        </p:txBody>
      </p:sp>
      <p:sp>
        <p:nvSpPr>
          <p:cNvPr id="34" name="Rounded Rectangle 33"/>
          <p:cNvSpPr/>
          <p:nvPr/>
        </p:nvSpPr>
        <p:spPr>
          <a:xfrm>
            <a:off x="6217920" y="1325880"/>
            <a:ext cx="265176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Rectangle 34"/>
          <p:cNvSpPr/>
          <p:nvPr/>
        </p:nvSpPr>
        <p:spPr>
          <a:xfrm>
            <a:off x="6217920" y="1325880"/>
            <a:ext cx="73152" cy="1143000"/>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6419088" y="1417320"/>
            <a:ext cx="2377440" cy="628650"/>
          </a:xfrm>
          <a:prstGeom prst="rect">
            <a:avLst/>
          </a:prstGeom>
          <a:noFill/>
        </p:spPr>
        <p:txBody>
          <a:bodyPr wrap="square" lIns="0" rIns="0" tIns="0" bIns="0" anchor="ctr">
            <a:spAutoFit/>
          </a:bodyPr>
          <a:lstStyle/>
          <a:p>
            <a:pPr algn="l">
              <a:spcAft>
                <a:spcPts val="400"/>
              </a:spcAft>
            </a:pPr>
            <a:r>
              <a:rPr sz="2600" b="1" i="0">
                <a:solidFill>
                  <a:srgbClr val="0F172A"/>
                </a:solidFill>
              </a:rPr>
              <a:t>33 ms</a:t>
            </a:r>
          </a:p>
        </p:txBody>
      </p:sp>
      <p:sp>
        <p:nvSpPr>
          <p:cNvPr id="37" name="TextBox 36"/>
          <p:cNvSpPr txBox="1"/>
          <p:nvPr/>
        </p:nvSpPr>
        <p:spPr>
          <a:xfrm>
            <a:off x="6419088" y="1988819"/>
            <a:ext cx="2377440" cy="434340"/>
          </a:xfrm>
          <a:prstGeom prst="rect">
            <a:avLst/>
          </a:prstGeom>
          <a:noFill/>
        </p:spPr>
        <p:txBody>
          <a:bodyPr wrap="square" lIns="0" rIns="0" tIns="0" bIns="0" anchor="t">
            <a:spAutoFit/>
          </a:bodyPr>
          <a:lstStyle/>
          <a:p>
            <a:pPr algn="l">
              <a:spcAft>
                <a:spcPts val="400"/>
              </a:spcAft>
            </a:pPr>
            <a:r>
              <a:rPr sz="1200" b="0" i="0">
                <a:solidFill>
                  <a:srgbClr val="475569"/>
                </a:solidFill>
              </a:rPr>
              <a:t>mean time, 8 recommendations</a:t>
            </a:r>
          </a:p>
        </p:txBody>
      </p:sp>
      <p:sp>
        <p:nvSpPr>
          <p:cNvPr id="38" name="Rounded Rectangle 37"/>
          <p:cNvSpPr/>
          <p:nvPr/>
        </p:nvSpPr>
        <p:spPr>
          <a:xfrm>
            <a:off x="9052560" y="1325880"/>
            <a:ext cx="2651760" cy="114300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Rectangle 38"/>
          <p:cNvSpPr/>
          <p:nvPr/>
        </p:nvSpPr>
        <p:spPr>
          <a:xfrm>
            <a:off x="9052560" y="1325880"/>
            <a:ext cx="73152" cy="1143000"/>
          </a:xfrm>
          <a:prstGeom prst="rect">
            <a:avLst/>
          </a:prstGeom>
          <a:solidFill>
            <a:srgbClr val="6B52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0" name="TextBox 39"/>
          <p:cNvSpPr txBox="1"/>
          <p:nvPr/>
        </p:nvSpPr>
        <p:spPr>
          <a:xfrm>
            <a:off x="9253728" y="1417320"/>
            <a:ext cx="2377440" cy="628650"/>
          </a:xfrm>
          <a:prstGeom prst="rect">
            <a:avLst/>
          </a:prstGeom>
          <a:noFill/>
        </p:spPr>
        <p:txBody>
          <a:bodyPr wrap="square" lIns="0" rIns="0" tIns="0" bIns="0" anchor="ctr">
            <a:spAutoFit/>
          </a:bodyPr>
          <a:lstStyle/>
          <a:p>
            <a:pPr algn="l">
              <a:spcAft>
                <a:spcPts val="400"/>
              </a:spcAft>
            </a:pPr>
            <a:r>
              <a:rPr sz="2600" b="1" i="0">
                <a:solidFill>
                  <a:srgbClr val="0F172A"/>
                </a:solidFill>
              </a:rPr>
              <a:t>360-1440 px</a:t>
            </a:r>
          </a:p>
        </p:txBody>
      </p:sp>
      <p:sp>
        <p:nvSpPr>
          <p:cNvPr id="41" name="TextBox 40"/>
          <p:cNvSpPr txBox="1"/>
          <p:nvPr/>
        </p:nvSpPr>
        <p:spPr>
          <a:xfrm>
            <a:off x="9253728" y="1988819"/>
            <a:ext cx="2377440" cy="434340"/>
          </a:xfrm>
          <a:prstGeom prst="rect">
            <a:avLst/>
          </a:prstGeom>
          <a:noFill/>
        </p:spPr>
        <p:txBody>
          <a:bodyPr wrap="square" lIns="0" rIns="0" tIns="0" bIns="0" anchor="t">
            <a:spAutoFit/>
          </a:bodyPr>
          <a:lstStyle/>
          <a:p>
            <a:pPr algn="l">
              <a:spcAft>
                <a:spcPts val="400"/>
              </a:spcAft>
            </a:pPr>
            <a:r>
              <a:rPr sz="1200" b="0" i="0">
                <a:solidFill>
                  <a:srgbClr val="475569"/>
                </a:solidFill>
              </a:rPr>
              <a:t>light and dark, no overflow</a:t>
            </a:r>
          </a:p>
        </p:txBody>
      </p:sp>
      <p:graphicFrame>
        <p:nvGraphicFramePr>
          <p:cNvPr id="42" name="Table 41"/>
          <p:cNvGraphicFramePr>
            <a:graphicFrameLocks noGrp="1"/>
          </p:cNvGraphicFramePr>
          <p:nvPr/>
        </p:nvGraphicFramePr>
        <p:xfrm>
          <a:off x="548640" y="2834640"/>
          <a:ext cx="11091672" cy="2926080"/>
        </p:xfrm>
        <a:graphic>
          <a:graphicData uri="http://schemas.openxmlformats.org/drawingml/2006/table">
            <a:tbl>
              <a:tblPr firstRow="0" bandRow="0">
                <a:tableStyleId>{5C22544A-7EE6-4342-B048-85BDC9FD1C3A}</a:tableStyleId>
              </a:tblPr>
              <a:tblGrid>
                <a:gridCol w="5486400"/>
                <a:gridCol w="5605272"/>
              </a:tblGrid>
              <a:tr h="731520">
                <a:tc>
                  <a:txBody>
                    <a:bodyPr wrap="square"/>
                    <a:lstStyle/>
                    <a:p>
                      <a:pPr algn="ctr"/>
                      <a:r>
                        <a:rPr sz="1400" b="1">
                          <a:solidFill>
                            <a:srgbClr val="FFFFFF"/>
                          </a:solidFill>
                        </a:rPr>
                        <a:t>Observation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400" b="1">
                          <a:solidFill>
                            <a:srgbClr val="FFFFFF"/>
                          </a:solidFill>
                        </a:rPr>
                        <a:t>Action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731520">
                <a:tc>
                  <a:txBody>
                    <a:bodyPr wrap="square"/>
                    <a:lstStyle/>
                    <a:p>
                      <a:pPr algn="l"/>
                      <a:r>
                        <a:rPr sz="1400" b="0">
                          <a:solidFill>
                            <a:srgbClr val="0F172A"/>
                          </a:solidFill>
                        </a:rPr>
                        <a:t>Estimated action benefits change sign after 6 events (best action quiz becomes homepage)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Presented as an estimate, not a causal claim; documented as a limitation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731520">
                <a:tc>
                  <a:txBody>
                    <a:bodyPr wrap="square"/>
                    <a:lstStyle/>
                    <a:p>
                      <a:pPr algn="l"/>
                      <a:r>
                        <a:rPr sz="1400" b="0">
                          <a:solidFill>
                            <a:srgbClr val="0F172A"/>
                          </a:solidFill>
                        </a:rPr>
                        <a:t>The suggested action is the same on every card of one learner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Kept (it depends on learner state only); stated in the report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731520">
                <a:tc>
                  <a:txBody>
                    <a:bodyPr wrap="square"/>
                    <a:lstStyle/>
                    <a:p>
                      <a:pPr algn="l"/>
                      <a:r>
                        <a:rPr sz="1400" b="0">
                          <a:solidFill>
                            <a:srgbClr val="0F172A"/>
                          </a:solidFill>
                        </a:rPr>
                        <a:t>Offline policy evaluation: effective sample size 9.1 of 2,640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Reported as weak evidence, not as a gain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Challenges and corrective actions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18</a:t>
            </a:fld>
            <a:endParaRPr lang="en-US"/>
          </a:p>
        </p:txBody>
      </p:sp>
      <p:graphicFrame>
        <p:nvGraphicFramePr>
          <p:cNvPr id="26" name="Table 25"/>
          <p:cNvGraphicFramePr>
            <a:graphicFrameLocks noGrp="1"/>
          </p:cNvGraphicFramePr>
          <p:nvPr/>
        </p:nvGraphicFramePr>
        <p:xfrm>
          <a:off x="548640" y="1371600"/>
          <a:ext cx="11091672" cy="4389120"/>
        </p:xfrm>
        <a:graphic>
          <a:graphicData uri="http://schemas.openxmlformats.org/drawingml/2006/table">
            <a:tbl>
              <a:tblPr firstRow="0" bandRow="0">
                <a:tableStyleId>{5C22544A-7EE6-4342-B048-85BDC9FD1C3A}</a:tableStyleId>
              </a:tblPr>
              <a:tblGrid>
                <a:gridCol w="4206240"/>
                <a:gridCol w="6885432"/>
              </a:tblGrid>
              <a:tr h="731520">
                <a:tc>
                  <a:txBody>
                    <a:bodyPr wrap="square"/>
                    <a:lstStyle/>
                    <a:p>
                      <a:pPr algn="ctr"/>
                      <a:r>
                        <a:rPr sz="1400" b="1">
                          <a:solidFill>
                            <a:srgbClr val="FFFFFF"/>
                          </a:solidFill>
                        </a:rPr>
                        <a:t>Challenge</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c>
                  <a:txBody>
                    <a:bodyPr wrap="square"/>
                    <a:lstStyle/>
                    <a:p>
                      <a:pPr algn="ctr"/>
                      <a:r>
                        <a:rPr sz="1400" b="1">
                          <a:solidFill>
                            <a:srgbClr val="FFFFFF"/>
                          </a:solidFill>
                        </a:rPr>
                        <a:t>Corrective action</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1B2A41"/>
                    </a:solidFill>
                  </a:tcPr>
                </a:tc>
              </a:tr>
              <a:tr h="731520">
                <a:tc>
                  <a:txBody>
                    <a:bodyPr wrap="square"/>
                    <a:lstStyle/>
                    <a:p>
                      <a:pPr algn="l"/>
                      <a:r>
                        <a:rPr sz="1400" b="0">
                          <a:solidFill>
                            <a:srgbClr val="0F172A"/>
                          </a:solidFill>
                        </a:rPr>
                        <a:t>Real OULAD was not used</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Documented generator as the data source; no external-validity claim</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731520">
                <a:tc>
                  <a:txBody>
                    <a:bodyPr wrap="square"/>
                    <a:lstStyle/>
                    <a:p>
                      <a:pPr algn="l"/>
                      <a:r>
                        <a:rPr sz="1400" b="0">
                          <a:solidFill>
                            <a:srgbClr val="0F172A"/>
                          </a:solidFill>
                        </a:rPr>
                        <a:t>Weak predictive signal, test AUC about 0.60</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Ceiling check: with the hidden assessment score AUC reaches 0.80, so the limit is the generated label</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731520">
                <a:tc>
                  <a:txBody>
                    <a:bodyPr wrap="square"/>
                    <a:lstStyle/>
                    <a:p>
                      <a:pPr algn="l"/>
                      <a:r>
                        <a:rPr sz="1400" b="0">
                          <a:solidFill>
                            <a:srgbClr val="0F172A"/>
                          </a:solidFill>
                        </a:rPr>
                        <a:t>No real interaction log across learners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No collaborative filtering; behaviour term is per learner</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r h="731520">
                <a:tc>
                  <a:txBody>
                    <a:bodyPr wrap="square"/>
                    <a:lstStyle/>
                    <a:p>
                      <a:pPr algn="l"/>
                      <a:r>
                        <a:rPr sz="1400" b="0">
                          <a:solidFill>
                            <a:srgbClr val="0F172A"/>
                          </a:solidFill>
                        </a:rPr>
                        <a:t>Small hand-written catalogue (24 courses)</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c>
                  <a:txBody>
                    <a:bodyPr wrap="square"/>
                    <a:lstStyle/>
                    <a:p>
                      <a:pPr algn="l"/>
                      <a:r>
                        <a:rPr sz="1400" b="0">
                          <a:solidFill>
                            <a:srgbClr val="0F172A"/>
                          </a:solidFill>
                        </a:rPr>
                        <a:t>Evaluated with personas and stated as a sanity check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6F8FB"/>
                    </a:solidFill>
                  </a:tcPr>
                </a:tc>
              </a:tr>
              <a:tr h="731520">
                <a:tc>
                  <a:txBody>
                    <a:bodyPr wrap="square"/>
                    <a:lstStyle/>
                    <a:p>
                      <a:pPr algn="l"/>
                      <a:r>
                        <a:rPr sz="1400" b="0">
                          <a:solidFill>
                            <a:srgbClr val="0F172A"/>
                          </a:solidFill>
                        </a:rPr>
                        <a:t>Ranking recomputed on every request</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c>
                  <a:txBody>
                    <a:bodyPr wrap="square"/>
                    <a:lstStyle/>
                    <a:p>
                      <a:pPr algn="l"/>
                      <a:r>
                        <a:rPr sz="1400" b="0">
                          <a:solidFill>
                            <a:srgbClr val="0F172A"/>
                          </a:solidFill>
                        </a:rPr>
                        <a:t>Acceptable at this size (about 33 ms); caching listed as future work</a:t>
                      </a:r>
                    </a:p>
                  </a:txBody>
                  <a:tcPr marL="73152" marR="73152" marT="36576" marB="36576" anchor="ctr">
                    <a:lnL w="9525">
                      <a:solidFill>
                        <a:srgbClr val="D5DCE6"/>
                      </a:solidFill>
                    </a:lnL>
                    <a:lnR w="9525">
                      <a:solidFill>
                        <a:srgbClr val="D5DCE6"/>
                      </a:solidFill>
                    </a:lnR>
                    <a:lnT w="9525">
                      <a:solidFill>
                        <a:srgbClr val="D5DCE6"/>
                      </a:solidFill>
                    </a:lnT>
                    <a:lnB w="9525">
                      <a:solidFill>
                        <a:srgbClr val="D5DCE6"/>
                      </a:solidFill>
                    </a:lnB>
                    <a:solidFill>
                      <a:srgbClr val="FFFFFF"/>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rgbClr val="1B2A41"/>
                </a:solidFill>
                <a:latin typeface="Cambria" pitchFamily="34" charset="0"/>
                <a:ea typeface="Cambria" pitchFamily="34" charset="-122"/>
                <a:cs typeface="Cambria" pitchFamily="34" charset="-120"/>
              </a:rPr>
              <a:t>Next steps</a:t>
            </a:r>
            <a:endParaRPr lang="en-US" sz="32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4748B"/>
                </a:solidFill>
                <a:latin typeface="Calibri"/>
                <a:ea typeface="Calibri"/>
                <a:cs typeface="Calibri"/>
              </a:defRPr>
            </a:lvl1pPr>
          </a:lstStyle>
          <a:p>
            <a:pPr algn="r"/>
            <a:fld id="{F7021451-1387-4CA6-816F-3879F97B5CBC}" type="slidenum">
              <a:rPr b="0" lang="en-US"/>
              <a:t>19</a:t>
            </a:fld>
            <a:endParaRPr lang="en-US"/>
          </a:p>
        </p:txBody>
      </p:sp>
      <p:sp>
        <p:nvSpPr>
          <p:cNvPr id="26" name="Rounded Rectangle 25"/>
          <p:cNvSpPr/>
          <p:nvPr/>
        </p:nvSpPr>
        <p:spPr>
          <a:xfrm>
            <a:off x="548640" y="1463040"/>
            <a:ext cx="2651760" cy="3291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749808" y="1645920"/>
            <a:ext cx="502920" cy="502920"/>
          </a:xfrm>
          <a:prstGeom prst="ellipse">
            <a:avLst/>
          </a:prstGeom>
          <a:solidFill>
            <a:srgbClr val="2A78D6"/>
          </a:solidFill>
          <a:ln w="9525">
            <a:solidFill>
              <a:srgbClr val="2A78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1</a:t>
            </a:r>
          </a:p>
        </p:txBody>
      </p:sp>
      <p:sp>
        <p:nvSpPr>
          <p:cNvPr id="28" name="TextBox 27"/>
          <p:cNvSpPr txBox="1"/>
          <p:nvPr/>
        </p:nvSpPr>
        <p:spPr>
          <a:xfrm>
            <a:off x="1389888" y="1618488"/>
            <a:ext cx="1645919" cy="548640"/>
          </a:xfrm>
          <a:prstGeom prst="rect">
            <a:avLst/>
          </a:prstGeom>
          <a:noFill/>
        </p:spPr>
        <p:txBody>
          <a:bodyPr wrap="square" lIns="0" rIns="0" tIns="0" bIns="0" anchor="ctr">
            <a:spAutoFit/>
          </a:bodyPr>
          <a:lstStyle/>
          <a:p>
            <a:pPr algn="l">
              <a:spcAft>
                <a:spcPts val="400"/>
              </a:spcAft>
            </a:pPr>
            <a:r>
              <a:rPr sz="1600" b="1" i="0">
                <a:solidFill>
                  <a:srgbClr val="0F172A"/>
                </a:solidFill>
              </a:rPr>
              <a:t>Evaluate</a:t>
            </a:r>
          </a:p>
        </p:txBody>
      </p:sp>
      <p:sp>
        <p:nvSpPr>
          <p:cNvPr id="29" name="TextBox 28"/>
          <p:cNvSpPr txBox="1"/>
          <p:nvPr/>
        </p:nvSpPr>
        <p:spPr>
          <a:xfrm>
            <a:off x="749808" y="2331720"/>
            <a:ext cx="2249424" cy="2286000"/>
          </a:xfrm>
          <a:prstGeom prst="rect">
            <a:avLst/>
          </a:prstGeom>
          <a:noFill/>
        </p:spPr>
        <p:txBody>
          <a:bodyPr wrap="square" lIns="0" rIns="0" tIns="0" bIns="0" anchor="t">
            <a:spAutoFit/>
          </a:bodyPr>
          <a:lstStyle/>
          <a:p>
            <a:pPr algn="l">
              <a:spcAft>
                <a:spcPts val="400"/>
              </a:spcAft>
            </a:pPr>
            <a:r>
              <a:rPr sz="1600" b="0" i="0">
                <a:solidFill>
                  <a:srgbClr val="475569"/>
                </a:solidFill>
              </a:rPr>
              <a:t>Six-seed study, confusion matrices, ablation of the eight terms, fairness by group.</a:t>
            </a:r>
          </a:p>
        </p:txBody>
      </p:sp>
      <p:sp>
        <p:nvSpPr>
          <p:cNvPr id="30" name="Rounded Rectangle 29"/>
          <p:cNvSpPr/>
          <p:nvPr/>
        </p:nvSpPr>
        <p:spPr>
          <a:xfrm>
            <a:off x="3383280" y="1463040"/>
            <a:ext cx="2651760" cy="3291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3584448" y="1645920"/>
            <a:ext cx="502920" cy="502920"/>
          </a:xfrm>
          <a:prstGeom prst="ellipse">
            <a:avLst/>
          </a:prstGeom>
          <a:solidFill>
            <a:srgbClr val="1BAF7A"/>
          </a:solidFill>
          <a:ln w="9525">
            <a:solidFill>
              <a:srgbClr val="1BAF7A"/>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2</a:t>
            </a:r>
          </a:p>
        </p:txBody>
      </p:sp>
      <p:sp>
        <p:nvSpPr>
          <p:cNvPr id="32" name="TextBox 31"/>
          <p:cNvSpPr txBox="1"/>
          <p:nvPr/>
        </p:nvSpPr>
        <p:spPr>
          <a:xfrm>
            <a:off x="4224528" y="1618488"/>
            <a:ext cx="1645919" cy="548640"/>
          </a:xfrm>
          <a:prstGeom prst="rect">
            <a:avLst/>
          </a:prstGeom>
          <a:noFill/>
        </p:spPr>
        <p:txBody>
          <a:bodyPr wrap="square" lIns="0" rIns="0" tIns="0" bIns="0" anchor="ctr">
            <a:spAutoFit/>
          </a:bodyPr>
          <a:lstStyle/>
          <a:p>
            <a:pPr algn="l">
              <a:spcAft>
                <a:spcPts val="400"/>
              </a:spcAft>
            </a:pPr>
            <a:r>
              <a:rPr sz="1600" b="1" i="0">
                <a:solidFill>
                  <a:srgbClr val="0F172A"/>
                </a:solidFill>
              </a:rPr>
              <a:t>Compare</a:t>
            </a:r>
          </a:p>
        </p:txBody>
      </p:sp>
      <p:sp>
        <p:nvSpPr>
          <p:cNvPr id="33" name="TextBox 32"/>
          <p:cNvSpPr txBox="1"/>
          <p:nvPr/>
        </p:nvSpPr>
        <p:spPr>
          <a:xfrm>
            <a:off x="3584448" y="2331720"/>
            <a:ext cx="2249424" cy="2286000"/>
          </a:xfrm>
          <a:prstGeom prst="rect">
            <a:avLst/>
          </a:prstGeom>
          <a:noFill/>
        </p:spPr>
        <p:txBody>
          <a:bodyPr wrap="square" lIns="0" rIns="0" tIns="0" bIns="0" anchor="t">
            <a:spAutoFit/>
          </a:bodyPr>
          <a:lstStyle/>
          <a:p>
            <a:pPr algn="l">
              <a:spcAft>
                <a:spcPts val="400"/>
              </a:spcAft>
            </a:pPr>
            <a:r>
              <a:rPr sz="1600" b="0" i="0">
                <a:solidFill>
                  <a:srgbClr val="475569"/>
                </a:solidFill>
              </a:rPr>
              <a:t>Set the results against the base paper, stating where data and method differ.</a:t>
            </a:r>
          </a:p>
        </p:txBody>
      </p:sp>
      <p:sp>
        <p:nvSpPr>
          <p:cNvPr id="34" name="Rounded Rectangle 33"/>
          <p:cNvSpPr/>
          <p:nvPr/>
        </p:nvSpPr>
        <p:spPr>
          <a:xfrm>
            <a:off x="6217920" y="1463040"/>
            <a:ext cx="2651760" cy="3291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419088" y="1645920"/>
            <a:ext cx="502920" cy="502920"/>
          </a:xfrm>
          <a:prstGeom prst="ellipse">
            <a:avLst/>
          </a:prstGeom>
          <a:solidFill>
            <a:srgbClr val="EB6834"/>
          </a:solidFill>
          <a:ln w="9525">
            <a:solidFill>
              <a:srgbClr val="EB6834"/>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3</a:t>
            </a:r>
          </a:p>
        </p:txBody>
      </p:sp>
      <p:sp>
        <p:nvSpPr>
          <p:cNvPr id="36" name="TextBox 35"/>
          <p:cNvSpPr txBox="1"/>
          <p:nvPr/>
        </p:nvSpPr>
        <p:spPr>
          <a:xfrm>
            <a:off x="7059168" y="1618488"/>
            <a:ext cx="1645919" cy="548640"/>
          </a:xfrm>
          <a:prstGeom prst="rect">
            <a:avLst/>
          </a:prstGeom>
          <a:noFill/>
        </p:spPr>
        <p:txBody>
          <a:bodyPr wrap="square" lIns="0" rIns="0" tIns="0" bIns="0" anchor="ctr">
            <a:spAutoFit/>
          </a:bodyPr>
          <a:lstStyle/>
          <a:p>
            <a:pPr algn="l">
              <a:spcAft>
                <a:spcPts val="400"/>
              </a:spcAft>
            </a:pPr>
            <a:r>
              <a:rPr sz="1600" b="1" i="0">
                <a:solidFill>
                  <a:srgbClr val="0F172A"/>
                </a:solidFill>
              </a:rPr>
              <a:t>Document</a:t>
            </a:r>
          </a:p>
        </p:txBody>
      </p:sp>
      <p:sp>
        <p:nvSpPr>
          <p:cNvPr id="37" name="TextBox 36"/>
          <p:cNvSpPr txBox="1"/>
          <p:nvPr/>
        </p:nvSpPr>
        <p:spPr>
          <a:xfrm>
            <a:off x="6419088" y="2331720"/>
            <a:ext cx="2249424" cy="2286000"/>
          </a:xfrm>
          <a:prstGeom prst="rect">
            <a:avLst/>
          </a:prstGeom>
          <a:noFill/>
        </p:spPr>
        <p:txBody>
          <a:bodyPr wrap="square" lIns="0" rIns="0" tIns="0" bIns="0" anchor="t">
            <a:spAutoFit/>
          </a:bodyPr>
          <a:lstStyle/>
          <a:p>
            <a:pPr algn="l">
              <a:spcAft>
                <a:spcPts val="400"/>
              </a:spcAft>
            </a:pPr>
            <a:r>
              <a:rPr sz="1600" b="0" i="0">
                <a:solidFill>
                  <a:srgbClr val="475569"/>
                </a:solidFill>
              </a:rPr>
              <a:t>Final report, paper and deck with every figure regenerated from JSON.</a:t>
            </a:r>
          </a:p>
        </p:txBody>
      </p:sp>
      <p:sp>
        <p:nvSpPr>
          <p:cNvPr id="38" name="Rounded Rectangle 37"/>
          <p:cNvSpPr/>
          <p:nvPr/>
        </p:nvSpPr>
        <p:spPr>
          <a:xfrm>
            <a:off x="9052560" y="1463040"/>
            <a:ext cx="2651760" cy="3291840"/>
          </a:xfrm>
          <a:prstGeom prst="roundRect">
            <a:avLst>
              <a:gd name="adj" fmla="val 3000"/>
            </a:avLst>
          </a:prstGeom>
          <a:solidFill>
            <a:srgbClr val="F6F8FB"/>
          </a:solidFill>
          <a:ln w="9525">
            <a:solidFill>
              <a:srgbClr val="D5DCE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Oval 38"/>
          <p:cNvSpPr/>
          <p:nvPr/>
        </p:nvSpPr>
        <p:spPr>
          <a:xfrm>
            <a:off x="9253728" y="1645920"/>
            <a:ext cx="502920" cy="502920"/>
          </a:xfrm>
          <a:prstGeom prst="ellipse">
            <a:avLst/>
          </a:prstGeom>
          <a:solidFill>
            <a:srgbClr val="6B52D6"/>
          </a:solidFill>
          <a:ln w="9525">
            <a:solidFill>
              <a:srgbClr val="6B52D6"/>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rPr>
              <a:t>4</a:t>
            </a:r>
          </a:p>
        </p:txBody>
      </p:sp>
      <p:sp>
        <p:nvSpPr>
          <p:cNvPr id="40" name="TextBox 39"/>
          <p:cNvSpPr txBox="1"/>
          <p:nvPr/>
        </p:nvSpPr>
        <p:spPr>
          <a:xfrm>
            <a:off x="9893808" y="1618488"/>
            <a:ext cx="1645919" cy="548640"/>
          </a:xfrm>
          <a:prstGeom prst="rect">
            <a:avLst/>
          </a:prstGeom>
          <a:noFill/>
        </p:spPr>
        <p:txBody>
          <a:bodyPr wrap="square" lIns="0" rIns="0" tIns="0" bIns="0" anchor="ctr">
            <a:spAutoFit/>
          </a:bodyPr>
          <a:lstStyle/>
          <a:p>
            <a:pPr algn="l">
              <a:spcAft>
                <a:spcPts val="400"/>
              </a:spcAft>
            </a:pPr>
            <a:r>
              <a:rPr sz="1600" b="1" i="0">
                <a:solidFill>
                  <a:srgbClr val="0F172A"/>
                </a:solidFill>
              </a:rPr>
              <a:t>Extend (future)</a:t>
            </a:r>
          </a:p>
        </p:txBody>
      </p:sp>
      <p:sp>
        <p:nvSpPr>
          <p:cNvPr id="41" name="TextBox 40"/>
          <p:cNvSpPr txBox="1"/>
          <p:nvPr/>
        </p:nvSpPr>
        <p:spPr>
          <a:xfrm>
            <a:off x="9253728" y="2331720"/>
            <a:ext cx="2249424" cy="2286000"/>
          </a:xfrm>
          <a:prstGeom prst="rect">
            <a:avLst/>
          </a:prstGeom>
          <a:noFill/>
        </p:spPr>
        <p:txBody>
          <a:bodyPr wrap="square" lIns="0" rIns="0" tIns="0" bIns="0" anchor="t">
            <a:spAutoFit/>
          </a:bodyPr>
          <a:lstStyle/>
          <a:p>
            <a:pPr algn="l">
              <a:spcAft>
                <a:spcPts val="400"/>
              </a:spcAft>
            </a:pPr>
            <a:r>
              <a:rPr sz="1600" b="0" i="0">
                <a:solidFill>
                  <a:srgbClr val="475569"/>
                </a:solidFill>
              </a:rPr>
              <a:t>Real OULAD data, collaborative filtering, a reinforcement-learning agent, a user study.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2194560"/>
            <a:ext cx="11094415" cy="118872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474720"/>
            <a:ext cx="11094415" cy="1463040"/>
          </a:xfrm>
          <a:prstGeom prst="rect">
            <a:avLst/>
          </a:prstGeom>
          <a:noFill/>
          <a:ln/>
        </p:spPr>
        <p:txBody>
          <a:bodyPr wrap="square" lIns="0" tIns="0" rIns="0" bIns="0" rtlCol="0" anchor="t"/>
          <a:lstStyle/>
          <a:p>
            <a:pPr algn="l" indent="0" marL="0">
              <a:buNone/>
            </a:pPr>
            <a:r>
              <a:rPr lang="en-US" sz="2000" dirty="0">
                <a:solidFill>
                  <a:srgbClr val="CADCFC"/>
                </a:solidFill>
                <a:latin typeface="Calibri" pitchFamily="34" charset="0"/>
                <a:ea typeface="Calibri" pitchFamily="34" charset="-122"/>
                <a:cs typeface="Calibri" pitchFamily="34" charset="-120"/>
              </a:rPr>
              <a:t>Questions and suggestions are welcome.</a:t>
            </a:r>
            <a:endParaRPr lang="en-US" sz="2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ADCFC"/>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LearnPathIQ">
  <a:themeElements>
    <a:clrScheme name="LearnPathIQ">
      <a:dk1>
        <a:srgbClr val="0F172A"/>
      </a:dk1>
      <a:lt1>
        <a:srgbClr val="FFFFFF"/>
      </a:lt1>
      <a:dk2>
        <a:srgbClr val="1B2A41"/>
      </a:dk2>
      <a:lt2>
        <a:srgbClr val="EEF2F7"/>
      </a:lt2>
      <a:accent1>
        <a:srgbClr val="2A78D6"/>
      </a:accent1>
      <a:accent2>
        <a:srgbClr val="EB6834"/>
      </a:accent2>
      <a:accent3>
        <a:srgbClr val="1BAF7A"/>
      </a:accent3>
      <a:accent4>
        <a:srgbClr val="EDA100"/>
      </a:accent4>
      <a:accent5>
        <a:srgbClr val="6250D6"/>
      </a:accent5>
      <a:accent6>
        <a:srgbClr val="E34948"/>
      </a:accent6>
      <a:hlink>
        <a:srgbClr val="2A78D6"/>
      </a:hlink>
      <a:folHlink>
        <a:srgbClr val="6250D6"/>
      </a:folHlink>
    </a:clrScheme>
    <a:fontScheme name="LearnPathIQ">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LearnPathIQ">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Personalized E-learning Course Recommendation System: Review 2</dc:title>
  <dc:subject>Batch C7 (CSE-C)</dc:subject>
  <dc:creator>PITTALA AKHILA, MUNDALA SANDHYA, MULA THANUJ REDDY, MAJJIGAPU JAGADESHWAR REDDY</dc:creator>
  <cp:lastModifiedBy/>
  <cp:revision>1</cp:revision>
  <dcterms:created xsi:type="dcterms:W3CDTF">2026-10-13T12:40:05Z</dcterms:created>
  <dcterms:modified xsi:type="dcterms:W3CDTF">2026-10-13T12:40:05Z</dcterms:modified>
  <cp:keywords>course recommendation, hybrid ranking, learner success, uplift, offline policy evaluation</cp:keywords>
  <dc:description/>
</cp:coreProperties>
</file>