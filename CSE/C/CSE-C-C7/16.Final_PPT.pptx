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P@3</c:v>
                </c:pt>
              </c:strCache>
            </c:strRef>
          </c:tx>
          <c:spPr>
            <a:solidFill>
              <a:srgbClr val="2E75B6"/>
            </a:solidFill>
          </c:spPr>
          <c:cat>
            <c:strRef>
              <c:f>Sheet1!$A$2:$A$4</c:f>
              <c:strCache>
                <c:ptCount val="3"/>
                <c:pt idx="0">
                  <c:v>Popularity</c:v>
                </c:pt>
                <c:pt idx="1">
                  <c:v>Content-only</c:v>
                </c:pt>
                <c:pt idx="2">
                  <c:v>Hybrid</c:v>
                </c:pt>
              </c:strCache>
            </c:strRef>
          </c:cat>
          <c:val>
            <c:numRef>
              <c:f>Sheet1!$B$2:$B$4</c:f>
              <c:numCache>
                <c:formatCode>General</c:formatCode>
                <c:ptCount val="3"/>
                <c:pt idx="0">
                  <c:v>0.2</c:v>
                </c:pt>
                <c:pt idx="1">
                  <c:v>0.8</c:v>
                </c:pt>
                <c:pt idx="2">
                  <c:v>0.7333333333333333</c:v>
                </c:pt>
              </c:numCache>
            </c:numRef>
          </c:val>
        </c:ser>
        <c:ser>
          <c:idx val="1"/>
          <c:order val="1"/>
          <c:tx>
            <c:strRef>
              <c:f>Sheet1!$C$1</c:f>
              <c:strCache>
                <c:ptCount val="1"/>
                <c:pt idx="0">
                  <c:v>P@5</c:v>
                </c:pt>
              </c:strCache>
            </c:strRef>
          </c:tx>
          <c:spPr>
            <a:solidFill>
              <a:srgbClr val="EB6834"/>
            </a:solidFill>
          </c:spPr>
          <c:cat>
            <c:strRef>
              <c:f>Sheet1!$A$2:$A$4</c:f>
              <c:strCache>
                <c:ptCount val="3"/>
                <c:pt idx="0">
                  <c:v>Popularity</c:v>
                </c:pt>
                <c:pt idx="1">
                  <c:v>Content-only</c:v>
                </c:pt>
                <c:pt idx="2">
                  <c:v>Hybrid</c:v>
                </c:pt>
              </c:strCache>
            </c:strRef>
          </c:cat>
          <c:val>
            <c:numRef>
              <c:f>Sheet1!$C$2:$C$4</c:f>
              <c:numCache>
                <c:formatCode>General</c:formatCode>
                <c:ptCount val="3"/>
                <c:pt idx="0">
                  <c:v>0.2</c:v>
                </c:pt>
                <c:pt idx="1">
                  <c:v>0.5599999999999999</c:v>
                </c:pt>
                <c:pt idx="2">
                  <c:v>0.54</c:v>
                </c:pt>
              </c:numCache>
            </c:numRef>
          </c:val>
        </c:ser>
        <c:ser>
          <c:idx val="2"/>
          <c:order val="2"/>
          <c:tx>
            <c:strRef>
              <c:f>Sheet1!$D$1</c:f>
              <c:strCache>
                <c:ptCount val="1"/>
                <c:pt idx="0">
                  <c:v>MRR</c:v>
                </c:pt>
              </c:strCache>
            </c:strRef>
          </c:tx>
          <c:spPr>
            <a:solidFill>
              <a:srgbClr val="1BAF7A"/>
            </a:solidFill>
          </c:spPr>
          <c:cat>
            <c:strRef>
              <c:f>Sheet1!$A$2:$A$4</c:f>
              <c:strCache>
                <c:ptCount val="3"/>
                <c:pt idx="0">
                  <c:v>Popularity</c:v>
                </c:pt>
                <c:pt idx="1">
                  <c:v>Content-only</c:v>
                </c:pt>
                <c:pt idx="2">
                  <c:v>Hybrid</c:v>
                </c:pt>
              </c:strCache>
            </c:strRef>
          </c:cat>
          <c:val>
            <c:numRef>
              <c:f>Sheet1!$D$2:$D$4</c:f>
              <c:numCache>
                <c:formatCode>General</c:formatCode>
                <c:ptCount val="3"/>
                <c:pt idx="0">
                  <c:v>0.3135714285714286</c:v>
                </c:pt>
                <c:pt idx="1">
                  <c:v>1.0</c:v>
                </c:pt>
                <c:pt idx="2">
                  <c:v>1.0</c:v>
                </c:pt>
              </c:numCache>
            </c:numRef>
          </c:val>
        </c:ser>
        <c:dLbls>
          <c:numFmt formatCode="0.00"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2"/>
          <c:min val="0.0"/>
        </c:scaling>
        <c:delete val="0"/>
        <c:axPos val="l"/>
        <c:majorGridlines>
          <c:spPr>
            <a:ln>
              <a:solidFill>
                <a:srgbClr val="D5DCE6"/>
              </a:solidFill>
            </a:ln>
          </c:spPr>
        </c:majorGridlines>
        <c:numFmt formatCode="0.00" sourceLinked="0"/>
        <c:majorTickMark val="out"/>
        <c:minorTickMark val="none"/>
        <c:tickLblPos val="nextTo"/>
        <c:spPr>
          <a:ln>
            <a:noFill/>
          </a:ln>
        </c:spPr>
        <c:crossAx val="-2068027336"/>
        <c:crosses val="autoZero"/>
      </c:valAx>
    </c:plotArea>
    <c:legend>
      <c:legendPos val="b"/>
      <c:overlay val="0"/>
    </c:legend>
    <c:dispBlanksAs val="gap"/>
  </c:chart>
  <c:txPr>
    <a:bodyPr/>
    <a:lstStyle/>
    <a:p>
      <a:pPr>
        <a:defRPr sz="11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Precision</c:v>
                </c:pt>
              </c:strCache>
            </c:strRef>
          </c:tx>
          <c:spPr>
            <a:ln w="28575">
              <a:solidFill>
                <a:srgbClr val="2E75B6"/>
              </a:solidFill>
            </a:ln>
          </c:spPr>
          <c:marker>
            <c:symbol val="circle"/>
            <c:size val="6"/>
            <c:spPr>
              <a:solidFill>
                <a:srgbClr val="2E75B6"/>
              </a:solidFill>
              <a:ln>
                <a:solidFill>
                  <a:srgbClr val="2E75B6"/>
                </a:solidFill>
              </a:ln>
            </c:spPr>
          </c:marker>
          <c:cat>
            <c:strRef>
              <c:f>Sheet1!$A$2:$A$10</c:f>
              <c:strCache>
                <c:ptCount val="9"/>
                <c:pt idx="0">
                  <c:v>0.30</c:v>
                </c:pt>
                <c:pt idx="1">
                  <c:v>0.35</c:v>
                </c:pt>
                <c:pt idx="2">
                  <c:v>0.40</c:v>
                </c:pt>
                <c:pt idx="3">
                  <c:v>0.45</c:v>
                </c:pt>
                <c:pt idx="4">
                  <c:v>0.50</c:v>
                </c:pt>
                <c:pt idx="5">
                  <c:v>0.55</c:v>
                </c:pt>
                <c:pt idx="6">
                  <c:v>0.60</c:v>
                </c:pt>
                <c:pt idx="7">
                  <c:v>0.65</c:v>
                </c:pt>
                <c:pt idx="8">
                  <c:v>0.70</c:v>
                </c:pt>
              </c:strCache>
            </c:strRef>
          </c:cat>
          <c:val>
            <c:numRef>
              <c:f>Sheet1!$B$2:$B$10</c:f>
              <c:numCache>
                <c:formatCode>General</c:formatCode>
                <c:ptCount val="9"/>
                <c:pt idx="0">
                  <c:v>0.4526</c:v>
                </c:pt>
                <c:pt idx="1">
                  <c:v>0.4644</c:v>
                </c:pt>
                <c:pt idx="2">
                  <c:v>0.4918</c:v>
                </c:pt>
                <c:pt idx="3">
                  <c:v>0.5255</c:v>
                </c:pt>
                <c:pt idx="4">
                  <c:v>0.5605</c:v>
                </c:pt>
                <c:pt idx="5">
                  <c:v>0.5929</c:v>
                </c:pt>
                <c:pt idx="6">
                  <c:v>0.6562</c:v>
                </c:pt>
                <c:pt idx="7">
                  <c:v>0.7143</c:v>
                </c:pt>
                <c:pt idx="8">
                  <c:v>0.9412</c:v>
                </c:pt>
              </c:numCache>
            </c:numRef>
          </c:val>
          <c:smooth val="0"/>
        </c:ser>
        <c:ser>
          <c:idx val="1"/>
          <c:order val="1"/>
          <c:tx>
            <c:strRef>
              <c:f>Sheet1!$C$1</c:f>
              <c:strCache>
                <c:ptCount val="1"/>
                <c:pt idx="0">
                  <c:v>Recall</c:v>
                </c:pt>
              </c:strCache>
            </c:strRef>
          </c:tx>
          <c:spPr>
            <a:ln w="28575">
              <a:solidFill>
                <a:srgbClr val="1BAF7A"/>
              </a:solidFill>
            </a:ln>
          </c:spPr>
          <c:marker>
            <c:symbol val="circle"/>
            <c:size val="6"/>
            <c:spPr>
              <a:solidFill>
                <a:srgbClr val="1BAF7A"/>
              </a:solidFill>
              <a:ln>
                <a:solidFill>
                  <a:srgbClr val="1BAF7A"/>
                </a:solidFill>
              </a:ln>
            </c:spPr>
          </c:marker>
          <c:cat>
            <c:strRef>
              <c:f>Sheet1!$A$2:$A$10</c:f>
              <c:strCache>
                <c:ptCount val="9"/>
                <c:pt idx="0">
                  <c:v>0.30</c:v>
                </c:pt>
                <c:pt idx="1">
                  <c:v>0.35</c:v>
                </c:pt>
                <c:pt idx="2">
                  <c:v>0.40</c:v>
                </c:pt>
                <c:pt idx="3">
                  <c:v>0.45</c:v>
                </c:pt>
                <c:pt idx="4">
                  <c:v>0.50</c:v>
                </c:pt>
                <c:pt idx="5">
                  <c:v>0.55</c:v>
                </c:pt>
                <c:pt idx="6">
                  <c:v>0.60</c:v>
                </c:pt>
                <c:pt idx="7">
                  <c:v>0.65</c:v>
                </c:pt>
                <c:pt idx="8">
                  <c:v>0.70</c:v>
                </c:pt>
              </c:strCache>
            </c:strRef>
          </c:cat>
          <c:val>
            <c:numRef>
              <c:f>Sheet1!$C$2:$C$10</c:f>
              <c:numCache>
                <c:formatCode>General</c:formatCode>
                <c:ptCount val="9"/>
                <c:pt idx="0">
                  <c:v>0.9558</c:v>
                </c:pt>
                <c:pt idx="1">
                  <c:v>0.8364</c:v>
                </c:pt>
                <c:pt idx="2">
                  <c:v>0.6719</c:v>
                </c:pt>
                <c:pt idx="3">
                  <c:v>0.5004</c:v>
                </c:pt>
                <c:pt idx="4">
                  <c:v>0.329</c:v>
                </c:pt>
                <c:pt idx="5">
                  <c:v>0.174</c:v>
                </c:pt>
                <c:pt idx="6">
                  <c:v>0.0909</c:v>
                </c:pt>
                <c:pt idx="7">
                  <c:v>0.0346</c:v>
                </c:pt>
                <c:pt idx="8">
                  <c:v>0.0139</c:v>
                </c:pt>
              </c:numCache>
            </c:numRef>
          </c:val>
          <c:smooth val="0"/>
        </c:ser>
        <c:ser>
          <c:idx val="2"/>
          <c:order val="2"/>
          <c:tx>
            <c:strRef>
              <c:f>Sheet1!$D$1</c:f>
              <c:strCache>
                <c:ptCount val="1"/>
                <c:pt idx="0">
                  <c:v>F1</c:v>
                </c:pt>
              </c:strCache>
            </c:strRef>
          </c:tx>
          <c:spPr>
            <a:ln w="28575">
              <a:solidFill>
                <a:srgbClr val="EB6834"/>
              </a:solidFill>
            </a:ln>
          </c:spPr>
          <c:marker>
            <c:symbol val="circle"/>
            <c:size val="6"/>
            <c:spPr>
              <a:solidFill>
                <a:srgbClr val="EB6834"/>
              </a:solidFill>
              <a:ln>
                <a:solidFill>
                  <a:srgbClr val="EB6834"/>
                </a:solidFill>
              </a:ln>
            </c:spPr>
          </c:marker>
          <c:cat>
            <c:strRef>
              <c:f>Sheet1!$A$2:$A$10</c:f>
              <c:strCache>
                <c:ptCount val="9"/>
                <c:pt idx="0">
                  <c:v>0.30</c:v>
                </c:pt>
                <c:pt idx="1">
                  <c:v>0.35</c:v>
                </c:pt>
                <c:pt idx="2">
                  <c:v>0.40</c:v>
                </c:pt>
                <c:pt idx="3">
                  <c:v>0.45</c:v>
                </c:pt>
                <c:pt idx="4">
                  <c:v>0.50</c:v>
                </c:pt>
                <c:pt idx="5">
                  <c:v>0.55</c:v>
                </c:pt>
                <c:pt idx="6">
                  <c:v>0.60</c:v>
                </c:pt>
                <c:pt idx="7">
                  <c:v>0.65</c:v>
                </c:pt>
                <c:pt idx="8">
                  <c:v>0.70</c:v>
                </c:pt>
              </c:strCache>
            </c:strRef>
          </c:cat>
          <c:val>
            <c:numRef>
              <c:f>Sheet1!$D$2:$D$10</c:f>
              <c:numCache>
                <c:formatCode>General</c:formatCode>
                <c:ptCount val="9"/>
                <c:pt idx="0">
                  <c:v>0.6144</c:v>
                </c:pt>
                <c:pt idx="1">
                  <c:v>0.5972</c:v>
                </c:pt>
                <c:pt idx="2">
                  <c:v>0.5679</c:v>
                </c:pt>
                <c:pt idx="3">
                  <c:v>0.5126</c:v>
                </c:pt>
                <c:pt idx="4">
                  <c:v>0.4146</c:v>
                </c:pt>
                <c:pt idx="5">
                  <c:v>0.2691</c:v>
                </c:pt>
                <c:pt idx="6">
                  <c:v>0.1597</c:v>
                </c:pt>
                <c:pt idx="7">
                  <c:v>0.0661</c:v>
                </c:pt>
                <c:pt idx="8">
                  <c:v>0.0273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5DCE6"/>
            </a:solidFill>
          </a:ln>
        </c:spPr>
        <c:crossAx val="2140495176"/>
        <c:crosses val="autoZero"/>
        <c:auto val="1"/>
        <c:lblAlgn val="ctr"/>
        <c:lblOffset val="100"/>
        <c:noMultiLvlLbl val="0"/>
      </c:catAx>
      <c:valAx>
        <c:axId val="2140495176"/>
        <c:scaling>
          <c:max val="1.0"/>
          <c:min val="0.0"/>
        </c:scaling>
        <c:delete val="0"/>
        <c:axPos val="l"/>
        <c:majorGridlines>
          <c:spPr>
            <a:ln>
              <a:solidFill>
                <a:srgbClr val="D5DCE6"/>
              </a:solidFill>
            </a:ln>
          </c:spPr>
        </c:majorGridlines>
        <c:numFmt formatCode="0.00" sourceLinked="0"/>
        <c:majorTickMark val="out"/>
        <c:minorTickMark val="none"/>
        <c:tickLblPos val="nextTo"/>
        <c:spPr>
          <a:ln>
            <a:noFill/>
          </a:ln>
        </c:spPr>
        <c:crossAx val="2118791784"/>
        <c:crosses val="autoZero"/>
      </c:valAx>
    </c:plotArea>
    <c:legend>
      <c:legendPos val="b"/>
      <c:layout/>
      <c:overlay val="0"/>
    </c:legend>
    <c:plotVisOnly val="1"/>
    <c:dispBlanksAs val="gap"/>
    <c:showDLblsOverMax val="0"/>
  </c:chart>
  <c:txPr>
    <a:bodyPr/>
    <a:lstStyle/>
    <a:p>
      <a:pPr>
        <a:defRPr sz="11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P@3 without the term</c:v>
                </c:pt>
              </c:strCache>
            </c:strRef>
          </c:tx>
          <c:spPr>
            <a:solidFill>
              <a:srgbClr val="2E75B6"/>
            </a:solidFill>
          </c:spPr>
          <c:cat>
            <c:strRef>
              <c:f>Sheet1!$A$2:$A$9</c:f>
              <c:strCache>
                <c:ptCount val="8"/>
                <c:pt idx="0">
                  <c:v>content</c:v>
                </c:pt>
                <c:pt idx="1">
                  <c:v>skill</c:v>
                </c:pt>
                <c:pt idx="2">
                  <c:v>topic</c:v>
                </c:pt>
                <c:pt idx="3">
                  <c:v>success</c:v>
                </c:pt>
                <c:pt idx="4">
                  <c:v>behaviour</c:v>
                </c:pt>
                <c:pt idx="5">
                  <c:v>goal</c:v>
                </c:pt>
                <c:pt idx="6">
                  <c:v>rating</c:v>
                </c:pt>
                <c:pt idx="7">
                  <c:v>engagement</c:v>
                </c:pt>
              </c:strCache>
            </c:strRef>
          </c:cat>
          <c:val>
            <c:numRef>
              <c:f>Sheet1!$B$2:$B$9</c:f>
              <c:numCache>
                <c:formatCode>General</c:formatCode>
                <c:ptCount val="8"/>
                <c:pt idx="0">
                  <c:v>0.6666666666666667</c:v>
                </c:pt>
                <c:pt idx="1">
                  <c:v>0.7666666666666667</c:v>
                </c:pt>
                <c:pt idx="2">
                  <c:v>0.6</c:v>
                </c:pt>
                <c:pt idx="3">
                  <c:v>0.7333333333333333</c:v>
                </c:pt>
                <c:pt idx="4">
                  <c:v>0.7333333333333333</c:v>
                </c:pt>
                <c:pt idx="5">
                  <c:v>0.7333333333333333</c:v>
                </c:pt>
                <c:pt idx="6">
                  <c:v>0.7666666666666667</c:v>
                </c:pt>
                <c:pt idx="7">
                  <c:v>0.7333333333333333</c:v>
                </c:pt>
              </c:numCache>
            </c:numRef>
          </c:val>
        </c:ser>
        <c:dLbls>
          <c:numFmt formatCode="0.00" sourceLinked="0"/>
          <c:txPr>
            <a:bodyPr/>
            <a:lstStyle/>
            <a:p>
              <a:pPr>
                <a:defRPr sz="9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0"/>
          <c:min val="0.0"/>
        </c:scaling>
        <c:delete val="0"/>
        <c:axPos val="l"/>
        <c:majorGridlines>
          <c:spPr>
            <a:ln>
              <a:solidFill>
                <a:srgbClr val="D5DCE6"/>
              </a:solidFill>
            </a:ln>
          </c:spPr>
        </c:majorGridlines>
        <c:numFmt formatCode="0.00" sourceLinked="0"/>
        <c:majorTickMark val="out"/>
        <c:minorTickMark val="none"/>
        <c:tickLblPos val="nextTo"/>
        <c:spPr>
          <a:ln>
            <a:noFill/>
          </a:ln>
        </c:spPr>
        <c:crossAx val="-2068027336"/>
        <c:crosses val="autoZero"/>
      </c:valAx>
    </c:plotArea>
    <c:dispBlanksAs val="gap"/>
  </c:chart>
  <c:txPr>
    <a:bodyPr/>
    <a:lstStyle/>
    <a:p>
      <a:pPr>
        <a:defRPr sz="10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LearnPathIQ: a hybrid course recommendation engine with a learner-success model, built and measured on synthetic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agenda follows the report: problem, design, method, results, comparison, screens,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first two bullets, then give the headline numbers with their protocol (synthetic data, held-out learners). End on what is missing.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causal-AI framework on a real public dataset. We borrow the success model, uplift scoring, off-policy evaluation and fairness audit; we did not implement the Actor-Critic agent.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Representative work. The last two rows are entries from the batch survey for which only a title and year were recorded; no result is claimed for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gaps drawn from the survey; the project addresses cold start, adaptation, explanation and evaluation honesty, and only partly the first.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statement has three parts: rank and explain, estimate and suggest, adapt and record.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of the proposal. The conclusion reports which were met: 3 not implemented, 6 partly.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system in one line of boxes, then the four properties that matter.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tiers; the model bundle is loaded once and cached, recommendations are recomputed on every request.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workflow, and the extra experiments that were added because the project shipped without a ranking evaluation.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Dataset and model in one view. The data are generated; correlations with the label are weak (largest 0.18), which explains the modest AUC.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ranking route in decision form. The suggested action depends on the learner state only, so every card of one learner shows the same action; this is stated as a limit.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Sequence of requesting recommendations and logging feedback, and the use cases of the learner and the developer.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tables. Course and user links in interactions and logs are logical (plain columns), not database constraints.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Highlights of the implementation, with the one behavioural test and the known engineering limits.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the three success models on the held-out learners. Right: ranking quality on ten personas whose relevant categories were fixed before ranking. The hybrid beats popularity clearly but not content-only TF-IDF.</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Rows are the true class, columns the prediction. At threshold 0.5 the selected model misses most true successes (recall 0.329); the next slide shows the trade-off. The 55+ band has the lowest F1 in the audit.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 left: threshold sweep, taken from experiments/threshold_sweep.json and matching the shipped confusion matrix at 0.5. Top right: weight ablation. Bottom: offline policy values (propensity clipped to 0.02-0.98, weights capped at 10); with an effective sample size of about 9 they are not evidence that the policy helps.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Latency was measured on a CPU-only desktop through the loopback address; recommendations are recomputed on every call because nothing is cached.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plainly that the data differ: the base paper uses real OULAD, this project a generator; a higher or lower number here says nothing about the base paper's method.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captures of the running application with one registered learner and 12 interaction events.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path is ordered by skill level and score; there is no prerequisite graph.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page reads artifacts/metrics/model_metrics.json; a fairness tab and a model table complete 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Objectives 1, 2, 4 and 5 met, 6 partly, 3 not implemented. Findings are reported with their weaknesses.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Concrete next steps, ordered by value.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14.xml"/><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3" Type="http://schemas.openxmlformats.org/officeDocument/2006/relationships/image" Target="../media/image7.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chart" Target="../charts/chart3.xml"/><Relationship Id="rId3" Type="http://schemas.openxmlformats.org/officeDocument/2006/relationships/chart" Target="../charts/chart2.xml"/><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13.pn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3200" b="1" dirty="0">
                <a:solidFill>
                  <a:srgbClr val="1F3864"/>
                </a:solidFill>
                <a:latin typeface="Calibri" pitchFamily="34" charset="0"/>
                <a:ea typeface="Calibri" pitchFamily="34" charset="-122"/>
                <a:cs typeface="Calibri" pitchFamily="34" charset="-120"/>
              </a:rPr>
              <a:t>Personalized E-learning Course Recommendation System</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  ·  LearnPathIQ</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C7</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23K91A05J3   Pittala Akhila</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23K91A05G5   Mundala Sandhya</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23K91A05G4   Mula Thanuj Reddy</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23K91A05E1   Majjigapu Jagadeshwar Reddy</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K Gayathri</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[DESIGNATION], Department of CSE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  [COLLEGE NAME]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Abstract</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Base Paper &amp; Literature Survey</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Research Gap &amp; Problem Statement</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Objectives</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Proposed System &amp; Architecture</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Methodology, Dataset &amp; Model</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Decision Workflow, Interaction &amp; Database</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Implementation Highlights</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Results, Threshold Analysis, Performance &amp; Testing</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Comparison with Base Paper</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Output Screens</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Conclusion, Future Scope &amp; 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Box 6"/>
          <p:cNvSpPr txBox="1"/>
          <p:nvPr/>
        </p:nvSpPr>
        <p:spPr>
          <a:xfrm>
            <a:off x="502920" y="1737360"/>
            <a:ext cx="11155680" cy="4526280"/>
          </a:xfrm>
          <a:prstGeom prst="rect">
            <a:avLst/>
          </a:prstGeom>
          <a:noFill/>
        </p:spPr>
        <p:txBody>
          <a:bodyPr wrap="square" lIns="0" rIns="0" tIns="0" bIns="0" anchor="t">
            <a:spAutoFit/>
          </a:bodyPr>
          <a:lstStyle/>
          <a:p>
            <a:pPr algn="l" marL="256032" indent="-201168">
              <a:spcAft>
                <a:spcPts val="900"/>
              </a:spcAft>
              <a:buChar char="•"/>
            </a:pPr>
            <a:r>
              <a:rPr sz="1800" b="0" i="0">
                <a:solidFill>
                  <a:srgbClr val="222222"/>
                </a:solidFill>
                <a:latin typeface="Calibri"/>
                <a:ea typeface="Calibri"/>
                <a:cs typeface="Calibri"/>
              </a:rPr>
              <a:t>Learners on online platforms face a catalogue far larger than they can browse, and generic top-rated lists ignore their level, goals and behaviour.</a:t>
            </a:r>
          </a:p>
          <a:p>
            <a:pPr algn="l" marL="256032" indent="-201168">
              <a:spcAft>
                <a:spcPts val="900"/>
              </a:spcAft>
              <a:buChar char="•"/>
            </a:pPr>
            <a:r>
              <a:rPr sz="1800" b="0" i="0">
                <a:solidFill>
                  <a:srgbClr val="222222"/>
                </a:solidFill>
                <a:latin typeface="Calibri"/>
                <a:ea typeface="Calibri"/>
                <a:cs typeface="Calibri"/>
              </a:rPr>
              <a:t>LearnPathIQ ranks courses with a hybrid score of eight terms (TF-IDF content match, skill fit, topic overlap, predicted success, behavioural boost, goal match, rating, engagement), explains each choice and orders a staged learning path.</a:t>
            </a:r>
          </a:p>
          <a:p>
            <a:pPr algn="l" marL="256032" indent="-201168">
              <a:spcAft>
                <a:spcPts val="900"/>
              </a:spcAft>
              <a:buChar char="•"/>
            </a:pPr>
            <a:r>
              <a:rPr sz="1800" b="0" i="0">
                <a:solidFill>
                  <a:srgbClr val="222222"/>
                </a:solidFill>
                <a:latin typeface="Calibri"/>
                <a:ea typeface="Calibri"/>
                <a:cs typeface="Calibri"/>
              </a:rPr>
              <a:t>A learner-success model (logistic regression selected) reaches test AUC </a:t>
            </a:r>
            <a:r>
              <a:rPr sz="1800" b="1" i="0">
                <a:solidFill>
                  <a:srgbClr val="222222"/>
                </a:solidFill>
                <a:latin typeface="Calibri"/>
                <a:ea typeface="Calibri"/>
                <a:cs typeface="Calibri"/>
              </a:rPr>
              <a:t>0.603</a:t>
            </a:r>
            <a:r>
              <a:rPr sz="1800" b="0" i="0">
                <a:solidFill>
                  <a:srgbClr val="222222"/>
                </a:solidFill>
                <a:latin typeface="Calibri"/>
                <a:ea typeface="Calibri"/>
                <a:cs typeface="Calibri"/>
              </a:rPr>
              <a:t> on </a:t>
            </a:r>
            <a:r>
              <a:rPr sz="1800" b="1" i="0">
                <a:solidFill>
                  <a:srgbClr val="222222"/>
                </a:solidFill>
                <a:latin typeface="Calibri"/>
                <a:ea typeface="Calibri"/>
                <a:cs typeface="Calibri"/>
              </a:rPr>
              <a:t>synthetic OULAD-like data</a:t>
            </a:r>
            <a:r>
              <a:rPr sz="1800" b="0" i="0">
                <a:solidFill>
                  <a:srgbClr val="222222"/>
                </a:solidFill>
                <a:latin typeface="Calibri"/>
                <a:ea typeface="Calibri"/>
                <a:cs typeface="Calibri"/>
              </a:rPr>
              <a:t> (six-seed mean 0.614); one-vs-rest uplift models score five learning actions. The real OULAD data were not used.</a:t>
            </a:r>
          </a:p>
          <a:p>
            <a:pPr algn="l" marL="256032" indent="-201168">
              <a:spcAft>
                <a:spcPts val="900"/>
              </a:spcAft>
              <a:buChar char="•"/>
            </a:pPr>
            <a:r>
              <a:rPr sz="1800" b="0" i="0">
                <a:solidFill>
                  <a:srgbClr val="222222"/>
                </a:solidFill>
                <a:latin typeface="Calibri"/>
                <a:ea typeface="Calibri"/>
                <a:cs typeface="Calibri"/>
              </a:rPr>
              <a:t>On ten hand-written personas, hybrid precision@3 is 0.73 against 0.20 for popularity, and below content-only (0.80).</a:t>
            </a:r>
          </a:p>
          <a:p>
            <a:pPr algn="l" marL="256032" indent="-201168">
              <a:spcAft>
                <a:spcPts val="400"/>
              </a:spcAft>
              <a:buChar char="•"/>
            </a:pPr>
            <a:r>
              <a:rPr sz="1800" b="0" i="0">
                <a:solidFill>
                  <a:srgbClr val="222222"/>
                </a:solidFill>
                <a:latin typeface="Calibri"/>
                <a:ea typeface="Calibri"/>
                <a:cs typeface="Calibri"/>
              </a:rPr>
              <a:t>A FastAPI service and a React interface add login, dashboard, history and model analytics; 5 pytest tests and 33 smoke checks pass. No user study, collaborative filtering or reinforcement-learning agent is included.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Box 6"/>
          <p:cNvSpPr txBox="1"/>
          <p:nvPr/>
        </p:nvSpPr>
        <p:spPr>
          <a:xfrm>
            <a:off x="502920" y="1691640"/>
            <a:ext cx="11155680" cy="86868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C. P. Isiwu, L. C. Nnadi, and Y. Watanobe, "From prediction to prescription: A Causal-AI for personalized learning path optimization in MOOCs," IEEE Access, vol. 14, pp. 29105-29118, 2026, doi: 10.1109/ACCESS.2026.3666619.</a:t>
            </a:r>
          </a:p>
        </p:txBody>
      </p:sp>
      <p:graphicFrame>
        <p:nvGraphicFramePr>
          <p:cNvPr id="8" name="Table 7"/>
          <p:cNvGraphicFramePr>
            <a:graphicFrameLocks noGrp="1"/>
          </p:cNvGraphicFramePr>
          <p:nvPr/>
        </p:nvGraphicFramePr>
        <p:xfrm>
          <a:off x="502920" y="2651760"/>
          <a:ext cx="11155680" cy="3566160"/>
        </p:xfrm>
        <a:graphic>
          <a:graphicData uri="http://schemas.openxmlformats.org/drawingml/2006/table">
            <a:tbl>
              <a:tblPr firstRow="0" bandRow="0">
                <a:tableStyleId>{5C22544A-7EE6-4342-B048-85BDC9FD1C3A}</a:tableStyleId>
              </a:tblPr>
              <a:tblGrid>
                <a:gridCol w="1828800"/>
                <a:gridCol w="9326880"/>
              </a:tblGrid>
              <a:tr h="713232">
                <a:tc>
                  <a:txBody>
                    <a:bodyPr wrap="square"/>
                    <a:lstStyle/>
                    <a:p>
                      <a:pPr algn="ctr"/>
                      <a:r>
                        <a:rPr sz="14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400" b="1">
                          <a:solidFill>
                            <a:srgbClr val="1F3864"/>
                          </a:solidFill>
                          <a:latin typeface="Calibri"/>
                          <a:ea typeface="Calibri"/>
                          <a:cs typeface="Calibri"/>
                        </a:rPr>
                        <a:t>Base paper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713232">
                <a:tc>
                  <a:txBody>
                    <a:bodyPr wrap="square"/>
                    <a:lstStyle/>
                    <a:p>
                      <a:pPr algn="l"/>
                      <a:r>
                        <a:rPr sz="1400" b="1">
                          <a:solidFill>
                            <a:srgbClr val="222222"/>
                          </a:solidFill>
                          <a:latin typeface="Calibri"/>
                          <a:ea typeface="Calibri"/>
                          <a:cs typeface="Calibri"/>
                        </a:rPr>
                        <a:t>Method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400" b="0">
                          <a:solidFill>
                            <a:srgbClr val="222222"/>
                          </a:solidFill>
                          <a:latin typeface="Calibri"/>
                          <a:ea typeface="Calibri"/>
                          <a:cs typeface="Calibri"/>
                        </a:rPr>
                        <a:t>XGBoost learner-success model, uplift (T-learner) action scoring, an Actor-Critic reinforcement-learning agent with causal regularisation, off-policy evaluation, fairness audit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13232">
                <a:tc>
                  <a:txBody>
                    <a:bodyPr wrap="square"/>
                    <a:lstStyle/>
                    <a:p>
                      <a:pPr algn="l"/>
                      <a:r>
                        <a:rPr sz="1400" b="1">
                          <a:solidFill>
                            <a:srgbClr val="222222"/>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400" b="0">
                          <a:solidFill>
                            <a:srgbClr val="222222"/>
                          </a:solidFill>
                          <a:latin typeface="Calibri"/>
                          <a:ea typeface="Calibri"/>
                          <a:cs typeface="Calibri"/>
                        </a:rPr>
                        <a:t>Open University Learning Analytics Dataset (OULAD): 32,593 enrolments, about 1.7 million learner-week rows, 25,516 learners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713232">
                <a:tc>
                  <a:txBody>
                    <a:bodyPr wrap="square"/>
                    <a:lstStyle/>
                    <a:p>
                      <a:pPr algn="l"/>
                      <a:r>
                        <a:rPr sz="1400" b="1">
                          <a:solidFill>
                            <a:srgbClr val="222222"/>
                          </a:solidFill>
                          <a:latin typeface="Calibri"/>
                          <a:ea typeface="Calibri"/>
                          <a:cs typeface="Calibri"/>
                        </a:rPr>
                        <a:t>Reported results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400" b="0">
                          <a:solidFill>
                            <a:srgbClr val="222222"/>
                          </a:solidFill>
                          <a:latin typeface="Calibri"/>
                          <a:ea typeface="Calibri"/>
                          <a:cs typeface="Calibri"/>
                        </a:rPr>
                        <a:t>XGBoost AUC 0.795, Brier 0.074; logged pass rate 0.589; Greedy-Uplift SNIPS 0.619 [0.613, 0.625]; older learners markedly lower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713232">
                <a:tc>
                  <a:txBody>
                    <a:bodyPr wrap="square"/>
                    <a:lstStyle/>
                    <a:p>
                      <a:pPr algn="l"/>
                      <a:r>
                        <a:rPr sz="1400" b="1">
                          <a:solidFill>
                            <a:srgbClr val="222222"/>
                          </a:solidFill>
                          <a:latin typeface="Calibri"/>
                          <a:ea typeface="Calibri"/>
                          <a:cs typeface="Calibri"/>
                        </a:rPr>
                        <a:t>Stated limits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400" b="0">
                          <a:solidFill>
                            <a:srgbClr val="222222"/>
                          </a:solidFill>
                          <a:latin typeface="Calibri"/>
                          <a:ea typeface="Calibri"/>
                          <a:cs typeface="Calibri"/>
                        </a:rPr>
                        <a:t>Offline evidence only; importance weights unstable (IPS 9.956 against SNIPS 0.643); no live A/B test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7" name="Table 6"/>
          <p:cNvGraphicFramePr>
            <a:graphicFrameLocks noGrp="1"/>
          </p:cNvGraphicFramePr>
          <p:nvPr/>
        </p:nvGraphicFramePr>
        <p:xfrm>
          <a:off x="502920" y="1691640"/>
          <a:ext cx="11155680" cy="4352544"/>
        </p:xfrm>
        <a:graphic>
          <a:graphicData uri="http://schemas.openxmlformats.org/drawingml/2006/table">
            <a:tbl>
              <a:tblPr firstRow="0" bandRow="0">
                <a:tableStyleId>{5C22544A-7EE6-4342-B048-85BDC9FD1C3A}</a:tableStyleId>
              </a:tblPr>
              <a:tblGrid>
                <a:gridCol w="2286000"/>
                <a:gridCol w="2834640"/>
                <a:gridCol w="1920240"/>
                <a:gridCol w="2286000"/>
                <a:gridCol w="1828800"/>
              </a:tblGrid>
              <a:tr h="621792">
                <a:tc>
                  <a:txBody>
                    <a:bodyPr wrap="square"/>
                    <a:lstStyle/>
                    <a:p>
                      <a:pPr algn="ctr"/>
                      <a:r>
                        <a:rPr sz="1100" b="1">
                          <a:solidFill>
                            <a:srgbClr val="1F3864"/>
                          </a:solidFill>
                          <a:latin typeface="Calibri"/>
                          <a:ea typeface="Calibri"/>
                          <a:cs typeface="Calibri"/>
                        </a:rPr>
                        <a:t>Author / Year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Methodology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Dataset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Key Result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Limitation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621792">
                <a:tc>
                  <a:txBody>
                    <a:bodyPr wrap="square"/>
                    <a:lstStyle/>
                    <a:p>
                      <a:pPr algn="l"/>
                      <a:r>
                        <a:rPr sz="1100" b="1">
                          <a:solidFill>
                            <a:srgbClr val="222222"/>
                          </a:solidFill>
                          <a:latin typeface="Calibri"/>
                          <a:ea typeface="Calibri"/>
                          <a:cs typeface="Calibri"/>
                        </a:rPr>
                        <a:t>Isiwu et al. (2026)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XGBoost + uplift + Actor-Critic RL, off-policy evaluation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OULAD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AUC 0.795; SNIPS 0.619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Offline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21792">
                <a:tc>
                  <a:txBody>
                    <a:bodyPr wrap="square"/>
                    <a:lstStyle/>
                    <a:p>
                      <a:pPr algn="l"/>
                      <a:r>
                        <a:rPr sz="1100" b="1">
                          <a:solidFill>
                            <a:srgbClr val="222222"/>
                          </a:solidFill>
                          <a:latin typeface="Calibri"/>
                          <a:ea typeface="Calibri"/>
                          <a:cs typeface="Calibri"/>
                        </a:rPr>
                        <a:t>Khreis et al. (2026)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BERT with contrastive learning and isotropy regularisation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500+ engineering courses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Better embedding separation than vanilla BERT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Text-only; one institution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621792">
                <a:tc>
                  <a:txBody>
                    <a:bodyPr wrap="square"/>
                    <a:lstStyle/>
                    <a:p>
                      <a:pPr algn="l"/>
                      <a:r>
                        <a:rPr sz="1100" b="1">
                          <a:solidFill>
                            <a:srgbClr val="222222"/>
                          </a:solidFill>
                          <a:latin typeface="Calibri"/>
                          <a:ea typeface="Calibri"/>
                          <a:cs typeface="Calibri"/>
                        </a:rPr>
                        <a:t>Gharahighehi et al. (2025) [3]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Collaborative filtering with survival analysis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Three public MOOC sets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Beats CF baselines on two measures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Needs interaction history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21792">
                <a:tc>
                  <a:txBody>
                    <a:bodyPr wrap="square"/>
                    <a:lstStyle/>
                    <a:p>
                      <a:pPr algn="l"/>
                      <a:r>
                        <a:rPr sz="1100" b="1">
                          <a:solidFill>
                            <a:srgbClr val="222222"/>
                          </a:solidFill>
                          <a:latin typeface="Calibri"/>
                          <a:ea typeface="Calibri"/>
                          <a:cs typeface="Calibri"/>
                        </a:rPr>
                        <a:t>Sujay et al. (2026) [23]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TF-IDF, cosine similarity and ratings, weighted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Coursera course listing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Weighted hybrid score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Results not reviewed in detail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621792">
                <a:tc>
                  <a:txBody>
                    <a:bodyPr wrap="square"/>
                    <a:lstStyle/>
                    <a:p>
                      <a:pPr algn="l"/>
                      <a:r>
                        <a:rPr sz="1100" b="1">
                          <a:solidFill>
                            <a:srgbClr val="222222"/>
                          </a:solidFill>
                          <a:latin typeface="Calibri"/>
                          <a:ea typeface="Calibri"/>
                          <a:cs typeface="Calibri"/>
                        </a:rPr>
                        <a:t>Batch survey (2025) [25]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LightGCN with learning-behaviour 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Authors not recorded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Title and year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Not independently verified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21792">
                <a:tc>
                  <a:txBody>
                    <a:bodyPr wrap="square"/>
                    <a:lstStyle/>
                    <a:p>
                      <a:pPr algn="l"/>
                      <a:r>
                        <a:rPr sz="1100" b="1">
                          <a:solidFill>
                            <a:srgbClr val="222222"/>
                          </a:solidFill>
                          <a:latin typeface="Calibri"/>
                          <a:ea typeface="Calibri"/>
                          <a:cs typeface="Calibri"/>
                        </a:rPr>
                        <a:t>Batch survey (2025-26) [24], [26]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Machine-learning course recommendation; literature review</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Authors not recorded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Title and year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Not independently verified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sp>
        <p:nvSpPr>
          <p:cNvPr id="7" name="TextBox 6"/>
          <p:cNvSpPr txBox="1"/>
          <p:nvPr/>
        </p:nvSpPr>
        <p:spPr>
          <a:xfrm>
            <a:off x="502920" y="1783080"/>
            <a:ext cx="11155680" cy="4389120"/>
          </a:xfrm>
          <a:prstGeom prst="rect">
            <a:avLst/>
          </a:prstGeom>
          <a:noFill/>
        </p:spPr>
        <p:txBody>
          <a:bodyPr wrap="square" lIns="0" rIns="0" tIns="0" bIns="0" anchor="t">
            <a:spAutoFit/>
          </a:bodyPr>
          <a:lstStyle/>
          <a:p>
            <a:pPr algn="l" marL="256032" indent="-201168">
              <a:spcAft>
                <a:spcPts val="1200"/>
              </a:spcAft>
              <a:buChar char="•"/>
            </a:pPr>
            <a:r>
              <a:rPr sz="2000" b="1" i="0">
                <a:solidFill>
                  <a:srgbClr val="222222"/>
                </a:solidFill>
                <a:latin typeface="Calibri"/>
                <a:ea typeface="Calibri"/>
                <a:cs typeface="Calibri"/>
              </a:rPr>
              <a:t>Beyond prediction:</a:t>
            </a:r>
            <a:r>
              <a:rPr sz="2000" b="0" i="0">
                <a:solidFill>
                  <a:srgbClr val="222222"/>
                </a:solidFill>
                <a:latin typeface="Calibri"/>
                <a:ea typeface="Calibri"/>
                <a:cs typeface="Calibri"/>
              </a:rPr>
              <a:t> success models say who may struggle but not which learning action or course helps; few systems connect the two.</a:t>
            </a:r>
          </a:p>
          <a:p>
            <a:pPr algn="l" marL="256032" indent="-201168">
              <a:spcAft>
                <a:spcPts val="1200"/>
              </a:spcAft>
              <a:buChar char="•"/>
            </a:pPr>
            <a:r>
              <a:rPr sz="2000" b="1" i="0">
                <a:solidFill>
                  <a:srgbClr val="222222"/>
                </a:solidFill>
                <a:latin typeface="Calibri"/>
                <a:ea typeface="Calibri"/>
                <a:cs typeface="Calibri"/>
              </a:rPr>
              <a:t>Cold start:</a:t>
            </a:r>
            <a:r>
              <a:rPr sz="2000" b="0" i="0">
                <a:solidFill>
                  <a:srgbClr val="222222"/>
                </a:solidFill>
                <a:latin typeface="Calibri"/>
                <a:ea typeface="Calibri"/>
                <a:cs typeface="Calibri"/>
              </a:rPr>
              <a:t> collaborative filtering needs interaction history; a new learner needs a ranking from profile and content on day one.</a:t>
            </a:r>
          </a:p>
          <a:p>
            <a:pPr algn="l" marL="256032" indent="-201168">
              <a:spcAft>
                <a:spcPts val="1200"/>
              </a:spcAft>
              <a:buChar char="•"/>
            </a:pPr>
            <a:r>
              <a:rPr sz="2000" b="1" i="0">
                <a:solidFill>
                  <a:srgbClr val="222222"/>
                </a:solidFill>
                <a:latin typeface="Calibri"/>
                <a:ea typeface="Calibri"/>
                <a:cs typeface="Calibri"/>
              </a:rPr>
              <a:t>Adaptation:</a:t>
            </a:r>
            <a:r>
              <a:rPr sz="2000" b="0" i="0">
                <a:solidFill>
                  <a:srgbClr val="222222"/>
                </a:solidFill>
                <a:latin typeface="Calibri"/>
                <a:ea typeface="Calibri"/>
                <a:cs typeface="Calibri"/>
              </a:rPr>
              <a:t> rankings are rarely updated from the learner's own events without retraining.</a:t>
            </a:r>
          </a:p>
          <a:p>
            <a:pPr algn="l" marL="256032" indent="-201168">
              <a:spcAft>
                <a:spcPts val="1200"/>
              </a:spcAft>
              <a:buChar char="•"/>
            </a:pPr>
            <a:r>
              <a:rPr sz="2000" b="1" i="0">
                <a:solidFill>
                  <a:srgbClr val="222222"/>
                </a:solidFill>
                <a:latin typeface="Calibri"/>
                <a:ea typeface="Calibri"/>
                <a:cs typeface="Calibri"/>
              </a:rPr>
              <a:t>Honest evaluation:</a:t>
            </a:r>
            <a:r>
              <a:rPr sz="2000" b="0" i="0">
                <a:solidFill>
                  <a:srgbClr val="222222"/>
                </a:solidFill>
                <a:latin typeface="Calibri"/>
                <a:ea typeface="Calibri"/>
                <a:cs typeface="Calibri"/>
              </a:rPr>
              <a:t> offline policy estimates and recommendation quality are rarely reported with their weaknesses (effective sample size, baselines, subgroup gaps).</a:t>
            </a:r>
          </a:p>
          <a:p>
            <a:pPr algn="l" marL="256032" indent="-201168">
              <a:spcAft>
                <a:spcPts val="400"/>
              </a:spcAft>
              <a:buChar char="•"/>
            </a:pPr>
            <a:r>
              <a:rPr sz="2000" b="1" i="0">
                <a:solidFill>
                  <a:srgbClr val="222222"/>
                </a:solidFill>
                <a:latin typeface="Calibri"/>
                <a:ea typeface="Calibri"/>
                <a:cs typeface="Calibri"/>
              </a:rPr>
              <a:t>Explanations:</a:t>
            </a:r>
            <a:r>
              <a:rPr sz="2000" b="0" i="0">
                <a:solidFill>
                  <a:srgbClr val="222222"/>
                </a:solidFill>
                <a:latin typeface="Calibri"/>
                <a:ea typeface="Calibri"/>
                <a:cs typeface="Calibri"/>
              </a:rPr>
              <a:t> a ranked list without reasons is hard for a learner to trust.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Rounded Rectangle 6"/>
          <p:cNvSpPr/>
          <p:nvPr/>
        </p:nvSpPr>
        <p:spPr>
          <a:xfrm>
            <a:off x="502920" y="1783080"/>
            <a:ext cx="11155680" cy="182880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10607040" cy="1737360"/>
          </a:xfrm>
          <a:prstGeom prst="rect">
            <a:avLst/>
          </a:prstGeom>
          <a:noFill/>
        </p:spPr>
        <p:txBody>
          <a:bodyPr wrap="square" lIns="0" rIns="0" tIns="0" bIns="0" anchor="ctr">
            <a:spAutoFit/>
          </a:bodyPr>
          <a:lstStyle/>
          <a:p>
            <a:pPr algn="l">
              <a:spcAft>
                <a:spcPts val="400"/>
              </a:spcAft>
            </a:pPr>
            <a:r>
              <a:rPr sz="2000" b="0" i="0">
                <a:solidFill>
                  <a:srgbClr val="222222"/>
                </a:solidFill>
                <a:latin typeface="Calibri"/>
                <a:ea typeface="Calibri"/>
                <a:cs typeface="Calibri"/>
              </a:rPr>
              <a:t>Given a learner's profile and recent activity, rank the courses of a catalogue by how well they fit, say why, estimate the chance the learner succeeds, suggest the learning action expected to help most, and keep adapting as the learner interacts, all through a web application.</a:t>
            </a:r>
          </a:p>
        </p:txBody>
      </p:sp>
      <p:sp>
        <p:nvSpPr>
          <p:cNvPr id="9" name="Rounded Rectangle 8"/>
          <p:cNvSpPr/>
          <p:nvPr/>
        </p:nvSpPr>
        <p:spPr>
          <a:xfrm>
            <a:off x="502920" y="3931920"/>
            <a:ext cx="3566160" cy="173736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02336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Input</a:t>
            </a:r>
          </a:p>
        </p:txBody>
      </p:sp>
      <p:sp>
        <p:nvSpPr>
          <p:cNvPr id="11" name="TextBox 10"/>
          <p:cNvSpPr txBox="1"/>
          <p:nvPr/>
        </p:nvSpPr>
        <p:spPr>
          <a:xfrm>
            <a:off x="685800" y="4480560"/>
            <a:ext cx="3200400" cy="1097280"/>
          </a:xfrm>
          <a:prstGeom prst="rect">
            <a:avLst/>
          </a:prstGeom>
          <a:noFill/>
        </p:spPr>
        <p:txBody>
          <a:bodyPr wrap="square" lIns="0" rIns="0" tIns="0" bIns="0" anchor="t">
            <a:spAutoFit/>
          </a:bodyPr>
          <a:lstStyle/>
          <a:p>
            <a:pPr algn="l">
              <a:spcAft>
                <a:spcPts val="400"/>
              </a:spcAft>
            </a:pPr>
            <a:r>
              <a:rPr sz="1500" b="0" i="0">
                <a:solidFill>
                  <a:srgbClr val="222222"/>
                </a:solidFill>
                <a:latin typeface="Calibri"/>
                <a:ea typeface="Calibri"/>
                <a:cs typeface="Calibri"/>
              </a:rPr>
              <a:t>Profile (education, level, interests, goals, hours) and interaction events</a:t>
            </a:r>
          </a:p>
        </p:txBody>
      </p:sp>
      <p:sp>
        <p:nvSpPr>
          <p:cNvPr id="12" name="Rounded Rectangle 11"/>
          <p:cNvSpPr/>
          <p:nvPr/>
        </p:nvSpPr>
        <p:spPr>
          <a:xfrm>
            <a:off x="4251959" y="3931920"/>
            <a:ext cx="3566160" cy="173736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4840" y="402336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Output</a:t>
            </a:r>
          </a:p>
        </p:txBody>
      </p:sp>
      <p:sp>
        <p:nvSpPr>
          <p:cNvPr id="14" name="TextBox 13"/>
          <p:cNvSpPr txBox="1"/>
          <p:nvPr/>
        </p:nvSpPr>
        <p:spPr>
          <a:xfrm>
            <a:off x="4434840" y="4480560"/>
            <a:ext cx="3200400" cy="1097280"/>
          </a:xfrm>
          <a:prstGeom prst="rect">
            <a:avLst/>
          </a:prstGeom>
          <a:noFill/>
        </p:spPr>
        <p:txBody>
          <a:bodyPr wrap="square" lIns="0" rIns="0" tIns="0" bIns="0" anchor="t">
            <a:spAutoFit/>
          </a:bodyPr>
          <a:lstStyle/>
          <a:p>
            <a:pPr algn="l">
              <a:spcAft>
                <a:spcPts val="400"/>
              </a:spcAft>
            </a:pPr>
            <a:r>
              <a:rPr sz="1500" b="0" i="0">
                <a:solidFill>
                  <a:srgbClr val="222222"/>
                </a:solidFill>
                <a:latin typeface="Calibri"/>
                <a:ea typeface="Calibri"/>
                <a:cs typeface="Calibri"/>
              </a:rPr>
              <a:t>Ranked courses with match %, reasons, success estimate, suggested action, learning path</a:t>
            </a:r>
          </a:p>
        </p:txBody>
      </p:sp>
      <p:sp>
        <p:nvSpPr>
          <p:cNvPr id="15" name="Rounded Rectangle 14"/>
          <p:cNvSpPr/>
          <p:nvPr/>
        </p:nvSpPr>
        <p:spPr>
          <a:xfrm>
            <a:off x="8001000" y="3931920"/>
            <a:ext cx="3566160" cy="173736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83879" y="402336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Record</a:t>
            </a:r>
          </a:p>
        </p:txBody>
      </p:sp>
      <p:sp>
        <p:nvSpPr>
          <p:cNvPr id="17" name="TextBox 16"/>
          <p:cNvSpPr txBox="1"/>
          <p:nvPr/>
        </p:nvSpPr>
        <p:spPr>
          <a:xfrm>
            <a:off x="8183879" y="4480560"/>
            <a:ext cx="3200400" cy="1097280"/>
          </a:xfrm>
          <a:prstGeom prst="rect">
            <a:avLst/>
          </a:prstGeom>
          <a:noFill/>
        </p:spPr>
        <p:txBody>
          <a:bodyPr wrap="square" lIns="0" rIns="0" tIns="0" bIns="0" anchor="t">
            <a:spAutoFit/>
          </a:bodyPr>
          <a:lstStyle/>
          <a:p>
            <a:pPr algn="l">
              <a:spcAft>
                <a:spcPts val="400"/>
              </a:spcAft>
            </a:pPr>
            <a:r>
              <a:rPr sz="1500" b="0" i="0">
                <a:solidFill>
                  <a:srgbClr val="222222"/>
                </a:solidFill>
                <a:latin typeface="Calibri"/>
                <a:ea typeface="Calibri"/>
                <a:cs typeface="Calibri"/>
              </a:rPr>
              <a:t>Interaction history, recommendation log, model analytics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a:spcAft>
                <a:spcPts val="1200"/>
              </a:spcAft>
            </a:pPr>
            <a:r>
              <a:rPr sz="1900" b="0" i="0">
                <a:solidFill>
                  <a:srgbClr val="222222"/>
                </a:solidFill>
                <a:latin typeface="Calibri"/>
                <a:ea typeface="Calibri"/>
                <a:cs typeface="Calibri"/>
              </a:rPr>
              <a:t>1.  Build a learner profile (education, skill level, interests, goals, weekly hours) and update it from interaction events.</a:t>
            </a:r>
          </a:p>
          <a:p>
            <a:pPr algn="l">
              <a:spcAft>
                <a:spcPts val="1200"/>
              </a:spcAft>
            </a:pPr>
            <a:r>
              <a:rPr sz="1900" b="0" i="0">
                <a:solidFill>
                  <a:srgbClr val="222222"/>
                </a:solidFill>
                <a:latin typeface="Calibri"/>
                <a:ea typeface="Calibri"/>
                <a:cs typeface="Calibri"/>
              </a:rPr>
              <a:t>2.  Maintain a course catalogue with skills, level, topics, duration and ratings (24 hand-written courses).</a:t>
            </a:r>
          </a:p>
          <a:p>
            <a:pPr algn="l">
              <a:spcAft>
                <a:spcPts val="1200"/>
              </a:spcAft>
            </a:pPr>
            <a:r>
              <a:rPr sz="1900" b="0" i="0">
                <a:solidFill>
                  <a:srgbClr val="222222"/>
                </a:solidFill>
                <a:latin typeface="Calibri"/>
                <a:ea typeface="Calibri"/>
                <a:cs typeface="Calibri"/>
              </a:rPr>
              <a:t>3.  Collaborative filtering across learners (not implemented; the behavioural term is per learner).</a:t>
            </a:r>
          </a:p>
          <a:p>
            <a:pPr algn="l">
              <a:spcAft>
                <a:spcPts val="1200"/>
              </a:spcAft>
            </a:pPr>
            <a:r>
              <a:rPr sz="1900" b="0" i="0">
                <a:solidFill>
                  <a:srgbClr val="222222"/>
                </a:solidFill>
                <a:latin typeface="Calibri"/>
                <a:ea typeface="Calibri"/>
                <a:cs typeface="Calibri"/>
              </a:rPr>
              <a:t>4.  Content-based matching of learner and courses with TF-IDF and cosine similarity.</a:t>
            </a:r>
          </a:p>
          <a:p>
            <a:pPr algn="l">
              <a:spcAft>
                <a:spcPts val="1200"/>
              </a:spcAft>
            </a:pPr>
            <a:r>
              <a:rPr sz="1900" b="0" i="0">
                <a:solidFill>
                  <a:srgbClr val="222222"/>
                </a:solidFill>
                <a:latin typeface="Calibri"/>
                <a:ea typeface="Calibri"/>
                <a:cs typeface="Calibri"/>
              </a:rPr>
              <a:t>5.  A hybrid recommender with explanations and a staged learning path, plus a success model and action-benefit scores.</a:t>
            </a:r>
          </a:p>
          <a:p>
            <a:pPr algn="l">
              <a:spcAft>
                <a:spcPts val="1200"/>
              </a:spcAft>
            </a:pPr>
            <a:r>
              <a:rPr sz="1900" b="0" i="0">
                <a:solidFill>
                  <a:srgbClr val="222222"/>
                </a:solidFill>
                <a:latin typeface="Calibri"/>
                <a:ea typeface="Calibri"/>
                <a:cs typeface="Calibri"/>
              </a:rPr>
              <a:t>6.  Evaluate with precision, recall and feedback (partly met: AUC and F1 on synthetic data, persona precision@k; no user study).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Rounded Rectangle 6"/>
          <p:cNvSpPr/>
          <p:nvPr/>
        </p:nvSpPr>
        <p:spPr>
          <a:xfrm>
            <a:off x="502920" y="1828800"/>
            <a:ext cx="1975103" cy="10058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Profile + events</a:t>
            </a:r>
          </a:p>
        </p:txBody>
      </p:sp>
      <p:sp>
        <p:nvSpPr>
          <p:cNvPr id="8" name="Right Arrow 7"/>
          <p:cNvSpPr/>
          <p:nvPr/>
        </p:nvSpPr>
        <p:spPr>
          <a:xfrm>
            <a:off x="2537460"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98063" y="1828800"/>
            <a:ext cx="1975103" cy="100584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Score 8 terms</a:t>
            </a:r>
          </a:p>
        </p:txBody>
      </p:sp>
      <p:sp>
        <p:nvSpPr>
          <p:cNvPr id="10" name="Right Arrow 9"/>
          <p:cNvSpPr/>
          <p:nvPr/>
        </p:nvSpPr>
        <p:spPr>
          <a:xfrm>
            <a:off x="4832603"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93207" y="1828800"/>
            <a:ext cx="1975103" cy="10058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Success + uplift</a:t>
            </a:r>
          </a:p>
        </p:txBody>
      </p:sp>
      <p:sp>
        <p:nvSpPr>
          <p:cNvPr id="12" name="Right Arrow 11"/>
          <p:cNvSpPr/>
          <p:nvPr/>
        </p:nvSpPr>
        <p:spPr>
          <a:xfrm>
            <a:off x="7127747"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88352" y="1828800"/>
            <a:ext cx="1975103" cy="10058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Rank + explain</a:t>
            </a:r>
          </a:p>
        </p:txBody>
      </p:sp>
      <p:sp>
        <p:nvSpPr>
          <p:cNvPr id="14" name="Right Arrow 13"/>
          <p:cNvSpPr/>
          <p:nvPr/>
        </p:nvSpPr>
        <p:spPr>
          <a:xfrm>
            <a:off x="9422892"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83496" y="1828800"/>
            <a:ext cx="1975103" cy="100584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ea typeface="Calibri"/>
                <a:cs typeface="Calibri"/>
              </a:rPr>
              <a:t>Log + adapt</a:t>
            </a:r>
          </a:p>
        </p:txBody>
      </p:sp>
      <p:sp>
        <p:nvSpPr>
          <p:cNvPr id="16" name="TextBox 15"/>
          <p:cNvSpPr txBox="1"/>
          <p:nvPr/>
        </p:nvSpPr>
        <p:spPr>
          <a:xfrm>
            <a:off x="502920" y="3200400"/>
            <a:ext cx="11155680" cy="3017520"/>
          </a:xfrm>
          <a:prstGeom prst="rect">
            <a:avLst/>
          </a:prstGeom>
          <a:noFill/>
        </p:spPr>
        <p:txBody>
          <a:bodyPr wrap="square" lIns="0" rIns="0" tIns="0" bIns="0" anchor="t">
            <a:spAutoFit/>
          </a:bodyPr>
          <a:lstStyle/>
          <a:p>
            <a:pPr algn="l" marL="256032" indent="-201168">
              <a:spcAft>
                <a:spcPts val="1000"/>
              </a:spcAft>
              <a:buChar char="•"/>
            </a:pPr>
            <a:r>
              <a:rPr sz="1800" b="0" i="0">
                <a:solidFill>
                  <a:srgbClr val="222222"/>
                </a:solidFill>
                <a:latin typeface="Calibri"/>
                <a:ea typeface="Calibri"/>
                <a:cs typeface="Calibri"/>
              </a:rPr>
              <a:t>Hybrid ranker: 0.30 content, 0.15 skill, 0.15 topic, 0.12 success, 0.10 behaviour, 0.08 goal, 0.05 rating, 0.05 engagement.</a:t>
            </a:r>
          </a:p>
          <a:p>
            <a:pPr algn="l" marL="256032" indent="-201168">
              <a:spcAft>
                <a:spcPts val="1000"/>
              </a:spcAft>
              <a:buChar char="•"/>
            </a:pPr>
            <a:r>
              <a:rPr sz="1800" b="0" i="0">
                <a:solidFill>
                  <a:srgbClr val="222222"/>
                </a:solidFill>
                <a:latin typeface="Calibri"/>
                <a:ea typeface="Calibri"/>
                <a:cs typeface="Calibri"/>
              </a:rPr>
              <a:t>Learner-success model (logistic regression, XGBoost and random forest compared) and one-vs-rest uplift models for five actions.</a:t>
            </a:r>
          </a:p>
          <a:p>
            <a:pPr algn="l" marL="256032" indent="-201168">
              <a:spcAft>
                <a:spcPts val="1000"/>
              </a:spcAft>
              <a:buChar char="•"/>
            </a:pPr>
            <a:r>
              <a:rPr sz="1800" b="0" i="0">
                <a:solidFill>
                  <a:srgbClr val="222222"/>
                </a:solidFill>
                <a:latin typeface="Calibri"/>
                <a:ea typeface="Calibri"/>
                <a:cs typeface="Calibri"/>
              </a:rPr>
              <a:t>Every logged event changes the next ranking at once, with no retraining.</a:t>
            </a:r>
          </a:p>
          <a:p>
            <a:pPr algn="l" marL="256032" indent="-201168">
              <a:spcAft>
                <a:spcPts val="400"/>
              </a:spcAft>
              <a:buChar char="•"/>
            </a:pPr>
            <a:r>
              <a:rPr sz="1800" b="0" i="0">
                <a:solidFill>
                  <a:srgbClr val="222222"/>
                </a:solidFill>
                <a:latin typeface="Calibri"/>
                <a:ea typeface="Calibri"/>
                <a:cs typeface="Calibri"/>
              </a:rPr>
              <a:t>FastAPI service, SQLite, React interface; offline policy evaluation and fairness audit on a Model analytics page.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pic>
        <p:nvPicPr>
          <p:cNvPr id="7" name="Picture 6" descr="01_system_architecture.png"/>
          <p:cNvPicPr>
            <a:picLocks noChangeAspect="1"/>
          </p:cNvPicPr>
          <p:nvPr/>
        </p:nvPicPr>
        <p:blipFill>
          <a:blip r:embed="rId2"/>
          <a:stretch>
            <a:fillRect/>
          </a:stretch>
        </p:blipFill>
        <p:spPr>
          <a:xfrm>
            <a:off x="1077936" y="1645920"/>
            <a:ext cx="5799406" cy="4663440"/>
          </a:xfrm>
          <a:prstGeom prst="rect">
            <a:avLst/>
          </a:prstGeom>
        </p:spPr>
      </p:pic>
      <p:sp>
        <p:nvSpPr>
          <p:cNvPr id="8" name="TextBox 7"/>
          <p:cNvSpPr txBox="1"/>
          <p:nvPr/>
        </p:nvSpPr>
        <p:spPr>
          <a:xfrm>
            <a:off x="7680960" y="1828800"/>
            <a:ext cx="4023360" cy="4297680"/>
          </a:xfrm>
          <a:prstGeom prst="rect">
            <a:avLst/>
          </a:prstGeom>
          <a:noFill/>
        </p:spPr>
        <p:txBody>
          <a:bodyPr wrap="square" lIns="0" rIns="0" tIns="0" bIns="0" anchor="t">
            <a:spAutoFit/>
          </a:bodyPr>
          <a:lstStyle/>
          <a:p>
            <a:pPr algn="l" marL="256032" indent="-201168">
              <a:spcAft>
                <a:spcPts val="800"/>
              </a:spcAft>
              <a:buChar char="•"/>
            </a:pPr>
            <a:r>
              <a:rPr sz="1600" b="0" i="0">
                <a:solidFill>
                  <a:srgbClr val="222222"/>
                </a:solidFill>
                <a:latin typeface="Calibri"/>
                <a:ea typeface="Calibri"/>
                <a:cs typeface="Calibri"/>
              </a:rPr>
              <a:t>Presentation: React 19 SPA (port 5407) and the original Jinja2 UI</a:t>
            </a:r>
          </a:p>
          <a:p>
            <a:pPr algn="l" marL="256032" indent="-201168">
              <a:spcAft>
                <a:spcPts val="800"/>
              </a:spcAft>
              <a:buChar char="•"/>
            </a:pPr>
            <a:r>
              <a:rPr sz="1600" b="0" i="0">
                <a:solidFill>
                  <a:srgbClr val="222222"/>
                </a:solidFill>
                <a:latin typeface="Calibri"/>
                <a:ea typeface="Calibri"/>
                <a:cs typeface="Calibri"/>
              </a:rPr>
              <a:t>Application: FastAPI (port 8407), token auth, Pydantic validation</a:t>
            </a:r>
          </a:p>
          <a:p>
            <a:pPr algn="l" marL="256032" indent="-201168">
              <a:spcAft>
                <a:spcPts val="800"/>
              </a:spcAft>
              <a:buChar char="•"/>
            </a:pPr>
            <a:r>
              <a:rPr sz="1600" b="0" i="0">
                <a:solidFill>
                  <a:srgbClr val="222222"/>
                </a:solidFill>
                <a:latin typeface="Calibri"/>
                <a:ea typeface="Calibri"/>
                <a:cs typeface="Calibri"/>
              </a:rPr>
              <a:t>Recommendation: ranker, success model, uplift scores</a:t>
            </a:r>
          </a:p>
          <a:p>
            <a:pPr algn="l" marL="256032" indent="-201168">
              <a:spcAft>
                <a:spcPts val="400"/>
              </a:spcAft>
              <a:buChar char="•"/>
            </a:pPr>
            <a:r>
              <a:rPr sz="1600" b="0" i="0">
                <a:solidFill>
                  <a:srgbClr val="222222"/>
                </a:solidFill>
                <a:latin typeface="Calibri"/>
                <a:ea typeface="Calibri"/>
                <a:cs typeface="Calibri"/>
              </a:rPr>
              <a:t>Data: SQLite (6 tables), course catalogue, joblib model bundle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sp>
        <p:nvSpPr>
          <p:cNvPr id="7" name="Rounded Rectangle 6"/>
          <p:cNvSpPr/>
          <p:nvPr/>
        </p:nvSpPr>
        <p:spPr>
          <a:xfrm>
            <a:off x="502920"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Synthetic generator</a:t>
            </a:r>
          </a:p>
        </p:txBody>
      </p:sp>
      <p:sp>
        <p:nvSpPr>
          <p:cNvPr id="8" name="Right Arrow 7"/>
          <p:cNvSpPr/>
          <p:nvPr/>
        </p:nvSpPr>
        <p:spPr>
          <a:xfrm>
            <a:off x="1930690"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122714"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8 features</a:t>
            </a:r>
          </a:p>
        </p:txBody>
      </p:sp>
      <p:sp>
        <p:nvSpPr>
          <p:cNvPr id="10" name="Right Arrow 9"/>
          <p:cNvSpPr/>
          <p:nvPr/>
        </p:nvSpPr>
        <p:spPr>
          <a:xfrm>
            <a:off x="3550484"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42508" y="1783080"/>
            <a:ext cx="1436914" cy="109728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Learner-level split</a:t>
            </a:r>
          </a:p>
        </p:txBody>
      </p:sp>
      <p:sp>
        <p:nvSpPr>
          <p:cNvPr id="12" name="Right Arrow 11"/>
          <p:cNvSpPr/>
          <p:nvPr/>
        </p:nvSpPr>
        <p:spPr>
          <a:xfrm>
            <a:off x="5170278"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62302" y="1783080"/>
            <a:ext cx="1436914" cy="109728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LR / RF / XGBoost</a:t>
            </a:r>
          </a:p>
        </p:txBody>
      </p:sp>
      <p:sp>
        <p:nvSpPr>
          <p:cNvPr id="14" name="Right Arrow 13"/>
          <p:cNvSpPr/>
          <p:nvPr/>
        </p:nvSpPr>
        <p:spPr>
          <a:xfrm>
            <a:off x="6790073"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982097" y="1783080"/>
            <a:ext cx="1436914" cy="109728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Uplift + OPE</a:t>
            </a:r>
          </a:p>
        </p:txBody>
      </p:sp>
      <p:sp>
        <p:nvSpPr>
          <p:cNvPr id="16" name="Right Arrow 15"/>
          <p:cNvSpPr/>
          <p:nvPr/>
        </p:nvSpPr>
        <p:spPr>
          <a:xfrm>
            <a:off x="8409867"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01891" y="1783080"/>
            <a:ext cx="1436914" cy="109728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Fairness audit</a:t>
            </a:r>
          </a:p>
        </p:txBody>
      </p:sp>
      <p:sp>
        <p:nvSpPr>
          <p:cNvPr id="18" name="Right Arrow 17"/>
          <p:cNvSpPr/>
          <p:nvPr/>
        </p:nvSpPr>
        <p:spPr>
          <a:xfrm>
            <a:off x="10029661" y="22128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221685" y="1783080"/>
            <a:ext cx="1436914" cy="1097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model_metrics.json</a:t>
            </a:r>
          </a:p>
        </p:txBody>
      </p:sp>
      <p:sp>
        <p:nvSpPr>
          <p:cNvPr id="20" name="TextBox 19"/>
          <p:cNvSpPr txBox="1"/>
          <p:nvPr/>
        </p:nvSpPr>
        <p:spPr>
          <a:xfrm>
            <a:off x="502920" y="3200400"/>
            <a:ext cx="11155680" cy="3017520"/>
          </a:xfrm>
          <a:prstGeom prst="rect">
            <a:avLst/>
          </a:prstGeom>
          <a:noFill/>
        </p:spPr>
        <p:txBody>
          <a:bodyPr wrap="square" lIns="0" rIns="0" tIns="0" bIns="0" anchor="t">
            <a:spAutoFit/>
          </a:bodyPr>
          <a:lstStyle/>
          <a:p>
            <a:pPr algn="l" marL="256032" indent="-201168">
              <a:spcAft>
                <a:spcPts val="1000"/>
              </a:spcAft>
              <a:buChar char="•"/>
            </a:pPr>
            <a:r>
              <a:rPr sz="1800" b="0" i="0">
                <a:solidFill>
                  <a:srgbClr val="222222"/>
                </a:solidFill>
                <a:latin typeface="Calibri"/>
                <a:ea typeface="Calibri"/>
                <a:cs typeface="Calibri"/>
              </a:rPr>
              <a:t>Data: 2,200 learners x 12 weeks = 26,400 rows; split by learner 80 / 10 / 10 so no learner is in two sets; seed 42.</a:t>
            </a:r>
          </a:p>
          <a:p>
            <a:pPr algn="l" marL="256032" indent="-201168">
              <a:spcAft>
                <a:spcPts val="1000"/>
              </a:spcAft>
              <a:buChar char="•"/>
            </a:pPr>
            <a:r>
              <a:rPr sz="1800" b="0" i="0">
                <a:solidFill>
                  <a:srgbClr val="222222"/>
                </a:solidFill>
                <a:latin typeface="Calibri"/>
                <a:ea typeface="Calibri"/>
                <a:cs typeface="Calibri"/>
              </a:rPr>
              <a:t>Success model chosen by validation AUC; uplift = P(success | action) - P(success | no action), one T-learner pair per action.</a:t>
            </a:r>
          </a:p>
          <a:p>
            <a:pPr algn="l" marL="256032" indent="-201168">
              <a:spcAft>
                <a:spcPts val="1000"/>
              </a:spcAft>
              <a:buChar char="•"/>
            </a:pPr>
            <a:r>
              <a:rPr sz="1800" b="0" i="0">
                <a:solidFill>
                  <a:srgbClr val="222222"/>
                </a:solidFill>
                <a:latin typeface="Calibri"/>
                <a:ea typeface="Calibri"/>
                <a:cs typeface="Calibri"/>
              </a:rPr>
              <a:t>Extra experiments added for the documents: six-seed re-run, ceiling check, weight ablation, 10-persona ranking check, feedback-loop test, latency.</a:t>
            </a:r>
          </a:p>
          <a:p>
            <a:pPr algn="l" marL="256032" indent="-201168">
              <a:spcAft>
                <a:spcPts val="400"/>
              </a:spcAft>
              <a:buChar char="•"/>
            </a:pPr>
            <a:r>
              <a:rPr sz="1800" b="0" i="0">
                <a:solidFill>
                  <a:srgbClr val="222222"/>
                </a:solidFill>
                <a:latin typeface="Calibri"/>
                <a:ea typeface="Calibri"/>
                <a:cs typeface="Calibri"/>
              </a:rPr>
              <a:t>Every number on these slides is read from files written by the scripts.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Dataset, Features &amp; Model</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sp>
        <p:nvSpPr>
          <p:cNvPr id="7" name="Rounded Rectangle 6"/>
          <p:cNvSpPr/>
          <p:nvPr/>
        </p:nvSpPr>
        <p:spPr>
          <a:xfrm>
            <a:off x="50292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26,400</a:t>
            </a:r>
          </a:p>
        </p:txBody>
      </p:sp>
      <p:sp>
        <p:nvSpPr>
          <p:cNvPr id="10" name="TextBox 9"/>
          <p:cNvSpPr txBox="1"/>
          <p:nvPr/>
        </p:nvSpPr>
        <p:spPr>
          <a:xfrm>
            <a:off x="68580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synthetic learner-week rows</a:t>
            </a:r>
          </a:p>
        </p:txBody>
      </p:sp>
      <p:sp>
        <p:nvSpPr>
          <p:cNvPr id="11" name="Rounded Rectangle 10"/>
          <p:cNvSpPr/>
          <p:nvPr/>
        </p:nvSpPr>
        <p:spPr>
          <a:xfrm>
            <a:off x="502920" y="2880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02920" y="288036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293522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8</a:t>
            </a:r>
          </a:p>
        </p:txBody>
      </p:sp>
      <p:sp>
        <p:nvSpPr>
          <p:cNvPr id="14" name="TextBox 13"/>
          <p:cNvSpPr txBox="1"/>
          <p:nvPr/>
        </p:nvSpPr>
        <p:spPr>
          <a:xfrm>
            <a:off x="685800" y="3463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features per learner-week</a:t>
            </a:r>
          </a:p>
        </p:txBody>
      </p:sp>
      <p:sp>
        <p:nvSpPr>
          <p:cNvPr id="15" name="Rounded Rectangle 14"/>
          <p:cNvSpPr/>
          <p:nvPr/>
        </p:nvSpPr>
        <p:spPr>
          <a:xfrm>
            <a:off x="502920" y="4023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2920" y="402336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 y="407822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24</a:t>
            </a:r>
          </a:p>
        </p:txBody>
      </p:sp>
      <p:sp>
        <p:nvSpPr>
          <p:cNvPr id="18" name="TextBox 17"/>
          <p:cNvSpPr txBox="1"/>
          <p:nvPr/>
        </p:nvSpPr>
        <p:spPr>
          <a:xfrm>
            <a:off x="685800" y="4606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hand-written courses, 9 categories</a:t>
            </a:r>
          </a:p>
        </p:txBody>
      </p:sp>
      <p:pic>
        <p:nvPicPr>
          <p:cNvPr id="19" name="Picture 18" descr="fig_data_profile.png"/>
          <p:cNvPicPr>
            <a:picLocks noChangeAspect="1"/>
          </p:cNvPicPr>
          <p:nvPr/>
        </p:nvPicPr>
        <p:blipFill>
          <a:blip r:embed="rId4"/>
          <a:stretch>
            <a:fillRect/>
          </a:stretch>
        </p:blipFill>
        <p:spPr>
          <a:xfrm>
            <a:off x="3383280" y="2179853"/>
            <a:ext cx="4480560" cy="1492452"/>
          </a:xfrm>
          <a:prstGeom prst="rect">
            <a:avLst/>
          </a:prstGeom>
        </p:spPr>
      </p:pic>
      <p:graphicFrame>
        <p:nvGraphicFramePr>
          <p:cNvPr id="20" name="Table 19"/>
          <p:cNvGraphicFramePr>
            <a:graphicFrameLocks noGrp="1"/>
          </p:cNvGraphicFramePr>
          <p:nvPr/>
        </p:nvGraphicFramePr>
        <p:xfrm>
          <a:off x="8092440" y="1737360"/>
          <a:ext cx="3657600" cy="3044952"/>
        </p:xfrm>
        <a:graphic>
          <a:graphicData uri="http://schemas.openxmlformats.org/drawingml/2006/table">
            <a:tbl>
              <a:tblPr firstRow="0" bandRow="0">
                <a:tableStyleId>{5C22544A-7EE6-4342-B048-85BDC9FD1C3A}</a:tableStyleId>
              </a:tblPr>
              <a:tblGrid>
                <a:gridCol w="2103120"/>
                <a:gridCol w="1554480"/>
              </a:tblGrid>
              <a:tr h="338328">
                <a:tc>
                  <a:txBody>
                    <a:bodyPr wrap="square"/>
                    <a:lstStyle/>
                    <a:p>
                      <a:pPr algn="ctr"/>
                      <a:r>
                        <a:rPr sz="1100" b="1">
                          <a:solidFill>
                            <a:srgbClr val="1F3864"/>
                          </a:solidFill>
                          <a:latin typeface="Calibri"/>
                          <a:ea typeface="Calibri"/>
                          <a:cs typeface="Calibri"/>
                        </a:rPr>
                        <a:t>Feature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Corr. with success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338328">
                <a:tc>
                  <a:txBody>
                    <a:bodyPr wrap="square"/>
                    <a:lstStyle/>
                    <a:p>
                      <a:pPr algn="l"/>
                      <a:r>
                        <a:rPr sz="1100" b="1">
                          <a:solidFill>
                            <a:srgbClr val="222222"/>
                          </a:solidFill>
                          <a:latin typeface="Calibri"/>
                          <a:ea typeface="Calibri"/>
                          <a:cs typeface="Calibri"/>
                        </a:rPr>
                        <a:t>cum_clicks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0.138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38328">
                <a:tc>
                  <a:txBody>
                    <a:bodyPr wrap="square"/>
                    <a:lstStyle/>
                    <a:p>
                      <a:pPr algn="l"/>
                      <a:r>
                        <a:rPr sz="1100" b="1">
                          <a:solidFill>
                            <a:srgbClr val="222222"/>
                          </a:solidFill>
                          <a:latin typeface="Calibri"/>
                          <a:ea typeface="Calibri"/>
                          <a:cs typeface="Calibri"/>
                        </a:rPr>
                        <a:t>recent_clicks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0.183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38328">
                <a:tc>
                  <a:txBody>
                    <a:bodyPr wrap="square"/>
                    <a:lstStyle/>
                    <a:p>
                      <a:pPr algn="l"/>
                      <a:r>
                        <a:rPr sz="1100" b="1">
                          <a:solidFill>
                            <a:srgbClr val="222222"/>
                          </a:solidFill>
                          <a:latin typeface="Calibri"/>
                          <a:ea typeface="Calibri"/>
                          <a:cs typeface="Calibri"/>
                        </a:rPr>
                        <a:t>quiz_count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0.054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38328">
                <a:tc>
                  <a:txBody>
                    <a:bodyPr wrap="square"/>
                    <a:lstStyle/>
                    <a:p>
                      <a:pPr algn="l"/>
                      <a:r>
                        <a:rPr sz="1100" b="1">
                          <a:solidFill>
                            <a:srgbClr val="222222"/>
                          </a:solidFill>
                          <a:latin typeface="Calibri"/>
                          <a:ea typeface="Calibri"/>
                          <a:cs typeface="Calibri"/>
                        </a:rPr>
                        <a:t>forum_count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0.002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38328">
                <a:tc>
                  <a:txBody>
                    <a:bodyPr wrap="square"/>
                    <a:lstStyle/>
                    <a:p>
                      <a:pPr algn="l"/>
                      <a:r>
                        <a:rPr sz="1100" b="1">
                          <a:solidFill>
                            <a:srgbClr val="222222"/>
                          </a:solidFill>
                          <a:latin typeface="Calibri"/>
                          <a:ea typeface="Calibri"/>
                          <a:cs typeface="Calibri"/>
                        </a:rPr>
                        <a:t>completions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0.058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38328">
                <a:tc>
                  <a:txBody>
                    <a:bodyPr wrap="square"/>
                    <a:lstStyle/>
                    <a:p>
                      <a:pPr algn="l"/>
                      <a:r>
                        <a:rPr sz="1100" b="1">
                          <a:solidFill>
                            <a:srgbClr val="222222"/>
                          </a:solidFill>
                          <a:latin typeface="Calibri"/>
                          <a:ea typeface="Calibri"/>
                          <a:cs typeface="Calibri"/>
                        </a:rPr>
                        <a:t>engagement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0.182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38328">
                <a:tc>
                  <a:txBody>
                    <a:bodyPr wrap="square"/>
                    <a:lstStyle/>
                    <a:p>
                      <a:pPr algn="l"/>
                      <a:r>
                        <a:rPr sz="1100" b="1">
                          <a:solidFill>
                            <a:srgbClr val="222222"/>
                          </a:solidFill>
                          <a:latin typeface="Calibri"/>
                          <a:ea typeface="Calibri"/>
                          <a:cs typeface="Calibri"/>
                        </a:rPr>
                        <a:t>weekly_hours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0.044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38328">
                <a:tc>
                  <a:txBody>
                    <a:bodyPr wrap="square"/>
                    <a:lstStyle/>
                    <a:p>
                      <a:pPr algn="l"/>
                      <a:r>
                        <a:rPr sz="1100" b="1">
                          <a:solidFill>
                            <a:srgbClr val="222222"/>
                          </a:solidFill>
                          <a:latin typeface="Calibri"/>
                          <a:ea typeface="Calibri"/>
                          <a:cs typeface="Calibri"/>
                        </a:rPr>
                        <a:t>skill_code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0.099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21" name="TextBox 20"/>
          <p:cNvSpPr txBox="1"/>
          <p:nvPr/>
        </p:nvSpPr>
        <p:spPr>
          <a:xfrm>
            <a:off x="3383280" y="4343400"/>
            <a:ext cx="4572000" cy="1920240"/>
          </a:xfrm>
          <a:prstGeom prst="rect">
            <a:avLst/>
          </a:prstGeom>
          <a:noFill/>
        </p:spPr>
        <p:txBody>
          <a:bodyPr wrap="square" lIns="0" rIns="0" tIns="0" bIns="0" anchor="t">
            <a:spAutoFit/>
          </a:bodyPr>
          <a:lstStyle/>
          <a:p>
            <a:pPr algn="l" marL="256032" indent="-201168">
              <a:spcAft>
                <a:spcPts val="400"/>
              </a:spcAft>
              <a:buChar char="•"/>
            </a:pPr>
            <a:r>
              <a:rPr sz="1400" b="0" i="0">
                <a:solidFill>
                  <a:srgbClr val="222222"/>
                </a:solidFill>
                <a:latin typeface="Calibri"/>
                <a:ea typeface="Calibri"/>
                <a:cs typeface="Calibri"/>
              </a:rPr>
              <a:t>Train 21,120 / validation 2,640 / test 2,640 rows.</a:t>
            </a:r>
          </a:p>
          <a:p>
            <a:pPr algn="l" marL="256032" indent="-201168">
              <a:spcAft>
                <a:spcPts val="400"/>
              </a:spcAft>
              <a:buChar char="•"/>
            </a:pPr>
            <a:r>
              <a:rPr sz="1400" b="0" i="0">
                <a:solidFill>
                  <a:srgbClr val="222222"/>
                </a:solidFill>
                <a:latin typeface="Calibri"/>
                <a:ea typeface="Calibri"/>
                <a:cs typeface="Calibri"/>
              </a:rPr>
              <a:t>Success rate 44.0%; label depends on a hidden assessment score that the model never sees.</a:t>
            </a:r>
          </a:p>
          <a:p>
            <a:pPr algn="l" marL="256032" indent="-201168">
              <a:spcAft>
                <a:spcPts val="400"/>
              </a:spcAft>
              <a:buChar char="•"/>
            </a:pPr>
            <a:r>
              <a:rPr sz="1400" b="0" i="0">
                <a:solidFill>
                  <a:srgbClr val="222222"/>
                </a:solidFill>
                <a:latin typeface="Calibri"/>
                <a:ea typeface="Calibri"/>
                <a:cs typeface="Calibri"/>
              </a:rPr>
              <a:t>The real OULAD was not downloaded or used.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Decision Workflow</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pic>
        <p:nvPicPr>
          <p:cNvPr id="7" name="Picture 6" descr="10_core_algorithm_flowchart.png"/>
          <p:cNvPicPr>
            <a:picLocks noChangeAspect="1"/>
          </p:cNvPicPr>
          <p:nvPr/>
        </p:nvPicPr>
        <p:blipFill>
          <a:blip r:embed="rId2"/>
          <a:stretch>
            <a:fillRect/>
          </a:stretch>
        </p:blipFill>
        <p:spPr>
          <a:xfrm>
            <a:off x="678457" y="1645920"/>
            <a:ext cx="4403805" cy="4663440"/>
          </a:xfrm>
          <a:prstGeom prst="rect">
            <a:avLst/>
          </a:prstGeom>
        </p:spPr>
      </p:pic>
      <p:sp>
        <p:nvSpPr>
          <p:cNvPr id="8" name="TextBox 7"/>
          <p:cNvSpPr txBox="1"/>
          <p:nvPr/>
        </p:nvSpPr>
        <p:spPr>
          <a:xfrm>
            <a:off x="5486400" y="1828800"/>
            <a:ext cx="6217920" cy="4389120"/>
          </a:xfrm>
          <a:prstGeom prst="rect">
            <a:avLst/>
          </a:prstGeom>
          <a:noFill/>
        </p:spPr>
        <p:txBody>
          <a:bodyPr wrap="square" lIns="0" rIns="0" tIns="0" bIns="0" anchor="t">
            <a:spAutoFit/>
          </a:bodyPr>
          <a:lstStyle/>
          <a:p>
            <a:pPr algn="l" marL="256032" indent="-201168">
              <a:spcAft>
                <a:spcPts val="1200"/>
              </a:spcAft>
              <a:buChar char="•"/>
            </a:pPr>
            <a:r>
              <a:rPr sz="1800" b="0" i="0">
                <a:solidFill>
                  <a:srgbClr val="222222"/>
                </a:solidFill>
                <a:latin typeface="Calibri"/>
                <a:ea typeface="Calibri"/>
                <a:cs typeface="Calibri"/>
              </a:rPr>
              <a:t>Authenticate: token to user; 401 if missing or invalid.</a:t>
            </a:r>
          </a:p>
          <a:p>
            <a:pPr algn="l" marL="256032" indent="-201168">
              <a:spcAft>
                <a:spcPts val="1200"/>
              </a:spcAft>
              <a:buChar char="•"/>
            </a:pPr>
            <a:r>
              <a:rPr sz="1800" b="0" i="0">
                <a:solidFill>
                  <a:srgbClr val="222222"/>
                </a:solidFill>
                <a:latin typeface="Calibri"/>
                <a:ea typeface="Calibri"/>
                <a:cs typeface="Calibri"/>
              </a:rPr>
              <a:t>Estimate: engagement score, learner state vector, success probability, uplift per action.</a:t>
            </a:r>
          </a:p>
          <a:p>
            <a:pPr algn="l" marL="256032" indent="-201168">
              <a:spcAft>
                <a:spcPts val="1200"/>
              </a:spcAft>
              <a:buChar char="•"/>
            </a:pPr>
            <a:r>
              <a:rPr sz="1800" b="0" i="0">
                <a:solidFill>
                  <a:srgbClr val="222222"/>
                </a:solidFill>
                <a:latin typeface="Calibri"/>
                <a:ea typeface="Calibri"/>
                <a:cs typeface="Calibri"/>
              </a:rPr>
              <a:t>Score: eight terms per course, clipped to [0, 1], sorted, top-N kept.</a:t>
            </a:r>
          </a:p>
          <a:p>
            <a:pPr algn="l" marL="256032" indent="-201168">
              <a:spcAft>
                <a:spcPts val="1200"/>
              </a:spcAft>
              <a:buChar char="•"/>
            </a:pPr>
            <a:r>
              <a:rPr sz="1800" b="0" i="0">
                <a:solidFill>
                  <a:srgbClr val="222222"/>
                </a:solidFill>
                <a:latin typeface="Calibri"/>
                <a:ea typeface="Calibri"/>
                <a:cs typeface="Calibri"/>
              </a:rPr>
              <a:t>Explain: up to three reasons per card; the best action is the arg-max of the estimated benefit.</a:t>
            </a:r>
          </a:p>
          <a:p>
            <a:pPr algn="l" marL="256032" indent="-201168">
              <a:spcAft>
                <a:spcPts val="400"/>
              </a:spcAft>
              <a:buChar char="•"/>
            </a:pPr>
            <a:r>
              <a:rPr sz="1800" b="0" i="0">
                <a:solidFill>
                  <a:srgbClr val="222222"/>
                </a:solidFill>
                <a:latin typeface="Calibri"/>
                <a:ea typeface="Calibri"/>
                <a:cs typeface="Calibri"/>
              </a:rPr>
              <a:t>Log: one recommendation_logs row per card.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User – System Interaction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pic>
        <p:nvPicPr>
          <p:cNvPr id="7" name="Picture 6" descr="07_sequence_diagram.png"/>
          <p:cNvPicPr>
            <a:picLocks noChangeAspect="1"/>
          </p:cNvPicPr>
          <p:nvPr/>
        </p:nvPicPr>
        <p:blipFill>
          <a:blip r:embed="rId2"/>
          <a:stretch>
            <a:fillRect/>
          </a:stretch>
        </p:blipFill>
        <p:spPr>
          <a:xfrm>
            <a:off x="1362799" y="1645920"/>
            <a:ext cx="4955361" cy="4663439"/>
          </a:xfrm>
          <a:prstGeom prst="rect">
            <a:avLst/>
          </a:prstGeom>
        </p:spPr>
      </p:pic>
      <p:pic>
        <p:nvPicPr>
          <p:cNvPr id="8" name="Picture 7" descr="08_use_case_diagram.png"/>
          <p:cNvPicPr>
            <a:picLocks noChangeAspect="1"/>
          </p:cNvPicPr>
          <p:nvPr/>
        </p:nvPicPr>
        <p:blipFill>
          <a:blip r:embed="rId5"/>
          <a:stretch>
            <a:fillRect/>
          </a:stretch>
        </p:blipFill>
        <p:spPr>
          <a:xfrm>
            <a:off x="7406640" y="2204020"/>
            <a:ext cx="4297680" cy="354723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Database Design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pic>
        <p:nvPicPr>
          <p:cNvPr id="7" name="Picture 6" descr="09_er_diagram.png"/>
          <p:cNvPicPr>
            <a:picLocks noChangeAspect="1"/>
          </p:cNvPicPr>
          <p:nvPr/>
        </p:nvPicPr>
        <p:blipFill>
          <a:blip r:embed="rId2"/>
          <a:stretch>
            <a:fillRect/>
          </a:stretch>
        </p:blipFill>
        <p:spPr>
          <a:xfrm>
            <a:off x="502920" y="1958779"/>
            <a:ext cx="6309360" cy="4037720"/>
          </a:xfrm>
          <a:prstGeom prst="rect">
            <a:avLst/>
          </a:prstGeom>
        </p:spPr>
      </p:pic>
      <p:graphicFrame>
        <p:nvGraphicFramePr>
          <p:cNvPr id="8" name="Table 7"/>
          <p:cNvGraphicFramePr>
            <a:graphicFrameLocks noGrp="1"/>
          </p:cNvGraphicFramePr>
          <p:nvPr/>
        </p:nvGraphicFramePr>
        <p:xfrm>
          <a:off x="7040880" y="1737360"/>
          <a:ext cx="4663440" cy="3968496"/>
        </p:xfrm>
        <a:graphic>
          <a:graphicData uri="http://schemas.openxmlformats.org/drawingml/2006/table">
            <a:tbl>
              <a:tblPr firstRow="0" bandRow="0">
                <a:tableStyleId>{5C22544A-7EE6-4342-B048-85BDC9FD1C3A}</a:tableStyleId>
              </a:tblPr>
              <a:tblGrid>
                <a:gridCol w="1737360"/>
                <a:gridCol w="2926080"/>
              </a:tblGrid>
              <a:tr h="566928">
                <a:tc>
                  <a:txBody>
                    <a:bodyPr wrap="square"/>
                    <a:lstStyle/>
                    <a:p>
                      <a:pPr algn="ctr"/>
                      <a:r>
                        <a:rPr sz="1200" b="1">
                          <a:solidFill>
                            <a:srgbClr val="1F3864"/>
                          </a:solidFill>
                          <a:latin typeface="Calibri"/>
                          <a:ea typeface="Calibri"/>
                          <a:cs typeface="Calibri"/>
                        </a:rPr>
                        <a:t>Table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Role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1200" b="1">
                          <a:solidFill>
                            <a:srgbClr val="222222"/>
                          </a:solidFill>
                          <a:latin typeface="Calibri"/>
                          <a:ea typeface="Calibri"/>
                          <a:cs typeface="Calibri"/>
                        </a:rPr>
                        <a:t>users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name, unique email, password hash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200" b="1">
                          <a:solidFill>
                            <a:srgbClr val="222222"/>
                          </a:solidFill>
                          <a:latin typeface="Calibri"/>
                          <a:ea typeface="Calibri"/>
                          <a:cs typeface="Calibri"/>
                        </a:rPr>
                        <a:t>profiles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1:1 with user: level, interests, goals, hours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200" b="1">
                          <a:solidFill>
                            <a:srgbClr val="222222"/>
                          </a:solidFill>
                          <a:latin typeface="Calibri"/>
                          <a:ea typeface="Calibri"/>
                          <a:cs typeface="Calibri"/>
                        </a:rPr>
                        <a:t>courses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24 seeded courses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200" b="1">
                          <a:solidFill>
                            <a:srgbClr val="222222"/>
                          </a:solidFill>
                          <a:latin typeface="Calibri"/>
                          <a:ea typeface="Calibri"/>
                          <a:cs typeface="Calibri"/>
                        </a:rPr>
                        <a:t>interactions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view, open, start, quiz, content, forum, complete, dismiss, save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200" b="1">
                          <a:solidFill>
                            <a:srgbClr val="222222"/>
                          </a:solidFill>
                          <a:latin typeface="Calibri"/>
                          <a:ea typeface="Calibri"/>
                          <a:cs typeface="Calibri"/>
                        </a:rPr>
                        <a:t>recommendation_logs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score and explanation per card shown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200" b="1">
                          <a:solidFill>
                            <a:srgbClr val="222222"/>
                          </a:solidFill>
                          <a:latin typeface="Calibri"/>
                          <a:ea typeface="Calibri"/>
                          <a:cs typeface="Calibri"/>
                        </a:rPr>
                        <a:t>auth_tokens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session tokens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Implementation Highlights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sp>
        <p:nvSpPr>
          <p:cNvPr id="7" name="Rounded Rectangle 6"/>
          <p:cNvSpPr/>
          <p:nvPr/>
        </p:nvSpPr>
        <p:spPr>
          <a:xfrm>
            <a:off x="50292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18</a:t>
            </a:r>
          </a:p>
        </p:txBody>
      </p:sp>
      <p:sp>
        <p:nvSpPr>
          <p:cNvPr id="10" name="TextBox 9"/>
          <p:cNvSpPr txBox="1"/>
          <p:nvPr/>
        </p:nvSpPr>
        <p:spPr>
          <a:xfrm>
            <a:off x="68580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JSON routes under /api</a:t>
            </a:r>
          </a:p>
        </p:txBody>
      </p:sp>
      <p:sp>
        <p:nvSpPr>
          <p:cNvPr id="11" name="Rounded Rectangle 10"/>
          <p:cNvSpPr/>
          <p:nvPr/>
        </p:nvSpPr>
        <p:spPr>
          <a:xfrm>
            <a:off x="333756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73736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5</a:t>
            </a:r>
          </a:p>
        </p:txBody>
      </p:sp>
      <p:sp>
        <p:nvSpPr>
          <p:cNvPr id="14" name="TextBox 13"/>
          <p:cNvSpPr txBox="1"/>
          <p:nvPr/>
        </p:nvSpPr>
        <p:spPr>
          <a:xfrm>
            <a:off x="352044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pytest tests passed</a:t>
            </a:r>
          </a:p>
        </p:txBody>
      </p:sp>
      <p:sp>
        <p:nvSpPr>
          <p:cNvPr id="15" name="Rounded Rectangle 14"/>
          <p:cNvSpPr/>
          <p:nvPr/>
        </p:nvSpPr>
        <p:spPr>
          <a:xfrm>
            <a:off x="617220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73736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12</a:t>
            </a:r>
          </a:p>
        </p:txBody>
      </p:sp>
      <p:sp>
        <p:nvSpPr>
          <p:cNvPr id="18" name="TextBox 17"/>
          <p:cNvSpPr txBox="1"/>
          <p:nvPr/>
        </p:nvSpPr>
        <p:spPr>
          <a:xfrm>
            <a:off x="635508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React pages</a:t>
            </a:r>
          </a:p>
        </p:txBody>
      </p:sp>
      <p:sp>
        <p:nvSpPr>
          <p:cNvPr id="19" name="Rounded Rectangle 18"/>
          <p:cNvSpPr/>
          <p:nvPr/>
        </p:nvSpPr>
        <p:spPr>
          <a:xfrm>
            <a:off x="9006840" y="173736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73736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9222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33 ms</a:t>
            </a:r>
          </a:p>
        </p:txBody>
      </p:sp>
      <p:sp>
        <p:nvSpPr>
          <p:cNvPr id="22" name="TextBox 21"/>
          <p:cNvSpPr txBox="1"/>
          <p:nvPr/>
        </p:nvSpPr>
        <p:spPr>
          <a:xfrm>
            <a:off x="9189720" y="232074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recommendations, mean (n=30)</a:t>
            </a:r>
          </a:p>
        </p:txBody>
      </p:sp>
      <p:sp>
        <p:nvSpPr>
          <p:cNvPr id="23" name="TextBox 22"/>
          <p:cNvSpPr txBox="1"/>
          <p:nvPr/>
        </p:nvSpPr>
        <p:spPr>
          <a:xfrm>
            <a:off x="502920" y="3017520"/>
            <a:ext cx="11155680" cy="3200400"/>
          </a:xfrm>
          <a:prstGeom prst="rect">
            <a:avLst/>
          </a:prstGeom>
          <a:noFill/>
        </p:spPr>
        <p:txBody>
          <a:bodyPr wrap="square" lIns="0" rIns="0" tIns="0" bIns="0" anchor="t">
            <a:spAutoFit/>
          </a:bodyPr>
          <a:lstStyle/>
          <a:p>
            <a:pPr algn="l" marL="256032" indent="-201168">
              <a:spcAft>
                <a:spcPts val="900"/>
              </a:spcAft>
              <a:buChar char="•"/>
            </a:pPr>
            <a:r>
              <a:rPr sz="1800" b="0" i="0">
                <a:solidFill>
                  <a:srgbClr val="222222"/>
                </a:solidFill>
                <a:latin typeface="Calibri"/>
                <a:ea typeface="Calibri"/>
                <a:cs typeface="Calibri"/>
              </a:rPr>
              <a:t>pbkdf2_sha256 password hashes, random session tokens stored server-side, HttpOnly cookie (72 h) or X-Token header, Pydantic validation, ORM parameterised queries.</a:t>
            </a:r>
          </a:p>
          <a:p>
            <a:pPr algn="l" marL="256032" indent="-201168">
              <a:spcAft>
                <a:spcPts val="900"/>
              </a:spcAft>
              <a:buChar char="•"/>
            </a:pPr>
            <a:r>
              <a:rPr sz="1800" b="0" i="0">
                <a:solidFill>
                  <a:srgbClr val="222222"/>
                </a:solidFill>
                <a:latin typeface="Calibri"/>
                <a:ea typeface="Calibri"/>
                <a:cs typeface="Calibri"/>
              </a:rPr>
              <a:t>Feedback loop tested: after six events the ML101 score rose from 0.487 to 0.551 and the dismissed DA101 fell from rank 3 to 4.</a:t>
            </a:r>
          </a:p>
          <a:p>
            <a:pPr algn="l" marL="256032" indent="-201168">
              <a:spcAft>
                <a:spcPts val="900"/>
              </a:spcAft>
              <a:buChar char="•"/>
            </a:pPr>
            <a:r>
              <a:rPr sz="1800" b="0" i="0">
                <a:solidFill>
                  <a:srgbClr val="222222"/>
                </a:solidFill>
                <a:latin typeface="Calibri"/>
                <a:ea typeface="Calibri"/>
                <a:cs typeface="Calibri"/>
              </a:rPr>
              <a:t>Model analytics page shows model table, confusion matrices, ROC, offline policy values and the fairness audit from the saved metrics.</a:t>
            </a:r>
          </a:p>
          <a:p>
            <a:pPr algn="l" marL="256032" indent="-201168">
              <a:spcAft>
                <a:spcPts val="400"/>
              </a:spcAft>
              <a:buChar char="•"/>
            </a:pPr>
            <a:r>
              <a:rPr sz="1800" b="0" i="0">
                <a:solidFill>
                  <a:srgbClr val="222222"/>
                </a:solidFill>
                <a:latin typeface="Calibri"/>
                <a:ea typeface="Calibri"/>
                <a:cs typeface="Calibri"/>
              </a:rPr>
              <a:t>No caching: TF-IDF is refitted over 25 documents on every request; SQLite single node; demo-grade authentication.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Success Model &amp; Ranking Quality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graphicFrame>
        <p:nvGraphicFramePr>
          <p:cNvPr id="7" name="Table 6"/>
          <p:cNvGraphicFramePr>
            <a:graphicFrameLocks noGrp="1"/>
          </p:cNvGraphicFramePr>
          <p:nvPr/>
        </p:nvGraphicFramePr>
        <p:xfrm>
          <a:off x="502920" y="1691640"/>
          <a:ext cx="6903720" cy="1645920"/>
        </p:xfrm>
        <a:graphic>
          <a:graphicData uri="http://schemas.openxmlformats.org/drawingml/2006/table">
            <a:tbl>
              <a:tblPr firstRow="0" bandRow="0">
                <a:tableStyleId>{5C22544A-7EE6-4342-B048-85BDC9FD1C3A}</a:tableStyleId>
              </a:tblPr>
              <a:tblGrid>
                <a:gridCol w="2834640"/>
                <a:gridCol w="868680"/>
                <a:gridCol w="868680"/>
                <a:gridCol w="868680"/>
                <a:gridCol w="731520"/>
                <a:gridCol w="731520"/>
              </a:tblGrid>
              <a:tr h="411480">
                <a:tc>
                  <a:txBody>
                    <a:bodyPr wrap="square"/>
                    <a:lstStyle/>
                    <a:p>
                      <a:pPr algn="ctr"/>
                      <a:r>
                        <a:rPr sz="1200" b="1">
                          <a:solidFill>
                            <a:srgbClr val="1F3864"/>
                          </a:solidFill>
                          <a:latin typeface="Calibri"/>
                          <a:ea typeface="Calibri"/>
                          <a:cs typeface="Calibri"/>
                        </a:rPr>
                        <a:t>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Val AUC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Test AUC</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Accuracy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F1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Brier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411480">
                <a:tc>
                  <a:txBody>
                    <a:bodyPr wrap="square"/>
                    <a:lstStyle/>
                    <a:p>
                      <a:pPr algn="l"/>
                      <a:r>
                        <a:rPr sz="1200" b="1">
                          <a:solidFill>
                            <a:srgbClr val="222222"/>
                          </a:solidFill>
                          <a:latin typeface="Calibri"/>
                          <a:ea typeface="Calibri"/>
                          <a:cs typeface="Calibri"/>
                        </a:rPr>
                        <a:t>Logistic Regression (selected)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0.604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0.603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0.594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0.415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0.238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411480">
                <a:tc>
                  <a:txBody>
                    <a:bodyPr wrap="square"/>
                    <a:lstStyle/>
                    <a:p>
                      <a:pPr algn="l"/>
                      <a:r>
                        <a:rPr sz="1200" b="1">
                          <a:solidFill>
                            <a:srgbClr val="222222"/>
                          </a:solidFill>
                          <a:latin typeface="Calibri"/>
                          <a:ea typeface="Calibri"/>
                          <a:cs typeface="Calibri"/>
                        </a:rPr>
                        <a:t>Random Forest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0.555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0.544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0.531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0.446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200" b="0">
                          <a:solidFill>
                            <a:srgbClr val="222222"/>
                          </a:solidFill>
                          <a:latin typeface="Calibri"/>
                          <a:ea typeface="Calibri"/>
                          <a:cs typeface="Calibri"/>
                        </a:rPr>
                        <a:t>0.284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411480">
                <a:tc>
                  <a:txBody>
                    <a:bodyPr wrap="square"/>
                    <a:lstStyle/>
                    <a:p>
                      <a:pPr algn="l"/>
                      <a:r>
                        <a:rPr sz="1200" b="1">
                          <a:solidFill>
                            <a:srgbClr val="222222"/>
                          </a:solidFill>
                          <a:latin typeface="Calibri"/>
                          <a:ea typeface="Calibri"/>
                          <a:cs typeface="Calibri"/>
                        </a:rPr>
                        <a:t>XGBoost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0.601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0.599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0.596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0.444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200" b="0">
                          <a:solidFill>
                            <a:srgbClr val="222222"/>
                          </a:solidFill>
                          <a:latin typeface="Calibri"/>
                          <a:ea typeface="Calibri"/>
                          <a:cs typeface="Calibri"/>
                        </a:rPr>
                        <a:t>0.240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8" name="TextBox 7"/>
          <p:cNvSpPr txBox="1"/>
          <p:nvPr/>
        </p:nvSpPr>
        <p:spPr>
          <a:xfrm>
            <a:off x="502920" y="3474720"/>
            <a:ext cx="6949440" cy="2743200"/>
          </a:xfrm>
          <a:prstGeom prst="rect">
            <a:avLst/>
          </a:prstGeom>
          <a:noFill/>
        </p:spPr>
        <p:txBody>
          <a:bodyPr wrap="square" lIns="0" rIns="0" tIns="0" bIns="0" anchor="t">
            <a:spAutoFit/>
          </a:bodyPr>
          <a:lstStyle/>
          <a:p>
            <a:pPr algn="l" marL="256032" indent="-201168">
              <a:spcAft>
                <a:spcPts val="700"/>
              </a:spcAft>
              <a:buChar char="•"/>
            </a:pPr>
            <a:r>
              <a:rPr sz="1400" b="0" i="0">
                <a:solidFill>
                  <a:srgbClr val="222222"/>
                </a:solidFill>
                <a:latin typeface="Calibri"/>
                <a:ea typeface="Calibri"/>
                <a:cs typeface="Calibri"/>
              </a:rPr>
              <a:t>Held-out test: 2,640 learner-weeks (220 learners); chance AUC is 0.5.</a:t>
            </a:r>
          </a:p>
          <a:p>
            <a:pPr algn="l" marL="256032" indent="-201168">
              <a:spcAft>
                <a:spcPts val="700"/>
              </a:spcAft>
              <a:buChar char="•"/>
            </a:pPr>
            <a:r>
              <a:rPr sz="1400" b="0" i="0">
                <a:solidFill>
                  <a:srgbClr val="222222"/>
                </a:solidFill>
                <a:latin typeface="Calibri"/>
                <a:ea typeface="Calibri"/>
                <a:cs typeface="Calibri"/>
              </a:rPr>
              <a:t>Six seeds: LR 0.614 +- 0.012, RF 0.551, XGBoost 0.606.</a:t>
            </a:r>
          </a:p>
          <a:p>
            <a:pPr algn="l" marL="256032" indent="-201168">
              <a:spcAft>
                <a:spcPts val="700"/>
              </a:spcAft>
              <a:buChar char="•"/>
            </a:pPr>
            <a:r>
              <a:rPr sz="1400" b="0" i="0">
                <a:solidFill>
                  <a:srgbClr val="222222"/>
                </a:solidFill>
                <a:latin typeface="Calibri"/>
                <a:ea typeface="Calibri"/>
                <a:cs typeface="Calibri"/>
              </a:rPr>
              <a:t>With the hidden assessment score added, AUC rises to 0.80: the weak signal comes from the generated label.</a:t>
            </a:r>
          </a:p>
          <a:p>
            <a:pPr algn="l" marL="256032" indent="-201168">
              <a:spcAft>
                <a:spcPts val="400"/>
              </a:spcAft>
              <a:buChar char="•"/>
            </a:pPr>
            <a:r>
              <a:rPr sz="1400" b="0" i="0">
                <a:solidFill>
                  <a:srgbClr val="222222"/>
                </a:solidFill>
                <a:latin typeface="Calibri"/>
                <a:ea typeface="Calibri"/>
                <a:cs typeface="Calibri"/>
              </a:rPr>
              <a:t>Success estimates are probabilities for ranking, not a reliable predictor.</a:t>
            </a:r>
          </a:p>
        </p:txBody>
      </p:sp>
      <p:graphicFrame>
        <p:nvGraphicFramePr>
          <p:cNvPr id="9" name="Chart 8"/>
          <p:cNvGraphicFramePr>
            <a:graphicFrameLocks noGrp="1"/>
          </p:cNvGraphicFramePr>
          <p:nvPr/>
        </p:nvGraphicFramePr>
        <p:xfrm>
          <a:off x="7680960" y="1645920"/>
          <a:ext cx="4114800" cy="4023360"/>
        </p:xfrm>
        <a:graphic>
          <a:graphicData uri="http://schemas.openxmlformats.org/drawingml/2006/chart">
            <c:chart xmlns:c="http://schemas.openxmlformats.org/drawingml/2006/chart" r:id="rId4"/>
          </a:graphicData>
        </a:graphic>
      </p:graphicFrame>
      <p:sp>
        <p:nvSpPr>
          <p:cNvPr id="10" name="TextBox 9"/>
          <p:cNvSpPr txBox="1"/>
          <p:nvPr/>
        </p:nvSpPr>
        <p:spPr>
          <a:xfrm>
            <a:off x="7680960" y="5715000"/>
            <a:ext cx="4114800" cy="822960"/>
          </a:xfrm>
          <a:prstGeom prst="rect">
            <a:avLst/>
          </a:prstGeom>
          <a:noFill/>
        </p:spPr>
        <p:txBody>
          <a:bodyPr wrap="square" lIns="0" rIns="0" tIns="0" bIns="0" anchor="t">
            <a:spAutoFit/>
          </a:bodyPr>
          <a:lstStyle/>
          <a:p>
            <a:pPr algn="l">
              <a:spcAft>
                <a:spcPts val="400"/>
              </a:spcAft>
            </a:pPr>
            <a:r>
              <a:rPr sz="1100" b="0" i="1">
                <a:solidFill>
                  <a:srgbClr val="1F3864"/>
                </a:solidFill>
                <a:latin typeface="Calibri"/>
                <a:ea typeface="Calibri"/>
                <a:cs typeface="Calibri"/>
              </a:rPr>
              <a:t>10 author-written personas, 24 courses. A sanity check, not a user study; hybrid does not beat content-only.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Confusion Matrix &amp; Per-class Metrics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pic>
        <p:nvPicPr>
          <p:cNvPr id="7" name="Picture 6" descr="fig_confusion_matrices.png"/>
          <p:cNvPicPr>
            <a:picLocks noChangeAspect="1"/>
          </p:cNvPicPr>
          <p:nvPr/>
        </p:nvPicPr>
        <p:blipFill>
          <a:blip r:embed="rId3"/>
          <a:stretch>
            <a:fillRect/>
          </a:stretch>
        </p:blipFill>
        <p:spPr>
          <a:xfrm>
            <a:off x="1600535" y="1600200"/>
            <a:ext cx="8960448" cy="3154680"/>
          </a:xfrm>
          <a:prstGeom prst="rect">
            <a:avLst/>
          </a:prstGeom>
        </p:spPr>
      </p:pic>
      <p:sp>
        <p:nvSpPr>
          <p:cNvPr id="8" name="Rounded Rectangle 7"/>
          <p:cNvSpPr/>
          <p:nvPr/>
        </p:nvSpPr>
        <p:spPr>
          <a:xfrm>
            <a:off x="502920" y="48920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02920" y="489204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946903"/>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0.560</a:t>
            </a:r>
          </a:p>
        </p:txBody>
      </p:sp>
      <p:sp>
        <p:nvSpPr>
          <p:cNvPr id="11" name="TextBox 10"/>
          <p:cNvSpPr txBox="1"/>
          <p:nvPr/>
        </p:nvSpPr>
        <p:spPr>
          <a:xfrm>
            <a:off x="685800" y="54754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precision (selected LR)</a:t>
            </a:r>
          </a:p>
        </p:txBody>
      </p:sp>
      <p:sp>
        <p:nvSpPr>
          <p:cNvPr id="12" name="Rounded Rectangle 11"/>
          <p:cNvSpPr/>
          <p:nvPr/>
        </p:nvSpPr>
        <p:spPr>
          <a:xfrm>
            <a:off x="3337560" y="48920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37560" y="489204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20440" y="4946903"/>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0.329</a:t>
            </a:r>
          </a:p>
        </p:txBody>
      </p:sp>
      <p:sp>
        <p:nvSpPr>
          <p:cNvPr id="15" name="TextBox 14"/>
          <p:cNvSpPr txBox="1"/>
          <p:nvPr/>
        </p:nvSpPr>
        <p:spPr>
          <a:xfrm>
            <a:off x="3520440" y="54754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recall: many successes missed</a:t>
            </a:r>
          </a:p>
        </p:txBody>
      </p:sp>
      <p:sp>
        <p:nvSpPr>
          <p:cNvPr id="16" name="Rounded Rectangle 15"/>
          <p:cNvSpPr/>
          <p:nvPr/>
        </p:nvSpPr>
        <p:spPr>
          <a:xfrm>
            <a:off x="6172200" y="48920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172200" y="489204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5080" y="4946903"/>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0.415</a:t>
            </a:r>
          </a:p>
        </p:txBody>
      </p:sp>
      <p:sp>
        <p:nvSpPr>
          <p:cNvPr id="19" name="TextBox 18"/>
          <p:cNvSpPr txBox="1"/>
          <p:nvPr/>
        </p:nvSpPr>
        <p:spPr>
          <a:xfrm>
            <a:off x="6355080" y="54754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F1 at threshold 0.5</a:t>
            </a:r>
          </a:p>
        </p:txBody>
      </p:sp>
      <p:sp>
        <p:nvSpPr>
          <p:cNvPr id="20" name="Rounded Rectangle 19"/>
          <p:cNvSpPr/>
          <p:nvPr/>
        </p:nvSpPr>
        <p:spPr>
          <a:xfrm>
            <a:off x="9006840" y="48920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006840" y="489204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89720" y="4946903"/>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0.305</a:t>
            </a:r>
          </a:p>
        </p:txBody>
      </p:sp>
      <p:sp>
        <p:nvSpPr>
          <p:cNvPr id="23" name="TextBox 22"/>
          <p:cNvSpPr txBox="1"/>
          <p:nvPr/>
        </p:nvSpPr>
        <p:spPr>
          <a:xfrm>
            <a:off x="9189720" y="54754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F1 for the 55+ age band (0-35: 0.415)</a:t>
            </a:r>
          </a:p>
        </p:txBody>
      </p:sp>
      <p:sp>
        <p:nvSpPr>
          <p:cNvPr id="24" name="TextBox 23"/>
          <p:cNvSpPr txBox="1"/>
          <p:nvPr/>
        </p:nvSpPr>
        <p:spPr>
          <a:xfrm>
            <a:off x="502920" y="5989320"/>
            <a:ext cx="11155680" cy="82296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Selected LR: TN 1,187, FP 298, FN 775, TP 380. Fairness audit is audit-only: no mitigation is applied.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Threshold &amp; Parameter Analysis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graphicFrame>
        <p:nvGraphicFramePr>
          <p:cNvPr id="7" name="Chart 6"/>
          <p:cNvGraphicFramePr>
            <a:graphicFrameLocks noGrp="1"/>
          </p:cNvGraphicFramePr>
          <p:nvPr/>
        </p:nvGraphicFramePr>
        <p:xfrm>
          <a:off x="502920" y="1600200"/>
          <a:ext cx="5669280" cy="3017520"/>
        </p:xfrm>
        <a:graphic>
          <a:graphicData uri="http://schemas.openxmlformats.org/drawingml/2006/chart">
            <c:chart xmlns:c="http://schemas.openxmlformats.org/drawingml/2006/chart" r:id="rId3"/>
          </a:graphicData>
        </a:graphic>
      </p:graphicFrame>
      <p:graphicFrame>
        <p:nvGraphicFramePr>
          <p:cNvPr id="8" name="Chart 7"/>
          <p:cNvGraphicFramePr>
            <a:graphicFrameLocks noGrp="1"/>
          </p:cNvGraphicFramePr>
          <p:nvPr/>
        </p:nvGraphicFramePr>
        <p:xfrm>
          <a:off x="6355080" y="1600200"/>
          <a:ext cx="5394960" cy="3017520"/>
        </p:xfrm>
        <a:graphic>
          <a:graphicData uri="http://schemas.openxmlformats.org/drawingml/2006/chart">
            <c:chart xmlns:c="http://schemas.openxmlformats.org/drawingml/2006/chart" r:id="rId2"/>
          </a:graphicData>
        </a:graphic>
      </p:graphicFrame>
      <p:sp>
        <p:nvSpPr>
          <p:cNvPr id="9" name="TextBox 8"/>
          <p:cNvSpPr txBox="1"/>
          <p:nvPr/>
        </p:nvSpPr>
        <p:spPr>
          <a:xfrm>
            <a:off x="502920" y="4617720"/>
            <a:ext cx="5669280" cy="822960"/>
          </a:xfrm>
          <a:prstGeom prst="rect">
            <a:avLst/>
          </a:prstGeom>
          <a:noFill/>
        </p:spPr>
        <p:txBody>
          <a:bodyPr wrap="square" lIns="0" rIns="0" tIns="0" bIns="0" anchor="t">
            <a:spAutoFit/>
          </a:bodyPr>
          <a:lstStyle/>
          <a:p>
            <a:pPr algn="l">
              <a:spcAft>
                <a:spcPts val="400"/>
              </a:spcAft>
            </a:pPr>
            <a:r>
              <a:rPr sz="1100" b="0" i="1">
                <a:solidFill>
                  <a:srgbClr val="1F3864"/>
                </a:solidFill>
                <a:latin typeface="Calibri"/>
                <a:ea typeface="Calibri"/>
                <a:cs typeface="Calibri"/>
              </a:rPr>
              <a:t>Decision threshold of the success model (test split): recall falls and precision rises as the threshold moves from 0.30 to 0.70; 0.5 is shipped.</a:t>
            </a:r>
          </a:p>
        </p:txBody>
      </p:sp>
      <p:sp>
        <p:nvSpPr>
          <p:cNvPr id="10" name="TextBox 9"/>
          <p:cNvSpPr txBox="1"/>
          <p:nvPr/>
        </p:nvSpPr>
        <p:spPr>
          <a:xfrm>
            <a:off x="6355080" y="4617720"/>
            <a:ext cx="5394960" cy="822960"/>
          </a:xfrm>
          <a:prstGeom prst="rect">
            <a:avLst/>
          </a:prstGeom>
          <a:noFill/>
        </p:spPr>
        <p:txBody>
          <a:bodyPr wrap="square" lIns="0" rIns="0" tIns="0" bIns="0" anchor="t">
            <a:spAutoFit/>
          </a:bodyPr>
          <a:lstStyle/>
          <a:p>
            <a:pPr algn="l">
              <a:spcAft>
                <a:spcPts val="400"/>
              </a:spcAft>
            </a:pPr>
            <a:r>
              <a:rPr sz="1100" b="0" i="1">
                <a:solidFill>
                  <a:srgbClr val="1F3864"/>
                </a:solidFill>
                <a:latin typeface="Calibri"/>
                <a:ea typeface="Calibri"/>
                <a:cs typeface="Calibri"/>
              </a:rPr>
              <a:t>Drop-one-term ablation of the hybrid score (full = 0.733): topic and content matter most; success, behaviour, goal and engagement terms did not change the persona ranking.</a:t>
            </a:r>
          </a:p>
        </p:txBody>
      </p:sp>
      <p:sp>
        <p:nvSpPr>
          <p:cNvPr id="11" name="Rounded Rectangle 10"/>
          <p:cNvSpPr/>
          <p:nvPr/>
        </p:nvSpPr>
        <p:spPr>
          <a:xfrm>
            <a:off x="502920" y="5394960"/>
            <a:ext cx="2651760" cy="86868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02920" y="5394960"/>
            <a:ext cx="73152" cy="8686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5449824"/>
            <a:ext cx="2377440" cy="477773"/>
          </a:xfrm>
          <a:prstGeom prst="rect">
            <a:avLst/>
          </a:prstGeom>
          <a:noFill/>
        </p:spPr>
        <p:txBody>
          <a:bodyPr wrap="square" lIns="0" rIns="0" tIns="0" bIns="0" anchor="ctr">
            <a:spAutoFit/>
          </a:bodyPr>
          <a:lstStyle/>
          <a:p>
            <a:pPr algn="l">
              <a:spcAft>
                <a:spcPts val="400"/>
              </a:spcAft>
            </a:pPr>
            <a:r>
              <a:rPr sz="2200" b="1" i="0">
                <a:solidFill>
                  <a:srgbClr val="1F3864"/>
                </a:solidFill>
                <a:latin typeface="Calibri"/>
                <a:ea typeface="Calibri"/>
                <a:cs typeface="Calibri"/>
              </a:rPr>
              <a:t>0.009</a:t>
            </a:r>
          </a:p>
        </p:txBody>
      </p:sp>
      <p:sp>
        <p:nvSpPr>
          <p:cNvPr id="14" name="TextBox 13"/>
          <p:cNvSpPr txBox="1"/>
          <p:nvPr/>
        </p:nvSpPr>
        <p:spPr>
          <a:xfrm>
            <a:off x="685800" y="5898794"/>
            <a:ext cx="2377440" cy="347472"/>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IPS</a:t>
            </a:r>
          </a:p>
        </p:txBody>
      </p:sp>
      <p:sp>
        <p:nvSpPr>
          <p:cNvPr id="15" name="Rounded Rectangle 14"/>
          <p:cNvSpPr/>
          <p:nvPr/>
        </p:nvSpPr>
        <p:spPr>
          <a:xfrm>
            <a:off x="3337560" y="5394960"/>
            <a:ext cx="2651760" cy="86868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337560" y="5394960"/>
            <a:ext cx="73152" cy="8686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20440" y="5449824"/>
            <a:ext cx="2377440" cy="477773"/>
          </a:xfrm>
          <a:prstGeom prst="rect">
            <a:avLst/>
          </a:prstGeom>
          <a:noFill/>
        </p:spPr>
        <p:txBody>
          <a:bodyPr wrap="square" lIns="0" rIns="0" tIns="0" bIns="0" anchor="ctr">
            <a:spAutoFit/>
          </a:bodyPr>
          <a:lstStyle/>
          <a:p>
            <a:pPr algn="l">
              <a:spcAft>
                <a:spcPts val="400"/>
              </a:spcAft>
            </a:pPr>
            <a:r>
              <a:rPr sz="2200" b="1" i="0">
                <a:solidFill>
                  <a:srgbClr val="1F3864"/>
                </a:solidFill>
                <a:latin typeface="Calibri"/>
                <a:ea typeface="Calibri"/>
                <a:cs typeface="Calibri"/>
              </a:rPr>
              <a:t>0.665</a:t>
            </a:r>
          </a:p>
        </p:txBody>
      </p:sp>
      <p:sp>
        <p:nvSpPr>
          <p:cNvPr id="18" name="TextBox 17"/>
          <p:cNvSpPr txBox="1"/>
          <p:nvPr/>
        </p:nvSpPr>
        <p:spPr>
          <a:xfrm>
            <a:off x="3520440" y="5898794"/>
            <a:ext cx="2377440" cy="347472"/>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SNIPS</a:t>
            </a:r>
          </a:p>
        </p:txBody>
      </p:sp>
      <p:sp>
        <p:nvSpPr>
          <p:cNvPr id="19" name="Rounded Rectangle 18"/>
          <p:cNvSpPr/>
          <p:nvPr/>
        </p:nvSpPr>
        <p:spPr>
          <a:xfrm>
            <a:off x="6172200" y="5394960"/>
            <a:ext cx="2651760" cy="86868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172200" y="5394960"/>
            <a:ext cx="73152" cy="8686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5449824"/>
            <a:ext cx="2377440" cy="477773"/>
          </a:xfrm>
          <a:prstGeom prst="rect">
            <a:avLst/>
          </a:prstGeom>
          <a:noFill/>
        </p:spPr>
        <p:txBody>
          <a:bodyPr wrap="square" lIns="0" rIns="0" tIns="0" bIns="0" anchor="ctr">
            <a:spAutoFit/>
          </a:bodyPr>
          <a:lstStyle/>
          <a:p>
            <a:pPr algn="l">
              <a:spcAft>
                <a:spcPts val="400"/>
              </a:spcAft>
            </a:pPr>
            <a:r>
              <a:rPr sz="2200" b="1" i="0">
                <a:solidFill>
                  <a:srgbClr val="1F3864"/>
                </a:solidFill>
                <a:latin typeface="Calibri"/>
                <a:ea typeface="Calibri"/>
                <a:cs typeface="Calibri"/>
              </a:rPr>
              <a:t>0.435</a:t>
            </a:r>
          </a:p>
        </p:txBody>
      </p:sp>
      <p:sp>
        <p:nvSpPr>
          <p:cNvPr id="22" name="TextBox 21"/>
          <p:cNvSpPr txBox="1"/>
          <p:nvPr/>
        </p:nvSpPr>
        <p:spPr>
          <a:xfrm>
            <a:off x="6355080" y="5898794"/>
            <a:ext cx="2377440" cy="347472"/>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Doubly robust</a:t>
            </a:r>
          </a:p>
        </p:txBody>
      </p:sp>
      <p:sp>
        <p:nvSpPr>
          <p:cNvPr id="23" name="Rounded Rectangle 22"/>
          <p:cNvSpPr/>
          <p:nvPr/>
        </p:nvSpPr>
        <p:spPr>
          <a:xfrm>
            <a:off x="9006840" y="5394960"/>
            <a:ext cx="2651760" cy="86868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006840" y="5394960"/>
            <a:ext cx="73152" cy="86868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89720" y="5449824"/>
            <a:ext cx="2377440" cy="477773"/>
          </a:xfrm>
          <a:prstGeom prst="rect">
            <a:avLst/>
          </a:prstGeom>
          <a:noFill/>
        </p:spPr>
        <p:txBody>
          <a:bodyPr wrap="square" lIns="0" rIns="0" tIns="0" bIns="0" anchor="ctr">
            <a:spAutoFit/>
          </a:bodyPr>
          <a:lstStyle/>
          <a:p>
            <a:pPr algn="l">
              <a:spcAft>
                <a:spcPts val="400"/>
              </a:spcAft>
            </a:pPr>
            <a:r>
              <a:rPr sz="2200" b="1" i="0">
                <a:solidFill>
                  <a:srgbClr val="1F3864"/>
                </a:solidFill>
                <a:latin typeface="Calibri"/>
                <a:ea typeface="Calibri"/>
                <a:cs typeface="Calibri"/>
              </a:rPr>
              <a:t>9.1</a:t>
            </a:r>
          </a:p>
        </p:txBody>
      </p:sp>
      <p:sp>
        <p:nvSpPr>
          <p:cNvPr id="26" name="TextBox 25"/>
          <p:cNvSpPr txBox="1"/>
          <p:nvPr/>
        </p:nvSpPr>
        <p:spPr>
          <a:xfrm>
            <a:off x="9189720" y="5898794"/>
            <a:ext cx="2377440" cy="347472"/>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effective sample size of 2,640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Performance &amp; Testing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sp>
        <p:nvSpPr>
          <p:cNvPr id="7" name="Rounded Rectangle 6"/>
          <p:cNvSpPr/>
          <p:nvPr/>
        </p:nvSpPr>
        <p:spPr>
          <a:xfrm>
            <a:off x="502920" y="173736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737360"/>
            <a:ext cx="73152" cy="105156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9222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2.7 ms</a:t>
            </a:r>
          </a:p>
        </p:txBody>
      </p:sp>
      <p:sp>
        <p:nvSpPr>
          <p:cNvPr id="10" name="TextBox 9"/>
          <p:cNvSpPr txBox="1"/>
          <p:nvPr/>
        </p:nvSpPr>
        <p:spPr>
          <a:xfrm>
            <a:off x="685800" y="234726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health check, mean</a:t>
            </a:r>
          </a:p>
        </p:txBody>
      </p:sp>
      <p:sp>
        <p:nvSpPr>
          <p:cNvPr id="11" name="Rounded Rectangle 10"/>
          <p:cNvSpPr/>
          <p:nvPr/>
        </p:nvSpPr>
        <p:spPr>
          <a:xfrm>
            <a:off x="3337560" y="173736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737360"/>
            <a:ext cx="73152" cy="105156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9222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6.0 ms</a:t>
            </a:r>
          </a:p>
        </p:txBody>
      </p:sp>
      <p:sp>
        <p:nvSpPr>
          <p:cNvPr id="14" name="TextBox 13"/>
          <p:cNvSpPr txBox="1"/>
          <p:nvPr/>
        </p:nvSpPr>
        <p:spPr>
          <a:xfrm>
            <a:off x="3520440" y="234726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course list, mean</a:t>
            </a:r>
          </a:p>
        </p:txBody>
      </p:sp>
      <p:sp>
        <p:nvSpPr>
          <p:cNvPr id="15" name="Rounded Rectangle 14"/>
          <p:cNvSpPr/>
          <p:nvPr/>
        </p:nvSpPr>
        <p:spPr>
          <a:xfrm>
            <a:off x="6172200" y="173736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737360"/>
            <a:ext cx="73152" cy="105156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9222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32.8 ms</a:t>
            </a:r>
          </a:p>
        </p:txBody>
      </p:sp>
      <p:sp>
        <p:nvSpPr>
          <p:cNvPr id="18" name="TextBox 17"/>
          <p:cNvSpPr txBox="1"/>
          <p:nvPr/>
        </p:nvSpPr>
        <p:spPr>
          <a:xfrm>
            <a:off x="6355080" y="234726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recommendations (8), mean</a:t>
            </a:r>
          </a:p>
        </p:txBody>
      </p:sp>
      <p:sp>
        <p:nvSpPr>
          <p:cNvPr id="19" name="Rounded Rectangle 18"/>
          <p:cNvSpPr/>
          <p:nvPr/>
        </p:nvSpPr>
        <p:spPr>
          <a:xfrm>
            <a:off x="9006840" y="1737360"/>
            <a:ext cx="2651760" cy="105156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737360"/>
            <a:ext cx="73152" cy="105156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92224"/>
            <a:ext cx="2377440" cy="578358"/>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22.2 ms</a:t>
            </a:r>
          </a:p>
        </p:txBody>
      </p:sp>
      <p:sp>
        <p:nvSpPr>
          <p:cNvPr id="22" name="TextBox 21"/>
          <p:cNvSpPr txBox="1"/>
          <p:nvPr/>
        </p:nvSpPr>
        <p:spPr>
          <a:xfrm>
            <a:off x="9189720" y="2347264"/>
            <a:ext cx="2377440" cy="420623"/>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learning path, mean</a:t>
            </a:r>
          </a:p>
        </p:txBody>
      </p:sp>
      <p:graphicFrame>
        <p:nvGraphicFramePr>
          <p:cNvPr id="23" name="Table 22"/>
          <p:cNvGraphicFramePr>
            <a:graphicFrameLocks noGrp="1"/>
          </p:cNvGraphicFramePr>
          <p:nvPr/>
        </p:nvGraphicFramePr>
        <p:xfrm>
          <a:off x="502920" y="3063240"/>
          <a:ext cx="11155680" cy="2514600"/>
        </p:xfrm>
        <a:graphic>
          <a:graphicData uri="http://schemas.openxmlformats.org/drawingml/2006/table">
            <a:tbl>
              <a:tblPr firstRow="0" bandRow="0">
                <a:tableStyleId>{5C22544A-7EE6-4342-B048-85BDC9FD1C3A}</a:tableStyleId>
              </a:tblPr>
              <a:tblGrid>
                <a:gridCol w="2743200"/>
                <a:gridCol w="5212080"/>
                <a:gridCol w="3200400"/>
              </a:tblGrid>
              <a:tr h="502920">
                <a:tc>
                  <a:txBody>
                    <a:bodyPr wrap="square"/>
                    <a:lstStyle/>
                    <a:p>
                      <a:pPr algn="ctr"/>
                      <a:r>
                        <a:rPr sz="1300" b="1">
                          <a:solidFill>
                            <a:srgbClr val="1F3864"/>
                          </a:solidFill>
                          <a:latin typeface="Calibri"/>
                          <a:ea typeface="Calibri"/>
                          <a:cs typeface="Calibri"/>
                        </a:rPr>
                        <a:t>Test layer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What it covers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300" b="1">
                          <a:solidFill>
                            <a:srgbClr val="1F3864"/>
                          </a:solidFill>
                          <a:latin typeface="Calibri"/>
                          <a:ea typeface="Calibri"/>
                          <a:cs typeface="Calibri"/>
                        </a:rPr>
                        <a:t>Result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02920">
                <a:tc>
                  <a:txBody>
                    <a:bodyPr wrap="square"/>
                    <a:lstStyle/>
                    <a:p>
                      <a:pPr algn="l"/>
                      <a:r>
                        <a:rPr sz="1300" b="1">
                          <a:solidFill>
                            <a:srgbClr val="222222"/>
                          </a:solidFill>
                          <a:latin typeface="Calibri"/>
                          <a:ea typeface="Calibri"/>
                          <a:cs typeface="Calibri"/>
                        </a:rPr>
                        <a:t>pytest (tests/test_app.py)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health, homepage, auth_profile_recs_interactions, invalid_inputs, artifacts_load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5 of 5 passed (10.3 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300" b="1">
                          <a:solidFill>
                            <a:srgbClr val="222222"/>
                          </a:solidFill>
                          <a:latin typeface="Calibri"/>
                          <a:ea typeface="Calibri"/>
                          <a:cs typeface="Calibri"/>
                        </a:rPr>
                        <a:t>Live smoke test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running backend and front end through the Vite proxy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33 of 33 checks passed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02920">
                <a:tc>
                  <a:txBody>
                    <a:bodyPr wrap="square"/>
                    <a:lstStyle/>
                    <a:p>
                      <a:pPr algn="l"/>
                      <a:r>
                        <a:rPr sz="1300" b="1">
                          <a:solidFill>
                            <a:srgbClr val="222222"/>
                          </a:solidFill>
                          <a:latin typeface="Calibri"/>
                          <a:ea typeface="Calibri"/>
                          <a:cs typeface="Calibri"/>
                        </a:rPr>
                        <a:t>UI verification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11 screens at 360 / 768 / 1440 px, light and dark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300" b="0">
                          <a:solidFill>
                            <a:srgbClr val="222222"/>
                          </a:solidFill>
                          <a:latin typeface="Calibri"/>
                          <a:ea typeface="Calibri"/>
                          <a:cs typeface="Calibri"/>
                        </a:rPr>
                        <a:t>no overflow, console clean, keyboard OK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02920">
                <a:tc>
                  <a:txBody>
                    <a:bodyPr wrap="square"/>
                    <a:lstStyle/>
                    <a:p>
                      <a:pPr algn="l"/>
                      <a:r>
                        <a:rPr sz="1300" b="1">
                          <a:solidFill>
                            <a:srgbClr val="222222"/>
                          </a:solidFill>
                          <a:latin typeface="Calibri"/>
                          <a:ea typeface="Calibri"/>
                          <a:cs typeface="Calibri"/>
                        </a:rPr>
                        <a:t>Latency probe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30 requests per read endpoint on 127.0.0.1; recommendations p95 42 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300" b="0">
                          <a:solidFill>
                            <a:srgbClr val="222222"/>
                          </a:solidFill>
                          <a:latin typeface="Calibri"/>
                          <a:ea typeface="Calibri"/>
                          <a:cs typeface="Calibri"/>
                        </a:rPr>
                        <a:t>first registration 427 ms (hashing)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24" name="TextBox 23"/>
          <p:cNvSpPr txBox="1"/>
          <p:nvPr/>
        </p:nvSpPr>
        <p:spPr>
          <a:xfrm>
            <a:off x="502920" y="5715000"/>
            <a:ext cx="11155680" cy="82296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Machine: 12th Gen Intel(R) Core(TM) i5-12500, 15.7 GB RAM, no GPU. Not done: load tests beyond 30 sequential requests, a user study, cross-browser tests, penetration tests.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Base Paper (context only – different data)</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graphicFrame>
        <p:nvGraphicFramePr>
          <p:cNvPr id="7" name="Table 6"/>
          <p:cNvGraphicFramePr>
            <a:graphicFrameLocks noGrp="1"/>
          </p:cNvGraphicFramePr>
          <p:nvPr/>
        </p:nvGraphicFramePr>
        <p:xfrm>
          <a:off x="502920" y="1691640"/>
          <a:ext cx="11155680" cy="3968496"/>
        </p:xfrm>
        <a:graphic>
          <a:graphicData uri="http://schemas.openxmlformats.org/drawingml/2006/table">
            <a:tbl>
              <a:tblPr firstRow="0" bandRow="0">
                <a:tableStyleId>{5C22544A-7EE6-4342-B048-85BDC9FD1C3A}</a:tableStyleId>
              </a:tblPr>
              <a:tblGrid>
                <a:gridCol w="1828800"/>
                <a:gridCol w="4572000"/>
                <a:gridCol w="4754880"/>
              </a:tblGrid>
              <a:tr h="566928">
                <a:tc>
                  <a:txBody>
                    <a:bodyPr wrap="square"/>
                    <a:lstStyle/>
                    <a:p>
                      <a:pPr algn="ctr"/>
                      <a:r>
                        <a:rPr sz="12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Base paper [1]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This project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1200" b="1">
                          <a:solidFill>
                            <a:srgbClr val="222222"/>
                          </a:solidFill>
                          <a:latin typeface="Calibri"/>
                          <a:ea typeface="Calibri"/>
                          <a:cs typeface="Calibri"/>
                        </a:rPr>
                        <a:t>Data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Real OULAD: 32,593 enrolments, about 1.7 million learner-weeks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Synthetic OULAD-like: 2,200 learners, 26,400 learner-weeks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200" b="1">
                          <a:solidFill>
                            <a:srgbClr val="222222"/>
                          </a:solidFill>
                          <a:latin typeface="Calibri"/>
                          <a:ea typeface="Calibri"/>
                          <a:cs typeface="Calibri"/>
                        </a:rPr>
                        <a:t>Success model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XGBoost: AUC 0.795, Brier 0.074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Logistic regression: AUC 0.603, Brier 0.238 (XGBoost 0.599)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200" b="1">
                          <a:solidFill>
                            <a:srgbClr val="222222"/>
                          </a:solidFill>
                          <a:latin typeface="Calibri"/>
                          <a:ea typeface="Calibri"/>
                          <a:cs typeface="Calibri"/>
                        </a:rPr>
                        <a:t>Logged outcome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Pass rate 0.589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Success rate 0.438 on the test rows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200" b="1">
                          <a:solidFill>
                            <a:srgbClr val="222222"/>
                          </a:solidFill>
                          <a:latin typeface="Calibri"/>
                          <a:ea typeface="Calibri"/>
                          <a:cs typeface="Calibri"/>
                        </a:rPr>
                        <a:t>Policy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Actor-Critic RL with causal regularisation; Greedy-Uplift SNIPS 0.619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Uplift arg-max only; SNIPS 0.665, effective sample size 9.1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200" b="1">
                          <a:solidFill>
                            <a:srgbClr val="222222"/>
                          </a:solidFill>
                          <a:latin typeface="Calibri"/>
                          <a:ea typeface="Calibri"/>
                          <a:cs typeface="Calibri"/>
                        </a:rPr>
                        <a:t>Fairness audit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By age and gender; older learners markedly lower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By age and gender; 55+ F1 0.305 against 0.415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200" b="1">
                          <a:solidFill>
                            <a:srgbClr val="222222"/>
                          </a:solidFill>
                          <a:latin typeface="Calibri"/>
                          <a:ea typeface="Calibri"/>
                          <a:cs typeface="Calibri"/>
                        </a:rPr>
                        <a:t>Deliverable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Research framework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Working web application: ranking, explanations, learning path, analytics, tests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
        <p:nvSpPr>
          <p:cNvPr id="8" name="TextBox 7"/>
          <p:cNvSpPr txBox="1"/>
          <p:nvPr/>
        </p:nvSpPr>
        <p:spPr>
          <a:xfrm>
            <a:off x="502920" y="5760720"/>
            <a:ext cx="11155680" cy="54864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Not a like-for-like comparison: real against generated data, different features and no reinforcement-learning agent here. The numbers are context, not a ranking.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Dashboard and Recommendations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pic>
        <p:nvPicPr>
          <p:cNvPr id="7" name="Picture 6" descr="07_dashboard.png"/>
          <p:cNvPicPr>
            <a:picLocks noChangeAspect="1"/>
          </p:cNvPicPr>
          <p:nvPr/>
        </p:nvPicPr>
        <p:blipFill>
          <a:blip r:embed="rId3"/>
          <a:stretch>
            <a:fillRect/>
          </a:stretch>
        </p:blipFill>
        <p:spPr>
          <a:xfrm>
            <a:off x="502920" y="1691640"/>
            <a:ext cx="5486400" cy="3429000"/>
          </a:xfrm>
          <a:prstGeom prst="rect">
            <a:avLst/>
          </a:prstGeom>
          <a:ln w="9525">
            <a:solidFill>
              <a:srgbClr val="D5DCE6"/>
            </a:solidFill>
          </a:ln>
        </p:spPr>
      </p:pic>
      <p:pic>
        <p:nvPicPr>
          <p:cNvPr id="8" name="Picture 7" descr="08_recommendations.png"/>
          <p:cNvPicPr>
            <a:picLocks noChangeAspect="1"/>
          </p:cNvPicPr>
          <p:nvPr/>
        </p:nvPicPr>
        <p:blipFill>
          <a:blip r:embed="rId2"/>
          <a:stretch>
            <a:fillRect/>
          </a:stretch>
        </p:blipFill>
        <p:spPr>
          <a:xfrm>
            <a:off x="6217920" y="1691640"/>
            <a:ext cx="5486400" cy="3429000"/>
          </a:xfrm>
          <a:prstGeom prst="rect">
            <a:avLst/>
          </a:prstGeom>
          <a:ln w="9525">
            <a:solidFill>
              <a:srgbClr val="D5DCE6"/>
            </a:solidFill>
          </a:ln>
        </p:spPr>
      </p:pic>
      <p:sp>
        <p:nvSpPr>
          <p:cNvPr id="9" name="TextBox 8"/>
          <p:cNvSpPr txBox="1"/>
          <p:nvPr/>
        </p:nvSpPr>
        <p:spPr>
          <a:xfrm>
            <a:off x="502920" y="5303520"/>
            <a:ext cx="5486400" cy="100584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Dashboard of the registered learner after 12 recorded interactions: engagement level, success estimate and shortcuts.</a:t>
            </a:r>
          </a:p>
        </p:txBody>
      </p:sp>
      <p:sp>
        <p:nvSpPr>
          <p:cNvPr id="10" name="TextBox 9"/>
          <p:cNvSpPr txBox="1"/>
          <p:nvPr/>
        </p:nvSpPr>
        <p:spPr>
          <a:xfrm>
            <a:off x="6217920" y="5303520"/>
            <a:ext cx="5486400" cy="100584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Ranked courses with match percentage, success estimate, reasons and the suggested action (the same action on every card).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Learning Path and Insights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pic>
        <p:nvPicPr>
          <p:cNvPr id="7" name="Picture 6" descr="09_learning_path.png"/>
          <p:cNvPicPr>
            <a:picLocks noChangeAspect="1"/>
          </p:cNvPicPr>
          <p:nvPr/>
        </p:nvPicPr>
        <p:blipFill>
          <a:blip r:embed="rId3"/>
          <a:stretch>
            <a:fillRect/>
          </a:stretch>
        </p:blipFill>
        <p:spPr>
          <a:xfrm>
            <a:off x="502920" y="1691640"/>
            <a:ext cx="5486400" cy="3429000"/>
          </a:xfrm>
          <a:prstGeom prst="rect">
            <a:avLst/>
          </a:prstGeom>
          <a:ln w="9525">
            <a:solidFill>
              <a:srgbClr val="D5DCE6"/>
            </a:solidFill>
          </a:ln>
        </p:spPr>
      </p:pic>
      <p:pic>
        <p:nvPicPr>
          <p:cNvPr id="8" name="Picture 7" descr="10_insights.png"/>
          <p:cNvPicPr>
            <a:picLocks noChangeAspect="1"/>
          </p:cNvPicPr>
          <p:nvPr/>
        </p:nvPicPr>
        <p:blipFill>
          <a:blip r:embed="rId2"/>
          <a:stretch>
            <a:fillRect/>
          </a:stretch>
        </p:blipFill>
        <p:spPr>
          <a:xfrm>
            <a:off x="6217920" y="1691640"/>
            <a:ext cx="5486400" cy="3429000"/>
          </a:xfrm>
          <a:prstGeom prst="rect">
            <a:avLst/>
          </a:prstGeom>
          <a:ln w="9525">
            <a:solidFill>
              <a:srgbClr val="D5DCE6"/>
            </a:solidFill>
          </a:ln>
        </p:spPr>
      </p:pic>
      <p:sp>
        <p:nvSpPr>
          <p:cNvPr id="9" name="TextBox 8"/>
          <p:cNvSpPr txBox="1"/>
          <p:nvPr/>
        </p:nvSpPr>
        <p:spPr>
          <a:xfrm>
            <a:off x="502920" y="5303520"/>
            <a:ext cx="5486400" cy="100584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Staged learning path: courses ordered by level, then score, with the next best action.</a:t>
            </a:r>
          </a:p>
        </p:txBody>
      </p:sp>
      <p:sp>
        <p:nvSpPr>
          <p:cNvPr id="10" name="TextBox 9"/>
          <p:cNvSpPr txBox="1"/>
          <p:nvPr/>
        </p:nvSpPr>
        <p:spPr>
          <a:xfrm>
            <a:off x="6217920" y="5303520"/>
            <a:ext cx="5486400" cy="100584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Insights: engagement, strengths, estimated benefit of each action (the contributing-features list is empty for the shipped logistic regression).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Model Analytics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pic>
        <p:nvPicPr>
          <p:cNvPr id="7" name="Picture 6" descr="17_analytics_diagnostics.png"/>
          <p:cNvPicPr>
            <a:picLocks noChangeAspect="1"/>
          </p:cNvPicPr>
          <p:nvPr/>
        </p:nvPicPr>
        <p:blipFill>
          <a:blip r:embed="rId3"/>
          <a:stretch>
            <a:fillRect/>
          </a:stretch>
        </p:blipFill>
        <p:spPr>
          <a:xfrm>
            <a:off x="502920" y="1691640"/>
            <a:ext cx="5486400" cy="3429000"/>
          </a:xfrm>
          <a:prstGeom prst="rect">
            <a:avLst/>
          </a:prstGeom>
          <a:ln w="9525">
            <a:solidFill>
              <a:srgbClr val="D5DCE6"/>
            </a:solidFill>
          </a:ln>
        </p:spPr>
      </p:pic>
      <p:pic>
        <p:nvPicPr>
          <p:cNvPr id="8" name="Picture 7" descr="18_analytics_policy.png"/>
          <p:cNvPicPr>
            <a:picLocks noChangeAspect="1"/>
          </p:cNvPicPr>
          <p:nvPr/>
        </p:nvPicPr>
        <p:blipFill>
          <a:blip r:embed="rId2"/>
          <a:stretch>
            <a:fillRect/>
          </a:stretch>
        </p:blipFill>
        <p:spPr>
          <a:xfrm>
            <a:off x="6217920" y="1691640"/>
            <a:ext cx="5486400" cy="3429000"/>
          </a:xfrm>
          <a:prstGeom prst="rect">
            <a:avLst/>
          </a:prstGeom>
          <a:ln w="9525">
            <a:solidFill>
              <a:srgbClr val="D5DCE6"/>
            </a:solidFill>
          </a:ln>
        </p:spPr>
      </p:pic>
      <p:sp>
        <p:nvSpPr>
          <p:cNvPr id="9" name="TextBox 8"/>
          <p:cNvSpPr txBox="1"/>
          <p:nvPr/>
        </p:nvSpPr>
        <p:spPr>
          <a:xfrm>
            <a:off x="502920" y="5303520"/>
            <a:ext cx="5486400" cy="100584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Diagnostics tab: confusion matrices, ROC curve and feature importance read from the saved metrics.</a:t>
            </a:r>
          </a:p>
        </p:txBody>
      </p:sp>
      <p:sp>
        <p:nvSpPr>
          <p:cNvPr id="10" name="TextBox 9"/>
          <p:cNvSpPr txBox="1"/>
          <p:nvPr/>
        </p:nvSpPr>
        <p:spPr>
          <a:xfrm>
            <a:off x="6217920" y="5303520"/>
            <a:ext cx="5486400" cy="100584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Offline policy tab: IPS, SNIPS and doubly robust values with the effective sample size and the caveat.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Conclusion</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marL="256032" indent="-201168">
              <a:spcAft>
                <a:spcPts val="1000"/>
              </a:spcAft>
              <a:buChar char="•"/>
            </a:pPr>
            <a:r>
              <a:rPr sz="2000" b="1" i="0">
                <a:solidFill>
                  <a:srgbClr val="222222"/>
                </a:solidFill>
                <a:latin typeface="Calibri"/>
                <a:ea typeface="Calibri"/>
                <a:cs typeface="Calibri"/>
              </a:rPr>
              <a:t>Delivered:</a:t>
            </a:r>
            <a:r>
              <a:rPr sz="2000" b="0" i="0">
                <a:solidFill>
                  <a:srgbClr val="222222"/>
                </a:solidFill>
                <a:latin typeface="Calibri"/>
                <a:ea typeface="Calibri"/>
                <a:cs typeface="Calibri"/>
              </a:rPr>
              <a:t> LearnPathIQ: profile, catalogue, hybrid ranker with explanations, learning path, success and uplift models, offline policy evaluation, fairness audit, web application and tests.</a:t>
            </a:r>
          </a:p>
          <a:p>
            <a:pPr algn="l" marL="256032" indent="-201168">
              <a:spcAft>
                <a:spcPts val="1000"/>
              </a:spcAft>
              <a:buChar char="•"/>
            </a:pPr>
            <a:r>
              <a:rPr sz="2000" b="1" i="0">
                <a:solidFill>
                  <a:srgbClr val="222222"/>
                </a:solidFill>
                <a:latin typeface="Calibri"/>
                <a:ea typeface="Calibri"/>
                <a:cs typeface="Calibri"/>
              </a:rPr>
              <a:t>Measured:</a:t>
            </a:r>
            <a:r>
              <a:rPr sz="2000" b="0" i="0">
                <a:solidFill>
                  <a:srgbClr val="222222"/>
                </a:solidFill>
                <a:latin typeface="Calibri"/>
                <a:ea typeface="Calibri"/>
                <a:cs typeface="Calibri"/>
              </a:rPr>
              <a:t> success-model test AUC 0.603 on synthetic data; hybrid P@3 0.73 on ten personas against 0.20 for popularity.</a:t>
            </a:r>
          </a:p>
          <a:p>
            <a:pPr algn="l" marL="256032" indent="-201168">
              <a:spcAft>
                <a:spcPts val="1000"/>
              </a:spcAft>
              <a:buChar char="•"/>
            </a:pPr>
            <a:r>
              <a:rPr sz="2000" b="1" i="0">
                <a:solidFill>
                  <a:srgbClr val="222222"/>
                </a:solidFill>
                <a:latin typeface="Calibri"/>
                <a:ea typeface="Calibri"/>
                <a:cs typeface="Calibri"/>
              </a:rPr>
              <a:t>Findings:</a:t>
            </a:r>
            <a:r>
              <a:rPr sz="2000" b="0" i="0">
                <a:solidFill>
                  <a:srgbClr val="222222"/>
                </a:solidFill>
                <a:latin typeface="Calibri"/>
                <a:ea typeface="Calibri"/>
                <a:cs typeface="Calibri"/>
              </a:rPr>
              <a:t> the hybrid does not beat content-only matching; the offline policy values rest on an effective sample size of about 9; estimated action benefits flip sign after a few events.</a:t>
            </a:r>
          </a:p>
          <a:p>
            <a:pPr algn="l" marL="256032" indent="-201168">
              <a:spcAft>
                <a:spcPts val="400"/>
              </a:spcAft>
              <a:buChar char="•"/>
            </a:pPr>
            <a:r>
              <a:rPr sz="2000" b="1" i="0">
                <a:solidFill>
                  <a:srgbClr val="222222"/>
                </a:solidFill>
                <a:latin typeface="Calibri"/>
                <a:ea typeface="Calibri"/>
                <a:cs typeface="Calibri"/>
              </a:rPr>
              <a:t>Not achieved:</a:t>
            </a:r>
            <a:r>
              <a:rPr sz="2000" b="0" i="0">
                <a:solidFill>
                  <a:srgbClr val="222222"/>
                </a:solidFill>
                <a:latin typeface="Calibri"/>
                <a:ea typeface="Calibri"/>
                <a:cs typeface="Calibri"/>
              </a:rPr>
              <a:t> real OULAD data, collaborative filtering across learners, an Actor-Critic agent, a user study, live A/B tests.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TextBox 6"/>
          <p:cNvSpPr txBox="1"/>
          <p:nvPr/>
        </p:nvSpPr>
        <p:spPr>
          <a:xfrm>
            <a:off x="502920" y="1783080"/>
            <a:ext cx="11155680" cy="4480560"/>
          </a:xfrm>
          <a:prstGeom prst="rect">
            <a:avLst/>
          </a:prstGeom>
          <a:noFill/>
        </p:spPr>
        <p:txBody>
          <a:bodyPr wrap="square" lIns="0" rIns="0" tIns="0" bIns="0" anchor="t">
            <a:spAutoFit/>
          </a:bodyPr>
          <a:lstStyle/>
          <a:p>
            <a:pPr algn="l" marL="256032" indent="-201168">
              <a:spcAft>
                <a:spcPts val="1200"/>
              </a:spcAft>
              <a:buChar char="•"/>
            </a:pPr>
            <a:r>
              <a:rPr sz="2000" b="0" i="0">
                <a:solidFill>
                  <a:srgbClr val="222222"/>
                </a:solidFill>
                <a:latin typeface="Calibri"/>
                <a:ea typeface="Calibri"/>
                <a:cs typeface="Calibri"/>
              </a:rPr>
              <a:t>Train and evaluate on the real OULAD data so metrics can be compared with the base paper.</a:t>
            </a:r>
          </a:p>
          <a:p>
            <a:pPr algn="l" marL="256032" indent="-201168">
              <a:spcAft>
                <a:spcPts val="1200"/>
              </a:spcAft>
              <a:buChar char="•"/>
            </a:pPr>
            <a:r>
              <a:rPr sz="2000" b="0" i="0">
                <a:solidFill>
                  <a:srgbClr val="222222"/>
                </a:solidFill>
                <a:latin typeface="Calibri"/>
                <a:ea typeface="Calibri"/>
                <a:cs typeface="Calibri"/>
              </a:rPr>
              <a:t>Add collaborative filtering across learners once real interaction logs exist; compare with content-only and hybrid.</a:t>
            </a:r>
          </a:p>
          <a:p>
            <a:pPr algn="l" marL="256032" indent="-201168">
              <a:spcAft>
                <a:spcPts val="1200"/>
              </a:spcAft>
              <a:buChar char="•"/>
            </a:pPr>
            <a:r>
              <a:rPr sz="2000" b="0" i="0">
                <a:solidFill>
                  <a:srgbClr val="222222"/>
                </a:solidFill>
                <a:latin typeface="Calibri"/>
                <a:ea typeface="Calibri"/>
                <a:cs typeface="Calibri"/>
              </a:rPr>
              <a:t>Learn a policy (the base paper's Actor-Critic agent) and validate it with a larger effective sample size or a live A/B test.</a:t>
            </a:r>
          </a:p>
          <a:p>
            <a:pPr algn="l" marL="256032" indent="-201168">
              <a:spcAft>
                <a:spcPts val="1200"/>
              </a:spcAft>
              <a:buChar char="•"/>
            </a:pPr>
            <a:r>
              <a:rPr sz="2000" b="0" i="0">
                <a:solidFill>
                  <a:srgbClr val="222222"/>
                </a:solidFill>
                <a:latin typeface="Calibri"/>
                <a:ea typeface="Calibri"/>
                <a:cs typeface="Calibri"/>
              </a:rPr>
              <a:t>A user study with real precision, recall and satisfaction; prerequisite graph for the learning path; per-card suggested actions.</a:t>
            </a:r>
          </a:p>
          <a:p>
            <a:pPr algn="l" marL="256032" indent="-201168">
              <a:spcAft>
                <a:spcPts val="400"/>
              </a:spcAft>
              <a:buChar char="•"/>
            </a:pPr>
            <a:r>
              <a:rPr sz="2000" b="0" i="0">
                <a:solidFill>
                  <a:srgbClr val="222222"/>
                </a:solidFill>
                <a:latin typeface="Calibri"/>
                <a:ea typeface="Calibri"/>
                <a:cs typeface="Calibri"/>
              </a:rPr>
              <a:t>Caching, a production database, real accounts and roles, container deployment.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Box 6"/>
          <p:cNvSpPr txBox="1"/>
          <p:nvPr/>
        </p:nvSpPr>
        <p:spPr>
          <a:xfrm>
            <a:off x="502920" y="1691640"/>
            <a:ext cx="5486400" cy="4663440"/>
          </a:xfrm>
          <a:prstGeom prst="rect">
            <a:avLst/>
          </a:prstGeom>
          <a:noFill/>
        </p:spPr>
        <p:txBody>
          <a:bodyPr wrap="square" lIns="0" rIns="0" tIns="0" bIns="0" anchor="t">
            <a:spAutoFit/>
          </a:bodyPr>
          <a:lstStyle/>
          <a:p>
            <a:pPr algn="l">
              <a:spcAft>
                <a:spcPts val="500"/>
              </a:spcAft>
            </a:pPr>
            <a:r>
              <a:rPr sz="1100" b="0" i="0">
                <a:solidFill>
                  <a:srgbClr val="222222"/>
                </a:solidFill>
                <a:latin typeface="Calibri"/>
                <a:ea typeface="Calibri"/>
                <a:cs typeface="Calibri"/>
              </a:rPr>
              <a:t>[1] C. P. Isiwu, L. C. Nnadi, and Y. Watanobe, "From prediction to prescription: A Causal-AI for personalized learning path optimization in MOOCs," IEEE Access, vol. 14, pp. 29105-29118, 2026</a:t>
            </a:r>
          </a:p>
          <a:p>
            <a:pPr algn="l">
              <a:spcAft>
                <a:spcPts val="500"/>
              </a:spcAft>
            </a:pPr>
            <a:r>
              <a:rPr sz="1100" b="0" i="0">
                <a:solidFill>
                  <a:srgbClr val="222222"/>
                </a:solidFill>
                <a:latin typeface="Calibri"/>
                <a:ea typeface="Calibri"/>
                <a:cs typeface="Calibri"/>
              </a:rPr>
              <a:t>[2] A. Khreis, A. Nasr, and Y. Hilal, "Isotropy-optimized contrastive learning for semantic course recommendation," arXiv:2601.11427, Jan. 2026.</a:t>
            </a:r>
          </a:p>
          <a:p>
            <a:pPr algn="l">
              <a:spcAft>
                <a:spcPts val="500"/>
              </a:spcAft>
            </a:pPr>
            <a:r>
              <a:rPr sz="1100" b="0" i="0">
                <a:solidFill>
                  <a:srgbClr val="222222"/>
                </a:solidFill>
                <a:latin typeface="Calibri"/>
                <a:ea typeface="Calibri"/>
                <a:cs typeface="Calibri"/>
              </a:rPr>
              <a:t>[3] A. Gharahighehi, A. Ghinis, M. Venturini, F. Cornillie, and C. Vens, "Enhancing collaborative filtering-based course recommendations by exploiting time-to-event information with survival analysis," arXiv:2503.00072, 2025.</a:t>
            </a:r>
          </a:p>
          <a:p>
            <a:pPr algn="l">
              <a:spcAft>
                <a:spcPts val="500"/>
              </a:spcAft>
            </a:pPr>
            <a:r>
              <a:rPr sz="1100" b="0" i="0">
                <a:solidFill>
                  <a:srgbClr val="222222"/>
                </a:solidFill>
                <a:latin typeface="Calibri"/>
                <a:ea typeface="Calibri"/>
                <a:cs typeface="Calibri"/>
              </a:rPr>
              <a:t>[4] J. Kuzilek, M. Hlosta, and Z. Zdrahal, "Open university learning analytics dataset," Sci. Data, vol. 4, no. 1, pp. 1-8, Nov. 2017.</a:t>
            </a:r>
          </a:p>
          <a:p>
            <a:pPr algn="l">
              <a:spcAft>
                <a:spcPts val="500"/>
              </a:spcAft>
            </a:pPr>
            <a:r>
              <a:rPr sz="1100" b="0" i="0">
                <a:solidFill>
                  <a:srgbClr val="222222"/>
                </a:solidFill>
                <a:latin typeface="Calibri"/>
                <a:ea typeface="Calibri"/>
                <a:cs typeface="Calibri"/>
              </a:rPr>
              <a:t>[5] M. Dudik, D. Erhan, J. Langford, and L. Li, "Doubly robust policy evaluation and optimization," Stat. Sci., vol. 29, no. 4, pp. 485-511, Nov. 2014.</a:t>
            </a:r>
          </a:p>
          <a:p>
            <a:pPr algn="l">
              <a:spcAft>
                <a:spcPts val="500"/>
              </a:spcAft>
            </a:pPr>
            <a:r>
              <a:rPr sz="1100" b="0" i="0">
                <a:solidFill>
                  <a:srgbClr val="222222"/>
                </a:solidFill>
                <a:latin typeface="Calibri"/>
                <a:ea typeface="Calibri"/>
                <a:cs typeface="Calibri"/>
              </a:rPr>
              <a:t>[8] P. Gutierrez and J.-Y. Gerardy, "Causal inference and uplift modelling: A review of the literature," in Proc. Int. Conf. Predictive Appl. APIs, 2016, pp. 1-13.</a:t>
            </a:r>
          </a:p>
          <a:p>
            <a:pPr algn="l">
              <a:spcAft>
                <a:spcPts val="500"/>
              </a:spcAft>
            </a:pPr>
            <a:r>
              <a:rPr sz="1100" b="0" i="0">
                <a:solidFill>
                  <a:srgbClr val="222222"/>
                </a:solidFill>
                <a:latin typeface="Calibri"/>
                <a:ea typeface="Calibri"/>
                <a:cs typeface="Calibri"/>
              </a:rPr>
              <a:t>[9] J. Zhang, B. Hao, B. Chen, C. Li, H. Chen, and J. Sun, "Hierarchical reinforcement learning for course recommendation in MOOCs," in Proc. AAAI Conf. Artif. Intell., vol. 33, 2019, pp. 435-442.</a:t>
            </a:r>
          </a:p>
          <a:p>
            <a:pPr algn="l">
              <a:spcAft>
                <a:spcPts val="500"/>
              </a:spcAft>
            </a:pPr>
            <a:r>
              <a:rPr sz="1100" b="0" i="0">
                <a:solidFill>
                  <a:srgbClr val="222222"/>
                </a:solidFill>
                <a:latin typeface="Calibri"/>
                <a:ea typeface="Calibri"/>
                <a:cs typeface="Calibri"/>
              </a:rPr>
              <a:t>[11] H. Yu, C. Miao, C. Leung, and T. J. White, "Towards AI-powered personalization in MOOC learning," npj Sci. Learn., vol. 2, no. 1, p. 16, Dec. 2017.</a:t>
            </a:r>
          </a:p>
        </p:txBody>
      </p:sp>
      <p:sp>
        <p:nvSpPr>
          <p:cNvPr id="8" name="TextBox 7"/>
          <p:cNvSpPr txBox="1"/>
          <p:nvPr/>
        </p:nvSpPr>
        <p:spPr>
          <a:xfrm>
            <a:off x="6217920" y="1691640"/>
            <a:ext cx="5486400" cy="4663440"/>
          </a:xfrm>
          <a:prstGeom prst="rect">
            <a:avLst/>
          </a:prstGeom>
          <a:noFill/>
        </p:spPr>
        <p:txBody>
          <a:bodyPr wrap="square" lIns="0" rIns="0" tIns="0" bIns="0" anchor="t">
            <a:spAutoFit/>
          </a:bodyPr>
          <a:lstStyle/>
          <a:p>
            <a:pPr algn="l">
              <a:spcAft>
                <a:spcPts val="500"/>
              </a:spcAft>
            </a:pPr>
            <a:r>
              <a:rPr sz="1100" b="0" i="0">
                <a:solidFill>
                  <a:srgbClr val="222222"/>
                </a:solidFill>
                <a:latin typeface="Calibri"/>
                <a:ea typeface="Calibri"/>
                <a:cs typeface="Calibri"/>
              </a:rPr>
              <a:t>[12] T. Chen and C. Guestrin, "XGBoost: A scalable tree boosting system," in Proc. 22nd ACM SIGKDD Int. Conf. Knowl. Discovery Data Mining, 2016, pp. 785-794.</a:t>
            </a:r>
          </a:p>
          <a:p>
            <a:pPr algn="l">
              <a:spcAft>
                <a:spcPts val="500"/>
              </a:spcAft>
            </a:pPr>
            <a:r>
              <a:rPr sz="1100" b="0" i="0">
                <a:solidFill>
                  <a:srgbClr val="222222"/>
                </a:solidFill>
                <a:latin typeface="Calibri"/>
                <a:ea typeface="Calibri"/>
                <a:cs typeface="Calibri"/>
              </a:rPr>
              <a:t>[13] F. Pedregosa et al., "Scikit-learn: Machine learning in Python," J. Mach. Learn. Res., vol. 12, pp. 2825-2830, 2011.</a:t>
            </a:r>
          </a:p>
          <a:p>
            <a:pPr algn="l">
              <a:spcAft>
                <a:spcPts val="500"/>
              </a:spcAft>
            </a:pPr>
            <a:r>
              <a:rPr sz="1100" b="0" i="0">
                <a:solidFill>
                  <a:srgbClr val="222222"/>
                </a:solidFill>
                <a:latin typeface="Calibri"/>
                <a:ea typeface="Calibri"/>
                <a:cs typeface="Calibri"/>
              </a:rPr>
              <a:t>[14] G. Salton and C. Buckley, "Term-weighting approaches in automatic text retrieval," Inf. Process. Manage., vol. 24, no. 5, pp. 513-523, 1988.</a:t>
            </a:r>
          </a:p>
          <a:p>
            <a:pPr algn="l">
              <a:spcAft>
                <a:spcPts val="500"/>
              </a:spcAft>
            </a:pPr>
            <a:r>
              <a:rPr sz="1100" b="0" i="0">
                <a:solidFill>
                  <a:srgbClr val="222222"/>
                </a:solidFill>
                <a:latin typeface="Calibri"/>
                <a:ea typeface="Calibri"/>
                <a:cs typeface="Calibri"/>
              </a:rPr>
              <a:t>[15] L. Breiman, "Random forests," Mach. Learn., vol. 45, no. 1, pp. 5-32, 2001.</a:t>
            </a:r>
          </a:p>
          <a:p>
            <a:pPr algn="l">
              <a:spcAft>
                <a:spcPts val="500"/>
              </a:spcAft>
            </a:pPr>
            <a:r>
              <a:rPr sz="1100" b="0" i="0">
                <a:solidFill>
                  <a:srgbClr val="222222"/>
                </a:solidFill>
                <a:latin typeface="Calibri"/>
                <a:ea typeface="Calibri"/>
                <a:cs typeface="Calibri"/>
              </a:rPr>
              <a:t>[16] S. R. Kunzel, J. S. Sekhon, P. J. Bickel, and B. Yu, "Metalearners for estimating heterogeneous treatment effects using machine learning," Proc. Nat. Acad. Sci. USA, vol. 116, no. 10, pp. 4156-4165, 2019.</a:t>
            </a:r>
          </a:p>
          <a:p>
            <a:pPr algn="l">
              <a:spcAft>
                <a:spcPts val="500"/>
              </a:spcAft>
            </a:pPr>
            <a:r>
              <a:rPr sz="1100" b="0" i="0">
                <a:solidFill>
                  <a:srgbClr val="222222"/>
                </a:solidFill>
                <a:latin typeface="Calibri"/>
                <a:ea typeface="Calibri"/>
                <a:cs typeface="Calibri"/>
              </a:rPr>
              <a:t>[17] X. He, K. Deng, X. Wang, Y. Li, Y. Zhang, and M. Wang, "LightGCN: Simplifying and powering graph convolution network for recommendation," in Proc. 43rd Int. ACM SIGIR Conf. Res. Develop. Inf. Retrieval, 2020, pp. 639-648.</a:t>
            </a:r>
          </a:p>
          <a:p>
            <a:pPr algn="l">
              <a:spcAft>
                <a:spcPts val="500"/>
              </a:spcAft>
            </a:pPr>
            <a:r>
              <a:rPr sz="1100" b="0" i="0">
                <a:solidFill>
                  <a:srgbClr val="222222"/>
                </a:solidFill>
                <a:latin typeface="Calibri"/>
                <a:ea typeface="Calibri"/>
                <a:cs typeface="Calibri"/>
              </a:rPr>
              <a:t>[21] S. Ramirez, "FastAPI framework, high performance, easy to learn, fast to code, ready for production." [Online]. Available: https://fastapi.tiangolo.com</a:t>
            </a:r>
          </a:p>
          <a:p>
            <a:pPr algn="l">
              <a:spcAft>
                <a:spcPts val="500"/>
              </a:spcAft>
            </a:pPr>
            <a:r>
              <a:rPr sz="1100" b="0" i="0">
                <a:solidFill>
                  <a:srgbClr val="222222"/>
                </a:solidFill>
                <a:latin typeface="Calibri"/>
                <a:ea typeface="Calibri"/>
                <a:cs typeface="Calibri"/>
              </a:rPr>
              <a:t>[23] S. Sujay, G. Harshitha, and M. Monisha, "EduGuide: A hybrid NLP-driven course recommendation system ... TF-IDF and ML," Int. J. Innov. Res. Technol., vol. 13, no. 3, 2026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C7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LearnPathIQ">
  <a:themeElements>
    <a:clrScheme name="LearnPathIQ">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earnPathIQ">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LearnPathIQ">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Personalized E-learning Course Recommendation System - Final Review</dc:title>
  <dc:subject>Personalized E-learning Course Recommendation System</dc:subject>
  <dc:creator>Batch C7, Dept. of CSE</dc:creator>
  <cp:lastModifiedBy>Batch D1, Dept. of CSE, TKRCET</cp:lastModifiedBy>
  <cp:revision>1</cp:revision>
  <dcterms:created xsi:type="dcterms:W3CDTF">2026-10-07T05:03:03Z</dcterms:created>
  <dcterms:modified xsi:type="dcterms:W3CDTF">2026-10-07T05:03:03Z</dcterms:modified>
  <dc:description/>
</cp:coreProperties>
</file>