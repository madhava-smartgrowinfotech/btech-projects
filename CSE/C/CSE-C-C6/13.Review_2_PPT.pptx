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c3623e47-5b1a-7aef-5476-75bff30165c3}">
          <p14:sldIdLst>
            <p14:sldId id="256"/>
            <p14:sldId id="257"/>
            <p14:sldId id="258"/>
          </p14:sldIdLst>
        </p14:section>
        <p14:section name="Design" id="{ee3f979a-aefa-c88f-8568-1021737ba133}">
          <p14:sldIdLst>
            <p14:sldId id="259"/>
            <p14:sldId id="260"/>
            <p14:sldId id="261"/>
            <p14:sldId id="262"/>
            <p14:sldId id="263"/>
            <p14:sldId id="264"/>
            <p14:sldId id="265"/>
            <p14:sldId id="266"/>
            <p14:sldId id="267"/>
            <p14:sldId id="268"/>
          </p14:sldIdLst>
        </p14:section>
        <p14:section name="Progress" id="{cf39a97a-7fb0-4c7a-0650-0fb3a5c44815}">
          <p14:sldIdLst>
            <p14:sldId id="269"/>
            <p14:sldId id="270"/>
            <p14:sldId id="271"/>
            <p14:sldId id="272"/>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review shows how the system is designed and built, what is implemented, the first measured results on real data, and the open items.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Agenda for the design and progress review.</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One-minute recap of Review 1: the gap between heavy neural detectors and a light, tunable pipeline, and how the base paper relates (motivation and class weighting only).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FastAPI layer calls the same library functions as the Streamlit app and the command line, so all three front ends use one pipeline and one model file.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same workflow runs from train.py, the Streamlit app and the Retrain screen. The experiment script reuses the product's own pipeline class.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LIAR2 is 18,369 / 2,297 / 2,296 PolitiFact statements with six labels, mapped to the project's three classes. Training uses a stratified 3,000-statement subsample because the Firefly search needs thousands of SVM fits on a CPU. The demo corpus is synthetic, so its perfect scores are not evidence of accuracy on real news.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cleaning and the 25 stylometric features are in src/preprocessing.py. The scaler and PCA are fitted on the training subsample only and saved with the model.</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model is three fitted stages. The 25-feature stylometric block and the TF-IDF block are concatenated before scaling. Firefly's vector is 300 mask logits plus log10 C and log10 gamma.</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Settings come from src/firefly.py and src/pipeline.py. Training time is dominated by the Firefly search; random search with the same budget takes about as long.</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Left: the Firefly search and the final model. The mismatch arises because predict uses the class-weighted decision function while Platt scaling is fitted without that weighting; the demo model never showed it.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Level-1 data flow: detect, batch detect, train/retrain and statistics, with the model bundle and the temporary CSV as stores.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project stores files, not rows. The class diagram shows the real classes: the FastAPI module, the pipeline, the Firefly optimiser and the library modules.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Everything is open source and starts with run.bat. The ML library runs without the web layers.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State of the code base. The honest gaps are stemming, calibration and evaluation beyond LIAR2.</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Headline: macro-F1 about 0.43 and accuracy about 0.49, mean of three seeds. The optimiser does not clearly beat equal-budget random search or the default SVM, and TF-IDF linear models are better and far cheaper. The base paper's 95.5 % is for a different, binary Arabic task on a GPU and is not comparable.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Real screenshots of the running app with the model trained on LIAR2. The Detect example is a real test statement, not a mock-up.</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16 smoke checks plus 34 library and 33 API edge checks. The observations shaped how results and limitations are reported.</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Each challenge changed either the experiment design or how results are reported.</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Plan to the final review. None of these items is claimed as done.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Likely questions: why the optimiser does not help here; why only three classes; how the verdict and probabilities can disagree; what the base paper's numbers mean for us (nothing directly).</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1B2A4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11094415" cy="1371600"/>
          </a:xfrm>
          <a:prstGeom prst="rect">
            <a:avLst/>
          </a:prstGeom>
          <a:noFill/>
          <a:ln/>
        </p:spPr>
        <p:txBody>
          <a:bodyPr wrap="square" rtlCol="0"/>
          <a:lstStyle>
            <a:lvl1pPr algn="l" indent="0" marL="0">
              <a:buNone/>
              <a:defRPr lang="en-US" sz="40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548640" y="2880360"/>
            <a:ext cx="11094415" cy="822960"/>
          </a:xfrm>
          <a:prstGeom prst="rect">
            <a:avLst/>
          </a:prstGeom>
          <a:noFill/>
          <a:ln/>
        </p:spPr>
        <p:txBody>
          <a:bodyPr wrap="square" rtlCol="0"/>
          <a:lstStyle>
            <a:lvl1pPr algn="l" indent="0" marL="0">
              <a:buNone/>
              <a:defRPr lang="en-US" sz="2000" dirty="0">
                <a:solidFill>
                  <a:srgbClr val="CADCFC"/>
                </a:solidFill>
                <a:latin typeface="Calibri" pitchFamily="34" charset="0"/>
                <a:ea typeface="Calibri" pitchFamily="34" charset="-122"/>
                <a:cs typeface="Calibri" pitchFamily="34" charset="-120"/>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TruthGlow  ·  Review 2</a:t>
            </a:r>
            <a:endParaRPr lang="en-US" sz="1000" dirty="0"/>
          </a:p>
        </p:txBody>
      </p:sp>
      <p:sp>
        <p:nvSpPr>
          <p:cNvPr id="3" name="Text 1"/>
          <p:cNvSpPr/>
          <p:nvPr>
            <p:ph idx="101" type="title" hasCustomPrompt="1"/>
          </p:nvPr>
        </p:nvSpPr>
        <p:spPr>
          <a:xfrm>
            <a:off x="548640" y="320040"/>
            <a:ext cx="11094415" cy="777240"/>
          </a:xfrm>
          <a:prstGeom prst="rect">
            <a:avLst/>
          </a:prstGeom>
          <a:noFill/>
          <a:ln/>
        </p:spPr>
        <p:txBody>
          <a:bodyPr wrap="square" rtlCol="0"/>
          <a:lstStyle>
            <a:lvl1pPr algn="l" indent="0" marL="0">
              <a:buNone/>
              <a:defRPr lang="en-US" sz="3200" b="1" dirty="0">
                <a:solidFill>
                  <a:srgbClr val="1B2A41"/>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TION">
    <p:bg>
      <p:bgPr>
        <a:solidFill>
          <a:srgbClr val="1B2A4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194560"/>
            <a:ext cx="11094415" cy="1188720"/>
          </a:xfrm>
          <a:prstGeom prst="rect">
            <a:avLst/>
          </a:prstGeom>
          <a:noFill/>
          <a:ln/>
        </p:spPr>
        <p:txBody>
          <a:bodyPr wrap="square" rtlCol="0"/>
          <a:lstStyle>
            <a:lvl1pPr algn="l" indent="0" marL="0">
              <a:buNone/>
              <a:defRPr lang="en-US" sz="40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548640" y="3474720"/>
            <a:ext cx="11094415" cy="1463040"/>
          </a:xfrm>
          <a:prstGeom prst="rect">
            <a:avLst/>
          </a:prstGeom>
          <a:noFill/>
          <a:ln/>
        </p:spPr>
        <p:txBody>
          <a:bodyPr wrap="square" rtlCol="0"/>
          <a:lstStyle>
            <a:lvl1pPr algn="l" indent="0" marL="0">
              <a:buNone/>
              <a:defRPr lang="en-US" sz="2000" dirty="0">
                <a:solidFill>
                  <a:srgbClr val="CADCFC"/>
                </a:solidFill>
                <a:latin typeface="Calibri" pitchFamily="34" charset="0"/>
                <a:ea typeface="Calibri" pitchFamily="34" charset="-122"/>
                <a:cs typeface="Calibri" pitchFamily="34" charset="-120"/>
              </a:defRPr>
            </a:lvl1pPr>
          </a:lstStyle>
          <a:p>
            <a:pPr algn="l" indent="0" marL="0">
              <a:buNone/>
            </a:pPr>
            <a:endParaRPr lang="en-US" sz="2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ADCFC"/>
                </a:solidFill>
                <a:latin typeface="Calibri"/>
                <a:ea typeface="Calibri"/>
                <a:cs typeface="Calibri"/>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3.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4" Type="http://schemas.openxmlformats.org/officeDocument/2006/relationships/slideLayout" Target="../slideLayouts/slideLayout3.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3.xml"/><Relationship Id="rId3" Type="http://schemas.openxmlformats.org/officeDocument/2006/relationships/notesSlide" Target="../notesSlides/notesSlide12.xml"/><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7" Type="http://schemas.openxmlformats.org/officeDocument/2006/relationships/slideLayout" Target="../slideLayouts/slideLayout3.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0.png"/><Relationship Id="rId2" Type="http://schemas.openxmlformats.org/officeDocument/2006/relationships/image" Target="../media/image9.png"/><Relationship Id="rId3" Type="http://schemas.openxmlformats.org/officeDocument/2006/relationships/slideLayout" Target="../slideLayouts/slideLayout3.xml"/><Relationship Id="rId4" Type="http://schemas.openxmlformats.org/officeDocument/2006/relationships/notesSlide" Target="../notesSlides/notesSlide16.xml"/><Relationship Id="rId5"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7" Type="http://schemas.openxmlformats.org/officeDocument/2006/relationships/slideLayout" Target="../slideLayouts/slideLayout3.xml"/><Relationship Id="rId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11094415" cy="1371600"/>
          </a:xfrm>
          <a:prstGeom prst="rect">
            <a:avLst/>
          </a:prstGeom>
          <a:noFill/>
          <a:ln/>
        </p:spPr>
        <p:txBody>
          <a:bodyPr wrap="square" lIns="0" tIns="0" rIns="0" bIns="0" rtlCol="0" anchor="b"/>
          <a:lstStyle/>
          <a:p>
            <a:pPr algn="l" indent="0" marL="0">
              <a:buNone/>
            </a:pPr>
            <a:r>
              <a:rPr lang="en-US" sz="3000" b="1" dirty="0">
                <a:solidFill>
                  <a:srgbClr val="FFFFFF"/>
                </a:solidFill>
                <a:latin typeface="Cambria" pitchFamily="34" charset="0"/>
                <a:ea typeface="Cambria" pitchFamily="34" charset="-122"/>
                <a:cs typeface="Cambria" pitchFamily="34" charset="-120"/>
              </a:rPr>
              <a:t>Fake News Detection System Using Feature Based Optimised MSVM Classification</a:t>
            </a:r>
            <a:endParaRPr lang="en-US" sz="4000" dirty="0"/>
          </a:p>
        </p:txBody>
      </p:sp>
      <p:sp>
        <p:nvSpPr>
          <p:cNvPr id="3" name="Text 0"/>
          <p:cNvSpPr/>
          <p:nvPr>
            <p:ph idx="101" type="body" hasCustomPrompt="1"/>
          </p:nvPr>
        </p:nvSpPr>
        <p:spPr>
          <a:xfrm>
            <a:off x="548640" y="2880360"/>
            <a:ext cx="11094415" cy="822960"/>
          </a:xfrm>
          <a:prstGeom prst="rect">
            <a:avLst/>
          </a:prstGeom>
          <a:noFill/>
          <a:ln/>
        </p:spPr>
        <p:txBody>
          <a:bodyPr wrap="square" lIns="0" tIns="0" rIns="0" bIns="0" rtlCol="0" anchor="t"/>
          <a:lstStyle/>
          <a:p>
            <a:pPr algn="l" indent="0" marL="0">
              <a:buNone/>
            </a:pPr>
            <a:r>
              <a:rPr lang="en-US" sz="1800" dirty="0">
                <a:solidFill>
                  <a:srgbClr val="CADCFC"/>
                </a:solidFill>
                <a:latin typeface="Calibri" pitchFamily="34" charset="0"/>
                <a:ea typeface="Calibri" pitchFamily="34" charset="-122"/>
                <a:cs typeface="Calibri" pitchFamily="34" charset="-120"/>
              </a:rPr>
              <a:t>A light PCA + Firefly + multi-class SVM pipeline with a PARTIALLY TRUE class, behind a FastAPI service and a React interface</a:t>
            </a:r>
            <a:endParaRPr lang="en-US" sz="2000" dirty="0"/>
          </a:p>
        </p:txBody>
      </p:sp>
      <p:sp>
        <p:nvSpPr>
          <p:cNvPr id="4" name="review label"/>
          <p:cNvSpPr txBox="1"/>
          <p:nvPr/>
        </p:nvSpPr>
        <p:spPr>
          <a:xfrm>
            <a:off x="548640" y="640080"/>
            <a:ext cx="7315200" cy="365760"/>
          </a:xfrm>
          <a:prstGeom prst="rect">
            <a:avLst/>
          </a:prstGeom>
          <a:noFill/>
          <a:ln/>
        </p:spPr>
        <p:txBody>
          <a:bodyPr wrap="square" lIns="0" tIns="0" rIns="0" bIns="0" rtlCol="0" anchor="ctr"/>
          <a:lstStyle/>
          <a:p>
            <a:pPr indent="0" marL="0">
              <a:buNone/>
            </a:pPr>
            <a:r>
              <a:rPr lang="en-US" sz="1400" b="1" spc="200" kern="0" dirty="0">
                <a:solidFill>
                  <a:srgbClr val="EDA100"/>
                </a:solidFill>
              </a:rPr>
              <a:t>REVIEW 2  ·  DESIGN, METHODOLOGY AND PROGRESS</a:t>
            </a:r>
            <a:endParaRPr lang="en-US" sz="1400" dirty="0"/>
          </a:p>
        </p:txBody>
      </p:sp>
      <p:sp>
        <p:nvSpPr>
          <p:cNvPr id="5" name="Text 3"/>
          <p:cNvSpPr txBox="1"/>
          <p:nvPr/>
        </p:nvSpPr>
        <p:spPr>
          <a:xfrm>
            <a:off x="548640" y="4160520"/>
            <a:ext cx="5120640" cy="320040"/>
          </a:xfrm>
          <a:prstGeom prst="rect">
            <a:avLst/>
          </a:prstGeom>
          <a:noFill/>
          <a:ln/>
        </p:spPr>
        <p:txBody>
          <a:bodyPr wrap="square" lIns="0" tIns="0" rIns="0" bIns="0" rtlCol="0" anchor="ctr"/>
          <a:lstStyle/>
          <a:p>
            <a:pPr indent="0" marL="0">
              <a:buNone/>
            </a:pPr>
            <a:r>
              <a:rPr lang="en-US" sz="1400" dirty="0">
                <a:solidFill>
                  <a:srgbClr val="CADCFC"/>
                </a:solidFill>
              </a:rPr>
              <a:t>Presented by</a:t>
            </a:r>
            <a:endParaRPr lang="en-US" sz="1400" dirty="0"/>
          </a:p>
        </p:txBody>
      </p:sp>
      <p:sp>
        <p:nvSpPr>
          <p:cNvPr id="6" name="team"/>
          <p:cNvSpPr txBox="1"/>
          <p:nvPr/>
        </p:nvSpPr>
        <p:spPr>
          <a:xfrm>
            <a:off x="548640" y="4480560"/>
            <a:ext cx="5120640" cy="1280160"/>
          </a:xfrm>
          <a:prstGeom prst="rect">
            <a:avLst/>
          </a:prstGeom>
          <a:noFill/>
          <a:ln/>
        </p:spPr>
        <p:txBody>
          <a:bodyPr wrap="square" lIns="0" tIns="0" rIns="0" bIns="0" rtlCol="0" anchor="t"/>
          <a:lstStyle/>
          <a:p>
            <a:pPr indent="0" marL="0">
              <a:buNone/>
            </a:pPr>
            <a:r>
              <a:rPr lang="en-US" sz="1400" dirty="0">
                <a:solidFill>
                  <a:srgbClr val="FFFFFF"/>
                </a:solidFill>
              </a:rPr>
              <a:t>Neela Mojes  23K91A05H1</a:t>
            </a:r>
            <a:endParaRPr lang="en-US" sz="1500" dirty="0"/>
          </a:p>
          <a:p>
            <a:pPr indent="0" marL="0">
              <a:buNone/>
            </a:pPr>
            <a:r>
              <a:rPr lang="en-US" sz="1400" dirty="0">
                <a:solidFill>
                  <a:srgbClr val="FFFFFF"/>
                </a:solidFill>
              </a:rPr>
              <a:t>Noor Saniya  23K91A05H4</a:t>
            </a:r>
            <a:endParaRPr lang="en-US" sz="1500" dirty="0"/>
          </a:p>
          <a:p>
            <a:pPr indent="0" marL="0">
              <a:buNone/>
            </a:pPr>
            <a:r>
              <a:rPr lang="en-US" sz="1400" dirty="0">
                <a:solidFill>
                  <a:srgbClr val="FFFFFF"/>
                </a:solidFill>
              </a:rPr>
              <a:t>Malkajgiri Akshitha  23K91A05E2</a:t>
            </a:r>
            <a:endParaRPr lang="en-US" sz="1500" dirty="0"/>
          </a:p>
          <a:p>
            <a:pPr indent="0" marL="0">
              <a:buNone/>
            </a:pPr>
            <a:r>
              <a:rPr lang="en-US" sz="1400" dirty="0">
                <a:solidFill>
                  <a:srgbClr val="FFFFFF"/>
                </a:solidFill>
              </a:rPr>
              <a:t>Maravajhala Radha Sri Aashritha  23K91A05E7</a:t>
            </a:r>
            <a:endParaRPr lang="en-US" sz="1500" dirty="0"/>
          </a:p>
        </p:txBody>
      </p:sp>
      <p:sp>
        <p:nvSpPr>
          <p:cNvPr id="7" name="Text 5"/>
          <p:cNvSpPr txBox="1"/>
          <p:nvPr/>
        </p:nvSpPr>
        <p:spPr>
          <a:xfrm>
            <a:off x="6400800" y="4160520"/>
            <a:ext cx="5212080" cy="320040"/>
          </a:xfrm>
          <a:prstGeom prst="rect">
            <a:avLst/>
          </a:prstGeom>
          <a:noFill/>
          <a:ln/>
        </p:spPr>
        <p:txBody>
          <a:bodyPr wrap="square" lIns="0" tIns="0" rIns="0" bIns="0" rtlCol="0" anchor="ctr"/>
          <a:lstStyle/>
          <a:p>
            <a:pPr indent="0" marL="0">
              <a:buNone/>
            </a:pPr>
            <a:r>
              <a:rPr lang="en-US" sz="1400" dirty="0">
                <a:solidFill>
                  <a:srgbClr val="CADCFC"/>
                </a:solidFill>
              </a:rPr>
              <a:t>Under the guidance of</a:t>
            </a:r>
            <a:endParaRPr lang="en-US" sz="1400" dirty="0"/>
          </a:p>
        </p:txBody>
      </p:sp>
      <p:sp>
        <p:nvSpPr>
          <p:cNvPr id="8" name="Text 6"/>
          <p:cNvSpPr txBox="1"/>
          <p:nvPr/>
        </p:nvSpPr>
        <p:spPr>
          <a:xfrm>
            <a:off x="6400800" y="4480560"/>
            <a:ext cx="5212080" cy="365760"/>
          </a:xfrm>
          <a:prstGeom prst="rect">
            <a:avLst/>
          </a:prstGeom>
          <a:noFill/>
          <a:ln/>
        </p:spPr>
        <p:txBody>
          <a:bodyPr wrap="square" lIns="0" tIns="0" rIns="0" bIns="0" rtlCol="0" anchor="ctr"/>
          <a:lstStyle/>
          <a:p>
            <a:pPr indent="0" marL="0">
              <a:buNone/>
            </a:pPr>
            <a:r>
              <a:rPr lang="en-US" sz="1500" dirty="0">
                <a:solidFill>
                  <a:srgbClr val="FFFFFF"/>
                </a:solidFill>
              </a:rPr>
              <a:t>K Rajasekhar Rao, [DESIGNATION]</a:t>
            </a:r>
            <a:endParaRPr lang="en-US" sz="1500" dirty="0"/>
          </a:p>
        </p:txBody>
      </p:sp>
      <p:sp>
        <p:nvSpPr>
          <p:cNvPr id="9" name="Text 7"/>
          <p:cNvSpPr txBox="1"/>
          <p:nvPr/>
        </p:nvSpPr>
        <p:spPr>
          <a:xfrm>
            <a:off x="6400800" y="4983480"/>
            <a:ext cx="5212080" cy="777240"/>
          </a:xfrm>
          <a:prstGeom prst="rect">
            <a:avLst/>
          </a:prstGeom>
          <a:noFill/>
          <a:ln/>
        </p:spPr>
        <p:txBody>
          <a:bodyPr wrap="square" lIns="0" tIns="0" rIns="0" bIns="0" rtlCol="0" anchor="t"/>
          <a:lstStyle/>
          <a:p>
            <a:pPr indent="0" marL="0">
              <a:buNone/>
            </a:pPr>
            <a:r>
              <a:rPr lang="en-US" sz="1300" dirty="0">
                <a:solidFill>
                  <a:srgbClr val="CADCFC"/>
                </a:solidFill>
              </a:rPr>
              <a:t>Department of Computer Science and Engineering</a:t>
            </a:r>
            <a:endParaRPr lang="en-US" sz="1300" dirty="0"/>
          </a:p>
          <a:p>
            <a:pPr indent="0" marL="0">
              <a:buNone/>
            </a:pPr>
            <a:r>
              <a:rPr lang="en-US" sz="1300" dirty="0">
                <a:solidFill>
                  <a:srgbClr val="CADCFC"/>
                </a:solidFill>
              </a:rPr>
              <a:t>[COLLEGE NAME]  ·  Batch C6 (CSE-C)  ·  [ACADEMIC YEAR]</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Contents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2</a:t>
            </a:fld>
            <a:endParaRPr lang="en-US"/>
          </a:p>
        </p:txBody>
      </p:sp>
      <p:sp>
        <p:nvSpPr>
          <p:cNvPr id="26" name="Rounded Rectangle 25"/>
          <p:cNvSpPr/>
          <p:nvPr/>
        </p:nvSpPr>
        <p:spPr>
          <a:xfrm>
            <a:off x="548640" y="14173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77240" y="1545336"/>
            <a:ext cx="914400" cy="457200"/>
          </a:xfrm>
          <a:prstGeom prst="rect">
            <a:avLst/>
          </a:prstGeom>
          <a:noFill/>
        </p:spPr>
        <p:txBody>
          <a:bodyPr wrap="square" lIns="0" rIns="0" tIns="0" bIns="0" anchor="t">
            <a:spAutoFit/>
          </a:bodyPr>
          <a:lstStyle/>
          <a:p>
            <a:pPr algn="l">
              <a:spcAft>
                <a:spcPts val="400"/>
              </a:spcAft>
            </a:pPr>
            <a:r>
              <a:rPr sz="2600" b="1" i="0">
                <a:solidFill>
                  <a:srgbClr val="EB6834"/>
                </a:solidFill>
                <a:latin typeface="Cambria"/>
                <a:ea typeface="Cambria"/>
                <a:cs typeface="Cambria"/>
              </a:rPr>
              <a:t>01</a:t>
            </a:r>
          </a:p>
        </p:txBody>
      </p:sp>
      <p:sp>
        <p:nvSpPr>
          <p:cNvPr id="28" name="TextBox 27"/>
          <p:cNvSpPr txBox="1"/>
          <p:nvPr/>
        </p:nvSpPr>
        <p:spPr>
          <a:xfrm>
            <a:off x="777240" y="20756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Recap and architecture</a:t>
            </a:r>
          </a:p>
        </p:txBody>
      </p:sp>
      <p:sp>
        <p:nvSpPr>
          <p:cNvPr id="29" name="Rounded Rectangle 28"/>
          <p:cNvSpPr/>
          <p:nvPr/>
        </p:nvSpPr>
        <p:spPr>
          <a:xfrm>
            <a:off x="4334255" y="14173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4562855" y="1545336"/>
            <a:ext cx="914400" cy="457200"/>
          </a:xfrm>
          <a:prstGeom prst="rect">
            <a:avLst/>
          </a:prstGeom>
          <a:noFill/>
        </p:spPr>
        <p:txBody>
          <a:bodyPr wrap="square" lIns="0" rIns="0" tIns="0" bIns="0" anchor="t">
            <a:spAutoFit/>
          </a:bodyPr>
          <a:lstStyle/>
          <a:p>
            <a:pPr algn="l">
              <a:spcAft>
                <a:spcPts val="400"/>
              </a:spcAft>
            </a:pPr>
            <a:r>
              <a:rPr sz="2600" b="1" i="0">
                <a:solidFill>
                  <a:srgbClr val="2A78D6"/>
                </a:solidFill>
                <a:latin typeface="Cambria"/>
                <a:ea typeface="Cambria"/>
                <a:cs typeface="Cambria"/>
              </a:rPr>
              <a:t>02</a:t>
            </a:r>
          </a:p>
        </p:txBody>
      </p:sp>
      <p:sp>
        <p:nvSpPr>
          <p:cNvPr id="31" name="TextBox 30"/>
          <p:cNvSpPr txBox="1"/>
          <p:nvPr/>
        </p:nvSpPr>
        <p:spPr>
          <a:xfrm>
            <a:off x="4562855" y="20756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Methodology and dataset</a:t>
            </a:r>
          </a:p>
        </p:txBody>
      </p:sp>
      <p:sp>
        <p:nvSpPr>
          <p:cNvPr id="32" name="Rounded Rectangle 31"/>
          <p:cNvSpPr/>
          <p:nvPr/>
        </p:nvSpPr>
        <p:spPr>
          <a:xfrm>
            <a:off x="8119871" y="14173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8348471" y="1545336"/>
            <a:ext cx="914400" cy="457200"/>
          </a:xfrm>
          <a:prstGeom prst="rect">
            <a:avLst/>
          </a:prstGeom>
          <a:noFill/>
        </p:spPr>
        <p:txBody>
          <a:bodyPr wrap="square" lIns="0" rIns="0" tIns="0" bIns="0" anchor="t">
            <a:spAutoFit/>
          </a:bodyPr>
          <a:lstStyle/>
          <a:p>
            <a:pPr algn="l">
              <a:spcAft>
                <a:spcPts val="400"/>
              </a:spcAft>
            </a:pPr>
            <a:r>
              <a:rPr sz="2600" b="1" i="0">
                <a:solidFill>
                  <a:srgbClr val="1BAF7A"/>
                </a:solidFill>
                <a:latin typeface="Cambria"/>
                <a:ea typeface="Cambria"/>
                <a:cs typeface="Cambria"/>
              </a:rPr>
              <a:t>03</a:t>
            </a:r>
          </a:p>
        </p:txBody>
      </p:sp>
      <p:sp>
        <p:nvSpPr>
          <p:cNvPr id="34" name="TextBox 33"/>
          <p:cNvSpPr txBox="1"/>
          <p:nvPr/>
        </p:nvSpPr>
        <p:spPr>
          <a:xfrm>
            <a:off x="8348471" y="20756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Preprocessing and model</a:t>
            </a:r>
          </a:p>
        </p:txBody>
      </p:sp>
      <p:sp>
        <p:nvSpPr>
          <p:cNvPr id="35" name="Rounded Rectangle 34"/>
          <p:cNvSpPr/>
          <p:nvPr/>
        </p:nvSpPr>
        <p:spPr>
          <a:xfrm>
            <a:off x="548640" y="30175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777240" y="3145536"/>
            <a:ext cx="914400" cy="457200"/>
          </a:xfrm>
          <a:prstGeom prst="rect">
            <a:avLst/>
          </a:prstGeom>
          <a:noFill/>
        </p:spPr>
        <p:txBody>
          <a:bodyPr wrap="square" lIns="0" rIns="0" tIns="0" bIns="0" anchor="t">
            <a:spAutoFit/>
          </a:bodyPr>
          <a:lstStyle/>
          <a:p>
            <a:pPr algn="l">
              <a:spcAft>
                <a:spcPts val="400"/>
              </a:spcAft>
            </a:pPr>
            <a:r>
              <a:rPr sz="2600" b="1" i="0">
                <a:solidFill>
                  <a:srgbClr val="6B52D6"/>
                </a:solidFill>
                <a:latin typeface="Cambria"/>
                <a:ea typeface="Cambria"/>
                <a:cs typeface="Cambria"/>
              </a:rPr>
              <a:t>04</a:t>
            </a:r>
          </a:p>
        </p:txBody>
      </p:sp>
      <p:sp>
        <p:nvSpPr>
          <p:cNvPr id="37" name="TextBox 36"/>
          <p:cNvSpPr txBox="1"/>
          <p:nvPr/>
        </p:nvSpPr>
        <p:spPr>
          <a:xfrm>
            <a:off x="777240" y="3675887"/>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Training and decision logic</a:t>
            </a:r>
          </a:p>
        </p:txBody>
      </p:sp>
      <p:sp>
        <p:nvSpPr>
          <p:cNvPr id="38" name="Rounded Rectangle 37"/>
          <p:cNvSpPr/>
          <p:nvPr/>
        </p:nvSpPr>
        <p:spPr>
          <a:xfrm>
            <a:off x="4334255" y="30175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4562855" y="3145536"/>
            <a:ext cx="914400" cy="457200"/>
          </a:xfrm>
          <a:prstGeom prst="rect">
            <a:avLst/>
          </a:prstGeom>
          <a:noFill/>
        </p:spPr>
        <p:txBody>
          <a:bodyPr wrap="square" lIns="0" rIns="0" tIns="0" bIns="0" anchor="t">
            <a:spAutoFit/>
          </a:bodyPr>
          <a:lstStyle/>
          <a:p>
            <a:pPr algn="l">
              <a:spcAft>
                <a:spcPts val="400"/>
              </a:spcAft>
            </a:pPr>
            <a:r>
              <a:rPr sz="2600" b="1" i="0">
                <a:solidFill>
                  <a:srgbClr val="EB6834"/>
                </a:solidFill>
                <a:latin typeface="Cambria"/>
                <a:ea typeface="Cambria"/>
                <a:cs typeface="Cambria"/>
              </a:rPr>
              <a:t>05</a:t>
            </a:r>
          </a:p>
        </p:txBody>
      </p:sp>
      <p:sp>
        <p:nvSpPr>
          <p:cNvPr id="40" name="TextBox 39"/>
          <p:cNvSpPr txBox="1"/>
          <p:nvPr/>
        </p:nvSpPr>
        <p:spPr>
          <a:xfrm>
            <a:off x="4562855" y="3675887"/>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Data flow, database and UML</a:t>
            </a:r>
          </a:p>
        </p:txBody>
      </p:sp>
      <p:sp>
        <p:nvSpPr>
          <p:cNvPr id="41" name="Rounded Rectangle 40"/>
          <p:cNvSpPr/>
          <p:nvPr/>
        </p:nvSpPr>
        <p:spPr>
          <a:xfrm>
            <a:off x="8119871" y="30175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8348471" y="3145536"/>
            <a:ext cx="914400" cy="457200"/>
          </a:xfrm>
          <a:prstGeom prst="rect">
            <a:avLst/>
          </a:prstGeom>
          <a:noFill/>
        </p:spPr>
        <p:txBody>
          <a:bodyPr wrap="square" lIns="0" rIns="0" tIns="0" bIns="0" anchor="t">
            <a:spAutoFit/>
          </a:bodyPr>
          <a:lstStyle/>
          <a:p>
            <a:pPr algn="l">
              <a:spcAft>
                <a:spcPts val="400"/>
              </a:spcAft>
            </a:pPr>
            <a:r>
              <a:rPr sz="2600" b="1" i="0">
                <a:solidFill>
                  <a:srgbClr val="2A78D6"/>
                </a:solidFill>
                <a:latin typeface="Cambria"/>
                <a:ea typeface="Cambria"/>
                <a:cs typeface="Cambria"/>
              </a:rPr>
              <a:t>06</a:t>
            </a:r>
          </a:p>
        </p:txBody>
      </p:sp>
      <p:sp>
        <p:nvSpPr>
          <p:cNvPr id="43" name="TextBox 42"/>
          <p:cNvSpPr txBox="1"/>
          <p:nvPr/>
        </p:nvSpPr>
        <p:spPr>
          <a:xfrm>
            <a:off x="8348471" y="3675887"/>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Technology stack</a:t>
            </a:r>
          </a:p>
        </p:txBody>
      </p:sp>
      <p:sp>
        <p:nvSpPr>
          <p:cNvPr id="44" name="Rounded Rectangle 43"/>
          <p:cNvSpPr/>
          <p:nvPr/>
        </p:nvSpPr>
        <p:spPr>
          <a:xfrm>
            <a:off x="548640" y="46177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777240" y="4745736"/>
            <a:ext cx="914400" cy="457200"/>
          </a:xfrm>
          <a:prstGeom prst="rect">
            <a:avLst/>
          </a:prstGeom>
          <a:noFill/>
        </p:spPr>
        <p:txBody>
          <a:bodyPr wrap="square" lIns="0" rIns="0" tIns="0" bIns="0" anchor="t">
            <a:spAutoFit/>
          </a:bodyPr>
          <a:lstStyle/>
          <a:p>
            <a:pPr algn="l">
              <a:spcAft>
                <a:spcPts val="400"/>
              </a:spcAft>
            </a:pPr>
            <a:r>
              <a:rPr sz="2600" b="1" i="0">
                <a:solidFill>
                  <a:srgbClr val="1BAF7A"/>
                </a:solidFill>
                <a:latin typeface="Cambria"/>
                <a:ea typeface="Cambria"/>
                <a:cs typeface="Cambria"/>
              </a:rPr>
              <a:t>07</a:t>
            </a:r>
          </a:p>
        </p:txBody>
      </p:sp>
      <p:sp>
        <p:nvSpPr>
          <p:cNvPr id="46" name="TextBox 45"/>
          <p:cNvSpPr txBox="1"/>
          <p:nvPr/>
        </p:nvSpPr>
        <p:spPr>
          <a:xfrm>
            <a:off x="777240" y="52760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Implementation progress and results</a:t>
            </a:r>
          </a:p>
        </p:txBody>
      </p:sp>
      <p:sp>
        <p:nvSpPr>
          <p:cNvPr id="47" name="Rounded Rectangle 46"/>
          <p:cNvSpPr/>
          <p:nvPr/>
        </p:nvSpPr>
        <p:spPr>
          <a:xfrm>
            <a:off x="4334255" y="46177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4562855" y="4745736"/>
            <a:ext cx="914400" cy="457200"/>
          </a:xfrm>
          <a:prstGeom prst="rect">
            <a:avLst/>
          </a:prstGeom>
          <a:noFill/>
        </p:spPr>
        <p:txBody>
          <a:bodyPr wrap="square" lIns="0" rIns="0" tIns="0" bIns="0" anchor="t">
            <a:spAutoFit/>
          </a:bodyPr>
          <a:lstStyle/>
          <a:p>
            <a:pPr algn="l">
              <a:spcAft>
                <a:spcPts val="400"/>
              </a:spcAft>
            </a:pPr>
            <a:r>
              <a:rPr sz="2600" b="1" i="0">
                <a:solidFill>
                  <a:srgbClr val="6B52D6"/>
                </a:solidFill>
                <a:latin typeface="Cambria"/>
                <a:ea typeface="Cambria"/>
                <a:cs typeface="Cambria"/>
              </a:rPr>
              <a:t>08</a:t>
            </a:r>
          </a:p>
        </p:txBody>
      </p:sp>
      <p:sp>
        <p:nvSpPr>
          <p:cNvPr id="49" name="TextBox 48"/>
          <p:cNvSpPr txBox="1"/>
          <p:nvPr/>
        </p:nvSpPr>
        <p:spPr>
          <a:xfrm>
            <a:off x="4562855" y="52760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Output screens and testing</a:t>
            </a:r>
          </a:p>
        </p:txBody>
      </p:sp>
      <p:sp>
        <p:nvSpPr>
          <p:cNvPr id="50" name="Rounded Rectangle 49"/>
          <p:cNvSpPr/>
          <p:nvPr/>
        </p:nvSpPr>
        <p:spPr>
          <a:xfrm>
            <a:off x="8119871" y="46177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8348471" y="4745736"/>
            <a:ext cx="914400" cy="457200"/>
          </a:xfrm>
          <a:prstGeom prst="rect">
            <a:avLst/>
          </a:prstGeom>
          <a:noFill/>
        </p:spPr>
        <p:txBody>
          <a:bodyPr wrap="square" lIns="0" rIns="0" tIns="0" bIns="0" anchor="t">
            <a:spAutoFit/>
          </a:bodyPr>
          <a:lstStyle/>
          <a:p>
            <a:pPr algn="l">
              <a:spcAft>
                <a:spcPts val="400"/>
              </a:spcAft>
            </a:pPr>
            <a:r>
              <a:rPr sz="2600" b="1" i="0">
                <a:solidFill>
                  <a:srgbClr val="EB6834"/>
                </a:solidFill>
                <a:latin typeface="Cambria"/>
                <a:ea typeface="Cambria"/>
                <a:cs typeface="Cambria"/>
              </a:rPr>
              <a:t>09</a:t>
            </a:r>
          </a:p>
        </p:txBody>
      </p:sp>
      <p:sp>
        <p:nvSpPr>
          <p:cNvPr id="52" name="TextBox 51"/>
          <p:cNvSpPr txBox="1"/>
          <p:nvPr/>
        </p:nvSpPr>
        <p:spPr>
          <a:xfrm>
            <a:off x="8348471" y="52760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Challenges and next steps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Recap: problem and proposed system</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3</a:t>
            </a:fld>
            <a:endParaRPr lang="en-US"/>
          </a:p>
        </p:txBody>
      </p:sp>
      <p:sp>
        <p:nvSpPr>
          <p:cNvPr id="26" name="Rounded Rectangle 25"/>
          <p:cNvSpPr/>
          <p:nvPr/>
        </p:nvSpPr>
        <p:spPr>
          <a:xfrm>
            <a:off x="548640" y="1371600"/>
            <a:ext cx="3520440" cy="393192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749808" y="155448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a:t>
            </a:r>
          </a:p>
        </p:txBody>
      </p:sp>
      <p:sp>
        <p:nvSpPr>
          <p:cNvPr id="28" name="TextBox 27"/>
          <p:cNvSpPr txBox="1"/>
          <p:nvPr/>
        </p:nvSpPr>
        <p:spPr>
          <a:xfrm>
            <a:off x="1389888" y="1527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Problem</a:t>
            </a:r>
          </a:p>
        </p:txBody>
      </p:sp>
      <p:sp>
        <p:nvSpPr>
          <p:cNvPr id="29" name="TextBox 28"/>
          <p:cNvSpPr txBox="1"/>
          <p:nvPr/>
        </p:nvSpPr>
        <p:spPr>
          <a:xfrm>
            <a:off x="749808" y="2240280"/>
            <a:ext cx="3118104" cy="2926079"/>
          </a:xfrm>
          <a:prstGeom prst="rect">
            <a:avLst/>
          </a:prstGeom>
          <a:noFill/>
        </p:spPr>
        <p:txBody>
          <a:bodyPr wrap="square" lIns="0" rIns="0" tIns="0" bIns="0" anchor="t">
            <a:spAutoFit/>
          </a:bodyPr>
          <a:lstStyle/>
          <a:p>
            <a:pPr algn="l">
              <a:spcAft>
                <a:spcPts val="400"/>
              </a:spcAft>
            </a:pPr>
            <a:r>
              <a:rPr sz="1700" b="0" i="0">
                <a:solidFill>
                  <a:srgbClr val="475569"/>
                </a:solidFill>
              </a:rPr>
              <a:t>Fabricated news spreads faster than fact-checks, and high-dimensional text features make classifiers slow and prone to overfitting. Default SVM parameters are rarely optimal, and most detectors have only two classes.</a:t>
            </a:r>
          </a:p>
        </p:txBody>
      </p:sp>
      <p:sp>
        <p:nvSpPr>
          <p:cNvPr id="30" name="Rounded Rectangle 29"/>
          <p:cNvSpPr/>
          <p:nvPr/>
        </p:nvSpPr>
        <p:spPr>
          <a:xfrm>
            <a:off x="4334255" y="1371600"/>
            <a:ext cx="3520440" cy="393192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4535423" y="1554480"/>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i</a:t>
            </a:r>
          </a:p>
        </p:txBody>
      </p:sp>
      <p:sp>
        <p:nvSpPr>
          <p:cNvPr id="32" name="TextBox 31"/>
          <p:cNvSpPr txBox="1"/>
          <p:nvPr/>
        </p:nvSpPr>
        <p:spPr>
          <a:xfrm>
            <a:off x="5175503" y="1527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Proposed system</a:t>
            </a:r>
          </a:p>
        </p:txBody>
      </p:sp>
      <p:sp>
        <p:nvSpPr>
          <p:cNvPr id="33" name="TextBox 32"/>
          <p:cNvSpPr txBox="1"/>
          <p:nvPr/>
        </p:nvSpPr>
        <p:spPr>
          <a:xfrm>
            <a:off x="4535423" y="2240280"/>
            <a:ext cx="3118104" cy="2926079"/>
          </a:xfrm>
          <a:prstGeom prst="rect">
            <a:avLst/>
          </a:prstGeom>
          <a:noFill/>
        </p:spPr>
        <p:txBody>
          <a:bodyPr wrap="square" lIns="0" rIns="0" tIns="0" bIns="0" anchor="t">
            <a:spAutoFit/>
          </a:bodyPr>
          <a:lstStyle/>
          <a:p>
            <a:pPr algn="l">
              <a:spcAft>
                <a:spcPts val="400"/>
              </a:spcAft>
            </a:pPr>
            <a:r>
              <a:rPr sz="1700" b="0" i="0">
                <a:solidFill>
                  <a:srgbClr val="475569"/>
                </a:solidFill>
              </a:rPr>
              <a:t>TF-IDF and 25 stylometric features are reduced by PCA. The Firefly algorithm picks the PCA components and the SVM parameters. An RBF multi-class SVM returns REAL, PARTIALLY TRUE or FAKE with a confidence.</a:t>
            </a:r>
          </a:p>
        </p:txBody>
      </p:sp>
      <p:sp>
        <p:nvSpPr>
          <p:cNvPr id="34" name="Rounded Rectangle 33"/>
          <p:cNvSpPr/>
          <p:nvPr/>
        </p:nvSpPr>
        <p:spPr>
          <a:xfrm>
            <a:off x="8119871" y="1371600"/>
            <a:ext cx="3520440" cy="393192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8321040" y="1554480"/>
            <a:ext cx="502920" cy="502920"/>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B</a:t>
            </a:r>
          </a:p>
        </p:txBody>
      </p:sp>
      <p:sp>
        <p:nvSpPr>
          <p:cNvPr id="36" name="TextBox 35"/>
          <p:cNvSpPr txBox="1"/>
          <p:nvPr/>
        </p:nvSpPr>
        <p:spPr>
          <a:xfrm>
            <a:off x="8961119" y="1527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Base paper link</a:t>
            </a:r>
          </a:p>
        </p:txBody>
      </p:sp>
      <p:sp>
        <p:nvSpPr>
          <p:cNvPr id="37" name="TextBox 36"/>
          <p:cNvSpPr txBox="1"/>
          <p:nvPr/>
        </p:nvSpPr>
        <p:spPr>
          <a:xfrm>
            <a:off x="8321040" y="2240280"/>
            <a:ext cx="3118104" cy="2926079"/>
          </a:xfrm>
          <a:prstGeom prst="rect">
            <a:avLst/>
          </a:prstGeom>
          <a:noFill/>
        </p:spPr>
        <p:txBody>
          <a:bodyPr wrap="square" lIns="0" rIns="0" tIns="0" bIns="0" anchor="t">
            <a:spAutoFit/>
          </a:bodyPr>
          <a:lstStyle/>
          <a:p>
            <a:pPr algn="l">
              <a:spcAft>
                <a:spcPts val="400"/>
              </a:spcAft>
            </a:pPr>
            <a:r>
              <a:rPr sz="1700" b="0" i="0">
                <a:solidFill>
                  <a:srgbClr val="475569"/>
                </a:solidFill>
              </a:rPr>
              <a:t>Saad et al. (2026) combine class weighting with transformer embeddings for Arabic, binary detection. We keep class weighting and baselines but use a cheap classical pipeline, English text, three classes and a CPU. Numbers are not comparable.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System architecture</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4</a:t>
            </a:fld>
            <a:endParaRPr lang="en-US"/>
          </a:p>
        </p:txBody>
      </p:sp>
      <p:pic>
        <p:nvPicPr>
          <p:cNvPr id="26" name="Picture 25" descr="01_system_architecture.png"/>
          <p:cNvPicPr>
            <a:picLocks noChangeAspect="1"/>
          </p:cNvPicPr>
          <p:nvPr/>
        </p:nvPicPr>
        <p:blipFill>
          <a:blip r:embed="rId1"/>
          <a:stretch>
            <a:fillRect/>
          </a:stretch>
        </p:blipFill>
        <p:spPr>
          <a:xfrm>
            <a:off x="654517" y="1188720"/>
            <a:ext cx="6737684" cy="5120640"/>
          </a:xfrm>
          <a:prstGeom prst="rect">
            <a:avLst/>
          </a:prstGeom>
        </p:spPr>
      </p:pic>
      <p:sp>
        <p:nvSpPr>
          <p:cNvPr id="27" name="TextBox 26"/>
          <p:cNvSpPr txBox="1"/>
          <p:nvPr/>
        </p:nvSpPr>
        <p:spPr>
          <a:xfrm>
            <a:off x="7772400" y="1371600"/>
            <a:ext cx="3840480" cy="4846320"/>
          </a:xfrm>
          <a:prstGeom prst="rect">
            <a:avLst/>
          </a:prstGeom>
          <a:noFill/>
        </p:spPr>
        <p:txBody>
          <a:bodyPr wrap="square" lIns="0" rIns="0" tIns="0" bIns="0" anchor="t">
            <a:spAutoFit/>
          </a:bodyPr>
          <a:lstStyle/>
          <a:p>
            <a:pPr algn="l">
              <a:spcAft>
                <a:spcPts val="800"/>
              </a:spcAft>
            </a:pPr>
            <a:r>
              <a:rPr sz="1600" b="1" i="0">
                <a:solidFill>
                  <a:srgbClr val="0F172A"/>
                </a:solidFill>
              </a:rPr>
              <a:t>Three tiers</a:t>
            </a:r>
          </a:p>
          <a:p>
            <a:pPr algn="l" marL="256032" indent="-201168">
              <a:spcAft>
                <a:spcPts val="400"/>
              </a:spcAft>
              <a:buChar char="•"/>
            </a:pPr>
            <a:r>
              <a:rPr sz="1600" b="0" i="0">
                <a:solidFill>
                  <a:srgbClr val="0F172A"/>
                </a:solidFill>
              </a:rPr>
              <a:t>Presentation: React 18 app (TruthGlow, port 5406) with six screens.</a:t>
            </a:r>
          </a:p>
          <a:p>
            <a:pPr algn="l" marL="256032" indent="-201168">
              <a:spcAft>
                <a:spcPts val="400"/>
              </a:spcAft>
              <a:buChar char="•"/>
            </a:pPr>
            <a:r>
              <a:rPr sz="1600" b="0" i="0">
                <a:solidFill>
                  <a:srgbClr val="0F172A"/>
                </a:solidFill>
              </a:rPr>
              <a:t>Application: FastAPI (port 8406), 8 endpoints under /api, one model held in memory.</a:t>
            </a:r>
          </a:p>
          <a:p>
            <a:pPr algn="l" marL="256032" indent="-201168">
              <a:spcAft>
                <a:spcPts val="400"/>
              </a:spcAft>
              <a:buChar char="•"/>
            </a:pPr>
            <a:r>
              <a:rPr sz="1600" b="0" i="0">
                <a:solidFill>
                  <a:srgbClr val="0F172A"/>
                </a:solidFill>
              </a:rPr>
              <a:t>Domain: the pure-Python library src/ (preprocessing, dataset, firefly, pipeline), shared with the CLI and the Streamlit app.</a:t>
            </a:r>
          </a:p>
          <a:p>
            <a:pPr algn="l" marL="256032" indent="-201168">
              <a:spcAft>
                <a:spcPts val="400"/>
              </a:spcAft>
              <a:buChar char="•"/>
            </a:pPr>
            <a:r>
              <a:rPr sz="1600" b="0" i="0">
                <a:solidFill>
                  <a:srgbClr val="0F172A"/>
                </a:solidFill>
              </a:rPr>
              <a:t>Storage: one joblib model bundle; no SQL database.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Methodology: end-to-end workflow</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5</a:t>
            </a:fld>
            <a:endParaRPr lang="en-US"/>
          </a:p>
        </p:txBody>
      </p:sp>
      <p:sp>
        <p:nvSpPr>
          <p:cNvPr id="26" name="Rounded Rectangle 25"/>
          <p:cNvSpPr/>
          <p:nvPr/>
        </p:nvSpPr>
        <p:spPr>
          <a:xfrm>
            <a:off x="548640" y="1371600"/>
            <a:ext cx="1412094" cy="1097280"/>
          </a:xfrm>
          <a:prstGeom prst="roundRect">
            <a:avLst>
              <a:gd name="adj" fmla="val 8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FFFFFF"/>
                </a:solidFill>
              </a:rPr>
              <a:t>Labelled text</a:t>
            </a:r>
          </a:p>
        </p:txBody>
      </p:sp>
      <p:sp>
        <p:nvSpPr>
          <p:cNvPr id="27" name="Right Arrow 26"/>
          <p:cNvSpPr/>
          <p:nvPr/>
        </p:nvSpPr>
        <p:spPr>
          <a:xfrm>
            <a:off x="1960734" y="180136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2161902" y="1371600"/>
            <a:ext cx="1412094" cy="1097280"/>
          </a:xfrm>
          <a:prstGeom prst="roundRect">
            <a:avLst>
              <a:gd name="adj" fmla="val 8000"/>
            </a:avLst>
          </a:prstGeom>
          <a:solidFill>
            <a:srgbClr val="6B5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FFFFFF"/>
                </a:solidFill>
              </a:rPr>
              <a:t>Clean + TF-IDF + style</a:t>
            </a:r>
          </a:p>
        </p:txBody>
      </p:sp>
      <p:sp>
        <p:nvSpPr>
          <p:cNvPr id="29" name="Right Arrow 28"/>
          <p:cNvSpPr/>
          <p:nvPr/>
        </p:nvSpPr>
        <p:spPr>
          <a:xfrm>
            <a:off x="3573997" y="180136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3775165" y="1371600"/>
            <a:ext cx="1412094" cy="1097280"/>
          </a:xfrm>
          <a:prstGeom prst="roundRect">
            <a:avLst>
              <a:gd name="adj" fmla="val 8000"/>
            </a:avLst>
          </a:prstGeom>
          <a:solidFill>
            <a:srgbClr val="6B5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FFFFFF"/>
                </a:solidFill>
              </a:rPr>
              <a:t>Scale + PCA</a:t>
            </a:r>
          </a:p>
        </p:txBody>
      </p:sp>
      <p:sp>
        <p:nvSpPr>
          <p:cNvPr id="31" name="Right Arrow 30"/>
          <p:cNvSpPr/>
          <p:nvPr/>
        </p:nvSpPr>
        <p:spPr>
          <a:xfrm>
            <a:off x="5187260" y="180136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5388428" y="1371600"/>
            <a:ext cx="1412094" cy="1097280"/>
          </a:xfrm>
          <a:prstGeom prst="roundRect">
            <a:avLst>
              <a:gd name="adj" fmla="val 8000"/>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FFFFFF"/>
                </a:solidFill>
              </a:rPr>
              <a:t>80/20 split</a:t>
            </a:r>
          </a:p>
        </p:txBody>
      </p:sp>
      <p:sp>
        <p:nvSpPr>
          <p:cNvPr id="33" name="Right Arrow 32"/>
          <p:cNvSpPr/>
          <p:nvPr/>
        </p:nvSpPr>
        <p:spPr>
          <a:xfrm>
            <a:off x="6800523" y="180136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7001691" y="1371600"/>
            <a:ext cx="1412094" cy="1097280"/>
          </a:xfrm>
          <a:prstGeom prst="roundRect">
            <a:avLst>
              <a:gd name="adj" fmla="val 8000"/>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FFFFFF"/>
                </a:solidFill>
              </a:rPr>
              <a:t>Firefly search</a:t>
            </a:r>
          </a:p>
        </p:txBody>
      </p:sp>
      <p:sp>
        <p:nvSpPr>
          <p:cNvPr id="35" name="Right Arrow 34"/>
          <p:cNvSpPr/>
          <p:nvPr/>
        </p:nvSpPr>
        <p:spPr>
          <a:xfrm>
            <a:off x="8413786" y="180136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8614954" y="1371600"/>
            <a:ext cx="1412094" cy="1097280"/>
          </a:xfrm>
          <a:prstGeom prst="roundRect">
            <a:avLst>
              <a:gd name="adj" fmla="val 8000"/>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FFFFFF"/>
                </a:solidFill>
              </a:rPr>
              <a:t>RBF MSVM</a:t>
            </a:r>
          </a:p>
        </p:txBody>
      </p:sp>
      <p:sp>
        <p:nvSpPr>
          <p:cNvPr id="37" name="Right Arrow 36"/>
          <p:cNvSpPr/>
          <p:nvPr/>
        </p:nvSpPr>
        <p:spPr>
          <a:xfrm>
            <a:off x="10027049" y="180136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10228217" y="1371600"/>
            <a:ext cx="1412094" cy="1097280"/>
          </a:xfrm>
          <a:prstGeom prst="roundRect">
            <a:avLst>
              <a:gd name="adj" fmla="val 8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FFFFFF"/>
                </a:solidFill>
              </a:rPr>
              <a:t>Evaluate + save</a:t>
            </a:r>
          </a:p>
        </p:txBody>
      </p:sp>
      <p:sp>
        <p:nvSpPr>
          <p:cNvPr id="39" name="Rounded Rectangle 38"/>
          <p:cNvSpPr/>
          <p:nvPr/>
        </p:nvSpPr>
        <p:spPr>
          <a:xfrm>
            <a:off x="548640" y="2834640"/>
            <a:ext cx="3520440" cy="2468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777240" y="2971800"/>
            <a:ext cx="3108960" cy="457200"/>
          </a:xfrm>
          <a:prstGeom prst="rect">
            <a:avLst/>
          </a:prstGeom>
          <a:noFill/>
        </p:spPr>
        <p:txBody>
          <a:bodyPr wrap="square" lIns="0" rIns="0" tIns="0" bIns="0" anchor="t">
            <a:spAutoFit/>
          </a:bodyPr>
          <a:lstStyle/>
          <a:p>
            <a:pPr algn="l">
              <a:spcAft>
                <a:spcPts val="400"/>
              </a:spcAft>
            </a:pPr>
            <a:r>
              <a:rPr sz="1800" b="1" i="0">
                <a:solidFill>
                  <a:srgbClr val="0F172A"/>
                </a:solidFill>
              </a:rPr>
              <a:t>One fitted bundle</a:t>
            </a:r>
          </a:p>
        </p:txBody>
      </p:sp>
      <p:sp>
        <p:nvSpPr>
          <p:cNvPr id="41" name="TextBox 40"/>
          <p:cNvSpPr txBox="1"/>
          <p:nvPr/>
        </p:nvSpPr>
        <p:spPr>
          <a:xfrm>
            <a:off x="777240" y="3520440"/>
            <a:ext cx="3108960" cy="2194560"/>
          </a:xfrm>
          <a:prstGeom prst="rect">
            <a:avLst/>
          </a:prstGeom>
          <a:noFill/>
        </p:spPr>
        <p:txBody>
          <a:bodyPr wrap="square" lIns="0" rIns="0" tIns="0" bIns="0" anchor="t">
            <a:spAutoFit/>
          </a:bodyPr>
          <a:lstStyle/>
          <a:p>
            <a:pPr algn="l">
              <a:spcAft>
                <a:spcPts val="400"/>
              </a:spcAft>
            </a:pPr>
            <a:r>
              <a:rPr sz="1700" b="0" i="0">
                <a:solidFill>
                  <a:srgbClr val="475569"/>
                </a:solidFill>
              </a:rPr>
              <a:t>Vectorizer, scaler, PCA, component mask, C, gamma and classifier are saved together, so training and serving use identical transforms.</a:t>
            </a:r>
          </a:p>
        </p:txBody>
      </p:sp>
      <p:sp>
        <p:nvSpPr>
          <p:cNvPr id="42" name="Rounded Rectangle 41"/>
          <p:cNvSpPr/>
          <p:nvPr/>
        </p:nvSpPr>
        <p:spPr>
          <a:xfrm>
            <a:off x="4334255" y="2834640"/>
            <a:ext cx="3520440" cy="2468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4562855" y="2971800"/>
            <a:ext cx="3108960" cy="457200"/>
          </a:xfrm>
          <a:prstGeom prst="rect">
            <a:avLst/>
          </a:prstGeom>
          <a:noFill/>
        </p:spPr>
        <p:txBody>
          <a:bodyPr wrap="square" lIns="0" rIns="0" tIns="0" bIns="0" anchor="t">
            <a:spAutoFit/>
          </a:bodyPr>
          <a:lstStyle/>
          <a:p>
            <a:pPr algn="l">
              <a:spcAft>
                <a:spcPts val="400"/>
              </a:spcAft>
            </a:pPr>
            <a:r>
              <a:rPr sz="1800" b="1" i="0">
                <a:solidFill>
                  <a:srgbClr val="0F172A"/>
                </a:solidFill>
              </a:rPr>
              <a:t>Class weighting</a:t>
            </a:r>
          </a:p>
        </p:txBody>
      </p:sp>
      <p:sp>
        <p:nvSpPr>
          <p:cNvPr id="44" name="TextBox 43"/>
          <p:cNvSpPr txBox="1"/>
          <p:nvPr/>
        </p:nvSpPr>
        <p:spPr>
          <a:xfrm>
            <a:off x="4562855" y="3520440"/>
            <a:ext cx="3108960" cy="2194560"/>
          </a:xfrm>
          <a:prstGeom prst="rect">
            <a:avLst/>
          </a:prstGeom>
          <a:noFill/>
        </p:spPr>
        <p:txBody>
          <a:bodyPr wrap="square" lIns="0" rIns="0" tIns="0" bIns="0" anchor="t">
            <a:spAutoFit/>
          </a:bodyPr>
          <a:lstStyle/>
          <a:p>
            <a:pPr algn="l">
              <a:spcAft>
                <a:spcPts val="400"/>
              </a:spcAft>
            </a:pPr>
            <a:r>
              <a:rPr sz="1700" b="0" i="0">
                <a:solidFill>
                  <a:srgbClr val="475569"/>
                </a:solidFill>
              </a:rPr>
              <a:t>Class weights are balanced in the Firefly fitness and in the final SVM, as the base paper does for its imbalance.</a:t>
            </a:r>
          </a:p>
        </p:txBody>
      </p:sp>
      <p:sp>
        <p:nvSpPr>
          <p:cNvPr id="45" name="Rounded Rectangle 44"/>
          <p:cNvSpPr/>
          <p:nvPr/>
        </p:nvSpPr>
        <p:spPr>
          <a:xfrm>
            <a:off x="8119871" y="2834640"/>
            <a:ext cx="3520440" cy="2468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8348471" y="2971800"/>
            <a:ext cx="3108960" cy="457200"/>
          </a:xfrm>
          <a:prstGeom prst="rect">
            <a:avLst/>
          </a:prstGeom>
          <a:noFill/>
        </p:spPr>
        <p:txBody>
          <a:bodyPr wrap="square" lIns="0" rIns="0" tIns="0" bIns="0" anchor="t">
            <a:spAutoFit/>
          </a:bodyPr>
          <a:lstStyle/>
          <a:p>
            <a:pPr algn="l">
              <a:spcAft>
                <a:spcPts val="400"/>
              </a:spcAft>
            </a:pPr>
            <a:r>
              <a:rPr sz="1800" b="1" i="0">
                <a:solidFill>
                  <a:srgbClr val="0F172A"/>
                </a:solidFill>
              </a:rPr>
              <a:t>Reproducible</a:t>
            </a:r>
          </a:p>
        </p:txBody>
      </p:sp>
      <p:sp>
        <p:nvSpPr>
          <p:cNvPr id="47" name="TextBox 46"/>
          <p:cNvSpPr txBox="1"/>
          <p:nvPr/>
        </p:nvSpPr>
        <p:spPr>
          <a:xfrm>
            <a:off x="8348471" y="3520440"/>
            <a:ext cx="3108960" cy="2194560"/>
          </a:xfrm>
          <a:prstGeom prst="rect">
            <a:avLst/>
          </a:prstGeom>
          <a:noFill/>
        </p:spPr>
        <p:txBody>
          <a:bodyPr wrap="square" lIns="0" rIns="0" tIns="0" bIns="0" anchor="t">
            <a:spAutoFit/>
          </a:bodyPr>
          <a:lstStyle/>
          <a:p>
            <a:pPr algn="l">
              <a:spcAft>
                <a:spcPts val="400"/>
              </a:spcAft>
            </a:pPr>
            <a:r>
              <a:rPr sz="1700" b="0" i="0">
                <a:solidFill>
                  <a:srgbClr val="475569"/>
                </a:solidFill>
              </a:rPr>
              <a:t>scripts/run_experiments.py runs the real-data study; its JSON feeds every figure and number in the documents.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Dataset: LIAR2 and the demo corpus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6</a:t>
            </a:fld>
            <a:endParaRPr lang="en-US"/>
          </a:p>
        </p:txBody>
      </p:sp>
      <p:sp>
        <p:nvSpPr>
          <p:cNvPr id="26" name="Rounded Rectangle 25"/>
          <p:cNvSpPr/>
          <p:nvPr/>
        </p:nvSpPr>
        <p:spPr>
          <a:xfrm>
            <a:off x="548640" y="1325880"/>
            <a:ext cx="2651760" cy="1143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548640" y="1325880"/>
            <a:ext cx="73152" cy="11430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49808" y="1417320"/>
            <a:ext cx="2377440" cy="628650"/>
          </a:xfrm>
          <a:prstGeom prst="rect">
            <a:avLst/>
          </a:prstGeom>
          <a:noFill/>
        </p:spPr>
        <p:txBody>
          <a:bodyPr wrap="square" lIns="0" rIns="0" tIns="0" bIns="0" anchor="ctr">
            <a:spAutoFit/>
          </a:bodyPr>
          <a:lstStyle/>
          <a:p>
            <a:pPr algn="l">
              <a:spcAft>
                <a:spcPts val="400"/>
              </a:spcAft>
            </a:pPr>
            <a:r>
              <a:rPr sz="2800" b="1" i="0">
                <a:solidFill>
                  <a:srgbClr val="0F172A"/>
                </a:solidFill>
              </a:rPr>
              <a:t>18,369</a:t>
            </a:r>
          </a:p>
        </p:txBody>
      </p:sp>
      <p:sp>
        <p:nvSpPr>
          <p:cNvPr id="29" name="TextBox 28"/>
          <p:cNvSpPr txBox="1"/>
          <p:nvPr/>
        </p:nvSpPr>
        <p:spPr>
          <a:xfrm>
            <a:off x="749808" y="1988819"/>
            <a:ext cx="2377440" cy="434340"/>
          </a:xfrm>
          <a:prstGeom prst="rect">
            <a:avLst/>
          </a:prstGeom>
          <a:noFill/>
        </p:spPr>
        <p:txBody>
          <a:bodyPr wrap="square" lIns="0" rIns="0" tIns="0" bIns="0" anchor="t">
            <a:spAutoFit/>
          </a:bodyPr>
          <a:lstStyle/>
          <a:p>
            <a:pPr algn="l">
              <a:spcAft>
                <a:spcPts val="400"/>
              </a:spcAft>
            </a:pPr>
            <a:r>
              <a:rPr sz="1200" b="0" i="0">
                <a:solidFill>
                  <a:srgbClr val="475569"/>
                </a:solidFill>
              </a:rPr>
              <a:t>training statements</a:t>
            </a:r>
          </a:p>
        </p:txBody>
      </p:sp>
      <p:sp>
        <p:nvSpPr>
          <p:cNvPr id="30" name="Rounded Rectangle 29"/>
          <p:cNvSpPr/>
          <p:nvPr/>
        </p:nvSpPr>
        <p:spPr>
          <a:xfrm>
            <a:off x="3383280" y="1325880"/>
            <a:ext cx="2651760" cy="1143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3383280" y="1325880"/>
            <a:ext cx="73152" cy="1143000"/>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3584448" y="1417320"/>
            <a:ext cx="2377440" cy="628650"/>
          </a:xfrm>
          <a:prstGeom prst="rect">
            <a:avLst/>
          </a:prstGeom>
          <a:noFill/>
        </p:spPr>
        <p:txBody>
          <a:bodyPr wrap="square" lIns="0" rIns="0" tIns="0" bIns="0" anchor="ctr">
            <a:spAutoFit/>
          </a:bodyPr>
          <a:lstStyle/>
          <a:p>
            <a:pPr algn="l">
              <a:spcAft>
                <a:spcPts val="400"/>
              </a:spcAft>
            </a:pPr>
            <a:r>
              <a:rPr sz="2800" b="1" i="0">
                <a:solidFill>
                  <a:srgbClr val="0F172A"/>
                </a:solidFill>
              </a:rPr>
              <a:t>2,297</a:t>
            </a:r>
          </a:p>
        </p:txBody>
      </p:sp>
      <p:sp>
        <p:nvSpPr>
          <p:cNvPr id="33" name="TextBox 32"/>
          <p:cNvSpPr txBox="1"/>
          <p:nvPr/>
        </p:nvSpPr>
        <p:spPr>
          <a:xfrm>
            <a:off x="3584448" y="1988819"/>
            <a:ext cx="2377440" cy="434340"/>
          </a:xfrm>
          <a:prstGeom prst="rect">
            <a:avLst/>
          </a:prstGeom>
          <a:noFill/>
        </p:spPr>
        <p:txBody>
          <a:bodyPr wrap="square" lIns="0" rIns="0" tIns="0" bIns="0" anchor="t">
            <a:spAutoFit/>
          </a:bodyPr>
          <a:lstStyle/>
          <a:p>
            <a:pPr algn="l">
              <a:spcAft>
                <a:spcPts val="400"/>
              </a:spcAft>
            </a:pPr>
            <a:r>
              <a:rPr sz="1200" b="0" i="0">
                <a:solidFill>
                  <a:srgbClr val="475569"/>
                </a:solidFill>
              </a:rPr>
              <a:t>validation statements</a:t>
            </a:r>
          </a:p>
        </p:txBody>
      </p:sp>
      <p:sp>
        <p:nvSpPr>
          <p:cNvPr id="34" name="Rounded Rectangle 33"/>
          <p:cNvSpPr/>
          <p:nvPr/>
        </p:nvSpPr>
        <p:spPr>
          <a:xfrm>
            <a:off x="6217920" y="1325880"/>
            <a:ext cx="2651760" cy="1143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6217920" y="1325880"/>
            <a:ext cx="73152" cy="1143000"/>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6419088" y="1417320"/>
            <a:ext cx="2377440" cy="628650"/>
          </a:xfrm>
          <a:prstGeom prst="rect">
            <a:avLst/>
          </a:prstGeom>
          <a:noFill/>
        </p:spPr>
        <p:txBody>
          <a:bodyPr wrap="square" lIns="0" rIns="0" tIns="0" bIns="0" anchor="ctr">
            <a:spAutoFit/>
          </a:bodyPr>
          <a:lstStyle/>
          <a:p>
            <a:pPr algn="l">
              <a:spcAft>
                <a:spcPts val="400"/>
              </a:spcAft>
            </a:pPr>
            <a:r>
              <a:rPr sz="2800" b="1" i="0">
                <a:solidFill>
                  <a:srgbClr val="0F172A"/>
                </a:solidFill>
              </a:rPr>
              <a:t>2,296</a:t>
            </a:r>
          </a:p>
        </p:txBody>
      </p:sp>
      <p:sp>
        <p:nvSpPr>
          <p:cNvPr id="37" name="TextBox 36"/>
          <p:cNvSpPr txBox="1"/>
          <p:nvPr/>
        </p:nvSpPr>
        <p:spPr>
          <a:xfrm>
            <a:off x="6419088" y="1988819"/>
            <a:ext cx="2377440" cy="434340"/>
          </a:xfrm>
          <a:prstGeom prst="rect">
            <a:avLst/>
          </a:prstGeom>
          <a:noFill/>
        </p:spPr>
        <p:txBody>
          <a:bodyPr wrap="square" lIns="0" rIns="0" tIns="0" bIns="0" anchor="t">
            <a:spAutoFit/>
          </a:bodyPr>
          <a:lstStyle/>
          <a:p>
            <a:pPr algn="l">
              <a:spcAft>
                <a:spcPts val="400"/>
              </a:spcAft>
            </a:pPr>
            <a:r>
              <a:rPr sz="1200" b="0" i="0">
                <a:solidFill>
                  <a:srgbClr val="475569"/>
                </a:solidFill>
              </a:rPr>
              <a:t>test statements</a:t>
            </a:r>
          </a:p>
        </p:txBody>
      </p:sp>
      <p:sp>
        <p:nvSpPr>
          <p:cNvPr id="38" name="Rounded Rectangle 37"/>
          <p:cNvSpPr/>
          <p:nvPr/>
        </p:nvSpPr>
        <p:spPr>
          <a:xfrm>
            <a:off x="9052560" y="1325880"/>
            <a:ext cx="2651760" cy="1143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ectangle 38"/>
          <p:cNvSpPr/>
          <p:nvPr/>
        </p:nvSpPr>
        <p:spPr>
          <a:xfrm>
            <a:off x="9052560" y="1325880"/>
            <a:ext cx="73152" cy="1143000"/>
          </a:xfrm>
          <a:prstGeom prst="rect">
            <a:avLst/>
          </a:prstGeom>
          <a:solidFill>
            <a:srgbClr val="6B52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9253728" y="1417320"/>
            <a:ext cx="2377440" cy="628650"/>
          </a:xfrm>
          <a:prstGeom prst="rect">
            <a:avLst/>
          </a:prstGeom>
          <a:noFill/>
        </p:spPr>
        <p:txBody>
          <a:bodyPr wrap="square" lIns="0" rIns="0" tIns="0" bIns="0" anchor="ctr">
            <a:spAutoFit/>
          </a:bodyPr>
          <a:lstStyle/>
          <a:p>
            <a:pPr algn="l">
              <a:spcAft>
                <a:spcPts val="400"/>
              </a:spcAft>
            </a:pPr>
            <a:r>
              <a:rPr sz="2800" b="1" i="0">
                <a:solidFill>
                  <a:srgbClr val="0F172A"/>
                </a:solidFill>
              </a:rPr>
              <a:t>3,000</a:t>
            </a:r>
          </a:p>
        </p:txBody>
      </p:sp>
      <p:sp>
        <p:nvSpPr>
          <p:cNvPr id="41" name="TextBox 40"/>
          <p:cNvSpPr txBox="1"/>
          <p:nvPr/>
        </p:nvSpPr>
        <p:spPr>
          <a:xfrm>
            <a:off x="9253728" y="1988819"/>
            <a:ext cx="2377440" cy="434340"/>
          </a:xfrm>
          <a:prstGeom prst="rect">
            <a:avLst/>
          </a:prstGeom>
          <a:noFill/>
        </p:spPr>
        <p:txBody>
          <a:bodyPr wrap="square" lIns="0" rIns="0" tIns="0" bIns="0" anchor="t">
            <a:spAutoFit/>
          </a:bodyPr>
          <a:lstStyle/>
          <a:p>
            <a:pPr algn="l">
              <a:spcAft>
                <a:spcPts val="400"/>
              </a:spcAft>
            </a:pPr>
            <a:r>
              <a:rPr sz="1200" b="0" i="0">
                <a:solidFill>
                  <a:srgbClr val="475569"/>
                </a:solidFill>
              </a:rPr>
              <a:t>training subsample per run (3 seeds)</a:t>
            </a:r>
          </a:p>
        </p:txBody>
      </p:sp>
      <p:graphicFrame>
        <p:nvGraphicFramePr>
          <p:cNvPr id="42" name="Table 41"/>
          <p:cNvGraphicFramePr>
            <a:graphicFrameLocks noGrp="1"/>
          </p:cNvGraphicFramePr>
          <p:nvPr/>
        </p:nvGraphicFramePr>
        <p:xfrm>
          <a:off x="548640" y="2743200"/>
          <a:ext cx="7680960" cy="2194560"/>
        </p:xfrm>
        <a:graphic>
          <a:graphicData uri="http://schemas.openxmlformats.org/drawingml/2006/table">
            <a:tbl>
              <a:tblPr firstRow="0" bandRow="0">
                <a:tableStyleId>{5C22544A-7EE6-4342-B048-85BDC9FD1C3A}</a:tableStyleId>
              </a:tblPr>
              <a:tblGrid>
                <a:gridCol w="3291840"/>
                <a:gridCol w="2011680"/>
                <a:gridCol w="2377440"/>
              </a:tblGrid>
              <a:tr h="548640">
                <a:tc>
                  <a:txBody>
                    <a:bodyPr wrap="square"/>
                    <a:lstStyle/>
                    <a:p>
                      <a:pPr algn="ctr"/>
                      <a:r>
                        <a:rPr sz="1400" b="1">
                          <a:solidFill>
                            <a:srgbClr val="FFFFFF"/>
                          </a:solidFill>
                        </a:rPr>
                        <a:t>LIAR2 label</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400" b="1">
                          <a:solidFill>
                            <a:srgbClr val="FFFFFF"/>
                          </a:solidFill>
                        </a:rPr>
                        <a:t>Project class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400" b="1">
                          <a:solidFill>
                            <a:srgbClr val="FFFFFF"/>
                          </a:solidFill>
                        </a:rPr>
                        <a:t>Statements (whole dataset)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r>
              <a:tr h="548640">
                <a:tc>
                  <a:txBody>
                    <a:bodyPr wrap="square"/>
                    <a:lstStyle/>
                    <a:p>
                      <a:pPr algn="l"/>
                      <a:r>
                        <a:rPr sz="1400" b="0">
                          <a:solidFill>
                            <a:srgbClr val="0F172A"/>
                          </a:solidFill>
                        </a:rPr>
                        <a:t>true, mostly-true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400" b="0">
                          <a:solidFill>
                            <a:srgbClr val="0F172A"/>
                          </a:solidFill>
                        </a:rPr>
                        <a:t>REAL</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400" b="0">
                          <a:solidFill>
                            <a:srgbClr val="0F172A"/>
                          </a:solidFill>
                        </a:rPr>
                        <a:t>2,585 + 3,429</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548640">
                <a:tc>
                  <a:txBody>
                    <a:bodyPr wrap="square"/>
                    <a:lstStyle/>
                    <a:p>
                      <a:pPr algn="l"/>
                      <a:r>
                        <a:rPr sz="1400" b="0">
                          <a:solidFill>
                            <a:srgbClr val="0F172A"/>
                          </a:solidFill>
                        </a:rPr>
                        <a:t>half-true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400" b="0">
                          <a:solidFill>
                            <a:srgbClr val="0F172A"/>
                          </a:solidFill>
                        </a:rPr>
                        <a:t>PARTIALLY TRUE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400" b="0">
                          <a:solidFill>
                            <a:srgbClr val="0F172A"/>
                          </a:solidFill>
                        </a:rPr>
                        <a:t>3,709</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548640">
                <a:tc>
                  <a:txBody>
                    <a:bodyPr wrap="square"/>
                    <a:lstStyle/>
                    <a:p>
                      <a:pPr algn="l"/>
                      <a:r>
                        <a:rPr sz="1400" b="0">
                          <a:solidFill>
                            <a:srgbClr val="0F172A"/>
                          </a:solidFill>
                        </a:rPr>
                        <a:t>barely-true, false, pants-on-fire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400" b="0">
                          <a:solidFill>
                            <a:srgbClr val="0F172A"/>
                          </a:solidFill>
                        </a:rPr>
                        <a:t>FAKE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400" b="0">
                          <a:solidFill>
                            <a:srgbClr val="0F172A"/>
                          </a:solidFill>
                        </a:rPr>
                        <a:t>3,603 + 6,605 + 3,031</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bl>
          </a:graphicData>
        </a:graphic>
      </p:graphicFrame>
      <p:sp>
        <p:nvSpPr>
          <p:cNvPr id="43" name="TextBox 42"/>
          <p:cNvSpPr txBox="1"/>
          <p:nvPr/>
        </p:nvSpPr>
        <p:spPr>
          <a:xfrm>
            <a:off x="8503920" y="2743200"/>
            <a:ext cx="3154680" cy="3566160"/>
          </a:xfrm>
          <a:prstGeom prst="rect">
            <a:avLst/>
          </a:prstGeom>
          <a:noFill/>
        </p:spPr>
        <p:txBody>
          <a:bodyPr wrap="square" lIns="0" rIns="0" tIns="0" bIns="0" anchor="t">
            <a:spAutoFit/>
          </a:bodyPr>
          <a:lstStyle/>
          <a:p>
            <a:pPr algn="l" marL="256032" indent="-201168">
              <a:spcAft>
                <a:spcPts val="800"/>
              </a:spcAft>
              <a:buChar char="•"/>
            </a:pPr>
            <a:r>
              <a:rPr sz="1400" b="0" i="0">
                <a:solidFill>
                  <a:srgbClr val="0F172A"/>
                </a:solidFill>
              </a:rPr>
              <a:t>Test split: 602 REAL, 371 PARTIALLY TRUE, 1323 FAKE. Always answering FAKE scores accuracy 0.576 but macro-F1 0.244.</a:t>
            </a:r>
          </a:p>
          <a:p>
            <a:pPr algn="l" marL="256032" indent="-201168">
              <a:spcAft>
                <a:spcPts val="800"/>
              </a:spcAft>
              <a:buChar char="•"/>
            </a:pPr>
            <a:r>
              <a:rPr sz="1400" b="0" i="0">
                <a:solidFill>
                  <a:srgbClr val="0F172A"/>
                </a:solidFill>
              </a:rPr>
              <a:t>Only the statement text is used; speaker, justification and counts are left out because they leak the label.</a:t>
            </a:r>
          </a:p>
          <a:p>
            <a:pPr algn="l" marL="256032" indent="-201168">
              <a:spcAft>
                <a:spcPts val="800"/>
              </a:spcAft>
              <a:buChar char="•"/>
            </a:pPr>
            <a:r>
              <a:rPr sz="1400" b="0" i="0">
                <a:solidFill>
                  <a:srgbClr val="0F172A"/>
                </a:solidFill>
              </a:rPr>
              <a:t>Source: Hugging Face chengxuphd/liar2, Apache-2.0 [4].</a:t>
            </a:r>
          </a:p>
        </p:txBody>
      </p:sp>
      <p:sp>
        <p:nvSpPr>
          <p:cNvPr id="44" name="TextBox 43"/>
          <p:cNvSpPr txBox="1"/>
          <p:nvPr/>
        </p:nvSpPr>
        <p:spPr>
          <a:xfrm>
            <a:off x="548640" y="5074920"/>
            <a:ext cx="7680960" cy="1280160"/>
          </a:xfrm>
          <a:prstGeom prst="rect">
            <a:avLst/>
          </a:prstGeom>
          <a:noFill/>
        </p:spPr>
        <p:txBody>
          <a:bodyPr wrap="square" lIns="0" rIns="0" tIns="0" bIns="0" anchor="t">
            <a:spAutoFit/>
          </a:bodyPr>
          <a:lstStyle/>
          <a:p>
            <a:pPr algn="l">
              <a:spcAft>
                <a:spcPts val="400"/>
              </a:spcAft>
            </a:pPr>
            <a:r>
              <a:rPr sz="1400" b="1" i="0">
                <a:solidFill>
                  <a:srgbClr val="0F172A"/>
                </a:solidFill>
              </a:rPr>
              <a:t>Shipped demo corpus.</a:t>
            </a:r>
            <a:r>
              <a:rPr sz="1400" b="0" i="0">
                <a:solidFill>
                  <a:srgbClr val="0F172A"/>
                </a:solidFill>
              </a:rPr>
              <a:t> 750 synthetic template sentences (250 per class) train the model that ships with the project. Its 1.000 scores only check the pipeline: the same model scores accuracy 0.192 and macro-F1 0.155 on real LIAR2 statements.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Data preprocessing and feature extraction</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7</a:t>
            </a:fld>
            <a:endParaRPr lang="en-US"/>
          </a:p>
        </p:txBody>
      </p:sp>
      <p:pic>
        <p:nvPicPr>
          <p:cNvPr id="26" name="Picture 25" descr="11_feature_pipeline.png"/>
          <p:cNvPicPr>
            <a:picLocks noChangeAspect="1"/>
          </p:cNvPicPr>
          <p:nvPr/>
        </p:nvPicPr>
        <p:blipFill>
          <a:blip r:embed="rId3"/>
          <a:stretch>
            <a:fillRect/>
          </a:stretch>
        </p:blipFill>
        <p:spPr>
          <a:xfrm>
            <a:off x="1516614" y="1188720"/>
            <a:ext cx="9155723" cy="3246120"/>
          </a:xfrm>
          <a:prstGeom prst="rect">
            <a:avLst/>
          </a:prstGeom>
        </p:spPr>
      </p:pic>
      <p:sp>
        <p:nvSpPr>
          <p:cNvPr id="27" name="TextBox 26"/>
          <p:cNvSpPr txBox="1"/>
          <p:nvPr/>
        </p:nvSpPr>
        <p:spPr>
          <a:xfrm>
            <a:off x="548640" y="4572000"/>
            <a:ext cx="5486400" cy="1783080"/>
          </a:xfrm>
          <a:prstGeom prst="rect">
            <a:avLst/>
          </a:prstGeom>
          <a:noFill/>
        </p:spPr>
        <p:txBody>
          <a:bodyPr wrap="square" lIns="0" rIns="0" tIns="0" bIns="0" anchor="t">
            <a:spAutoFit/>
          </a:bodyPr>
          <a:lstStyle/>
          <a:p>
            <a:pPr algn="l">
              <a:spcAft>
                <a:spcPts val="300"/>
              </a:spcAft>
            </a:pPr>
            <a:r>
              <a:rPr sz="1400" b="1" i="0">
                <a:solidFill>
                  <a:srgbClr val="0F172A"/>
                </a:solidFill>
              </a:rPr>
              <a:t>Cleaning</a:t>
            </a:r>
          </a:p>
          <a:p>
            <a:pPr algn="l" marL="256032" indent="-201168">
              <a:spcAft>
                <a:spcPts val="300"/>
              </a:spcAft>
              <a:buChar char="•"/>
            </a:pPr>
            <a:r>
              <a:rPr sz="1400" b="0" i="0">
                <a:solidFill>
                  <a:srgbClr val="0F172A"/>
                </a:solidFill>
              </a:rPr>
              <a:t>Lower-case, remove URLs, @mentions and #tags, keep letters only.</a:t>
            </a:r>
          </a:p>
          <a:p>
            <a:pPr algn="l" marL="256032" indent="-201168">
              <a:spcAft>
                <a:spcPts val="300"/>
              </a:spcAft>
              <a:buChar char="•"/>
            </a:pPr>
            <a:r>
              <a:rPr sz="1400" b="0" i="0">
                <a:solidFill>
                  <a:srgbClr val="0F172A"/>
                </a:solidFill>
              </a:rPr>
              <a:t>Remove stop words and tokens of 2 characters or fewer.</a:t>
            </a:r>
          </a:p>
          <a:p>
            <a:pPr algn="l" marL="256032" indent="-201168">
              <a:spcAft>
                <a:spcPts val="300"/>
              </a:spcAft>
              <a:buChar char="•"/>
            </a:pPr>
            <a:r>
              <a:rPr sz="1400" b="0" i="0">
                <a:solidFill>
                  <a:srgbClr val="0F172A"/>
                </a:solidFill>
              </a:rPr>
              <a:t>No stemming is implemented (objective 2 lists it).</a:t>
            </a:r>
          </a:p>
        </p:txBody>
      </p:sp>
      <p:sp>
        <p:nvSpPr>
          <p:cNvPr id="28" name="TextBox 27"/>
          <p:cNvSpPr txBox="1"/>
          <p:nvPr/>
        </p:nvSpPr>
        <p:spPr>
          <a:xfrm>
            <a:off x="6309360" y="4572000"/>
            <a:ext cx="5349240" cy="1783080"/>
          </a:xfrm>
          <a:prstGeom prst="rect">
            <a:avLst/>
          </a:prstGeom>
          <a:noFill/>
        </p:spPr>
        <p:txBody>
          <a:bodyPr wrap="square" lIns="0" rIns="0" tIns="0" bIns="0" anchor="t">
            <a:spAutoFit/>
          </a:bodyPr>
          <a:lstStyle/>
          <a:p>
            <a:pPr algn="l">
              <a:spcAft>
                <a:spcPts val="300"/>
              </a:spcAft>
            </a:pPr>
            <a:r>
              <a:rPr sz="1400" b="1" i="0">
                <a:solidFill>
                  <a:srgbClr val="0F172A"/>
                </a:solidFill>
              </a:rPr>
              <a:t>Features</a:t>
            </a:r>
          </a:p>
          <a:p>
            <a:pPr algn="l" marL="256032" indent="-201168">
              <a:spcAft>
                <a:spcPts val="300"/>
              </a:spcAft>
              <a:buChar char="•"/>
            </a:pPr>
            <a:r>
              <a:rPr sz="1400" b="0" i="0">
                <a:solidFill>
                  <a:srgbClr val="0F172A"/>
                </a:solidFill>
              </a:rPr>
              <a:t>TF-IDF, 1-2 grams, sublinear tf, min_df 2, max_df 0.9, at most 4,000 columns.</a:t>
            </a:r>
          </a:p>
          <a:p>
            <a:pPr algn="l" marL="256032" indent="-201168">
              <a:spcAft>
                <a:spcPts val="300"/>
              </a:spcAft>
              <a:buChar char="•"/>
            </a:pPr>
            <a:r>
              <a:rPr sz="1400" b="0" i="0">
                <a:solidFill>
                  <a:srgbClr val="0F172A"/>
                </a:solidFill>
              </a:rPr>
              <a:t>25 stylometric signals: capitals, ! and ?, digits, URLs, lexicon ratios, word lengths.</a:t>
            </a:r>
          </a:p>
          <a:p>
            <a:pPr algn="l" marL="256032" indent="-201168">
              <a:spcAft>
                <a:spcPts val="300"/>
              </a:spcAft>
              <a:buChar char="•"/>
            </a:pPr>
            <a:r>
              <a:rPr sz="1400" b="0" i="0">
                <a:solidFill>
                  <a:srgbClr val="0F172A"/>
                </a:solidFill>
              </a:rPr>
              <a:t>StandardScaler, then PCA (95 % variance target, cap 300).</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Model: PCA, Firefly selection and MSVM</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8</a:t>
            </a:fld>
            <a:endParaRPr lang="en-US"/>
          </a:p>
        </p:txBody>
      </p:sp>
      <p:sp>
        <p:nvSpPr>
          <p:cNvPr id="26" name="Rounded Rectangle 25"/>
          <p:cNvSpPr/>
          <p:nvPr/>
        </p:nvSpPr>
        <p:spPr>
          <a:xfrm>
            <a:off x="548640" y="1325880"/>
            <a:ext cx="2651760" cy="1143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548640" y="1325880"/>
            <a:ext cx="73152" cy="11430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49808" y="1417320"/>
            <a:ext cx="2377440" cy="628650"/>
          </a:xfrm>
          <a:prstGeom prst="rect">
            <a:avLst/>
          </a:prstGeom>
          <a:noFill/>
        </p:spPr>
        <p:txBody>
          <a:bodyPr wrap="square" lIns="0" rIns="0" tIns="0" bIns="0" anchor="ctr">
            <a:spAutoFit/>
          </a:bodyPr>
          <a:lstStyle/>
          <a:p>
            <a:pPr algn="l">
              <a:spcAft>
                <a:spcPts val="400"/>
              </a:spcAft>
            </a:pPr>
            <a:r>
              <a:rPr sz="2800" b="1" i="0">
                <a:solidFill>
                  <a:srgbClr val="0F172A"/>
                </a:solidFill>
              </a:rPr>
              <a:t>4,025</a:t>
            </a:r>
          </a:p>
        </p:txBody>
      </p:sp>
      <p:sp>
        <p:nvSpPr>
          <p:cNvPr id="29" name="TextBox 28"/>
          <p:cNvSpPr txBox="1"/>
          <p:nvPr/>
        </p:nvSpPr>
        <p:spPr>
          <a:xfrm>
            <a:off x="749808" y="1988819"/>
            <a:ext cx="2377440" cy="434340"/>
          </a:xfrm>
          <a:prstGeom prst="rect">
            <a:avLst/>
          </a:prstGeom>
          <a:noFill/>
        </p:spPr>
        <p:txBody>
          <a:bodyPr wrap="square" lIns="0" rIns="0" tIns="0" bIns="0" anchor="t">
            <a:spAutoFit/>
          </a:bodyPr>
          <a:lstStyle/>
          <a:p>
            <a:pPr algn="l">
              <a:spcAft>
                <a:spcPts val="400"/>
              </a:spcAft>
            </a:pPr>
            <a:r>
              <a:rPr sz="1200" b="0" i="0">
                <a:solidFill>
                  <a:srgbClr val="475569"/>
                </a:solidFill>
              </a:rPr>
              <a:t>TF-IDF + stylometric features</a:t>
            </a:r>
          </a:p>
        </p:txBody>
      </p:sp>
      <p:sp>
        <p:nvSpPr>
          <p:cNvPr id="30" name="Rounded Rectangle 29"/>
          <p:cNvSpPr/>
          <p:nvPr/>
        </p:nvSpPr>
        <p:spPr>
          <a:xfrm>
            <a:off x="3383280" y="1325880"/>
            <a:ext cx="2651760" cy="1143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3383280" y="1325880"/>
            <a:ext cx="73152" cy="1143000"/>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3584448" y="1417320"/>
            <a:ext cx="2377440" cy="628650"/>
          </a:xfrm>
          <a:prstGeom prst="rect">
            <a:avLst/>
          </a:prstGeom>
          <a:noFill/>
        </p:spPr>
        <p:txBody>
          <a:bodyPr wrap="square" lIns="0" rIns="0" tIns="0" bIns="0" anchor="ctr">
            <a:spAutoFit/>
          </a:bodyPr>
          <a:lstStyle/>
          <a:p>
            <a:pPr algn="l">
              <a:spcAft>
                <a:spcPts val="400"/>
              </a:spcAft>
            </a:pPr>
            <a:r>
              <a:rPr sz="2800" b="1" i="0">
                <a:solidFill>
                  <a:srgbClr val="0F172A"/>
                </a:solidFill>
              </a:rPr>
              <a:t>300</a:t>
            </a:r>
          </a:p>
        </p:txBody>
      </p:sp>
      <p:sp>
        <p:nvSpPr>
          <p:cNvPr id="33" name="TextBox 32"/>
          <p:cNvSpPr txBox="1"/>
          <p:nvPr/>
        </p:nvSpPr>
        <p:spPr>
          <a:xfrm>
            <a:off x="3584448" y="1988819"/>
            <a:ext cx="2377440" cy="434340"/>
          </a:xfrm>
          <a:prstGeom prst="rect">
            <a:avLst/>
          </a:prstGeom>
          <a:noFill/>
        </p:spPr>
        <p:txBody>
          <a:bodyPr wrap="square" lIns="0" rIns="0" tIns="0" bIns="0" anchor="t">
            <a:spAutoFit/>
          </a:bodyPr>
          <a:lstStyle/>
          <a:p>
            <a:pPr algn="l">
              <a:spcAft>
                <a:spcPts val="400"/>
              </a:spcAft>
            </a:pPr>
            <a:r>
              <a:rPr sz="1200" b="0" i="0">
                <a:solidFill>
                  <a:srgbClr val="475569"/>
                </a:solidFill>
              </a:rPr>
              <a:t>PCA components (29.3% variance kept)</a:t>
            </a:r>
          </a:p>
        </p:txBody>
      </p:sp>
      <p:sp>
        <p:nvSpPr>
          <p:cNvPr id="34" name="Rounded Rectangle 33"/>
          <p:cNvSpPr/>
          <p:nvPr/>
        </p:nvSpPr>
        <p:spPr>
          <a:xfrm>
            <a:off x="6217920" y="1325880"/>
            <a:ext cx="2651760" cy="1143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6217920" y="1325880"/>
            <a:ext cx="73152" cy="1143000"/>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6419088" y="1417320"/>
            <a:ext cx="2377440" cy="628650"/>
          </a:xfrm>
          <a:prstGeom prst="rect">
            <a:avLst/>
          </a:prstGeom>
          <a:noFill/>
        </p:spPr>
        <p:txBody>
          <a:bodyPr wrap="square" lIns="0" rIns="0" tIns="0" bIns="0" anchor="ctr">
            <a:spAutoFit/>
          </a:bodyPr>
          <a:lstStyle/>
          <a:p>
            <a:pPr algn="l">
              <a:spcAft>
                <a:spcPts val="400"/>
              </a:spcAft>
            </a:pPr>
            <a:r>
              <a:rPr sz="2800" b="1" i="0">
                <a:solidFill>
                  <a:srgbClr val="0F172A"/>
                </a:solidFill>
              </a:rPr>
              <a:t>148</a:t>
            </a:r>
          </a:p>
        </p:txBody>
      </p:sp>
      <p:sp>
        <p:nvSpPr>
          <p:cNvPr id="37" name="TextBox 36"/>
          <p:cNvSpPr txBox="1"/>
          <p:nvPr/>
        </p:nvSpPr>
        <p:spPr>
          <a:xfrm>
            <a:off x="6419088" y="1988819"/>
            <a:ext cx="2377440" cy="434340"/>
          </a:xfrm>
          <a:prstGeom prst="rect">
            <a:avLst/>
          </a:prstGeom>
          <a:noFill/>
        </p:spPr>
        <p:txBody>
          <a:bodyPr wrap="square" lIns="0" rIns="0" tIns="0" bIns="0" anchor="t">
            <a:spAutoFit/>
          </a:bodyPr>
          <a:lstStyle/>
          <a:p>
            <a:pPr algn="l">
              <a:spcAft>
                <a:spcPts val="400"/>
              </a:spcAft>
            </a:pPr>
            <a:r>
              <a:rPr sz="1200" b="0" i="0">
                <a:solidFill>
                  <a:srgbClr val="475569"/>
                </a:solidFill>
              </a:rPr>
              <a:t>components kept by Firefly (mean of 3 seeds)</a:t>
            </a:r>
          </a:p>
        </p:txBody>
      </p:sp>
      <p:sp>
        <p:nvSpPr>
          <p:cNvPr id="38" name="Rounded Rectangle 37"/>
          <p:cNvSpPr/>
          <p:nvPr/>
        </p:nvSpPr>
        <p:spPr>
          <a:xfrm>
            <a:off x="9052560" y="1325880"/>
            <a:ext cx="2651760" cy="1143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ectangle 38"/>
          <p:cNvSpPr/>
          <p:nvPr/>
        </p:nvSpPr>
        <p:spPr>
          <a:xfrm>
            <a:off x="9052560" y="1325880"/>
            <a:ext cx="73152" cy="1143000"/>
          </a:xfrm>
          <a:prstGeom prst="rect">
            <a:avLst/>
          </a:prstGeom>
          <a:solidFill>
            <a:srgbClr val="6B52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9253728" y="1417320"/>
            <a:ext cx="2377440" cy="628650"/>
          </a:xfrm>
          <a:prstGeom prst="rect">
            <a:avLst/>
          </a:prstGeom>
          <a:noFill/>
        </p:spPr>
        <p:txBody>
          <a:bodyPr wrap="square" lIns="0" rIns="0" tIns="0" bIns="0" anchor="ctr">
            <a:spAutoFit/>
          </a:bodyPr>
          <a:lstStyle/>
          <a:p>
            <a:pPr algn="l">
              <a:spcAft>
                <a:spcPts val="400"/>
              </a:spcAft>
            </a:pPr>
            <a:r>
              <a:rPr sz="2800" b="1" i="0">
                <a:solidFill>
                  <a:srgbClr val="0F172A"/>
                </a:solidFill>
              </a:rPr>
              <a:t>3</a:t>
            </a:r>
          </a:p>
        </p:txBody>
      </p:sp>
      <p:sp>
        <p:nvSpPr>
          <p:cNvPr id="41" name="TextBox 40"/>
          <p:cNvSpPr txBox="1"/>
          <p:nvPr/>
        </p:nvSpPr>
        <p:spPr>
          <a:xfrm>
            <a:off x="9253728" y="1988819"/>
            <a:ext cx="2377440" cy="434340"/>
          </a:xfrm>
          <a:prstGeom prst="rect">
            <a:avLst/>
          </a:prstGeom>
          <a:noFill/>
        </p:spPr>
        <p:txBody>
          <a:bodyPr wrap="square" lIns="0" rIns="0" tIns="0" bIns="0" anchor="t">
            <a:spAutoFit/>
          </a:bodyPr>
          <a:lstStyle/>
          <a:p>
            <a:pPr algn="l">
              <a:spcAft>
                <a:spcPts val="400"/>
              </a:spcAft>
            </a:pPr>
            <a:r>
              <a:rPr sz="1200" b="0" i="0">
                <a:solidFill>
                  <a:srgbClr val="475569"/>
                </a:solidFill>
              </a:rPr>
              <a:t>classes (one-vs-rest shape, RBF kernel)</a:t>
            </a:r>
          </a:p>
        </p:txBody>
      </p:sp>
      <p:graphicFrame>
        <p:nvGraphicFramePr>
          <p:cNvPr id="42" name="Table 41"/>
          <p:cNvGraphicFramePr>
            <a:graphicFrameLocks noGrp="1"/>
          </p:cNvGraphicFramePr>
          <p:nvPr/>
        </p:nvGraphicFramePr>
        <p:xfrm>
          <a:off x="548640" y="2743200"/>
          <a:ext cx="11091672" cy="3108960"/>
        </p:xfrm>
        <a:graphic>
          <a:graphicData uri="http://schemas.openxmlformats.org/drawingml/2006/table">
            <a:tbl>
              <a:tblPr firstRow="0" bandRow="0">
                <a:tableStyleId>{5C22544A-7EE6-4342-B048-85BDC9FD1C3A}</a:tableStyleId>
              </a:tblPr>
              <a:tblGrid>
                <a:gridCol w="1463040"/>
                <a:gridCol w="9628632"/>
              </a:tblGrid>
              <a:tr h="777240">
                <a:tc>
                  <a:txBody>
                    <a:bodyPr wrap="square"/>
                    <a:lstStyle/>
                    <a:p>
                      <a:pPr algn="ctr"/>
                      <a:r>
                        <a:rPr sz="1500" b="1">
                          <a:solidFill>
                            <a:srgbClr val="FFFFFF"/>
                          </a:solidFill>
                        </a:rPr>
                        <a:t>Stage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500" b="1">
                          <a:solidFill>
                            <a:srgbClr val="FFFFFF"/>
                          </a:solidFill>
                        </a:rPr>
                        <a:t>What it does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r>
              <a:tr h="777240">
                <a:tc>
                  <a:txBody>
                    <a:bodyPr wrap="square"/>
                    <a:lstStyle/>
                    <a:p>
                      <a:pPr algn="l"/>
                      <a:r>
                        <a:rPr sz="1500" b="1">
                          <a:solidFill>
                            <a:srgbClr val="0F172A"/>
                          </a:solidFill>
                        </a:rPr>
                        <a:t>PCA</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500" b="0">
                          <a:solidFill>
                            <a:srgbClr val="0F172A"/>
                          </a:solidFill>
                        </a:rPr>
                        <a:t>Standardised features to at most 300 orthogonal components; the cap, not the 95 % target, is what binds on real text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777240">
                <a:tc>
                  <a:txBody>
                    <a:bodyPr wrap="square"/>
                    <a:lstStyle/>
                    <a:p>
                      <a:pPr algn="l"/>
                      <a:r>
                        <a:rPr sz="1500" b="1">
                          <a:solidFill>
                            <a:srgbClr val="0F172A"/>
                          </a:solidFill>
                        </a:rPr>
                        <a:t>Firefly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500" b="0">
                          <a:solidFill>
                            <a:srgbClr val="0F172A"/>
                          </a:solidFill>
                        </a:rPr>
                        <a:t>Chooses a component mask plus C in [0.1, 1000] and gamma in [1e-4, 10]; fitness is 3-fold CV macro-F1 minus 0.02 x selected share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777240">
                <a:tc>
                  <a:txBody>
                    <a:bodyPr wrap="square"/>
                    <a:lstStyle/>
                    <a:p>
                      <a:pPr algn="l"/>
                      <a:r>
                        <a:rPr sz="1500" b="1">
                          <a:solidFill>
                            <a:srgbClr val="0F172A"/>
                          </a:solidFill>
                        </a:rPr>
                        <a:t>MSVM</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500" b="0">
                          <a:solidFill>
                            <a:srgbClr val="0F172A"/>
                          </a:solidFill>
                        </a:rPr>
                        <a:t>SVC with RBF kernel, balanced class weights, one-vs-rest decision shape, probability=True (Platt scaling)</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bl>
          </a:graphicData>
        </a:graphic>
      </p:graphicFrame>
      <p:sp>
        <p:nvSpPr>
          <p:cNvPr id="43" name="TextBox 42"/>
          <p:cNvSpPr txBox="1"/>
          <p:nvPr/>
        </p:nvSpPr>
        <p:spPr>
          <a:xfrm>
            <a:off x="548640" y="5943600"/>
            <a:ext cx="11064240" cy="457200"/>
          </a:xfrm>
          <a:prstGeom prst="rect">
            <a:avLst/>
          </a:prstGeom>
          <a:noFill/>
        </p:spPr>
        <p:txBody>
          <a:bodyPr wrap="square" lIns="0" rIns="0" tIns="0" bIns="0" anchor="t">
            <a:spAutoFit/>
          </a:bodyPr>
          <a:lstStyle/>
          <a:p>
            <a:pPr algn="l">
              <a:spcAft>
                <a:spcPts val="400"/>
              </a:spcAft>
            </a:pPr>
            <a:r>
              <a:rPr sz="1400" b="0" i="1">
                <a:solidFill>
                  <a:srgbClr val="475569"/>
                </a:solidFill>
              </a:rPr>
              <a:t>A finding: with a 300-component cap PCA keeps only about 29 % of the variance of the standardised real-text features.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Training configuration</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9</a:t>
            </a:fld>
            <a:endParaRPr lang="en-US"/>
          </a:p>
        </p:txBody>
      </p:sp>
      <p:graphicFrame>
        <p:nvGraphicFramePr>
          <p:cNvPr id="26" name="Table 25"/>
          <p:cNvGraphicFramePr>
            <a:graphicFrameLocks noGrp="1"/>
          </p:cNvGraphicFramePr>
          <p:nvPr/>
        </p:nvGraphicFramePr>
        <p:xfrm>
          <a:off x="548640" y="1234440"/>
          <a:ext cx="11091672" cy="2944368"/>
        </p:xfrm>
        <a:graphic>
          <a:graphicData uri="http://schemas.openxmlformats.org/drawingml/2006/table">
            <a:tbl>
              <a:tblPr firstRow="0" bandRow="0">
                <a:tableStyleId>{5C22544A-7EE6-4342-B048-85BDC9FD1C3A}</a:tableStyleId>
              </a:tblPr>
              <a:tblGrid>
                <a:gridCol w="2194560"/>
                <a:gridCol w="8897112"/>
              </a:tblGrid>
              <a:tr h="420624">
                <a:tc>
                  <a:txBody>
                    <a:bodyPr wrap="square"/>
                    <a:lstStyle/>
                    <a:p>
                      <a:pPr algn="ctr"/>
                      <a:r>
                        <a:rPr sz="1300" b="1">
                          <a:solidFill>
                            <a:srgbClr val="FFFFFF"/>
                          </a:solidFill>
                        </a:rPr>
                        <a:t>Setting</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300" b="1">
                          <a:solidFill>
                            <a:srgbClr val="FFFFFF"/>
                          </a:solidFill>
                        </a:rPr>
                        <a:t>Value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r>
              <a:tr h="420624">
                <a:tc>
                  <a:txBody>
                    <a:bodyPr wrap="square"/>
                    <a:lstStyle/>
                    <a:p>
                      <a:pPr algn="l"/>
                      <a:r>
                        <a:rPr sz="1300" b="1">
                          <a:solidFill>
                            <a:srgbClr val="0F172A"/>
                          </a:solidFill>
                        </a:rPr>
                        <a:t>Firefly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300" b="0">
                          <a:solidFill>
                            <a:srgbClr val="0F172A"/>
                          </a:solidFill>
                        </a:rPr>
                        <a:t>10 fireflies, 12 generations, alpha 0.2 (decay 0.97), beta0 1, gamma 1; about 550 fitness evaluations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420624">
                <a:tc>
                  <a:txBody>
                    <a:bodyPr wrap="square"/>
                    <a:lstStyle/>
                    <a:p>
                      <a:pPr algn="l"/>
                      <a:r>
                        <a:rPr sz="1300" b="1">
                          <a:solidFill>
                            <a:srgbClr val="0F172A"/>
                          </a:solidFill>
                        </a:rPr>
                        <a:t>Fitness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300" b="0">
                          <a:solidFill>
                            <a:srgbClr val="0F172A"/>
                          </a:solidFill>
                        </a:rPr>
                        <a:t>3-fold stratified CV macro-F1 minus 0.02 x (selected / total components)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420624">
                <a:tc>
                  <a:txBody>
                    <a:bodyPr wrap="square"/>
                    <a:lstStyle/>
                    <a:p>
                      <a:pPr algn="l"/>
                      <a:r>
                        <a:rPr sz="1300" b="1">
                          <a:solidFill>
                            <a:srgbClr val="0F172A"/>
                          </a:solidFill>
                        </a:rPr>
                        <a:t>Split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300" b="0">
                          <a:solidFill>
                            <a:srgbClr val="0F172A"/>
                          </a:solidFill>
                        </a:rPr>
                        <a:t>80/20 stratified inside the 3,000-statement subsample; scored on the official validation and test splits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420624">
                <a:tc>
                  <a:txBody>
                    <a:bodyPr wrap="square"/>
                    <a:lstStyle/>
                    <a:p>
                      <a:pPr algn="l"/>
                      <a:r>
                        <a:rPr sz="1300" b="1">
                          <a:solidFill>
                            <a:srgbClr val="0F172A"/>
                          </a:solidFill>
                        </a:rPr>
                        <a:t>Final SVM</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300" b="0">
                          <a:solidFill>
                            <a:srgbClr val="0F172A"/>
                          </a:solidFill>
                        </a:rPr>
                        <a:t>RBF, class_weight balanced, probability=True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420624">
                <a:tc>
                  <a:txBody>
                    <a:bodyPr wrap="square"/>
                    <a:lstStyle/>
                    <a:p>
                      <a:pPr algn="l"/>
                      <a:r>
                        <a:rPr sz="1300" b="1">
                          <a:solidFill>
                            <a:srgbClr val="0F172A"/>
                          </a:solidFill>
                        </a:rPr>
                        <a:t>Seeds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300" b="0">
                          <a:solidFill>
                            <a:srgbClr val="0F172A"/>
                          </a:solidFill>
                        </a:rPr>
                        <a:t>7, 42, 2024; results are mean ± std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420624">
                <a:tc>
                  <a:txBody>
                    <a:bodyPr wrap="square"/>
                    <a:lstStyle/>
                    <a:p>
                      <a:pPr algn="l"/>
                      <a:r>
                        <a:rPr sz="1300" b="1">
                          <a:solidFill>
                            <a:srgbClr val="0F172A"/>
                          </a:solidFill>
                        </a:rPr>
                        <a:t>Hardware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300" b="0">
                          <a:solidFill>
                            <a:srgbClr val="0F172A"/>
                          </a:solidFill>
                        </a:rPr>
                        <a:t>CPU only, Intel Core i5-12500 (6 cores, 12 threads); one full fit takes 504 ± 75 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bl>
          </a:graphicData>
        </a:graphic>
      </p:graphicFrame>
      <p:pic>
        <p:nvPicPr>
          <p:cNvPr id="27" name="Picture 26" descr="f02_firefly_convergence.png"/>
          <p:cNvPicPr>
            <a:picLocks noChangeAspect="1"/>
          </p:cNvPicPr>
          <p:nvPr/>
        </p:nvPicPr>
        <p:blipFill>
          <a:blip r:embed="rId1"/>
          <a:stretch>
            <a:fillRect/>
          </a:stretch>
        </p:blipFill>
        <p:spPr>
          <a:xfrm>
            <a:off x="757633" y="4343400"/>
            <a:ext cx="3422493" cy="2103120"/>
          </a:xfrm>
          <a:prstGeom prst="rect">
            <a:avLst/>
          </a:prstGeom>
        </p:spPr>
      </p:pic>
      <p:sp>
        <p:nvSpPr>
          <p:cNvPr id="28" name="TextBox 27"/>
          <p:cNvSpPr txBox="1"/>
          <p:nvPr/>
        </p:nvSpPr>
        <p:spPr>
          <a:xfrm>
            <a:off x="4663440" y="4526280"/>
            <a:ext cx="6949440" cy="1828800"/>
          </a:xfrm>
          <a:prstGeom prst="rect">
            <a:avLst/>
          </a:prstGeom>
          <a:noFill/>
        </p:spPr>
        <p:txBody>
          <a:bodyPr wrap="square" lIns="0" rIns="0" tIns="0" bIns="0" anchor="t">
            <a:spAutoFit/>
          </a:bodyPr>
          <a:lstStyle/>
          <a:p>
            <a:pPr algn="l">
              <a:spcAft>
                <a:spcPts val="400"/>
              </a:spcAft>
            </a:pPr>
            <a:r>
              <a:rPr sz="1400" b="0" i="0">
                <a:solidFill>
                  <a:srgbClr val="475569"/>
                </a:solidFill>
              </a:rPr>
              <a:t>Convergence: best fitness reaches 0.433 ± 0.010 against 0.426 ± 0.005 for random search with the same number of evaluations, most of the gain comes in the first generations, though one seed was still improving at generation 10. Firefly's hyper-parameters were not tuned.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Decision logic: Firefly search and the verdict</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10</a:t>
            </a:fld>
            <a:endParaRPr lang="en-US"/>
          </a:p>
        </p:txBody>
      </p:sp>
      <p:pic>
        <p:nvPicPr>
          <p:cNvPr id="26" name="Picture 25" descr="10_core_algorithm_flowchart.png"/>
          <p:cNvPicPr>
            <a:picLocks noChangeAspect="1"/>
          </p:cNvPicPr>
          <p:nvPr/>
        </p:nvPicPr>
        <p:blipFill>
          <a:blip r:embed="rId1"/>
          <a:stretch>
            <a:fillRect/>
          </a:stretch>
        </p:blipFill>
        <p:spPr>
          <a:xfrm>
            <a:off x="548640" y="1251813"/>
            <a:ext cx="4754880" cy="5040172"/>
          </a:xfrm>
          <a:prstGeom prst="rect">
            <a:avLst/>
          </a:prstGeom>
        </p:spPr>
      </p:pic>
      <p:sp>
        <p:nvSpPr>
          <p:cNvPr id="27" name="TextBox 26"/>
          <p:cNvSpPr txBox="1"/>
          <p:nvPr/>
        </p:nvSpPr>
        <p:spPr>
          <a:xfrm>
            <a:off x="5577840" y="1371600"/>
            <a:ext cx="6035040" cy="4937760"/>
          </a:xfrm>
          <a:prstGeom prst="rect">
            <a:avLst/>
          </a:prstGeom>
          <a:noFill/>
        </p:spPr>
        <p:txBody>
          <a:bodyPr wrap="square" lIns="0" rIns="0" tIns="0" bIns="0" anchor="t">
            <a:spAutoFit/>
          </a:bodyPr>
          <a:lstStyle/>
          <a:p>
            <a:pPr algn="l" marL="256032" indent="-201168">
              <a:spcAft>
                <a:spcPts val="900"/>
              </a:spcAft>
              <a:buChar char="•"/>
            </a:pPr>
            <a:r>
              <a:rPr sz="1600" b="1" i="0">
                <a:solidFill>
                  <a:srgbClr val="0F172A"/>
                </a:solidFill>
              </a:rPr>
              <a:t>Move.</a:t>
            </a:r>
            <a:r>
              <a:rPr sz="1600" b="0" i="0">
                <a:solidFill>
                  <a:srgbClr val="0F172A"/>
                </a:solidFill>
              </a:rPr>
              <a:t> A dimmer firefly moves towards a brighter one with attraction exp(-gamma r² / d) plus decaying random noise.</a:t>
            </a:r>
          </a:p>
          <a:p>
            <a:pPr algn="l" marL="256032" indent="-201168">
              <a:spcAft>
                <a:spcPts val="900"/>
              </a:spcAft>
              <a:buChar char="•"/>
            </a:pPr>
            <a:r>
              <a:rPr sz="1600" b="1" i="0">
                <a:solidFill>
                  <a:srgbClr val="0F172A"/>
                </a:solidFill>
              </a:rPr>
              <a:t>Decode.</a:t>
            </a:r>
            <a:r>
              <a:rPr sz="1600" b="0" i="0">
                <a:solidFill>
                  <a:srgbClr val="0F172A"/>
                </a:solidFill>
              </a:rPr>
              <a:t> Mask = sigmoid(logits) &gt; 0.5; log10 C and log10 gamma are clipped to their ranges.</a:t>
            </a:r>
          </a:p>
          <a:p>
            <a:pPr algn="l" marL="256032" indent="-201168">
              <a:spcAft>
                <a:spcPts val="900"/>
              </a:spcAft>
              <a:buChar char="•"/>
            </a:pPr>
            <a:r>
              <a:rPr sz="1600" b="1" i="0">
                <a:solidFill>
                  <a:srgbClr val="0F172A"/>
                </a:solidFill>
              </a:rPr>
              <a:t>Verdict.</a:t>
            </a:r>
            <a:r>
              <a:rPr sz="1600" b="0" i="0">
                <a:solidFill>
                  <a:srgbClr val="0F172A"/>
                </a:solidFill>
              </a:rPr>
              <a:t> The label is SVC.predict; REAL / PARTIALLY TRUE / FAKE probabilities come from Platt scaling.</a:t>
            </a:r>
          </a:p>
          <a:p>
            <a:pPr algn="l" marL="256032" indent="-201168">
              <a:spcAft>
                <a:spcPts val="400"/>
              </a:spcAft>
              <a:buChar char="•"/>
            </a:pPr>
            <a:r>
              <a:rPr sz="1600" b="1" i="0">
                <a:solidFill>
                  <a:srgbClr val="0F172A"/>
                </a:solidFill>
              </a:rPr>
              <a:t>Known mismatch.</a:t>
            </a:r>
            <a:r>
              <a:rPr sz="1600" b="0" i="0">
                <a:solidFill>
                  <a:srgbClr val="0F172A"/>
                </a:solidFill>
              </a:rPr>
              <a:t> On 48.8% of test statements the verdict is not the highest-probability class, so the displayed confidence can belong to another class. Reported, not hidden.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Data flow and modules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11</a:t>
            </a:fld>
            <a:endParaRPr lang="en-US"/>
          </a:p>
        </p:txBody>
      </p:sp>
      <p:pic>
        <p:nvPicPr>
          <p:cNvPr id="26" name="Picture 25" descr="04_dfd_level1.png"/>
          <p:cNvPicPr>
            <a:picLocks noChangeAspect="1"/>
          </p:cNvPicPr>
          <p:nvPr/>
        </p:nvPicPr>
        <p:blipFill>
          <a:blip r:embed="rId1"/>
          <a:stretch>
            <a:fillRect/>
          </a:stretch>
        </p:blipFill>
        <p:spPr>
          <a:xfrm>
            <a:off x="548640" y="1412747"/>
            <a:ext cx="6675120" cy="4672584"/>
          </a:xfrm>
          <a:prstGeom prst="rect">
            <a:avLst/>
          </a:prstGeom>
        </p:spPr>
      </p:pic>
      <p:graphicFrame>
        <p:nvGraphicFramePr>
          <p:cNvPr id="27" name="Table 26"/>
          <p:cNvGraphicFramePr>
            <a:graphicFrameLocks noGrp="1"/>
          </p:cNvGraphicFramePr>
          <p:nvPr/>
        </p:nvGraphicFramePr>
        <p:xfrm>
          <a:off x="7498079" y="1371600"/>
          <a:ext cx="4142232" cy="4279392"/>
        </p:xfrm>
        <a:graphic>
          <a:graphicData uri="http://schemas.openxmlformats.org/drawingml/2006/table">
            <a:tbl>
              <a:tblPr firstRow="0" bandRow="0">
                <a:tableStyleId>{5C22544A-7EE6-4342-B048-85BDC9FD1C3A}</a:tableStyleId>
              </a:tblPr>
              <a:tblGrid>
                <a:gridCol w="2011680"/>
                <a:gridCol w="2130552"/>
              </a:tblGrid>
              <a:tr h="475488">
                <a:tc>
                  <a:txBody>
                    <a:bodyPr wrap="square"/>
                    <a:lstStyle/>
                    <a:p>
                      <a:pPr algn="ctr"/>
                      <a:r>
                        <a:rPr sz="1200" b="1">
                          <a:solidFill>
                            <a:srgbClr val="FFFFFF"/>
                          </a:solidFill>
                        </a:rPr>
                        <a:t>Module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200" b="1">
                          <a:solidFill>
                            <a:srgbClr val="FFFFFF"/>
                          </a:solidFill>
                        </a:rPr>
                        <a:t>Role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r>
              <a:tr h="475488">
                <a:tc>
                  <a:txBody>
                    <a:bodyPr wrap="square"/>
                    <a:lstStyle/>
                    <a:p>
                      <a:pPr algn="l"/>
                      <a:r>
                        <a:rPr sz="1200" b="0">
                          <a:solidFill>
                            <a:srgbClr val="0F172A"/>
                          </a:solidFill>
                        </a:rPr>
                        <a:t>preprocessing.py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00" b="0">
                          <a:solidFill>
                            <a:srgbClr val="0F172A"/>
                          </a:solidFill>
                        </a:rPr>
                        <a:t>clean text, 25 style features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475488">
                <a:tc>
                  <a:txBody>
                    <a:bodyPr wrap="square"/>
                    <a:lstStyle/>
                    <a:p>
                      <a:pPr algn="l"/>
                      <a:r>
                        <a:rPr sz="1200" b="0">
                          <a:solidFill>
                            <a:srgbClr val="0F172A"/>
                          </a:solidFill>
                        </a:rPr>
                        <a:t>dataset.py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00" b="0">
                          <a:solidFill>
                            <a:srgbClr val="0F172A"/>
                          </a:solidFill>
                        </a:rPr>
                        <a:t>load CSV, demo corpus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475488">
                <a:tc>
                  <a:txBody>
                    <a:bodyPr wrap="square"/>
                    <a:lstStyle/>
                    <a:p>
                      <a:pPr algn="l"/>
                      <a:r>
                        <a:rPr sz="1200" b="0">
                          <a:solidFill>
                            <a:srgbClr val="0F172A"/>
                          </a:solidFill>
                        </a:rPr>
                        <a:t>firefly.py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00" b="0">
                          <a:solidFill>
                            <a:srgbClr val="0F172A"/>
                          </a:solidFill>
                        </a:rPr>
                        <a:t>mask + C + gamma search</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475488">
                <a:tc>
                  <a:txBody>
                    <a:bodyPr wrap="square"/>
                    <a:lstStyle/>
                    <a:p>
                      <a:pPr algn="l"/>
                      <a:r>
                        <a:rPr sz="1200" b="0">
                          <a:solidFill>
                            <a:srgbClr val="0F172A"/>
                          </a:solidFill>
                        </a:rPr>
                        <a:t>pipeline.py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00" b="0">
                          <a:solidFill>
                            <a:srgbClr val="0F172A"/>
                          </a:solidFill>
                        </a:rPr>
                        <a:t>fit, predict, save, load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475488">
                <a:tc>
                  <a:txBody>
                    <a:bodyPr wrap="square"/>
                    <a:lstStyle/>
                    <a:p>
                      <a:pPr algn="l"/>
                      <a:r>
                        <a:rPr sz="1200" b="0">
                          <a:solidFill>
                            <a:srgbClr val="0F172A"/>
                          </a:solidFill>
                        </a:rPr>
                        <a:t>backend/main.py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00" b="0">
                          <a:solidFill>
                            <a:srgbClr val="0F172A"/>
                          </a:solidFill>
                        </a:rPr>
                        <a:t>FastAPI routes, retrain job</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475488">
                <a:tc>
                  <a:txBody>
                    <a:bodyPr wrap="square"/>
                    <a:lstStyle/>
                    <a:p>
                      <a:pPr algn="l"/>
                      <a:r>
                        <a:rPr sz="1200" b="0">
                          <a:solidFill>
                            <a:srgbClr val="0F172A"/>
                          </a:solidFill>
                        </a:rPr>
                        <a:t>frontend/src</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00" b="0">
                          <a:solidFill>
                            <a:srgbClr val="0F172A"/>
                          </a:solidFill>
                        </a:rPr>
                        <a:t>React screens and charts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475488">
                <a:tc>
                  <a:txBody>
                    <a:bodyPr wrap="square"/>
                    <a:lstStyle/>
                    <a:p>
                      <a:pPr algn="l"/>
                      <a:r>
                        <a:rPr sz="1200" b="0">
                          <a:solidFill>
                            <a:srgbClr val="0F172A"/>
                          </a:solidFill>
                        </a:rPr>
                        <a:t>train.py, predict.py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00" b="0">
                          <a:solidFill>
                            <a:srgbClr val="0F172A"/>
                          </a:solidFill>
                        </a:rPr>
                        <a:t>command-line entry points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475488">
                <a:tc>
                  <a:txBody>
                    <a:bodyPr wrap="square"/>
                    <a:lstStyle/>
                    <a:p>
                      <a:pPr algn="l"/>
                      <a:r>
                        <a:rPr sz="1200" b="0">
                          <a:solidFill>
                            <a:srgbClr val="0F172A"/>
                          </a:solidFill>
                        </a:rPr>
                        <a:t>app.py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00" b="0">
                          <a:solidFill>
                            <a:srgbClr val="0F172A"/>
                          </a:solidFill>
                        </a:rPr>
                        <a:t>Streamlit front end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Database design and UML</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12</a:t>
            </a:fld>
            <a:endParaRPr lang="en-US"/>
          </a:p>
        </p:txBody>
      </p:sp>
      <p:pic>
        <p:nvPicPr>
          <p:cNvPr id="26" name="Picture 25" descr="09_er_diagram.png"/>
          <p:cNvPicPr>
            <a:picLocks noChangeAspect="1"/>
          </p:cNvPicPr>
          <p:nvPr/>
        </p:nvPicPr>
        <p:blipFill>
          <a:blip r:embed="rId1"/>
          <a:stretch>
            <a:fillRect/>
          </a:stretch>
        </p:blipFill>
        <p:spPr>
          <a:xfrm>
            <a:off x="548640" y="1875434"/>
            <a:ext cx="4846320" cy="3198571"/>
          </a:xfrm>
          <a:prstGeom prst="rect">
            <a:avLst/>
          </a:prstGeom>
        </p:spPr>
      </p:pic>
      <p:pic>
        <p:nvPicPr>
          <p:cNvPr id="27" name="Picture 26" descr="06_uml_class_diagram.png"/>
          <p:cNvPicPr>
            <a:picLocks noChangeAspect="1"/>
          </p:cNvPicPr>
          <p:nvPr/>
        </p:nvPicPr>
        <p:blipFill>
          <a:blip r:embed="rId4"/>
          <a:stretch>
            <a:fillRect/>
          </a:stretch>
        </p:blipFill>
        <p:spPr>
          <a:xfrm>
            <a:off x="5577840" y="1196949"/>
            <a:ext cx="6035039" cy="4646980"/>
          </a:xfrm>
          <a:prstGeom prst="rect">
            <a:avLst/>
          </a:prstGeom>
        </p:spPr>
      </p:pic>
      <p:sp>
        <p:nvSpPr>
          <p:cNvPr id="28" name="TextBox 27"/>
          <p:cNvSpPr txBox="1"/>
          <p:nvPr/>
        </p:nvSpPr>
        <p:spPr>
          <a:xfrm>
            <a:off x="548640" y="5943600"/>
            <a:ext cx="11091672" cy="411480"/>
          </a:xfrm>
          <a:prstGeom prst="rect">
            <a:avLst/>
          </a:prstGeom>
          <a:noFill/>
        </p:spPr>
        <p:txBody>
          <a:bodyPr wrap="square" lIns="0" rIns="0" tIns="0" bIns="0" anchor="t">
            <a:spAutoFit/>
          </a:bodyPr>
          <a:lstStyle/>
          <a:p>
            <a:pPr algn="ctr">
              <a:spcAft>
                <a:spcPts val="400"/>
              </a:spcAft>
            </a:pPr>
            <a:r>
              <a:rPr sz="1200" b="0" i="1">
                <a:solidFill>
                  <a:srgbClr val="475569"/>
                </a:solidFill>
              </a:rPr>
              <a:t>There is no SQL database: the model bundle is a file, retrain jobs live in memory, uploaded CSVs are temporary. The ER diagram models these stores.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Technology stack</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13</a:t>
            </a:fld>
            <a:endParaRPr lang="en-US"/>
          </a:p>
        </p:txBody>
      </p:sp>
      <p:graphicFrame>
        <p:nvGraphicFramePr>
          <p:cNvPr id="26" name="Table 25"/>
          <p:cNvGraphicFramePr>
            <a:graphicFrameLocks noGrp="1"/>
          </p:cNvGraphicFramePr>
          <p:nvPr/>
        </p:nvGraphicFramePr>
        <p:xfrm>
          <a:off x="548640" y="1371600"/>
          <a:ext cx="11091672" cy="4352544"/>
        </p:xfrm>
        <a:graphic>
          <a:graphicData uri="http://schemas.openxmlformats.org/drawingml/2006/table">
            <a:tbl>
              <a:tblPr firstRow="0" bandRow="0">
                <a:tableStyleId>{5C22544A-7EE6-4342-B048-85BDC9FD1C3A}</a:tableStyleId>
              </a:tblPr>
              <a:tblGrid>
                <a:gridCol w="2743200"/>
                <a:gridCol w="8348472"/>
              </a:tblGrid>
              <a:tr h="621792">
                <a:tc>
                  <a:txBody>
                    <a:bodyPr wrap="square"/>
                    <a:lstStyle/>
                    <a:p>
                      <a:pPr algn="ctr"/>
                      <a:r>
                        <a:rPr sz="1600" b="1">
                          <a:solidFill>
                            <a:srgbClr val="FFFFFF"/>
                          </a:solidFill>
                        </a:rPr>
                        <a:t>Layer</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600" b="1">
                          <a:solidFill>
                            <a:srgbClr val="FFFFFF"/>
                          </a:solidFill>
                        </a:rPr>
                        <a:t>Technology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r>
              <a:tr h="621792">
                <a:tc>
                  <a:txBody>
                    <a:bodyPr wrap="square"/>
                    <a:lstStyle/>
                    <a:p>
                      <a:pPr algn="l"/>
                      <a:r>
                        <a:rPr sz="1600" b="1">
                          <a:solidFill>
                            <a:srgbClr val="0F172A"/>
                          </a:solidFill>
                        </a:rPr>
                        <a:t>Machine learning</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600" b="0">
                          <a:solidFill>
                            <a:srgbClr val="0F172A"/>
                          </a:solidFill>
                        </a:rPr>
                        <a:t>Python 3.11, scikit-learn 1.9 (TF-IDF, PCA, SVC), NumPy, SciPy, pandas, joblib</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621792">
                <a:tc>
                  <a:txBody>
                    <a:bodyPr wrap="square"/>
                    <a:lstStyle/>
                    <a:p>
                      <a:pPr algn="l"/>
                      <a:r>
                        <a:rPr sz="1600" b="1">
                          <a:solidFill>
                            <a:srgbClr val="0F172A"/>
                          </a:solidFill>
                        </a:rPr>
                        <a:t>Optimisation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600" b="0">
                          <a:solidFill>
                            <a:srgbClr val="0F172A"/>
                          </a:solidFill>
                        </a:rPr>
                        <a:t>Firefly algorithm written for the project (src/firefly.py)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621792">
                <a:tc>
                  <a:txBody>
                    <a:bodyPr wrap="square"/>
                    <a:lstStyle/>
                    <a:p>
                      <a:pPr algn="l"/>
                      <a:r>
                        <a:rPr sz="1600" b="1">
                          <a:solidFill>
                            <a:srgbClr val="0F172A"/>
                          </a:solidFill>
                        </a:rPr>
                        <a:t>API</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600" b="0">
                          <a:solidFill>
                            <a:srgbClr val="0F172A"/>
                          </a:solidFill>
                        </a:rPr>
                        <a:t>FastAPI, uvicorn, python-multipart (port 8406)</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621792">
                <a:tc>
                  <a:txBody>
                    <a:bodyPr wrap="square"/>
                    <a:lstStyle/>
                    <a:p>
                      <a:pPr algn="l"/>
                      <a:r>
                        <a:rPr sz="1600" b="1">
                          <a:solidFill>
                            <a:srgbClr val="0F172A"/>
                          </a:solidFill>
                        </a:rPr>
                        <a:t>Front end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600" b="0">
                          <a:solidFill>
                            <a:srgbClr val="0F172A"/>
                          </a:solidFill>
                        </a:rPr>
                        <a:t>React 18, TypeScript, Vite 8, Tailwind 4, TanStack Query, Recharts, GSAP (port 5406)</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621792">
                <a:tc>
                  <a:txBody>
                    <a:bodyPr wrap="square"/>
                    <a:lstStyle/>
                    <a:p>
                      <a:pPr algn="l"/>
                      <a:r>
                        <a:rPr sz="1600" b="1">
                          <a:solidFill>
                            <a:srgbClr val="0F172A"/>
                          </a:solidFill>
                        </a:rPr>
                        <a:t>Other front ends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600" b="0">
                          <a:solidFill>
                            <a:srgbClr val="0F172A"/>
                          </a:solidFill>
                        </a:rPr>
                        <a:t>Streamlit app and command line (train.py, predict.py), unchanged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621792">
                <a:tc>
                  <a:txBody>
                    <a:bodyPr wrap="square"/>
                    <a:lstStyle/>
                    <a:p>
                      <a:pPr algn="l"/>
                      <a:r>
                        <a:rPr sz="1600" b="1">
                          <a:solidFill>
                            <a:srgbClr val="0F172A"/>
                          </a:solidFill>
                        </a:rPr>
                        <a:t>Testing</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600" b="0">
                          <a:solidFill>
                            <a:srgbClr val="0F172A"/>
                          </a:solidFill>
                        </a:rPr>
                        <a:t>Python check scripts (smoke and unit/edge), Playwright for screenshots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Implementation progress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14</a:t>
            </a:fld>
            <a:endParaRPr lang="en-US"/>
          </a:p>
        </p:txBody>
      </p:sp>
      <p:graphicFrame>
        <p:nvGraphicFramePr>
          <p:cNvPr id="26" name="Table 25"/>
          <p:cNvGraphicFramePr>
            <a:graphicFrameLocks noGrp="1"/>
          </p:cNvGraphicFramePr>
          <p:nvPr/>
        </p:nvGraphicFramePr>
        <p:xfrm>
          <a:off x="548640" y="1371600"/>
          <a:ext cx="11091672" cy="4535424"/>
        </p:xfrm>
        <a:graphic>
          <a:graphicData uri="http://schemas.openxmlformats.org/drawingml/2006/table">
            <a:tbl>
              <a:tblPr firstRow="0" bandRow="0">
                <a:tableStyleId>{5C22544A-7EE6-4342-B048-85BDC9FD1C3A}</a:tableStyleId>
              </a:tblPr>
              <a:tblGrid>
                <a:gridCol w="4389120"/>
                <a:gridCol w="1463040"/>
                <a:gridCol w="5239512"/>
              </a:tblGrid>
              <a:tr h="566928">
                <a:tc>
                  <a:txBody>
                    <a:bodyPr wrap="square"/>
                    <a:lstStyle/>
                    <a:p>
                      <a:pPr algn="ctr"/>
                      <a:r>
                        <a:rPr sz="1400" b="1">
                          <a:solidFill>
                            <a:srgbClr val="FFFFFF"/>
                          </a:solidFill>
                        </a:rPr>
                        <a:t>Component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400" b="1">
                          <a:solidFill>
                            <a:srgbClr val="FFFFFF"/>
                          </a:solidFill>
                        </a:rPr>
                        <a:t>Status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400" b="1">
                          <a:solidFill>
                            <a:srgbClr val="FFFFFF"/>
                          </a:solidFill>
                        </a:rPr>
                        <a:t>Evidence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r>
              <a:tr h="566928">
                <a:tc>
                  <a:txBody>
                    <a:bodyPr wrap="square"/>
                    <a:lstStyle/>
                    <a:p>
                      <a:pPr algn="l"/>
                      <a:r>
                        <a:rPr sz="1400" b="0">
                          <a:solidFill>
                            <a:srgbClr val="0F172A"/>
                          </a:solidFill>
                        </a:rPr>
                        <a:t>Preprocessing, PCA, Firefly, MSVM pipeline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400" b="0">
                          <a:solidFill>
                            <a:srgbClr val="0F172A"/>
                          </a:solidFill>
                        </a:rPr>
                        <a:t>Done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400" b="0">
                          <a:solidFill>
                            <a:srgbClr val="0F172A"/>
                          </a:solidFill>
                        </a:rPr>
                        <a:t>src/, train.py, predict.py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566928">
                <a:tc>
                  <a:txBody>
                    <a:bodyPr wrap="square"/>
                    <a:lstStyle/>
                    <a:p>
                      <a:pPr algn="l"/>
                      <a:r>
                        <a:rPr sz="1400" b="0">
                          <a:solidFill>
                            <a:srgbClr val="0F172A"/>
                          </a:solidFill>
                        </a:rPr>
                        <a:t>Real-data experiments on LIAR2</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400" b="0">
                          <a:solidFill>
                            <a:srgbClr val="0F172A"/>
                          </a:solidFill>
                        </a:rPr>
                        <a:t>Done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400" b="0">
                          <a:solidFill>
                            <a:srgbClr val="0F172A"/>
                          </a:solidFill>
                        </a:rPr>
                        <a:t>3 seeds, experiments/liar2/*.json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566928">
                <a:tc>
                  <a:txBody>
                    <a:bodyPr wrap="square"/>
                    <a:lstStyle/>
                    <a:p>
                      <a:pPr algn="l"/>
                      <a:r>
                        <a:rPr sz="1400" b="0">
                          <a:solidFill>
                            <a:srgbClr val="0F172A"/>
                          </a:solidFill>
                        </a:rPr>
                        <a:t>FastAPI service (8 endpoints)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400" b="0">
                          <a:solidFill>
                            <a:srgbClr val="0F172A"/>
                          </a:solidFill>
                        </a:rPr>
                        <a:t>Done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400" b="0">
                          <a:solidFill>
                            <a:srgbClr val="0F172A"/>
                          </a:solidFill>
                        </a:rPr>
                        <a:t>16 smoke + 33 API edge checks pass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566928">
                <a:tc>
                  <a:txBody>
                    <a:bodyPr wrap="square"/>
                    <a:lstStyle/>
                    <a:p>
                      <a:pPr algn="l"/>
                      <a:r>
                        <a:rPr sz="1400" b="0">
                          <a:solidFill>
                            <a:srgbClr val="0F172A"/>
                          </a:solidFill>
                        </a:rPr>
                        <a:t>React interface (6 screens)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400" b="0">
                          <a:solidFill>
                            <a:srgbClr val="0F172A"/>
                          </a:solidFill>
                        </a:rPr>
                        <a:t>Done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400" b="0">
                          <a:solidFill>
                            <a:srgbClr val="0F172A"/>
                          </a:solidFill>
                        </a:rPr>
                        <a:t>17 documentation screenshots, build passes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566928">
                <a:tc>
                  <a:txBody>
                    <a:bodyPr wrap="square"/>
                    <a:lstStyle/>
                    <a:p>
                      <a:pPr algn="l"/>
                      <a:r>
                        <a:rPr sz="1400" b="0">
                          <a:solidFill>
                            <a:srgbClr val="0F172A"/>
                          </a:solidFill>
                        </a:rPr>
                        <a:t>Stemming (objective 2)</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400" b="0">
                          <a:solidFill>
                            <a:srgbClr val="0F172A"/>
                          </a:solidFill>
                        </a:rPr>
                        <a:t>Not done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400" b="0">
                          <a:solidFill>
                            <a:srgbClr val="0F172A"/>
                          </a:solidFill>
                        </a:rPr>
                        <a:t>cleaning and stop words only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566928">
                <a:tc>
                  <a:txBody>
                    <a:bodyPr wrap="square"/>
                    <a:lstStyle/>
                    <a:p>
                      <a:pPr algn="l"/>
                      <a:r>
                        <a:rPr sz="1400" b="0">
                          <a:solidFill>
                            <a:srgbClr val="0F172A"/>
                          </a:solidFill>
                        </a:rPr>
                        <a:t>Better probabilities / calibration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400" b="0">
                          <a:solidFill>
                            <a:srgbClr val="0F172A"/>
                          </a:solidFill>
                        </a:rPr>
                        <a:t>Not done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400" b="0">
                          <a:solidFill>
                            <a:srgbClr val="0F172A"/>
                          </a:solidFill>
                        </a:rPr>
                        <a:t>verdict and probability mismatch known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566928">
                <a:tc>
                  <a:txBody>
                    <a:bodyPr wrap="square"/>
                    <a:lstStyle/>
                    <a:p>
                      <a:pPr algn="l"/>
                      <a:r>
                        <a:rPr sz="1400" b="0">
                          <a:solidFill>
                            <a:srgbClr val="0F172A"/>
                          </a:solidFill>
                        </a:rPr>
                        <a:t>Other datasets, user study, load test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400" b="0">
                          <a:solidFill>
                            <a:srgbClr val="0F172A"/>
                          </a:solidFill>
                        </a:rPr>
                        <a:t>Not done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400" b="0">
                          <a:solidFill>
                            <a:srgbClr val="0F172A"/>
                          </a:solidFill>
                        </a:rPr>
                        <a:t>stated as limits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Preliminary results: LIAR2 test split (3 seeds)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15</a:t>
            </a:fld>
            <a:endParaRPr lang="en-US"/>
          </a:p>
        </p:txBody>
      </p:sp>
      <p:sp>
        <p:nvSpPr>
          <p:cNvPr id="26" name="Rounded Rectangle 25"/>
          <p:cNvSpPr/>
          <p:nvPr/>
        </p:nvSpPr>
        <p:spPr>
          <a:xfrm>
            <a:off x="548640" y="1325880"/>
            <a:ext cx="2651760" cy="1143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548640" y="1325880"/>
            <a:ext cx="73152" cy="11430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49808" y="1417320"/>
            <a:ext cx="2377440" cy="628650"/>
          </a:xfrm>
          <a:prstGeom prst="rect">
            <a:avLst/>
          </a:prstGeom>
          <a:noFill/>
        </p:spPr>
        <p:txBody>
          <a:bodyPr wrap="square" lIns="0" rIns="0" tIns="0" bIns="0" anchor="ctr">
            <a:spAutoFit/>
          </a:bodyPr>
          <a:lstStyle/>
          <a:p>
            <a:pPr algn="l">
              <a:spcAft>
                <a:spcPts val="400"/>
              </a:spcAft>
            </a:pPr>
            <a:r>
              <a:rPr sz="2800" b="1" i="0">
                <a:solidFill>
                  <a:srgbClr val="0F172A"/>
                </a:solidFill>
              </a:rPr>
              <a:t>0.494</a:t>
            </a:r>
          </a:p>
        </p:txBody>
      </p:sp>
      <p:sp>
        <p:nvSpPr>
          <p:cNvPr id="29" name="TextBox 28"/>
          <p:cNvSpPr txBox="1"/>
          <p:nvPr/>
        </p:nvSpPr>
        <p:spPr>
          <a:xfrm>
            <a:off x="749808" y="1988819"/>
            <a:ext cx="2377440" cy="434340"/>
          </a:xfrm>
          <a:prstGeom prst="rect">
            <a:avLst/>
          </a:prstGeom>
          <a:noFill/>
        </p:spPr>
        <p:txBody>
          <a:bodyPr wrap="square" lIns="0" rIns="0" tIns="0" bIns="0" anchor="t">
            <a:spAutoFit/>
          </a:bodyPr>
          <a:lstStyle/>
          <a:p>
            <a:pPr algn="l">
              <a:spcAft>
                <a:spcPts val="400"/>
              </a:spcAft>
            </a:pPr>
            <a:r>
              <a:rPr sz="1100" b="0" i="0">
                <a:solidFill>
                  <a:srgbClr val="475569"/>
                </a:solidFill>
              </a:rPr>
              <a:t>accuracy (n = 2,296)</a:t>
            </a:r>
          </a:p>
        </p:txBody>
      </p:sp>
      <p:sp>
        <p:nvSpPr>
          <p:cNvPr id="30" name="Rounded Rectangle 29"/>
          <p:cNvSpPr/>
          <p:nvPr/>
        </p:nvSpPr>
        <p:spPr>
          <a:xfrm>
            <a:off x="3383280" y="1325880"/>
            <a:ext cx="2651760" cy="1143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3383280" y="1325880"/>
            <a:ext cx="73152" cy="1143000"/>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3584448" y="1417320"/>
            <a:ext cx="2377440" cy="628650"/>
          </a:xfrm>
          <a:prstGeom prst="rect">
            <a:avLst/>
          </a:prstGeom>
          <a:noFill/>
        </p:spPr>
        <p:txBody>
          <a:bodyPr wrap="square" lIns="0" rIns="0" tIns="0" bIns="0" anchor="ctr">
            <a:spAutoFit/>
          </a:bodyPr>
          <a:lstStyle/>
          <a:p>
            <a:pPr algn="l">
              <a:spcAft>
                <a:spcPts val="400"/>
              </a:spcAft>
            </a:pPr>
            <a:r>
              <a:rPr sz="2800" b="1" i="0">
                <a:solidFill>
                  <a:srgbClr val="0F172A"/>
                </a:solidFill>
              </a:rPr>
              <a:t>0.429</a:t>
            </a:r>
          </a:p>
        </p:txBody>
      </p:sp>
      <p:sp>
        <p:nvSpPr>
          <p:cNvPr id="33" name="TextBox 32"/>
          <p:cNvSpPr txBox="1"/>
          <p:nvPr/>
        </p:nvSpPr>
        <p:spPr>
          <a:xfrm>
            <a:off x="3584448" y="1988819"/>
            <a:ext cx="2377440" cy="434340"/>
          </a:xfrm>
          <a:prstGeom prst="rect">
            <a:avLst/>
          </a:prstGeom>
          <a:noFill/>
        </p:spPr>
        <p:txBody>
          <a:bodyPr wrap="square" lIns="0" rIns="0" tIns="0" bIns="0" anchor="t">
            <a:spAutoFit/>
          </a:bodyPr>
          <a:lstStyle/>
          <a:p>
            <a:pPr algn="l">
              <a:spcAft>
                <a:spcPts val="400"/>
              </a:spcAft>
            </a:pPr>
            <a:r>
              <a:rPr sz="1100" b="0" i="0">
                <a:solidFill>
                  <a:srgbClr val="475569"/>
                </a:solidFill>
              </a:rPr>
              <a:t>macro-F1</a:t>
            </a:r>
          </a:p>
        </p:txBody>
      </p:sp>
      <p:sp>
        <p:nvSpPr>
          <p:cNvPr id="34" name="Rounded Rectangle 33"/>
          <p:cNvSpPr/>
          <p:nvPr/>
        </p:nvSpPr>
        <p:spPr>
          <a:xfrm>
            <a:off x="6217920" y="1325880"/>
            <a:ext cx="2651760" cy="1143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6217920" y="1325880"/>
            <a:ext cx="73152" cy="1143000"/>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6419088" y="1417320"/>
            <a:ext cx="2377440" cy="628650"/>
          </a:xfrm>
          <a:prstGeom prst="rect">
            <a:avLst/>
          </a:prstGeom>
          <a:noFill/>
        </p:spPr>
        <p:txBody>
          <a:bodyPr wrap="square" lIns="0" rIns="0" tIns="0" bIns="0" anchor="ctr">
            <a:spAutoFit/>
          </a:bodyPr>
          <a:lstStyle/>
          <a:p>
            <a:pPr algn="l">
              <a:spcAft>
                <a:spcPts val="400"/>
              </a:spcAft>
            </a:pPr>
            <a:r>
              <a:rPr sz="2800" b="1" i="0">
                <a:solidFill>
                  <a:srgbClr val="0F172A"/>
                </a:solidFill>
              </a:rPr>
              <a:t>0.441</a:t>
            </a:r>
          </a:p>
        </p:txBody>
      </p:sp>
      <p:sp>
        <p:nvSpPr>
          <p:cNvPr id="37" name="TextBox 36"/>
          <p:cNvSpPr txBox="1"/>
          <p:nvPr/>
        </p:nvSpPr>
        <p:spPr>
          <a:xfrm>
            <a:off x="6419088" y="1988819"/>
            <a:ext cx="2377440" cy="434340"/>
          </a:xfrm>
          <a:prstGeom prst="rect">
            <a:avLst/>
          </a:prstGeom>
          <a:noFill/>
        </p:spPr>
        <p:txBody>
          <a:bodyPr wrap="square" lIns="0" rIns="0" tIns="0" bIns="0" anchor="t">
            <a:spAutoFit/>
          </a:bodyPr>
          <a:lstStyle/>
          <a:p>
            <a:pPr algn="l">
              <a:spcAft>
                <a:spcPts val="400"/>
              </a:spcAft>
            </a:pPr>
            <a:r>
              <a:rPr sz="1100" b="0" i="0">
                <a:solidFill>
                  <a:srgbClr val="475569"/>
                </a:solidFill>
              </a:rPr>
              <a:t>PCA + default SVM macro-F1</a:t>
            </a:r>
          </a:p>
        </p:txBody>
      </p:sp>
      <p:sp>
        <p:nvSpPr>
          <p:cNvPr id="38" name="Rounded Rectangle 37"/>
          <p:cNvSpPr/>
          <p:nvPr/>
        </p:nvSpPr>
        <p:spPr>
          <a:xfrm>
            <a:off x="9052560" y="1325880"/>
            <a:ext cx="2651760" cy="1143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ectangle 38"/>
          <p:cNvSpPr/>
          <p:nvPr/>
        </p:nvSpPr>
        <p:spPr>
          <a:xfrm>
            <a:off x="9052560" y="1325880"/>
            <a:ext cx="73152" cy="1143000"/>
          </a:xfrm>
          <a:prstGeom prst="rect">
            <a:avLst/>
          </a:prstGeom>
          <a:solidFill>
            <a:srgbClr val="6B52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9253728" y="1417320"/>
            <a:ext cx="2377440" cy="628650"/>
          </a:xfrm>
          <a:prstGeom prst="rect">
            <a:avLst/>
          </a:prstGeom>
          <a:noFill/>
        </p:spPr>
        <p:txBody>
          <a:bodyPr wrap="square" lIns="0" rIns="0" tIns="0" bIns="0" anchor="ctr">
            <a:spAutoFit/>
          </a:bodyPr>
          <a:lstStyle/>
          <a:p>
            <a:pPr algn="l">
              <a:spcAft>
                <a:spcPts val="400"/>
              </a:spcAft>
            </a:pPr>
            <a:r>
              <a:rPr sz="2800" b="1" i="0">
                <a:solidFill>
                  <a:srgbClr val="0F172A"/>
                </a:solidFill>
              </a:rPr>
              <a:t>0.500</a:t>
            </a:r>
          </a:p>
        </p:txBody>
      </p:sp>
      <p:sp>
        <p:nvSpPr>
          <p:cNvPr id="41" name="TextBox 40"/>
          <p:cNvSpPr txBox="1"/>
          <p:nvPr/>
        </p:nvSpPr>
        <p:spPr>
          <a:xfrm>
            <a:off x="9253728" y="1988819"/>
            <a:ext cx="2377440" cy="434340"/>
          </a:xfrm>
          <a:prstGeom prst="rect">
            <a:avLst/>
          </a:prstGeom>
          <a:noFill/>
        </p:spPr>
        <p:txBody>
          <a:bodyPr wrap="square" lIns="0" rIns="0" tIns="0" bIns="0" anchor="t">
            <a:spAutoFit/>
          </a:bodyPr>
          <a:lstStyle/>
          <a:p>
            <a:pPr algn="l">
              <a:spcAft>
                <a:spcPts val="400"/>
              </a:spcAft>
            </a:pPr>
            <a:r>
              <a:rPr sz="1100" b="0" i="0">
                <a:solidFill>
                  <a:srgbClr val="475569"/>
                </a:solidFill>
              </a:rPr>
              <a:t>logistic regression, all data, macro-F1</a:t>
            </a:r>
          </a:p>
        </p:txBody>
      </p:sp>
      <p:pic>
        <p:nvPicPr>
          <p:cNvPr id="42" name="Picture 41" descr="f01_model_comparison.png"/>
          <p:cNvPicPr>
            <a:picLocks noChangeAspect="1"/>
          </p:cNvPicPr>
          <p:nvPr/>
        </p:nvPicPr>
        <p:blipFill>
          <a:blip r:embed="rId1"/>
          <a:stretch>
            <a:fillRect/>
          </a:stretch>
        </p:blipFill>
        <p:spPr>
          <a:xfrm>
            <a:off x="1010895" y="2651760"/>
            <a:ext cx="6299249" cy="3703320"/>
          </a:xfrm>
          <a:prstGeom prst="rect">
            <a:avLst/>
          </a:prstGeom>
        </p:spPr>
      </p:pic>
      <p:sp>
        <p:nvSpPr>
          <p:cNvPr id="43" name="Rounded Rectangle 42"/>
          <p:cNvSpPr/>
          <p:nvPr/>
        </p:nvSpPr>
        <p:spPr>
          <a:xfrm>
            <a:off x="7955279" y="2697480"/>
            <a:ext cx="3685032" cy="3611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Oval 43"/>
          <p:cNvSpPr/>
          <p:nvPr/>
        </p:nvSpPr>
        <p:spPr>
          <a:xfrm>
            <a:off x="8156448" y="2880360"/>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i</a:t>
            </a:r>
          </a:p>
        </p:txBody>
      </p:sp>
      <p:sp>
        <p:nvSpPr>
          <p:cNvPr id="45" name="TextBox 44"/>
          <p:cNvSpPr txBox="1"/>
          <p:nvPr/>
        </p:nvSpPr>
        <p:spPr>
          <a:xfrm>
            <a:off x="8796528" y="2852928"/>
            <a:ext cx="2679192" cy="548640"/>
          </a:xfrm>
          <a:prstGeom prst="rect">
            <a:avLst/>
          </a:prstGeom>
          <a:noFill/>
        </p:spPr>
        <p:txBody>
          <a:bodyPr wrap="square" lIns="0" rIns="0" tIns="0" bIns="0" anchor="ctr">
            <a:spAutoFit/>
          </a:bodyPr>
          <a:lstStyle/>
          <a:p>
            <a:pPr algn="l">
              <a:spcAft>
                <a:spcPts val="400"/>
              </a:spcAft>
            </a:pPr>
            <a:r>
              <a:rPr sz="1600" b="1" i="0">
                <a:solidFill>
                  <a:srgbClr val="0F172A"/>
                </a:solidFill>
              </a:rPr>
              <a:t>Reading</a:t>
            </a:r>
          </a:p>
        </p:txBody>
      </p:sp>
      <p:sp>
        <p:nvSpPr>
          <p:cNvPr id="46" name="TextBox 45"/>
          <p:cNvSpPr txBox="1"/>
          <p:nvPr/>
        </p:nvSpPr>
        <p:spPr>
          <a:xfrm>
            <a:off x="8156448" y="3566160"/>
            <a:ext cx="3282696" cy="2606040"/>
          </a:xfrm>
          <a:prstGeom prst="rect">
            <a:avLst/>
          </a:prstGeom>
          <a:noFill/>
        </p:spPr>
        <p:txBody>
          <a:bodyPr wrap="square" lIns="0" rIns="0" tIns="0" bIns="0" anchor="t">
            <a:spAutoFit/>
          </a:bodyPr>
          <a:lstStyle/>
          <a:p>
            <a:pPr algn="l">
              <a:spcAft>
                <a:spcPts val="400"/>
              </a:spcAft>
            </a:pPr>
            <a:r>
              <a:rPr sz="1300" b="0" i="0">
                <a:solidFill>
                  <a:srgbClr val="475569"/>
                </a:solidFill>
              </a:rPr>
              <a:t>Proposed macro-F1 0.429 ± 0.010; random search 0.436 ± 0.009; Firefly mask only 0.425 ± 0.014. The differences are within noise, so no gain from the optimiser is shown. PARTIALLY TRUE is the hardest class (F1 0.24), FAKE the easiest (0.63). Always answering FAKE gets accuracy 0.576 but macro-F1 0.244.</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Output screens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16</a:t>
            </a:fld>
            <a:endParaRPr lang="en-US"/>
          </a:p>
        </p:txBody>
      </p:sp>
      <p:pic>
        <p:nvPicPr>
          <p:cNvPr id="26" name="Picture 25" descr="11_liar2_detect_fake.png"/>
          <p:cNvPicPr>
            <a:picLocks noChangeAspect="1"/>
          </p:cNvPicPr>
          <p:nvPr/>
        </p:nvPicPr>
        <p:blipFill>
          <a:blip r:embed="rId2"/>
          <a:stretch>
            <a:fillRect/>
          </a:stretch>
        </p:blipFill>
        <p:spPr>
          <a:xfrm>
            <a:off x="548640" y="1200150"/>
            <a:ext cx="6766560" cy="4229100"/>
          </a:xfrm>
          <a:prstGeom prst="rect">
            <a:avLst/>
          </a:prstGeom>
          <a:ln w="9525">
            <a:solidFill>
              <a:srgbClr val="D5DCE6"/>
            </a:solidFill>
          </a:ln>
        </p:spPr>
      </p:pic>
      <p:pic>
        <p:nvPicPr>
          <p:cNvPr id="27" name="Picture 26" descr="16_liar2_batch_results.png"/>
          <p:cNvPicPr>
            <a:picLocks noChangeAspect="1"/>
          </p:cNvPicPr>
          <p:nvPr/>
        </p:nvPicPr>
        <p:blipFill>
          <a:blip r:embed="rId1"/>
          <a:stretch>
            <a:fillRect/>
          </a:stretch>
        </p:blipFill>
        <p:spPr>
          <a:xfrm>
            <a:off x="7589520" y="1189291"/>
            <a:ext cx="4050791" cy="2531745"/>
          </a:xfrm>
          <a:prstGeom prst="rect">
            <a:avLst/>
          </a:prstGeom>
          <a:ln w="9525">
            <a:solidFill>
              <a:srgbClr val="D5DCE6"/>
            </a:solidFill>
          </a:ln>
        </p:spPr>
      </p:pic>
      <p:pic>
        <p:nvPicPr>
          <p:cNvPr id="28" name="Picture 27" descr="18_liar2_analytics_charts.png"/>
          <p:cNvPicPr>
            <a:picLocks noChangeAspect="1"/>
          </p:cNvPicPr>
          <p:nvPr/>
        </p:nvPicPr>
        <p:blipFill>
          <a:blip r:embed="rId5"/>
          <a:stretch>
            <a:fillRect/>
          </a:stretch>
        </p:blipFill>
        <p:spPr>
          <a:xfrm>
            <a:off x="7589520" y="3841051"/>
            <a:ext cx="4050791" cy="2531745"/>
          </a:xfrm>
          <a:prstGeom prst="rect">
            <a:avLst/>
          </a:prstGeom>
          <a:ln w="9525">
            <a:solidFill>
              <a:srgbClr val="D5DCE6"/>
            </a:solidFill>
          </a:ln>
        </p:spPr>
      </p:pic>
      <p:sp>
        <p:nvSpPr>
          <p:cNvPr id="29" name="TextBox 28"/>
          <p:cNvSpPr txBox="1"/>
          <p:nvPr/>
        </p:nvSpPr>
        <p:spPr>
          <a:xfrm>
            <a:off x="548640" y="5532120"/>
            <a:ext cx="6766560" cy="822960"/>
          </a:xfrm>
          <a:prstGeom prst="rect">
            <a:avLst/>
          </a:prstGeom>
          <a:noFill/>
        </p:spPr>
        <p:txBody>
          <a:bodyPr wrap="square" lIns="0" rIns="0" tIns="0" bIns="0" anchor="t">
            <a:spAutoFit/>
          </a:bodyPr>
          <a:lstStyle/>
          <a:p>
            <a:pPr algn="l">
              <a:spcAft>
                <a:spcPts val="400"/>
              </a:spcAft>
            </a:pPr>
            <a:r>
              <a:rPr sz="1200" b="0" i="0">
                <a:solidFill>
                  <a:srgbClr val="475569"/>
                </a:solidFill>
              </a:rPr>
              <a:t>Detect screen on a real LIAR2 test statement: verdict FAKE at 83.8 %, class probabilities and cue words. Right: batch check of 120 real statements, and the analytics screen (confusion matrix, Firefly curve, baseline table).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Initial testing and observations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17</a:t>
            </a:fld>
            <a:endParaRPr lang="en-US"/>
          </a:p>
        </p:txBody>
      </p:sp>
      <p:sp>
        <p:nvSpPr>
          <p:cNvPr id="26" name="Rounded Rectangle 25"/>
          <p:cNvSpPr/>
          <p:nvPr/>
        </p:nvSpPr>
        <p:spPr>
          <a:xfrm>
            <a:off x="548640" y="1325880"/>
            <a:ext cx="2651760" cy="1143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548640" y="1325880"/>
            <a:ext cx="73152" cy="1143000"/>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49808" y="1417320"/>
            <a:ext cx="2377440" cy="628650"/>
          </a:xfrm>
          <a:prstGeom prst="rect">
            <a:avLst/>
          </a:prstGeom>
          <a:noFill/>
        </p:spPr>
        <p:txBody>
          <a:bodyPr wrap="square" lIns="0" rIns="0" tIns="0" bIns="0" anchor="ctr">
            <a:spAutoFit/>
          </a:bodyPr>
          <a:lstStyle/>
          <a:p>
            <a:pPr algn="l">
              <a:spcAft>
                <a:spcPts val="400"/>
              </a:spcAft>
            </a:pPr>
            <a:r>
              <a:rPr sz="2600" b="1" i="0">
                <a:solidFill>
                  <a:srgbClr val="0F172A"/>
                </a:solidFill>
              </a:rPr>
              <a:t>83</a:t>
            </a:r>
          </a:p>
        </p:txBody>
      </p:sp>
      <p:sp>
        <p:nvSpPr>
          <p:cNvPr id="29" name="TextBox 28"/>
          <p:cNvSpPr txBox="1"/>
          <p:nvPr/>
        </p:nvSpPr>
        <p:spPr>
          <a:xfrm>
            <a:off x="749808" y="1988819"/>
            <a:ext cx="2377440" cy="434340"/>
          </a:xfrm>
          <a:prstGeom prst="rect">
            <a:avLst/>
          </a:prstGeom>
          <a:noFill/>
        </p:spPr>
        <p:txBody>
          <a:bodyPr wrap="square" lIns="0" rIns="0" tIns="0" bIns="0" anchor="t">
            <a:spAutoFit/>
          </a:bodyPr>
          <a:lstStyle/>
          <a:p>
            <a:pPr algn="l">
              <a:spcAft>
                <a:spcPts val="400"/>
              </a:spcAft>
            </a:pPr>
            <a:r>
              <a:rPr sz="1200" b="0" i="0">
                <a:solidFill>
                  <a:srgbClr val="475569"/>
                </a:solidFill>
              </a:rPr>
              <a:t>automated checks passed</a:t>
            </a:r>
          </a:p>
        </p:txBody>
      </p:sp>
      <p:sp>
        <p:nvSpPr>
          <p:cNvPr id="30" name="Rounded Rectangle 29"/>
          <p:cNvSpPr/>
          <p:nvPr/>
        </p:nvSpPr>
        <p:spPr>
          <a:xfrm>
            <a:off x="3383280" y="1325880"/>
            <a:ext cx="2651760" cy="1143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3383280" y="1325880"/>
            <a:ext cx="73152" cy="11430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3584448" y="1417320"/>
            <a:ext cx="2377440" cy="628650"/>
          </a:xfrm>
          <a:prstGeom prst="rect">
            <a:avLst/>
          </a:prstGeom>
          <a:noFill/>
        </p:spPr>
        <p:txBody>
          <a:bodyPr wrap="square" lIns="0" rIns="0" tIns="0" bIns="0" anchor="ctr">
            <a:spAutoFit/>
          </a:bodyPr>
          <a:lstStyle/>
          <a:p>
            <a:pPr algn="l">
              <a:spcAft>
                <a:spcPts val="400"/>
              </a:spcAft>
            </a:pPr>
            <a:r>
              <a:rPr sz="2600" b="1" i="0">
                <a:solidFill>
                  <a:srgbClr val="0F172A"/>
                </a:solidFill>
              </a:rPr>
              <a:t>16</a:t>
            </a:r>
          </a:p>
        </p:txBody>
      </p:sp>
      <p:sp>
        <p:nvSpPr>
          <p:cNvPr id="33" name="TextBox 32"/>
          <p:cNvSpPr txBox="1"/>
          <p:nvPr/>
        </p:nvSpPr>
        <p:spPr>
          <a:xfrm>
            <a:off x="3584448" y="1988819"/>
            <a:ext cx="2377440" cy="434340"/>
          </a:xfrm>
          <a:prstGeom prst="rect">
            <a:avLst/>
          </a:prstGeom>
          <a:noFill/>
        </p:spPr>
        <p:txBody>
          <a:bodyPr wrap="square" lIns="0" rIns="0" tIns="0" bIns="0" anchor="t">
            <a:spAutoFit/>
          </a:bodyPr>
          <a:lstStyle/>
          <a:p>
            <a:pPr algn="l">
              <a:spcAft>
                <a:spcPts val="400"/>
              </a:spcAft>
            </a:pPr>
            <a:r>
              <a:rPr sz="1200" b="0" i="0">
                <a:solidFill>
                  <a:srgbClr val="475569"/>
                </a:solidFill>
              </a:rPr>
              <a:t>API smoke checks</a:t>
            </a:r>
          </a:p>
        </p:txBody>
      </p:sp>
      <p:sp>
        <p:nvSpPr>
          <p:cNvPr id="34" name="Rounded Rectangle 33"/>
          <p:cNvSpPr/>
          <p:nvPr/>
        </p:nvSpPr>
        <p:spPr>
          <a:xfrm>
            <a:off x="6217920" y="1325880"/>
            <a:ext cx="2651760" cy="1143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6217920" y="1325880"/>
            <a:ext cx="73152" cy="1143000"/>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6419088" y="1417320"/>
            <a:ext cx="2377440" cy="628650"/>
          </a:xfrm>
          <a:prstGeom prst="rect">
            <a:avLst/>
          </a:prstGeom>
          <a:noFill/>
        </p:spPr>
        <p:txBody>
          <a:bodyPr wrap="square" lIns="0" rIns="0" tIns="0" bIns="0" anchor="ctr">
            <a:spAutoFit/>
          </a:bodyPr>
          <a:lstStyle/>
          <a:p>
            <a:pPr algn="l">
              <a:spcAft>
                <a:spcPts val="400"/>
              </a:spcAft>
            </a:pPr>
            <a:r>
              <a:rPr sz="2600" b="1" i="0">
                <a:solidFill>
                  <a:srgbClr val="0F172A"/>
                </a:solidFill>
              </a:rPr>
              <a:t>34 + 33</a:t>
            </a:r>
          </a:p>
        </p:txBody>
      </p:sp>
      <p:sp>
        <p:nvSpPr>
          <p:cNvPr id="37" name="TextBox 36"/>
          <p:cNvSpPr txBox="1"/>
          <p:nvPr/>
        </p:nvSpPr>
        <p:spPr>
          <a:xfrm>
            <a:off x="6419088" y="1988819"/>
            <a:ext cx="2377440" cy="434340"/>
          </a:xfrm>
          <a:prstGeom prst="rect">
            <a:avLst/>
          </a:prstGeom>
          <a:noFill/>
        </p:spPr>
        <p:txBody>
          <a:bodyPr wrap="square" lIns="0" rIns="0" tIns="0" bIns="0" anchor="t">
            <a:spAutoFit/>
          </a:bodyPr>
          <a:lstStyle/>
          <a:p>
            <a:pPr algn="l">
              <a:spcAft>
                <a:spcPts val="400"/>
              </a:spcAft>
            </a:pPr>
            <a:r>
              <a:rPr sz="1200" b="0" i="0">
                <a:solidFill>
                  <a:srgbClr val="475569"/>
                </a:solidFill>
              </a:rPr>
              <a:t>library + API edge checks</a:t>
            </a:r>
          </a:p>
        </p:txBody>
      </p:sp>
      <p:sp>
        <p:nvSpPr>
          <p:cNvPr id="38" name="Rounded Rectangle 37"/>
          <p:cNvSpPr/>
          <p:nvPr/>
        </p:nvSpPr>
        <p:spPr>
          <a:xfrm>
            <a:off x="9052560" y="1325880"/>
            <a:ext cx="2651760" cy="1143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ectangle 38"/>
          <p:cNvSpPr/>
          <p:nvPr/>
        </p:nvSpPr>
        <p:spPr>
          <a:xfrm>
            <a:off x="9052560" y="1325880"/>
            <a:ext cx="73152" cy="1143000"/>
          </a:xfrm>
          <a:prstGeom prst="rect">
            <a:avLst/>
          </a:prstGeom>
          <a:solidFill>
            <a:srgbClr val="6B52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9253728" y="1417320"/>
            <a:ext cx="2377440" cy="628650"/>
          </a:xfrm>
          <a:prstGeom prst="rect">
            <a:avLst/>
          </a:prstGeom>
          <a:noFill/>
        </p:spPr>
        <p:txBody>
          <a:bodyPr wrap="square" lIns="0" rIns="0" tIns="0" bIns="0" anchor="ctr">
            <a:spAutoFit/>
          </a:bodyPr>
          <a:lstStyle/>
          <a:p>
            <a:pPr algn="l">
              <a:spcAft>
                <a:spcPts val="400"/>
              </a:spcAft>
            </a:pPr>
            <a:r>
              <a:rPr sz="2600" b="1" i="0">
                <a:solidFill>
                  <a:srgbClr val="0F172A"/>
                </a:solidFill>
              </a:rPr>
              <a:t>pass</a:t>
            </a:r>
          </a:p>
        </p:txBody>
      </p:sp>
      <p:sp>
        <p:nvSpPr>
          <p:cNvPr id="41" name="TextBox 40"/>
          <p:cNvSpPr txBox="1"/>
          <p:nvPr/>
        </p:nvSpPr>
        <p:spPr>
          <a:xfrm>
            <a:off x="9253728" y="1988819"/>
            <a:ext cx="2377440" cy="434340"/>
          </a:xfrm>
          <a:prstGeom prst="rect">
            <a:avLst/>
          </a:prstGeom>
          <a:noFill/>
        </p:spPr>
        <p:txBody>
          <a:bodyPr wrap="square" lIns="0" rIns="0" tIns="0" bIns="0" anchor="t">
            <a:spAutoFit/>
          </a:bodyPr>
          <a:lstStyle/>
          <a:p>
            <a:pPr algn="l">
              <a:spcAft>
                <a:spcPts val="400"/>
              </a:spcAft>
            </a:pPr>
            <a:r>
              <a:rPr sz="1200" b="0" i="0">
                <a:solidFill>
                  <a:srgbClr val="475569"/>
                </a:solidFill>
              </a:rPr>
              <a:t>frontend type-check and build</a:t>
            </a:r>
          </a:p>
        </p:txBody>
      </p:sp>
      <p:graphicFrame>
        <p:nvGraphicFramePr>
          <p:cNvPr id="42" name="Table 41"/>
          <p:cNvGraphicFramePr>
            <a:graphicFrameLocks noGrp="1"/>
          </p:cNvGraphicFramePr>
          <p:nvPr/>
        </p:nvGraphicFramePr>
        <p:xfrm>
          <a:off x="548640" y="2834640"/>
          <a:ext cx="11091672" cy="3108960"/>
        </p:xfrm>
        <a:graphic>
          <a:graphicData uri="http://schemas.openxmlformats.org/drawingml/2006/table">
            <a:tbl>
              <a:tblPr firstRow="0" bandRow="0">
                <a:tableStyleId>{5C22544A-7EE6-4342-B048-85BDC9FD1C3A}</a:tableStyleId>
              </a:tblPr>
              <a:tblGrid>
                <a:gridCol w="5486400"/>
                <a:gridCol w="5605272"/>
              </a:tblGrid>
              <a:tr h="777240">
                <a:tc>
                  <a:txBody>
                    <a:bodyPr wrap="square"/>
                    <a:lstStyle/>
                    <a:p>
                      <a:pPr algn="ctr"/>
                      <a:r>
                        <a:rPr sz="1500" b="1">
                          <a:solidFill>
                            <a:srgbClr val="FFFFFF"/>
                          </a:solidFill>
                        </a:rPr>
                        <a:t>Observation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500" b="1">
                          <a:solidFill>
                            <a:srgbClr val="FFFFFF"/>
                          </a:solidFill>
                        </a:rPr>
                        <a:t>Action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r>
              <a:tr h="777240">
                <a:tc>
                  <a:txBody>
                    <a:bodyPr wrap="square"/>
                    <a:lstStyle/>
                    <a:p>
                      <a:pPr algn="l"/>
                      <a:r>
                        <a:rPr sz="1500" b="0">
                          <a:solidFill>
                            <a:srgbClr val="0F172A"/>
                          </a:solidFill>
                        </a:rPr>
                        <a:t>Confidence is informative: accuracy 0.407 at 0.5-0.6, 0.681 at 0.6-0.7</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500" b="0">
                          <a:solidFill>
                            <a:srgbClr val="0F172A"/>
                          </a:solidFill>
                        </a:rPr>
                        <a:t>Shown on the Detect screen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777240">
                <a:tc>
                  <a:txBody>
                    <a:bodyPr wrap="square"/>
                    <a:lstStyle/>
                    <a:p>
                      <a:pPr algn="l"/>
                      <a:r>
                        <a:rPr sz="1500" b="0">
                          <a:solidFill>
                            <a:srgbClr val="0F172A"/>
                          </a:solidFill>
                        </a:rPr>
                        <a:t>A label column with only true/false is parsed as booleans by pandas and mislabelled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500" b="0">
                          <a:solidFill>
                            <a:srgbClr val="0F172A"/>
                          </a:solidFill>
                        </a:rPr>
                        <a:t>Recorded as a known issue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777240">
                <a:tc>
                  <a:txBody>
                    <a:bodyPr wrap="square"/>
                    <a:lstStyle/>
                    <a:p>
                      <a:pPr algn="l"/>
                      <a:r>
                        <a:rPr sz="1500" b="0">
                          <a:solidFill>
                            <a:srgbClr val="0F172A"/>
                          </a:solidFill>
                        </a:rPr>
                        <a:t>Server latency 3.7 ms per article; 1.2 s for 2,296 rows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500" b="0">
                          <a:solidFill>
                            <a:srgbClr val="0F172A"/>
                          </a:solidFill>
                        </a:rPr>
                        <a:t>Measured on 127.0.0.1, CPU idle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Challenges and corrective actions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18</a:t>
            </a:fld>
            <a:endParaRPr lang="en-US"/>
          </a:p>
        </p:txBody>
      </p:sp>
      <p:graphicFrame>
        <p:nvGraphicFramePr>
          <p:cNvPr id="26" name="Table 25"/>
          <p:cNvGraphicFramePr>
            <a:graphicFrameLocks noGrp="1"/>
          </p:cNvGraphicFramePr>
          <p:nvPr/>
        </p:nvGraphicFramePr>
        <p:xfrm>
          <a:off x="548640" y="1371600"/>
          <a:ext cx="11091672" cy="4663440"/>
        </p:xfrm>
        <a:graphic>
          <a:graphicData uri="http://schemas.openxmlformats.org/drawingml/2006/table">
            <a:tbl>
              <a:tblPr firstRow="0" bandRow="0">
                <a:tableStyleId>{5C22544A-7EE6-4342-B048-85BDC9FD1C3A}</a:tableStyleId>
              </a:tblPr>
              <a:tblGrid>
                <a:gridCol w="5120640"/>
                <a:gridCol w="5971032"/>
              </a:tblGrid>
              <a:tr h="777240">
                <a:tc>
                  <a:txBody>
                    <a:bodyPr wrap="square"/>
                    <a:lstStyle/>
                    <a:p>
                      <a:pPr algn="ctr"/>
                      <a:r>
                        <a:rPr sz="1500" b="1">
                          <a:solidFill>
                            <a:srgbClr val="FFFFFF"/>
                          </a:solidFill>
                        </a:rPr>
                        <a:t>Challenge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500" b="1">
                          <a:solidFill>
                            <a:srgbClr val="FFFFFF"/>
                          </a:solidFill>
                        </a:rPr>
                        <a:t>Corrective action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r>
              <a:tr h="777240">
                <a:tc>
                  <a:txBody>
                    <a:bodyPr wrap="square"/>
                    <a:lstStyle/>
                    <a:p>
                      <a:pPr algn="l"/>
                      <a:r>
                        <a:rPr sz="1500" b="0">
                          <a:solidFill>
                            <a:srgbClr val="0F172A"/>
                          </a:solidFill>
                        </a:rPr>
                        <a:t>No real labelled data shipped; the demo corpus gives a meaningless 1.000</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500" b="0">
                          <a:solidFill>
                            <a:srgbClr val="0F172A"/>
                          </a:solidFill>
                        </a:rPr>
                        <a:t>Ran experiments on LIAR2 and reported the demo score as a pipeline check only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777240">
                <a:tc>
                  <a:txBody>
                    <a:bodyPr wrap="square"/>
                    <a:lstStyle/>
                    <a:p>
                      <a:pPr algn="l"/>
                      <a:r>
                        <a:rPr sz="1500" b="0">
                          <a:solidFill>
                            <a:srgbClr val="0F172A"/>
                          </a:solidFill>
                        </a:rPr>
                        <a:t>Firefly needs thousands of SVM fits on a CPU</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500" b="0">
                          <a:solidFill>
                            <a:srgbClr val="0F172A"/>
                          </a:solidFill>
                        </a:rPr>
                        <a:t>3,000-statement training subsample; about 8 minutes per full fit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777240">
                <a:tc>
                  <a:txBody>
                    <a:bodyPr wrap="square"/>
                    <a:lstStyle/>
                    <a:p>
                      <a:pPr algn="l"/>
                      <a:r>
                        <a:rPr sz="1500" b="0">
                          <a:solidFill>
                            <a:srgbClr val="0F172A"/>
                          </a:solidFill>
                        </a:rPr>
                        <a:t>Optimiser shows no clear gain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500" b="0">
                          <a:solidFill>
                            <a:srgbClr val="0F172A"/>
                          </a:solidFill>
                        </a:rPr>
                        <a:t>Added random-search, mask-only and linear baselines; reported honestly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777240">
                <a:tc>
                  <a:txBody>
                    <a:bodyPr wrap="square"/>
                    <a:lstStyle/>
                    <a:p>
                      <a:pPr algn="l"/>
                      <a:r>
                        <a:rPr sz="1500" b="0">
                          <a:solidFill>
                            <a:srgbClr val="0F172A"/>
                          </a:solidFill>
                        </a:rPr>
                        <a:t>Verdict and probabilities disagree on real data</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500" b="0">
                          <a:solidFill>
                            <a:srgbClr val="0F172A"/>
                          </a:solidFill>
                        </a:rPr>
                        <a:t>Documented with a screenshot; calibration listed as future work</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777240">
                <a:tc>
                  <a:txBody>
                    <a:bodyPr wrap="square"/>
                    <a:lstStyle/>
                    <a:p>
                      <a:pPr algn="l"/>
                      <a:r>
                        <a:rPr sz="1500" b="0">
                          <a:solidFill>
                            <a:srgbClr val="0F172A"/>
                          </a:solidFill>
                        </a:rPr>
                        <a:t>PCA cap keeps about 29 % of the variance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500" b="0">
                          <a:solidFill>
                            <a:srgbClr val="0F172A"/>
                          </a:solidFill>
                        </a:rPr>
                        <a:t>Reported; larger cap or sparse methods planned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Next steps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19</a:t>
            </a:fld>
            <a:endParaRPr lang="en-US"/>
          </a:p>
        </p:txBody>
      </p:sp>
      <p:sp>
        <p:nvSpPr>
          <p:cNvPr id="26" name="Rounded Rectangle 25"/>
          <p:cNvSpPr/>
          <p:nvPr/>
        </p:nvSpPr>
        <p:spPr>
          <a:xfrm>
            <a:off x="548640" y="1463040"/>
            <a:ext cx="2651760" cy="301752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749808" y="1645920"/>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1</a:t>
            </a:r>
          </a:p>
        </p:txBody>
      </p:sp>
      <p:sp>
        <p:nvSpPr>
          <p:cNvPr id="28" name="TextBox 27"/>
          <p:cNvSpPr txBox="1"/>
          <p:nvPr/>
        </p:nvSpPr>
        <p:spPr>
          <a:xfrm>
            <a:off x="1389888" y="1618488"/>
            <a:ext cx="1645919" cy="548640"/>
          </a:xfrm>
          <a:prstGeom prst="rect">
            <a:avLst/>
          </a:prstGeom>
          <a:noFill/>
        </p:spPr>
        <p:txBody>
          <a:bodyPr wrap="square" lIns="0" rIns="0" tIns="0" bIns="0" anchor="ctr">
            <a:spAutoFit/>
          </a:bodyPr>
          <a:lstStyle/>
          <a:p>
            <a:pPr algn="l">
              <a:spcAft>
                <a:spcPts val="400"/>
              </a:spcAft>
            </a:pPr>
            <a:r>
              <a:rPr sz="1600" b="1" i="0">
                <a:solidFill>
                  <a:srgbClr val="0F172A"/>
                </a:solidFill>
              </a:rPr>
              <a:t>Calibrate</a:t>
            </a:r>
          </a:p>
        </p:txBody>
      </p:sp>
      <p:sp>
        <p:nvSpPr>
          <p:cNvPr id="29" name="TextBox 28"/>
          <p:cNvSpPr txBox="1"/>
          <p:nvPr/>
        </p:nvSpPr>
        <p:spPr>
          <a:xfrm>
            <a:off x="749808" y="2331720"/>
            <a:ext cx="2249424" cy="2011679"/>
          </a:xfrm>
          <a:prstGeom prst="rect">
            <a:avLst/>
          </a:prstGeom>
          <a:noFill/>
        </p:spPr>
        <p:txBody>
          <a:bodyPr wrap="square" lIns="0" rIns="0" tIns="0" bIns="0" anchor="t">
            <a:spAutoFit/>
          </a:bodyPr>
          <a:lstStyle/>
          <a:p>
            <a:pPr algn="l">
              <a:spcAft>
                <a:spcPts val="400"/>
              </a:spcAft>
            </a:pPr>
            <a:r>
              <a:rPr sz="1600" b="0" i="0">
                <a:solidFill>
                  <a:srgbClr val="475569"/>
                </a:solidFill>
              </a:rPr>
              <a:t>Make verdict and confidence agree, for example by calibrating on a held-out split with class-prior correction.</a:t>
            </a:r>
          </a:p>
        </p:txBody>
      </p:sp>
      <p:sp>
        <p:nvSpPr>
          <p:cNvPr id="30" name="Rounded Rectangle 29"/>
          <p:cNvSpPr/>
          <p:nvPr/>
        </p:nvSpPr>
        <p:spPr>
          <a:xfrm>
            <a:off x="3383280" y="1463040"/>
            <a:ext cx="2651760" cy="301752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3584448" y="1645920"/>
            <a:ext cx="502920" cy="502920"/>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2</a:t>
            </a:r>
          </a:p>
        </p:txBody>
      </p:sp>
      <p:sp>
        <p:nvSpPr>
          <p:cNvPr id="32" name="TextBox 31"/>
          <p:cNvSpPr txBox="1"/>
          <p:nvPr/>
        </p:nvSpPr>
        <p:spPr>
          <a:xfrm>
            <a:off x="4224528" y="1618488"/>
            <a:ext cx="1645919" cy="548640"/>
          </a:xfrm>
          <a:prstGeom prst="rect">
            <a:avLst/>
          </a:prstGeom>
          <a:noFill/>
        </p:spPr>
        <p:txBody>
          <a:bodyPr wrap="square" lIns="0" rIns="0" tIns="0" bIns="0" anchor="ctr">
            <a:spAutoFit/>
          </a:bodyPr>
          <a:lstStyle/>
          <a:p>
            <a:pPr algn="l">
              <a:spcAft>
                <a:spcPts val="400"/>
              </a:spcAft>
            </a:pPr>
            <a:r>
              <a:rPr sz="1600" b="1" i="0">
                <a:solidFill>
                  <a:srgbClr val="0F172A"/>
                </a:solidFill>
              </a:rPr>
              <a:t>Strengthen features</a:t>
            </a:r>
          </a:p>
        </p:txBody>
      </p:sp>
      <p:sp>
        <p:nvSpPr>
          <p:cNvPr id="33" name="TextBox 32"/>
          <p:cNvSpPr txBox="1"/>
          <p:nvPr/>
        </p:nvSpPr>
        <p:spPr>
          <a:xfrm>
            <a:off x="3584448" y="2331720"/>
            <a:ext cx="2249424" cy="2011679"/>
          </a:xfrm>
          <a:prstGeom prst="rect">
            <a:avLst/>
          </a:prstGeom>
          <a:noFill/>
        </p:spPr>
        <p:txBody>
          <a:bodyPr wrap="square" lIns="0" rIns="0" tIns="0" bIns="0" anchor="t">
            <a:spAutoFit/>
          </a:bodyPr>
          <a:lstStyle/>
          <a:p>
            <a:pPr algn="l">
              <a:spcAft>
                <a:spcPts val="400"/>
              </a:spcAft>
            </a:pPr>
            <a:r>
              <a:rPr sz="1600" b="0" i="0">
                <a:solidFill>
                  <a:srgbClr val="475569"/>
                </a:solidFill>
              </a:rPr>
              <a:t>Try a larger PCA cap or truncated SVD, and compare with embeddings; add stemming.</a:t>
            </a:r>
          </a:p>
        </p:txBody>
      </p:sp>
      <p:sp>
        <p:nvSpPr>
          <p:cNvPr id="34" name="Rounded Rectangle 33"/>
          <p:cNvSpPr/>
          <p:nvPr/>
        </p:nvSpPr>
        <p:spPr>
          <a:xfrm>
            <a:off x="6217920" y="1463040"/>
            <a:ext cx="2651760" cy="301752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6419088" y="164592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3</a:t>
            </a:r>
          </a:p>
        </p:txBody>
      </p:sp>
      <p:sp>
        <p:nvSpPr>
          <p:cNvPr id="36" name="TextBox 35"/>
          <p:cNvSpPr txBox="1"/>
          <p:nvPr/>
        </p:nvSpPr>
        <p:spPr>
          <a:xfrm>
            <a:off x="7059168" y="1618488"/>
            <a:ext cx="1645919" cy="548640"/>
          </a:xfrm>
          <a:prstGeom prst="rect">
            <a:avLst/>
          </a:prstGeom>
          <a:noFill/>
        </p:spPr>
        <p:txBody>
          <a:bodyPr wrap="square" lIns="0" rIns="0" tIns="0" bIns="0" anchor="ctr">
            <a:spAutoFit/>
          </a:bodyPr>
          <a:lstStyle/>
          <a:p>
            <a:pPr algn="l">
              <a:spcAft>
                <a:spcPts val="400"/>
              </a:spcAft>
            </a:pPr>
            <a:r>
              <a:rPr sz="1600" b="1" i="0">
                <a:solidFill>
                  <a:srgbClr val="0F172A"/>
                </a:solidFill>
              </a:rPr>
              <a:t>Evaluate wider</a:t>
            </a:r>
          </a:p>
        </p:txBody>
      </p:sp>
      <p:sp>
        <p:nvSpPr>
          <p:cNvPr id="37" name="TextBox 36"/>
          <p:cNvSpPr txBox="1"/>
          <p:nvPr/>
        </p:nvSpPr>
        <p:spPr>
          <a:xfrm>
            <a:off x="6419088" y="2331720"/>
            <a:ext cx="2249424" cy="2011679"/>
          </a:xfrm>
          <a:prstGeom prst="rect">
            <a:avLst/>
          </a:prstGeom>
          <a:noFill/>
        </p:spPr>
        <p:txBody>
          <a:bodyPr wrap="square" lIns="0" rIns="0" tIns="0" bIns="0" anchor="t">
            <a:spAutoFit/>
          </a:bodyPr>
          <a:lstStyle/>
          <a:p>
            <a:pPr algn="l">
              <a:spcAft>
                <a:spcPts val="400"/>
              </a:spcAft>
            </a:pPr>
            <a:r>
              <a:rPr sz="1600" b="0" i="0">
                <a:solidFill>
                  <a:srgbClr val="475569"/>
                </a:solidFill>
              </a:rPr>
              <a:t>More seeds with a significance test, ISOT and other datasets, and cross-dataset checks.</a:t>
            </a:r>
          </a:p>
        </p:txBody>
      </p:sp>
      <p:sp>
        <p:nvSpPr>
          <p:cNvPr id="38" name="Rounded Rectangle 37"/>
          <p:cNvSpPr/>
          <p:nvPr/>
        </p:nvSpPr>
        <p:spPr>
          <a:xfrm>
            <a:off x="9052560" y="1463040"/>
            <a:ext cx="2651760" cy="301752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Oval 38"/>
          <p:cNvSpPr/>
          <p:nvPr/>
        </p:nvSpPr>
        <p:spPr>
          <a:xfrm>
            <a:off x="9253728" y="1645920"/>
            <a:ext cx="502920" cy="502920"/>
          </a:xfrm>
          <a:prstGeom prst="ellipse">
            <a:avLst/>
          </a:prstGeom>
          <a:solidFill>
            <a:srgbClr val="6B52D6"/>
          </a:solidFill>
          <a:ln w="9525">
            <a:solidFill>
              <a:srgbClr val="6B52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4</a:t>
            </a:r>
          </a:p>
        </p:txBody>
      </p:sp>
      <p:sp>
        <p:nvSpPr>
          <p:cNvPr id="40" name="TextBox 39"/>
          <p:cNvSpPr txBox="1"/>
          <p:nvPr/>
        </p:nvSpPr>
        <p:spPr>
          <a:xfrm>
            <a:off x="9893808" y="1618488"/>
            <a:ext cx="1645919" cy="548640"/>
          </a:xfrm>
          <a:prstGeom prst="rect">
            <a:avLst/>
          </a:prstGeom>
          <a:noFill/>
        </p:spPr>
        <p:txBody>
          <a:bodyPr wrap="square" lIns="0" rIns="0" tIns="0" bIns="0" anchor="ctr">
            <a:spAutoFit/>
          </a:bodyPr>
          <a:lstStyle/>
          <a:p>
            <a:pPr algn="l">
              <a:spcAft>
                <a:spcPts val="400"/>
              </a:spcAft>
            </a:pPr>
            <a:r>
              <a:rPr sz="1600" b="1" i="0">
                <a:solidFill>
                  <a:srgbClr val="0F172A"/>
                </a:solidFill>
              </a:rPr>
              <a:t>Tune the search</a:t>
            </a:r>
          </a:p>
        </p:txBody>
      </p:sp>
      <p:sp>
        <p:nvSpPr>
          <p:cNvPr id="41" name="TextBox 40"/>
          <p:cNvSpPr txBox="1"/>
          <p:nvPr/>
        </p:nvSpPr>
        <p:spPr>
          <a:xfrm>
            <a:off x="9253728" y="2331720"/>
            <a:ext cx="2249424" cy="2011679"/>
          </a:xfrm>
          <a:prstGeom prst="rect">
            <a:avLst/>
          </a:prstGeom>
          <a:noFill/>
        </p:spPr>
        <p:txBody>
          <a:bodyPr wrap="square" lIns="0" rIns="0" tIns="0" bIns="0" anchor="t">
            <a:spAutoFit/>
          </a:bodyPr>
          <a:lstStyle/>
          <a:p>
            <a:pPr algn="l">
              <a:spcAft>
                <a:spcPts val="400"/>
              </a:spcAft>
            </a:pPr>
            <a:r>
              <a:rPr sz="1600" b="0" i="0">
                <a:solidFill>
                  <a:srgbClr val="475569"/>
                </a:solidFill>
              </a:rPr>
              <a:t>Tune Firefly settings and test other optimisers at equal budget.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2194560"/>
            <a:ext cx="11094415" cy="118872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ea typeface="Cambria" pitchFamily="34" charset="-122"/>
                <a:cs typeface="Cambria" pitchFamily="34" charset="-120"/>
              </a:rPr>
              <a:t>Thank you</a:t>
            </a:r>
            <a:endParaRPr lang="en-US" sz="4000" dirty="0"/>
          </a:p>
        </p:txBody>
      </p:sp>
      <p:sp>
        <p:nvSpPr>
          <p:cNvPr id="3" name="Text 0"/>
          <p:cNvSpPr/>
          <p:nvPr>
            <p:ph idx="101" type="body" hasCustomPrompt="1"/>
          </p:nvPr>
        </p:nvSpPr>
        <p:spPr>
          <a:xfrm>
            <a:off x="548640" y="3474720"/>
            <a:ext cx="11094415" cy="1463040"/>
          </a:xfrm>
          <a:prstGeom prst="rect">
            <a:avLst/>
          </a:prstGeom>
          <a:noFill/>
          <a:ln/>
        </p:spPr>
        <p:txBody>
          <a:bodyPr wrap="square" lIns="0" tIns="0" rIns="0" bIns="0" rtlCol="0" anchor="t"/>
          <a:lstStyle/>
          <a:p>
            <a:pPr algn="l" indent="0" marL="0">
              <a:buNone/>
            </a:pPr>
            <a:r>
              <a:rPr lang="en-US" sz="2000" dirty="0">
                <a:solidFill>
                  <a:srgbClr val="CADCFC"/>
                </a:solidFill>
                <a:latin typeface="Calibri" pitchFamily="34" charset="0"/>
                <a:ea typeface="Calibri" pitchFamily="34" charset="-122"/>
                <a:cs typeface="Calibri" pitchFamily="34" charset="-120"/>
              </a:rPr>
              <a:t>Questions and suggestions are welcome.</a:t>
            </a:r>
            <a:endParaRPr lang="en-US" sz="2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ADCFC"/>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TruthGlow">
  <a:themeElements>
    <a:clrScheme name="TruthGlow">
      <a:dk1>
        <a:srgbClr val="0F172A"/>
      </a:dk1>
      <a:lt1>
        <a:srgbClr val="FFFFFF"/>
      </a:lt1>
      <a:dk2>
        <a:srgbClr val="1B2A41"/>
      </a:dk2>
      <a:lt2>
        <a:srgbClr val="EEF2F7"/>
      </a:lt2>
      <a:accent1>
        <a:srgbClr val="2A78D6"/>
      </a:accent1>
      <a:accent2>
        <a:srgbClr val="EB6834"/>
      </a:accent2>
      <a:accent3>
        <a:srgbClr val="1BAF7A"/>
      </a:accent3>
      <a:accent4>
        <a:srgbClr val="EDA100"/>
      </a:accent4>
      <a:accent5>
        <a:srgbClr val="6250D6"/>
      </a:accent5>
      <a:accent6>
        <a:srgbClr val="E34948"/>
      </a:accent6>
      <a:hlink>
        <a:srgbClr val="2A78D6"/>
      </a:hlink>
      <a:folHlink>
        <a:srgbClr val="6250D6"/>
      </a:folHlink>
    </a:clrScheme>
    <a:fontScheme name="TruthGlow">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TruthGlow">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Fake News Detection System Using Feature Based Optimised MSVM Classification: Review 2</dc:title>
  <dc:subject>Batch C6 (CSE-C)</dc:subject>
  <dc:creator>Neela Mojes, Noor Saniya, Malkajgiri Akshitha, Maravajhala Radha Sri Aashritha</dc:creator>
  <cp:lastModifiedBy/>
  <cp:revision>1</cp:revision>
  <dcterms:created xsi:type="dcterms:W3CDTF">2026-10-13T12:40:05Z</dcterms:created>
  <dcterms:modified xsi:type="dcterms:W3CDTF">2026-10-13T12:40:05Z</dcterms:modified>
  <cp:keywords>fake news detection, PCA, Firefly algorithm, multi-class SVM, LIAR2</cp:keywords>
  <dc:description/>
</cp:coreProperties>
</file>