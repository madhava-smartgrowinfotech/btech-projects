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Reported score</c:v>
                </c:pt>
              </c:strCache>
            </c:strRef>
          </c:tx>
          <c:spPr>
            <a:solidFill>
              <a:srgbClr val="2A78D6"/>
            </a:solidFill>
          </c:spPr>
          <c:dPt>
            <c:idx val="2"/>
            <c:spPr>
              <a:solidFill>
                <a:srgbClr val="EB6834"/>
              </a:solidFill>
            </c:spPr>
          </c:dPt>
          <c:dPt>
            <c:idx val="3"/>
            <c:spPr>
              <a:solidFill>
                <a:srgbClr val="EB6834"/>
              </a:solidFill>
            </c:spPr>
          </c:dPt>
          <c:cat>
            <c:strRef>
              <c:f>Sheet1!$A$2:$A$5</c:f>
              <c:strCache>
                <c:ptCount val="4"/>
                <c:pt idx="0">
                  <c:v>Base paper
TF-IDF + NN
(Arabic, binary)
accuracy</c:v>
                </c:pt>
                <c:pt idx="1">
                  <c:v>Base paper
CAMeLBERT + NN
+ class weights
accuracy</c:v>
                </c:pt>
                <c:pt idx="2">
                  <c:v>Survey [2]
Logistic regr.
LIAR-PLUS
(binary) F1</c:v>
                </c:pt>
                <c:pt idx="3">
                  <c:v>Survey [2]
SVM
LIAR-PLUS
(binary) F1</c:v>
                </c:pt>
              </c:strCache>
            </c:strRef>
          </c:cat>
          <c:val>
            <c:numRef>
              <c:f>Sheet1!$B$2:$B$5</c:f>
              <c:numCache>
                <c:formatCode>General</c:formatCode>
                <c:ptCount val="4"/>
                <c:pt idx="0">
                  <c:v>0.9097</c:v>
                </c:pt>
                <c:pt idx="1">
                  <c:v>0.9552</c:v>
                </c:pt>
                <c:pt idx="2">
                  <c:v>0.56</c:v>
                </c:pt>
                <c:pt idx="3">
                  <c:v>0.57</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the system reads a news statement and returns REAL, PARTIALLY TRUE or FAKE with a confidence, using a light pipeline (PCA, Firefly, multi-class SVM) instead of a heavy neural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problem, the PCA + Firefly + MSVM idea, and the deliverable: a complete application, not only a model script.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builds an Arabic binary detector on transformer embeddings. Our project keeps its ideas of class weighting and fair baselines but chooses a computationally light route. The two sets of numbers will not be comparable: language, task and hardware differ.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transformer and neural detectors report very high scores on binary data; the cross-dataset comparison finds fine-grained fact-checking data much harder. Where a work's figures were not checked they are not quoted. The batch survey also lists four 2024-2025 papers whose authors were not recorded; they appear in the report's reference list with that caveat.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 are quoted from the papers: 90.97 % and 95.52 % accuracy from the base paper, and LR 0.56 and SVM 0.57 F1 on LIAR-PLUS from the comparison paper. The point: protocol and label granularity decide the number, so a project that includes a PARTIALLY TRUE class should expect lower scores than binary benchmarks.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path is manual fact-checking, which cannot match volume or speed. Automatic detectors exist, but they are often heavy, binary and weakly tuned.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taken from the project's problem statement and the survey. Each maps to a design decision: PCA, Firefly tuning, a PARTIALLY TRUE class, and honest reporting of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a computationally light pipeline where feature reduction and metaheuristic parameter tuning deliver comparable accuracy at lower cost. The project tests that claim rather than assuming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Input is text, output is a three-way verdict with confidence, and the system keeps a model and its measured statistics that can be inspected.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The later reviews report which were met; stemming (objective 2) is a known gap, and the accuracy and cost objective is judged on measured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from text to verdict, and the application around them. A separate baseline without Firefly is kept so the optimiser's benefit can be measured.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the browser sends text to the FastAPI service, which calls the library; the fitted model is one saved bundle on disk and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targets, not results. We will report whatever the held-out test data shows, including if the optimiser gives no gain.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SVM and PCA rather than a transformer; why Firefly; what PARTIALLY TRUE means; how the label comes from the six LIAR labels.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TruthGlow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Fake News Detection System Using Feature Based Optimised MSVM Classification</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 TF-IDF and stylometric pipeline reduced by PCA, tuned by the Firefly algorithm and classified by an RBF multi-class SVM, with a PARTIALLY TRUE class</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Neela Mojes  23K91A05H1</a:t>
            </a:r>
            <a:endParaRPr lang="en-US" sz="1500" dirty="0"/>
          </a:p>
          <a:p>
            <a:pPr indent="0" marL="0">
              <a:buNone/>
            </a:pPr>
            <a:r>
              <a:rPr lang="en-US" sz="1500" dirty="0">
                <a:solidFill>
                  <a:srgbClr val="FFFFFF"/>
                </a:solidFill>
              </a:rPr>
              <a:t>Noor Saniya  23K91A05H4</a:t>
            </a:r>
            <a:endParaRPr lang="en-US" sz="1500" dirty="0"/>
          </a:p>
          <a:p>
            <a:pPr indent="0" marL="0">
              <a:buNone/>
            </a:pPr>
            <a:r>
              <a:rPr lang="en-US" sz="1500" dirty="0">
                <a:solidFill>
                  <a:srgbClr val="FFFFFF"/>
                </a:solidFill>
              </a:rPr>
              <a:t>Malkajgiri Akshitha  23K91A05E2</a:t>
            </a:r>
            <a:endParaRPr lang="en-US" sz="1500" dirty="0"/>
          </a:p>
          <a:p>
            <a:pPr indent="0" marL="0">
              <a:buNone/>
            </a:pPr>
            <a:r>
              <a:rPr lang="en-US" sz="1500" dirty="0">
                <a:solidFill>
                  <a:srgbClr val="FFFFFF"/>
                </a:solidFill>
              </a:rPr>
              <a:t>Maravajhala Radha Sri Aashritha  23K91A05E7</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 Rajasekhar Rao,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C6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a light, optimised classifier for fake news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Misinformation spreads through news portals and social media faster than it can be fact-checked. Many detectors are heavy, tune poorly, and treat news as only real or fake, ignoring partially true items.</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Turn text into TF-IDF and stylometric features, reduce them with Principal Component Analysis, let the Firefly algorithm pick the features and the SVM parameters, and classify with a multi-class SVM.</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A working application, TruthGlow: a verdict of REAL, PARTIALLY TRUE or FAKE with confidence for one article or a whole CSV, model analytics, and retraining on the user's own labelled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M. Saad, S. Abdelrazek and I. R. Abdelmaksoud, "An algorithmic system for Arabic fake news detection using neural networks and transformer embeddings with class weighting," Scientific Reports, vol. 16, Art. no. 12226, 2026, doi: 10.1038/s41598-026-45653-4.</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CAMeLBERT contextual embeddings feed a neural network classifier. Class weighting in the loss handles imbalance and is compared with undersampling, oversampling and SMOTE; four Arabic transformers are compared.</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7,474 Arabic news articles, binary real or fake, 80/20 split. Reported: F1 96.19 %, accuracy 95.52 %, precision 95.48 %, recall 96.90 % on a Tesla T4 GPU; TF-IDF + NN baseline accuracy 90.97 %.</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we take, what differs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Taken: class weighting, several metrics, comparison with baselines. Different: classical features with PCA and a metaheuristic instead of transformer embeddings; English; three classes; CPU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80160"/>
          <a:ext cx="11091672" cy="4608576"/>
        </p:xfrm>
        <a:graphic>
          <a:graphicData uri="http://schemas.openxmlformats.org/drawingml/2006/table">
            <a:tbl>
              <a:tblPr firstRow="0" bandRow="0">
                <a:tableStyleId>{5C22544A-7EE6-4342-B048-85BDC9FD1C3A}</a:tableStyleId>
              </a:tblPr>
              <a:tblGrid>
                <a:gridCol w="2377440"/>
                <a:gridCol w="3566160"/>
                <a:gridCol w="2651760"/>
                <a:gridCol w="2496312"/>
              </a:tblGrid>
              <a:tr h="658368">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Reported result / 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200" b="0">
                          <a:solidFill>
                            <a:srgbClr val="0F172A"/>
                          </a:solidFill>
                        </a:rPr>
                        <a:t>Saad et al. 2026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CAMeLBERT embeddings + NN with class weights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7,474 Arabic articles, binary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F1 96.19 %, accuracy 95.52 % (GPU)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Dell'Oglio et al. 2026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12 approaches compared (ML, deep, transformers, LLMs)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10 English datasets incl. LIAR-PLUS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LIAR-PLUS hardest: F1 0.56 (LR), 0.57 (SVM)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200" b="0">
                          <a:solidFill>
                            <a:srgbClr val="0F172A"/>
                          </a:solidFill>
                        </a:rPr>
                        <a:t>Huang et al. 2025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TF-IDF + Transformer BiGRU + Bayesian optimisation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Fake/real news corpus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99.73 % test accuracy (binary)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Xu and Kechadi 2024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Fuzzy deep hybrid network; releases LIAR2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LIAR2: 18,369 / 2,297 / 2,296 statements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Benchmark used in this project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200" b="0">
                          <a:solidFill>
                            <a:srgbClr val="0F172A"/>
                          </a:solidFill>
                        </a:rPr>
                        <a:t>Wang 2017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LIAR: short PolitiFact statements, six truth 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About 12.8 k statements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Text-only models score far lower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200" b="0">
                          <a:solidFill>
                            <a:srgbClr val="0F172A"/>
                          </a:solidFill>
                        </a:rPr>
                        <a:t>Ahmed et al. 2017 [19]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N-gram TF-IDF with classical classifiers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News article corpora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Linear SVM among the strongest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the task sets the number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949440" cy="4846320"/>
        </p:xfrm>
        <a:graphic>
          <a:graphicData uri="http://schemas.openxmlformats.org/drawingml/2006/chart">
            <c:chart xmlns:c="http://schemas.openxmlformats.org/drawingml/2006/chart" r:id="rId3"/>
          </a:graphicData>
        </a:graphic>
      </p:graphicFrame>
      <p:sp>
        <p:nvSpPr>
          <p:cNvPr id="27" name="Rounded Rectangle 26"/>
          <p:cNvSpPr/>
          <p:nvPr/>
        </p:nvSpPr>
        <p:spPr>
          <a:xfrm>
            <a:off x="7772400" y="1325880"/>
            <a:ext cx="3867912" cy="23774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973568"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613648" y="14813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7973568" y="2194560"/>
            <a:ext cx="3465576" cy="1371600"/>
          </a:xfrm>
          <a:prstGeom prst="rect">
            <a:avLst/>
          </a:prstGeom>
          <a:noFill/>
        </p:spPr>
        <p:txBody>
          <a:bodyPr wrap="square" lIns="0" rIns="0" tIns="0" bIns="0" anchor="t">
            <a:spAutoFit/>
          </a:bodyPr>
          <a:lstStyle/>
          <a:p>
            <a:pPr algn="l">
              <a:spcAft>
                <a:spcPts val="400"/>
              </a:spcAft>
            </a:pPr>
            <a:r>
              <a:rPr sz="1400" b="0" i="0">
                <a:solidFill>
                  <a:srgbClr val="475569"/>
                </a:solidFill>
              </a:rPr>
              <a:t>Binary Arabic news is detected with accuracy above 0.90, but on LIAR-PLUS, a fact-checking dataset with six truth levels, even good classical models reach F1 near 0.56.</a:t>
            </a:r>
          </a:p>
        </p:txBody>
      </p:sp>
      <p:sp>
        <p:nvSpPr>
          <p:cNvPr id="31" name="Rounded Rectangle 30"/>
          <p:cNvSpPr/>
          <p:nvPr/>
        </p:nvSpPr>
        <p:spPr>
          <a:xfrm>
            <a:off x="7772400" y="3840480"/>
            <a:ext cx="3867912"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73568" y="4023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613648" y="39959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Caveat</a:t>
            </a:r>
          </a:p>
        </p:txBody>
      </p:sp>
      <p:sp>
        <p:nvSpPr>
          <p:cNvPr id="34" name="TextBox 33"/>
          <p:cNvSpPr txBox="1"/>
          <p:nvPr/>
        </p:nvSpPr>
        <p:spPr>
          <a:xfrm>
            <a:off x="7973568" y="4709160"/>
            <a:ext cx="3465576" cy="1280160"/>
          </a:xfrm>
          <a:prstGeom prst="rect">
            <a:avLst/>
          </a:prstGeom>
          <a:noFill/>
        </p:spPr>
        <p:txBody>
          <a:bodyPr wrap="square" lIns="0" rIns="0" tIns="0" bIns="0" anchor="t">
            <a:spAutoFit/>
          </a:bodyPr>
          <a:lstStyle/>
          <a:p>
            <a:pPr algn="l">
              <a:spcAft>
                <a:spcPts val="400"/>
              </a:spcAft>
            </a:pPr>
            <a:r>
              <a:rPr sz="1400" b="0" i="0">
                <a:solidFill>
                  <a:srgbClr val="475569"/>
                </a:solidFill>
              </a:rPr>
              <a:t>Blue bars are accuracies on Arabic data, orange bars are F1 on English data as reported in the papers. They are not comparable and no ranking is implied. Our own results come in later reviews.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Article published</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Shared widely</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Fact-checker reviews</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Verdict published later</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fact-checking</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Accurate, but slow and limited in volume: the fact-check usually appears after the item has already reached a large audience, and only a fraction of items is ever checked.</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Automatic detectors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Machine-learning and deep-learning classifiers label items real or fake. Many are heavy, are tuned by hand and report accuracy without cost, and most ignore the partially true middle.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Slow, limited manual checking</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Fabricated news reaches large audiences before any fact-check is published.</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High-dimensional features</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Sparse text features make classifiers slow and prone to overfitting if left unreduced.</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Default parameters</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Untuned classifier parameters give suboptimal accuracy on noisy news text.</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Cost and nuance ignored</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Many detectors report accuracy only, say nothing of computational cost, and have no class for partially true items.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Light pipeline</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Surveyed work applies neural and transformer models; a computationally light pipeline is less explored.</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Feature reduction</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PCA can cut dimensionality, but how much accuracy it keeps on real news text needs measuring.</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Metaheuristic tuning</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Firefly search for the feature subset and SVM parameters is proposed; its gain over default or random tuning must be tested.</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Partially true class</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Binary labels hide the middle ground; a third class makes the task harder and more useful.</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Honest evaluation</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Scores are rarely given with baselines, per-class results, cost and latency in one place.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1900" b="0" i="0">
                <a:solidFill>
                  <a:srgbClr val="0F172A"/>
                </a:solidFill>
              </a:rPr>
              <a:t>Given the text of a news item or claim, assign it one of three verdicts - REAL, PARTIALLY TRUE or FAKE - with a confidence, using a computationally light pipeline (TF-IDF and stylometric features reduced by PCA, with the Firefly algorithm choosing the feature subset and the SVM parameters), and report honestly how accurate and how costly it is, through an application that a non-expert can run.</a:t>
            </a:r>
          </a:p>
        </p:txBody>
      </p:sp>
      <p:sp>
        <p:nvSpPr>
          <p:cNvPr id="28" name="Rounded Rectangle 27"/>
          <p:cNvSpPr/>
          <p:nvPr/>
        </p:nvSpPr>
        <p:spPr>
          <a:xfrm>
            <a:off x="548640"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News headline or article text, one item or a CSV of items</a:t>
            </a:r>
          </a:p>
        </p:txBody>
      </p:sp>
      <p:sp>
        <p:nvSpPr>
          <p:cNvPr id="31" name="Rounded Rectangle 30"/>
          <p:cNvSpPr/>
          <p:nvPr/>
        </p:nvSpPr>
        <p:spPr>
          <a:xfrm>
            <a:off x="4334255"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REAL, PARTIALLY TRUE or FAKE, confidence, class probabilities, cue words</a:t>
            </a:r>
          </a:p>
        </p:txBody>
      </p:sp>
      <p:sp>
        <p:nvSpPr>
          <p:cNvPr id="34" name="Rounded Rectangle 33"/>
          <p:cNvSpPr/>
          <p:nvPr/>
        </p:nvSpPr>
        <p:spPr>
          <a:xfrm>
            <a:off x="8119871"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Trained model, accuracy, macro-F1, confusion matrix, Firefly curve</a:t>
            </a:r>
          </a:p>
        </p:txBody>
      </p:sp>
      <p:sp>
        <p:nvSpPr>
          <p:cNvPr id="37" name="TextBox 36"/>
          <p:cNvSpPr txBox="1"/>
          <p:nvPr/>
        </p:nvSpPr>
        <p:spPr>
          <a:xfrm>
            <a:off x="548640" y="5669280"/>
            <a:ext cx="11091672" cy="457200"/>
          </a:xfrm>
          <a:prstGeom prst="rect">
            <a:avLst/>
          </a:prstGeom>
          <a:noFill/>
        </p:spPr>
        <p:txBody>
          <a:bodyPr wrap="square" lIns="0" rIns="0" tIns="0" bIns="0" anchor="t">
            <a:spAutoFit/>
          </a:bodyPr>
          <a:lstStyle/>
          <a:p>
            <a:pPr algn="l">
              <a:spcAft>
                <a:spcPts val="400"/>
              </a:spcAft>
            </a:pPr>
            <a:r>
              <a:rPr sz="1400" b="0" i="1">
                <a:solidFill>
                  <a:srgbClr val="475569"/>
                </a:solidFill>
              </a:rPr>
              <a:t>Need: an optimised classifier that reduces feature dimensionality and tunes its own parameters to detect fabricated news accurately and efficiently.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1200"/>
              </a:spcAft>
            </a:pPr>
            <a:r>
              <a:rPr sz="2200" b="0" i="0">
                <a:solidFill>
                  <a:srgbClr val="0F172A"/>
                </a:solidFill>
              </a:rPr>
              <a:t>1.  Assemble a labelled dataset of genuine and fabricated news articles.</a:t>
            </a:r>
          </a:p>
          <a:p>
            <a:pPr algn="l">
              <a:spcAft>
                <a:spcPts val="1200"/>
              </a:spcAft>
            </a:pPr>
            <a:r>
              <a:rPr sz="2200" b="0" i="0">
                <a:solidFill>
                  <a:srgbClr val="0F172A"/>
                </a:solidFill>
              </a:rPr>
              <a:t>2.  Preprocess the text with tokenisation, stop-word removal, stemming and vectorisation.</a:t>
            </a:r>
          </a:p>
          <a:p>
            <a:pPr algn="l">
              <a:spcAft>
                <a:spcPts val="1200"/>
              </a:spcAft>
            </a:pPr>
            <a:r>
              <a:rPr sz="2200" b="0" i="0">
                <a:solidFill>
                  <a:srgbClr val="0F172A"/>
                </a:solidFill>
              </a:rPr>
              <a:t>3.  Apply Principal Component Analysis to reduce feature dimensionality.</a:t>
            </a:r>
          </a:p>
          <a:p>
            <a:pPr algn="l">
              <a:spcAft>
                <a:spcPts val="1200"/>
              </a:spcAft>
            </a:pPr>
            <a:r>
              <a:rPr sz="2200" b="0" i="0">
                <a:solidFill>
                  <a:srgbClr val="0F172A"/>
                </a:solidFill>
              </a:rPr>
              <a:t>4.  Use the Firefly algorithm to optimise feature selection and MSVM parameters.</a:t>
            </a:r>
          </a:p>
          <a:p>
            <a:pPr algn="l">
              <a:spcAft>
                <a:spcPts val="1200"/>
              </a:spcAft>
            </a:pPr>
            <a:r>
              <a:rPr sz="2200" b="0" i="0">
                <a:solidFill>
                  <a:srgbClr val="0F172A"/>
                </a:solidFill>
              </a:rPr>
              <a:t>5.  Train a Multi-class Support Vector Machine classifier on the optimised feature set.</a:t>
            </a:r>
          </a:p>
          <a:p>
            <a:pPr algn="l">
              <a:spcAft>
                <a:spcPts val="1200"/>
              </a:spcAft>
            </a:pPr>
            <a:r>
              <a:rPr sz="2200" b="0" i="0">
                <a:solidFill>
                  <a:srgbClr val="0F172A"/>
                </a:solidFill>
              </a:rPr>
              <a:t>6.  Evaluate accuracy, precision, recall and F1-score against unoptimised baselines.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Featurise</a:t>
            </a:r>
          </a:p>
        </p:txBody>
      </p:sp>
      <p:sp>
        <p:nvSpPr>
          <p:cNvPr id="29" name="TextBox 28"/>
          <p:cNvSpPr txBox="1"/>
          <p:nvPr/>
        </p:nvSpPr>
        <p:spPr>
          <a:xfrm>
            <a:off x="749808" y="2194560"/>
            <a:ext cx="2231136" cy="2103120"/>
          </a:xfrm>
          <a:prstGeom prst="rect">
            <a:avLst/>
          </a:prstGeom>
          <a:noFill/>
        </p:spPr>
        <p:txBody>
          <a:bodyPr wrap="square" lIns="0" rIns="0" tIns="0" bIns="0" anchor="t">
            <a:spAutoFit/>
          </a:bodyPr>
          <a:lstStyle/>
          <a:p>
            <a:pPr algn="l">
              <a:spcAft>
                <a:spcPts val="400"/>
              </a:spcAft>
            </a:pPr>
            <a:r>
              <a:rPr sz="1600" b="0" i="0">
                <a:solidFill>
                  <a:srgbClr val="475569"/>
                </a:solidFill>
              </a:rPr>
              <a:t>Clean the text, build TF-IDF (1-2 grams) and add 25 stylometric signals such as capitals, exclamation marks and lexicon ratios.</a:t>
            </a:r>
          </a:p>
        </p:txBody>
      </p:sp>
      <p:sp>
        <p:nvSpPr>
          <p:cNvPr id="30" name="Rounded Rectangle 29"/>
          <p:cNvSpPr/>
          <p:nvPr/>
        </p:nvSpPr>
        <p:spPr>
          <a:xfrm>
            <a:off x="3364992"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Reduce</a:t>
            </a:r>
          </a:p>
        </p:txBody>
      </p:sp>
      <p:sp>
        <p:nvSpPr>
          <p:cNvPr id="33" name="TextBox 32"/>
          <p:cNvSpPr txBox="1"/>
          <p:nvPr/>
        </p:nvSpPr>
        <p:spPr>
          <a:xfrm>
            <a:off x="3566160" y="2194560"/>
            <a:ext cx="2231136" cy="2103120"/>
          </a:xfrm>
          <a:prstGeom prst="rect">
            <a:avLst/>
          </a:prstGeom>
          <a:noFill/>
        </p:spPr>
        <p:txBody>
          <a:bodyPr wrap="square" lIns="0" rIns="0" tIns="0" bIns="0" anchor="t">
            <a:spAutoFit/>
          </a:bodyPr>
          <a:lstStyle/>
          <a:p>
            <a:pPr algn="l">
              <a:spcAft>
                <a:spcPts val="400"/>
              </a:spcAft>
            </a:pPr>
            <a:r>
              <a:rPr sz="1600" b="0" i="0">
                <a:solidFill>
                  <a:srgbClr val="475569"/>
                </a:solidFill>
              </a:rPr>
              <a:t>Standardise, then PCA keeps up to 95 % of the variance with at most 300 components.</a:t>
            </a:r>
          </a:p>
        </p:txBody>
      </p:sp>
      <p:sp>
        <p:nvSpPr>
          <p:cNvPr id="34" name="Rounded Rectangle 33"/>
          <p:cNvSpPr/>
          <p:nvPr/>
        </p:nvSpPr>
        <p:spPr>
          <a:xfrm>
            <a:off x="6181344"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Optimise</a:t>
            </a:r>
          </a:p>
        </p:txBody>
      </p:sp>
      <p:sp>
        <p:nvSpPr>
          <p:cNvPr id="37" name="TextBox 36"/>
          <p:cNvSpPr txBox="1"/>
          <p:nvPr/>
        </p:nvSpPr>
        <p:spPr>
          <a:xfrm>
            <a:off x="6382512" y="2194560"/>
            <a:ext cx="2231136" cy="2103120"/>
          </a:xfrm>
          <a:prstGeom prst="rect">
            <a:avLst/>
          </a:prstGeom>
          <a:noFill/>
        </p:spPr>
        <p:txBody>
          <a:bodyPr wrap="square" lIns="0" rIns="0" tIns="0" bIns="0" anchor="t">
            <a:spAutoFit/>
          </a:bodyPr>
          <a:lstStyle/>
          <a:p>
            <a:pPr algn="l">
              <a:spcAft>
                <a:spcPts val="400"/>
              </a:spcAft>
            </a:pPr>
            <a:r>
              <a:rPr sz="1600" b="0" i="0">
                <a:solidFill>
                  <a:srgbClr val="475569"/>
                </a:solidFill>
              </a:rPr>
              <a:t>Firefly algorithm selects PCA components and tunes C and gamma, scoring candidates by cross-validated macro-F1.</a:t>
            </a:r>
          </a:p>
        </p:txBody>
      </p:sp>
      <p:sp>
        <p:nvSpPr>
          <p:cNvPr id="38" name="Rounded Rectangle 37"/>
          <p:cNvSpPr/>
          <p:nvPr/>
        </p:nvSpPr>
        <p:spPr>
          <a:xfrm>
            <a:off x="8997696"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Classify</a:t>
            </a:r>
          </a:p>
        </p:txBody>
      </p:sp>
      <p:sp>
        <p:nvSpPr>
          <p:cNvPr id="41" name="TextBox 40"/>
          <p:cNvSpPr txBox="1"/>
          <p:nvPr/>
        </p:nvSpPr>
        <p:spPr>
          <a:xfrm>
            <a:off x="9198864" y="2194560"/>
            <a:ext cx="2231136" cy="2103120"/>
          </a:xfrm>
          <a:prstGeom prst="rect">
            <a:avLst/>
          </a:prstGeom>
          <a:noFill/>
        </p:spPr>
        <p:txBody>
          <a:bodyPr wrap="square" lIns="0" rIns="0" tIns="0" bIns="0" anchor="t">
            <a:spAutoFit/>
          </a:bodyPr>
          <a:lstStyle/>
          <a:p>
            <a:pPr algn="l">
              <a:spcAft>
                <a:spcPts val="400"/>
              </a:spcAft>
            </a:pPr>
            <a:r>
              <a:rPr sz="1600" b="0" i="0">
                <a:solidFill>
                  <a:srgbClr val="475569"/>
                </a:solidFill>
              </a:rPr>
              <a:t>RBF multi-class SVM with balanced class weights outputs REAL, PARTIALLY TRUE or FAKE with probabilities.</a:t>
            </a:r>
          </a:p>
        </p:txBody>
      </p:sp>
      <p:sp>
        <p:nvSpPr>
          <p:cNvPr id="42" name="Rounded Rectangle 41"/>
          <p:cNvSpPr/>
          <p:nvPr/>
        </p:nvSpPr>
        <p:spPr>
          <a:xfrm>
            <a:off x="548640" y="466344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377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W</a:t>
            </a:r>
          </a:p>
        </p:txBody>
      </p:sp>
      <p:sp>
        <p:nvSpPr>
          <p:cNvPr id="44" name="TextBox 43"/>
          <p:cNvSpPr txBox="1"/>
          <p:nvPr/>
        </p:nvSpPr>
        <p:spPr>
          <a:xfrm>
            <a:off x="1645920" y="484632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Application</a:t>
            </a:r>
          </a:p>
        </p:txBody>
      </p:sp>
      <p:sp>
        <p:nvSpPr>
          <p:cNvPr id="45" name="TextBox 44"/>
          <p:cNvSpPr txBox="1"/>
          <p:nvPr/>
        </p:nvSpPr>
        <p:spPr>
          <a:xfrm>
            <a:off x="1645920" y="530352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TruthGlow: React web interface over a FastAPI service and a Python library. Detect one article, screen a CSV, view analytics and retrain on your own labelled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2892391" y="1188720"/>
            <a:ext cx="6376736" cy="4846320"/>
          </a:xfrm>
          <a:prstGeom prst="rect">
            <a:avLst/>
          </a:prstGeom>
        </p:spPr>
      </p:pic>
      <p:sp>
        <p:nvSpPr>
          <p:cNvPr id="27" name="TextBox 26"/>
          <p:cNvSpPr txBox="1"/>
          <p:nvPr/>
        </p:nvSpPr>
        <p:spPr>
          <a:xfrm>
            <a:off x="548640" y="6053328"/>
            <a:ext cx="11091672" cy="274320"/>
          </a:xfrm>
          <a:prstGeom prst="rect">
            <a:avLst/>
          </a:prstGeom>
          <a:noFill/>
        </p:spPr>
        <p:txBody>
          <a:bodyPr wrap="square" lIns="0" rIns="0" tIns="0" bIns="0" anchor="t">
            <a:spAutoFit/>
          </a:bodyPr>
          <a:lstStyle/>
          <a:p>
            <a:pPr algn="ctr">
              <a:spcAft>
                <a:spcPts val="400"/>
              </a:spcAft>
            </a:pPr>
            <a:r>
              <a:rPr sz="1200" b="0" i="1">
                <a:solidFill>
                  <a:srgbClr val="475569"/>
                </a:solidFill>
              </a:rPr>
              <a:t>Browser UI, FastAPI service, the PCA + Firefly + MSVM library, and the saved model bundle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classifier</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 trained PCA + Firefly + MSVM model with three verdict classes.</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comparison</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Accuracy, precision, recall and F1 against unoptimised and simpler baselines.</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Cost reported</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Training time and prediction latency stated next to accuracy.</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Complete tool</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Detect, batch, analytics and retrain from one application.</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Reproducibility</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Scripts write every metric to JSON; figures are regenerated from it.</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Quality</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Automated tests for the API, library and edge cases.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234440"/>
            <a:ext cx="11091672" cy="5029200"/>
          </a:xfrm>
          <a:prstGeom prst="rect">
            <a:avLst/>
          </a:prstGeom>
          <a:noFill/>
        </p:spPr>
        <p:txBody>
          <a:bodyPr wrap="square" lIns="0" rIns="0" tIns="0" bIns="0" anchor="t">
            <a:spAutoFit/>
          </a:bodyPr>
          <a:lstStyle/>
          <a:p>
            <a:pPr algn="l">
              <a:spcAft>
                <a:spcPts val="500"/>
              </a:spcAft>
            </a:pPr>
            <a:r>
              <a:rPr sz="1300" b="0" i="0">
                <a:solidFill>
                  <a:srgbClr val="0F172A"/>
                </a:solidFill>
              </a:rPr>
              <a:t>[1] M. Saad, S. Abdelrazek and I. R. Abdelmaksoud, "An algorithmic system for Arabic fake news detection using neural networks and transformer embeddings with class weighting," Scientific Reports, vol. 16, Art. no. 12226, 2026, doi: 10.1038/s41598-026-45653-4.</a:t>
            </a:r>
          </a:p>
          <a:p>
            <a:pPr algn="l">
              <a:spcAft>
                <a:spcPts val="500"/>
              </a:spcAft>
            </a:pPr>
            <a:r>
              <a:rPr sz="1300" b="0" i="0">
                <a:solidFill>
                  <a:srgbClr val="0F172A"/>
                </a:solidFill>
              </a:rPr>
              <a:t>[2] P. Dell'Oglio, A. Bondielli, F. Marcelloni and L. C. Passaro, "An experimental comparison of the most popular approaches to fake news detection," Information Sciences, 2026, doi: 10.1016/j.ins.2026.123407; arXiv:2603.25501.</a:t>
            </a:r>
          </a:p>
          <a:p>
            <a:pPr algn="l">
              <a:spcAft>
                <a:spcPts val="500"/>
              </a:spcAft>
            </a:pPr>
            <a:r>
              <a:rPr sz="1300" b="0" i="0">
                <a:solidFill>
                  <a:srgbClr val="0F172A"/>
                </a:solidFill>
              </a:rPr>
              <a:t>[3] T. Huang, Z. Xu, P. Yu, J. Yi and X. Xu, "A hybrid transformer model for fake news detection: Leveraging Bayesian optimization and bidirectional recurrent unit," 2025, arXiv:2502.09097.</a:t>
            </a:r>
          </a:p>
          <a:p>
            <a:pPr algn="l">
              <a:spcAft>
                <a:spcPts val="500"/>
              </a:spcAft>
            </a:pPr>
            <a:r>
              <a:rPr sz="1300" b="0" i="0">
                <a:solidFill>
                  <a:srgbClr val="0F172A"/>
                </a:solidFill>
              </a:rPr>
              <a:t>[4] C. Xu and M.-T. Kechadi, "An enhanced fake news detection system with fuzzy deep learning," IEEE Access, vol. 12, pp. 88006-88021, 2024, doi: 10.1109/ACCESS.2024.3418340.</a:t>
            </a:r>
          </a:p>
          <a:p>
            <a:pPr algn="l">
              <a:spcAft>
                <a:spcPts val="500"/>
              </a:spcAft>
            </a:pPr>
            <a:r>
              <a:rPr sz="1300" b="0" i="0">
                <a:solidFill>
                  <a:srgbClr val="0F172A"/>
                </a:solidFill>
              </a:rPr>
              <a:t>[5] W. Y. Wang, "'Liar, liar pants on fire': A new benchmark dataset for fake news detection," in Proc. 55th Annu. Meeting Assoc. Comput. Linguistics (ACL), Vol. 2: Short Papers, Vancouver, Canada, 2017, pp. 422-426, doi: 10.18653/v1/P17-2067.</a:t>
            </a:r>
          </a:p>
          <a:p>
            <a:pPr algn="l">
              <a:spcAft>
                <a:spcPts val="500"/>
              </a:spcAft>
            </a:pPr>
            <a:r>
              <a:rPr sz="1300" b="0" i="0">
                <a:solidFill>
                  <a:srgbClr val="0F172A"/>
                </a:solidFill>
              </a:rPr>
              <a:t>[6] X.-S. Yang, "Firefly algorithms for multimodal optimization," in Stochastic Algorithms: Foundations and Applications (SAGA 2009), Lecture Notes in Computer Science, vol. 5792. Berlin, Germany: Springer, 2009, pp. 169-178.</a:t>
            </a:r>
          </a:p>
          <a:p>
            <a:pPr algn="l">
              <a:spcAft>
                <a:spcPts val="500"/>
              </a:spcAft>
            </a:pPr>
            <a:r>
              <a:rPr sz="1300" b="0" i="0">
                <a:solidFill>
                  <a:srgbClr val="0F172A"/>
                </a:solidFill>
              </a:rPr>
              <a:t>[8] C. Cortes and V. Vapnik, "Support-vector networks," Machine Learning, vol. 20, no. 3, pp. 273-297, Sep. 1995.</a:t>
            </a:r>
          </a:p>
          <a:p>
            <a:pPr algn="l">
              <a:spcAft>
                <a:spcPts val="500"/>
              </a:spcAft>
            </a:pPr>
            <a:r>
              <a:rPr sz="1300" b="0" i="0">
                <a:solidFill>
                  <a:srgbClr val="0F172A"/>
                </a:solidFill>
              </a:rPr>
              <a:t>[10] I. T. Jolliffe and J. Cadima, "Principal component analysis: a review and recent developments," Phil. Trans. R. Soc. A, vol. 374, no. 2065, Art. no. 20150202, 2016.</a:t>
            </a:r>
          </a:p>
          <a:p>
            <a:pPr algn="l">
              <a:spcAft>
                <a:spcPts val="500"/>
              </a:spcAft>
            </a:pPr>
            <a:r>
              <a:rPr sz="1300" b="0" i="0">
                <a:solidFill>
                  <a:srgbClr val="0F172A"/>
                </a:solidFill>
              </a:rPr>
              <a:t>[19] H. Ahmed, I. Traore and S. Saad, "Detection of online fake news using N-gram analysis and machine learning techniques," in Intelligent, Secure, and Dependable Systems in Distributed and Cloud Environments (ISDDC 2017), Lecture Notes in Computer Science, vol. 10618. Cham, Switzerland: Springer, 2017, pp. 127-138.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TruthGlow">
  <a:themeElements>
    <a:clrScheme name="TruthGlow">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TruthG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ruthGlow">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Detection System Using Feature Based Optimised MSVM Classification: Review 1</dc:title>
  <dc:subject>Batch C6 (CSE-C)</dc:subject>
  <dc:creator>Neela Mojes, Noor Saniya, Malkajgiri Akshitha, Maravajhala Radha Sri Aashritha</dc:creator>
  <cp:lastModifiedBy/>
  <cp:revision>1</cp:revision>
  <dcterms:created xsi:type="dcterms:W3CDTF">2026-10-13T12:36:40Z</dcterms:created>
  <dcterms:modified xsi:type="dcterms:W3CDTF">2026-10-13T12:36:40Z</dcterms:modified>
  <cp:keywords>Fake News Detection; Multi-Class Support Vector Machine (MSVM); Principal Component Analysis (PCA); Firefly Algorithm; Metaheuristic Feature Optimization; Misinformation Filtering</cp:keywords>
  <dc:description/>
</cp:coreProperties>
</file>